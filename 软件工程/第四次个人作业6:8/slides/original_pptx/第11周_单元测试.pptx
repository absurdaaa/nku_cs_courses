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tags/tag159.xml" ContentType="application/vnd.openxmlformats-officedocument.presentationml.tags+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tags/tag160.xml" ContentType="application/vnd.openxmlformats-officedocument.presentationml.tags+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tags/tag161.xml" ContentType="application/vnd.openxmlformats-officedocument.presentationml.tags+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3"/>
  </p:notesMasterIdLst>
  <p:handoutMasterIdLst>
    <p:handoutMasterId r:id="rId154"/>
  </p:handoutMasterIdLst>
  <p:sldIdLst>
    <p:sldId id="532" r:id="rId2"/>
    <p:sldId id="588" r:id="rId3"/>
    <p:sldId id="572" r:id="rId4"/>
    <p:sldId id="573" r:id="rId5"/>
    <p:sldId id="574" r:id="rId6"/>
    <p:sldId id="575" r:id="rId7"/>
    <p:sldId id="576" r:id="rId8"/>
    <p:sldId id="577" r:id="rId9"/>
    <p:sldId id="578" r:id="rId10"/>
    <p:sldId id="579" r:id="rId11"/>
    <p:sldId id="580" r:id="rId12"/>
    <p:sldId id="589" r:id="rId13"/>
    <p:sldId id="582" r:id="rId14"/>
    <p:sldId id="583" r:id="rId15"/>
    <p:sldId id="584" r:id="rId16"/>
    <p:sldId id="585" r:id="rId17"/>
    <p:sldId id="908" r:id="rId18"/>
    <p:sldId id="909" r:id="rId19"/>
    <p:sldId id="826" r:id="rId20"/>
    <p:sldId id="910" r:id="rId21"/>
    <p:sldId id="406" r:id="rId22"/>
    <p:sldId id="706" r:id="rId23"/>
    <p:sldId id="708" r:id="rId24"/>
    <p:sldId id="735" r:id="rId25"/>
    <p:sldId id="878" r:id="rId26"/>
    <p:sldId id="881" r:id="rId27"/>
    <p:sldId id="257" r:id="rId28"/>
    <p:sldId id="258" r:id="rId29"/>
    <p:sldId id="259" r:id="rId30"/>
    <p:sldId id="260" r:id="rId31"/>
    <p:sldId id="261" r:id="rId32"/>
    <p:sldId id="739" r:id="rId33"/>
    <p:sldId id="742" r:id="rId34"/>
    <p:sldId id="262" r:id="rId35"/>
    <p:sldId id="263" r:id="rId36"/>
    <p:sldId id="264" r:id="rId37"/>
    <p:sldId id="266" r:id="rId38"/>
    <p:sldId id="268" r:id="rId39"/>
    <p:sldId id="269" r:id="rId40"/>
    <p:sldId id="270" r:id="rId41"/>
    <p:sldId id="271" r:id="rId42"/>
    <p:sldId id="272" r:id="rId43"/>
    <p:sldId id="275" r:id="rId44"/>
    <p:sldId id="590" r:id="rId45"/>
    <p:sldId id="277" r:id="rId46"/>
    <p:sldId id="273" r:id="rId47"/>
    <p:sldId id="274" r:id="rId48"/>
    <p:sldId id="884" r:id="rId49"/>
    <p:sldId id="904" r:id="rId50"/>
    <p:sldId id="636" r:id="rId51"/>
    <p:sldId id="592" r:id="rId52"/>
    <p:sldId id="593" r:id="rId53"/>
    <p:sldId id="594" r:id="rId54"/>
    <p:sldId id="595" r:id="rId55"/>
    <p:sldId id="883" r:id="rId56"/>
    <p:sldId id="638" r:id="rId57"/>
    <p:sldId id="596" r:id="rId58"/>
    <p:sldId id="597" r:id="rId59"/>
    <p:sldId id="598" r:id="rId60"/>
    <p:sldId id="599" r:id="rId61"/>
    <p:sldId id="600" r:id="rId62"/>
    <p:sldId id="601" r:id="rId63"/>
    <p:sldId id="602" r:id="rId64"/>
    <p:sldId id="603" r:id="rId65"/>
    <p:sldId id="604" r:id="rId66"/>
    <p:sldId id="605" r:id="rId67"/>
    <p:sldId id="606" r:id="rId68"/>
    <p:sldId id="607" r:id="rId69"/>
    <p:sldId id="609" r:id="rId70"/>
    <p:sldId id="276" r:id="rId71"/>
    <p:sldId id="279" r:id="rId72"/>
    <p:sldId id="610" r:id="rId73"/>
    <p:sldId id="886" r:id="rId74"/>
    <p:sldId id="611" r:id="rId75"/>
    <p:sldId id="278" r:id="rId76"/>
    <p:sldId id="608" r:id="rId77"/>
    <p:sldId id="280" r:id="rId78"/>
    <p:sldId id="860" r:id="rId79"/>
    <p:sldId id="863" r:id="rId80"/>
    <p:sldId id="612" r:id="rId81"/>
    <p:sldId id="613" r:id="rId82"/>
    <p:sldId id="907" r:id="rId83"/>
    <p:sldId id="640" r:id="rId84"/>
    <p:sldId id="615" r:id="rId85"/>
    <p:sldId id="616" r:id="rId86"/>
    <p:sldId id="617" r:id="rId87"/>
    <p:sldId id="641" r:id="rId88"/>
    <p:sldId id="619" r:id="rId89"/>
    <p:sldId id="620" r:id="rId90"/>
    <p:sldId id="621" r:id="rId91"/>
    <p:sldId id="622" r:id="rId92"/>
    <p:sldId id="623" r:id="rId93"/>
    <p:sldId id="624" r:id="rId94"/>
    <p:sldId id="625" r:id="rId95"/>
    <p:sldId id="626" r:id="rId96"/>
    <p:sldId id="627" r:id="rId97"/>
    <p:sldId id="628" r:id="rId98"/>
    <p:sldId id="629" r:id="rId99"/>
    <p:sldId id="630" r:id="rId100"/>
    <p:sldId id="631" r:id="rId101"/>
    <p:sldId id="632" r:id="rId102"/>
    <p:sldId id="633" r:id="rId103"/>
    <p:sldId id="634" r:id="rId104"/>
    <p:sldId id="635" r:id="rId105"/>
    <p:sldId id="642" r:id="rId106"/>
    <p:sldId id="643" r:id="rId107"/>
    <p:sldId id="283" r:id="rId108"/>
    <p:sldId id="284" r:id="rId109"/>
    <p:sldId id="285" r:id="rId110"/>
    <p:sldId id="286" r:id="rId111"/>
    <p:sldId id="864" r:id="rId112"/>
    <p:sldId id="865" r:id="rId113"/>
    <p:sldId id="868" r:id="rId114"/>
    <p:sldId id="869" r:id="rId115"/>
    <p:sldId id="870" r:id="rId116"/>
    <p:sldId id="871" r:id="rId117"/>
    <p:sldId id="644" r:id="rId118"/>
    <p:sldId id="645" r:id="rId119"/>
    <p:sldId id="646" r:id="rId120"/>
    <p:sldId id="647" r:id="rId121"/>
    <p:sldId id="648" r:id="rId122"/>
    <p:sldId id="649" r:id="rId123"/>
    <p:sldId id="650" r:id="rId124"/>
    <p:sldId id="651" r:id="rId125"/>
    <p:sldId id="652" r:id="rId126"/>
    <p:sldId id="653" r:id="rId127"/>
    <p:sldId id="654" r:id="rId128"/>
    <p:sldId id="655" r:id="rId129"/>
    <p:sldId id="656" r:id="rId130"/>
    <p:sldId id="657" r:id="rId131"/>
    <p:sldId id="658" r:id="rId132"/>
    <p:sldId id="659" r:id="rId133"/>
    <p:sldId id="660" r:id="rId134"/>
    <p:sldId id="673" r:id="rId135"/>
    <p:sldId id="661" r:id="rId136"/>
    <p:sldId id="662" r:id="rId137"/>
    <p:sldId id="663" r:id="rId138"/>
    <p:sldId id="664" r:id="rId139"/>
    <p:sldId id="665" r:id="rId140"/>
    <p:sldId id="666" r:id="rId141"/>
    <p:sldId id="667" r:id="rId142"/>
    <p:sldId id="668" r:id="rId143"/>
    <p:sldId id="281" r:id="rId144"/>
    <p:sldId id="282" r:id="rId145"/>
    <p:sldId id="669" r:id="rId146"/>
    <p:sldId id="670" r:id="rId147"/>
    <p:sldId id="671" r:id="rId148"/>
    <p:sldId id="672" r:id="rId149"/>
    <p:sldId id="287" r:id="rId150"/>
    <p:sldId id="288" r:id="rId151"/>
    <p:sldId id="525" r:id="rId1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2" autoAdjust="0"/>
    <p:restoredTop sz="74566" autoAdjust="0"/>
  </p:normalViewPr>
  <p:slideViewPr>
    <p:cSldViewPr snapToGrid="0">
      <p:cViewPr varScale="1">
        <p:scale>
          <a:sx n="64" d="100"/>
          <a:sy n="64" d="100"/>
        </p:scale>
        <p:origin x="1152" y="168"/>
      </p:cViewPr>
      <p:guideLst/>
    </p:cSldViewPr>
  </p:slideViewPr>
  <p:notesTextViewPr>
    <p:cViewPr>
      <p:scale>
        <a:sx n="1" d="1"/>
        <a:sy n="1" d="1"/>
      </p:scale>
      <p:origin x="0" y="0"/>
    </p:cViewPr>
  </p:notesTextViewPr>
  <p:notesViewPr>
    <p:cSldViewPr snapToGrid="0">
      <p:cViewPr varScale="1">
        <p:scale>
          <a:sx n="91" d="100"/>
          <a:sy n="91" d="100"/>
        </p:scale>
        <p:origin x="3564" y="6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handoutMaster" Target="handoutMasters/handout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93876-BC66-44D0-A782-3029BC273055}" type="datetimeFigureOut">
              <a:rPr lang="zh-CN" altLang="en-US" smtClean="0"/>
              <a:t>2025/4/28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6AF24-79C7-4806-8694-F79DC346854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gthill.blogspot.com/2009/12/unit-testing-what-to-test-right-bicep.html"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程序设计的过程中，实现这种分解和合成有一些通用的原则应用，这些原则可以增加代码的可修改性和可测试性，便于程序的扩展和维护。我们接下来将介绍模块化设计，面向抽象编程，以错误和异常处理这种编程实践，说明如何更好地设计</a:t>
            </a:r>
            <a:r>
              <a:rPr lang="en-US" altLang="zh-CN" dirty="0"/>
              <a:t>python</a:t>
            </a:r>
            <a:r>
              <a:rPr lang="zh-CN" altLang="en-US" dirty="0"/>
              <a:t>程序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在实际应用中，我们经常还需要对代码进行性能分析，改善软件性能。</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效率是程序员之间永恒的话题，能够编写更快更好的代码是我们每一个程序员不懈的追求，但实际做起来效率优化并不是一件很容易的事儿，他往往涉及到多方面的因素。</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代码优化能够让程序运行的更快，它是指在不改变程序运行结果的情况下，取得程序的运行效率更高。根据二八原则实现程序的重构优化扩展以及文档相关的事情通常需要消耗</a:t>
            </a:r>
            <a:r>
              <a:rPr lang="en-US" altLang="zh-CN" dirty="0"/>
              <a:t>80%</a:t>
            </a:r>
            <a:r>
              <a:rPr lang="zh-CN" altLang="en-US" dirty="0"/>
              <a:t>的工作量，程序的性能一般涉及到时间和空间两个方面，优化也就包括减少代码的体积和提高代码的运行效率，这两项内容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性能优化必须要在满足正确性可靠性健壮性可读性这些质量因素的前提下进行，在优化的时候要注意从程序的全局效率来考虑，不能单纯考虑局部，而且要先找出限制效率的瓶颈，然后再对症下药，由于数据结构和算法，对程序效率起到关键的作用，因此优化的首要点是数据结构和算法，其次才是执行代码。要说明的是，时间效率和空间效率往往是相互对立的，优化的时候应当分析哪一个因素更重要，然后再做出适当的折衷</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性能应该在编程一开始就要考虑进去，不要期待通过事后的调整来进行提升，另外任何优化都不能破坏代码的正确性。一般来说，在马优化过程包括以下步骤，首先要证明代码的性能确实需要提升，然后要找出优化的关键部分，再通过测试找出影响代码性能的瓶颈所在，对代码进行优化，最后还要对优化后的代码再进行测试，以确定优化的效果。这里需要强调的是，测试数据的选择必须能够代表实际的使用情况，另外，永远不要在没有执行前后性能评估的情况下尝试对代码进行优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现在我们通过一个程序事例来详细说明代码优化的步骤和方法，这个程序要求读入一个文本文件，统计在该文件中每个英文单词出现的频率，并输出频率最高的</a:t>
            </a:r>
            <a:r>
              <a:rPr lang="en-US" altLang="zh-CN" dirty="0"/>
              <a:t>100</a:t>
            </a:r>
            <a:r>
              <a:rPr lang="zh-CN" altLang="en-US" dirty="0"/>
              <a:t>个单词，其中单词指的是连续的若干的小写英文字母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在这里，我们给出了几个单词的例子，向最后这一行还是被逗号句号空格分割成了四个单词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这是用</a:t>
            </a:r>
            <a:r>
              <a:rPr lang="en-US" altLang="zh-CN" dirty="0"/>
              <a:t>python</a:t>
            </a:r>
            <a:r>
              <a:rPr lang="zh-CN" altLang="en-US" dirty="0"/>
              <a:t>实现的一个程序代码例子，我们先介绍一下他的基本结构。文件头部是关于这个程序文件的注释，包括代码格式作者信息的。最后两行是主程序的入口，相当于</a:t>
            </a:r>
            <a:r>
              <a:rPr lang="en-US" altLang="zh-CN" dirty="0"/>
              <a:t>C++</a:t>
            </a:r>
            <a:r>
              <a:rPr lang="zh-CN" altLang="en-US" dirty="0"/>
              <a:t>的主函数。文件头的下面是程序中，需要用的各种包，接下来是实现程序主要功能的分词函数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现在我们来分析一下分词函数中可能影响性能的部分。第一是文件读入部分，文件的</a:t>
            </a:r>
            <a:r>
              <a:rPr lang="en-US" altLang="zh-CN" dirty="0" err="1"/>
              <a:t>io</a:t>
            </a:r>
            <a:r>
              <a:rPr lang="zh-CN" altLang="en-US" dirty="0"/>
              <a:t>通常是速度比较慢的。第二是分割单词部分，这里使用了正则表达式来实现。第三是词频统计部分，我们用词典类型进行判重操作。最后是排序部分，这里使用的</a:t>
            </a:r>
            <a:r>
              <a:rPr lang="en-US" altLang="zh-CN" dirty="0"/>
              <a:t>python</a:t>
            </a:r>
            <a:r>
              <a:rPr lang="zh-CN" altLang="en-US" dirty="0"/>
              <a:t>内置的排序算法来实现，那么同学们认为影响整个程序性能的主要是哪一部分呢？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我们可以使用性能分析工具来获得实际的测试数据，再来确定真正的性能瓶颈。</a:t>
            </a:r>
            <a:r>
              <a:rPr lang="en-US" altLang="zh-CN" dirty="0"/>
              <a:t>profile</a:t>
            </a:r>
            <a:r>
              <a:rPr lang="zh-CN" altLang="en-US" dirty="0"/>
              <a:t>是</a:t>
            </a:r>
            <a:r>
              <a:rPr lang="en-US" altLang="zh-CN" dirty="0"/>
              <a:t>python</a:t>
            </a:r>
            <a:r>
              <a:rPr lang="zh-CN" altLang="en-US" dirty="0"/>
              <a:t>语言内置的性能分析工具，它能够有效地描述程序运行时的性能状况，提供各种统计数据，帮助程序员找出程序的性能瓶颈，</a:t>
            </a:r>
            <a:r>
              <a:rPr lang="en-US" altLang="zh-CN" dirty="0"/>
              <a:t>Profile</a:t>
            </a:r>
            <a:r>
              <a:rPr lang="zh-CN" altLang="en-US" dirty="0"/>
              <a:t>的使用非常简单，像图上给出的这个求阶乘函数的例子，先在文件中引入</a:t>
            </a:r>
            <a:r>
              <a:rPr lang="en-US" altLang="zh-CN" dirty="0"/>
              <a:t>profile</a:t>
            </a:r>
            <a:r>
              <a:rPr lang="zh-CN" altLang="en-US" dirty="0"/>
              <a:t>模块，再以程序的入口函数名为参数来调用</a:t>
            </a:r>
            <a:r>
              <a:rPr lang="en-US" altLang="zh-CN" dirty="0" err="1"/>
              <a:t>profile.run</a:t>
            </a:r>
            <a:r>
              <a:rPr lang="zh-CN" altLang="en-US" dirty="0"/>
              <a:t>这个函数，接下来就可以使用</a:t>
            </a:r>
            <a:r>
              <a:rPr lang="en-US" altLang="zh-CN" dirty="0"/>
              <a:t>profile</a:t>
            </a:r>
            <a:r>
              <a:rPr lang="zh-CN" altLang="en-US" dirty="0"/>
              <a:t>进行性能分析</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这里显示的是</a:t>
            </a:r>
            <a:r>
              <a:rPr lang="en-US" altLang="zh-CN" dirty="0"/>
              <a:t>profile</a:t>
            </a:r>
            <a:r>
              <a:rPr lang="zh-CN" altLang="en-US" dirty="0"/>
              <a:t>对刚才那个阶乘函数生成的测试结果，报告上面是程序的输出结果，中间是程序的执行时间。因为这个程序非常小，所以几乎没有什么耗时，下面是详细的函数性能数据报表，它包括了函数被调用的次数，总的运行时间，运行一次的平均时间以及函数所在的文件名行号和函数名，比如这里显示了</a:t>
            </a:r>
            <a:r>
              <a:rPr lang="en-US" altLang="zh-CN" dirty="0"/>
              <a:t>print</a:t>
            </a:r>
            <a:r>
              <a:rPr lang="zh-CN" altLang="en-US" dirty="0"/>
              <a:t>这个函数被调用了十次以及其他的一些运行时间等。需要说明的是</a:t>
            </a:r>
            <a:r>
              <a:rPr lang="en-US" altLang="zh-CN" dirty="0"/>
              <a:t>total time</a:t>
            </a:r>
            <a:r>
              <a:rPr lang="zh-CN" altLang="en-US" dirty="0"/>
              <a:t>是除去函数中调用其他函数的时间，</a:t>
            </a:r>
            <a:r>
              <a:rPr lang="en-US" altLang="zh-CN" dirty="0" err="1"/>
              <a:t>cumtime</a:t>
            </a:r>
            <a:r>
              <a:rPr lang="zh-CN" altLang="en-US" dirty="0"/>
              <a:t>是包括了调用其他函数的总运行时间，二者是有区别的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现在我来看一下前面的词频统计程序的性能数据报表。程序的总耗时</a:t>
            </a:r>
            <a:r>
              <a:rPr lang="en-US" altLang="zh-CN" dirty="0"/>
              <a:t>14.562</a:t>
            </a:r>
            <a:r>
              <a:rPr lang="zh-CN" altLang="en-US" dirty="0"/>
              <a:t>秒。这种</a:t>
            </a:r>
            <a:r>
              <a:rPr lang="en-US" altLang="zh-CN" dirty="0"/>
              <a:t>keys</a:t>
            </a:r>
            <a:r>
              <a:rPr lang="zh-CN" altLang="en-US" dirty="0"/>
              <a:t>函数被执行了</a:t>
            </a:r>
            <a:r>
              <a:rPr lang="en-US" altLang="zh-CN" dirty="0"/>
              <a:t>50</a:t>
            </a:r>
            <a:r>
              <a:rPr lang="zh-CN" altLang="en-US" dirty="0"/>
              <a:t>万次，耗时</a:t>
            </a:r>
            <a:r>
              <a:rPr lang="en-US" altLang="zh-CN" dirty="0"/>
              <a:t>1.141</a:t>
            </a:r>
            <a:r>
              <a:rPr lang="zh-CN" altLang="en-US" dirty="0"/>
              <a:t>秒。输出几乎耗时，输入耗时</a:t>
            </a:r>
            <a:r>
              <a:rPr lang="en-US" altLang="zh-CN" dirty="0"/>
              <a:t>0.094</a:t>
            </a:r>
            <a:r>
              <a:rPr lang="zh-CN" altLang="en-US" dirty="0"/>
              <a:t>秒。排序函数的耗时是</a:t>
            </a:r>
            <a:r>
              <a:rPr lang="en-US" altLang="zh-CN" dirty="0"/>
              <a:t>1.203</a:t>
            </a:r>
            <a:r>
              <a:rPr lang="zh-CN" altLang="en-US" dirty="0"/>
              <a:t>秒。分词函数耗时</a:t>
            </a:r>
            <a:r>
              <a:rPr lang="en-US" altLang="zh-CN" dirty="0"/>
              <a:t>0.312</a:t>
            </a:r>
            <a:r>
              <a:rPr lang="zh-CN" altLang="en-US" dirty="0"/>
              <a:t>秒。这些测试数据告诉我们，</a:t>
            </a:r>
            <a:r>
              <a:rPr lang="en-US" altLang="zh-CN" dirty="0"/>
              <a:t>keys</a:t>
            </a:r>
            <a:r>
              <a:rPr lang="zh-CN" altLang="en-US" dirty="0"/>
              <a:t>函数和排序函数的耗时是比较多的，但是排序函数是</a:t>
            </a:r>
            <a:r>
              <a:rPr lang="en-US" altLang="zh-CN" dirty="0"/>
              <a:t>python</a:t>
            </a:r>
            <a:r>
              <a:rPr lang="zh-CN" altLang="en-US" dirty="0"/>
              <a:t>内置函数，不容易进行优化，因此，我们决定优化</a:t>
            </a:r>
            <a:r>
              <a:rPr lang="en-US" altLang="zh-CN" dirty="0"/>
              <a:t>keys</a:t>
            </a:r>
            <a:r>
              <a:rPr lang="zh-CN" altLang="en-US" dirty="0"/>
              <a:t>函数。这里我们要说明的是，虽然性能分析工具指明了程序各个部分的耗时，但并不意味着我们改进效率一定要优先改进耗时最多的部分，虽然改进耗时最多的部分往往效果是明显的，但有时候可能很难改进，在实际的项目中，我们需要在改进得到的效果和改进要投入的精力之间进行平衡，来优先完成有能力做，而且效果又比较明显的性能优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那我们先分析一下为什么</a:t>
            </a:r>
            <a:r>
              <a:rPr lang="en-US" altLang="zh-CN" dirty="0"/>
              <a:t>keys</a:t>
            </a:r>
            <a:r>
              <a:rPr lang="zh-CN" altLang="en-US" dirty="0"/>
              <a:t>函数的调用复杂度这么高。我们发现</a:t>
            </a:r>
            <a:r>
              <a:rPr lang="en-US" altLang="zh-CN" dirty="0"/>
              <a:t>keys</a:t>
            </a:r>
            <a:r>
              <a:rPr lang="zh-CN" altLang="en-US" dirty="0"/>
              <a:t>函数每调用一次，系统就会生成一个新的词典迭代器，如果这个过程重复</a:t>
            </a:r>
            <a:r>
              <a:rPr lang="en-US" altLang="zh-CN" dirty="0"/>
              <a:t>10</a:t>
            </a:r>
            <a:r>
              <a:rPr lang="zh-CN" altLang="en-US" dirty="0"/>
              <a:t>万次，那么效率是不可以想象的，所以，我们提出了一种优化的方案，就是使用</a:t>
            </a:r>
            <a:r>
              <a:rPr lang="en-US" altLang="zh-CN" dirty="0"/>
              <a:t>in</a:t>
            </a:r>
            <a:r>
              <a:rPr lang="zh-CN" altLang="en-US" dirty="0"/>
              <a:t>操作符直接代替</a:t>
            </a:r>
            <a:r>
              <a:rPr lang="en-US" altLang="zh-CN" dirty="0"/>
              <a:t>keys</a:t>
            </a:r>
            <a:r>
              <a:rPr lang="zh-CN" altLang="en-US" dirty="0"/>
              <a:t>，然后这样呢，就可以避免每次生成新的迭代器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这是改进后的程序代码，这部分，就是修改的代码，我们可以修改后的代码在进行测试，那么测试结果发现程序的总的执行时间降低到了</a:t>
            </a:r>
            <a:r>
              <a:rPr lang="en-US" altLang="zh-CN" dirty="0"/>
              <a:t>2.25</a:t>
            </a:r>
            <a:r>
              <a:rPr lang="zh-CN" altLang="en-US" dirty="0"/>
              <a:t>秒</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通过简单的优化，我们把程序的执行时间从之前的</a:t>
            </a:r>
            <a:r>
              <a:rPr lang="en-US" altLang="zh-CN" dirty="0"/>
              <a:t>4.562</a:t>
            </a:r>
            <a:r>
              <a:rPr lang="zh-CN" altLang="en-US" dirty="0"/>
              <a:t>秒降低到了</a:t>
            </a:r>
            <a:r>
              <a:rPr lang="en-US" altLang="zh-CN" dirty="0"/>
              <a:t>2.25</a:t>
            </a:r>
            <a:r>
              <a:rPr lang="zh-CN" altLang="en-US" dirty="0"/>
              <a:t>秒，差不多缩短了一半儿，这个效果还是比较明显的，这个例子告诉我们，性能优化的关键是如何发现问题和解决问题，在这个过程中，有效的测试是不可缺少的，我们通过测试找出真正的瓶颈，并且分析优化的结果，需要注意的是，一定要避免不必要的优化和不成熟的优化，因为不成熟的优化有可能引来错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最后我们针对</a:t>
            </a:r>
            <a:r>
              <a:rPr lang="en-US" altLang="zh-CN" dirty="0"/>
              <a:t>python</a:t>
            </a:r>
            <a:r>
              <a:rPr lang="zh-CN" altLang="en-US" dirty="0"/>
              <a:t>代码的系统优化给出一些建议，仅供大家参考，首先是改进算法，并选择合适的数据结构。算法的好坏对程序的性能是非常关键的，因此首先要改进算法的效率。在这里我们列出了算法的时间复杂度的一个排序，想必大家在算法课程的学习中已经有了基本的了解。对于成员的查找，操作字典要比列表更快，因为</a:t>
            </a:r>
            <a:r>
              <a:rPr lang="en-US" altLang="zh-CN" dirty="0"/>
              <a:t>python</a:t>
            </a:r>
            <a:r>
              <a:rPr lang="zh-CN" altLang="en-US" dirty="0"/>
              <a:t>字典中使用了哈希表，它的查找复杂度是</a:t>
            </a:r>
            <a:r>
              <a:rPr lang="en-US" altLang="zh-CN" dirty="0"/>
              <a:t>o 1</a:t>
            </a:r>
            <a:r>
              <a:rPr lang="zh-CN" altLang="en-US" dirty="0"/>
              <a:t>，而列表，实际上就是一个数组，查找需要遍历整个列表复杂度是</a:t>
            </a:r>
            <a:r>
              <a:rPr lang="en-US" altLang="zh-CN" dirty="0"/>
              <a:t>O N</a:t>
            </a:r>
            <a:r>
              <a:rPr lang="zh-CN" altLang="en-US" dirty="0"/>
              <a:t>，所以，在需要多数据成员进行频繁的查找或访问的时候使用字典更好一些。集合的并，交差的操作比列表的迭代要快，因此涉及到求列表的并交叉问题可以转化为集合来操作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循环优化的基本原则是尽量减少循环中的计算量，有多重循环的时候，尽量将内层的计算提到上一层。对于字符串的优化，由于</a:t>
            </a:r>
            <a:r>
              <a:rPr lang="en-US" altLang="zh-CN" dirty="0"/>
              <a:t>python</a:t>
            </a:r>
            <a:r>
              <a:rPr lang="zh-CN" altLang="en-US" dirty="0"/>
              <a:t>的字符串对象是不可改变的，字符串的连接尽量使用</a:t>
            </a:r>
            <a:r>
              <a:rPr lang="en-US" altLang="zh-CN" dirty="0"/>
              <a:t>join</a:t>
            </a:r>
            <a:r>
              <a:rPr lang="zh-CN" altLang="en-US" dirty="0"/>
              <a:t>函数，当对字符串可以使用正则表达式或者内置函数处理时，选择内置函数来解析要比在循环中重新建一个新的列表，更为高效，因此可以利用这个特性来提高代码的运行效率。关于代码性能优化的内容就介绍到这里，同学们可以结合具体的实例，再进一步的理解和实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同学们好，接下来我们开始讲授软件测试的方法。今天这节课，我们从单元测试开始，为大家介绍如何通过测试保证软件质量。</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p>
        </p:txBody>
      </p:sp>
      <p:sp>
        <p:nvSpPr>
          <p:cNvPr id="174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9859C1-B26B-4384-A448-98EE5A9CA09E}" type="slidenum">
              <a:rPr lang="en-US">
                <a:latin typeface="Calibri" panose="020F0502020204030204" charset="0"/>
              </a:rPr>
              <a:t>23</a:t>
            </a:fld>
            <a:endParaRPr lang="en-US">
              <a:latin typeface="Calibri" panose="020F050202020403020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在现实开发中，缺乏软件工程经验的开发人员往往在编码完成之后就迫不及待的进行软件集成工作。表面上看，这样做可以很快的看到实际系统。但是由于缺少应有的单元，测试系统中经常充满了各种</a:t>
            </a:r>
            <a:r>
              <a:rPr lang="en-US" altLang="zh-CN" dirty="0"/>
              <a:t>bug</a:t>
            </a:r>
            <a:r>
              <a:rPr lang="zh-CN" altLang="en-US" dirty="0"/>
              <a:t>，也会造成故障难以定位修复困难等问题，这样就会增加额外的时间和成本。</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幅图展示了编码和测试的不同阶段引入和发现缺陷的情况，以及修复他们的成本。开发人员在编写代码的同时，不可避免地会引入缺陷。图中的数据告诉我们，大多数的缺陷是在编码的初期产生的，修复他们的成本在初期也比较低，越往后拖增长的幅度就越大。单元测试是软件开发过程中重要的质量保证活动。它的质量在很大程度上影响着软件产品的最终质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是构造系统的基础，这就好比是长城的城墙，如果每一块儿砖的质量不过关，那么建造了城墙就不会坚固。编写代码也是如此，底层代码出现问题就会牵扯到上层代码，他的修改也可能会导致其他代码的一连串改动，从而影响整个产品的质量。只有打造坚实的基石，才能保证上层建筑的坚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测试是对软件中的最小可测试单元进行检查和验证。他要测试和验证程序代码中每项功能的正确性，为后续的开发提供支持。编写单元测试可以使开发人员从调用者的角度进行观察和思考，这样编写的程序更易于调用和测试，也可以将程序的缺陷降低到最小。单元测试也是一种文档化的行为，测试用例可以说明函数或者类是如何使用的。自动化的单元测试也有助于进行回归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前面讲过，产品的质量是在构建的过程中形成的，开发人员必须对自己的代码负责，单元测试就是对所开发代码质量的一个基本的承诺。对于程序员来说，编程不仅仅意味着编写代码，还要完成单元测试。在现实中我们发现，那些代码质量最好，开发速度最快的程序员也是单元测试做得最好的程序员</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https://www.safaribooksonline.com/library/view/pragmatic-unit-testing/9781680500769/f_0051.html</a:t>
            </a:r>
          </a:p>
          <a:p>
            <a:endParaRPr lang="en-US" dirty="0"/>
          </a:p>
          <a:p>
            <a:r>
              <a:rPr lang="en-US" altLang="zh-CN" sz="1200" kern="1200" dirty="0">
                <a:solidFill>
                  <a:schemeClr val="tx1"/>
                </a:solidFill>
                <a:effectLst/>
                <a:latin typeface="+mn-lt"/>
                <a:ea typeface="+mn-ea"/>
                <a:cs typeface="+mn-cs"/>
                <a:hlinkClick r:id="rId3"/>
              </a:rPr>
              <a:t>http://gthill.blogspot.com/2009/12/unit-testing-what-to-test-right-bicep.html</a:t>
            </a:r>
            <a:endParaRPr lang="en-US" altLang="zh-CN" sz="1200" kern="1200" dirty="0">
              <a:solidFill>
                <a:schemeClr val="tx1"/>
              </a:solidFill>
              <a:effectLst/>
              <a:latin typeface="+mn-lt"/>
              <a:ea typeface="+mn-ea"/>
              <a:cs typeface="+mn-cs"/>
            </a:endParaRPr>
          </a:p>
          <a:p>
            <a:endParaRPr lang="en-US" dirty="0"/>
          </a:p>
        </p:txBody>
      </p:sp>
      <p:sp>
        <p:nvSpPr>
          <p:cNvPr id="4" name="灯片编号占位符 3"/>
          <p:cNvSpPr>
            <a:spLocks noGrp="1"/>
          </p:cNvSpPr>
          <p:nvPr>
            <p:ph type="sldNum" sz="quarter" idx="10"/>
          </p:nvPr>
        </p:nvSpPr>
        <p:spPr/>
        <p:txBody>
          <a:bodyPr/>
          <a:lstStyle/>
          <a:p>
            <a:fld id="{2518E120-2523-4C9B-A081-0137B07A5C39}" type="slidenum">
              <a:rPr lang="en-US" smtClean="0"/>
              <a:t>33</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单元测试的内容主要包括以下方面。第一是模块儿接口，主要是检查参数表，调用子模块的参数，数据，文件</a:t>
            </a:r>
            <a:r>
              <a:rPr lang="en-US" altLang="zh-CN" dirty="0" err="1"/>
              <a:t>io</a:t>
            </a:r>
            <a:r>
              <a:rPr lang="zh-CN" altLang="en-US" dirty="0"/>
              <a:t>等内容。第二是局部数据结构，主要检查数据类型说明，初始化、缺省值等方面的问题，还要查清数据对模块的影响。第三边界条件要特别注意数据流或者控制流中刚好等于、大于或者小于边界值的情况，因为这些地方非常容易出错。第四是独立路径，主要是对模块中重要的执行路径进行测试，通过对基本执行路径和循环进行测试，可以发现大量的路径错误。第五，出错处理，这一部分是检查模块的错误处理功能是否存在错误或者缺陷。如果对模块运行时间有要求的话，还要专门进行关键路径测试，以确定最坏情况下运行的时间和影响模块运行时间的因素</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通过单元测试，我们可以保证单元模块的质量，这样为整个的系统打造了坚实的基础。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单元测试的原则包括。。</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衡量测试质量的指标一般有测试通过率和测试覆盖率，测试通过率是在测试过程中测试用例的，通过比例单元测试一般都是要达到</a:t>
            </a:r>
            <a:r>
              <a:rPr lang="en-US" altLang="zh-CN" dirty="0"/>
              <a:t>100%</a:t>
            </a:r>
            <a:r>
              <a:rPr lang="zh-CN" altLang="en-US" dirty="0"/>
              <a:t>。测试覆盖率是用来衡量测试的完整性，它可以告诉我们测试是否充分以及测试的弱点在哪里，我们可以通过增加测试用例来提高覆盖率，进而提升测试质量，单元测试一般用代码覆盖率来衡量，代码覆盖率大致达到</a:t>
            </a:r>
            <a:r>
              <a:rPr lang="en-US" altLang="zh-CN" dirty="0"/>
              <a:t>70%-80%</a:t>
            </a:r>
            <a:r>
              <a:rPr lang="zh-CN" altLang="en-US" dirty="0"/>
              <a:t>就可以了，过高的覆盖率可能会造成测试成本的大大增加</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测试包括静态测试和动态测试两种类型，其中静态测试是通过人工分析或者程序正确性证明的方式来确认程序的正确性，而动态测试呢，则是通过动态的分析和运行程序的方式来检查和确认程序中是否存在问题</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测试用例设计来说，有黑盒测试和白盒测试两种技术，黑盒测试也称功能测试，他是把测试对象看成是一个黑盒子，只是根据需求规格说明设计有代表性的测试输入，再通过测试执行的输出结果来检查程序的功能是不是符合规格说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白盒测试也称结构测试，它允许测试人员根据程序内部的结构来设计测试用例，对程序的逻辑路径等进行测试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种情况下，我们需要开发驱动模块和桩模块，他们将被测模块进行隔离，并帮助完成单元测试，驱动模块用于替代上层的模块，他去调用被测模块，并且判断被测模块的返回值是否与测试用例的预期结果相符。桩模块则用于替代下层的调用模块，他要模拟的返回所替代模块儿的各种可能的返回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mock</a:t>
            </a:r>
            <a:r>
              <a:rPr lang="zh-CN" altLang="en-US" dirty="0"/>
              <a:t>方法可以帮助我们解决前面所说的那些复杂场景中遇到的难题，这种测试是在测试过程中，对于某些不容易构造或者不容易获取的对象，用一个虚拟的对象，也就是</a:t>
            </a:r>
            <a:r>
              <a:rPr lang="en-US" altLang="zh-CN" dirty="0"/>
              <a:t>mock</a:t>
            </a:r>
            <a:r>
              <a:rPr lang="zh-CN" altLang="en-US" dirty="0"/>
              <a:t>对象来创建，以便进行测试，这里列出了一些</a:t>
            </a:r>
            <a:r>
              <a:rPr lang="en-US" altLang="zh-CN" dirty="0"/>
              <a:t>mock</a:t>
            </a:r>
            <a:r>
              <a:rPr lang="zh-CN" altLang="en-US" dirty="0"/>
              <a:t>测试适合的场景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现在我们举例说明</a:t>
            </a:r>
            <a:r>
              <a:rPr lang="en-US" altLang="zh-CN" dirty="0"/>
              <a:t>mock</a:t>
            </a:r>
            <a:r>
              <a:rPr lang="zh-CN" altLang="en-US" dirty="0"/>
              <a:t>测试的基本方法，春节期间很多同学可能都玩儿过接龙红包，他是通过猜金额这样一个小游戏方式来实现朋友之间的互动，并且可以领取春节红包，在这个程序中，</a:t>
            </a:r>
            <a:r>
              <a:rPr lang="en-US" altLang="zh-CN" dirty="0"/>
              <a:t>Gift money</a:t>
            </a:r>
            <a:r>
              <a:rPr lang="zh-CN" altLang="en-US" dirty="0"/>
              <a:t>这类允许设定红包的金额和上下限，并且将所差的金额和设定金额进行比较，由于数据是存放在数据库中的，所以这个类就需要调用数据库存取访问的方法，那么这种情况下应该如何进行测试？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刚才红包的问题可以抽象成</a:t>
            </a:r>
            <a:r>
              <a:rPr lang="en-US" altLang="zh-CN" dirty="0"/>
              <a:t>class a </a:t>
            </a:r>
            <a:r>
              <a:rPr lang="zh-CN" altLang="en-US" dirty="0"/>
              <a:t>对</a:t>
            </a:r>
            <a:r>
              <a:rPr lang="en-US" altLang="zh-CN" dirty="0"/>
              <a:t>class b</a:t>
            </a:r>
            <a:r>
              <a:rPr lang="zh-CN" altLang="en-US" dirty="0"/>
              <a:t>的访问，在进行</a:t>
            </a:r>
            <a:r>
              <a:rPr lang="en-US" altLang="zh-CN" dirty="0"/>
              <a:t>mock</a:t>
            </a:r>
            <a:r>
              <a:rPr lang="zh-CN" altLang="en-US" dirty="0"/>
              <a:t>测试时，需要把程序之间的直接调用转换成通过接口进行访问，也就是说先抽象出一个接口，</a:t>
            </a:r>
            <a:r>
              <a:rPr lang="en-US" altLang="zh-CN" dirty="0"/>
              <a:t>Interface b</a:t>
            </a:r>
            <a:r>
              <a:rPr lang="zh-CN" altLang="en-US" dirty="0"/>
              <a:t>，</a:t>
            </a:r>
            <a:r>
              <a:rPr lang="en-US" altLang="zh-CN" dirty="0"/>
              <a:t>class a.</a:t>
            </a:r>
            <a:r>
              <a:rPr lang="zh-CN" altLang="en-US" dirty="0"/>
              <a:t>直接调用这个接口，</a:t>
            </a:r>
            <a:r>
              <a:rPr lang="en-US" altLang="zh-CN" dirty="0"/>
              <a:t>class b</a:t>
            </a:r>
            <a:r>
              <a:rPr lang="zh-CN" altLang="en-US" dirty="0"/>
              <a:t>来具体实现它，然后再使用</a:t>
            </a:r>
            <a:r>
              <a:rPr lang="en-US" altLang="zh-CN" dirty="0"/>
              <a:t>mock</a:t>
            </a:r>
            <a:r>
              <a:rPr lang="zh-CN" altLang="en-US" dirty="0"/>
              <a:t>对象来模拟所调用的对象及其行为，这时被测模块儿并不知道他所引用的究竟是真实对象，还是</a:t>
            </a:r>
            <a:r>
              <a:rPr lang="en-US" altLang="zh-CN" dirty="0"/>
              <a:t>mock</a:t>
            </a:r>
            <a:r>
              <a:rPr lang="zh-CN" altLang="en-US" dirty="0"/>
              <a:t>对象，通过这样的方式，可以把被测模块和所依赖的模块进行隔离，从而实现复杂场景下的单元测试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unit</a:t>
            </a:r>
            <a:r>
              <a:rPr lang="zh-CN" altLang="en-US" dirty="0"/>
              <a:t>系列的测试一般适合单个函数或类的测试，尤其是纯函数或者接口级别的测试，对一些复杂场景就很难使用，但是这些场景往往才是测试的重点，也是难点所在，以分布式系统为例，类和函数级别的单元测试是远远不够的，这种系统主要是测试进程之间的交互，例如一个进程收到客户请求应该如何处理，然后转发给其他进程等。另外，分布式系统的测试通常更关注一些异常的路径，那么这种复杂的场景应该如何进行单元测试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接下来我们来具体介绍黑盒测试技术。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50</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用例的设计是测试活动的基础和关键，他可以指导人们系统地进行测试，对测试的执行起到事半功倍的作用。测试不可能是完备的，他会受到时间的约束，测试用例可以帮助我们分清先后主次，以便更有效地组织测试的工作，从而提高测试效率，降低测试成本。在测试的过程中，临时性的发挥也许会有灵感出现，但是大多数情况下我们会感觉思维混乱，可能有些功能没有测到，而另一些功能已经重复错过几遍，测试用例可以帮助我们理清头绪，避免重复和遗漏。测试用例的通过率和软件缺陷的数量是检验软件质量的量化标准，通过对测试用例的分析和改进，可以逐步的完善软件的质量，另外，测试用例也可以用于衡量测试人员的工作量进度和效率，从而更有效地管理和规划测试的工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51</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先了解一下什么是测试用例。测试用例是为了一个特定的目标而设计的一组测试输入执行条件和预期结果，他的目的是测试某个程序路径是否正确，或者核实程序是否满足某个特定的需求。测试用例一般包括以下部分。测试用例值是测试需要的一些数值。希望结果是程序满足预期行为，而应当产生的结果，我们要验证一个程序是否正确，需要事先明确这个程序应该满足的期望行为，如果测试结果和期望结果相符，那么我们就认为它是正确的。另外，测试的时候需要预先设定软件，注意测试输入的一个稳定状态，前缀值就是把软件置于合适的状态来接受测试用例指的任何必要条件。后缀值就是测试用例值输入以后，为了查看结果或者终止程序，而需要的任何输入。后缀值又可以再细分为验证值和结束命令两种类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我们测试一个移动电话软件测试用例值可以是各种电话号码，期望的结果就是接通或者未接通，除了这两部分之外，测试的时候我们还需要电话开启，并且处于可拨号的稳定状态，也就是所谓的前缀值。输入电话号码之后，我们还要按下呼叫或者取消按钮来查看测试结果，这就是后缀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用例设计应该考虑下面的因素，因为穷举测试是不可行的，所以我们必须要选择少量代表性的数据，使每一个测试用例都能覆盖一组范围或者特定情况。测试用例要确切地反映系统设计中可能存在的问题，我们要根据需求规格说明，并且结合各种可能情况来综合考虑测试用例。测试不能只考虑正确输入情况，还要考虑错误或异常输入，并且分析怎么才能产生这些错误和异常。测试用例要基于用户的实际使用情况，从用户的角度来模拟测试的输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同学们好，上节课咱们讲到了如何使用黑盒测试，也就是</a:t>
            </a:r>
            <a:r>
              <a:rPr lang="zh-CN" altLang="en-US" sz="1200" spc="20" dirty="0">
                <a:latin typeface="微软雅黑" panose="020B0503020204020204" pitchFamily="34" charset="-122"/>
                <a:cs typeface="微软雅黑" panose="020B0503020204020204" pitchFamily="34" charset="-122"/>
              </a:rPr>
              <a:t>完全不考虑程序内部的逻辑结构和内部</a:t>
            </a:r>
            <a:r>
              <a:rPr lang="zh-CN" altLang="en-US" sz="1200" dirty="0">
                <a:latin typeface="微软雅黑" panose="020B0503020204020204" pitchFamily="34" charset="-122"/>
                <a:cs typeface="微软雅黑" panose="020B0503020204020204" pitchFamily="34" charset="-122"/>
              </a:rPr>
              <a:t>特性来进行单元测试，这节课我们为大家介绍与之相对的，白盒测试。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extLst>
      <p:ext uri="{BB962C8B-B14F-4D97-AF65-F5344CB8AC3E}">
        <p14:creationId xmlns:p14="http://schemas.microsoft.com/office/powerpoint/2010/main" val="42361213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我们在前面讲过，黑盒测试是把测试对象看成是一个黑盒子，根据需求说明来检查程序是否符合功能要求。在单元测试部分，我们重点讲解等价类划分和边界值分析这两种方法</a:t>
            </a:r>
            <a:endParaRPr lang="en-US" altLang="zh-CN" dirty="0"/>
          </a:p>
          <a:p>
            <a:r>
              <a:rPr lang="zh-CN" altLang="en-US" dirty="0"/>
              <a:t>因果图 决策表： 北京</a:t>
            </a:r>
            <a:r>
              <a:rPr lang="en-US" altLang="zh-CN" dirty="0"/>
              <a:t>-&gt; </a:t>
            </a:r>
            <a:r>
              <a:rPr lang="zh-CN" altLang="en-US" dirty="0"/>
              <a:t>海淀区    天津</a:t>
            </a:r>
            <a:r>
              <a:rPr lang="en-US" altLang="zh-CN" dirty="0"/>
              <a:t>-&gt;</a:t>
            </a:r>
            <a:r>
              <a:rPr lang="zh-CN" altLang="en-US" dirty="0"/>
              <a:t>南开</a:t>
            </a:r>
            <a:endParaRPr lang="en-US" altLang="zh-CN" dirty="0"/>
          </a:p>
          <a:p>
            <a:r>
              <a:rPr lang="zh-CN" altLang="en-US" dirty="0"/>
              <a:t>场景法： 流程 用户淘宝</a:t>
            </a:r>
            <a:endParaRPr lang="en-US" altLang="zh-CN" dirty="0"/>
          </a:p>
          <a:p>
            <a:r>
              <a:rPr lang="zh-CN" altLang="en-US" dirty="0"/>
              <a:t>组合测试：考虑参数之间的组合</a:t>
            </a:r>
            <a:endParaRPr lang="en-US" altLang="zh-CN" dirty="0"/>
          </a:p>
          <a:p>
            <a:r>
              <a:rPr lang="zh-CN" altLang="en-US"/>
              <a:t>状态转移路径</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划分是把输入域划分成尽可能少的若干子域，并且要求这些子域是两两不相交的，那么每一个子域就称为一个等价类，对于同一输入域来说，可能会存在不同的划分方法。我们来看这个图，它显示了两种划分，那么哪一种划分是等价类划分呢？左边图里面的子域是两两不相交的，右边的一和二是有交集的。根据上面的定义，左边是等价类划分，但是右边不是。在等价类划分中，我们用同一个等价类中的任何收入对软件进行测试的时候，软件都会输出相同的结果，所以只需要从每一等价类中选取一个输入作为测试用例，就可以构成软件一个完整的测试用例集。对于相同的等价类划分，不同的测试人员所选取的测试用例集可能是不同的，那么良好的选择需要经验的积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可以分为有效等价类和无效等价类，其中有效等价类是由合理的输入数据构成的集合，它能够检验程序是否实现了规格说明中预先规定的功能和性能。无效的等价类是不合理输入数据构成的集合，它可以发现程序异常处理的问题来检查程序是否具有一定的容错性，我们设计测试用例的时候要同时考虑这两种等价类，因为软件不仅要能够接受合理的数据，也要能够接受意外的考验。下面我们结合一些常见的不同数据类型来简单说明如何进行等价类的划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对于一般的简单数值变量来说，如果输入规定的取值范围，那么范围内是一个有效等价类范围外，是两个无效等价类。下面来看一个例子，程序的输入参数</a:t>
            </a:r>
            <a:r>
              <a:rPr lang="en-US" altLang="zh-CN" dirty="0"/>
              <a:t>X</a:t>
            </a:r>
            <a:r>
              <a:rPr lang="zh-CN" altLang="en-US" dirty="0"/>
              <a:t>是小于</a:t>
            </a:r>
            <a:r>
              <a:rPr lang="en-US" altLang="zh-CN" dirty="0"/>
              <a:t>100</a:t>
            </a:r>
            <a:r>
              <a:rPr lang="zh-CN" altLang="en-US" dirty="0"/>
              <a:t>大于十的整数，根据上面的方法，有一个有效等价类，就是</a:t>
            </a:r>
            <a:r>
              <a:rPr lang="en-US" altLang="zh-CN" dirty="0"/>
              <a:t>X</a:t>
            </a:r>
            <a:r>
              <a:rPr lang="zh-CN" altLang="en-US" dirty="0"/>
              <a:t>大于十小于</a:t>
            </a:r>
            <a:r>
              <a:rPr lang="en-US" altLang="zh-CN" dirty="0"/>
              <a:t>100</a:t>
            </a:r>
            <a:r>
              <a:rPr lang="zh-CN" altLang="en-US" dirty="0"/>
              <a:t>，有两个无效等价类，分别是</a:t>
            </a:r>
            <a:r>
              <a:rPr lang="en-US" altLang="zh-CN" dirty="0"/>
              <a:t>X</a:t>
            </a:r>
            <a:r>
              <a:rPr lang="zh-CN" altLang="en-US" dirty="0"/>
              <a:t>小于等于十，和</a:t>
            </a:r>
            <a:r>
              <a:rPr lang="en-US" altLang="zh-CN" dirty="0"/>
              <a:t>X</a:t>
            </a:r>
            <a:r>
              <a:rPr lang="zh-CN" altLang="en-US" dirty="0"/>
              <a:t>大于等于</a:t>
            </a:r>
            <a:r>
              <a:rPr lang="en-US" altLang="zh-CN" dirty="0"/>
              <a:t>100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对字符串变量如果规定了输入字符遵守的规则，那么我们可以确定一个有效等价类就是符合规则的字符串和若干无效的家类，他们是从不同角度违反规则的字符串。看一个例子，姓名是长度不超过</a:t>
            </a:r>
            <a:r>
              <a:rPr lang="en-US" altLang="zh-CN" dirty="0"/>
              <a:t>20</a:t>
            </a:r>
            <a:r>
              <a:rPr lang="zh-CN" altLang="en-US" dirty="0"/>
              <a:t>的非空字符串，只能由字母组成，数字和其他字符都是非法的，显然我们可以有一个有效等价类，就是满足了上述所有条件的字符串。那么有几个无效等价类呢。我们可以看长度是一个因素，组成字符串的字符也是一个因素，那么长度可以是零或者超过</a:t>
            </a:r>
            <a:r>
              <a:rPr lang="en-US" altLang="zh-CN" dirty="0"/>
              <a:t>20</a:t>
            </a:r>
            <a:r>
              <a:rPr lang="zh-CN" altLang="en-US" dirty="0"/>
              <a:t>，然后包含非字母的字符串也是无效的，这样，我们就得到了三个无效等价类，分别是空字符串长度超过</a:t>
            </a:r>
            <a:r>
              <a:rPr lang="en-US" altLang="zh-CN" dirty="0"/>
              <a:t>20</a:t>
            </a:r>
            <a:r>
              <a:rPr lang="zh-CN" altLang="en-US" dirty="0"/>
              <a:t>的字符串，包含了数字或者其他字符的字符串</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对枚举类型，如果规定输入数据是一组值，假定是</a:t>
            </a:r>
            <a:r>
              <a:rPr lang="en-US" altLang="zh-CN" dirty="0"/>
              <a:t>n</a:t>
            </a:r>
            <a:r>
              <a:rPr lang="zh-CN" altLang="en-US" dirty="0"/>
              <a:t>个，并且程序要对每一个数值分别处理，那么就可以确定有</a:t>
            </a:r>
            <a:r>
              <a:rPr lang="en-US" altLang="zh-CN" dirty="0"/>
              <a:t>N</a:t>
            </a:r>
            <a:r>
              <a:rPr lang="zh-CN" altLang="en-US" dirty="0"/>
              <a:t>个有效等价类和一个无效等价类。比如说某一个程序，根据不同的学历分别计算岗位工资，其中学历可以是专科本科硕士博士四种类型，那么显然就有四个有效等价类，分别是专科本科硕士博士，还有一个无效等价类就是其他学历。如果我们把专科本科硕士博士这样一种方式来计算岗位工资，这个时候应该如何划分等价类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组是一组具有相同类型元素的结合，那么数组的长度和类型都可以作为等价类划分的依据。假设某一个程序的输入是一个长度为三的整数数组，那么根据数组的长度，我们可以划分成一个有效等价类，就是长度是一到三的所有合法数组。还有两个无效等价类，分别是空数组和所有长度大于三的数组，比如。。。，这个数组因为长度是四，所以是一个无效等价类。如果我们对数组的元素，还有其他的附加的约束，比如说数组中的元素，它的取值范围是负三到三，那么还要适当地增加相应的等价类</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复合数据类型是包含了两个或两个以上相互独立属性的输入数据，在进行等价类划分的时候，需要考虑输入数据的每一个属性的合法和非法取值。比如说这个例子</a:t>
            </a:r>
            <a:r>
              <a:rPr lang="en-US" altLang="zh-CN" dirty="0"/>
              <a:t>student</a:t>
            </a:r>
            <a:r>
              <a:rPr lang="zh-CN" altLang="en-US" dirty="0"/>
              <a:t>的这个结构，它是包括了。。。。这三个属性。那么在进行等价类划分的时候，先对每一个属性进行划分，然后再把这些等价类进行组合，最终得到了这个</a:t>
            </a:r>
            <a:r>
              <a:rPr lang="en-US" altLang="zh-CN" dirty="0"/>
              <a:t>student</a:t>
            </a:r>
            <a:r>
              <a:rPr lang="zh-CN" altLang="en-US" dirty="0"/>
              <a:t>结构的一个整个的等价类划分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的测试对象都会有多个输入的参数，我们会把这些参数的等价类进行组合来设计测试用例，这个时候就要考虑如何进行组合，以便保证等价类的覆盖率。首先，所有参数有效等价类的每一个组合就构成一个有效的测试用例。其次，另一个参数的无效等价类与其他参数的有效等价类进行组合，构成一个无效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现在来看一个程序的例子，整数</a:t>
            </a:r>
            <a:r>
              <a:rPr lang="en-US" altLang="zh-CN" dirty="0"/>
              <a:t>ABC</a:t>
            </a:r>
            <a:r>
              <a:rPr lang="zh-CN" altLang="en-US" dirty="0"/>
              <a:t>是他的三个输入，分别代表三角形的三条边，这个程序判断这三条边构成的三角形类型，分别输出等边三角形，等腰三角形，一般三角形或者不构成三角形，这三个整数还满足大于等于一小于等于</a:t>
            </a:r>
            <a:r>
              <a:rPr lang="en-US" altLang="zh-CN" dirty="0"/>
              <a:t>100</a:t>
            </a:r>
            <a:r>
              <a:rPr lang="zh-CN" altLang="en-US" dirty="0"/>
              <a:t>，这个条件。现在使用等价类划分的方法来设计这个程序的测试用例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首先进行等价类划分，第一种方法是按照输入的取值进行划分，把</a:t>
            </a:r>
            <a:r>
              <a:rPr lang="en-US" altLang="zh-CN" dirty="0"/>
              <a:t>ABC</a:t>
            </a:r>
            <a:r>
              <a:rPr lang="zh-CN" altLang="en-US" dirty="0"/>
              <a:t>都划分。。。。这样的一些等价类，第二种方法是按照输出的几何特性进行划分，划分成等腰三角形，等边三角形，一般三角形和非三角形似的等价类。那么，你会选择哪一种方法来划分等价类呢？显然，第二种方法最合适。在多数情况下，等价类是根据输入域进行划分的，但并不是说不能从输出反过来划分。事实上，对于三角形这个问题，输出域的划分是最简单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等价类划分之后，我们就来设计测试用例，根据等价的性质，每一个等价类只需要选取一个有代表性的输入作为测试用例，这样我们就得到了四个有效的测试用例。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边界值分析是对输入或输出的边界值进行测试的一种方法，通常也作为等价类划分的一个补充。首先要确定边界，等价类的边界就是测试的重点。然后选取正好等于，刚好大于或者刚好小于边界的值作为测试数据。实践表明，大多数的故障往往发生在输入或者输出域的边界上，针对边界情况设计测试用例通常会取得良好的效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边界值分析方法认为，故障往往出现在程序输入的边界值附近，但是它是基于单故障假设的，也就是说，两个或两个以上故障同时出现而导致失效的情况很少发生。用这种方法设计测试用例的时候，每次只保留一个变量取边界值，其余的变量取正常值，正如这幅图给出的示例这样</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健壮性测试是对边界值分析的一个简单扩充，他除了边界内的五个取值之外，还增加了刚好超过边界的两个取值，像上图所示，这种方法可以检查超过极限值的时候系统的情况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这里列举了几个边界值分析的例子，第一个例子是一个文本输入区，它允许输入一到</a:t>
            </a:r>
            <a:r>
              <a:rPr lang="en-US" altLang="zh-CN" dirty="0"/>
              <a:t>255</a:t>
            </a:r>
            <a:r>
              <a:rPr lang="zh-CN" altLang="en-US" dirty="0"/>
              <a:t>个字符，那么，空串，长度为一，二百五十五和</a:t>
            </a:r>
            <a:r>
              <a:rPr lang="en-US" altLang="zh-CN" dirty="0"/>
              <a:t>256</a:t>
            </a:r>
            <a:r>
              <a:rPr lang="zh-CN" altLang="en-US" dirty="0"/>
              <a:t>的字符串都是边界条件值。第二个例子是要求输入五位十进制整数，我们可以使用当好小用为和大于五位的数值作为边界条件。第三个例子是磁盘空间，这个边界值和整数的边界值比较类似。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等价类划分之后，我们就来设计测试用例，根据等价的性质，每一个等价类只需要选取一个有代表性的输入作为测试用例，这样我们就得到了四个有效的测试用例。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73</a:t>
            </a:fld>
            <a:endParaRPr lang="zh-CN" altLang="en-US"/>
          </a:p>
        </p:txBody>
      </p:sp>
    </p:spTree>
    <p:extLst>
      <p:ext uri="{BB962C8B-B14F-4D97-AF65-F5344CB8AC3E}">
        <p14:creationId xmlns:p14="http://schemas.microsoft.com/office/powerpoint/2010/main" val="14784254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我们再来看一下三角形程序的例子，按照前面提到的单故障原则，我们可以设计一些边界值的测试用例，在这里边界值分别取了</a:t>
            </a:r>
            <a:r>
              <a:rPr lang="en-US" altLang="zh-CN" dirty="0"/>
              <a:t>1</a:t>
            </a:r>
            <a:r>
              <a:rPr lang="zh-CN" altLang="en-US" dirty="0"/>
              <a:t>，</a:t>
            </a:r>
            <a:r>
              <a:rPr lang="en-US" altLang="zh-CN" dirty="0"/>
              <a:t>2</a:t>
            </a:r>
            <a:r>
              <a:rPr lang="zh-CN" altLang="en-US" dirty="0"/>
              <a:t>，</a:t>
            </a:r>
            <a:r>
              <a:rPr lang="en-US" altLang="zh-CN" dirty="0"/>
              <a:t>119</a:t>
            </a:r>
            <a:r>
              <a:rPr lang="zh-CN" altLang="en-US" dirty="0"/>
              <a:t>和</a:t>
            </a:r>
            <a:r>
              <a:rPr lang="en-US" altLang="zh-CN" dirty="0"/>
              <a:t>120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74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我们还可以补充一些无效测试用例，根据前面提到的组合原则，每一个测试用例只有一个参数是无效的，其余保持有效，这样就形成了健壮等价类的测试用例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经验对于软件测试是非常重要的，人们可以根据经验或者直觉推测出程序中可能存在的各种错误，然后有针对性地编写，检查这些错误的测试用例。实际上，软件缺陷具有空间聚集性，对于代码的缺陷多发地段，投入更多的精力进行测试，往往可以发现更多的错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覆盖标准是衡量软件测试质量的一个重要指标。下面我们先了解一下他的相关概念。测试需求可以针对不同的软件制品来进行描述，比如源代码，需求说明等。如果我们要测试源代码的所有语句，那么每条语句就是一个测试需求。测试标准是把测试需求施加在一个测试集上的一组规则，例如每一条语句都要执行，就是一个覆盖标准。所谓测试覆盖，是指对于每一条测试需求，至少要有一个测试用例可以满足这个需求。由于完全测试是不现实的。所以我们使用覆盖程度或者覆盖率来说明测试所做的情况，也就是说一个测试用例集即能够满足测试需求的比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80</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没有现实生活中的一个例子，来进一步解释一下上面的概念。假设我们要测试一个装有糖豆的袋子，糖豆有六种口味和四种颜色。那么对于口味来说，就有柠檬，开心果，鼻子，哈密瓜橘子和杏这六种口味的测试需求。就颜色来说，有黄色绿色白色和橙色四种颜色的测试需求。我们可以选择口味这个标准，也可以选择颜色这个标准，那么用哪一种覆盖标准更好一些呢？如果我们选择颜色这标准，那么用每一种颜色各一个糖豆来测试，是可以达到</a:t>
            </a:r>
            <a:r>
              <a:rPr lang="en-US" altLang="zh-CN" dirty="0"/>
              <a:t>100%</a:t>
            </a:r>
            <a:r>
              <a:rPr lang="zh-CN" altLang="en-US" dirty="0"/>
              <a:t>的覆盖。但是这个时候会有两种口味没有覆盖到。如果选择口味这个标准，那么在覆盖了每一种口味的同时，也就覆盖了颜色的标准。也就是说，口味这个标准包含颜色标准。但实际的项目。选择覆盖标准可能要更复杂一些，一般需要考虑三个方面的因素。第一处理测试需求的满意程度。第二是生成测试用例的难易程度。第三是用测试发现缺陷的能力</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81</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同学们好，上节课咱们讲到了如何使用黑盒测试，也就是</a:t>
            </a:r>
            <a:r>
              <a:rPr lang="zh-CN" altLang="en-US" sz="1200" spc="20" dirty="0">
                <a:latin typeface="微软雅黑" panose="020B0503020204020204" pitchFamily="34" charset="-122"/>
                <a:cs typeface="微软雅黑" panose="020B0503020204020204" pitchFamily="34" charset="-122"/>
              </a:rPr>
              <a:t>完全不考虑程序内部的逻辑结构和内部</a:t>
            </a:r>
            <a:r>
              <a:rPr lang="zh-CN" altLang="en-US" sz="1200" dirty="0">
                <a:latin typeface="微软雅黑" panose="020B0503020204020204" pitchFamily="34" charset="-122"/>
                <a:cs typeface="微软雅黑" panose="020B0503020204020204" pitchFamily="34" charset="-122"/>
              </a:rPr>
              <a:t>特性来进行单元测试，这节课我们为大家介绍与之相对的，白盒测试。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82</a:t>
            </a:fld>
            <a:endParaRPr lang="zh-CN" altLang="en-US"/>
          </a:p>
        </p:txBody>
      </p:sp>
    </p:spTree>
    <p:extLst>
      <p:ext uri="{BB962C8B-B14F-4D97-AF65-F5344CB8AC3E}">
        <p14:creationId xmlns:p14="http://schemas.microsoft.com/office/powerpoint/2010/main" val="355292719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讲过，白盒测试是利用程序内部的逻辑结构，对程序的所有逻辑路径进行测试。那么为什么要做白盒测试呢？我们先来看一个例子。假设有一台面包机从上面倒入面粉和水，开动机器之后，下面出来的就是烤好的面包，这个惊喜的功能比较单一，接口也很清晰，输入的是面粉和水，输出的是面包。假设这个机器很多年没有使用，我们现在需要检查一下机器的情况。一种办法是直接把水和面粉加进去，看他是否可以正常工作，这就是黑盒方法。但是这种情况下，我们没有办法了解机器内部的情况，比如说零件是否生锈，是不是残存了很多脏东西的。还有一种比较好的办法是把机器拆开检查和清洗内部的零件，然后再组装起来，把水和面粉加进去试一试。显然，拆开检查就是白盒方法，再组装回来就是黑盒方法。这个例子说明，有时候单纯使用黑盒测试是不够的，还需要进行白盒测试，白盒测试对代码中逻辑关系的覆盖更为全面，做得好，可以极大地增强产品的健壮性。接下来，我们主要介绍基于控制流的白盒测试技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83</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讲解具体的测试方法之前，我们先介绍一个概念，控制流图。控制流图是一个过程或程序的抽象，他的节点是语句或语句的一部分，它的边表示语句的控制流。我们都学过程序流程图，控制流图应该说是流程图的一个简化，它更突出了控制流的结构。在控制流图里面，我们把所有顺序执行的语句看成是一个节点。对于判断分支来说，判断条件是一个节点，这个节点根据判断的真和假产生两个不同的分支。在判断分支执行结束之后，还会有一个合并的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84</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下面我们结合一个例子来介绍一下如何画出程序的控制流图。这个程序的功能是从文件中读取成绩，然后再求出所有成绩的平均值并打印输出。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85</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程序的前三行都是顺序执行语句。在这里，我们把他们看成是一个节点。后面</a:t>
            </a:r>
            <a:r>
              <a:rPr lang="en-US" altLang="zh-CN" dirty="0"/>
              <a:t>while</a:t>
            </a:r>
            <a:r>
              <a:rPr lang="zh-CN" altLang="en-US" dirty="0"/>
              <a:t>循环产生一个判断分支。在循环的里面有一个</a:t>
            </a:r>
            <a:r>
              <a:rPr lang="en-US" altLang="zh-CN" dirty="0"/>
              <a:t>if</a:t>
            </a:r>
            <a:r>
              <a:rPr lang="zh-CN" altLang="en-US" dirty="0"/>
              <a:t>的判断分支。</a:t>
            </a:r>
            <a:r>
              <a:rPr lang="en-US" altLang="zh-CN" dirty="0"/>
              <a:t>if</a:t>
            </a:r>
            <a:r>
              <a:rPr lang="zh-CN" altLang="en-US" dirty="0"/>
              <a:t>为真时执行两个顺序句。</a:t>
            </a:r>
            <a:r>
              <a:rPr lang="en-US" altLang="zh-CN" dirty="0"/>
              <a:t>if.</a:t>
            </a:r>
            <a:r>
              <a:rPr lang="zh-CN" altLang="en-US" dirty="0"/>
              <a:t>语句后面是一个读文件的依据。整个</a:t>
            </a:r>
            <a:r>
              <a:rPr lang="en-US" altLang="zh-CN" dirty="0"/>
              <a:t>while</a:t>
            </a:r>
            <a:r>
              <a:rPr lang="zh-CN" altLang="en-US" dirty="0"/>
              <a:t>循环结束之后，还有一个判断分支为真执行两个顺序语句，为假时执行一个语句。这里</a:t>
            </a:r>
            <a:r>
              <a:rPr lang="en-US" altLang="zh-CN" dirty="0"/>
              <a:t>1457</a:t>
            </a:r>
            <a:r>
              <a:rPr lang="zh-CN" altLang="en-US" dirty="0"/>
              <a:t>和八都是可执行语句，也称为基本块。</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86</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根据前面我们对程序的分析，就可以画出如图所示的控制流图。这个图中三个红色的菱形是三个分支节点，其余的都是由基本块儿组成的基本的计算节点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87</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控制流的白盒测试方法主要包括以下步骤，首先根据程序单元画出程序的流程图，然后根据流程图得到控制流图，再根据路径选择标准选择合适的路径。对于所选择的路径生成相应的测试数据。如果选择的路径可行，那么就得到测试的输入数据，否则继续选择其他路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88</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白盒测试方法，使用代码覆盖率作为测试的衡量指标。代码覆盖率描述的是代码被测试的比例和程度。如果我们只是编写测试用例进行测试，而不检查究竟哪些代码被测试过，哪些还没有测试过就很容易形成测试的漏洞。通过代码覆盖率，我们可以知道哪些代码没有被覆盖，然后再进一步的补充更多的测试用例。代码覆盖通常包括语句覆盖判定覆盖条件覆盖判定条件覆盖条件组合覆盖和路径覆盖这六种类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89</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下面我们结合一个简单的程序例子来讲解一下这六种覆盖类型。右边是这个程序的流程图。一共有五个节点，其中有两个判断节点。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90</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第一个语句覆盖他要求程序中，每一个可执行语句至少要被执行一次。看一下前面这个例子。如果我们选择</a:t>
            </a:r>
            <a:r>
              <a:rPr lang="en-US" altLang="zh-CN" dirty="0"/>
              <a:t>a</a:t>
            </a:r>
            <a:r>
              <a:rPr lang="zh-CN" altLang="en-US" dirty="0"/>
              <a:t>等于</a:t>
            </a:r>
            <a:r>
              <a:rPr lang="en-US" altLang="zh-CN" dirty="0"/>
              <a:t>2</a:t>
            </a:r>
            <a:r>
              <a:rPr lang="zh-CN" altLang="en-US" dirty="0"/>
              <a:t>，</a:t>
            </a:r>
            <a:r>
              <a:rPr lang="en-US" altLang="zh-CN" dirty="0"/>
              <a:t>B</a:t>
            </a:r>
            <a:r>
              <a:rPr lang="zh-CN" altLang="en-US" dirty="0"/>
              <a:t>等于</a:t>
            </a:r>
            <a:r>
              <a:rPr lang="en-US" altLang="zh-CN" dirty="0"/>
              <a:t>1</a:t>
            </a:r>
            <a:r>
              <a:rPr lang="zh-CN" altLang="en-US" dirty="0"/>
              <a:t>，</a:t>
            </a:r>
            <a:r>
              <a:rPr lang="en-US" altLang="zh-CN" dirty="0"/>
              <a:t>C</a:t>
            </a:r>
            <a:r>
              <a:rPr lang="zh-CN" altLang="en-US" dirty="0"/>
              <a:t>等于六这样一个测试用例。三个可执行语句，二四和五都执行了一次，那么可以满足语句覆盖的要求。但是如果判断条件有问题，比如说第一个条件判断中与被错误地写成或，显然这个测试用例是无法检查出来的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91</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由于这种方法仅仅针对程序中显示存在的可执行语句进行测试，那么，对于隐藏条件和可能达到的隐式逻辑分支是无法覆盖的。可以说，语句覆盖是最弱的逻辑覆盖准则</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92</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第二个判定覆盖也称分支覆盖。他要求程序中，每一个判断的取真和取假分支至少经历一次，也就是判断的真假值都要被覆盖。还是前面这个例子。输入</a:t>
            </a:r>
            <a:r>
              <a:rPr lang="en-US" altLang="zh-CN" dirty="0"/>
              <a:t>a</a:t>
            </a:r>
            <a:r>
              <a:rPr lang="zh-CN" altLang="en-US" dirty="0"/>
              <a:t>等于</a:t>
            </a:r>
            <a:r>
              <a:rPr lang="en-US" altLang="zh-CN" dirty="0"/>
              <a:t>2</a:t>
            </a:r>
            <a:r>
              <a:rPr lang="zh-CN" altLang="en-US" dirty="0"/>
              <a:t>，</a:t>
            </a:r>
            <a:r>
              <a:rPr lang="en-US" altLang="zh-CN" dirty="0"/>
              <a:t>B</a:t>
            </a:r>
            <a:r>
              <a:rPr lang="zh-CN" altLang="en-US" dirty="0"/>
              <a:t>等于</a:t>
            </a:r>
            <a:r>
              <a:rPr lang="en-US" altLang="zh-CN" dirty="0"/>
              <a:t>1</a:t>
            </a:r>
            <a:r>
              <a:rPr lang="zh-CN" altLang="en-US" dirty="0"/>
              <a:t>，</a:t>
            </a:r>
            <a:r>
              <a:rPr lang="en-US" altLang="zh-CN" dirty="0"/>
              <a:t>C</a:t>
            </a:r>
            <a:r>
              <a:rPr lang="zh-CN" altLang="en-US" dirty="0"/>
              <a:t>等于六这样一个测试用例，可以同时覆盖判断一和判断二两个取真的分支。输入</a:t>
            </a:r>
            <a:r>
              <a:rPr lang="en-US" altLang="zh-CN" dirty="0"/>
              <a:t>a</a:t>
            </a:r>
            <a:r>
              <a:rPr lang="zh-CN" altLang="en-US" dirty="0"/>
              <a:t>等于初二必给一附</a:t>
            </a:r>
            <a:r>
              <a:rPr lang="en-US" altLang="zh-CN" dirty="0"/>
              <a:t>1C</a:t>
            </a:r>
            <a:r>
              <a:rPr lang="zh-CN" altLang="en-US" dirty="0"/>
              <a:t>等于负三，这个测试用例，同时覆盖了判断一和判断二取假的分支。判定覆盖比语句覆盖要多几近乎一倍的测试路径，当然也具有更强的测试能力。但是如果第二个条件判断中</a:t>
            </a:r>
            <a:r>
              <a:rPr lang="en-US" altLang="zh-CN" dirty="0"/>
              <a:t>a</a:t>
            </a:r>
            <a:r>
              <a:rPr lang="zh-CN" altLang="en-US" dirty="0"/>
              <a:t>大一写成</a:t>
            </a:r>
            <a:r>
              <a:rPr lang="en-US" altLang="zh-CN" dirty="0"/>
              <a:t>a</a:t>
            </a:r>
            <a:r>
              <a:rPr lang="zh-CN" altLang="en-US" dirty="0"/>
              <a:t>小一还是无法检测出来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93</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知道，大部分判定语句是由多个逻辑条件组合而成的。如果仅仅是判断整个判断的最终结果，而忽略每一个条件的取值情况，那么就会遗漏部分的测试路径。显然，判定覆盖有比语句覆盖更强的测试能力，但仍然是比较弱的逻辑覆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94</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第三，条件覆盖，他要求每个判断中每一个条件的可能取值至少要满足一次。对于这个例子。输入</a:t>
            </a:r>
            <a:r>
              <a:rPr lang="en-US" altLang="zh-CN" dirty="0"/>
              <a:t>a</a:t>
            </a:r>
            <a:r>
              <a:rPr lang="zh-CN" altLang="en-US" dirty="0"/>
              <a:t>等于</a:t>
            </a:r>
            <a:r>
              <a:rPr lang="en-US" altLang="zh-CN" dirty="0"/>
              <a:t>2B</a:t>
            </a:r>
            <a:r>
              <a:rPr lang="zh-CN" altLang="en-US" dirty="0"/>
              <a:t>，等于负</a:t>
            </a:r>
            <a:r>
              <a:rPr lang="en-US" altLang="zh-CN" dirty="0"/>
              <a:t>1C</a:t>
            </a:r>
            <a:r>
              <a:rPr lang="zh-CN" altLang="en-US" dirty="0"/>
              <a:t>等于初二，这个测试用例覆盖了</a:t>
            </a:r>
            <a:r>
              <a:rPr lang="en-US" altLang="zh-CN" dirty="0"/>
              <a:t>a</a:t>
            </a:r>
            <a:r>
              <a:rPr lang="zh-CN" altLang="en-US" dirty="0"/>
              <a:t>代理</a:t>
            </a:r>
            <a:r>
              <a:rPr lang="en-US" altLang="zh-CN" dirty="0"/>
              <a:t>B</a:t>
            </a:r>
            <a:r>
              <a:rPr lang="zh-CN" altLang="en-US" dirty="0"/>
              <a:t>小于等于</a:t>
            </a:r>
            <a:r>
              <a:rPr lang="en-US" altLang="zh-CN" dirty="0"/>
              <a:t>0a</a:t>
            </a:r>
            <a:r>
              <a:rPr lang="zh-CN" altLang="en-US" dirty="0"/>
              <a:t>，大一</a:t>
            </a:r>
            <a:r>
              <a:rPr lang="en-US" altLang="zh-CN" dirty="0"/>
              <a:t>a</a:t>
            </a:r>
            <a:r>
              <a:rPr lang="zh-CN" altLang="en-US" dirty="0"/>
              <a:t>小于等于四个条件。输入</a:t>
            </a:r>
            <a:r>
              <a:rPr lang="en-US" altLang="zh-CN" dirty="0"/>
              <a:t>a</a:t>
            </a:r>
            <a:r>
              <a:rPr lang="zh-CN" altLang="en-US" dirty="0"/>
              <a:t>的属于</a:t>
            </a:r>
            <a:r>
              <a:rPr lang="en-US" altLang="zh-CN" dirty="0"/>
              <a:t>B</a:t>
            </a:r>
            <a:r>
              <a:rPr lang="zh-CN" altLang="en-US" dirty="0"/>
              <a:t>等于</a:t>
            </a:r>
            <a:r>
              <a:rPr lang="en-US" altLang="zh-CN" dirty="0"/>
              <a:t>2C</a:t>
            </a:r>
            <a:r>
              <a:rPr lang="zh-CN" altLang="en-US" dirty="0"/>
              <a:t>等于三，这个测试用例呢，就覆盖了，一小于等于</a:t>
            </a:r>
            <a:r>
              <a:rPr lang="en-US" altLang="zh-CN" dirty="0"/>
              <a:t>0B</a:t>
            </a:r>
            <a:r>
              <a:rPr lang="zh-CN" altLang="en-US" dirty="0"/>
              <a:t>大于零。非大衣这样四个条件，这两个测试用例覆盖了两个判断的所有条件的可能取值。需要说明的是，条件覆盖不一定包含判定覆盖，比如说上面的测试用例就没有覆盖判断一的真分支和判定二的假分支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95</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显然，条件覆盖只能保证每一个条件至少有一次为真，而没有考虑到整个判定的结果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96</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第四，判定条件覆盖，他要求判断中所有条件的可能取值至少执行一次，而且所有判断的可能结果也要至少执行一次。对于前面那个例子，输入</a:t>
            </a:r>
            <a:r>
              <a:rPr lang="en-US" altLang="zh-CN" dirty="0"/>
              <a:t>a</a:t>
            </a:r>
            <a:r>
              <a:rPr lang="zh-CN" altLang="en-US" dirty="0"/>
              <a:t>等于</a:t>
            </a:r>
            <a:r>
              <a:rPr lang="en-US" altLang="zh-CN" dirty="0"/>
              <a:t>2B</a:t>
            </a:r>
            <a:r>
              <a:rPr lang="zh-CN" altLang="en-US" dirty="0"/>
              <a:t>，等于</a:t>
            </a:r>
            <a:r>
              <a:rPr lang="en-US" altLang="zh-CN" dirty="0"/>
              <a:t>1C</a:t>
            </a:r>
            <a:r>
              <a:rPr lang="zh-CN" altLang="en-US" dirty="0"/>
              <a:t>等于六，这个测试用例是覆盖了</a:t>
            </a:r>
            <a:r>
              <a:rPr lang="en-US" altLang="zh-CN" dirty="0"/>
              <a:t>ABB0AC</a:t>
            </a:r>
            <a:r>
              <a:rPr lang="zh-CN" altLang="en-US" dirty="0"/>
              <a:t>大于一这样的四个条件，同时呢，也覆盖了两个判断都为真这样的结果。收入</a:t>
            </a:r>
            <a:r>
              <a:rPr lang="en-US" altLang="zh-CN" dirty="0"/>
              <a:t>a</a:t>
            </a:r>
            <a:r>
              <a:rPr lang="zh-CN" altLang="en-US" dirty="0"/>
              <a:t>等于负，</a:t>
            </a:r>
            <a:r>
              <a:rPr lang="en-US" altLang="zh-CN" dirty="0"/>
              <a:t>1B</a:t>
            </a:r>
            <a:r>
              <a:rPr lang="zh-CN" altLang="en-US" dirty="0"/>
              <a:t>等于负</a:t>
            </a:r>
            <a:r>
              <a:rPr lang="en-US" altLang="zh-CN" dirty="0"/>
              <a:t>2C</a:t>
            </a:r>
            <a:r>
              <a:rPr lang="zh-CN" altLang="en-US" dirty="0"/>
              <a:t>等于负三，这个测试用例覆盖啦</a:t>
            </a:r>
            <a:r>
              <a:rPr lang="en-US" altLang="zh-CN" dirty="0"/>
              <a:t>AB</a:t>
            </a:r>
            <a:r>
              <a:rPr lang="zh-CN" altLang="en-US" dirty="0"/>
              <a:t>小于等于</a:t>
            </a:r>
            <a:r>
              <a:rPr lang="en-US" altLang="zh-CN" dirty="0"/>
              <a:t>0ac</a:t>
            </a:r>
            <a:r>
              <a:rPr lang="zh-CN" altLang="en-US" dirty="0"/>
              <a:t>小于等于一四个条件，同时覆盖了两个判断为假这样的结果。显然，判定条件覆盖能够同时满足判定和条件两种覆盖的标准，但是它还是有不足的，他没有考虑到条件的各种组合的情况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97</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条件组合覆盖，他是在判定条件覆盖的基础上，增加了每一个条件的所有可能取值的组合情况。对于示例程序的潘转一来说，这里是四种条件的组合情况，这里呢是对应的判断一的结果取值。最后呢是判断一，满足判定条件组合的四种取值情况，同样也可以得到判断二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98</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根据前面的分析，我们选择了图上所示的四个测试用例，他们可以满足每个条件所有可能的组合，而且覆盖了每一个判断的所有结果。但是我们再进一步看一下这些测试用例所覆盖的路径。显然，</a:t>
            </a:r>
            <a:r>
              <a:rPr lang="en-US" altLang="zh-CN" dirty="0"/>
              <a:t>125</a:t>
            </a:r>
            <a:r>
              <a:rPr lang="zh-CN" altLang="en-US" dirty="0"/>
              <a:t>这个路径是没有被覆盖的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99</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六路径覆盖，他要求覆盖程序中所有可能的执行路径。我们把前面条件组合覆盖的第二个测试用例进行了修改，得到了上面的这样的结果。这个测试用例的结果覆盖了所有的执行路径，但是呢，我们再进一步的看他并没有覆盖每一个条件的所有组合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100</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为了在覆盖所有执行路径的同时，还能够覆盖所有条件组合的情况，我们要补充了一个测试用例，最终得到了上面显示的五个测试用例的结果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101</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测试覆盖率是对测试完全程度的一种评价，但是达到</a:t>
            </a:r>
            <a:r>
              <a:rPr lang="en-US" altLang="zh-CN" dirty="0"/>
              <a:t>100%</a:t>
            </a:r>
            <a:r>
              <a:rPr lang="zh-CN" altLang="en-US" dirty="0"/>
              <a:t>只是一个理想的情况。而且即使达到了</a:t>
            </a:r>
            <a:r>
              <a:rPr lang="en-US" altLang="zh-CN" dirty="0"/>
              <a:t>100%</a:t>
            </a:r>
            <a:r>
              <a:rPr lang="zh-CN" altLang="en-US" dirty="0"/>
              <a:t>，也很难说明测试是完全彻底的。测试覆盖率只能代表测试过哪些代码并不能代表测试的好坏。测试覆盖率过低，说明测试做得不够，反过来并不成立。我们不能盲目地追求高的覆盖率，要结合整体要求和测试成本来决定</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102</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本路径测试也是一种白盒方法，它是在控制流图的基础上，通过分析控制构造的环路复杂性导出一个基本的可执行路径集合，然后设计出测试用例。他有四个步骤，第一步，绘制程序的控制流图，第二部计算环路复杂度，这是对程序逻辑复杂性的一种度量，它代表了程序中基本独立路径的数量。第三步，确定基本路径第四步，根据基本路径集合中每一条路径，要被执行一次的原则设计出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103</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我们用前面提到的计算平均成绩的这个例子来介绍一下基本路径方法。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104</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要画出程序的控制流图，这一部分在前面已经讲过，然后是计算环路的复杂度，我们可以用三种方法进行计算。另一种方法计算有边和节点圈定的区域数，在这个例子中，我们可以找到区域一区域二区域三，另外还有一个图形外的开放区域，也就是区域四一共是有四个区域。第二种方法，通过边数简洁点数加，二来计算这个图有时一条边和九个节点，最后得到四。第三种方法，通过判断节点数加一来计算。这个图一共有三个判断节点，分别是二三和六，最后也是得到四。在计算的过程中，你可以使用任何一种方法来计算我们这个例子得到的环路复杂度</a:t>
            </a:r>
            <a:r>
              <a:rPr lang="en-US" altLang="zh-CN" dirty="0"/>
              <a:t>4</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105</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接下来要找出基本独立路径集，独立路径具有这样的性质，一条独立路径和其他独立路径相比，至少要包含一条新的边，而环路复杂度，正好是等于程序的独立路径数，我们先来找第一条路径，从头</a:t>
            </a:r>
            <a:r>
              <a:rPr lang="en-US" altLang="zh-CN" dirty="0"/>
              <a:t>12345</a:t>
            </a:r>
            <a:r>
              <a:rPr lang="zh-CN" altLang="en-US" dirty="0"/>
              <a:t>，然后再回到二，这是第一条路径，第二条路径，至少要加入一条新边，所以我们选择节点三的另一个分支，得到了</a:t>
            </a:r>
            <a:r>
              <a:rPr lang="en-US" altLang="zh-CN" dirty="0"/>
              <a:t>1235</a:t>
            </a:r>
            <a:r>
              <a:rPr lang="zh-CN" altLang="en-US" dirty="0"/>
              <a:t>，然后再回到二。第三条路径我们选择节点二的另一个分支，得到</a:t>
            </a:r>
            <a:r>
              <a:rPr lang="en-US" altLang="zh-CN" dirty="0"/>
              <a:t>12679</a:t>
            </a:r>
            <a:r>
              <a:rPr lang="zh-CN" altLang="en-US" dirty="0"/>
              <a:t>第四条路径选择，六节点的另一个分支得到</a:t>
            </a:r>
            <a:r>
              <a:rPr lang="en-US" altLang="zh-CN" dirty="0"/>
              <a:t>12689</a:t>
            </a:r>
            <a:r>
              <a:rPr lang="zh-CN" altLang="en-US" dirty="0"/>
              <a:t>，这样我们就得到了示例程序的基本路径集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106</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最后，我们选择合适的输入数据，形成测试用例集。这里</a:t>
            </a:r>
            <a:r>
              <a:rPr lang="en-US" altLang="zh-CN" dirty="0"/>
              <a:t>P3</a:t>
            </a:r>
            <a:r>
              <a:rPr lang="zh-CN" altLang="en-US" dirty="0"/>
              <a:t>这条路径是无法达到的，因为在文件没有数据的时候，不可能满足成绩个数大于零这个条件。另外，有一些独立路径往往不是孤立的，它是正常控制流的一部分，比如</a:t>
            </a:r>
            <a:r>
              <a:rPr lang="en-US" altLang="zh-CN" dirty="0"/>
              <a:t>P3</a:t>
            </a:r>
            <a:r>
              <a:rPr lang="zh-CN" altLang="en-US" dirty="0"/>
              <a:t>就是</a:t>
            </a:r>
            <a:r>
              <a:rPr lang="en-US" altLang="zh-CN" dirty="0"/>
              <a:t>p1</a:t>
            </a:r>
            <a:r>
              <a:rPr lang="zh-CN" altLang="en-US" dirty="0"/>
              <a:t>和</a:t>
            </a:r>
            <a:r>
              <a:rPr lang="en-US" altLang="zh-CN" dirty="0"/>
              <a:t>2</a:t>
            </a:r>
            <a:r>
              <a:rPr lang="zh-CN" altLang="en-US" dirty="0"/>
              <a:t>的一部分。为了更好的测试，你也可以再补充一些测试用例，像这个例子中可以补充文件数据全是零和负数的情况，他的输出信息和上面的</a:t>
            </a:r>
            <a:r>
              <a:rPr lang="en-US" altLang="zh-CN" dirty="0"/>
              <a:t>4</a:t>
            </a:r>
            <a:r>
              <a:rPr lang="zh-CN" altLang="en-US" dirty="0"/>
              <a:t>是一样的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107</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循环也是测试的重点，其目的是检查循环结构的有效性，循环可以分成简单循环嵌套循环串接循环和非结构循环等类型。对于简单循环来说，根据循环次数</a:t>
            </a:r>
            <a:r>
              <a:rPr lang="en-US" altLang="zh-CN" dirty="0"/>
              <a:t>N</a:t>
            </a:r>
            <a:r>
              <a:rPr lang="zh-CN" altLang="en-US" dirty="0"/>
              <a:t>可以选择次数的最小边界</a:t>
            </a:r>
            <a:r>
              <a:rPr lang="en-US" altLang="zh-CN" dirty="0"/>
              <a:t>012</a:t>
            </a:r>
            <a:r>
              <a:rPr lang="zh-CN" altLang="en-US" dirty="0"/>
              <a:t>，中间任意职</a:t>
            </a:r>
            <a:r>
              <a:rPr lang="en-US" altLang="zh-CN" dirty="0"/>
              <a:t>M</a:t>
            </a:r>
            <a:r>
              <a:rPr lang="zh-CN" altLang="en-US" dirty="0"/>
              <a:t>和最大边界</a:t>
            </a:r>
            <a:r>
              <a:rPr lang="en-US" altLang="zh-CN" dirty="0"/>
              <a:t>N</a:t>
            </a:r>
            <a:r>
              <a:rPr lang="zh-CN" altLang="en-US" dirty="0"/>
              <a:t>减</a:t>
            </a:r>
            <a:r>
              <a:rPr lang="en-US" altLang="zh-CN" dirty="0"/>
              <a:t>1</a:t>
            </a:r>
            <a:r>
              <a:rPr lang="zh-CN" altLang="en-US" dirty="0"/>
              <a:t>，</a:t>
            </a:r>
            <a:r>
              <a:rPr lang="en-US" altLang="zh-CN" dirty="0"/>
              <a:t>N</a:t>
            </a:r>
            <a:r>
              <a:rPr lang="zh-CN" altLang="en-US" dirty="0"/>
              <a:t>和</a:t>
            </a:r>
            <a:r>
              <a:rPr lang="en-US" altLang="zh-CN" dirty="0"/>
              <a:t>N</a:t>
            </a:r>
            <a:r>
              <a:rPr lang="zh-CN" altLang="en-US" dirty="0"/>
              <a:t>加一次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108</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嵌套循环，先从最内层的循环开始，把其他层循环次数设为最小值，最内层的循环按照简单循环进行测试，然后从内向外再进行下一层循环重复这个过程，直到测试完所有循环。对于串接循环，如果循环之间是相互独立的，就按照简单循环来处理，如果存在依赖性，那么采用嵌套循环的方法进行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109</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还有一种</a:t>
            </a:r>
            <a:r>
              <a:rPr lang="en-US" altLang="zh-CN" dirty="0"/>
              <a:t>z</a:t>
            </a:r>
            <a:r>
              <a:rPr lang="zh-CN" altLang="en-US" dirty="0"/>
              <a:t>路径覆盖下的循环测试，他是把循环简化为只考虑执行循环体一次和零次的情况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110</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接下来，单元测试的最后，我们以</a:t>
            </a:r>
            <a:r>
              <a:rPr lang="en-US" altLang="zh-CN" dirty="0"/>
              <a:t>python</a:t>
            </a:r>
            <a:r>
              <a:rPr lang="zh-CN" altLang="en-US" dirty="0"/>
              <a:t>为例，介绍一下它的单元测试工具和案例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117</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zh-CN" altLang="en-US" dirty="0"/>
              <a:t>的单元测试框架</a:t>
            </a:r>
            <a:r>
              <a:rPr lang="en-US" altLang="zh-CN" dirty="0" err="1"/>
              <a:t>unittest</a:t>
            </a:r>
            <a:r>
              <a:rPr lang="zh-CN" altLang="en-US" dirty="0"/>
              <a:t>是受到</a:t>
            </a:r>
            <a:r>
              <a:rPr lang="en-US" altLang="zh-CN" dirty="0"/>
              <a:t>JUnit</a:t>
            </a:r>
            <a:r>
              <a:rPr lang="zh-CN" altLang="en-US" dirty="0"/>
              <a:t>的启发产生的，并且内置在</a:t>
            </a:r>
            <a:r>
              <a:rPr lang="en-US" altLang="zh-CN" dirty="0"/>
              <a:t>python</a:t>
            </a:r>
            <a:r>
              <a:rPr lang="zh-CN" altLang="en-US" dirty="0"/>
              <a:t>中，无需我们安装，</a:t>
            </a:r>
            <a:r>
              <a:rPr lang="en-US" altLang="zh-CN" dirty="0" err="1"/>
              <a:t>unittest</a:t>
            </a:r>
            <a:r>
              <a:rPr lang="zh-CN" altLang="en-US" dirty="0"/>
              <a:t>框架主要由以下几部分组成。首先是</a:t>
            </a:r>
            <a:r>
              <a:rPr lang="en-US" altLang="zh-CN" dirty="0" err="1"/>
              <a:t>TestCase</a:t>
            </a:r>
            <a:r>
              <a:rPr lang="zh-CN" altLang="en-US" dirty="0"/>
              <a:t>类，它是一个最小的测试单元，我们通过继承这个类来编写测试用例，</a:t>
            </a:r>
            <a:r>
              <a:rPr lang="zh-CN" altLang="en-US" sz="1200" b="0" i="0" kern="1200" dirty="0">
                <a:solidFill>
                  <a:schemeClr val="tx1"/>
                </a:solidFill>
                <a:effectLst/>
                <a:latin typeface="+mn-lt"/>
                <a:ea typeface="+mn-ea"/>
                <a:cs typeface="+mn-cs"/>
              </a:rPr>
              <a:t>每一个继承</a:t>
            </a:r>
            <a:r>
              <a:rPr lang="en-US" altLang="zh-CN" sz="1200" b="0" i="0" kern="1200" dirty="0" err="1">
                <a:solidFill>
                  <a:schemeClr val="tx1"/>
                </a:solidFill>
                <a:effectLst/>
                <a:latin typeface="+mn-lt"/>
                <a:ea typeface="+mn-ea"/>
                <a:cs typeface="+mn-cs"/>
              </a:rPr>
              <a:t>TestCase</a:t>
            </a:r>
            <a:r>
              <a:rPr lang="zh-CN" altLang="en-US" sz="1200" b="0" i="0" kern="1200" dirty="0">
                <a:solidFill>
                  <a:schemeClr val="tx1"/>
                </a:solidFill>
                <a:effectLst/>
                <a:latin typeface="+mn-lt"/>
                <a:ea typeface="+mn-ea"/>
                <a:cs typeface="+mn-cs"/>
              </a:rPr>
              <a:t>类的子类都是一个测试用例</a:t>
            </a:r>
            <a:r>
              <a:rPr lang="en-US" altLang="zh-CN" sz="1200" b="0" i="0" kern="1200" dirty="0">
                <a:solidFill>
                  <a:schemeClr val="tx1"/>
                </a:solidFill>
                <a:effectLst/>
                <a:latin typeface="+mn-lt"/>
                <a:ea typeface="+mn-ea"/>
                <a:cs typeface="+mn-cs"/>
              </a:rPr>
              <a:t>test case</a:t>
            </a:r>
            <a:r>
              <a:rPr lang="zh-CN" altLang="en-US" sz="1200" b="0" i="0" kern="1200" dirty="0">
                <a:solidFill>
                  <a:schemeClr val="tx1"/>
                </a:solidFill>
                <a:effectLst/>
                <a:latin typeface="+mn-lt"/>
                <a:ea typeface="+mn-ea"/>
                <a:cs typeface="+mn-cs"/>
              </a:rPr>
              <a:t>，里面实现的具体的方法都是以</a:t>
            </a:r>
            <a:r>
              <a:rPr lang="en-US" altLang="zh-CN" sz="1200" b="0" i="0" kern="1200" dirty="0">
                <a:solidFill>
                  <a:schemeClr val="tx1"/>
                </a:solidFill>
                <a:effectLst/>
                <a:latin typeface="+mn-lt"/>
                <a:ea typeface="+mn-ea"/>
                <a:cs typeface="+mn-cs"/>
              </a:rPr>
              <a:t>test</a:t>
            </a:r>
            <a:r>
              <a:rPr lang="zh-CN" altLang="en-US" sz="1200" b="0" i="0" kern="1200" dirty="0">
                <a:solidFill>
                  <a:schemeClr val="tx1"/>
                </a:solidFill>
                <a:effectLst/>
                <a:latin typeface="+mn-lt"/>
                <a:ea typeface="+mn-ea"/>
                <a:cs typeface="+mn-cs"/>
              </a:rPr>
              <a:t>开头的</a:t>
            </a:r>
            <a:r>
              <a:rPr lang="zh-CN" altLang="en-US" dirty="0"/>
              <a:t>、相互独立的测试方法。除此以外，测试用例也可以使用在</a:t>
            </a:r>
            <a:r>
              <a:rPr lang="en-US" altLang="zh-CN" dirty="0"/>
              <a:t>setup</a:t>
            </a:r>
            <a:r>
              <a:rPr lang="zh-CN" altLang="en-US" dirty="0"/>
              <a:t>和</a:t>
            </a:r>
            <a:r>
              <a:rPr lang="en-US" altLang="zh-CN" dirty="0" err="1"/>
              <a:t>tearDown</a:t>
            </a:r>
            <a:r>
              <a:rPr lang="zh-CN" altLang="en-US" dirty="0"/>
              <a:t>来为每一个测试初始化和销毁。具体来说，</a:t>
            </a:r>
            <a:r>
              <a:rPr lang="en-US" altLang="zh-CN" sz="1200" b="0" i="0" kern="1200" dirty="0">
                <a:solidFill>
                  <a:schemeClr val="tx1"/>
                </a:solidFill>
                <a:effectLst/>
                <a:latin typeface="+mn-lt"/>
                <a:ea typeface="+mn-ea"/>
                <a:cs typeface="+mn-cs"/>
              </a:rPr>
              <a:t>setup</a:t>
            </a:r>
            <a:r>
              <a:rPr lang="zh-CN" altLang="en-US" sz="1200" b="0" i="0" kern="1200" dirty="0">
                <a:solidFill>
                  <a:schemeClr val="tx1"/>
                </a:solidFill>
                <a:effectLst/>
                <a:latin typeface="+mn-lt"/>
                <a:ea typeface="+mn-ea"/>
                <a:cs typeface="+mn-cs"/>
              </a:rPr>
              <a:t>主要是进行测试前的初始化工作，比如在接口测试前面做一些前置的参数赋值，数据库操作等等；</a:t>
            </a:r>
            <a:r>
              <a:rPr lang="en-US" altLang="zh-CN" sz="1200" b="0" i="0" kern="1200" dirty="0">
                <a:solidFill>
                  <a:schemeClr val="tx1"/>
                </a:solidFill>
                <a:effectLst/>
                <a:latin typeface="+mn-lt"/>
                <a:ea typeface="+mn-ea"/>
                <a:cs typeface="+mn-cs"/>
              </a:rPr>
              <a:t>teardown</a:t>
            </a:r>
            <a:r>
              <a:rPr lang="zh-CN" altLang="en-US" sz="1200" b="0" i="0" kern="1200" dirty="0">
                <a:solidFill>
                  <a:schemeClr val="tx1"/>
                </a:solidFill>
                <a:effectLst/>
                <a:latin typeface="+mn-lt"/>
                <a:ea typeface="+mn-ea"/>
                <a:cs typeface="+mn-cs"/>
              </a:rPr>
              <a:t>是测试后的清除工作，比如参数还原或销毁，数据库的还原恢复等。</a:t>
            </a:r>
            <a:r>
              <a:rPr lang="en-US" altLang="zh-CN" dirty="0" err="1"/>
              <a:t>TestSuite</a:t>
            </a:r>
            <a:r>
              <a:rPr lang="zh-CN" altLang="en-US" dirty="0"/>
              <a:t>类，他是测试套件类，包含若干个</a:t>
            </a:r>
            <a:r>
              <a:rPr lang="en-US" altLang="zh-CN" dirty="0"/>
              <a:t>test case</a:t>
            </a:r>
            <a:r>
              <a:rPr lang="zh-CN" altLang="en-US" dirty="0"/>
              <a:t>，用来对测试进行分组管理，</a:t>
            </a:r>
            <a:r>
              <a:rPr lang="en-US" altLang="zh-CN" dirty="0" err="1"/>
              <a:t>TestLoader</a:t>
            </a:r>
            <a:r>
              <a:rPr lang="zh-CN" altLang="en-US" dirty="0"/>
              <a:t>用来对指定测试套件、类、方法等进行测试，</a:t>
            </a:r>
            <a:r>
              <a:rPr lang="en-US" altLang="zh-CN" dirty="0"/>
              <a:t>test results</a:t>
            </a:r>
            <a:r>
              <a:rPr lang="zh-CN" altLang="en-US" dirty="0"/>
              <a:t>类</a:t>
            </a:r>
            <a:r>
              <a:rPr lang="zh-CN" altLang="en-US" sz="1200" b="0" i="0" kern="1200" dirty="0">
                <a:solidFill>
                  <a:schemeClr val="tx1"/>
                </a:solidFill>
                <a:effectLst/>
                <a:latin typeface="+mn-lt"/>
                <a:ea typeface="+mn-ea"/>
                <a:cs typeface="+mn-cs"/>
              </a:rPr>
              <a:t>用来处理测试用例或测试集执行过程中的所有信息并最终输出。</a:t>
            </a:r>
            <a:r>
              <a:rPr lang="en-US" altLang="zh-CN" dirty="0" err="1"/>
              <a:t>TestLoader</a:t>
            </a:r>
            <a:r>
              <a:rPr lang="zh-CN" altLang="en-US" dirty="0"/>
              <a:t>和</a:t>
            </a:r>
            <a:r>
              <a:rPr lang="en-US" altLang="zh-CN" dirty="0" err="1"/>
              <a:t>TestResult</a:t>
            </a:r>
            <a:r>
              <a:rPr lang="zh-CN" altLang="en-US" dirty="0"/>
              <a:t>这两个类在编写测试中通常不会直接用到，一些基于</a:t>
            </a:r>
            <a:r>
              <a:rPr lang="en-US" altLang="zh-CN" dirty="0" err="1"/>
              <a:t>unnittest</a:t>
            </a:r>
            <a:r>
              <a:rPr lang="zh-CN" altLang="en-US" dirty="0"/>
              <a:t>的工具可能会用到。最后，</a:t>
            </a:r>
            <a:r>
              <a:rPr lang="en-US" altLang="zh-CN" dirty="0" err="1"/>
              <a:t>unnittest.main</a:t>
            </a:r>
            <a:r>
              <a:rPr lang="zh-CN" altLang="en-US" dirty="0"/>
              <a:t>方法，用于自动运行当前文件中的所有测试。</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118</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FFFFFF"/>
                </a:solidFill>
                <a:latin typeface="微软雅黑" panose="020B0503020204020204" pitchFamily="34" charset="-122"/>
                <a:cs typeface="微软雅黑" panose="020B0503020204020204" pitchFamily="34" charset="-122"/>
              </a:rPr>
              <a:t>测试过程中需要对结果进行判断，以验证结果是否符合我们的预期，这就是属性断言。</a:t>
            </a:r>
            <a:r>
              <a:rPr lang="en-US" altLang="zh-CN" sz="1200" dirty="0">
                <a:solidFill>
                  <a:srgbClr val="FFFFFF"/>
                </a:solidFill>
                <a:latin typeface="微软雅黑" panose="020B0503020204020204" pitchFamily="34" charset="-122"/>
                <a:cs typeface="微软雅黑" panose="020B0503020204020204" pitchFamily="34" charset="-122"/>
              </a:rPr>
              <a:t>Assert</a:t>
            </a:r>
            <a:r>
              <a:rPr lang="zh-CN" altLang="en-US" sz="1200" dirty="0">
                <a:solidFill>
                  <a:srgbClr val="FFFFFF"/>
                </a:solidFill>
                <a:latin typeface="微软雅黑" panose="020B0503020204020204" pitchFamily="34" charset="-122"/>
                <a:cs typeface="微软雅黑" panose="020B0503020204020204" pitchFamily="34" charset="-122"/>
              </a:rPr>
              <a:t>关键字就是一种断言，不过</a:t>
            </a:r>
            <a:r>
              <a:rPr lang="en-US" altLang="zh-CN" sz="1200" dirty="0">
                <a:solidFill>
                  <a:srgbClr val="FFFFFF"/>
                </a:solidFill>
                <a:latin typeface="微软雅黑" panose="020B0503020204020204" pitchFamily="34" charset="-122"/>
                <a:cs typeface="微软雅黑" panose="020B0503020204020204" pitchFamily="34" charset="-122"/>
              </a:rPr>
              <a:t>assert</a:t>
            </a:r>
            <a:r>
              <a:rPr lang="zh-CN" altLang="en-US" sz="1200" dirty="0">
                <a:solidFill>
                  <a:srgbClr val="FFFFFF"/>
                </a:solidFill>
                <a:latin typeface="微软雅黑" panose="020B0503020204020204" pitchFamily="34" charset="-122"/>
                <a:cs typeface="微软雅黑" panose="020B0503020204020204" pitchFamily="34" charset="-122"/>
              </a:rPr>
              <a:t>关键字比较弱，</a:t>
            </a:r>
            <a:r>
              <a:rPr lang="en-US" altLang="zh-CN" sz="1200" dirty="0" err="1">
                <a:solidFill>
                  <a:srgbClr val="FFFFFF"/>
                </a:solidFill>
                <a:latin typeface="微软雅黑" panose="020B0503020204020204" pitchFamily="34" charset="-122"/>
                <a:cs typeface="微软雅黑" panose="020B0503020204020204" pitchFamily="34" charset="-122"/>
              </a:rPr>
              <a:t>unnittest</a:t>
            </a:r>
            <a:r>
              <a:rPr lang="zh-CN" altLang="en-US" sz="1200" dirty="0">
                <a:solidFill>
                  <a:srgbClr val="FFFFFF"/>
                </a:solidFill>
                <a:latin typeface="微软雅黑" panose="020B0503020204020204" pitchFamily="34" charset="-122"/>
                <a:cs typeface="微软雅黑" panose="020B0503020204020204" pitchFamily="34" charset="-122"/>
              </a:rPr>
              <a:t>提供了多种强大的断言方法，如。。。大家可以可以在这个链接中进行查询。这些断言方法可以。。。</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119</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Unnittest</a:t>
            </a:r>
            <a:r>
              <a:rPr lang="zh-CN" altLang="en-US" dirty="0"/>
              <a:t>的主要步骤如下：首先我们需要</a:t>
            </a:r>
            <a:r>
              <a:rPr lang="en-US" altLang="zh-CN" dirty="0"/>
              <a:t>import </a:t>
            </a:r>
            <a:r>
              <a:rPr lang="en-US" altLang="zh-CN" dirty="0" err="1"/>
              <a:t>unnitest</a:t>
            </a:r>
            <a:r>
              <a:rPr lang="zh-CN" altLang="en-US" dirty="0"/>
              <a:t>包，然后我们要集成</a:t>
            </a:r>
            <a:r>
              <a:rPr lang="en-US" altLang="zh-CN" dirty="0" err="1"/>
              <a:t>TestCase</a:t>
            </a:r>
            <a:r>
              <a:rPr lang="zh-CN" altLang="en-US" dirty="0"/>
              <a:t>类，定义自己的测试用例类，接下来定义</a:t>
            </a:r>
            <a:r>
              <a:rPr lang="en-US" altLang="zh-CN" dirty="0"/>
              <a:t>setup</a:t>
            </a:r>
            <a:r>
              <a:rPr lang="zh-CN" altLang="en-US" dirty="0"/>
              <a:t>和</a:t>
            </a:r>
            <a:r>
              <a:rPr lang="en-US" altLang="zh-CN" dirty="0"/>
              <a:t>teardown</a:t>
            </a:r>
            <a:r>
              <a:rPr lang="zh-CN" altLang="en-US" dirty="0"/>
              <a:t>方法，在每个。。公祖，之后就可以开始正式定义测试用例了，所有的测试用例都是以</a:t>
            </a:r>
            <a:r>
              <a:rPr lang="en-US" altLang="zh-CN" dirty="0"/>
              <a:t>test</a:t>
            </a:r>
            <a:r>
              <a:rPr lang="zh-CN" altLang="en-US" dirty="0"/>
              <a:t>开头，这里需要注意，单元测试和集成测试不一样，单元测试的测试用例应该只测试一个方面。。。并且。。。主要是调用。。。，然后我们调用。。。如果。。。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120</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Python3.3</a:t>
            </a:r>
            <a:r>
              <a:rPr lang="zh-CN" altLang="en-US" dirty="0"/>
              <a:t>中开始内置了</a:t>
            </a:r>
            <a:r>
              <a:rPr lang="en-US" altLang="zh-CN" dirty="0"/>
              <a:t>mock</a:t>
            </a:r>
            <a:r>
              <a:rPr lang="zh-CN" altLang="en-US" dirty="0"/>
              <a:t>框架，可以让我们在测试中用</a:t>
            </a:r>
            <a:r>
              <a:rPr lang="en-US" altLang="zh-CN" dirty="0"/>
              <a:t>mock</a:t>
            </a:r>
            <a:r>
              <a:rPr lang="zh-CN" altLang="en-US" dirty="0"/>
              <a:t>对象代替所依赖的真实的</a:t>
            </a:r>
            <a:r>
              <a:rPr lang="en-US" altLang="zh-CN" dirty="0"/>
              <a:t>python</a:t>
            </a:r>
            <a:r>
              <a:rPr lang="zh-CN" altLang="en-US" dirty="0"/>
              <a:t>对象，控制依赖对象的行为，并且记录依赖对象是如何被调用的。它主要由以下几部分组成：</a:t>
            </a:r>
            <a:r>
              <a:rPr lang="en-US" altLang="zh-CN" dirty="0"/>
              <a:t>mock</a:t>
            </a:r>
            <a:r>
              <a:rPr lang="zh-CN" altLang="en-US" dirty="0"/>
              <a:t>类，用来。。。自动创建该属性，并且为该属性也自动创建一个</a:t>
            </a:r>
            <a:r>
              <a:rPr lang="en-US" altLang="zh-CN" dirty="0"/>
              <a:t>mock</a:t>
            </a:r>
            <a:r>
              <a:rPr lang="zh-CN" altLang="en-US" dirty="0"/>
              <a:t>，</a:t>
            </a:r>
            <a:r>
              <a:rPr lang="en-US" altLang="zh-CN" dirty="0"/>
              <a:t>magic mock</a:t>
            </a:r>
            <a:r>
              <a:rPr lang="zh-CN" altLang="en-US" dirty="0"/>
              <a:t>类，是</a:t>
            </a:r>
            <a:r>
              <a:rPr lang="en-US" altLang="zh-CN" dirty="0"/>
              <a:t>mock</a:t>
            </a:r>
            <a:r>
              <a:rPr lang="zh-CN" altLang="en-US" dirty="0"/>
              <a:t>类的一个子类，区别是它额外定义了操作符，比如大小比较、长度等等，</a:t>
            </a:r>
            <a:r>
              <a:rPr lang="en-US" altLang="zh-CN" dirty="0"/>
              <a:t>patch</a:t>
            </a:r>
            <a:r>
              <a:rPr lang="zh-CN" altLang="en-US" dirty="0"/>
              <a:t>装饰器，可以将其。。。也可以等价的用</a:t>
            </a:r>
            <a:r>
              <a:rPr lang="en-US" altLang="zh-CN" dirty="0"/>
              <a:t>with</a:t>
            </a:r>
            <a:r>
              <a:rPr lang="zh-CN" altLang="en-US" dirty="0"/>
              <a:t>关键字创建一个作用域，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121</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Mock</a:t>
            </a:r>
            <a:r>
              <a:rPr lang="zh-CN" altLang="en-US" dirty="0"/>
              <a:t>对象提供了一些。。。可以。。。大家可以在这个链接中查看具体的说明。另外，我们通常需要从。。。返回值，</a:t>
            </a:r>
            <a:r>
              <a:rPr lang="en-US" altLang="zh-CN" dirty="0"/>
              <a:t>mock</a:t>
            </a:r>
            <a:r>
              <a:rPr lang="zh-CN" altLang="en-US" dirty="0"/>
              <a:t>。。。进行控制。比如返回一个固定值或者提供一个返回值序列或其他自定义方法来模拟真实的返回值。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122</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zh-CN" altLang="en-US" dirty="0"/>
              <a:t>的单元测试覆盖工具，</a:t>
            </a:r>
            <a:r>
              <a:rPr lang="en-US" altLang="zh-CN" dirty="0"/>
              <a:t>coverage.py</a:t>
            </a:r>
            <a:r>
              <a:rPr lang="zh-CN" altLang="en-US" dirty="0"/>
              <a:t>，咱们前面也提过，可以用</a:t>
            </a:r>
            <a:r>
              <a:rPr lang="en-US" altLang="zh-CN" dirty="0"/>
              <a:t>pip</a:t>
            </a:r>
            <a:r>
              <a:rPr lang="zh-CN" altLang="en-US" dirty="0"/>
              <a:t>来安装，使用起来非常简单，可以记录每条语句的执行情况，给出语句覆盖率。我们只需要选择在运行</a:t>
            </a:r>
            <a:r>
              <a:rPr lang="en-US" altLang="zh-CN" dirty="0" err="1"/>
              <a:t>unnittest</a:t>
            </a:r>
            <a:r>
              <a:rPr lang="zh-CN" altLang="en-US" dirty="0"/>
              <a:t>时与覆盖分析一起运行，就可以看到覆盖分析的结果，如果是在</a:t>
            </a:r>
            <a:r>
              <a:rPr lang="en-US" altLang="zh-CN" dirty="0" err="1"/>
              <a:t>pycharm</a:t>
            </a:r>
            <a:r>
              <a:rPr lang="zh-CN" altLang="en-US" dirty="0"/>
              <a:t>里，就可以直接看到运行的结果，包括语句的覆盖情况，用红色表示没有执行的语句，绿色表示执行的语句，还可以看到覆盖率的统计。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123</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下面我们通过一个案例来学习一下</a:t>
            </a:r>
            <a:r>
              <a:rPr lang="en-US" altLang="zh-CN" dirty="0"/>
              <a:t>python</a:t>
            </a:r>
            <a:r>
              <a:rPr lang="zh-CN" altLang="en-US" dirty="0"/>
              <a:t>的单元测试。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124</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我们首先来分析一下前面提到过的生命游戏这个案例，它包含</a:t>
            </a:r>
            <a:r>
              <a:rPr lang="en-US" altLang="zh-CN" dirty="0"/>
              <a:t>4</a:t>
            </a:r>
            <a:r>
              <a:rPr lang="zh-CN" altLang="en-US" dirty="0"/>
              <a:t>个文件，分别是主程序、输出程序、定时器和游戏地图，我们通过</a:t>
            </a:r>
            <a:r>
              <a:rPr lang="en-US" altLang="zh-CN" dirty="0" err="1"/>
              <a:t>pylint</a:t>
            </a:r>
            <a:r>
              <a:rPr lang="zh-CN" altLang="en-US" dirty="0"/>
              <a:t>可以得到这样一个依赖关系图，我们可以看到</a:t>
            </a:r>
            <a:r>
              <a:rPr lang="en-US" altLang="zh-CN" dirty="0" err="1"/>
              <a:t>game_timer</a:t>
            </a:r>
            <a:r>
              <a:rPr lang="zh-CN" altLang="en-US" dirty="0"/>
              <a:t>和</a:t>
            </a:r>
            <a:r>
              <a:rPr lang="en-US" altLang="zh-CN" dirty="0" err="1"/>
              <a:t>game_map</a:t>
            </a:r>
            <a:r>
              <a:rPr lang="zh-CN" altLang="en-US" dirty="0"/>
              <a:t>这两个是最底层的操作，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125</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在这两个模块中，</a:t>
            </a:r>
            <a:r>
              <a:rPr lang="en-US" altLang="zh-CN" dirty="0"/>
              <a:t>game)map</a:t>
            </a:r>
            <a:r>
              <a:rPr lang="zh-CN" altLang="en-US" dirty="0"/>
              <a:t>是最核心的模块，它包含了生命游戏的主要逻辑，这里列出了它的属性和方法。</a:t>
            </a:r>
            <a:r>
              <a:rPr lang="en-US" altLang="zh-CN" dirty="0"/>
              <a:t>Rows</a:t>
            </a:r>
            <a:r>
              <a:rPr lang="zh-CN" altLang="en-US" dirty="0"/>
              <a:t>和</a:t>
            </a:r>
            <a:r>
              <a:rPr lang="en-US" altLang="zh-CN" dirty="0"/>
              <a:t>cols</a:t>
            </a:r>
            <a:r>
              <a:rPr lang="zh-CN" altLang="en-US" dirty="0"/>
              <a:t>属性</a:t>
            </a:r>
            <a:r>
              <a:rPr lang="en-US" altLang="zh-CN" dirty="0"/>
              <a:t>b</a:t>
            </a:r>
            <a:r>
              <a:rPr lang="zh-CN" altLang="en-US" dirty="0"/>
              <a:t>表示地图的行和列的数量，</a:t>
            </a:r>
            <a:r>
              <a:rPr lang="en-US" altLang="zh-CN" dirty="0"/>
              <a:t>reset</a:t>
            </a:r>
            <a:r>
              <a:rPr lang="zh-CN" altLang="en-US" dirty="0"/>
              <a:t>方法，以。。。</a:t>
            </a:r>
            <a:r>
              <a:rPr lang="en-US" altLang="zh-CN" dirty="0"/>
              <a:t>Get/set</a:t>
            </a:r>
            <a:r>
              <a:rPr lang="zh-CN" altLang="en-US" dirty="0"/>
              <a:t>：。。。</a:t>
            </a:r>
            <a:r>
              <a:rPr lang="en-US" altLang="zh-CN" dirty="0" err="1"/>
              <a:t>Get_neighoubor_count</a:t>
            </a:r>
            <a:r>
              <a:rPr lang="zh-CN" altLang="en-US" dirty="0"/>
              <a:t>，获得。。。。。。所有念一遍。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126</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下面我们首先来创建测试，我们打开</a:t>
            </a:r>
            <a:r>
              <a:rPr lang="en-US" altLang="zh-CN" dirty="0"/>
              <a:t>game_map.py</a:t>
            </a:r>
            <a:r>
              <a:rPr lang="zh-CN" altLang="en-US" dirty="0"/>
              <a:t>，然后在菜单上选择</a:t>
            </a:r>
            <a:r>
              <a:rPr lang="en-US" altLang="zh-CN" dirty="0"/>
              <a:t>Navigate test</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127</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这时会在</a:t>
            </a:r>
            <a:r>
              <a:rPr lang="en-US" altLang="zh-CN" dirty="0" err="1"/>
              <a:t>GameMap</a:t>
            </a:r>
            <a:r>
              <a:rPr lang="zh-CN" altLang="en-US" dirty="0"/>
              <a:t>的类上弹出一个小菜单，我们选择</a:t>
            </a:r>
            <a:r>
              <a:rPr lang="en-US" altLang="zh-CN" dirty="0"/>
              <a:t>create new test</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128</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这时会弹出创建测试的对话框，让我们选择要测试的方法，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129</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这里我们把所有方法都选中，然后输入测试文件的名称和测试类的名称，最后点击</a:t>
            </a:r>
            <a:r>
              <a:rPr lang="en-US" altLang="zh-CN" dirty="0"/>
              <a:t>ok</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130</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这样我们就完成了测试类的创建，我们可以看到他是继承了</a:t>
            </a:r>
            <a:r>
              <a:rPr lang="en-US" altLang="zh-CN" dirty="0" err="1"/>
              <a:t>unnitest</a:t>
            </a:r>
            <a:r>
              <a:rPr lang="en-US" altLang="zh-CN" dirty="0"/>
              <a:t> </a:t>
            </a:r>
            <a:r>
              <a:rPr lang="zh-CN" altLang="en-US" dirty="0"/>
              <a:t>中的</a:t>
            </a:r>
            <a:r>
              <a:rPr lang="en-US" altLang="zh-CN" dirty="0" err="1"/>
              <a:t>TestCase</a:t>
            </a:r>
            <a:r>
              <a:rPr lang="zh-CN" altLang="en-US" dirty="0"/>
              <a:t>类的。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131</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接下来，我们首先看一下如何运行测试，我们在类名上点击右键，选择运行这个测试类，也就是</a:t>
            </a:r>
            <a:r>
              <a:rPr lang="en-US" altLang="zh-CN" dirty="0" err="1"/>
              <a:t>TestGameMap</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132</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然后我们就可以在</a:t>
            </a:r>
            <a:r>
              <a:rPr lang="en-US" altLang="zh-CN" dirty="0" err="1"/>
              <a:t>pyCharm</a:t>
            </a:r>
            <a:r>
              <a:rPr lang="zh-CN" altLang="en-US" dirty="0"/>
              <a:t>中看到测试结果。这里一共有</a:t>
            </a:r>
            <a:r>
              <a:rPr lang="en-US" altLang="zh-CN" dirty="0"/>
              <a:t>9</a:t>
            </a:r>
            <a:r>
              <a:rPr lang="zh-CN" altLang="en-US" dirty="0"/>
              <a:t>个测试，测试失败会在左边窗口中用感叹号来表示。我们看到，这里一共失败了</a:t>
            </a:r>
            <a:r>
              <a:rPr lang="en-US" altLang="zh-CN" dirty="0"/>
              <a:t>9</a:t>
            </a:r>
            <a:r>
              <a:rPr lang="zh-CN" altLang="en-US" dirty="0"/>
              <a:t>个，</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133</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这是因为新创建的测试方法，默认调用了</a:t>
            </a:r>
            <a:r>
              <a:rPr lang="en-US" altLang="zh-CN" dirty="0" err="1"/>
              <a:t>testcase.fail</a:t>
            </a:r>
            <a:r>
              <a:rPr lang="zh-CN" altLang="en-US" dirty="0"/>
              <a:t>方法，这个方法会无条件得让测试失败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134</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下面我们来正式开始编写测试。我们首先来创建</a:t>
            </a:r>
            <a:r>
              <a:rPr lang="en-US" altLang="zh-CN" dirty="0"/>
              <a:t>fixture</a:t>
            </a:r>
            <a:r>
              <a:rPr lang="zh-CN" altLang="en-US" dirty="0"/>
              <a:t>，回顾一下，</a:t>
            </a:r>
            <a:r>
              <a:rPr lang="en-US" altLang="zh-CN" dirty="0"/>
              <a:t>setup</a:t>
            </a:r>
            <a:r>
              <a:rPr lang="zh-CN" altLang="en-US" dirty="0"/>
              <a:t>方法，他通常在测试之前被调用，所以我们可以用它来创建每个测试方法都需要的公共对象，</a:t>
            </a:r>
            <a:r>
              <a:rPr lang="en-US" altLang="zh-CN" dirty="0"/>
              <a:t>Teardown</a:t>
            </a:r>
            <a:r>
              <a:rPr lang="zh-CN" altLang="en-US" dirty="0"/>
              <a:t>方法进行收尾工作，我们可以让他销毁公共对象，比如断开数据库连接、关闭文件等。这里我们只需要用到</a:t>
            </a:r>
            <a:r>
              <a:rPr lang="en-US" altLang="zh-CN" dirty="0"/>
              <a:t>setup</a:t>
            </a:r>
            <a:r>
              <a:rPr lang="zh-CN" altLang="en-US" dirty="0"/>
              <a:t>方法，我们在期中创建一个。。这里创建一个</a:t>
            </a:r>
            <a:r>
              <a:rPr lang="en-US" altLang="zh-CN" dirty="0"/>
              <a:t>4</a:t>
            </a:r>
            <a:r>
              <a:rPr lang="zh-CN" altLang="en-US" dirty="0"/>
              <a:t>行</a:t>
            </a:r>
            <a:r>
              <a:rPr lang="en-US" altLang="zh-CN" dirty="0"/>
              <a:t>3</a:t>
            </a:r>
            <a:r>
              <a:rPr lang="zh-CN" altLang="en-US" dirty="0"/>
              <a:t>列的</a:t>
            </a:r>
            <a:r>
              <a:rPr lang="en-US" altLang="zh-CN" dirty="0"/>
              <a:t>game map.</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135</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然后我们对</a:t>
            </a:r>
            <a:r>
              <a:rPr lang="en-US" altLang="zh-CN" dirty="0"/>
              <a:t>rows</a:t>
            </a:r>
            <a:r>
              <a:rPr lang="zh-CN" altLang="en-US" dirty="0"/>
              <a:t>和</a:t>
            </a:r>
            <a:r>
              <a:rPr lang="en-US" altLang="zh-CN" dirty="0"/>
              <a:t>cols</a:t>
            </a:r>
            <a:r>
              <a:rPr lang="zh-CN" altLang="en-US" dirty="0"/>
              <a:t>这两个属性进行测试，这里通过</a:t>
            </a:r>
            <a:r>
              <a:rPr lang="en-US" altLang="zh-CN" dirty="0" err="1"/>
              <a:t>assertEqual</a:t>
            </a:r>
            <a:r>
              <a:rPr lang="zh-CN" altLang="en-US" dirty="0"/>
              <a:t>来判断行位</a:t>
            </a:r>
            <a:r>
              <a:rPr lang="en-US" altLang="zh-CN" dirty="0"/>
              <a:t>4</a:t>
            </a:r>
            <a:r>
              <a:rPr lang="zh-CN" altLang="en-US" dirty="0"/>
              <a:t>，列为</a:t>
            </a:r>
            <a:r>
              <a:rPr lang="en-US" altLang="zh-CN" dirty="0"/>
              <a:t>3</a:t>
            </a:r>
            <a:r>
              <a:rPr lang="zh-CN" altLang="en-US" dirty="0"/>
              <a:t>是否成立，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136</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然后我们重新运行测试，可以看到这两个测试通过了。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137</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接下来我们来看一下</a:t>
            </a:r>
            <a:r>
              <a:rPr lang="en-US" altLang="zh-CN" dirty="0"/>
              <a:t>get</a:t>
            </a:r>
            <a:r>
              <a:rPr lang="zh-CN" altLang="en-US" dirty="0"/>
              <a:t>和</a:t>
            </a:r>
            <a:r>
              <a:rPr lang="en-US" altLang="zh-CN" dirty="0"/>
              <a:t>set</a:t>
            </a:r>
            <a:r>
              <a:rPr lang="zh-CN" altLang="en-US" dirty="0"/>
              <a:t>方法，这两个方法有密切联系，我们把对他们的测试合并到一个测试中，这里，我们断言默认的情况下每个格子的值都是</a:t>
            </a:r>
            <a:r>
              <a:rPr lang="en-US" altLang="zh-CN" dirty="0"/>
              <a:t>0</a:t>
            </a:r>
            <a:r>
              <a:rPr lang="zh-CN" altLang="en-US" dirty="0"/>
              <a:t>，然后我们给</a:t>
            </a:r>
            <a:r>
              <a:rPr lang="en-US" altLang="zh-CN" dirty="0"/>
              <a:t>0.0</a:t>
            </a:r>
            <a:r>
              <a:rPr lang="zh-CN" altLang="en-US" dirty="0"/>
              <a:t>格子的值设置为</a:t>
            </a:r>
            <a:r>
              <a:rPr lang="en-US" altLang="zh-CN" dirty="0"/>
              <a:t>1</a:t>
            </a:r>
            <a:r>
              <a:rPr lang="zh-CN" altLang="en-US" dirty="0"/>
              <a:t>，然后判断我们用</a:t>
            </a:r>
            <a:r>
              <a:rPr lang="en-US" altLang="zh-CN" dirty="0"/>
              <a:t>get</a:t>
            </a:r>
            <a:r>
              <a:rPr lang="zh-CN" altLang="en-US" dirty="0"/>
              <a:t>返回的值与我们通过</a:t>
            </a:r>
            <a:r>
              <a:rPr lang="en-US" altLang="zh-CN" dirty="0"/>
              <a:t>set</a:t>
            </a:r>
            <a:r>
              <a:rPr lang="zh-CN" altLang="en-US" dirty="0"/>
              <a:t>设置的值是否相等。接下来我们运行测试，发现又多通过了一个方法。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138</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a:t>
            </a:r>
            <a:r>
              <a:rPr lang="en-US" altLang="zh-CN" dirty="0"/>
              <a:t>reset</a:t>
            </a:r>
            <a:r>
              <a:rPr lang="zh-CN" altLang="en-US" dirty="0"/>
              <a:t>方法，这个方法它依赖于概率，为了对他进行测试，我们需要进行</a:t>
            </a:r>
            <a:r>
              <a:rPr lang="en-US" altLang="zh-CN" dirty="0"/>
              <a:t>mock</a:t>
            </a:r>
            <a:r>
              <a:rPr lang="zh-CN" altLang="en-US" dirty="0"/>
              <a:t>，我们首先看一下这个方法的源代码，我们可以发现对于每一个格子，他都会生成一个随机数，然后判断这个随机数是否小于预先定义好的概率值，如果小于，就把这个格子设置为</a:t>
            </a:r>
            <a:r>
              <a:rPr lang="en-US" altLang="zh-CN" dirty="0"/>
              <a:t>1</a:t>
            </a:r>
            <a:r>
              <a:rPr lang="zh-CN" altLang="en-US" dirty="0"/>
              <a:t>，否则设置为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139</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我们通过</a:t>
            </a:r>
            <a:r>
              <a:rPr lang="en-US" altLang="zh-CN" dirty="0"/>
              <a:t>patch</a:t>
            </a:r>
            <a:r>
              <a:rPr lang="zh-CN" altLang="en-US" dirty="0"/>
              <a:t>装饰器，在</a:t>
            </a:r>
            <a:r>
              <a:rPr lang="en-US" altLang="zh-CN" dirty="0" err="1"/>
              <a:t>test_reset</a:t>
            </a:r>
            <a:r>
              <a:rPr lang="zh-CN" altLang="en-US" dirty="0"/>
              <a:t>方法中，把</a:t>
            </a:r>
            <a:r>
              <a:rPr lang="en-US" altLang="zh-CN" dirty="0"/>
              <a:t>random</a:t>
            </a:r>
            <a:r>
              <a:rPr lang="zh-CN" altLang="en-US" dirty="0"/>
              <a:t>模块的</a:t>
            </a:r>
            <a:r>
              <a:rPr lang="en-US" altLang="zh-CN" dirty="0"/>
              <a:t>random</a:t>
            </a:r>
            <a:r>
              <a:rPr lang="zh-CN" altLang="en-US" dirty="0"/>
              <a:t>方法，换为一个</a:t>
            </a:r>
            <a:r>
              <a:rPr lang="en-US" altLang="zh-CN" dirty="0"/>
              <a:t>Mock</a:t>
            </a:r>
            <a:r>
              <a:rPr lang="zh-CN" altLang="en-US" dirty="0"/>
              <a:t>对象，这个</a:t>
            </a:r>
            <a:r>
              <a:rPr lang="en-US" altLang="zh-CN" dirty="0"/>
              <a:t>mock</a:t>
            </a:r>
            <a:r>
              <a:rPr lang="zh-CN" altLang="en-US" dirty="0"/>
              <a:t>对象的行为是，返回一个</a:t>
            </a:r>
            <a:r>
              <a:rPr lang="en-US" altLang="zh-CN" dirty="0"/>
              <a:t>0.3</a:t>
            </a:r>
            <a:r>
              <a:rPr lang="zh-CN" altLang="en-US" dirty="0"/>
              <a:t>，</a:t>
            </a:r>
            <a:r>
              <a:rPr lang="en-US" altLang="zh-CN" dirty="0"/>
              <a:t>0.6,0.9</a:t>
            </a:r>
            <a:r>
              <a:rPr lang="zh-CN" altLang="en-US" dirty="0"/>
              <a:t>的循环序列，然后我们在测试方法中，调用</a:t>
            </a:r>
            <a:r>
              <a:rPr lang="en-US" altLang="zh-CN" dirty="0"/>
              <a:t>reset</a:t>
            </a:r>
            <a:r>
              <a:rPr lang="zh-CN" altLang="en-US" dirty="0"/>
              <a:t>方法，然后我们判断每个格子的值，我们会发现这个</a:t>
            </a:r>
            <a:r>
              <a:rPr lang="en-US" altLang="zh-CN" dirty="0"/>
              <a:t>4</a:t>
            </a:r>
            <a:r>
              <a:rPr lang="zh-CN" altLang="en-US" dirty="0"/>
              <a:t>行</a:t>
            </a:r>
            <a:r>
              <a:rPr lang="en-US" altLang="zh-CN" dirty="0"/>
              <a:t>3</a:t>
            </a:r>
            <a:r>
              <a:rPr lang="zh-CN" altLang="en-US" dirty="0"/>
              <a:t>列的</a:t>
            </a:r>
            <a:r>
              <a:rPr lang="en-US" altLang="zh-CN" dirty="0"/>
              <a:t>game map</a:t>
            </a:r>
            <a:r>
              <a:rPr lang="zh-CN" altLang="en-US" dirty="0"/>
              <a:t>中第一列的格子值都是</a:t>
            </a:r>
            <a:r>
              <a:rPr lang="en-US" altLang="zh-CN" dirty="0"/>
              <a:t>1</a:t>
            </a:r>
            <a:r>
              <a:rPr lang="zh-CN" altLang="en-US" dirty="0"/>
              <a:t>，其它两列的值都为</a:t>
            </a:r>
            <a:r>
              <a:rPr lang="en-US" altLang="zh-CN" dirty="0"/>
              <a:t>0</a:t>
            </a:r>
            <a:r>
              <a:rPr lang="zh-CN" altLang="en-US" dirty="0"/>
              <a:t>，这是因为第一列的格子在调用</a:t>
            </a:r>
            <a:r>
              <a:rPr lang="en-US" altLang="zh-CN" dirty="0" err="1"/>
              <a:t>random.random</a:t>
            </a:r>
            <a:r>
              <a:rPr lang="zh-CN" altLang="en-US" dirty="0"/>
              <a:t>时，他的</a:t>
            </a:r>
            <a:r>
              <a:rPr lang="en-US" altLang="zh-CN" dirty="0"/>
              <a:t>mock</a:t>
            </a:r>
            <a:r>
              <a:rPr lang="zh-CN" altLang="en-US" dirty="0"/>
              <a:t>对象返回的永远是</a:t>
            </a:r>
            <a:r>
              <a:rPr lang="en-US" altLang="zh-CN" dirty="0"/>
              <a:t>0.3</a:t>
            </a:r>
            <a:r>
              <a:rPr lang="zh-CN" altLang="en-US" dirty="0"/>
              <a:t>，另外两列则概率分别是</a:t>
            </a:r>
            <a:r>
              <a:rPr lang="en-US" altLang="zh-CN" dirty="0"/>
              <a:t>0.6</a:t>
            </a:r>
            <a:r>
              <a:rPr lang="zh-CN" altLang="en-US" dirty="0"/>
              <a:t>和</a:t>
            </a:r>
            <a:r>
              <a:rPr lang="en-US" altLang="zh-CN" dirty="0"/>
              <a:t>0.9. </a:t>
            </a:r>
            <a:r>
              <a:rPr lang="zh-CN" altLang="en-US" dirty="0"/>
              <a:t>我们再运行测试，发现这个测试方法又通过了。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140</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a:t>
            </a:r>
            <a:r>
              <a:rPr lang="en-US" altLang="zh-CN" dirty="0" err="1"/>
              <a:t>get_neighbor_count</a:t>
            </a:r>
            <a:r>
              <a:rPr lang="zh-CN" altLang="en-US" dirty="0"/>
              <a:t>方法，从源代码中我们看到它需要访问</a:t>
            </a:r>
            <a:r>
              <a:rPr lang="en-US" altLang="zh-CN" dirty="0"/>
              <a:t>cells</a:t>
            </a:r>
            <a:r>
              <a:rPr lang="zh-CN" altLang="en-US" dirty="0"/>
              <a:t>属性，这里我们可以对它进行一个设置，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141</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我们首先将</a:t>
            </a:r>
            <a:r>
              <a:rPr lang="en-US" altLang="zh-CN" dirty="0"/>
              <a:t>cells</a:t>
            </a:r>
            <a:r>
              <a:rPr lang="zh-CN" altLang="en-US" dirty="0"/>
              <a:t>全部设置为</a:t>
            </a:r>
            <a:r>
              <a:rPr lang="en-US" altLang="zh-CN" dirty="0"/>
              <a:t>1</a:t>
            </a:r>
            <a:r>
              <a:rPr lang="zh-CN" altLang="en-US" dirty="0"/>
              <a:t>，这样所有的格子的邻居数量，也就是邻居中活细胞的数量应该是</a:t>
            </a:r>
            <a:r>
              <a:rPr lang="en-US" altLang="zh-CN" dirty="0"/>
              <a:t>8</a:t>
            </a:r>
            <a:r>
              <a:rPr lang="zh-CN" altLang="en-US" dirty="0"/>
              <a:t>，这是我们运行测试，发现这个测试失败了，对于第一个格子，它的邻居数量应该是</a:t>
            </a:r>
            <a:r>
              <a:rPr lang="en-US" altLang="zh-CN" dirty="0"/>
              <a:t>4</a:t>
            </a:r>
            <a:r>
              <a:rPr lang="zh-CN" altLang="en-US" dirty="0"/>
              <a:t>，而不是</a:t>
            </a:r>
            <a:r>
              <a:rPr lang="en-US" altLang="zh-CN" dirty="0"/>
              <a:t>8</a:t>
            </a:r>
            <a:r>
              <a:rPr lang="zh-CN" altLang="en-US" dirty="0"/>
              <a:t>。这里我们要注意的是，虽然我们初始化为</a:t>
            </a:r>
            <a:r>
              <a:rPr lang="en-US" altLang="zh-CN" dirty="0"/>
              <a:t>4</a:t>
            </a:r>
            <a:r>
              <a:rPr lang="zh-CN" altLang="en-US" dirty="0"/>
              <a:t>行</a:t>
            </a:r>
            <a:r>
              <a:rPr lang="en-US" altLang="zh-CN" dirty="0"/>
              <a:t>3</a:t>
            </a:r>
            <a:r>
              <a:rPr lang="zh-CN" altLang="en-US" dirty="0"/>
              <a:t>列，但是生命游戏的</a:t>
            </a:r>
            <a:r>
              <a:rPr lang="en-US" altLang="zh-CN" dirty="0"/>
              <a:t>Game Map</a:t>
            </a:r>
            <a:r>
              <a:rPr lang="zh-CN" altLang="en-US" dirty="0"/>
              <a:t>实际上是无限延伸的。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142</a:t>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我们检查一下</a:t>
            </a:r>
            <a:r>
              <a:rPr lang="en-US" altLang="zh-CN" dirty="0" err="1"/>
              <a:t>get_neighbor_count</a:t>
            </a:r>
            <a:r>
              <a:rPr lang="zh-CN" altLang="en-US" dirty="0"/>
              <a:t>方法，这里因为每个格子都是</a:t>
            </a:r>
            <a:r>
              <a:rPr lang="en-US" altLang="zh-CN" dirty="0"/>
              <a:t>1</a:t>
            </a:r>
            <a:r>
              <a:rPr lang="zh-CN" altLang="en-US" dirty="0"/>
              <a:t>，也就是</a:t>
            </a:r>
            <a:r>
              <a:rPr lang="en-US" altLang="zh-CN" dirty="0"/>
              <a:t>cells</a:t>
            </a:r>
            <a:r>
              <a:rPr lang="zh-CN" altLang="en-US" dirty="0"/>
              <a:t>都是</a:t>
            </a:r>
            <a:r>
              <a:rPr lang="en-US" altLang="zh-CN" dirty="0"/>
              <a:t>1</a:t>
            </a:r>
            <a:r>
              <a:rPr lang="zh-CN" altLang="en-US" dirty="0"/>
              <a:t>，最终的结果只和循环次数有关。而循环次数只跟</a:t>
            </a:r>
            <a:r>
              <a:rPr lang="en-US" altLang="zh-CN" dirty="0"/>
              <a:t>directions</a:t>
            </a:r>
            <a:r>
              <a:rPr lang="zh-CN" altLang="en-US" dirty="0"/>
              <a:t>有关，我们检查一下</a:t>
            </a:r>
            <a:r>
              <a:rPr lang="en-US" altLang="zh-CN" dirty="0"/>
              <a:t>directions</a:t>
            </a:r>
            <a:r>
              <a:rPr lang="zh-CN" altLang="en-US" dirty="0"/>
              <a:t>，发现这里只写了四个相邻的方向，忽略了对角的方向，也就是应该是</a:t>
            </a:r>
            <a:r>
              <a:rPr lang="en-US" altLang="zh-CN" dirty="0"/>
              <a:t>8</a:t>
            </a:r>
            <a:r>
              <a:rPr lang="zh-CN" altLang="en-US" dirty="0"/>
              <a:t>个方向，再重新进行测试，测试通过。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143</a:t>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接下来是。。。它依赖。。。所以测试的时候我们要对。。。来保持测试的独立性，这样</a:t>
            </a:r>
            <a:r>
              <a:rPr lang="en-US" altLang="zh-CN" dirty="0"/>
              <a:t>get..</a:t>
            </a:r>
            <a:r>
              <a:rPr lang="zh-CN" altLang="en-US" dirty="0"/>
              <a:t>就不依赖于</a:t>
            </a:r>
            <a:r>
              <a:rPr lang="en-US" altLang="zh-CN" dirty="0"/>
              <a:t>get..</a:t>
            </a:r>
            <a:r>
              <a:rPr lang="zh-CN" altLang="en-US" dirty="0"/>
              <a:t>的正确性了。同时，我们在后面看覆盖率的时候，他们相互之间也不会干扰。这里我们看到</a:t>
            </a:r>
            <a:r>
              <a:rPr lang="en-US" altLang="zh-CN" dirty="0"/>
              <a:t>mock</a:t>
            </a:r>
            <a:r>
              <a:rPr lang="zh-CN" altLang="en-US" dirty="0"/>
              <a:t>对象模拟</a:t>
            </a:r>
            <a:r>
              <a:rPr lang="en-US" altLang="zh-CN" dirty="0" err="1"/>
              <a:t>get_neigbr_count</a:t>
            </a:r>
            <a:r>
              <a:rPr lang="zh-CN" altLang="en-US" dirty="0"/>
              <a:t>的行为，返回一个</a:t>
            </a:r>
            <a:r>
              <a:rPr lang="en-US" altLang="zh-CN" dirty="0"/>
              <a:t>8</a:t>
            </a:r>
            <a:r>
              <a:rPr lang="zh-CN" altLang="en-US" dirty="0"/>
              <a:t>来模拟真实数据。其他的跟前面类似，也是一个断言，就不再仔细说明了。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144</a:t>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Set_map</a:t>
            </a:r>
            <a:r>
              <a:rPr lang="zh-CN" altLang="en-US" dirty="0"/>
              <a:t>它本身比较简单，所以这里我们只要测试一下它对参数的检查是否完备。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145</a:t>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这里我们主要测试一下前面源代码中定义的异常，在运行时是否抛出了，我们看到测试通过了。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146</a:t>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我们看到</a:t>
            </a:r>
            <a:r>
              <a:rPr lang="en-US" altLang="zh-CN" dirty="0"/>
              <a:t>print map</a:t>
            </a:r>
            <a:r>
              <a:rPr lang="zh-CN" altLang="en-US" dirty="0"/>
              <a:t>调用了</a:t>
            </a:r>
            <a:r>
              <a:rPr lang="en-US" altLang="zh-CN" dirty="0"/>
              <a:t>print</a:t>
            </a:r>
            <a:r>
              <a:rPr lang="zh-CN" altLang="en-US" dirty="0"/>
              <a:t>，并且使用了</a:t>
            </a:r>
            <a:r>
              <a:rPr lang="en-US" altLang="zh-CN" dirty="0"/>
              <a:t>join</a:t>
            </a:r>
            <a:r>
              <a:rPr lang="zh-CN" altLang="en-US" dirty="0"/>
              <a:t>对字符串进行处理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147</a:t>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我们在测试时，先设置一下</a:t>
            </a:r>
            <a:r>
              <a:rPr lang="en-US" altLang="zh-CN" dirty="0"/>
              <a:t>cell</a:t>
            </a:r>
            <a:r>
              <a:rPr lang="zh-CN" altLang="en-US" dirty="0"/>
              <a:t>，然后对</a:t>
            </a:r>
            <a:r>
              <a:rPr lang="en-US" altLang="zh-CN" dirty="0"/>
              <a:t>print</a:t>
            </a:r>
            <a:r>
              <a:rPr lang="zh-CN" altLang="en-US" dirty="0"/>
              <a:t>进行</a:t>
            </a:r>
            <a:r>
              <a:rPr lang="en-US" altLang="zh-CN" dirty="0"/>
              <a:t>mock</a:t>
            </a:r>
            <a:r>
              <a:rPr lang="zh-CN" altLang="en-US" dirty="0"/>
              <a:t>，</a:t>
            </a:r>
            <a:r>
              <a:rPr lang="en-US" altLang="zh-CN" dirty="0"/>
              <a:t>print</a:t>
            </a:r>
            <a:r>
              <a:rPr lang="zh-CN" altLang="en-US" dirty="0"/>
              <a:t>函数位于</a:t>
            </a:r>
            <a:r>
              <a:rPr lang="en-US" altLang="zh-CN" dirty="0" err="1"/>
              <a:t>builtin</a:t>
            </a:r>
            <a:r>
              <a:rPr lang="zh-CN" altLang="en-US" dirty="0"/>
              <a:t>底下，我们调用</a:t>
            </a:r>
            <a:r>
              <a:rPr lang="en-US" altLang="zh-CN" dirty="0"/>
              <a:t>assert has calls</a:t>
            </a:r>
            <a:r>
              <a:rPr lang="zh-CN" altLang="en-US" dirty="0"/>
              <a:t>断言，这个断言是查看他们是否按照</a:t>
            </a:r>
            <a:r>
              <a:rPr lang="zh-CN" altLang="en-US" sz="1200" b="0" i="0" kern="1200" dirty="0">
                <a:solidFill>
                  <a:schemeClr val="tx1"/>
                </a:solidFill>
                <a:effectLst/>
                <a:latin typeface="+mn-lt"/>
                <a:ea typeface="+mn-ea"/>
                <a:cs typeface="+mn-cs"/>
              </a:rPr>
              <a:t>正确的次序调用并带有正确的参数。我们再运行测试，发现全部测试都通过了。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148</a:t>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在所有测试通过后，我们就可以进行测试覆盖分析了，我们可以看到</a:t>
            </a:r>
            <a:r>
              <a:rPr lang="en-US" altLang="zh-CN" dirty="0"/>
              <a:t>84%</a:t>
            </a:r>
            <a:r>
              <a:rPr lang="zh-CN" altLang="en-US" dirty="0"/>
              <a:t>的行都覆盖了，查看代码，我们发现没有被覆盖的行都是类似这样的类型检查，类型检查可以通过静态分析工具来检查，所以这里我们就不继续进行测试了。实际上，我们也不需要得到</a:t>
            </a:r>
            <a:r>
              <a:rPr lang="en-US" altLang="zh-CN" dirty="0"/>
              <a:t>100%</a:t>
            </a:r>
            <a:r>
              <a:rPr lang="zh-CN" altLang="en-US" dirty="0"/>
              <a:t>的覆盖率，</a:t>
            </a:r>
            <a:r>
              <a:rPr lang="en-US" altLang="zh-CN" dirty="0"/>
              <a:t>100%</a:t>
            </a:r>
            <a:r>
              <a:rPr lang="zh-CN" altLang="en-US" dirty="0"/>
              <a:t>的覆盖率也不一定表示程序完全正确。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149</a:t>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a:t>
            </a:r>
            <a:r>
              <a:rPr lang="en-US" altLang="zh-CN" dirty="0" err="1"/>
              <a:t>unnittest</a:t>
            </a:r>
            <a:r>
              <a:rPr lang="zh-CN" altLang="en-US" dirty="0"/>
              <a:t>，</a:t>
            </a:r>
            <a:r>
              <a:rPr lang="en-US" altLang="zh-CN" dirty="0"/>
              <a:t>python</a:t>
            </a:r>
            <a:r>
              <a:rPr lang="zh-CN" altLang="en-US" dirty="0"/>
              <a:t>还有很多其他的单元测试工具和框架，比如</a:t>
            </a:r>
            <a:r>
              <a:rPr lang="en-US" altLang="zh-CN" dirty="0"/>
              <a:t>python nose</a:t>
            </a:r>
            <a:r>
              <a:rPr lang="zh-CN" altLang="en-US" dirty="0"/>
              <a:t>和</a:t>
            </a:r>
            <a:r>
              <a:rPr lang="en-US" altLang="zh-CN" dirty="0" err="1"/>
              <a:t>pytest</a:t>
            </a:r>
            <a:r>
              <a:rPr lang="zh-CN" altLang="en-US" dirty="0"/>
              <a:t>，这里还有一个比较其他</a:t>
            </a:r>
            <a:r>
              <a:rPr lang="en-US" altLang="zh-CN" dirty="0"/>
              <a:t>mock</a:t>
            </a:r>
            <a:r>
              <a:rPr lang="zh-CN" altLang="en-US" dirty="0"/>
              <a:t>框架的链接。最后，还有一个关于</a:t>
            </a:r>
            <a:r>
              <a:rPr lang="en-US" altLang="zh-CN" dirty="0"/>
              <a:t>python</a:t>
            </a:r>
            <a:r>
              <a:rPr lang="zh-CN" altLang="en-US" dirty="0"/>
              <a:t>测试工具大全的链接，里面几乎包括全部</a:t>
            </a:r>
            <a:r>
              <a:rPr lang="en-US" altLang="zh-CN" dirty="0"/>
              <a:t>python</a:t>
            </a:r>
            <a:r>
              <a:rPr lang="zh-CN" altLang="en-US" dirty="0"/>
              <a:t>的测试框架、。。。有兴趣的同学可以访问这个网站来自学，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150</a:t>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以上便是关于单元测试的全部内容。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FC8D7E35-14AB-4286-AB5D-2E468617D2DA}" type="datetime1">
              <a:rPr lang="en-US" altLang="zh-CN" smtClean="0"/>
              <a:t>4/28/25</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C1E7A69-DDFF-413C-9336-B8D91472E3AC}" type="datetime1">
              <a:rPr lang="en-US" altLang="zh-CN" smtClean="0"/>
              <a:t>4/28/25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9A68FE-20F4-4661-BA45-66B4176BE55C}" type="datetime1">
              <a:rPr lang="en-US" altLang="zh-CN" smtClean="0"/>
              <a:t>4/28/25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AA107BC-441F-4C3C-9EAC-BA7FA89A5994}" type="datetime1">
              <a:rPr lang="en-US" altLang="zh-CN" smtClean="0"/>
              <a:t>4/28/25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7CDD21A-F1E1-4C6F-851D-5EBDD7996622}" type="datetime1">
              <a:rPr lang="en-US" altLang="zh-CN" smtClean="0"/>
              <a:t>4/28/25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5A0A8AB-20D5-46BF-971F-D7FE3E7EA34B}" type="datetime1">
              <a:rPr lang="en-US" altLang="zh-CN" smtClean="0"/>
              <a:t>4/28/25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0D0E3C-BF58-4837-BC97-E00745F23985}" type="datetime1">
              <a:rPr lang="en-US" altLang="zh-CN" smtClean="0"/>
              <a:t>4/28/25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076F10A-DF1E-4CD3-B4E7-9CFB706F9E96}" type="datetime1">
              <a:rPr lang="en-US" altLang="zh-CN" smtClean="0"/>
              <a:t>4/28/25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6975EE-127E-4B79-B83D-BB03355D1ED6}" type="datetime1">
              <a:rPr lang="en-US" altLang="zh-CN" smtClean="0"/>
              <a:t>4/28/25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6F4F94D-B085-4DCE-B4E7-2E13B14F99D5}" type="datetime1">
              <a:rPr lang="en-US" altLang="zh-CN" smtClean="0"/>
              <a:t>4/28/25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4B8D91-31B8-422B-BBA0-393421232005}" type="datetime1">
              <a:rPr lang="en-US" altLang="zh-CN" smtClean="0"/>
              <a:t>4/28/25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微软雅黑" panose="020B0503020204020204" pitchFamily="34" charset="-122"/>
                <a:cs typeface="微软雅黑" panose="020B0503020204020204" pitchFamily="34" charset="-122"/>
              </a:defRPr>
            </a:lvl1pPr>
          </a:lstStyle>
          <a:p>
            <a:endParaRPr/>
          </a:p>
        </p:txBody>
      </p:sp>
      <p:sp>
        <p:nvSpPr>
          <p:cNvPr id="3" name="Holder 3"/>
          <p:cNvSpPr>
            <a:spLocks noGrp="1"/>
          </p:cNvSpPr>
          <p:nvPr>
            <p:ph sz="half" idx="2"/>
          </p:nvPr>
        </p:nvSpPr>
        <p:spPr>
          <a:xfrm>
            <a:off x="1204800" y="1406095"/>
            <a:ext cx="3545204" cy="4414520"/>
          </a:xfrm>
          <a:prstGeom prst="rect">
            <a:avLst/>
          </a:prstGeom>
        </p:spPr>
        <p:txBody>
          <a:bodyPr wrap="square" lIns="0" tIns="0" rIns="0" bIns="0">
            <a:spAutoFit/>
          </a:bodyPr>
          <a:lstStyle>
            <a:lvl1pPr>
              <a:defRPr sz="1800" b="0" i="1">
                <a:solidFill>
                  <a:srgbClr val="408080"/>
                </a:solidFill>
                <a:latin typeface="Consolas" panose="020B0609020204030204"/>
                <a:cs typeface="Consolas" panose="020B0609020204030204"/>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CCC85D5-4920-432E-ACE5-7D71CBFC9258}" type="datetime1">
              <a:rPr lang="en-US" altLang="zh-CN" smtClean="0"/>
              <a:t>4/28/25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4B26EC03-B2D5-4B37-87D6-30ABC8C28CF9}" type="datetime1">
              <a:rPr lang="en-US" altLang="zh-CN" smtClean="0"/>
              <a:t>4/28/25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D1997228-EB34-4757-AD03-B11217C381AA}" type="datetime1">
              <a:rPr lang="en-US" altLang="zh-CN" smtClean="0"/>
              <a:t>4/28/25</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23.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slideLayout" Target="../slideLayouts/slideLayout7.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8" Type="http://schemas.openxmlformats.org/officeDocument/2006/relationships/tags" Target="../tags/tag8.xml"/></Relationships>
</file>

<file path=ppt/slides/_rels/slide20.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image" Target="../media/image23.png"/><Relationship Id="rId10" Type="http://schemas.openxmlformats.org/officeDocument/2006/relationships/tags" Target="../tags/tag41.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4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image" Target="../media/image23.png"/><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70.jpe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package" Target="../embeddings/Microsoft_Word___.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1.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5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5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tags" Target="../tags/tag65.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image" Target="../media/image23.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slideLayout" Target="../slideLayouts/slideLayout7.xml"/><Relationship Id="rId5" Type="http://schemas.openxmlformats.org/officeDocument/2006/relationships/tags" Target="../tags/tag62.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s>
</file>

<file path=ppt/slides/_rels/slide79.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image" Target="../media/image23.png"/><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87.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74.xml"/><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9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9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notesSlide" Target="../notesSlides/notesSlide92.xml"/><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10" Type="http://schemas.openxmlformats.org/officeDocument/2006/relationships/image" Target="../media/image96.png"/><Relationship Id="rId4" Type="http://schemas.openxmlformats.org/officeDocument/2006/relationships/image" Target="../media/image95.png"/><Relationship Id="rId9" Type="http://schemas.openxmlformats.org/officeDocument/2006/relationships/image" Target="../media/image113.png"/></Relationships>
</file>

<file path=ppt/slides/_rels/slide106.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notesSlide" Target="../notesSlides/notesSlide93.xml"/><Relationship Id="rId1" Type="http://schemas.openxmlformats.org/officeDocument/2006/relationships/slideLayout" Target="../slideLayouts/slideLayout7.xml"/><Relationship Id="rId6" Type="http://schemas.openxmlformats.org/officeDocument/2006/relationships/image" Target="../media/image111.png"/><Relationship Id="rId11" Type="http://schemas.openxmlformats.org/officeDocument/2006/relationships/image" Target="../media/image102.png"/><Relationship Id="rId5" Type="http://schemas.openxmlformats.org/officeDocument/2006/relationships/image" Target="../media/image110.png"/><Relationship Id="rId10" Type="http://schemas.openxmlformats.org/officeDocument/2006/relationships/image" Target="../media/image96.png"/><Relationship Id="rId4" Type="http://schemas.openxmlformats.org/officeDocument/2006/relationships/image" Target="../media/image95.png"/><Relationship Id="rId9" Type="http://schemas.openxmlformats.org/officeDocument/2006/relationships/image" Target="../media/image113.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109.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116.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01.png"/></Relationships>
</file>

<file path=ppt/slides/_rels/slide110.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6.pn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98.png"/><Relationship Id="rId4" Type="http://schemas.openxmlformats.org/officeDocument/2006/relationships/image" Target="../media/image124.png"/></Relationships>
</file>

<file path=ppt/slides/_rels/slide111.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image" Target="../media/image23.png"/><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tags" Target="../tags/tag105.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5" Type="http://schemas.openxmlformats.org/officeDocument/2006/relationships/tags" Target="../tags/tag98.xml"/><Relationship Id="rId15" Type="http://schemas.openxmlformats.org/officeDocument/2006/relationships/image" Target="../media/image23.png"/><Relationship Id="rId10" Type="http://schemas.openxmlformats.org/officeDocument/2006/relationships/tags" Target="../tags/tag103.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tags" Target="../tags/tag119.xml"/><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tags" Target="../tags/tag118.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tags" Target="../tags/tag117.xml"/><Relationship Id="rId5" Type="http://schemas.openxmlformats.org/officeDocument/2006/relationships/tags" Target="../tags/tag111.xml"/><Relationship Id="rId15" Type="http://schemas.openxmlformats.org/officeDocument/2006/relationships/image" Target="../media/image23.png"/><Relationship Id="rId10" Type="http://schemas.openxmlformats.org/officeDocument/2006/relationships/tags" Target="../tags/tag116.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tags" Target="../tags/tag131.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5" Type="http://schemas.openxmlformats.org/officeDocument/2006/relationships/tags" Target="../tags/tag124.xml"/><Relationship Id="rId15" Type="http://schemas.openxmlformats.org/officeDocument/2006/relationships/image" Target="../media/image23.png"/><Relationship Id="rId10" Type="http://schemas.openxmlformats.org/officeDocument/2006/relationships/tags" Target="../tags/tag129.xml"/><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tags" Target="../tags/tag145.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tags" Target="../tags/tag144.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5" Type="http://schemas.openxmlformats.org/officeDocument/2006/relationships/image" Target="../media/image23.png"/><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tags" Target="../tags/tag158.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5" Type="http://schemas.openxmlformats.org/officeDocument/2006/relationships/image" Target="../media/image23.png"/><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 Id="rId14"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image" Target="../media/image133.jpeg"/><Relationship Id="rId5" Type="http://schemas.openxmlformats.org/officeDocument/2006/relationships/image" Target="../media/image132.jpeg"/><Relationship Id="rId4" Type="http://schemas.openxmlformats.org/officeDocument/2006/relationships/image" Target="../media/image131.jpeg"/></Relationships>
</file>

<file path=ppt/slides/_rels/slide12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137.png"/><Relationship Id="rId4" Type="http://schemas.openxmlformats.org/officeDocument/2006/relationships/image" Target="../media/image136.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08.xml"/><Relationship Id="rId1" Type="http://schemas.openxmlformats.org/officeDocument/2006/relationships/slideLayout" Target="../slideLayouts/slideLayout14.xml"/></Relationships>
</file>

<file path=ppt/slides/_rels/slide128.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09.xml"/><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10.xml"/><Relationship Id="rId1" Type="http://schemas.openxmlformats.org/officeDocument/2006/relationships/slideLayout" Target="../slideLayouts/slideLayout14.xml"/></Relationships>
</file>

<file path=ppt/slides/_rels/slide13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11.xml"/><Relationship Id="rId1" Type="http://schemas.openxmlformats.org/officeDocument/2006/relationships/slideLayout" Target="../slideLayouts/slideLayout14.xml"/></Relationships>
</file>

<file path=ppt/slides/_rels/slide131.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12.xml"/><Relationship Id="rId1" Type="http://schemas.openxmlformats.org/officeDocument/2006/relationships/slideLayout" Target="../slideLayouts/slideLayout14.xml"/></Relationships>
</file>

<file path=ppt/slides/_rels/slide132.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13.xml"/><Relationship Id="rId1" Type="http://schemas.openxmlformats.org/officeDocument/2006/relationships/slideLayout" Target="../slideLayouts/slideLayout14.xml"/></Relationships>
</file>

<file path=ppt/slides/_rels/slide13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15.xml"/><Relationship Id="rId1" Type="http://schemas.openxmlformats.org/officeDocument/2006/relationships/slideLayout" Target="../slideLayouts/slideLayout14.xml"/></Relationships>
</file>

<file path=ppt/slides/_rels/slide13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tags" Target="../tags/tag159.xml"/><Relationship Id="rId5" Type="http://schemas.openxmlformats.org/officeDocument/2006/relationships/image" Target="../media/image149.png"/><Relationship Id="rId4" Type="http://schemas.openxmlformats.org/officeDocument/2006/relationships/image" Target="../media/image148.jpeg"/></Relationships>
</file>

<file path=ppt/slides/_rels/slide139.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tags" Target="../tags/tag160.xml"/><Relationship Id="rId6" Type="http://schemas.openxmlformats.org/officeDocument/2006/relationships/image" Target="../media/image152.png"/><Relationship Id="rId5" Type="http://schemas.openxmlformats.org/officeDocument/2006/relationships/image" Target="../media/image151.jpeg"/><Relationship Id="rId4" Type="http://schemas.openxmlformats.org/officeDocument/2006/relationships/image" Target="../media/image150.jpeg"/></Relationships>
</file>

<file path=ppt/slides/_rels/slide14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22.xml"/><Relationship Id="rId1" Type="http://schemas.openxmlformats.org/officeDocument/2006/relationships/slideLayout" Target="../slideLayouts/slideLayout14.xml"/></Relationships>
</file>

<file path=ppt/slides/_rels/slide142.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23.xml"/><Relationship Id="rId1" Type="http://schemas.openxmlformats.org/officeDocument/2006/relationships/slideLayout" Target="../slideLayouts/slideLayout14.xml"/><Relationship Id="rId4" Type="http://schemas.openxmlformats.org/officeDocument/2006/relationships/image" Target="../media/image155.jpeg"/></Relationships>
</file>

<file path=ppt/slides/_rels/slide143.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24.xml"/><Relationship Id="rId1" Type="http://schemas.openxmlformats.org/officeDocument/2006/relationships/slideLayout" Target="../slideLayouts/slideLayout14.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57.png"/></Relationships>
</file>

<file path=ppt/slides/_rels/slide144.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25.xml"/><Relationship Id="rId1" Type="http://schemas.openxmlformats.org/officeDocument/2006/relationships/slideLayout" Target="../slideLayouts/slideLayout14.xml"/><Relationship Id="rId4" Type="http://schemas.openxmlformats.org/officeDocument/2006/relationships/image" Target="../media/image161.png"/></Relationships>
</file>

<file path=ppt/slides/_rels/slide145.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26.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2.xml"/><Relationship Id="rId1" Type="http://schemas.openxmlformats.org/officeDocument/2006/relationships/tags" Target="../tags/tag161.xml"/><Relationship Id="rId5" Type="http://schemas.openxmlformats.org/officeDocument/2006/relationships/image" Target="../media/image164.png"/><Relationship Id="rId4" Type="http://schemas.openxmlformats.org/officeDocument/2006/relationships/image" Target="../media/image163.png"/></Relationships>
</file>

<file path=ppt/slides/_rels/slide14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29.xml"/><Relationship Id="rId1" Type="http://schemas.openxmlformats.org/officeDocument/2006/relationships/slideLayout" Target="../slideLayouts/slideLayout12.xml"/><Relationship Id="rId4" Type="http://schemas.openxmlformats.org/officeDocument/2006/relationships/image" Target="../media/image167.png"/></Relationships>
</file>

<file path=ppt/slides/_rels/slide149.xml.rels><?xml version="1.0" encoding="UTF-8" standalone="yes"?>
<Relationships xmlns="http://schemas.openxmlformats.org/package/2006/relationships"><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notesSlide" Target="../notesSlides/notesSlide130.xml"/><Relationship Id="rId1" Type="http://schemas.openxmlformats.org/officeDocument/2006/relationships/slideLayout" Target="../slideLayouts/slideLayout14.xml"/><Relationship Id="rId6" Type="http://schemas.openxmlformats.org/officeDocument/2006/relationships/image" Target="../media/image171.jpeg"/><Relationship Id="rId5" Type="http://schemas.openxmlformats.org/officeDocument/2006/relationships/image" Target="../media/image170.jpeg"/><Relationship Id="rId4" Type="http://schemas.openxmlformats.org/officeDocument/2006/relationships/image" Target="../media/image169.png"/></Relationships>
</file>

<file path=ppt/slides/_rels/slide150.xml.rels><?xml version="1.0" encoding="UTF-8" standalone="yes"?>
<Relationships xmlns="http://schemas.openxmlformats.org/package/2006/relationships"><Relationship Id="rId3" Type="http://schemas.openxmlformats.org/officeDocument/2006/relationships/hyperlink" Target="http://pytest.org/latest/" TargetMode="External"/><Relationship Id="rId2" Type="http://schemas.openxmlformats.org/officeDocument/2006/relationships/notesSlide" Target="../notesSlides/notesSlide131.xml"/><Relationship Id="rId1" Type="http://schemas.openxmlformats.org/officeDocument/2006/relationships/slideLayout" Target="../slideLayouts/slideLayout2.xml"/><Relationship Id="rId5" Type="http://schemas.openxmlformats.org/officeDocument/2006/relationships/image" Target="../media/image173.jpeg"/><Relationship Id="rId4" Type="http://schemas.openxmlformats.org/officeDocument/2006/relationships/hyperlink" Target="http://garybernhardt.github.io/python-mock-comparison/" TargetMode="Externa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63291" y="2001360"/>
            <a:ext cx="2984194" cy="294429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8173308" y="1856030"/>
            <a:ext cx="2814955" cy="1594485"/>
          </a:xfrm>
          <a:custGeom>
            <a:avLst/>
            <a:gdLst/>
            <a:ahLst/>
            <a:cxnLst/>
            <a:rect l="l" t="t" r="r" b="b"/>
            <a:pathLst>
              <a:path w="2814954" h="1594485">
                <a:moveTo>
                  <a:pt x="1876257" y="0"/>
                </a:moveTo>
                <a:lnTo>
                  <a:pt x="0" y="0"/>
                </a:lnTo>
                <a:lnTo>
                  <a:pt x="938128" y="1594176"/>
                </a:lnTo>
                <a:lnTo>
                  <a:pt x="2814386" y="1594176"/>
                </a:lnTo>
                <a:lnTo>
                  <a:pt x="1876257" y="0"/>
                </a:lnTo>
                <a:close/>
              </a:path>
            </a:pathLst>
          </a:custGeom>
          <a:solidFill>
            <a:srgbClr val="CBCBCB"/>
          </a:solidFill>
        </p:spPr>
        <p:txBody>
          <a:bodyPr wrap="square" lIns="0" tIns="0" rIns="0" bIns="0" rtlCol="0"/>
          <a:lstStyle/>
          <a:p>
            <a:endParaRPr/>
          </a:p>
        </p:txBody>
      </p:sp>
      <p:sp>
        <p:nvSpPr>
          <p:cNvPr id="5" name="object 5"/>
          <p:cNvSpPr/>
          <p:nvPr/>
        </p:nvSpPr>
        <p:spPr>
          <a:xfrm>
            <a:off x="8159405" y="3550911"/>
            <a:ext cx="2814955" cy="1598295"/>
          </a:xfrm>
          <a:custGeom>
            <a:avLst/>
            <a:gdLst/>
            <a:ahLst/>
            <a:cxnLst/>
            <a:rect l="l" t="t" r="r" b="b"/>
            <a:pathLst>
              <a:path w="2814954" h="1598295">
                <a:moveTo>
                  <a:pt x="2814386" y="0"/>
                </a:moveTo>
                <a:lnTo>
                  <a:pt x="938128" y="0"/>
                </a:lnTo>
                <a:lnTo>
                  <a:pt x="0" y="1597976"/>
                </a:lnTo>
                <a:lnTo>
                  <a:pt x="1876257" y="1597976"/>
                </a:lnTo>
                <a:lnTo>
                  <a:pt x="2814386" y="0"/>
                </a:lnTo>
                <a:close/>
              </a:path>
            </a:pathLst>
          </a:custGeom>
          <a:solidFill>
            <a:srgbClr val="CBCBCB"/>
          </a:solidFill>
        </p:spPr>
        <p:txBody>
          <a:bodyPr wrap="square" lIns="0" tIns="0" rIns="0" bIns="0" rtlCol="0"/>
          <a:lstStyle/>
          <a:p>
            <a:endParaRPr/>
          </a:p>
        </p:txBody>
      </p:sp>
      <p:sp>
        <p:nvSpPr>
          <p:cNvPr id="6" name="object 6"/>
          <p:cNvSpPr/>
          <p:nvPr/>
        </p:nvSpPr>
        <p:spPr>
          <a:xfrm>
            <a:off x="7144477" y="1886431"/>
            <a:ext cx="1876920" cy="3190251"/>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7498182" y="3191021"/>
            <a:ext cx="1143000" cy="690880"/>
          </a:xfrm>
          <a:prstGeom prst="rect">
            <a:avLst/>
          </a:prstGeom>
        </p:spPr>
        <p:txBody>
          <a:bodyPr vert="horz" wrap="square" lIns="0" tIns="27939" rIns="0" bIns="0" rtlCol="0">
            <a:spAutoFit/>
          </a:bodyPr>
          <a:lstStyle/>
          <a:p>
            <a:pPr marL="292100" marR="5080" indent="-279400">
              <a:lnSpc>
                <a:spcPts val="2600"/>
              </a:lnSpc>
              <a:spcBef>
                <a:spcPts val="220"/>
              </a:spcBef>
            </a:pPr>
            <a:r>
              <a:rPr sz="2200" dirty="0">
                <a:latin typeface="微软雅黑" panose="020B0503020204020204" pitchFamily="34" charset="-122"/>
                <a:cs typeface="微软雅黑" panose="020B0503020204020204" pitchFamily="34" charset="-122"/>
              </a:rPr>
              <a:t>高质量的 设计</a:t>
            </a:r>
            <a:endParaRPr sz="2200">
              <a:latin typeface="微软雅黑" panose="020B0503020204020204" pitchFamily="34" charset="-122"/>
              <a:cs typeface="微软雅黑" panose="020B0503020204020204" pitchFamily="34" charset="-122"/>
            </a:endParaRPr>
          </a:p>
        </p:txBody>
      </p:sp>
      <p:sp>
        <p:nvSpPr>
          <p:cNvPr id="8" name="object 8"/>
          <p:cNvSpPr txBox="1"/>
          <p:nvPr/>
        </p:nvSpPr>
        <p:spPr>
          <a:xfrm>
            <a:off x="9120868" y="2247519"/>
            <a:ext cx="8636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latin typeface="微软雅黑" panose="020B0503020204020204" pitchFamily="34" charset="-122"/>
                <a:cs typeface="微软雅黑" panose="020B0503020204020204" pitchFamily="34" charset="-122"/>
              </a:rPr>
              <a:t>规范的 编码</a:t>
            </a:r>
            <a:endParaRPr sz="2200">
              <a:latin typeface="微软雅黑" panose="020B0503020204020204" pitchFamily="34" charset="-122"/>
              <a:cs typeface="微软雅黑" panose="020B0503020204020204" pitchFamily="34" charset="-122"/>
            </a:endParaRPr>
          </a:p>
        </p:txBody>
      </p:sp>
      <p:sp>
        <p:nvSpPr>
          <p:cNvPr id="9" name="object 9"/>
          <p:cNvSpPr txBox="1"/>
          <p:nvPr/>
        </p:nvSpPr>
        <p:spPr>
          <a:xfrm>
            <a:off x="9194806" y="3995611"/>
            <a:ext cx="8636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latin typeface="微软雅黑" panose="020B0503020204020204" pitchFamily="34" charset="-122"/>
                <a:cs typeface="微软雅黑" panose="020B0503020204020204" pitchFamily="34" charset="-122"/>
              </a:rPr>
              <a:t>有效的 测试</a:t>
            </a:r>
            <a:endParaRPr sz="2200">
              <a:latin typeface="微软雅黑" panose="020B0503020204020204" pitchFamily="34" charset="-122"/>
              <a:cs typeface="微软雅黑" panose="020B0503020204020204" pitchFamily="34" charset="-122"/>
            </a:endParaRPr>
          </a:p>
        </p:txBody>
      </p:sp>
      <p:sp>
        <p:nvSpPr>
          <p:cNvPr id="10" name="object 10"/>
          <p:cNvSpPr/>
          <p:nvPr/>
        </p:nvSpPr>
        <p:spPr>
          <a:xfrm>
            <a:off x="4637252" y="3021272"/>
            <a:ext cx="2155190" cy="923925"/>
          </a:xfrm>
          <a:custGeom>
            <a:avLst/>
            <a:gdLst/>
            <a:ahLst/>
            <a:cxnLst/>
            <a:rect l="l" t="t" r="r" b="b"/>
            <a:pathLst>
              <a:path w="2155190" h="923925">
                <a:moveTo>
                  <a:pt x="28865" y="230925"/>
                </a:moveTo>
                <a:lnTo>
                  <a:pt x="0" y="230925"/>
                </a:lnTo>
                <a:lnTo>
                  <a:pt x="0" y="692776"/>
                </a:lnTo>
                <a:lnTo>
                  <a:pt x="28865" y="692776"/>
                </a:lnTo>
                <a:lnTo>
                  <a:pt x="28865" y="230925"/>
                </a:lnTo>
                <a:close/>
              </a:path>
              <a:path w="2155190" h="923925">
                <a:moveTo>
                  <a:pt x="115463" y="230925"/>
                </a:moveTo>
                <a:lnTo>
                  <a:pt x="57730" y="230925"/>
                </a:lnTo>
                <a:lnTo>
                  <a:pt x="57730" y="692776"/>
                </a:lnTo>
                <a:lnTo>
                  <a:pt x="115463" y="692776"/>
                </a:lnTo>
                <a:lnTo>
                  <a:pt x="115463" y="230925"/>
                </a:lnTo>
                <a:close/>
              </a:path>
              <a:path w="2155190" h="923925">
                <a:moveTo>
                  <a:pt x="1693216" y="0"/>
                </a:moveTo>
                <a:lnTo>
                  <a:pt x="1693216" y="230925"/>
                </a:lnTo>
                <a:lnTo>
                  <a:pt x="144327" y="230925"/>
                </a:lnTo>
                <a:lnTo>
                  <a:pt x="144327" y="692776"/>
                </a:lnTo>
                <a:lnTo>
                  <a:pt x="1693216" y="692776"/>
                </a:lnTo>
                <a:lnTo>
                  <a:pt x="1693216" y="923701"/>
                </a:lnTo>
                <a:lnTo>
                  <a:pt x="2155065" y="461850"/>
                </a:lnTo>
                <a:lnTo>
                  <a:pt x="1693216" y="0"/>
                </a:lnTo>
                <a:close/>
              </a:path>
            </a:pathLst>
          </a:custGeom>
          <a:solidFill>
            <a:srgbClr val="BDB9B9"/>
          </a:solidFill>
        </p:spPr>
        <p:txBody>
          <a:bodyPr wrap="square" lIns="0" tIns="0" rIns="0" bIns="0" rtlCol="0"/>
          <a:lstStyle/>
          <a:p>
            <a:endParaRPr/>
          </a:p>
        </p:txBody>
      </p:sp>
      <p:sp>
        <p:nvSpPr>
          <p:cNvPr id="11" name="object 11"/>
          <p:cNvSpPr txBox="1"/>
          <p:nvPr/>
        </p:nvSpPr>
        <p:spPr>
          <a:xfrm>
            <a:off x="4808353" y="2384524"/>
            <a:ext cx="14224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solidFill>
                  <a:srgbClr val="0033CC"/>
                </a:solidFill>
                <a:latin typeface="微软雅黑" panose="020B0503020204020204" pitchFamily="34" charset="-122"/>
                <a:cs typeface="微软雅黑" panose="020B0503020204020204" pitchFamily="34" charset="-122"/>
              </a:rPr>
              <a:t>高质量软件 开发之道</a:t>
            </a:r>
            <a:endParaRPr sz="2200">
              <a:latin typeface="微软雅黑" panose="020B0503020204020204" pitchFamily="34" charset="-122"/>
              <a:cs typeface="微软雅黑" panose="020B0503020204020204" pitchFamily="34" charset="-122"/>
            </a:endParaRPr>
          </a:p>
        </p:txBody>
      </p:sp>
      <p:sp>
        <p:nvSpPr>
          <p:cNvPr id="12" name="object 12"/>
          <p:cNvSpPr/>
          <p:nvPr/>
        </p:nvSpPr>
        <p:spPr>
          <a:xfrm>
            <a:off x="4758266" y="3816082"/>
            <a:ext cx="2903220" cy="1912620"/>
          </a:xfrm>
          <a:custGeom>
            <a:avLst/>
            <a:gdLst/>
            <a:ahLst/>
            <a:cxnLst/>
            <a:rect l="l" t="t" r="r" b="b"/>
            <a:pathLst>
              <a:path w="2903220" h="1912620">
                <a:moveTo>
                  <a:pt x="0" y="535782"/>
                </a:moveTo>
                <a:lnTo>
                  <a:pt x="1595696" y="535782"/>
                </a:lnTo>
                <a:lnTo>
                  <a:pt x="2902972" y="0"/>
                </a:lnTo>
                <a:lnTo>
                  <a:pt x="2279565" y="535782"/>
                </a:lnTo>
                <a:lnTo>
                  <a:pt x="2735478" y="535782"/>
                </a:lnTo>
                <a:lnTo>
                  <a:pt x="2735478" y="765172"/>
                </a:lnTo>
                <a:lnTo>
                  <a:pt x="2735478" y="1109258"/>
                </a:lnTo>
                <a:lnTo>
                  <a:pt x="2735478" y="1912124"/>
                </a:lnTo>
                <a:lnTo>
                  <a:pt x="2279565" y="1912124"/>
                </a:lnTo>
                <a:lnTo>
                  <a:pt x="1595696" y="1912124"/>
                </a:lnTo>
                <a:lnTo>
                  <a:pt x="0" y="1912124"/>
                </a:lnTo>
                <a:lnTo>
                  <a:pt x="0" y="1109258"/>
                </a:lnTo>
                <a:lnTo>
                  <a:pt x="0" y="765172"/>
                </a:lnTo>
                <a:lnTo>
                  <a:pt x="0" y="535782"/>
                </a:lnTo>
                <a:close/>
              </a:path>
            </a:pathLst>
          </a:custGeom>
          <a:ln w="19354">
            <a:solidFill>
              <a:srgbClr val="D16F13"/>
            </a:solidFill>
          </a:ln>
        </p:spPr>
        <p:txBody>
          <a:bodyPr wrap="square" lIns="0" tIns="0" rIns="0" bIns="0" rtlCol="0"/>
          <a:lstStyle/>
          <a:p>
            <a:endParaRPr/>
          </a:p>
        </p:txBody>
      </p:sp>
      <p:sp>
        <p:nvSpPr>
          <p:cNvPr id="13" name="object 13"/>
          <p:cNvSpPr txBox="1"/>
          <p:nvPr/>
        </p:nvSpPr>
        <p:spPr>
          <a:xfrm>
            <a:off x="5014805" y="4425599"/>
            <a:ext cx="2159000" cy="1104900"/>
          </a:xfrm>
          <a:prstGeom prst="rect">
            <a:avLst/>
          </a:prstGeom>
        </p:spPr>
        <p:txBody>
          <a:bodyPr vert="horz" wrap="square" lIns="0" tIns="63500" rIns="0" bIns="0" rtlCol="0">
            <a:spAutoFit/>
          </a:bodyPr>
          <a:lstStyle/>
          <a:p>
            <a:pPr marL="368300" indent="-355600">
              <a:lnSpc>
                <a:spcPct val="100000"/>
              </a:lnSpc>
              <a:spcBef>
                <a:spcPts val="500"/>
              </a:spcBef>
              <a:buClr>
                <a:srgbClr val="3B3838"/>
              </a:buClr>
              <a:buFont typeface="Arial" panose="020B0604020202020204"/>
              <a:buChar char="•"/>
              <a:tabLst>
                <a:tab pos="367665" algn="l"/>
                <a:tab pos="368300" algn="l"/>
              </a:tabLst>
            </a:pPr>
            <a:r>
              <a:rPr sz="2000" dirty="0">
                <a:solidFill>
                  <a:srgbClr val="4C4848"/>
                </a:solidFill>
                <a:latin typeface="微软雅黑" panose="020B0503020204020204" pitchFamily="34" charset="-122"/>
                <a:cs typeface="微软雅黑" panose="020B0503020204020204" pitchFamily="34" charset="-122"/>
              </a:rPr>
              <a:t>模块化设计</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400"/>
              </a:spcBef>
              <a:buClr>
                <a:srgbClr val="3B3838"/>
              </a:buClr>
              <a:buFont typeface="Arial" panose="020B0604020202020204"/>
              <a:buChar char="•"/>
              <a:tabLst>
                <a:tab pos="367665" algn="l"/>
                <a:tab pos="368300" algn="l"/>
              </a:tabLst>
            </a:pPr>
            <a:r>
              <a:rPr sz="2000" dirty="0">
                <a:solidFill>
                  <a:srgbClr val="4C4848"/>
                </a:solidFill>
                <a:latin typeface="微软雅黑" panose="020B0503020204020204" pitchFamily="34" charset="-122"/>
                <a:cs typeface="微软雅黑" panose="020B0503020204020204" pitchFamily="34" charset="-122"/>
              </a:rPr>
              <a:t>面向抽象编程</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500"/>
              </a:spcBef>
              <a:buClr>
                <a:srgbClr val="3B3838"/>
              </a:buClr>
              <a:buFont typeface="Arial" panose="020B0604020202020204"/>
              <a:buChar char="•"/>
              <a:tabLst>
                <a:tab pos="367665" algn="l"/>
                <a:tab pos="368300" algn="l"/>
              </a:tabLst>
            </a:pPr>
            <a:r>
              <a:rPr sz="2000" dirty="0">
                <a:solidFill>
                  <a:srgbClr val="4C4848"/>
                </a:solidFill>
                <a:latin typeface="微软雅黑" panose="020B0503020204020204" pitchFamily="34" charset="-122"/>
                <a:cs typeface="微软雅黑" panose="020B0503020204020204" pitchFamily="34" charset="-122"/>
              </a:rPr>
              <a:t>错误与异常处理</a:t>
            </a:r>
            <a:endParaRPr sz="2000">
              <a:latin typeface="微软雅黑" panose="020B0503020204020204" pitchFamily="34" charset="-122"/>
              <a:cs typeface="微软雅黑" panose="020B0503020204020204" pitchFamily="34" charset="-122"/>
            </a:endParaRPr>
          </a:p>
        </p:txBody>
      </p:sp>
      <p:sp>
        <p:nvSpPr>
          <p:cNvPr id="15" name="标题 14"/>
          <p:cNvSpPr>
            <a:spLocks noGrp="1"/>
          </p:cNvSpPr>
          <p:nvPr>
            <p:ph type="title"/>
          </p:nvPr>
        </p:nvSpPr>
        <p:spPr/>
        <p:txBody>
          <a:bodyPr/>
          <a:lstStyle/>
          <a:p>
            <a:r>
              <a:rPr lang="zh-CN" altLang="en-US" dirty="0"/>
              <a:t>软件开发的工程思维</a:t>
            </a:r>
          </a:p>
        </p:txBody>
      </p:sp>
      <p:sp>
        <p:nvSpPr>
          <p:cNvPr id="3" name="灯片编号占位符 2"/>
          <p:cNvSpPr>
            <a:spLocks noGrp="1"/>
          </p:cNvSpPr>
          <p:nvPr>
            <p:ph type="sldNum" sz="quarter" idx="12"/>
          </p:nvPr>
        </p:nvSpPr>
        <p:spPr/>
        <p:txBody>
          <a:bodyPr/>
          <a:lstStyle/>
          <a:p>
            <a:fld id="{74D2AB8B-5816-41F2-8B4B-CA5C3E4E6A65}" type="slidenum">
              <a:rPr lang="zh-CN" altLang="en-US" smtClean="0"/>
              <a:t>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3637"/>
    </mc:Choice>
    <mc:Fallback xmlns="">
      <p:transition spd="slow" advTm="3363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代码性能分析</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296"/>
    </mc:Choice>
    <mc:Fallback xmlns="">
      <p:transition spd="slow" advTm="1029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12190614" cy="6857998"/>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906131" y="3711392"/>
            <a:ext cx="4978400"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微软雅黑" panose="020B0503020204020204" pitchFamily="34" charset="-122"/>
                <a:cs typeface="微软雅黑" panose="020B0503020204020204" pitchFamily="34" charset="-122"/>
              </a:rPr>
              <a:t>效率是程序员之间永恒的话题</a:t>
            </a:r>
            <a:endParaRPr sz="3000">
              <a:latin typeface="微软雅黑" panose="020B0503020204020204" pitchFamily="34" charset="-122"/>
              <a:cs typeface="微软雅黑" panose="020B0503020204020204" pitchFamily="34" charset="-122"/>
            </a:endParaRPr>
          </a:p>
        </p:txBody>
      </p:sp>
      <p:sp>
        <p:nvSpPr>
          <p:cNvPr id="4" name="object 4"/>
          <p:cNvSpPr txBox="1"/>
          <p:nvPr/>
        </p:nvSpPr>
        <p:spPr>
          <a:xfrm>
            <a:off x="906131" y="4026907"/>
            <a:ext cx="9127490" cy="1499870"/>
          </a:xfrm>
          <a:prstGeom prst="rect">
            <a:avLst/>
          </a:prstGeom>
        </p:spPr>
        <p:txBody>
          <a:bodyPr vert="horz" wrap="square" lIns="0" tIns="268605" rIns="0" bIns="0" rtlCol="0">
            <a:spAutoFit/>
          </a:bodyPr>
          <a:lstStyle/>
          <a:p>
            <a:pPr marL="12700">
              <a:lnSpc>
                <a:spcPct val="100000"/>
              </a:lnSpc>
              <a:spcBef>
                <a:spcPts val="2115"/>
              </a:spcBef>
            </a:pPr>
            <a:r>
              <a:rPr sz="3000" dirty="0">
                <a:latin typeface="微软雅黑" panose="020B0503020204020204" pitchFamily="34" charset="-122"/>
                <a:cs typeface="微软雅黑" panose="020B0503020204020204" pitchFamily="34" charset="-122"/>
              </a:rPr>
              <a:t>如何才能编写出运行更快、效率更高的程序</a:t>
            </a:r>
            <a:endParaRPr sz="3000">
              <a:latin typeface="微软雅黑" panose="020B0503020204020204" pitchFamily="34" charset="-122"/>
              <a:cs typeface="微软雅黑" panose="020B0503020204020204" pitchFamily="34" charset="-122"/>
            </a:endParaRPr>
          </a:p>
          <a:p>
            <a:pPr marL="1798955">
              <a:lnSpc>
                <a:spcPct val="100000"/>
              </a:lnSpc>
              <a:spcBef>
                <a:spcPts val="2150"/>
              </a:spcBef>
            </a:pPr>
            <a:r>
              <a:rPr sz="3200" dirty="0">
                <a:solidFill>
                  <a:srgbClr val="0033CC"/>
                </a:solidFill>
                <a:latin typeface="微软雅黑" panose="020B0503020204020204" pitchFamily="34" charset="-122"/>
                <a:cs typeface="微软雅黑" panose="020B0503020204020204" pitchFamily="34" charset="-122"/>
              </a:rPr>
              <a:t>这是每一个优秀程序员不懈追求的目标</a:t>
            </a:r>
            <a:r>
              <a:rPr sz="3200" dirty="0">
                <a:solidFill>
                  <a:srgbClr val="004DD6"/>
                </a:solidFill>
                <a:latin typeface="微软雅黑" panose="020B0503020204020204" pitchFamily="34" charset="-122"/>
                <a:cs typeface="微软雅黑" panose="020B0503020204020204" pitchFamily="34" charset="-122"/>
              </a:rPr>
              <a:t>！</a:t>
            </a:r>
            <a:endParaRPr sz="3200">
              <a:latin typeface="微软雅黑" panose="020B0503020204020204" pitchFamily="34" charset="-122"/>
              <a:cs typeface="微软雅黑" panose="020B0503020204020204" pitchFamily="34" charset="-122"/>
            </a:endParaRPr>
          </a:p>
        </p:txBody>
      </p:sp>
      <p:sp>
        <p:nvSpPr>
          <p:cNvPr id="6" name="灯片编号占位符 5"/>
          <p:cNvSpPr>
            <a:spLocks noGrp="1"/>
          </p:cNvSpPr>
          <p:nvPr>
            <p:ph type="sldNum" sz="quarter" idx="7"/>
          </p:nvPr>
        </p:nvSpPr>
        <p:spPr/>
        <p:txBody>
          <a:bodyPr/>
          <a:lstStyle/>
          <a:p>
            <a:fld id="{B6F15528-21DE-4FAA-801E-634DDDAF4B2B}" type="slidenum">
              <a:rPr lang="en-US" altLang="zh-CN"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171"/>
    </mc:Choice>
    <mc:Fallback xmlns="">
      <p:transition spd="slow" advTm="3017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79343" y="3436748"/>
            <a:ext cx="6221730" cy="1851660"/>
          </a:xfrm>
          <a:prstGeom prst="rect">
            <a:avLst/>
          </a:prstGeom>
        </p:spPr>
        <p:txBody>
          <a:bodyPr vert="horz" wrap="square" lIns="0" tIns="12700" rIns="0" bIns="0" rtlCol="0">
            <a:spAutoFit/>
          </a:bodyPr>
          <a:lstStyle/>
          <a:p>
            <a:pPr marL="374650" indent="-361950">
              <a:lnSpc>
                <a:spcPct val="100000"/>
              </a:lnSpc>
              <a:spcBef>
                <a:spcPts val="10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代码性能优化是一门复杂的学问。</a:t>
            </a:r>
            <a:endParaRPr sz="2400">
              <a:latin typeface="微软雅黑" panose="020B0503020204020204" pitchFamily="34" charset="-122"/>
              <a:cs typeface="微软雅黑" panose="020B0503020204020204" pitchFamily="34" charset="-122"/>
            </a:endParaRPr>
          </a:p>
          <a:p>
            <a:pPr marL="381000" marR="5080" indent="-368300">
              <a:lnSpc>
                <a:spcPct val="120000"/>
              </a:lnSpc>
              <a:spcBef>
                <a:spcPts val="115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根据</a:t>
            </a:r>
            <a:r>
              <a:rPr sz="2400" spc="25" dirty="0">
                <a:latin typeface="微软雅黑" panose="020B0503020204020204" pitchFamily="34" charset="-122"/>
                <a:cs typeface="微软雅黑" panose="020B0503020204020204" pitchFamily="34" charset="-122"/>
              </a:rPr>
              <a:t> </a:t>
            </a:r>
            <a:r>
              <a:rPr sz="2400" spc="-5" dirty="0">
                <a:latin typeface="Arial" panose="020B0604020202020204"/>
                <a:cs typeface="Arial" panose="020B0604020202020204"/>
              </a:rPr>
              <a:t>80/20</a:t>
            </a:r>
            <a:r>
              <a:rPr sz="2400" spc="3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原则，实现程序的重构、优化、 </a:t>
            </a:r>
            <a:r>
              <a:rPr sz="2400" spc="170" dirty="0">
                <a:latin typeface="微软雅黑" panose="020B0503020204020204" pitchFamily="34" charset="-122"/>
                <a:cs typeface="微软雅黑" panose="020B0503020204020204" pitchFamily="34" charset="-122"/>
              </a:rPr>
              <a:t>扩展以及文档相关的事情通常需要消耗 </a:t>
            </a:r>
            <a:r>
              <a:rPr sz="2400" spc="-5" dirty="0">
                <a:latin typeface="Arial" panose="020B0604020202020204"/>
                <a:cs typeface="Arial" panose="020B0604020202020204"/>
              </a:rPr>
              <a:t>80% </a:t>
            </a:r>
            <a:r>
              <a:rPr sz="2400" dirty="0">
                <a:latin typeface="微软雅黑" panose="020B0503020204020204" pitchFamily="34" charset="-122"/>
                <a:cs typeface="微软雅黑" panose="020B0503020204020204" pitchFamily="34" charset="-122"/>
              </a:rPr>
              <a:t>的工作量。</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2233376" y="3523438"/>
            <a:ext cx="1430020" cy="1430020"/>
          </a:xfrm>
          <a:custGeom>
            <a:avLst/>
            <a:gdLst/>
            <a:ahLst/>
            <a:cxnLst/>
            <a:rect l="l" t="t" r="r" b="b"/>
            <a:pathLst>
              <a:path w="1430020" h="1430020">
                <a:moveTo>
                  <a:pt x="714886" y="0"/>
                </a:moveTo>
                <a:lnTo>
                  <a:pt x="665941" y="1649"/>
                </a:lnTo>
                <a:lnTo>
                  <a:pt x="617881" y="6526"/>
                </a:lnTo>
                <a:lnTo>
                  <a:pt x="570812" y="14524"/>
                </a:lnTo>
                <a:lnTo>
                  <a:pt x="524841" y="25536"/>
                </a:lnTo>
                <a:lnTo>
                  <a:pt x="480075" y="39457"/>
                </a:lnTo>
                <a:lnTo>
                  <a:pt x="436620" y="56179"/>
                </a:lnTo>
                <a:lnTo>
                  <a:pt x="394583" y="75597"/>
                </a:lnTo>
                <a:lnTo>
                  <a:pt x="354070" y="97603"/>
                </a:lnTo>
                <a:lnTo>
                  <a:pt x="315187" y="122091"/>
                </a:lnTo>
                <a:lnTo>
                  <a:pt x="278041" y="148956"/>
                </a:lnTo>
                <a:lnTo>
                  <a:pt x="242738" y="178089"/>
                </a:lnTo>
                <a:lnTo>
                  <a:pt x="209385" y="209386"/>
                </a:lnTo>
                <a:lnTo>
                  <a:pt x="178089" y="242738"/>
                </a:lnTo>
                <a:lnTo>
                  <a:pt x="148955" y="278041"/>
                </a:lnTo>
                <a:lnTo>
                  <a:pt x="122091" y="315187"/>
                </a:lnTo>
                <a:lnTo>
                  <a:pt x="97603" y="354070"/>
                </a:lnTo>
                <a:lnTo>
                  <a:pt x="75596" y="394584"/>
                </a:lnTo>
                <a:lnTo>
                  <a:pt x="56179" y="436621"/>
                </a:lnTo>
                <a:lnTo>
                  <a:pt x="39457" y="480076"/>
                </a:lnTo>
                <a:lnTo>
                  <a:pt x="25536" y="524842"/>
                </a:lnTo>
                <a:lnTo>
                  <a:pt x="14523" y="570813"/>
                </a:lnTo>
                <a:lnTo>
                  <a:pt x="6526" y="617882"/>
                </a:lnTo>
                <a:lnTo>
                  <a:pt x="1649" y="665942"/>
                </a:lnTo>
                <a:lnTo>
                  <a:pt x="0" y="714888"/>
                </a:lnTo>
                <a:lnTo>
                  <a:pt x="1649" y="763833"/>
                </a:lnTo>
                <a:lnTo>
                  <a:pt x="6526" y="811894"/>
                </a:lnTo>
                <a:lnTo>
                  <a:pt x="14523" y="858962"/>
                </a:lnTo>
                <a:lnTo>
                  <a:pt x="25536" y="904933"/>
                </a:lnTo>
                <a:lnTo>
                  <a:pt x="39457" y="949699"/>
                </a:lnTo>
                <a:lnTo>
                  <a:pt x="56179" y="993154"/>
                </a:lnTo>
                <a:lnTo>
                  <a:pt x="75596" y="1035192"/>
                </a:lnTo>
                <a:lnTo>
                  <a:pt x="97603" y="1075705"/>
                </a:lnTo>
                <a:lnTo>
                  <a:pt x="122091" y="1114588"/>
                </a:lnTo>
                <a:lnTo>
                  <a:pt x="148955" y="1151734"/>
                </a:lnTo>
                <a:lnTo>
                  <a:pt x="178089" y="1187037"/>
                </a:lnTo>
                <a:lnTo>
                  <a:pt x="209385" y="1220390"/>
                </a:lnTo>
                <a:lnTo>
                  <a:pt x="242738" y="1251686"/>
                </a:lnTo>
                <a:lnTo>
                  <a:pt x="278041" y="1280820"/>
                </a:lnTo>
                <a:lnTo>
                  <a:pt x="315187" y="1307684"/>
                </a:lnTo>
                <a:lnTo>
                  <a:pt x="354070" y="1332172"/>
                </a:lnTo>
                <a:lnTo>
                  <a:pt x="394583" y="1354179"/>
                </a:lnTo>
                <a:lnTo>
                  <a:pt x="436620" y="1373596"/>
                </a:lnTo>
                <a:lnTo>
                  <a:pt x="480075" y="1390318"/>
                </a:lnTo>
                <a:lnTo>
                  <a:pt x="524841" y="1404239"/>
                </a:lnTo>
                <a:lnTo>
                  <a:pt x="570812" y="1415252"/>
                </a:lnTo>
                <a:lnTo>
                  <a:pt x="617881" y="1423250"/>
                </a:lnTo>
                <a:lnTo>
                  <a:pt x="665941" y="1428126"/>
                </a:lnTo>
                <a:lnTo>
                  <a:pt x="714886" y="1429776"/>
                </a:lnTo>
                <a:lnTo>
                  <a:pt x="763832" y="1428126"/>
                </a:lnTo>
                <a:lnTo>
                  <a:pt x="811892" y="1423250"/>
                </a:lnTo>
                <a:lnTo>
                  <a:pt x="858961" y="1415252"/>
                </a:lnTo>
                <a:lnTo>
                  <a:pt x="904932" y="1404239"/>
                </a:lnTo>
                <a:lnTo>
                  <a:pt x="949698" y="1390318"/>
                </a:lnTo>
                <a:lnTo>
                  <a:pt x="993153" y="1373596"/>
                </a:lnTo>
                <a:lnTo>
                  <a:pt x="1035190" y="1354179"/>
                </a:lnTo>
                <a:lnTo>
                  <a:pt x="1075704" y="1332172"/>
                </a:lnTo>
                <a:lnTo>
                  <a:pt x="1114586" y="1307684"/>
                </a:lnTo>
                <a:lnTo>
                  <a:pt x="1151732" y="1280820"/>
                </a:lnTo>
                <a:lnTo>
                  <a:pt x="1187035" y="1251686"/>
                </a:lnTo>
                <a:lnTo>
                  <a:pt x="1220388" y="1220390"/>
                </a:lnTo>
                <a:lnTo>
                  <a:pt x="1251684" y="1187037"/>
                </a:lnTo>
                <a:lnTo>
                  <a:pt x="1280818" y="1151734"/>
                </a:lnTo>
                <a:lnTo>
                  <a:pt x="1307682" y="1114588"/>
                </a:lnTo>
                <a:lnTo>
                  <a:pt x="1332170" y="1075705"/>
                </a:lnTo>
                <a:lnTo>
                  <a:pt x="1354176" y="1035192"/>
                </a:lnTo>
                <a:lnTo>
                  <a:pt x="1373594" y="993154"/>
                </a:lnTo>
                <a:lnTo>
                  <a:pt x="1390316" y="949699"/>
                </a:lnTo>
                <a:lnTo>
                  <a:pt x="1404237" y="904933"/>
                </a:lnTo>
                <a:lnTo>
                  <a:pt x="1415249" y="858962"/>
                </a:lnTo>
                <a:lnTo>
                  <a:pt x="1423247" y="811894"/>
                </a:lnTo>
                <a:lnTo>
                  <a:pt x="1428124" y="763833"/>
                </a:lnTo>
                <a:lnTo>
                  <a:pt x="1429773" y="714888"/>
                </a:lnTo>
                <a:lnTo>
                  <a:pt x="1428124" y="665942"/>
                </a:lnTo>
                <a:lnTo>
                  <a:pt x="1423247" y="617882"/>
                </a:lnTo>
                <a:lnTo>
                  <a:pt x="1415249" y="570813"/>
                </a:lnTo>
                <a:lnTo>
                  <a:pt x="1404237" y="524842"/>
                </a:lnTo>
                <a:lnTo>
                  <a:pt x="1390316" y="480076"/>
                </a:lnTo>
                <a:lnTo>
                  <a:pt x="1373594" y="436621"/>
                </a:lnTo>
                <a:lnTo>
                  <a:pt x="1354176" y="394584"/>
                </a:lnTo>
                <a:lnTo>
                  <a:pt x="1332170" y="354070"/>
                </a:lnTo>
                <a:lnTo>
                  <a:pt x="1307682" y="315187"/>
                </a:lnTo>
                <a:lnTo>
                  <a:pt x="1280818" y="278041"/>
                </a:lnTo>
                <a:lnTo>
                  <a:pt x="1251684" y="242738"/>
                </a:lnTo>
                <a:lnTo>
                  <a:pt x="1220388" y="209386"/>
                </a:lnTo>
                <a:lnTo>
                  <a:pt x="1187035" y="178089"/>
                </a:lnTo>
                <a:lnTo>
                  <a:pt x="1151732" y="148956"/>
                </a:lnTo>
                <a:lnTo>
                  <a:pt x="1114586" y="122091"/>
                </a:lnTo>
                <a:lnTo>
                  <a:pt x="1075704" y="97603"/>
                </a:lnTo>
                <a:lnTo>
                  <a:pt x="1035190" y="75597"/>
                </a:lnTo>
                <a:lnTo>
                  <a:pt x="993153" y="56179"/>
                </a:lnTo>
                <a:lnTo>
                  <a:pt x="949698" y="39457"/>
                </a:lnTo>
                <a:lnTo>
                  <a:pt x="904932" y="25536"/>
                </a:lnTo>
                <a:lnTo>
                  <a:pt x="858961" y="14524"/>
                </a:lnTo>
                <a:lnTo>
                  <a:pt x="811892" y="6526"/>
                </a:lnTo>
                <a:lnTo>
                  <a:pt x="763832" y="1649"/>
                </a:lnTo>
                <a:lnTo>
                  <a:pt x="714886" y="0"/>
                </a:lnTo>
                <a:close/>
              </a:path>
            </a:pathLst>
          </a:custGeom>
          <a:solidFill>
            <a:srgbClr val="000000">
              <a:alpha val="10198"/>
            </a:srgbClr>
          </a:solidFill>
        </p:spPr>
        <p:txBody>
          <a:bodyPr wrap="square" lIns="0" tIns="0" rIns="0" bIns="0" rtlCol="0"/>
          <a:lstStyle/>
          <a:p>
            <a:endParaRPr/>
          </a:p>
        </p:txBody>
      </p:sp>
      <p:sp>
        <p:nvSpPr>
          <p:cNvPr id="5" name="object 5"/>
          <p:cNvSpPr/>
          <p:nvPr/>
        </p:nvSpPr>
        <p:spPr>
          <a:xfrm>
            <a:off x="2233376" y="3523438"/>
            <a:ext cx="1430020" cy="1430020"/>
          </a:xfrm>
          <a:custGeom>
            <a:avLst/>
            <a:gdLst/>
            <a:ahLst/>
            <a:cxnLst/>
            <a:rect l="l" t="t" r="r" b="b"/>
            <a:pathLst>
              <a:path w="1430020" h="1430020">
                <a:moveTo>
                  <a:pt x="0" y="714887"/>
                </a:moveTo>
                <a:lnTo>
                  <a:pt x="1649" y="665942"/>
                </a:lnTo>
                <a:lnTo>
                  <a:pt x="6526" y="617881"/>
                </a:lnTo>
                <a:lnTo>
                  <a:pt x="14523" y="570812"/>
                </a:lnTo>
                <a:lnTo>
                  <a:pt x="25536" y="524842"/>
                </a:lnTo>
                <a:lnTo>
                  <a:pt x="39457" y="480076"/>
                </a:lnTo>
                <a:lnTo>
                  <a:pt x="56179" y="436621"/>
                </a:lnTo>
                <a:lnTo>
                  <a:pt x="75596" y="394583"/>
                </a:lnTo>
                <a:lnTo>
                  <a:pt x="97602" y="354070"/>
                </a:lnTo>
                <a:lnTo>
                  <a:pt x="122091" y="315187"/>
                </a:lnTo>
                <a:lnTo>
                  <a:pt x="148955" y="278041"/>
                </a:lnTo>
                <a:lnTo>
                  <a:pt x="178089" y="242738"/>
                </a:lnTo>
                <a:lnTo>
                  <a:pt x="209385" y="209385"/>
                </a:lnTo>
                <a:lnTo>
                  <a:pt x="242738" y="178089"/>
                </a:lnTo>
                <a:lnTo>
                  <a:pt x="278040" y="148955"/>
                </a:lnTo>
                <a:lnTo>
                  <a:pt x="315186" y="122091"/>
                </a:lnTo>
                <a:lnTo>
                  <a:pt x="354069" y="97603"/>
                </a:lnTo>
                <a:lnTo>
                  <a:pt x="394583" y="75596"/>
                </a:lnTo>
                <a:lnTo>
                  <a:pt x="436620" y="56179"/>
                </a:lnTo>
                <a:lnTo>
                  <a:pt x="480075" y="39457"/>
                </a:lnTo>
                <a:lnTo>
                  <a:pt x="524841" y="25536"/>
                </a:lnTo>
                <a:lnTo>
                  <a:pt x="570812" y="14523"/>
                </a:lnTo>
                <a:lnTo>
                  <a:pt x="617880" y="6526"/>
                </a:lnTo>
                <a:lnTo>
                  <a:pt x="665941" y="1649"/>
                </a:lnTo>
                <a:lnTo>
                  <a:pt x="714886" y="0"/>
                </a:lnTo>
                <a:lnTo>
                  <a:pt x="763832" y="1649"/>
                </a:lnTo>
                <a:lnTo>
                  <a:pt x="811892" y="6526"/>
                </a:lnTo>
                <a:lnTo>
                  <a:pt x="858961" y="14523"/>
                </a:lnTo>
                <a:lnTo>
                  <a:pt x="904931" y="25536"/>
                </a:lnTo>
                <a:lnTo>
                  <a:pt x="949697" y="39457"/>
                </a:lnTo>
                <a:lnTo>
                  <a:pt x="993152" y="56179"/>
                </a:lnTo>
                <a:lnTo>
                  <a:pt x="1035190" y="75596"/>
                </a:lnTo>
                <a:lnTo>
                  <a:pt x="1075703" y="97603"/>
                </a:lnTo>
                <a:lnTo>
                  <a:pt x="1114586" y="122091"/>
                </a:lnTo>
                <a:lnTo>
                  <a:pt x="1151732" y="148955"/>
                </a:lnTo>
                <a:lnTo>
                  <a:pt x="1187035" y="178089"/>
                </a:lnTo>
                <a:lnTo>
                  <a:pt x="1220388" y="209385"/>
                </a:lnTo>
                <a:lnTo>
                  <a:pt x="1251684" y="242738"/>
                </a:lnTo>
                <a:lnTo>
                  <a:pt x="1280817" y="278041"/>
                </a:lnTo>
                <a:lnTo>
                  <a:pt x="1307682" y="315187"/>
                </a:lnTo>
                <a:lnTo>
                  <a:pt x="1332170" y="354070"/>
                </a:lnTo>
                <a:lnTo>
                  <a:pt x="1354176" y="394583"/>
                </a:lnTo>
                <a:lnTo>
                  <a:pt x="1373594" y="436621"/>
                </a:lnTo>
                <a:lnTo>
                  <a:pt x="1390316" y="480076"/>
                </a:lnTo>
                <a:lnTo>
                  <a:pt x="1404237" y="524842"/>
                </a:lnTo>
                <a:lnTo>
                  <a:pt x="1415249" y="570812"/>
                </a:lnTo>
                <a:lnTo>
                  <a:pt x="1423247" y="617881"/>
                </a:lnTo>
                <a:lnTo>
                  <a:pt x="1428124" y="665942"/>
                </a:lnTo>
                <a:lnTo>
                  <a:pt x="1429773" y="714887"/>
                </a:lnTo>
                <a:lnTo>
                  <a:pt x="1428124" y="763833"/>
                </a:lnTo>
                <a:lnTo>
                  <a:pt x="1423247" y="811893"/>
                </a:lnTo>
                <a:lnTo>
                  <a:pt x="1415249" y="858962"/>
                </a:lnTo>
                <a:lnTo>
                  <a:pt x="1404237" y="904933"/>
                </a:lnTo>
                <a:lnTo>
                  <a:pt x="1390316" y="949699"/>
                </a:lnTo>
                <a:lnTo>
                  <a:pt x="1373594" y="993154"/>
                </a:lnTo>
                <a:lnTo>
                  <a:pt x="1354176" y="1035191"/>
                </a:lnTo>
                <a:lnTo>
                  <a:pt x="1332170" y="1075705"/>
                </a:lnTo>
                <a:lnTo>
                  <a:pt x="1307682" y="1114588"/>
                </a:lnTo>
                <a:lnTo>
                  <a:pt x="1280817" y="1151734"/>
                </a:lnTo>
                <a:lnTo>
                  <a:pt x="1251684" y="1187037"/>
                </a:lnTo>
                <a:lnTo>
                  <a:pt x="1220388" y="1220389"/>
                </a:lnTo>
                <a:lnTo>
                  <a:pt x="1187035" y="1251686"/>
                </a:lnTo>
                <a:lnTo>
                  <a:pt x="1151732" y="1280819"/>
                </a:lnTo>
                <a:lnTo>
                  <a:pt x="1114586" y="1307683"/>
                </a:lnTo>
                <a:lnTo>
                  <a:pt x="1075703" y="1332172"/>
                </a:lnTo>
                <a:lnTo>
                  <a:pt x="1035190" y="1354178"/>
                </a:lnTo>
                <a:lnTo>
                  <a:pt x="993152" y="1373596"/>
                </a:lnTo>
                <a:lnTo>
                  <a:pt x="949697" y="1390318"/>
                </a:lnTo>
                <a:lnTo>
                  <a:pt x="904931" y="1404239"/>
                </a:lnTo>
                <a:lnTo>
                  <a:pt x="858961" y="1415251"/>
                </a:lnTo>
                <a:lnTo>
                  <a:pt x="811892" y="1423249"/>
                </a:lnTo>
                <a:lnTo>
                  <a:pt x="763832" y="1428126"/>
                </a:lnTo>
                <a:lnTo>
                  <a:pt x="714886" y="1429775"/>
                </a:lnTo>
                <a:lnTo>
                  <a:pt x="665941" y="1428126"/>
                </a:lnTo>
                <a:lnTo>
                  <a:pt x="617880" y="1423249"/>
                </a:lnTo>
                <a:lnTo>
                  <a:pt x="570812" y="1415251"/>
                </a:lnTo>
                <a:lnTo>
                  <a:pt x="524841" y="1404239"/>
                </a:lnTo>
                <a:lnTo>
                  <a:pt x="480075" y="1390318"/>
                </a:lnTo>
                <a:lnTo>
                  <a:pt x="436620" y="1373596"/>
                </a:lnTo>
                <a:lnTo>
                  <a:pt x="394583" y="1354178"/>
                </a:lnTo>
                <a:lnTo>
                  <a:pt x="354069" y="1332172"/>
                </a:lnTo>
                <a:lnTo>
                  <a:pt x="315186" y="1307683"/>
                </a:lnTo>
                <a:lnTo>
                  <a:pt x="278040" y="1280819"/>
                </a:lnTo>
                <a:lnTo>
                  <a:pt x="242738" y="1251686"/>
                </a:lnTo>
                <a:lnTo>
                  <a:pt x="209385" y="1220389"/>
                </a:lnTo>
                <a:lnTo>
                  <a:pt x="178089" y="1187037"/>
                </a:lnTo>
                <a:lnTo>
                  <a:pt x="148955" y="1151734"/>
                </a:lnTo>
                <a:lnTo>
                  <a:pt x="122091" y="1114588"/>
                </a:lnTo>
                <a:lnTo>
                  <a:pt x="97602" y="1075705"/>
                </a:lnTo>
                <a:lnTo>
                  <a:pt x="75596" y="1035191"/>
                </a:lnTo>
                <a:lnTo>
                  <a:pt x="56179" y="993154"/>
                </a:lnTo>
                <a:lnTo>
                  <a:pt x="39457" y="949699"/>
                </a:lnTo>
                <a:lnTo>
                  <a:pt x="25536" y="904933"/>
                </a:lnTo>
                <a:lnTo>
                  <a:pt x="14523" y="858962"/>
                </a:lnTo>
                <a:lnTo>
                  <a:pt x="6526" y="811893"/>
                </a:lnTo>
                <a:lnTo>
                  <a:pt x="1649" y="763833"/>
                </a:lnTo>
                <a:lnTo>
                  <a:pt x="0" y="714887"/>
                </a:lnTo>
                <a:close/>
              </a:path>
            </a:pathLst>
          </a:custGeom>
          <a:ln w="19049">
            <a:solidFill>
              <a:srgbClr val="AEAEAE"/>
            </a:solidFill>
            <a:prstDash val="dot"/>
          </a:ln>
        </p:spPr>
        <p:txBody>
          <a:bodyPr wrap="square" lIns="0" tIns="0" rIns="0" bIns="0" rtlCol="0"/>
          <a:lstStyle/>
          <a:p>
            <a:endParaRPr/>
          </a:p>
        </p:txBody>
      </p:sp>
      <p:sp>
        <p:nvSpPr>
          <p:cNvPr id="6" name="object 6"/>
          <p:cNvSpPr/>
          <p:nvPr/>
        </p:nvSpPr>
        <p:spPr>
          <a:xfrm>
            <a:off x="1700763" y="2795575"/>
            <a:ext cx="2498706" cy="2913922"/>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3762453" y="3685960"/>
            <a:ext cx="237490" cy="248285"/>
          </a:xfrm>
          <a:custGeom>
            <a:avLst/>
            <a:gdLst/>
            <a:ahLst/>
            <a:cxnLst/>
            <a:rect l="l" t="t" r="r" b="b"/>
            <a:pathLst>
              <a:path w="237489" h="248285">
                <a:moveTo>
                  <a:pt x="14339" y="65239"/>
                </a:moveTo>
                <a:lnTo>
                  <a:pt x="0" y="72039"/>
                </a:lnTo>
                <a:lnTo>
                  <a:pt x="83558" y="248235"/>
                </a:lnTo>
                <a:lnTo>
                  <a:pt x="97896" y="241434"/>
                </a:lnTo>
                <a:lnTo>
                  <a:pt x="59890" y="161292"/>
                </a:lnTo>
                <a:lnTo>
                  <a:pt x="94269" y="144989"/>
                </a:lnTo>
                <a:lnTo>
                  <a:pt x="52158" y="144989"/>
                </a:lnTo>
                <a:lnTo>
                  <a:pt x="14339" y="65239"/>
                </a:lnTo>
                <a:close/>
              </a:path>
              <a:path w="237489" h="248285">
                <a:moveTo>
                  <a:pt x="168004" y="118682"/>
                </a:moveTo>
                <a:lnTo>
                  <a:pt x="164767" y="143486"/>
                </a:lnTo>
                <a:lnTo>
                  <a:pt x="161179" y="166872"/>
                </a:lnTo>
                <a:lnTo>
                  <a:pt x="157242" y="188839"/>
                </a:lnTo>
                <a:lnTo>
                  <a:pt x="152956" y="209388"/>
                </a:lnTo>
                <a:lnTo>
                  <a:pt x="171385" y="214043"/>
                </a:lnTo>
                <a:lnTo>
                  <a:pt x="174848" y="193400"/>
                </a:lnTo>
                <a:lnTo>
                  <a:pt x="178022" y="171280"/>
                </a:lnTo>
                <a:lnTo>
                  <a:pt x="180907" y="147684"/>
                </a:lnTo>
                <a:lnTo>
                  <a:pt x="183503" y="122612"/>
                </a:lnTo>
                <a:lnTo>
                  <a:pt x="168004" y="118682"/>
                </a:lnTo>
                <a:close/>
              </a:path>
              <a:path w="237489" h="248285">
                <a:moveTo>
                  <a:pt x="127936" y="137353"/>
                </a:moveTo>
                <a:lnTo>
                  <a:pt x="110373" y="137353"/>
                </a:lnTo>
                <a:lnTo>
                  <a:pt x="138971" y="197655"/>
                </a:lnTo>
                <a:lnTo>
                  <a:pt x="153309" y="190855"/>
                </a:lnTo>
                <a:lnTo>
                  <a:pt x="127936" y="137353"/>
                </a:lnTo>
                <a:close/>
              </a:path>
              <a:path w="237489" h="248285">
                <a:moveTo>
                  <a:pt x="165720" y="22711"/>
                </a:moveTo>
                <a:lnTo>
                  <a:pt x="148156" y="22711"/>
                </a:lnTo>
                <a:lnTo>
                  <a:pt x="215599" y="164924"/>
                </a:lnTo>
                <a:lnTo>
                  <a:pt x="193010" y="175637"/>
                </a:lnTo>
                <a:lnTo>
                  <a:pt x="200555" y="191547"/>
                </a:lnTo>
                <a:lnTo>
                  <a:pt x="237483" y="174034"/>
                </a:lnTo>
                <a:lnTo>
                  <a:pt x="199153" y="93207"/>
                </a:lnTo>
                <a:lnTo>
                  <a:pt x="209794" y="93207"/>
                </a:lnTo>
                <a:lnTo>
                  <a:pt x="213992" y="87050"/>
                </a:lnTo>
                <a:lnTo>
                  <a:pt x="216296" y="83426"/>
                </a:lnTo>
                <a:lnTo>
                  <a:pt x="194514" y="83426"/>
                </a:lnTo>
                <a:lnTo>
                  <a:pt x="165720" y="22711"/>
                </a:lnTo>
                <a:close/>
              </a:path>
              <a:path w="237489" h="248285">
                <a:moveTo>
                  <a:pt x="88568" y="54338"/>
                </a:moveTo>
                <a:lnTo>
                  <a:pt x="74228" y="61139"/>
                </a:lnTo>
                <a:lnTo>
                  <a:pt x="102641" y="121048"/>
                </a:lnTo>
                <a:lnTo>
                  <a:pt x="52158" y="144989"/>
                </a:lnTo>
                <a:lnTo>
                  <a:pt x="94269" y="144989"/>
                </a:lnTo>
                <a:lnTo>
                  <a:pt x="110373" y="137353"/>
                </a:lnTo>
                <a:lnTo>
                  <a:pt x="127936" y="137353"/>
                </a:lnTo>
                <a:lnTo>
                  <a:pt x="88568" y="54338"/>
                </a:lnTo>
                <a:close/>
              </a:path>
              <a:path w="237489" h="248285">
                <a:moveTo>
                  <a:pt x="209794" y="93207"/>
                </a:moveTo>
                <a:lnTo>
                  <a:pt x="199153" y="93207"/>
                </a:lnTo>
                <a:lnTo>
                  <a:pt x="205913" y="98539"/>
                </a:lnTo>
                <a:lnTo>
                  <a:pt x="209794" y="93207"/>
                </a:lnTo>
                <a:close/>
              </a:path>
              <a:path w="237489" h="248285">
                <a:moveTo>
                  <a:pt x="80921" y="24761"/>
                </a:moveTo>
                <a:lnTo>
                  <a:pt x="79609" y="29927"/>
                </a:lnTo>
                <a:lnTo>
                  <a:pt x="77270" y="35736"/>
                </a:lnTo>
                <a:lnTo>
                  <a:pt x="73903" y="42188"/>
                </a:lnTo>
                <a:lnTo>
                  <a:pt x="91717" y="54221"/>
                </a:lnTo>
                <a:lnTo>
                  <a:pt x="111137" y="66171"/>
                </a:lnTo>
                <a:lnTo>
                  <a:pt x="132162" y="78037"/>
                </a:lnTo>
                <a:lnTo>
                  <a:pt x="154793" y="89819"/>
                </a:lnTo>
                <a:lnTo>
                  <a:pt x="160260" y="73092"/>
                </a:lnTo>
                <a:lnTo>
                  <a:pt x="139429" y="62626"/>
                </a:lnTo>
                <a:lnTo>
                  <a:pt x="119262" y="51082"/>
                </a:lnTo>
                <a:lnTo>
                  <a:pt x="99760" y="38461"/>
                </a:lnTo>
                <a:lnTo>
                  <a:pt x="80921" y="24761"/>
                </a:lnTo>
                <a:close/>
              </a:path>
              <a:path w="237489" h="248285">
                <a:moveTo>
                  <a:pt x="208057" y="63357"/>
                </a:moveTo>
                <a:lnTo>
                  <a:pt x="203191" y="71123"/>
                </a:lnTo>
                <a:lnTo>
                  <a:pt x="198677" y="77814"/>
                </a:lnTo>
                <a:lnTo>
                  <a:pt x="194514" y="83426"/>
                </a:lnTo>
                <a:lnTo>
                  <a:pt x="216296" y="83426"/>
                </a:lnTo>
                <a:lnTo>
                  <a:pt x="217916" y="80878"/>
                </a:lnTo>
                <a:lnTo>
                  <a:pt x="221763" y="74421"/>
                </a:lnTo>
                <a:lnTo>
                  <a:pt x="208057" y="63357"/>
                </a:lnTo>
                <a:close/>
              </a:path>
              <a:path w="237489" h="248285">
                <a:moveTo>
                  <a:pt x="154950" y="0"/>
                </a:moveTo>
                <a:lnTo>
                  <a:pt x="118022" y="17513"/>
                </a:lnTo>
                <a:lnTo>
                  <a:pt x="125567" y="33423"/>
                </a:lnTo>
                <a:lnTo>
                  <a:pt x="148156" y="22711"/>
                </a:lnTo>
                <a:lnTo>
                  <a:pt x="165720" y="22711"/>
                </a:lnTo>
                <a:lnTo>
                  <a:pt x="154950" y="0"/>
                </a:lnTo>
                <a:close/>
              </a:path>
            </a:pathLst>
          </a:custGeom>
          <a:solidFill>
            <a:srgbClr val="FFFFFF"/>
          </a:solidFill>
        </p:spPr>
        <p:txBody>
          <a:bodyPr wrap="square" lIns="0" tIns="0" rIns="0" bIns="0" rtlCol="0"/>
          <a:lstStyle/>
          <a:p>
            <a:endParaRPr/>
          </a:p>
        </p:txBody>
      </p:sp>
      <p:sp>
        <p:nvSpPr>
          <p:cNvPr id="8" name="object 8"/>
          <p:cNvSpPr/>
          <p:nvPr/>
        </p:nvSpPr>
        <p:spPr>
          <a:xfrm>
            <a:off x="3838945" y="3911358"/>
            <a:ext cx="231775" cy="216535"/>
          </a:xfrm>
          <a:custGeom>
            <a:avLst/>
            <a:gdLst/>
            <a:ahLst/>
            <a:cxnLst/>
            <a:rect l="l" t="t" r="r" b="b"/>
            <a:pathLst>
              <a:path w="231775" h="216535">
                <a:moveTo>
                  <a:pt x="44150" y="153302"/>
                </a:moveTo>
                <a:lnTo>
                  <a:pt x="37480" y="156532"/>
                </a:lnTo>
                <a:lnTo>
                  <a:pt x="32136" y="158885"/>
                </a:lnTo>
                <a:lnTo>
                  <a:pt x="28117" y="160361"/>
                </a:lnTo>
                <a:lnTo>
                  <a:pt x="30005" y="169683"/>
                </a:lnTo>
                <a:lnTo>
                  <a:pt x="46214" y="212770"/>
                </a:lnTo>
                <a:lnTo>
                  <a:pt x="55609" y="216514"/>
                </a:lnTo>
                <a:lnTo>
                  <a:pt x="67439" y="215822"/>
                </a:lnTo>
                <a:lnTo>
                  <a:pt x="134665" y="200835"/>
                </a:lnTo>
                <a:lnTo>
                  <a:pt x="58732" y="200835"/>
                </a:lnTo>
                <a:lnTo>
                  <a:pt x="52534" y="196768"/>
                </a:lnTo>
                <a:lnTo>
                  <a:pt x="50220" y="186386"/>
                </a:lnTo>
                <a:lnTo>
                  <a:pt x="48459" y="178060"/>
                </a:lnTo>
                <a:lnTo>
                  <a:pt x="46854" y="169683"/>
                </a:lnTo>
                <a:lnTo>
                  <a:pt x="45485" y="161817"/>
                </a:lnTo>
                <a:lnTo>
                  <a:pt x="44150" y="153302"/>
                </a:lnTo>
                <a:close/>
              </a:path>
              <a:path w="231775" h="216535">
                <a:moveTo>
                  <a:pt x="204736" y="59369"/>
                </a:moveTo>
                <a:lnTo>
                  <a:pt x="189246" y="62823"/>
                </a:lnTo>
                <a:lnTo>
                  <a:pt x="212378" y="166582"/>
                </a:lnTo>
                <a:lnTo>
                  <a:pt x="58732" y="200835"/>
                </a:lnTo>
                <a:lnTo>
                  <a:pt x="134665" y="200835"/>
                </a:lnTo>
                <a:lnTo>
                  <a:pt x="231463" y="179255"/>
                </a:lnTo>
                <a:lnTo>
                  <a:pt x="204736" y="59369"/>
                </a:lnTo>
                <a:close/>
              </a:path>
              <a:path w="231775" h="216535">
                <a:moveTo>
                  <a:pt x="74815" y="89037"/>
                </a:moveTo>
                <a:lnTo>
                  <a:pt x="59669" y="89037"/>
                </a:lnTo>
                <a:lnTo>
                  <a:pt x="75895" y="161817"/>
                </a:lnTo>
                <a:lnTo>
                  <a:pt x="157900" y="143535"/>
                </a:lnTo>
                <a:lnTo>
                  <a:pt x="86964" y="143535"/>
                </a:lnTo>
                <a:lnTo>
                  <a:pt x="74815" y="89037"/>
                </a:lnTo>
                <a:close/>
              </a:path>
              <a:path w="231775" h="216535">
                <a:moveTo>
                  <a:pt x="118950" y="79198"/>
                </a:moveTo>
                <a:lnTo>
                  <a:pt x="103804" y="79198"/>
                </a:lnTo>
                <a:lnTo>
                  <a:pt x="116671" y="136913"/>
                </a:lnTo>
                <a:lnTo>
                  <a:pt x="86964" y="143535"/>
                </a:lnTo>
                <a:lnTo>
                  <a:pt x="157900" y="143535"/>
                </a:lnTo>
                <a:lnTo>
                  <a:pt x="178169" y="139016"/>
                </a:lnTo>
                <a:lnTo>
                  <a:pt x="176983" y="133696"/>
                </a:lnTo>
                <a:lnTo>
                  <a:pt x="131099" y="133696"/>
                </a:lnTo>
                <a:lnTo>
                  <a:pt x="118950" y="79198"/>
                </a:lnTo>
                <a:close/>
              </a:path>
              <a:path w="231775" h="216535">
                <a:moveTo>
                  <a:pt x="162660" y="69453"/>
                </a:moveTo>
                <a:lnTo>
                  <a:pt x="147515" y="69453"/>
                </a:lnTo>
                <a:lnTo>
                  <a:pt x="160381" y="127168"/>
                </a:lnTo>
                <a:lnTo>
                  <a:pt x="131099" y="133696"/>
                </a:lnTo>
                <a:lnTo>
                  <a:pt x="176983" y="133696"/>
                </a:lnTo>
                <a:lnTo>
                  <a:pt x="162660" y="69453"/>
                </a:lnTo>
                <a:close/>
              </a:path>
              <a:path w="231775" h="216535">
                <a:moveTo>
                  <a:pt x="158584" y="51172"/>
                </a:moveTo>
                <a:lnTo>
                  <a:pt x="43367" y="76857"/>
                </a:lnTo>
                <a:lnTo>
                  <a:pt x="46725" y="91922"/>
                </a:lnTo>
                <a:lnTo>
                  <a:pt x="59669" y="89037"/>
                </a:lnTo>
                <a:lnTo>
                  <a:pt x="74815" y="89037"/>
                </a:lnTo>
                <a:lnTo>
                  <a:pt x="74098" y="85820"/>
                </a:lnTo>
                <a:lnTo>
                  <a:pt x="103804" y="79198"/>
                </a:lnTo>
                <a:lnTo>
                  <a:pt x="118950" y="79198"/>
                </a:lnTo>
                <a:lnTo>
                  <a:pt x="118233" y="75981"/>
                </a:lnTo>
                <a:lnTo>
                  <a:pt x="147515" y="69453"/>
                </a:lnTo>
                <a:lnTo>
                  <a:pt x="162660" y="69453"/>
                </a:lnTo>
                <a:lnTo>
                  <a:pt x="158584" y="51172"/>
                </a:lnTo>
                <a:close/>
              </a:path>
              <a:path w="231775" h="216535">
                <a:moveTo>
                  <a:pt x="162323" y="0"/>
                </a:moveTo>
                <a:lnTo>
                  <a:pt x="0" y="36188"/>
                </a:lnTo>
                <a:lnTo>
                  <a:pt x="3595" y="52313"/>
                </a:lnTo>
                <a:lnTo>
                  <a:pt x="165917" y="16126"/>
                </a:lnTo>
                <a:lnTo>
                  <a:pt x="162323" y="0"/>
                </a:lnTo>
                <a:close/>
              </a:path>
              <a:path w="231775" h="216535">
                <a:moveTo>
                  <a:pt x="195331" y="4001"/>
                </a:moveTo>
                <a:lnTo>
                  <a:pt x="189292" y="13050"/>
                </a:lnTo>
                <a:lnTo>
                  <a:pt x="183242" y="21801"/>
                </a:lnTo>
                <a:lnTo>
                  <a:pt x="177181" y="30255"/>
                </a:lnTo>
                <a:lnTo>
                  <a:pt x="171109" y="38412"/>
                </a:lnTo>
                <a:lnTo>
                  <a:pt x="185891" y="49093"/>
                </a:lnTo>
                <a:lnTo>
                  <a:pt x="191491" y="40649"/>
                </a:lnTo>
                <a:lnTo>
                  <a:pt x="197132" y="31898"/>
                </a:lnTo>
                <a:lnTo>
                  <a:pt x="202814" y="22840"/>
                </a:lnTo>
                <a:lnTo>
                  <a:pt x="208537" y="13474"/>
                </a:lnTo>
                <a:lnTo>
                  <a:pt x="195331" y="4001"/>
                </a:lnTo>
                <a:close/>
              </a:path>
            </a:pathLst>
          </a:custGeom>
          <a:solidFill>
            <a:srgbClr val="FFFFFF"/>
          </a:solidFill>
        </p:spPr>
        <p:txBody>
          <a:bodyPr wrap="square" lIns="0" tIns="0" rIns="0" bIns="0" rtlCol="0"/>
          <a:lstStyle/>
          <a:p>
            <a:endParaRPr/>
          </a:p>
        </p:txBody>
      </p:sp>
      <p:sp>
        <p:nvSpPr>
          <p:cNvPr id="9" name="object 9"/>
          <p:cNvSpPr/>
          <p:nvPr/>
        </p:nvSpPr>
        <p:spPr>
          <a:xfrm>
            <a:off x="3879245" y="4133218"/>
            <a:ext cx="211454" cy="212090"/>
          </a:xfrm>
          <a:custGeom>
            <a:avLst/>
            <a:gdLst/>
            <a:ahLst/>
            <a:cxnLst/>
            <a:rect l="l" t="t" r="r" b="b"/>
            <a:pathLst>
              <a:path w="211454" h="212089">
                <a:moveTo>
                  <a:pt x="14293" y="12183"/>
                </a:moveTo>
                <a:lnTo>
                  <a:pt x="9389" y="16005"/>
                </a:lnTo>
                <a:lnTo>
                  <a:pt x="4624" y="19260"/>
                </a:lnTo>
                <a:lnTo>
                  <a:pt x="0" y="21949"/>
                </a:lnTo>
                <a:lnTo>
                  <a:pt x="5453" y="47722"/>
                </a:lnTo>
                <a:lnTo>
                  <a:pt x="11240" y="71521"/>
                </a:lnTo>
                <a:lnTo>
                  <a:pt x="17360" y="93347"/>
                </a:lnTo>
                <a:lnTo>
                  <a:pt x="23813" y="113200"/>
                </a:lnTo>
                <a:lnTo>
                  <a:pt x="17257" y="132579"/>
                </a:lnTo>
                <a:lnTo>
                  <a:pt x="11539" y="153800"/>
                </a:lnTo>
                <a:lnTo>
                  <a:pt x="6660" y="176865"/>
                </a:lnTo>
                <a:lnTo>
                  <a:pt x="2620" y="201773"/>
                </a:lnTo>
                <a:lnTo>
                  <a:pt x="7917" y="204603"/>
                </a:lnTo>
                <a:lnTo>
                  <a:pt x="13787" y="207930"/>
                </a:lnTo>
                <a:lnTo>
                  <a:pt x="20229" y="211752"/>
                </a:lnTo>
                <a:lnTo>
                  <a:pt x="22191" y="190329"/>
                </a:lnTo>
                <a:lnTo>
                  <a:pt x="24823" y="170286"/>
                </a:lnTo>
                <a:lnTo>
                  <a:pt x="28125" y="151620"/>
                </a:lnTo>
                <a:lnTo>
                  <a:pt x="32096" y="134334"/>
                </a:lnTo>
                <a:lnTo>
                  <a:pt x="47492" y="134334"/>
                </a:lnTo>
                <a:lnTo>
                  <a:pt x="44282" y="127754"/>
                </a:lnTo>
                <a:lnTo>
                  <a:pt x="38355" y="113634"/>
                </a:lnTo>
                <a:lnTo>
                  <a:pt x="43801" y="99758"/>
                </a:lnTo>
                <a:lnTo>
                  <a:pt x="46505" y="94200"/>
                </a:lnTo>
                <a:lnTo>
                  <a:pt x="31775" y="94200"/>
                </a:lnTo>
                <a:lnTo>
                  <a:pt x="27445" y="78027"/>
                </a:lnTo>
                <a:lnTo>
                  <a:pt x="23088" y="58966"/>
                </a:lnTo>
                <a:lnTo>
                  <a:pt x="18704" y="37018"/>
                </a:lnTo>
                <a:lnTo>
                  <a:pt x="14293" y="12183"/>
                </a:lnTo>
                <a:close/>
              </a:path>
              <a:path w="211454" h="212089">
                <a:moveTo>
                  <a:pt x="190272" y="37099"/>
                </a:moveTo>
                <a:lnTo>
                  <a:pt x="165440" y="37099"/>
                </a:lnTo>
                <a:lnTo>
                  <a:pt x="170229" y="41205"/>
                </a:lnTo>
                <a:lnTo>
                  <a:pt x="175229" y="45168"/>
                </a:lnTo>
                <a:lnTo>
                  <a:pt x="180440" y="48990"/>
                </a:lnTo>
                <a:lnTo>
                  <a:pt x="180450" y="207829"/>
                </a:lnTo>
                <a:lnTo>
                  <a:pt x="194146" y="207829"/>
                </a:lnTo>
                <a:lnTo>
                  <a:pt x="194137" y="58205"/>
                </a:lnTo>
                <a:lnTo>
                  <a:pt x="211312" y="58205"/>
                </a:lnTo>
                <a:lnTo>
                  <a:pt x="211311" y="50161"/>
                </a:lnTo>
                <a:lnTo>
                  <a:pt x="193603" y="39566"/>
                </a:lnTo>
                <a:lnTo>
                  <a:pt x="190272" y="37099"/>
                </a:lnTo>
                <a:close/>
              </a:path>
              <a:path w="211454" h="212089">
                <a:moveTo>
                  <a:pt x="47492" y="134334"/>
                </a:moveTo>
                <a:lnTo>
                  <a:pt x="32096" y="134334"/>
                </a:lnTo>
                <a:lnTo>
                  <a:pt x="39536" y="149640"/>
                </a:lnTo>
                <a:lnTo>
                  <a:pt x="47466" y="163515"/>
                </a:lnTo>
                <a:lnTo>
                  <a:pt x="55885" y="175957"/>
                </a:lnTo>
                <a:lnTo>
                  <a:pt x="64794" y="186966"/>
                </a:lnTo>
                <a:lnTo>
                  <a:pt x="76534" y="186965"/>
                </a:lnTo>
                <a:lnTo>
                  <a:pt x="76532" y="162553"/>
                </a:lnTo>
                <a:lnTo>
                  <a:pt x="64140" y="162553"/>
                </a:lnTo>
                <a:lnTo>
                  <a:pt x="57174" y="152213"/>
                </a:lnTo>
                <a:lnTo>
                  <a:pt x="50555" y="140614"/>
                </a:lnTo>
                <a:lnTo>
                  <a:pt x="47492" y="134334"/>
                </a:lnTo>
                <a:close/>
              </a:path>
              <a:path w="211454" h="212089">
                <a:moveTo>
                  <a:pt x="150383" y="0"/>
                </a:moveTo>
                <a:lnTo>
                  <a:pt x="145632" y="4105"/>
                </a:lnTo>
                <a:lnTo>
                  <a:pt x="141230" y="7362"/>
                </a:lnTo>
                <a:lnTo>
                  <a:pt x="137176" y="9767"/>
                </a:lnTo>
                <a:lnTo>
                  <a:pt x="142530" y="15567"/>
                </a:lnTo>
                <a:lnTo>
                  <a:pt x="148069" y="21234"/>
                </a:lnTo>
                <a:lnTo>
                  <a:pt x="153794" y="26770"/>
                </a:lnTo>
                <a:lnTo>
                  <a:pt x="159705" y="32174"/>
                </a:lnTo>
                <a:lnTo>
                  <a:pt x="85220" y="32179"/>
                </a:lnTo>
                <a:lnTo>
                  <a:pt x="85220" y="46962"/>
                </a:lnTo>
                <a:lnTo>
                  <a:pt x="92829" y="46962"/>
                </a:lnTo>
                <a:lnTo>
                  <a:pt x="92838" y="171747"/>
                </a:lnTo>
                <a:lnTo>
                  <a:pt x="87402" y="171747"/>
                </a:lnTo>
                <a:lnTo>
                  <a:pt x="87403" y="186529"/>
                </a:lnTo>
                <a:lnTo>
                  <a:pt x="165449" y="186524"/>
                </a:lnTo>
                <a:lnTo>
                  <a:pt x="165448" y="171745"/>
                </a:lnTo>
                <a:lnTo>
                  <a:pt x="106098" y="171745"/>
                </a:lnTo>
                <a:lnTo>
                  <a:pt x="106090" y="46960"/>
                </a:lnTo>
                <a:lnTo>
                  <a:pt x="135657" y="46958"/>
                </a:lnTo>
                <a:lnTo>
                  <a:pt x="165440" y="46958"/>
                </a:lnTo>
                <a:lnTo>
                  <a:pt x="165440" y="37099"/>
                </a:lnTo>
                <a:lnTo>
                  <a:pt x="190272" y="37099"/>
                </a:lnTo>
                <a:lnTo>
                  <a:pt x="177545" y="27674"/>
                </a:lnTo>
                <a:lnTo>
                  <a:pt x="163138" y="14485"/>
                </a:lnTo>
                <a:lnTo>
                  <a:pt x="150383" y="0"/>
                </a:lnTo>
                <a:close/>
              </a:path>
              <a:path w="211454" h="212089">
                <a:moveTo>
                  <a:pt x="135657" y="46959"/>
                </a:moveTo>
                <a:lnTo>
                  <a:pt x="123047" y="46959"/>
                </a:lnTo>
                <a:lnTo>
                  <a:pt x="123055" y="171744"/>
                </a:lnTo>
                <a:lnTo>
                  <a:pt x="106098" y="171745"/>
                </a:lnTo>
                <a:lnTo>
                  <a:pt x="165448" y="171745"/>
                </a:lnTo>
                <a:lnTo>
                  <a:pt x="135663" y="171744"/>
                </a:lnTo>
                <a:lnTo>
                  <a:pt x="135657" y="46959"/>
                </a:lnTo>
                <a:close/>
              </a:path>
              <a:path w="211454" h="212089">
                <a:moveTo>
                  <a:pt x="165440" y="46958"/>
                </a:moveTo>
                <a:lnTo>
                  <a:pt x="152179" y="46958"/>
                </a:lnTo>
                <a:lnTo>
                  <a:pt x="152186" y="171743"/>
                </a:lnTo>
                <a:lnTo>
                  <a:pt x="135663" y="171744"/>
                </a:lnTo>
                <a:lnTo>
                  <a:pt x="165448" y="171744"/>
                </a:lnTo>
                <a:lnTo>
                  <a:pt x="165440" y="46958"/>
                </a:lnTo>
                <a:close/>
              </a:path>
              <a:path w="211454" h="212089">
                <a:moveTo>
                  <a:pt x="87830" y="66009"/>
                </a:moveTo>
                <a:lnTo>
                  <a:pt x="64135" y="66009"/>
                </a:lnTo>
                <a:lnTo>
                  <a:pt x="64140" y="162553"/>
                </a:lnTo>
                <a:lnTo>
                  <a:pt x="76532" y="162553"/>
                </a:lnTo>
                <a:lnTo>
                  <a:pt x="76526" y="72343"/>
                </a:lnTo>
                <a:lnTo>
                  <a:pt x="87831" y="72343"/>
                </a:lnTo>
                <a:lnTo>
                  <a:pt x="87830" y="66009"/>
                </a:lnTo>
                <a:close/>
              </a:path>
              <a:path w="211454" h="212089">
                <a:moveTo>
                  <a:pt x="39510" y="7"/>
                </a:moveTo>
                <a:lnTo>
                  <a:pt x="35829" y="3827"/>
                </a:lnTo>
                <a:lnTo>
                  <a:pt x="31845" y="7362"/>
                </a:lnTo>
                <a:lnTo>
                  <a:pt x="27825" y="10408"/>
                </a:lnTo>
                <a:lnTo>
                  <a:pt x="34301" y="22019"/>
                </a:lnTo>
                <a:lnTo>
                  <a:pt x="41537" y="33192"/>
                </a:lnTo>
                <a:lnTo>
                  <a:pt x="49535" y="43927"/>
                </a:lnTo>
                <a:lnTo>
                  <a:pt x="58294" y="54226"/>
                </a:lnTo>
                <a:lnTo>
                  <a:pt x="51000" y="62777"/>
                </a:lnTo>
                <a:lnTo>
                  <a:pt x="44117" y="72343"/>
                </a:lnTo>
                <a:lnTo>
                  <a:pt x="37746" y="82756"/>
                </a:lnTo>
                <a:lnTo>
                  <a:pt x="31775" y="94200"/>
                </a:lnTo>
                <a:lnTo>
                  <a:pt x="46505" y="94200"/>
                </a:lnTo>
                <a:lnTo>
                  <a:pt x="49913" y="87195"/>
                </a:lnTo>
                <a:lnTo>
                  <a:pt x="56691" y="75946"/>
                </a:lnTo>
                <a:lnTo>
                  <a:pt x="64135" y="66009"/>
                </a:lnTo>
                <a:lnTo>
                  <a:pt x="87830" y="66009"/>
                </a:lnTo>
                <a:lnTo>
                  <a:pt x="87821" y="62769"/>
                </a:lnTo>
                <a:lnTo>
                  <a:pt x="73874" y="49948"/>
                </a:lnTo>
                <a:lnTo>
                  <a:pt x="61169" y="35210"/>
                </a:lnTo>
                <a:lnTo>
                  <a:pt x="49714" y="18563"/>
                </a:lnTo>
                <a:lnTo>
                  <a:pt x="39510" y="7"/>
                </a:lnTo>
                <a:close/>
              </a:path>
              <a:path w="211454" h="212089">
                <a:moveTo>
                  <a:pt x="87831" y="72343"/>
                </a:moveTo>
                <a:lnTo>
                  <a:pt x="76526" y="72343"/>
                </a:lnTo>
                <a:lnTo>
                  <a:pt x="80154" y="75619"/>
                </a:lnTo>
                <a:lnTo>
                  <a:pt x="83922" y="78826"/>
                </a:lnTo>
                <a:lnTo>
                  <a:pt x="87831" y="81963"/>
                </a:lnTo>
                <a:lnTo>
                  <a:pt x="87831" y="72343"/>
                </a:lnTo>
                <a:close/>
              </a:path>
              <a:path w="211454" h="212089">
                <a:moveTo>
                  <a:pt x="211312" y="58205"/>
                </a:moveTo>
                <a:lnTo>
                  <a:pt x="194137" y="58205"/>
                </a:lnTo>
                <a:lnTo>
                  <a:pt x="199649" y="61808"/>
                </a:lnTo>
                <a:lnTo>
                  <a:pt x="205374" y="65304"/>
                </a:lnTo>
                <a:lnTo>
                  <a:pt x="211312" y="68694"/>
                </a:lnTo>
                <a:lnTo>
                  <a:pt x="211312" y="58205"/>
                </a:lnTo>
                <a:close/>
              </a:path>
            </a:pathLst>
          </a:custGeom>
          <a:solidFill>
            <a:srgbClr val="FFFFFF"/>
          </a:solidFill>
        </p:spPr>
        <p:txBody>
          <a:bodyPr wrap="square" lIns="0" tIns="0" rIns="0" bIns="0" rtlCol="0"/>
          <a:lstStyle/>
          <a:p>
            <a:endParaRPr/>
          </a:p>
        </p:txBody>
      </p:sp>
      <p:sp>
        <p:nvSpPr>
          <p:cNvPr id="10" name="object 10"/>
          <p:cNvSpPr/>
          <p:nvPr/>
        </p:nvSpPr>
        <p:spPr>
          <a:xfrm>
            <a:off x="3850547" y="4339221"/>
            <a:ext cx="221615" cy="236220"/>
          </a:xfrm>
          <a:custGeom>
            <a:avLst/>
            <a:gdLst/>
            <a:ahLst/>
            <a:cxnLst/>
            <a:rect l="l" t="t" r="r" b="b"/>
            <a:pathLst>
              <a:path w="221614" h="236220">
                <a:moveTo>
                  <a:pt x="121309" y="161692"/>
                </a:moveTo>
                <a:lnTo>
                  <a:pt x="98582" y="192892"/>
                </a:lnTo>
                <a:lnTo>
                  <a:pt x="97380" y="204167"/>
                </a:lnTo>
                <a:lnTo>
                  <a:pt x="99234" y="213479"/>
                </a:lnTo>
                <a:lnTo>
                  <a:pt x="135939" y="235884"/>
                </a:lnTo>
                <a:lnTo>
                  <a:pt x="138022" y="232390"/>
                </a:lnTo>
                <a:lnTo>
                  <a:pt x="141361" y="227491"/>
                </a:lnTo>
                <a:lnTo>
                  <a:pt x="145954" y="221188"/>
                </a:lnTo>
                <a:lnTo>
                  <a:pt x="138579" y="218824"/>
                </a:lnTo>
                <a:lnTo>
                  <a:pt x="131933" y="216487"/>
                </a:lnTo>
                <a:lnTo>
                  <a:pt x="126016" y="214175"/>
                </a:lnTo>
                <a:lnTo>
                  <a:pt x="114362" y="208997"/>
                </a:lnTo>
                <a:lnTo>
                  <a:pt x="112053" y="203404"/>
                </a:lnTo>
                <a:lnTo>
                  <a:pt x="117181" y="180385"/>
                </a:lnTo>
                <a:lnTo>
                  <a:pt x="122431" y="177638"/>
                </a:lnTo>
                <a:lnTo>
                  <a:pt x="181717" y="177638"/>
                </a:lnTo>
                <a:lnTo>
                  <a:pt x="183349" y="170314"/>
                </a:lnTo>
                <a:lnTo>
                  <a:pt x="167535" y="170314"/>
                </a:lnTo>
                <a:lnTo>
                  <a:pt x="133355" y="162699"/>
                </a:lnTo>
                <a:lnTo>
                  <a:pt x="121309" y="161692"/>
                </a:lnTo>
                <a:close/>
              </a:path>
              <a:path w="221614" h="236220">
                <a:moveTo>
                  <a:pt x="21275" y="57034"/>
                </a:moveTo>
                <a:lnTo>
                  <a:pt x="15200" y="84297"/>
                </a:lnTo>
                <a:lnTo>
                  <a:pt x="14356" y="94907"/>
                </a:lnTo>
                <a:lnTo>
                  <a:pt x="17063" y="103223"/>
                </a:lnTo>
                <a:lnTo>
                  <a:pt x="23321" y="109245"/>
                </a:lnTo>
                <a:lnTo>
                  <a:pt x="33130" y="112972"/>
                </a:lnTo>
                <a:lnTo>
                  <a:pt x="84228" y="124358"/>
                </a:lnTo>
                <a:lnTo>
                  <a:pt x="65034" y="210508"/>
                </a:lnTo>
                <a:lnTo>
                  <a:pt x="80100" y="213865"/>
                </a:lnTo>
                <a:lnTo>
                  <a:pt x="99294" y="127715"/>
                </a:lnTo>
                <a:lnTo>
                  <a:pt x="126690" y="127715"/>
                </a:lnTo>
                <a:lnTo>
                  <a:pt x="129225" y="116343"/>
                </a:lnTo>
                <a:lnTo>
                  <a:pt x="103124" y="110528"/>
                </a:lnTo>
                <a:lnTo>
                  <a:pt x="103872" y="107170"/>
                </a:lnTo>
                <a:lnTo>
                  <a:pt x="88059" y="107170"/>
                </a:lnTo>
                <a:lnTo>
                  <a:pt x="33489" y="95012"/>
                </a:lnTo>
                <a:lnTo>
                  <a:pt x="30128" y="90272"/>
                </a:lnTo>
                <a:lnTo>
                  <a:pt x="31822" y="82669"/>
                </a:lnTo>
                <a:lnTo>
                  <a:pt x="33257" y="76593"/>
                </a:lnTo>
                <a:lnTo>
                  <a:pt x="34940" y="70196"/>
                </a:lnTo>
                <a:lnTo>
                  <a:pt x="36697" y="64079"/>
                </a:lnTo>
                <a:lnTo>
                  <a:pt x="38703" y="57642"/>
                </a:lnTo>
                <a:lnTo>
                  <a:pt x="21275" y="57034"/>
                </a:lnTo>
                <a:close/>
              </a:path>
              <a:path w="221614" h="236220">
                <a:moveTo>
                  <a:pt x="53938" y="140773"/>
                </a:moveTo>
                <a:lnTo>
                  <a:pt x="41252" y="152967"/>
                </a:lnTo>
                <a:lnTo>
                  <a:pt x="28034" y="164988"/>
                </a:lnTo>
                <a:lnTo>
                  <a:pt x="14283" y="176836"/>
                </a:lnTo>
                <a:lnTo>
                  <a:pt x="0" y="188512"/>
                </a:lnTo>
                <a:lnTo>
                  <a:pt x="12595" y="203280"/>
                </a:lnTo>
                <a:lnTo>
                  <a:pt x="24347" y="192772"/>
                </a:lnTo>
                <a:lnTo>
                  <a:pt x="36913" y="181056"/>
                </a:lnTo>
                <a:lnTo>
                  <a:pt x="50291" y="168131"/>
                </a:lnTo>
                <a:lnTo>
                  <a:pt x="64484" y="153997"/>
                </a:lnTo>
                <a:lnTo>
                  <a:pt x="53938" y="140773"/>
                </a:lnTo>
                <a:close/>
              </a:path>
              <a:path w="221614" h="236220">
                <a:moveTo>
                  <a:pt x="181717" y="177638"/>
                </a:moveTo>
                <a:lnTo>
                  <a:pt x="122431" y="177638"/>
                </a:lnTo>
                <a:lnTo>
                  <a:pt x="178913" y="190223"/>
                </a:lnTo>
                <a:lnTo>
                  <a:pt x="181717" y="177638"/>
                </a:lnTo>
                <a:close/>
              </a:path>
              <a:path w="221614" h="236220">
                <a:moveTo>
                  <a:pt x="146248" y="23694"/>
                </a:moveTo>
                <a:lnTo>
                  <a:pt x="141338" y="26080"/>
                </a:lnTo>
                <a:lnTo>
                  <a:pt x="135595" y="28281"/>
                </a:lnTo>
                <a:lnTo>
                  <a:pt x="129019" y="30295"/>
                </a:lnTo>
                <a:lnTo>
                  <a:pt x="135304" y="60203"/>
                </a:lnTo>
                <a:lnTo>
                  <a:pt x="145952" y="83934"/>
                </a:lnTo>
                <a:lnTo>
                  <a:pt x="160963" y="101487"/>
                </a:lnTo>
                <a:lnTo>
                  <a:pt x="180336" y="112863"/>
                </a:lnTo>
                <a:lnTo>
                  <a:pt x="167535" y="170314"/>
                </a:lnTo>
                <a:lnTo>
                  <a:pt x="183349" y="170314"/>
                </a:lnTo>
                <a:lnTo>
                  <a:pt x="195177" y="117228"/>
                </a:lnTo>
                <a:lnTo>
                  <a:pt x="219009" y="117228"/>
                </a:lnTo>
                <a:lnTo>
                  <a:pt x="221432" y="106352"/>
                </a:lnTo>
                <a:lnTo>
                  <a:pt x="212968" y="104467"/>
                </a:lnTo>
                <a:lnTo>
                  <a:pt x="205446" y="102575"/>
                </a:lnTo>
                <a:lnTo>
                  <a:pt x="198864" y="100677"/>
                </a:lnTo>
                <a:lnTo>
                  <a:pt x="199978" y="95676"/>
                </a:lnTo>
                <a:lnTo>
                  <a:pt x="184165" y="95676"/>
                </a:lnTo>
                <a:lnTo>
                  <a:pt x="169393" y="85564"/>
                </a:lnTo>
                <a:lnTo>
                  <a:pt x="158150" y="70196"/>
                </a:lnTo>
                <a:lnTo>
                  <a:pt x="150435" y="49573"/>
                </a:lnTo>
                <a:lnTo>
                  <a:pt x="146248" y="23694"/>
                </a:lnTo>
                <a:close/>
              </a:path>
              <a:path w="221614" h="236220">
                <a:moveTo>
                  <a:pt x="126690" y="127715"/>
                </a:moveTo>
                <a:lnTo>
                  <a:pt x="99294" y="127715"/>
                </a:lnTo>
                <a:lnTo>
                  <a:pt x="125394" y="133530"/>
                </a:lnTo>
                <a:lnTo>
                  <a:pt x="126690" y="127715"/>
                </a:lnTo>
                <a:close/>
              </a:path>
              <a:path w="221614" h="236220">
                <a:moveTo>
                  <a:pt x="219009" y="117228"/>
                </a:moveTo>
                <a:lnTo>
                  <a:pt x="195177" y="117228"/>
                </a:lnTo>
                <a:lnTo>
                  <a:pt x="201773" y="119059"/>
                </a:lnTo>
                <a:lnTo>
                  <a:pt x="209302" y="120919"/>
                </a:lnTo>
                <a:lnTo>
                  <a:pt x="217766" y="122803"/>
                </a:lnTo>
                <a:lnTo>
                  <a:pt x="219009" y="117228"/>
                </a:lnTo>
                <a:close/>
              </a:path>
              <a:path w="221614" h="236220">
                <a:moveTo>
                  <a:pt x="108530" y="15290"/>
                </a:moveTo>
                <a:lnTo>
                  <a:pt x="88059" y="107170"/>
                </a:lnTo>
                <a:lnTo>
                  <a:pt x="103872" y="107170"/>
                </a:lnTo>
                <a:lnTo>
                  <a:pt x="123596" y="18647"/>
                </a:lnTo>
                <a:lnTo>
                  <a:pt x="108530" y="15290"/>
                </a:lnTo>
                <a:close/>
              </a:path>
              <a:path w="221614" h="236220">
                <a:moveTo>
                  <a:pt x="195477" y="44908"/>
                </a:moveTo>
                <a:lnTo>
                  <a:pt x="184165" y="95676"/>
                </a:lnTo>
                <a:lnTo>
                  <a:pt x="199978" y="95676"/>
                </a:lnTo>
                <a:lnTo>
                  <a:pt x="210541" y="48266"/>
                </a:lnTo>
                <a:lnTo>
                  <a:pt x="195477" y="44908"/>
                </a:lnTo>
                <a:close/>
              </a:path>
              <a:path w="221614" h="236220">
                <a:moveTo>
                  <a:pt x="53892" y="0"/>
                </a:moveTo>
                <a:lnTo>
                  <a:pt x="48723" y="3051"/>
                </a:lnTo>
                <a:lnTo>
                  <a:pt x="43423" y="5712"/>
                </a:lnTo>
                <a:lnTo>
                  <a:pt x="37994" y="7983"/>
                </a:lnTo>
                <a:lnTo>
                  <a:pt x="45998" y="25051"/>
                </a:lnTo>
                <a:lnTo>
                  <a:pt x="54445" y="41838"/>
                </a:lnTo>
                <a:lnTo>
                  <a:pt x="63335" y="58342"/>
                </a:lnTo>
                <a:lnTo>
                  <a:pt x="72668" y="74564"/>
                </a:lnTo>
                <a:lnTo>
                  <a:pt x="86939" y="64213"/>
                </a:lnTo>
                <a:lnTo>
                  <a:pt x="77521" y="48596"/>
                </a:lnTo>
                <a:lnTo>
                  <a:pt x="68874" y="32688"/>
                </a:lnTo>
                <a:lnTo>
                  <a:pt x="60997" y="16489"/>
                </a:lnTo>
                <a:lnTo>
                  <a:pt x="53892" y="0"/>
                </a:lnTo>
                <a:close/>
              </a:path>
            </a:pathLst>
          </a:custGeom>
          <a:solidFill>
            <a:srgbClr val="FFFFFF"/>
          </a:solidFill>
        </p:spPr>
        <p:txBody>
          <a:bodyPr wrap="square" lIns="0" tIns="0" rIns="0" bIns="0" rtlCol="0"/>
          <a:lstStyle/>
          <a:p>
            <a:endParaRPr/>
          </a:p>
        </p:txBody>
      </p:sp>
      <p:sp>
        <p:nvSpPr>
          <p:cNvPr id="11" name="object 11"/>
          <p:cNvSpPr/>
          <p:nvPr/>
        </p:nvSpPr>
        <p:spPr>
          <a:xfrm>
            <a:off x="3756130" y="4559037"/>
            <a:ext cx="258445" cy="227329"/>
          </a:xfrm>
          <a:custGeom>
            <a:avLst/>
            <a:gdLst/>
            <a:ahLst/>
            <a:cxnLst/>
            <a:rect l="l" t="t" r="r" b="b"/>
            <a:pathLst>
              <a:path w="258445" h="227329">
                <a:moveTo>
                  <a:pt x="144399" y="148418"/>
                </a:moveTo>
                <a:lnTo>
                  <a:pt x="104818" y="148418"/>
                </a:lnTo>
                <a:lnTo>
                  <a:pt x="151373" y="170489"/>
                </a:lnTo>
                <a:lnTo>
                  <a:pt x="127533" y="220778"/>
                </a:lnTo>
                <a:lnTo>
                  <a:pt x="140891" y="227111"/>
                </a:lnTo>
                <a:lnTo>
                  <a:pt x="164731" y="176823"/>
                </a:lnTo>
                <a:lnTo>
                  <a:pt x="204315" y="176823"/>
                </a:lnTo>
                <a:lnTo>
                  <a:pt x="171994" y="161500"/>
                </a:lnTo>
                <a:lnTo>
                  <a:pt x="174996" y="155168"/>
                </a:lnTo>
                <a:lnTo>
                  <a:pt x="158638" y="155168"/>
                </a:lnTo>
                <a:lnTo>
                  <a:pt x="144399" y="148418"/>
                </a:lnTo>
                <a:close/>
              </a:path>
              <a:path w="258445" h="227329">
                <a:moveTo>
                  <a:pt x="204315" y="176823"/>
                </a:moveTo>
                <a:lnTo>
                  <a:pt x="164731" y="176823"/>
                </a:lnTo>
                <a:lnTo>
                  <a:pt x="206965" y="196846"/>
                </a:lnTo>
                <a:lnTo>
                  <a:pt x="214229" y="181523"/>
                </a:lnTo>
                <a:lnTo>
                  <a:pt x="204315" y="176823"/>
                </a:lnTo>
                <a:close/>
              </a:path>
              <a:path w="258445" h="227329">
                <a:moveTo>
                  <a:pt x="79577" y="117687"/>
                </a:moveTo>
                <a:lnTo>
                  <a:pt x="39992" y="117687"/>
                </a:lnTo>
                <a:lnTo>
                  <a:pt x="91459" y="142086"/>
                </a:lnTo>
                <a:lnTo>
                  <a:pt x="69481" y="188446"/>
                </a:lnTo>
                <a:lnTo>
                  <a:pt x="82839" y="194778"/>
                </a:lnTo>
                <a:lnTo>
                  <a:pt x="104818" y="148418"/>
                </a:lnTo>
                <a:lnTo>
                  <a:pt x="144399" y="148418"/>
                </a:lnTo>
                <a:lnTo>
                  <a:pt x="112081" y="133097"/>
                </a:lnTo>
                <a:lnTo>
                  <a:pt x="115083" y="126763"/>
                </a:lnTo>
                <a:lnTo>
                  <a:pt x="98723" y="126763"/>
                </a:lnTo>
                <a:lnTo>
                  <a:pt x="79577" y="117687"/>
                </a:lnTo>
                <a:close/>
              </a:path>
              <a:path w="258445" h="227329">
                <a:moveTo>
                  <a:pt x="63234" y="34152"/>
                </a:moveTo>
                <a:lnTo>
                  <a:pt x="0" y="167535"/>
                </a:lnTo>
                <a:lnTo>
                  <a:pt x="13357" y="173868"/>
                </a:lnTo>
                <a:lnTo>
                  <a:pt x="39992" y="117687"/>
                </a:lnTo>
                <a:lnTo>
                  <a:pt x="79577" y="117687"/>
                </a:lnTo>
                <a:lnTo>
                  <a:pt x="47256" y="102364"/>
                </a:lnTo>
                <a:lnTo>
                  <a:pt x="76592" y="40486"/>
                </a:lnTo>
                <a:lnTo>
                  <a:pt x="63234" y="34152"/>
                </a:lnTo>
                <a:close/>
              </a:path>
              <a:path w="258445" h="227329">
                <a:moveTo>
                  <a:pt x="210048" y="135567"/>
                </a:moveTo>
                <a:lnTo>
                  <a:pt x="184289" y="135567"/>
                </a:lnTo>
                <a:lnTo>
                  <a:pt x="189762" y="140773"/>
                </a:lnTo>
                <a:lnTo>
                  <a:pt x="195352" y="145858"/>
                </a:lnTo>
                <a:lnTo>
                  <a:pt x="201058" y="150822"/>
                </a:lnTo>
                <a:lnTo>
                  <a:pt x="206881" y="155665"/>
                </a:lnTo>
                <a:lnTo>
                  <a:pt x="218172" y="142251"/>
                </a:lnTo>
                <a:lnTo>
                  <a:pt x="210048" y="135567"/>
                </a:lnTo>
                <a:close/>
              </a:path>
              <a:path w="258445" h="227329">
                <a:moveTo>
                  <a:pt x="159711" y="81815"/>
                </a:moveTo>
                <a:lnTo>
                  <a:pt x="156843" y="84232"/>
                </a:lnTo>
                <a:lnTo>
                  <a:pt x="151835" y="87156"/>
                </a:lnTo>
                <a:lnTo>
                  <a:pt x="144763" y="90548"/>
                </a:lnTo>
                <a:lnTo>
                  <a:pt x="151655" y="99389"/>
                </a:lnTo>
                <a:lnTo>
                  <a:pt x="158708" y="107953"/>
                </a:lnTo>
                <a:lnTo>
                  <a:pt x="165920" y="116241"/>
                </a:lnTo>
                <a:lnTo>
                  <a:pt x="173294" y="124252"/>
                </a:lnTo>
                <a:lnTo>
                  <a:pt x="158638" y="155168"/>
                </a:lnTo>
                <a:lnTo>
                  <a:pt x="174996" y="155168"/>
                </a:lnTo>
                <a:lnTo>
                  <a:pt x="184289" y="135567"/>
                </a:lnTo>
                <a:lnTo>
                  <a:pt x="210048" y="135567"/>
                </a:lnTo>
                <a:lnTo>
                  <a:pt x="202250" y="129152"/>
                </a:lnTo>
                <a:lnTo>
                  <a:pt x="187200" y="114713"/>
                </a:lnTo>
                <a:lnTo>
                  <a:pt x="173020" y="98934"/>
                </a:lnTo>
                <a:lnTo>
                  <a:pt x="159711" y="81815"/>
                </a:lnTo>
                <a:close/>
              </a:path>
              <a:path w="258445" h="227329">
                <a:moveTo>
                  <a:pt x="122099" y="77457"/>
                </a:moveTo>
                <a:lnTo>
                  <a:pt x="98723" y="126763"/>
                </a:lnTo>
                <a:lnTo>
                  <a:pt x="115083" y="126763"/>
                </a:lnTo>
                <a:lnTo>
                  <a:pt x="135456" y="83790"/>
                </a:lnTo>
                <a:lnTo>
                  <a:pt x="122099" y="77457"/>
                </a:lnTo>
                <a:close/>
              </a:path>
              <a:path w="258445" h="227329">
                <a:moveTo>
                  <a:pt x="252679" y="87156"/>
                </a:moveTo>
                <a:lnTo>
                  <a:pt x="214113" y="87156"/>
                </a:lnTo>
                <a:lnTo>
                  <a:pt x="250932" y="104612"/>
                </a:lnTo>
                <a:lnTo>
                  <a:pt x="258010" y="89683"/>
                </a:lnTo>
                <a:lnTo>
                  <a:pt x="252679" y="87156"/>
                </a:lnTo>
                <a:close/>
              </a:path>
              <a:path w="258445" h="227329">
                <a:moveTo>
                  <a:pt x="68839" y="0"/>
                </a:moveTo>
                <a:lnTo>
                  <a:pt x="61761" y="14930"/>
                </a:lnTo>
                <a:lnTo>
                  <a:pt x="207150" y="83856"/>
                </a:lnTo>
                <a:lnTo>
                  <a:pt x="199905" y="84466"/>
                </a:lnTo>
                <a:lnTo>
                  <a:pt x="192252" y="84882"/>
                </a:lnTo>
                <a:lnTo>
                  <a:pt x="184190" y="85105"/>
                </a:lnTo>
                <a:lnTo>
                  <a:pt x="175719" y="85134"/>
                </a:lnTo>
                <a:lnTo>
                  <a:pt x="177772" y="100723"/>
                </a:lnTo>
                <a:lnTo>
                  <a:pt x="186425" y="100291"/>
                </a:lnTo>
                <a:lnTo>
                  <a:pt x="195486" y="99615"/>
                </a:lnTo>
                <a:lnTo>
                  <a:pt x="204955" y="98695"/>
                </a:lnTo>
                <a:lnTo>
                  <a:pt x="214833" y="97530"/>
                </a:lnTo>
                <a:lnTo>
                  <a:pt x="214113" y="87156"/>
                </a:lnTo>
                <a:lnTo>
                  <a:pt x="252679" y="87156"/>
                </a:lnTo>
                <a:lnTo>
                  <a:pt x="68839" y="0"/>
                </a:lnTo>
                <a:close/>
              </a:path>
              <a:path w="258445" h="227329">
                <a:moveTo>
                  <a:pt x="179307" y="17967"/>
                </a:moveTo>
                <a:lnTo>
                  <a:pt x="175586" y="22842"/>
                </a:lnTo>
                <a:lnTo>
                  <a:pt x="172260" y="26718"/>
                </a:lnTo>
                <a:lnTo>
                  <a:pt x="169329" y="29596"/>
                </a:lnTo>
                <a:lnTo>
                  <a:pt x="180884" y="38641"/>
                </a:lnTo>
                <a:lnTo>
                  <a:pt x="192238" y="47177"/>
                </a:lnTo>
                <a:lnTo>
                  <a:pt x="203389" y="55204"/>
                </a:lnTo>
                <a:lnTo>
                  <a:pt x="214339" y="62724"/>
                </a:lnTo>
                <a:lnTo>
                  <a:pt x="223081" y="51711"/>
                </a:lnTo>
                <a:lnTo>
                  <a:pt x="210748" y="42937"/>
                </a:lnTo>
                <a:lnTo>
                  <a:pt x="199341" y="34388"/>
                </a:lnTo>
                <a:lnTo>
                  <a:pt x="188860" y="26065"/>
                </a:lnTo>
                <a:lnTo>
                  <a:pt x="179307" y="17967"/>
                </a:lnTo>
                <a:close/>
              </a:path>
            </a:pathLst>
          </a:custGeom>
          <a:solidFill>
            <a:srgbClr val="FFFFFF"/>
          </a:solidFill>
        </p:spPr>
        <p:txBody>
          <a:bodyPr wrap="square" lIns="0" tIns="0" rIns="0" bIns="0" rtlCol="0"/>
          <a:lstStyle/>
          <a:p>
            <a:endParaRPr/>
          </a:p>
        </p:txBody>
      </p:sp>
      <p:sp>
        <p:nvSpPr>
          <p:cNvPr id="12" name="object 12"/>
          <p:cNvSpPr txBox="1"/>
          <p:nvPr/>
        </p:nvSpPr>
        <p:spPr>
          <a:xfrm>
            <a:off x="2646238" y="3877758"/>
            <a:ext cx="635000" cy="746760"/>
          </a:xfrm>
          <a:prstGeom prst="rect">
            <a:avLst/>
          </a:prstGeom>
        </p:spPr>
        <p:txBody>
          <a:bodyPr vert="horz" wrap="square" lIns="0" tIns="33019" rIns="0" bIns="0" rtlCol="0">
            <a:spAutoFit/>
          </a:bodyPr>
          <a:lstStyle/>
          <a:p>
            <a:pPr marL="12700" marR="5080">
              <a:lnSpc>
                <a:spcPts val="2800"/>
              </a:lnSpc>
              <a:spcBef>
                <a:spcPts val="260"/>
              </a:spcBef>
            </a:pPr>
            <a:r>
              <a:rPr sz="2400" dirty="0">
                <a:latin typeface="微软雅黑" panose="020B0503020204020204" pitchFamily="34" charset="-122"/>
                <a:cs typeface="微软雅黑" panose="020B0503020204020204" pitchFamily="34" charset="-122"/>
              </a:rPr>
              <a:t>程序 性能</a:t>
            </a:r>
            <a:endParaRPr sz="2400">
              <a:latin typeface="微软雅黑" panose="020B0503020204020204" pitchFamily="34" charset="-122"/>
              <a:cs typeface="微软雅黑" panose="020B0503020204020204" pitchFamily="34" charset="-122"/>
            </a:endParaRPr>
          </a:p>
        </p:txBody>
      </p:sp>
      <p:sp>
        <p:nvSpPr>
          <p:cNvPr id="13" name="object 13"/>
          <p:cNvSpPr/>
          <p:nvPr/>
        </p:nvSpPr>
        <p:spPr>
          <a:xfrm>
            <a:off x="1906918" y="4589057"/>
            <a:ext cx="251460" cy="227329"/>
          </a:xfrm>
          <a:custGeom>
            <a:avLst/>
            <a:gdLst/>
            <a:ahLst/>
            <a:cxnLst/>
            <a:rect l="l" t="t" r="r" b="b"/>
            <a:pathLst>
              <a:path w="251460" h="227329">
                <a:moveTo>
                  <a:pt x="219014" y="88342"/>
                </a:moveTo>
                <a:lnTo>
                  <a:pt x="59129" y="159081"/>
                </a:lnTo>
                <a:lnTo>
                  <a:pt x="89129" y="226887"/>
                </a:lnTo>
                <a:lnTo>
                  <a:pt x="139141" y="204759"/>
                </a:lnTo>
                <a:lnTo>
                  <a:pt x="96850" y="204759"/>
                </a:lnTo>
                <a:lnTo>
                  <a:pt x="80697" y="168249"/>
                </a:lnTo>
                <a:lnTo>
                  <a:pt x="130247" y="146327"/>
                </a:lnTo>
                <a:lnTo>
                  <a:pt x="147278" y="146327"/>
                </a:lnTo>
                <a:lnTo>
                  <a:pt x="144490" y="140025"/>
                </a:lnTo>
                <a:lnTo>
                  <a:pt x="195042" y="117658"/>
                </a:lnTo>
                <a:lnTo>
                  <a:pt x="212553" y="117658"/>
                </a:lnTo>
                <a:lnTo>
                  <a:pt x="209687" y="111179"/>
                </a:lnTo>
                <a:lnTo>
                  <a:pt x="225936" y="103990"/>
                </a:lnTo>
                <a:lnTo>
                  <a:pt x="219014" y="88342"/>
                </a:lnTo>
                <a:close/>
              </a:path>
              <a:path w="251460" h="227329">
                <a:moveTo>
                  <a:pt x="147278" y="146327"/>
                </a:moveTo>
                <a:lnTo>
                  <a:pt x="130247" y="146327"/>
                </a:lnTo>
                <a:lnTo>
                  <a:pt x="146400" y="182837"/>
                </a:lnTo>
                <a:lnTo>
                  <a:pt x="96850" y="204759"/>
                </a:lnTo>
                <a:lnTo>
                  <a:pt x="139141" y="204759"/>
                </a:lnTo>
                <a:lnTo>
                  <a:pt x="202933" y="176535"/>
                </a:lnTo>
                <a:lnTo>
                  <a:pt x="160643" y="176535"/>
                </a:lnTo>
                <a:lnTo>
                  <a:pt x="147278" y="146327"/>
                </a:lnTo>
                <a:close/>
              </a:path>
              <a:path w="251460" h="227329">
                <a:moveTo>
                  <a:pt x="212553" y="117658"/>
                </a:moveTo>
                <a:lnTo>
                  <a:pt x="195042" y="117658"/>
                </a:lnTo>
                <a:lnTo>
                  <a:pt x="211197" y="154169"/>
                </a:lnTo>
                <a:lnTo>
                  <a:pt x="160643" y="176535"/>
                </a:lnTo>
                <a:lnTo>
                  <a:pt x="202933" y="176535"/>
                </a:lnTo>
                <a:lnTo>
                  <a:pt x="251420" y="155082"/>
                </a:lnTo>
                <a:lnTo>
                  <a:pt x="248149" y="147689"/>
                </a:lnTo>
                <a:lnTo>
                  <a:pt x="225841" y="147689"/>
                </a:lnTo>
                <a:lnTo>
                  <a:pt x="212553" y="117658"/>
                </a:lnTo>
                <a:close/>
              </a:path>
              <a:path w="251460" h="227329">
                <a:moveTo>
                  <a:pt x="244497" y="139436"/>
                </a:moveTo>
                <a:lnTo>
                  <a:pt x="225841" y="147689"/>
                </a:lnTo>
                <a:lnTo>
                  <a:pt x="248149" y="147689"/>
                </a:lnTo>
                <a:lnTo>
                  <a:pt x="244497" y="139436"/>
                </a:lnTo>
                <a:close/>
              </a:path>
              <a:path w="251460" h="227329">
                <a:moveTo>
                  <a:pt x="67764" y="72334"/>
                </a:moveTo>
                <a:lnTo>
                  <a:pt x="50255" y="72334"/>
                </a:lnTo>
                <a:lnTo>
                  <a:pt x="80963" y="141745"/>
                </a:lnTo>
                <a:lnTo>
                  <a:pt x="95608" y="135265"/>
                </a:lnTo>
                <a:lnTo>
                  <a:pt x="67764" y="72334"/>
                </a:lnTo>
                <a:close/>
              </a:path>
              <a:path w="251460" h="227329">
                <a:moveTo>
                  <a:pt x="139843" y="61242"/>
                </a:moveTo>
                <a:lnTo>
                  <a:pt x="132646" y="69895"/>
                </a:lnTo>
                <a:lnTo>
                  <a:pt x="124439" y="80157"/>
                </a:lnTo>
                <a:lnTo>
                  <a:pt x="115220" y="92028"/>
                </a:lnTo>
                <a:lnTo>
                  <a:pt x="104990" y="105508"/>
                </a:lnTo>
                <a:lnTo>
                  <a:pt x="118056" y="115979"/>
                </a:lnTo>
                <a:lnTo>
                  <a:pt x="128352" y="103306"/>
                </a:lnTo>
                <a:lnTo>
                  <a:pt x="137871" y="91981"/>
                </a:lnTo>
                <a:lnTo>
                  <a:pt x="146614" y="82003"/>
                </a:lnTo>
                <a:lnTo>
                  <a:pt x="154580" y="73373"/>
                </a:lnTo>
                <a:lnTo>
                  <a:pt x="147817" y="67972"/>
                </a:lnTo>
                <a:lnTo>
                  <a:pt x="142905" y="63928"/>
                </a:lnTo>
                <a:lnTo>
                  <a:pt x="139843" y="61242"/>
                </a:lnTo>
                <a:close/>
              </a:path>
              <a:path w="251460" h="227329">
                <a:moveTo>
                  <a:pt x="45638" y="22324"/>
                </a:moveTo>
                <a:lnTo>
                  <a:pt x="30994" y="28803"/>
                </a:lnTo>
                <a:lnTo>
                  <a:pt x="43331" y="56688"/>
                </a:lnTo>
                <a:lnTo>
                  <a:pt x="0" y="75858"/>
                </a:lnTo>
                <a:lnTo>
                  <a:pt x="6924" y="91506"/>
                </a:lnTo>
                <a:lnTo>
                  <a:pt x="50255" y="72334"/>
                </a:lnTo>
                <a:lnTo>
                  <a:pt x="67764" y="72334"/>
                </a:lnTo>
                <a:lnTo>
                  <a:pt x="64898" y="65856"/>
                </a:lnTo>
                <a:lnTo>
                  <a:pt x="100264" y="50208"/>
                </a:lnTo>
                <a:lnTo>
                  <a:pt x="57975" y="50208"/>
                </a:lnTo>
                <a:lnTo>
                  <a:pt x="45638" y="22324"/>
                </a:lnTo>
                <a:close/>
              </a:path>
              <a:path w="251460" h="227329">
                <a:moveTo>
                  <a:pt x="201656" y="18781"/>
                </a:moveTo>
                <a:lnTo>
                  <a:pt x="173605" y="18781"/>
                </a:lnTo>
                <a:lnTo>
                  <a:pt x="179086" y="19424"/>
                </a:lnTo>
                <a:lnTo>
                  <a:pt x="183586" y="22546"/>
                </a:lnTo>
                <a:lnTo>
                  <a:pt x="199682" y="60914"/>
                </a:lnTo>
                <a:lnTo>
                  <a:pt x="205389" y="56675"/>
                </a:lnTo>
                <a:lnTo>
                  <a:pt x="210478" y="53176"/>
                </a:lnTo>
                <a:lnTo>
                  <a:pt x="214948" y="50419"/>
                </a:lnTo>
                <a:lnTo>
                  <a:pt x="210660" y="40015"/>
                </a:lnTo>
                <a:lnTo>
                  <a:pt x="206880" y="30963"/>
                </a:lnTo>
                <a:lnTo>
                  <a:pt x="203199" y="22324"/>
                </a:lnTo>
                <a:lnTo>
                  <a:pt x="201656" y="18781"/>
                </a:lnTo>
                <a:close/>
              </a:path>
              <a:path w="251460" h="227329">
                <a:moveTo>
                  <a:pt x="175682" y="0"/>
                </a:moveTo>
                <a:lnTo>
                  <a:pt x="163492" y="3523"/>
                </a:lnTo>
                <a:lnTo>
                  <a:pt x="57975" y="50208"/>
                </a:lnTo>
                <a:lnTo>
                  <a:pt x="100264" y="50208"/>
                </a:lnTo>
                <a:lnTo>
                  <a:pt x="167143" y="20618"/>
                </a:lnTo>
                <a:lnTo>
                  <a:pt x="173605" y="18781"/>
                </a:lnTo>
                <a:lnTo>
                  <a:pt x="201656" y="18781"/>
                </a:lnTo>
                <a:lnTo>
                  <a:pt x="200845" y="16918"/>
                </a:lnTo>
                <a:lnTo>
                  <a:pt x="194359" y="6697"/>
                </a:lnTo>
                <a:lnTo>
                  <a:pt x="185972" y="1058"/>
                </a:lnTo>
                <a:lnTo>
                  <a:pt x="175682" y="0"/>
                </a:lnTo>
                <a:close/>
              </a:path>
            </a:pathLst>
          </a:custGeom>
          <a:solidFill>
            <a:srgbClr val="FFFFFF"/>
          </a:solidFill>
        </p:spPr>
        <p:txBody>
          <a:bodyPr wrap="square" lIns="0" tIns="0" rIns="0" bIns="0" rtlCol="0"/>
          <a:lstStyle/>
          <a:p>
            <a:endParaRPr/>
          </a:p>
        </p:txBody>
      </p:sp>
      <p:sp>
        <p:nvSpPr>
          <p:cNvPr id="14" name="object 14"/>
          <p:cNvSpPr/>
          <p:nvPr/>
        </p:nvSpPr>
        <p:spPr>
          <a:xfrm>
            <a:off x="1856158" y="4368463"/>
            <a:ext cx="232410" cy="217804"/>
          </a:xfrm>
          <a:custGeom>
            <a:avLst/>
            <a:gdLst/>
            <a:ahLst/>
            <a:cxnLst/>
            <a:rect l="l" t="t" r="r" b="b"/>
            <a:pathLst>
              <a:path w="232410" h="217804">
                <a:moveTo>
                  <a:pt x="156764" y="54953"/>
                </a:moveTo>
                <a:lnTo>
                  <a:pt x="53306" y="76772"/>
                </a:lnTo>
                <a:lnTo>
                  <a:pt x="72048" y="165634"/>
                </a:lnTo>
                <a:lnTo>
                  <a:pt x="158902" y="147316"/>
                </a:lnTo>
                <a:lnTo>
                  <a:pt x="83430" y="147316"/>
                </a:lnTo>
                <a:lnTo>
                  <a:pt x="71117" y="88934"/>
                </a:lnTo>
                <a:lnTo>
                  <a:pt x="100737" y="82686"/>
                </a:lnTo>
                <a:lnTo>
                  <a:pt x="115982" y="82686"/>
                </a:lnTo>
                <a:lnTo>
                  <a:pt x="115333" y="79608"/>
                </a:lnTo>
                <a:lnTo>
                  <a:pt x="145383" y="73270"/>
                </a:lnTo>
                <a:lnTo>
                  <a:pt x="160628" y="73270"/>
                </a:lnTo>
                <a:lnTo>
                  <a:pt x="156764" y="54953"/>
                </a:lnTo>
                <a:close/>
              </a:path>
              <a:path w="232410" h="217804">
                <a:moveTo>
                  <a:pt x="177867" y="0"/>
                </a:moveTo>
                <a:lnTo>
                  <a:pt x="165922" y="560"/>
                </a:lnTo>
                <a:lnTo>
                  <a:pt x="0" y="35555"/>
                </a:lnTo>
                <a:lnTo>
                  <a:pt x="25577" y="156827"/>
                </a:lnTo>
                <a:lnTo>
                  <a:pt x="41245" y="153522"/>
                </a:lnTo>
                <a:lnTo>
                  <a:pt x="19109" y="48562"/>
                </a:lnTo>
                <a:lnTo>
                  <a:pt x="174533" y="15782"/>
                </a:lnTo>
                <a:lnTo>
                  <a:pt x="195462" y="15782"/>
                </a:lnTo>
                <a:lnTo>
                  <a:pt x="194229" y="12217"/>
                </a:lnTo>
                <a:lnTo>
                  <a:pt x="187302" y="3885"/>
                </a:lnTo>
                <a:lnTo>
                  <a:pt x="177867" y="0"/>
                </a:lnTo>
                <a:close/>
              </a:path>
              <a:path w="232410" h="217804">
                <a:moveTo>
                  <a:pt x="115982" y="82686"/>
                </a:moveTo>
                <a:lnTo>
                  <a:pt x="100737" y="82686"/>
                </a:lnTo>
                <a:lnTo>
                  <a:pt x="113051" y="141069"/>
                </a:lnTo>
                <a:lnTo>
                  <a:pt x="83430" y="147316"/>
                </a:lnTo>
                <a:lnTo>
                  <a:pt x="158902" y="147316"/>
                </a:lnTo>
                <a:lnTo>
                  <a:pt x="188600" y="141052"/>
                </a:lnTo>
                <a:lnTo>
                  <a:pt x="187954" y="137990"/>
                </a:lnTo>
                <a:lnTo>
                  <a:pt x="127646" y="137990"/>
                </a:lnTo>
                <a:lnTo>
                  <a:pt x="115982" y="82686"/>
                </a:lnTo>
                <a:close/>
              </a:path>
              <a:path w="232410" h="217804">
                <a:moveTo>
                  <a:pt x="160628" y="73270"/>
                </a:moveTo>
                <a:lnTo>
                  <a:pt x="145383" y="73270"/>
                </a:lnTo>
                <a:lnTo>
                  <a:pt x="157697" y="131653"/>
                </a:lnTo>
                <a:lnTo>
                  <a:pt x="127646" y="137990"/>
                </a:lnTo>
                <a:lnTo>
                  <a:pt x="187954" y="137990"/>
                </a:lnTo>
                <a:lnTo>
                  <a:pt x="185968" y="128574"/>
                </a:lnTo>
                <a:lnTo>
                  <a:pt x="172293" y="128574"/>
                </a:lnTo>
                <a:lnTo>
                  <a:pt x="160628" y="73270"/>
                </a:lnTo>
                <a:close/>
              </a:path>
              <a:path w="232410" h="217804">
                <a:moveTo>
                  <a:pt x="185385" y="125814"/>
                </a:moveTo>
                <a:lnTo>
                  <a:pt x="172293" y="128574"/>
                </a:lnTo>
                <a:lnTo>
                  <a:pt x="185968" y="128574"/>
                </a:lnTo>
                <a:lnTo>
                  <a:pt x="185385" y="125814"/>
                </a:lnTo>
                <a:close/>
              </a:path>
              <a:path w="232410" h="217804">
                <a:moveTo>
                  <a:pt x="195462" y="15782"/>
                </a:moveTo>
                <a:lnTo>
                  <a:pt x="174533" y="15782"/>
                </a:lnTo>
                <a:lnTo>
                  <a:pt x="180740" y="19958"/>
                </a:lnTo>
                <a:lnTo>
                  <a:pt x="182954" y="30459"/>
                </a:lnTo>
                <a:lnTo>
                  <a:pt x="184671" y="39075"/>
                </a:lnTo>
                <a:lnTo>
                  <a:pt x="186051" y="46699"/>
                </a:lnTo>
                <a:lnTo>
                  <a:pt x="187430" y="55183"/>
                </a:lnTo>
                <a:lnTo>
                  <a:pt x="188696" y="63911"/>
                </a:lnTo>
                <a:lnTo>
                  <a:pt x="195463" y="60730"/>
                </a:lnTo>
                <a:lnTo>
                  <a:pt x="200882" y="58418"/>
                </a:lnTo>
                <a:lnTo>
                  <a:pt x="204955" y="56976"/>
                </a:lnTo>
                <a:lnTo>
                  <a:pt x="203157" y="47547"/>
                </a:lnTo>
                <a:lnTo>
                  <a:pt x="201384" y="38458"/>
                </a:lnTo>
                <a:lnTo>
                  <a:pt x="200004" y="31557"/>
                </a:lnTo>
                <a:lnTo>
                  <a:pt x="198648" y="24996"/>
                </a:lnTo>
                <a:lnTo>
                  <a:pt x="195462" y="15782"/>
                </a:lnTo>
                <a:close/>
              </a:path>
              <a:path w="232410" h="217804">
                <a:moveTo>
                  <a:pt x="228445" y="166278"/>
                </a:moveTo>
                <a:lnTo>
                  <a:pt x="64244" y="200909"/>
                </a:lnTo>
                <a:lnTo>
                  <a:pt x="67684" y="217222"/>
                </a:lnTo>
                <a:lnTo>
                  <a:pt x="231885" y="182590"/>
                </a:lnTo>
                <a:lnTo>
                  <a:pt x="228445" y="166278"/>
                </a:lnTo>
                <a:close/>
              </a:path>
              <a:path w="232410" h="217804">
                <a:moveTo>
                  <a:pt x="44474" y="167415"/>
                </a:moveTo>
                <a:lnTo>
                  <a:pt x="38725" y="175869"/>
                </a:lnTo>
                <a:lnTo>
                  <a:pt x="32931" y="184633"/>
                </a:lnTo>
                <a:lnTo>
                  <a:pt x="27093" y="193707"/>
                </a:lnTo>
                <a:lnTo>
                  <a:pt x="21210" y="203092"/>
                </a:lnTo>
                <a:lnTo>
                  <a:pt x="34425" y="212802"/>
                </a:lnTo>
                <a:lnTo>
                  <a:pt x="40623" y="203742"/>
                </a:lnTo>
                <a:lnTo>
                  <a:pt x="46829" y="194982"/>
                </a:lnTo>
                <a:lnTo>
                  <a:pt x="53042" y="186522"/>
                </a:lnTo>
                <a:lnTo>
                  <a:pt x="59264" y="178364"/>
                </a:lnTo>
                <a:lnTo>
                  <a:pt x="44474" y="167415"/>
                </a:lnTo>
                <a:close/>
              </a:path>
            </a:pathLst>
          </a:custGeom>
          <a:solidFill>
            <a:srgbClr val="FFFFFF"/>
          </a:solidFill>
        </p:spPr>
        <p:txBody>
          <a:bodyPr wrap="square" lIns="0" tIns="0" rIns="0" bIns="0" rtlCol="0"/>
          <a:lstStyle/>
          <a:p>
            <a:endParaRPr/>
          </a:p>
        </p:txBody>
      </p:sp>
      <p:sp>
        <p:nvSpPr>
          <p:cNvPr id="15" name="object 15"/>
          <p:cNvSpPr/>
          <p:nvPr/>
        </p:nvSpPr>
        <p:spPr>
          <a:xfrm>
            <a:off x="1836195" y="4150056"/>
            <a:ext cx="213995" cy="214629"/>
          </a:xfrm>
          <a:custGeom>
            <a:avLst/>
            <a:gdLst/>
            <a:ahLst/>
            <a:cxnLst/>
            <a:rect l="l" t="t" r="r" b="b"/>
            <a:pathLst>
              <a:path w="213994" h="214629">
                <a:moveTo>
                  <a:pt x="0" y="145012"/>
                </a:moveTo>
                <a:lnTo>
                  <a:pt x="64" y="163713"/>
                </a:lnTo>
                <a:lnTo>
                  <a:pt x="17970" y="174342"/>
                </a:lnTo>
                <a:lnTo>
                  <a:pt x="34214" y="186286"/>
                </a:lnTo>
                <a:lnTo>
                  <a:pt x="48796" y="199544"/>
                </a:lnTo>
                <a:lnTo>
                  <a:pt x="61718" y="214116"/>
                </a:lnTo>
                <a:lnTo>
                  <a:pt x="66498" y="209957"/>
                </a:lnTo>
                <a:lnTo>
                  <a:pt x="70928" y="206658"/>
                </a:lnTo>
                <a:lnTo>
                  <a:pt x="75010" y="204217"/>
                </a:lnTo>
                <a:lnTo>
                  <a:pt x="69588" y="198382"/>
                </a:lnTo>
                <a:lnTo>
                  <a:pt x="63979" y="192682"/>
                </a:lnTo>
                <a:lnTo>
                  <a:pt x="58182" y="187116"/>
                </a:lnTo>
                <a:lnTo>
                  <a:pt x="52199" y="181683"/>
                </a:lnTo>
                <a:lnTo>
                  <a:pt x="127359" y="181422"/>
                </a:lnTo>
                <a:lnTo>
                  <a:pt x="127343" y="176734"/>
                </a:lnTo>
                <a:lnTo>
                  <a:pt x="46396" y="176734"/>
                </a:lnTo>
                <a:lnTo>
                  <a:pt x="41549" y="172608"/>
                </a:lnTo>
                <a:lnTo>
                  <a:pt x="36490" y="168625"/>
                </a:lnTo>
                <a:lnTo>
                  <a:pt x="31219" y="164787"/>
                </a:lnTo>
                <a:lnTo>
                  <a:pt x="31186" y="155536"/>
                </a:lnTo>
                <a:lnTo>
                  <a:pt x="17367" y="155536"/>
                </a:lnTo>
                <a:lnTo>
                  <a:pt x="11791" y="151919"/>
                </a:lnTo>
                <a:lnTo>
                  <a:pt x="6003" y="148412"/>
                </a:lnTo>
                <a:lnTo>
                  <a:pt x="0" y="145012"/>
                </a:lnTo>
                <a:close/>
              </a:path>
              <a:path w="213994" h="214629">
                <a:moveTo>
                  <a:pt x="124552" y="131197"/>
                </a:moveTo>
                <a:lnTo>
                  <a:pt x="124620" y="150555"/>
                </a:lnTo>
                <a:lnTo>
                  <a:pt x="138746" y="163453"/>
                </a:lnTo>
                <a:lnTo>
                  <a:pt x="151617" y="178280"/>
                </a:lnTo>
                <a:lnTo>
                  <a:pt x="163233" y="195039"/>
                </a:lnTo>
                <a:lnTo>
                  <a:pt x="173593" y="213728"/>
                </a:lnTo>
                <a:lnTo>
                  <a:pt x="177295" y="209859"/>
                </a:lnTo>
                <a:lnTo>
                  <a:pt x="181213" y="206348"/>
                </a:lnTo>
                <a:lnTo>
                  <a:pt x="185347" y="203191"/>
                </a:lnTo>
                <a:lnTo>
                  <a:pt x="178742" y="191449"/>
                </a:lnTo>
                <a:lnTo>
                  <a:pt x="171433" y="180249"/>
                </a:lnTo>
                <a:lnTo>
                  <a:pt x="163326" y="169444"/>
                </a:lnTo>
                <a:lnTo>
                  <a:pt x="154452" y="159082"/>
                </a:lnTo>
                <a:lnTo>
                  <a:pt x="161777" y="150437"/>
                </a:lnTo>
                <a:lnTo>
                  <a:pt x="164082" y="147213"/>
                </a:lnTo>
                <a:lnTo>
                  <a:pt x="148518" y="147213"/>
                </a:lnTo>
                <a:lnTo>
                  <a:pt x="148496" y="140864"/>
                </a:lnTo>
                <a:lnTo>
                  <a:pt x="135992" y="140864"/>
                </a:lnTo>
                <a:lnTo>
                  <a:pt x="132321" y="137571"/>
                </a:lnTo>
                <a:lnTo>
                  <a:pt x="128507" y="134348"/>
                </a:lnTo>
                <a:lnTo>
                  <a:pt x="124552" y="131197"/>
                </a:lnTo>
                <a:close/>
              </a:path>
              <a:path w="213994" h="214629">
                <a:moveTo>
                  <a:pt x="195355" y="118654"/>
                </a:moveTo>
                <a:lnTo>
                  <a:pt x="181074" y="118654"/>
                </a:lnTo>
                <a:lnTo>
                  <a:pt x="185498" y="134959"/>
                </a:lnTo>
                <a:lnTo>
                  <a:pt x="189961" y="154178"/>
                </a:lnTo>
                <a:lnTo>
                  <a:pt x="194537" y="176734"/>
                </a:lnTo>
                <a:lnTo>
                  <a:pt x="198997" y="201354"/>
                </a:lnTo>
                <a:lnTo>
                  <a:pt x="203932" y="197479"/>
                </a:lnTo>
                <a:lnTo>
                  <a:pt x="208729" y="194179"/>
                </a:lnTo>
                <a:lnTo>
                  <a:pt x="213385" y="191449"/>
                </a:lnTo>
                <a:lnTo>
                  <a:pt x="207793" y="165462"/>
                </a:lnTo>
                <a:lnTo>
                  <a:pt x="201872" y="141468"/>
                </a:lnTo>
                <a:lnTo>
                  <a:pt x="195621" y="119466"/>
                </a:lnTo>
                <a:lnTo>
                  <a:pt x="195355" y="118654"/>
                </a:lnTo>
                <a:close/>
              </a:path>
              <a:path w="213994" h="214629">
                <a:moveTo>
                  <a:pt x="124623" y="25681"/>
                </a:moveTo>
                <a:lnTo>
                  <a:pt x="45872" y="25956"/>
                </a:lnTo>
                <a:lnTo>
                  <a:pt x="46396" y="176734"/>
                </a:lnTo>
                <a:lnTo>
                  <a:pt x="127343" y="176734"/>
                </a:lnTo>
                <a:lnTo>
                  <a:pt x="127308" y="166740"/>
                </a:lnTo>
                <a:lnTo>
                  <a:pt x="59743" y="166740"/>
                </a:lnTo>
                <a:lnTo>
                  <a:pt x="59305" y="40826"/>
                </a:lnTo>
                <a:lnTo>
                  <a:pt x="88699" y="40768"/>
                </a:lnTo>
                <a:lnTo>
                  <a:pt x="119192" y="40664"/>
                </a:lnTo>
                <a:lnTo>
                  <a:pt x="124675" y="40599"/>
                </a:lnTo>
                <a:lnTo>
                  <a:pt x="124623" y="25681"/>
                </a:lnTo>
                <a:close/>
              </a:path>
              <a:path w="213994" h="214629">
                <a:moveTo>
                  <a:pt x="88699" y="40768"/>
                </a:moveTo>
                <a:lnTo>
                  <a:pt x="75976" y="40768"/>
                </a:lnTo>
                <a:lnTo>
                  <a:pt x="76414" y="166682"/>
                </a:lnTo>
                <a:lnTo>
                  <a:pt x="59743" y="166740"/>
                </a:lnTo>
                <a:lnTo>
                  <a:pt x="127308" y="166740"/>
                </a:lnTo>
                <a:lnTo>
                  <a:pt x="89138" y="166639"/>
                </a:lnTo>
                <a:lnTo>
                  <a:pt x="88699" y="40768"/>
                </a:lnTo>
                <a:close/>
              </a:path>
              <a:path w="213994" h="214629">
                <a:moveTo>
                  <a:pt x="119192" y="40664"/>
                </a:moveTo>
                <a:lnTo>
                  <a:pt x="105810" y="40664"/>
                </a:lnTo>
                <a:lnTo>
                  <a:pt x="106248" y="166579"/>
                </a:lnTo>
                <a:lnTo>
                  <a:pt x="89138" y="166639"/>
                </a:lnTo>
                <a:lnTo>
                  <a:pt x="127307" y="166639"/>
                </a:lnTo>
                <a:lnTo>
                  <a:pt x="119630" y="166532"/>
                </a:lnTo>
                <a:lnTo>
                  <a:pt x="119192" y="40664"/>
                </a:lnTo>
                <a:close/>
              </a:path>
              <a:path w="213994" h="214629">
                <a:moveTo>
                  <a:pt x="127307" y="166505"/>
                </a:moveTo>
                <a:lnTo>
                  <a:pt x="119630" y="166532"/>
                </a:lnTo>
                <a:lnTo>
                  <a:pt x="127307" y="166532"/>
                </a:lnTo>
                <a:close/>
              </a:path>
              <a:path w="213994" h="214629">
                <a:moveTo>
                  <a:pt x="30661" y="4511"/>
                </a:moveTo>
                <a:lnTo>
                  <a:pt x="16841" y="4559"/>
                </a:lnTo>
                <a:lnTo>
                  <a:pt x="17367" y="155536"/>
                </a:lnTo>
                <a:lnTo>
                  <a:pt x="31186" y="155536"/>
                </a:lnTo>
                <a:lnTo>
                  <a:pt x="30661" y="4511"/>
                </a:lnTo>
                <a:close/>
              </a:path>
              <a:path w="213994" h="214629">
                <a:moveTo>
                  <a:pt x="165593" y="49795"/>
                </a:moveTo>
                <a:lnTo>
                  <a:pt x="148179" y="49795"/>
                </a:lnTo>
                <a:lnTo>
                  <a:pt x="155244" y="60204"/>
                </a:lnTo>
                <a:lnTo>
                  <a:pt x="161963" y="71886"/>
                </a:lnTo>
                <a:lnTo>
                  <a:pt x="168337" y="84841"/>
                </a:lnTo>
                <a:lnTo>
                  <a:pt x="174367" y="99068"/>
                </a:lnTo>
                <a:lnTo>
                  <a:pt x="168919" y="113088"/>
                </a:lnTo>
                <a:lnTo>
                  <a:pt x="162796" y="125785"/>
                </a:lnTo>
                <a:lnTo>
                  <a:pt x="155995" y="137160"/>
                </a:lnTo>
                <a:lnTo>
                  <a:pt x="148518" y="147213"/>
                </a:lnTo>
                <a:lnTo>
                  <a:pt x="164082" y="147213"/>
                </a:lnTo>
                <a:lnTo>
                  <a:pt x="168656" y="140817"/>
                </a:lnTo>
                <a:lnTo>
                  <a:pt x="175088" y="130223"/>
                </a:lnTo>
                <a:lnTo>
                  <a:pt x="181074" y="118654"/>
                </a:lnTo>
                <a:lnTo>
                  <a:pt x="195355" y="118654"/>
                </a:lnTo>
                <a:lnTo>
                  <a:pt x="189042" y="99456"/>
                </a:lnTo>
                <a:lnTo>
                  <a:pt x="195590" y="79879"/>
                </a:lnTo>
                <a:lnTo>
                  <a:pt x="196048" y="78159"/>
                </a:lnTo>
                <a:lnTo>
                  <a:pt x="180610" y="78159"/>
                </a:lnTo>
                <a:lnTo>
                  <a:pt x="173050" y="62740"/>
                </a:lnTo>
                <a:lnTo>
                  <a:pt x="165593" y="49795"/>
                </a:lnTo>
                <a:close/>
              </a:path>
              <a:path w="213994" h="214629">
                <a:moveTo>
                  <a:pt x="147435" y="25163"/>
                </a:moveTo>
                <a:lnTo>
                  <a:pt x="135590" y="25205"/>
                </a:lnTo>
                <a:lnTo>
                  <a:pt x="135992" y="140864"/>
                </a:lnTo>
                <a:lnTo>
                  <a:pt x="148496" y="140864"/>
                </a:lnTo>
                <a:lnTo>
                  <a:pt x="148179" y="49795"/>
                </a:lnTo>
                <a:lnTo>
                  <a:pt x="165593" y="49795"/>
                </a:lnTo>
                <a:lnTo>
                  <a:pt x="165001" y="48767"/>
                </a:lnTo>
                <a:lnTo>
                  <a:pt x="156462" y="36242"/>
                </a:lnTo>
                <a:lnTo>
                  <a:pt x="147435" y="25163"/>
                </a:lnTo>
                <a:close/>
              </a:path>
              <a:path w="213994" h="214629">
                <a:moveTo>
                  <a:pt x="192318" y="0"/>
                </a:moveTo>
                <a:lnTo>
                  <a:pt x="190412" y="21622"/>
                </a:lnTo>
                <a:lnTo>
                  <a:pt x="187825" y="41856"/>
                </a:lnTo>
                <a:lnTo>
                  <a:pt x="184558" y="60702"/>
                </a:lnTo>
                <a:lnTo>
                  <a:pt x="180610" y="78159"/>
                </a:lnTo>
                <a:lnTo>
                  <a:pt x="196048" y="78159"/>
                </a:lnTo>
                <a:lnTo>
                  <a:pt x="201287" y="58446"/>
                </a:lnTo>
                <a:lnTo>
                  <a:pt x="206130" y="35155"/>
                </a:lnTo>
                <a:lnTo>
                  <a:pt x="210121" y="10007"/>
                </a:lnTo>
                <a:lnTo>
                  <a:pt x="204767" y="7170"/>
                </a:lnTo>
                <a:lnTo>
                  <a:pt x="198832" y="3834"/>
                </a:lnTo>
                <a:lnTo>
                  <a:pt x="192318" y="0"/>
                </a:lnTo>
                <a:close/>
              </a:path>
            </a:pathLst>
          </a:custGeom>
          <a:solidFill>
            <a:srgbClr val="FFFFFF"/>
          </a:solidFill>
        </p:spPr>
        <p:txBody>
          <a:bodyPr wrap="square" lIns="0" tIns="0" rIns="0" bIns="0" rtlCol="0"/>
          <a:lstStyle/>
          <a:p>
            <a:endParaRPr/>
          </a:p>
        </p:txBody>
      </p:sp>
      <p:sp>
        <p:nvSpPr>
          <p:cNvPr id="16" name="object 16"/>
          <p:cNvSpPr/>
          <p:nvPr/>
        </p:nvSpPr>
        <p:spPr>
          <a:xfrm>
            <a:off x="1852494" y="3920202"/>
            <a:ext cx="222250" cy="236854"/>
          </a:xfrm>
          <a:custGeom>
            <a:avLst/>
            <a:gdLst/>
            <a:ahLst/>
            <a:cxnLst/>
            <a:rect l="l" t="t" r="r" b="b"/>
            <a:pathLst>
              <a:path w="222250" h="236854">
                <a:moveTo>
                  <a:pt x="150675" y="161578"/>
                </a:moveTo>
                <a:lnTo>
                  <a:pt x="136470" y="172285"/>
                </a:lnTo>
                <a:lnTo>
                  <a:pt x="146261" y="187866"/>
                </a:lnTo>
                <a:lnTo>
                  <a:pt x="155281" y="203755"/>
                </a:lnTo>
                <a:lnTo>
                  <a:pt x="163528" y="219951"/>
                </a:lnTo>
                <a:lnTo>
                  <a:pt x="171002" y="236456"/>
                </a:lnTo>
                <a:lnTo>
                  <a:pt x="176161" y="233281"/>
                </a:lnTo>
                <a:lnTo>
                  <a:pt x="181458" y="230497"/>
                </a:lnTo>
                <a:lnTo>
                  <a:pt x="186894" y="228105"/>
                </a:lnTo>
                <a:lnTo>
                  <a:pt x="178502" y="211034"/>
                </a:lnTo>
                <a:lnTo>
                  <a:pt x="169668" y="194255"/>
                </a:lnTo>
                <a:lnTo>
                  <a:pt x="160392" y="177770"/>
                </a:lnTo>
                <a:lnTo>
                  <a:pt x="150675" y="161578"/>
                </a:lnTo>
                <a:close/>
              </a:path>
              <a:path w="222250" h="236854">
                <a:moveTo>
                  <a:pt x="96385" y="103066"/>
                </a:moveTo>
                <a:lnTo>
                  <a:pt x="92840" y="120478"/>
                </a:lnTo>
                <a:lnTo>
                  <a:pt x="119280" y="125860"/>
                </a:lnTo>
                <a:lnTo>
                  <a:pt x="100335" y="218936"/>
                </a:lnTo>
                <a:lnTo>
                  <a:pt x="115596" y="222044"/>
                </a:lnTo>
                <a:lnTo>
                  <a:pt x="134542" y="128967"/>
                </a:lnTo>
                <a:lnTo>
                  <a:pt x="203369" y="128967"/>
                </a:lnTo>
                <a:lnTo>
                  <a:pt x="199816" y="125671"/>
                </a:lnTo>
                <a:lnTo>
                  <a:pt x="189851" y="122092"/>
                </a:lnTo>
                <a:lnTo>
                  <a:pt x="138087" y="111555"/>
                </a:lnTo>
                <a:lnTo>
                  <a:pt x="138719" y="108449"/>
                </a:lnTo>
                <a:lnTo>
                  <a:pt x="122825" y="108449"/>
                </a:lnTo>
                <a:lnTo>
                  <a:pt x="96385" y="103066"/>
                </a:lnTo>
                <a:close/>
              </a:path>
              <a:path w="222250" h="236854">
                <a:moveTo>
                  <a:pt x="66682" y="142349"/>
                </a:moveTo>
                <a:lnTo>
                  <a:pt x="37796" y="142349"/>
                </a:lnTo>
                <a:lnTo>
                  <a:pt x="52886" y="152276"/>
                </a:lnTo>
                <a:lnTo>
                  <a:pt x="64515" y="167572"/>
                </a:lnTo>
                <a:lnTo>
                  <a:pt x="72682" y="188235"/>
                </a:lnTo>
                <a:lnTo>
                  <a:pt x="77387" y="214266"/>
                </a:lnTo>
                <a:lnTo>
                  <a:pt x="82295" y="211767"/>
                </a:lnTo>
                <a:lnTo>
                  <a:pt x="88050" y="209440"/>
                </a:lnTo>
                <a:lnTo>
                  <a:pt x="94646" y="207285"/>
                </a:lnTo>
                <a:lnTo>
                  <a:pt x="87749" y="177229"/>
                </a:lnTo>
                <a:lnTo>
                  <a:pt x="76566" y="153485"/>
                </a:lnTo>
                <a:lnTo>
                  <a:pt x="66682" y="142349"/>
                </a:lnTo>
                <a:close/>
              </a:path>
              <a:path w="222250" h="236854">
                <a:moveTo>
                  <a:pt x="3392" y="115604"/>
                </a:moveTo>
                <a:lnTo>
                  <a:pt x="0" y="132270"/>
                </a:lnTo>
                <a:lnTo>
                  <a:pt x="8573" y="134015"/>
                </a:lnTo>
                <a:lnTo>
                  <a:pt x="16197" y="135784"/>
                </a:lnTo>
                <a:lnTo>
                  <a:pt x="22872" y="137577"/>
                </a:lnTo>
                <a:lnTo>
                  <a:pt x="12064" y="190671"/>
                </a:lnTo>
                <a:lnTo>
                  <a:pt x="27327" y="193777"/>
                </a:lnTo>
                <a:lnTo>
                  <a:pt x="37796" y="142349"/>
                </a:lnTo>
                <a:lnTo>
                  <a:pt x="66682" y="142349"/>
                </a:lnTo>
                <a:lnTo>
                  <a:pt x="61096" y="136055"/>
                </a:lnTo>
                <a:lnTo>
                  <a:pt x="41339" y="124938"/>
                </a:lnTo>
                <a:lnTo>
                  <a:pt x="42180" y="120810"/>
                </a:lnTo>
                <a:lnTo>
                  <a:pt x="26286" y="120810"/>
                </a:lnTo>
                <a:lnTo>
                  <a:pt x="19597" y="119085"/>
                </a:lnTo>
                <a:lnTo>
                  <a:pt x="11965" y="117349"/>
                </a:lnTo>
                <a:lnTo>
                  <a:pt x="3392" y="115604"/>
                </a:lnTo>
                <a:close/>
              </a:path>
              <a:path w="222250" h="236854">
                <a:moveTo>
                  <a:pt x="203369" y="128967"/>
                </a:moveTo>
                <a:lnTo>
                  <a:pt x="134542" y="128967"/>
                </a:lnTo>
                <a:lnTo>
                  <a:pt x="189823" y="140220"/>
                </a:lnTo>
                <a:lnTo>
                  <a:pt x="193301" y="144940"/>
                </a:lnTo>
                <a:lnTo>
                  <a:pt x="185256" y="178019"/>
                </a:lnTo>
                <a:lnTo>
                  <a:pt x="202850" y="178309"/>
                </a:lnTo>
                <a:lnTo>
                  <a:pt x="208473" y="150690"/>
                </a:lnTo>
                <a:lnTo>
                  <a:pt x="209127" y="139970"/>
                </a:lnTo>
                <a:lnTo>
                  <a:pt x="206241" y="131631"/>
                </a:lnTo>
                <a:lnTo>
                  <a:pt x="203369" y="128967"/>
                </a:lnTo>
                <a:close/>
              </a:path>
              <a:path w="222250" h="236854">
                <a:moveTo>
                  <a:pt x="41338" y="46865"/>
                </a:moveTo>
                <a:lnTo>
                  <a:pt x="26286" y="120810"/>
                </a:lnTo>
                <a:lnTo>
                  <a:pt x="42180" y="120810"/>
                </a:lnTo>
                <a:lnTo>
                  <a:pt x="53187" y="66738"/>
                </a:lnTo>
                <a:lnTo>
                  <a:pt x="113916" y="66738"/>
                </a:lnTo>
                <a:lnTo>
                  <a:pt x="116152" y="64391"/>
                </a:lnTo>
                <a:lnTo>
                  <a:pt x="118292" y="58512"/>
                </a:lnTo>
                <a:lnTo>
                  <a:pt x="98554" y="58512"/>
                </a:lnTo>
                <a:lnTo>
                  <a:pt x="41338" y="46865"/>
                </a:lnTo>
                <a:close/>
              </a:path>
              <a:path w="222250" h="236854">
                <a:moveTo>
                  <a:pt x="140590" y="21177"/>
                </a:moveTo>
                <a:lnTo>
                  <a:pt x="122825" y="108449"/>
                </a:lnTo>
                <a:lnTo>
                  <a:pt x="138719" y="108449"/>
                </a:lnTo>
                <a:lnTo>
                  <a:pt x="155851" y="24283"/>
                </a:lnTo>
                <a:lnTo>
                  <a:pt x="140590" y="21177"/>
                </a:lnTo>
                <a:close/>
              </a:path>
              <a:path w="222250" h="236854">
                <a:moveTo>
                  <a:pt x="208890" y="30603"/>
                </a:moveTo>
                <a:lnTo>
                  <a:pt x="197230" y="41422"/>
                </a:lnTo>
                <a:lnTo>
                  <a:pt x="184770" y="53475"/>
                </a:lnTo>
                <a:lnTo>
                  <a:pt x="171513" y="66763"/>
                </a:lnTo>
                <a:lnTo>
                  <a:pt x="157457" y="81286"/>
                </a:lnTo>
                <a:lnTo>
                  <a:pt x="168342" y="94433"/>
                </a:lnTo>
                <a:lnTo>
                  <a:pt x="180914" y="81895"/>
                </a:lnTo>
                <a:lnTo>
                  <a:pt x="194026" y="69521"/>
                </a:lnTo>
                <a:lnTo>
                  <a:pt x="207679" y="57312"/>
                </a:lnTo>
                <a:lnTo>
                  <a:pt x="221874" y="45267"/>
                </a:lnTo>
                <a:lnTo>
                  <a:pt x="208890" y="30603"/>
                </a:lnTo>
                <a:close/>
              </a:path>
              <a:path w="222250" h="236854">
                <a:moveTo>
                  <a:pt x="113916" y="66738"/>
                </a:moveTo>
                <a:lnTo>
                  <a:pt x="53187" y="66738"/>
                </a:lnTo>
                <a:lnTo>
                  <a:pt x="87811" y="73786"/>
                </a:lnTo>
                <a:lnTo>
                  <a:pt x="99983" y="74579"/>
                </a:lnTo>
                <a:lnTo>
                  <a:pt x="109430" y="71447"/>
                </a:lnTo>
                <a:lnTo>
                  <a:pt x="113916" y="66738"/>
                </a:lnTo>
                <a:close/>
              </a:path>
              <a:path w="222250" h="236854">
                <a:moveTo>
                  <a:pt x="83845" y="0"/>
                </a:moveTo>
                <a:lnTo>
                  <a:pt x="81809" y="3563"/>
                </a:lnTo>
                <a:lnTo>
                  <a:pt x="78532" y="8568"/>
                </a:lnTo>
                <a:lnTo>
                  <a:pt x="74014" y="15012"/>
                </a:lnTo>
                <a:lnTo>
                  <a:pt x="81498" y="17260"/>
                </a:lnTo>
                <a:lnTo>
                  <a:pt x="88247" y="19494"/>
                </a:lnTo>
                <a:lnTo>
                  <a:pt x="94260" y="21717"/>
                </a:lnTo>
                <a:lnTo>
                  <a:pt x="106114" y="26724"/>
                </a:lnTo>
                <a:lnTo>
                  <a:pt x="108546" y="32324"/>
                </a:lnTo>
                <a:lnTo>
                  <a:pt x="103800" y="55642"/>
                </a:lnTo>
                <a:lnTo>
                  <a:pt x="98554" y="58512"/>
                </a:lnTo>
                <a:lnTo>
                  <a:pt x="118292" y="58512"/>
                </a:lnTo>
                <a:lnTo>
                  <a:pt x="120149" y="53411"/>
                </a:lnTo>
                <a:lnTo>
                  <a:pt x="122334" y="42680"/>
                </a:lnTo>
                <a:lnTo>
                  <a:pt x="123337" y="31283"/>
                </a:lnTo>
                <a:lnTo>
                  <a:pt x="121292" y="21922"/>
                </a:lnTo>
                <a:lnTo>
                  <a:pt x="90587" y="2385"/>
                </a:lnTo>
                <a:lnTo>
                  <a:pt x="83845" y="0"/>
                </a:lnTo>
                <a:close/>
              </a:path>
            </a:pathLst>
          </a:custGeom>
          <a:solidFill>
            <a:srgbClr val="FFFFFF"/>
          </a:solidFill>
        </p:spPr>
        <p:txBody>
          <a:bodyPr wrap="square" lIns="0" tIns="0" rIns="0" bIns="0" rtlCol="0"/>
          <a:lstStyle/>
          <a:p>
            <a:endParaRPr/>
          </a:p>
        </p:txBody>
      </p:sp>
      <p:sp>
        <p:nvSpPr>
          <p:cNvPr id="17" name="object 17"/>
          <p:cNvSpPr/>
          <p:nvPr/>
        </p:nvSpPr>
        <p:spPr>
          <a:xfrm>
            <a:off x="1905312" y="3707037"/>
            <a:ext cx="257810" cy="226695"/>
          </a:xfrm>
          <a:custGeom>
            <a:avLst/>
            <a:gdLst/>
            <a:ahLst/>
            <a:cxnLst/>
            <a:rect l="l" t="t" r="r" b="b"/>
            <a:pathLst>
              <a:path w="257810" h="226695">
                <a:moveTo>
                  <a:pt x="6634" y="127245"/>
                </a:moveTo>
                <a:lnTo>
                  <a:pt x="0" y="142539"/>
                </a:lnTo>
                <a:lnTo>
                  <a:pt x="193798" y="226612"/>
                </a:lnTo>
                <a:lnTo>
                  <a:pt x="200432" y="211317"/>
                </a:lnTo>
                <a:lnTo>
                  <a:pt x="51487" y="146702"/>
                </a:lnTo>
                <a:lnTo>
                  <a:pt x="58773" y="145843"/>
                </a:lnTo>
                <a:lnTo>
                  <a:pt x="66478" y="145166"/>
                </a:lnTo>
                <a:lnTo>
                  <a:pt x="74601" y="144669"/>
                </a:lnTo>
                <a:lnTo>
                  <a:pt x="83141" y="144354"/>
                </a:lnTo>
                <a:lnTo>
                  <a:pt x="83018" y="143609"/>
                </a:lnTo>
                <a:lnTo>
                  <a:pt x="44354" y="143609"/>
                </a:lnTo>
                <a:lnTo>
                  <a:pt x="6634" y="127245"/>
                </a:lnTo>
                <a:close/>
              </a:path>
              <a:path w="257810" h="226695">
                <a:moveTo>
                  <a:pt x="44949" y="168257"/>
                </a:moveTo>
                <a:lnTo>
                  <a:pt x="36503" y="179658"/>
                </a:lnTo>
                <a:lnTo>
                  <a:pt x="49237" y="188090"/>
                </a:lnTo>
                <a:lnTo>
                  <a:pt x="61029" y="196327"/>
                </a:lnTo>
                <a:lnTo>
                  <a:pt x="71878" y="204368"/>
                </a:lnTo>
                <a:lnTo>
                  <a:pt x="81785" y="212214"/>
                </a:lnTo>
                <a:lnTo>
                  <a:pt x="85374" y="207172"/>
                </a:lnTo>
                <a:lnTo>
                  <a:pt x="88599" y="203151"/>
                </a:lnTo>
                <a:lnTo>
                  <a:pt x="91457" y="200149"/>
                </a:lnTo>
                <a:lnTo>
                  <a:pt x="79499" y="191417"/>
                </a:lnTo>
                <a:lnTo>
                  <a:pt x="67761" y="183191"/>
                </a:lnTo>
                <a:lnTo>
                  <a:pt x="56245" y="175471"/>
                </a:lnTo>
                <a:lnTo>
                  <a:pt x="44949" y="168257"/>
                </a:lnTo>
                <a:close/>
              </a:path>
              <a:path w="257810" h="226695">
                <a:moveTo>
                  <a:pt x="202382" y="99778"/>
                </a:moveTo>
                <a:lnTo>
                  <a:pt x="159390" y="99778"/>
                </a:lnTo>
                <a:lnTo>
                  <a:pt x="212115" y="122652"/>
                </a:lnTo>
                <a:lnTo>
                  <a:pt x="184616" y="186044"/>
                </a:lnTo>
                <a:lnTo>
                  <a:pt x="198300" y="191980"/>
                </a:lnTo>
                <a:lnTo>
                  <a:pt x="235185" y="106955"/>
                </a:lnTo>
                <a:lnTo>
                  <a:pt x="218925" y="106955"/>
                </a:lnTo>
                <a:lnTo>
                  <a:pt x="202382" y="99778"/>
                </a:lnTo>
                <a:close/>
              </a:path>
              <a:path w="257810" h="226695">
                <a:moveTo>
                  <a:pt x="141003" y="73152"/>
                </a:moveTo>
                <a:lnTo>
                  <a:pt x="98010" y="73152"/>
                </a:lnTo>
                <a:lnTo>
                  <a:pt x="145705" y="93842"/>
                </a:lnTo>
                <a:lnTo>
                  <a:pt x="123791" y="144354"/>
                </a:lnTo>
                <a:lnTo>
                  <a:pt x="137477" y="150291"/>
                </a:lnTo>
                <a:lnTo>
                  <a:pt x="159390" y="99778"/>
                </a:lnTo>
                <a:lnTo>
                  <a:pt x="202382" y="99778"/>
                </a:lnTo>
                <a:lnTo>
                  <a:pt x="166199" y="84081"/>
                </a:lnTo>
                <a:lnTo>
                  <a:pt x="168774" y="78145"/>
                </a:lnTo>
                <a:lnTo>
                  <a:pt x="152514" y="78145"/>
                </a:lnTo>
                <a:lnTo>
                  <a:pt x="141003" y="73152"/>
                </a:lnTo>
                <a:close/>
              </a:path>
              <a:path w="257810" h="226695">
                <a:moveTo>
                  <a:pt x="49340" y="74275"/>
                </a:moveTo>
                <a:lnTo>
                  <a:pt x="38406" y="88183"/>
                </a:lnTo>
                <a:lnTo>
                  <a:pt x="54903" y="100857"/>
                </a:lnTo>
                <a:lnTo>
                  <a:pt x="70568" y="114911"/>
                </a:lnTo>
                <a:lnTo>
                  <a:pt x="85458" y="130417"/>
                </a:lnTo>
                <a:lnTo>
                  <a:pt x="99399" y="147162"/>
                </a:lnTo>
                <a:lnTo>
                  <a:pt x="102209" y="144628"/>
                </a:lnTo>
                <a:lnTo>
                  <a:pt x="107135" y="141524"/>
                </a:lnTo>
                <a:lnTo>
                  <a:pt x="114179" y="137853"/>
                </a:lnTo>
                <a:lnTo>
                  <a:pt x="106930" y="129168"/>
                </a:lnTo>
                <a:lnTo>
                  <a:pt x="99529" y="120769"/>
                </a:lnTo>
                <a:lnTo>
                  <a:pt x="91976" y="112654"/>
                </a:lnTo>
                <a:lnTo>
                  <a:pt x="84270" y="104823"/>
                </a:lnTo>
                <a:lnTo>
                  <a:pt x="89060" y="93783"/>
                </a:lnTo>
                <a:lnTo>
                  <a:pt x="72800" y="93783"/>
                </a:lnTo>
                <a:lnTo>
                  <a:pt x="67105" y="88717"/>
                </a:lnTo>
                <a:lnTo>
                  <a:pt x="61297" y="83777"/>
                </a:lnTo>
                <a:lnTo>
                  <a:pt x="55376" y="78963"/>
                </a:lnTo>
                <a:lnTo>
                  <a:pt x="49340" y="74275"/>
                </a:lnTo>
                <a:close/>
              </a:path>
              <a:path w="257810" h="226695">
                <a:moveTo>
                  <a:pt x="80547" y="128703"/>
                </a:moveTo>
                <a:lnTo>
                  <a:pt x="71835" y="129430"/>
                </a:lnTo>
                <a:lnTo>
                  <a:pt x="62719" y="130417"/>
                </a:lnTo>
                <a:lnTo>
                  <a:pt x="53201" y="131664"/>
                </a:lnTo>
                <a:lnTo>
                  <a:pt x="43279" y="133170"/>
                </a:lnTo>
                <a:lnTo>
                  <a:pt x="44354" y="143609"/>
                </a:lnTo>
                <a:lnTo>
                  <a:pt x="83018" y="143609"/>
                </a:lnTo>
                <a:lnTo>
                  <a:pt x="80547" y="128703"/>
                </a:lnTo>
                <a:close/>
              </a:path>
              <a:path w="257810" h="226695">
                <a:moveTo>
                  <a:pt x="243894" y="49399"/>
                </a:moveTo>
                <a:lnTo>
                  <a:pt x="218925" y="106955"/>
                </a:lnTo>
                <a:lnTo>
                  <a:pt x="235185" y="106955"/>
                </a:lnTo>
                <a:lnTo>
                  <a:pt x="257578" y="55336"/>
                </a:lnTo>
                <a:lnTo>
                  <a:pt x="243894" y="49399"/>
                </a:lnTo>
                <a:close/>
              </a:path>
              <a:path w="257810" h="226695">
                <a:moveTo>
                  <a:pt x="47867" y="32748"/>
                </a:moveTo>
                <a:lnTo>
                  <a:pt x="41057" y="48445"/>
                </a:lnTo>
                <a:lnTo>
                  <a:pt x="84325" y="67214"/>
                </a:lnTo>
                <a:lnTo>
                  <a:pt x="72800" y="93783"/>
                </a:lnTo>
                <a:lnTo>
                  <a:pt x="89060" y="93783"/>
                </a:lnTo>
                <a:lnTo>
                  <a:pt x="98010" y="73152"/>
                </a:lnTo>
                <a:lnTo>
                  <a:pt x="141003" y="73152"/>
                </a:lnTo>
                <a:lnTo>
                  <a:pt x="104819" y="57454"/>
                </a:lnTo>
                <a:lnTo>
                  <a:pt x="107395" y="51517"/>
                </a:lnTo>
                <a:lnTo>
                  <a:pt x="91135" y="51517"/>
                </a:lnTo>
                <a:lnTo>
                  <a:pt x="47867" y="32748"/>
                </a:lnTo>
                <a:close/>
              </a:path>
              <a:path w="257810" h="226695">
                <a:moveTo>
                  <a:pt x="173118" y="30651"/>
                </a:moveTo>
                <a:lnTo>
                  <a:pt x="152514" y="78145"/>
                </a:lnTo>
                <a:lnTo>
                  <a:pt x="168774" y="78145"/>
                </a:lnTo>
                <a:lnTo>
                  <a:pt x="186803" y="36588"/>
                </a:lnTo>
                <a:lnTo>
                  <a:pt x="173118" y="30651"/>
                </a:lnTo>
                <a:close/>
              </a:path>
              <a:path w="257810" h="226695">
                <a:moveTo>
                  <a:pt x="113484" y="0"/>
                </a:moveTo>
                <a:lnTo>
                  <a:pt x="91135" y="51517"/>
                </a:lnTo>
                <a:lnTo>
                  <a:pt x="107395" y="51517"/>
                </a:lnTo>
                <a:lnTo>
                  <a:pt x="127168" y="5935"/>
                </a:lnTo>
                <a:lnTo>
                  <a:pt x="113484" y="0"/>
                </a:lnTo>
                <a:close/>
              </a:path>
            </a:pathLst>
          </a:custGeom>
          <a:solidFill>
            <a:srgbClr val="FFFFFF"/>
          </a:solidFill>
        </p:spPr>
        <p:txBody>
          <a:bodyPr wrap="square" lIns="0" tIns="0" rIns="0" bIns="0" rtlCol="0"/>
          <a:lstStyle/>
          <a:p>
            <a:endParaRPr/>
          </a:p>
        </p:txBody>
      </p:sp>
      <p:sp>
        <p:nvSpPr>
          <p:cNvPr id="18" name="object 18"/>
          <p:cNvSpPr txBox="1"/>
          <p:nvPr/>
        </p:nvSpPr>
        <p:spPr>
          <a:xfrm>
            <a:off x="1031346" y="1546583"/>
            <a:ext cx="10212705" cy="1092200"/>
          </a:xfrm>
          <a:prstGeom prst="rect">
            <a:avLst/>
          </a:prstGeom>
          <a:solidFill>
            <a:srgbClr val="ECEBEB"/>
          </a:solidFill>
        </p:spPr>
        <p:txBody>
          <a:bodyPr vert="horz" wrap="square" lIns="0" tIns="102870" rIns="0" bIns="0" rtlCol="0">
            <a:spAutoFit/>
          </a:bodyPr>
          <a:lstStyle/>
          <a:p>
            <a:pPr marL="215900" marR="201930">
              <a:lnSpc>
                <a:spcPct val="118000"/>
              </a:lnSpc>
              <a:spcBef>
                <a:spcPts val="810"/>
              </a:spcBef>
            </a:pPr>
            <a:r>
              <a:rPr sz="2400" spc="5" dirty="0">
                <a:solidFill>
                  <a:srgbClr val="0033CC"/>
                </a:solidFill>
                <a:latin typeface="微软雅黑" panose="020B0503020204020204" pitchFamily="34" charset="-122"/>
                <a:cs typeface="微软雅黑" panose="020B0503020204020204" pitchFamily="34" charset="-122"/>
              </a:rPr>
              <a:t>优化</a:t>
            </a:r>
            <a:r>
              <a:rPr sz="2400" spc="5" dirty="0">
                <a:latin typeface="微软雅黑" panose="020B0503020204020204" pitchFamily="34" charset="-122"/>
                <a:cs typeface="微软雅黑" panose="020B0503020204020204" pitchFamily="34" charset="-122"/>
              </a:rPr>
              <a:t>是对代码进行等价变换，使得变换后的代码运行结果与变换前的代码 </a:t>
            </a:r>
            <a:r>
              <a:rPr sz="2400" dirty="0">
                <a:latin typeface="微软雅黑" panose="020B0503020204020204" pitchFamily="34" charset="-122"/>
                <a:cs typeface="微软雅黑" panose="020B0503020204020204" pitchFamily="34" charset="-122"/>
              </a:rPr>
              <a:t>运行结果相同，但执行速度加快或存储开销减少。</a:t>
            </a:r>
            <a:endParaRPr sz="2400">
              <a:latin typeface="微软雅黑" panose="020B0503020204020204" pitchFamily="34" charset="-122"/>
              <a:cs typeface="微软雅黑" panose="020B0503020204020204" pitchFamily="34" charset="-122"/>
            </a:endParaRPr>
          </a:p>
        </p:txBody>
      </p:sp>
      <p:sp>
        <p:nvSpPr>
          <p:cNvPr id="20" name="标题 19"/>
          <p:cNvSpPr>
            <a:spLocks noGrp="1"/>
          </p:cNvSpPr>
          <p:nvPr>
            <p:ph type="title"/>
          </p:nvPr>
        </p:nvSpPr>
        <p:spPr/>
        <p:txBody>
          <a:bodyPr/>
          <a:lstStyle/>
          <a:p>
            <a:r>
              <a:rPr lang="zh-CN" altLang="en-US" dirty="0"/>
              <a:t>代码性能优化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a:t>
            </a:fld>
            <a:endParaRPr lang="zh-CN" altLang="en-US"/>
          </a:p>
        </p:txBody>
      </p:sp>
      <p:sp>
        <p:nvSpPr>
          <p:cNvPr id="19" name="矩形 18">
            <a:extLst>
              <a:ext uri="{FF2B5EF4-FFF2-40B4-BE49-F238E27FC236}">
                <a16:creationId xmlns:a16="http://schemas.microsoft.com/office/drawing/2014/main" id="{30A52801-EDF1-48AB-9D29-2EC09D665AF9}"/>
              </a:ext>
            </a:extLst>
          </p:cNvPr>
          <p:cNvSpPr/>
          <p:nvPr/>
        </p:nvSpPr>
        <p:spPr>
          <a:xfrm>
            <a:off x="5224567" y="5447887"/>
            <a:ext cx="1980029" cy="523220"/>
          </a:xfrm>
          <a:prstGeom prst="rect">
            <a:avLst/>
          </a:prstGeom>
        </p:spPr>
        <p:txBody>
          <a:bodyPr wrap="non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时间和空间</a:t>
            </a:r>
          </a:p>
        </p:txBody>
      </p:sp>
    </p:spTree>
  </p:cSld>
  <p:clrMapOvr>
    <a:masterClrMapping/>
  </p:clrMapOvr>
  <mc:AlternateContent xmlns:mc="http://schemas.openxmlformats.org/markup-compatibility/2006" xmlns:p14="http://schemas.microsoft.com/office/powerpoint/2010/main">
    <mc:Choice Requires="p14">
      <p:transition spd="slow" p14:dur="2000" advTm="39216"/>
    </mc:Choice>
    <mc:Fallback xmlns="">
      <p:transition spd="slow" advTm="3921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69740" y="1602026"/>
            <a:ext cx="7092950" cy="3949700"/>
          </a:xfrm>
          <a:prstGeom prst="rect">
            <a:avLst/>
          </a:prstGeom>
        </p:spPr>
        <p:txBody>
          <a:bodyPr vert="horz" wrap="square" lIns="0" tIns="12700" rIns="0" bIns="0" rtlCol="0">
            <a:spAutoFit/>
          </a:bodyPr>
          <a:lstStyle/>
          <a:p>
            <a:pPr marL="381000" marR="114935" indent="-368300">
              <a:lnSpc>
                <a:spcPct val="128000"/>
              </a:lnSpc>
              <a:spcBef>
                <a:spcPts val="100"/>
              </a:spcBef>
              <a:buFont typeface="Arial" panose="020B0604020202020204"/>
              <a:buChar char="•"/>
              <a:tabLst>
                <a:tab pos="379095" algn="l"/>
                <a:tab pos="379730" algn="l"/>
              </a:tabLst>
            </a:pPr>
            <a:r>
              <a:rPr sz="2400" spc="70" dirty="0">
                <a:latin typeface="微软雅黑" panose="020B0503020204020204" pitchFamily="34" charset="-122"/>
                <a:cs typeface="微软雅黑" panose="020B0503020204020204" pitchFamily="34" charset="-122"/>
              </a:rPr>
              <a:t>在满足正确性、可靠性、健壮性、可读性等质量 </a:t>
            </a:r>
            <a:r>
              <a:rPr sz="2400" dirty="0">
                <a:latin typeface="微软雅黑" panose="020B0503020204020204" pitchFamily="34" charset="-122"/>
                <a:cs typeface="微软雅黑" panose="020B0503020204020204" pitchFamily="34" charset="-122"/>
              </a:rPr>
              <a:t>因素的前提下，设法提高程序的效率</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20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以提高程序的全局效率为主，提高局部效率为辅</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2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在优化程序效率时，应先找出限制效率的“瓶颈”</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20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先优化数据结构和算法，再优化执行代码</a:t>
            </a:r>
            <a:endParaRPr sz="2400">
              <a:latin typeface="微软雅黑" panose="020B0503020204020204" pitchFamily="34" charset="-122"/>
              <a:cs typeface="微软雅黑" panose="020B0503020204020204" pitchFamily="34" charset="-122"/>
            </a:endParaRPr>
          </a:p>
          <a:p>
            <a:pPr marL="381000" marR="114935" indent="-368300">
              <a:lnSpc>
                <a:spcPct val="128000"/>
              </a:lnSpc>
              <a:spcBef>
                <a:spcPts val="1295"/>
              </a:spcBef>
              <a:buFont typeface="Arial" panose="020B0604020202020204"/>
              <a:buChar char="•"/>
              <a:tabLst>
                <a:tab pos="379095" algn="l"/>
                <a:tab pos="379730" algn="l"/>
              </a:tabLst>
            </a:pPr>
            <a:r>
              <a:rPr sz="2400" spc="70" dirty="0">
                <a:latin typeface="微软雅黑" panose="020B0503020204020204" pitchFamily="34" charset="-122"/>
                <a:cs typeface="微软雅黑" panose="020B0503020204020204" pitchFamily="34" charset="-122"/>
              </a:rPr>
              <a:t>时间效率和空间效率可能是对立的，应当分析哪 </a:t>
            </a:r>
            <a:r>
              <a:rPr sz="2400" dirty="0">
                <a:latin typeface="微软雅黑" panose="020B0503020204020204" pitchFamily="34" charset="-122"/>
                <a:cs typeface="微软雅黑" panose="020B0503020204020204" pitchFamily="34" charset="-122"/>
              </a:rPr>
              <a:t>一个因素更重要，再做出适当的折衷</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1180407" y="2024148"/>
            <a:ext cx="2610196" cy="3433156"/>
          </a:xfrm>
          <a:prstGeom prst="rect">
            <a:avLst/>
          </a:prstGeom>
          <a:blipFill>
            <a:blip r:embed="rId3" cstate="print"/>
            <a:stretch>
              <a:fillRect/>
            </a:stretch>
          </a:blipFill>
        </p:spPr>
        <p:txBody>
          <a:bodyPr wrap="square" lIns="0" tIns="0" rIns="0" bIns="0" rtlCol="0"/>
          <a:lstStyle/>
          <a:p>
            <a:endParaRPr/>
          </a:p>
        </p:txBody>
      </p:sp>
      <p:sp>
        <p:nvSpPr>
          <p:cNvPr id="6" name="标题 5"/>
          <p:cNvSpPr>
            <a:spLocks noGrp="1"/>
          </p:cNvSpPr>
          <p:nvPr>
            <p:ph type="title"/>
          </p:nvPr>
        </p:nvSpPr>
        <p:spPr/>
        <p:txBody>
          <a:bodyPr/>
          <a:lstStyle/>
          <a:p>
            <a:r>
              <a:rPr lang="zh-CN" altLang="en-US" dirty="0"/>
              <a:t>代码性能优化</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9222"/>
    </mc:Choice>
    <mc:Fallback xmlns="">
      <p:transition spd="slow" advTm="5922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74752" y="1592798"/>
            <a:ext cx="9836150" cy="1041400"/>
          </a:xfrm>
          <a:prstGeom prst="rect">
            <a:avLst/>
          </a:prstGeom>
        </p:spPr>
        <p:txBody>
          <a:bodyPr vert="horz" wrap="square" lIns="0" tIns="154940" rIns="0" bIns="0" rtlCol="0">
            <a:spAutoFit/>
          </a:bodyPr>
          <a:lstStyle/>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从一开始就要考虑程序性能，不要期待在开发结束后再做一些快速调整</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正确的代码要比速度快的代码重要，任何优化都不能破坏代码的正确性</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1659463" y="3112585"/>
            <a:ext cx="1441450" cy="815340"/>
          </a:xfrm>
          <a:prstGeom prst="rect">
            <a:avLst/>
          </a:prstGeom>
          <a:solidFill>
            <a:srgbClr val="E4EFF9"/>
          </a:solidFill>
          <a:ln w="19049">
            <a:solidFill>
              <a:srgbClr val="000000"/>
            </a:solidFill>
          </a:ln>
        </p:spPr>
        <p:txBody>
          <a:bodyPr vert="horz" wrap="square" lIns="0" tIns="103505" rIns="0" bIns="0" rtlCol="0">
            <a:spAutoFit/>
          </a:bodyPr>
          <a:lstStyle/>
          <a:p>
            <a:pPr marL="214630" marR="201930">
              <a:lnSpc>
                <a:spcPct val="100000"/>
              </a:lnSpc>
              <a:spcBef>
                <a:spcPts val="815"/>
              </a:spcBef>
            </a:pPr>
            <a:r>
              <a:rPr sz="2000" dirty="0">
                <a:latin typeface="微软雅黑" panose="020B0503020204020204" pitchFamily="34" charset="-122"/>
                <a:cs typeface="微软雅黑" panose="020B0503020204020204" pitchFamily="34" charset="-122"/>
              </a:rPr>
              <a:t>证明需要 进行优化</a:t>
            </a:r>
            <a:endParaRPr sz="2000">
              <a:latin typeface="微软雅黑" panose="020B0503020204020204" pitchFamily="34" charset="-122"/>
              <a:cs typeface="微软雅黑" panose="020B0503020204020204" pitchFamily="34" charset="-122"/>
            </a:endParaRPr>
          </a:p>
        </p:txBody>
      </p:sp>
      <p:sp>
        <p:nvSpPr>
          <p:cNvPr id="5" name="object 5"/>
          <p:cNvSpPr txBox="1"/>
          <p:nvPr/>
        </p:nvSpPr>
        <p:spPr>
          <a:xfrm>
            <a:off x="3628601" y="3112585"/>
            <a:ext cx="1441450" cy="814069"/>
          </a:xfrm>
          <a:prstGeom prst="rect">
            <a:avLst/>
          </a:prstGeom>
          <a:solidFill>
            <a:srgbClr val="E4EFF9"/>
          </a:solidFill>
          <a:ln w="19049">
            <a:solidFill>
              <a:srgbClr val="000000"/>
            </a:solidFill>
          </a:ln>
        </p:spPr>
        <p:txBody>
          <a:bodyPr vert="horz" wrap="square" lIns="0" tIns="102235" rIns="0" bIns="0" rtlCol="0">
            <a:spAutoFit/>
          </a:bodyPr>
          <a:lstStyle/>
          <a:p>
            <a:pPr marL="215265" marR="201930">
              <a:lnSpc>
                <a:spcPct val="100000"/>
              </a:lnSpc>
              <a:spcBef>
                <a:spcPts val="805"/>
              </a:spcBef>
            </a:pPr>
            <a:r>
              <a:rPr sz="2000" dirty="0">
                <a:latin typeface="微软雅黑" panose="020B0503020204020204" pitchFamily="34" charset="-122"/>
                <a:cs typeface="微软雅黑" panose="020B0503020204020204" pitchFamily="34" charset="-122"/>
              </a:rPr>
              <a:t>找出优化 关键部分</a:t>
            </a:r>
            <a:endParaRPr sz="2000">
              <a:latin typeface="微软雅黑" panose="020B0503020204020204" pitchFamily="34" charset="-122"/>
              <a:cs typeface="微软雅黑" panose="020B0503020204020204" pitchFamily="34" charset="-122"/>
            </a:endParaRPr>
          </a:p>
        </p:txBody>
      </p:sp>
      <p:sp>
        <p:nvSpPr>
          <p:cNvPr id="6" name="object 6"/>
          <p:cNvSpPr txBox="1"/>
          <p:nvPr/>
        </p:nvSpPr>
        <p:spPr>
          <a:xfrm>
            <a:off x="5576545" y="3112585"/>
            <a:ext cx="1441450" cy="812165"/>
          </a:xfrm>
          <a:prstGeom prst="rect">
            <a:avLst/>
          </a:prstGeom>
          <a:solidFill>
            <a:srgbClr val="E4EFF9"/>
          </a:solidFill>
          <a:ln w="19049">
            <a:solidFill>
              <a:srgbClr val="000000"/>
            </a:solidFill>
          </a:ln>
        </p:spPr>
        <p:txBody>
          <a:bodyPr vert="horz" wrap="square" lIns="0" tIns="252730" rIns="0" bIns="0" rtlCol="0">
            <a:spAutoFit/>
          </a:bodyPr>
          <a:lstStyle/>
          <a:p>
            <a:pPr marL="215265">
              <a:lnSpc>
                <a:spcPct val="100000"/>
              </a:lnSpc>
              <a:spcBef>
                <a:spcPts val="1990"/>
              </a:spcBef>
            </a:pPr>
            <a:r>
              <a:rPr sz="2000" dirty="0">
                <a:latin typeface="微软雅黑" panose="020B0503020204020204" pitchFamily="34" charset="-122"/>
                <a:cs typeface="微软雅黑" panose="020B0503020204020204" pitchFamily="34" charset="-122"/>
              </a:rPr>
              <a:t>测试代码</a:t>
            </a:r>
            <a:endParaRPr sz="2000">
              <a:latin typeface="微软雅黑" panose="020B0503020204020204" pitchFamily="34" charset="-122"/>
              <a:cs typeface="微软雅黑" panose="020B0503020204020204" pitchFamily="34" charset="-122"/>
            </a:endParaRPr>
          </a:p>
        </p:txBody>
      </p:sp>
      <p:sp>
        <p:nvSpPr>
          <p:cNvPr id="7" name="object 7"/>
          <p:cNvSpPr txBox="1"/>
          <p:nvPr/>
        </p:nvSpPr>
        <p:spPr>
          <a:xfrm>
            <a:off x="7545684" y="3112585"/>
            <a:ext cx="1441450" cy="810260"/>
          </a:xfrm>
          <a:prstGeom prst="rect">
            <a:avLst/>
          </a:prstGeom>
          <a:solidFill>
            <a:srgbClr val="E4EFF9"/>
          </a:solidFill>
          <a:ln w="19049">
            <a:solidFill>
              <a:srgbClr val="000000"/>
            </a:solidFill>
          </a:ln>
        </p:spPr>
        <p:txBody>
          <a:bodyPr vert="horz" wrap="square" lIns="0" tIns="250825" rIns="0" bIns="0" rtlCol="0">
            <a:spAutoFit/>
          </a:bodyPr>
          <a:lstStyle/>
          <a:p>
            <a:pPr marL="215265">
              <a:lnSpc>
                <a:spcPct val="100000"/>
              </a:lnSpc>
              <a:spcBef>
                <a:spcPts val="1975"/>
              </a:spcBef>
            </a:pPr>
            <a:r>
              <a:rPr sz="2000" dirty="0">
                <a:latin typeface="微软雅黑" panose="020B0503020204020204" pitchFamily="34" charset="-122"/>
                <a:cs typeface="微软雅黑" panose="020B0503020204020204" pitchFamily="34" charset="-122"/>
              </a:rPr>
              <a:t>优化代码</a:t>
            </a:r>
            <a:endParaRPr sz="2000">
              <a:latin typeface="微软雅黑" panose="020B0503020204020204" pitchFamily="34" charset="-122"/>
              <a:cs typeface="微软雅黑" panose="020B0503020204020204" pitchFamily="34" charset="-122"/>
            </a:endParaRPr>
          </a:p>
        </p:txBody>
      </p:sp>
      <p:sp>
        <p:nvSpPr>
          <p:cNvPr id="8" name="object 8"/>
          <p:cNvSpPr txBox="1"/>
          <p:nvPr/>
        </p:nvSpPr>
        <p:spPr>
          <a:xfrm>
            <a:off x="9514822" y="3112585"/>
            <a:ext cx="1441450" cy="810260"/>
          </a:xfrm>
          <a:prstGeom prst="rect">
            <a:avLst/>
          </a:prstGeom>
          <a:solidFill>
            <a:srgbClr val="E4EFF9"/>
          </a:solidFill>
          <a:ln w="19049">
            <a:solidFill>
              <a:srgbClr val="000000"/>
            </a:solidFill>
          </a:ln>
        </p:spPr>
        <p:txBody>
          <a:bodyPr vert="horz" wrap="square" lIns="0" tIns="96520" rIns="0" bIns="0" rtlCol="0">
            <a:spAutoFit/>
          </a:bodyPr>
          <a:lstStyle/>
          <a:p>
            <a:pPr marL="215265" marR="201930">
              <a:lnSpc>
                <a:spcPct val="100000"/>
              </a:lnSpc>
              <a:spcBef>
                <a:spcPts val="760"/>
              </a:spcBef>
            </a:pPr>
            <a:r>
              <a:rPr sz="2000" dirty="0">
                <a:latin typeface="微软雅黑" panose="020B0503020204020204" pitchFamily="34" charset="-122"/>
                <a:cs typeface="微软雅黑" panose="020B0503020204020204" pitchFamily="34" charset="-122"/>
              </a:rPr>
              <a:t>评测优化 后的代码</a:t>
            </a:r>
            <a:endParaRPr sz="2000">
              <a:latin typeface="微软雅黑" panose="020B0503020204020204" pitchFamily="34" charset="-122"/>
              <a:cs typeface="微软雅黑" panose="020B0503020204020204" pitchFamily="34" charset="-122"/>
            </a:endParaRPr>
          </a:p>
        </p:txBody>
      </p:sp>
      <p:sp>
        <p:nvSpPr>
          <p:cNvPr id="9" name="object 9"/>
          <p:cNvSpPr/>
          <p:nvPr/>
        </p:nvSpPr>
        <p:spPr>
          <a:xfrm>
            <a:off x="3100499" y="3519868"/>
            <a:ext cx="502920" cy="1905"/>
          </a:xfrm>
          <a:custGeom>
            <a:avLst/>
            <a:gdLst/>
            <a:ahLst/>
            <a:cxnLst/>
            <a:rect l="l" t="t" r="r" b="b"/>
            <a:pathLst>
              <a:path w="502920" h="1904">
                <a:moveTo>
                  <a:pt x="0" y="1511"/>
                </a:moveTo>
                <a:lnTo>
                  <a:pt x="502639" y="0"/>
                </a:lnTo>
              </a:path>
            </a:pathLst>
          </a:custGeom>
          <a:ln w="19049">
            <a:solidFill>
              <a:srgbClr val="000000"/>
            </a:solidFill>
          </a:ln>
        </p:spPr>
        <p:txBody>
          <a:bodyPr wrap="square" lIns="0" tIns="0" rIns="0" bIns="0" rtlCol="0"/>
          <a:lstStyle/>
          <a:p>
            <a:endParaRPr/>
          </a:p>
        </p:txBody>
      </p:sp>
      <p:sp>
        <p:nvSpPr>
          <p:cNvPr id="10" name="object 10"/>
          <p:cNvSpPr/>
          <p:nvPr/>
        </p:nvSpPr>
        <p:spPr>
          <a:xfrm>
            <a:off x="3512299" y="3461142"/>
            <a:ext cx="116043" cy="117906"/>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5069636" y="3517994"/>
            <a:ext cx="482600" cy="1905"/>
          </a:xfrm>
          <a:custGeom>
            <a:avLst/>
            <a:gdLst/>
            <a:ahLst/>
            <a:cxnLst/>
            <a:rect l="l" t="t" r="r" b="b"/>
            <a:pathLst>
              <a:path w="482600" h="1904">
                <a:moveTo>
                  <a:pt x="0" y="1508"/>
                </a:moveTo>
                <a:lnTo>
                  <a:pt x="482001" y="0"/>
                </a:lnTo>
              </a:path>
            </a:pathLst>
          </a:custGeom>
          <a:ln w="19049">
            <a:solidFill>
              <a:srgbClr val="000000"/>
            </a:solidFill>
          </a:ln>
        </p:spPr>
        <p:txBody>
          <a:bodyPr wrap="square" lIns="0" tIns="0" rIns="0" bIns="0" rtlCol="0"/>
          <a:lstStyle/>
          <a:p>
            <a:endParaRPr/>
          </a:p>
        </p:txBody>
      </p:sp>
      <p:sp>
        <p:nvSpPr>
          <p:cNvPr id="12" name="object 12"/>
          <p:cNvSpPr/>
          <p:nvPr/>
        </p:nvSpPr>
        <p:spPr>
          <a:xfrm>
            <a:off x="5460794" y="3459277"/>
            <a:ext cx="116048" cy="117908"/>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7017583" y="3516116"/>
            <a:ext cx="502920" cy="1905"/>
          </a:xfrm>
          <a:custGeom>
            <a:avLst/>
            <a:gdLst/>
            <a:ahLst/>
            <a:cxnLst/>
            <a:rect l="l" t="t" r="r" b="b"/>
            <a:pathLst>
              <a:path w="502920" h="1904">
                <a:moveTo>
                  <a:pt x="0" y="1511"/>
                </a:moveTo>
                <a:lnTo>
                  <a:pt x="502638" y="0"/>
                </a:lnTo>
              </a:path>
            </a:pathLst>
          </a:custGeom>
          <a:ln w="19049">
            <a:solidFill>
              <a:srgbClr val="000000"/>
            </a:solidFill>
          </a:ln>
        </p:spPr>
        <p:txBody>
          <a:bodyPr wrap="square" lIns="0" tIns="0" rIns="0" bIns="0" rtlCol="0"/>
          <a:lstStyle/>
          <a:p>
            <a:endParaRPr/>
          </a:p>
        </p:txBody>
      </p:sp>
      <p:sp>
        <p:nvSpPr>
          <p:cNvPr id="14" name="object 14"/>
          <p:cNvSpPr/>
          <p:nvPr/>
        </p:nvSpPr>
        <p:spPr>
          <a:xfrm>
            <a:off x="7429382" y="3457390"/>
            <a:ext cx="116043" cy="117908"/>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8986720" y="3514243"/>
            <a:ext cx="502920" cy="1905"/>
          </a:xfrm>
          <a:custGeom>
            <a:avLst/>
            <a:gdLst/>
            <a:ahLst/>
            <a:cxnLst/>
            <a:rect l="l" t="t" r="r" b="b"/>
            <a:pathLst>
              <a:path w="502920" h="1904">
                <a:moveTo>
                  <a:pt x="0" y="1511"/>
                </a:moveTo>
                <a:lnTo>
                  <a:pt x="502639" y="0"/>
                </a:lnTo>
              </a:path>
            </a:pathLst>
          </a:custGeom>
          <a:ln w="19049">
            <a:solidFill>
              <a:srgbClr val="000000"/>
            </a:solidFill>
          </a:ln>
        </p:spPr>
        <p:txBody>
          <a:bodyPr wrap="square" lIns="0" tIns="0" rIns="0" bIns="0" rtlCol="0"/>
          <a:lstStyle/>
          <a:p>
            <a:endParaRPr/>
          </a:p>
        </p:txBody>
      </p:sp>
      <p:sp>
        <p:nvSpPr>
          <p:cNvPr id="16" name="object 16"/>
          <p:cNvSpPr/>
          <p:nvPr/>
        </p:nvSpPr>
        <p:spPr>
          <a:xfrm>
            <a:off x="9398520" y="3455517"/>
            <a:ext cx="116043" cy="117908"/>
          </a:xfrm>
          <a:prstGeom prst="rect">
            <a:avLst/>
          </a:prstGeom>
          <a:blipFill>
            <a:blip r:embed="rId6" cstate="print"/>
            <a:stretch>
              <a:fillRect/>
            </a:stretch>
          </a:blipFill>
        </p:spPr>
        <p:txBody>
          <a:bodyPr wrap="square" lIns="0" tIns="0" rIns="0" bIns="0" rtlCol="0"/>
          <a:lstStyle/>
          <a:p>
            <a:endParaRPr/>
          </a:p>
        </p:txBody>
      </p:sp>
      <p:sp>
        <p:nvSpPr>
          <p:cNvPr id="17" name="object 17"/>
          <p:cNvSpPr txBox="1"/>
          <p:nvPr/>
        </p:nvSpPr>
        <p:spPr>
          <a:xfrm>
            <a:off x="1175526" y="4335360"/>
            <a:ext cx="8921750" cy="1041400"/>
          </a:xfrm>
          <a:prstGeom prst="rect">
            <a:avLst/>
          </a:prstGeom>
        </p:spPr>
        <p:txBody>
          <a:bodyPr vert="horz" wrap="square" lIns="0" tIns="154940" rIns="0" bIns="0" rtlCol="0">
            <a:spAutoFit/>
          </a:bodyPr>
          <a:lstStyle/>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认真选择测试数据，使其能够代表实际的使用状况</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永远不要在没有执行前后性能评估的情况下尝试对代码进行优化</a:t>
            </a:r>
            <a:endParaRPr sz="2400">
              <a:latin typeface="微软雅黑" panose="020B0503020204020204" pitchFamily="34" charset="-122"/>
              <a:cs typeface="微软雅黑" panose="020B0503020204020204" pitchFamily="34" charset="-122"/>
            </a:endParaRPr>
          </a:p>
        </p:txBody>
      </p:sp>
      <p:sp>
        <p:nvSpPr>
          <p:cNvPr id="19" name="标题 18"/>
          <p:cNvSpPr>
            <a:spLocks noGrp="1"/>
          </p:cNvSpPr>
          <p:nvPr>
            <p:ph type="title"/>
          </p:nvPr>
        </p:nvSpPr>
        <p:spPr/>
        <p:txBody>
          <a:bodyPr/>
          <a:lstStyle/>
          <a:p>
            <a:r>
              <a:rPr lang="zh-CN" altLang="en-US" dirty="0"/>
              <a:t>代码性能优化</a:t>
            </a:r>
          </a:p>
        </p:txBody>
      </p:sp>
      <p:sp>
        <p:nvSpPr>
          <p:cNvPr id="18" name="灯片编号占位符 17"/>
          <p:cNvSpPr>
            <a:spLocks noGrp="1"/>
          </p:cNvSpPr>
          <p:nvPr>
            <p:ph type="sldNum" sz="quarter" idx="12"/>
          </p:nvPr>
        </p:nvSpPr>
        <p:spPr/>
        <p:txBody>
          <a:bodyPr/>
          <a:lstStyle/>
          <a:p>
            <a:fld id="{74D2AB8B-5816-41F2-8B4B-CA5C3E4E6A65}" type="slidenum">
              <a:rPr lang="zh-CN" altLang="en-US" smtClean="0"/>
              <a:t>6</a:t>
            </a:fld>
            <a:endParaRPr lang="zh-CN" altLang="en-US"/>
          </a:p>
        </p:txBody>
      </p:sp>
      <p:sp>
        <p:nvSpPr>
          <p:cNvPr id="2" name="文本框 1">
            <a:extLst>
              <a:ext uri="{FF2B5EF4-FFF2-40B4-BE49-F238E27FC236}">
                <a16:creationId xmlns:a16="http://schemas.microsoft.com/office/drawing/2014/main" id="{4DE34F10-E7F2-4D57-9112-6803990F9355}"/>
              </a:ext>
            </a:extLst>
          </p:cNvPr>
          <p:cNvSpPr txBox="1"/>
          <p:nvPr/>
        </p:nvSpPr>
        <p:spPr>
          <a:xfrm>
            <a:off x="5069636" y="4097168"/>
            <a:ext cx="2723823" cy="369332"/>
          </a:xfrm>
          <a:prstGeom prst="rect">
            <a:avLst/>
          </a:prstGeom>
          <a:noFill/>
        </p:spPr>
        <p:txBody>
          <a:bodyPr wrap="none" rtlCol="0">
            <a:spAutoFit/>
          </a:bodyPr>
          <a:lstStyle/>
          <a:p>
            <a:r>
              <a:rPr lang="zh-CN" altLang="en-US" dirty="0">
                <a:solidFill>
                  <a:srgbClr val="FF0000"/>
                </a:solidFill>
              </a:rPr>
              <a:t>找出影响代码性能的瓶颈</a:t>
            </a:r>
          </a:p>
        </p:txBody>
      </p:sp>
    </p:spTree>
  </p:cSld>
  <p:clrMapOvr>
    <a:masterClrMapping/>
  </p:clrMapOvr>
  <mc:AlternateContent xmlns:mc="http://schemas.openxmlformats.org/markup-compatibility/2006" xmlns:p14="http://schemas.microsoft.com/office/powerpoint/2010/main">
    <mc:Choice Requires="p14">
      <p:transition spd="slow" p14:dur="2000" advTm="64464"/>
    </mc:Choice>
    <mc:Fallback xmlns="">
      <p:transition spd="slow" advTm="6446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0215" y="1643336"/>
            <a:ext cx="9864090" cy="1333500"/>
          </a:xfrm>
          <a:prstGeom prst="rect">
            <a:avLst/>
          </a:prstGeom>
        </p:spPr>
        <p:txBody>
          <a:bodyPr vert="horz" wrap="square" lIns="0" tIns="6350" rIns="0" bIns="0" rtlCol="0">
            <a:spAutoFit/>
          </a:bodyPr>
          <a:lstStyle/>
          <a:p>
            <a:pPr marL="12700" marR="5080" algn="just">
              <a:lnSpc>
                <a:spcPct val="120000"/>
              </a:lnSpc>
              <a:spcBef>
                <a:spcPts val="50"/>
              </a:spcBef>
            </a:pPr>
            <a:r>
              <a:rPr sz="2400" spc="20" dirty="0">
                <a:latin typeface="微软雅黑" panose="020B0503020204020204" pitchFamily="34" charset="-122"/>
                <a:cs typeface="微软雅黑" panose="020B0503020204020204" pitchFamily="34" charset="-122"/>
              </a:rPr>
              <a:t>编写程序：读入一个文本文件，统计在该文本文件中每个英文单词出现的 </a:t>
            </a:r>
            <a:r>
              <a:rPr sz="2400" spc="40" dirty="0">
                <a:latin typeface="微软雅黑" panose="020B0503020204020204" pitchFamily="34" charset="-122"/>
                <a:cs typeface="微软雅黑" panose="020B0503020204020204" pitchFamily="34" charset="-122"/>
              </a:rPr>
              <a:t>频率，并输出单词频率最高的</a:t>
            </a:r>
            <a:r>
              <a:rPr sz="2400" spc="40" dirty="0">
                <a:latin typeface="Arial" panose="020B0604020202020204"/>
                <a:cs typeface="Arial" panose="020B0604020202020204"/>
              </a:rPr>
              <a:t>100</a:t>
            </a:r>
            <a:r>
              <a:rPr sz="2400" spc="40" dirty="0">
                <a:latin typeface="微软雅黑" panose="020B0503020204020204" pitchFamily="34" charset="-122"/>
                <a:cs typeface="微软雅黑" panose="020B0503020204020204" pitchFamily="34" charset="-122"/>
              </a:rPr>
              <a:t>个单词。其中，单词的定义是连续的若 </a:t>
            </a:r>
            <a:r>
              <a:rPr sz="2400" dirty="0">
                <a:latin typeface="微软雅黑" panose="020B0503020204020204" pitchFamily="34" charset="-122"/>
                <a:cs typeface="微软雅黑" panose="020B0503020204020204" pitchFamily="34" charset="-122"/>
              </a:rPr>
              <a:t>干个小写英文字母。</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4024205" y="4015788"/>
            <a:ext cx="612140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CC0000"/>
                </a:solidFill>
                <a:latin typeface="华文行楷" panose="02010800040101010101" charset="-122"/>
                <a:cs typeface="华文行楷" panose="02010800040101010101" charset="-122"/>
              </a:rPr>
              <a:t>如何有效地提高代码的执行效率</a:t>
            </a:r>
            <a:r>
              <a:rPr sz="3200" dirty="0">
                <a:solidFill>
                  <a:srgbClr val="D81E00"/>
                </a:solidFill>
                <a:latin typeface="华文行楷" panose="02010800040101010101" charset="-122"/>
                <a:cs typeface="华文行楷" panose="02010800040101010101" charset="-122"/>
              </a:rPr>
              <a:t>？</a:t>
            </a:r>
            <a:endParaRPr sz="3200">
              <a:latin typeface="华文行楷" panose="02010800040101010101" charset="-122"/>
              <a:cs typeface="华文行楷" panose="02010800040101010101" charset="-122"/>
            </a:endParaRPr>
          </a:p>
        </p:txBody>
      </p:sp>
      <p:sp>
        <p:nvSpPr>
          <p:cNvPr id="5" name="object 5"/>
          <p:cNvSpPr/>
          <p:nvPr/>
        </p:nvSpPr>
        <p:spPr>
          <a:xfrm>
            <a:off x="1959111" y="3416873"/>
            <a:ext cx="1236870" cy="1851579"/>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t>案例分析</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9917"/>
    </mc:Choice>
    <mc:Fallback xmlns="">
      <p:transition spd="slow" advTm="2991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0215" y="1643336"/>
            <a:ext cx="9864090" cy="1333500"/>
          </a:xfrm>
          <a:prstGeom prst="rect">
            <a:avLst/>
          </a:prstGeom>
        </p:spPr>
        <p:txBody>
          <a:bodyPr vert="horz" wrap="square" lIns="0" tIns="6350" rIns="0" bIns="0" rtlCol="0">
            <a:spAutoFit/>
          </a:bodyPr>
          <a:lstStyle/>
          <a:p>
            <a:pPr marL="12700" marR="5080" algn="just">
              <a:lnSpc>
                <a:spcPct val="120000"/>
              </a:lnSpc>
              <a:spcBef>
                <a:spcPts val="50"/>
              </a:spcBef>
            </a:pPr>
            <a:r>
              <a:rPr sz="2400" spc="20" dirty="0">
                <a:latin typeface="微软雅黑" panose="020B0503020204020204" pitchFamily="34" charset="-122"/>
                <a:cs typeface="微软雅黑" panose="020B0503020204020204" pitchFamily="34" charset="-122"/>
              </a:rPr>
              <a:t>编写程序：读入一个文本文件，统计在该文本文件中每个英文单词出现的 </a:t>
            </a:r>
            <a:r>
              <a:rPr sz="2400" spc="40" dirty="0">
                <a:latin typeface="微软雅黑" panose="020B0503020204020204" pitchFamily="34" charset="-122"/>
                <a:cs typeface="微软雅黑" panose="020B0503020204020204" pitchFamily="34" charset="-122"/>
              </a:rPr>
              <a:t>频率，并输出单词频率最高的</a:t>
            </a:r>
            <a:r>
              <a:rPr sz="2400" spc="40" dirty="0">
                <a:latin typeface="Arial" panose="020B0604020202020204"/>
                <a:cs typeface="Arial" panose="020B0604020202020204"/>
              </a:rPr>
              <a:t>100</a:t>
            </a:r>
            <a:r>
              <a:rPr sz="2400" spc="40" dirty="0">
                <a:latin typeface="微软雅黑" panose="020B0503020204020204" pitchFamily="34" charset="-122"/>
                <a:cs typeface="微软雅黑" panose="020B0503020204020204" pitchFamily="34" charset="-122"/>
              </a:rPr>
              <a:t>个单词。其中，单词的定义是连续的若 </a:t>
            </a:r>
            <a:r>
              <a:rPr sz="2400" dirty="0">
                <a:latin typeface="微软雅黑" panose="020B0503020204020204" pitchFamily="34" charset="-122"/>
                <a:cs typeface="微软雅黑" panose="020B0503020204020204" pitchFamily="34" charset="-122"/>
              </a:rPr>
              <a:t>干个小写英文字母。</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2182971" y="3989397"/>
            <a:ext cx="2135505" cy="803275"/>
          </a:xfrm>
          <a:prstGeom prst="rect">
            <a:avLst/>
          </a:prstGeom>
          <a:solidFill>
            <a:srgbClr val="797BA9"/>
          </a:solidFill>
        </p:spPr>
        <p:txBody>
          <a:bodyPr vert="horz" wrap="square" lIns="0" tIns="218440" rIns="0" bIns="0" rtlCol="0">
            <a:spAutoFit/>
          </a:bodyPr>
          <a:lstStyle/>
          <a:p>
            <a:pPr marL="457835">
              <a:lnSpc>
                <a:spcPct val="100000"/>
              </a:lnSpc>
              <a:spcBef>
                <a:spcPts val="1720"/>
              </a:spcBef>
            </a:pPr>
            <a:r>
              <a:rPr sz="2400" dirty="0">
                <a:solidFill>
                  <a:srgbClr val="FFFFFF"/>
                </a:solidFill>
                <a:latin typeface="微软雅黑" panose="020B0503020204020204" pitchFamily="34" charset="-122"/>
                <a:cs typeface="微软雅黑" panose="020B0503020204020204" pitchFamily="34" charset="-122"/>
              </a:rPr>
              <a:t>单词示例</a:t>
            </a:r>
            <a:endParaRPr sz="2400">
              <a:latin typeface="微软雅黑" panose="020B0503020204020204" pitchFamily="34" charset="-122"/>
              <a:cs typeface="微软雅黑" panose="020B0503020204020204" pitchFamily="34" charset="-122"/>
            </a:endParaRPr>
          </a:p>
        </p:txBody>
      </p:sp>
      <p:sp>
        <p:nvSpPr>
          <p:cNvPr id="5" name="object 5"/>
          <p:cNvSpPr txBox="1"/>
          <p:nvPr/>
        </p:nvSpPr>
        <p:spPr>
          <a:xfrm>
            <a:off x="5021305" y="3506787"/>
            <a:ext cx="3694429" cy="1562100"/>
          </a:xfrm>
          <a:prstGeom prst="rect">
            <a:avLst/>
          </a:prstGeom>
        </p:spPr>
        <p:txBody>
          <a:bodyPr vert="horz" wrap="square" lIns="0" tIns="154940" rIns="0" bIns="0" rtlCol="0">
            <a:spAutoFit/>
          </a:bodyPr>
          <a:lstStyle/>
          <a:p>
            <a:pPr marL="355600" indent="-342900">
              <a:lnSpc>
                <a:spcPct val="100000"/>
              </a:lnSpc>
              <a:spcBef>
                <a:spcPts val="1220"/>
              </a:spcBef>
              <a:buChar char="•"/>
              <a:tabLst>
                <a:tab pos="354965" algn="l"/>
                <a:tab pos="355600" algn="l"/>
              </a:tabLst>
            </a:pPr>
            <a:r>
              <a:rPr sz="2400" dirty="0">
                <a:latin typeface="Arial" panose="020B0604020202020204"/>
                <a:cs typeface="Arial" panose="020B0604020202020204"/>
              </a:rPr>
              <a:t>1</a:t>
            </a:r>
            <a:r>
              <a:rPr sz="2400" dirty="0">
                <a:latin typeface="微软雅黑" panose="020B0503020204020204" pitchFamily="34" charset="-122"/>
                <a:cs typeface="微软雅黑" panose="020B0503020204020204" pitchFamily="34" charset="-122"/>
              </a:rPr>
              <a:t>个单词：</a:t>
            </a:r>
            <a:r>
              <a:rPr sz="2400" spc="-1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as</a:t>
            </a:r>
            <a:endParaRPr sz="2400">
              <a:latin typeface="Arial" panose="020B0604020202020204"/>
              <a:cs typeface="Arial" panose="020B0604020202020204"/>
            </a:endParaRPr>
          </a:p>
          <a:p>
            <a:pPr marL="355600" indent="-342900">
              <a:lnSpc>
                <a:spcPct val="100000"/>
              </a:lnSpc>
              <a:spcBef>
                <a:spcPts val="1120"/>
              </a:spcBef>
              <a:buChar char="•"/>
              <a:tabLst>
                <a:tab pos="354965" algn="l"/>
                <a:tab pos="355600" algn="l"/>
              </a:tabLst>
            </a:pPr>
            <a:r>
              <a:rPr sz="2400" dirty="0">
                <a:latin typeface="Arial" panose="020B0604020202020204"/>
                <a:cs typeface="Arial" panose="020B0604020202020204"/>
              </a:rPr>
              <a:t>2</a:t>
            </a:r>
            <a:r>
              <a:rPr sz="2400" dirty="0">
                <a:latin typeface="微软雅黑" panose="020B0503020204020204" pitchFamily="34" charset="-122"/>
                <a:cs typeface="微软雅黑" panose="020B0503020204020204" pitchFamily="34" charset="-122"/>
              </a:rPr>
              <a:t>个单词：</a:t>
            </a:r>
            <a:r>
              <a:rPr sz="2400" spc="-10" dirty="0">
                <a:latin typeface="微软雅黑" panose="020B0503020204020204" pitchFamily="34" charset="-122"/>
                <a:cs typeface="微软雅黑" panose="020B0503020204020204" pitchFamily="34" charset="-122"/>
              </a:rPr>
              <a:t> </a:t>
            </a:r>
            <a:r>
              <a:rPr sz="2400" spc="-5" dirty="0">
                <a:latin typeface="Arial" panose="020B0604020202020204"/>
                <a:cs typeface="Arial" panose="020B0604020202020204"/>
              </a:rPr>
              <a:t>as,asd</a:t>
            </a:r>
            <a:endParaRPr sz="2400">
              <a:latin typeface="Arial" panose="020B0604020202020204"/>
              <a:cs typeface="Arial" panose="020B0604020202020204"/>
            </a:endParaRPr>
          </a:p>
          <a:p>
            <a:pPr marL="355600" indent="-342900">
              <a:lnSpc>
                <a:spcPct val="100000"/>
              </a:lnSpc>
              <a:spcBef>
                <a:spcPts val="1220"/>
              </a:spcBef>
              <a:buChar char="•"/>
              <a:tabLst>
                <a:tab pos="354965" algn="l"/>
                <a:tab pos="355600" algn="l"/>
              </a:tabLst>
            </a:pPr>
            <a:r>
              <a:rPr sz="2400" dirty="0">
                <a:latin typeface="Arial" panose="020B0604020202020204"/>
                <a:cs typeface="Arial" panose="020B0604020202020204"/>
              </a:rPr>
              <a:t>4</a:t>
            </a:r>
            <a:r>
              <a:rPr sz="2400" dirty="0">
                <a:latin typeface="微软雅黑" panose="020B0503020204020204" pitchFamily="34" charset="-122"/>
                <a:cs typeface="微软雅黑" panose="020B0503020204020204" pitchFamily="34" charset="-122"/>
              </a:rPr>
              <a:t>个单词：</a:t>
            </a:r>
            <a:r>
              <a:rPr sz="2400" spc="-40" dirty="0">
                <a:latin typeface="微软雅黑" panose="020B0503020204020204" pitchFamily="34" charset="-122"/>
                <a:cs typeface="微软雅黑" panose="020B0503020204020204" pitchFamily="34" charset="-122"/>
              </a:rPr>
              <a:t> </a:t>
            </a:r>
            <a:r>
              <a:rPr sz="2400" spc="-5" dirty="0">
                <a:latin typeface="Arial" panose="020B0604020202020204"/>
                <a:cs typeface="Arial" panose="020B0604020202020204"/>
              </a:rPr>
              <a:t>sa,fdf.fdf</a:t>
            </a:r>
            <a:r>
              <a:rPr sz="2400" spc="-35" dirty="0">
                <a:latin typeface="Arial" panose="020B0604020202020204"/>
                <a:cs typeface="Arial" panose="020B0604020202020204"/>
              </a:rPr>
              <a:t> </a:t>
            </a:r>
            <a:r>
              <a:rPr sz="2400" dirty="0">
                <a:latin typeface="Arial" panose="020B0604020202020204"/>
                <a:cs typeface="Arial" panose="020B0604020202020204"/>
              </a:rPr>
              <a:t>fdfdf</a:t>
            </a:r>
            <a:endParaRPr sz="2400">
              <a:latin typeface="Arial" panose="020B0604020202020204"/>
              <a:cs typeface="Arial" panose="020B0604020202020204"/>
            </a:endParaRPr>
          </a:p>
        </p:txBody>
      </p:sp>
      <p:sp>
        <p:nvSpPr>
          <p:cNvPr id="6" name="object 6"/>
          <p:cNvSpPr/>
          <p:nvPr/>
        </p:nvSpPr>
        <p:spPr>
          <a:xfrm>
            <a:off x="5266265" y="5178122"/>
            <a:ext cx="3742690" cy="0"/>
          </a:xfrm>
          <a:custGeom>
            <a:avLst/>
            <a:gdLst/>
            <a:ahLst/>
            <a:cxnLst/>
            <a:rect l="l" t="t" r="r" b="b"/>
            <a:pathLst>
              <a:path w="3742690">
                <a:moveTo>
                  <a:pt x="0" y="0"/>
                </a:moveTo>
                <a:lnTo>
                  <a:pt x="3742265" y="0"/>
                </a:lnTo>
              </a:path>
            </a:pathLst>
          </a:custGeom>
          <a:ln w="28574">
            <a:solidFill>
              <a:srgbClr val="D81E00"/>
            </a:solidFill>
          </a:ln>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t>案例分析</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058"/>
    </mc:Choice>
    <mc:Fallback xmlns="">
      <p:transition spd="slow" advTm="1505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236" y="100650"/>
            <a:ext cx="6438478" cy="6620944"/>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569342" y="100650"/>
            <a:ext cx="10972800" cy="646430"/>
          </a:xfrm>
          <a:prstGeom prst="rect">
            <a:avLst/>
          </a:prstGeom>
          <a:ln w="9524">
            <a:solidFill>
              <a:srgbClr val="FF2600"/>
            </a:solidFill>
          </a:ln>
        </p:spPr>
        <p:txBody>
          <a:bodyPr vert="horz" wrap="square" lIns="0" tIns="5715" rIns="0" bIns="0" rtlCol="0">
            <a:spAutoFit/>
          </a:bodyPr>
          <a:lstStyle/>
          <a:p>
            <a:pPr>
              <a:lnSpc>
                <a:spcPct val="100000"/>
              </a:lnSpc>
              <a:spcBef>
                <a:spcPts val="45"/>
              </a:spcBef>
            </a:pPr>
            <a:endParaRPr sz="2100">
              <a:latin typeface="Times New Roman" panose="02020603050405020304"/>
              <a:cs typeface="Times New Roman" panose="02020603050405020304"/>
            </a:endParaRPr>
          </a:p>
          <a:p>
            <a:pPr marL="4942205">
              <a:lnSpc>
                <a:spcPct val="100000"/>
              </a:lnSpc>
            </a:pPr>
            <a:r>
              <a:rPr sz="1800" dirty="0">
                <a:latin typeface="微软雅黑" panose="020B0503020204020204" pitchFamily="34" charset="-122"/>
                <a:cs typeface="微软雅黑" panose="020B0503020204020204" pitchFamily="34" charset="-122"/>
              </a:rPr>
              <a:t>文件头注释，说明了该文件的编码格式，作者，联系方式等</a:t>
            </a:r>
            <a:endParaRPr sz="1800">
              <a:latin typeface="微软雅黑" panose="020B0503020204020204" pitchFamily="34" charset="-122"/>
              <a:cs typeface="微软雅黑" panose="020B0503020204020204" pitchFamily="34" charset="-122"/>
            </a:endParaRPr>
          </a:p>
        </p:txBody>
      </p:sp>
      <p:sp>
        <p:nvSpPr>
          <p:cNvPr id="4" name="object 4"/>
          <p:cNvSpPr txBox="1"/>
          <p:nvPr/>
        </p:nvSpPr>
        <p:spPr>
          <a:xfrm>
            <a:off x="652732" y="6291877"/>
            <a:ext cx="10972800" cy="369570"/>
          </a:xfrm>
          <a:prstGeom prst="rect">
            <a:avLst/>
          </a:prstGeom>
          <a:ln w="9524">
            <a:solidFill>
              <a:srgbClr val="FF2600"/>
            </a:solidFill>
          </a:ln>
        </p:spPr>
        <p:txBody>
          <a:bodyPr vert="horz" wrap="square" lIns="0" tIns="45720" rIns="0" bIns="0" rtlCol="0">
            <a:spAutoFit/>
          </a:bodyPr>
          <a:lstStyle/>
          <a:p>
            <a:pPr marL="6210935">
              <a:lnSpc>
                <a:spcPct val="100000"/>
              </a:lnSpc>
              <a:spcBef>
                <a:spcPts val="360"/>
              </a:spcBef>
            </a:pPr>
            <a:r>
              <a:rPr sz="1800" dirty="0">
                <a:latin typeface="微软雅黑" panose="020B0503020204020204" pitchFamily="34" charset="-122"/>
                <a:cs typeface="微软雅黑" panose="020B0503020204020204" pitchFamily="34" charset="-122"/>
              </a:rPr>
              <a:t>主函数，程序的入口，相当于</a:t>
            </a:r>
            <a:r>
              <a:rPr sz="1800" spc="-5" dirty="0">
                <a:latin typeface="Calibri" panose="020F0502020204030204"/>
                <a:cs typeface="Calibri" panose="020F0502020204030204"/>
              </a:rPr>
              <a:t>c++</a:t>
            </a:r>
            <a:r>
              <a:rPr sz="1800" dirty="0">
                <a:latin typeface="微软雅黑" panose="020B0503020204020204" pitchFamily="34" charset="-122"/>
                <a:cs typeface="微软雅黑" panose="020B0503020204020204" pitchFamily="34" charset="-122"/>
              </a:rPr>
              <a:t>中的</a:t>
            </a:r>
            <a:r>
              <a:rPr sz="1800" spc="-5" dirty="0">
                <a:latin typeface="Calibri" panose="020F0502020204030204"/>
                <a:cs typeface="Calibri" panose="020F0502020204030204"/>
              </a:rPr>
              <a:t>main</a:t>
            </a:r>
            <a:r>
              <a:rPr sz="1800" dirty="0">
                <a:latin typeface="微软雅黑" panose="020B0503020204020204" pitchFamily="34" charset="-122"/>
                <a:cs typeface="微软雅黑" panose="020B0503020204020204" pitchFamily="34" charset="-122"/>
              </a:rPr>
              <a:t>函数</a:t>
            </a:r>
            <a:endParaRPr sz="1800">
              <a:latin typeface="微软雅黑" panose="020B0503020204020204" pitchFamily="34" charset="-122"/>
              <a:cs typeface="微软雅黑" panose="020B0503020204020204" pitchFamily="34" charset="-122"/>
            </a:endParaRPr>
          </a:p>
        </p:txBody>
      </p:sp>
      <p:sp>
        <p:nvSpPr>
          <p:cNvPr id="5" name="object 5"/>
          <p:cNvSpPr txBox="1"/>
          <p:nvPr/>
        </p:nvSpPr>
        <p:spPr>
          <a:xfrm>
            <a:off x="569342" y="822392"/>
            <a:ext cx="10972800" cy="369570"/>
          </a:xfrm>
          <a:prstGeom prst="rect">
            <a:avLst/>
          </a:prstGeom>
          <a:ln w="9524">
            <a:solidFill>
              <a:srgbClr val="FF2600"/>
            </a:solidFill>
          </a:ln>
        </p:spPr>
        <p:txBody>
          <a:bodyPr vert="horz" wrap="square" lIns="0" tIns="45719" rIns="0" bIns="0" rtlCol="0">
            <a:spAutoFit/>
          </a:bodyPr>
          <a:lstStyle/>
          <a:p>
            <a:pPr marL="7228205">
              <a:lnSpc>
                <a:spcPct val="100000"/>
              </a:lnSpc>
              <a:spcBef>
                <a:spcPts val="360"/>
              </a:spcBef>
            </a:pPr>
            <a:r>
              <a:rPr sz="1800" dirty="0">
                <a:latin typeface="微软雅黑" panose="020B0503020204020204" pitchFamily="34" charset="-122"/>
                <a:cs typeface="微软雅黑" panose="020B0503020204020204" pitchFamily="34" charset="-122"/>
              </a:rPr>
              <a:t>包引用，导入文件需要的各种包文件</a:t>
            </a:r>
            <a:endParaRPr sz="1800">
              <a:latin typeface="微软雅黑" panose="020B0503020204020204" pitchFamily="34" charset="-122"/>
              <a:cs typeface="微软雅黑" panose="020B0503020204020204" pitchFamily="34" charset="-122"/>
            </a:endParaRPr>
          </a:p>
        </p:txBody>
      </p:sp>
      <p:sp>
        <p:nvSpPr>
          <p:cNvPr id="6" name="object 6"/>
          <p:cNvSpPr/>
          <p:nvPr/>
        </p:nvSpPr>
        <p:spPr>
          <a:xfrm>
            <a:off x="569342" y="1267136"/>
            <a:ext cx="10972800" cy="4801870"/>
          </a:xfrm>
          <a:custGeom>
            <a:avLst/>
            <a:gdLst/>
            <a:ahLst/>
            <a:cxnLst/>
            <a:rect l="l" t="t" r="r" b="b"/>
            <a:pathLst>
              <a:path w="10972800" h="4801870">
                <a:moveTo>
                  <a:pt x="0" y="0"/>
                </a:moveTo>
                <a:lnTo>
                  <a:pt x="10972797" y="0"/>
                </a:lnTo>
                <a:lnTo>
                  <a:pt x="10972797" y="4801312"/>
                </a:lnTo>
                <a:lnTo>
                  <a:pt x="0" y="4801312"/>
                </a:lnTo>
                <a:lnTo>
                  <a:pt x="0" y="0"/>
                </a:lnTo>
                <a:close/>
              </a:path>
            </a:pathLst>
          </a:custGeom>
          <a:ln w="9524">
            <a:solidFill>
              <a:srgbClr val="FF2600"/>
            </a:solidFill>
          </a:ln>
        </p:spPr>
        <p:txBody>
          <a:bodyPr wrap="square" lIns="0" tIns="0" rIns="0" bIns="0" rtlCol="0"/>
          <a:lstStyle/>
          <a:p>
            <a:endParaRPr/>
          </a:p>
        </p:txBody>
      </p:sp>
      <p:sp>
        <p:nvSpPr>
          <p:cNvPr id="7" name="object 7"/>
          <p:cNvSpPr txBox="1"/>
          <p:nvPr/>
        </p:nvSpPr>
        <p:spPr>
          <a:xfrm>
            <a:off x="7328282" y="3217856"/>
            <a:ext cx="4140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分词函数，用于实现我们实际的程序功能</a:t>
            </a:r>
            <a:endParaRPr sz="1800">
              <a:latin typeface="微软雅黑" panose="020B0503020204020204" pitchFamily="34" charset="-122"/>
              <a:cs typeface="微软雅黑" panose="020B0503020204020204" pitchFamily="34" charset="-122"/>
            </a:endParaRPr>
          </a:p>
        </p:txBody>
      </p:sp>
      <p:sp>
        <p:nvSpPr>
          <p:cNvPr id="8" name="灯片编号占位符 7"/>
          <p:cNvSpPr>
            <a:spLocks noGrp="1"/>
          </p:cNvSpPr>
          <p:nvPr>
            <p:ph type="sldNum" sz="quarter" idx="7"/>
          </p:nvPr>
        </p:nvSpPr>
        <p:spPr/>
        <p:txBody>
          <a:bodyPr/>
          <a:lstStyle/>
          <a:p>
            <a:fld id="{B6F15528-21DE-4FAA-801E-634DDDAF4B2B}" type="slidenum">
              <a:rPr lang="en-US" altLang="zh-CN"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593"/>
    </mc:Choice>
    <mc:Fallback xmlns="">
      <p:transition spd="slow" advTm="3759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0935" y="272181"/>
            <a:ext cx="8401048" cy="5934074"/>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1699403" y="1725283"/>
            <a:ext cx="2941955" cy="8890"/>
          </a:xfrm>
          <a:custGeom>
            <a:avLst/>
            <a:gdLst/>
            <a:ahLst/>
            <a:cxnLst/>
            <a:rect l="l" t="t" r="r" b="b"/>
            <a:pathLst>
              <a:path w="2941954" h="8889">
                <a:moveTo>
                  <a:pt x="0" y="8625"/>
                </a:moveTo>
                <a:lnTo>
                  <a:pt x="2941606" y="0"/>
                </a:lnTo>
              </a:path>
            </a:pathLst>
          </a:custGeom>
          <a:ln w="19049">
            <a:solidFill>
              <a:srgbClr val="FF2600"/>
            </a:solidFill>
          </a:ln>
        </p:spPr>
        <p:txBody>
          <a:bodyPr wrap="square" lIns="0" tIns="0" rIns="0" bIns="0" rtlCol="0"/>
          <a:lstStyle/>
          <a:p>
            <a:endParaRPr/>
          </a:p>
        </p:txBody>
      </p:sp>
      <p:sp>
        <p:nvSpPr>
          <p:cNvPr id="4" name="object 4"/>
          <p:cNvSpPr txBox="1"/>
          <p:nvPr/>
        </p:nvSpPr>
        <p:spPr>
          <a:xfrm>
            <a:off x="5004422" y="1466608"/>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cs typeface="微软雅黑" panose="020B0503020204020204" pitchFamily="34" charset="-122"/>
              </a:rPr>
              <a:t>文件读入</a:t>
            </a:r>
            <a:endParaRPr sz="1800">
              <a:latin typeface="微软雅黑" panose="020B0503020204020204" pitchFamily="34" charset="-122"/>
              <a:cs typeface="微软雅黑" panose="020B0503020204020204" pitchFamily="34" charset="-122"/>
            </a:endParaRPr>
          </a:p>
        </p:txBody>
      </p:sp>
      <p:sp>
        <p:nvSpPr>
          <p:cNvPr id="5" name="object 5"/>
          <p:cNvSpPr/>
          <p:nvPr/>
        </p:nvSpPr>
        <p:spPr>
          <a:xfrm>
            <a:off x="2084716" y="2964327"/>
            <a:ext cx="3514090" cy="8890"/>
          </a:xfrm>
          <a:custGeom>
            <a:avLst/>
            <a:gdLst/>
            <a:ahLst/>
            <a:cxnLst/>
            <a:rect l="l" t="t" r="r" b="b"/>
            <a:pathLst>
              <a:path w="3514090" h="8889">
                <a:moveTo>
                  <a:pt x="0" y="8625"/>
                </a:moveTo>
                <a:lnTo>
                  <a:pt x="3513825" y="0"/>
                </a:lnTo>
              </a:path>
            </a:pathLst>
          </a:custGeom>
          <a:ln w="19049">
            <a:solidFill>
              <a:srgbClr val="FF2600"/>
            </a:solidFill>
          </a:ln>
        </p:spPr>
        <p:txBody>
          <a:bodyPr wrap="square" lIns="0" tIns="0" rIns="0" bIns="0" rtlCol="0"/>
          <a:lstStyle/>
          <a:p>
            <a:endParaRPr/>
          </a:p>
        </p:txBody>
      </p:sp>
      <p:sp>
        <p:nvSpPr>
          <p:cNvPr id="6" name="object 6"/>
          <p:cNvSpPr txBox="1"/>
          <p:nvPr/>
        </p:nvSpPr>
        <p:spPr>
          <a:xfrm>
            <a:off x="6026920" y="2676260"/>
            <a:ext cx="2768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cs typeface="微软雅黑" panose="020B0503020204020204" pitchFamily="34" charset="-122"/>
              </a:rPr>
              <a:t>分割单词</a:t>
            </a:r>
            <a:r>
              <a:rPr sz="1800" dirty="0">
                <a:solidFill>
                  <a:srgbClr val="FF2600"/>
                </a:solidFill>
                <a:latin typeface="微软雅黑" panose="020B0503020204020204" pitchFamily="34" charset="-122"/>
                <a:cs typeface="微软雅黑" panose="020B0503020204020204" pitchFamily="34" charset="-122"/>
              </a:rPr>
              <a:t>，</a:t>
            </a:r>
            <a:r>
              <a:rPr sz="1800" dirty="0">
                <a:solidFill>
                  <a:srgbClr val="FF0000"/>
                </a:solidFill>
                <a:latin typeface="微软雅黑" panose="020B0503020204020204" pitchFamily="34" charset="-122"/>
                <a:cs typeface="微软雅黑" panose="020B0503020204020204" pitchFamily="34" charset="-122"/>
              </a:rPr>
              <a:t>使用正则表达式</a:t>
            </a:r>
            <a:endParaRPr sz="1800">
              <a:latin typeface="微软雅黑" panose="020B0503020204020204" pitchFamily="34" charset="-122"/>
              <a:cs typeface="微软雅黑" panose="020B0503020204020204" pitchFamily="34" charset="-122"/>
            </a:endParaRPr>
          </a:p>
        </p:txBody>
      </p:sp>
      <p:sp>
        <p:nvSpPr>
          <p:cNvPr id="7" name="object 7"/>
          <p:cNvSpPr/>
          <p:nvPr/>
        </p:nvSpPr>
        <p:spPr>
          <a:xfrm>
            <a:off x="1624641" y="4203370"/>
            <a:ext cx="2438400" cy="8890"/>
          </a:xfrm>
          <a:custGeom>
            <a:avLst/>
            <a:gdLst/>
            <a:ahLst/>
            <a:cxnLst/>
            <a:rect l="l" t="t" r="r" b="b"/>
            <a:pathLst>
              <a:path w="2438400" h="8889">
                <a:moveTo>
                  <a:pt x="0" y="8626"/>
                </a:moveTo>
                <a:lnTo>
                  <a:pt x="2438400" y="0"/>
                </a:lnTo>
              </a:path>
            </a:pathLst>
          </a:custGeom>
          <a:ln w="19049">
            <a:solidFill>
              <a:srgbClr val="FF2600"/>
            </a:solidFill>
          </a:ln>
        </p:spPr>
        <p:txBody>
          <a:bodyPr wrap="square" lIns="0" tIns="0" rIns="0" bIns="0" rtlCol="0"/>
          <a:lstStyle/>
          <a:p>
            <a:endParaRPr/>
          </a:p>
        </p:txBody>
      </p:sp>
      <p:sp>
        <p:nvSpPr>
          <p:cNvPr id="8" name="object 8"/>
          <p:cNvSpPr txBox="1"/>
          <p:nvPr/>
        </p:nvSpPr>
        <p:spPr>
          <a:xfrm>
            <a:off x="4583434" y="3953323"/>
            <a:ext cx="4140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cs typeface="微软雅黑" panose="020B0503020204020204" pitchFamily="34" charset="-122"/>
              </a:rPr>
              <a:t>词频统计</a:t>
            </a:r>
            <a:r>
              <a:rPr sz="1800" dirty="0">
                <a:solidFill>
                  <a:srgbClr val="FF2600"/>
                </a:solidFill>
                <a:latin typeface="微软雅黑" panose="020B0503020204020204" pitchFamily="34" charset="-122"/>
                <a:cs typeface="微软雅黑" panose="020B0503020204020204" pitchFamily="34" charset="-122"/>
              </a:rPr>
              <a:t>，</a:t>
            </a:r>
            <a:r>
              <a:rPr sz="1800" dirty="0">
                <a:solidFill>
                  <a:srgbClr val="FF0000"/>
                </a:solidFill>
                <a:latin typeface="微软雅黑" panose="020B0503020204020204" pitchFamily="34" charset="-122"/>
                <a:cs typeface="微软雅黑" panose="020B0503020204020204" pitchFamily="34" charset="-122"/>
              </a:rPr>
              <a:t>利用词典类型进行判重的操作</a:t>
            </a:r>
            <a:endParaRPr sz="1800">
              <a:latin typeface="微软雅黑" panose="020B0503020204020204" pitchFamily="34" charset="-122"/>
              <a:cs typeface="微软雅黑" panose="020B0503020204020204" pitchFamily="34" charset="-122"/>
            </a:endParaRPr>
          </a:p>
        </p:txBody>
      </p:sp>
      <p:sp>
        <p:nvSpPr>
          <p:cNvPr id="9" name="object 9"/>
          <p:cNvSpPr/>
          <p:nvPr/>
        </p:nvSpPr>
        <p:spPr>
          <a:xfrm>
            <a:off x="2222740" y="5734110"/>
            <a:ext cx="6317615" cy="0"/>
          </a:xfrm>
          <a:custGeom>
            <a:avLst/>
            <a:gdLst/>
            <a:ahLst/>
            <a:cxnLst/>
            <a:rect l="l" t="t" r="r" b="b"/>
            <a:pathLst>
              <a:path w="6317615">
                <a:moveTo>
                  <a:pt x="0" y="0"/>
                </a:moveTo>
                <a:lnTo>
                  <a:pt x="6317408" y="0"/>
                </a:lnTo>
              </a:path>
            </a:pathLst>
          </a:custGeom>
          <a:ln w="19049">
            <a:solidFill>
              <a:srgbClr val="FF2600"/>
            </a:solidFill>
          </a:ln>
        </p:spPr>
        <p:txBody>
          <a:bodyPr wrap="square" lIns="0" tIns="0" rIns="0" bIns="0" rtlCol="0"/>
          <a:lstStyle/>
          <a:p>
            <a:endParaRPr/>
          </a:p>
        </p:txBody>
      </p:sp>
      <p:sp>
        <p:nvSpPr>
          <p:cNvPr id="10" name="object 10"/>
          <p:cNvSpPr txBox="1"/>
          <p:nvPr/>
        </p:nvSpPr>
        <p:spPr>
          <a:xfrm>
            <a:off x="8670649" y="5553839"/>
            <a:ext cx="2515235" cy="566420"/>
          </a:xfrm>
          <a:prstGeom prst="rect">
            <a:avLst/>
          </a:prstGeom>
        </p:spPr>
        <p:txBody>
          <a:bodyPr vert="horz" wrap="square" lIns="0" tIns="27940" rIns="0" bIns="0" rtlCol="0">
            <a:spAutoFit/>
          </a:bodyPr>
          <a:lstStyle/>
          <a:p>
            <a:pPr marL="12700" marR="5080">
              <a:lnSpc>
                <a:spcPts val="2100"/>
              </a:lnSpc>
              <a:spcBef>
                <a:spcPts val="220"/>
              </a:spcBef>
            </a:pPr>
            <a:r>
              <a:rPr sz="1800" dirty="0">
                <a:solidFill>
                  <a:srgbClr val="FF0000"/>
                </a:solidFill>
                <a:latin typeface="微软雅黑" panose="020B0503020204020204" pitchFamily="34" charset="-122"/>
                <a:cs typeface="微软雅黑" panose="020B0503020204020204" pitchFamily="34" charset="-122"/>
              </a:rPr>
              <a:t>排序</a:t>
            </a:r>
            <a:r>
              <a:rPr sz="1800" dirty="0">
                <a:solidFill>
                  <a:srgbClr val="FF2600"/>
                </a:solidFill>
                <a:latin typeface="微软雅黑" panose="020B0503020204020204" pitchFamily="34" charset="-122"/>
                <a:cs typeface="微软雅黑" panose="020B0503020204020204" pitchFamily="34" charset="-122"/>
              </a:rPr>
              <a:t>，</a:t>
            </a:r>
            <a:r>
              <a:rPr sz="1800" dirty="0">
                <a:solidFill>
                  <a:srgbClr val="FF0000"/>
                </a:solidFill>
                <a:latin typeface="微软雅黑" panose="020B0503020204020204" pitchFamily="34" charset="-122"/>
                <a:cs typeface="微软雅黑" panose="020B0503020204020204" pitchFamily="34" charset="-122"/>
              </a:rPr>
              <a:t>这里用</a:t>
            </a:r>
            <a:r>
              <a:rPr sz="1800" dirty="0">
                <a:solidFill>
                  <a:srgbClr val="FF2600"/>
                </a:solidFill>
                <a:latin typeface="Calibri" panose="020F0502020204030204"/>
                <a:cs typeface="Calibri" panose="020F0502020204030204"/>
              </a:rPr>
              <a:t>p</a:t>
            </a:r>
            <a:r>
              <a:rPr sz="1800" spc="-5" dirty="0">
                <a:solidFill>
                  <a:srgbClr val="FF2600"/>
                </a:solidFill>
                <a:latin typeface="Calibri" panose="020F0502020204030204"/>
                <a:cs typeface="Calibri" panose="020F0502020204030204"/>
              </a:rPr>
              <a:t>y</a:t>
            </a:r>
            <a:r>
              <a:rPr sz="1800" dirty="0">
                <a:solidFill>
                  <a:srgbClr val="FF2600"/>
                </a:solidFill>
                <a:latin typeface="Calibri" panose="020F0502020204030204"/>
                <a:cs typeface="Calibri" panose="020F0502020204030204"/>
              </a:rPr>
              <a:t>th</a:t>
            </a:r>
            <a:r>
              <a:rPr sz="1800" spc="-5" dirty="0">
                <a:solidFill>
                  <a:srgbClr val="FF2600"/>
                </a:solidFill>
                <a:latin typeface="Calibri" panose="020F0502020204030204"/>
                <a:cs typeface="Calibri" panose="020F0502020204030204"/>
              </a:rPr>
              <a:t>on</a:t>
            </a:r>
            <a:r>
              <a:rPr sz="1800" dirty="0">
                <a:solidFill>
                  <a:srgbClr val="FF0000"/>
                </a:solidFill>
                <a:latin typeface="微软雅黑" panose="020B0503020204020204" pitchFamily="34" charset="-122"/>
                <a:cs typeface="微软雅黑" panose="020B0503020204020204" pitchFamily="34" charset="-122"/>
              </a:rPr>
              <a:t>内置 的排序算法来实现</a:t>
            </a:r>
            <a:endParaRPr sz="1800">
              <a:latin typeface="微软雅黑" panose="020B0503020204020204" pitchFamily="34" charset="-122"/>
              <a:cs typeface="微软雅黑" panose="020B0503020204020204" pitchFamily="34" charset="-122"/>
            </a:endParaRPr>
          </a:p>
        </p:txBody>
      </p:sp>
      <p:sp>
        <p:nvSpPr>
          <p:cNvPr id="12" name="灯片编号占位符 11"/>
          <p:cNvSpPr>
            <a:spLocks noGrp="1"/>
          </p:cNvSpPr>
          <p:nvPr>
            <p:ph type="sldNum" sz="quarter" idx="7"/>
          </p:nvPr>
        </p:nvSpPr>
        <p:spPr/>
        <p:txBody>
          <a:bodyPr/>
          <a:lstStyle/>
          <a:p>
            <a:fld id="{B6F15528-21DE-4FAA-801E-634DDDAF4B2B}" type="slidenum">
              <a:rPr lang="en-US" altLang="zh-CN" smtClean="0"/>
              <a:t>10</a:t>
            </a:fld>
            <a:endParaRPr lang="zh-CN" altLang="en-US"/>
          </a:p>
        </p:txBody>
      </p:sp>
      <p:sp>
        <p:nvSpPr>
          <p:cNvPr id="11" name="矩形 10">
            <a:extLst>
              <a:ext uri="{FF2B5EF4-FFF2-40B4-BE49-F238E27FC236}">
                <a16:creationId xmlns:a16="http://schemas.microsoft.com/office/drawing/2014/main" id="{EBE5FA34-0F40-4F11-A433-87B0BB8B4A21}"/>
              </a:ext>
            </a:extLst>
          </p:cNvPr>
          <p:cNvSpPr/>
          <p:nvPr/>
        </p:nvSpPr>
        <p:spPr>
          <a:xfrm>
            <a:off x="6198620" y="368409"/>
            <a:ext cx="5493812" cy="369332"/>
          </a:xfrm>
          <a:prstGeom prst="rect">
            <a:avLst/>
          </a:prstGeom>
        </p:spPr>
        <p:txBody>
          <a:bodyPr wrap="none">
            <a:spAutoFit/>
          </a:bodyPr>
          <a:lstStyle/>
          <a:p>
            <a:r>
              <a:rPr lang="zh-CN" altLang="en-US" dirty="0">
                <a:solidFill>
                  <a:srgbClr val="FF0000"/>
                </a:solidFill>
                <a:highlight>
                  <a:srgbClr val="FFFF00"/>
                </a:highlight>
              </a:rPr>
              <a:t>同学们认为影响整个程序性能的主要是哪一部分呢？</a:t>
            </a:r>
          </a:p>
        </p:txBody>
      </p:sp>
    </p:spTree>
  </p:cSld>
  <p:clrMapOvr>
    <a:masterClrMapping/>
  </p:clrMapOvr>
  <mc:AlternateContent xmlns:mc="http://schemas.openxmlformats.org/markup-compatibility/2006" xmlns:p14="http://schemas.microsoft.com/office/powerpoint/2010/main">
    <mc:Choice Requires="p14">
      <p:transition spd="slow" p14:dur="2000" advTm="51972"/>
    </mc:Choice>
    <mc:Fallback xmlns="">
      <p:transition spd="slow" advTm="519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7123" y="1562120"/>
            <a:ext cx="10006330" cy="889000"/>
          </a:xfrm>
          <a:prstGeom prst="rect">
            <a:avLst/>
          </a:prstGeom>
        </p:spPr>
        <p:txBody>
          <a:bodyPr vert="horz" wrap="square" lIns="0" tIns="12065" rIns="0" bIns="0" rtlCol="0">
            <a:spAutoFit/>
          </a:bodyPr>
          <a:lstStyle/>
          <a:p>
            <a:pPr marL="12700" marR="5080">
              <a:lnSpc>
                <a:spcPct val="118000"/>
              </a:lnSpc>
              <a:spcBef>
                <a:spcPts val="95"/>
              </a:spcBef>
            </a:pPr>
            <a:r>
              <a:rPr sz="2400" spc="45" dirty="0">
                <a:solidFill>
                  <a:srgbClr val="0033CC"/>
                </a:solidFill>
                <a:latin typeface="Arial" panose="020B0604020202020204"/>
                <a:cs typeface="Arial" panose="020B0604020202020204"/>
              </a:rPr>
              <a:t>Profile</a:t>
            </a:r>
            <a:r>
              <a:rPr sz="2400" spc="45" dirty="0">
                <a:latin typeface="微软雅黑" panose="020B0503020204020204" pitchFamily="34" charset="-122"/>
                <a:cs typeface="微软雅黑" panose="020B0503020204020204" pitchFamily="34" charset="-122"/>
              </a:rPr>
              <a:t>是</a:t>
            </a:r>
            <a:r>
              <a:rPr sz="2400" spc="45" dirty="0">
                <a:latin typeface="Arial" panose="020B0604020202020204"/>
                <a:cs typeface="Arial" panose="020B0604020202020204"/>
              </a:rPr>
              <a:t>Python</a:t>
            </a:r>
            <a:r>
              <a:rPr sz="2400" spc="45" dirty="0">
                <a:latin typeface="微软雅黑" panose="020B0503020204020204" pitchFamily="34" charset="-122"/>
                <a:cs typeface="微软雅黑" panose="020B0503020204020204" pitchFamily="34" charset="-122"/>
              </a:rPr>
              <a:t>语言内置的性能分析工具，它能够有效地描述程序运行的 </a:t>
            </a:r>
            <a:r>
              <a:rPr sz="2400" dirty="0">
                <a:latin typeface="微软雅黑" panose="020B0503020204020204" pitchFamily="34" charset="-122"/>
                <a:cs typeface="微软雅黑" panose="020B0503020204020204" pitchFamily="34" charset="-122"/>
              </a:rPr>
              <a:t>性能状况，提供各种统计数据帮助程序员找出程序中的性能瓶颈。</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1592143" y="2782061"/>
            <a:ext cx="4158805" cy="3029521"/>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459842" y="3400231"/>
            <a:ext cx="4333240" cy="1320800"/>
          </a:xfrm>
          <a:prstGeom prst="rect">
            <a:avLst/>
          </a:prstGeom>
        </p:spPr>
        <p:txBody>
          <a:bodyPr vert="horz" wrap="square" lIns="0" tIns="12700" rIns="0" bIns="0" rtlCol="0">
            <a:spAutoFit/>
          </a:bodyPr>
          <a:lstStyle/>
          <a:p>
            <a:pPr marL="12700" marR="5080" indent="395605">
              <a:lnSpc>
                <a:spcPct val="129000"/>
              </a:lnSpc>
              <a:spcBef>
                <a:spcPts val="100"/>
              </a:spcBef>
            </a:pPr>
            <a:r>
              <a:rPr sz="2200" dirty="0">
                <a:latin typeface="微软雅黑" panose="020B0503020204020204" pitchFamily="34" charset="-122"/>
                <a:cs typeface="微软雅黑" panose="020B0503020204020204" pitchFamily="34" charset="-122"/>
              </a:rPr>
              <a:t>左图是一个求阶乘的小程序，  </a:t>
            </a:r>
            <a:r>
              <a:rPr sz="2200" spc="-5" dirty="0">
                <a:latin typeface="Arial" panose="020B0604020202020204"/>
                <a:cs typeface="Arial" panose="020B0604020202020204"/>
              </a:rPr>
              <a:t>Profile</a:t>
            </a:r>
            <a:r>
              <a:rPr sz="2200" dirty="0">
                <a:latin typeface="微软雅黑" panose="020B0503020204020204" pitchFamily="34" charset="-122"/>
                <a:cs typeface="微软雅黑" panose="020B0503020204020204" pitchFamily="34" charset="-122"/>
              </a:rPr>
              <a:t>工具仅需要一行代码就可以 对所测试函数进行代码性能测试。</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1233234" y="5153277"/>
            <a:ext cx="4859655" cy="791845"/>
          </a:xfrm>
          <a:custGeom>
            <a:avLst/>
            <a:gdLst/>
            <a:ahLst/>
            <a:cxnLst/>
            <a:rect l="l" t="t" r="r" b="b"/>
            <a:pathLst>
              <a:path w="4859655" h="791845">
                <a:moveTo>
                  <a:pt x="0" y="0"/>
                </a:moveTo>
                <a:lnTo>
                  <a:pt x="4859312" y="0"/>
                </a:lnTo>
                <a:lnTo>
                  <a:pt x="4859312" y="791396"/>
                </a:lnTo>
                <a:lnTo>
                  <a:pt x="0" y="791396"/>
                </a:lnTo>
                <a:lnTo>
                  <a:pt x="0" y="0"/>
                </a:lnTo>
                <a:close/>
              </a:path>
            </a:pathLst>
          </a:custGeom>
          <a:ln w="28574">
            <a:solidFill>
              <a:srgbClr val="D81E00"/>
            </a:solidFill>
          </a:ln>
        </p:spPr>
        <p:txBody>
          <a:bodyPr wrap="square" lIns="0" tIns="0" rIns="0" bIns="0" rtlCol="0"/>
          <a:lstStyle/>
          <a:p>
            <a:endParaRPr/>
          </a:p>
        </p:txBody>
      </p:sp>
      <p:sp>
        <p:nvSpPr>
          <p:cNvPr id="7" name="object 7"/>
          <p:cNvSpPr/>
          <p:nvPr/>
        </p:nvSpPr>
        <p:spPr>
          <a:xfrm>
            <a:off x="3106026" y="3580989"/>
            <a:ext cx="1238250" cy="1555115"/>
          </a:xfrm>
          <a:custGeom>
            <a:avLst/>
            <a:gdLst/>
            <a:ahLst/>
            <a:cxnLst/>
            <a:rect l="l" t="t" r="r" b="b"/>
            <a:pathLst>
              <a:path w="1238250" h="1555114">
                <a:moveTo>
                  <a:pt x="1237914" y="1554826"/>
                </a:moveTo>
                <a:lnTo>
                  <a:pt x="0" y="0"/>
                </a:lnTo>
              </a:path>
            </a:pathLst>
          </a:custGeom>
          <a:ln w="28574">
            <a:solidFill>
              <a:srgbClr val="D81E00"/>
            </a:solidFill>
          </a:ln>
        </p:spPr>
        <p:txBody>
          <a:bodyPr wrap="square" lIns="0" tIns="0" rIns="0" bIns="0" rtlCol="0"/>
          <a:lstStyle/>
          <a:p>
            <a:endParaRPr/>
          </a:p>
        </p:txBody>
      </p:sp>
      <p:sp>
        <p:nvSpPr>
          <p:cNvPr id="8" name="object 8"/>
          <p:cNvSpPr/>
          <p:nvPr/>
        </p:nvSpPr>
        <p:spPr>
          <a:xfrm>
            <a:off x="3088228" y="3558633"/>
            <a:ext cx="86995" cy="93980"/>
          </a:xfrm>
          <a:custGeom>
            <a:avLst/>
            <a:gdLst/>
            <a:ahLst/>
            <a:cxnLst/>
            <a:rect l="l" t="t" r="r" b="b"/>
            <a:pathLst>
              <a:path w="86994" h="93979">
                <a:moveTo>
                  <a:pt x="0" y="0"/>
                </a:moveTo>
                <a:lnTo>
                  <a:pt x="19862" y="93761"/>
                </a:lnTo>
                <a:lnTo>
                  <a:pt x="86927" y="40366"/>
                </a:lnTo>
                <a:lnTo>
                  <a:pt x="0" y="0"/>
                </a:lnTo>
                <a:close/>
              </a:path>
            </a:pathLst>
          </a:custGeom>
          <a:solidFill>
            <a:srgbClr val="D81E00"/>
          </a:solidFill>
        </p:spPr>
        <p:txBody>
          <a:bodyPr wrap="square" lIns="0" tIns="0" rIns="0" bIns="0" rtlCol="0"/>
          <a:lstStyle/>
          <a:p>
            <a:endParaRPr/>
          </a:p>
        </p:txBody>
      </p:sp>
      <p:sp>
        <p:nvSpPr>
          <p:cNvPr id="9" name="object 9"/>
          <p:cNvSpPr/>
          <p:nvPr/>
        </p:nvSpPr>
        <p:spPr>
          <a:xfrm>
            <a:off x="1485017" y="3044717"/>
            <a:ext cx="2155825" cy="0"/>
          </a:xfrm>
          <a:custGeom>
            <a:avLst/>
            <a:gdLst/>
            <a:ahLst/>
            <a:cxnLst/>
            <a:rect l="l" t="t" r="r" b="b"/>
            <a:pathLst>
              <a:path w="2155825">
                <a:moveTo>
                  <a:pt x="0" y="0"/>
                </a:moveTo>
                <a:lnTo>
                  <a:pt x="2155648" y="1"/>
                </a:lnTo>
              </a:path>
            </a:pathLst>
          </a:custGeom>
          <a:ln w="28574">
            <a:solidFill>
              <a:srgbClr val="D81E00"/>
            </a:solidFill>
          </a:ln>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t>性能测试工具</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0450"/>
    </mc:Choice>
    <mc:Fallback xmlns="">
      <p:transition spd="slow" advTm="5045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12</a:t>
            </a:fld>
            <a:endParaRPr lang="zh-CN" altLang="en-US"/>
          </a:p>
        </p:txBody>
      </p:sp>
      <p:pic>
        <p:nvPicPr>
          <p:cNvPr id="3" name="图片 2"/>
          <p:cNvPicPr>
            <a:picLocks noChangeAspect="1"/>
          </p:cNvPicPr>
          <p:nvPr/>
        </p:nvPicPr>
        <p:blipFill>
          <a:blip r:embed="rId3"/>
          <a:stretch>
            <a:fillRect/>
          </a:stretch>
        </p:blipFill>
        <p:spPr>
          <a:xfrm>
            <a:off x="0" y="277852"/>
            <a:ext cx="12086472" cy="66966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6825"/>
    </mc:Choice>
    <mc:Fallback xmlns="">
      <p:transition spd="slow" advTm="6682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10751" y="333745"/>
            <a:ext cx="6447579" cy="1775419"/>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635790" y="2468252"/>
            <a:ext cx="4813714" cy="1840427"/>
          </a:xfrm>
          <a:prstGeom prst="rect">
            <a:avLst/>
          </a:prstGeom>
          <a:blipFill>
            <a:blip r:embed="rId4" cstate="print"/>
            <a:stretch>
              <a:fillRect/>
            </a:stretch>
          </a:blipFill>
        </p:spPr>
        <p:txBody>
          <a:bodyPr wrap="square" lIns="0" tIns="0" rIns="0" bIns="0" rtlCol="0"/>
          <a:lstStyle/>
          <a:p>
            <a:endParaRPr/>
          </a:p>
        </p:txBody>
      </p:sp>
      <p:sp>
        <p:nvSpPr>
          <p:cNvPr id="4" name="object 4"/>
          <p:cNvSpPr/>
          <p:nvPr/>
        </p:nvSpPr>
        <p:spPr>
          <a:xfrm>
            <a:off x="1080619" y="4922720"/>
            <a:ext cx="4477669" cy="428935"/>
          </a:xfrm>
          <a:prstGeom prst="rect">
            <a:avLst/>
          </a:prstGeom>
          <a:blipFill>
            <a:blip r:embed="rId5" cstate="print"/>
            <a:stretch>
              <a:fillRect/>
            </a:stretch>
          </a:blipFill>
        </p:spPr>
        <p:txBody>
          <a:bodyPr wrap="square" lIns="0" tIns="0" rIns="0" bIns="0" rtlCol="0"/>
          <a:lstStyle/>
          <a:p>
            <a:endParaRPr/>
          </a:p>
        </p:txBody>
      </p:sp>
      <p:sp>
        <p:nvSpPr>
          <p:cNvPr id="5" name="object 5"/>
          <p:cNvSpPr/>
          <p:nvPr/>
        </p:nvSpPr>
        <p:spPr>
          <a:xfrm>
            <a:off x="1030653" y="5994642"/>
            <a:ext cx="5955754" cy="443355"/>
          </a:xfrm>
          <a:prstGeom prst="rect">
            <a:avLst/>
          </a:prstGeom>
          <a:blipFill>
            <a:blip r:embed="rId6" cstate="print"/>
            <a:stretch>
              <a:fillRect/>
            </a:stretch>
          </a:blipFill>
        </p:spPr>
        <p:txBody>
          <a:bodyPr wrap="square" lIns="0" tIns="0" rIns="0" bIns="0" rtlCol="0"/>
          <a:lstStyle/>
          <a:p>
            <a:endParaRPr/>
          </a:p>
        </p:txBody>
      </p:sp>
      <p:sp>
        <p:nvSpPr>
          <p:cNvPr id="6" name="object 6"/>
          <p:cNvSpPr txBox="1"/>
          <p:nvPr/>
        </p:nvSpPr>
        <p:spPr>
          <a:xfrm>
            <a:off x="2898010" y="2057029"/>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a:t>
            </a:r>
            <a:endParaRPr sz="1800">
              <a:latin typeface="Arial" panose="020B0604020202020204"/>
              <a:cs typeface="Arial" panose="020B0604020202020204"/>
            </a:endParaRPr>
          </a:p>
        </p:txBody>
      </p:sp>
      <p:sp>
        <p:nvSpPr>
          <p:cNvPr id="7" name="object 7"/>
          <p:cNvSpPr txBox="1">
            <a:spLocks noGrp="1"/>
          </p:cNvSpPr>
          <p:nvPr>
            <p:ph type="title"/>
          </p:nvPr>
        </p:nvSpPr>
        <p:spPr>
          <a:xfrm>
            <a:off x="7790330" y="523963"/>
            <a:ext cx="2302903" cy="320601"/>
          </a:xfrm>
          <a:prstGeom prst="rect">
            <a:avLst/>
          </a:prstGeom>
        </p:spPr>
        <p:txBody>
          <a:bodyPr vert="horz" wrap="square" lIns="0" tIns="12700" rIns="0" bIns="0" rtlCol="0">
            <a:spAutoFit/>
          </a:bodyPr>
          <a:lstStyle/>
          <a:p>
            <a:pPr marL="12700">
              <a:lnSpc>
                <a:spcPct val="100000"/>
              </a:lnSpc>
              <a:spcBef>
                <a:spcPts val="100"/>
              </a:spcBef>
            </a:pPr>
            <a:r>
              <a:rPr sz="2000" dirty="0"/>
              <a:t>程序总耗时</a:t>
            </a:r>
            <a:r>
              <a:rPr sz="2000" spc="-85" dirty="0"/>
              <a:t> </a:t>
            </a:r>
            <a:r>
              <a:rPr sz="2000" dirty="0">
                <a:latin typeface="Arial" panose="020B0604020202020204"/>
                <a:cs typeface="Arial" panose="020B0604020202020204"/>
              </a:rPr>
              <a:t>4.562s</a:t>
            </a:r>
          </a:p>
        </p:txBody>
      </p:sp>
      <p:sp>
        <p:nvSpPr>
          <p:cNvPr id="8" name="object 8"/>
          <p:cNvSpPr/>
          <p:nvPr/>
        </p:nvSpPr>
        <p:spPr>
          <a:xfrm>
            <a:off x="5816451" y="287118"/>
            <a:ext cx="1344295" cy="257810"/>
          </a:xfrm>
          <a:custGeom>
            <a:avLst/>
            <a:gdLst/>
            <a:ahLst/>
            <a:cxnLst/>
            <a:rect l="l" t="t" r="r" b="b"/>
            <a:pathLst>
              <a:path w="1344295" h="257809">
                <a:moveTo>
                  <a:pt x="0" y="0"/>
                </a:moveTo>
                <a:lnTo>
                  <a:pt x="1343672" y="0"/>
                </a:lnTo>
                <a:lnTo>
                  <a:pt x="1343672" y="257661"/>
                </a:lnTo>
                <a:lnTo>
                  <a:pt x="0" y="257661"/>
                </a:lnTo>
                <a:lnTo>
                  <a:pt x="0" y="0"/>
                </a:lnTo>
                <a:close/>
              </a:path>
            </a:pathLst>
          </a:custGeom>
          <a:ln w="19049">
            <a:solidFill>
              <a:srgbClr val="D81E00"/>
            </a:solidFill>
          </a:ln>
        </p:spPr>
        <p:txBody>
          <a:bodyPr wrap="square" lIns="0" tIns="0" rIns="0" bIns="0" rtlCol="0"/>
          <a:lstStyle/>
          <a:p>
            <a:endParaRPr/>
          </a:p>
        </p:txBody>
      </p:sp>
      <p:sp>
        <p:nvSpPr>
          <p:cNvPr id="9" name="object 9"/>
          <p:cNvSpPr/>
          <p:nvPr/>
        </p:nvSpPr>
        <p:spPr>
          <a:xfrm>
            <a:off x="7174557" y="406975"/>
            <a:ext cx="532765" cy="257810"/>
          </a:xfrm>
          <a:custGeom>
            <a:avLst/>
            <a:gdLst/>
            <a:ahLst/>
            <a:cxnLst/>
            <a:rect l="l" t="t" r="r" b="b"/>
            <a:pathLst>
              <a:path w="532765" h="257809">
                <a:moveTo>
                  <a:pt x="0" y="0"/>
                </a:moveTo>
                <a:lnTo>
                  <a:pt x="532752" y="257243"/>
                </a:lnTo>
              </a:path>
            </a:pathLst>
          </a:custGeom>
          <a:ln w="19049">
            <a:solidFill>
              <a:srgbClr val="D81E00"/>
            </a:solidFill>
          </a:ln>
        </p:spPr>
        <p:txBody>
          <a:bodyPr wrap="square" lIns="0" tIns="0" rIns="0" bIns="0" rtlCol="0"/>
          <a:lstStyle/>
          <a:p>
            <a:endParaRPr/>
          </a:p>
        </p:txBody>
      </p:sp>
      <p:sp>
        <p:nvSpPr>
          <p:cNvPr id="10" name="object 10"/>
          <p:cNvSpPr/>
          <p:nvPr/>
        </p:nvSpPr>
        <p:spPr>
          <a:xfrm>
            <a:off x="7644996" y="607819"/>
            <a:ext cx="85725" cy="69215"/>
          </a:xfrm>
          <a:custGeom>
            <a:avLst/>
            <a:gdLst/>
            <a:ahLst/>
            <a:cxnLst/>
            <a:rect l="l" t="t" r="r" b="b"/>
            <a:pathLst>
              <a:path w="85725" h="69215">
                <a:moveTo>
                  <a:pt x="33133" y="0"/>
                </a:moveTo>
                <a:lnTo>
                  <a:pt x="0" y="68619"/>
                </a:lnTo>
                <a:lnTo>
                  <a:pt x="85186" y="67443"/>
                </a:lnTo>
                <a:lnTo>
                  <a:pt x="33133" y="0"/>
                </a:lnTo>
                <a:close/>
              </a:path>
            </a:pathLst>
          </a:custGeom>
          <a:solidFill>
            <a:srgbClr val="D81E00"/>
          </a:solidFill>
        </p:spPr>
        <p:txBody>
          <a:bodyPr wrap="square" lIns="0" tIns="0" rIns="0" bIns="0" rtlCol="0"/>
          <a:lstStyle/>
          <a:p>
            <a:endParaRPr/>
          </a:p>
        </p:txBody>
      </p:sp>
      <p:sp>
        <p:nvSpPr>
          <p:cNvPr id="11" name="object 11"/>
          <p:cNvSpPr txBox="1"/>
          <p:nvPr/>
        </p:nvSpPr>
        <p:spPr>
          <a:xfrm>
            <a:off x="7293353" y="2494277"/>
            <a:ext cx="403161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Keys()</a:t>
            </a:r>
            <a:r>
              <a:rPr sz="1800" dirty="0">
                <a:latin typeface="微软雅黑" panose="020B0503020204020204" pitchFamily="34" charset="-122"/>
                <a:cs typeface="微软雅黑" panose="020B0503020204020204" pitchFamily="34" charset="-122"/>
              </a:rPr>
              <a:t>函数执行</a:t>
            </a:r>
            <a:r>
              <a:rPr sz="1800" spc="-5" dirty="0">
                <a:latin typeface="Arial" panose="020B0604020202020204"/>
                <a:cs typeface="Arial" panose="020B0604020202020204"/>
              </a:rPr>
              <a:t>500000</a:t>
            </a:r>
            <a:r>
              <a:rPr sz="1800" dirty="0">
                <a:latin typeface="微软雅黑" panose="020B0503020204020204" pitchFamily="34" charset="-122"/>
                <a:cs typeface="微软雅黑" panose="020B0503020204020204" pitchFamily="34" charset="-122"/>
              </a:rPr>
              <a:t>次，耗时</a:t>
            </a:r>
            <a:r>
              <a:rPr sz="1800" spc="-45"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1.141s</a:t>
            </a:r>
            <a:endParaRPr sz="1800">
              <a:latin typeface="Arial" panose="020B0604020202020204"/>
              <a:cs typeface="Arial" panose="020B0604020202020204"/>
            </a:endParaRPr>
          </a:p>
        </p:txBody>
      </p:sp>
      <p:sp>
        <p:nvSpPr>
          <p:cNvPr id="12" name="object 12"/>
          <p:cNvSpPr/>
          <p:nvPr/>
        </p:nvSpPr>
        <p:spPr>
          <a:xfrm>
            <a:off x="465309" y="2561026"/>
            <a:ext cx="5237480" cy="220345"/>
          </a:xfrm>
          <a:custGeom>
            <a:avLst/>
            <a:gdLst/>
            <a:ahLst/>
            <a:cxnLst/>
            <a:rect l="l" t="t" r="r" b="b"/>
            <a:pathLst>
              <a:path w="5237480" h="220344">
                <a:moveTo>
                  <a:pt x="0" y="0"/>
                </a:moveTo>
                <a:lnTo>
                  <a:pt x="5236988" y="0"/>
                </a:lnTo>
                <a:lnTo>
                  <a:pt x="5236988" y="220270"/>
                </a:lnTo>
                <a:lnTo>
                  <a:pt x="0" y="220270"/>
                </a:lnTo>
                <a:lnTo>
                  <a:pt x="0" y="0"/>
                </a:lnTo>
                <a:close/>
              </a:path>
            </a:pathLst>
          </a:custGeom>
          <a:ln w="19049">
            <a:solidFill>
              <a:srgbClr val="D81E00"/>
            </a:solidFill>
          </a:ln>
        </p:spPr>
        <p:txBody>
          <a:bodyPr wrap="square" lIns="0" tIns="0" rIns="0" bIns="0" rtlCol="0"/>
          <a:lstStyle/>
          <a:p>
            <a:endParaRPr/>
          </a:p>
        </p:txBody>
      </p:sp>
      <p:sp>
        <p:nvSpPr>
          <p:cNvPr id="13" name="object 13"/>
          <p:cNvSpPr/>
          <p:nvPr/>
        </p:nvSpPr>
        <p:spPr>
          <a:xfrm>
            <a:off x="5719140" y="265082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14" name="object 14"/>
          <p:cNvSpPr/>
          <p:nvPr/>
        </p:nvSpPr>
        <p:spPr>
          <a:xfrm>
            <a:off x="7152493" y="2612941"/>
            <a:ext cx="76835" cy="76200"/>
          </a:xfrm>
          <a:custGeom>
            <a:avLst/>
            <a:gdLst/>
            <a:ahLst/>
            <a:cxnLst/>
            <a:rect l="l" t="t" r="r" b="b"/>
            <a:pathLst>
              <a:path w="76834" h="76200">
                <a:moveTo>
                  <a:pt x="0" y="0"/>
                </a:moveTo>
                <a:lnTo>
                  <a:pt x="320" y="76198"/>
                </a:lnTo>
                <a:lnTo>
                  <a:pt x="76360" y="37778"/>
                </a:lnTo>
                <a:lnTo>
                  <a:pt x="0" y="0"/>
                </a:lnTo>
                <a:close/>
              </a:path>
            </a:pathLst>
          </a:custGeom>
          <a:solidFill>
            <a:srgbClr val="D81E00"/>
          </a:solidFill>
        </p:spPr>
        <p:txBody>
          <a:bodyPr wrap="square" lIns="0" tIns="0" rIns="0" bIns="0" rtlCol="0"/>
          <a:lstStyle/>
          <a:p>
            <a:endParaRPr/>
          </a:p>
        </p:txBody>
      </p:sp>
      <p:sp>
        <p:nvSpPr>
          <p:cNvPr id="15" name="object 15"/>
          <p:cNvSpPr txBox="1"/>
          <p:nvPr/>
        </p:nvSpPr>
        <p:spPr>
          <a:xfrm>
            <a:off x="2898010" y="4389592"/>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a:t>
            </a:r>
            <a:endParaRPr sz="1800">
              <a:latin typeface="Arial" panose="020B0604020202020204"/>
              <a:cs typeface="Arial" panose="020B0604020202020204"/>
            </a:endParaRPr>
          </a:p>
        </p:txBody>
      </p:sp>
      <p:sp>
        <p:nvSpPr>
          <p:cNvPr id="16" name="object 16"/>
          <p:cNvSpPr/>
          <p:nvPr/>
        </p:nvSpPr>
        <p:spPr>
          <a:xfrm>
            <a:off x="452609" y="3856426"/>
            <a:ext cx="5237480" cy="220345"/>
          </a:xfrm>
          <a:custGeom>
            <a:avLst/>
            <a:gdLst/>
            <a:ahLst/>
            <a:cxnLst/>
            <a:rect l="l" t="t" r="r" b="b"/>
            <a:pathLst>
              <a:path w="5237480" h="220345">
                <a:moveTo>
                  <a:pt x="0" y="0"/>
                </a:moveTo>
                <a:lnTo>
                  <a:pt x="5236988" y="0"/>
                </a:lnTo>
                <a:lnTo>
                  <a:pt x="5236988" y="220270"/>
                </a:lnTo>
                <a:lnTo>
                  <a:pt x="0" y="220270"/>
                </a:lnTo>
                <a:lnTo>
                  <a:pt x="0" y="0"/>
                </a:lnTo>
                <a:close/>
              </a:path>
            </a:pathLst>
          </a:custGeom>
          <a:ln w="19049">
            <a:solidFill>
              <a:srgbClr val="D81E00"/>
            </a:solidFill>
          </a:ln>
        </p:spPr>
        <p:txBody>
          <a:bodyPr wrap="square" lIns="0" tIns="0" rIns="0" bIns="0" rtlCol="0"/>
          <a:lstStyle/>
          <a:p>
            <a:endParaRPr/>
          </a:p>
        </p:txBody>
      </p:sp>
      <p:sp>
        <p:nvSpPr>
          <p:cNvPr id="17" name="object 17"/>
          <p:cNvSpPr/>
          <p:nvPr/>
        </p:nvSpPr>
        <p:spPr>
          <a:xfrm>
            <a:off x="5706440" y="394622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18" name="object 18"/>
          <p:cNvSpPr/>
          <p:nvPr/>
        </p:nvSpPr>
        <p:spPr>
          <a:xfrm>
            <a:off x="7139793" y="3908341"/>
            <a:ext cx="76835" cy="76200"/>
          </a:xfrm>
          <a:custGeom>
            <a:avLst/>
            <a:gdLst/>
            <a:ahLst/>
            <a:cxnLst/>
            <a:rect l="l" t="t" r="r" b="b"/>
            <a:pathLst>
              <a:path w="76834" h="76200">
                <a:moveTo>
                  <a:pt x="0" y="0"/>
                </a:moveTo>
                <a:lnTo>
                  <a:pt x="320" y="76198"/>
                </a:lnTo>
                <a:lnTo>
                  <a:pt x="76360" y="37778"/>
                </a:lnTo>
                <a:lnTo>
                  <a:pt x="0" y="0"/>
                </a:lnTo>
                <a:close/>
              </a:path>
            </a:pathLst>
          </a:custGeom>
          <a:solidFill>
            <a:srgbClr val="D81E00"/>
          </a:solidFill>
        </p:spPr>
        <p:txBody>
          <a:bodyPr wrap="square" lIns="0" tIns="0" rIns="0" bIns="0" rtlCol="0"/>
          <a:lstStyle/>
          <a:p>
            <a:endParaRPr/>
          </a:p>
        </p:txBody>
      </p:sp>
      <p:sp>
        <p:nvSpPr>
          <p:cNvPr id="19" name="object 19"/>
          <p:cNvSpPr txBox="1"/>
          <p:nvPr/>
        </p:nvSpPr>
        <p:spPr>
          <a:xfrm>
            <a:off x="7344153" y="3665162"/>
            <a:ext cx="1706880" cy="723265"/>
          </a:xfrm>
          <a:prstGeom prst="rect">
            <a:avLst/>
          </a:prstGeom>
        </p:spPr>
        <p:txBody>
          <a:bodyPr vert="horz" wrap="square" lIns="0" tIns="12700" rIns="0" bIns="0" rtlCol="0">
            <a:spAutoFit/>
          </a:bodyPr>
          <a:lstStyle/>
          <a:p>
            <a:pPr marL="25400" marR="5080" indent="-12700">
              <a:lnSpc>
                <a:spcPct val="127000"/>
              </a:lnSpc>
              <a:spcBef>
                <a:spcPts val="100"/>
              </a:spcBef>
            </a:pPr>
            <a:r>
              <a:rPr sz="1800" dirty="0">
                <a:latin typeface="微软雅黑" panose="020B0503020204020204" pitchFamily="34" charset="-122"/>
                <a:cs typeface="微软雅黑" panose="020B0503020204020204" pitchFamily="34" charset="-122"/>
              </a:rPr>
              <a:t>输出几乎不耗时 输入耗时</a:t>
            </a:r>
            <a:r>
              <a:rPr sz="1800" spc="-100"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0.094s</a:t>
            </a:r>
            <a:endParaRPr sz="1800">
              <a:latin typeface="Arial" panose="020B0604020202020204"/>
              <a:cs typeface="Arial" panose="020B0604020202020204"/>
            </a:endParaRPr>
          </a:p>
        </p:txBody>
      </p:sp>
      <p:sp>
        <p:nvSpPr>
          <p:cNvPr id="20" name="object 20"/>
          <p:cNvSpPr/>
          <p:nvPr/>
        </p:nvSpPr>
        <p:spPr>
          <a:xfrm>
            <a:off x="452609" y="4123126"/>
            <a:ext cx="5237480" cy="220345"/>
          </a:xfrm>
          <a:custGeom>
            <a:avLst/>
            <a:gdLst/>
            <a:ahLst/>
            <a:cxnLst/>
            <a:rect l="l" t="t" r="r" b="b"/>
            <a:pathLst>
              <a:path w="5237480" h="220345">
                <a:moveTo>
                  <a:pt x="0" y="0"/>
                </a:moveTo>
                <a:lnTo>
                  <a:pt x="5236988" y="0"/>
                </a:lnTo>
                <a:lnTo>
                  <a:pt x="5236988" y="220271"/>
                </a:lnTo>
                <a:lnTo>
                  <a:pt x="0" y="220271"/>
                </a:lnTo>
                <a:lnTo>
                  <a:pt x="0" y="0"/>
                </a:lnTo>
                <a:close/>
              </a:path>
            </a:pathLst>
          </a:custGeom>
          <a:ln w="19049">
            <a:solidFill>
              <a:srgbClr val="D81E00"/>
            </a:solidFill>
          </a:ln>
        </p:spPr>
        <p:txBody>
          <a:bodyPr wrap="square" lIns="0" tIns="0" rIns="0" bIns="0" rtlCol="0"/>
          <a:lstStyle/>
          <a:p>
            <a:endParaRPr/>
          </a:p>
        </p:txBody>
      </p:sp>
      <p:sp>
        <p:nvSpPr>
          <p:cNvPr id="21" name="object 21"/>
          <p:cNvSpPr/>
          <p:nvPr/>
        </p:nvSpPr>
        <p:spPr>
          <a:xfrm>
            <a:off x="5706440" y="421292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22" name="object 22"/>
          <p:cNvSpPr/>
          <p:nvPr/>
        </p:nvSpPr>
        <p:spPr>
          <a:xfrm>
            <a:off x="7139793" y="4175041"/>
            <a:ext cx="76835" cy="76200"/>
          </a:xfrm>
          <a:custGeom>
            <a:avLst/>
            <a:gdLst/>
            <a:ahLst/>
            <a:cxnLst/>
            <a:rect l="l" t="t" r="r" b="b"/>
            <a:pathLst>
              <a:path w="76834" h="76200">
                <a:moveTo>
                  <a:pt x="0" y="0"/>
                </a:moveTo>
                <a:lnTo>
                  <a:pt x="320" y="76198"/>
                </a:lnTo>
                <a:lnTo>
                  <a:pt x="76360" y="37778"/>
                </a:lnTo>
                <a:lnTo>
                  <a:pt x="0" y="0"/>
                </a:lnTo>
                <a:close/>
              </a:path>
            </a:pathLst>
          </a:custGeom>
          <a:solidFill>
            <a:srgbClr val="D81E00"/>
          </a:solidFill>
        </p:spPr>
        <p:txBody>
          <a:bodyPr wrap="square" lIns="0" tIns="0" rIns="0" bIns="0" rtlCol="0"/>
          <a:lstStyle/>
          <a:p>
            <a:endParaRPr/>
          </a:p>
        </p:txBody>
      </p:sp>
      <p:sp>
        <p:nvSpPr>
          <p:cNvPr id="23" name="object 23"/>
          <p:cNvSpPr txBox="1"/>
          <p:nvPr/>
        </p:nvSpPr>
        <p:spPr>
          <a:xfrm>
            <a:off x="7344153" y="4824769"/>
            <a:ext cx="2312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排序函数，耗时</a:t>
            </a:r>
            <a:r>
              <a:rPr sz="1800" dirty="0">
                <a:latin typeface="Arial" panose="020B0604020202020204"/>
                <a:cs typeface="Arial" panose="020B0604020202020204"/>
              </a:rPr>
              <a:t>1.203s</a:t>
            </a:r>
          </a:p>
        </p:txBody>
      </p:sp>
      <p:sp>
        <p:nvSpPr>
          <p:cNvPr id="24" name="object 24"/>
          <p:cNvSpPr/>
          <p:nvPr/>
        </p:nvSpPr>
        <p:spPr>
          <a:xfrm>
            <a:off x="452609" y="4876656"/>
            <a:ext cx="5237480" cy="220345"/>
          </a:xfrm>
          <a:custGeom>
            <a:avLst/>
            <a:gdLst/>
            <a:ahLst/>
            <a:cxnLst/>
            <a:rect l="l" t="t" r="r" b="b"/>
            <a:pathLst>
              <a:path w="5237480" h="220345">
                <a:moveTo>
                  <a:pt x="0" y="0"/>
                </a:moveTo>
                <a:lnTo>
                  <a:pt x="5236988" y="0"/>
                </a:lnTo>
                <a:lnTo>
                  <a:pt x="5236988" y="220271"/>
                </a:lnTo>
                <a:lnTo>
                  <a:pt x="0" y="220271"/>
                </a:lnTo>
                <a:lnTo>
                  <a:pt x="0" y="0"/>
                </a:lnTo>
                <a:close/>
              </a:path>
            </a:pathLst>
          </a:custGeom>
          <a:ln w="19049">
            <a:solidFill>
              <a:srgbClr val="D81E00"/>
            </a:solidFill>
          </a:ln>
        </p:spPr>
        <p:txBody>
          <a:bodyPr wrap="square" lIns="0" tIns="0" rIns="0" bIns="0" rtlCol="0"/>
          <a:lstStyle/>
          <a:p>
            <a:endParaRPr/>
          </a:p>
        </p:txBody>
      </p:sp>
      <p:sp>
        <p:nvSpPr>
          <p:cNvPr id="25" name="object 25"/>
          <p:cNvSpPr/>
          <p:nvPr/>
        </p:nvSpPr>
        <p:spPr>
          <a:xfrm>
            <a:off x="5706440" y="496645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26" name="object 26"/>
          <p:cNvSpPr/>
          <p:nvPr/>
        </p:nvSpPr>
        <p:spPr>
          <a:xfrm>
            <a:off x="7139793" y="4928570"/>
            <a:ext cx="76835" cy="76200"/>
          </a:xfrm>
          <a:custGeom>
            <a:avLst/>
            <a:gdLst/>
            <a:ahLst/>
            <a:cxnLst/>
            <a:rect l="l" t="t" r="r" b="b"/>
            <a:pathLst>
              <a:path w="76834" h="76200">
                <a:moveTo>
                  <a:pt x="0" y="0"/>
                </a:moveTo>
                <a:lnTo>
                  <a:pt x="320" y="76199"/>
                </a:lnTo>
                <a:lnTo>
                  <a:pt x="76360" y="37779"/>
                </a:lnTo>
                <a:lnTo>
                  <a:pt x="0" y="0"/>
                </a:lnTo>
                <a:close/>
              </a:path>
            </a:pathLst>
          </a:custGeom>
          <a:solidFill>
            <a:srgbClr val="D81E00"/>
          </a:solidFill>
        </p:spPr>
        <p:txBody>
          <a:bodyPr wrap="square" lIns="0" tIns="0" rIns="0" bIns="0" rtlCol="0"/>
          <a:lstStyle/>
          <a:p>
            <a:endParaRPr/>
          </a:p>
        </p:txBody>
      </p:sp>
      <p:sp>
        <p:nvSpPr>
          <p:cNvPr id="27" name="object 27"/>
          <p:cNvSpPr txBox="1"/>
          <p:nvPr/>
        </p:nvSpPr>
        <p:spPr>
          <a:xfrm>
            <a:off x="7320781" y="5595625"/>
            <a:ext cx="23799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分词函数，耗时</a:t>
            </a:r>
            <a:r>
              <a:rPr sz="1800" spc="-85"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0.312s</a:t>
            </a:r>
            <a:endParaRPr sz="1800">
              <a:latin typeface="Arial" panose="020B0604020202020204"/>
              <a:cs typeface="Arial" panose="020B0604020202020204"/>
            </a:endParaRPr>
          </a:p>
        </p:txBody>
      </p:sp>
      <p:sp>
        <p:nvSpPr>
          <p:cNvPr id="28" name="object 28"/>
          <p:cNvSpPr/>
          <p:nvPr/>
        </p:nvSpPr>
        <p:spPr>
          <a:xfrm>
            <a:off x="452609" y="5181456"/>
            <a:ext cx="5237480" cy="220345"/>
          </a:xfrm>
          <a:custGeom>
            <a:avLst/>
            <a:gdLst/>
            <a:ahLst/>
            <a:cxnLst/>
            <a:rect l="l" t="t" r="r" b="b"/>
            <a:pathLst>
              <a:path w="5237480" h="220345">
                <a:moveTo>
                  <a:pt x="0" y="0"/>
                </a:moveTo>
                <a:lnTo>
                  <a:pt x="5236988" y="0"/>
                </a:lnTo>
                <a:lnTo>
                  <a:pt x="5236988" y="220270"/>
                </a:lnTo>
                <a:lnTo>
                  <a:pt x="0" y="220270"/>
                </a:lnTo>
                <a:lnTo>
                  <a:pt x="0" y="0"/>
                </a:lnTo>
                <a:close/>
              </a:path>
            </a:pathLst>
          </a:custGeom>
          <a:ln w="19049">
            <a:solidFill>
              <a:srgbClr val="D81E00"/>
            </a:solidFill>
          </a:ln>
        </p:spPr>
        <p:txBody>
          <a:bodyPr wrap="square" lIns="0" tIns="0" rIns="0" bIns="0" rtlCol="0"/>
          <a:lstStyle/>
          <a:p>
            <a:endParaRPr/>
          </a:p>
        </p:txBody>
      </p:sp>
      <p:sp>
        <p:nvSpPr>
          <p:cNvPr id="29" name="object 29"/>
          <p:cNvSpPr/>
          <p:nvPr/>
        </p:nvSpPr>
        <p:spPr>
          <a:xfrm>
            <a:off x="5706440" y="5277500"/>
            <a:ext cx="1524000" cy="456565"/>
          </a:xfrm>
          <a:custGeom>
            <a:avLst/>
            <a:gdLst/>
            <a:ahLst/>
            <a:cxnLst/>
            <a:rect l="l" t="t" r="r" b="b"/>
            <a:pathLst>
              <a:path w="1524000" h="456564">
                <a:moveTo>
                  <a:pt x="0" y="0"/>
                </a:moveTo>
                <a:lnTo>
                  <a:pt x="1523479" y="456262"/>
                </a:lnTo>
              </a:path>
            </a:pathLst>
          </a:custGeom>
          <a:ln w="19049">
            <a:solidFill>
              <a:srgbClr val="D81E00"/>
            </a:solidFill>
          </a:ln>
        </p:spPr>
        <p:txBody>
          <a:bodyPr wrap="square" lIns="0" tIns="0" rIns="0" bIns="0" rtlCol="0"/>
          <a:lstStyle/>
          <a:p>
            <a:endParaRPr/>
          </a:p>
        </p:txBody>
      </p:sp>
      <p:sp>
        <p:nvSpPr>
          <p:cNvPr id="30" name="object 30"/>
          <p:cNvSpPr/>
          <p:nvPr/>
        </p:nvSpPr>
        <p:spPr>
          <a:xfrm>
            <a:off x="7170325" y="5682690"/>
            <a:ext cx="84455" cy="73025"/>
          </a:xfrm>
          <a:custGeom>
            <a:avLst/>
            <a:gdLst/>
            <a:ahLst/>
            <a:cxnLst/>
            <a:rect l="l" t="t" r="r" b="b"/>
            <a:pathLst>
              <a:path w="84454" h="73025">
                <a:moveTo>
                  <a:pt x="21861" y="0"/>
                </a:moveTo>
                <a:lnTo>
                  <a:pt x="0" y="72996"/>
                </a:lnTo>
                <a:lnTo>
                  <a:pt x="83926" y="58359"/>
                </a:lnTo>
                <a:lnTo>
                  <a:pt x="21861" y="0"/>
                </a:lnTo>
                <a:close/>
              </a:path>
            </a:pathLst>
          </a:custGeom>
          <a:solidFill>
            <a:srgbClr val="D81E00"/>
          </a:solidFill>
        </p:spPr>
        <p:txBody>
          <a:bodyPr wrap="square" lIns="0" tIns="0" rIns="0" bIns="0" rtlCol="0"/>
          <a:lstStyle/>
          <a:p>
            <a:endParaRPr/>
          </a:p>
        </p:txBody>
      </p:sp>
      <p:sp>
        <p:nvSpPr>
          <p:cNvPr id="31" name="object 31"/>
          <p:cNvSpPr txBox="1"/>
          <p:nvPr/>
        </p:nvSpPr>
        <p:spPr>
          <a:xfrm>
            <a:off x="2898010" y="5439461"/>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a:t>
            </a:r>
            <a:endParaRPr sz="1800">
              <a:latin typeface="Arial" panose="020B0604020202020204"/>
              <a:cs typeface="Arial" panose="020B0604020202020204"/>
            </a:endParaRPr>
          </a:p>
        </p:txBody>
      </p:sp>
      <p:sp>
        <p:nvSpPr>
          <p:cNvPr id="32" name="灯片编号占位符 31"/>
          <p:cNvSpPr>
            <a:spLocks noGrp="1"/>
          </p:cNvSpPr>
          <p:nvPr>
            <p:ph type="sldNum" sz="quarter" idx="12"/>
          </p:nvPr>
        </p:nvSpPr>
        <p:spPr/>
        <p:txBody>
          <a:bodyPr/>
          <a:lstStyle/>
          <a:p>
            <a:fld id="{74D2AB8B-5816-41F2-8B4B-CA5C3E4E6A65}" type="slidenum">
              <a:rPr lang="zh-CN" altLang="en-US" smtClean="0"/>
              <a:t>13</a:t>
            </a:fld>
            <a:endParaRPr lang="zh-CN" altLang="en-US"/>
          </a:p>
        </p:txBody>
      </p:sp>
      <p:sp>
        <p:nvSpPr>
          <p:cNvPr id="33" name="矩形 32">
            <a:extLst>
              <a:ext uri="{FF2B5EF4-FFF2-40B4-BE49-F238E27FC236}">
                <a16:creationId xmlns:a16="http://schemas.microsoft.com/office/drawing/2014/main" id="{25136A2A-39B1-476B-9431-E0C7E96C6873}"/>
              </a:ext>
            </a:extLst>
          </p:cNvPr>
          <p:cNvSpPr/>
          <p:nvPr/>
        </p:nvSpPr>
        <p:spPr>
          <a:xfrm>
            <a:off x="5831156" y="3105330"/>
            <a:ext cx="5493812" cy="369332"/>
          </a:xfrm>
          <a:prstGeom prst="rect">
            <a:avLst/>
          </a:prstGeom>
        </p:spPr>
        <p:txBody>
          <a:bodyPr wrap="none">
            <a:spAutoFit/>
          </a:bodyPr>
          <a:lstStyle/>
          <a:p>
            <a:r>
              <a:rPr lang="zh-CN" altLang="en-US" dirty="0">
                <a:solidFill>
                  <a:srgbClr val="FF0000"/>
                </a:solidFill>
                <a:highlight>
                  <a:srgbClr val="FFFF00"/>
                </a:highlight>
              </a:rPr>
              <a:t>优先完成有能力做，而且效果又比较明显的性能优化</a:t>
            </a:r>
          </a:p>
        </p:txBody>
      </p:sp>
    </p:spTree>
  </p:cSld>
  <p:clrMapOvr>
    <a:masterClrMapping/>
  </p:clrMapOvr>
  <mc:AlternateContent xmlns:mc="http://schemas.openxmlformats.org/markup-compatibility/2006" xmlns:p14="http://schemas.microsoft.com/office/powerpoint/2010/main">
    <mc:Choice Requires="p14">
      <p:transition spd="slow" p14:dur="2000" advTm="96284"/>
    </mc:Choice>
    <mc:Fallback xmlns="">
      <p:transition spd="slow" advTm="96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1672" y="1668827"/>
            <a:ext cx="530288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latin typeface="微软雅黑" panose="020B0503020204020204" pitchFamily="34" charset="-122"/>
                <a:cs typeface="微软雅黑" panose="020B0503020204020204" pitchFamily="34" charset="-122"/>
              </a:rPr>
              <a:t>为什么</a:t>
            </a:r>
            <a:r>
              <a:rPr sz="2400" spc="-50" dirty="0">
                <a:solidFill>
                  <a:srgbClr val="0033CC"/>
                </a:solidFill>
                <a:latin typeface="微软雅黑" panose="020B0503020204020204" pitchFamily="34" charset="-122"/>
                <a:cs typeface="微软雅黑" panose="020B0503020204020204" pitchFamily="34" charset="-122"/>
              </a:rPr>
              <a:t> </a:t>
            </a:r>
            <a:r>
              <a:rPr sz="2400" dirty="0">
                <a:solidFill>
                  <a:srgbClr val="0033CC"/>
                </a:solidFill>
                <a:latin typeface="Arial" panose="020B0604020202020204"/>
                <a:cs typeface="Arial" panose="020B0604020202020204"/>
              </a:rPr>
              <a:t>keys()</a:t>
            </a:r>
            <a:r>
              <a:rPr sz="2400" spc="-5" dirty="0">
                <a:solidFill>
                  <a:srgbClr val="0033CC"/>
                </a:solidFill>
                <a:latin typeface="Arial" panose="020B0604020202020204"/>
                <a:cs typeface="Arial" panose="020B0604020202020204"/>
              </a:rPr>
              <a:t> </a:t>
            </a:r>
            <a:r>
              <a:rPr sz="2400" dirty="0">
                <a:solidFill>
                  <a:srgbClr val="0033CC"/>
                </a:solidFill>
                <a:latin typeface="微软雅黑" panose="020B0503020204020204" pitchFamily="34" charset="-122"/>
                <a:cs typeface="微软雅黑" panose="020B0503020204020204" pitchFamily="34" charset="-122"/>
              </a:rPr>
              <a:t>函数的调用复杂度过高</a:t>
            </a:r>
            <a:r>
              <a:rPr sz="2400" dirty="0">
                <a:solidFill>
                  <a:srgbClr val="004DD6"/>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1095086" y="2498247"/>
            <a:ext cx="9832975" cy="588010"/>
          </a:xfrm>
          <a:prstGeom prst="rect">
            <a:avLst/>
          </a:prstGeom>
          <a:solidFill>
            <a:srgbClr val="ECEBEB"/>
          </a:solidFill>
        </p:spPr>
        <p:txBody>
          <a:bodyPr vert="horz" wrap="square" lIns="0" tIns="107950" rIns="0" bIns="0" rtlCol="0">
            <a:spAutoFit/>
          </a:bodyPr>
          <a:lstStyle/>
          <a:p>
            <a:pPr marL="588645">
              <a:lnSpc>
                <a:spcPct val="100000"/>
              </a:lnSpc>
              <a:spcBef>
                <a:spcPts val="850"/>
              </a:spcBef>
              <a:tabLst>
                <a:tab pos="1680210" algn="l"/>
                <a:tab pos="7049770" algn="l"/>
              </a:tabLst>
            </a:pPr>
            <a:r>
              <a:rPr sz="2400" spc="-10" dirty="0">
                <a:latin typeface="微软雅黑" panose="020B0503020204020204" pitchFamily="34" charset="-122"/>
                <a:cs typeface="微软雅黑" panose="020B0503020204020204" pitchFamily="34" charset="-122"/>
              </a:rPr>
              <a:t>keys():	</a:t>
            </a:r>
            <a:r>
              <a:rPr sz="2400" spc="-5" dirty="0">
                <a:latin typeface="Calibri" panose="020F0502020204030204"/>
                <a:cs typeface="Calibri" panose="020F0502020204030204"/>
              </a:rPr>
              <a:t>Return </a:t>
            </a:r>
            <a:r>
              <a:rPr sz="2400" dirty="0">
                <a:latin typeface="Calibri" panose="020F0502020204030204"/>
                <a:cs typeface="Calibri" panose="020F0502020204030204"/>
              </a:rPr>
              <a:t>a new view </a:t>
            </a:r>
            <a:r>
              <a:rPr sz="2400" spc="-5" dirty="0">
                <a:latin typeface="Calibri" panose="020F0502020204030204"/>
                <a:cs typeface="Calibri" panose="020F0502020204030204"/>
              </a:rPr>
              <a:t>of </a:t>
            </a:r>
            <a:r>
              <a:rPr sz="2400" dirty="0">
                <a:latin typeface="Calibri" panose="020F0502020204030204"/>
                <a:cs typeface="Calibri" panose="020F0502020204030204"/>
              </a:rPr>
              <a:t>the</a:t>
            </a:r>
            <a:r>
              <a:rPr sz="2400" spc="50" dirty="0">
                <a:latin typeface="Calibri" panose="020F0502020204030204"/>
                <a:cs typeface="Calibri" panose="020F0502020204030204"/>
              </a:rPr>
              <a:t> </a:t>
            </a:r>
            <a:r>
              <a:rPr sz="2400" spc="-5" dirty="0">
                <a:latin typeface="Calibri" panose="020F0502020204030204"/>
                <a:cs typeface="Calibri" panose="020F0502020204030204"/>
              </a:rPr>
              <a:t>dictionary’s</a:t>
            </a:r>
            <a:r>
              <a:rPr sz="2400" spc="5" dirty="0">
                <a:latin typeface="Calibri" panose="020F0502020204030204"/>
                <a:cs typeface="Calibri" panose="020F0502020204030204"/>
              </a:rPr>
              <a:t> </a:t>
            </a:r>
            <a:r>
              <a:rPr sz="2400" spc="-5" dirty="0">
                <a:latin typeface="Calibri" panose="020F0502020204030204"/>
                <a:cs typeface="Calibri" panose="020F0502020204030204"/>
              </a:rPr>
              <a:t>keys	(docs.python.org)</a:t>
            </a:r>
            <a:endParaRPr sz="2400">
              <a:latin typeface="Calibri" panose="020F0502020204030204"/>
              <a:cs typeface="Calibri" panose="020F0502020204030204"/>
            </a:endParaRPr>
          </a:p>
        </p:txBody>
      </p:sp>
      <p:sp>
        <p:nvSpPr>
          <p:cNvPr id="5" name="object 5"/>
          <p:cNvSpPr txBox="1"/>
          <p:nvPr/>
        </p:nvSpPr>
        <p:spPr>
          <a:xfrm>
            <a:off x="1160504" y="3507630"/>
            <a:ext cx="9750425" cy="1663700"/>
          </a:xfrm>
          <a:prstGeom prst="rect">
            <a:avLst/>
          </a:prstGeom>
        </p:spPr>
        <p:txBody>
          <a:bodyPr vert="horz" wrap="square" lIns="0" tIns="12700" rIns="0" bIns="0" rtlCol="0">
            <a:spAutoFit/>
          </a:bodyPr>
          <a:lstStyle/>
          <a:p>
            <a:pPr marL="354965" marR="5080" indent="-342900">
              <a:lnSpc>
                <a:spcPct val="128000"/>
              </a:lnSpc>
              <a:spcBef>
                <a:spcPts val="100"/>
              </a:spcBef>
              <a:buFont typeface="Arial" panose="020B0604020202020204"/>
              <a:buChar char="•"/>
              <a:tabLst>
                <a:tab pos="360045" algn="l"/>
                <a:tab pos="360680" algn="l"/>
              </a:tabLst>
            </a:pPr>
            <a:r>
              <a:rPr sz="2400" spc="75" dirty="0">
                <a:solidFill>
                  <a:srgbClr val="CC0000"/>
                </a:solidFill>
                <a:latin typeface="微软雅黑" panose="020B0503020204020204" pitchFamily="34" charset="-122"/>
                <a:cs typeface="微软雅黑" panose="020B0503020204020204" pitchFamily="34" charset="-122"/>
              </a:rPr>
              <a:t>原因</a:t>
            </a:r>
            <a:r>
              <a:rPr sz="2400" spc="75" dirty="0">
                <a:solidFill>
                  <a:srgbClr val="D81E00"/>
                </a:solidFill>
                <a:latin typeface="微软雅黑" panose="020B0503020204020204" pitchFamily="34" charset="-122"/>
                <a:cs typeface="微软雅黑" panose="020B0503020204020204" pitchFamily="34" charset="-122"/>
              </a:rPr>
              <a:t>：</a:t>
            </a:r>
            <a:r>
              <a:rPr sz="2400" spc="75" dirty="0">
                <a:latin typeface="微软雅黑" panose="020B0503020204020204" pitchFamily="34" charset="-122"/>
                <a:cs typeface="微软雅黑" panose="020B0503020204020204" pitchFamily="34" charset="-122"/>
              </a:rPr>
              <a:t>每调用一次</a:t>
            </a:r>
            <a:r>
              <a:rPr sz="2400" spc="75" dirty="0">
                <a:latin typeface="Arial" panose="020B0604020202020204"/>
                <a:cs typeface="Arial" panose="020B0604020202020204"/>
              </a:rPr>
              <a:t>keys()</a:t>
            </a:r>
            <a:r>
              <a:rPr sz="2400" spc="75" dirty="0">
                <a:latin typeface="微软雅黑" panose="020B0503020204020204" pitchFamily="34" charset="-122"/>
                <a:cs typeface="微软雅黑" panose="020B0503020204020204" pitchFamily="34" charset="-122"/>
              </a:rPr>
              <a:t>函数，系统就会生成一个新的</a:t>
            </a:r>
            <a:r>
              <a:rPr sz="2400" b="1" spc="75" dirty="0">
                <a:latin typeface="微软雅黑" panose="020B0503020204020204" pitchFamily="34" charset="-122"/>
                <a:cs typeface="微软雅黑" panose="020B0503020204020204" pitchFamily="34" charset="-122"/>
              </a:rPr>
              <a:t>字典迭代器</a:t>
            </a:r>
            <a:r>
              <a:rPr sz="2400" dirty="0">
                <a:latin typeface="微软雅黑" panose="020B0503020204020204" pitchFamily="34" charset="-122"/>
                <a:cs typeface="微软雅黑" panose="020B0503020204020204" pitchFamily="34" charset="-122"/>
              </a:rPr>
              <a:t>， 如果这个生成过程重复</a:t>
            </a:r>
            <a:r>
              <a:rPr sz="2400" spc="-5" dirty="0">
                <a:latin typeface="Arial" panose="020B0604020202020204"/>
                <a:cs typeface="Arial" panose="020B0604020202020204"/>
              </a:rPr>
              <a:t>50</a:t>
            </a:r>
            <a:r>
              <a:rPr sz="2400" dirty="0">
                <a:latin typeface="微软雅黑" panose="020B0503020204020204" pitchFamily="34" charset="-122"/>
                <a:cs typeface="微软雅黑" panose="020B0503020204020204" pitchFamily="34" charset="-122"/>
              </a:rPr>
              <a:t>万次</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a:t>
            </a:r>
            <a:endParaRPr sz="2400" dirty="0">
              <a:latin typeface="Arial" panose="020B0604020202020204"/>
              <a:cs typeface="Arial" panose="020B0604020202020204"/>
            </a:endParaRPr>
          </a:p>
          <a:p>
            <a:pPr marL="355600" indent="-342900">
              <a:lnSpc>
                <a:spcPct val="100000"/>
              </a:lnSpc>
              <a:spcBef>
                <a:spcPts val="2620"/>
              </a:spcBef>
              <a:buFont typeface="Arial" panose="020B0604020202020204"/>
              <a:buChar char="•"/>
              <a:tabLst>
                <a:tab pos="354965" algn="l"/>
                <a:tab pos="355600" algn="l"/>
              </a:tabLst>
            </a:pPr>
            <a:r>
              <a:rPr sz="2400" dirty="0">
                <a:solidFill>
                  <a:srgbClr val="CC0000"/>
                </a:solidFill>
                <a:latin typeface="微软雅黑" panose="020B0503020204020204" pitchFamily="34" charset="-122"/>
                <a:cs typeface="微软雅黑" panose="020B0503020204020204" pitchFamily="34" charset="-122"/>
              </a:rPr>
              <a:t>优化</a:t>
            </a:r>
            <a:r>
              <a:rPr sz="2400" dirty="0">
                <a:solidFill>
                  <a:srgbClr val="D81E00"/>
                </a:solidFill>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使用</a:t>
            </a:r>
            <a:r>
              <a:rPr sz="2400" spc="-1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in</a:t>
            </a:r>
            <a:r>
              <a:rPr sz="2400" spc="3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操作符直接代替</a:t>
            </a:r>
            <a:r>
              <a:rPr sz="2400" spc="-5" dirty="0">
                <a:latin typeface="Arial" panose="020B0604020202020204"/>
                <a:cs typeface="Arial" panose="020B0604020202020204"/>
              </a:rPr>
              <a:t>keys()</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不再每次生成新的迭代器。</a:t>
            </a:r>
          </a:p>
        </p:txBody>
      </p:sp>
      <p:sp>
        <p:nvSpPr>
          <p:cNvPr id="7" name="标题 6"/>
          <p:cNvSpPr>
            <a:spLocks noGrp="1"/>
          </p:cNvSpPr>
          <p:nvPr>
            <p:ph type="title"/>
          </p:nvPr>
        </p:nvSpPr>
        <p:spPr/>
        <p:txBody>
          <a:bodyPr/>
          <a:lstStyle/>
          <a:p>
            <a:r>
              <a:rPr lang="zh-CN" altLang="en-US" dirty="0"/>
              <a:t>案例：原因分析</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251"/>
    </mc:Choice>
    <mc:Fallback xmlns="">
      <p:transition spd="slow" advTm="3925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2540" y="209931"/>
            <a:ext cx="9056612" cy="6427935"/>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1776307" y="4191085"/>
            <a:ext cx="3118485" cy="533400"/>
          </a:xfrm>
          <a:custGeom>
            <a:avLst/>
            <a:gdLst/>
            <a:ahLst/>
            <a:cxnLst/>
            <a:rect l="l" t="t" r="r" b="b"/>
            <a:pathLst>
              <a:path w="3118485" h="533400">
                <a:moveTo>
                  <a:pt x="0" y="0"/>
                </a:moveTo>
                <a:lnTo>
                  <a:pt x="3118103" y="0"/>
                </a:lnTo>
                <a:lnTo>
                  <a:pt x="3118103" y="533314"/>
                </a:lnTo>
                <a:lnTo>
                  <a:pt x="0" y="533314"/>
                </a:lnTo>
                <a:lnTo>
                  <a:pt x="0" y="0"/>
                </a:lnTo>
                <a:close/>
              </a:path>
            </a:pathLst>
          </a:custGeom>
          <a:ln w="28574">
            <a:solidFill>
              <a:srgbClr val="D81E00"/>
            </a:solidFill>
          </a:ln>
        </p:spPr>
        <p:txBody>
          <a:bodyPr wrap="square" lIns="0" tIns="0" rIns="0" bIns="0" rtlCol="0"/>
          <a:lstStyle/>
          <a:p>
            <a:endParaRPr/>
          </a:p>
        </p:txBody>
      </p:sp>
      <p:sp>
        <p:nvSpPr>
          <p:cNvPr id="4" name="object 4"/>
          <p:cNvSpPr/>
          <p:nvPr/>
        </p:nvSpPr>
        <p:spPr>
          <a:xfrm>
            <a:off x="5281843" y="4738623"/>
            <a:ext cx="6216015" cy="495300"/>
          </a:xfrm>
          <a:custGeom>
            <a:avLst/>
            <a:gdLst/>
            <a:ahLst/>
            <a:cxnLst/>
            <a:rect l="l" t="t" r="r" b="b"/>
            <a:pathLst>
              <a:path w="6216015" h="495300">
                <a:moveTo>
                  <a:pt x="0" y="0"/>
                </a:moveTo>
                <a:lnTo>
                  <a:pt x="6215886" y="0"/>
                </a:lnTo>
                <a:lnTo>
                  <a:pt x="6215886" y="495108"/>
                </a:lnTo>
                <a:lnTo>
                  <a:pt x="0" y="495108"/>
                </a:lnTo>
                <a:lnTo>
                  <a:pt x="0" y="0"/>
                </a:lnTo>
                <a:close/>
              </a:path>
            </a:pathLst>
          </a:custGeom>
          <a:solidFill>
            <a:srgbClr val="ECEBEB"/>
          </a:solidFill>
        </p:spPr>
        <p:txBody>
          <a:bodyPr wrap="square" lIns="0" tIns="0" rIns="0" bIns="0" rtlCol="0"/>
          <a:lstStyle/>
          <a:p>
            <a:endParaRPr/>
          </a:p>
        </p:txBody>
      </p:sp>
      <p:sp>
        <p:nvSpPr>
          <p:cNvPr id="5" name="object 5"/>
          <p:cNvSpPr txBox="1"/>
          <p:nvPr/>
        </p:nvSpPr>
        <p:spPr>
          <a:xfrm>
            <a:off x="6172889" y="4836318"/>
            <a:ext cx="44373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测试发现：程序的总执行时间降低到</a:t>
            </a:r>
            <a:r>
              <a:rPr sz="1800" spc="-85"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2.250s</a:t>
            </a:r>
            <a:endParaRPr sz="1800">
              <a:latin typeface="Arial" panose="020B0604020202020204"/>
              <a:cs typeface="Arial" panose="020B0604020202020204"/>
            </a:endParaRPr>
          </a:p>
        </p:txBody>
      </p:sp>
      <p:sp>
        <p:nvSpPr>
          <p:cNvPr id="6" name="object 6"/>
          <p:cNvSpPr/>
          <p:nvPr/>
        </p:nvSpPr>
        <p:spPr>
          <a:xfrm>
            <a:off x="5079993" y="4255347"/>
            <a:ext cx="6570134" cy="385213"/>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5176483" y="4636449"/>
            <a:ext cx="6473825" cy="0"/>
          </a:xfrm>
          <a:custGeom>
            <a:avLst/>
            <a:gdLst/>
            <a:ahLst/>
            <a:cxnLst/>
            <a:rect l="l" t="t" r="r" b="b"/>
            <a:pathLst>
              <a:path w="6473825">
                <a:moveTo>
                  <a:pt x="0" y="0"/>
                </a:moveTo>
                <a:lnTo>
                  <a:pt x="6473648" y="0"/>
                </a:lnTo>
              </a:path>
            </a:pathLst>
          </a:custGeom>
          <a:ln w="28574">
            <a:solidFill>
              <a:srgbClr val="D81E00"/>
            </a:solidFill>
          </a:ln>
        </p:spPr>
        <p:txBody>
          <a:bodyPr wrap="square" lIns="0" tIns="0" rIns="0" bIns="0" rtlCol="0"/>
          <a:lstStyle/>
          <a:p>
            <a:endParaRPr/>
          </a:p>
        </p:txBody>
      </p:sp>
      <p:sp>
        <p:nvSpPr>
          <p:cNvPr id="8" name="灯片编号占位符 7"/>
          <p:cNvSpPr>
            <a:spLocks noGrp="1"/>
          </p:cNvSpPr>
          <p:nvPr>
            <p:ph type="sldNum" sz="quarter" idx="7"/>
          </p:nvPr>
        </p:nvSpPr>
        <p:spPr/>
        <p:txBody>
          <a:bodyPr/>
          <a:lstStyle/>
          <a:p>
            <a:fld id="{B6F15528-21DE-4FAA-801E-634DDDAF4B2B}" type="slidenum">
              <a:rPr lang="en-US" altLang="zh-CN"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9288"/>
    </mc:Choice>
    <mc:Fallback xmlns="">
      <p:transition spd="slow" advTm="1928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36162" y="3677132"/>
            <a:ext cx="9836150" cy="1562100"/>
          </a:xfrm>
          <a:prstGeom prst="rect">
            <a:avLst/>
          </a:prstGeom>
        </p:spPr>
        <p:txBody>
          <a:bodyPr vert="horz" wrap="square" lIns="0" tIns="154940" rIns="0" bIns="0" rtlCol="0">
            <a:spAutoFit/>
          </a:bodyPr>
          <a:lstStyle/>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性能优化的关键是如何发现问题，寻找解决问题的方法。</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有效的测试是不可缺少的，通过测试找出真正的瓶颈，并分析优化结果</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要避免不必要的优化，避免不成熟的优化，不成熟的优化是错误的来源</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3858009" y="2244633"/>
            <a:ext cx="1191895" cy="452120"/>
          </a:xfrm>
          <a:prstGeom prst="rect">
            <a:avLst/>
          </a:prstGeom>
        </p:spPr>
        <p:txBody>
          <a:bodyPr vert="horz" wrap="square" lIns="0" tIns="12700" rIns="0" bIns="0" rtlCol="0">
            <a:spAutoFit/>
          </a:bodyPr>
          <a:lstStyle/>
          <a:p>
            <a:pPr marL="12700">
              <a:lnSpc>
                <a:spcPct val="100000"/>
              </a:lnSpc>
              <a:spcBef>
                <a:spcPts val="100"/>
              </a:spcBef>
            </a:pPr>
            <a:r>
              <a:rPr sz="2800" spc="-5" dirty="0">
                <a:solidFill>
                  <a:srgbClr val="FF0000"/>
                </a:solidFill>
                <a:latin typeface="Arial" panose="020B0604020202020204"/>
                <a:cs typeface="Arial" panose="020B0604020202020204"/>
              </a:rPr>
              <a:t>4.562</a:t>
            </a:r>
            <a:r>
              <a:rPr sz="2800" spc="-85" dirty="0">
                <a:solidFill>
                  <a:srgbClr val="FF0000"/>
                </a:solidFill>
                <a:latin typeface="Arial" panose="020B0604020202020204"/>
                <a:cs typeface="Arial" panose="020B0604020202020204"/>
              </a:rPr>
              <a:t> </a:t>
            </a:r>
            <a:r>
              <a:rPr sz="2800" dirty="0">
                <a:solidFill>
                  <a:srgbClr val="FF0000"/>
                </a:solidFill>
                <a:latin typeface="Arial" panose="020B0604020202020204"/>
                <a:cs typeface="Arial" panose="020B0604020202020204"/>
              </a:rPr>
              <a:t>s</a:t>
            </a:r>
            <a:endParaRPr sz="2800">
              <a:latin typeface="Arial" panose="020B0604020202020204"/>
              <a:cs typeface="Arial" panose="020B0604020202020204"/>
            </a:endParaRPr>
          </a:p>
        </p:txBody>
      </p:sp>
      <p:sp>
        <p:nvSpPr>
          <p:cNvPr id="5" name="object 5"/>
          <p:cNvSpPr txBox="1"/>
          <p:nvPr/>
        </p:nvSpPr>
        <p:spPr>
          <a:xfrm>
            <a:off x="1861242" y="2109798"/>
            <a:ext cx="1711960" cy="803275"/>
          </a:xfrm>
          <a:prstGeom prst="rect">
            <a:avLst/>
          </a:prstGeom>
          <a:solidFill>
            <a:srgbClr val="7A4779"/>
          </a:solidFill>
        </p:spPr>
        <p:txBody>
          <a:bodyPr vert="horz" wrap="square" lIns="0" tIns="218440" rIns="0" bIns="0" rtlCol="0">
            <a:spAutoFit/>
          </a:bodyPr>
          <a:lstStyle/>
          <a:p>
            <a:pPr marL="401320">
              <a:lnSpc>
                <a:spcPct val="100000"/>
              </a:lnSpc>
              <a:spcBef>
                <a:spcPts val="1720"/>
              </a:spcBef>
            </a:pPr>
            <a:r>
              <a:rPr sz="2400" dirty="0">
                <a:solidFill>
                  <a:srgbClr val="FFFFFF"/>
                </a:solidFill>
                <a:latin typeface="微软雅黑" panose="020B0503020204020204" pitchFamily="34" charset="-122"/>
                <a:cs typeface="微软雅黑" panose="020B0503020204020204" pitchFamily="34" charset="-122"/>
              </a:rPr>
              <a:t>优化前</a:t>
            </a:r>
            <a:endParaRPr sz="2400">
              <a:latin typeface="微软雅黑" panose="020B0503020204020204" pitchFamily="34" charset="-122"/>
              <a:cs typeface="微软雅黑" panose="020B0503020204020204" pitchFamily="34" charset="-122"/>
            </a:endParaRPr>
          </a:p>
        </p:txBody>
      </p:sp>
      <p:sp>
        <p:nvSpPr>
          <p:cNvPr id="6" name="object 6"/>
          <p:cNvSpPr txBox="1"/>
          <p:nvPr/>
        </p:nvSpPr>
        <p:spPr>
          <a:xfrm>
            <a:off x="8668439" y="2109798"/>
            <a:ext cx="1711960" cy="803275"/>
          </a:xfrm>
          <a:prstGeom prst="rect">
            <a:avLst/>
          </a:prstGeom>
          <a:solidFill>
            <a:srgbClr val="797BA9"/>
          </a:solidFill>
        </p:spPr>
        <p:txBody>
          <a:bodyPr vert="horz" wrap="square" lIns="0" tIns="218440" rIns="0" bIns="0" rtlCol="0">
            <a:spAutoFit/>
          </a:bodyPr>
          <a:lstStyle/>
          <a:p>
            <a:pPr marL="401320">
              <a:lnSpc>
                <a:spcPct val="100000"/>
              </a:lnSpc>
              <a:spcBef>
                <a:spcPts val="1720"/>
              </a:spcBef>
            </a:pPr>
            <a:r>
              <a:rPr sz="2400" dirty="0">
                <a:solidFill>
                  <a:srgbClr val="FFFFFF"/>
                </a:solidFill>
                <a:latin typeface="微软雅黑" panose="020B0503020204020204" pitchFamily="34" charset="-122"/>
                <a:cs typeface="微软雅黑" panose="020B0503020204020204" pitchFamily="34" charset="-122"/>
              </a:rPr>
              <a:t>优化后</a:t>
            </a:r>
            <a:endParaRPr sz="2400">
              <a:latin typeface="微软雅黑" panose="020B0503020204020204" pitchFamily="34" charset="-122"/>
              <a:cs typeface="微软雅黑" panose="020B0503020204020204" pitchFamily="34" charset="-122"/>
            </a:endParaRPr>
          </a:p>
        </p:txBody>
      </p:sp>
      <p:sp>
        <p:nvSpPr>
          <p:cNvPr id="7" name="object 7"/>
          <p:cNvSpPr txBox="1"/>
          <p:nvPr/>
        </p:nvSpPr>
        <p:spPr>
          <a:xfrm>
            <a:off x="7158913" y="2261566"/>
            <a:ext cx="1191895" cy="452120"/>
          </a:xfrm>
          <a:prstGeom prst="rect">
            <a:avLst/>
          </a:prstGeom>
        </p:spPr>
        <p:txBody>
          <a:bodyPr vert="horz" wrap="square" lIns="0" tIns="12700" rIns="0" bIns="0" rtlCol="0">
            <a:spAutoFit/>
          </a:bodyPr>
          <a:lstStyle/>
          <a:p>
            <a:pPr marL="12700">
              <a:lnSpc>
                <a:spcPct val="100000"/>
              </a:lnSpc>
              <a:spcBef>
                <a:spcPts val="100"/>
              </a:spcBef>
            </a:pPr>
            <a:r>
              <a:rPr sz="2800" spc="-5" dirty="0">
                <a:solidFill>
                  <a:srgbClr val="0033CC"/>
                </a:solidFill>
                <a:latin typeface="Arial" panose="020B0604020202020204"/>
                <a:cs typeface="Arial" panose="020B0604020202020204"/>
              </a:rPr>
              <a:t>2.250</a:t>
            </a:r>
            <a:r>
              <a:rPr sz="2800" spc="-85" dirty="0">
                <a:solidFill>
                  <a:srgbClr val="0033CC"/>
                </a:solidFill>
                <a:latin typeface="Arial" panose="020B0604020202020204"/>
                <a:cs typeface="Arial" panose="020B0604020202020204"/>
              </a:rPr>
              <a:t> </a:t>
            </a:r>
            <a:r>
              <a:rPr sz="2800" dirty="0">
                <a:solidFill>
                  <a:srgbClr val="0033CC"/>
                </a:solidFill>
                <a:latin typeface="Arial" panose="020B0604020202020204"/>
                <a:cs typeface="Arial" panose="020B0604020202020204"/>
              </a:rPr>
              <a:t>s</a:t>
            </a:r>
            <a:endParaRPr sz="2800">
              <a:latin typeface="Arial" panose="020B0604020202020204"/>
              <a:cs typeface="Arial" panose="020B0604020202020204"/>
            </a:endParaRPr>
          </a:p>
        </p:txBody>
      </p:sp>
      <p:sp>
        <p:nvSpPr>
          <p:cNvPr id="8" name="object 8"/>
          <p:cNvSpPr/>
          <p:nvPr/>
        </p:nvSpPr>
        <p:spPr>
          <a:xfrm>
            <a:off x="5644699" y="2159162"/>
            <a:ext cx="1106833" cy="685639"/>
          </a:xfrm>
          <a:prstGeom prst="rect">
            <a:avLst/>
          </a:prstGeom>
          <a:blipFill>
            <a:blip r:embed="rId3" cstate="print"/>
            <a:stretch>
              <a:fillRect/>
            </a:stretch>
          </a:blipFill>
        </p:spPr>
        <p:txBody>
          <a:bodyPr wrap="square" lIns="0" tIns="0" rIns="0" bIns="0" rtlCol="0"/>
          <a:lstStyle/>
          <a:p>
            <a:endParaRPr/>
          </a:p>
        </p:txBody>
      </p:sp>
      <p:sp>
        <p:nvSpPr>
          <p:cNvPr id="10" name="标题 9"/>
          <p:cNvSpPr>
            <a:spLocks noGrp="1"/>
          </p:cNvSpPr>
          <p:nvPr>
            <p:ph type="title"/>
          </p:nvPr>
        </p:nvSpPr>
        <p:spPr/>
        <p:txBody>
          <a:bodyPr/>
          <a:lstStyle/>
          <a:p>
            <a:r>
              <a:rPr lang="zh-CN" altLang="en-US" dirty="0"/>
              <a:t>案例：优化结果</a:t>
            </a:r>
          </a:p>
        </p:txBody>
      </p:sp>
      <p:sp>
        <p:nvSpPr>
          <p:cNvPr id="9" name="灯片编号占位符 8"/>
          <p:cNvSpPr>
            <a:spLocks noGrp="1"/>
          </p:cNvSpPr>
          <p:nvPr>
            <p:ph type="sldNum" sz="quarter" idx="12"/>
          </p:nvPr>
        </p:nvSpPr>
        <p:spPr/>
        <p:txBody>
          <a:bodyPr/>
          <a:lstStyle/>
          <a:p>
            <a:fld id="{74D2AB8B-5816-41F2-8B4B-CA5C3E4E6A65}"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8024"/>
    </mc:Choice>
    <mc:Fallback xmlns="">
      <p:transition spd="slow" advTm="4802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45204" y="1787447"/>
            <a:ext cx="9836150" cy="34772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latin typeface="微软雅黑" panose="020B0503020204020204" pitchFamily="34" charset="-122"/>
                <a:cs typeface="微软雅黑" panose="020B0503020204020204" pitchFamily="34" charset="-122"/>
              </a:rPr>
              <a:t>改进算法</a:t>
            </a:r>
            <a:r>
              <a:rPr sz="2400" dirty="0">
                <a:solidFill>
                  <a:srgbClr val="004DD6"/>
                </a:solidFill>
                <a:latin typeface="微软雅黑" panose="020B0503020204020204" pitchFamily="34" charset="-122"/>
                <a:cs typeface="微软雅黑" panose="020B0503020204020204" pitchFamily="34" charset="-122"/>
              </a:rPr>
              <a:t>，</a:t>
            </a:r>
            <a:r>
              <a:rPr sz="2400" dirty="0">
                <a:solidFill>
                  <a:srgbClr val="0033CC"/>
                </a:solidFill>
                <a:latin typeface="微软雅黑" panose="020B0503020204020204" pitchFamily="34" charset="-122"/>
                <a:cs typeface="微软雅黑" panose="020B0503020204020204" pitchFamily="34" charset="-122"/>
              </a:rPr>
              <a:t>选择合适的数据结构</a:t>
            </a:r>
            <a:endParaRPr sz="2400" dirty="0">
              <a:latin typeface="微软雅黑" panose="020B0503020204020204" pitchFamily="34" charset="-122"/>
              <a:cs typeface="微软雅黑" panose="020B0503020204020204" pitchFamily="34" charset="-122"/>
            </a:endParaRPr>
          </a:p>
          <a:p>
            <a:pPr marL="374650" indent="-361950">
              <a:lnSpc>
                <a:spcPct val="100000"/>
              </a:lnSpc>
              <a:spcBef>
                <a:spcPts val="17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良好的算法对性能起到关键作用，因此性能改进的首要点是对算法改进</a:t>
            </a:r>
          </a:p>
          <a:p>
            <a:pPr marL="374650" indent="-361950">
              <a:lnSpc>
                <a:spcPct val="100000"/>
              </a:lnSpc>
              <a:spcBef>
                <a:spcPts val="17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算法时间复杂性的排序依次是</a:t>
            </a:r>
          </a:p>
          <a:p>
            <a:pPr marL="589280">
              <a:lnSpc>
                <a:spcPct val="100000"/>
              </a:lnSpc>
              <a:spcBef>
                <a:spcPts val="2160"/>
              </a:spcBef>
            </a:pPr>
            <a:r>
              <a:rPr sz="2000" spc="-5" dirty="0">
                <a:latin typeface="Arial" panose="020B0604020202020204"/>
                <a:cs typeface="Arial" panose="020B0604020202020204"/>
              </a:rPr>
              <a:t>O(1) </a:t>
            </a:r>
            <a:r>
              <a:rPr sz="2000" spc="-1070" dirty="0">
                <a:latin typeface="Wingdings" panose="05000000000000000000"/>
                <a:cs typeface="Wingdings" panose="05000000000000000000"/>
              </a:rPr>
              <a:t></a:t>
            </a:r>
            <a:r>
              <a:rPr sz="2000" spc="55" dirty="0">
                <a:latin typeface="Times New Roman" panose="02020603050405020304"/>
                <a:cs typeface="Times New Roman" panose="02020603050405020304"/>
              </a:rPr>
              <a:t> </a:t>
            </a:r>
            <a:r>
              <a:rPr sz="2000" spc="-5" dirty="0">
                <a:latin typeface="Arial" panose="020B0604020202020204"/>
                <a:cs typeface="Arial" panose="020B0604020202020204"/>
              </a:rPr>
              <a:t>O(lg </a:t>
            </a:r>
            <a:r>
              <a:rPr sz="2000" dirty="0">
                <a:latin typeface="Arial" panose="020B0604020202020204"/>
                <a:cs typeface="Arial" panose="020B0604020202020204"/>
              </a:rPr>
              <a:t>n)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 </a:t>
            </a:r>
            <a:r>
              <a:rPr sz="2000" dirty="0">
                <a:latin typeface="Arial" panose="020B0604020202020204"/>
                <a:cs typeface="Arial" panose="020B0604020202020204"/>
              </a:rPr>
              <a:t>lg n) </a:t>
            </a:r>
            <a:r>
              <a:rPr sz="2000" spc="-1070" dirty="0">
                <a:latin typeface="Wingdings" panose="05000000000000000000"/>
                <a:cs typeface="Wingdings" panose="05000000000000000000"/>
              </a:rPr>
              <a:t></a:t>
            </a:r>
            <a:r>
              <a:rPr sz="2000" spc="55" dirty="0">
                <a:latin typeface="Times New Roman" panose="02020603050405020304"/>
                <a:cs typeface="Times New Roman" panose="02020603050405020304"/>
              </a:rPr>
              <a:t> </a:t>
            </a:r>
            <a:r>
              <a:rPr sz="2000" spc="-5" dirty="0">
                <a:latin typeface="Arial" panose="020B0604020202020204"/>
                <a:cs typeface="Arial" panose="020B0604020202020204"/>
              </a:rPr>
              <a:t>O(n^2)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O(n^3)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O(n^k) </a:t>
            </a:r>
            <a:r>
              <a:rPr sz="2000" spc="-1070" dirty="0">
                <a:latin typeface="Wingdings" panose="05000000000000000000"/>
                <a:cs typeface="Wingdings" panose="05000000000000000000"/>
              </a:rPr>
              <a:t></a:t>
            </a:r>
            <a:r>
              <a:rPr sz="2000" spc="55" dirty="0">
                <a:latin typeface="Times New Roman" panose="02020603050405020304"/>
                <a:cs typeface="Times New Roman" panose="02020603050405020304"/>
              </a:rPr>
              <a:t> </a:t>
            </a:r>
            <a:r>
              <a:rPr sz="2000" spc="-5" dirty="0">
                <a:latin typeface="Arial" panose="020B0604020202020204"/>
                <a:cs typeface="Arial" panose="020B0604020202020204"/>
              </a:rPr>
              <a:t>O(k^n)</a:t>
            </a:r>
            <a:r>
              <a:rPr sz="2000" spc="35" dirty="0">
                <a:latin typeface="Arial" panose="020B0604020202020204"/>
                <a:cs typeface="Arial" panose="020B0604020202020204"/>
              </a:rPr>
              <a:t>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a:t>
            </a:r>
            <a:endParaRPr sz="2000" dirty="0">
              <a:latin typeface="Arial" panose="020B0604020202020204"/>
              <a:cs typeface="Arial" panose="020B0604020202020204"/>
            </a:endParaRPr>
          </a:p>
          <a:p>
            <a:pPr>
              <a:lnSpc>
                <a:spcPct val="100000"/>
              </a:lnSpc>
              <a:spcBef>
                <a:spcPts val="10"/>
              </a:spcBef>
            </a:pPr>
            <a:endParaRPr sz="2650" dirty="0">
              <a:latin typeface="Times New Roman" panose="02020603050405020304"/>
              <a:cs typeface="Times New Roman" panose="02020603050405020304"/>
            </a:endParaRPr>
          </a:p>
          <a:p>
            <a:pPr marL="374650" indent="-361950">
              <a:lnSpc>
                <a:spcPct val="100000"/>
              </a:lnSpc>
              <a:buFont typeface="Arial" panose="020B0604020202020204"/>
              <a:buChar char="•"/>
              <a:tabLst>
                <a:tab pos="374015" algn="l"/>
                <a:tab pos="374650" algn="l"/>
              </a:tabLst>
            </a:pPr>
            <a:r>
              <a:rPr sz="2400" b="1" dirty="0">
                <a:latin typeface="微软雅黑" panose="020B0503020204020204" pitchFamily="34" charset="-122"/>
                <a:cs typeface="微软雅黑" panose="020B0503020204020204" pitchFamily="34" charset="-122"/>
              </a:rPr>
              <a:t>对成员的查找访问</a:t>
            </a:r>
            <a:r>
              <a:rPr sz="2400" dirty="0">
                <a:latin typeface="微软雅黑" panose="020B0503020204020204" pitchFamily="34" charset="-122"/>
                <a:cs typeface="微软雅黑" panose="020B0503020204020204" pitchFamily="34" charset="-122"/>
              </a:rPr>
              <a:t>等操作，字典</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dictionary</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要比列表</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list</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更快</a:t>
            </a:r>
          </a:p>
          <a:p>
            <a:pPr marL="374650" indent="-361950">
              <a:lnSpc>
                <a:spcPct val="100000"/>
              </a:lnSpc>
              <a:spcBef>
                <a:spcPts val="17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集合</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set</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的并、交、差的操作比列表</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list</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的迭代要快</a:t>
            </a:r>
          </a:p>
        </p:txBody>
      </p:sp>
      <p:sp>
        <p:nvSpPr>
          <p:cNvPr id="5" name="标题 4"/>
          <p:cNvSpPr>
            <a:spLocks noGrp="1"/>
          </p:cNvSpPr>
          <p:nvPr>
            <p:ph type="title"/>
          </p:nvPr>
        </p:nvSpPr>
        <p:spPr/>
        <p:txBody>
          <a:bodyPr/>
          <a:lstStyle/>
          <a:p>
            <a:r>
              <a:rPr lang="en-US" altLang="zh-CN" dirty="0"/>
              <a:t>Python </a:t>
            </a:r>
            <a:r>
              <a:rPr lang="zh-CN" altLang="en-US" dirty="0"/>
              <a:t>代码性能优化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848"/>
    </mc:Choice>
    <mc:Fallback xmlns="">
      <p:transition spd="slow" advTm="8384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8271" y="1669760"/>
            <a:ext cx="10152380" cy="3644900"/>
          </a:xfrm>
          <a:prstGeom prst="rect">
            <a:avLst/>
          </a:prstGeom>
        </p:spPr>
        <p:txBody>
          <a:bodyPr vert="horz" wrap="square" lIns="0" tIns="12700" rIns="0" bIns="0" rtlCol="0">
            <a:spAutoFit/>
          </a:bodyPr>
          <a:lstStyle/>
          <a:p>
            <a:pPr marL="12700" marR="5080">
              <a:lnSpc>
                <a:spcPct val="128000"/>
              </a:lnSpc>
              <a:spcBef>
                <a:spcPts val="100"/>
              </a:spcBef>
            </a:pPr>
            <a:r>
              <a:rPr sz="2400" spc="15" dirty="0">
                <a:solidFill>
                  <a:srgbClr val="0033CC"/>
                </a:solidFill>
                <a:latin typeface="微软雅黑" panose="020B0503020204020204" pitchFamily="34" charset="-122"/>
                <a:cs typeface="微软雅黑" panose="020B0503020204020204" pitchFamily="34" charset="-122"/>
              </a:rPr>
              <a:t>循环优化的基本原则</a:t>
            </a:r>
            <a:r>
              <a:rPr sz="2400" spc="15" dirty="0">
                <a:solidFill>
                  <a:srgbClr val="004DD6"/>
                </a:solidFill>
                <a:latin typeface="微软雅黑" panose="020B0503020204020204" pitchFamily="34" charset="-122"/>
                <a:cs typeface="微软雅黑" panose="020B0503020204020204" pitchFamily="34" charset="-122"/>
              </a:rPr>
              <a:t>：</a:t>
            </a:r>
            <a:r>
              <a:rPr sz="2400" spc="15" dirty="0">
                <a:latin typeface="微软雅黑" panose="020B0503020204020204" pitchFamily="34" charset="-122"/>
                <a:cs typeface="微软雅黑" panose="020B0503020204020204" pitchFamily="34" charset="-122"/>
              </a:rPr>
              <a:t>尽量</a:t>
            </a:r>
            <a:r>
              <a:rPr sz="2400" b="1" spc="15" dirty="0">
                <a:latin typeface="微软雅黑" panose="020B0503020204020204" pitchFamily="34" charset="-122"/>
                <a:cs typeface="微软雅黑" panose="020B0503020204020204" pitchFamily="34" charset="-122"/>
              </a:rPr>
              <a:t>减少循环过程中的计算量</a:t>
            </a:r>
            <a:r>
              <a:rPr sz="2400" spc="15" dirty="0">
                <a:latin typeface="微软雅黑" panose="020B0503020204020204" pitchFamily="34" charset="-122"/>
                <a:cs typeface="微软雅黑" panose="020B0503020204020204" pitchFamily="34" charset="-122"/>
              </a:rPr>
              <a:t>，在多重循环的时</a:t>
            </a:r>
            <a:r>
              <a:rPr sz="2400" dirty="0">
                <a:latin typeface="微软雅黑" panose="020B0503020204020204" pitchFamily="34" charset="-122"/>
                <a:cs typeface="微软雅黑" panose="020B0503020204020204" pitchFamily="34" charset="-122"/>
              </a:rPr>
              <a:t>候， 尽量将内层的计算提到上一层。</a:t>
            </a:r>
          </a:p>
          <a:p>
            <a:pPr marL="12700" marR="306705" algn="just">
              <a:lnSpc>
                <a:spcPct val="130000"/>
              </a:lnSpc>
              <a:spcBef>
                <a:spcPts val="1150"/>
              </a:spcBef>
            </a:pPr>
            <a:r>
              <a:rPr sz="2400" spc="20" dirty="0">
                <a:solidFill>
                  <a:srgbClr val="0033CC"/>
                </a:solidFill>
                <a:latin typeface="微软雅黑" panose="020B0503020204020204" pitchFamily="34" charset="-122"/>
                <a:cs typeface="微软雅黑" panose="020B0503020204020204" pitchFamily="34" charset="-122"/>
              </a:rPr>
              <a:t>字符串的优</a:t>
            </a:r>
            <a:r>
              <a:rPr sz="2400" spc="25" dirty="0">
                <a:solidFill>
                  <a:srgbClr val="0033CC"/>
                </a:solidFill>
                <a:latin typeface="微软雅黑" panose="020B0503020204020204" pitchFamily="34" charset="-122"/>
                <a:cs typeface="微软雅黑" panose="020B0503020204020204" pitchFamily="34" charset="-122"/>
              </a:rPr>
              <a:t>化</a:t>
            </a:r>
            <a:r>
              <a:rPr sz="2400" dirty="0">
                <a:latin typeface="微软雅黑" panose="020B0503020204020204" pitchFamily="34" charset="-122"/>
                <a:cs typeface="微软雅黑" panose="020B0503020204020204" pitchFamily="34" charset="-122"/>
              </a:rPr>
              <a:t>：</a:t>
            </a:r>
            <a:r>
              <a:rPr sz="2400" spc="365" dirty="0">
                <a:latin typeface="微软雅黑" panose="020B0503020204020204" pitchFamily="34" charset="-122"/>
                <a:cs typeface="微软雅黑" panose="020B0503020204020204" pitchFamily="34" charset="-122"/>
              </a:rPr>
              <a:t> </a:t>
            </a:r>
            <a:r>
              <a:rPr sz="2400" spc="20" dirty="0">
                <a:latin typeface="Arial" panose="020B0604020202020204"/>
                <a:cs typeface="Arial" panose="020B0604020202020204"/>
              </a:rPr>
              <a:t>Python</a:t>
            </a:r>
            <a:r>
              <a:rPr sz="2400" spc="20" dirty="0">
                <a:latin typeface="微软雅黑" panose="020B0503020204020204" pitchFamily="34" charset="-122"/>
                <a:cs typeface="微软雅黑" panose="020B0503020204020204" pitchFamily="34" charset="-122"/>
              </a:rPr>
              <a:t>的字符串对象是不可改变</a:t>
            </a:r>
            <a:r>
              <a:rPr sz="2400" spc="25" dirty="0">
                <a:latin typeface="微软雅黑" panose="020B0503020204020204" pitchFamily="34" charset="-122"/>
                <a:cs typeface="微软雅黑" panose="020B0503020204020204" pitchFamily="34" charset="-122"/>
              </a:rPr>
              <a:t>的</a:t>
            </a:r>
            <a:r>
              <a:rPr sz="2400" spc="20" dirty="0">
                <a:latin typeface="微软雅黑" panose="020B0503020204020204" pitchFamily="34" charset="-122"/>
                <a:cs typeface="微软雅黑" panose="020B0503020204020204" pitchFamily="34" charset="-122"/>
              </a:rPr>
              <a:t>。字符串连接的使用 </a:t>
            </a:r>
            <a:r>
              <a:rPr sz="2400" dirty="0">
                <a:latin typeface="微软雅黑" panose="020B0503020204020204" pitchFamily="34" charset="-122"/>
                <a:cs typeface="微软雅黑" panose="020B0503020204020204" pitchFamily="34" charset="-122"/>
              </a:rPr>
              <a:t>尽量使用</a:t>
            </a:r>
            <a:r>
              <a:rPr sz="2400" spc="40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join()</a:t>
            </a:r>
            <a:r>
              <a:rPr sz="2400" spc="405"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而不是</a:t>
            </a:r>
            <a:r>
              <a:rPr sz="2400" spc="40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a:t>
            </a:r>
            <a:r>
              <a:rPr sz="2400" dirty="0">
                <a:latin typeface="微软雅黑" panose="020B0503020204020204" pitchFamily="34" charset="-122"/>
                <a:cs typeface="微软雅黑" panose="020B0503020204020204" pitchFamily="34" charset="-122"/>
              </a:rPr>
              <a:t>。当对字符串可以使用正则表达式或者内置函数 处理时，选择内置函数。</a:t>
            </a:r>
          </a:p>
          <a:p>
            <a:pPr marL="12700">
              <a:lnSpc>
                <a:spcPct val="100000"/>
              </a:lnSpc>
              <a:spcBef>
                <a:spcPts val="2120"/>
              </a:spcBef>
            </a:pPr>
            <a:r>
              <a:rPr sz="2400" spc="15" dirty="0">
                <a:solidFill>
                  <a:srgbClr val="0033CC"/>
                </a:solidFill>
                <a:latin typeface="微软雅黑" panose="020B0503020204020204" pitchFamily="34" charset="-122"/>
                <a:cs typeface="微软雅黑" panose="020B0503020204020204" pitchFamily="34" charset="-122"/>
              </a:rPr>
              <a:t>使用列表解析和生成器表达式</a:t>
            </a:r>
            <a:r>
              <a:rPr sz="2400" spc="15" dirty="0">
                <a:solidFill>
                  <a:srgbClr val="004DD6"/>
                </a:solidFill>
                <a:latin typeface="微软雅黑" panose="020B0503020204020204" pitchFamily="34" charset="-122"/>
                <a:cs typeface="微软雅黑" panose="020B0503020204020204" pitchFamily="34" charset="-122"/>
              </a:rPr>
              <a:t>：</a:t>
            </a:r>
            <a:r>
              <a:rPr sz="2400" spc="15" dirty="0">
                <a:latin typeface="微软雅黑" panose="020B0503020204020204" pitchFamily="34" charset="-122"/>
                <a:cs typeface="微软雅黑" panose="020B0503020204020204" pitchFamily="34" charset="-122"/>
              </a:rPr>
              <a:t>列表解析要比在循环中重新构建一个新的</a:t>
            </a:r>
            <a:endParaRPr sz="2400" dirty="0">
              <a:latin typeface="微软雅黑" panose="020B0503020204020204" pitchFamily="34" charset="-122"/>
              <a:cs typeface="微软雅黑" panose="020B0503020204020204" pitchFamily="34" charset="-122"/>
            </a:endParaRPr>
          </a:p>
          <a:p>
            <a:pPr marL="12700">
              <a:lnSpc>
                <a:spcPct val="100000"/>
              </a:lnSpc>
              <a:spcBef>
                <a:spcPts val="820"/>
              </a:spcBef>
            </a:pPr>
            <a:r>
              <a:rPr sz="2400" dirty="0">
                <a:latin typeface="Arial" panose="020B0604020202020204"/>
                <a:cs typeface="Arial" panose="020B0604020202020204"/>
              </a:rPr>
              <a:t>list</a:t>
            </a:r>
            <a:r>
              <a:rPr sz="2400" spc="-1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更为高效，因此可以利用这一特性来提高运行的效率。</a:t>
            </a:r>
          </a:p>
        </p:txBody>
      </p:sp>
      <p:sp>
        <p:nvSpPr>
          <p:cNvPr id="5" name="标题 4"/>
          <p:cNvSpPr>
            <a:spLocks noGrp="1"/>
          </p:cNvSpPr>
          <p:nvPr>
            <p:ph type="title"/>
          </p:nvPr>
        </p:nvSpPr>
        <p:spPr/>
        <p:txBody>
          <a:bodyPr/>
          <a:lstStyle/>
          <a:p>
            <a:r>
              <a:rPr lang="en-US" altLang="zh-CN" dirty="0"/>
              <a:t>Python </a:t>
            </a:r>
            <a:r>
              <a:rPr lang="zh-CN" altLang="en-US" dirty="0"/>
              <a:t>代码性能优化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5447"/>
    </mc:Choice>
    <mc:Fallback xmlns="">
      <p:transition spd="slow" advTm="5544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关于代码性能优化，下面（ ）是错误的。</a:t>
            </a:r>
          </a:p>
        </p:txBody>
      </p:sp>
      <p:sp>
        <p:nvSpPr>
          <p:cNvPr id="5" name="文本框 4"/>
          <p:cNvSpPr txBox="1"/>
          <p:nvPr>
            <p:custDataLst>
              <p:tags r:id="rId3"/>
            </p:custDataLst>
          </p:nvPr>
        </p:nvSpPr>
        <p:spPr>
          <a:xfrm>
            <a:off x="2438400" y="22682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任何优化都不能破坏代码的正确性</a:t>
            </a:r>
          </a:p>
        </p:txBody>
      </p:sp>
      <p:sp>
        <p:nvSpPr>
          <p:cNvPr id="6" name="文本框 5"/>
          <p:cNvSpPr txBox="1"/>
          <p:nvPr>
            <p:custDataLst>
              <p:tags r:id="rId4"/>
            </p:custDataLst>
          </p:nvPr>
        </p:nvSpPr>
        <p:spPr>
          <a:xfrm>
            <a:off x="2438400" y="31255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应以提高程序的全局效率为主，局部效率为辅</a:t>
            </a:r>
          </a:p>
        </p:txBody>
      </p:sp>
      <p:sp>
        <p:nvSpPr>
          <p:cNvPr id="7" name="文本框 6"/>
          <p:cNvSpPr txBox="1"/>
          <p:nvPr>
            <p:custDataLst>
              <p:tags r:id="rId5"/>
            </p:custDataLst>
          </p:nvPr>
        </p:nvSpPr>
        <p:spPr>
          <a:xfrm>
            <a:off x="2438400" y="39827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应先通过测试找出限制效率的真正瓶颈</a:t>
            </a:r>
          </a:p>
        </p:txBody>
      </p:sp>
      <p:sp>
        <p:nvSpPr>
          <p:cNvPr id="8" name="文本框 7"/>
          <p:cNvSpPr txBox="1"/>
          <p:nvPr>
            <p:custDataLst>
              <p:tags r:id="rId6"/>
            </p:custDataLst>
          </p:nvPr>
        </p:nvSpPr>
        <p:spPr>
          <a:xfrm>
            <a:off x="2438400" y="48400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要优先改进耗时最多的部分</a:t>
            </a:r>
          </a:p>
        </p:txBody>
      </p:sp>
      <p:sp>
        <p:nvSpPr>
          <p:cNvPr id="13" name="矩形: 圆角 12"/>
          <p:cNvSpPr/>
          <p:nvPr>
            <p:custDataLst>
              <p:tags r:id="rId7"/>
            </p:custDataLst>
          </p:nvPr>
        </p:nvSpPr>
        <p:spPr>
          <a:xfrm>
            <a:off x="7967950" y="1460207"/>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1323439"/>
          </a:xfrm>
          <a:prstGeom prst="rect">
            <a:avLst/>
          </a:prstGeom>
          <a:noFill/>
        </p:spPr>
        <p:txBody>
          <a:bodyPr vert="horz" rtlCol="0" anchor="t" anchorCtr="0">
            <a:sp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优先改进能够最大幅度提高效率的部分；优先改进最符合改进成本低，提高幅度大的高“性价比”部分</a:t>
            </a: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9"/>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0"/>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1"/>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2"/>
            </p:custDataLst>
          </p:nvPr>
        </p:nvGrpSpPr>
        <p:grpSpPr>
          <a:xfrm>
            <a:off x="12585700" y="0"/>
            <a:ext cx="3815080" cy="647700"/>
            <a:chOff x="19820" y="0"/>
            <a:chExt cx="6008" cy="1020"/>
          </a:xfrm>
        </p:grpSpPr>
        <p:sp>
          <p:nvSpPr>
            <p:cNvPr id="2" name="RemarkBack"/>
            <p:cNvSpPr/>
            <p:nvPr>
              <p:custDataLst>
                <p:tags r:id="rId26"/>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27"/>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8"/>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2" name="组合 31"/>
          <p:cNvGrpSpPr/>
          <p:nvPr>
            <p:custDataLst>
              <p:tags r:id="rId13"/>
            </p:custDataLst>
          </p:nvPr>
        </p:nvGrpSpPr>
        <p:grpSpPr>
          <a:xfrm>
            <a:off x="12585700" y="0"/>
            <a:ext cx="3813810" cy="647700"/>
            <a:chOff x="19820" y="0"/>
            <a:chExt cx="6006" cy="1020"/>
          </a:xfrm>
        </p:grpSpPr>
        <p:sp>
          <p:nvSpPr>
            <p:cNvPr id="29"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sp>
        <p:nvSpPr>
          <p:cNvPr id="33" name="RemarkBack">
            <a:extLst>
              <a:ext uri="{FF2B5EF4-FFF2-40B4-BE49-F238E27FC236}">
                <a16:creationId xmlns:a16="http://schemas.microsoft.com/office/drawing/2014/main" id="{95BAA274-05C4-402E-AFF9-DCA8EA16C85D}"/>
              </a:ext>
            </a:extLst>
          </p:cNvPr>
          <p:cNvSpPr/>
          <p:nvPr>
            <p:custDataLst>
              <p:tags r:id="rId14"/>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Block">
            <a:extLst>
              <a:ext uri="{FF2B5EF4-FFF2-40B4-BE49-F238E27FC236}">
                <a16:creationId xmlns:a16="http://schemas.microsoft.com/office/drawing/2014/main" id="{A474A764-48A0-406D-9F32-904D07FF943F}"/>
              </a:ext>
            </a:extLst>
          </p:cNvPr>
          <p:cNvSpPr/>
          <p:nvPr>
            <p:custDataLst>
              <p:tags r:id="rId15"/>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markTitleText">
            <a:extLst>
              <a:ext uri="{FF2B5EF4-FFF2-40B4-BE49-F238E27FC236}">
                <a16:creationId xmlns:a16="http://schemas.microsoft.com/office/drawing/2014/main" id="{21A92423-15F5-4472-8E7C-BBFC9A9FAA3A}"/>
              </a:ext>
            </a:extLst>
          </p:cNvPr>
          <p:cNvSpPr txBox="1"/>
          <p:nvPr>
            <p:custDataLst>
              <p:tags r:id="rId16"/>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18" name="组合 17"/>
          <p:cNvGrpSpPr/>
          <p:nvPr>
            <p:custDataLst>
              <p:tags r:id="rId17"/>
            </p:custDataLst>
          </p:nvPr>
        </p:nvGrpSpPr>
        <p:grpSpPr>
          <a:xfrm>
            <a:off x="0" y="0"/>
            <a:ext cx="12192000" cy="635000"/>
            <a:chOff x="0" y="0"/>
            <a:chExt cx="12192000" cy="635000"/>
          </a:xfrm>
        </p:grpSpPr>
        <p:sp>
          <p:nvSpPr>
            <p:cNvPr id="14"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36" name="文本框 35">
            <a:extLst>
              <a:ext uri="{FF2B5EF4-FFF2-40B4-BE49-F238E27FC236}">
                <a16:creationId xmlns:a16="http://schemas.microsoft.com/office/drawing/2014/main" id="{12212F1C-8B85-324A-A2E0-7E2509E5531F}"/>
              </a:ext>
            </a:extLst>
          </p:cNvPr>
          <p:cNvSpPr txBox="1"/>
          <p:nvPr/>
        </p:nvSpPr>
        <p:spPr>
          <a:xfrm>
            <a:off x="1310966" y="2431326"/>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pic>
        <p:nvPicPr>
          <p:cNvPr id="3" name="图片 2"/>
          <p:cNvPicPr/>
          <p:nvPr>
            <p:custDataLst>
              <p:tags r:id="rId18"/>
            </p:custDataLst>
          </p:nvPr>
        </p:nvPicPr>
        <p:blipFill>
          <a:blip r:embed="rId3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 ）语句风格是最不利于维护的</a:t>
            </a:r>
          </a:p>
        </p:txBody>
      </p:sp>
      <p:sp>
        <p:nvSpPr>
          <p:cNvPr id="5" name="文本框 4"/>
          <p:cNvSpPr txBox="1"/>
          <p:nvPr>
            <p:custDataLst>
              <p:tags r:id="rId3"/>
            </p:custDataLst>
          </p:nvPr>
        </p:nvSpPr>
        <p:spPr>
          <a:xfrm>
            <a:off x="2746872" y="2345389"/>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return s['name'] if s['age'] &gt;= 18 else s['nickname'] if s['age'] &gt; 14 else 'anonymous'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746872" y="3202639"/>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main(</a:t>
            </a:r>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sys.argv</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746872" y="4059889"/>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from </a:t>
            </a:r>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my_module</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import (Class1, Class2, Class3, Class4)</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746872" y="4917139"/>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 b = b, a</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7868798" y="152829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615549FD-883D-FE46-BD5D-2C876194AC35}"/>
              </a:ext>
            </a:extLst>
          </p:cNvPr>
          <p:cNvSpPr txBox="1"/>
          <p:nvPr/>
        </p:nvSpPr>
        <p:spPr>
          <a:xfrm>
            <a:off x="1753120" y="2345389"/>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24037"/>
            <a:ext cx="9144000" cy="2387600"/>
          </a:xfrm>
        </p:spPr>
        <p:txBody>
          <a:bodyPr anchor="ctr">
            <a:normAutofit/>
          </a:bodyPr>
          <a:lstStyle/>
          <a:p>
            <a:r>
              <a:rPr lang="zh-CN" altLang="en-US" sz="4800" dirty="0"/>
              <a:t>单元测试</a:t>
            </a:r>
            <a:br>
              <a:rPr lang="en-US" altLang="zh-CN" sz="4800" dirty="0"/>
            </a:br>
            <a:r>
              <a:rPr lang="en-US" altLang="zh-CN" sz="4800" dirty="0"/>
              <a:t>Unit Testing</a:t>
            </a:r>
            <a:endParaRPr lang="zh-CN" altLang="en-US" sz="4800"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数组中最大的子数组之和</a:t>
            </a:r>
            <a:endParaRPr lang="en-US" dirty="0"/>
          </a:p>
        </p:txBody>
      </p:sp>
      <p:sp>
        <p:nvSpPr>
          <p:cNvPr id="3" name="内容占位符 2"/>
          <p:cNvSpPr>
            <a:spLocks noGrp="1"/>
          </p:cNvSpPr>
          <p:nvPr>
            <p:ph idx="1"/>
          </p:nvPr>
        </p:nvSpPr>
        <p:spPr/>
        <p:txBody>
          <a:bodyPr/>
          <a:lstStyle/>
          <a:p>
            <a:r>
              <a:rPr lang="zh-CN" altLang="en-US" dirty="0"/>
              <a:t>输入，一个数组，和它的大小</a:t>
            </a:r>
            <a:endParaRPr lang="en-US" altLang="zh-CN" dirty="0"/>
          </a:p>
          <a:p>
            <a:r>
              <a:rPr lang="zh-CN" altLang="en-US" dirty="0"/>
              <a:t>输出，这个数组中最大子数组的和</a:t>
            </a:r>
            <a:endParaRPr lang="en-US" altLang="zh-CN" dirty="0"/>
          </a:p>
          <a:p>
            <a:endParaRPr lang="en-US" altLang="zh-CN" dirty="0"/>
          </a:p>
          <a:p>
            <a:r>
              <a:rPr lang="zh-CN" altLang="en-US" dirty="0"/>
              <a:t>例如</a:t>
            </a:r>
            <a:endParaRPr lang="en-US" altLang="zh-CN" dirty="0"/>
          </a:p>
          <a:p>
            <a:endParaRPr lang="en-US" altLang="zh-CN" dirty="0"/>
          </a:p>
          <a:p>
            <a:pPr marL="0" indent="0">
              <a:buNone/>
            </a:pPr>
            <a:endParaRPr lang="en-US" dirty="0"/>
          </a:p>
        </p:txBody>
      </p:sp>
      <p:graphicFrame>
        <p:nvGraphicFramePr>
          <p:cNvPr id="4" name="表格 3"/>
          <p:cNvGraphicFramePr>
            <a:graphicFrameLocks noGrp="1"/>
          </p:cNvGraphicFramePr>
          <p:nvPr/>
        </p:nvGraphicFramePr>
        <p:xfrm>
          <a:off x="2667000" y="3962400"/>
          <a:ext cx="6096000" cy="19304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86080">
                <a:tc>
                  <a:txBody>
                    <a:bodyPr/>
                    <a:lstStyle/>
                    <a:p>
                      <a:r>
                        <a:rPr lang="zh-CN" altLang="en-US" dirty="0"/>
                        <a:t>输入</a:t>
                      </a:r>
                      <a:endParaRPr lang="en-US" dirty="0"/>
                    </a:p>
                  </a:txBody>
                  <a:tcPr/>
                </a:tc>
                <a:tc>
                  <a:txBody>
                    <a:bodyPr/>
                    <a:lstStyle/>
                    <a:p>
                      <a:r>
                        <a:rPr lang="zh-CN" altLang="en-US" dirty="0"/>
                        <a:t>输出</a:t>
                      </a:r>
                      <a:endParaRPr lang="en-US" dirty="0"/>
                    </a:p>
                  </a:txBody>
                  <a:tcPr/>
                </a:tc>
                <a:extLst>
                  <a:ext uri="{0D108BD9-81ED-4DB2-BD59-A6C34878D82A}">
                    <a16:rowId xmlns:a16="http://schemas.microsoft.com/office/drawing/2014/main" val="10000"/>
                  </a:ext>
                </a:extLst>
              </a:tr>
              <a:tr h="386080">
                <a:tc>
                  <a:txBody>
                    <a:bodyPr/>
                    <a:lstStyle/>
                    <a:p>
                      <a:r>
                        <a:rPr lang="en-US" dirty="0"/>
                        <a:t>[-1,</a:t>
                      </a:r>
                      <a:r>
                        <a:rPr lang="en-US" baseline="0" dirty="0"/>
                        <a:t> 2, 3, -4]</a:t>
                      </a:r>
                      <a:endParaRPr lang="en-US" dirty="0"/>
                    </a:p>
                  </a:txBody>
                  <a:tcPr/>
                </a:tc>
                <a:tc>
                  <a:txBody>
                    <a:bodyPr/>
                    <a:lstStyle/>
                    <a:p>
                      <a:r>
                        <a:rPr lang="en-US" dirty="0"/>
                        <a:t>5</a:t>
                      </a:r>
                    </a:p>
                  </a:txBody>
                  <a:tcPr/>
                </a:tc>
                <a:extLst>
                  <a:ext uri="{0D108BD9-81ED-4DB2-BD59-A6C34878D82A}">
                    <a16:rowId xmlns:a16="http://schemas.microsoft.com/office/drawing/2014/main" val="10001"/>
                  </a:ext>
                </a:extLst>
              </a:tr>
              <a:tr h="386080">
                <a:tc>
                  <a:txBody>
                    <a:bodyPr/>
                    <a:lstStyle/>
                    <a:p>
                      <a:r>
                        <a:rPr lang="en-US" dirty="0"/>
                        <a:t>[-1,</a:t>
                      </a:r>
                      <a:r>
                        <a:rPr lang="en-US" baseline="0" dirty="0"/>
                        <a:t> 2, -5, 3, -4]</a:t>
                      </a:r>
                      <a:endParaRPr lang="en-US" dirty="0"/>
                    </a:p>
                  </a:txBody>
                  <a:tcPr/>
                </a:tc>
                <a:tc>
                  <a:txBody>
                    <a:bodyPr/>
                    <a:lstStyle/>
                    <a:p>
                      <a:r>
                        <a:rPr lang="en-US" dirty="0"/>
                        <a:t>3</a:t>
                      </a:r>
                    </a:p>
                  </a:txBody>
                  <a:tcPr/>
                </a:tc>
                <a:extLst>
                  <a:ext uri="{0D108BD9-81ED-4DB2-BD59-A6C34878D82A}">
                    <a16:rowId xmlns:a16="http://schemas.microsoft.com/office/drawing/2014/main" val="10002"/>
                  </a:ext>
                </a:extLst>
              </a:tr>
              <a:tr h="386080">
                <a:tc>
                  <a:txBody>
                    <a:bodyPr/>
                    <a:lstStyle/>
                    <a:p>
                      <a:r>
                        <a:rPr lang="en-US" dirty="0"/>
                        <a:t>[-1, 20, -5, 30, -4]</a:t>
                      </a:r>
                    </a:p>
                  </a:txBody>
                  <a:tcPr/>
                </a:tc>
                <a:tc>
                  <a:txBody>
                    <a:bodyPr/>
                    <a:lstStyle/>
                    <a:p>
                      <a:r>
                        <a:rPr lang="en-US" dirty="0"/>
                        <a:t>45</a:t>
                      </a:r>
                    </a:p>
                  </a:txBody>
                  <a:tcPr/>
                </a:tc>
                <a:extLst>
                  <a:ext uri="{0D108BD9-81ED-4DB2-BD59-A6C34878D82A}">
                    <a16:rowId xmlns:a16="http://schemas.microsoft.com/office/drawing/2014/main" val="10003"/>
                  </a:ext>
                </a:extLst>
              </a:tr>
              <a:tr h="386080">
                <a:tc>
                  <a:txBody>
                    <a:bodyPr/>
                    <a:lstStyle/>
                    <a:p>
                      <a:r>
                        <a:rPr lang="en-US" dirty="0"/>
                        <a:t>[-2, -3,</a:t>
                      </a:r>
                      <a:r>
                        <a:rPr lang="en-US" baseline="0" dirty="0"/>
                        <a:t> -5, -1, -9]</a:t>
                      </a:r>
                      <a:endParaRPr lang="en-US" dirty="0"/>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zh-CN" altLang="en-US" dirty="0"/>
              <a:t>用类</a:t>
            </a:r>
            <a:r>
              <a:rPr lang="en-US" altLang="zh-CN" dirty="0"/>
              <a:t>/</a:t>
            </a:r>
            <a:r>
              <a:rPr lang="zh-CN" altLang="en-US" dirty="0"/>
              <a:t>函数来实现</a:t>
            </a:r>
            <a:endParaRPr lang="en-US" dirty="0"/>
          </a:p>
        </p:txBody>
      </p:sp>
      <p:sp>
        <p:nvSpPr>
          <p:cNvPr id="7171" name="Content Placeholder 2"/>
          <p:cNvSpPr>
            <a:spLocks noGrp="1"/>
          </p:cNvSpPr>
          <p:nvPr>
            <p:ph idx="1"/>
          </p:nvPr>
        </p:nvSpPr>
        <p:spPr/>
        <p:txBody>
          <a:bodyPr/>
          <a:lstStyle/>
          <a:p>
            <a:pPr>
              <a:buFont typeface="Wingdings 3" panose="05040102010807070707" pitchFamily="18" charset="2"/>
              <a:buNone/>
            </a:pPr>
            <a:r>
              <a:rPr lang="zh-CN" altLang="en-US" dirty="0"/>
              <a:t>如果设计了一个类 </a:t>
            </a:r>
            <a:r>
              <a:rPr lang="en-US" altLang="zh-CN" dirty="0"/>
              <a:t>Class</a:t>
            </a:r>
          </a:p>
          <a:p>
            <a:pPr>
              <a:buFont typeface="Wingdings 3" panose="05040102010807070707" pitchFamily="18" charset="2"/>
              <a:buNone/>
            </a:pPr>
            <a:r>
              <a:rPr lang="en-US" dirty="0"/>
              <a:t>	</a:t>
            </a:r>
            <a:r>
              <a:rPr lang="en-US" altLang="zh-CN" dirty="0"/>
              <a:t>MSA (Maximum Sub-array Sum)</a:t>
            </a:r>
          </a:p>
          <a:p>
            <a:pPr>
              <a:buFont typeface="Wingdings 3" panose="05040102010807070707" pitchFamily="18" charset="2"/>
              <a:buNone/>
            </a:pPr>
            <a:r>
              <a:rPr lang="zh-CN" altLang="en-US" dirty="0"/>
              <a:t>里面有一个函数</a:t>
            </a:r>
            <a:endParaRPr lang="en-US" altLang="zh-CN" dirty="0"/>
          </a:p>
          <a:p>
            <a:pPr>
              <a:buFont typeface="Wingdings 3" panose="05040102010807070707" pitchFamily="18" charset="2"/>
              <a:buNone/>
            </a:pPr>
            <a:r>
              <a:rPr lang="en-US" altLang="zh-CN" dirty="0"/>
              <a:t>	</a:t>
            </a:r>
            <a:r>
              <a:rPr lang="en-US" altLang="zh-CN" dirty="0" err="1"/>
              <a:t>Calc</a:t>
            </a:r>
            <a:r>
              <a:rPr lang="en-US" altLang="zh-CN" dirty="0"/>
              <a:t>()</a:t>
            </a:r>
          </a:p>
          <a:p>
            <a:pPr>
              <a:buFont typeface="Wingdings 3" panose="05040102010807070707" pitchFamily="18" charset="2"/>
              <a:buNone/>
            </a:pPr>
            <a:r>
              <a:rPr lang="zh-CN" altLang="en-US" dirty="0"/>
              <a:t>如何设计这个函数</a:t>
            </a:r>
            <a:endParaRPr lang="en-US" altLang="zh-CN" dirty="0"/>
          </a:p>
          <a:p>
            <a:pPr>
              <a:buFont typeface="Wingdings 3" panose="05040102010807070707" pitchFamily="18" charset="2"/>
              <a:buNone/>
            </a:pPr>
            <a:r>
              <a:rPr lang="en-US" altLang="zh-CN" dirty="0"/>
              <a:t>	</a:t>
            </a:r>
            <a:r>
              <a:rPr lang="zh-CN" altLang="en-US" dirty="0"/>
              <a:t>输入参数是什么，输出是什么</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zh-CN" altLang="en-US" dirty="0"/>
              <a:t>单元测试</a:t>
            </a:r>
            <a:r>
              <a:rPr lang="en-US" altLang="zh-CN" dirty="0"/>
              <a:t>—</a:t>
            </a:r>
            <a:r>
              <a:rPr lang="zh-CN" altLang="en-US" dirty="0"/>
              <a:t>示例</a:t>
            </a:r>
            <a:r>
              <a:rPr lang="en-US" altLang="zh-CN" dirty="0"/>
              <a:t>1</a:t>
            </a:r>
            <a:endParaRPr lang="en-US" dirty="0"/>
          </a:p>
        </p:txBody>
      </p:sp>
      <p:sp>
        <p:nvSpPr>
          <p:cNvPr id="8195" name="Content Placeholder 2"/>
          <p:cNvSpPr>
            <a:spLocks noGrp="1"/>
          </p:cNvSpPr>
          <p:nvPr>
            <p:ph idx="1"/>
          </p:nvPr>
        </p:nvSpPr>
        <p:spPr/>
        <p:txBody>
          <a:bodyPr/>
          <a:lstStyle/>
          <a:p>
            <a:pPr>
              <a:buFont typeface="Wingdings 3" panose="05040102010807070707" pitchFamily="18" charset="2"/>
              <a:buNone/>
            </a:pPr>
            <a:r>
              <a:rPr lang="en-US" sz="2400" dirty="0"/>
              <a:t>	</a:t>
            </a:r>
            <a:r>
              <a:rPr lang="en-US" sz="2400" dirty="0" err="1"/>
              <a:t>int</a:t>
            </a:r>
            <a:r>
              <a:rPr lang="en-US" sz="2400" dirty="0"/>
              <a:t>[] test1 = { 1, -2, 3, 5, -3, 6, 1, -1 };</a:t>
            </a:r>
          </a:p>
          <a:p>
            <a:pPr>
              <a:buFont typeface="Wingdings 3" panose="05040102010807070707" pitchFamily="18" charset="2"/>
              <a:buNone/>
            </a:pPr>
            <a:r>
              <a:rPr lang="en-US" sz="2400" dirty="0"/>
              <a:t>     </a:t>
            </a:r>
            <a:r>
              <a:rPr lang="en-US" sz="2400" dirty="0" err="1"/>
              <a:t>msa.Calc</a:t>
            </a:r>
            <a:r>
              <a:rPr lang="en-US" sz="2400" dirty="0"/>
              <a:t>(test1, 8);</a:t>
            </a:r>
          </a:p>
          <a:p>
            <a:pPr>
              <a:buFont typeface="Wingdings 3" panose="05040102010807070707" pitchFamily="18" charset="2"/>
              <a:buNone/>
            </a:pPr>
            <a:r>
              <a:rPr lang="en-US" sz="2400" dirty="0"/>
              <a:t>     </a:t>
            </a:r>
            <a:r>
              <a:rPr lang="en-US" sz="2400" dirty="0" err="1"/>
              <a:t>Debug.Assert</a:t>
            </a:r>
            <a:r>
              <a:rPr lang="en-US" sz="2400" dirty="0"/>
              <a:t>(</a:t>
            </a:r>
            <a:r>
              <a:rPr lang="en-US" sz="2400" dirty="0" err="1"/>
              <a:t>msa.MaxSumPosition.sum</a:t>
            </a:r>
            <a:r>
              <a:rPr lang="en-US" sz="2400" dirty="0"/>
              <a:t> == 12);</a:t>
            </a:r>
          </a:p>
          <a:p>
            <a:pPr>
              <a:buFont typeface="Wingdings 3" panose="05040102010807070707" pitchFamily="18" charset="2"/>
              <a:buNone/>
            </a:pPr>
            <a:r>
              <a:rPr lang="en-US" sz="2400" dirty="0"/>
              <a:t>     </a:t>
            </a:r>
            <a:r>
              <a:rPr lang="en-US" sz="2400" dirty="0" err="1"/>
              <a:t>Debug.Assert</a:t>
            </a:r>
            <a:r>
              <a:rPr lang="en-US" sz="2400" dirty="0"/>
              <a:t>(</a:t>
            </a:r>
            <a:r>
              <a:rPr lang="en-US" sz="2400" dirty="0" err="1"/>
              <a:t>msa.MaxSumPosition.start</a:t>
            </a:r>
            <a:r>
              <a:rPr lang="en-US" sz="2400" dirty="0"/>
              <a:t> == 2);</a:t>
            </a:r>
          </a:p>
          <a:p>
            <a:pPr>
              <a:buFont typeface="Wingdings 3" panose="05040102010807070707" pitchFamily="18" charset="2"/>
              <a:buNone/>
            </a:pPr>
            <a:r>
              <a:rPr lang="en-US" sz="2400" dirty="0"/>
              <a:t>     </a:t>
            </a:r>
            <a:r>
              <a:rPr lang="en-US" sz="2400" dirty="0" err="1"/>
              <a:t>Debug.Assert</a:t>
            </a:r>
            <a:r>
              <a:rPr lang="en-US" sz="2400" dirty="0"/>
              <a:t>(</a:t>
            </a:r>
            <a:r>
              <a:rPr lang="en-US" sz="2400" dirty="0" err="1"/>
              <a:t>msa.MaxSumPosition.end</a:t>
            </a:r>
            <a:r>
              <a:rPr lang="en-US" sz="2400" dirty="0"/>
              <a:t> == 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149C2D-5CC5-490A-BBEA-4830949372BB}"/>
              </a:ext>
            </a:extLst>
          </p:cNvPr>
          <p:cNvSpPr>
            <a:spLocks noGrp="1"/>
          </p:cNvSpPr>
          <p:nvPr>
            <p:ph type="title"/>
          </p:nvPr>
        </p:nvSpPr>
        <p:spPr/>
        <p:txBody>
          <a:bodyPr/>
          <a:lstStyle/>
          <a:p>
            <a:r>
              <a:rPr lang="zh-CN" altLang="en-US" dirty="0"/>
              <a:t>单元测试</a:t>
            </a:r>
            <a:r>
              <a:rPr lang="en-US" altLang="zh-CN" dirty="0"/>
              <a:t>—</a:t>
            </a:r>
            <a:r>
              <a:rPr lang="zh-CN" altLang="en-US" dirty="0"/>
              <a:t>示例</a:t>
            </a:r>
            <a:r>
              <a:rPr lang="en-US" altLang="zh-CN" dirty="0"/>
              <a:t>2</a:t>
            </a:r>
            <a:endParaRPr lang="zh-CN" altLang="en-US" dirty="0"/>
          </a:p>
        </p:txBody>
      </p:sp>
      <p:sp>
        <p:nvSpPr>
          <p:cNvPr id="3" name="内容占位符 2">
            <a:extLst>
              <a:ext uri="{FF2B5EF4-FFF2-40B4-BE49-F238E27FC236}">
                <a16:creationId xmlns:a16="http://schemas.microsoft.com/office/drawing/2014/main" id="{DAEA527E-893B-4A22-B946-D37AC78D784F}"/>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D0DB5E4D-1EC3-4BF0-BE0F-033975A9C7CE}"/>
              </a:ext>
            </a:extLst>
          </p:cNvPr>
          <p:cNvSpPr>
            <a:spLocks noGrp="1"/>
          </p:cNvSpPr>
          <p:nvPr>
            <p:ph type="sldNum" sz="quarter" idx="12"/>
          </p:nvPr>
        </p:nvSpPr>
        <p:spPr/>
        <p:txBody>
          <a:bodyPr/>
          <a:lstStyle/>
          <a:p>
            <a:fld id="{74D2AB8B-5816-41F2-8B4B-CA5C3E4E6A65}" type="slidenum">
              <a:rPr lang="zh-CN" altLang="en-US" smtClean="0"/>
              <a:t>25</a:t>
            </a:fld>
            <a:endParaRPr lang="zh-CN" altLang="en-US"/>
          </a:p>
        </p:txBody>
      </p:sp>
      <p:pic>
        <p:nvPicPr>
          <p:cNvPr id="5" name="图片 4">
            <a:extLst>
              <a:ext uri="{FF2B5EF4-FFF2-40B4-BE49-F238E27FC236}">
                <a16:creationId xmlns:a16="http://schemas.microsoft.com/office/drawing/2014/main" id="{C00AF4CF-CD72-4CA1-A2F3-4E7D13233E90}"/>
              </a:ext>
            </a:extLst>
          </p:cNvPr>
          <p:cNvPicPr>
            <a:picLocks noChangeAspect="1"/>
          </p:cNvPicPr>
          <p:nvPr/>
        </p:nvPicPr>
        <p:blipFill>
          <a:blip r:embed="rId2"/>
          <a:stretch>
            <a:fillRect/>
          </a:stretch>
        </p:blipFill>
        <p:spPr>
          <a:xfrm>
            <a:off x="1410855" y="1896703"/>
            <a:ext cx="9942945" cy="3656529"/>
          </a:xfrm>
          <a:prstGeom prst="rect">
            <a:avLst/>
          </a:prstGeom>
        </p:spPr>
      </p:pic>
      <p:sp>
        <p:nvSpPr>
          <p:cNvPr id="6" name="矩形: 圆角 5">
            <a:extLst>
              <a:ext uri="{FF2B5EF4-FFF2-40B4-BE49-F238E27FC236}">
                <a16:creationId xmlns:a16="http://schemas.microsoft.com/office/drawing/2014/main" id="{A520AAF1-B7E2-4709-8599-9F12E176CC2A}"/>
              </a:ext>
            </a:extLst>
          </p:cNvPr>
          <p:cNvSpPr/>
          <p:nvPr/>
        </p:nvSpPr>
        <p:spPr>
          <a:xfrm>
            <a:off x="3209637" y="4077856"/>
            <a:ext cx="5200072" cy="67887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4251CC02-DEBD-42D8-A61E-96AB736CC870}"/>
              </a:ext>
            </a:extLst>
          </p:cNvPr>
          <p:cNvSpPr/>
          <p:nvPr/>
        </p:nvSpPr>
        <p:spPr>
          <a:xfrm>
            <a:off x="6308601" y="2750128"/>
            <a:ext cx="4202215" cy="67887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70092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265FC-F11E-425F-8B1B-7CA4530F22D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6B419F6-0245-479A-9C5F-BD91B17E4E8D}"/>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1592F7E1-8F6D-400F-9795-32BCA9CF7E8D}"/>
              </a:ext>
            </a:extLst>
          </p:cNvPr>
          <p:cNvSpPr>
            <a:spLocks noGrp="1"/>
          </p:cNvSpPr>
          <p:nvPr>
            <p:ph type="sldNum" sz="quarter" idx="12"/>
          </p:nvPr>
        </p:nvSpPr>
        <p:spPr/>
        <p:txBody>
          <a:bodyPr/>
          <a:lstStyle/>
          <a:p>
            <a:fld id="{74D2AB8B-5816-41F2-8B4B-CA5C3E4E6A65}" type="slidenum">
              <a:rPr lang="zh-CN" altLang="en-US" smtClean="0"/>
              <a:t>26</a:t>
            </a:fld>
            <a:endParaRPr lang="zh-CN" altLang="en-US"/>
          </a:p>
        </p:txBody>
      </p:sp>
      <p:pic>
        <p:nvPicPr>
          <p:cNvPr id="5" name="图片 4">
            <a:extLst>
              <a:ext uri="{FF2B5EF4-FFF2-40B4-BE49-F238E27FC236}">
                <a16:creationId xmlns:a16="http://schemas.microsoft.com/office/drawing/2014/main" id="{6BFE5849-8D00-4207-A33F-E8BD06A64196}"/>
              </a:ext>
            </a:extLst>
          </p:cNvPr>
          <p:cNvPicPr>
            <a:picLocks noChangeAspect="1"/>
          </p:cNvPicPr>
          <p:nvPr/>
        </p:nvPicPr>
        <p:blipFill>
          <a:blip r:embed="rId2"/>
          <a:stretch>
            <a:fillRect/>
          </a:stretch>
        </p:blipFill>
        <p:spPr>
          <a:xfrm>
            <a:off x="1539667" y="325871"/>
            <a:ext cx="9112665" cy="6206258"/>
          </a:xfrm>
          <a:prstGeom prst="rect">
            <a:avLst/>
          </a:prstGeom>
        </p:spPr>
      </p:pic>
      <p:sp>
        <p:nvSpPr>
          <p:cNvPr id="6" name="矩形: 圆角 5">
            <a:extLst>
              <a:ext uri="{FF2B5EF4-FFF2-40B4-BE49-F238E27FC236}">
                <a16:creationId xmlns:a16="http://schemas.microsoft.com/office/drawing/2014/main" id="{496892DD-742B-4197-86DC-8FA2C5FC9AE3}"/>
              </a:ext>
            </a:extLst>
          </p:cNvPr>
          <p:cNvSpPr/>
          <p:nvPr/>
        </p:nvSpPr>
        <p:spPr>
          <a:xfrm>
            <a:off x="5694384" y="1280174"/>
            <a:ext cx="1043544" cy="67887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08095A0B-6C89-407D-A79C-F94FBE8E4CB5}"/>
              </a:ext>
            </a:extLst>
          </p:cNvPr>
          <p:cNvSpPr/>
          <p:nvPr/>
        </p:nvSpPr>
        <p:spPr>
          <a:xfrm>
            <a:off x="5694384" y="3429000"/>
            <a:ext cx="1043544" cy="67887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2A4F2AD4-99A2-42EF-B9C0-B4B2A3597F5C}"/>
              </a:ext>
            </a:extLst>
          </p:cNvPr>
          <p:cNvSpPr/>
          <p:nvPr/>
        </p:nvSpPr>
        <p:spPr>
          <a:xfrm>
            <a:off x="5740564" y="5578618"/>
            <a:ext cx="1468417" cy="67887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AD8EC27D-F709-442E-873D-6D78B2DB2CF0}"/>
              </a:ext>
            </a:extLst>
          </p:cNvPr>
          <p:cNvCxnSpPr/>
          <p:nvPr/>
        </p:nvCxnSpPr>
        <p:spPr>
          <a:xfrm>
            <a:off x="6839527" y="5033818"/>
            <a:ext cx="5310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6124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369570"/>
            <a:ext cx="2821305" cy="443230"/>
          </a:xfrm>
          <a:prstGeom prst="rect">
            <a:avLst/>
          </a:prstGeom>
        </p:spPr>
        <p:txBody>
          <a:bodyPr vert="horz" wrap="square" lIns="0" tIns="12700" rIns="0" bIns="0" rtlCol="0">
            <a:spAutoFit/>
          </a:bodyPr>
          <a:lstStyle/>
          <a:p>
            <a:pPr marL="12700">
              <a:lnSpc>
                <a:spcPct val="100000"/>
              </a:lnSpc>
              <a:spcBef>
                <a:spcPts val="100"/>
              </a:spcBef>
            </a:pPr>
            <a:r>
              <a:rPr dirty="0"/>
              <a:t>现实的开发问题</a:t>
            </a:r>
          </a:p>
        </p:txBody>
      </p:sp>
      <p:sp>
        <p:nvSpPr>
          <p:cNvPr id="3" name="object 3"/>
          <p:cNvSpPr/>
          <p:nvPr/>
        </p:nvSpPr>
        <p:spPr>
          <a:xfrm>
            <a:off x="1981201" y="3654425"/>
            <a:ext cx="2185930" cy="2165178"/>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811675" y="1529671"/>
            <a:ext cx="2694940" cy="2288540"/>
          </a:xfrm>
          <a:custGeom>
            <a:avLst/>
            <a:gdLst/>
            <a:ahLst/>
            <a:cxnLst/>
            <a:rect l="l" t="t" r="r" b="b"/>
            <a:pathLst>
              <a:path w="2694940" h="2288540">
                <a:moveTo>
                  <a:pt x="1362478" y="0"/>
                </a:moveTo>
                <a:lnTo>
                  <a:pt x="1308772" y="262"/>
                </a:lnTo>
                <a:lnTo>
                  <a:pt x="1255281" y="1659"/>
                </a:lnTo>
                <a:lnTo>
                  <a:pt x="1202066" y="4178"/>
                </a:lnTo>
                <a:lnTo>
                  <a:pt x="1149189" y="7806"/>
                </a:lnTo>
                <a:lnTo>
                  <a:pt x="1096711" y="12530"/>
                </a:lnTo>
                <a:lnTo>
                  <a:pt x="1044695" y="18338"/>
                </a:lnTo>
                <a:lnTo>
                  <a:pt x="993203" y="25218"/>
                </a:lnTo>
                <a:lnTo>
                  <a:pt x="942296" y="33157"/>
                </a:lnTo>
                <a:lnTo>
                  <a:pt x="892035" y="42143"/>
                </a:lnTo>
                <a:lnTo>
                  <a:pt x="842483" y="52163"/>
                </a:lnTo>
                <a:lnTo>
                  <a:pt x="793702" y="63204"/>
                </a:lnTo>
                <a:lnTo>
                  <a:pt x="745753" y="75254"/>
                </a:lnTo>
                <a:lnTo>
                  <a:pt x="698698" y="88302"/>
                </a:lnTo>
                <a:lnTo>
                  <a:pt x="652599" y="102333"/>
                </a:lnTo>
                <a:lnTo>
                  <a:pt x="607517" y="117336"/>
                </a:lnTo>
                <a:lnTo>
                  <a:pt x="563514" y="133298"/>
                </a:lnTo>
                <a:lnTo>
                  <a:pt x="520653" y="150207"/>
                </a:lnTo>
                <a:lnTo>
                  <a:pt x="478995" y="168050"/>
                </a:lnTo>
                <a:lnTo>
                  <a:pt x="438601" y="186815"/>
                </a:lnTo>
                <a:lnTo>
                  <a:pt x="399534" y="206489"/>
                </a:lnTo>
                <a:lnTo>
                  <a:pt x="361855" y="227059"/>
                </a:lnTo>
                <a:lnTo>
                  <a:pt x="325626" y="248514"/>
                </a:lnTo>
                <a:lnTo>
                  <a:pt x="290908" y="270841"/>
                </a:lnTo>
                <a:lnTo>
                  <a:pt x="257765" y="294026"/>
                </a:lnTo>
                <a:lnTo>
                  <a:pt x="226256" y="318059"/>
                </a:lnTo>
                <a:lnTo>
                  <a:pt x="196445" y="342926"/>
                </a:lnTo>
                <a:lnTo>
                  <a:pt x="142161" y="395112"/>
                </a:lnTo>
                <a:lnTo>
                  <a:pt x="91841" y="455293"/>
                </a:lnTo>
                <a:lnTo>
                  <a:pt x="69181" y="488470"/>
                </a:lnTo>
                <a:lnTo>
                  <a:pt x="49793" y="521883"/>
                </a:lnTo>
                <a:lnTo>
                  <a:pt x="20677" y="589201"/>
                </a:lnTo>
                <a:lnTo>
                  <a:pt x="4183" y="656816"/>
                </a:lnTo>
                <a:lnTo>
                  <a:pt x="0" y="724295"/>
                </a:lnTo>
                <a:lnTo>
                  <a:pt x="2427" y="757848"/>
                </a:lnTo>
                <a:lnTo>
                  <a:pt x="16125" y="824312"/>
                </a:lnTo>
                <a:lnTo>
                  <a:pt x="41355" y="889559"/>
                </a:lnTo>
                <a:lnTo>
                  <a:pt x="77807" y="953155"/>
                </a:lnTo>
                <a:lnTo>
                  <a:pt x="100144" y="984200"/>
                </a:lnTo>
                <a:lnTo>
                  <a:pt x="125169" y="1014670"/>
                </a:lnTo>
                <a:lnTo>
                  <a:pt x="152844" y="1044511"/>
                </a:lnTo>
                <a:lnTo>
                  <a:pt x="183130" y="1073670"/>
                </a:lnTo>
                <a:lnTo>
                  <a:pt x="215987" y="1102091"/>
                </a:lnTo>
                <a:lnTo>
                  <a:pt x="251378" y="1129722"/>
                </a:lnTo>
                <a:lnTo>
                  <a:pt x="289263" y="1156508"/>
                </a:lnTo>
                <a:lnTo>
                  <a:pt x="329603" y="1182395"/>
                </a:lnTo>
                <a:lnTo>
                  <a:pt x="372359" y="1207329"/>
                </a:lnTo>
                <a:lnTo>
                  <a:pt x="417493" y="1231255"/>
                </a:lnTo>
                <a:lnTo>
                  <a:pt x="464965" y="1254121"/>
                </a:lnTo>
                <a:lnTo>
                  <a:pt x="514738" y="1275871"/>
                </a:lnTo>
                <a:lnTo>
                  <a:pt x="566770" y="1296453"/>
                </a:lnTo>
                <a:lnTo>
                  <a:pt x="621025" y="1315810"/>
                </a:lnTo>
                <a:lnTo>
                  <a:pt x="677463" y="1333891"/>
                </a:lnTo>
                <a:lnTo>
                  <a:pt x="736044" y="1350639"/>
                </a:lnTo>
                <a:lnTo>
                  <a:pt x="796731" y="1366003"/>
                </a:lnTo>
                <a:lnTo>
                  <a:pt x="655041" y="2288448"/>
                </a:lnTo>
                <a:lnTo>
                  <a:pt x="1297368" y="1427870"/>
                </a:lnTo>
                <a:lnTo>
                  <a:pt x="1388388" y="1427870"/>
                </a:lnTo>
                <a:lnTo>
                  <a:pt x="1414215" y="1427488"/>
                </a:lnTo>
                <a:lnTo>
                  <a:pt x="1471986" y="1425312"/>
                </a:lnTo>
                <a:lnTo>
                  <a:pt x="1529235" y="1421841"/>
                </a:lnTo>
                <a:lnTo>
                  <a:pt x="1585897" y="1417097"/>
                </a:lnTo>
                <a:lnTo>
                  <a:pt x="1641906" y="1411100"/>
                </a:lnTo>
                <a:lnTo>
                  <a:pt x="1697197" y="1403874"/>
                </a:lnTo>
                <a:lnTo>
                  <a:pt x="1751704" y="1395438"/>
                </a:lnTo>
                <a:lnTo>
                  <a:pt x="1805363" y="1385816"/>
                </a:lnTo>
                <a:lnTo>
                  <a:pt x="1858107" y="1375028"/>
                </a:lnTo>
                <a:lnTo>
                  <a:pt x="1909872" y="1363095"/>
                </a:lnTo>
                <a:lnTo>
                  <a:pt x="1960592" y="1350041"/>
                </a:lnTo>
                <a:lnTo>
                  <a:pt x="2010202" y="1335885"/>
                </a:lnTo>
                <a:lnTo>
                  <a:pt x="2058636" y="1320650"/>
                </a:lnTo>
                <a:lnTo>
                  <a:pt x="2105828" y="1304357"/>
                </a:lnTo>
                <a:lnTo>
                  <a:pt x="2151715" y="1287027"/>
                </a:lnTo>
                <a:lnTo>
                  <a:pt x="2196230" y="1268683"/>
                </a:lnTo>
                <a:lnTo>
                  <a:pt x="2239307" y="1249346"/>
                </a:lnTo>
                <a:lnTo>
                  <a:pt x="2280882" y="1229037"/>
                </a:lnTo>
                <a:lnTo>
                  <a:pt x="2320889" y="1207778"/>
                </a:lnTo>
                <a:lnTo>
                  <a:pt x="2359263" y="1185590"/>
                </a:lnTo>
                <a:lnTo>
                  <a:pt x="2395938" y="1162495"/>
                </a:lnTo>
                <a:lnTo>
                  <a:pt x="2430849" y="1138515"/>
                </a:lnTo>
                <a:lnTo>
                  <a:pt x="2463931" y="1113671"/>
                </a:lnTo>
                <a:lnTo>
                  <a:pt x="2495118" y="1087984"/>
                </a:lnTo>
                <a:lnTo>
                  <a:pt x="2524345" y="1061477"/>
                </a:lnTo>
                <a:lnTo>
                  <a:pt x="2551547" y="1034170"/>
                </a:lnTo>
                <a:lnTo>
                  <a:pt x="2602629" y="973200"/>
                </a:lnTo>
                <a:lnTo>
                  <a:pt x="2625289" y="940023"/>
                </a:lnTo>
                <a:lnTo>
                  <a:pt x="2644677" y="906610"/>
                </a:lnTo>
                <a:lnTo>
                  <a:pt x="2673793" y="839292"/>
                </a:lnTo>
                <a:lnTo>
                  <a:pt x="2690287" y="771677"/>
                </a:lnTo>
                <a:lnTo>
                  <a:pt x="2694471" y="704198"/>
                </a:lnTo>
                <a:lnTo>
                  <a:pt x="2692044" y="670645"/>
                </a:lnTo>
                <a:lnTo>
                  <a:pt x="2678346" y="604181"/>
                </a:lnTo>
                <a:lnTo>
                  <a:pt x="2653115" y="538935"/>
                </a:lnTo>
                <a:lnTo>
                  <a:pt x="2616663" y="475338"/>
                </a:lnTo>
                <a:lnTo>
                  <a:pt x="2594327" y="444294"/>
                </a:lnTo>
                <a:lnTo>
                  <a:pt x="2569301" y="413824"/>
                </a:lnTo>
                <a:lnTo>
                  <a:pt x="2541626" y="383983"/>
                </a:lnTo>
                <a:lnTo>
                  <a:pt x="2511341" y="354824"/>
                </a:lnTo>
                <a:lnTo>
                  <a:pt x="2478483" y="326403"/>
                </a:lnTo>
                <a:lnTo>
                  <a:pt x="2443092" y="298772"/>
                </a:lnTo>
                <a:lnTo>
                  <a:pt x="2405207" y="271986"/>
                </a:lnTo>
                <a:lnTo>
                  <a:pt x="2364867" y="246099"/>
                </a:lnTo>
                <a:lnTo>
                  <a:pt x="2322111" y="221165"/>
                </a:lnTo>
                <a:lnTo>
                  <a:pt x="2276977" y="197239"/>
                </a:lnTo>
                <a:lnTo>
                  <a:pt x="2229504" y="174373"/>
                </a:lnTo>
                <a:lnTo>
                  <a:pt x="2179732" y="152623"/>
                </a:lnTo>
                <a:lnTo>
                  <a:pt x="2127700" y="132042"/>
                </a:lnTo>
                <a:lnTo>
                  <a:pt x="2073445" y="112684"/>
                </a:lnTo>
                <a:lnTo>
                  <a:pt x="2017007" y="94604"/>
                </a:lnTo>
                <a:lnTo>
                  <a:pt x="1958426" y="77855"/>
                </a:lnTo>
                <a:lnTo>
                  <a:pt x="1897739" y="62491"/>
                </a:lnTo>
                <a:lnTo>
                  <a:pt x="1845286" y="50727"/>
                </a:lnTo>
                <a:lnTo>
                  <a:pt x="1792431" y="40221"/>
                </a:lnTo>
                <a:lnTo>
                  <a:pt x="1739233" y="30962"/>
                </a:lnTo>
                <a:lnTo>
                  <a:pt x="1685756" y="22937"/>
                </a:lnTo>
                <a:lnTo>
                  <a:pt x="1632061" y="16133"/>
                </a:lnTo>
                <a:lnTo>
                  <a:pt x="1578210" y="10538"/>
                </a:lnTo>
                <a:lnTo>
                  <a:pt x="1524264" y="6140"/>
                </a:lnTo>
                <a:lnTo>
                  <a:pt x="1470286" y="2926"/>
                </a:lnTo>
                <a:lnTo>
                  <a:pt x="1416336" y="883"/>
                </a:lnTo>
                <a:lnTo>
                  <a:pt x="1362478" y="0"/>
                </a:lnTo>
                <a:close/>
              </a:path>
              <a:path w="2694940" h="2288540">
                <a:moveTo>
                  <a:pt x="1388388" y="1427870"/>
                </a:moveTo>
                <a:lnTo>
                  <a:pt x="1297368" y="1427870"/>
                </a:lnTo>
                <a:lnTo>
                  <a:pt x="1355987" y="1428348"/>
                </a:lnTo>
                <a:lnTo>
                  <a:pt x="1388388" y="1427870"/>
                </a:lnTo>
                <a:close/>
              </a:path>
            </a:pathLst>
          </a:custGeom>
          <a:solidFill>
            <a:srgbClr val="F5F5F5"/>
          </a:solidFill>
        </p:spPr>
        <p:txBody>
          <a:bodyPr wrap="square" lIns="0" tIns="0" rIns="0" bIns="0" rtlCol="0"/>
          <a:lstStyle/>
          <a:p>
            <a:endParaRPr/>
          </a:p>
        </p:txBody>
      </p:sp>
      <p:sp>
        <p:nvSpPr>
          <p:cNvPr id="5" name="object 5"/>
          <p:cNvSpPr/>
          <p:nvPr/>
        </p:nvSpPr>
        <p:spPr>
          <a:xfrm>
            <a:off x="1811675" y="1529671"/>
            <a:ext cx="2694940" cy="2288540"/>
          </a:xfrm>
          <a:custGeom>
            <a:avLst/>
            <a:gdLst/>
            <a:ahLst/>
            <a:cxnLst/>
            <a:rect l="l" t="t" r="r" b="b"/>
            <a:pathLst>
              <a:path w="2694940" h="2288540">
                <a:moveTo>
                  <a:pt x="655040" y="2288448"/>
                </a:moveTo>
                <a:lnTo>
                  <a:pt x="796731" y="1366003"/>
                </a:lnTo>
                <a:lnTo>
                  <a:pt x="736045" y="1350639"/>
                </a:lnTo>
                <a:lnTo>
                  <a:pt x="677463" y="1333891"/>
                </a:lnTo>
                <a:lnTo>
                  <a:pt x="621025" y="1315810"/>
                </a:lnTo>
                <a:lnTo>
                  <a:pt x="566771" y="1296453"/>
                </a:lnTo>
                <a:lnTo>
                  <a:pt x="514738" y="1275871"/>
                </a:lnTo>
                <a:lnTo>
                  <a:pt x="464966" y="1254121"/>
                </a:lnTo>
                <a:lnTo>
                  <a:pt x="417493" y="1231256"/>
                </a:lnTo>
                <a:lnTo>
                  <a:pt x="372359" y="1207329"/>
                </a:lnTo>
                <a:lnTo>
                  <a:pt x="329603" y="1182395"/>
                </a:lnTo>
                <a:lnTo>
                  <a:pt x="289263" y="1156508"/>
                </a:lnTo>
                <a:lnTo>
                  <a:pt x="251378" y="1129722"/>
                </a:lnTo>
                <a:lnTo>
                  <a:pt x="215987" y="1102091"/>
                </a:lnTo>
                <a:lnTo>
                  <a:pt x="183130" y="1073670"/>
                </a:lnTo>
                <a:lnTo>
                  <a:pt x="152844" y="1044511"/>
                </a:lnTo>
                <a:lnTo>
                  <a:pt x="125169" y="1014670"/>
                </a:lnTo>
                <a:lnTo>
                  <a:pt x="100144" y="984200"/>
                </a:lnTo>
                <a:lnTo>
                  <a:pt x="77807" y="953156"/>
                </a:lnTo>
                <a:lnTo>
                  <a:pt x="41355" y="889559"/>
                </a:lnTo>
                <a:lnTo>
                  <a:pt x="16125" y="824313"/>
                </a:lnTo>
                <a:lnTo>
                  <a:pt x="2427" y="757849"/>
                </a:lnTo>
                <a:lnTo>
                  <a:pt x="0" y="724296"/>
                </a:lnTo>
                <a:lnTo>
                  <a:pt x="572" y="690600"/>
                </a:lnTo>
                <a:lnTo>
                  <a:pt x="10872" y="622999"/>
                </a:lnTo>
                <a:lnTo>
                  <a:pt x="33638" y="555479"/>
                </a:lnTo>
                <a:lnTo>
                  <a:pt x="69181" y="488471"/>
                </a:lnTo>
                <a:lnTo>
                  <a:pt x="91841" y="455294"/>
                </a:lnTo>
                <a:lnTo>
                  <a:pt x="117812" y="422407"/>
                </a:lnTo>
                <a:lnTo>
                  <a:pt x="168393" y="368615"/>
                </a:lnTo>
                <a:lnTo>
                  <a:pt x="226256" y="318060"/>
                </a:lnTo>
                <a:lnTo>
                  <a:pt x="257765" y="294027"/>
                </a:lnTo>
                <a:lnTo>
                  <a:pt x="290908" y="270841"/>
                </a:lnTo>
                <a:lnTo>
                  <a:pt x="325626" y="248515"/>
                </a:lnTo>
                <a:lnTo>
                  <a:pt x="361855" y="227060"/>
                </a:lnTo>
                <a:lnTo>
                  <a:pt x="399534" y="206489"/>
                </a:lnTo>
                <a:lnTo>
                  <a:pt x="438601" y="186815"/>
                </a:lnTo>
                <a:lnTo>
                  <a:pt x="478995" y="168051"/>
                </a:lnTo>
                <a:lnTo>
                  <a:pt x="520653" y="150207"/>
                </a:lnTo>
                <a:lnTo>
                  <a:pt x="563514" y="133299"/>
                </a:lnTo>
                <a:lnTo>
                  <a:pt x="607517" y="117336"/>
                </a:lnTo>
                <a:lnTo>
                  <a:pt x="652599" y="102333"/>
                </a:lnTo>
                <a:lnTo>
                  <a:pt x="698698" y="88302"/>
                </a:lnTo>
                <a:lnTo>
                  <a:pt x="745753" y="75255"/>
                </a:lnTo>
                <a:lnTo>
                  <a:pt x="793702" y="63204"/>
                </a:lnTo>
                <a:lnTo>
                  <a:pt x="842483" y="52163"/>
                </a:lnTo>
                <a:lnTo>
                  <a:pt x="892035" y="42143"/>
                </a:lnTo>
                <a:lnTo>
                  <a:pt x="942296" y="33157"/>
                </a:lnTo>
                <a:lnTo>
                  <a:pt x="993203" y="25218"/>
                </a:lnTo>
                <a:lnTo>
                  <a:pt x="1044696" y="18338"/>
                </a:lnTo>
                <a:lnTo>
                  <a:pt x="1096711" y="12530"/>
                </a:lnTo>
                <a:lnTo>
                  <a:pt x="1149189" y="7806"/>
                </a:lnTo>
                <a:lnTo>
                  <a:pt x="1202066" y="4178"/>
                </a:lnTo>
                <a:lnTo>
                  <a:pt x="1255281" y="1660"/>
                </a:lnTo>
                <a:lnTo>
                  <a:pt x="1308772" y="262"/>
                </a:lnTo>
                <a:lnTo>
                  <a:pt x="1362478" y="0"/>
                </a:lnTo>
                <a:lnTo>
                  <a:pt x="1416337" y="883"/>
                </a:lnTo>
                <a:lnTo>
                  <a:pt x="1470286" y="2926"/>
                </a:lnTo>
                <a:lnTo>
                  <a:pt x="1524264" y="6140"/>
                </a:lnTo>
                <a:lnTo>
                  <a:pt x="1578210" y="10538"/>
                </a:lnTo>
                <a:lnTo>
                  <a:pt x="1632062" y="16133"/>
                </a:lnTo>
                <a:lnTo>
                  <a:pt x="1685757" y="22936"/>
                </a:lnTo>
                <a:lnTo>
                  <a:pt x="1739234" y="30962"/>
                </a:lnTo>
                <a:lnTo>
                  <a:pt x="1792431" y="40221"/>
                </a:lnTo>
                <a:lnTo>
                  <a:pt x="1845287" y="50726"/>
                </a:lnTo>
                <a:lnTo>
                  <a:pt x="1897739" y="62491"/>
                </a:lnTo>
                <a:lnTo>
                  <a:pt x="1958426" y="77855"/>
                </a:lnTo>
                <a:lnTo>
                  <a:pt x="2017008" y="94603"/>
                </a:lnTo>
                <a:lnTo>
                  <a:pt x="2073445" y="112684"/>
                </a:lnTo>
                <a:lnTo>
                  <a:pt x="2127700" y="132041"/>
                </a:lnTo>
                <a:lnTo>
                  <a:pt x="2179733" y="152623"/>
                </a:lnTo>
                <a:lnTo>
                  <a:pt x="2229505" y="174373"/>
                </a:lnTo>
                <a:lnTo>
                  <a:pt x="2276977" y="197238"/>
                </a:lnTo>
                <a:lnTo>
                  <a:pt x="2322111" y="221165"/>
                </a:lnTo>
                <a:lnTo>
                  <a:pt x="2364867" y="246099"/>
                </a:lnTo>
                <a:lnTo>
                  <a:pt x="2405207" y="271986"/>
                </a:lnTo>
                <a:lnTo>
                  <a:pt x="2443092" y="298772"/>
                </a:lnTo>
                <a:lnTo>
                  <a:pt x="2478483" y="326403"/>
                </a:lnTo>
                <a:lnTo>
                  <a:pt x="2511341" y="354824"/>
                </a:lnTo>
                <a:lnTo>
                  <a:pt x="2541626" y="383983"/>
                </a:lnTo>
                <a:lnTo>
                  <a:pt x="2569301" y="413824"/>
                </a:lnTo>
                <a:lnTo>
                  <a:pt x="2594326" y="444294"/>
                </a:lnTo>
                <a:lnTo>
                  <a:pt x="2616663" y="475338"/>
                </a:lnTo>
                <a:lnTo>
                  <a:pt x="2653115" y="538935"/>
                </a:lnTo>
                <a:lnTo>
                  <a:pt x="2678345" y="604181"/>
                </a:lnTo>
                <a:lnTo>
                  <a:pt x="2692044" y="670645"/>
                </a:lnTo>
                <a:lnTo>
                  <a:pt x="2694471" y="704198"/>
                </a:lnTo>
                <a:lnTo>
                  <a:pt x="2693898" y="737893"/>
                </a:lnTo>
                <a:lnTo>
                  <a:pt x="2683598" y="805494"/>
                </a:lnTo>
                <a:lnTo>
                  <a:pt x="2660832" y="873015"/>
                </a:lnTo>
                <a:lnTo>
                  <a:pt x="2625289" y="940023"/>
                </a:lnTo>
                <a:lnTo>
                  <a:pt x="2602629" y="973199"/>
                </a:lnTo>
                <a:lnTo>
                  <a:pt x="2576658" y="1006086"/>
                </a:lnTo>
                <a:lnTo>
                  <a:pt x="2524345" y="1061477"/>
                </a:lnTo>
                <a:lnTo>
                  <a:pt x="2495118" y="1087984"/>
                </a:lnTo>
                <a:lnTo>
                  <a:pt x="2463931" y="1113671"/>
                </a:lnTo>
                <a:lnTo>
                  <a:pt x="2430849" y="1138515"/>
                </a:lnTo>
                <a:lnTo>
                  <a:pt x="2395938" y="1162495"/>
                </a:lnTo>
                <a:lnTo>
                  <a:pt x="2359263" y="1185590"/>
                </a:lnTo>
                <a:lnTo>
                  <a:pt x="2320889" y="1207778"/>
                </a:lnTo>
                <a:lnTo>
                  <a:pt x="2280882" y="1229037"/>
                </a:lnTo>
                <a:lnTo>
                  <a:pt x="2239307" y="1249346"/>
                </a:lnTo>
                <a:lnTo>
                  <a:pt x="2196229" y="1268683"/>
                </a:lnTo>
                <a:lnTo>
                  <a:pt x="2151715" y="1287027"/>
                </a:lnTo>
                <a:lnTo>
                  <a:pt x="2105828" y="1304357"/>
                </a:lnTo>
                <a:lnTo>
                  <a:pt x="2058635" y="1320650"/>
                </a:lnTo>
                <a:lnTo>
                  <a:pt x="2010201" y="1335885"/>
                </a:lnTo>
                <a:lnTo>
                  <a:pt x="1960592" y="1350041"/>
                </a:lnTo>
                <a:lnTo>
                  <a:pt x="1909872" y="1363096"/>
                </a:lnTo>
                <a:lnTo>
                  <a:pt x="1858107" y="1375028"/>
                </a:lnTo>
                <a:lnTo>
                  <a:pt x="1805363" y="1385816"/>
                </a:lnTo>
                <a:lnTo>
                  <a:pt x="1751704" y="1395438"/>
                </a:lnTo>
                <a:lnTo>
                  <a:pt x="1697197" y="1403874"/>
                </a:lnTo>
                <a:lnTo>
                  <a:pt x="1641906" y="1411100"/>
                </a:lnTo>
                <a:lnTo>
                  <a:pt x="1585897" y="1417097"/>
                </a:lnTo>
                <a:lnTo>
                  <a:pt x="1529235" y="1421841"/>
                </a:lnTo>
                <a:lnTo>
                  <a:pt x="1471986" y="1425312"/>
                </a:lnTo>
                <a:lnTo>
                  <a:pt x="1414214" y="1427488"/>
                </a:lnTo>
                <a:lnTo>
                  <a:pt x="1355987" y="1428348"/>
                </a:lnTo>
                <a:lnTo>
                  <a:pt x="1297367" y="1427870"/>
                </a:lnTo>
                <a:lnTo>
                  <a:pt x="655040" y="2288448"/>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2386744" y="1774018"/>
            <a:ext cx="1549400" cy="939800"/>
          </a:xfrm>
          <a:prstGeom prst="rect">
            <a:avLst/>
          </a:prstGeom>
        </p:spPr>
        <p:txBody>
          <a:bodyPr vert="horz" wrap="square" lIns="0" tIns="12700" rIns="0" bIns="0" rtlCol="0">
            <a:spAutoFit/>
          </a:bodyPr>
          <a:lstStyle/>
          <a:p>
            <a:pPr marL="12700" marR="5080" algn="just">
              <a:lnSpc>
                <a:spcPct val="100000"/>
              </a:lnSpc>
              <a:spcBef>
                <a:spcPts val="100"/>
              </a:spcBef>
            </a:pPr>
            <a:r>
              <a:rPr sz="2000" dirty="0">
                <a:solidFill>
                  <a:srgbClr val="C00000"/>
                </a:solidFill>
                <a:latin typeface="微软雅黑" panose="020B0503020204020204" pitchFamily="34" charset="-122"/>
                <a:cs typeface="微软雅黑" panose="020B0503020204020204" pitchFamily="34" charset="-122"/>
              </a:rPr>
              <a:t>经常把单元测 试任务堆积到 系统测试阶段</a:t>
            </a:r>
            <a:endParaRPr sz="2000">
              <a:latin typeface="微软雅黑" panose="020B0503020204020204" pitchFamily="34" charset="-122"/>
              <a:cs typeface="微软雅黑" panose="020B0503020204020204" pitchFamily="34" charset="-122"/>
            </a:endParaRPr>
          </a:p>
        </p:txBody>
      </p:sp>
      <p:sp>
        <p:nvSpPr>
          <p:cNvPr id="7" name="object 7"/>
          <p:cNvSpPr/>
          <p:nvPr/>
        </p:nvSpPr>
        <p:spPr>
          <a:xfrm>
            <a:off x="6766562" y="5623559"/>
            <a:ext cx="1091565" cy="91440"/>
          </a:xfrm>
          <a:custGeom>
            <a:avLst/>
            <a:gdLst/>
            <a:ahLst/>
            <a:cxnLst/>
            <a:rect l="l" t="t" r="r" b="b"/>
            <a:pathLst>
              <a:path w="1091565" h="91439">
                <a:moveTo>
                  <a:pt x="0" y="91439"/>
                </a:moveTo>
                <a:lnTo>
                  <a:pt x="1091159" y="91439"/>
                </a:lnTo>
                <a:lnTo>
                  <a:pt x="1091159" y="0"/>
                </a:lnTo>
                <a:lnTo>
                  <a:pt x="0" y="0"/>
                </a:lnTo>
                <a:lnTo>
                  <a:pt x="0" y="91439"/>
                </a:lnTo>
                <a:close/>
              </a:path>
            </a:pathLst>
          </a:custGeom>
          <a:solidFill>
            <a:srgbClr val="407AAA"/>
          </a:solidFill>
        </p:spPr>
        <p:txBody>
          <a:bodyPr wrap="square" lIns="0" tIns="0" rIns="0" bIns="0" rtlCol="0"/>
          <a:lstStyle/>
          <a:p>
            <a:endParaRPr/>
          </a:p>
        </p:txBody>
      </p:sp>
      <p:sp>
        <p:nvSpPr>
          <p:cNvPr id="8" name="object 8"/>
          <p:cNvSpPr/>
          <p:nvPr/>
        </p:nvSpPr>
        <p:spPr>
          <a:xfrm>
            <a:off x="6766562" y="4526279"/>
            <a:ext cx="86995" cy="1097280"/>
          </a:xfrm>
          <a:custGeom>
            <a:avLst/>
            <a:gdLst/>
            <a:ahLst/>
            <a:cxnLst/>
            <a:rect l="l" t="t" r="r" b="b"/>
            <a:pathLst>
              <a:path w="86995" h="1097279">
                <a:moveTo>
                  <a:pt x="0" y="1097280"/>
                </a:moveTo>
                <a:lnTo>
                  <a:pt x="86975" y="1097280"/>
                </a:lnTo>
                <a:lnTo>
                  <a:pt x="86975" y="0"/>
                </a:lnTo>
                <a:lnTo>
                  <a:pt x="0" y="0"/>
                </a:lnTo>
                <a:lnTo>
                  <a:pt x="0" y="1097280"/>
                </a:lnTo>
                <a:close/>
              </a:path>
            </a:pathLst>
          </a:custGeom>
          <a:solidFill>
            <a:srgbClr val="407AAA"/>
          </a:solidFill>
        </p:spPr>
        <p:txBody>
          <a:bodyPr wrap="square" lIns="0" tIns="0" rIns="0" bIns="0" rtlCol="0"/>
          <a:lstStyle/>
          <a:p>
            <a:endParaRPr/>
          </a:p>
        </p:txBody>
      </p:sp>
      <p:sp>
        <p:nvSpPr>
          <p:cNvPr id="9" name="object 9"/>
          <p:cNvSpPr/>
          <p:nvPr/>
        </p:nvSpPr>
        <p:spPr>
          <a:xfrm>
            <a:off x="10411690" y="1756410"/>
            <a:ext cx="86995" cy="1098550"/>
          </a:xfrm>
          <a:custGeom>
            <a:avLst/>
            <a:gdLst/>
            <a:ahLst/>
            <a:cxnLst/>
            <a:rect l="l" t="t" r="r" b="b"/>
            <a:pathLst>
              <a:path w="86995" h="1098550">
                <a:moveTo>
                  <a:pt x="0" y="1098550"/>
                </a:moveTo>
                <a:lnTo>
                  <a:pt x="86975" y="1098550"/>
                </a:lnTo>
                <a:lnTo>
                  <a:pt x="86975" y="0"/>
                </a:lnTo>
                <a:lnTo>
                  <a:pt x="0" y="0"/>
                </a:lnTo>
                <a:lnTo>
                  <a:pt x="0" y="1098550"/>
                </a:lnTo>
                <a:close/>
              </a:path>
            </a:pathLst>
          </a:custGeom>
          <a:solidFill>
            <a:srgbClr val="407AAA"/>
          </a:solidFill>
        </p:spPr>
        <p:txBody>
          <a:bodyPr wrap="square" lIns="0" tIns="0" rIns="0" bIns="0" rtlCol="0"/>
          <a:lstStyle/>
          <a:p>
            <a:endParaRPr/>
          </a:p>
        </p:txBody>
      </p:sp>
      <p:sp>
        <p:nvSpPr>
          <p:cNvPr id="10" name="object 10"/>
          <p:cNvSpPr/>
          <p:nvPr/>
        </p:nvSpPr>
        <p:spPr>
          <a:xfrm>
            <a:off x="9407508" y="1666239"/>
            <a:ext cx="1091565" cy="90170"/>
          </a:xfrm>
          <a:custGeom>
            <a:avLst/>
            <a:gdLst/>
            <a:ahLst/>
            <a:cxnLst/>
            <a:rect l="l" t="t" r="r" b="b"/>
            <a:pathLst>
              <a:path w="1091565" h="90169">
                <a:moveTo>
                  <a:pt x="0" y="90169"/>
                </a:moveTo>
                <a:lnTo>
                  <a:pt x="1091158" y="90169"/>
                </a:lnTo>
                <a:lnTo>
                  <a:pt x="1091158" y="0"/>
                </a:lnTo>
                <a:lnTo>
                  <a:pt x="0" y="0"/>
                </a:lnTo>
                <a:lnTo>
                  <a:pt x="0" y="90169"/>
                </a:lnTo>
                <a:close/>
              </a:path>
            </a:pathLst>
          </a:custGeom>
          <a:solidFill>
            <a:srgbClr val="407AAA"/>
          </a:solidFill>
        </p:spPr>
        <p:txBody>
          <a:bodyPr wrap="square" lIns="0" tIns="0" rIns="0" bIns="0" rtlCol="0"/>
          <a:lstStyle/>
          <a:p>
            <a:endParaRPr/>
          </a:p>
        </p:txBody>
      </p:sp>
      <p:sp>
        <p:nvSpPr>
          <p:cNvPr id="11" name="object 11"/>
          <p:cNvSpPr/>
          <p:nvPr/>
        </p:nvSpPr>
        <p:spPr>
          <a:xfrm>
            <a:off x="6909778" y="1812576"/>
            <a:ext cx="3437254" cy="3763010"/>
          </a:xfrm>
          <a:custGeom>
            <a:avLst/>
            <a:gdLst/>
            <a:ahLst/>
            <a:cxnLst/>
            <a:rect l="l" t="t" r="r" b="b"/>
            <a:pathLst>
              <a:path w="3437254" h="3763010">
                <a:moveTo>
                  <a:pt x="0" y="0"/>
                </a:moveTo>
                <a:lnTo>
                  <a:pt x="3437149" y="0"/>
                </a:lnTo>
                <a:lnTo>
                  <a:pt x="3437149" y="3762465"/>
                </a:lnTo>
                <a:lnTo>
                  <a:pt x="0" y="3762465"/>
                </a:lnTo>
                <a:lnTo>
                  <a:pt x="0" y="0"/>
                </a:lnTo>
                <a:close/>
              </a:path>
            </a:pathLst>
          </a:custGeom>
          <a:solidFill>
            <a:srgbClr val="407AAA"/>
          </a:solidFill>
        </p:spPr>
        <p:txBody>
          <a:bodyPr wrap="square" lIns="0" tIns="0" rIns="0" bIns="0" rtlCol="0"/>
          <a:lstStyle/>
          <a:p>
            <a:endParaRPr/>
          </a:p>
        </p:txBody>
      </p:sp>
      <p:sp>
        <p:nvSpPr>
          <p:cNvPr id="12" name="object 12"/>
          <p:cNvSpPr txBox="1"/>
          <p:nvPr/>
        </p:nvSpPr>
        <p:spPr>
          <a:xfrm>
            <a:off x="7077077" y="2161680"/>
            <a:ext cx="3044825" cy="3060700"/>
          </a:xfrm>
          <a:prstGeom prst="rect">
            <a:avLst/>
          </a:prstGeom>
        </p:spPr>
        <p:txBody>
          <a:bodyPr vert="horz" wrap="square" lIns="0" tIns="4445" rIns="0" bIns="0" rtlCol="0">
            <a:spAutoFit/>
          </a:bodyPr>
          <a:lstStyle/>
          <a:p>
            <a:pPr marL="368300" marR="5080" indent="-355600" algn="just">
              <a:lnSpc>
                <a:spcPct val="120000"/>
              </a:lnSpc>
              <a:spcBef>
                <a:spcPts val="35"/>
              </a:spcBef>
              <a:buFont typeface="Wingdings" panose="05000000000000000000"/>
              <a:buChar char=""/>
              <a:tabLst>
                <a:tab pos="383540" algn="l"/>
              </a:tabLst>
            </a:pPr>
            <a:r>
              <a:rPr sz="2200" spc="85" dirty="0">
                <a:solidFill>
                  <a:srgbClr val="FFFFFF"/>
                </a:solidFill>
                <a:latin typeface="微软雅黑" panose="020B0503020204020204" pitchFamily="34" charset="-122"/>
                <a:cs typeface="微软雅黑" panose="020B0503020204020204" pitchFamily="34" charset="-122"/>
              </a:rPr>
              <a:t>大量故障堆积在项目 </a:t>
            </a:r>
            <a:r>
              <a:rPr sz="2200" spc="80" dirty="0">
                <a:solidFill>
                  <a:srgbClr val="FFFFFF"/>
                </a:solidFill>
                <a:latin typeface="微软雅黑" panose="020B0503020204020204" pitchFamily="34" charset="-122"/>
                <a:cs typeface="微软雅黑" panose="020B0503020204020204" pitchFamily="34" charset="-122"/>
              </a:rPr>
              <a:t>中后期，项目后</a:t>
            </a:r>
            <a:r>
              <a:rPr sz="2200" spc="80" dirty="0">
                <a:solidFill>
                  <a:srgbClr val="FFFFFF"/>
                </a:solidFill>
                <a:latin typeface="Arial" panose="020B0604020202020204"/>
                <a:cs typeface="Arial" panose="020B0604020202020204"/>
              </a:rPr>
              <a:t>10%  </a:t>
            </a:r>
            <a:r>
              <a:rPr sz="2200" spc="420" dirty="0">
                <a:solidFill>
                  <a:srgbClr val="FFFFFF"/>
                </a:solidFill>
                <a:latin typeface="微软雅黑" panose="020B0503020204020204" pitchFamily="34" charset="-122"/>
                <a:cs typeface="微软雅黑" panose="020B0503020204020204" pitchFamily="34" charset="-122"/>
              </a:rPr>
              <a:t>的工作占用了项</a:t>
            </a:r>
            <a:r>
              <a:rPr sz="2200" dirty="0">
                <a:solidFill>
                  <a:srgbClr val="FFFFFF"/>
                </a:solidFill>
                <a:latin typeface="微软雅黑" panose="020B0503020204020204" pitchFamily="34" charset="-122"/>
                <a:cs typeface="微软雅黑" panose="020B0503020204020204" pitchFamily="34" charset="-122"/>
              </a:rPr>
              <a:t>目 </a:t>
            </a:r>
            <a:r>
              <a:rPr sz="2200" spc="-5" dirty="0">
                <a:solidFill>
                  <a:srgbClr val="FFFFFF"/>
                </a:solidFill>
                <a:latin typeface="Arial" panose="020B0604020202020204"/>
                <a:cs typeface="Arial" panose="020B0604020202020204"/>
              </a:rPr>
              <a:t>90%</a:t>
            </a:r>
            <a:r>
              <a:rPr sz="2200" dirty="0">
                <a:solidFill>
                  <a:srgbClr val="FFFFFF"/>
                </a:solidFill>
                <a:latin typeface="微软雅黑" panose="020B0503020204020204" pitchFamily="34" charset="-122"/>
                <a:cs typeface="微软雅黑" panose="020B0503020204020204" pitchFamily="34" charset="-122"/>
              </a:rPr>
              <a:t>的时间。</a:t>
            </a:r>
            <a:endParaRPr sz="2200">
              <a:latin typeface="微软雅黑" panose="020B0503020204020204" pitchFamily="34" charset="-122"/>
              <a:cs typeface="微软雅黑" panose="020B0503020204020204" pitchFamily="34" charset="-122"/>
            </a:endParaRPr>
          </a:p>
          <a:p>
            <a:pPr marL="368300" marR="37465" indent="-355600" algn="just">
              <a:lnSpc>
                <a:spcPct val="121000"/>
              </a:lnSpc>
              <a:spcBef>
                <a:spcPts val="1700"/>
              </a:spcBef>
              <a:buFont typeface="Wingdings" panose="05000000000000000000"/>
              <a:buChar char=""/>
              <a:tabLst>
                <a:tab pos="383540" algn="l"/>
              </a:tabLst>
            </a:pPr>
            <a:r>
              <a:rPr sz="2200" spc="85" dirty="0">
                <a:solidFill>
                  <a:srgbClr val="FFFFFF"/>
                </a:solidFill>
                <a:latin typeface="微软雅黑" panose="020B0503020204020204" pitchFamily="34" charset="-122"/>
                <a:cs typeface="微软雅黑" panose="020B0503020204020204" pitchFamily="34" charset="-122"/>
              </a:rPr>
              <a:t>故障难以定位，而且 </a:t>
            </a:r>
            <a:r>
              <a:rPr sz="2200" spc="90" dirty="0">
                <a:solidFill>
                  <a:srgbClr val="FFFFFF"/>
                </a:solidFill>
                <a:latin typeface="微软雅黑" panose="020B0503020204020204" pitchFamily="34" charset="-122"/>
                <a:cs typeface="微软雅黑" panose="020B0503020204020204" pitchFamily="34" charset="-122"/>
              </a:rPr>
              <a:t>飘忽不定，开发和测 </a:t>
            </a:r>
            <a:r>
              <a:rPr sz="2200" dirty="0">
                <a:solidFill>
                  <a:srgbClr val="FFFFFF"/>
                </a:solidFill>
                <a:latin typeface="微软雅黑" panose="020B0503020204020204" pitchFamily="34" charset="-122"/>
                <a:cs typeface="微软雅黑" panose="020B0503020204020204" pitchFamily="34" charset="-122"/>
              </a:rPr>
              <a:t>试人员疲于奔命。</a:t>
            </a:r>
            <a:endParaRPr sz="2200">
              <a:latin typeface="微软雅黑" panose="020B0503020204020204" pitchFamily="34" charset="-122"/>
              <a:cs typeface="微软雅黑" panose="020B0503020204020204" pitchFamily="34" charset="-122"/>
            </a:endParaRPr>
          </a:p>
        </p:txBody>
      </p:sp>
      <p:sp>
        <p:nvSpPr>
          <p:cNvPr id="13" name="object 13"/>
          <p:cNvSpPr/>
          <p:nvPr/>
        </p:nvSpPr>
        <p:spPr>
          <a:xfrm>
            <a:off x="4972053" y="3301423"/>
            <a:ext cx="1073148" cy="865186"/>
          </a:xfrm>
          <a:prstGeom prst="rect">
            <a:avLst/>
          </a:prstGeom>
          <a:blipFill>
            <a:blip r:embed="rId4" cstate="print"/>
            <a:stretch>
              <a:fillRect/>
            </a:stretch>
          </a:blipFill>
        </p:spPr>
        <p:txBody>
          <a:bodyPr wrap="square" lIns="0" tIns="0" rIns="0" bIns="0" rtlCol="0"/>
          <a:lstStyle/>
          <a:p>
            <a:endParaRPr/>
          </a:p>
        </p:txBody>
      </p:sp>
      <p:sp>
        <p:nvSpPr>
          <p:cNvPr id="14" name="灯片编号占位符 13"/>
          <p:cNvSpPr>
            <a:spLocks noGrp="1"/>
          </p:cNvSpPr>
          <p:nvPr>
            <p:ph type="sldNum" sz="quarter" idx="7"/>
          </p:nvPr>
        </p:nvSpPr>
        <p:spPr/>
        <p:txBody>
          <a:bodyPr/>
          <a:lstStyle/>
          <a:p>
            <a:fld id="{B6F15528-21DE-4FAA-801E-634DDDAF4B2B}" type="slidenum">
              <a:rPr lang="en-US" altLang="zh-CN"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68349" y="3147802"/>
            <a:ext cx="304800" cy="152400"/>
          </a:xfrm>
          <a:custGeom>
            <a:avLst/>
            <a:gdLst/>
            <a:ahLst/>
            <a:cxnLst/>
            <a:rect l="l" t="t" r="r" b="b"/>
            <a:pathLst>
              <a:path w="304800" h="152400">
                <a:moveTo>
                  <a:pt x="0" y="0"/>
                </a:moveTo>
                <a:lnTo>
                  <a:pt x="304800" y="0"/>
                </a:lnTo>
                <a:lnTo>
                  <a:pt x="304800" y="152400"/>
                </a:lnTo>
                <a:lnTo>
                  <a:pt x="0" y="152400"/>
                </a:lnTo>
                <a:lnTo>
                  <a:pt x="0" y="0"/>
                </a:lnTo>
                <a:close/>
              </a:path>
            </a:pathLst>
          </a:custGeom>
          <a:solidFill>
            <a:srgbClr val="3DAAD6"/>
          </a:solidFill>
        </p:spPr>
        <p:txBody>
          <a:bodyPr wrap="square" lIns="0" tIns="0" rIns="0" bIns="0" rtlCol="0"/>
          <a:lstStyle/>
          <a:p>
            <a:endParaRPr/>
          </a:p>
        </p:txBody>
      </p:sp>
      <p:sp>
        <p:nvSpPr>
          <p:cNvPr id="4" name="object 4"/>
          <p:cNvSpPr/>
          <p:nvPr/>
        </p:nvSpPr>
        <p:spPr>
          <a:xfrm>
            <a:off x="9368349" y="3842071"/>
            <a:ext cx="304800" cy="152400"/>
          </a:xfrm>
          <a:custGeom>
            <a:avLst/>
            <a:gdLst/>
            <a:ahLst/>
            <a:cxnLst/>
            <a:rect l="l" t="t" r="r" b="b"/>
            <a:pathLst>
              <a:path w="304800" h="152400">
                <a:moveTo>
                  <a:pt x="0" y="0"/>
                </a:moveTo>
                <a:lnTo>
                  <a:pt x="304800" y="0"/>
                </a:lnTo>
                <a:lnTo>
                  <a:pt x="304800" y="152399"/>
                </a:lnTo>
                <a:lnTo>
                  <a:pt x="0" y="152399"/>
                </a:lnTo>
                <a:lnTo>
                  <a:pt x="0" y="0"/>
                </a:lnTo>
                <a:close/>
              </a:path>
            </a:pathLst>
          </a:custGeom>
          <a:solidFill>
            <a:srgbClr val="FFDF79"/>
          </a:solidFill>
        </p:spPr>
        <p:txBody>
          <a:bodyPr wrap="square" lIns="0" tIns="0" rIns="0" bIns="0" rtlCol="0"/>
          <a:lstStyle/>
          <a:p>
            <a:endParaRPr/>
          </a:p>
        </p:txBody>
      </p:sp>
      <p:sp>
        <p:nvSpPr>
          <p:cNvPr id="5" name="object 5"/>
          <p:cNvSpPr/>
          <p:nvPr/>
        </p:nvSpPr>
        <p:spPr>
          <a:xfrm>
            <a:off x="9368349" y="4485540"/>
            <a:ext cx="304800" cy="152400"/>
          </a:xfrm>
          <a:custGeom>
            <a:avLst/>
            <a:gdLst/>
            <a:ahLst/>
            <a:cxnLst/>
            <a:rect l="l" t="t" r="r" b="b"/>
            <a:pathLst>
              <a:path w="304800" h="152400">
                <a:moveTo>
                  <a:pt x="0" y="0"/>
                </a:moveTo>
                <a:lnTo>
                  <a:pt x="304800" y="0"/>
                </a:lnTo>
                <a:lnTo>
                  <a:pt x="304800" y="152400"/>
                </a:lnTo>
                <a:lnTo>
                  <a:pt x="0" y="152400"/>
                </a:lnTo>
                <a:lnTo>
                  <a:pt x="0" y="0"/>
                </a:lnTo>
                <a:close/>
              </a:path>
            </a:pathLst>
          </a:custGeom>
          <a:solidFill>
            <a:srgbClr val="D81E00"/>
          </a:solidFill>
        </p:spPr>
        <p:txBody>
          <a:bodyPr wrap="square" lIns="0" tIns="0" rIns="0" bIns="0" rtlCol="0"/>
          <a:lstStyle/>
          <a:p>
            <a:endParaRPr/>
          </a:p>
        </p:txBody>
      </p:sp>
      <p:sp>
        <p:nvSpPr>
          <p:cNvPr id="6" name="object 6"/>
          <p:cNvSpPr txBox="1"/>
          <p:nvPr/>
        </p:nvSpPr>
        <p:spPr>
          <a:xfrm>
            <a:off x="9885917" y="2953826"/>
            <a:ext cx="1041400" cy="1865630"/>
          </a:xfrm>
          <a:prstGeom prst="rect">
            <a:avLst/>
          </a:prstGeom>
        </p:spPr>
        <p:txBody>
          <a:bodyPr vert="horz" wrap="square" lIns="0" tIns="22860" rIns="0" bIns="0" rtlCol="0">
            <a:spAutoFit/>
          </a:bodyPr>
          <a:lstStyle/>
          <a:p>
            <a:pPr marL="12700" marR="5080">
              <a:lnSpc>
                <a:spcPts val="1900"/>
              </a:lnSpc>
              <a:spcBef>
                <a:spcPts val="180"/>
              </a:spcBef>
            </a:pPr>
            <a:r>
              <a:rPr sz="1600" dirty="0">
                <a:latin typeface="微软雅黑" panose="020B0503020204020204" pitchFamily="34" charset="-122"/>
                <a:cs typeface="微软雅黑" panose="020B0503020204020204" pitchFamily="34" charset="-122"/>
              </a:rPr>
              <a:t>当前阶段引 入的缺陷率</a:t>
            </a:r>
            <a:endParaRPr sz="1600">
              <a:latin typeface="微软雅黑" panose="020B0503020204020204" pitchFamily="34" charset="-122"/>
              <a:cs typeface="微软雅黑" panose="020B0503020204020204" pitchFamily="34" charset="-122"/>
            </a:endParaRPr>
          </a:p>
          <a:p>
            <a:pPr marL="12700" marR="5080">
              <a:lnSpc>
                <a:spcPts val="1900"/>
              </a:lnSpc>
              <a:spcBef>
                <a:spcPts val="1530"/>
              </a:spcBef>
            </a:pPr>
            <a:r>
              <a:rPr sz="1600" dirty="0">
                <a:latin typeface="微软雅黑" panose="020B0503020204020204" pitchFamily="34" charset="-122"/>
                <a:cs typeface="微软雅黑" panose="020B0503020204020204" pitchFamily="34" charset="-122"/>
              </a:rPr>
              <a:t>当前阶段发 现的缺陷率</a:t>
            </a:r>
            <a:endParaRPr sz="1600">
              <a:latin typeface="微软雅黑" panose="020B0503020204020204" pitchFamily="34" charset="-122"/>
              <a:cs typeface="微软雅黑" panose="020B0503020204020204" pitchFamily="34" charset="-122"/>
            </a:endParaRPr>
          </a:p>
          <a:p>
            <a:pPr marL="12700" marR="5080">
              <a:lnSpc>
                <a:spcPts val="1900"/>
              </a:lnSpc>
              <a:spcBef>
                <a:spcPts val="1535"/>
              </a:spcBef>
            </a:pPr>
            <a:r>
              <a:rPr sz="1600" dirty="0">
                <a:latin typeface="微软雅黑" panose="020B0503020204020204" pitchFamily="34" charset="-122"/>
                <a:cs typeface="微软雅黑" panose="020B0503020204020204" pitchFamily="34" charset="-122"/>
              </a:rPr>
              <a:t>当前阶段修 复缺陷成本</a:t>
            </a:r>
            <a:endParaRPr sz="1600">
              <a:latin typeface="微软雅黑" panose="020B0503020204020204" pitchFamily="34" charset="-122"/>
              <a:cs typeface="微软雅黑" panose="020B0503020204020204" pitchFamily="34" charset="-122"/>
            </a:endParaRPr>
          </a:p>
        </p:txBody>
      </p:sp>
      <p:sp>
        <p:nvSpPr>
          <p:cNvPr id="7" name="object 7"/>
          <p:cNvSpPr/>
          <p:nvPr/>
        </p:nvSpPr>
        <p:spPr>
          <a:xfrm>
            <a:off x="1781854" y="2781010"/>
            <a:ext cx="6216015" cy="2737485"/>
          </a:xfrm>
          <a:custGeom>
            <a:avLst/>
            <a:gdLst/>
            <a:ahLst/>
            <a:cxnLst/>
            <a:rect l="l" t="t" r="r" b="b"/>
            <a:pathLst>
              <a:path w="6216015" h="2737485">
                <a:moveTo>
                  <a:pt x="10830" y="2737472"/>
                </a:moveTo>
                <a:lnTo>
                  <a:pt x="6150" y="2716168"/>
                </a:lnTo>
                <a:lnTo>
                  <a:pt x="2272" y="2689807"/>
                </a:lnTo>
                <a:lnTo>
                  <a:pt x="0" y="2653334"/>
                </a:lnTo>
                <a:lnTo>
                  <a:pt x="133" y="2601691"/>
                </a:lnTo>
                <a:lnTo>
                  <a:pt x="3476" y="2529823"/>
                </a:lnTo>
                <a:lnTo>
                  <a:pt x="10830" y="2432672"/>
                </a:lnTo>
                <a:lnTo>
                  <a:pt x="17332" y="2358259"/>
                </a:lnTo>
                <a:lnTo>
                  <a:pt x="21109" y="2315892"/>
                </a:lnTo>
                <a:lnTo>
                  <a:pt x="25220" y="2270518"/>
                </a:lnTo>
                <a:lnTo>
                  <a:pt x="29653" y="2222461"/>
                </a:lnTo>
                <a:lnTo>
                  <a:pt x="34396" y="2172043"/>
                </a:lnTo>
                <a:lnTo>
                  <a:pt x="39435" y="2119588"/>
                </a:lnTo>
                <a:lnTo>
                  <a:pt x="44760" y="2065422"/>
                </a:lnTo>
                <a:lnTo>
                  <a:pt x="50356" y="2009867"/>
                </a:lnTo>
                <a:lnTo>
                  <a:pt x="56213" y="1953247"/>
                </a:lnTo>
                <a:lnTo>
                  <a:pt x="62316" y="1895887"/>
                </a:lnTo>
                <a:lnTo>
                  <a:pt x="68656" y="1838109"/>
                </a:lnTo>
                <a:lnTo>
                  <a:pt x="75217" y="1780238"/>
                </a:lnTo>
                <a:lnTo>
                  <a:pt x="81990" y="1722598"/>
                </a:lnTo>
                <a:lnTo>
                  <a:pt x="88960" y="1665513"/>
                </a:lnTo>
                <a:lnTo>
                  <a:pt x="96116" y="1609306"/>
                </a:lnTo>
                <a:lnTo>
                  <a:pt x="103445" y="1554301"/>
                </a:lnTo>
                <a:lnTo>
                  <a:pt x="110936" y="1500823"/>
                </a:lnTo>
                <a:lnTo>
                  <a:pt x="118574" y="1449194"/>
                </a:lnTo>
                <a:lnTo>
                  <a:pt x="126349" y="1399739"/>
                </a:lnTo>
                <a:lnTo>
                  <a:pt x="135090" y="1345857"/>
                </a:lnTo>
                <a:lnTo>
                  <a:pt x="143916" y="1291566"/>
                </a:lnTo>
                <a:lnTo>
                  <a:pt x="152861" y="1237031"/>
                </a:lnTo>
                <a:lnTo>
                  <a:pt x="161958" y="1182417"/>
                </a:lnTo>
                <a:lnTo>
                  <a:pt x="171242" y="1127890"/>
                </a:lnTo>
                <a:lnTo>
                  <a:pt x="180747" y="1073616"/>
                </a:lnTo>
                <a:lnTo>
                  <a:pt x="190507" y="1019760"/>
                </a:lnTo>
                <a:lnTo>
                  <a:pt x="200555" y="966488"/>
                </a:lnTo>
                <a:lnTo>
                  <a:pt x="210926" y="913965"/>
                </a:lnTo>
                <a:lnTo>
                  <a:pt x="221654" y="862356"/>
                </a:lnTo>
                <a:lnTo>
                  <a:pt x="232772" y="811827"/>
                </a:lnTo>
                <a:lnTo>
                  <a:pt x="244314" y="762544"/>
                </a:lnTo>
                <a:lnTo>
                  <a:pt x="256315" y="714673"/>
                </a:lnTo>
                <a:lnTo>
                  <a:pt x="268808" y="668377"/>
                </a:lnTo>
                <a:lnTo>
                  <a:pt x="281827" y="623824"/>
                </a:lnTo>
                <a:lnTo>
                  <a:pt x="295407" y="581179"/>
                </a:lnTo>
                <a:lnTo>
                  <a:pt x="309581" y="540606"/>
                </a:lnTo>
                <a:lnTo>
                  <a:pt x="324383" y="502272"/>
                </a:lnTo>
                <a:lnTo>
                  <a:pt x="350309" y="443546"/>
                </a:lnTo>
                <a:lnTo>
                  <a:pt x="378355" y="388904"/>
                </a:lnTo>
                <a:lnTo>
                  <a:pt x="408187" y="338231"/>
                </a:lnTo>
                <a:lnTo>
                  <a:pt x="439469" y="291413"/>
                </a:lnTo>
                <a:lnTo>
                  <a:pt x="471867" y="248336"/>
                </a:lnTo>
                <a:lnTo>
                  <a:pt x="505046" y="208884"/>
                </a:lnTo>
                <a:lnTo>
                  <a:pt x="538672" y="172944"/>
                </a:lnTo>
                <a:lnTo>
                  <a:pt x="572409" y="140400"/>
                </a:lnTo>
                <a:lnTo>
                  <a:pt x="605923" y="111139"/>
                </a:lnTo>
                <a:lnTo>
                  <a:pt x="638879" y="85045"/>
                </a:lnTo>
                <a:lnTo>
                  <a:pt x="670942" y="62006"/>
                </a:lnTo>
                <a:lnTo>
                  <a:pt x="721028" y="33175"/>
                </a:lnTo>
                <a:lnTo>
                  <a:pt x="771884" y="13822"/>
                </a:lnTo>
                <a:lnTo>
                  <a:pt x="822932" y="3060"/>
                </a:lnTo>
                <a:lnTo>
                  <a:pt x="873595" y="0"/>
                </a:lnTo>
                <a:lnTo>
                  <a:pt x="923296" y="3752"/>
                </a:lnTo>
                <a:lnTo>
                  <a:pt x="971457" y="13428"/>
                </a:lnTo>
                <a:lnTo>
                  <a:pt x="1017501" y="28139"/>
                </a:lnTo>
                <a:lnTo>
                  <a:pt x="1056406" y="44527"/>
                </a:lnTo>
                <a:lnTo>
                  <a:pt x="1094601" y="64520"/>
                </a:lnTo>
                <a:lnTo>
                  <a:pt x="1131894" y="88812"/>
                </a:lnTo>
                <a:lnTo>
                  <a:pt x="1168091" y="118098"/>
                </a:lnTo>
                <a:lnTo>
                  <a:pt x="1202998" y="153072"/>
                </a:lnTo>
                <a:lnTo>
                  <a:pt x="1236423" y="194430"/>
                </a:lnTo>
                <a:lnTo>
                  <a:pt x="1268171" y="242865"/>
                </a:lnTo>
                <a:lnTo>
                  <a:pt x="1298050" y="299072"/>
                </a:lnTo>
                <a:lnTo>
                  <a:pt x="1314379" y="335867"/>
                </a:lnTo>
                <a:lnTo>
                  <a:pt x="1330334" y="376926"/>
                </a:lnTo>
                <a:lnTo>
                  <a:pt x="1345881" y="421676"/>
                </a:lnTo>
                <a:lnTo>
                  <a:pt x="1360982" y="469541"/>
                </a:lnTo>
                <a:lnTo>
                  <a:pt x="1375603" y="519950"/>
                </a:lnTo>
                <a:lnTo>
                  <a:pt x="1389706" y="572326"/>
                </a:lnTo>
                <a:lnTo>
                  <a:pt x="1403256" y="626098"/>
                </a:lnTo>
                <a:lnTo>
                  <a:pt x="1416216" y="680690"/>
                </a:lnTo>
                <a:lnTo>
                  <a:pt x="1428551" y="735529"/>
                </a:lnTo>
                <a:lnTo>
                  <a:pt x="1440224" y="790041"/>
                </a:lnTo>
                <a:lnTo>
                  <a:pt x="1451200" y="843652"/>
                </a:lnTo>
                <a:lnTo>
                  <a:pt x="1461442" y="895788"/>
                </a:lnTo>
                <a:lnTo>
                  <a:pt x="1470914" y="945875"/>
                </a:lnTo>
                <a:lnTo>
                  <a:pt x="1479580" y="993339"/>
                </a:lnTo>
                <a:lnTo>
                  <a:pt x="1488066" y="1046232"/>
                </a:lnTo>
                <a:lnTo>
                  <a:pt x="1494517" y="1097801"/>
                </a:lnTo>
                <a:lnTo>
                  <a:pt x="1499307" y="1148253"/>
                </a:lnTo>
                <a:lnTo>
                  <a:pt x="1502807" y="1197794"/>
                </a:lnTo>
                <a:lnTo>
                  <a:pt x="1505390" y="1246629"/>
                </a:lnTo>
                <a:lnTo>
                  <a:pt x="1507429" y="1294964"/>
                </a:lnTo>
                <a:lnTo>
                  <a:pt x="1509296" y="1343005"/>
                </a:lnTo>
                <a:lnTo>
                  <a:pt x="1511364" y="1390959"/>
                </a:lnTo>
                <a:lnTo>
                  <a:pt x="1514005" y="1439029"/>
                </a:lnTo>
                <a:lnTo>
                  <a:pt x="1517591" y="1487424"/>
                </a:lnTo>
                <a:lnTo>
                  <a:pt x="1522495" y="1536347"/>
                </a:lnTo>
                <a:lnTo>
                  <a:pt x="1529089" y="1586005"/>
                </a:lnTo>
                <a:lnTo>
                  <a:pt x="1536782" y="1636859"/>
                </a:lnTo>
                <a:lnTo>
                  <a:pt x="1544790" y="1688977"/>
                </a:lnTo>
                <a:lnTo>
                  <a:pt x="1553199" y="1741977"/>
                </a:lnTo>
                <a:lnTo>
                  <a:pt x="1562095" y="1795477"/>
                </a:lnTo>
                <a:lnTo>
                  <a:pt x="1571564" y="1849094"/>
                </a:lnTo>
                <a:lnTo>
                  <a:pt x="1581692" y="1902447"/>
                </a:lnTo>
                <a:lnTo>
                  <a:pt x="1592565" y="1955153"/>
                </a:lnTo>
                <a:lnTo>
                  <a:pt x="1604269" y="2006830"/>
                </a:lnTo>
                <a:lnTo>
                  <a:pt x="1616890" y="2057096"/>
                </a:lnTo>
                <a:lnTo>
                  <a:pt x="1630513" y="2105569"/>
                </a:lnTo>
                <a:lnTo>
                  <a:pt x="1645226" y="2151866"/>
                </a:lnTo>
                <a:lnTo>
                  <a:pt x="1661112" y="2195605"/>
                </a:lnTo>
                <a:lnTo>
                  <a:pt x="1680759" y="2246304"/>
                </a:lnTo>
                <a:lnTo>
                  <a:pt x="1700455" y="2296392"/>
                </a:lnTo>
                <a:lnTo>
                  <a:pt x="1720745" y="2345262"/>
                </a:lnTo>
                <a:lnTo>
                  <a:pt x="1742173" y="2392303"/>
                </a:lnTo>
                <a:lnTo>
                  <a:pt x="1765286" y="2436905"/>
                </a:lnTo>
                <a:lnTo>
                  <a:pt x="1790626" y="2478460"/>
                </a:lnTo>
                <a:lnTo>
                  <a:pt x="1818738" y="2516356"/>
                </a:lnTo>
                <a:lnTo>
                  <a:pt x="1850168" y="2549986"/>
                </a:lnTo>
                <a:lnTo>
                  <a:pt x="1885459" y="2578739"/>
                </a:lnTo>
                <a:lnTo>
                  <a:pt x="1925156" y="2602005"/>
                </a:lnTo>
                <a:lnTo>
                  <a:pt x="2074584" y="2630580"/>
                </a:lnTo>
                <a:lnTo>
                  <a:pt x="2266559" y="2627405"/>
                </a:lnTo>
                <a:lnTo>
                  <a:pt x="2432232" y="2611530"/>
                </a:lnTo>
                <a:lnTo>
                  <a:pt x="2502756" y="2602005"/>
                </a:lnTo>
                <a:lnTo>
                  <a:pt x="3443417" y="2585072"/>
                </a:lnTo>
                <a:lnTo>
                  <a:pt x="3500705" y="2584791"/>
                </a:lnTo>
                <a:lnTo>
                  <a:pt x="3558022" y="2585007"/>
                </a:lnTo>
                <a:lnTo>
                  <a:pt x="3615178" y="2585614"/>
                </a:lnTo>
                <a:lnTo>
                  <a:pt x="3671982" y="2586507"/>
                </a:lnTo>
                <a:lnTo>
                  <a:pt x="3728243" y="2587581"/>
                </a:lnTo>
                <a:lnTo>
                  <a:pt x="3783771" y="2588730"/>
                </a:lnTo>
                <a:lnTo>
                  <a:pt x="3838374" y="2589849"/>
                </a:lnTo>
                <a:lnTo>
                  <a:pt x="3891863" y="2590832"/>
                </a:lnTo>
                <a:lnTo>
                  <a:pt x="3944046" y="2591574"/>
                </a:lnTo>
                <a:lnTo>
                  <a:pt x="3994733" y="2591971"/>
                </a:lnTo>
                <a:lnTo>
                  <a:pt x="4043733" y="2591916"/>
                </a:lnTo>
                <a:lnTo>
                  <a:pt x="4090855" y="2591303"/>
                </a:lnTo>
                <a:lnTo>
                  <a:pt x="4135909" y="2590029"/>
                </a:lnTo>
                <a:lnTo>
                  <a:pt x="4178704" y="2587987"/>
                </a:lnTo>
                <a:lnTo>
                  <a:pt x="4219050" y="2585072"/>
                </a:lnTo>
                <a:lnTo>
                  <a:pt x="4287849" y="2577697"/>
                </a:lnTo>
                <a:lnTo>
                  <a:pt x="4348623" y="2568403"/>
                </a:lnTo>
                <a:lnTo>
                  <a:pt x="4402628" y="2557390"/>
                </a:lnTo>
                <a:lnTo>
                  <a:pt x="4451121" y="2544855"/>
                </a:lnTo>
                <a:lnTo>
                  <a:pt x="4495360" y="2530998"/>
                </a:lnTo>
                <a:lnTo>
                  <a:pt x="4536601" y="2516016"/>
                </a:lnTo>
                <a:lnTo>
                  <a:pt x="4576101" y="2500108"/>
                </a:lnTo>
                <a:lnTo>
                  <a:pt x="4615118" y="2483472"/>
                </a:lnTo>
                <a:lnTo>
                  <a:pt x="4652886" y="2461207"/>
                </a:lnTo>
                <a:lnTo>
                  <a:pt x="4680166" y="2434597"/>
                </a:lnTo>
                <a:lnTo>
                  <a:pt x="4702298" y="2405865"/>
                </a:lnTo>
                <a:lnTo>
                  <a:pt x="4724622" y="2377232"/>
                </a:lnTo>
                <a:lnTo>
                  <a:pt x="4752480" y="2350918"/>
                </a:lnTo>
                <a:lnTo>
                  <a:pt x="4791211" y="2329147"/>
                </a:lnTo>
                <a:lnTo>
                  <a:pt x="4846156" y="2314139"/>
                </a:lnTo>
                <a:lnTo>
                  <a:pt x="5015697" y="2306069"/>
                </a:lnTo>
                <a:lnTo>
                  <a:pt x="5241193" y="2313081"/>
                </a:lnTo>
                <a:lnTo>
                  <a:pt x="5438324" y="2324855"/>
                </a:lnTo>
                <a:lnTo>
                  <a:pt x="5522772" y="2331072"/>
                </a:lnTo>
                <a:lnTo>
                  <a:pt x="5587881" y="2331337"/>
                </a:lnTo>
                <a:lnTo>
                  <a:pt x="5647575" y="2328955"/>
                </a:lnTo>
                <a:lnTo>
                  <a:pt x="5702628" y="2325516"/>
                </a:lnTo>
                <a:lnTo>
                  <a:pt x="5753812" y="2322605"/>
                </a:lnTo>
                <a:lnTo>
                  <a:pt x="5801902" y="2321811"/>
                </a:lnTo>
                <a:lnTo>
                  <a:pt x="5847672" y="2324722"/>
                </a:lnTo>
                <a:lnTo>
                  <a:pt x="5891894" y="2332924"/>
                </a:lnTo>
                <a:lnTo>
                  <a:pt x="5935342" y="2348005"/>
                </a:lnTo>
                <a:lnTo>
                  <a:pt x="6027913" y="2414416"/>
                </a:lnTo>
                <a:lnTo>
                  <a:pt x="6118937" y="2510989"/>
                </a:lnTo>
                <a:lnTo>
                  <a:pt x="6188300" y="2598037"/>
                </a:lnTo>
                <a:lnTo>
                  <a:pt x="6215891" y="2635872"/>
                </a:lnTo>
              </a:path>
            </a:pathLst>
          </a:custGeom>
          <a:ln w="38099">
            <a:solidFill>
              <a:srgbClr val="3DAAD6"/>
            </a:solidFill>
          </a:ln>
        </p:spPr>
        <p:txBody>
          <a:bodyPr wrap="square" lIns="0" tIns="0" rIns="0" bIns="0" rtlCol="0"/>
          <a:lstStyle/>
          <a:p>
            <a:endParaRPr/>
          </a:p>
        </p:txBody>
      </p:sp>
      <p:sp>
        <p:nvSpPr>
          <p:cNvPr id="8" name="object 8"/>
          <p:cNvSpPr txBox="1"/>
          <p:nvPr/>
        </p:nvSpPr>
        <p:spPr>
          <a:xfrm>
            <a:off x="2398121" y="2479704"/>
            <a:ext cx="432434"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85%</a:t>
            </a:r>
            <a:endParaRPr sz="1600">
              <a:latin typeface="Arial" panose="020B0604020202020204"/>
              <a:cs typeface="Arial" panose="020B0604020202020204"/>
            </a:endParaRPr>
          </a:p>
        </p:txBody>
      </p:sp>
      <p:sp>
        <p:nvSpPr>
          <p:cNvPr id="9" name="object 9"/>
          <p:cNvSpPr/>
          <p:nvPr/>
        </p:nvSpPr>
        <p:spPr>
          <a:xfrm>
            <a:off x="1545143" y="5518480"/>
            <a:ext cx="7760970" cy="0"/>
          </a:xfrm>
          <a:custGeom>
            <a:avLst/>
            <a:gdLst/>
            <a:ahLst/>
            <a:cxnLst/>
            <a:rect l="l" t="t" r="r" b="b"/>
            <a:pathLst>
              <a:path w="7760970">
                <a:moveTo>
                  <a:pt x="0" y="0"/>
                </a:moveTo>
                <a:lnTo>
                  <a:pt x="7760493" y="0"/>
                </a:lnTo>
              </a:path>
            </a:pathLst>
          </a:custGeom>
          <a:ln w="28574">
            <a:solidFill>
              <a:srgbClr val="000000"/>
            </a:solidFill>
          </a:ln>
        </p:spPr>
        <p:txBody>
          <a:bodyPr wrap="square" lIns="0" tIns="0" rIns="0" bIns="0" rtlCol="0"/>
          <a:lstStyle/>
          <a:p>
            <a:endParaRPr/>
          </a:p>
        </p:txBody>
      </p:sp>
      <p:sp>
        <p:nvSpPr>
          <p:cNvPr id="10" name="object 10"/>
          <p:cNvSpPr/>
          <p:nvPr/>
        </p:nvSpPr>
        <p:spPr>
          <a:xfrm>
            <a:off x="9248486" y="5475617"/>
            <a:ext cx="85725" cy="85725"/>
          </a:xfrm>
          <a:custGeom>
            <a:avLst/>
            <a:gdLst/>
            <a:ahLst/>
            <a:cxnLst/>
            <a:rect l="l" t="t" r="r" b="b"/>
            <a:pathLst>
              <a:path w="85725" h="85725">
                <a:moveTo>
                  <a:pt x="0" y="0"/>
                </a:moveTo>
                <a:lnTo>
                  <a:pt x="0" y="85725"/>
                </a:lnTo>
                <a:lnTo>
                  <a:pt x="85725" y="42862"/>
                </a:lnTo>
                <a:lnTo>
                  <a:pt x="0" y="0"/>
                </a:lnTo>
                <a:close/>
              </a:path>
            </a:pathLst>
          </a:custGeom>
          <a:solidFill>
            <a:srgbClr val="000000"/>
          </a:solidFill>
        </p:spPr>
        <p:txBody>
          <a:bodyPr wrap="square" lIns="0" tIns="0" rIns="0" bIns="0" rtlCol="0"/>
          <a:lstStyle/>
          <a:p>
            <a:endParaRPr/>
          </a:p>
        </p:txBody>
      </p:sp>
      <p:sp>
        <p:nvSpPr>
          <p:cNvPr id="11" name="object 11"/>
          <p:cNvSpPr txBox="1"/>
          <p:nvPr/>
        </p:nvSpPr>
        <p:spPr>
          <a:xfrm>
            <a:off x="2365112" y="5629305"/>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编码</a:t>
            </a:r>
            <a:endParaRPr sz="1800">
              <a:latin typeface="微软雅黑" panose="020B0503020204020204" pitchFamily="34" charset="-122"/>
              <a:cs typeface="微软雅黑" panose="020B0503020204020204" pitchFamily="34" charset="-122"/>
            </a:endParaRPr>
          </a:p>
        </p:txBody>
      </p:sp>
      <p:sp>
        <p:nvSpPr>
          <p:cNvPr id="12" name="object 12"/>
          <p:cNvSpPr txBox="1"/>
          <p:nvPr/>
        </p:nvSpPr>
        <p:spPr>
          <a:xfrm>
            <a:off x="3569819" y="5629305"/>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单元测试</a:t>
            </a:r>
            <a:endParaRPr sz="1800">
              <a:latin typeface="微软雅黑" panose="020B0503020204020204" pitchFamily="34" charset="-122"/>
              <a:cs typeface="微软雅黑" panose="020B0503020204020204" pitchFamily="34" charset="-122"/>
            </a:endParaRPr>
          </a:p>
        </p:txBody>
      </p:sp>
      <p:sp>
        <p:nvSpPr>
          <p:cNvPr id="13" name="object 13"/>
          <p:cNvSpPr txBox="1"/>
          <p:nvPr/>
        </p:nvSpPr>
        <p:spPr>
          <a:xfrm>
            <a:off x="4906547" y="5629305"/>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功能测试</a:t>
            </a:r>
            <a:endParaRPr sz="1800">
              <a:latin typeface="微软雅黑" panose="020B0503020204020204" pitchFamily="34" charset="-122"/>
              <a:cs typeface="微软雅黑" panose="020B0503020204020204" pitchFamily="34" charset="-122"/>
            </a:endParaRPr>
          </a:p>
        </p:txBody>
      </p:sp>
      <p:sp>
        <p:nvSpPr>
          <p:cNvPr id="14" name="object 14"/>
          <p:cNvSpPr txBox="1"/>
          <p:nvPr/>
        </p:nvSpPr>
        <p:spPr>
          <a:xfrm>
            <a:off x="6309287" y="5629305"/>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验收测试</a:t>
            </a:r>
            <a:endParaRPr sz="1800">
              <a:latin typeface="微软雅黑" panose="020B0503020204020204" pitchFamily="34" charset="-122"/>
              <a:cs typeface="微软雅黑" panose="020B0503020204020204" pitchFamily="34" charset="-122"/>
            </a:endParaRPr>
          </a:p>
        </p:txBody>
      </p:sp>
      <p:sp>
        <p:nvSpPr>
          <p:cNvPr id="15" name="object 15"/>
          <p:cNvSpPr txBox="1"/>
          <p:nvPr/>
        </p:nvSpPr>
        <p:spPr>
          <a:xfrm>
            <a:off x="7728532" y="5629305"/>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发布上线</a:t>
            </a:r>
            <a:endParaRPr sz="1800">
              <a:latin typeface="微软雅黑" panose="020B0503020204020204" pitchFamily="34" charset="-122"/>
              <a:cs typeface="微软雅黑" panose="020B0503020204020204" pitchFamily="34" charset="-122"/>
            </a:endParaRPr>
          </a:p>
        </p:txBody>
      </p:sp>
      <p:sp>
        <p:nvSpPr>
          <p:cNvPr id="16" name="object 16"/>
          <p:cNvSpPr/>
          <p:nvPr/>
        </p:nvSpPr>
        <p:spPr>
          <a:xfrm>
            <a:off x="1776182" y="1923060"/>
            <a:ext cx="0" cy="3968115"/>
          </a:xfrm>
          <a:custGeom>
            <a:avLst/>
            <a:gdLst/>
            <a:ahLst/>
            <a:cxnLst/>
            <a:rect l="l" t="t" r="r" b="b"/>
            <a:pathLst>
              <a:path h="3968115">
                <a:moveTo>
                  <a:pt x="0" y="3967954"/>
                </a:moveTo>
                <a:lnTo>
                  <a:pt x="0" y="0"/>
                </a:lnTo>
              </a:path>
            </a:pathLst>
          </a:custGeom>
          <a:ln w="28574">
            <a:solidFill>
              <a:srgbClr val="000000"/>
            </a:solidFill>
          </a:ln>
        </p:spPr>
        <p:txBody>
          <a:bodyPr wrap="square" lIns="0" tIns="0" rIns="0" bIns="0" rtlCol="0"/>
          <a:lstStyle/>
          <a:p>
            <a:endParaRPr/>
          </a:p>
        </p:txBody>
      </p:sp>
      <p:sp>
        <p:nvSpPr>
          <p:cNvPr id="17" name="object 17"/>
          <p:cNvSpPr/>
          <p:nvPr/>
        </p:nvSpPr>
        <p:spPr>
          <a:xfrm>
            <a:off x="1733320" y="1894484"/>
            <a:ext cx="85725" cy="85725"/>
          </a:xfrm>
          <a:custGeom>
            <a:avLst/>
            <a:gdLst/>
            <a:ahLst/>
            <a:cxnLst/>
            <a:rect l="l" t="t" r="r" b="b"/>
            <a:pathLst>
              <a:path w="85725" h="85725">
                <a:moveTo>
                  <a:pt x="42862" y="0"/>
                </a:moveTo>
                <a:lnTo>
                  <a:pt x="0" y="85725"/>
                </a:lnTo>
                <a:lnTo>
                  <a:pt x="85725" y="85725"/>
                </a:lnTo>
                <a:lnTo>
                  <a:pt x="42862" y="0"/>
                </a:lnTo>
                <a:close/>
              </a:path>
            </a:pathLst>
          </a:custGeom>
          <a:solidFill>
            <a:srgbClr val="000000"/>
          </a:solidFill>
        </p:spPr>
        <p:txBody>
          <a:bodyPr wrap="square" lIns="0" tIns="0" rIns="0" bIns="0" rtlCol="0"/>
          <a:lstStyle/>
          <a:p>
            <a:endParaRPr/>
          </a:p>
        </p:txBody>
      </p:sp>
      <p:sp>
        <p:nvSpPr>
          <p:cNvPr id="18" name="object 18"/>
          <p:cNvSpPr/>
          <p:nvPr/>
        </p:nvSpPr>
        <p:spPr>
          <a:xfrm>
            <a:off x="1776184" y="4141718"/>
            <a:ext cx="6898640" cy="1351915"/>
          </a:xfrm>
          <a:custGeom>
            <a:avLst/>
            <a:gdLst/>
            <a:ahLst/>
            <a:cxnLst/>
            <a:rect l="l" t="t" r="r" b="b"/>
            <a:pathLst>
              <a:path w="6898640" h="1351914">
                <a:moveTo>
                  <a:pt x="0" y="1351365"/>
                </a:moveTo>
                <a:lnTo>
                  <a:pt x="1419242" y="1241299"/>
                </a:lnTo>
                <a:lnTo>
                  <a:pt x="1509747" y="1232682"/>
                </a:lnTo>
                <a:lnTo>
                  <a:pt x="1581577" y="1227444"/>
                </a:lnTo>
                <a:lnTo>
                  <a:pt x="1637752" y="1224053"/>
                </a:lnTo>
                <a:lnTo>
                  <a:pt x="1681296" y="1220975"/>
                </a:lnTo>
                <a:lnTo>
                  <a:pt x="1742576" y="1209628"/>
                </a:lnTo>
                <a:lnTo>
                  <a:pt x="1789594" y="1181138"/>
                </a:lnTo>
                <a:lnTo>
                  <a:pt x="1837176" y="1126292"/>
                </a:lnTo>
                <a:lnTo>
                  <a:pt x="1853267" y="1088154"/>
                </a:lnTo>
                <a:lnTo>
                  <a:pt x="1864819" y="1044072"/>
                </a:lnTo>
                <a:lnTo>
                  <a:pt x="1873070" y="995901"/>
                </a:lnTo>
                <a:lnTo>
                  <a:pt x="1879258" y="945495"/>
                </a:lnTo>
                <a:lnTo>
                  <a:pt x="1884622" y="894708"/>
                </a:lnTo>
                <a:lnTo>
                  <a:pt x="1890398" y="845394"/>
                </a:lnTo>
                <a:lnTo>
                  <a:pt x="1897824" y="799407"/>
                </a:lnTo>
                <a:lnTo>
                  <a:pt x="1908138" y="758602"/>
                </a:lnTo>
                <a:lnTo>
                  <a:pt x="1947810" y="680481"/>
                </a:lnTo>
                <a:lnTo>
                  <a:pt x="1970864" y="645183"/>
                </a:lnTo>
                <a:lnTo>
                  <a:pt x="1997357" y="617412"/>
                </a:lnTo>
                <a:lnTo>
                  <a:pt x="2032903" y="595637"/>
                </a:lnTo>
                <a:lnTo>
                  <a:pt x="2083118" y="578332"/>
                </a:lnTo>
                <a:lnTo>
                  <a:pt x="2153618" y="563966"/>
                </a:lnTo>
                <a:lnTo>
                  <a:pt x="2232778" y="558585"/>
                </a:lnTo>
                <a:lnTo>
                  <a:pt x="2280756" y="559224"/>
                </a:lnTo>
                <a:lnTo>
                  <a:pt x="2333032" y="561482"/>
                </a:lnTo>
                <a:lnTo>
                  <a:pt x="2388630" y="564906"/>
                </a:lnTo>
                <a:lnTo>
                  <a:pt x="2446576" y="569046"/>
                </a:lnTo>
                <a:lnTo>
                  <a:pt x="2505893" y="573448"/>
                </a:lnTo>
                <a:lnTo>
                  <a:pt x="2565606" y="577663"/>
                </a:lnTo>
                <a:lnTo>
                  <a:pt x="2624740" y="581238"/>
                </a:lnTo>
                <a:lnTo>
                  <a:pt x="2682319" y="583721"/>
                </a:lnTo>
                <a:lnTo>
                  <a:pt x="2737368" y="584662"/>
                </a:lnTo>
                <a:lnTo>
                  <a:pt x="2788910" y="583608"/>
                </a:lnTo>
                <a:lnTo>
                  <a:pt x="2835972" y="580109"/>
                </a:lnTo>
                <a:lnTo>
                  <a:pt x="2877576" y="573712"/>
                </a:lnTo>
                <a:lnTo>
                  <a:pt x="2950149" y="544335"/>
                </a:lnTo>
                <a:lnTo>
                  <a:pt x="2996644" y="486315"/>
                </a:lnTo>
                <a:lnTo>
                  <a:pt x="3018913" y="412952"/>
                </a:lnTo>
                <a:lnTo>
                  <a:pt x="3026030" y="374143"/>
                </a:lnTo>
                <a:lnTo>
                  <a:pt x="3033171" y="335849"/>
                </a:lnTo>
                <a:lnTo>
                  <a:pt x="3055638" y="266609"/>
                </a:lnTo>
                <a:lnTo>
                  <a:pt x="3102531" y="216833"/>
                </a:lnTo>
                <a:lnTo>
                  <a:pt x="3172497" y="188876"/>
                </a:lnTo>
                <a:lnTo>
                  <a:pt x="3211572" y="180231"/>
                </a:lnTo>
                <a:lnTo>
                  <a:pt x="3253375" y="174404"/>
                </a:lnTo>
                <a:lnTo>
                  <a:pt x="3297905" y="170842"/>
                </a:lnTo>
                <a:lnTo>
                  <a:pt x="3345163" y="168991"/>
                </a:lnTo>
                <a:lnTo>
                  <a:pt x="3395149" y="168298"/>
                </a:lnTo>
                <a:lnTo>
                  <a:pt x="3447863" y="168209"/>
                </a:lnTo>
                <a:lnTo>
                  <a:pt x="3503304" y="168170"/>
                </a:lnTo>
                <a:lnTo>
                  <a:pt x="3561473" y="167630"/>
                </a:lnTo>
                <a:lnTo>
                  <a:pt x="3622370" y="166033"/>
                </a:lnTo>
                <a:lnTo>
                  <a:pt x="3664772" y="164847"/>
                </a:lnTo>
                <a:lnTo>
                  <a:pt x="3711021" y="164223"/>
                </a:lnTo>
                <a:lnTo>
                  <a:pt x="3760536" y="164078"/>
                </a:lnTo>
                <a:lnTo>
                  <a:pt x="3812738" y="164330"/>
                </a:lnTo>
                <a:lnTo>
                  <a:pt x="3867048" y="164895"/>
                </a:lnTo>
                <a:lnTo>
                  <a:pt x="3922887" y="165691"/>
                </a:lnTo>
                <a:lnTo>
                  <a:pt x="3979674" y="166636"/>
                </a:lnTo>
                <a:lnTo>
                  <a:pt x="4036831" y="167646"/>
                </a:lnTo>
                <a:lnTo>
                  <a:pt x="4093778" y="168638"/>
                </a:lnTo>
                <a:lnTo>
                  <a:pt x="4149936" y="169531"/>
                </a:lnTo>
                <a:lnTo>
                  <a:pt x="4204725" y="170241"/>
                </a:lnTo>
                <a:lnTo>
                  <a:pt x="4257565" y="170686"/>
                </a:lnTo>
                <a:lnTo>
                  <a:pt x="4307878" y="170782"/>
                </a:lnTo>
                <a:lnTo>
                  <a:pt x="4355084" y="170448"/>
                </a:lnTo>
                <a:lnTo>
                  <a:pt x="4398603" y="169600"/>
                </a:lnTo>
                <a:lnTo>
                  <a:pt x="4437857" y="168156"/>
                </a:lnTo>
                <a:lnTo>
                  <a:pt x="4584368" y="146851"/>
                </a:lnTo>
                <a:lnTo>
                  <a:pt x="4655343" y="118408"/>
                </a:lnTo>
                <a:lnTo>
                  <a:pt x="4692539" y="92611"/>
                </a:lnTo>
                <a:lnTo>
                  <a:pt x="4703304" y="81366"/>
                </a:lnTo>
                <a:lnTo>
                  <a:pt x="4735650" y="65652"/>
                </a:lnTo>
                <a:lnTo>
                  <a:pt x="4782518" y="35037"/>
                </a:lnTo>
                <a:lnTo>
                  <a:pt x="4820805" y="22574"/>
                </a:lnTo>
                <a:lnTo>
                  <a:pt x="4884836" y="13633"/>
                </a:lnTo>
                <a:lnTo>
                  <a:pt x="4966720" y="8047"/>
                </a:lnTo>
                <a:lnTo>
                  <a:pt x="5016665" y="5497"/>
                </a:lnTo>
                <a:lnTo>
                  <a:pt x="5070951" y="3285"/>
                </a:lnTo>
                <a:lnTo>
                  <a:pt x="5128331" y="1543"/>
                </a:lnTo>
                <a:lnTo>
                  <a:pt x="5187559" y="404"/>
                </a:lnTo>
                <a:lnTo>
                  <a:pt x="5247389" y="0"/>
                </a:lnTo>
                <a:lnTo>
                  <a:pt x="5306574" y="463"/>
                </a:lnTo>
                <a:lnTo>
                  <a:pt x="5363868" y="1925"/>
                </a:lnTo>
                <a:lnTo>
                  <a:pt x="5418025" y="4520"/>
                </a:lnTo>
                <a:lnTo>
                  <a:pt x="5467799" y="8378"/>
                </a:lnTo>
                <a:lnTo>
                  <a:pt x="5511942" y="13633"/>
                </a:lnTo>
                <a:lnTo>
                  <a:pt x="5565175" y="20567"/>
                </a:lnTo>
                <a:lnTo>
                  <a:pt x="5615589" y="26350"/>
                </a:lnTo>
                <a:lnTo>
                  <a:pt x="5662913" y="32448"/>
                </a:lnTo>
                <a:lnTo>
                  <a:pt x="5706875" y="40322"/>
                </a:lnTo>
                <a:lnTo>
                  <a:pt x="5747204" y="51437"/>
                </a:lnTo>
                <a:lnTo>
                  <a:pt x="5783628" y="67255"/>
                </a:lnTo>
                <a:lnTo>
                  <a:pt x="5815876" y="89240"/>
                </a:lnTo>
                <a:lnTo>
                  <a:pt x="5843675" y="118856"/>
                </a:lnTo>
                <a:lnTo>
                  <a:pt x="5866754" y="157566"/>
                </a:lnTo>
                <a:lnTo>
                  <a:pt x="5886107" y="233288"/>
                </a:lnTo>
                <a:lnTo>
                  <a:pt x="5889941" y="280623"/>
                </a:lnTo>
                <a:lnTo>
                  <a:pt x="5890828" y="332595"/>
                </a:lnTo>
                <a:lnTo>
                  <a:pt x="5889475" y="387942"/>
                </a:lnTo>
                <a:lnTo>
                  <a:pt x="5886595" y="445406"/>
                </a:lnTo>
                <a:lnTo>
                  <a:pt x="5882895" y="503724"/>
                </a:lnTo>
                <a:lnTo>
                  <a:pt x="5879087" y="561638"/>
                </a:lnTo>
                <a:lnTo>
                  <a:pt x="5875880" y="617888"/>
                </a:lnTo>
                <a:lnTo>
                  <a:pt x="5873983" y="671212"/>
                </a:lnTo>
                <a:lnTo>
                  <a:pt x="5874107" y="720351"/>
                </a:lnTo>
                <a:lnTo>
                  <a:pt x="5876961" y="764045"/>
                </a:lnTo>
                <a:lnTo>
                  <a:pt x="5896607" y="856992"/>
                </a:lnTo>
                <a:lnTo>
                  <a:pt x="5908563" y="902435"/>
                </a:lnTo>
                <a:lnTo>
                  <a:pt x="5922949" y="938770"/>
                </a:lnTo>
                <a:lnTo>
                  <a:pt x="5974310" y="989743"/>
                </a:lnTo>
                <a:lnTo>
                  <a:pt x="6018935" y="1007194"/>
                </a:lnTo>
                <a:lnTo>
                  <a:pt x="6081290" y="1021165"/>
                </a:lnTo>
                <a:lnTo>
                  <a:pt x="6280291" y="1027052"/>
                </a:lnTo>
                <a:lnTo>
                  <a:pt x="6553168" y="1011111"/>
                </a:lnTo>
                <a:lnTo>
                  <a:pt x="6794328" y="989614"/>
                </a:lnTo>
                <a:lnTo>
                  <a:pt x="6898180" y="978833"/>
                </a:lnTo>
              </a:path>
            </a:pathLst>
          </a:custGeom>
          <a:ln w="38099">
            <a:solidFill>
              <a:srgbClr val="FFDF79"/>
            </a:solidFill>
          </a:ln>
        </p:spPr>
        <p:txBody>
          <a:bodyPr wrap="square" lIns="0" tIns="0" rIns="0" bIns="0" rtlCol="0"/>
          <a:lstStyle/>
          <a:p>
            <a:endParaRPr/>
          </a:p>
        </p:txBody>
      </p:sp>
      <p:sp>
        <p:nvSpPr>
          <p:cNvPr id="19" name="object 19"/>
          <p:cNvSpPr txBox="1"/>
          <p:nvPr/>
        </p:nvSpPr>
        <p:spPr>
          <a:xfrm>
            <a:off x="2398115" y="5155171"/>
            <a:ext cx="3708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a:t>
            </a:r>
            <a:r>
              <a:rPr sz="1600" dirty="0">
                <a:latin typeface="Arial" panose="020B0604020202020204"/>
                <a:cs typeface="Arial" panose="020B0604020202020204"/>
              </a:rPr>
              <a:t>25</a:t>
            </a:r>
            <a:endParaRPr sz="1600">
              <a:latin typeface="Arial" panose="020B0604020202020204"/>
              <a:cs typeface="Arial" panose="020B0604020202020204"/>
            </a:endParaRPr>
          </a:p>
        </p:txBody>
      </p:sp>
      <p:sp>
        <p:nvSpPr>
          <p:cNvPr id="20" name="object 20"/>
          <p:cNvSpPr txBox="1"/>
          <p:nvPr/>
        </p:nvSpPr>
        <p:spPr>
          <a:xfrm>
            <a:off x="3817363" y="5070505"/>
            <a:ext cx="48387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a:t>
            </a:r>
            <a:r>
              <a:rPr sz="1600" dirty="0">
                <a:latin typeface="Arial" panose="020B0604020202020204"/>
                <a:cs typeface="Arial" panose="020B0604020202020204"/>
              </a:rPr>
              <a:t>100</a:t>
            </a:r>
            <a:endParaRPr sz="1600">
              <a:latin typeface="Arial" panose="020B0604020202020204"/>
              <a:cs typeface="Arial" panose="020B0604020202020204"/>
            </a:endParaRPr>
          </a:p>
        </p:txBody>
      </p:sp>
      <p:sp>
        <p:nvSpPr>
          <p:cNvPr id="21" name="object 21"/>
          <p:cNvSpPr txBox="1"/>
          <p:nvPr/>
        </p:nvSpPr>
        <p:spPr>
          <a:xfrm>
            <a:off x="5121089" y="4935038"/>
            <a:ext cx="48387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a:t>
            </a:r>
            <a:r>
              <a:rPr sz="1600" dirty="0">
                <a:latin typeface="Arial" panose="020B0604020202020204"/>
                <a:cs typeface="Arial" panose="020B0604020202020204"/>
              </a:rPr>
              <a:t>250</a:t>
            </a:r>
            <a:endParaRPr sz="1600">
              <a:latin typeface="Arial" panose="020B0604020202020204"/>
              <a:cs typeface="Arial" panose="020B0604020202020204"/>
            </a:endParaRPr>
          </a:p>
        </p:txBody>
      </p:sp>
      <p:sp>
        <p:nvSpPr>
          <p:cNvPr id="22" name="object 22"/>
          <p:cNvSpPr txBox="1"/>
          <p:nvPr/>
        </p:nvSpPr>
        <p:spPr>
          <a:xfrm>
            <a:off x="6523831" y="4257702"/>
            <a:ext cx="65341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a:t>
            </a:r>
            <a:r>
              <a:rPr sz="1600" dirty="0">
                <a:latin typeface="Arial" panose="020B0604020202020204"/>
                <a:cs typeface="Arial" panose="020B0604020202020204"/>
              </a:rPr>
              <a:t>1,000</a:t>
            </a:r>
            <a:endParaRPr sz="1600">
              <a:latin typeface="Arial" panose="020B0604020202020204"/>
              <a:cs typeface="Arial" panose="020B0604020202020204"/>
            </a:endParaRPr>
          </a:p>
        </p:txBody>
      </p:sp>
      <p:sp>
        <p:nvSpPr>
          <p:cNvPr id="23" name="object 23"/>
          <p:cNvSpPr txBox="1"/>
          <p:nvPr/>
        </p:nvSpPr>
        <p:spPr>
          <a:xfrm>
            <a:off x="7794546" y="2124104"/>
            <a:ext cx="76644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a:t>
            </a:r>
            <a:r>
              <a:rPr sz="1600" dirty="0">
                <a:latin typeface="Arial" panose="020B0604020202020204"/>
                <a:cs typeface="Arial" panose="020B0604020202020204"/>
              </a:rPr>
              <a:t>16,000</a:t>
            </a:r>
            <a:endParaRPr sz="1600">
              <a:latin typeface="Arial" panose="020B0604020202020204"/>
              <a:cs typeface="Arial" panose="020B0604020202020204"/>
            </a:endParaRPr>
          </a:p>
        </p:txBody>
      </p:sp>
      <p:sp>
        <p:nvSpPr>
          <p:cNvPr id="24" name="object 24"/>
          <p:cNvSpPr/>
          <p:nvPr/>
        </p:nvSpPr>
        <p:spPr>
          <a:xfrm>
            <a:off x="1776182" y="2114884"/>
            <a:ext cx="6981190" cy="3387090"/>
          </a:xfrm>
          <a:custGeom>
            <a:avLst/>
            <a:gdLst/>
            <a:ahLst/>
            <a:cxnLst/>
            <a:rect l="l" t="t" r="r" b="b"/>
            <a:pathLst>
              <a:path w="6981190" h="3387090">
                <a:moveTo>
                  <a:pt x="0" y="3386666"/>
                </a:moveTo>
                <a:lnTo>
                  <a:pt x="1538668" y="3318933"/>
                </a:lnTo>
                <a:lnTo>
                  <a:pt x="1587511" y="3316064"/>
                </a:lnTo>
                <a:lnTo>
                  <a:pt x="1637297" y="3313107"/>
                </a:lnTo>
                <a:lnTo>
                  <a:pt x="1687941" y="3310065"/>
                </a:lnTo>
                <a:lnTo>
                  <a:pt x="1739360" y="3306942"/>
                </a:lnTo>
                <a:lnTo>
                  <a:pt x="1791470" y="3303743"/>
                </a:lnTo>
                <a:lnTo>
                  <a:pt x="1844187" y="3300472"/>
                </a:lnTo>
                <a:lnTo>
                  <a:pt x="1897428" y="3297133"/>
                </a:lnTo>
                <a:lnTo>
                  <a:pt x="1951107" y="3293731"/>
                </a:lnTo>
                <a:lnTo>
                  <a:pt x="2005142" y="3290269"/>
                </a:lnTo>
                <a:lnTo>
                  <a:pt x="2059449" y="3286752"/>
                </a:lnTo>
                <a:lnTo>
                  <a:pt x="2113944" y="3283184"/>
                </a:lnTo>
                <a:lnTo>
                  <a:pt x="2168543" y="3279569"/>
                </a:lnTo>
                <a:lnTo>
                  <a:pt x="2223163" y="3275912"/>
                </a:lnTo>
                <a:lnTo>
                  <a:pt x="2277719" y="3272217"/>
                </a:lnTo>
                <a:lnTo>
                  <a:pt x="2332127" y="3268488"/>
                </a:lnTo>
                <a:lnTo>
                  <a:pt x="2386304" y="3264729"/>
                </a:lnTo>
                <a:lnTo>
                  <a:pt x="2440166" y="3260945"/>
                </a:lnTo>
                <a:lnTo>
                  <a:pt x="2493630" y="3257140"/>
                </a:lnTo>
                <a:lnTo>
                  <a:pt x="2546610" y="3253318"/>
                </a:lnTo>
                <a:lnTo>
                  <a:pt x="2599024" y="3249482"/>
                </a:lnTo>
                <a:lnTo>
                  <a:pt x="2650788" y="3245639"/>
                </a:lnTo>
                <a:lnTo>
                  <a:pt x="2701818" y="3241791"/>
                </a:lnTo>
                <a:lnTo>
                  <a:pt x="2752029" y="3237943"/>
                </a:lnTo>
                <a:lnTo>
                  <a:pt x="2801339" y="3234100"/>
                </a:lnTo>
                <a:lnTo>
                  <a:pt x="2849663" y="3230265"/>
                </a:lnTo>
                <a:lnTo>
                  <a:pt x="2896918" y="3226442"/>
                </a:lnTo>
                <a:lnTo>
                  <a:pt x="2943019" y="3222637"/>
                </a:lnTo>
                <a:lnTo>
                  <a:pt x="2987883" y="3218853"/>
                </a:lnTo>
                <a:lnTo>
                  <a:pt x="3031426" y="3215094"/>
                </a:lnTo>
                <a:lnTo>
                  <a:pt x="3073565" y="3211365"/>
                </a:lnTo>
                <a:lnTo>
                  <a:pt x="3114214" y="3207670"/>
                </a:lnTo>
                <a:lnTo>
                  <a:pt x="3153292" y="3204013"/>
                </a:lnTo>
                <a:lnTo>
                  <a:pt x="3267160" y="3192777"/>
                </a:lnTo>
                <a:lnTo>
                  <a:pt x="3336193" y="3185638"/>
                </a:lnTo>
                <a:lnTo>
                  <a:pt x="3398676" y="3178859"/>
                </a:lnTo>
                <a:lnTo>
                  <a:pt x="3455471" y="3172322"/>
                </a:lnTo>
                <a:lnTo>
                  <a:pt x="3507444" y="3165905"/>
                </a:lnTo>
                <a:lnTo>
                  <a:pt x="3555457" y="3159488"/>
                </a:lnTo>
                <a:lnTo>
                  <a:pt x="3600376" y="3152950"/>
                </a:lnTo>
                <a:lnTo>
                  <a:pt x="3643062" y="3146172"/>
                </a:lnTo>
                <a:lnTo>
                  <a:pt x="3684381" y="3139032"/>
                </a:lnTo>
                <a:lnTo>
                  <a:pt x="3725196" y="3131411"/>
                </a:lnTo>
                <a:lnTo>
                  <a:pt x="3766371" y="3123188"/>
                </a:lnTo>
                <a:lnTo>
                  <a:pt x="3808770" y="3114242"/>
                </a:lnTo>
                <a:lnTo>
                  <a:pt x="3853257" y="3104453"/>
                </a:lnTo>
                <a:lnTo>
                  <a:pt x="3900694" y="3093701"/>
                </a:lnTo>
                <a:lnTo>
                  <a:pt x="3951948" y="3081866"/>
                </a:lnTo>
                <a:lnTo>
                  <a:pt x="3999960" y="3070647"/>
                </a:lnTo>
                <a:lnTo>
                  <a:pt x="4049499" y="3058911"/>
                </a:lnTo>
                <a:lnTo>
                  <a:pt x="4100298" y="3046668"/>
                </a:lnTo>
                <a:lnTo>
                  <a:pt x="4152088" y="3033930"/>
                </a:lnTo>
                <a:lnTo>
                  <a:pt x="4204604" y="3020705"/>
                </a:lnTo>
                <a:lnTo>
                  <a:pt x="4257578" y="3007005"/>
                </a:lnTo>
                <a:lnTo>
                  <a:pt x="4310744" y="2992839"/>
                </a:lnTo>
                <a:lnTo>
                  <a:pt x="4363833" y="2978218"/>
                </a:lnTo>
                <a:lnTo>
                  <a:pt x="4416580" y="2963153"/>
                </a:lnTo>
                <a:lnTo>
                  <a:pt x="4468717" y="2947653"/>
                </a:lnTo>
                <a:lnTo>
                  <a:pt x="4519976" y="2931730"/>
                </a:lnTo>
                <a:lnTo>
                  <a:pt x="4570092" y="2915393"/>
                </a:lnTo>
                <a:lnTo>
                  <a:pt x="4618797" y="2898653"/>
                </a:lnTo>
                <a:lnTo>
                  <a:pt x="4665824" y="2881519"/>
                </a:lnTo>
                <a:lnTo>
                  <a:pt x="4710906" y="2864004"/>
                </a:lnTo>
                <a:lnTo>
                  <a:pt x="4753776" y="2846116"/>
                </a:lnTo>
                <a:lnTo>
                  <a:pt x="4794166" y="2827866"/>
                </a:lnTo>
                <a:lnTo>
                  <a:pt x="4846978" y="2801834"/>
                </a:lnTo>
                <a:lnTo>
                  <a:pt x="4895207" y="2775772"/>
                </a:lnTo>
                <a:lnTo>
                  <a:pt x="4939555" y="2749417"/>
                </a:lnTo>
                <a:lnTo>
                  <a:pt x="4980726" y="2722503"/>
                </a:lnTo>
                <a:lnTo>
                  <a:pt x="5019422" y="2694766"/>
                </a:lnTo>
                <a:lnTo>
                  <a:pt x="5056347" y="2665941"/>
                </a:lnTo>
                <a:lnTo>
                  <a:pt x="5092204" y="2635764"/>
                </a:lnTo>
                <a:lnTo>
                  <a:pt x="5127694" y="2603970"/>
                </a:lnTo>
                <a:lnTo>
                  <a:pt x="5163523" y="2570294"/>
                </a:lnTo>
                <a:lnTo>
                  <a:pt x="5200392" y="2534472"/>
                </a:lnTo>
                <a:lnTo>
                  <a:pt x="5239004" y="2496240"/>
                </a:lnTo>
                <a:lnTo>
                  <a:pt x="5280062" y="2455333"/>
                </a:lnTo>
                <a:lnTo>
                  <a:pt x="5309208" y="2426443"/>
                </a:lnTo>
                <a:lnTo>
                  <a:pt x="5336861" y="2399173"/>
                </a:lnTo>
                <a:lnTo>
                  <a:pt x="5389109" y="2347301"/>
                </a:lnTo>
                <a:lnTo>
                  <a:pt x="5439657" y="2295333"/>
                </a:lnTo>
                <a:lnTo>
                  <a:pt x="5491352" y="2238884"/>
                </a:lnTo>
                <a:lnTo>
                  <a:pt x="5518520" y="2207609"/>
                </a:lnTo>
                <a:lnTo>
                  <a:pt x="5547042" y="2173570"/>
                </a:lnTo>
                <a:lnTo>
                  <a:pt x="5577276" y="2136219"/>
                </a:lnTo>
                <a:lnTo>
                  <a:pt x="5609577" y="2095007"/>
                </a:lnTo>
                <a:lnTo>
                  <a:pt x="5644300" y="2049387"/>
                </a:lnTo>
                <a:lnTo>
                  <a:pt x="5681803" y="1998811"/>
                </a:lnTo>
                <a:lnTo>
                  <a:pt x="5722441" y="1942731"/>
                </a:lnTo>
                <a:lnTo>
                  <a:pt x="5766570" y="1880599"/>
                </a:lnTo>
                <a:lnTo>
                  <a:pt x="5814546" y="1811866"/>
                </a:lnTo>
                <a:lnTo>
                  <a:pt x="6116333" y="1356121"/>
                </a:lnTo>
                <a:lnTo>
                  <a:pt x="6503910" y="752474"/>
                </a:lnTo>
                <a:lnTo>
                  <a:pt x="6838343" y="225557"/>
                </a:lnTo>
                <a:lnTo>
                  <a:pt x="6980696" y="0"/>
                </a:lnTo>
              </a:path>
            </a:pathLst>
          </a:custGeom>
          <a:ln w="38099">
            <a:solidFill>
              <a:srgbClr val="D81E00"/>
            </a:solidFill>
          </a:ln>
        </p:spPr>
        <p:txBody>
          <a:bodyPr wrap="square" lIns="0" tIns="0" rIns="0" bIns="0" rtlCol="0"/>
          <a:lstStyle/>
          <a:p>
            <a:endParaRPr/>
          </a:p>
        </p:txBody>
      </p:sp>
      <p:sp>
        <p:nvSpPr>
          <p:cNvPr id="25" name="灯片编号占位符 24"/>
          <p:cNvSpPr>
            <a:spLocks noGrp="1"/>
          </p:cNvSpPr>
          <p:nvPr>
            <p:ph type="sldNum" sz="quarter" idx="12"/>
          </p:nvPr>
        </p:nvSpPr>
        <p:spPr/>
        <p:txBody>
          <a:bodyPr/>
          <a:lstStyle/>
          <a:p>
            <a:fld id="{74D2AB8B-5816-41F2-8B4B-CA5C3E4E6A65}" type="slidenum">
              <a:rPr lang="zh-CN" altLang="en-US" smtClean="0"/>
              <a:t>28</a:t>
            </a:fld>
            <a:endParaRPr lang="zh-CN" altLang="en-US"/>
          </a:p>
        </p:txBody>
      </p:sp>
      <p:sp>
        <p:nvSpPr>
          <p:cNvPr id="27" name="标题 26"/>
          <p:cNvSpPr>
            <a:spLocks noGrp="1"/>
          </p:cNvSpPr>
          <p:nvPr>
            <p:ph type="title"/>
          </p:nvPr>
        </p:nvSpPr>
        <p:spPr/>
        <p:txBody>
          <a:bodyPr/>
          <a:lstStyle/>
          <a:p>
            <a:r>
              <a:rPr lang="zh-CN" altLang="en-US" dirty="0"/>
              <a:t>现实的开发问题</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367443" y="1571105"/>
            <a:ext cx="4771505" cy="298842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7915013" y="2021006"/>
            <a:ext cx="1886606" cy="790018"/>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978395" y="3251202"/>
            <a:ext cx="525145" cy="271145"/>
          </a:xfrm>
          <a:custGeom>
            <a:avLst/>
            <a:gdLst/>
            <a:ahLst/>
            <a:cxnLst/>
            <a:rect l="l" t="t" r="r" b="b"/>
            <a:pathLst>
              <a:path w="525145" h="271145">
                <a:moveTo>
                  <a:pt x="524933" y="0"/>
                </a:moveTo>
                <a:lnTo>
                  <a:pt x="0" y="0"/>
                </a:lnTo>
                <a:lnTo>
                  <a:pt x="0" y="270933"/>
                </a:lnTo>
                <a:lnTo>
                  <a:pt x="524933" y="270933"/>
                </a:lnTo>
                <a:lnTo>
                  <a:pt x="524933" y="0"/>
                </a:lnTo>
                <a:close/>
              </a:path>
            </a:pathLst>
          </a:custGeom>
          <a:ln w="28574">
            <a:solidFill>
              <a:srgbClr val="D81E00"/>
            </a:solidFill>
          </a:ln>
        </p:spPr>
        <p:txBody>
          <a:bodyPr wrap="square" lIns="0" tIns="0" rIns="0" bIns="0" rtlCol="0"/>
          <a:lstStyle/>
          <a:p>
            <a:endParaRPr/>
          </a:p>
        </p:txBody>
      </p:sp>
      <p:sp>
        <p:nvSpPr>
          <p:cNvPr id="6" name="object 6"/>
          <p:cNvSpPr/>
          <p:nvPr/>
        </p:nvSpPr>
        <p:spPr>
          <a:xfrm>
            <a:off x="5497717" y="2440069"/>
            <a:ext cx="2378075" cy="924560"/>
          </a:xfrm>
          <a:custGeom>
            <a:avLst/>
            <a:gdLst/>
            <a:ahLst/>
            <a:cxnLst/>
            <a:rect l="l" t="t" r="r" b="b"/>
            <a:pathLst>
              <a:path w="2378075" h="924560">
                <a:moveTo>
                  <a:pt x="0" y="924174"/>
                </a:moveTo>
                <a:lnTo>
                  <a:pt x="2377935" y="0"/>
                </a:lnTo>
              </a:path>
            </a:pathLst>
          </a:custGeom>
          <a:ln w="28574">
            <a:solidFill>
              <a:srgbClr val="D81E00"/>
            </a:solidFill>
          </a:ln>
        </p:spPr>
        <p:txBody>
          <a:bodyPr wrap="square" lIns="0" tIns="0" rIns="0" bIns="0" rtlCol="0"/>
          <a:lstStyle/>
          <a:p>
            <a:endParaRPr/>
          </a:p>
        </p:txBody>
      </p:sp>
      <p:sp>
        <p:nvSpPr>
          <p:cNvPr id="7" name="object 7"/>
          <p:cNvSpPr/>
          <p:nvPr/>
        </p:nvSpPr>
        <p:spPr>
          <a:xfrm>
            <a:off x="7806859" y="2420820"/>
            <a:ext cx="95885" cy="80010"/>
          </a:xfrm>
          <a:custGeom>
            <a:avLst/>
            <a:gdLst/>
            <a:ahLst/>
            <a:cxnLst/>
            <a:rect l="l" t="t" r="r" b="b"/>
            <a:pathLst>
              <a:path w="95884" h="80010">
                <a:moveTo>
                  <a:pt x="0" y="0"/>
                </a:moveTo>
                <a:lnTo>
                  <a:pt x="31052" y="79902"/>
                </a:lnTo>
                <a:lnTo>
                  <a:pt x="95429" y="8896"/>
                </a:lnTo>
                <a:lnTo>
                  <a:pt x="0" y="0"/>
                </a:lnTo>
                <a:close/>
              </a:path>
            </a:pathLst>
          </a:custGeom>
          <a:solidFill>
            <a:srgbClr val="D81E00"/>
          </a:solidFill>
        </p:spPr>
        <p:txBody>
          <a:bodyPr wrap="square" lIns="0" tIns="0" rIns="0" bIns="0" rtlCol="0"/>
          <a:lstStyle/>
          <a:p>
            <a:endParaRPr/>
          </a:p>
        </p:txBody>
      </p:sp>
      <p:sp>
        <p:nvSpPr>
          <p:cNvPr id="8" name="object 8"/>
          <p:cNvSpPr txBox="1"/>
          <p:nvPr/>
        </p:nvSpPr>
        <p:spPr>
          <a:xfrm>
            <a:off x="1375394" y="2996464"/>
            <a:ext cx="9663430" cy="2616200"/>
          </a:xfrm>
          <a:prstGeom prst="rect">
            <a:avLst/>
          </a:prstGeom>
        </p:spPr>
        <p:txBody>
          <a:bodyPr vert="horz" wrap="square" lIns="0" tIns="12065" rIns="0" bIns="0" rtlCol="0">
            <a:spAutoFit/>
          </a:bodyPr>
          <a:lstStyle/>
          <a:p>
            <a:pPr marL="6125210" marR="24130" indent="-457200">
              <a:lnSpc>
                <a:spcPct val="118000"/>
              </a:lnSpc>
              <a:spcBef>
                <a:spcPts val="95"/>
              </a:spcBef>
            </a:pPr>
            <a:r>
              <a:rPr sz="2400" dirty="0">
                <a:latin typeface="微软雅黑" panose="020B0503020204020204" pitchFamily="34" charset="-122"/>
                <a:cs typeface="微软雅黑" panose="020B0503020204020204" pitchFamily="34" charset="-122"/>
              </a:rPr>
              <a:t>要使城墙保持坚固，至少应该 保证每一块砖都是好的</a:t>
            </a:r>
            <a:endParaRPr sz="2400">
              <a:latin typeface="微软雅黑" panose="020B0503020204020204" pitchFamily="34" charset="-122"/>
              <a:cs typeface="微软雅黑" panose="020B0503020204020204" pitchFamily="34" charset="-122"/>
            </a:endParaRPr>
          </a:p>
          <a:p>
            <a:pPr>
              <a:lnSpc>
                <a:spcPct val="100000"/>
              </a:lnSpc>
            </a:pPr>
            <a:endParaRPr sz="3100">
              <a:latin typeface="Times New Roman" panose="02020603050405020304"/>
              <a:cs typeface="Times New Roman" panose="02020603050405020304"/>
            </a:endParaRPr>
          </a:p>
          <a:p>
            <a:pPr>
              <a:lnSpc>
                <a:spcPct val="100000"/>
              </a:lnSpc>
              <a:spcBef>
                <a:spcPts val="15"/>
              </a:spcBef>
            </a:pPr>
            <a:endParaRPr sz="2800">
              <a:latin typeface="Times New Roman" panose="02020603050405020304"/>
              <a:cs typeface="Times New Roman" panose="02020603050405020304"/>
            </a:endParaRPr>
          </a:p>
          <a:p>
            <a:pPr marL="12700" marR="5080">
              <a:lnSpc>
                <a:spcPct val="118000"/>
              </a:lnSpc>
            </a:pPr>
            <a:r>
              <a:rPr sz="2400" spc="45" dirty="0">
                <a:latin typeface="微软雅黑" panose="020B0503020204020204" pitchFamily="34" charset="-122"/>
                <a:cs typeface="微软雅黑" panose="020B0503020204020204" pitchFamily="34" charset="-122"/>
              </a:rPr>
              <a:t>单元是构造软件系统的基础，只有使每个单元得到足够的测试，系统的 </a:t>
            </a:r>
            <a:r>
              <a:rPr sz="2400" dirty="0">
                <a:latin typeface="微软雅黑" panose="020B0503020204020204" pitchFamily="34" charset="-122"/>
                <a:cs typeface="微软雅黑" panose="020B0503020204020204" pitchFamily="34" charset="-122"/>
              </a:rPr>
              <a:t>质量才能有可靠的保证，即单元测试是构筑产品质量的基石。</a:t>
            </a:r>
            <a:endParaRPr sz="2400">
              <a:latin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12"/>
          </p:nvPr>
        </p:nvSpPr>
        <p:spPr/>
        <p:txBody>
          <a:bodyPr/>
          <a:lstStyle/>
          <a:p>
            <a:fld id="{74D2AB8B-5816-41F2-8B4B-CA5C3E4E6A65}" type="slidenum">
              <a:rPr lang="zh-CN" altLang="en-US" smtClean="0"/>
              <a:t>29</a:t>
            </a:fld>
            <a:endParaRPr lang="zh-CN" altLang="en-US"/>
          </a:p>
        </p:txBody>
      </p:sp>
      <p:sp>
        <p:nvSpPr>
          <p:cNvPr id="11" name="标题 10"/>
          <p:cNvSpPr>
            <a:spLocks noGrp="1"/>
          </p:cNvSpPr>
          <p:nvPr>
            <p:ph type="title"/>
          </p:nvPr>
        </p:nvSpPr>
        <p:spPr/>
        <p:txBody>
          <a:bodyPr/>
          <a:lstStyle/>
          <a:p>
            <a:r>
              <a:rPr lang="zh-CN" altLang="en-US" dirty="0"/>
              <a:t>单元测试</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006734" y="3250276"/>
            <a:ext cx="1995054" cy="1911926"/>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031672" y="3275215"/>
            <a:ext cx="1995054" cy="1911926"/>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050783" y="3293646"/>
            <a:ext cx="1928907" cy="1847356"/>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050782" y="3293645"/>
            <a:ext cx="1929130" cy="1847850"/>
          </a:xfrm>
          <a:custGeom>
            <a:avLst/>
            <a:gdLst/>
            <a:ahLst/>
            <a:cxnLst/>
            <a:rect l="l" t="t" r="r" b="b"/>
            <a:pathLst>
              <a:path w="1929129" h="1847850">
                <a:moveTo>
                  <a:pt x="0" y="541034"/>
                </a:moveTo>
                <a:lnTo>
                  <a:pt x="541034" y="0"/>
                </a:lnTo>
                <a:lnTo>
                  <a:pt x="1387873" y="0"/>
                </a:lnTo>
                <a:lnTo>
                  <a:pt x="1928908" y="541034"/>
                </a:lnTo>
                <a:lnTo>
                  <a:pt x="1928908" y="1306320"/>
                </a:lnTo>
                <a:lnTo>
                  <a:pt x="1387873" y="1847355"/>
                </a:lnTo>
                <a:lnTo>
                  <a:pt x="541034" y="1847355"/>
                </a:lnTo>
                <a:lnTo>
                  <a:pt x="0" y="1306320"/>
                </a:lnTo>
                <a:lnTo>
                  <a:pt x="0" y="541034"/>
                </a:lnTo>
                <a:close/>
              </a:path>
            </a:pathLst>
          </a:custGeom>
          <a:ln w="57149">
            <a:solidFill>
              <a:srgbClr val="D6E3ED"/>
            </a:solidFill>
          </a:ln>
        </p:spPr>
        <p:txBody>
          <a:bodyPr wrap="square" lIns="0" tIns="0" rIns="0" bIns="0" rtlCol="0"/>
          <a:lstStyle/>
          <a:p>
            <a:endParaRPr/>
          </a:p>
        </p:txBody>
      </p:sp>
      <p:sp>
        <p:nvSpPr>
          <p:cNvPr id="7" name="object 7"/>
          <p:cNvSpPr txBox="1"/>
          <p:nvPr/>
        </p:nvSpPr>
        <p:spPr>
          <a:xfrm>
            <a:off x="4692139" y="3791874"/>
            <a:ext cx="635000" cy="812800"/>
          </a:xfrm>
          <a:prstGeom prst="rect">
            <a:avLst/>
          </a:prstGeom>
        </p:spPr>
        <p:txBody>
          <a:bodyPr vert="horz" wrap="square" lIns="0" tIns="12700" rIns="0" bIns="0" rtlCol="0">
            <a:spAutoFit/>
          </a:bodyPr>
          <a:lstStyle/>
          <a:p>
            <a:pPr marL="12700" marR="5080">
              <a:lnSpc>
                <a:spcPct val="108000"/>
              </a:lnSpc>
              <a:spcBef>
                <a:spcPts val="100"/>
              </a:spcBef>
            </a:pPr>
            <a:r>
              <a:rPr sz="2400" dirty="0">
                <a:solidFill>
                  <a:srgbClr val="FFFFFF"/>
                </a:solidFill>
                <a:latin typeface="微软雅黑" panose="020B0503020204020204" pitchFamily="34" charset="-122"/>
                <a:cs typeface="微软雅黑" panose="020B0503020204020204" pitchFamily="34" charset="-122"/>
              </a:rPr>
              <a:t>设计 更好</a:t>
            </a:r>
            <a:endParaRPr sz="2400">
              <a:latin typeface="微软雅黑" panose="020B0503020204020204" pitchFamily="34" charset="-122"/>
              <a:cs typeface="微软雅黑" panose="020B0503020204020204" pitchFamily="34" charset="-122"/>
            </a:endParaRPr>
          </a:p>
        </p:txBody>
      </p:sp>
      <p:sp>
        <p:nvSpPr>
          <p:cNvPr id="8" name="object 8"/>
          <p:cNvSpPr/>
          <p:nvPr/>
        </p:nvSpPr>
        <p:spPr>
          <a:xfrm>
            <a:off x="6039196" y="3254431"/>
            <a:ext cx="1986742" cy="1920239"/>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6064134" y="3279371"/>
            <a:ext cx="1986742" cy="1920239"/>
          </a:xfrm>
          <a:prstGeom prst="rect">
            <a:avLst/>
          </a:prstGeom>
          <a:blipFill>
            <a:blip r:embed="rId7" cstate="print"/>
            <a:stretch>
              <a:fillRect/>
            </a:stretch>
          </a:blipFill>
        </p:spPr>
        <p:txBody>
          <a:bodyPr wrap="square" lIns="0" tIns="0" rIns="0" bIns="0" rtlCol="0"/>
          <a:lstStyle/>
          <a:p>
            <a:endParaRPr/>
          </a:p>
        </p:txBody>
      </p:sp>
      <p:sp>
        <p:nvSpPr>
          <p:cNvPr id="10" name="object 10"/>
          <p:cNvSpPr/>
          <p:nvPr/>
        </p:nvSpPr>
        <p:spPr>
          <a:xfrm>
            <a:off x="6083556" y="3300612"/>
            <a:ext cx="1920448" cy="1854309"/>
          </a:xfrm>
          <a:prstGeom prst="rect">
            <a:avLst/>
          </a:prstGeom>
          <a:blipFill>
            <a:blip r:embed="rId8" cstate="print"/>
            <a:stretch>
              <a:fillRect/>
            </a:stretch>
          </a:blipFill>
        </p:spPr>
        <p:txBody>
          <a:bodyPr wrap="square" lIns="0" tIns="0" rIns="0" bIns="0" rtlCol="0"/>
          <a:lstStyle/>
          <a:p>
            <a:endParaRPr/>
          </a:p>
        </p:txBody>
      </p:sp>
      <p:sp>
        <p:nvSpPr>
          <p:cNvPr id="11" name="object 11"/>
          <p:cNvSpPr/>
          <p:nvPr/>
        </p:nvSpPr>
        <p:spPr>
          <a:xfrm>
            <a:off x="6083556" y="3300612"/>
            <a:ext cx="1920875" cy="1854835"/>
          </a:xfrm>
          <a:custGeom>
            <a:avLst/>
            <a:gdLst/>
            <a:ahLst/>
            <a:cxnLst/>
            <a:rect l="l" t="t" r="r" b="b"/>
            <a:pathLst>
              <a:path w="1920875" h="1854835">
                <a:moveTo>
                  <a:pt x="0" y="543071"/>
                </a:moveTo>
                <a:lnTo>
                  <a:pt x="543071" y="0"/>
                </a:lnTo>
                <a:lnTo>
                  <a:pt x="1377376" y="0"/>
                </a:lnTo>
                <a:lnTo>
                  <a:pt x="1920449" y="543071"/>
                </a:lnTo>
                <a:lnTo>
                  <a:pt x="1920449" y="1311237"/>
                </a:lnTo>
                <a:lnTo>
                  <a:pt x="1377376" y="1854309"/>
                </a:lnTo>
                <a:lnTo>
                  <a:pt x="543071" y="1854309"/>
                </a:lnTo>
                <a:lnTo>
                  <a:pt x="0" y="1311237"/>
                </a:lnTo>
                <a:lnTo>
                  <a:pt x="0" y="543071"/>
                </a:lnTo>
                <a:close/>
              </a:path>
            </a:pathLst>
          </a:custGeom>
          <a:ln w="57149">
            <a:solidFill>
              <a:srgbClr val="D6E3ED"/>
            </a:solidFill>
          </a:ln>
        </p:spPr>
        <p:txBody>
          <a:bodyPr wrap="square" lIns="0" tIns="0" rIns="0" bIns="0" rtlCol="0"/>
          <a:lstStyle/>
          <a:p>
            <a:endParaRPr/>
          </a:p>
        </p:txBody>
      </p:sp>
      <p:sp>
        <p:nvSpPr>
          <p:cNvPr id="12" name="object 12"/>
          <p:cNvSpPr txBox="1"/>
          <p:nvPr/>
        </p:nvSpPr>
        <p:spPr>
          <a:xfrm>
            <a:off x="6573532" y="3802316"/>
            <a:ext cx="939800" cy="812800"/>
          </a:xfrm>
          <a:prstGeom prst="rect">
            <a:avLst/>
          </a:prstGeom>
        </p:spPr>
        <p:txBody>
          <a:bodyPr vert="horz" wrap="square" lIns="0" tIns="12700" rIns="0" bIns="0" rtlCol="0">
            <a:spAutoFit/>
          </a:bodyPr>
          <a:lstStyle/>
          <a:p>
            <a:pPr marL="165100" marR="5080" indent="-152400">
              <a:lnSpc>
                <a:spcPct val="108000"/>
              </a:lnSpc>
              <a:spcBef>
                <a:spcPts val="100"/>
              </a:spcBef>
            </a:pPr>
            <a:r>
              <a:rPr sz="2400" dirty="0">
                <a:solidFill>
                  <a:srgbClr val="FFFFFF"/>
                </a:solidFill>
                <a:latin typeface="微软雅黑" panose="020B0503020204020204" pitchFamily="34" charset="-122"/>
                <a:cs typeface="微软雅黑" panose="020B0503020204020204" pitchFamily="34" charset="-122"/>
              </a:rPr>
              <a:t>文档化 行为</a:t>
            </a:r>
            <a:endParaRPr sz="2400">
              <a:latin typeface="微软雅黑" panose="020B0503020204020204" pitchFamily="34" charset="-122"/>
              <a:cs typeface="微软雅黑" panose="020B0503020204020204" pitchFamily="34" charset="-122"/>
            </a:endParaRPr>
          </a:p>
        </p:txBody>
      </p:sp>
      <p:sp>
        <p:nvSpPr>
          <p:cNvPr id="13" name="object 13"/>
          <p:cNvSpPr/>
          <p:nvPr/>
        </p:nvSpPr>
        <p:spPr>
          <a:xfrm>
            <a:off x="1953491" y="3241963"/>
            <a:ext cx="2011680" cy="1916083"/>
          </a:xfrm>
          <a:prstGeom prst="rect">
            <a:avLst/>
          </a:prstGeom>
          <a:blipFill>
            <a:blip r:embed="rId9" cstate="print"/>
            <a:stretch>
              <a:fillRect/>
            </a:stretch>
          </a:blipFill>
        </p:spPr>
        <p:txBody>
          <a:bodyPr wrap="square" lIns="0" tIns="0" rIns="0" bIns="0" rtlCol="0"/>
          <a:lstStyle/>
          <a:p>
            <a:endParaRPr/>
          </a:p>
        </p:txBody>
      </p:sp>
      <p:sp>
        <p:nvSpPr>
          <p:cNvPr id="14" name="object 14"/>
          <p:cNvSpPr/>
          <p:nvPr/>
        </p:nvSpPr>
        <p:spPr>
          <a:xfrm>
            <a:off x="1978428" y="3266900"/>
            <a:ext cx="2011680" cy="1920239"/>
          </a:xfrm>
          <a:prstGeom prst="rect">
            <a:avLst/>
          </a:prstGeom>
          <a:blipFill>
            <a:blip r:embed="rId10" cstate="print"/>
            <a:stretch>
              <a:fillRect/>
            </a:stretch>
          </a:blipFill>
        </p:spPr>
        <p:txBody>
          <a:bodyPr wrap="square" lIns="0" tIns="0" rIns="0" bIns="0" rtlCol="0"/>
          <a:lstStyle/>
          <a:p>
            <a:endParaRPr/>
          </a:p>
        </p:txBody>
      </p:sp>
      <p:sp>
        <p:nvSpPr>
          <p:cNvPr id="15" name="object 15"/>
          <p:cNvSpPr/>
          <p:nvPr/>
        </p:nvSpPr>
        <p:spPr>
          <a:xfrm>
            <a:off x="2000170" y="3288864"/>
            <a:ext cx="1946122" cy="1851188"/>
          </a:xfrm>
          <a:prstGeom prst="rect">
            <a:avLst/>
          </a:prstGeom>
          <a:blipFill>
            <a:blip r:embed="rId11" cstate="print"/>
            <a:stretch>
              <a:fillRect/>
            </a:stretch>
          </a:blipFill>
        </p:spPr>
        <p:txBody>
          <a:bodyPr wrap="square" lIns="0" tIns="0" rIns="0" bIns="0" rtlCol="0"/>
          <a:lstStyle/>
          <a:p>
            <a:endParaRPr/>
          </a:p>
        </p:txBody>
      </p:sp>
      <p:sp>
        <p:nvSpPr>
          <p:cNvPr id="16" name="object 16"/>
          <p:cNvSpPr/>
          <p:nvPr/>
        </p:nvSpPr>
        <p:spPr>
          <a:xfrm>
            <a:off x="2000169" y="3288864"/>
            <a:ext cx="1946275" cy="1851660"/>
          </a:xfrm>
          <a:custGeom>
            <a:avLst/>
            <a:gdLst/>
            <a:ahLst/>
            <a:cxnLst/>
            <a:rect l="l" t="t" r="r" b="b"/>
            <a:pathLst>
              <a:path w="1946275" h="1851660">
                <a:moveTo>
                  <a:pt x="0" y="542157"/>
                </a:moveTo>
                <a:lnTo>
                  <a:pt x="542157" y="0"/>
                </a:lnTo>
                <a:lnTo>
                  <a:pt x="1403964" y="0"/>
                </a:lnTo>
                <a:lnTo>
                  <a:pt x="1946122" y="542157"/>
                </a:lnTo>
                <a:lnTo>
                  <a:pt x="1946122" y="1309030"/>
                </a:lnTo>
                <a:lnTo>
                  <a:pt x="1403964" y="1851188"/>
                </a:lnTo>
                <a:lnTo>
                  <a:pt x="542157" y="1851188"/>
                </a:lnTo>
                <a:lnTo>
                  <a:pt x="0" y="1309030"/>
                </a:lnTo>
                <a:lnTo>
                  <a:pt x="0" y="542157"/>
                </a:lnTo>
                <a:close/>
              </a:path>
            </a:pathLst>
          </a:custGeom>
          <a:ln w="57149">
            <a:solidFill>
              <a:srgbClr val="D6E3ED"/>
            </a:solidFill>
          </a:ln>
        </p:spPr>
        <p:txBody>
          <a:bodyPr wrap="square" lIns="0" tIns="0" rIns="0" bIns="0" rtlCol="0"/>
          <a:lstStyle/>
          <a:p>
            <a:endParaRPr/>
          </a:p>
        </p:txBody>
      </p:sp>
      <p:sp>
        <p:nvSpPr>
          <p:cNvPr id="17" name="object 17"/>
          <p:cNvSpPr txBox="1"/>
          <p:nvPr/>
        </p:nvSpPr>
        <p:spPr>
          <a:xfrm>
            <a:off x="2654788" y="3789008"/>
            <a:ext cx="635000" cy="812800"/>
          </a:xfrm>
          <a:prstGeom prst="rect">
            <a:avLst/>
          </a:prstGeom>
        </p:spPr>
        <p:txBody>
          <a:bodyPr vert="horz" wrap="square" lIns="0" tIns="12700" rIns="0" bIns="0" rtlCol="0">
            <a:spAutoFit/>
          </a:bodyPr>
          <a:lstStyle/>
          <a:p>
            <a:pPr marL="12700" marR="5080">
              <a:lnSpc>
                <a:spcPct val="108000"/>
              </a:lnSpc>
              <a:spcBef>
                <a:spcPts val="100"/>
              </a:spcBef>
            </a:pPr>
            <a:r>
              <a:rPr sz="2400" dirty="0">
                <a:solidFill>
                  <a:srgbClr val="FFFFFF"/>
                </a:solidFill>
                <a:latin typeface="微软雅黑" panose="020B0503020204020204" pitchFamily="34" charset="-122"/>
                <a:cs typeface="微软雅黑" panose="020B0503020204020204" pitchFamily="34" charset="-122"/>
              </a:rPr>
              <a:t>验证 代码</a:t>
            </a:r>
            <a:endParaRPr sz="2400">
              <a:latin typeface="微软雅黑" panose="020B0503020204020204" pitchFamily="34" charset="-122"/>
              <a:cs typeface="微软雅黑" panose="020B0503020204020204" pitchFamily="34" charset="-122"/>
            </a:endParaRPr>
          </a:p>
        </p:txBody>
      </p:sp>
      <p:sp>
        <p:nvSpPr>
          <p:cNvPr id="18" name="object 18"/>
          <p:cNvSpPr/>
          <p:nvPr/>
        </p:nvSpPr>
        <p:spPr>
          <a:xfrm>
            <a:off x="8067501" y="3262745"/>
            <a:ext cx="2011679" cy="1916083"/>
          </a:xfrm>
          <a:prstGeom prst="rect">
            <a:avLst/>
          </a:prstGeom>
          <a:blipFill>
            <a:blip r:embed="rId12" cstate="print"/>
            <a:stretch>
              <a:fillRect/>
            </a:stretch>
          </a:blipFill>
        </p:spPr>
        <p:txBody>
          <a:bodyPr wrap="square" lIns="0" tIns="0" rIns="0" bIns="0" rtlCol="0"/>
          <a:lstStyle/>
          <a:p>
            <a:endParaRPr/>
          </a:p>
        </p:txBody>
      </p:sp>
      <p:sp>
        <p:nvSpPr>
          <p:cNvPr id="19" name="object 19"/>
          <p:cNvSpPr/>
          <p:nvPr/>
        </p:nvSpPr>
        <p:spPr>
          <a:xfrm>
            <a:off x="8092440" y="3287683"/>
            <a:ext cx="2011679" cy="1916083"/>
          </a:xfrm>
          <a:prstGeom prst="rect">
            <a:avLst/>
          </a:prstGeom>
          <a:blipFill>
            <a:blip r:embed="rId13" cstate="print"/>
            <a:stretch>
              <a:fillRect/>
            </a:stretch>
          </a:blipFill>
        </p:spPr>
        <p:txBody>
          <a:bodyPr wrap="square" lIns="0" tIns="0" rIns="0" bIns="0" rtlCol="0"/>
          <a:lstStyle/>
          <a:p>
            <a:endParaRPr/>
          </a:p>
        </p:txBody>
      </p:sp>
      <p:sp>
        <p:nvSpPr>
          <p:cNvPr id="20" name="object 20"/>
          <p:cNvSpPr/>
          <p:nvPr/>
        </p:nvSpPr>
        <p:spPr>
          <a:xfrm>
            <a:off x="8112280" y="3308130"/>
            <a:ext cx="1946121" cy="1851188"/>
          </a:xfrm>
          <a:prstGeom prst="rect">
            <a:avLst/>
          </a:prstGeom>
          <a:blipFill>
            <a:blip r:embed="rId14" cstate="print"/>
            <a:stretch>
              <a:fillRect/>
            </a:stretch>
          </a:blipFill>
        </p:spPr>
        <p:txBody>
          <a:bodyPr wrap="square" lIns="0" tIns="0" rIns="0" bIns="0" rtlCol="0"/>
          <a:lstStyle/>
          <a:p>
            <a:endParaRPr/>
          </a:p>
        </p:txBody>
      </p:sp>
      <p:sp>
        <p:nvSpPr>
          <p:cNvPr id="21" name="object 21"/>
          <p:cNvSpPr/>
          <p:nvPr/>
        </p:nvSpPr>
        <p:spPr>
          <a:xfrm>
            <a:off x="8112280" y="3308130"/>
            <a:ext cx="1946275" cy="1851660"/>
          </a:xfrm>
          <a:custGeom>
            <a:avLst/>
            <a:gdLst/>
            <a:ahLst/>
            <a:cxnLst/>
            <a:rect l="l" t="t" r="r" b="b"/>
            <a:pathLst>
              <a:path w="1946275" h="1851660">
                <a:moveTo>
                  <a:pt x="0" y="542157"/>
                </a:moveTo>
                <a:lnTo>
                  <a:pt x="542157" y="0"/>
                </a:lnTo>
                <a:lnTo>
                  <a:pt x="1403963" y="0"/>
                </a:lnTo>
                <a:lnTo>
                  <a:pt x="1946121" y="542157"/>
                </a:lnTo>
                <a:lnTo>
                  <a:pt x="1946121" y="1309030"/>
                </a:lnTo>
                <a:lnTo>
                  <a:pt x="1403963" y="1851188"/>
                </a:lnTo>
                <a:lnTo>
                  <a:pt x="542157" y="1851188"/>
                </a:lnTo>
                <a:lnTo>
                  <a:pt x="0" y="1309030"/>
                </a:lnTo>
                <a:lnTo>
                  <a:pt x="0" y="542157"/>
                </a:lnTo>
                <a:close/>
              </a:path>
            </a:pathLst>
          </a:custGeom>
          <a:ln w="57149">
            <a:solidFill>
              <a:srgbClr val="D6E3ED"/>
            </a:solidFill>
          </a:ln>
        </p:spPr>
        <p:txBody>
          <a:bodyPr wrap="square" lIns="0" tIns="0" rIns="0" bIns="0" rtlCol="0"/>
          <a:lstStyle/>
          <a:p>
            <a:endParaRPr/>
          </a:p>
        </p:txBody>
      </p:sp>
      <p:sp>
        <p:nvSpPr>
          <p:cNvPr id="22" name="object 22"/>
          <p:cNvSpPr txBox="1"/>
          <p:nvPr/>
        </p:nvSpPr>
        <p:spPr>
          <a:xfrm>
            <a:off x="8614498" y="3808274"/>
            <a:ext cx="939800" cy="812800"/>
          </a:xfrm>
          <a:prstGeom prst="rect">
            <a:avLst/>
          </a:prstGeom>
        </p:spPr>
        <p:txBody>
          <a:bodyPr vert="horz" wrap="square" lIns="0" tIns="12700" rIns="0" bIns="0" rtlCol="0">
            <a:spAutoFit/>
          </a:bodyPr>
          <a:lstStyle/>
          <a:p>
            <a:pPr marL="12700" marR="5080" indent="152400">
              <a:lnSpc>
                <a:spcPct val="108000"/>
              </a:lnSpc>
              <a:spcBef>
                <a:spcPts val="100"/>
              </a:spcBef>
            </a:pPr>
            <a:r>
              <a:rPr sz="2400" dirty="0">
                <a:solidFill>
                  <a:srgbClr val="FFFFFF"/>
                </a:solidFill>
                <a:latin typeface="微软雅黑" panose="020B0503020204020204" pitchFamily="34" charset="-122"/>
                <a:cs typeface="微软雅黑" panose="020B0503020204020204" pitchFamily="34" charset="-122"/>
              </a:rPr>
              <a:t>具有 回归性</a:t>
            </a:r>
            <a:endParaRPr sz="2400">
              <a:latin typeface="微软雅黑" panose="020B0503020204020204" pitchFamily="34" charset="-122"/>
              <a:cs typeface="微软雅黑" panose="020B0503020204020204" pitchFamily="34" charset="-122"/>
            </a:endParaRPr>
          </a:p>
        </p:txBody>
      </p:sp>
      <p:sp>
        <p:nvSpPr>
          <p:cNvPr id="23" name="object 23"/>
          <p:cNvSpPr txBox="1"/>
          <p:nvPr/>
        </p:nvSpPr>
        <p:spPr>
          <a:xfrm>
            <a:off x="979353" y="1836740"/>
            <a:ext cx="10125075" cy="869315"/>
          </a:xfrm>
          <a:prstGeom prst="rect">
            <a:avLst/>
          </a:prstGeom>
          <a:solidFill>
            <a:srgbClr val="ECEBEB"/>
          </a:solidFill>
        </p:spPr>
        <p:txBody>
          <a:bodyPr vert="horz" wrap="square" lIns="0" tIns="245745" rIns="0" bIns="0" rtlCol="0">
            <a:spAutoFit/>
          </a:bodyPr>
          <a:lstStyle/>
          <a:p>
            <a:pPr marL="302260">
              <a:lnSpc>
                <a:spcPct val="100000"/>
              </a:lnSpc>
              <a:spcBef>
                <a:spcPts val="1935"/>
              </a:spcBef>
            </a:pPr>
            <a:r>
              <a:rPr sz="2400" dirty="0">
                <a:latin typeface="微软雅黑" panose="020B0503020204020204" pitchFamily="34" charset="-122"/>
                <a:cs typeface="微软雅黑" panose="020B0503020204020204" pitchFamily="34" charset="-122"/>
              </a:rPr>
              <a:t>单元测试（</a:t>
            </a:r>
            <a:r>
              <a:rPr sz="2400" dirty="0">
                <a:latin typeface="Arial" panose="020B0604020202020204"/>
                <a:cs typeface="Arial" panose="020B0604020202020204"/>
              </a:rPr>
              <a:t>Unit</a:t>
            </a:r>
            <a:r>
              <a:rPr sz="2400" spc="-135" dirty="0">
                <a:latin typeface="Arial" panose="020B0604020202020204"/>
                <a:cs typeface="Arial" panose="020B0604020202020204"/>
              </a:rPr>
              <a:t> </a:t>
            </a:r>
            <a:r>
              <a:rPr sz="2400" spc="-35" dirty="0">
                <a:latin typeface="Arial" panose="020B0604020202020204"/>
                <a:cs typeface="Arial" panose="020B0604020202020204"/>
              </a:rPr>
              <a:t>Testing</a:t>
            </a:r>
            <a:r>
              <a:rPr sz="2400" spc="-3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是对软件中的最小可测试单元进行检查和验证。</a:t>
            </a:r>
            <a:endParaRPr sz="2400">
              <a:latin typeface="微软雅黑" panose="020B0503020204020204" pitchFamily="34" charset="-122"/>
              <a:cs typeface="微软雅黑" panose="020B0503020204020204" pitchFamily="34" charset="-122"/>
            </a:endParaRPr>
          </a:p>
        </p:txBody>
      </p:sp>
      <p:sp>
        <p:nvSpPr>
          <p:cNvPr id="24" name="灯片编号占位符 23"/>
          <p:cNvSpPr>
            <a:spLocks noGrp="1"/>
          </p:cNvSpPr>
          <p:nvPr>
            <p:ph type="sldNum" sz="quarter" idx="12"/>
          </p:nvPr>
        </p:nvSpPr>
        <p:spPr/>
        <p:txBody>
          <a:bodyPr/>
          <a:lstStyle/>
          <a:p>
            <a:fld id="{74D2AB8B-5816-41F2-8B4B-CA5C3E4E6A65}" type="slidenum">
              <a:rPr lang="zh-CN" altLang="en-US" smtClean="0"/>
              <a:t>30</a:t>
            </a:fld>
            <a:endParaRPr lang="zh-CN" altLang="en-US"/>
          </a:p>
        </p:txBody>
      </p:sp>
      <p:sp>
        <p:nvSpPr>
          <p:cNvPr id="26" name="标题 25"/>
          <p:cNvSpPr>
            <a:spLocks noGrp="1"/>
          </p:cNvSpPr>
          <p:nvPr>
            <p:ph type="title"/>
          </p:nvPr>
        </p:nvSpPr>
        <p:spPr/>
        <p:txBody>
          <a:bodyPr/>
          <a:lstStyle/>
          <a:p>
            <a:r>
              <a:rPr lang="zh-CN" altLang="en-US" dirty="0"/>
              <a:t>单元测试</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258454" y="2385586"/>
            <a:ext cx="2333178" cy="237614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598079" y="3087452"/>
            <a:ext cx="5752465" cy="985519"/>
          </a:xfrm>
          <a:prstGeom prst="rect">
            <a:avLst/>
          </a:prstGeom>
          <a:ln w="19049">
            <a:solidFill>
              <a:srgbClr val="000000"/>
            </a:solidFill>
          </a:ln>
        </p:spPr>
        <p:txBody>
          <a:bodyPr vert="horz" wrap="square" lIns="0" tIns="113664" rIns="0" bIns="0" rtlCol="0">
            <a:spAutoFit/>
          </a:bodyPr>
          <a:lstStyle/>
          <a:p>
            <a:pPr marL="2540" algn="ctr">
              <a:lnSpc>
                <a:spcPct val="100000"/>
              </a:lnSpc>
              <a:spcBef>
                <a:spcPts val="895"/>
              </a:spcBef>
            </a:pPr>
            <a:r>
              <a:rPr sz="2000" dirty="0">
                <a:solidFill>
                  <a:srgbClr val="C00000"/>
                </a:solidFill>
                <a:latin typeface="微软雅黑" panose="020B0503020204020204" pitchFamily="34" charset="-122"/>
                <a:cs typeface="微软雅黑" panose="020B0503020204020204" pitchFamily="34" charset="-122"/>
              </a:rPr>
              <a:t>程序</a:t>
            </a:r>
            <a:r>
              <a:rPr sz="2000" spc="-5" dirty="0">
                <a:solidFill>
                  <a:srgbClr val="C00000"/>
                </a:solidFill>
                <a:latin typeface="微软雅黑" panose="020B0503020204020204" pitchFamily="34" charset="-122"/>
                <a:cs typeface="微软雅黑" panose="020B0503020204020204" pitchFamily="34" charset="-122"/>
              </a:rPr>
              <a:t>＝</a:t>
            </a:r>
            <a:r>
              <a:rPr sz="2000" spc="-5" dirty="0">
                <a:solidFill>
                  <a:srgbClr val="CE1C00"/>
                </a:solidFill>
                <a:latin typeface="Arial" panose="020B0604020202020204"/>
                <a:cs typeface="Arial" panose="020B0604020202020204"/>
              </a:rPr>
              <a:t>UT</a:t>
            </a:r>
            <a:r>
              <a:rPr sz="2000" spc="-5" dirty="0">
                <a:solidFill>
                  <a:srgbClr val="C00000"/>
                </a:solidFill>
                <a:latin typeface="微软雅黑" panose="020B0503020204020204" pitchFamily="34" charset="-122"/>
                <a:cs typeface="微软雅黑" panose="020B0503020204020204" pitchFamily="34" charset="-122"/>
              </a:rPr>
              <a:t>＋</a:t>
            </a:r>
            <a:r>
              <a:rPr sz="2000" spc="-5" dirty="0">
                <a:solidFill>
                  <a:srgbClr val="CE1C00"/>
                </a:solidFill>
                <a:latin typeface="Arial" panose="020B0604020202020204"/>
                <a:cs typeface="Arial" panose="020B0604020202020204"/>
              </a:rPr>
              <a:t>CODE</a:t>
            </a:r>
            <a:endParaRPr sz="2000">
              <a:latin typeface="Arial" panose="020B0604020202020204"/>
              <a:cs typeface="Arial" panose="020B0604020202020204"/>
            </a:endParaRPr>
          </a:p>
          <a:p>
            <a:pPr algn="ctr">
              <a:lnSpc>
                <a:spcPct val="100000"/>
              </a:lnSpc>
              <a:spcBef>
                <a:spcPts val="900"/>
              </a:spcBef>
            </a:pPr>
            <a:r>
              <a:rPr sz="2000" dirty="0">
                <a:latin typeface="微软雅黑" panose="020B0503020204020204" pitchFamily="34" charset="-122"/>
                <a:cs typeface="微软雅黑" panose="020B0503020204020204" pitchFamily="34" charset="-122"/>
              </a:rPr>
              <a:t>测试人员有权利对没有做过</a:t>
            </a:r>
            <a:r>
              <a:rPr sz="2000" spc="-5" dirty="0">
                <a:latin typeface="Arial" panose="020B0604020202020204"/>
                <a:cs typeface="Arial" panose="020B0604020202020204"/>
              </a:rPr>
              <a:t>UT</a:t>
            </a:r>
            <a:r>
              <a:rPr sz="2000" dirty="0">
                <a:latin typeface="微软雅黑" panose="020B0503020204020204" pitchFamily="34" charset="-122"/>
                <a:cs typeface="微软雅黑" panose="020B0503020204020204" pitchFamily="34" charset="-122"/>
              </a:rPr>
              <a:t>的代码说</a:t>
            </a:r>
            <a:r>
              <a:rPr sz="2000" dirty="0">
                <a:latin typeface="Arial" panose="020B0604020202020204"/>
                <a:cs typeface="Arial" panose="020B0604020202020204"/>
              </a:rPr>
              <a:t>No</a:t>
            </a:r>
            <a:endParaRPr sz="2000">
              <a:latin typeface="Arial" panose="020B0604020202020204"/>
              <a:cs typeface="Arial" panose="020B0604020202020204"/>
            </a:endParaRPr>
          </a:p>
        </p:txBody>
      </p:sp>
      <p:sp>
        <p:nvSpPr>
          <p:cNvPr id="5" name="object 5"/>
          <p:cNvSpPr txBox="1"/>
          <p:nvPr/>
        </p:nvSpPr>
        <p:spPr>
          <a:xfrm>
            <a:off x="1400397" y="1693276"/>
            <a:ext cx="95250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程序员必须对自己的代码质量负责，单元测试是对自己代码质量的基本承诺。</a:t>
            </a:r>
            <a:endParaRPr sz="2200">
              <a:latin typeface="微软雅黑" panose="020B0503020204020204" pitchFamily="34" charset="-122"/>
              <a:cs typeface="微软雅黑" panose="020B0503020204020204" pitchFamily="34" charset="-122"/>
            </a:endParaRPr>
          </a:p>
        </p:txBody>
      </p:sp>
      <p:sp>
        <p:nvSpPr>
          <p:cNvPr id="6" name="object 6"/>
          <p:cNvSpPr txBox="1"/>
          <p:nvPr/>
        </p:nvSpPr>
        <p:spPr>
          <a:xfrm>
            <a:off x="1400398" y="5155515"/>
            <a:ext cx="92456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在现实中，代码质量最好、开发速度最快的程序员是单元测试做得最好的。</a:t>
            </a:r>
            <a:endParaRPr sz="2200">
              <a:latin typeface="微软雅黑" panose="020B0503020204020204" pitchFamily="34" charset="-122"/>
              <a:cs typeface="微软雅黑" panose="020B0503020204020204" pitchFamily="34" charset="-122"/>
            </a:endParaRPr>
          </a:p>
        </p:txBody>
      </p:sp>
      <p:sp>
        <p:nvSpPr>
          <p:cNvPr id="7" name="灯片编号占位符 6"/>
          <p:cNvSpPr>
            <a:spLocks noGrp="1"/>
          </p:cNvSpPr>
          <p:nvPr>
            <p:ph type="sldNum" sz="quarter" idx="12"/>
          </p:nvPr>
        </p:nvSpPr>
        <p:spPr/>
        <p:txBody>
          <a:bodyPr/>
          <a:lstStyle/>
          <a:p>
            <a:fld id="{74D2AB8B-5816-41F2-8B4B-CA5C3E4E6A65}" type="slidenum">
              <a:rPr lang="zh-CN" altLang="en-US" smtClean="0"/>
              <a:t>31</a:t>
            </a:fld>
            <a:endParaRPr lang="zh-CN" altLang="en-US"/>
          </a:p>
        </p:txBody>
      </p:sp>
      <p:sp>
        <p:nvSpPr>
          <p:cNvPr id="9" name="标题 8"/>
          <p:cNvSpPr>
            <a:spLocks noGrp="1"/>
          </p:cNvSpPr>
          <p:nvPr>
            <p:ph type="title"/>
          </p:nvPr>
        </p:nvSpPr>
        <p:spPr/>
        <p:txBody>
          <a:bodyPr/>
          <a:lstStyle/>
          <a:p>
            <a:r>
              <a:rPr lang="zh-CN" altLang="en-US" dirty="0"/>
              <a:t>单元测试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好的单元测试</a:t>
            </a:r>
            <a:endParaRPr lang="en-US" dirty="0"/>
          </a:p>
        </p:txBody>
      </p:sp>
      <p:sp>
        <p:nvSpPr>
          <p:cNvPr id="3" name="内容占位符 2"/>
          <p:cNvSpPr>
            <a:spLocks noGrp="1"/>
          </p:cNvSpPr>
          <p:nvPr>
            <p:ph idx="1"/>
          </p:nvPr>
        </p:nvSpPr>
        <p:spPr/>
        <p:txBody>
          <a:bodyPr>
            <a:normAutofit/>
          </a:bodyPr>
          <a:lstStyle/>
          <a:p>
            <a:r>
              <a:rPr lang="zh-CN" altLang="en-US" dirty="0"/>
              <a:t>检查单元测试是否满足下面的条件</a:t>
            </a:r>
            <a:endParaRPr lang="en-US" altLang="zh-CN" dirty="0"/>
          </a:p>
          <a:p>
            <a:pPr lvl="1"/>
            <a:r>
              <a:rPr lang="zh-CN" altLang="en-US" dirty="0"/>
              <a:t>单元测试应该在最基本的功能</a:t>
            </a:r>
            <a:r>
              <a:rPr lang="en-US" altLang="zh-CN" dirty="0"/>
              <a:t>/</a:t>
            </a:r>
            <a:r>
              <a:rPr lang="zh-CN" altLang="en-US" dirty="0"/>
              <a:t>参数上验证程序的正确性。</a:t>
            </a:r>
            <a:endParaRPr lang="en-US" altLang="zh-CN" dirty="0"/>
          </a:p>
          <a:p>
            <a:pPr lvl="2"/>
            <a:r>
              <a:rPr lang="zh-CN" altLang="en-US" dirty="0"/>
              <a:t>最基本的单元</a:t>
            </a:r>
            <a:r>
              <a:rPr lang="en-US" altLang="zh-CN" dirty="0"/>
              <a:t>——</a:t>
            </a:r>
            <a:r>
              <a:rPr lang="zh-CN" altLang="en-US" dirty="0"/>
              <a:t>如在</a:t>
            </a:r>
            <a:r>
              <a:rPr lang="en-US" altLang="zh-CN" dirty="0"/>
              <a:t>python/C++/C#/Java</a:t>
            </a:r>
            <a:r>
              <a:rPr lang="zh-CN" altLang="en-US" dirty="0"/>
              <a:t>中的类</a:t>
            </a:r>
            <a:endParaRPr lang="en-US" altLang="zh-CN" dirty="0"/>
          </a:p>
          <a:p>
            <a:pPr lvl="2"/>
            <a:r>
              <a:rPr lang="zh-CN" altLang="en-US" dirty="0"/>
              <a:t>单元测试要测试</a:t>
            </a:r>
            <a:r>
              <a:rPr lang="en-US" altLang="zh-CN" dirty="0"/>
              <a:t>API</a:t>
            </a:r>
            <a:r>
              <a:rPr lang="zh-CN" altLang="en-US" dirty="0"/>
              <a:t>中的每一个方法及每一个参数</a:t>
            </a:r>
            <a:endParaRPr lang="en-US" altLang="zh-CN" dirty="0"/>
          </a:p>
          <a:p>
            <a:pPr lvl="2"/>
            <a:endParaRPr lang="en-US" altLang="zh-CN" dirty="0"/>
          </a:p>
          <a:p>
            <a:pPr lvl="1"/>
            <a:r>
              <a:rPr lang="zh-CN" altLang="zh-CN" dirty="0"/>
              <a:t>单元测试必须由最熟悉代码的人（程序的作者）来写。</a:t>
            </a:r>
            <a:endParaRPr lang="en-US" altLang="zh-CN" dirty="0"/>
          </a:p>
          <a:p>
            <a:pPr lvl="1"/>
            <a:endParaRPr lang="en-US" altLang="zh-CN" dirty="0"/>
          </a:p>
          <a:p>
            <a:pPr lvl="1"/>
            <a:r>
              <a:rPr lang="zh-CN" altLang="en-US" dirty="0"/>
              <a:t>单元测试过后，机器状态保持不变。</a:t>
            </a:r>
            <a:endParaRPr lang="en-US" altLang="zh-CN" dirty="0"/>
          </a:p>
          <a:p>
            <a:pPr lvl="2"/>
            <a:r>
              <a:rPr lang="zh-CN" altLang="zh-CN" dirty="0"/>
              <a:t>建了临时的文件或目录</a:t>
            </a:r>
            <a:r>
              <a:rPr lang="zh-CN" altLang="en-US" dirty="0"/>
              <a:t>，</a:t>
            </a:r>
            <a:r>
              <a:rPr lang="zh-CN" altLang="zh-CN" dirty="0"/>
              <a:t>在数据库中创建或修改了记录</a:t>
            </a:r>
            <a:r>
              <a:rPr lang="zh-CN" altLang="en-US" dirty="0"/>
              <a:t>，销毁</a:t>
            </a:r>
            <a:endParaRPr lang="en-US" altLang="zh-CN" dirty="0"/>
          </a:p>
          <a:p>
            <a:pPr lvl="2"/>
            <a:endParaRPr lang="en-US" altLang="zh-CN" dirty="0"/>
          </a:p>
          <a:p>
            <a:endParaRPr lang="en-US" altLang="zh-CN" dirty="0"/>
          </a:p>
          <a:p>
            <a:endParaRPr lang="en-US" altLang="zh-CN" dirty="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简单版单元测试</a:t>
            </a:r>
            <a:endParaRPr lang="en-US" dirty="0"/>
          </a:p>
        </p:txBody>
      </p:sp>
      <p:sp>
        <p:nvSpPr>
          <p:cNvPr id="3" name="内容占位符 2"/>
          <p:cNvSpPr>
            <a:spLocks noGrp="1"/>
          </p:cNvSpPr>
          <p:nvPr>
            <p:ph idx="1"/>
          </p:nvPr>
        </p:nvSpPr>
        <p:spPr/>
        <p:txBody>
          <a:bodyPr>
            <a:normAutofit/>
          </a:bodyPr>
          <a:lstStyle/>
          <a:p>
            <a:pPr marL="118745" indent="0">
              <a:buNone/>
            </a:pPr>
            <a:r>
              <a:rPr lang="zh-CN" altLang="en-US" dirty="0"/>
              <a:t>要写多少测试用例才够呢？</a:t>
            </a:r>
            <a:endParaRPr lang="en-US" altLang="zh-CN" dirty="0"/>
          </a:p>
          <a:p>
            <a:r>
              <a:rPr lang="en-US" altLang="zh-CN" dirty="0"/>
              <a:t>Right-BICEP</a:t>
            </a:r>
            <a:r>
              <a:rPr lang="zh-CN" altLang="en-US" dirty="0"/>
              <a:t>方法：</a:t>
            </a:r>
            <a:endParaRPr lang="en-US" altLang="zh-CN" dirty="0"/>
          </a:p>
          <a:p>
            <a:pPr lvl="1"/>
            <a:r>
              <a:rPr lang="en-US" altLang="zh-CN" b="1" dirty="0"/>
              <a:t>Right</a:t>
            </a:r>
            <a:r>
              <a:rPr lang="zh-CN" altLang="en-US" dirty="0"/>
              <a:t>－结果是否正确？</a:t>
            </a:r>
            <a:endParaRPr lang="en-US" altLang="zh-CN" dirty="0"/>
          </a:p>
          <a:p>
            <a:pPr lvl="1"/>
            <a:r>
              <a:rPr lang="en-US" altLang="zh-CN" b="1" dirty="0"/>
              <a:t>B</a:t>
            </a:r>
            <a:r>
              <a:rPr lang="en-US" altLang="zh-CN" dirty="0"/>
              <a:t>order Condition</a:t>
            </a:r>
            <a:r>
              <a:rPr lang="zh-CN" altLang="en-US" dirty="0"/>
              <a:t>－是否所有的边界条件都是正确的</a:t>
            </a:r>
            <a:r>
              <a:rPr lang="en-US" altLang="zh-CN" dirty="0"/>
              <a:t>?</a:t>
            </a:r>
          </a:p>
          <a:p>
            <a:pPr lvl="1"/>
            <a:r>
              <a:rPr lang="en-US" altLang="zh-CN" b="1" dirty="0"/>
              <a:t>I</a:t>
            </a:r>
            <a:r>
              <a:rPr lang="en-US" altLang="zh-CN" dirty="0"/>
              <a:t>nverse Relation: </a:t>
            </a:r>
            <a:r>
              <a:rPr lang="zh-CN" altLang="en-US" dirty="0"/>
              <a:t>能查一下反向关联吗？</a:t>
            </a:r>
            <a:endParaRPr lang="en-US" altLang="zh-CN" dirty="0"/>
          </a:p>
          <a:p>
            <a:pPr lvl="1"/>
            <a:r>
              <a:rPr lang="en-US" altLang="zh-CN" b="1" dirty="0"/>
              <a:t>C</a:t>
            </a:r>
            <a:r>
              <a:rPr lang="en-US" altLang="zh-CN" dirty="0"/>
              <a:t>ross check: </a:t>
            </a:r>
            <a:r>
              <a:rPr lang="zh-CN" altLang="en-US" dirty="0"/>
              <a:t>能用其他手段交叉检查一下结果吗？</a:t>
            </a:r>
            <a:endParaRPr lang="en-US" altLang="zh-CN" dirty="0"/>
          </a:p>
          <a:p>
            <a:pPr lvl="1"/>
            <a:r>
              <a:rPr lang="en-US" altLang="zh-CN" b="1" dirty="0"/>
              <a:t>E</a:t>
            </a:r>
            <a:r>
              <a:rPr lang="en-US" altLang="zh-CN" dirty="0"/>
              <a:t>rror</a:t>
            </a:r>
            <a:r>
              <a:rPr lang="zh-CN" altLang="en-US" dirty="0"/>
              <a:t>－你是否可以强制错误条件发生？</a:t>
            </a:r>
            <a:endParaRPr lang="en-US" altLang="zh-CN" dirty="0"/>
          </a:p>
          <a:p>
            <a:pPr lvl="1"/>
            <a:r>
              <a:rPr lang="en-US" altLang="zh-CN" b="1" dirty="0"/>
              <a:t>P</a:t>
            </a:r>
            <a:r>
              <a:rPr lang="en-US" altLang="zh-CN" dirty="0"/>
              <a:t>erformance</a:t>
            </a:r>
            <a:r>
              <a:rPr lang="zh-CN" altLang="en-US" dirty="0"/>
              <a:t>－是否满足性能要求？</a:t>
            </a:r>
            <a:endParaRPr lang="en-US" altLang="zh-CN" dirty="0"/>
          </a:p>
          <a:p>
            <a:r>
              <a:rPr lang="zh-CN" altLang="en-US" dirty="0"/>
              <a:t>看大部分代码是否被覆盖了</a:t>
            </a:r>
            <a:endParaRPr lang="en-US" altLang="zh-CN" dirty="0"/>
          </a:p>
          <a:p>
            <a:pPr marL="118745" indent="0">
              <a:buNone/>
            </a:pPr>
            <a:endParaRPr lang="zh-CN" altLang="en-US" dirty="0"/>
          </a:p>
        </p:txBody>
      </p:sp>
      <p:pic>
        <p:nvPicPr>
          <p:cNvPr id="5" name="图片 4">
            <a:extLst>
              <a:ext uri="{FF2B5EF4-FFF2-40B4-BE49-F238E27FC236}">
                <a16:creationId xmlns:a16="http://schemas.microsoft.com/office/drawing/2014/main" id="{D302CB19-5996-2B88-2869-75BC33BED3A0}"/>
              </a:ext>
            </a:extLst>
          </p:cNvPr>
          <p:cNvPicPr>
            <a:picLocks noChangeAspect="1"/>
          </p:cNvPicPr>
          <p:nvPr/>
        </p:nvPicPr>
        <p:blipFill>
          <a:blip r:embed="rId3"/>
          <a:stretch>
            <a:fillRect/>
          </a:stretch>
        </p:blipFill>
        <p:spPr>
          <a:xfrm>
            <a:off x="7580809" y="4504287"/>
            <a:ext cx="4124355" cy="1981214"/>
          </a:xfrm>
          <a:prstGeom prst="rect">
            <a:avLst/>
          </a:prstGeom>
        </p:spPr>
      </p:pic>
      <p:pic>
        <p:nvPicPr>
          <p:cNvPr id="7" name="图片 6">
            <a:extLst>
              <a:ext uri="{FF2B5EF4-FFF2-40B4-BE49-F238E27FC236}">
                <a16:creationId xmlns:a16="http://schemas.microsoft.com/office/drawing/2014/main" id="{E2CFECF5-7A3D-587E-51EB-9B6B2AFE4DA2}"/>
              </a:ext>
            </a:extLst>
          </p:cNvPr>
          <p:cNvPicPr>
            <a:picLocks noChangeAspect="1"/>
          </p:cNvPicPr>
          <p:nvPr/>
        </p:nvPicPr>
        <p:blipFill>
          <a:blip r:embed="rId4"/>
          <a:stretch>
            <a:fillRect/>
          </a:stretch>
        </p:blipFill>
        <p:spPr>
          <a:xfrm>
            <a:off x="7829524" y="1363924"/>
            <a:ext cx="3524276" cy="173356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4797" y="167237"/>
            <a:ext cx="2630933" cy="443711"/>
          </a:xfrm>
          <a:prstGeom prst="rect">
            <a:avLst/>
          </a:prstGeom>
        </p:spPr>
        <p:txBody>
          <a:bodyPr vert="horz" wrap="square" lIns="0" tIns="12700" rIns="0" bIns="0" rtlCol="0">
            <a:spAutoFit/>
          </a:bodyPr>
          <a:lstStyle/>
          <a:p>
            <a:pPr marL="12700">
              <a:lnSpc>
                <a:spcPct val="100000"/>
              </a:lnSpc>
              <a:spcBef>
                <a:spcPts val="100"/>
              </a:spcBef>
            </a:pPr>
            <a:r>
              <a:rPr lang="zh-CN" altLang="en-US" dirty="0"/>
              <a:t>完整版单元测试</a:t>
            </a:r>
            <a:endParaRPr dirty="0"/>
          </a:p>
        </p:txBody>
      </p:sp>
      <p:sp>
        <p:nvSpPr>
          <p:cNvPr id="3" name="object 3"/>
          <p:cNvSpPr/>
          <p:nvPr/>
        </p:nvSpPr>
        <p:spPr>
          <a:xfrm>
            <a:off x="3158228" y="1610343"/>
            <a:ext cx="3303270" cy="1620520"/>
          </a:xfrm>
          <a:custGeom>
            <a:avLst/>
            <a:gdLst/>
            <a:ahLst/>
            <a:cxnLst/>
            <a:rect l="l" t="t" r="r" b="b"/>
            <a:pathLst>
              <a:path w="3303270" h="1620520">
                <a:moveTo>
                  <a:pt x="2803928" y="0"/>
                </a:moveTo>
                <a:lnTo>
                  <a:pt x="2805426" y="289239"/>
                </a:lnTo>
                <a:lnTo>
                  <a:pt x="0" y="289239"/>
                </a:lnTo>
                <a:lnTo>
                  <a:pt x="0" y="1275013"/>
                </a:lnTo>
                <a:lnTo>
                  <a:pt x="2005587" y="1275013"/>
                </a:lnTo>
                <a:lnTo>
                  <a:pt x="2324624" y="1620330"/>
                </a:lnTo>
                <a:lnTo>
                  <a:pt x="2377047" y="1542117"/>
                </a:lnTo>
                <a:lnTo>
                  <a:pt x="2433965" y="1469807"/>
                </a:lnTo>
                <a:lnTo>
                  <a:pt x="2495376" y="1398974"/>
                </a:lnTo>
                <a:lnTo>
                  <a:pt x="2562778" y="1336995"/>
                </a:lnTo>
                <a:lnTo>
                  <a:pt x="2627185" y="1286819"/>
                </a:lnTo>
                <a:lnTo>
                  <a:pt x="2696084" y="1246976"/>
                </a:lnTo>
                <a:lnTo>
                  <a:pt x="2770976" y="1213034"/>
                </a:lnTo>
                <a:lnTo>
                  <a:pt x="2845868" y="1184996"/>
                </a:lnTo>
                <a:lnTo>
                  <a:pt x="2925251" y="1165811"/>
                </a:lnTo>
                <a:lnTo>
                  <a:pt x="3106997" y="1165811"/>
                </a:lnTo>
                <a:lnTo>
                  <a:pt x="3302703" y="695059"/>
                </a:lnTo>
                <a:lnTo>
                  <a:pt x="2803928" y="0"/>
                </a:lnTo>
                <a:close/>
              </a:path>
              <a:path w="3303270" h="1620520">
                <a:moveTo>
                  <a:pt x="3106997" y="1165811"/>
                </a:moveTo>
                <a:lnTo>
                  <a:pt x="2925251" y="1165811"/>
                </a:lnTo>
                <a:lnTo>
                  <a:pt x="2970187" y="1494895"/>
                </a:lnTo>
                <a:lnTo>
                  <a:pt x="3106997" y="1165811"/>
                </a:lnTo>
                <a:close/>
              </a:path>
            </a:pathLst>
          </a:custGeom>
          <a:solidFill>
            <a:srgbClr val="78A600">
              <a:alpha val="30198"/>
            </a:srgbClr>
          </a:solidFill>
        </p:spPr>
        <p:txBody>
          <a:bodyPr wrap="square" lIns="0" tIns="0" rIns="0" bIns="0" rtlCol="0"/>
          <a:lstStyle/>
          <a:p>
            <a:endParaRPr/>
          </a:p>
        </p:txBody>
      </p:sp>
      <p:sp>
        <p:nvSpPr>
          <p:cNvPr id="4" name="object 4"/>
          <p:cNvSpPr/>
          <p:nvPr/>
        </p:nvSpPr>
        <p:spPr>
          <a:xfrm>
            <a:off x="3158228" y="1610343"/>
            <a:ext cx="3303270" cy="1620520"/>
          </a:xfrm>
          <a:custGeom>
            <a:avLst/>
            <a:gdLst/>
            <a:ahLst/>
            <a:cxnLst/>
            <a:rect l="l" t="t" r="r" b="b"/>
            <a:pathLst>
              <a:path w="3303270" h="1620520">
                <a:moveTo>
                  <a:pt x="0" y="1275014"/>
                </a:moveTo>
                <a:lnTo>
                  <a:pt x="2005587" y="1275014"/>
                </a:lnTo>
                <a:lnTo>
                  <a:pt x="2324623" y="1620331"/>
                </a:lnTo>
                <a:lnTo>
                  <a:pt x="2377047" y="1542118"/>
                </a:lnTo>
                <a:lnTo>
                  <a:pt x="2433965" y="1469808"/>
                </a:lnTo>
                <a:lnTo>
                  <a:pt x="2495375" y="1398974"/>
                </a:lnTo>
                <a:lnTo>
                  <a:pt x="2562778" y="1336994"/>
                </a:lnTo>
                <a:lnTo>
                  <a:pt x="2627185" y="1286820"/>
                </a:lnTo>
                <a:lnTo>
                  <a:pt x="2696084" y="1246976"/>
                </a:lnTo>
                <a:lnTo>
                  <a:pt x="2770976" y="1213034"/>
                </a:lnTo>
                <a:lnTo>
                  <a:pt x="2845867" y="1184996"/>
                </a:lnTo>
                <a:lnTo>
                  <a:pt x="2925251" y="1165811"/>
                </a:lnTo>
                <a:lnTo>
                  <a:pt x="2970186" y="1494895"/>
                </a:lnTo>
                <a:lnTo>
                  <a:pt x="3302703" y="695059"/>
                </a:lnTo>
                <a:lnTo>
                  <a:pt x="2803927" y="0"/>
                </a:lnTo>
                <a:lnTo>
                  <a:pt x="2805425" y="289239"/>
                </a:lnTo>
                <a:lnTo>
                  <a:pt x="0" y="289239"/>
                </a:lnTo>
                <a:lnTo>
                  <a:pt x="0" y="1275014"/>
                </a:lnTo>
              </a:path>
            </a:pathLst>
          </a:custGeom>
          <a:ln w="12699">
            <a:solidFill>
              <a:srgbClr val="000000"/>
            </a:solidFill>
          </a:ln>
        </p:spPr>
        <p:txBody>
          <a:bodyPr wrap="square" lIns="0" tIns="0" rIns="0" bIns="0" rtlCol="0"/>
          <a:lstStyle/>
          <a:p>
            <a:endParaRPr/>
          </a:p>
        </p:txBody>
      </p:sp>
      <p:sp>
        <p:nvSpPr>
          <p:cNvPr id="5" name="object 5"/>
          <p:cNvSpPr txBox="1"/>
          <p:nvPr/>
        </p:nvSpPr>
        <p:spPr>
          <a:xfrm>
            <a:off x="4027097" y="2205582"/>
            <a:ext cx="12446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单元测试</a:t>
            </a:r>
            <a:endParaRPr sz="2400">
              <a:latin typeface="微软雅黑" panose="020B0503020204020204" pitchFamily="34" charset="-122"/>
              <a:cs typeface="微软雅黑" panose="020B0503020204020204" pitchFamily="34" charset="-122"/>
            </a:endParaRPr>
          </a:p>
        </p:txBody>
      </p:sp>
      <p:sp>
        <p:nvSpPr>
          <p:cNvPr id="6" name="object 6"/>
          <p:cNvSpPr/>
          <p:nvPr/>
        </p:nvSpPr>
        <p:spPr>
          <a:xfrm>
            <a:off x="6217503" y="1880398"/>
            <a:ext cx="1706880" cy="1418590"/>
          </a:xfrm>
          <a:custGeom>
            <a:avLst/>
            <a:gdLst/>
            <a:ahLst/>
            <a:cxnLst/>
            <a:rect l="l" t="t" r="r" b="b"/>
            <a:pathLst>
              <a:path w="1706879" h="1418589">
                <a:moveTo>
                  <a:pt x="0" y="0"/>
                </a:moveTo>
                <a:lnTo>
                  <a:pt x="323488" y="408771"/>
                </a:lnTo>
                <a:lnTo>
                  <a:pt x="123233" y="886901"/>
                </a:lnTo>
                <a:lnTo>
                  <a:pt x="206415" y="906086"/>
                </a:lnTo>
                <a:lnTo>
                  <a:pt x="286518" y="931172"/>
                </a:lnTo>
                <a:lnTo>
                  <a:pt x="363538" y="965114"/>
                </a:lnTo>
                <a:lnTo>
                  <a:pt x="435938" y="1004958"/>
                </a:lnTo>
                <a:lnTo>
                  <a:pt x="505258" y="1055132"/>
                </a:lnTo>
                <a:lnTo>
                  <a:pt x="569955" y="1109733"/>
                </a:lnTo>
                <a:lnTo>
                  <a:pt x="628491" y="1168761"/>
                </a:lnTo>
                <a:lnTo>
                  <a:pt x="687026" y="1235168"/>
                </a:lnTo>
                <a:lnTo>
                  <a:pt x="378942" y="1415206"/>
                </a:lnTo>
                <a:lnTo>
                  <a:pt x="1292412" y="1418158"/>
                </a:lnTo>
                <a:lnTo>
                  <a:pt x="1438752" y="1159908"/>
                </a:lnTo>
                <a:lnTo>
                  <a:pt x="1575850" y="901659"/>
                </a:lnTo>
                <a:lnTo>
                  <a:pt x="1627649" y="795407"/>
                </a:lnTo>
                <a:lnTo>
                  <a:pt x="1432590" y="795407"/>
                </a:lnTo>
                <a:lnTo>
                  <a:pt x="1363271" y="695059"/>
                </a:lnTo>
                <a:lnTo>
                  <a:pt x="1289331" y="599137"/>
                </a:lnTo>
                <a:lnTo>
                  <a:pt x="1206149" y="507644"/>
                </a:lnTo>
                <a:lnTo>
                  <a:pt x="1115264" y="423528"/>
                </a:lnTo>
                <a:lnTo>
                  <a:pt x="1021298" y="346791"/>
                </a:lnTo>
                <a:lnTo>
                  <a:pt x="921170" y="277432"/>
                </a:lnTo>
                <a:lnTo>
                  <a:pt x="816423" y="213977"/>
                </a:lnTo>
                <a:lnTo>
                  <a:pt x="708592" y="157900"/>
                </a:lnTo>
                <a:lnTo>
                  <a:pt x="596143" y="110677"/>
                </a:lnTo>
                <a:lnTo>
                  <a:pt x="479070" y="70834"/>
                </a:lnTo>
                <a:lnTo>
                  <a:pt x="363538" y="39843"/>
                </a:lnTo>
                <a:lnTo>
                  <a:pt x="243386" y="17707"/>
                </a:lnTo>
                <a:lnTo>
                  <a:pt x="121692" y="2951"/>
                </a:lnTo>
                <a:lnTo>
                  <a:pt x="0" y="0"/>
                </a:lnTo>
                <a:close/>
              </a:path>
              <a:path w="1706879" h="1418589">
                <a:moveTo>
                  <a:pt x="1706786" y="633079"/>
                </a:moveTo>
                <a:lnTo>
                  <a:pt x="1432590" y="795407"/>
                </a:lnTo>
                <a:lnTo>
                  <a:pt x="1627649" y="795407"/>
                </a:lnTo>
                <a:lnTo>
                  <a:pt x="1706786" y="633079"/>
                </a:lnTo>
                <a:close/>
              </a:path>
            </a:pathLst>
          </a:custGeom>
          <a:solidFill>
            <a:srgbClr val="78A600">
              <a:alpha val="30198"/>
            </a:srgbClr>
          </a:solidFill>
        </p:spPr>
        <p:txBody>
          <a:bodyPr wrap="square" lIns="0" tIns="0" rIns="0" bIns="0" rtlCol="0"/>
          <a:lstStyle/>
          <a:p>
            <a:endParaRPr/>
          </a:p>
        </p:txBody>
      </p:sp>
      <p:sp>
        <p:nvSpPr>
          <p:cNvPr id="7" name="object 7"/>
          <p:cNvSpPr/>
          <p:nvPr/>
        </p:nvSpPr>
        <p:spPr>
          <a:xfrm>
            <a:off x="6217503" y="1880398"/>
            <a:ext cx="1706880" cy="1418590"/>
          </a:xfrm>
          <a:custGeom>
            <a:avLst/>
            <a:gdLst/>
            <a:ahLst/>
            <a:cxnLst/>
            <a:rect l="l" t="t" r="r" b="b"/>
            <a:pathLst>
              <a:path w="1706879" h="1418589">
                <a:moveTo>
                  <a:pt x="378943" y="1415206"/>
                </a:moveTo>
                <a:lnTo>
                  <a:pt x="1292412" y="1418157"/>
                </a:lnTo>
                <a:lnTo>
                  <a:pt x="1438752" y="1159908"/>
                </a:lnTo>
                <a:lnTo>
                  <a:pt x="1575850" y="901659"/>
                </a:lnTo>
                <a:lnTo>
                  <a:pt x="1706785" y="633079"/>
                </a:lnTo>
                <a:lnTo>
                  <a:pt x="1432591" y="795407"/>
                </a:lnTo>
                <a:lnTo>
                  <a:pt x="1363271" y="695059"/>
                </a:lnTo>
                <a:lnTo>
                  <a:pt x="1289332" y="599138"/>
                </a:lnTo>
                <a:lnTo>
                  <a:pt x="1206148" y="507644"/>
                </a:lnTo>
                <a:lnTo>
                  <a:pt x="1115264" y="423528"/>
                </a:lnTo>
                <a:lnTo>
                  <a:pt x="1021298" y="346791"/>
                </a:lnTo>
                <a:lnTo>
                  <a:pt x="921171" y="277433"/>
                </a:lnTo>
                <a:lnTo>
                  <a:pt x="816423" y="213978"/>
                </a:lnTo>
                <a:lnTo>
                  <a:pt x="708593" y="157901"/>
                </a:lnTo>
                <a:lnTo>
                  <a:pt x="596143" y="110678"/>
                </a:lnTo>
                <a:lnTo>
                  <a:pt x="479071" y="70834"/>
                </a:lnTo>
                <a:lnTo>
                  <a:pt x="363539" y="39844"/>
                </a:lnTo>
                <a:lnTo>
                  <a:pt x="243386" y="17708"/>
                </a:lnTo>
                <a:lnTo>
                  <a:pt x="121693" y="2951"/>
                </a:lnTo>
                <a:lnTo>
                  <a:pt x="0" y="0"/>
                </a:lnTo>
                <a:lnTo>
                  <a:pt x="323488" y="408771"/>
                </a:lnTo>
                <a:lnTo>
                  <a:pt x="123233" y="886901"/>
                </a:lnTo>
                <a:lnTo>
                  <a:pt x="206416" y="906086"/>
                </a:lnTo>
                <a:lnTo>
                  <a:pt x="286518" y="931173"/>
                </a:lnTo>
                <a:lnTo>
                  <a:pt x="363539" y="965114"/>
                </a:lnTo>
                <a:lnTo>
                  <a:pt x="435938" y="1004959"/>
                </a:lnTo>
                <a:lnTo>
                  <a:pt x="505257" y="1055133"/>
                </a:lnTo>
                <a:lnTo>
                  <a:pt x="569955" y="1109734"/>
                </a:lnTo>
                <a:lnTo>
                  <a:pt x="628491" y="1168762"/>
                </a:lnTo>
                <a:lnTo>
                  <a:pt x="687027" y="1235169"/>
                </a:lnTo>
                <a:lnTo>
                  <a:pt x="378943" y="1415206"/>
                </a:lnTo>
              </a:path>
            </a:pathLst>
          </a:custGeom>
          <a:ln w="12699">
            <a:solidFill>
              <a:srgbClr val="000000"/>
            </a:solidFill>
          </a:ln>
        </p:spPr>
        <p:txBody>
          <a:bodyPr wrap="square" lIns="0" tIns="0" rIns="0" bIns="0" rtlCol="0"/>
          <a:lstStyle/>
          <a:p>
            <a:endParaRPr/>
          </a:p>
        </p:txBody>
      </p:sp>
      <p:sp>
        <p:nvSpPr>
          <p:cNvPr id="8" name="object 8"/>
          <p:cNvSpPr txBox="1"/>
          <p:nvPr/>
        </p:nvSpPr>
        <p:spPr>
          <a:xfrm>
            <a:off x="6673032" y="2320339"/>
            <a:ext cx="757555"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微软雅黑" panose="020B0503020204020204" pitchFamily="34" charset="-122"/>
                <a:cs typeface="微软雅黑" panose="020B0503020204020204" pitchFamily="34" charset="-122"/>
              </a:rPr>
              <a:t>模块</a:t>
            </a:r>
            <a:endParaRPr sz="1800">
              <a:latin typeface="微软雅黑" panose="020B0503020204020204" pitchFamily="34" charset="-122"/>
              <a:cs typeface="微软雅黑" panose="020B0503020204020204" pitchFamily="34" charset="-122"/>
            </a:endParaRPr>
          </a:p>
          <a:p>
            <a:pPr marL="287020">
              <a:lnSpc>
                <a:spcPts val="2130"/>
              </a:lnSpc>
            </a:pPr>
            <a:r>
              <a:rPr sz="1800" dirty="0">
                <a:latin typeface="微软雅黑" panose="020B0503020204020204" pitchFamily="34" charset="-122"/>
                <a:cs typeface="微软雅黑" panose="020B0503020204020204" pitchFamily="34" charset="-122"/>
              </a:rPr>
              <a:t>接口</a:t>
            </a:r>
            <a:endParaRPr sz="1800">
              <a:latin typeface="微软雅黑" panose="020B0503020204020204" pitchFamily="34" charset="-122"/>
              <a:cs typeface="微软雅黑" panose="020B0503020204020204" pitchFamily="34" charset="-122"/>
            </a:endParaRPr>
          </a:p>
        </p:txBody>
      </p:sp>
      <p:sp>
        <p:nvSpPr>
          <p:cNvPr id="9" name="object 9"/>
          <p:cNvSpPr/>
          <p:nvPr/>
        </p:nvSpPr>
        <p:spPr>
          <a:xfrm>
            <a:off x="6701197" y="2925202"/>
            <a:ext cx="1311275" cy="1706245"/>
          </a:xfrm>
          <a:custGeom>
            <a:avLst/>
            <a:gdLst/>
            <a:ahLst/>
            <a:cxnLst/>
            <a:rect l="l" t="t" r="r" b="b"/>
            <a:pathLst>
              <a:path w="1311275" h="1706245">
                <a:moveTo>
                  <a:pt x="0" y="926746"/>
                </a:moveTo>
                <a:lnTo>
                  <a:pt x="405130" y="1705922"/>
                </a:lnTo>
                <a:lnTo>
                  <a:pt x="1310896" y="1686737"/>
                </a:lnTo>
                <a:lnTo>
                  <a:pt x="1028999" y="1522933"/>
                </a:lnTo>
                <a:lnTo>
                  <a:pt x="1082915" y="1413730"/>
                </a:lnTo>
                <a:lnTo>
                  <a:pt x="1129127" y="1301577"/>
                </a:lnTo>
                <a:lnTo>
                  <a:pt x="1167638" y="1186472"/>
                </a:lnTo>
                <a:lnTo>
                  <a:pt x="1190269" y="1083171"/>
                </a:lnTo>
                <a:lnTo>
                  <a:pt x="278815" y="1083171"/>
                </a:lnTo>
                <a:lnTo>
                  <a:pt x="0" y="926746"/>
                </a:lnTo>
                <a:close/>
              </a:path>
              <a:path w="1311275" h="1706245">
                <a:moveTo>
                  <a:pt x="320407" y="429431"/>
                </a:moveTo>
                <a:lnTo>
                  <a:pt x="341972" y="509120"/>
                </a:lnTo>
                <a:lnTo>
                  <a:pt x="355836" y="593236"/>
                </a:lnTo>
                <a:lnTo>
                  <a:pt x="361998" y="677350"/>
                </a:lnTo>
                <a:lnTo>
                  <a:pt x="360457" y="758515"/>
                </a:lnTo>
                <a:lnTo>
                  <a:pt x="352755" y="842631"/>
                </a:lnTo>
                <a:lnTo>
                  <a:pt x="334270" y="925271"/>
                </a:lnTo>
                <a:lnTo>
                  <a:pt x="312704" y="1007910"/>
                </a:lnTo>
                <a:lnTo>
                  <a:pt x="278815" y="1083171"/>
                </a:lnTo>
                <a:lnTo>
                  <a:pt x="1190269" y="1083171"/>
                </a:lnTo>
                <a:lnTo>
                  <a:pt x="1193825" y="1066939"/>
                </a:lnTo>
                <a:lnTo>
                  <a:pt x="1216931" y="947406"/>
                </a:lnTo>
                <a:lnTo>
                  <a:pt x="1229254" y="827873"/>
                </a:lnTo>
                <a:lnTo>
                  <a:pt x="1233876" y="705389"/>
                </a:lnTo>
                <a:lnTo>
                  <a:pt x="1229254" y="582905"/>
                </a:lnTo>
                <a:lnTo>
                  <a:pt x="1215390" y="463373"/>
                </a:lnTo>
                <a:lnTo>
                  <a:pt x="1210597" y="436810"/>
                </a:lnTo>
                <a:lnTo>
                  <a:pt x="839528" y="436810"/>
                </a:lnTo>
                <a:lnTo>
                  <a:pt x="320407" y="429431"/>
                </a:lnTo>
                <a:close/>
              </a:path>
              <a:path w="1311275" h="1706245">
                <a:moveTo>
                  <a:pt x="1079834" y="0"/>
                </a:moveTo>
                <a:lnTo>
                  <a:pt x="839528" y="436810"/>
                </a:lnTo>
                <a:lnTo>
                  <a:pt x="1210597" y="436810"/>
                </a:lnTo>
                <a:lnTo>
                  <a:pt x="1193825" y="343841"/>
                </a:lnTo>
                <a:lnTo>
                  <a:pt x="1164556" y="225784"/>
                </a:lnTo>
                <a:lnTo>
                  <a:pt x="1124506" y="110677"/>
                </a:lnTo>
                <a:lnTo>
                  <a:pt x="1079834" y="0"/>
                </a:lnTo>
                <a:close/>
              </a:path>
            </a:pathLst>
          </a:custGeom>
          <a:solidFill>
            <a:srgbClr val="78A600">
              <a:alpha val="30198"/>
            </a:srgbClr>
          </a:solidFill>
        </p:spPr>
        <p:txBody>
          <a:bodyPr wrap="square" lIns="0" tIns="0" rIns="0" bIns="0" rtlCol="0"/>
          <a:lstStyle/>
          <a:p>
            <a:endParaRPr/>
          </a:p>
        </p:txBody>
      </p:sp>
      <p:sp>
        <p:nvSpPr>
          <p:cNvPr id="10" name="object 10"/>
          <p:cNvSpPr/>
          <p:nvPr/>
        </p:nvSpPr>
        <p:spPr>
          <a:xfrm>
            <a:off x="6701197" y="2925202"/>
            <a:ext cx="1311275" cy="1706245"/>
          </a:xfrm>
          <a:custGeom>
            <a:avLst/>
            <a:gdLst/>
            <a:ahLst/>
            <a:cxnLst/>
            <a:rect l="l" t="t" r="r" b="b"/>
            <a:pathLst>
              <a:path w="1311275" h="1706245">
                <a:moveTo>
                  <a:pt x="405130" y="1705921"/>
                </a:moveTo>
                <a:lnTo>
                  <a:pt x="1310897" y="1686737"/>
                </a:lnTo>
                <a:lnTo>
                  <a:pt x="1029000" y="1522933"/>
                </a:lnTo>
                <a:lnTo>
                  <a:pt x="1082914" y="1413731"/>
                </a:lnTo>
                <a:lnTo>
                  <a:pt x="1129127" y="1301577"/>
                </a:lnTo>
                <a:lnTo>
                  <a:pt x="1167637" y="1186471"/>
                </a:lnTo>
                <a:lnTo>
                  <a:pt x="1193825" y="1066938"/>
                </a:lnTo>
                <a:lnTo>
                  <a:pt x="1216931" y="947406"/>
                </a:lnTo>
                <a:lnTo>
                  <a:pt x="1229254" y="827873"/>
                </a:lnTo>
                <a:lnTo>
                  <a:pt x="1233876" y="705389"/>
                </a:lnTo>
                <a:lnTo>
                  <a:pt x="1229254" y="582905"/>
                </a:lnTo>
                <a:lnTo>
                  <a:pt x="1215390" y="463373"/>
                </a:lnTo>
                <a:lnTo>
                  <a:pt x="1193825" y="343840"/>
                </a:lnTo>
                <a:lnTo>
                  <a:pt x="1164557" y="225783"/>
                </a:lnTo>
                <a:lnTo>
                  <a:pt x="1124506" y="110678"/>
                </a:lnTo>
                <a:lnTo>
                  <a:pt x="1079833" y="0"/>
                </a:lnTo>
                <a:lnTo>
                  <a:pt x="839528" y="436810"/>
                </a:lnTo>
                <a:lnTo>
                  <a:pt x="320407" y="429431"/>
                </a:lnTo>
                <a:lnTo>
                  <a:pt x="341972" y="509120"/>
                </a:lnTo>
                <a:lnTo>
                  <a:pt x="355837" y="593235"/>
                </a:lnTo>
                <a:lnTo>
                  <a:pt x="361998" y="677351"/>
                </a:lnTo>
                <a:lnTo>
                  <a:pt x="360458" y="758515"/>
                </a:lnTo>
                <a:lnTo>
                  <a:pt x="352755" y="842630"/>
                </a:lnTo>
                <a:lnTo>
                  <a:pt x="334270" y="925270"/>
                </a:lnTo>
                <a:lnTo>
                  <a:pt x="312704" y="1007910"/>
                </a:lnTo>
                <a:lnTo>
                  <a:pt x="278816" y="1083171"/>
                </a:lnTo>
                <a:lnTo>
                  <a:pt x="0" y="926746"/>
                </a:lnTo>
                <a:lnTo>
                  <a:pt x="405130" y="1705921"/>
                </a:lnTo>
              </a:path>
            </a:pathLst>
          </a:custGeom>
          <a:ln w="12699">
            <a:solidFill>
              <a:srgbClr val="000000"/>
            </a:solidFill>
          </a:ln>
        </p:spPr>
        <p:txBody>
          <a:bodyPr wrap="square" lIns="0" tIns="0" rIns="0" bIns="0" rtlCol="0"/>
          <a:lstStyle/>
          <a:p>
            <a:endParaRPr/>
          </a:p>
        </p:txBody>
      </p:sp>
      <p:sp>
        <p:nvSpPr>
          <p:cNvPr id="11" name="object 11"/>
          <p:cNvSpPr txBox="1"/>
          <p:nvPr/>
        </p:nvSpPr>
        <p:spPr>
          <a:xfrm>
            <a:off x="7187010" y="3504093"/>
            <a:ext cx="482600" cy="845819"/>
          </a:xfrm>
          <a:prstGeom prst="rect">
            <a:avLst/>
          </a:prstGeom>
        </p:spPr>
        <p:txBody>
          <a:bodyPr vert="horz" wrap="square" lIns="0" tIns="13970" rIns="0" bIns="0" rtlCol="0">
            <a:spAutoFit/>
          </a:bodyPr>
          <a:lstStyle/>
          <a:p>
            <a:pPr marL="12700" marR="5080" algn="just">
              <a:lnSpc>
                <a:spcPct val="100000"/>
              </a:lnSpc>
              <a:spcBef>
                <a:spcPts val="110"/>
              </a:spcBef>
            </a:pPr>
            <a:r>
              <a:rPr sz="1800" dirty="0">
                <a:latin typeface="微软雅黑" panose="020B0503020204020204" pitchFamily="34" charset="-122"/>
                <a:cs typeface="微软雅黑" panose="020B0503020204020204" pitchFamily="34" charset="-122"/>
              </a:rPr>
              <a:t>局部 数据 结构</a:t>
            </a:r>
            <a:endParaRPr sz="1800">
              <a:latin typeface="微软雅黑" panose="020B0503020204020204" pitchFamily="34" charset="-122"/>
              <a:cs typeface="微软雅黑" panose="020B0503020204020204" pitchFamily="34" charset="-122"/>
            </a:endParaRPr>
          </a:p>
        </p:txBody>
      </p:sp>
      <p:sp>
        <p:nvSpPr>
          <p:cNvPr id="12" name="object 12"/>
          <p:cNvSpPr/>
          <p:nvPr/>
        </p:nvSpPr>
        <p:spPr>
          <a:xfrm>
            <a:off x="5880150" y="4179557"/>
            <a:ext cx="1716405" cy="1561465"/>
          </a:xfrm>
          <a:custGeom>
            <a:avLst/>
            <a:gdLst/>
            <a:ahLst/>
            <a:cxnLst/>
            <a:rect l="l" t="t" r="r" b="b"/>
            <a:pathLst>
              <a:path w="1716404" h="1561464">
                <a:moveTo>
                  <a:pt x="429778" y="0"/>
                </a:moveTo>
                <a:lnTo>
                  <a:pt x="0" y="780651"/>
                </a:lnTo>
                <a:lnTo>
                  <a:pt x="429778" y="1561301"/>
                </a:lnTo>
                <a:lnTo>
                  <a:pt x="429778" y="1202703"/>
                </a:lnTo>
                <a:lnTo>
                  <a:pt x="543768" y="1192373"/>
                </a:lnTo>
                <a:lnTo>
                  <a:pt x="660840" y="1173190"/>
                </a:lnTo>
                <a:lnTo>
                  <a:pt x="773291" y="1146627"/>
                </a:lnTo>
                <a:lnTo>
                  <a:pt x="882661" y="1112686"/>
                </a:lnTo>
                <a:lnTo>
                  <a:pt x="990490" y="1071365"/>
                </a:lnTo>
                <a:lnTo>
                  <a:pt x="1096779" y="1022667"/>
                </a:lnTo>
                <a:lnTo>
                  <a:pt x="1198446" y="966590"/>
                </a:lnTo>
                <a:lnTo>
                  <a:pt x="1298575" y="904610"/>
                </a:lnTo>
                <a:lnTo>
                  <a:pt x="1480343" y="757039"/>
                </a:lnTo>
                <a:lnTo>
                  <a:pt x="1563527" y="672923"/>
                </a:lnTo>
                <a:lnTo>
                  <a:pt x="1645169" y="582905"/>
                </a:lnTo>
                <a:lnTo>
                  <a:pt x="1694313" y="519450"/>
                </a:lnTo>
                <a:lnTo>
                  <a:pt x="1195365" y="519450"/>
                </a:lnTo>
                <a:lnTo>
                  <a:pt x="1096915" y="324656"/>
                </a:lnTo>
                <a:lnTo>
                  <a:pt x="429778" y="324656"/>
                </a:lnTo>
                <a:lnTo>
                  <a:pt x="429778" y="0"/>
                </a:lnTo>
                <a:close/>
              </a:path>
              <a:path w="1716404" h="1561464">
                <a:moveTo>
                  <a:pt x="1716029" y="491411"/>
                </a:moveTo>
                <a:lnTo>
                  <a:pt x="1195365" y="519450"/>
                </a:lnTo>
                <a:lnTo>
                  <a:pt x="1694313" y="519450"/>
                </a:lnTo>
                <a:lnTo>
                  <a:pt x="1716029" y="491411"/>
                </a:lnTo>
                <a:close/>
              </a:path>
              <a:path w="1716404" h="1561464">
                <a:moveTo>
                  <a:pt x="959681" y="53125"/>
                </a:moveTo>
                <a:lnTo>
                  <a:pt x="910389" y="101823"/>
                </a:lnTo>
                <a:lnTo>
                  <a:pt x="858014" y="144619"/>
                </a:lnTo>
                <a:lnTo>
                  <a:pt x="794857" y="188890"/>
                </a:lnTo>
                <a:lnTo>
                  <a:pt x="727078" y="231686"/>
                </a:lnTo>
                <a:lnTo>
                  <a:pt x="654678" y="262676"/>
                </a:lnTo>
                <a:lnTo>
                  <a:pt x="583820" y="290714"/>
                </a:lnTo>
                <a:lnTo>
                  <a:pt x="508339" y="311374"/>
                </a:lnTo>
                <a:lnTo>
                  <a:pt x="429778" y="324656"/>
                </a:lnTo>
                <a:lnTo>
                  <a:pt x="1096915" y="324656"/>
                </a:lnTo>
                <a:lnTo>
                  <a:pt x="959681" y="53125"/>
                </a:lnTo>
                <a:close/>
              </a:path>
            </a:pathLst>
          </a:custGeom>
          <a:solidFill>
            <a:srgbClr val="78A600">
              <a:alpha val="30198"/>
            </a:srgbClr>
          </a:solidFill>
        </p:spPr>
        <p:txBody>
          <a:bodyPr wrap="square" lIns="0" tIns="0" rIns="0" bIns="0" rtlCol="0"/>
          <a:lstStyle/>
          <a:p>
            <a:endParaRPr/>
          </a:p>
        </p:txBody>
      </p:sp>
      <p:sp>
        <p:nvSpPr>
          <p:cNvPr id="13" name="object 13"/>
          <p:cNvSpPr/>
          <p:nvPr/>
        </p:nvSpPr>
        <p:spPr>
          <a:xfrm>
            <a:off x="5880150" y="4179557"/>
            <a:ext cx="1716405" cy="1561465"/>
          </a:xfrm>
          <a:custGeom>
            <a:avLst/>
            <a:gdLst/>
            <a:ahLst/>
            <a:cxnLst/>
            <a:rect l="l" t="t" r="r" b="b"/>
            <a:pathLst>
              <a:path w="1716404" h="1561464">
                <a:moveTo>
                  <a:pt x="0" y="780650"/>
                </a:moveTo>
                <a:lnTo>
                  <a:pt x="429777" y="1561301"/>
                </a:lnTo>
                <a:lnTo>
                  <a:pt x="429777" y="1202704"/>
                </a:lnTo>
                <a:lnTo>
                  <a:pt x="543768" y="1192374"/>
                </a:lnTo>
                <a:lnTo>
                  <a:pt x="660840" y="1173189"/>
                </a:lnTo>
                <a:lnTo>
                  <a:pt x="773290" y="1146627"/>
                </a:lnTo>
                <a:lnTo>
                  <a:pt x="882660" y="1112685"/>
                </a:lnTo>
                <a:lnTo>
                  <a:pt x="990490" y="1071365"/>
                </a:lnTo>
                <a:lnTo>
                  <a:pt x="1096779" y="1022667"/>
                </a:lnTo>
                <a:lnTo>
                  <a:pt x="1198446" y="966590"/>
                </a:lnTo>
                <a:lnTo>
                  <a:pt x="1298573" y="904610"/>
                </a:lnTo>
                <a:lnTo>
                  <a:pt x="1387918" y="832300"/>
                </a:lnTo>
                <a:lnTo>
                  <a:pt x="1480343" y="757039"/>
                </a:lnTo>
                <a:lnTo>
                  <a:pt x="1563526" y="672923"/>
                </a:lnTo>
                <a:lnTo>
                  <a:pt x="1645169" y="582905"/>
                </a:lnTo>
                <a:lnTo>
                  <a:pt x="1716028" y="491411"/>
                </a:lnTo>
                <a:lnTo>
                  <a:pt x="1195365" y="519450"/>
                </a:lnTo>
                <a:lnTo>
                  <a:pt x="959681" y="53125"/>
                </a:lnTo>
                <a:lnTo>
                  <a:pt x="910388" y="101824"/>
                </a:lnTo>
                <a:lnTo>
                  <a:pt x="858014" y="144619"/>
                </a:lnTo>
                <a:lnTo>
                  <a:pt x="794856" y="188890"/>
                </a:lnTo>
                <a:lnTo>
                  <a:pt x="727077" y="231686"/>
                </a:lnTo>
                <a:lnTo>
                  <a:pt x="654678" y="262676"/>
                </a:lnTo>
                <a:lnTo>
                  <a:pt x="583819" y="290714"/>
                </a:lnTo>
                <a:lnTo>
                  <a:pt x="508338" y="311374"/>
                </a:lnTo>
                <a:lnTo>
                  <a:pt x="429777" y="324656"/>
                </a:lnTo>
                <a:lnTo>
                  <a:pt x="429777" y="0"/>
                </a:lnTo>
                <a:lnTo>
                  <a:pt x="0" y="780650"/>
                </a:lnTo>
              </a:path>
            </a:pathLst>
          </a:custGeom>
          <a:ln w="12699">
            <a:solidFill>
              <a:srgbClr val="000000"/>
            </a:solidFill>
          </a:ln>
        </p:spPr>
        <p:txBody>
          <a:bodyPr wrap="square" lIns="0" tIns="0" rIns="0" bIns="0" rtlCol="0"/>
          <a:lstStyle/>
          <a:p>
            <a:endParaRPr/>
          </a:p>
        </p:txBody>
      </p:sp>
      <p:sp>
        <p:nvSpPr>
          <p:cNvPr id="14" name="object 14"/>
          <p:cNvSpPr txBox="1"/>
          <p:nvPr/>
        </p:nvSpPr>
        <p:spPr>
          <a:xfrm>
            <a:off x="6293446" y="4591224"/>
            <a:ext cx="48260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边界 条件</a:t>
            </a:r>
            <a:endParaRPr sz="1800">
              <a:latin typeface="微软雅黑" panose="020B0503020204020204" pitchFamily="34" charset="-122"/>
              <a:cs typeface="微软雅黑" panose="020B0503020204020204" pitchFamily="34" charset="-122"/>
            </a:endParaRPr>
          </a:p>
        </p:txBody>
      </p:sp>
      <p:sp>
        <p:nvSpPr>
          <p:cNvPr id="15" name="object 15"/>
          <p:cNvSpPr/>
          <p:nvPr/>
        </p:nvSpPr>
        <p:spPr>
          <a:xfrm>
            <a:off x="4421372" y="3983287"/>
            <a:ext cx="1633220" cy="1395095"/>
          </a:xfrm>
          <a:custGeom>
            <a:avLst/>
            <a:gdLst/>
            <a:ahLst/>
            <a:cxnLst/>
            <a:rect l="l" t="t" r="r" b="b"/>
            <a:pathLst>
              <a:path w="1633220" h="1395095">
                <a:moveTo>
                  <a:pt x="1595186" y="582905"/>
                </a:moveTo>
                <a:lnTo>
                  <a:pt x="318867" y="582905"/>
                </a:lnTo>
                <a:lnTo>
                  <a:pt x="388185" y="687680"/>
                </a:lnTo>
                <a:lnTo>
                  <a:pt x="465207" y="783602"/>
                </a:lnTo>
                <a:lnTo>
                  <a:pt x="545308" y="873620"/>
                </a:lnTo>
                <a:lnTo>
                  <a:pt x="631572" y="957736"/>
                </a:lnTo>
                <a:lnTo>
                  <a:pt x="725538" y="1037424"/>
                </a:lnTo>
                <a:lnTo>
                  <a:pt x="824124" y="1108259"/>
                </a:lnTo>
                <a:lnTo>
                  <a:pt x="927333" y="1173190"/>
                </a:lnTo>
                <a:lnTo>
                  <a:pt x="1032082" y="1229267"/>
                </a:lnTo>
                <a:lnTo>
                  <a:pt x="1147612" y="1279441"/>
                </a:lnTo>
                <a:lnTo>
                  <a:pt x="1260063" y="1319284"/>
                </a:lnTo>
                <a:lnTo>
                  <a:pt x="1377135" y="1353226"/>
                </a:lnTo>
                <a:lnTo>
                  <a:pt x="1494208" y="1378313"/>
                </a:lnTo>
                <a:lnTo>
                  <a:pt x="1614360" y="1394546"/>
                </a:lnTo>
                <a:lnTo>
                  <a:pt x="1380216" y="987251"/>
                </a:lnTo>
                <a:lnTo>
                  <a:pt x="1595186" y="582905"/>
                </a:lnTo>
                <a:close/>
              </a:path>
              <a:path w="1633220" h="1395095">
                <a:moveTo>
                  <a:pt x="573036" y="0"/>
                </a:moveTo>
                <a:lnTo>
                  <a:pt x="0" y="703914"/>
                </a:lnTo>
                <a:lnTo>
                  <a:pt x="318867" y="582905"/>
                </a:lnTo>
                <a:lnTo>
                  <a:pt x="1595186" y="582905"/>
                </a:lnTo>
                <a:lnTo>
                  <a:pt x="1632845" y="512071"/>
                </a:lnTo>
                <a:lnTo>
                  <a:pt x="1546581" y="492887"/>
                </a:lnTo>
                <a:lnTo>
                  <a:pt x="1464939" y="464847"/>
                </a:lnTo>
                <a:lnTo>
                  <a:pt x="1383297" y="427955"/>
                </a:lnTo>
                <a:lnTo>
                  <a:pt x="1309357" y="383684"/>
                </a:lnTo>
                <a:lnTo>
                  <a:pt x="1235416" y="329083"/>
                </a:lnTo>
                <a:lnTo>
                  <a:pt x="1172259" y="271531"/>
                </a:lnTo>
                <a:lnTo>
                  <a:pt x="1444914" y="166754"/>
                </a:lnTo>
                <a:lnTo>
                  <a:pt x="573036" y="0"/>
                </a:lnTo>
                <a:close/>
              </a:path>
            </a:pathLst>
          </a:custGeom>
          <a:solidFill>
            <a:srgbClr val="78A600">
              <a:alpha val="30198"/>
            </a:srgbClr>
          </a:solidFill>
        </p:spPr>
        <p:txBody>
          <a:bodyPr wrap="square" lIns="0" tIns="0" rIns="0" bIns="0" rtlCol="0"/>
          <a:lstStyle/>
          <a:p>
            <a:endParaRPr/>
          </a:p>
        </p:txBody>
      </p:sp>
      <p:sp>
        <p:nvSpPr>
          <p:cNvPr id="16" name="object 16"/>
          <p:cNvSpPr/>
          <p:nvPr/>
        </p:nvSpPr>
        <p:spPr>
          <a:xfrm>
            <a:off x="4421372" y="3983287"/>
            <a:ext cx="1633220" cy="1395095"/>
          </a:xfrm>
          <a:custGeom>
            <a:avLst/>
            <a:gdLst/>
            <a:ahLst/>
            <a:cxnLst/>
            <a:rect l="l" t="t" r="r" b="b"/>
            <a:pathLst>
              <a:path w="1633220" h="1395095">
                <a:moveTo>
                  <a:pt x="573036" y="0"/>
                </a:moveTo>
                <a:lnTo>
                  <a:pt x="0" y="703914"/>
                </a:lnTo>
                <a:lnTo>
                  <a:pt x="318866" y="582905"/>
                </a:lnTo>
                <a:lnTo>
                  <a:pt x="388185" y="687681"/>
                </a:lnTo>
                <a:lnTo>
                  <a:pt x="465206" y="783602"/>
                </a:lnTo>
                <a:lnTo>
                  <a:pt x="545308" y="873620"/>
                </a:lnTo>
                <a:lnTo>
                  <a:pt x="631572" y="957736"/>
                </a:lnTo>
                <a:lnTo>
                  <a:pt x="725537" y="1037424"/>
                </a:lnTo>
                <a:lnTo>
                  <a:pt x="824124" y="1108258"/>
                </a:lnTo>
                <a:lnTo>
                  <a:pt x="927332" y="1173190"/>
                </a:lnTo>
                <a:lnTo>
                  <a:pt x="1032081" y="1229267"/>
                </a:lnTo>
                <a:lnTo>
                  <a:pt x="1147612" y="1279441"/>
                </a:lnTo>
                <a:lnTo>
                  <a:pt x="1260063" y="1319285"/>
                </a:lnTo>
                <a:lnTo>
                  <a:pt x="1377135" y="1353227"/>
                </a:lnTo>
                <a:lnTo>
                  <a:pt x="1494207" y="1378313"/>
                </a:lnTo>
                <a:lnTo>
                  <a:pt x="1614359" y="1394546"/>
                </a:lnTo>
                <a:lnTo>
                  <a:pt x="1380216" y="987250"/>
                </a:lnTo>
                <a:lnTo>
                  <a:pt x="1632844" y="512071"/>
                </a:lnTo>
                <a:lnTo>
                  <a:pt x="1546581" y="492887"/>
                </a:lnTo>
                <a:lnTo>
                  <a:pt x="1464939" y="464848"/>
                </a:lnTo>
                <a:lnTo>
                  <a:pt x="1383296" y="427956"/>
                </a:lnTo>
                <a:lnTo>
                  <a:pt x="1309356" y="383684"/>
                </a:lnTo>
                <a:lnTo>
                  <a:pt x="1235416" y="329083"/>
                </a:lnTo>
                <a:lnTo>
                  <a:pt x="1172259" y="271530"/>
                </a:lnTo>
                <a:lnTo>
                  <a:pt x="1444913" y="166755"/>
                </a:lnTo>
                <a:lnTo>
                  <a:pt x="573036" y="0"/>
                </a:lnTo>
              </a:path>
            </a:pathLst>
          </a:custGeom>
          <a:ln w="12699">
            <a:solidFill>
              <a:srgbClr val="000000"/>
            </a:solidFill>
          </a:ln>
        </p:spPr>
        <p:txBody>
          <a:bodyPr wrap="square" lIns="0" tIns="0" rIns="0" bIns="0" rtlCol="0"/>
          <a:lstStyle/>
          <a:p>
            <a:endParaRPr/>
          </a:p>
        </p:txBody>
      </p:sp>
      <p:sp>
        <p:nvSpPr>
          <p:cNvPr id="17" name="object 17"/>
          <p:cNvSpPr/>
          <p:nvPr/>
        </p:nvSpPr>
        <p:spPr>
          <a:xfrm>
            <a:off x="4336650" y="2787961"/>
            <a:ext cx="1332865" cy="1555750"/>
          </a:xfrm>
          <a:custGeom>
            <a:avLst/>
            <a:gdLst/>
            <a:ahLst/>
            <a:cxnLst/>
            <a:rect l="l" t="t" r="r" b="b"/>
            <a:pathLst>
              <a:path w="1332864" h="1555750">
                <a:moveTo>
                  <a:pt x="879580" y="0"/>
                </a:moveTo>
                <a:lnTo>
                  <a:pt x="0" y="1475"/>
                </a:lnTo>
                <a:lnTo>
                  <a:pt x="274195" y="163804"/>
                </a:lnTo>
                <a:lnTo>
                  <a:pt x="235684" y="275958"/>
                </a:lnTo>
                <a:lnTo>
                  <a:pt x="200254" y="389587"/>
                </a:lnTo>
                <a:lnTo>
                  <a:pt x="174067" y="506169"/>
                </a:lnTo>
                <a:lnTo>
                  <a:pt x="154042" y="624226"/>
                </a:lnTo>
                <a:lnTo>
                  <a:pt x="144800" y="743758"/>
                </a:lnTo>
                <a:lnTo>
                  <a:pt x="143259" y="860339"/>
                </a:lnTo>
                <a:lnTo>
                  <a:pt x="146340" y="979873"/>
                </a:lnTo>
                <a:lnTo>
                  <a:pt x="160204" y="1097930"/>
                </a:lnTo>
                <a:lnTo>
                  <a:pt x="181770" y="1215986"/>
                </a:lnTo>
                <a:lnTo>
                  <a:pt x="209497" y="1332567"/>
                </a:lnTo>
                <a:lnTo>
                  <a:pt x="244927" y="1444722"/>
                </a:lnTo>
                <a:lnTo>
                  <a:pt x="291139" y="1555400"/>
                </a:lnTo>
                <a:lnTo>
                  <a:pt x="634653" y="1130395"/>
                </a:lnTo>
                <a:lnTo>
                  <a:pt x="1052492" y="1130395"/>
                </a:lnTo>
                <a:lnTo>
                  <a:pt x="1049026" y="1121540"/>
                </a:lnTo>
                <a:lnTo>
                  <a:pt x="1025919" y="1040377"/>
                </a:lnTo>
                <a:lnTo>
                  <a:pt x="1013597" y="954786"/>
                </a:lnTo>
                <a:lnTo>
                  <a:pt x="1004354" y="867718"/>
                </a:lnTo>
                <a:lnTo>
                  <a:pt x="1004354" y="780652"/>
                </a:lnTo>
                <a:lnTo>
                  <a:pt x="1016678" y="693585"/>
                </a:lnTo>
                <a:lnTo>
                  <a:pt x="1035163" y="609469"/>
                </a:lnTo>
                <a:lnTo>
                  <a:pt x="1231822" y="609469"/>
                </a:lnTo>
                <a:lnTo>
                  <a:pt x="879580" y="0"/>
                </a:lnTo>
                <a:close/>
              </a:path>
              <a:path w="1332864" h="1555750">
                <a:moveTo>
                  <a:pt x="1052492" y="1130395"/>
                </a:moveTo>
                <a:lnTo>
                  <a:pt x="634653" y="1130395"/>
                </a:lnTo>
                <a:lnTo>
                  <a:pt x="1081374" y="1204180"/>
                </a:lnTo>
                <a:lnTo>
                  <a:pt x="1052492" y="1130395"/>
                </a:lnTo>
                <a:close/>
              </a:path>
              <a:path w="1332864" h="1555750">
                <a:moveTo>
                  <a:pt x="1231822" y="609469"/>
                </a:moveTo>
                <a:lnTo>
                  <a:pt x="1035163" y="609469"/>
                </a:lnTo>
                <a:lnTo>
                  <a:pt x="1332463" y="783603"/>
                </a:lnTo>
                <a:lnTo>
                  <a:pt x="1231822" y="609469"/>
                </a:lnTo>
                <a:close/>
              </a:path>
            </a:pathLst>
          </a:custGeom>
          <a:solidFill>
            <a:srgbClr val="78A600">
              <a:alpha val="30198"/>
            </a:srgbClr>
          </a:solidFill>
        </p:spPr>
        <p:txBody>
          <a:bodyPr wrap="square" lIns="0" tIns="0" rIns="0" bIns="0" rtlCol="0"/>
          <a:lstStyle/>
          <a:p>
            <a:endParaRPr/>
          </a:p>
        </p:txBody>
      </p:sp>
      <p:sp>
        <p:nvSpPr>
          <p:cNvPr id="18" name="object 18"/>
          <p:cNvSpPr/>
          <p:nvPr/>
        </p:nvSpPr>
        <p:spPr>
          <a:xfrm>
            <a:off x="4336650" y="2787961"/>
            <a:ext cx="1332865" cy="1555750"/>
          </a:xfrm>
          <a:custGeom>
            <a:avLst/>
            <a:gdLst/>
            <a:ahLst/>
            <a:cxnLst/>
            <a:rect l="l" t="t" r="r" b="b"/>
            <a:pathLst>
              <a:path w="1332864" h="1555750">
                <a:moveTo>
                  <a:pt x="879579" y="0"/>
                </a:moveTo>
                <a:lnTo>
                  <a:pt x="0" y="1475"/>
                </a:lnTo>
                <a:lnTo>
                  <a:pt x="274194" y="163803"/>
                </a:lnTo>
                <a:lnTo>
                  <a:pt x="235684" y="275957"/>
                </a:lnTo>
                <a:lnTo>
                  <a:pt x="200254" y="389587"/>
                </a:lnTo>
                <a:lnTo>
                  <a:pt x="174067" y="506169"/>
                </a:lnTo>
                <a:lnTo>
                  <a:pt x="154042" y="624225"/>
                </a:lnTo>
                <a:lnTo>
                  <a:pt x="144799" y="743758"/>
                </a:lnTo>
                <a:lnTo>
                  <a:pt x="143259" y="860339"/>
                </a:lnTo>
                <a:lnTo>
                  <a:pt x="146339" y="979872"/>
                </a:lnTo>
                <a:lnTo>
                  <a:pt x="160203" y="1097929"/>
                </a:lnTo>
                <a:lnTo>
                  <a:pt x="181769" y="1215985"/>
                </a:lnTo>
                <a:lnTo>
                  <a:pt x="209497" y="1332567"/>
                </a:lnTo>
                <a:lnTo>
                  <a:pt x="244926" y="1444721"/>
                </a:lnTo>
                <a:lnTo>
                  <a:pt x="291139" y="1555399"/>
                </a:lnTo>
                <a:lnTo>
                  <a:pt x="634653" y="1130394"/>
                </a:lnTo>
                <a:lnTo>
                  <a:pt x="1081374" y="1204180"/>
                </a:lnTo>
                <a:lnTo>
                  <a:pt x="1049025" y="1121540"/>
                </a:lnTo>
                <a:lnTo>
                  <a:pt x="1025919" y="1040376"/>
                </a:lnTo>
                <a:lnTo>
                  <a:pt x="1013595" y="954785"/>
                </a:lnTo>
                <a:lnTo>
                  <a:pt x="1004353" y="867718"/>
                </a:lnTo>
                <a:lnTo>
                  <a:pt x="1004353" y="780651"/>
                </a:lnTo>
                <a:lnTo>
                  <a:pt x="1016676" y="693584"/>
                </a:lnTo>
                <a:lnTo>
                  <a:pt x="1035162" y="609468"/>
                </a:lnTo>
                <a:lnTo>
                  <a:pt x="1332463" y="783602"/>
                </a:lnTo>
                <a:lnTo>
                  <a:pt x="879579" y="0"/>
                </a:lnTo>
              </a:path>
            </a:pathLst>
          </a:custGeom>
          <a:ln w="12699">
            <a:solidFill>
              <a:srgbClr val="000000"/>
            </a:solidFill>
          </a:ln>
        </p:spPr>
        <p:txBody>
          <a:bodyPr wrap="square" lIns="0" tIns="0" rIns="0" bIns="0" rtlCol="0"/>
          <a:lstStyle/>
          <a:p>
            <a:endParaRPr/>
          </a:p>
        </p:txBody>
      </p:sp>
      <p:sp>
        <p:nvSpPr>
          <p:cNvPr id="19" name="object 19"/>
          <p:cNvSpPr txBox="1"/>
          <p:nvPr/>
        </p:nvSpPr>
        <p:spPr>
          <a:xfrm>
            <a:off x="4698997" y="3177956"/>
            <a:ext cx="48260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出错 处理</a:t>
            </a:r>
            <a:endParaRPr sz="1800">
              <a:latin typeface="微软雅黑" panose="020B0503020204020204" pitchFamily="34" charset="-122"/>
              <a:cs typeface="微软雅黑" panose="020B0503020204020204" pitchFamily="34" charset="-122"/>
            </a:endParaRPr>
          </a:p>
        </p:txBody>
      </p:sp>
      <p:sp>
        <p:nvSpPr>
          <p:cNvPr id="20" name="object 20"/>
          <p:cNvSpPr/>
          <p:nvPr/>
        </p:nvSpPr>
        <p:spPr>
          <a:xfrm>
            <a:off x="7823159" y="3572935"/>
            <a:ext cx="812800" cy="0"/>
          </a:xfrm>
          <a:custGeom>
            <a:avLst/>
            <a:gdLst/>
            <a:ahLst/>
            <a:cxnLst/>
            <a:rect l="l" t="t" r="r" b="b"/>
            <a:pathLst>
              <a:path w="812800">
                <a:moveTo>
                  <a:pt x="0" y="0"/>
                </a:moveTo>
                <a:lnTo>
                  <a:pt x="812799" y="0"/>
                </a:lnTo>
              </a:path>
            </a:pathLst>
          </a:custGeom>
          <a:ln w="12699">
            <a:solidFill>
              <a:srgbClr val="898484"/>
            </a:solidFill>
          </a:ln>
        </p:spPr>
        <p:txBody>
          <a:bodyPr wrap="square" lIns="0" tIns="0" rIns="0" bIns="0" rtlCol="0"/>
          <a:lstStyle/>
          <a:p>
            <a:endParaRPr/>
          </a:p>
        </p:txBody>
      </p:sp>
      <p:sp>
        <p:nvSpPr>
          <p:cNvPr id="21" name="object 21"/>
          <p:cNvSpPr/>
          <p:nvPr/>
        </p:nvSpPr>
        <p:spPr>
          <a:xfrm>
            <a:off x="7785059" y="3534835"/>
            <a:ext cx="76200" cy="76199"/>
          </a:xfrm>
          <a:prstGeom prst="rect">
            <a:avLst/>
          </a:prstGeom>
          <a:blipFill>
            <a:blip r:embed="rId3" cstate="print"/>
            <a:stretch>
              <a:fillRect/>
            </a:stretch>
          </a:blipFill>
        </p:spPr>
        <p:txBody>
          <a:bodyPr wrap="square" lIns="0" tIns="0" rIns="0" bIns="0" rtlCol="0"/>
          <a:lstStyle/>
          <a:p>
            <a:endParaRPr/>
          </a:p>
        </p:txBody>
      </p:sp>
      <p:sp>
        <p:nvSpPr>
          <p:cNvPr id="22" name="object 22"/>
          <p:cNvSpPr txBox="1"/>
          <p:nvPr/>
        </p:nvSpPr>
        <p:spPr>
          <a:xfrm>
            <a:off x="8715562" y="3406515"/>
            <a:ext cx="3162402" cy="879793"/>
          </a:xfrm>
          <a:prstGeom prst="rect">
            <a:avLst/>
          </a:prstGeom>
        </p:spPr>
        <p:txBody>
          <a:bodyPr vert="horz" wrap="square" lIns="0" tIns="12700" rIns="0" bIns="0" rtlCol="0">
            <a:spAutoFit/>
          </a:bodyPr>
          <a:lstStyle/>
          <a:p>
            <a:pPr marL="12700" marR="5080">
              <a:lnSpc>
                <a:spcPct val="107000"/>
              </a:lnSpc>
              <a:spcBef>
                <a:spcPts val="100"/>
              </a:spcBef>
            </a:pPr>
            <a:r>
              <a:rPr lang="zh-CN" altLang="en-US" dirty="0">
                <a:latin typeface="微软雅黑" panose="020B0503020204020204" pitchFamily="34" charset="-122"/>
                <a:ea typeface="微软雅黑" panose="020B0503020204020204" pitchFamily="34" charset="-122"/>
              </a:rPr>
              <a:t>主要检查数据类型说明，初始化、缺省值等方面的问题，还要查清数据对模块的影响</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object 23"/>
          <p:cNvSpPr/>
          <p:nvPr/>
        </p:nvSpPr>
        <p:spPr>
          <a:xfrm>
            <a:off x="5515990" y="5041898"/>
            <a:ext cx="76200" cy="76200"/>
          </a:xfrm>
          <a:prstGeom prst="rect">
            <a:avLst/>
          </a:prstGeom>
          <a:blipFill>
            <a:blip r:embed="rId3" cstate="print"/>
            <a:stretch>
              <a:fillRect/>
            </a:stretch>
          </a:blipFill>
        </p:spPr>
        <p:txBody>
          <a:bodyPr wrap="square" lIns="0" tIns="0" rIns="0" bIns="0" rtlCol="0"/>
          <a:lstStyle/>
          <a:p>
            <a:endParaRPr/>
          </a:p>
        </p:txBody>
      </p:sp>
      <p:sp>
        <p:nvSpPr>
          <p:cNvPr id="24" name="object 24"/>
          <p:cNvSpPr txBox="1"/>
          <p:nvPr/>
        </p:nvSpPr>
        <p:spPr>
          <a:xfrm>
            <a:off x="1501439" y="4301323"/>
            <a:ext cx="4248785" cy="1894301"/>
          </a:xfrm>
          <a:prstGeom prst="rect">
            <a:avLst/>
          </a:prstGeom>
        </p:spPr>
        <p:txBody>
          <a:bodyPr vert="horz" wrap="square" lIns="0" tIns="12700" rIns="0" bIns="0" rtlCol="0">
            <a:spAutoFit/>
          </a:bodyPr>
          <a:lstStyle/>
          <a:p>
            <a:pPr marL="3503930">
              <a:lnSpc>
                <a:spcPts val="2130"/>
              </a:lnSpc>
              <a:spcBef>
                <a:spcPts val="100"/>
              </a:spcBef>
            </a:pPr>
            <a:r>
              <a:rPr sz="1800" dirty="0">
                <a:latin typeface="微软雅黑" panose="020B0503020204020204" pitchFamily="34" charset="-122"/>
                <a:cs typeface="微软雅黑" panose="020B0503020204020204" pitchFamily="34" charset="-122"/>
              </a:rPr>
              <a:t>独立</a:t>
            </a:r>
          </a:p>
          <a:p>
            <a:pPr marL="3778250">
              <a:lnSpc>
                <a:spcPts val="2130"/>
              </a:lnSpc>
            </a:pPr>
            <a:r>
              <a:rPr sz="1800" dirty="0">
                <a:latin typeface="微软雅黑" panose="020B0503020204020204" pitchFamily="34" charset="-122"/>
                <a:cs typeface="微软雅黑" panose="020B0503020204020204" pitchFamily="34" charset="-122"/>
              </a:rPr>
              <a:t>路径</a:t>
            </a:r>
          </a:p>
          <a:p>
            <a:pPr marL="240665" marR="187960" indent="-228600">
              <a:lnSpc>
                <a:spcPct val="107000"/>
              </a:lnSpc>
              <a:spcBef>
                <a:spcPts val="690"/>
              </a:spcBef>
              <a:tabLst>
                <a:tab pos="4052570" algn="l"/>
              </a:tabLst>
            </a:pPr>
            <a:r>
              <a:rPr sz="1800" dirty="0">
                <a:latin typeface="微软雅黑" panose="020B0503020204020204" pitchFamily="34" charset="-122"/>
                <a:cs typeface="微软雅黑" panose="020B0503020204020204" pitchFamily="34" charset="-122"/>
              </a:rPr>
              <a:t>检查由于计算错误、判定错误、 	 </a:t>
            </a:r>
            <a:r>
              <a:rPr sz="1800" dirty="0" err="1">
                <a:latin typeface="微软雅黑" panose="020B0503020204020204" pitchFamily="34" charset="-122"/>
                <a:cs typeface="微软雅黑" panose="020B0503020204020204" pitchFamily="34" charset="-122"/>
              </a:rPr>
              <a:t>控制流错误导致的程序错误</a:t>
            </a:r>
            <a:r>
              <a:rPr sz="1800" dirty="0">
                <a:latin typeface="微软雅黑" panose="020B0503020204020204" pitchFamily="34" charset="-122"/>
                <a:cs typeface="微软雅黑" panose="020B0503020204020204" pitchFamily="34" charset="-122"/>
              </a:rPr>
              <a:t>。</a:t>
            </a:r>
            <a:endParaRPr lang="en-US" altLang="zh-CN" sz="1800" dirty="0">
              <a:latin typeface="微软雅黑" panose="020B0503020204020204" pitchFamily="34" charset="-122"/>
              <a:cs typeface="微软雅黑" panose="020B0503020204020204" pitchFamily="34" charset="-122"/>
            </a:endParaRPr>
          </a:p>
          <a:p>
            <a:pPr marL="240665" marR="187960" indent="-228600">
              <a:lnSpc>
                <a:spcPct val="107000"/>
              </a:lnSpc>
              <a:spcBef>
                <a:spcPts val="690"/>
              </a:spcBef>
              <a:tabLst>
                <a:tab pos="4052570" algn="l"/>
              </a:tabLst>
            </a:pPr>
            <a:r>
              <a:rPr lang="zh-CN" altLang="en-US" dirty="0">
                <a:latin typeface="微软雅黑" panose="020B0503020204020204" pitchFamily="34" charset="-122"/>
                <a:ea typeface="微软雅黑" panose="020B0503020204020204" pitchFamily="34" charset="-122"/>
              </a:rPr>
              <a:t>主要是对模块中重要的执行路径进行测试</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object 25"/>
          <p:cNvSpPr/>
          <p:nvPr/>
        </p:nvSpPr>
        <p:spPr>
          <a:xfrm>
            <a:off x="6925704" y="1811864"/>
            <a:ext cx="491490" cy="406400"/>
          </a:xfrm>
          <a:custGeom>
            <a:avLst/>
            <a:gdLst/>
            <a:ahLst/>
            <a:cxnLst/>
            <a:rect l="l" t="t" r="r" b="b"/>
            <a:pathLst>
              <a:path w="491490" h="406400">
                <a:moveTo>
                  <a:pt x="0" y="406399"/>
                </a:moveTo>
                <a:lnTo>
                  <a:pt x="491331" y="0"/>
                </a:lnTo>
              </a:path>
            </a:pathLst>
          </a:custGeom>
          <a:ln w="12699">
            <a:solidFill>
              <a:srgbClr val="898484"/>
            </a:solidFill>
          </a:ln>
        </p:spPr>
        <p:txBody>
          <a:bodyPr wrap="square" lIns="0" tIns="0" rIns="0" bIns="0" rtlCol="0"/>
          <a:lstStyle/>
          <a:p>
            <a:endParaRPr/>
          </a:p>
        </p:txBody>
      </p:sp>
      <p:sp>
        <p:nvSpPr>
          <p:cNvPr id="26" name="object 26"/>
          <p:cNvSpPr/>
          <p:nvPr/>
        </p:nvSpPr>
        <p:spPr>
          <a:xfrm>
            <a:off x="6887774" y="2180333"/>
            <a:ext cx="75861" cy="75861"/>
          </a:xfrm>
          <a:prstGeom prst="rect">
            <a:avLst/>
          </a:prstGeom>
          <a:blipFill>
            <a:blip r:embed="rId4" cstate="print"/>
            <a:stretch>
              <a:fillRect/>
            </a:stretch>
          </a:blipFill>
        </p:spPr>
        <p:txBody>
          <a:bodyPr wrap="square" lIns="0" tIns="0" rIns="0" bIns="0" rtlCol="0"/>
          <a:lstStyle/>
          <a:p>
            <a:endParaRPr/>
          </a:p>
        </p:txBody>
      </p:sp>
      <p:sp>
        <p:nvSpPr>
          <p:cNvPr id="27" name="object 27"/>
          <p:cNvSpPr txBox="1"/>
          <p:nvPr/>
        </p:nvSpPr>
        <p:spPr>
          <a:xfrm>
            <a:off x="8173704" y="1628518"/>
            <a:ext cx="3505678" cy="586443"/>
          </a:xfrm>
          <a:prstGeom prst="rect">
            <a:avLst/>
          </a:prstGeom>
        </p:spPr>
        <p:txBody>
          <a:bodyPr vert="horz" wrap="square" lIns="0" tIns="12700" rIns="0" bIns="0" rtlCol="0">
            <a:spAutoFit/>
          </a:bodyPr>
          <a:lstStyle/>
          <a:p>
            <a:pPr marL="12700" marR="5080">
              <a:lnSpc>
                <a:spcPct val="107000"/>
              </a:lnSpc>
              <a:spcBef>
                <a:spcPts val="100"/>
              </a:spcBef>
            </a:pPr>
            <a:r>
              <a:rPr lang="zh-CN" altLang="en-US" dirty="0">
                <a:latin typeface="微软雅黑" panose="020B0503020204020204" pitchFamily="34" charset="-122"/>
                <a:ea typeface="微软雅黑" panose="020B0503020204020204" pitchFamily="34" charset="-122"/>
              </a:rPr>
              <a:t>主要是检查参数表，调用子模块的参数，数据，文件</a:t>
            </a:r>
            <a:r>
              <a:rPr lang="en-US" altLang="zh-CN" dirty="0" err="1">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等内容</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object 28"/>
          <p:cNvSpPr/>
          <p:nvPr/>
        </p:nvSpPr>
        <p:spPr>
          <a:xfrm>
            <a:off x="7399827" y="1811863"/>
            <a:ext cx="711835" cy="0"/>
          </a:xfrm>
          <a:custGeom>
            <a:avLst/>
            <a:gdLst/>
            <a:ahLst/>
            <a:cxnLst/>
            <a:rect l="l" t="t" r="r" b="b"/>
            <a:pathLst>
              <a:path w="711834">
                <a:moveTo>
                  <a:pt x="0" y="0"/>
                </a:moveTo>
                <a:lnTo>
                  <a:pt x="711211" y="1"/>
                </a:lnTo>
              </a:path>
            </a:pathLst>
          </a:custGeom>
          <a:ln w="12699">
            <a:solidFill>
              <a:srgbClr val="898484"/>
            </a:solidFill>
          </a:ln>
        </p:spPr>
        <p:txBody>
          <a:bodyPr wrap="square" lIns="0" tIns="0" rIns="0" bIns="0" rtlCol="0"/>
          <a:lstStyle/>
          <a:p>
            <a:endParaRPr/>
          </a:p>
        </p:txBody>
      </p:sp>
      <p:sp>
        <p:nvSpPr>
          <p:cNvPr id="29" name="object 29"/>
          <p:cNvSpPr/>
          <p:nvPr/>
        </p:nvSpPr>
        <p:spPr>
          <a:xfrm>
            <a:off x="4013199" y="3386664"/>
            <a:ext cx="609600" cy="0"/>
          </a:xfrm>
          <a:custGeom>
            <a:avLst/>
            <a:gdLst/>
            <a:ahLst/>
            <a:cxnLst/>
            <a:rect l="l" t="t" r="r" b="b"/>
            <a:pathLst>
              <a:path w="609600">
                <a:moveTo>
                  <a:pt x="609559" y="0"/>
                </a:moveTo>
                <a:lnTo>
                  <a:pt x="0" y="1"/>
                </a:lnTo>
              </a:path>
            </a:pathLst>
          </a:custGeom>
          <a:ln w="12699">
            <a:solidFill>
              <a:srgbClr val="898484"/>
            </a:solidFill>
          </a:ln>
        </p:spPr>
        <p:txBody>
          <a:bodyPr wrap="square" lIns="0" tIns="0" rIns="0" bIns="0" rtlCol="0"/>
          <a:lstStyle/>
          <a:p>
            <a:endParaRPr/>
          </a:p>
        </p:txBody>
      </p:sp>
      <p:sp>
        <p:nvSpPr>
          <p:cNvPr id="30" name="object 30"/>
          <p:cNvSpPr/>
          <p:nvPr/>
        </p:nvSpPr>
        <p:spPr>
          <a:xfrm>
            <a:off x="4584659" y="3348564"/>
            <a:ext cx="76200" cy="76200"/>
          </a:xfrm>
          <a:prstGeom prst="rect">
            <a:avLst/>
          </a:prstGeom>
          <a:blipFill>
            <a:blip r:embed="rId3" cstate="print"/>
            <a:stretch>
              <a:fillRect/>
            </a:stretch>
          </a:blipFill>
        </p:spPr>
        <p:txBody>
          <a:bodyPr wrap="square" lIns="0" tIns="0" rIns="0" bIns="0" rtlCol="0"/>
          <a:lstStyle/>
          <a:p>
            <a:endParaRPr/>
          </a:p>
        </p:txBody>
      </p:sp>
      <p:sp>
        <p:nvSpPr>
          <p:cNvPr id="31" name="object 31"/>
          <p:cNvSpPr txBox="1"/>
          <p:nvPr/>
        </p:nvSpPr>
        <p:spPr>
          <a:xfrm>
            <a:off x="977028" y="3220247"/>
            <a:ext cx="2997200" cy="609600"/>
          </a:xfrm>
          <a:prstGeom prst="rect">
            <a:avLst/>
          </a:prstGeom>
        </p:spPr>
        <p:txBody>
          <a:bodyPr vert="horz" wrap="square" lIns="0" tIns="12700" rIns="0" bIns="0" rtlCol="0">
            <a:spAutoFit/>
          </a:bodyPr>
          <a:lstStyle/>
          <a:p>
            <a:pPr marL="469900" marR="5080" indent="-457200">
              <a:lnSpc>
                <a:spcPct val="107000"/>
              </a:lnSpc>
              <a:spcBef>
                <a:spcPts val="100"/>
              </a:spcBef>
            </a:pPr>
            <a:r>
              <a:rPr sz="1800" dirty="0">
                <a:latin typeface="微软雅黑" panose="020B0503020204020204" pitchFamily="34" charset="-122"/>
                <a:cs typeface="微软雅黑" panose="020B0503020204020204" pitchFamily="34" charset="-122"/>
              </a:rPr>
              <a:t>检查可能引发错误处理的路径 以及进行错误处理的路径</a:t>
            </a:r>
            <a:endParaRPr sz="1800">
              <a:latin typeface="微软雅黑" panose="020B0503020204020204" pitchFamily="34" charset="-122"/>
              <a:cs typeface="微软雅黑" panose="020B0503020204020204" pitchFamily="34" charset="-122"/>
            </a:endParaRPr>
          </a:p>
        </p:txBody>
      </p:sp>
      <p:sp>
        <p:nvSpPr>
          <p:cNvPr id="32" name="object 32"/>
          <p:cNvSpPr/>
          <p:nvPr/>
        </p:nvSpPr>
        <p:spPr>
          <a:xfrm>
            <a:off x="6887595" y="4821766"/>
            <a:ext cx="76200" cy="76200"/>
          </a:xfrm>
          <a:prstGeom prst="rect">
            <a:avLst/>
          </a:prstGeom>
          <a:blipFill>
            <a:blip r:embed="rId3" cstate="print"/>
            <a:stretch>
              <a:fillRect/>
            </a:stretch>
          </a:blipFill>
        </p:spPr>
        <p:txBody>
          <a:bodyPr wrap="square" lIns="0" tIns="0" rIns="0" bIns="0" rtlCol="0"/>
          <a:lstStyle/>
          <a:p>
            <a:endParaRPr/>
          </a:p>
        </p:txBody>
      </p:sp>
      <p:sp>
        <p:nvSpPr>
          <p:cNvPr id="33" name="object 33"/>
          <p:cNvSpPr txBox="1"/>
          <p:nvPr/>
        </p:nvSpPr>
        <p:spPr>
          <a:xfrm>
            <a:off x="6887595" y="4676518"/>
            <a:ext cx="4377055" cy="609600"/>
          </a:xfrm>
          <a:prstGeom prst="rect">
            <a:avLst/>
          </a:prstGeom>
        </p:spPr>
        <p:txBody>
          <a:bodyPr vert="horz" wrap="square" lIns="0" tIns="30480" rIns="0" bIns="0" rtlCol="0">
            <a:spAutoFit/>
          </a:bodyPr>
          <a:lstStyle/>
          <a:p>
            <a:pPr marL="38100">
              <a:lnSpc>
                <a:spcPct val="100000"/>
              </a:lnSpc>
              <a:spcBef>
                <a:spcPts val="240"/>
              </a:spcBef>
              <a:tabLst>
                <a:tab pos="1240155" algn="l"/>
              </a:tabLst>
            </a:pPr>
            <a:r>
              <a:rPr sz="2700" u="sng" baseline="25000" dirty="0">
                <a:uFill>
                  <a:solidFill>
                    <a:srgbClr val="898484"/>
                  </a:solidFill>
                </a:uFill>
                <a:latin typeface="Times New Roman" panose="02020603050405020304"/>
                <a:cs typeface="Times New Roman" panose="02020603050405020304"/>
              </a:rPr>
              <a:t> 	</a:t>
            </a:r>
            <a:r>
              <a:rPr sz="2700" baseline="25000" dirty="0">
                <a:latin typeface="Times New Roman" panose="02020603050405020304"/>
                <a:cs typeface="Times New Roman" panose="02020603050405020304"/>
              </a:rPr>
              <a:t> </a:t>
            </a:r>
            <a:r>
              <a:rPr sz="2700" spc="135" baseline="25000" dirty="0">
                <a:latin typeface="Times New Roman" panose="02020603050405020304"/>
                <a:cs typeface="Times New Roman" panose="02020603050405020304"/>
              </a:rPr>
              <a:t> </a:t>
            </a:r>
            <a:r>
              <a:rPr sz="1800" dirty="0" err="1">
                <a:latin typeface="微软雅黑" panose="020B0503020204020204" pitchFamily="34" charset="-122"/>
                <a:cs typeface="微软雅黑" panose="020B0503020204020204" pitchFamily="34" charset="-122"/>
              </a:rPr>
              <a:t>检查数据流或控制流中条件或</a:t>
            </a:r>
            <a:endParaRPr sz="1800" dirty="0">
              <a:latin typeface="微软雅黑" panose="020B0503020204020204" pitchFamily="34" charset="-122"/>
              <a:cs typeface="微软雅黑" panose="020B0503020204020204" pitchFamily="34" charset="-122"/>
            </a:endParaRPr>
          </a:p>
          <a:p>
            <a:pPr marL="1366520">
              <a:lnSpc>
                <a:spcPct val="100000"/>
              </a:lnSpc>
              <a:spcBef>
                <a:spcPts val="140"/>
              </a:spcBef>
            </a:pPr>
            <a:r>
              <a:rPr sz="1800" dirty="0" err="1">
                <a:latin typeface="微软雅黑" panose="020B0503020204020204" pitchFamily="34" charset="-122"/>
                <a:cs typeface="微软雅黑" panose="020B0503020204020204" pitchFamily="34" charset="-122"/>
              </a:rPr>
              <a:t>数据处于边界时的出错可能性</a:t>
            </a:r>
            <a:endParaRPr sz="1800" dirty="0">
              <a:latin typeface="微软雅黑" panose="020B0503020204020204" pitchFamily="34" charset="-122"/>
              <a:cs typeface="微软雅黑" panose="020B0503020204020204" pitchFamily="34" charset="-122"/>
            </a:endParaRPr>
          </a:p>
        </p:txBody>
      </p:sp>
      <p:sp>
        <p:nvSpPr>
          <p:cNvPr id="34" name="灯片编号占位符 33"/>
          <p:cNvSpPr>
            <a:spLocks noGrp="1"/>
          </p:cNvSpPr>
          <p:nvPr>
            <p:ph type="sldNum" sz="quarter" idx="7"/>
          </p:nvPr>
        </p:nvSpPr>
        <p:spPr/>
        <p:txBody>
          <a:bodyPr/>
          <a:lstStyle/>
          <a:p>
            <a:fld id="{B6F15528-21DE-4FAA-801E-634DDDAF4B2B}" type="slidenum">
              <a:rPr lang="en-US" altLang="zh-CN" smtClean="0"/>
              <a:t>34</a:t>
            </a:fld>
            <a:endParaRPr lang="zh-CN" altLang="en-US"/>
          </a:p>
        </p:txBody>
      </p:sp>
      <p:sp>
        <p:nvSpPr>
          <p:cNvPr id="37" name="矩形 36">
            <a:extLst>
              <a:ext uri="{FF2B5EF4-FFF2-40B4-BE49-F238E27FC236}">
                <a16:creationId xmlns:a16="http://schemas.microsoft.com/office/drawing/2014/main" id="{DE997751-58BD-4716-8694-E869A2863697}"/>
              </a:ext>
            </a:extLst>
          </p:cNvPr>
          <p:cNvSpPr/>
          <p:nvPr/>
        </p:nvSpPr>
        <p:spPr>
          <a:xfrm>
            <a:off x="3185709" y="700652"/>
            <a:ext cx="7148945"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如果对模块运行时间有要求的话，还要专门进行关键路径测试，以确定最坏情况下运行的时间和影响模块运行时间的因素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703102" y="2891336"/>
            <a:ext cx="1311275" cy="1706245"/>
          </a:xfrm>
          <a:custGeom>
            <a:avLst/>
            <a:gdLst/>
            <a:ahLst/>
            <a:cxnLst/>
            <a:rect l="l" t="t" r="r" b="b"/>
            <a:pathLst>
              <a:path w="1311275" h="1706245">
                <a:moveTo>
                  <a:pt x="0" y="926745"/>
                </a:moveTo>
                <a:lnTo>
                  <a:pt x="405131" y="1705921"/>
                </a:lnTo>
                <a:lnTo>
                  <a:pt x="1310897" y="1686737"/>
                </a:lnTo>
                <a:lnTo>
                  <a:pt x="1029000" y="1522933"/>
                </a:lnTo>
                <a:lnTo>
                  <a:pt x="1082915" y="1413730"/>
                </a:lnTo>
                <a:lnTo>
                  <a:pt x="1129127" y="1301577"/>
                </a:lnTo>
                <a:lnTo>
                  <a:pt x="1167639" y="1186470"/>
                </a:lnTo>
                <a:lnTo>
                  <a:pt x="1190269" y="1083171"/>
                </a:lnTo>
                <a:lnTo>
                  <a:pt x="278815" y="1083171"/>
                </a:lnTo>
                <a:lnTo>
                  <a:pt x="0" y="926745"/>
                </a:lnTo>
                <a:close/>
              </a:path>
              <a:path w="1311275" h="1706245">
                <a:moveTo>
                  <a:pt x="320407" y="429431"/>
                </a:moveTo>
                <a:lnTo>
                  <a:pt x="341974" y="509120"/>
                </a:lnTo>
                <a:lnTo>
                  <a:pt x="355837" y="593236"/>
                </a:lnTo>
                <a:lnTo>
                  <a:pt x="361999" y="677350"/>
                </a:lnTo>
                <a:lnTo>
                  <a:pt x="360459" y="758515"/>
                </a:lnTo>
                <a:lnTo>
                  <a:pt x="352756" y="842631"/>
                </a:lnTo>
                <a:lnTo>
                  <a:pt x="334271" y="925269"/>
                </a:lnTo>
                <a:lnTo>
                  <a:pt x="312705" y="1007910"/>
                </a:lnTo>
                <a:lnTo>
                  <a:pt x="278815" y="1083171"/>
                </a:lnTo>
                <a:lnTo>
                  <a:pt x="1190269" y="1083171"/>
                </a:lnTo>
                <a:lnTo>
                  <a:pt x="1193825" y="1066938"/>
                </a:lnTo>
                <a:lnTo>
                  <a:pt x="1216931" y="947406"/>
                </a:lnTo>
                <a:lnTo>
                  <a:pt x="1229255" y="827873"/>
                </a:lnTo>
                <a:lnTo>
                  <a:pt x="1233876" y="705389"/>
                </a:lnTo>
                <a:lnTo>
                  <a:pt x="1229255" y="582905"/>
                </a:lnTo>
                <a:lnTo>
                  <a:pt x="1215391" y="463373"/>
                </a:lnTo>
                <a:lnTo>
                  <a:pt x="1210598" y="436810"/>
                </a:lnTo>
                <a:lnTo>
                  <a:pt x="839529" y="436810"/>
                </a:lnTo>
                <a:lnTo>
                  <a:pt x="320407" y="429431"/>
                </a:lnTo>
                <a:close/>
              </a:path>
              <a:path w="1311275" h="1706245">
                <a:moveTo>
                  <a:pt x="1079835" y="0"/>
                </a:moveTo>
                <a:lnTo>
                  <a:pt x="839529" y="436810"/>
                </a:lnTo>
                <a:lnTo>
                  <a:pt x="1210598" y="436810"/>
                </a:lnTo>
                <a:lnTo>
                  <a:pt x="1193825" y="343839"/>
                </a:lnTo>
                <a:lnTo>
                  <a:pt x="1164558" y="225783"/>
                </a:lnTo>
                <a:lnTo>
                  <a:pt x="1124507" y="110677"/>
                </a:lnTo>
                <a:lnTo>
                  <a:pt x="1079835" y="0"/>
                </a:lnTo>
                <a:close/>
              </a:path>
            </a:pathLst>
          </a:custGeom>
          <a:solidFill>
            <a:srgbClr val="78A600">
              <a:alpha val="30198"/>
            </a:srgbClr>
          </a:solidFill>
        </p:spPr>
        <p:txBody>
          <a:bodyPr wrap="square" lIns="0" tIns="0" rIns="0" bIns="0" rtlCol="0"/>
          <a:lstStyle/>
          <a:p>
            <a:endParaRPr/>
          </a:p>
        </p:txBody>
      </p:sp>
      <p:sp>
        <p:nvSpPr>
          <p:cNvPr id="4" name="object 4"/>
          <p:cNvSpPr/>
          <p:nvPr/>
        </p:nvSpPr>
        <p:spPr>
          <a:xfrm>
            <a:off x="4703101" y="2891336"/>
            <a:ext cx="1311275" cy="1706245"/>
          </a:xfrm>
          <a:custGeom>
            <a:avLst/>
            <a:gdLst/>
            <a:ahLst/>
            <a:cxnLst/>
            <a:rect l="l" t="t" r="r" b="b"/>
            <a:pathLst>
              <a:path w="1311275" h="1706245">
                <a:moveTo>
                  <a:pt x="405130" y="1705921"/>
                </a:moveTo>
                <a:lnTo>
                  <a:pt x="1310896" y="1686737"/>
                </a:lnTo>
                <a:lnTo>
                  <a:pt x="1029000" y="1522933"/>
                </a:lnTo>
                <a:lnTo>
                  <a:pt x="1082915" y="1413730"/>
                </a:lnTo>
                <a:lnTo>
                  <a:pt x="1129128" y="1301576"/>
                </a:lnTo>
                <a:lnTo>
                  <a:pt x="1167638" y="1186471"/>
                </a:lnTo>
                <a:lnTo>
                  <a:pt x="1193826" y="1066938"/>
                </a:lnTo>
                <a:lnTo>
                  <a:pt x="1216930" y="947406"/>
                </a:lnTo>
                <a:lnTo>
                  <a:pt x="1229254" y="827873"/>
                </a:lnTo>
                <a:lnTo>
                  <a:pt x="1233875" y="705389"/>
                </a:lnTo>
                <a:lnTo>
                  <a:pt x="1229254" y="582905"/>
                </a:lnTo>
                <a:lnTo>
                  <a:pt x="1215390" y="463373"/>
                </a:lnTo>
                <a:lnTo>
                  <a:pt x="1193826" y="343840"/>
                </a:lnTo>
                <a:lnTo>
                  <a:pt x="1164558" y="225783"/>
                </a:lnTo>
                <a:lnTo>
                  <a:pt x="1124506" y="110678"/>
                </a:lnTo>
                <a:lnTo>
                  <a:pt x="1079834" y="0"/>
                </a:lnTo>
                <a:lnTo>
                  <a:pt x="839528" y="436810"/>
                </a:lnTo>
                <a:lnTo>
                  <a:pt x="320407" y="429431"/>
                </a:lnTo>
                <a:lnTo>
                  <a:pt x="341973" y="509120"/>
                </a:lnTo>
                <a:lnTo>
                  <a:pt x="355837" y="593235"/>
                </a:lnTo>
                <a:lnTo>
                  <a:pt x="361998" y="677351"/>
                </a:lnTo>
                <a:lnTo>
                  <a:pt x="360458" y="758515"/>
                </a:lnTo>
                <a:lnTo>
                  <a:pt x="352755" y="842630"/>
                </a:lnTo>
                <a:lnTo>
                  <a:pt x="334271" y="925270"/>
                </a:lnTo>
                <a:lnTo>
                  <a:pt x="312705" y="1007910"/>
                </a:lnTo>
                <a:lnTo>
                  <a:pt x="278815" y="1083171"/>
                </a:lnTo>
                <a:lnTo>
                  <a:pt x="0" y="926746"/>
                </a:lnTo>
                <a:lnTo>
                  <a:pt x="405130" y="1705921"/>
                </a:lnTo>
              </a:path>
            </a:pathLst>
          </a:custGeom>
          <a:ln w="12699">
            <a:solidFill>
              <a:srgbClr val="000000"/>
            </a:solidFill>
          </a:ln>
        </p:spPr>
        <p:txBody>
          <a:bodyPr wrap="square" lIns="0" tIns="0" rIns="0" bIns="0" rtlCol="0"/>
          <a:lstStyle/>
          <a:p>
            <a:endParaRPr/>
          </a:p>
        </p:txBody>
      </p:sp>
      <p:sp>
        <p:nvSpPr>
          <p:cNvPr id="5" name="object 5"/>
          <p:cNvSpPr/>
          <p:nvPr/>
        </p:nvSpPr>
        <p:spPr>
          <a:xfrm>
            <a:off x="4219409" y="1846533"/>
            <a:ext cx="1706880" cy="1418590"/>
          </a:xfrm>
          <a:custGeom>
            <a:avLst/>
            <a:gdLst/>
            <a:ahLst/>
            <a:cxnLst/>
            <a:rect l="l" t="t" r="r" b="b"/>
            <a:pathLst>
              <a:path w="1706879" h="1418589">
                <a:moveTo>
                  <a:pt x="0" y="0"/>
                </a:moveTo>
                <a:lnTo>
                  <a:pt x="323488" y="408771"/>
                </a:lnTo>
                <a:lnTo>
                  <a:pt x="123233" y="886901"/>
                </a:lnTo>
                <a:lnTo>
                  <a:pt x="206415" y="906086"/>
                </a:lnTo>
                <a:lnTo>
                  <a:pt x="286518" y="931172"/>
                </a:lnTo>
                <a:lnTo>
                  <a:pt x="363538" y="965114"/>
                </a:lnTo>
                <a:lnTo>
                  <a:pt x="435938" y="1004958"/>
                </a:lnTo>
                <a:lnTo>
                  <a:pt x="505258" y="1055132"/>
                </a:lnTo>
                <a:lnTo>
                  <a:pt x="569955" y="1109733"/>
                </a:lnTo>
                <a:lnTo>
                  <a:pt x="628491" y="1168761"/>
                </a:lnTo>
                <a:lnTo>
                  <a:pt x="687026" y="1235168"/>
                </a:lnTo>
                <a:lnTo>
                  <a:pt x="378942" y="1415206"/>
                </a:lnTo>
                <a:lnTo>
                  <a:pt x="1292412" y="1418158"/>
                </a:lnTo>
                <a:lnTo>
                  <a:pt x="1438752" y="1159908"/>
                </a:lnTo>
                <a:lnTo>
                  <a:pt x="1575850" y="901659"/>
                </a:lnTo>
                <a:lnTo>
                  <a:pt x="1627649" y="795407"/>
                </a:lnTo>
                <a:lnTo>
                  <a:pt x="1432590" y="795407"/>
                </a:lnTo>
                <a:lnTo>
                  <a:pt x="1363272" y="695059"/>
                </a:lnTo>
                <a:lnTo>
                  <a:pt x="1289331" y="599137"/>
                </a:lnTo>
                <a:lnTo>
                  <a:pt x="1206149" y="507644"/>
                </a:lnTo>
                <a:lnTo>
                  <a:pt x="1115264" y="423528"/>
                </a:lnTo>
                <a:lnTo>
                  <a:pt x="1021298" y="346791"/>
                </a:lnTo>
                <a:lnTo>
                  <a:pt x="921171" y="277432"/>
                </a:lnTo>
                <a:lnTo>
                  <a:pt x="816422" y="213977"/>
                </a:lnTo>
                <a:lnTo>
                  <a:pt x="708592" y="157900"/>
                </a:lnTo>
                <a:lnTo>
                  <a:pt x="596143" y="110677"/>
                </a:lnTo>
                <a:lnTo>
                  <a:pt x="479070" y="70834"/>
                </a:lnTo>
                <a:lnTo>
                  <a:pt x="363538" y="39843"/>
                </a:lnTo>
                <a:lnTo>
                  <a:pt x="243386" y="17707"/>
                </a:lnTo>
                <a:lnTo>
                  <a:pt x="121692" y="2951"/>
                </a:lnTo>
                <a:lnTo>
                  <a:pt x="0" y="0"/>
                </a:lnTo>
                <a:close/>
              </a:path>
              <a:path w="1706879" h="1418589">
                <a:moveTo>
                  <a:pt x="1706786" y="633079"/>
                </a:moveTo>
                <a:lnTo>
                  <a:pt x="1432590" y="795407"/>
                </a:lnTo>
                <a:lnTo>
                  <a:pt x="1627649" y="795407"/>
                </a:lnTo>
                <a:lnTo>
                  <a:pt x="1706786" y="633079"/>
                </a:lnTo>
                <a:close/>
              </a:path>
            </a:pathLst>
          </a:custGeom>
          <a:solidFill>
            <a:srgbClr val="78A600">
              <a:alpha val="30198"/>
            </a:srgbClr>
          </a:solidFill>
        </p:spPr>
        <p:txBody>
          <a:bodyPr wrap="square" lIns="0" tIns="0" rIns="0" bIns="0" rtlCol="0"/>
          <a:lstStyle/>
          <a:p>
            <a:endParaRPr/>
          </a:p>
        </p:txBody>
      </p:sp>
      <p:sp>
        <p:nvSpPr>
          <p:cNvPr id="6" name="object 6"/>
          <p:cNvSpPr/>
          <p:nvPr/>
        </p:nvSpPr>
        <p:spPr>
          <a:xfrm>
            <a:off x="4219409" y="1846532"/>
            <a:ext cx="1706880" cy="1418590"/>
          </a:xfrm>
          <a:custGeom>
            <a:avLst/>
            <a:gdLst/>
            <a:ahLst/>
            <a:cxnLst/>
            <a:rect l="l" t="t" r="r" b="b"/>
            <a:pathLst>
              <a:path w="1706879" h="1418589">
                <a:moveTo>
                  <a:pt x="378943" y="1415206"/>
                </a:moveTo>
                <a:lnTo>
                  <a:pt x="1292412" y="1418157"/>
                </a:lnTo>
                <a:lnTo>
                  <a:pt x="1438753" y="1159908"/>
                </a:lnTo>
                <a:lnTo>
                  <a:pt x="1575850" y="901659"/>
                </a:lnTo>
                <a:lnTo>
                  <a:pt x="1706786" y="633079"/>
                </a:lnTo>
                <a:lnTo>
                  <a:pt x="1432591" y="795407"/>
                </a:lnTo>
                <a:lnTo>
                  <a:pt x="1363272" y="695059"/>
                </a:lnTo>
                <a:lnTo>
                  <a:pt x="1289331" y="599138"/>
                </a:lnTo>
                <a:lnTo>
                  <a:pt x="1206149" y="507644"/>
                </a:lnTo>
                <a:lnTo>
                  <a:pt x="1115264" y="423528"/>
                </a:lnTo>
                <a:lnTo>
                  <a:pt x="1021298" y="346791"/>
                </a:lnTo>
                <a:lnTo>
                  <a:pt x="921171" y="277433"/>
                </a:lnTo>
                <a:lnTo>
                  <a:pt x="816422" y="213977"/>
                </a:lnTo>
                <a:lnTo>
                  <a:pt x="708593" y="157901"/>
                </a:lnTo>
                <a:lnTo>
                  <a:pt x="596142" y="110678"/>
                </a:lnTo>
                <a:lnTo>
                  <a:pt x="479070" y="70834"/>
                </a:lnTo>
                <a:lnTo>
                  <a:pt x="363539" y="39844"/>
                </a:lnTo>
                <a:lnTo>
                  <a:pt x="243386" y="17708"/>
                </a:lnTo>
                <a:lnTo>
                  <a:pt x="121693" y="2951"/>
                </a:lnTo>
                <a:lnTo>
                  <a:pt x="0" y="0"/>
                </a:lnTo>
                <a:lnTo>
                  <a:pt x="323488" y="408771"/>
                </a:lnTo>
                <a:lnTo>
                  <a:pt x="123233" y="886901"/>
                </a:lnTo>
                <a:lnTo>
                  <a:pt x="206416" y="906086"/>
                </a:lnTo>
                <a:lnTo>
                  <a:pt x="286518" y="931173"/>
                </a:lnTo>
                <a:lnTo>
                  <a:pt x="363539" y="965114"/>
                </a:lnTo>
                <a:lnTo>
                  <a:pt x="435939" y="1004958"/>
                </a:lnTo>
                <a:lnTo>
                  <a:pt x="505257" y="1055132"/>
                </a:lnTo>
                <a:lnTo>
                  <a:pt x="569955" y="1109734"/>
                </a:lnTo>
                <a:lnTo>
                  <a:pt x="628491" y="1168762"/>
                </a:lnTo>
                <a:lnTo>
                  <a:pt x="687027" y="1235169"/>
                </a:lnTo>
                <a:lnTo>
                  <a:pt x="378943" y="1415206"/>
                </a:lnTo>
              </a:path>
            </a:pathLst>
          </a:custGeom>
          <a:ln w="12699">
            <a:solidFill>
              <a:srgbClr val="000000"/>
            </a:solidFill>
          </a:ln>
        </p:spPr>
        <p:txBody>
          <a:bodyPr wrap="square" lIns="0" tIns="0" rIns="0" bIns="0" rtlCol="0"/>
          <a:lstStyle/>
          <a:p>
            <a:endParaRPr/>
          </a:p>
        </p:txBody>
      </p:sp>
      <p:sp>
        <p:nvSpPr>
          <p:cNvPr id="7" name="object 7"/>
          <p:cNvSpPr/>
          <p:nvPr/>
        </p:nvSpPr>
        <p:spPr>
          <a:xfrm>
            <a:off x="1160134" y="1576477"/>
            <a:ext cx="3303270" cy="1620520"/>
          </a:xfrm>
          <a:custGeom>
            <a:avLst/>
            <a:gdLst/>
            <a:ahLst/>
            <a:cxnLst/>
            <a:rect l="l" t="t" r="r" b="b"/>
            <a:pathLst>
              <a:path w="3303270" h="1620520">
                <a:moveTo>
                  <a:pt x="2803927" y="0"/>
                </a:moveTo>
                <a:lnTo>
                  <a:pt x="2805426" y="289238"/>
                </a:lnTo>
                <a:lnTo>
                  <a:pt x="0" y="289238"/>
                </a:lnTo>
                <a:lnTo>
                  <a:pt x="0" y="1275013"/>
                </a:lnTo>
                <a:lnTo>
                  <a:pt x="2005587" y="1275013"/>
                </a:lnTo>
                <a:lnTo>
                  <a:pt x="2324624" y="1620330"/>
                </a:lnTo>
                <a:lnTo>
                  <a:pt x="2377047" y="1542117"/>
                </a:lnTo>
                <a:lnTo>
                  <a:pt x="2433965" y="1469807"/>
                </a:lnTo>
                <a:lnTo>
                  <a:pt x="2495376" y="1398973"/>
                </a:lnTo>
                <a:lnTo>
                  <a:pt x="2562778" y="1336993"/>
                </a:lnTo>
                <a:lnTo>
                  <a:pt x="2627184" y="1286819"/>
                </a:lnTo>
                <a:lnTo>
                  <a:pt x="2696084" y="1246976"/>
                </a:lnTo>
                <a:lnTo>
                  <a:pt x="2770976" y="1213034"/>
                </a:lnTo>
                <a:lnTo>
                  <a:pt x="2845866" y="1184996"/>
                </a:lnTo>
                <a:lnTo>
                  <a:pt x="2925251" y="1165811"/>
                </a:lnTo>
                <a:lnTo>
                  <a:pt x="3106996" y="1165811"/>
                </a:lnTo>
                <a:lnTo>
                  <a:pt x="3302703" y="695059"/>
                </a:lnTo>
                <a:lnTo>
                  <a:pt x="2803927" y="0"/>
                </a:lnTo>
                <a:close/>
              </a:path>
              <a:path w="3303270" h="1620520">
                <a:moveTo>
                  <a:pt x="3106996" y="1165811"/>
                </a:moveTo>
                <a:lnTo>
                  <a:pt x="2925251" y="1165811"/>
                </a:lnTo>
                <a:lnTo>
                  <a:pt x="2970185" y="1494895"/>
                </a:lnTo>
                <a:lnTo>
                  <a:pt x="3106996" y="1165811"/>
                </a:lnTo>
                <a:close/>
              </a:path>
            </a:pathLst>
          </a:custGeom>
          <a:solidFill>
            <a:srgbClr val="78A600">
              <a:alpha val="30198"/>
            </a:srgbClr>
          </a:solidFill>
        </p:spPr>
        <p:txBody>
          <a:bodyPr wrap="square" lIns="0" tIns="0" rIns="0" bIns="0" rtlCol="0"/>
          <a:lstStyle/>
          <a:p>
            <a:endParaRPr/>
          </a:p>
        </p:txBody>
      </p:sp>
      <p:sp>
        <p:nvSpPr>
          <p:cNvPr id="8" name="object 8"/>
          <p:cNvSpPr/>
          <p:nvPr/>
        </p:nvSpPr>
        <p:spPr>
          <a:xfrm>
            <a:off x="1160134" y="1576477"/>
            <a:ext cx="3303270" cy="1620520"/>
          </a:xfrm>
          <a:custGeom>
            <a:avLst/>
            <a:gdLst/>
            <a:ahLst/>
            <a:cxnLst/>
            <a:rect l="l" t="t" r="r" b="b"/>
            <a:pathLst>
              <a:path w="3303270" h="1620520">
                <a:moveTo>
                  <a:pt x="0" y="1275014"/>
                </a:moveTo>
                <a:lnTo>
                  <a:pt x="2005587" y="1275014"/>
                </a:lnTo>
                <a:lnTo>
                  <a:pt x="2324623" y="1620330"/>
                </a:lnTo>
                <a:lnTo>
                  <a:pt x="2377047" y="1542118"/>
                </a:lnTo>
                <a:lnTo>
                  <a:pt x="2433965" y="1469808"/>
                </a:lnTo>
                <a:lnTo>
                  <a:pt x="2495375" y="1398974"/>
                </a:lnTo>
                <a:lnTo>
                  <a:pt x="2562778" y="1336994"/>
                </a:lnTo>
                <a:lnTo>
                  <a:pt x="2627184" y="1286820"/>
                </a:lnTo>
                <a:lnTo>
                  <a:pt x="2696084" y="1246975"/>
                </a:lnTo>
                <a:lnTo>
                  <a:pt x="2770975" y="1213034"/>
                </a:lnTo>
                <a:lnTo>
                  <a:pt x="2845867" y="1184995"/>
                </a:lnTo>
                <a:lnTo>
                  <a:pt x="2925251" y="1165811"/>
                </a:lnTo>
                <a:lnTo>
                  <a:pt x="2970186" y="1494895"/>
                </a:lnTo>
                <a:lnTo>
                  <a:pt x="3302703" y="695059"/>
                </a:lnTo>
                <a:lnTo>
                  <a:pt x="2803927" y="0"/>
                </a:lnTo>
                <a:lnTo>
                  <a:pt x="2805425" y="289239"/>
                </a:lnTo>
                <a:lnTo>
                  <a:pt x="0" y="289239"/>
                </a:lnTo>
                <a:lnTo>
                  <a:pt x="0" y="1275014"/>
                </a:lnTo>
              </a:path>
            </a:pathLst>
          </a:custGeom>
          <a:ln w="12699">
            <a:solidFill>
              <a:srgbClr val="000000"/>
            </a:solidFill>
          </a:ln>
        </p:spPr>
        <p:txBody>
          <a:bodyPr wrap="square" lIns="0" tIns="0" rIns="0" bIns="0" rtlCol="0"/>
          <a:lstStyle/>
          <a:p>
            <a:endParaRPr/>
          </a:p>
        </p:txBody>
      </p:sp>
      <p:sp>
        <p:nvSpPr>
          <p:cNvPr id="9" name="object 9"/>
          <p:cNvSpPr/>
          <p:nvPr/>
        </p:nvSpPr>
        <p:spPr>
          <a:xfrm>
            <a:off x="3882057" y="4145691"/>
            <a:ext cx="1716405" cy="1561465"/>
          </a:xfrm>
          <a:custGeom>
            <a:avLst/>
            <a:gdLst/>
            <a:ahLst/>
            <a:cxnLst/>
            <a:rect l="l" t="t" r="r" b="b"/>
            <a:pathLst>
              <a:path w="1716404" h="1561464">
                <a:moveTo>
                  <a:pt x="429778" y="0"/>
                </a:moveTo>
                <a:lnTo>
                  <a:pt x="0" y="780651"/>
                </a:lnTo>
                <a:lnTo>
                  <a:pt x="429778" y="1561301"/>
                </a:lnTo>
                <a:lnTo>
                  <a:pt x="429778" y="1202703"/>
                </a:lnTo>
                <a:lnTo>
                  <a:pt x="543768" y="1192373"/>
                </a:lnTo>
                <a:lnTo>
                  <a:pt x="660840" y="1173189"/>
                </a:lnTo>
                <a:lnTo>
                  <a:pt x="773291" y="1146627"/>
                </a:lnTo>
                <a:lnTo>
                  <a:pt x="882661" y="1112685"/>
                </a:lnTo>
                <a:lnTo>
                  <a:pt x="990490" y="1071365"/>
                </a:lnTo>
                <a:lnTo>
                  <a:pt x="1096779" y="1022667"/>
                </a:lnTo>
                <a:lnTo>
                  <a:pt x="1198446" y="966590"/>
                </a:lnTo>
                <a:lnTo>
                  <a:pt x="1298575" y="904610"/>
                </a:lnTo>
                <a:lnTo>
                  <a:pt x="1480345" y="757039"/>
                </a:lnTo>
                <a:lnTo>
                  <a:pt x="1563527" y="672923"/>
                </a:lnTo>
                <a:lnTo>
                  <a:pt x="1645169" y="582905"/>
                </a:lnTo>
                <a:lnTo>
                  <a:pt x="1694313" y="519450"/>
                </a:lnTo>
                <a:lnTo>
                  <a:pt x="1195365" y="519450"/>
                </a:lnTo>
                <a:lnTo>
                  <a:pt x="1096915" y="324656"/>
                </a:lnTo>
                <a:lnTo>
                  <a:pt x="429778" y="324656"/>
                </a:lnTo>
                <a:lnTo>
                  <a:pt x="429778" y="0"/>
                </a:lnTo>
                <a:close/>
              </a:path>
              <a:path w="1716404" h="1561464">
                <a:moveTo>
                  <a:pt x="1716029" y="491411"/>
                </a:moveTo>
                <a:lnTo>
                  <a:pt x="1195365" y="519450"/>
                </a:lnTo>
                <a:lnTo>
                  <a:pt x="1694313" y="519450"/>
                </a:lnTo>
                <a:lnTo>
                  <a:pt x="1716029" y="491411"/>
                </a:lnTo>
                <a:close/>
              </a:path>
              <a:path w="1716404" h="1561464">
                <a:moveTo>
                  <a:pt x="959681" y="53125"/>
                </a:moveTo>
                <a:lnTo>
                  <a:pt x="910389" y="101823"/>
                </a:lnTo>
                <a:lnTo>
                  <a:pt x="858014" y="144618"/>
                </a:lnTo>
                <a:lnTo>
                  <a:pt x="794857" y="188890"/>
                </a:lnTo>
                <a:lnTo>
                  <a:pt x="727078" y="231686"/>
                </a:lnTo>
                <a:lnTo>
                  <a:pt x="654678" y="262676"/>
                </a:lnTo>
                <a:lnTo>
                  <a:pt x="583820" y="290714"/>
                </a:lnTo>
                <a:lnTo>
                  <a:pt x="508339" y="311374"/>
                </a:lnTo>
                <a:lnTo>
                  <a:pt x="429778" y="324656"/>
                </a:lnTo>
                <a:lnTo>
                  <a:pt x="1096915" y="324656"/>
                </a:lnTo>
                <a:lnTo>
                  <a:pt x="959681" y="53125"/>
                </a:lnTo>
                <a:close/>
              </a:path>
            </a:pathLst>
          </a:custGeom>
          <a:solidFill>
            <a:srgbClr val="78A600">
              <a:alpha val="30198"/>
            </a:srgbClr>
          </a:solidFill>
        </p:spPr>
        <p:txBody>
          <a:bodyPr wrap="square" lIns="0" tIns="0" rIns="0" bIns="0" rtlCol="0"/>
          <a:lstStyle/>
          <a:p>
            <a:endParaRPr/>
          </a:p>
        </p:txBody>
      </p:sp>
      <p:sp>
        <p:nvSpPr>
          <p:cNvPr id="10" name="object 10"/>
          <p:cNvSpPr/>
          <p:nvPr/>
        </p:nvSpPr>
        <p:spPr>
          <a:xfrm>
            <a:off x="3882057" y="4145691"/>
            <a:ext cx="1716405" cy="1561465"/>
          </a:xfrm>
          <a:custGeom>
            <a:avLst/>
            <a:gdLst/>
            <a:ahLst/>
            <a:cxnLst/>
            <a:rect l="l" t="t" r="r" b="b"/>
            <a:pathLst>
              <a:path w="1716404" h="1561464">
                <a:moveTo>
                  <a:pt x="0" y="780650"/>
                </a:moveTo>
                <a:lnTo>
                  <a:pt x="429777" y="1561301"/>
                </a:lnTo>
                <a:lnTo>
                  <a:pt x="429777" y="1202703"/>
                </a:lnTo>
                <a:lnTo>
                  <a:pt x="543768" y="1192373"/>
                </a:lnTo>
                <a:lnTo>
                  <a:pt x="660840" y="1173189"/>
                </a:lnTo>
                <a:lnTo>
                  <a:pt x="773291" y="1146627"/>
                </a:lnTo>
                <a:lnTo>
                  <a:pt x="882660" y="1112685"/>
                </a:lnTo>
                <a:lnTo>
                  <a:pt x="990490" y="1071365"/>
                </a:lnTo>
                <a:lnTo>
                  <a:pt x="1096778" y="1022667"/>
                </a:lnTo>
                <a:lnTo>
                  <a:pt x="1198446" y="966590"/>
                </a:lnTo>
                <a:lnTo>
                  <a:pt x="1298573" y="904610"/>
                </a:lnTo>
                <a:lnTo>
                  <a:pt x="1387918" y="832300"/>
                </a:lnTo>
                <a:lnTo>
                  <a:pt x="1480343" y="757039"/>
                </a:lnTo>
                <a:lnTo>
                  <a:pt x="1563526" y="672923"/>
                </a:lnTo>
                <a:lnTo>
                  <a:pt x="1645168" y="582905"/>
                </a:lnTo>
                <a:lnTo>
                  <a:pt x="1716027" y="491411"/>
                </a:lnTo>
                <a:lnTo>
                  <a:pt x="1195365" y="519450"/>
                </a:lnTo>
                <a:lnTo>
                  <a:pt x="959681" y="53125"/>
                </a:lnTo>
                <a:lnTo>
                  <a:pt x="910388" y="101824"/>
                </a:lnTo>
                <a:lnTo>
                  <a:pt x="858014" y="144619"/>
                </a:lnTo>
                <a:lnTo>
                  <a:pt x="794856" y="188890"/>
                </a:lnTo>
                <a:lnTo>
                  <a:pt x="727078" y="231686"/>
                </a:lnTo>
                <a:lnTo>
                  <a:pt x="654678" y="262676"/>
                </a:lnTo>
                <a:lnTo>
                  <a:pt x="583819" y="290714"/>
                </a:lnTo>
                <a:lnTo>
                  <a:pt x="508338" y="311374"/>
                </a:lnTo>
                <a:lnTo>
                  <a:pt x="429777" y="324656"/>
                </a:lnTo>
                <a:lnTo>
                  <a:pt x="429777" y="0"/>
                </a:lnTo>
                <a:lnTo>
                  <a:pt x="0" y="780650"/>
                </a:lnTo>
              </a:path>
            </a:pathLst>
          </a:custGeom>
          <a:ln w="12699">
            <a:solidFill>
              <a:srgbClr val="000000"/>
            </a:solidFill>
          </a:ln>
        </p:spPr>
        <p:txBody>
          <a:bodyPr wrap="square" lIns="0" tIns="0" rIns="0" bIns="0" rtlCol="0"/>
          <a:lstStyle/>
          <a:p>
            <a:endParaRPr/>
          </a:p>
        </p:txBody>
      </p:sp>
      <p:sp>
        <p:nvSpPr>
          <p:cNvPr id="11" name="object 11"/>
          <p:cNvSpPr/>
          <p:nvPr/>
        </p:nvSpPr>
        <p:spPr>
          <a:xfrm>
            <a:off x="2423279" y="3949420"/>
            <a:ext cx="1633220" cy="1395095"/>
          </a:xfrm>
          <a:custGeom>
            <a:avLst/>
            <a:gdLst/>
            <a:ahLst/>
            <a:cxnLst/>
            <a:rect l="l" t="t" r="r" b="b"/>
            <a:pathLst>
              <a:path w="1633220" h="1395095">
                <a:moveTo>
                  <a:pt x="1595187" y="582905"/>
                </a:moveTo>
                <a:lnTo>
                  <a:pt x="318867" y="582905"/>
                </a:lnTo>
                <a:lnTo>
                  <a:pt x="388185" y="687682"/>
                </a:lnTo>
                <a:lnTo>
                  <a:pt x="465207" y="783602"/>
                </a:lnTo>
                <a:lnTo>
                  <a:pt x="545308" y="873621"/>
                </a:lnTo>
                <a:lnTo>
                  <a:pt x="631572" y="957737"/>
                </a:lnTo>
                <a:lnTo>
                  <a:pt x="725538" y="1037424"/>
                </a:lnTo>
                <a:lnTo>
                  <a:pt x="824124" y="1108259"/>
                </a:lnTo>
                <a:lnTo>
                  <a:pt x="927333" y="1173190"/>
                </a:lnTo>
                <a:lnTo>
                  <a:pt x="1032082" y="1229268"/>
                </a:lnTo>
                <a:lnTo>
                  <a:pt x="1147612" y="1279442"/>
                </a:lnTo>
                <a:lnTo>
                  <a:pt x="1260063" y="1319286"/>
                </a:lnTo>
                <a:lnTo>
                  <a:pt x="1377135" y="1353228"/>
                </a:lnTo>
                <a:lnTo>
                  <a:pt x="1494208" y="1378314"/>
                </a:lnTo>
                <a:lnTo>
                  <a:pt x="1614360" y="1394547"/>
                </a:lnTo>
                <a:lnTo>
                  <a:pt x="1380216" y="987251"/>
                </a:lnTo>
                <a:lnTo>
                  <a:pt x="1595187" y="582905"/>
                </a:lnTo>
                <a:close/>
              </a:path>
              <a:path w="1633220" h="1395095">
                <a:moveTo>
                  <a:pt x="573036" y="0"/>
                </a:moveTo>
                <a:lnTo>
                  <a:pt x="0" y="703915"/>
                </a:lnTo>
                <a:lnTo>
                  <a:pt x="318867" y="582905"/>
                </a:lnTo>
                <a:lnTo>
                  <a:pt x="1595187" y="582905"/>
                </a:lnTo>
                <a:lnTo>
                  <a:pt x="1632845" y="512072"/>
                </a:lnTo>
                <a:lnTo>
                  <a:pt x="1546581" y="492888"/>
                </a:lnTo>
                <a:lnTo>
                  <a:pt x="1464939" y="464849"/>
                </a:lnTo>
                <a:lnTo>
                  <a:pt x="1383297" y="427956"/>
                </a:lnTo>
                <a:lnTo>
                  <a:pt x="1309357" y="383686"/>
                </a:lnTo>
                <a:lnTo>
                  <a:pt x="1235416" y="329083"/>
                </a:lnTo>
                <a:lnTo>
                  <a:pt x="1172259" y="271531"/>
                </a:lnTo>
                <a:lnTo>
                  <a:pt x="1444914" y="166756"/>
                </a:lnTo>
                <a:lnTo>
                  <a:pt x="573036" y="0"/>
                </a:lnTo>
                <a:close/>
              </a:path>
            </a:pathLst>
          </a:custGeom>
          <a:solidFill>
            <a:srgbClr val="78A600">
              <a:alpha val="30198"/>
            </a:srgbClr>
          </a:solidFill>
        </p:spPr>
        <p:txBody>
          <a:bodyPr wrap="square" lIns="0" tIns="0" rIns="0" bIns="0" rtlCol="0"/>
          <a:lstStyle/>
          <a:p>
            <a:endParaRPr/>
          </a:p>
        </p:txBody>
      </p:sp>
      <p:sp>
        <p:nvSpPr>
          <p:cNvPr id="12" name="object 12"/>
          <p:cNvSpPr/>
          <p:nvPr/>
        </p:nvSpPr>
        <p:spPr>
          <a:xfrm>
            <a:off x="2423279" y="3949420"/>
            <a:ext cx="1633220" cy="1395095"/>
          </a:xfrm>
          <a:custGeom>
            <a:avLst/>
            <a:gdLst/>
            <a:ahLst/>
            <a:cxnLst/>
            <a:rect l="l" t="t" r="r" b="b"/>
            <a:pathLst>
              <a:path w="1633220" h="1395095">
                <a:moveTo>
                  <a:pt x="573036" y="0"/>
                </a:moveTo>
                <a:lnTo>
                  <a:pt x="0" y="703914"/>
                </a:lnTo>
                <a:lnTo>
                  <a:pt x="318866" y="582905"/>
                </a:lnTo>
                <a:lnTo>
                  <a:pt x="388185" y="687681"/>
                </a:lnTo>
                <a:lnTo>
                  <a:pt x="465206" y="783602"/>
                </a:lnTo>
                <a:lnTo>
                  <a:pt x="545308" y="873621"/>
                </a:lnTo>
                <a:lnTo>
                  <a:pt x="631572" y="957736"/>
                </a:lnTo>
                <a:lnTo>
                  <a:pt x="725537" y="1037424"/>
                </a:lnTo>
                <a:lnTo>
                  <a:pt x="824124" y="1108258"/>
                </a:lnTo>
                <a:lnTo>
                  <a:pt x="927332" y="1173189"/>
                </a:lnTo>
                <a:lnTo>
                  <a:pt x="1032081" y="1229267"/>
                </a:lnTo>
                <a:lnTo>
                  <a:pt x="1147612" y="1279441"/>
                </a:lnTo>
                <a:lnTo>
                  <a:pt x="1260063" y="1319285"/>
                </a:lnTo>
                <a:lnTo>
                  <a:pt x="1377135" y="1353226"/>
                </a:lnTo>
                <a:lnTo>
                  <a:pt x="1494207" y="1378313"/>
                </a:lnTo>
                <a:lnTo>
                  <a:pt x="1614360" y="1394546"/>
                </a:lnTo>
                <a:lnTo>
                  <a:pt x="1380216" y="987250"/>
                </a:lnTo>
                <a:lnTo>
                  <a:pt x="1632845" y="512071"/>
                </a:lnTo>
                <a:lnTo>
                  <a:pt x="1546581" y="492887"/>
                </a:lnTo>
                <a:lnTo>
                  <a:pt x="1464939" y="464848"/>
                </a:lnTo>
                <a:lnTo>
                  <a:pt x="1383297" y="427956"/>
                </a:lnTo>
                <a:lnTo>
                  <a:pt x="1309357" y="383684"/>
                </a:lnTo>
                <a:lnTo>
                  <a:pt x="1235416" y="329083"/>
                </a:lnTo>
                <a:lnTo>
                  <a:pt x="1172259" y="271530"/>
                </a:lnTo>
                <a:lnTo>
                  <a:pt x="1444913" y="166755"/>
                </a:lnTo>
                <a:lnTo>
                  <a:pt x="573036" y="0"/>
                </a:lnTo>
              </a:path>
            </a:pathLst>
          </a:custGeom>
          <a:ln w="12699">
            <a:solidFill>
              <a:srgbClr val="000000"/>
            </a:solidFill>
          </a:ln>
        </p:spPr>
        <p:txBody>
          <a:bodyPr wrap="square" lIns="0" tIns="0" rIns="0" bIns="0" rtlCol="0"/>
          <a:lstStyle/>
          <a:p>
            <a:endParaRPr/>
          </a:p>
        </p:txBody>
      </p:sp>
      <p:sp>
        <p:nvSpPr>
          <p:cNvPr id="13" name="object 13"/>
          <p:cNvSpPr/>
          <p:nvPr/>
        </p:nvSpPr>
        <p:spPr>
          <a:xfrm>
            <a:off x="2338556" y="2754095"/>
            <a:ext cx="1332865" cy="1555750"/>
          </a:xfrm>
          <a:custGeom>
            <a:avLst/>
            <a:gdLst/>
            <a:ahLst/>
            <a:cxnLst/>
            <a:rect l="l" t="t" r="r" b="b"/>
            <a:pathLst>
              <a:path w="1332864" h="1555750">
                <a:moveTo>
                  <a:pt x="879580" y="0"/>
                </a:moveTo>
                <a:lnTo>
                  <a:pt x="0" y="1475"/>
                </a:lnTo>
                <a:lnTo>
                  <a:pt x="274195" y="163804"/>
                </a:lnTo>
                <a:lnTo>
                  <a:pt x="235684" y="275958"/>
                </a:lnTo>
                <a:lnTo>
                  <a:pt x="200254" y="389587"/>
                </a:lnTo>
                <a:lnTo>
                  <a:pt x="174067" y="506168"/>
                </a:lnTo>
                <a:lnTo>
                  <a:pt x="154042" y="624226"/>
                </a:lnTo>
                <a:lnTo>
                  <a:pt x="144800" y="743758"/>
                </a:lnTo>
                <a:lnTo>
                  <a:pt x="143259" y="860339"/>
                </a:lnTo>
                <a:lnTo>
                  <a:pt x="146339" y="979872"/>
                </a:lnTo>
                <a:lnTo>
                  <a:pt x="160204" y="1097930"/>
                </a:lnTo>
                <a:lnTo>
                  <a:pt x="181770" y="1215986"/>
                </a:lnTo>
                <a:lnTo>
                  <a:pt x="209497" y="1332567"/>
                </a:lnTo>
                <a:lnTo>
                  <a:pt x="244927" y="1444721"/>
                </a:lnTo>
                <a:lnTo>
                  <a:pt x="291139" y="1555400"/>
                </a:lnTo>
                <a:lnTo>
                  <a:pt x="634653" y="1130395"/>
                </a:lnTo>
                <a:lnTo>
                  <a:pt x="1052492" y="1130395"/>
                </a:lnTo>
                <a:lnTo>
                  <a:pt x="1049026" y="1121540"/>
                </a:lnTo>
                <a:lnTo>
                  <a:pt x="1025919" y="1040376"/>
                </a:lnTo>
                <a:lnTo>
                  <a:pt x="1013597" y="954786"/>
                </a:lnTo>
                <a:lnTo>
                  <a:pt x="1004354" y="867718"/>
                </a:lnTo>
                <a:lnTo>
                  <a:pt x="1004354" y="780651"/>
                </a:lnTo>
                <a:lnTo>
                  <a:pt x="1016678" y="693585"/>
                </a:lnTo>
                <a:lnTo>
                  <a:pt x="1035163" y="609469"/>
                </a:lnTo>
                <a:lnTo>
                  <a:pt x="1231823" y="609469"/>
                </a:lnTo>
                <a:lnTo>
                  <a:pt x="879580" y="0"/>
                </a:lnTo>
                <a:close/>
              </a:path>
              <a:path w="1332864" h="1555750">
                <a:moveTo>
                  <a:pt x="1052492" y="1130395"/>
                </a:moveTo>
                <a:lnTo>
                  <a:pt x="634653" y="1130395"/>
                </a:lnTo>
                <a:lnTo>
                  <a:pt x="1081374" y="1204180"/>
                </a:lnTo>
                <a:lnTo>
                  <a:pt x="1052492" y="1130395"/>
                </a:lnTo>
                <a:close/>
              </a:path>
              <a:path w="1332864" h="1555750">
                <a:moveTo>
                  <a:pt x="1231823" y="609469"/>
                </a:moveTo>
                <a:lnTo>
                  <a:pt x="1035163" y="609469"/>
                </a:lnTo>
                <a:lnTo>
                  <a:pt x="1332463" y="783602"/>
                </a:lnTo>
                <a:lnTo>
                  <a:pt x="1231823" y="609469"/>
                </a:lnTo>
                <a:close/>
              </a:path>
            </a:pathLst>
          </a:custGeom>
          <a:solidFill>
            <a:srgbClr val="78A600">
              <a:alpha val="30198"/>
            </a:srgbClr>
          </a:solidFill>
        </p:spPr>
        <p:txBody>
          <a:bodyPr wrap="square" lIns="0" tIns="0" rIns="0" bIns="0" rtlCol="0"/>
          <a:lstStyle/>
          <a:p>
            <a:endParaRPr/>
          </a:p>
        </p:txBody>
      </p:sp>
      <p:sp>
        <p:nvSpPr>
          <p:cNvPr id="14" name="object 14"/>
          <p:cNvSpPr/>
          <p:nvPr/>
        </p:nvSpPr>
        <p:spPr>
          <a:xfrm>
            <a:off x="2338556" y="2754095"/>
            <a:ext cx="1332865" cy="1555750"/>
          </a:xfrm>
          <a:custGeom>
            <a:avLst/>
            <a:gdLst/>
            <a:ahLst/>
            <a:cxnLst/>
            <a:rect l="l" t="t" r="r" b="b"/>
            <a:pathLst>
              <a:path w="1332864" h="1555750">
                <a:moveTo>
                  <a:pt x="879579" y="0"/>
                </a:moveTo>
                <a:lnTo>
                  <a:pt x="0" y="1475"/>
                </a:lnTo>
                <a:lnTo>
                  <a:pt x="274194" y="163803"/>
                </a:lnTo>
                <a:lnTo>
                  <a:pt x="235684" y="275957"/>
                </a:lnTo>
                <a:lnTo>
                  <a:pt x="200254" y="389587"/>
                </a:lnTo>
                <a:lnTo>
                  <a:pt x="174067" y="506168"/>
                </a:lnTo>
                <a:lnTo>
                  <a:pt x="154041" y="624225"/>
                </a:lnTo>
                <a:lnTo>
                  <a:pt x="144799" y="743758"/>
                </a:lnTo>
                <a:lnTo>
                  <a:pt x="143259" y="860339"/>
                </a:lnTo>
                <a:lnTo>
                  <a:pt x="146339" y="979872"/>
                </a:lnTo>
                <a:lnTo>
                  <a:pt x="160203" y="1097929"/>
                </a:lnTo>
                <a:lnTo>
                  <a:pt x="181769" y="1215985"/>
                </a:lnTo>
                <a:lnTo>
                  <a:pt x="209497" y="1332567"/>
                </a:lnTo>
                <a:lnTo>
                  <a:pt x="244926" y="1444721"/>
                </a:lnTo>
                <a:lnTo>
                  <a:pt x="291139" y="1555399"/>
                </a:lnTo>
                <a:lnTo>
                  <a:pt x="634652" y="1130394"/>
                </a:lnTo>
                <a:lnTo>
                  <a:pt x="1081374" y="1204180"/>
                </a:lnTo>
                <a:lnTo>
                  <a:pt x="1049025" y="1121540"/>
                </a:lnTo>
                <a:lnTo>
                  <a:pt x="1025919" y="1040376"/>
                </a:lnTo>
                <a:lnTo>
                  <a:pt x="1013596" y="954785"/>
                </a:lnTo>
                <a:lnTo>
                  <a:pt x="1004353" y="867718"/>
                </a:lnTo>
                <a:lnTo>
                  <a:pt x="1004353" y="780651"/>
                </a:lnTo>
                <a:lnTo>
                  <a:pt x="1016677" y="693584"/>
                </a:lnTo>
                <a:lnTo>
                  <a:pt x="1035161" y="609468"/>
                </a:lnTo>
                <a:lnTo>
                  <a:pt x="1332463" y="783602"/>
                </a:lnTo>
                <a:lnTo>
                  <a:pt x="879579" y="0"/>
                </a:lnTo>
              </a:path>
            </a:pathLst>
          </a:custGeom>
          <a:ln w="12699">
            <a:solidFill>
              <a:srgbClr val="000000"/>
            </a:solidFill>
          </a:ln>
        </p:spPr>
        <p:txBody>
          <a:bodyPr wrap="square" lIns="0" tIns="0" rIns="0" bIns="0" rtlCol="0"/>
          <a:lstStyle/>
          <a:p>
            <a:endParaRPr/>
          </a:p>
        </p:txBody>
      </p:sp>
      <p:sp>
        <p:nvSpPr>
          <p:cNvPr id="15" name="object 15"/>
          <p:cNvSpPr txBox="1"/>
          <p:nvPr/>
        </p:nvSpPr>
        <p:spPr>
          <a:xfrm>
            <a:off x="2029004" y="2171716"/>
            <a:ext cx="12446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单元测试</a:t>
            </a:r>
            <a:endParaRPr sz="2400">
              <a:latin typeface="微软雅黑" panose="020B0503020204020204" pitchFamily="34" charset="-122"/>
              <a:cs typeface="微软雅黑" panose="020B0503020204020204" pitchFamily="34" charset="-122"/>
            </a:endParaRPr>
          </a:p>
        </p:txBody>
      </p:sp>
      <p:sp>
        <p:nvSpPr>
          <p:cNvPr id="16" name="object 16"/>
          <p:cNvSpPr txBox="1"/>
          <p:nvPr/>
        </p:nvSpPr>
        <p:spPr>
          <a:xfrm>
            <a:off x="4674938" y="2286473"/>
            <a:ext cx="757555"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微软雅黑" panose="020B0503020204020204" pitchFamily="34" charset="-122"/>
                <a:cs typeface="微软雅黑" panose="020B0503020204020204" pitchFamily="34" charset="-122"/>
              </a:rPr>
              <a:t>模块</a:t>
            </a:r>
            <a:endParaRPr sz="1800">
              <a:latin typeface="微软雅黑" panose="020B0503020204020204" pitchFamily="34" charset="-122"/>
              <a:cs typeface="微软雅黑" panose="020B0503020204020204" pitchFamily="34" charset="-122"/>
            </a:endParaRPr>
          </a:p>
          <a:p>
            <a:pPr marL="287020">
              <a:lnSpc>
                <a:spcPts val="2130"/>
              </a:lnSpc>
            </a:pPr>
            <a:r>
              <a:rPr sz="1800" dirty="0">
                <a:latin typeface="微软雅黑" panose="020B0503020204020204" pitchFamily="34" charset="-122"/>
                <a:cs typeface="微软雅黑" panose="020B0503020204020204" pitchFamily="34" charset="-122"/>
              </a:rPr>
              <a:t>接口</a:t>
            </a:r>
            <a:endParaRPr sz="1800">
              <a:latin typeface="微软雅黑" panose="020B0503020204020204" pitchFamily="34" charset="-122"/>
              <a:cs typeface="微软雅黑" panose="020B0503020204020204" pitchFamily="34" charset="-122"/>
            </a:endParaRPr>
          </a:p>
        </p:txBody>
      </p:sp>
      <p:sp>
        <p:nvSpPr>
          <p:cNvPr id="17" name="object 17"/>
          <p:cNvSpPr txBox="1"/>
          <p:nvPr/>
        </p:nvSpPr>
        <p:spPr>
          <a:xfrm>
            <a:off x="5188916" y="3470228"/>
            <a:ext cx="482600" cy="845819"/>
          </a:xfrm>
          <a:prstGeom prst="rect">
            <a:avLst/>
          </a:prstGeom>
        </p:spPr>
        <p:txBody>
          <a:bodyPr vert="horz" wrap="square" lIns="0" tIns="13970" rIns="0" bIns="0" rtlCol="0">
            <a:spAutoFit/>
          </a:bodyPr>
          <a:lstStyle/>
          <a:p>
            <a:pPr marL="12700" marR="5080" algn="just">
              <a:lnSpc>
                <a:spcPct val="100000"/>
              </a:lnSpc>
              <a:spcBef>
                <a:spcPts val="110"/>
              </a:spcBef>
            </a:pPr>
            <a:r>
              <a:rPr sz="1800" dirty="0">
                <a:latin typeface="微软雅黑" panose="020B0503020204020204" pitchFamily="34" charset="-122"/>
                <a:cs typeface="微软雅黑" panose="020B0503020204020204" pitchFamily="34" charset="-122"/>
              </a:rPr>
              <a:t>局部 数据 结构</a:t>
            </a:r>
            <a:endParaRPr sz="1800">
              <a:latin typeface="微软雅黑" panose="020B0503020204020204" pitchFamily="34" charset="-122"/>
              <a:cs typeface="微软雅黑" panose="020B0503020204020204" pitchFamily="34" charset="-122"/>
            </a:endParaRPr>
          </a:p>
        </p:txBody>
      </p:sp>
      <p:sp>
        <p:nvSpPr>
          <p:cNvPr id="18" name="object 18"/>
          <p:cNvSpPr txBox="1"/>
          <p:nvPr/>
        </p:nvSpPr>
        <p:spPr>
          <a:xfrm>
            <a:off x="4295353" y="4557358"/>
            <a:ext cx="48260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边界 条件</a:t>
            </a:r>
            <a:endParaRPr sz="1800">
              <a:latin typeface="微软雅黑" panose="020B0503020204020204" pitchFamily="34" charset="-122"/>
              <a:cs typeface="微软雅黑" panose="020B0503020204020204" pitchFamily="34" charset="-122"/>
            </a:endParaRPr>
          </a:p>
        </p:txBody>
      </p:sp>
      <p:sp>
        <p:nvSpPr>
          <p:cNvPr id="19" name="object 19"/>
          <p:cNvSpPr txBox="1"/>
          <p:nvPr/>
        </p:nvSpPr>
        <p:spPr>
          <a:xfrm>
            <a:off x="2994953" y="4267457"/>
            <a:ext cx="757555"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微软雅黑" panose="020B0503020204020204" pitchFamily="34" charset="-122"/>
                <a:cs typeface="微软雅黑" panose="020B0503020204020204" pitchFamily="34" charset="-122"/>
              </a:rPr>
              <a:t>独立</a:t>
            </a:r>
            <a:endParaRPr sz="1800">
              <a:latin typeface="微软雅黑" panose="020B0503020204020204" pitchFamily="34" charset="-122"/>
              <a:cs typeface="微软雅黑" panose="020B0503020204020204" pitchFamily="34" charset="-122"/>
            </a:endParaRPr>
          </a:p>
          <a:p>
            <a:pPr marL="287020">
              <a:lnSpc>
                <a:spcPts val="2130"/>
              </a:lnSpc>
            </a:pPr>
            <a:r>
              <a:rPr sz="1800" dirty="0">
                <a:latin typeface="微软雅黑" panose="020B0503020204020204" pitchFamily="34" charset="-122"/>
                <a:cs typeface="微软雅黑" panose="020B0503020204020204" pitchFamily="34" charset="-122"/>
              </a:rPr>
              <a:t>路径</a:t>
            </a:r>
            <a:endParaRPr sz="1800">
              <a:latin typeface="微软雅黑" panose="020B0503020204020204" pitchFamily="34" charset="-122"/>
              <a:cs typeface="微软雅黑" panose="020B0503020204020204" pitchFamily="34" charset="-122"/>
            </a:endParaRPr>
          </a:p>
        </p:txBody>
      </p:sp>
      <p:sp>
        <p:nvSpPr>
          <p:cNvPr id="20" name="object 20"/>
          <p:cNvSpPr txBox="1"/>
          <p:nvPr/>
        </p:nvSpPr>
        <p:spPr>
          <a:xfrm>
            <a:off x="2700903" y="3144092"/>
            <a:ext cx="48260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出错 处理</a:t>
            </a:r>
            <a:endParaRPr sz="1800">
              <a:latin typeface="微软雅黑" panose="020B0503020204020204" pitchFamily="34" charset="-122"/>
              <a:cs typeface="微软雅黑" panose="020B0503020204020204" pitchFamily="34" charset="-122"/>
            </a:endParaRPr>
          </a:p>
        </p:txBody>
      </p:sp>
      <p:sp>
        <p:nvSpPr>
          <p:cNvPr id="21" name="object 21"/>
          <p:cNvSpPr/>
          <p:nvPr/>
        </p:nvSpPr>
        <p:spPr>
          <a:xfrm>
            <a:off x="6453442" y="3037694"/>
            <a:ext cx="885481" cy="1061587"/>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7809806" y="2788921"/>
            <a:ext cx="3084021" cy="1878675"/>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7805649" y="2597727"/>
            <a:ext cx="3084021" cy="1882832"/>
          </a:xfrm>
          <a:prstGeom prst="rect">
            <a:avLst/>
          </a:prstGeom>
          <a:blipFill>
            <a:blip r:embed="rId5" cstate="print"/>
            <a:stretch>
              <a:fillRect/>
            </a:stretch>
          </a:blipFill>
        </p:spPr>
        <p:txBody>
          <a:bodyPr wrap="square" lIns="0" tIns="0" rIns="0" bIns="0" rtlCol="0"/>
          <a:lstStyle/>
          <a:p>
            <a:endParaRPr/>
          </a:p>
        </p:txBody>
      </p:sp>
      <p:sp>
        <p:nvSpPr>
          <p:cNvPr id="24" name="object 24"/>
          <p:cNvSpPr txBox="1"/>
          <p:nvPr/>
        </p:nvSpPr>
        <p:spPr>
          <a:xfrm>
            <a:off x="8613748" y="3103288"/>
            <a:ext cx="14224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solidFill>
                  <a:srgbClr val="3300CC"/>
                </a:solidFill>
                <a:latin typeface="微软雅黑" panose="020B0503020204020204" pitchFamily="34" charset="-122"/>
                <a:cs typeface="微软雅黑" panose="020B0503020204020204" pitchFamily="34" charset="-122"/>
              </a:rPr>
              <a:t>单元模块被 正确编写</a:t>
            </a:r>
            <a:endParaRPr sz="2200">
              <a:latin typeface="微软雅黑" panose="020B0503020204020204" pitchFamily="34" charset="-122"/>
              <a:cs typeface="微软雅黑" panose="020B0503020204020204" pitchFamily="34" charset="-122"/>
            </a:endParaRPr>
          </a:p>
        </p:txBody>
      </p:sp>
      <p:sp>
        <p:nvSpPr>
          <p:cNvPr id="25" name="灯片编号占位符 24"/>
          <p:cNvSpPr>
            <a:spLocks noGrp="1"/>
          </p:cNvSpPr>
          <p:nvPr>
            <p:ph type="sldNum" sz="quarter" idx="12"/>
          </p:nvPr>
        </p:nvSpPr>
        <p:spPr/>
        <p:txBody>
          <a:bodyPr/>
          <a:lstStyle/>
          <a:p>
            <a:fld id="{74D2AB8B-5816-41F2-8B4B-CA5C3E4E6A65}" type="slidenum">
              <a:rPr lang="zh-CN" altLang="en-US" smtClean="0"/>
              <a:t>35</a:t>
            </a:fld>
            <a:endParaRPr lang="zh-CN" altLang="en-US"/>
          </a:p>
        </p:txBody>
      </p:sp>
      <p:sp>
        <p:nvSpPr>
          <p:cNvPr id="27" name="标题 26"/>
          <p:cNvSpPr>
            <a:spLocks noGrp="1"/>
          </p:cNvSpPr>
          <p:nvPr>
            <p:ph type="title"/>
          </p:nvPr>
        </p:nvSpPr>
        <p:spPr/>
        <p:txBody>
          <a:bodyPr/>
          <a:lstStyle/>
          <a:p>
            <a:r>
              <a:rPr lang="zh-CN" altLang="en-US" dirty="0"/>
              <a:t>单元测试内容</a:t>
            </a:r>
          </a:p>
        </p:txBody>
      </p:sp>
      <p:sp>
        <p:nvSpPr>
          <p:cNvPr id="2" name="矩形 1">
            <a:extLst>
              <a:ext uri="{FF2B5EF4-FFF2-40B4-BE49-F238E27FC236}">
                <a16:creationId xmlns:a16="http://schemas.microsoft.com/office/drawing/2014/main" id="{DBE58137-AFA2-4181-9AD3-21B135D51A8C}"/>
              </a:ext>
            </a:extLst>
          </p:cNvPr>
          <p:cNvSpPr/>
          <p:nvPr/>
        </p:nvSpPr>
        <p:spPr>
          <a:xfrm>
            <a:off x="5308474" y="5223109"/>
            <a:ext cx="6096000" cy="646331"/>
          </a:xfrm>
          <a:prstGeom prst="rect">
            <a:avLst/>
          </a:prstGeom>
        </p:spPr>
        <p:txBody>
          <a:bodyPr>
            <a:spAutoFit/>
          </a:bodyPr>
          <a:lstStyle/>
          <a:p>
            <a:r>
              <a:rPr lang="zh-CN" altLang="en-US" dirty="0"/>
              <a:t>通过单元测试，我们可以保证单元模块的质量，这样为整个的系统打造了坚实的基础。</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07683" y="1690688"/>
            <a:ext cx="1998345" cy="762000"/>
          </a:xfrm>
          <a:prstGeom prst="rect">
            <a:avLst/>
          </a:prstGeom>
          <a:solidFill>
            <a:srgbClr val="797BA9"/>
          </a:solidFill>
        </p:spPr>
        <p:txBody>
          <a:bodyPr vert="horz" wrap="square" lIns="0" tIns="213360" rIns="0" bIns="0" rtlCol="0">
            <a:spAutoFit/>
          </a:bodyPr>
          <a:lstStyle/>
          <a:p>
            <a:pPr marL="582295">
              <a:lnSpc>
                <a:spcPct val="100000"/>
              </a:lnSpc>
              <a:spcBef>
                <a:spcPts val="1680"/>
              </a:spcBef>
            </a:pPr>
            <a:r>
              <a:rPr sz="2200" dirty="0">
                <a:solidFill>
                  <a:srgbClr val="FFFFFF"/>
                </a:solidFill>
                <a:latin typeface="微软雅黑" panose="020B0503020204020204" pitchFamily="34" charset="-122"/>
                <a:cs typeface="微软雅黑" panose="020B0503020204020204" pitchFamily="34" charset="-122"/>
              </a:rPr>
              <a:t>快速的</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107683" y="2605086"/>
            <a:ext cx="1998345" cy="762000"/>
          </a:xfrm>
          <a:prstGeom prst="rect">
            <a:avLst/>
          </a:prstGeom>
          <a:solidFill>
            <a:srgbClr val="797BA9"/>
          </a:solidFill>
        </p:spPr>
        <p:txBody>
          <a:bodyPr vert="horz" wrap="square" lIns="0" tIns="213360" rIns="0" bIns="0" rtlCol="0">
            <a:spAutoFit/>
          </a:bodyPr>
          <a:lstStyle/>
          <a:p>
            <a:pPr marL="582295">
              <a:lnSpc>
                <a:spcPct val="100000"/>
              </a:lnSpc>
              <a:spcBef>
                <a:spcPts val="1680"/>
              </a:spcBef>
            </a:pPr>
            <a:r>
              <a:rPr sz="2200" dirty="0">
                <a:solidFill>
                  <a:srgbClr val="FFFFFF"/>
                </a:solidFill>
                <a:latin typeface="微软雅黑" panose="020B0503020204020204" pitchFamily="34" charset="-122"/>
                <a:cs typeface="微软雅黑" panose="020B0503020204020204" pitchFamily="34" charset="-122"/>
              </a:rPr>
              <a:t>独立的</a:t>
            </a:r>
            <a:endParaRPr sz="2200">
              <a:latin typeface="微软雅黑" panose="020B0503020204020204" pitchFamily="34" charset="-122"/>
              <a:cs typeface="微软雅黑" panose="020B0503020204020204" pitchFamily="34" charset="-122"/>
            </a:endParaRPr>
          </a:p>
        </p:txBody>
      </p:sp>
      <p:sp>
        <p:nvSpPr>
          <p:cNvPr id="5" name="object 5"/>
          <p:cNvSpPr txBox="1"/>
          <p:nvPr/>
        </p:nvSpPr>
        <p:spPr>
          <a:xfrm>
            <a:off x="1107683" y="3519486"/>
            <a:ext cx="1998345" cy="762000"/>
          </a:xfrm>
          <a:prstGeom prst="rect">
            <a:avLst/>
          </a:prstGeom>
          <a:solidFill>
            <a:srgbClr val="797BA9"/>
          </a:solidFill>
        </p:spPr>
        <p:txBody>
          <a:bodyPr vert="horz" wrap="square" lIns="0" tIns="213360" rIns="0" bIns="0" rtlCol="0">
            <a:spAutoFit/>
          </a:bodyPr>
          <a:lstStyle/>
          <a:p>
            <a:pPr marL="442595">
              <a:lnSpc>
                <a:spcPct val="100000"/>
              </a:lnSpc>
              <a:spcBef>
                <a:spcPts val="1680"/>
              </a:spcBef>
            </a:pPr>
            <a:r>
              <a:rPr sz="2200" dirty="0">
                <a:solidFill>
                  <a:srgbClr val="FFFFFF"/>
                </a:solidFill>
                <a:latin typeface="微软雅黑" panose="020B0503020204020204" pitchFamily="34" charset="-122"/>
                <a:cs typeface="微软雅黑" panose="020B0503020204020204" pitchFamily="34" charset="-122"/>
              </a:rPr>
              <a:t>可重复的</a:t>
            </a:r>
            <a:endParaRPr sz="2200">
              <a:latin typeface="微软雅黑" panose="020B0503020204020204" pitchFamily="34" charset="-122"/>
              <a:cs typeface="微软雅黑" panose="020B0503020204020204" pitchFamily="34" charset="-122"/>
            </a:endParaRPr>
          </a:p>
        </p:txBody>
      </p:sp>
      <p:sp>
        <p:nvSpPr>
          <p:cNvPr id="6" name="object 6"/>
          <p:cNvSpPr txBox="1"/>
          <p:nvPr/>
        </p:nvSpPr>
        <p:spPr>
          <a:xfrm>
            <a:off x="1107683" y="4433883"/>
            <a:ext cx="1998345" cy="762000"/>
          </a:xfrm>
          <a:prstGeom prst="rect">
            <a:avLst/>
          </a:prstGeom>
          <a:solidFill>
            <a:srgbClr val="797BA9"/>
          </a:solidFill>
        </p:spPr>
        <p:txBody>
          <a:bodyPr vert="horz" wrap="square" lIns="0" tIns="213360" rIns="0" bIns="0" rtlCol="0">
            <a:spAutoFit/>
          </a:bodyPr>
          <a:lstStyle/>
          <a:p>
            <a:pPr marL="302895">
              <a:lnSpc>
                <a:spcPct val="100000"/>
              </a:lnSpc>
              <a:spcBef>
                <a:spcPts val="1680"/>
              </a:spcBef>
            </a:pPr>
            <a:r>
              <a:rPr sz="2200" dirty="0">
                <a:solidFill>
                  <a:srgbClr val="FFFFFF"/>
                </a:solidFill>
                <a:latin typeface="微软雅黑" panose="020B0503020204020204" pitchFamily="34" charset="-122"/>
                <a:cs typeface="微软雅黑" panose="020B0503020204020204" pitchFamily="34" charset="-122"/>
              </a:rPr>
              <a:t>自我验证的</a:t>
            </a:r>
            <a:endParaRPr sz="2200">
              <a:latin typeface="微软雅黑" panose="020B0503020204020204" pitchFamily="34" charset="-122"/>
              <a:cs typeface="微软雅黑" panose="020B0503020204020204" pitchFamily="34" charset="-122"/>
            </a:endParaRPr>
          </a:p>
        </p:txBody>
      </p:sp>
      <p:sp>
        <p:nvSpPr>
          <p:cNvPr id="7" name="object 7"/>
          <p:cNvSpPr txBox="1"/>
          <p:nvPr/>
        </p:nvSpPr>
        <p:spPr>
          <a:xfrm>
            <a:off x="1107683" y="5348283"/>
            <a:ext cx="1998345" cy="762000"/>
          </a:xfrm>
          <a:prstGeom prst="rect">
            <a:avLst/>
          </a:prstGeom>
          <a:solidFill>
            <a:srgbClr val="797BA9"/>
          </a:solidFill>
        </p:spPr>
        <p:txBody>
          <a:bodyPr vert="horz" wrap="square" lIns="0" tIns="213360" rIns="0" bIns="0" rtlCol="0">
            <a:spAutoFit/>
          </a:bodyPr>
          <a:lstStyle/>
          <a:p>
            <a:pPr marL="582295">
              <a:lnSpc>
                <a:spcPct val="100000"/>
              </a:lnSpc>
              <a:spcBef>
                <a:spcPts val="1680"/>
              </a:spcBef>
            </a:pPr>
            <a:r>
              <a:rPr sz="2200" dirty="0">
                <a:solidFill>
                  <a:srgbClr val="FFFFFF"/>
                </a:solidFill>
                <a:latin typeface="微软雅黑" panose="020B0503020204020204" pitchFamily="34" charset="-122"/>
                <a:cs typeface="微软雅黑" panose="020B0503020204020204" pitchFamily="34" charset="-122"/>
              </a:rPr>
              <a:t>及时的</a:t>
            </a:r>
            <a:endParaRPr sz="2200">
              <a:latin typeface="微软雅黑" panose="020B0503020204020204" pitchFamily="34" charset="-122"/>
              <a:cs typeface="微软雅黑" panose="020B0503020204020204" pitchFamily="34" charset="-122"/>
            </a:endParaRPr>
          </a:p>
        </p:txBody>
      </p:sp>
      <p:sp>
        <p:nvSpPr>
          <p:cNvPr id="8" name="object 8"/>
          <p:cNvSpPr txBox="1"/>
          <p:nvPr/>
        </p:nvSpPr>
        <p:spPr>
          <a:xfrm>
            <a:off x="3506284" y="1900109"/>
            <a:ext cx="739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单元测试应能快速运行，如果运行缓慢，就不会愿意频繁运行它。</a:t>
            </a:r>
          </a:p>
        </p:txBody>
      </p:sp>
      <p:sp>
        <p:nvSpPr>
          <p:cNvPr id="9" name="object 9"/>
          <p:cNvSpPr txBox="1"/>
          <p:nvPr/>
        </p:nvSpPr>
        <p:spPr>
          <a:xfrm>
            <a:off x="3506283" y="2608244"/>
            <a:ext cx="7645400" cy="736600"/>
          </a:xfrm>
          <a:prstGeom prst="rect">
            <a:avLst/>
          </a:prstGeom>
        </p:spPr>
        <p:txBody>
          <a:bodyPr vert="horz" wrap="square" lIns="0" tIns="12700" rIns="0" bIns="0" rtlCol="0">
            <a:spAutoFit/>
          </a:bodyPr>
          <a:lstStyle/>
          <a:p>
            <a:pPr marL="12700" marR="5080">
              <a:lnSpc>
                <a:spcPct val="117000"/>
              </a:lnSpc>
              <a:spcBef>
                <a:spcPts val="100"/>
              </a:spcBef>
            </a:pPr>
            <a:r>
              <a:rPr sz="2000" spc="45" dirty="0">
                <a:latin typeface="微软雅黑" panose="020B0503020204020204" pitchFamily="34" charset="-122"/>
                <a:cs typeface="微软雅黑" panose="020B0503020204020204" pitchFamily="34" charset="-122"/>
              </a:rPr>
              <a:t>单元测试应相互独立，某个测试不应为下一个测试设定条</a:t>
            </a:r>
            <a:r>
              <a:rPr sz="2000" spc="40" dirty="0">
                <a:latin typeface="微软雅黑" panose="020B0503020204020204" pitchFamily="34" charset="-122"/>
                <a:cs typeface="微软雅黑" panose="020B0503020204020204" pitchFamily="34" charset="-122"/>
              </a:rPr>
              <a:t>件</a:t>
            </a:r>
            <a:r>
              <a:rPr sz="2000" spc="45" dirty="0">
                <a:latin typeface="微软雅黑" panose="020B0503020204020204" pitchFamily="34" charset="-122"/>
                <a:cs typeface="微软雅黑" panose="020B0503020204020204" pitchFamily="34" charset="-122"/>
              </a:rPr>
              <a:t>。当测 </a:t>
            </a:r>
            <a:r>
              <a:rPr sz="2000" dirty="0">
                <a:latin typeface="微软雅黑" panose="020B0503020204020204" pitchFamily="34" charset="-122"/>
                <a:cs typeface="微软雅黑" panose="020B0503020204020204" pitchFamily="34" charset="-122"/>
              </a:rPr>
              <a:t>试相互依赖时，一个没通过就会导致一连串的失败，难以定位问题。</a:t>
            </a:r>
          </a:p>
        </p:txBody>
      </p:sp>
      <p:sp>
        <p:nvSpPr>
          <p:cNvPr id="10" name="object 10"/>
          <p:cNvSpPr txBox="1"/>
          <p:nvPr/>
        </p:nvSpPr>
        <p:spPr>
          <a:xfrm>
            <a:off x="3506284" y="3721276"/>
            <a:ext cx="662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单元测试应该是可以重复执行的，并且结果是可以重现的。</a:t>
            </a:r>
            <a:endParaRPr sz="2000">
              <a:latin typeface="微软雅黑" panose="020B0503020204020204" pitchFamily="34" charset="-122"/>
              <a:cs typeface="微软雅黑" panose="020B0503020204020204" pitchFamily="34" charset="-122"/>
            </a:endParaRPr>
          </a:p>
        </p:txBody>
      </p:sp>
      <p:sp>
        <p:nvSpPr>
          <p:cNvPr id="11" name="object 11"/>
          <p:cNvSpPr txBox="1"/>
          <p:nvPr/>
        </p:nvSpPr>
        <p:spPr>
          <a:xfrm>
            <a:off x="3523217" y="4415545"/>
            <a:ext cx="7569200" cy="736600"/>
          </a:xfrm>
          <a:prstGeom prst="rect">
            <a:avLst/>
          </a:prstGeom>
        </p:spPr>
        <p:txBody>
          <a:bodyPr vert="horz" wrap="square" lIns="0" tIns="12700" rIns="0" bIns="0" rtlCol="0">
            <a:spAutoFit/>
          </a:bodyPr>
          <a:lstStyle/>
          <a:p>
            <a:pPr marL="12700" marR="5080">
              <a:lnSpc>
                <a:spcPct val="117000"/>
              </a:lnSpc>
              <a:spcBef>
                <a:spcPts val="100"/>
              </a:spcBef>
            </a:pPr>
            <a:r>
              <a:rPr sz="2000" spc="120" dirty="0">
                <a:latin typeface="微软雅黑" panose="020B0503020204020204" pitchFamily="34" charset="-122"/>
                <a:cs typeface="微软雅黑" panose="020B0503020204020204" pitchFamily="34" charset="-122"/>
              </a:rPr>
              <a:t>单元测试应该有布尔输出，无论是通过或失败，不应该查看日志 </a:t>
            </a:r>
            <a:r>
              <a:rPr sz="2000" dirty="0">
                <a:latin typeface="微软雅黑" panose="020B0503020204020204" pitchFamily="34" charset="-122"/>
                <a:cs typeface="微软雅黑" panose="020B0503020204020204" pitchFamily="34" charset="-122"/>
              </a:rPr>
              <a:t>文件或手工对比不同的文本文件来确认测试是否通过。</a:t>
            </a:r>
          </a:p>
        </p:txBody>
      </p:sp>
      <p:sp>
        <p:nvSpPr>
          <p:cNvPr id="12" name="object 12"/>
          <p:cNvSpPr txBox="1"/>
          <p:nvPr/>
        </p:nvSpPr>
        <p:spPr>
          <a:xfrm>
            <a:off x="3523217" y="5540744"/>
            <a:ext cx="688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及时编写单元测试代码，应恰好在开发实际的单元代码之前。</a:t>
            </a:r>
          </a:p>
        </p:txBody>
      </p:sp>
      <p:sp>
        <p:nvSpPr>
          <p:cNvPr id="13" name="灯片编号占位符 12"/>
          <p:cNvSpPr>
            <a:spLocks noGrp="1"/>
          </p:cNvSpPr>
          <p:nvPr>
            <p:ph type="sldNum" sz="quarter" idx="12"/>
          </p:nvPr>
        </p:nvSpPr>
        <p:spPr/>
        <p:txBody>
          <a:bodyPr/>
          <a:lstStyle/>
          <a:p>
            <a:fld id="{74D2AB8B-5816-41F2-8B4B-CA5C3E4E6A65}" type="slidenum">
              <a:rPr lang="zh-CN" altLang="en-US" smtClean="0"/>
              <a:t>36</a:t>
            </a:fld>
            <a:endParaRPr lang="zh-CN" altLang="en-US"/>
          </a:p>
        </p:txBody>
      </p:sp>
      <p:sp>
        <p:nvSpPr>
          <p:cNvPr id="15" name="标题 14"/>
          <p:cNvSpPr>
            <a:spLocks noGrp="1"/>
          </p:cNvSpPr>
          <p:nvPr>
            <p:ph type="title"/>
          </p:nvPr>
        </p:nvSpPr>
        <p:spPr/>
        <p:txBody>
          <a:bodyPr/>
          <a:lstStyle/>
          <a:p>
            <a:r>
              <a:rPr lang="zh-CN" altLang="en-US" dirty="0"/>
              <a:t>单元测试原则</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753268" y="2018014"/>
            <a:ext cx="7096125" cy="812800"/>
          </a:xfrm>
          <a:prstGeom prst="rect">
            <a:avLst/>
          </a:prstGeom>
        </p:spPr>
        <p:txBody>
          <a:bodyPr vert="horz" wrap="square" lIns="0" tIns="12700" rIns="0" bIns="0" rtlCol="0">
            <a:spAutoFit/>
          </a:bodyPr>
          <a:lstStyle/>
          <a:p>
            <a:pPr marL="12700" marR="5080">
              <a:lnSpc>
                <a:spcPct val="129000"/>
              </a:lnSpc>
              <a:spcBef>
                <a:spcPts val="100"/>
              </a:spcBef>
            </a:pPr>
            <a:r>
              <a:rPr sz="2000" spc="65" dirty="0">
                <a:solidFill>
                  <a:srgbClr val="0033CC"/>
                </a:solidFill>
                <a:latin typeface="微软雅黑" panose="020B0503020204020204" pitchFamily="34" charset="-122"/>
                <a:cs typeface="微软雅黑" panose="020B0503020204020204" pitchFamily="34" charset="-122"/>
              </a:rPr>
              <a:t>测试通过率</a:t>
            </a:r>
            <a:r>
              <a:rPr sz="2000" spc="65" dirty="0">
                <a:latin typeface="微软雅黑" panose="020B0503020204020204" pitchFamily="34" charset="-122"/>
                <a:cs typeface="微软雅黑" panose="020B0503020204020204" pitchFamily="34" charset="-122"/>
              </a:rPr>
              <a:t>是指在测试过程中执行通过的测试用例所占比</a:t>
            </a:r>
            <a:r>
              <a:rPr sz="2000" dirty="0">
                <a:latin typeface="微软雅黑" panose="020B0503020204020204" pitchFamily="34" charset="-122"/>
                <a:cs typeface="微软雅黑" panose="020B0503020204020204" pitchFamily="34" charset="-122"/>
              </a:rPr>
              <a:t>例， 单元测试通常要求</a:t>
            </a:r>
            <a:r>
              <a:rPr sz="2000" dirty="0">
                <a:solidFill>
                  <a:srgbClr val="CC0000"/>
                </a:solidFill>
                <a:latin typeface="微软雅黑" panose="020B0503020204020204" pitchFamily="34" charset="-122"/>
                <a:cs typeface="微软雅黑" panose="020B0503020204020204" pitchFamily="34" charset="-122"/>
              </a:rPr>
              <a:t>测试用例通过率达到</a:t>
            </a:r>
            <a:r>
              <a:rPr sz="2000" spc="-5" dirty="0">
                <a:solidFill>
                  <a:srgbClr val="CC0000"/>
                </a:solidFill>
                <a:latin typeface="Arial" panose="020B0604020202020204"/>
                <a:cs typeface="Arial" panose="020B0604020202020204"/>
              </a:rPr>
              <a:t>100%</a:t>
            </a:r>
            <a:r>
              <a:rPr sz="2000" dirty="0">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p:txBody>
      </p:sp>
      <p:sp>
        <p:nvSpPr>
          <p:cNvPr id="4" name="object 4"/>
          <p:cNvSpPr/>
          <p:nvPr/>
        </p:nvSpPr>
        <p:spPr>
          <a:xfrm>
            <a:off x="1423060" y="1691010"/>
            <a:ext cx="1635760" cy="1603375"/>
          </a:xfrm>
          <a:custGeom>
            <a:avLst/>
            <a:gdLst/>
            <a:ahLst/>
            <a:cxnLst/>
            <a:rect l="l" t="t" r="r" b="b"/>
            <a:pathLst>
              <a:path w="1635760" h="1603375">
                <a:moveTo>
                  <a:pt x="817783" y="0"/>
                </a:moveTo>
                <a:lnTo>
                  <a:pt x="769732" y="1360"/>
                </a:lnTo>
                <a:lnTo>
                  <a:pt x="722412" y="5393"/>
                </a:lnTo>
                <a:lnTo>
                  <a:pt x="675900" y="12022"/>
                </a:lnTo>
                <a:lnTo>
                  <a:pt x="630273" y="21172"/>
                </a:lnTo>
                <a:lnTo>
                  <a:pt x="585607" y="32768"/>
                </a:lnTo>
                <a:lnTo>
                  <a:pt x="541979" y="46735"/>
                </a:lnTo>
                <a:lnTo>
                  <a:pt x="499465" y="62998"/>
                </a:lnTo>
                <a:lnTo>
                  <a:pt x="458143" y="81481"/>
                </a:lnTo>
                <a:lnTo>
                  <a:pt x="418089" y="102109"/>
                </a:lnTo>
                <a:lnTo>
                  <a:pt x="379379" y="124808"/>
                </a:lnTo>
                <a:lnTo>
                  <a:pt x="342091" y="149501"/>
                </a:lnTo>
                <a:lnTo>
                  <a:pt x="306301" y="176114"/>
                </a:lnTo>
                <a:lnTo>
                  <a:pt x="272086" y="204572"/>
                </a:lnTo>
                <a:lnTo>
                  <a:pt x="239523" y="234799"/>
                </a:lnTo>
                <a:lnTo>
                  <a:pt x="208688" y="266720"/>
                </a:lnTo>
                <a:lnTo>
                  <a:pt x="179658" y="300260"/>
                </a:lnTo>
                <a:lnTo>
                  <a:pt x="152509" y="335344"/>
                </a:lnTo>
                <a:lnTo>
                  <a:pt x="127319" y="371897"/>
                </a:lnTo>
                <a:lnTo>
                  <a:pt x="104163" y="409843"/>
                </a:lnTo>
                <a:lnTo>
                  <a:pt x="83120" y="449107"/>
                </a:lnTo>
                <a:lnTo>
                  <a:pt x="64265" y="489615"/>
                </a:lnTo>
                <a:lnTo>
                  <a:pt x="47675" y="531290"/>
                </a:lnTo>
                <a:lnTo>
                  <a:pt x="33427" y="574058"/>
                </a:lnTo>
                <a:lnTo>
                  <a:pt x="21598" y="617843"/>
                </a:lnTo>
                <a:lnTo>
                  <a:pt x="12264" y="662571"/>
                </a:lnTo>
                <a:lnTo>
                  <a:pt x="5501" y="708165"/>
                </a:lnTo>
                <a:lnTo>
                  <a:pt x="1388" y="754552"/>
                </a:lnTo>
                <a:lnTo>
                  <a:pt x="0" y="801655"/>
                </a:lnTo>
                <a:lnTo>
                  <a:pt x="1388" y="848759"/>
                </a:lnTo>
                <a:lnTo>
                  <a:pt x="5501" y="895146"/>
                </a:lnTo>
                <a:lnTo>
                  <a:pt x="12264" y="940740"/>
                </a:lnTo>
                <a:lnTo>
                  <a:pt x="21598" y="985468"/>
                </a:lnTo>
                <a:lnTo>
                  <a:pt x="33427" y="1029253"/>
                </a:lnTo>
                <a:lnTo>
                  <a:pt x="47675" y="1072021"/>
                </a:lnTo>
                <a:lnTo>
                  <a:pt x="64265" y="1113697"/>
                </a:lnTo>
                <a:lnTo>
                  <a:pt x="83120" y="1154204"/>
                </a:lnTo>
                <a:lnTo>
                  <a:pt x="104163" y="1193468"/>
                </a:lnTo>
                <a:lnTo>
                  <a:pt x="127319" y="1231414"/>
                </a:lnTo>
                <a:lnTo>
                  <a:pt x="152509" y="1267967"/>
                </a:lnTo>
                <a:lnTo>
                  <a:pt x="179658" y="1303051"/>
                </a:lnTo>
                <a:lnTo>
                  <a:pt x="208688" y="1336591"/>
                </a:lnTo>
                <a:lnTo>
                  <a:pt x="239523" y="1368513"/>
                </a:lnTo>
                <a:lnTo>
                  <a:pt x="272086" y="1398740"/>
                </a:lnTo>
                <a:lnTo>
                  <a:pt x="306301" y="1427197"/>
                </a:lnTo>
                <a:lnTo>
                  <a:pt x="342091" y="1453811"/>
                </a:lnTo>
                <a:lnTo>
                  <a:pt x="379379" y="1478504"/>
                </a:lnTo>
                <a:lnTo>
                  <a:pt x="418089" y="1501203"/>
                </a:lnTo>
                <a:lnTo>
                  <a:pt x="458143" y="1521831"/>
                </a:lnTo>
                <a:lnTo>
                  <a:pt x="499465" y="1540314"/>
                </a:lnTo>
                <a:lnTo>
                  <a:pt x="541979" y="1556577"/>
                </a:lnTo>
                <a:lnTo>
                  <a:pt x="585607" y="1570544"/>
                </a:lnTo>
                <a:lnTo>
                  <a:pt x="630273" y="1582140"/>
                </a:lnTo>
                <a:lnTo>
                  <a:pt x="675900" y="1591290"/>
                </a:lnTo>
                <a:lnTo>
                  <a:pt x="722412" y="1597919"/>
                </a:lnTo>
                <a:lnTo>
                  <a:pt x="769732" y="1601951"/>
                </a:lnTo>
                <a:lnTo>
                  <a:pt x="817783" y="1603312"/>
                </a:lnTo>
                <a:lnTo>
                  <a:pt x="865834" y="1601951"/>
                </a:lnTo>
                <a:lnTo>
                  <a:pt x="913154" y="1597919"/>
                </a:lnTo>
                <a:lnTo>
                  <a:pt x="959666" y="1591290"/>
                </a:lnTo>
                <a:lnTo>
                  <a:pt x="1005293" y="1582140"/>
                </a:lnTo>
                <a:lnTo>
                  <a:pt x="1049959" y="1570544"/>
                </a:lnTo>
                <a:lnTo>
                  <a:pt x="1093587" y="1556577"/>
                </a:lnTo>
                <a:lnTo>
                  <a:pt x="1136101" y="1540314"/>
                </a:lnTo>
                <a:lnTo>
                  <a:pt x="1177423" y="1521831"/>
                </a:lnTo>
                <a:lnTo>
                  <a:pt x="1217477" y="1501203"/>
                </a:lnTo>
                <a:lnTo>
                  <a:pt x="1256186" y="1478504"/>
                </a:lnTo>
                <a:lnTo>
                  <a:pt x="1293474" y="1453811"/>
                </a:lnTo>
                <a:lnTo>
                  <a:pt x="1329264" y="1427197"/>
                </a:lnTo>
                <a:lnTo>
                  <a:pt x="1363479" y="1398740"/>
                </a:lnTo>
                <a:lnTo>
                  <a:pt x="1396042" y="1368513"/>
                </a:lnTo>
                <a:lnTo>
                  <a:pt x="1426878" y="1336591"/>
                </a:lnTo>
                <a:lnTo>
                  <a:pt x="1455908" y="1303051"/>
                </a:lnTo>
                <a:lnTo>
                  <a:pt x="1483056" y="1267967"/>
                </a:lnTo>
                <a:lnTo>
                  <a:pt x="1508246" y="1231414"/>
                </a:lnTo>
                <a:lnTo>
                  <a:pt x="1531402" y="1193468"/>
                </a:lnTo>
                <a:lnTo>
                  <a:pt x="1552445" y="1154204"/>
                </a:lnTo>
                <a:lnTo>
                  <a:pt x="1571300" y="1113697"/>
                </a:lnTo>
                <a:lnTo>
                  <a:pt x="1587890" y="1072021"/>
                </a:lnTo>
                <a:lnTo>
                  <a:pt x="1602138" y="1029253"/>
                </a:lnTo>
                <a:lnTo>
                  <a:pt x="1613967" y="985468"/>
                </a:lnTo>
                <a:lnTo>
                  <a:pt x="1623301" y="940740"/>
                </a:lnTo>
                <a:lnTo>
                  <a:pt x="1630063" y="895146"/>
                </a:lnTo>
                <a:lnTo>
                  <a:pt x="1634177" y="848759"/>
                </a:lnTo>
                <a:lnTo>
                  <a:pt x="1635565" y="801655"/>
                </a:lnTo>
                <a:lnTo>
                  <a:pt x="1634177" y="754552"/>
                </a:lnTo>
                <a:lnTo>
                  <a:pt x="1630063" y="708165"/>
                </a:lnTo>
                <a:lnTo>
                  <a:pt x="1623301" y="662571"/>
                </a:lnTo>
                <a:lnTo>
                  <a:pt x="1613967" y="617843"/>
                </a:lnTo>
                <a:lnTo>
                  <a:pt x="1602138" y="574058"/>
                </a:lnTo>
                <a:lnTo>
                  <a:pt x="1587890" y="531290"/>
                </a:lnTo>
                <a:lnTo>
                  <a:pt x="1571300" y="489615"/>
                </a:lnTo>
                <a:lnTo>
                  <a:pt x="1552445" y="449107"/>
                </a:lnTo>
                <a:lnTo>
                  <a:pt x="1531402" y="409843"/>
                </a:lnTo>
                <a:lnTo>
                  <a:pt x="1508246" y="371897"/>
                </a:lnTo>
                <a:lnTo>
                  <a:pt x="1483056" y="335344"/>
                </a:lnTo>
                <a:lnTo>
                  <a:pt x="1455908" y="300260"/>
                </a:lnTo>
                <a:lnTo>
                  <a:pt x="1426878" y="266720"/>
                </a:lnTo>
                <a:lnTo>
                  <a:pt x="1396042" y="234799"/>
                </a:lnTo>
                <a:lnTo>
                  <a:pt x="1363479" y="204572"/>
                </a:lnTo>
                <a:lnTo>
                  <a:pt x="1329264" y="176114"/>
                </a:lnTo>
                <a:lnTo>
                  <a:pt x="1293474" y="149501"/>
                </a:lnTo>
                <a:lnTo>
                  <a:pt x="1256186" y="124808"/>
                </a:lnTo>
                <a:lnTo>
                  <a:pt x="1217477" y="102109"/>
                </a:lnTo>
                <a:lnTo>
                  <a:pt x="1177423" y="81481"/>
                </a:lnTo>
                <a:lnTo>
                  <a:pt x="1136101" y="62998"/>
                </a:lnTo>
                <a:lnTo>
                  <a:pt x="1093587" y="46735"/>
                </a:lnTo>
                <a:lnTo>
                  <a:pt x="1049959" y="32768"/>
                </a:lnTo>
                <a:lnTo>
                  <a:pt x="1005293" y="21172"/>
                </a:lnTo>
                <a:lnTo>
                  <a:pt x="959666" y="12022"/>
                </a:lnTo>
                <a:lnTo>
                  <a:pt x="913154" y="5393"/>
                </a:lnTo>
                <a:lnTo>
                  <a:pt x="865834" y="1360"/>
                </a:lnTo>
                <a:lnTo>
                  <a:pt x="817783" y="0"/>
                </a:lnTo>
                <a:close/>
              </a:path>
            </a:pathLst>
          </a:custGeom>
          <a:solidFill>
            <a:srgbClr val="3C6AA8"/>
          </a:solidFill>
        </p:spPr>
        <p:txBody>
          <a:bodyPr wrap="square" lIns="0" tIns="0" rIns="0" bIns="0" rtlCol="0"/>
          <a:lstStyle/>
          <a:p>
            <a:endParaRPr/>
          </a:p>
        </p:txBody>
      </p:sp>
      <p:sp>
        <p:nvSpPr>
          <p:cNvPr id="5" name="object 5"/>
          <p:cNvSpPr/>
          <p:nvPr/>
        </p:nvSpPr>
        <p:spPr>
          <a:xfrm>
            <a:off x="1387458" y="1655410"/>
            <a:ext cx="1707514" cy="1675130"/>
          </a:xfrm>
          <a:custGeom>
            <a:avLst/>
            <a:gdLst/>
            <a:ahLst/>
            <a:cxnLst/>
            <a:rect l="l" t="t" r="r" b="b"/>
            <a:pathLst>
              <a:path w="1707514" h="1675129">
                <a:moveTo>
                  <a:pt x="0" y="837287"/>
                </a:moveTo>
                <a:lnTo>
                  <a:pt x="4146" y="751876"/>
                </a:lnTo>
                <a:lnTo>
                  <a:pt x="17420" y="668082"/>
                </a:lnTo>
                <a:lnTo>
                  <a:pt x="38173" y="588389"/>
                </a:lnTo>
                <a:lnTo>
                  <a:pt x="67179" y="511317"/>
                </a:lnTo>
                <a:lnTo>
                  <a:pt x="102856" y="437473"/>
                </a:lnTo>
                <a:lnTo>
                  <a:pt x="145997" y="368614"/>
                </a:lnTo>
                <a:lnTo>
                  <a:pt x="194941" y="303909"/>
                </a:lnTo>
                <a:lnTo>
                  <a:pt x="250512" y="245020"/>
                </a:lnTo>
                <a:lnTo>
                  <a:pt x="310753" y="191380"/>
                </a:lnTo>
                <a:lnTo>
                  <a:pt x="376250" y="142464"/>
                </a:lnTo>
                <a:lnTo>
                  <a:pt x="446722" y="101011"/>
                </a:lnTo>
                <a:lnTo>
                  <a:pt x="521178" y="65437"/>
                </a:lnTo>
                <a:lnTo>
                  <a:pt x="600028" y="37217"/>
                </a:lnTo>
                <a:lnTo>
                  <a:pt x="681092" y="17365"/>
                </a:lnTo>
                <a:lnTo>
                  <a:pt x="766235" y="4139"/>
                </a:lnTo>
                <a:lnTo>
                  <a:pt x="853164" y="0"/>
                </a:lnTo>
                <a:lnTo>
                  <a:pt x="940093" y="4139"/>
                </a:lnTo>
                <a:lnTo>
                  <a:pt x="1025235" y="17365"/>
                </a:lnTo>
                <a:lnTo>
                  <a:pt x="1106299" y="37217"/>
                </a:lnTo>
                <a:lnTo>
                  <a:pt x="1185149" y="65437"/>
                </a:lnTo>
                <a:lnTo>
                  <a:pt x="1259606" y="101011"/>
                </a:lnTo>
                <a:lnTo>
                  <a:pt x="1329984" y="142410"/>
                </a:lnTo>
                <a:lnTo>
                  <a:pt x="1396288" y="191309"/>
                </a:lnTo>
                <a:lnTo>
                  <a:pt x="1456709" y="245109"/>
                </a:lnTo>
                <a:lnTo>
                  <a:pt x="1511369" y="303910"/>
                </a:lnTo>
                <a:lnTo>
                  <a:pt x="1561142" y="368614"/>
                </a:lnTo>
                <a:lnTo>
                  <a:pt x="1603454" y="437475"/>
                </a:lnTo>
                <a:lnTo>
                  <a:pt x="1639886" y="511166"/>
                </a:lnTo>
                <a:lnTo>
                  <a:pt x="1668948" y="588389"/>
                </a:lnTo>
                <a:lnTo>
                  <a:pt x="1689701" y="668082"/>
                </a:lnTo>
                <a:lnTo>
                  <a:pt x="1702976" y="751876"/>
                </a:lnTo>
                <a:lnTo>
                  <a:pt x="1707122" y="837287"/>
                </a:lnTo>
                <a:lnTo>
                  <a:pt x="1702976" y="922698"/>
                </a:lnTo>
                <a:lnTo>
                  <a:pt x="1689701" y="1006492"/>
                </a:lnTo>
                <a:lnTo>
                  <a:pt x="1668948" y="1086185"/>
                </a:lnTo>
                <a:lnTo>
                  <a:pt x="1639886" y="1163408"/>
                </a:lnTo>
                <a:lnTo>
                  <a:pt x="1603454" y="1237099"/>
                </a:lnTo>
                <a:lnTo>
                  <a:pt x="1561142" y="1305960"/>
                </a:lnTo>
                <a:lnTo>
                  <a:pt x="1511369" y="1370664"/>
                </a:lnTo>
                <a:lnTo>
                  <a:pt x="1456709" y="1429466"/>
                </a:lnTo>
                <a:lnTo>
                  <a:pt x="1396288" y="1483265"/>
                </a:lnTo>
                <a:lnTo>
                  <a:pt x="1329984" y="1532164"/>
                </a:lnTo>
                <a:lnTo>
                  <a:pt x="1259606" y="1573563"/>
                </a:lnTo>
                <a:lnTo>
                  <a:pt x="1185149" y="1609137"/>
                </a:lnTo>
                <a:lnTo>
                  <a:pt x="1106299" y="1637357"/>
                </a:lnTo>
                <a:lnTo>
                  <a:pt x="1025235" y="1657209"/>
                </a:lnTo>
                <a:lnTo>
                  <a:pt x="940093" y="1670435"/>
                </a:lnTo>
                <a:lnTo>
                  <a:pt x="853164" y="1674575"/>
                </a:lnTo>
                <a:lnTo>
                  <a:pt x="766235" y="1670435"/>
                </a:lnTo>
                <a:lnTo>
                  <a:pt x="681092" y="1657209"/>
                </a:lnTo>
                <a:lnTo>
                  <a:pt x="600028" y="1637357"/>
                </a:lnTo>
                <a:lnTo>
                  <a:pt x="521178" y="1609137"/>
                </a:lnTo>
                <a:lnTo>
                  <a:pt x="446722" y="1573563"/>
                </a:lnTo>
                <a:lnTo>
                  <a:pt x="376250" y="1532109"/>
                </a:lnTo>
                <a:lnTo>
                  <a:pt x="310753" y="1483194"/>
                </a:lnTo>
                <a:lnTo>
                  <a:pt x="250512" y="1429554"/>
                </a:lnTo>
                <a:lnTo>
                  <a:pt x="194941" y="1370665"/>
                </a:lnTo>
                <a:lnTo>
                  <a:pt x="145997" y="1305961"/>
                </a:lnTo>
                <a:lnTo>
                  <a:pt x="102856" y="1237101"/>
                </a:lnTo>
                <a:lnTo>
                  <a:pt x="67179" y="1163257"/>
                </a:lnTo>
                <a:lnTo>
                  <a:pt x="38173" y="1086185"/>
                </a:lnTo>
                <a:lnTo>
                  <a:pt x="17420" y="1006492"/>
                </a:lnTo>
                <a:lnTo>
                  <a:pt x="4146" y="922698"/>
                </a:lnTo>
                <a:lnTo>
                  <a:pt x="0" y="837287"/>
                </a:lnTo>
                <a:close/>
              </a:path>
            </a:pathLst>
          </a:custGeom>
          <a:ln w="17779">
            <a:solidFill>
              <a:srgbClr val="CBCBCB"/>
            </a:solidFill>
          </a:ln>
        </p:spPr>
        <p:txBody>
          <a:bodyPr wrap="square" lIns="0" tIns="0" rIns="0" bIns="0" rtlCol="0"/>
          <a:lstStyle/>
          <a:p>
            <a:endParaRPr/>
          </a:p>
        </p:txBody>
      </p:sp>
      <p:sp>
        <p:nvSpPr>
          <p:cNvPr id="6" name="object 6"/>
          <p:cNvSpPr/>
          <p:nvPr/>
        </p:nvSpPr>
        <p:spPr>
          <a:xfrm>
            <a:off x="1440861" y="1708810"/>
            <a:ext cx="1600835" cy="1567815"/>
          </a:xfrm>
          <a:custGeom>
            <a:avLst/>
            <a:gdLst/>
            <a:ahLst/>
            <a:cxnLst/>
            <a:rect l="l" t="t" r="r" b="b"/>
            <a:pathLst>
              <a:path w="1600835" h="1567814">
                <a:moveTo>
                  <a:pt x="0" y="783887"/>
                </a:moveTo>
                <a:lnTo>
                  <a:pt x="3879" y="703958"/>
                </a:lnTo>
                <a:lnTo>
                  <a:pt x="16292" y="625602"/>
                </a:lnTo>
                <a:lnTo>
                  <a:pt x="35681" y="551148"/>
                </a:lnTo>
                <a:lnTo>
                  <a:pt x="62850" y="478956"/>
                </a:lnTo>
                <a:lnTo>
                  <a:pt x="96209" y="409912"/>
                </a:lnTo>
                <a:lnTo>
                  <a:pt x="136551" y="345521"/>
                </a:lnTo>
                <a:lnTo>
                  <a:pt x="182326" y="285004"/>
                </a:lnTo>
                <a:lnTo>
                  <a:pt x="234312" y="229914"/>
                </a:lnTo>
                <a:lnTo>
                  <a:pt x="291107" y="179344"/>
                </a:lnTo>
                <a:lnTo>
                  <a:pt x="352418" y="133555"/>
                </a:lnTo>
                <a:lnTo>
                  <a:pt x="418385" y="94750"/>
                </a:lnTo>
                <a:lnTo>
                  <a:pt x="488313" y="61340"/>
                </a:lnTo>
                <a:lnTo>
                  <a:pt x="561997" y="34969"/>
                </a:lnTo>
                <a:lnTo>
                  <a:pt x="638147" y="16320"/>
                </a:lnTo>
                <a:lnTo>
                  <a:pt x="718210" y="3883"/>
                </a:lnTo>
                <a:lnTo>
                  <a:pt x="799761" y="0"/>
                </a:lnTo>
                <a:lnTo>
                  <a:pt x="881312" y="3883"/>
                </a:lnTo>
                <a:lnTo>
                  <a:pt x="961375" y="16320"/>
                </a:lnTo>
                <a:lnTo>
                  <a:pt x="1037524" y="34969"/>
                </a:lnTo>
                <a:lnTo>
                  <a:pt x="1111208" y="61340"/>
                </a:lnTo>
                <a:lnTo>
                  <a:pt x="1181136" y="94750"/>
                </a:lnTo>
                <a:lnTo>
                  <a:pt x="1247150" y="133582"/>
                </a:lnTo>
                <a:lnTo>
                  <a:pt x="1309249" y="179379"/>
                </a:lnTo>
                <a:lnTo>
                  <a:pt x="1365954" y="229870"/>
                </a:lnTo>
                <a:lnTo>
                  <a:pt x="1417205" y="285004"/>
                </a:lnTo>
                <a:lnTo>
                  <a:pt x="1463756" y="345520"/>
                </a:lnTo>
                <a:lnTo>
                  <a:pt x="1503322" y="409912"/>
                </a:lnTo>
                <a:lnTo>
                  <a:pt x="1537494" y="479032"/>
                </a:lnTo>
                <a:lnTo>
                  <a:pt x="1564634" y="551148"/>
                </a:lnTo>
                <a:lnTo>
                  <a:pt x="1584023" y="625602"/>
                </a:lnTo>
                <a:lnTo>
                  <a:pt x="1596436" y="703958"/>
                </a:lnTo>
                <a:lnTo>
                  <a:pt x="1600316" y="783887"/>
                </a:lnTo>
                <a:lnTo>
                  <a:pt x="1596436" y="863816"/>
                </a:lnTo>
                <a:lnTo>
                  <a:pt x="1584023" y="942172"/>
                </a:lnTo>
                <a:lnTo>
                  <a:pt x="1564634" y="1016625"/>
                </a:lnTo>
                <a:lnTo>
                  <a:pt x="1537494" y="1088742"/>
                </a:lnTo>
                <a:lnTo>
                  <a:pt x="1503322" y="1157862"/>
                </a:lnTo>
                <a:lnTo>
                  <a:pt x="1463756" y="1222254"/>
                </a:lnTo>
                <a:lnTo>
                  <a:pt x="1417205" y="1282770"/>
                </a:lnTo>
                <a:lnTo>
                  <a:pt x="1365954" y="1337904"/>
                </a:lnTo>
                <a:lnTo>
                  <a:pt x="1309249" y="1388395"/>
                </a:lnTo>
                <a:lnTo>
                  <a:pt x="1247150" y="1434192"/>
                </a:lnTo>
                <a:lnTo>
                  <a:pt x="1181136" y="1473024"/>
                </a:lnTo>
                <a:lnTo>
                  <a:pt x="1111208" y="1506434"/>
                </a:lnTo>
                <a:lnTo>
                  <a:pt x="1037524" y="1532805"/>
                </a:lnTo>
                <a:lnTo>
                  <a:pt x="961375" y="1551454"/>
                </a:lnTo>
                <a:lnTo>
                  <a:pt x="881312" y="1563891"/>
                </a:lnTo>
                <a:lnTo>
                  <a:pt x="799761" y="1567775"/>
                </a:lnTo>
                <a:lnTo>
                  <a:pt x="718210" y="1563891"/>
                </a:lnTo>
                <a:lnTo>
                  <a:pt x="638147" y="1551454"/>
                </a:lnTo>
                <a:lnTo>
                  <a:pt x="561997" y="1532805"/>
                </a:lnTo>
                <a:lnTo>
                  <a:pt x="488313" y="1506434"/>
                </a:lnTo>
                <a:lnTo>
                  <a:pt x="418385" y="1473024"/>
                </a:lnTo>
                <a:lnTo>
                  <a:pt x="352418" y="1434219"/>
                </a:lnTo>
                <a:lnTo>
                  <a:pt x="291107" y="1388430"/>
                </a:lnTo>
                <a:lnTo>
                  <a:pt x="234312" y="1337860"/>
                </a:lnTo>
                <a:lnTo>
                  <a:pt x="182326" y="1282770"/>
                </a:lnTo>
                <a:lnTo>
                  <a:pt x="136551" y="1222253"/>
                </a:lnTo>
                <a:lnTo>
                  <a:pt x="96209" y="1157861"/>
                </a:lnTo>
                <a:lnTo>
                  <a:pt x="62850" y="1088817"/>
                </a:lnTo>
                <a:lnTo>
                  <a:pt x="35681" y="1016625"/>
                </a:lnTo>
                <a:lnTo>
                  <a:pt x="16292" y="942172"/>
                </a:lnTo>
                <a:lnTo>
                  <a:pt x="3879" y="863816"/>
                </a:lnTo>
                <a:lnTo>
                  <a:pt x="0" y="783887"/>
                </a:lnTo>
                <a:close/>
              </a:path>
            </a:pathLst>
          </a:custGeom>
          <a:ln w="53339">
            <a:solidFill>
              <a:srgbClr val="CBCBCB"/>
            </a:solidFill>
          </a:ln>
        </p:spPr>
        <p:txBody>
          <a:bodyPr wrap="square" lIns="0" tIns="0" rIns="0" bIns="0" rtlCol="0"/>
          <a:lstStyle/>
          <a:p>
            <a:endParaRPr/>
          </a:p>
        </p:txBody>
      </p:sp>
      <p:sp>
        <p:nvSpPr>
          <p:cNvPr id="7" name="object 7"/>
          <p:cNvSpPr txBox="1"/>
          <p:nvPr/>
        </p:nvSpPr>
        <p:spPr>
          <a:xfrm>
            <a:off x="1805960" y="2135847"/>
            <a:ext cx="863600" cy="690880"/>
          </a:xfrm>
          <a:prstGeom prst="rect">
            <a:avLst/>
          </a:prstGeom>
        </p:spPr>
        <p:txBody>
          <a:bodyPr vert="horz" wrap="square" lIns="0" tIns="27939" rIns="0" bIns="0" rtlCol="0">
            <a:spAutoFit/>
          </a:bodyPr>
          <a:lstStyle/>
          <a:p>
            <a:pPr marL="12700" marR="5080" indent="139700">
              <a:lnSpc>
                <a:spcPts val="2600"/>
              </a:lnSpc>
              <a:spcBef>
                <a:spcPts val="220"/>
              </a:spcBef>
            </a:pPr>
            <a:r>
              <a:rPr sz="2200" dirty="0">
                <a:solidFill>
                  <a:srgbClr val="FFFFFF"/>
                </a:solidFill>
                <a:latin typeface="微软雅黑" panose="020B0503020204020204" pitchFamily="34" charset="-122"/>
                <a:cs typeface="微软雅黑" panose="020B0503020204020204" pitchFamily="34" charset="-122"/>
              </a:rPr>
              <a:t>测试 通过率</a:t>
            </a:r>
            <a:endParaRPr sz="2200">
              <a:latin typeface="微软雅黑" panose="020B0503020204020204" pitchFamily="34" charset="-122"/>
              <a:cs typeface="微软雅黑" panose="020B0503020204020204" pitchFamily="34" charset="-122"/>
            </a:endParaRPr>
          </a:p>
        </p:txBody>
      </p:sp>
      <p:sp>
        <p:nvSpPr>
          <p:cNvPr id="8" name="object 8"/>
          <p:cNvSpPr/>
          <p:nvPr/>
        </p:nvSpPr>
        <p:spPr>
          <a:xfrm>
            <a:off x="1422400" y="3821544"/>
            <a:ext cx="1633855" cy="1603375"/>
          </a:xfrm>
          <a:custGeom>
            <a:avLst/>
            <a:gdLst/>
            <a:ahLst/>
            <a:cxnLst/>
            <a:rect l="l" t="t" r="r" b="b"/>
            <a:pathLst>
              <a:path w="1633855" h="1603375">
                <a:moveTo>
                  <a:pt x="816927" y="0"/>
                </a:moveTo>
                <a:lnTo>
                  <a:pt x="768926" y="1360"/>
                </a:lnTo>
                <a:lnTo>
                  <a:pt x="721656" y="5391"/>
                </a:lnTo>
                <a:lnTo>
                  <a:pt x="675193" y="12018"/>
                </a:lnTo>
                <a:lnTo>
                  <a:pt x="629613" y="21166"/>
                </a:lnTo>
                <a:lnTo>
                  <a:pt x="584994" y="32759"/>
                </a:lnTo>
                <a:lnTo>
                  <a:pt x="541411" y="46722"/>
                </a:lnTo>
                <a:lnTo>
                  <a:pt x="498942" y="62980"/>
                </a:lnTo>
                <a:lnTo>
                  <a:pt x="457663" y="81457"/>
                </a:lnTo>
                <a:lnTo>
                  <a:pt x="417651" y="102080"/>
                </a:lnTo>
                <a:lnTo>
                  <a:pt x="378982" y="124772"/>
                </a:lnTo>
                <a:lnTo>
                  <a:pt x="341733" y="149458"/>
                </a:lnTo>
                <a:lnTo>
                  <a:pt x="305981" y="176064"/>
                </a:lnTo>
                <a:lnTo>
                  <a:pt x="271801" y="204513"/>
                </a:lnTo>
                <a:lnTo>
                  <a:pt x="239272" y="234732"/>
                </a:lnTo>
                <a:lnTo>
                  <a:pt x="208469" y="266644"/>
                </a:lnTo>
                <a:lnTo>
                  <a:pt x="179469" y="300175"/>
                </a:lnTo>
                <a:lnTo>
                  <a:pt x="152349" y="335249"/>
                </a:lnTo>
                <a:lnTo>
                  <a:pt x="127185" y="371791"/>
                </a:lnTo>
                <a:lnTo>
                  <a:pt x="104054" y="409726"/>
                </a:lnTo>
                <a:lnTo>
                  <a:pt x="83033" y="448979"/>
                </a:lnTo>
                <a:lnTo>
                  <a:pt x="64198" y="489475"/>
                </a:lnTo>
                <a:lnTo>
                  <a:pt x="47625" y="531138"/>
                </a:lnTo>
                <a:lnTo>
                  <a:pt x="33392" y="573894"/>
                </a:lnTo>
                <a:lnTo>
                  <a:pt x="21575" y="617667"/>
                </a:lnTo>
                <a:lnTo>
                  <a:pt x="12251" y="662381"/>
                </a:lnTo>
                <a:lnTo>
                  <a:pt x="5496" y="707963"/>
                </a:lnTo>
                <a:lnTo>
                  <a:pt x="1386" y="754337"/>
                </a:lnTo>
                <a:lnTo>
                  <a:pt x="0" y="801427"/>
                </a:lnTo>
                <a:lnTo>
                  <a:pt x="1386" y="848517"/>
                </a:lnTo>
                <a:lnTo>
                  <a:pt x="5496" y="894890"/>
                </a:lnTo>
                <a:lnTo>
                  <a:pt x="12251" y="940472"/>
                </a:lnTo>
                <a:lnTo>
                  <a:pt x="21575" y="985186"/>
                </a:lnTo>
                <a:lnTo>
                  <a:pt x="33392" y="1028959"/>
                </a:lnTo>
                <a:lnTo>
                  <a:pt x="47625" y="1071715"/>
                </a:lnTo>
                <a:lnTo>
                  <a:pt x="64198" y="1113378"/>
                </a:lnTo>
                <a:lnTo>
                  <a:pt x="83033" y="1153874"/>
                </a:lnTo>
                <a:lnTo>
                  <a:pt x="104054" y="1193127"/>
                </a:lnTo>
                <a:lnTo>
                  <a:pt x="127185" y="1231062"/>
                </a:lnTo>
                <a:lnTo>
                  <a:pt x="152349" y="1267604"/>
                </a:lnTo>
                <a:lnTo>
                  <a:pt x="179469" y="1302678"/>
                </a:lnTo>
                <a:lnTo>
                  <a:pt x="208469" y="1336209"/>
                </a:lnTo>
                <a:lnTo>
                  <a:pt x="239272" y="1368121"/>
                </a:lnTo>
                <a:lnTo>
                  <a:pt x="271801" y="1398339"/>
                </a:lnTo>
                <a:lnTo>
                  <a:pt x="305981" y="1426789"/>
                </a:lnTo>
                <a:lnTo>
                  <a:pt x="341733" y="1453395"/>
                </a:lnTo>
                <a:lnTo>
                  <a:pt x="378982" y="1478081"/>
                </a:lnTo>
                <a:lnTo>
                  <a:pt x="417651" y="1500773"/>
                </a:lnTo>
                <a:lnTo>
                  <a:pt x="457663" y="1521396"/>
                </a:lnTo>
                <a:lnTo>
                  <a:pt x="498942" y="1539874"/>
                </a:lnTo>
                <a:lnTo>
                  <a:pt x="541411" y="1556132"/>
                </a:lnTo>
                <a:lnTo>
                  <a:pt x="584994" y="1570095"/>
                </a:lnTo>
                <a:lnTo>
                  <a:pt x="629613" y="1581688"/>
                </a:lnTo>
                <a:lnTo>
                  <a:pt x="675193" y="1590835"/>
                </a:lnTo>
                <a:lnTo>
                  <a:pt x="721656" y="1597462"/>
                </a:lnTo>
                <a:lnTo>
                  <a:pt x="768926" y="1601493"/>
                </a:lnTo>
                <a:lnTo>
                  <a:pt x="816927" y="1602854"/>
                </a:lnTo>
                <a:lnTo>
                  <a:pt x="864928" y="1601493"/>
                </a:lnTo>
                <a:lnTo>
                  <a:pt x="912198" y="1597462"/>
                </a:lnTo>
                <a:lnTo>
                  <a:pt x="958661" y="1590835"/>
                </a:lnTo>
                <a:lnTo>
                  <a:pt x="1004241" y="1581688"/>
                </a:lnTo>
                <a:lnTo>
                  <a:pt x="1048860" y="1570095"/>
                </a:lnTo>
                <a:lnTo>
                  <a:pt x="1092443" y="1556132"/>
                </a:lnTo>
                <a:lnTo>
                  <a:pt x="1134912" y="1539874"/>
                </a:lnTo>
                <a:lnTo>
                  <a:pt x="1176191" y="1521396"/>
                </a:lnTo>
                <a:lnTo>
                  <a:pt x="1216203" y="1500773"/>
                </a:lnTo>
                <a:lnTo>
                  <a:pt x="1254872" y="1478081"/>
                </a:lnTo>
                <a:lnTo>
                  <a:pt x="1292121" y="1453395"/>
                </a:lnTo>
                <a:lnTo>
                  <a:pt x="1327873" y="1426789"/>
                </a:lnTo>
                <a:lnTo>
                  <a:pt x="1362053" y="1398339"/>
                </a:lnTo>
                <a:lnTo>
                  <a:pt x="1394582" y="1368121"/>
                </a:lnTo>
                <a:lnTo>
                  <a:pt x="1425385" y="1336209"/>
                </a:lnTo>
                <a:lnTo>
                  <a:pt x="1454385" y="1302678"/>
                </a:lnTo>
                <a:lnTo>
                  <a:pt x="1481505" y="1267604"/>
                </a:lnTo>
                <a:lnTo>
                  <a:pt x="1506669" y="1231062"/>
                </a:lnTo>
                <a:lnTo>
                  <a:pt x="1529800" y="1193127"/>
                </a:lnTo>
                <a:lnTo>
                  <a:pt x="1550821" y="1153874"/>
                </a:lnTo>
                <a:lnTo>
                  <a:pt x="1569656" y="1113378"/>
                </a:lnTo>
                <a:lnTo>
                  <a:pt x="1586229" y="1071715"/>
                </a:lnTo>
                <a:lnTo>
                  <a:pt x="1600462" y="1028959"/>
                </a:lnTo>
                <a:lnTo>
                  <a:pt x="1612279" y="985186"/>
                </a:lnTo>
                <a:lnTo>
                  <a:pt x="1621603" y="940472"/>
                </a:lnTo>
                <a:lnTo>
                  <a:pt x="1628358" y="894890"/>
                </a:lnTo>
                <a:lnTo>
                  <a:pt x="1632468" y="848517"/>
                </a:lnTo>
                <a:lnTo>
                  <a:pt x="1633855" y="801427"/>
                </a:lnTo>
                <a:lnTo>
                  <a:pt x="1632468" y="754337"/>
                </a:lnTo>
                <a:lnTo>
                  <a:pt x="1628358" y="707963"/>
                </a:lnTo>
                <a:lnTo>
                  <a:pt x="1621603" y="662381"/>
                </a:lnTo>
                <a:lnTo>
                  <a:pt x="1612279" y="617667"/>
                </a:lnTo>
                <a:lnTo>
                  <a:pt x="1600462" y="573894"/>
                </a:lnTo>
                <a:lnTo>
                  <a:pt x="1586229" y="531138"/>
                </a:lnTo>
                <a:lnTo>
                  <a:pt x="1569656" y="489475"/>
                </a:lnTo>
                <a:lnTo>
                  <a:pt x="1550821" y="448979"/>
                </a:lnTo>
                <a:lnTo>
                  <a:pt x="1529800" y="409726"/>
                </a:lnTo>
                <a:lnTo>
                  <a:pt x="1506669" y="371791"/>
                </a:lnTo>
                <a:lnTo>
                  <a:pt x="1481505" y="335249"/>
                </a:lnTo>
                <a:lnTo>
                  <a:pt x="1454385" y="300175"/>
                </a:lnTo>
                <a:lnTo>
                  <a:pt x="1425385" y="266644"/>
                </a:lnTo>
                <a:lnTo>
                  <a:pt x="1394582" y="234732"/>
                </a:lnTo>
                <a:lnTo>
                  <a:pt x="1362053" y="204513"/>
                </a:lnTo>
                <a:lnTo>
                  <a:pt x="1327873" y="176064"/>
                </a:lnTo>
                <a:lnTo>
                  <a:pt x="1292121" y="149458"/>
                </a:lnTo>
                <a:lnTo>
                  <a:pt x="1254872" y="124772"/>
                </a:lnTo>
                <a:lnTo>
                  <a:pt x="1216203" y="102080"/>
                </a:lnTo>
                <a:lnTo>
                  <a:pt x="1176191" y="81457"/>
                </a:lnTo>
                <a:lnTo>
                  <a:pt x="1134912" y="62980"/>
                </a:lnTo>
                <a:lnTo>
                  <a:pt x="1092443" y="46722"/>
                </a:lnTo>
                <a:lnTo>
                  <a:pt x="1048860" y="32759"/>
                </a:lnTo>
                <a:lnTo>
                  <a:pt x="1004241" y="21166"/>
                </a:lnTo>
                <a:lnTo>
                  <a:pt x="958661" y="12018"/>
                </a:lnTo>
                <a:lnTo>
                  <a:pt x="912198" y="5391"/>
                </a:lnTo>
                <a:lnTo>
                  <a:pt x="864928" y="1360"/>
                </a:lnTo>
                <a:lnTo>
                  <a:pt x="816927" y="0"/>
                </a:lnTo>
                <a:close/>
              </a:path>
            </a:pathLst>
          </a:custGeom>
          <a:solidFill>
            <a:srgbClr val="407879"/>
          </a:solidFill>
        </p:spPr>
        <p:txBody>
          <a:bodyPr wrap="square" lIns="0" tIns="0" rIns="0" bIns="0" rtlCol="0"/>
          <a:lstStyle/>
          <a:p>
            <a:endParaRPr/>
          </a:p>
        </p:txBody>
      </p:sp>
      <p:sp>
        <p:nvSpPr>
          <p:cNvPr id="9" name="object 9"/>
          <p:cNvSpPr/>
          <p:nvPr/>
        </p:nvSpPr>
        <p:spPr>
          <a:xfrm>
            <a:off x="1386798" y="3785944"/>
            <a:ext cx="1704975" cy="1673860"/>
          </a:xfrm>
          <a:custGeom>
            <a:avLst/>
            <a:gdLst/>
            <a:ahLst/>
            <a:cxnLst/>
            <a:rect l="l" t="t" r="r" b="b"/>
            <a:pathLst>
              <a:path w="1704975" h="1673860">
                <a:moveTo>
                  <a:pt x="0" y="837287"/>
                </a:moveTo>
                <a:lnTo>
                  <a:pt x="4146" y="751876"/>
                </a:lnTo>
                <a:lnTo>
                  <a:pt x="17420" y="668082"/>
                </a:lnTo>
                <a:lnTo>
                  <a:pt x="38173" y="588389"/>
                </a:lnTo>
                <a:lnTo>
                  <a:pt x="67179" y="511318"/>
                </a:lnTo>
                <a:lnTo>
                  <a:pt x="102856" y="437473"/>
                </a:lnTo>
                <a:lnTo>
                  <a:pt x="145997" y="368614"/>
                </a:lnTo>
                <a:lnTo>
                  <a:pt x="194860" y="304016"/>
                </a:lnTo>
                <a:lnTo>
                  <a:pt x="249700" y="245021"/>
                </a:lnTo>
                <a:lnTo>
                  <a:pt x="310849" y="191309"/>
                </a:lnTo>
                <a:lnTo>
                  <a:pt x="376250" y="142465"/>
                </a:lnTo>
                <a:lnTo>
                  <a:pt x="446722" y="101011"/>
                </a:lnTo>
                <a:lnTo>
                  <a:pt x="521124" y="65463"/>
                </a:lnTo>
                <a:lnTo>
                  <a:pt x="599215" y="37218"/>
                </a:lnTo>
                <a:lnTo>
                  <a:pt x="681108" y="17365"/>
                </a:lnTo>
                <a:lnTo>
                  <a:pt x="765415" y="4140"/>
                </a:lnTo>
                <a:lnTo>
                  <a:pt x="852370" y="0"/>
                </a:lnTo>
                <a:lnTo>
                  <a:pt x="939299" y="4139"/>
                </a:lnTo>
                <a:lnTo>
                  <a:pt x="1024442" y="17365"/>
                </a:lnTo>
                <a:lnTo>
                  <a:pt x="1105505" y="37217"/>
                </a:lnTo>
                <a:lnTo>
                  <a:pt x="1184355" y="65438"/>
                </a:lnTo>
                <a:lnTo>
                  <a:pt x="1258812" y="101011"/>
                </a:lnTo>
                <a:lnTo>
                  <a:pt x="1329283" y="142465"/>
                </a:lnTo>
                <a:lnTo>
                  <a:pt x="1394781" y="191381"/>
                </a:lnTo>
                <a:lnTo>
                  <a:pt x="1455122" y="245109"/>
                </a:lnTo>
                <a:lnTo>
                  <a:pt x="1509880" y="304016"/>
                </a:lnTo>
                <a:lnTo>
                  <a:pt x="1558743" y="368614"/>
                </a:lnTo>
                <a:lnTo>
                  <a:pt x="1601884" y="437473"/>
                </a:lnTo>
                <a:lnTo>
                  <a:pt x="1637561" y="511318"/>
                </a:lnTo>
                <a:lnTo>
                  <a:pt x="1666567" y="588389"/>
                </a:lnTo>
                <a:lnTo>
                  <a:pt x="1687320" y="668082"/>
                </a:lnTo>
                <a:lnTo>
                  <a:pt x="1700594" y="751876"/>
                </a:lnTo>
                <a:lnTo>
                  <a:pt x="1704741" y="837287"/>
                </a:lnTo>
                <a:lnTo>
                  <a:pt x="1700593" y="922726"/>
                </a:lnTo>
                <a:lnTo>
                  <a:pt x="1687320" y="1005681"/>
                </a:lnTo>
                <a:lnTo>
                  <a:pt x="1666583" y="1086144"/>
                </a:lnTo>
                <a:lnTo>
                  <a:pt x="1637533" y="1163331"/>
                </a:lnTo>
                <a:lnTo>
                  <a:pt x="1601842" y="1236374"/>
                </a:lnTo>
                <a:lnTo>
                  <a:pt x="1558743" y="1305167"/>
                </a:lnTo>
                <a:lnTo>
                  <a:pt x="1509880" y="1369765"/>
                </a:lnTo>
                <a:lnTo>
                  <a:pt x="1455214" y="1428573"/>
                </a:lnTo>
                <a:lnTo>
                  <a:pt x="1394781" y="1483210"/>
                </a:lnTo>
                <a:lnTo>
                  <a:pt x="1329157" y="1531389"/>
                </a:lnTo>
                <a:lnTo>
                  <a:pt x="1258812" y="1572769"/>
                </a:lnTo>
                <a:lnTo>
                  <a:pt x="1184355" y="1608343"/>
                </a:lnTo>
                <a:lnTo>
                  <a:pt x="1105505" y="1636563"/>
                </a:lnTo>
                <a:lnTo>
                  <a:pt x="1024442" y="1656415"/>
                </a:lnTo>
                <a:lnTo>
                  <a:pt x="939299" y="1669641"/>
                </a:lnTo>
                <a:lnTo>
                  <a:pt x="852370" y="1673781"/>
                </a:lnTo>
                <a:lnTo>
                  <a:pt x="765415" y="1669640"/>
                </a:lnTo>
                <a:lnTo>
                  <a:pt x="681108" y="1656415"/>
                </a:lnTo>
                <a:lnTo>
                  <a:pt x="599215" y="1636563"/>
                </a:lnTo>
                <a:lnTo>
                  <a:pt x="521124" y="1608317"/>
                </a:lnTo>
                <a:lnTo>
                  <a:pt x="446722" y="1572769"/>
                </a:lnTo>
                <a:lnTo>
                  <a:pt x="376376" y="1531389"/>
                </a:lnTo>
                <a:lnTo>
                  <a:pt x="310850" y="1483282"/>
                </a:lnTo>
                <a:lnTo>
                  <a:pt x="249609" y="1428661"/>
                </a:lnTo>
                <a:lnTo>
                  <a:pt x="194860" y="1369765"/>
                </a:lnTo>
                <a:lnTo>
                  <a:pt x="145997" y="1305167"/>
                </a:lnTo>
                <a:lnTo>
                  <a:pt x="102898" y="1236374"/>
                </a:lnTo>
                <a:lnTo>
                  <a:pt x="67207" y="1163331"/>
                </a:lnTo>
                <a:lnTo>
                  <a:pt x="38158" y="1086144"/>
                </a:lnTo>
                <a:lnTo>
                  <a:pt x="17420" y="1005681"/>
                </a:lnTo>
                <a:lnTo>
                  <a:pt x="4147" y="922726"/>
                </a:lnTo>
                <a:lnTo>
                  <a:pt x="0" y="837287"/>
                </a:lnTo>
                <a:close/>
              </a:path>
            </a:pathLst>
          </a:custGeom>
          <a:ln w="17779">
            <a:solidFill>
              <a:srgbClr val="CBCBCB"/>
            </a:solidFill>
          </a:ln>
        </p:spPr>
        <p:txBody>
          <a:bodyPr wrap="square" lIns="0" tIns="0" rIns="0" bIns="0" rtlCol="0"/>
          <a:lstStyle/>
          <a:p>
            <a:endParaRPr/>
          </a:p>
        </p:txBody>
      </p:sp>
      <p:sp>
        <p:nvSpPr>
          <p:cNvPr id="10" name="object 10"/>
          <p:cNvSpPr/>
          <p:nvPr/>
        </p:nvSpPr>
        <p:spPr>
          <a:xfrm>
            <a:off x="1440200" y="3839344"/>
            <a:ext cx="1598295" cy="1567180"/>
          </a:xfrm>
          <a:custGeom>
            <a:avLst/>
            <a:gdLst/>
            <a:ahLst/>
            <a:cxnLst/>
            <a:rect l="l" t="t" r="r" b="b"/>
            <a:pathLst>
              <a:path w="1598295" h="1567179">
                <a:moveTo>
                  <a:pt x="0" y="783887"/>
                </a:moveTo>
                <a:lnTo>
                  <a:pt x="3879" y="703958"/>
                </a:lnTo>
                <a:lnTo>
                  <a:pt x="16292" y="625602"/>
                </a:lnTo>
                <a:lnTo>
                  <a:pt x="35681" y="551148"/>
                </a:lnTo>
                <a:lnTo>
                  <a:pt x="62850" y="478956"/>
                </a:lnTo>
                <a:lnTo>
                  <a:pt x="96209" y="409912"/>
                </a:lnTo>
                <a:lnTo>
                  <a:pt x="136551" y="345520"/>
                </a:lnTo>
                <a:lnTo>
                  <a:pt x="182366" y="284951"/>
                </a:lnTo>
                <a:lnTo>
                  <a:pt x="233527" y="229914"/>
                </a:lnTo>
                <a:lnTo>
                  <a:pt x="291059" y="179379"/>
                </a:lnTo>
                <a:lnTo>
                  <a:pt x="352418" y="133554"/>
                </a:lnTo>
                <a:lnTo>
                  <a:pt x="418385" y="94750"/>
                </a:lnTo>
                <a:lnTo>
                  <a:pt x="488340" y="61327"/>
                </a:lnTo>
                <a:lnTo>
                  <a:pt x="561213" y="34969"/>
                </a:lnTo>
                <a:lnTo>
                  <a:pt x="638139" y="16320"/>
                </a:lnTo>
                <a:lnTo>
                  <a:pt x="717429" y="3882"/>
                </a:lnTo>
                <a:lnTo>
                  <a:pt x="798967" y="0"/>
                </a:lnTo>
                <a:lnTo>
                  <a:pt x="880518" y="3883"/>
                </a:lnTo>
                <a:lnTo>
                  <a:pt x="960582" y="16320"/>
                </a:lnTo>
                <a:lnTo>
                  <a:pt x="1036730" y="34969"/>
                </a:lnTo>
                <a:lnTo>
                  <a:pt x="1110415" y="61340"/>
                </a:lnTo>
                <a:lnTo>
                  <a:pt x="1180343" y="94750"/>
                </a:lnTo>
                <a:lnTo>
                  <a:pt x="1246310" y="133554"/>
                </a:lnTo>
                <a:lnTo>
                  <a:pt x="1307621" y="179343"/>
                </a:lnTo>
                <a:lnTo>
                  <a:pt x="1364366" y="229870"/>
                </a:lnTo>
                <a:lnTo>
                  <a:pt x="1415568" y="284951"/>
                </a:lnTo>
                <a:lnTo>
                  <a:pt x="1461384" y="345521"/>
                </a:lnTo>
                <a:lnTo>
                  <a:pt x="1501726" y="409912"/>
                </a:lnTo>
                <a:lnTo>
                  <a:pt x="1535084" y="478956"/>
                </a:lnTo>
                <a:lnTo>
                  <a:pt x="1562253" y="551148"/>
                </a:lnTo>
                <a:lnTo>
                  <a:pt x="1581642" y="625602"/>
                </a:lnTo>
                <a:lnTo>
                  <a:pt x="1594055" y="703958"/>
                </a:lnTo>
                <a:lnTo>
                  <a:pt x="1597935" y="783887"/>
                </a:lnTo>
                <a:lnTo>
                  <a:pt x="1594056" y="863802"/>
                </a:lnTo>
                <a:lnTo>
                  <a:pt x="1581642" y="941387"/>
                </a:lnTo>
                <a:lnTo>
                  <a:pt x="1562245" y="1016646"/>
                </a:lnTo>
                <a:lnTo>
                  <a:pt x="1535098" y="1088780"/>
                </a:lnTo>
                <a:lnTo>
                  <a:pt x="1501747" y="1157034"/>
                </a:lnTo>
                <a:lnTo>
                  <a:pt x="1461384" y="1221459"/>
                </a:lnTo>
                <a:lnTo>
                  <a:pt x="1415568" y="1282029"/>
                </a:lnTo>
                <a:lnTo>
                  <a:pt x="1364320" y="1337160"/>
                </a:lnTo>
                <a:lnTo>
                  <a:pt x="1307621" y="1388422"/>
                </a:lnTo>
                <a:lnTo>
                  <a:pt x="1246373" y="1433389"/>
                </a:lnTo>
                <a:lnTo>
                  <a:pt x="1180343" y="1472230"/>
                </a:lnTo>
                <a:lnTo>
                  <a:pt x="1110415" y="1505640"/>
                </a:lnTo>
                <a:lnTo>
                  <a:pt x="1036730" y="1532011"/>
                </a:lnTo>
                <a:lnTo>
                  <a:pt x="960582" y="1550660"/>
                </a:lnTo>
                <a:lnTo>
                  <a:pt x="880518" y="1563097"/>
                </a:lnTo>
                <a:lnTo>
                  <a:pt x="798967" y="1566980"/>
                </a:lnTo>
                <a:lnTo>
                  <a:pt x="717429" y="1563098"/>
                </a:lnTo>
                <a:lnTo>
                  <a:pt x="638139" y="1550660"/>
                </a:lnTo>
                <a:lnTo>
                  <a:pt x="561213" y="1532011"/>
                </a:lnTo>
                <a:lnTo>
                  <a:pt x="488340" y="1505653"/>
                </a:lnTo>
                <a:lnTo>
                  <a:pt x="418385" y="1472230"/>
                </a:lnTo>
                <a:lnTo>
                  <a:pt x="352355" y="1433389"/>
                </a:lnTo>
                <a:lnTo>
                  <a:pt x="291059" y="1388386"/>
                </a:lnTo>
                <a:lnTo>
                  <a:pt x="233573" y="1337115"/>
                </a:lnTo>
                <a:lnTo>
                  <a:pt x="182366" y="1282029"/>
                </a:lnTo>
                <a:lnTo>
                  <a:pt x="136551" y="1221459"/>
                </a:lnTo>
                <a:lnTo>
                  <a:pt x="96188" y="1157034"/>
                </a:lnTo>
                <a:lnTo>
                  <a:pt x="62837" y="1088780"/>
                </a:lnTo>
                <a:lnTo>
                  <a:pt x="35689" y="1016646"/>
                </a:lnTo>
                <a:lnTo>
                  <a:pt x="16292" y="941387"/>
                </a:lnTo>
                <a:lnTo>
                  <a:pt x="3879" y="863802"/>
                </a:lnTo>
                <a:lnTo>
                  <a:pt x="0" y="783887"/>
                </a:lnTo>
                <a:close/>
              </a:path>
            </a:pathLst>
          </a:custGeom>
          <a:ln w="53339">
            <a:solidFill>
              <a:srgbClr val="CBCBCB"/>
            </a:solidFill>
          </a:ln>
        </p:spPr>
        <p:txBody>
          <a:bodyPr wrap="square" lIns="0" tIns="0" rIns="0" bIns="0" rtlCol="0"/>
          <a:lstStyle/>
          <a:p>
            <a:endParaRPr/>
          </a:p>
        </p:txBody>
      </p:sp>
      <p:sp>
        <p:nvSpPr>
          <p:cNvPr id="11" name="object 11"/>
          <p:cNvSpPr txBox="1"/>
          <p:nvPr/>
        </p:nvSpPr>
        <p:spPr>
          <a:xfrm>
            <a:off x="1804442" y="4254975"/>
            <a:ext cx="863600" cy="690880"/>
          </a:xfrm>
          <a:prstGeom prst="rect">
            <a:avLst/>
          </a:prstGeom>
        </p:spPr>
        <p:txBody>
          <a:bodyPr vert="horz" wrap="square" lIns="0" tIns="27939" rIns="0" bIns="0" rtlCol="0">
            <a:spAutoFit/>
          </a:bodyPr>
          <a:lstStyle/>
          <a:p>
            <a:pPr marL="12700" marR="5080" indent="139700">
              <a:lnSpc>
                <a:spcPts val="2600"/>
              </a:lnSpc>
              <a:spcBef>
                <a:spcPts val="220"/>
              </a:spcBef>
            </a:pPr>
            <a:r>
              <a:rPr sz="2200" dirty="0">
                <a:solidFill>
                  <a:srgbClr val="FFFFFF"/>
                </a:solidFill>
                <a:latin typeface="微软雅黑" panose="020B0503020204020204" pitchFamily="34" charset="-122"/>
                <a:cs typeface="微软雅黑" panose="020B0503020204020204" pitchFamily="34" charset="-122"/>
              </a:rPr>
              <a:t>测试 覆盖率</a:t>
            </a:r>
            <a:endParaRPr sz="2200">
              <a:latin typeface="微软雅黑" panose="020B0503020204020204" pitchFamily="34" charset="-122"/>
              <a:cs typeface="微软雅黑" panose="020B0503020204020204" pitchFamily="34" charset="-122"/>
            </a:endParaRPr>
          </a:p>
        </p:txBody>
      </p:sp>
      <p:sp>
        <p:nvSpPr>
          <p:cNvPr id="12" name="object 12"/>
          <p:cNvSpPr txBox="1"/>
          <p:nvPr/>
        </p:nvSpPr>
        <p:spPr>
          <a:xfrm>
            <a:off x="3753268" y="3948415"/>
            <a:ext cx="6883400" cy="1206500"/>
          </a:xfrm>
          <a:prstGeom prst="rect">
            <a:avLst/>
          </a:prstGeom>
        </p:spPr>
        <p:txBody>
          <a:bodyPr vert="horz" wrap="square" lIns="0" tIns="12700" rIns="0" bIns="0" rtlCol="0">
            <a:spAutoFit/>
          </a:bodyPr>
          <a:lstStyle/>
          <a:p>
            <a:pPr marL="12700" marR="5080" algn="just">
              <a:lnSpc>
                <a:spcPct val="129000"/>
              </a:lnSpc>
              <a:spcBef>
                <a:spcPts val="100"/>
              </a:spcBef>
            </a:pPr>
            <a:r>
              <a:rPr sz="2000" spc="65" dirty="0">
                <a:solidFill>
                  <a:srgbClr val="0033CC"/>
                </a:solidFill>
                <a:latin typeface="微软雅黑" panose="020B0503020204020204" pitchFamily="34" charset="-122"/>
                <a:cs typeface="微软雅黑" panose="020B0503020204020204" pitchFamily="34" charset="-122"/>
              </a:rPr>
              <a:t>测试覆盖率</a:t>
            </a:r>
            <a:r>
              <a:rPr sz="2000" spc="65" dirty="0">
                <a:latin typeface="微软雅黑" panose="020B0503020204020204" pitchFamily="34" charset="-122"/>
                <a:cs typeface="微软雅黑" panose="020B0503020204020204" pitchFamily="34" charset="-122"/>
              </a:rPr>
              <a:t>是用来度量测试完整性的一个手段，通过覆盖率 数据，可以了解测试是否充分以及弱点在哪里。</a:t>
            </a:r>
            <a:r>
              <a:rPr sz="2000" spc="65" dirty="0">
                <a:solidFill>
                  <a:srgbClr val="CC0000"/>
                </a:solidFill>
                <a:latin typeface="微软雅黑" panose="020B0503020204020204" pitchFamily="34" charset="-122"/>
                <a:cs typeface="微软雅黑" panose="020B0503020204020204" pitchFamily="34" charset="-122"/>
              </a:rPr>
              <a:t>代码覆盖率 </a:t>
            </a:r>
            <a:r>
              <a:rPr sz="2000" dirty="0">
                <a:solidFill>
                  <a:srgbClr val="CC0000"/>
                </a:solidFill>
                <a:latin typeface="微软雅黑" panose="020B0503020204020204" pitchFamily="34" charset="-122"/>
                <a:cs typeface="微软雅黑" panose="020B0503020204020204" pitchFamily="34" charset="-122"/>
              </a:rPr>
              <a:t>是单元测试的一个衡量标准</a:t>
            </a:r>
            <a:r>
              <a:rPr sz="2000" dirty="0">
                <a:latin typeface="微软雅黑" panose="020B0503020204020204" pitchFamily="34" charset="-122"/>
                <a:cs typeface="微软雅黑" panose="020B0503020204020204" pitchFamily="34" charset="-122"/>
              </a:rPr>
              <a:t>，但也不能一味地去追求覆盖率。</a:t>
            </a:r>
            <a:endParaRPr sz="2000">
              <a:latin typeface="微软雅黑" panose="020B0503020204020204" pitchFamily="34" charset="-122"/>
              <a:cs typeface="微软雅黑" panose="020B0503020204020204" pitchFamily="34" charset="-122"/>
            </a:endParaRPr>
          </a:p>
        </p:txBody>
      </p:sp>
      <p:sp>
        <p:nvSpPr>
          <p:cNvPr id="13" name="灯片编号占位符 12"/>
          <p:cNvSpPr>
            <a:spLocks noGrp="1"/>
          </p:cNvSpPr>
          <p:nvPr>
            <p:ph type="sldNum" sz="quarter" idx="12"/>
          </p:nvPr>
        </p:nvSpPr>
        <p:spPr/>
        <p:txBody>
          <a:bodyPr/>
          <a:lstStyle/>
          <a:p>
            <a:fld id="{74D2AB8B-5816-41F2-8B4B-CA5C3E4E6A65}" type="slidenum">
              <a:rPr lang="zh-CN" altLang="en-US" smtClean="0"/>
              <a:t>37</a:t>
            </a:fld>
            <a:endParaRPr lang="zh-CN" altLang="en-US"/>
          </a:p>
        </p:txBody>
      </p:sp>
      <p:sp>
        <p:nvSpPr>
          <p:cNvPr id="15" name="标题 14"/>
          <p:cNvSpPr>
            <a:spLocks noGrp="1"/>
          </p:cNvSpPr>
          <p:nvPr>
            <p:ph type="title"/>
          </p:nvPr>
        </p:nvSpPr>
        <p:spPr/>
        <p:txBody>
          <a:bodyPr/>
          <a:lstStyle/>
          <a:p>
            <a:r>
              <a:rPr lang="zh-CN" altLang="en-US" dirty="0"/>
              <a:t>单元测试质量</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159000" cy="452120"/>
          </a:xfrm>
          <a:prstGeom prst="rect">
            <a:avLst/>
          </a:prstGeom>
        </p:spPr>
        <p:txBody>
          <a:bodyPr vert="horz" wrap="square" lIns="0" tIns="12700" rIns="0" bIns="0" rtlCol="0">
            <a:spAutoFit/>
          </a:bodyPr>
          <a:lstStyle/>
          <a:p>
            <a:pPr marL="12700">
              <a:lnSpc>
                <a:spcPct val="100000"/>
              </a:lnSpc>
              <a:spcBef>
                <a:spcPts val="100"/>
              </a:spcBef>
            </a:pPr>
            <a:r>
              <a:rPr dirty="0"/>
              <a:t>单元测试方法</a:t>
            </a:r>
          </a:p>
        </p:txBody>
      </p:sp>
      <p:sp>
        <p:nvSpPr>
          <p:cNvPr id="3" name="object 3"/>
          <p:cNvSpPr txBox="1"/>
          <p:nvPr/>
        </p:nvSpPr>
        <p:spPr>
          <a:xfrm>
            <a:off x="1020408" y="1700014"/>
            <a:ext cx="4854575" cy="863600"/>
          </a:xfrm>
          <a:prstGeom prst="rect">
            <a:avLst/>
          </a:prstGeom>
        </p:spPr>
        <p:txBody>
          <a:bodyPr vert="horz" wrap="square" lIns="0" tIns="12700" rIns="0" bIns="0" rtlCol="0">
            <a:spAutoFit/>
          </a:bodyPr>
          <a:lstStyle/>
          <a:p>
            <a:pPr marL="12700" marR="5080">
              <a:lnSpc>
                <a:spcPct val="125000"/>
              </a:lnSpc>
              <a:spcBef>
                <a:spcPts val="100"/>
              </a:spcBef>
            </a:pPr>
            <a:r>
              <a:rPr sz="2200" spc="35" dirty="0">
                <a:solidFill>
                  <a:srgbClr val="0033CC"/>
                </a:solidFill>
                <a:latin typeface="微软雅黑" panose="020B0503020204020204" pitchFamily="34" charset="-122"/>
                <a:cs typeface="微软雅黑" panose="020B0503020204020204" pitchFamily="34" charset="-122"/>
              </a:rPr>
              <a:t>静态测试：</a:t>
            </a:r>
            <a:r>
              <a:rPr sz="2200" spc="35" dirty="0">
                <a:latin typeface="微软雅黑" panose="020B0503020204020204" pitchFamily="34" charset="-122"/>
                <a:cs typeface="微软雅黑" panose="020B0503020204020204" pitchFamily="34" charset="-122"/>
              </a:rPr>
              <a:t>通过人工分析或程序正确性 </a:t>
            </a:r>
            <a:r>
              <a:rPr sz="2200" dirty="0">
                <a:latin typeface="微软雅黑" panose="020B0503020204020204" pitchFamily="34" charset="-122"/>
                <a:cs typeface="微软雅黑" panose="020B0503020204020204" pitchFamily="34" charset="-122"/>
              </a:rPr>
              <a:t>证明的方式来确认程序正确性。</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1381594" y="2991522"/>
            <a:ext cx="4045297" cy="2361487"/>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371337" y="1700015"/>
            <a:ext cx="4856480" cy="863600"/>
          </a:xfrm>
          <a:prstGeom prst="rect">
            <a:avLst/>
          </a:prstGeom>
        </p:spPr>
        <p:txBody>
          <a:bodyPr vert="horz" wrap="square" lIns="0" tIns="12700" rIns="0" bIns="0" rtlCol="0">
            <a:spAutoFit/>
          </a:bodyPr>
          <a:lstStyle/>
          <a:p>
            <a:pPr marL="12700" marR="5080">
              <a:lnSpc>
                <a:spcPct val="125000"/>
              </a:lnSpc>
              <a:spcBef>
                <a:spcPts val="100"/>
              </a:spcBef>
            </a:pPr>
            <a:r>
              <a:rPr sz="2200" spc="35" dirty="0">
                <a:solidFill>
                  <a:srgbClr val="0033CC"/>
                </a:solidFill>
                <a:latin typeface="微软雅黑" panose="020B0503020204020204" pitchFamily="34" charset="-122"/>
                <a:cs typeface="微软雅黑" panose="020B0503020204020204" pitchFamily="34" charset="-122"/>
              </a:rPr>
              <a:t>动态测试：</a:t>
            </a:r>
            <a:r>
              <a:rPr sz="2200" spc="35" dirty="0">
                <a:latin typeface="微软雅黑" panose="020B0503020204020204" pitchFamily="34" charset="-122"/>
                <a:cs typeface="微软雅黑" panose="020B0503020204020204" pitchFamily="34" charset="-122"/>
              </a:rPr>
              <a:t>通过动态分析和程序测试等 </a:t>
            </a:r>
            <a:r>
              <a:rPr sz="2200" dirty="0">
                <a:latin typeface="微软雅黑" panose="020B0503020204020204" pitchFamily="34" charset="-122"/>
                <a:cs typeface="微软雅黑" panose="020B0503020204020204" pitchFamily="34" charset="-122"/>
              </a:rPr>
              <a:t>方法来检查和确认程序是否有问题。</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6146798" y="1557867"/>
            <a:ext cx="0" cy="4098290"/>
          </a:xfrm>
          <a:custGeom>
            <a:avLst/>
            <a:gdLst/>
            <a:ahLst/>
            <a:cxnLst/>
            <a:rect l="l" t="t" r="r" b="b"/>
            <a:pathLst>
              <a:path h="4098290">
                <a:moveTo>
                  <a:pt x="0" y="0"/>
                </a:moveTo>
                <a:lnTo>
                  <a:pt x="1" y="4097864"/>
                </a:lnTo>
              </a:path>
            </a:pathLst>
          </a:custGeom>
          <a:ln w="28574">
            <a:solidFill>
              <a:srgbClr val="898484"/>
            </a:solidFill>
          </a:ln>
        </p:spPr>
        <p:txBody>
          <a:bodyPr wrap="square" lIns="0" tIns="0" rIns="0" bIns="0" rtlCol="0"/>
          <a:lstStyle/>
          <a:p>
            <a:endParaRPr/>
          </a:p>
        </p:txBody>
      </p:sp>
      <p:sp>
        <p:nvSpPr>
          <p:cNvPr id="7" name="object 7"/>
          <p:cNvSpPr/>
          <p:nvPr/>
        </p:nvSpPr>
        <p:spPr>
          <a:xfrm>
            <a:off x="7770752" y="3178559"/>
            <a:ext cx="2338445" cy="2188279"/>
          </a:xfrm>
          <a:prstGeom prst="rect">
            <a:avLst/>
          </a:prstGeom>
          <a:blipFill>
            <a:blip r:embed="rId4" cstate="print"/>
            <a:stretch>
              <a:fillRect/>
            </a:stretch>
          </a:blipFill>
        </p:spPr>
        <p:txBody>
          <a:bodyPr wrap="square" lIns="0" tIns="0" rIns="0" bIns="0" rtlCol="0"/>
          <a:lstStyle/>
          <a:p>
            <a:endParaRPr/>
          </a:p>
        </p:txBody>
      </p:sp>
      <p:sp>
        <p:nvSpPr>
          <p:cNvPr id="8" name="灯片编号占位符 7"/>
          <p:cNvSpPr>
            <a:spLocks noGrp="1"/>
          </p:cNvSpPr>
          <p:nvPr>
            <p:ph type="sldNum" sz="quarter" idx="7"/>
          </p:nvPr>
        </p:nvSpPr>
        <p:spPr/>
        <p:txBody>
          <a:bodyPr/>
          <a:lstStyle/>
          <a:p>
            <a:fld id="{B6F15528-21DE-4FAA-801E-634DDDAF4B2B}" type="slidenum">
              <a:rPr lang="en-US" altLang="zh-CN" smtClean="0"/>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978800" y="4840241"/>
            <a:ext cx="64135" cy="447675"/>
          </a:xfrm>
          <a:custGeom>
            <a:avLst/>
            <a:gdLst/>
            <a:ahLst/>
            <a:cxnLst/>
            <a:rect l="l" t="t" r="r" b="b"/>
            <a:pathLst>
              <a:path w="64135" h="447675">
                <a:moveTo>
                  <a:pt x="0" y="0"/>
                </a:moveTo>
                <a:lnTo>
                  <a:pt x="0" y="387962"/>
                </a:lnTo>
                <a:lnTo>
                  <a:pt x="64032" y="447648"/>
                </a:lnTo>
                <a:lnTo>
                  <a:pt x="64032" y="29842"/>
                </a:lnTo>
                <a:lnTo>
                  <a:pt x="0" y="0"/>
                </a:lnTo>
                <a:close/>
              </a:path>
            </a:pathLst>
          </a:custGeom>
          <a:solidFill>
            <a:srgbClr val="424242"/>
          </a:solidFill>
        </p:spPr>
        <p:txBody>
          <a:bodyPr wrap="square" lIns="0" tIns="0" rIns="0" bIns="0" rtlCol="0"/>
          <a:lstStyle/>
          <a:p>
            <a:endParaRPr/>
          </a:p>
        </p:txBody>
      </p:sp>
      <p:sp>
        <p:nvSpPr>
          <p:cNvPr id="3" name="object 3"/>
          <p:cNvSpPr/>
          <p:nvPr/>
        </p:nvSpPr>
        <p:spPr>
          <a:xfrm>
            <a:off x="5906086" y="4597877"/>
            <a:ext cx="534035" cy="690245"/>
          </a:xfrm>
          <a:custGeom>
            <a:avLst/>
            <a:gdLst/>
            <a:ahLst/>
            <a:cxnLst/>
            <a:rect l="l" t="t" r="r" b="b"/>
            <a:pathLst>
              <a:path w="534035" h="690245">
                <a:moveTo>
                  <a:pt x="392869" y="270398"/>
                </a:moveTo>
                <a:lnTo>
                  <a:pt x="143255" y="270398"/>
                </a:lnTo>
                <a:lnTo>
                  <a:pt x="143255" y="690012"/>
                </a:lnTo>
                <a:lnTo>
                  <a:pt x="392869" y="599578"/>
                </a:lnTo>
                <a:lnTo>
                  <a:pt x="392869" y="270398"/>
                </a:lnTo>
                <a:close/>
              </a:path>
              <a:path w="534035" h="690245">
                <a:moveTo>
                  <a:pt x="249613" y="0"/>
                </a:moveTo>
                <a:lnTo>
                  <a:pt x="0" y="330084"/>
                </a:lnTo>
                <a:lnTo>
                  <a:pt x="143255" y="270398"/>
                </a:lnTo>
                <a:lnTo>
                  <a:pt x="392869" y="270398"/>
                </a:lnTo>
                <a:lnTo>
                  <a:pt x="392869" y="179059"/>
                </a:lnTo>
                <a:lnTo>
                  <a:pt x="533954" y="120277"/>
                </a:lnTo>
                <a:lnTo>
                  <a:pt x="249613" y="0"/>
                </a:lnTo>
                <a:close/>
              </a:path>
            </a:pathLst>
          </a:custGeom>
          <a:solidFill>
            <a:srgbClr val="424242"/>
          </a:solidFill>
        </p:spPr>
        <p:txBody>
          <a:bodyPr wrap="square" lIns="0" tIns="0" rIns="0" bIns="0" rtlCol="0"/>
          <a:lstStyle/>
          <a:p>
            <a:endParaRPr/>
          </a:p>
        </p:txBody>
      </p:sp>
      <p:sp>
        <p:nvSpPr>
          <p:cNvPr id="4" name="object 4"/>
          <p:cNvSpPr/>
          <p:nvPr/>
        </p:nvSpPr>
        <p:spPr>
          <a:xfrm>
            <a:off x="5833373" y="4567129"/>
            <a:ext cx="318135" cy="357505"/>
          </a:xfrm>
          <a:custGeom>
            <a:avLst/>
            <a:gdLst/>
            <a:ahLst/>
            <a:cxnLst/>
            <a:rect l="l" t="t" r="r" b="b"/>
            <a:pathLst>
              <a:path w="318135" h="357504">
                <a:moveTo>
                  <a:pt x="247442" y="0"/>
                </a:moveTo>
                <a:lnTo>
                  <a:pt x="0" y="327371"/>
                </a:lnTo>
                <a:lnTo>
                  <a:pt x="70543" y="357215"/>
                </a:lnTo>
                <a:lnTo>
                  <a:pt x="317986" y="29843"/>
                </a:lnTo>
                <a:lnTo>
                  <a:pt x="247442" y="0"/>
                </a:lnTo>
                <a:close/>
              </a:path>
            </a:pathLst>
          </a:custGeom>
          <a:solidFill>
            <a:srgbClr val="424242"/>
          </a:solidFill>
        </p:spPr>
        <p:txBody>
          <a:bodyPr wrap="square" lIns="0" tIns="0" rIns="0" bIns="0" rtlCol="0"/>
          <a:lstStyle/>
          <a:p>
            <a:endParaRPr/>
          </a:p>
        </p:txBody>
      </p:sp>
      <p:sp>
        <p:nvSpPr>
          <p:cNvPr id="5" name="object 5"/>
          <p:cNvSpPr/>
          <p:nvPr/>
        </p:nvSpPr>
        <p:spPr>
          <a:xfrm>
            <a:off x="7690319" y="3854231"/>
            <a:ext cx="119380" cy="185420"/>
          </a:xfrm>
          <a:custGeom>
            <a:avLst/>
            <a:gdLst/>
            <a:ahLst/>
            <a:cxnLst/>
            <a:rect l="l" t="t" r="r" b="b"/>
            <a:pathLst>
              <a:path w="119379" h="185420">
                <a:moveTo>
                  <a:pt x="0" y="0"/>
                </a:moveTo>
                <a:lnTo>
                  <a:pt x="0" y="132297"/>
                </a:lnTo>
                <a:lnTo>
                  <a:pt x="119127" y="185380"/>
                </a:lnTo>
                <a:lnTo>
                  <a:pt x="119127" y="53082"/>
                </a:lnTo>
                <a:lnTo>
                  <a:pt x="0" y="0"/>
                </a:lnTo>
                <a:close/>
              </a:path>
            </a:pathLst>
          </a:custGeom>
          <a:solidFill>
            <a:srgbClr val="424242"/>
          </a:solidFill>
        </p:spPr>
        <p:txBody>
          <a:bodyPr wrap="square" lIns="0" tIns="0" rIns="0" bIns="0" rtlCol="0"/>
          <a:lstStyle/>
          <a:p>
            <a:endParaRPr/>
          </a:p>
        </p:txBody>
      </p:sp>
      <p:sp>
        <p:nvSpPr>
          <p:cNvPr id="6" name="object 6"/>
          <p:cNvSpPr/>
          <p:nvPr/>
        </p:nvSpPr>
        <p:spPr>
          <a:xfrm>
            <a:off x="7135672" y="3553702"/>
            <a:ext cx="845819" cy="541020"/>
          </a:xfrm>
          <a:custGeom>
            <a:avLst/>
            <a:gdLst/>
            <a:ahLst/>
            <a:cxnLst/>
            <a:rect l="l" t="t" r="r" b="b"/>
            <a:pathLst>
              <a:path w="845820" h="541020">
                <a:moveTo>
                  <a:pt x="676335" y="0"/>
                </a:moveTo>
                <a:lnTo>
                  <a:pt x="676335" y="134748"/>
                </a:lnTo>
                <a:lnTo>
                  <a:pt x="0" y="297262"/>
                </a:lnTo>
                <a:lnTo>
                  <a:pt x="0" y="540625"/>
                </a:lnTo>
                <a:lnTo>
                  <a:pt x="676335" y="351161"/>
                </a:lnTo>
                <a:lnTo>
                  <a:pt x="761133" y="351161"/>
                </a:lnTo>
                <a:lnTo>
                  <a:pt x="845421" y="216413"/>
                </a:lnTo>
                <a:lnTo>
                  <a:pt x="676335" y="0"/>
                </a:lnTo>
                <a:close/>
              </a:path>
              <a:path w="845820" h="541020">
                <a:moveTo>
                  <a:pt x="761133" y="351161"/>
                </a:moveTo>
                <a:lnTo>
                  <a:pt x="676335" y="351161"/>
                </a:lnTo>
                <a:lnTo>
                  <a:pt x="676335" y="486726"/>
                </a:lnTo>
                <a:lnTo>
                  <a:pt x="761133" y="351161"/>
                </a:lnTo>
                <a:close/>
              </a:path>
            </a:pathLst>
          </a:custGeom>
          <a:solidFill>
            <a:srgbClr val="424242"/>
          </a:solidFill>
        </p:spPr>
        <p:txBody>
          <a:bodyPr wrap="square" lIns="0" tIns="0" rIns="0" bIns="0" rtlCol="0"/>
          <a:lstStyle/>
          <a:p>
            <a:endParaRPr/>
          </a:p>
        </p:txBody>
      </p:sp>
      <p:sp>
        <p:nvSpPr>
          <p:cNvPr id="7" name="object 7"/>
          <p:cNvSpPr/>
          <p:nvPr/>
        </p:nvSpPr>
        <p:spPr>
          <a:xfrm>
            <a:off x="7008859" y="3799514"/>
            <a:ext cx="116839" cy="295275"/>
          </a:xfrm>
          <a:custGeom>
            <a:avLst/>
            <a:gdLst/>
            <a:ahLst/>
            <a:cxnLst/>
            <a:rect l="l" t="t" r="r" b="b"/>
            <a:pathLst>
              <a:path w="116840" h="295275">
                <a:moveTo>
                  <a:pt x="0" y="0"/>
                </a:moveTo>
                <a:lnTo>
                  <a:pt x="0" y="240913"/>
                </a:lnTo>
                <a:lnTo>
                  <a:pt x="116565" y="294812"/>
                </a:lnTo>
                <a:lnTo>
                  <a:pt x="116565" y="53900"/>
                </a:lnTo>
                <a:lnTo>
                  <a:pt x="0" y="0"/>
                </a:lnTo>
                <a:close/>
              </a:path>
            </a:pathLst>
          </a:custGeom>
          <a:solidFill>
            <a:srgbClr val="424242"/>
          </a:solidFill>
        </p:spPr>
        <p:txBody>
          <a:bodyPr wrap="square" lIns="0" tIns="0" rIns="0" bIns="0" rtlCol="0"/>
          <a:lstStyle/>
          <a:p>
            <a:endParaRPr/>
          </a:p>
        </p:txBody>
      </p:sp>
      <p:sp>
        <p:nvSpPr>
          <p:cNvPr id="8" name="object 8"/>
          <p:cNvSpPr/>
          <p:nvPr/>
        </p:nvSpPr>
        <p:spPr>
          <a:xfrm>
            <a:off x="7008859" y="3635367"/>
            <a:ext cx="800735" cy="212725"/>
          </a:xfrm>
          <a:custGeom>
            <a:avLst/>
            <a:gdLst/>
            <a:ahLst/>
            <a:cxnLst/>
            <a:rect l="l" t="t" r="r" b="b"/>
            <a:pathLst>
              <a:path w="800734" h="212725">
                <a:moveTo>
                  <a:pt x="672492" y="0"/>
                </a:moveTo>
                <a:lnTo>
                  <a:pt x="0" y="159247"/>
                </a:lnTo>
                <a:lnTo>
                  <a:pt x="125531" y="212330"/>
                </a:lnTo>
                <a:lnTo>
                  <a:pt x="800587" y="53082"/>
                </a:lnTo>
                <a:lnTo>
                  <a:pt x="672492" y="0"/>
                </a:lnTo>
                <a:close/>
              </a:path>
            </a:pathLst>
          </a:custGeom>
          <a:solidFill>
            <a:srgbClr val="424242"/>
          </a:solidFill>
        </p:spPr>
        <p:txBody>
          <a:bodyPr wrap="square" lIns="0" tIns="0" rIns="0" bIns="0" rtlCol="0"/>
          <a:lstStyle/>
          <a:p>
            <a:endParaRPr/>
          </a:p>
        </p:txBody>
      </p:sp>
      <p:sp>
        <p:nvSpPr>
          <p:cNvPr id="9" name="object 9"/>
          <p:cNvSpPr/>
          <p:nvPr/>
        </p:nvSpPr>
        <p:spPr>
          <a:xfrm>
            <a:off x="7690319" y="3498986"/>
            <a:ext cx="119380" cy="184785"/>
          </a:xfrm>
          <a:custGeom>
            <a:avLst/>
            <a:gdLst/>
            <a:ahLst/>
            <a:cxnLst/>
            <a:rect l="l" t="t" r="r" b="b"/>
            <a:pathLst>
              <a:path w="119379" h="184785">
                <a:moveTo>
                  <a:pt x="0" y="0"/>
                </a:moveTo>
                <a:lnTo>
                  <a:pt x="0" y="131481"/>
                </a:lnTo>
                <a:lnTo>
                  <a:pt x="119127" y="184564"/>
                </a:lnTo>
                <a:lnTo>
                  <a:pt x="119127" y="53083"/>
                </a:lnTo>
                <a:lnTo>
                  <a:pt x="0" y="0"/>
                </a:lnTo>
                <a:close/>
              </a:path>
            </a:pathLst>
          </a:custGeom>
          <a:solidFill>
            <a:srgbClr val="424242"/>
          </a:solidFill>
        </p:spPr>
        <p:txBody>
          <a:bodyPr wrap="square" lIns="0" tIns="0" rIns="0" bIns="0" rtlCol="0"/>
          <a:lstStyle/>
          <a:p>
            <a:endParaRPr/>
          </a:p>
        </p:txBody>
      </p:sp>
      <p:sp>
        <p:nvSpPr>
          <p:cNvPr id="11" name="object 11"/>
          <p:cNvSpPr/>
          <p:nvPr/>
        </p:nvSpPr>
        <p:spPr>
          <a:xfrm>
            <a:off x="4821989" y="4158851"/>
            <a:ext cx="473075" cy="835025"/>
          </a:xfrm>
          <a:custGeom>
            <a:avLst/>
            <a:gdLst/>
            <a:ahLst/>
            <a:cxnLst/>
            <a:rect l="l" t="t" r="r" b="b"/>
            <a:pathLst>
              <a:path w="473075" h="835025">
                <a:moveTo>
                  <a:pt x="0" y="0"/>
                </a:moveTo>
                <a:lnTo>
                  <a:pt x="0" y="617813"/>
                </a:lnTo>
                <a:lnTo>
                  <a:pt x="473072" y="834605"/>
                </a:lnTo>
                <a:lnTo>
                  <a:pt x="473072" y="215861"/>
                </a:lnTo>
                <a:lnTo>
                  <a:pt x="0" y="0"/>
                </a:lnTo>
                <a:close/>
              </a:path>
            </a:pathLst>
          </a:custGeom>
          <a:solidFill>
            <a:srgbClr val="929292"/>
          </a:solidFill>
        </p:spPr>
        <p:txBody>
          <a:bodyPr wrap="square" lIns="0" tIns="0" rIns="0" bIns="0" rtlCol="0"/>
          <a:lstStyle/>
          <a:p>
            <a:endParaRPr/>
          </a:p>
        </p:txBody>
      </p:sp>
      <p:sp>
        <p:nvSpPr>
          <p:cNvPr id="12" name="object 12"/>
          <p:cNvSpPr/>
          <p:nvPr/>
        </p:nvSpPr>
        <p:spPr>
          <a:xfrm>
            <a:off x="4821989" y="3628499"/>
            <a:ext cx="2320925" cy="741045"/>
          </a:xfrm>
          <a:custGeom>
            <a:avLst/>
            <a:gdLst/>
            <a:ahLst/>
            <a:cxnLst/>
            <a:rect l="l" t="t" r="r" b="b"/>
            <a:pathLst>
              <a:path w="2320925" h="741045">
                <a:moveTo>
                  <a:pt x="1918773" y="0"/>
                </a:moveTo>
                <a:lnTo>
                  <a:pt x="0" y="524769"/>
                </a:lnTo>
                <a:lnTo>
                  <a:pt x="480294" y="740630"/>
                </a:lnTo>
                <a:lnTo>
                  <a:pt x="2320824" y="186088"/>
                </a:lnTo>
                <a:lnTo>
                  <a:pt x="1918773" y="0"/>
                </a:lnTo>
                <a:close/>
              </a:path>
            </a:pathLst>
          </a:custGeom>
          <a:solidFill>
            <a:srgbClr val="929292"/>
          </a:solidFill>
        </p:spPr>
        <p:txBody>
          <a:bodyPr wrap="square" lIns="0" tIns="0" rIns="0" bIns="0" rtlCol="0"/>
          <a:lstStyle/>
          <a:p>
            <a:endParaRPr/>
          </a:p>
        </p:txBody>
      </p:sp>
      <p:sp>
        <p:nvSpPr>
          <p:cNvPr id="13" name="object 13"/>
          <p:cNvSpPr/>
          <p:nvPr/>
        </p:nvSpPr>
        <p:spPr>
          <a:xfrm>
            <a:off x="5304692" y="3816447"/>
            <a:ext cx="1838325" cy="1177290"/>
          </a:xfrm>
          <a:custGeom>
            <a:avLst/>
            <a:gdLst/>
            <a:ahLst/>
            <a:cxnLst/>
            <a:rect l="l" t="t" r="r" b="b"/>
            <a:pathLst>
              <a:path w="1838325" h="1177289">
                <a:moveTo>
                  <a:pt x="1838121" y="0"/>
                </a:moveTo>
                <a:lnTo>
                  <a:pt x="0" y="556404"/>
                </a:lnTo>
                <a:lnTo>
                  <a:pt x="0" y="1177009"/>
                </a:lnTo>
                <a:lnTo>
                  <a:pt x="1838121" y="525699"/>
                </a:lnTo>
                <a:lnTo>
                  <a:pt x="1838121" y="0"/>
                </a:lnTo>
                <a:close/>
              </a:path>
            </a:pathLst>
          </a:custGeom>
          <a:solidFill>
            <a:srgbClr val="929292"/>
          </a:solidFill>
        </p:spPr>
        <p:txBody>
          <a:bodyPr wrap="square" lIns="0" tIns="0" rIns="0" bIns="0" rtlCol="0"/>
          <a:lstStyle/>
          <a:p>
            <a:endParaRPr/>
          </a:p>
        </p:txBody>
      </p:sp>
      <p:sp>
        <p:nvSpPr>
          <p:cNvPr id="14" name="object 14"/>
          <p:cNvSpPr/>
          <p:nvPr/>
        </p:nvSpPr>
        <p:spPr>
          <a:xfrm>
            <a:off x="6079194" y="3671519"/>
            <a:ext cx="273050" cy="73025"/>
          </a:xfrm>
          <a:custGeom>
            <a:avLst/>
            <a:gdLst/>
            <a:ahLst/>
            <a:cxnLst/>
            <a:rect l="l" t="t" r="r" b="b"/>
            <a:pathLst>
              <a:path w="273050" h="73025">
                <a:moveTo>
                  <a:pt x="187601" y="0"/>
                </a:moveTo>
                <a:lnTo>
                  <a:pt x="0" y="49700"/>
                </a:lnTo>
                <a:lnTo>
                  <a:pt x="76964" y="72835"/>
                </a:lnTo>
                <a:lnTo>
                  <a:pt x="272985" y="23135"/>
                </a:lnTo>
                <a:lnTo>
                  <a:pt x="187601" y="0"/>
                </a:lnTo>
                <a:close/>
              </a:path>
            </a:pathLst>
          </a:custGeom>
          <a:solidFill>
            <a:srgbClr val="424242"/>
          </a:solidFill>
        </p:spPr>
        <p:txBody>
          <a:bodyPr wrap="square" lIns="0" tIns="0" rIns="0" bIns="0" rtlCol="0"/>
          <a:lstStyle/>
          <a:p>
            <a:endParaRPr/>
          </a:p>
        </p:txBody>
      </p:sp>
      <p:sp>
        <p:nvSpPr>
          <p:cNvPr id="15" name="object 15"/>
          <p:cNvSpPr/>
          <p:nvPr/>
        </p:nvSpPr>
        <p:spPr>
          <a:xfrm>
            <a:off x="5659493" y="3392172"/>
            <a:ext cx="692785" cy="567690"/>
          </a:xfrm>
          <a:custGeom>
            <a:avLst/>
            <a:gdLst/>
            <a:ahLst/>
            <a:cxnLst/>
            <a:rect l="l" t="t" r="r" b="b"/>
            <a:pathLst>
              <a:path w="692785" h="567689">
                <a:moveTo>
                  <a:pt x="497867" y="0"/>
                </a:moveTo>
                <a:lnTo>
                  <a:pt x="220071" y="56554"/>
                </a:lnTo>
                <a:lnTo>
                  <a:pt x="220071" y="425016"/>
                </a:lnTo>
                <a:lnTo>
                  <a:pt x="0" y="481572"/>
                </a:lnTo>
                <a:lnTo>
                  <a:pt x="380014" y="567262"/>
                </a:lnTo>
                <a:lnTo>
                  <a:pt x="632362" y="352182"/>
                </a:lnTo>
                <a:lnTo>
                  <a:pt x="497867" y="352182"/>
                </a:lnTo>
                <a:lnTo>
                  <a:pt x="497867" y="0"/>
                </a:lnTo>
                <a:close/>
              </a:path>
              <a:path w="692785" h="567689">
                <a:moveTo>
                  <a:pt x="692685" y="300767"/>
                </a:moveTo>
                <a:lnTo>
                  <a:pt x="497867" y="352182"/>
                </a:lnTo>
                <a:lnTo>
                  <a:pt x="632362" y="352182"/>
                </a:lnTo>
                <a:lnTo>
                  <a:pt x="692685" y="300767"/>
                </a:lnTo>
                <a:close/>
              </a:path>
            </a:pathLst>
          </a:custGeom>
          <a:solidFill>
            <a:srgbClr val="424242"/>
          </a:solidFill>
        </p:spPr>
        <p:txBody>
          <a:bodyPr wrap="square" lIns="0" tIns="0" rIns="0" bIns="0" rtlCol="0"/>
          <a:lstStyle/>
          <a:p>
            <a:endParaRPr/>
          </a:p>
        </p:txBody>
      </p:sp>
      <p:sp>
        <p:nvSpPr>
          <p:cNvPr id="16" name="object 16"/>
          <p:cNvSpPr/>
          <p:nvPr/>
        </p:nvSpPr>
        <p:spPr>
          <a:xfrm>
            <a:off x="5572907" y="3794053"/>
            <a:ext cx="300990" cy="79375"/>
          </a:xfrm>
          <a:custGeom>
            <a:avLst/>
            <a:gdLst/>
            <a:ahLst/>
            <a:cxnLst/>
            <a:rect l="l" t="t" r="r" b="b"/>
            <a:pathLst>
              <a:path w="300989" h="79375">
                <a:moveTo>
                  <a:pt x="222477" y="0"/>
                </a:moveTo>
                <a:lnTo>
                  <a:pt x="0" y="50557"/>
                </a:lnTo>
                <a:lnTo>
                  <a:pt x="84180" y="78833"/>
                </a:lnTo>
                <a:lnTo>
                  <a:pt x="300644" y="25707"/>
                </a:lnTo>
                <a:lnTo>
                  <a:pt x="222477" y="0"/>
                </a:lnTo>
                <a:close/>
              </a:path>
            </a:pathLst>
          </a:custGeom>
          <a:solidFill>
            <a:srgbClr val="424242"/>
          </a:solidFill>
        </p:spPr>
        <p:txBody>
          <a:bodyPr wrap="square" lIns="0" tIns="0" rIns="0" bIns="0" rtlCol="0"/>
          <a:lstStyle/>
          <a:p>
            <a:endParaRPr/>
          </a:p>
        </p:txBody>
      </p:sp>
      <p:sp>
        <p:nvSpPr>
          <p:cNvPr id="17" name="object 17"/>
          <p:cNvSpPr/>
          <p:nvPr/>
        </p:nvSpPr>
        <p:spPr>
          <a:xfrm>
            <a:off x="5802600" y="3420448"/>
            <a:ext cx="71120" cy="395605"/>
          </a:xfrm>
          <a:custGeom>
            <a:avLst/>
            <a:gdLst/>
            <a:ahLst/>
            <a:cxnLst/>
            <a:rect l="l" t="t" r="r" b="b"/>
            <a:pathLst>
              <a:path w="71120" h="395604">
                <a:moveTo>
                  <a:pt x="0" y="0"/>
                </a:moveTo>
                <a:lnTo>
                  <a:pt x="0" y="367606"/>
                </a:lnTo>
                <a:lnTo>
                  <a:pt x="70952" y="395027"/>
                </a:lnTo>
                <a:lnTo>
                  <a:pt x="70952" y="28277"/>
                </a:lnTo>
                <a:lnTo>
                  <a:pt x="0" y="0"/>
                </a:lnTo>
                <a:close/>
              </a:path>
            </a:pathLst>
          </a:custGeom>
          <a:solidFill>
            <a:srgbClr val="424242"/>
          </a:solidFill>
        </p:spPr>
        <p:txBody>
          <a:bodyPr wrap="square" lIns="0" tIns="0" rIns="0" bIns="0" rtlCol="0"/>
          <a:lstStyle/>
          <a:p>
            <a:endParaRPr/>
          </a:p>
        </p:txBody>
      </p:sp>
      <p:sp>
        <p:nvSpPr>
          <p:cNvPr id="18" name="object 18"/>
          <p:cNvSpPr txBox="1"/>
          <p:nvPr/>
        </p:nvSpPr>
        <p:spPr>
          <a:xfrm>
            <a:off x="1138931" y="1542110"/>
            <a:ext cx="10175875" cy="2313305"/>
          </a:xfrm>
          <a:prstGeom prst="rect">
            <a:avLst/>
          </a:prstGeom>
        </p:spPr>
        <p:txBody>
          <a:bodyPr vert="horz" wrap="square" lIns="0" tIns="6350" rIns="0" bIns="0" rtlCol="0">
            <a:spAutoFit/>
          </a:bodyPr>
          <a:lstStyle/>
          <a:p>
            <a:pPr marL="12700" marR="5080">
              <a:lnSpc>
                <a:spcPct val="119000"/>
              </a:lnSpc>
              <a:spcBef>
                <a:spcPts val="50"/>
              </a:spcBef>
              <a:tabLst>
                <a:tab pos="2233930" algn="l"/>
                <a:tab pos="2851150" algn="l"/>
              </a:tabLst>
            </a:pPr>
            <a:r>
              <a:rPr sz="2200" dirty="0">
                <a:solidFill>
                  <a:srgbClr val="0033CC"/>
                </a:solidFill>
                <a:latin typeface="微软雅黑" panose="020B0503020204020204" pitchFamily="34" charset="-122"/>
                <a:cs typeface="微软雅黑" panose="020B0503020204020204" pitchFamily="34" charset="-122"/>
              </a:rPr>
              <a:t>黑盒测试（</a:t>
            </a:r>
            <a:r>
              <a:rPr sz="2200" dirty="0">
                <a:solidFill>
                  <a:srgbClr val="0033CC"/>
                </a:solidFill>
                <a:latin typeface="Arial" panose="020B0604020202020204"/>
                <a:cs typeface="Arial" panose="020B0604020202020204"/>
              </a:rPr>
              <a:t>Black	Box	</a:t>
            </a:r>
            <a:r>
              <a:rPr sz="2200" spc="-245" dirty="0">
                <a:solidFill>
                  <a:srgbClr val="0033CC"/>
                </a:solidFill>
                <a:latin typeface="Arial" panose="020B0604020202020204"/>
                <a:cs typeface="Arial" panose="020B0604020202020204"/>
              </a:rPr>
              <a:t>T</a:t>
            </a:r>
            <a:r>
              <a:rPr sz="2200" dirty="0">
                <a:solidFill>
                  <a:srgbClr val="0033CC"/>
                </a:solidFill>
                <a:latin typeface="Arial" panose="020B0604020202020204"/>
                <a:cs typeface="Arial" panose="020B0604020202020204"/>
              </a:rPr>
              <a:t>es</a:t>
            </a:r>
            <a:r>
              <a:rPr sz="2200" spc="-5" dirty="0">
                <a:solidFill>
                  <a:srgbClr val="0033CC"/>
                </a:solidFill>
                <a:latin typeface="Arial" panose="020B0604020202020204"/>
                <a:cs typeface="Arial" panose="020B0604020202020204"/>
              </a:rPr>
              <a:t>t</a:t>
            </a:r>
            <a:r>
              <a:rPr sz="2200" dirty="0">
                <a:solidFill>
                  <a:srgbClr val="0033CC"/>
                </a:solidFill>
                <a:latin typeface="Arial" panose="020B0604020202020204"/>
                <a:cs typeface="Arial" panose="020B0604020202020204"/>
              </a:rPr>
              <a:t>in</a:t>
            </a:r>
            <a:r>
              <a:rPr sz="2200" spc="-5" dirty="0">
                <a:solidFill>
                  <a:srgbClr val="0033CC"/>
                </a:solidFill>
                <a:latin typeface="Arial" panose="020B0604020202020204"/>
                <a:cs typeface="Arial" panose="020B0604020202020204"/>
              </a:rPr>
              <a:t>g</a:t>
            </a:r>
            <a:r>
              <a:rPr sz="2200" dirty="0">
                <a:solidFill>
                  <a:srgbClr val="0033CC"/>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又称功能测试，它将测试对象看做一个黑盒子， </a:t>
            </a:r>
            <a:r>
              <a:rPr sz="2200" spc="20" dirty="0">
                <a:latin typeface="微软雅黑" panose="020B0503020204020204" pitchFamily="34" charset="-122"/>
                <a:cs typeface="微软雅黑" panose="020B0503020204020204" pitchFamily="34" charset="-122"/>
              </a:rPr>
              <a:t>完全不考虑程序内部的逻辑结构和内部特性，只依据程序的需求规格说明书，</a:t>
            </a:r>
            <a:r>
              <a:rPr sz="2200" dirty="0">
                <a:latin typeface="微软雅黑" panose="020B0503020204020204" pitchFamily="34" charset="-122"/>
                <a:cs typeface="微软雅黑" panose="020B0503020204020204" pitchFamily="34" charset="-122"/>
              </a:rPr>
              <a:t>检 查程序的功能是否符合它的功能说明。</a:t>
            </a:r>
          </a:p>
          <a:p>
            <a:pPr marR="516255" algn="ctr">
              <a:lnSpc>
                <a:spcPct val="100000"/>
              </a:lnSpc>
              <a:spcBef>
                <a:spcPts val="2005"/>
              </a:spcBef>
            </a:pPr>
            <a:r>
              <a:rPr sz="2000" dirty="0">
                <a:solidFill>
                  <a:srgbClr val="0033CC"/>
                </a:solidFill>
                <a:latin typeface="微软雅黑" panose="020B0503020204020204" pitchFamily="34" charset="-122"/>
                <a:cs typeface="微软雅黑" panose="020B0503020204020204" pitchFamily="34" charset="-122"/>
              </a:rPr>
              <a:t>客户需求</a:t>
            </a:r>
            <a:endParaRPr sz="2000" dirty="0">
              <a:latin typeface="微软雅黑" panose="020B0503020204020204" pitchFamily="34" charset="-122"/>
              <a:cs typeface="微软雅黑" panose="020B0503020204020204" pitchFamily="34" charset="-122"/>
            </a:endParaRPr>
          </a:p>
          <a:p>
            <a:pPr marR="2651760" algn="r">
              <a:lnSpc>
                <a:spcPct val="100000"/>
              </a:lnSpc>
              <a:spcBef>
                <a:spcPts val="1805"/>
              </a:spcBef>
            </a:pPr>
            <a:r>
              <a:rPr sz="2000" dirty="0">
                <a:solidFill>
                  <a:srgbClr val="0033CC"/>
                </a:solidFill>
                <a:latin typeface="微软雅黑" panose="020B0503020204020204" pitchFamily="34" charset="-122"/>
                <a:cs typeface="微软雅黑" panose="020B0503020204020204" pitchFamily="34" charset="-122"/>
              </a:rPr>
              <a:t>输出</a:t>
            </a:r>
            <a:endParaRPr sz="2000" dirty="0">
              <a:latin typeface="微软雅黑" panose="020B0503020204020204" pitchFamily="34" charset="-122"/>
              <a:cs typeface="微软雅黑" panose="020B0503020204020204" pitchFamily="34" charset="-122"/>
            </a:endParaRPr>
          </a:p>
        </p:txBody>
      </p:sp>
      <p:sp>
        <p:nvSpPr>
          <p:cNvPr id="19" name="object 19"/>
          <p:cNvSpPr/>
          <p:nvPr/>
        </p:nvSpPr>
        <p:spPr>
          <a:xfrm>
            <a:off x="4819864" y="4714712"/>
            <a:ext cx="100965" cy="188595"/>
          </a:xfrm>
          <a:custGeom>
            <a:avLst/>
            <a:gdLst/>
            <a:ahLst/>
            <a:cxnLst/>
            <a:rect l="l" t="t" r="r" b="b"/>
            <a:pathLst>
              <a:path w="100964" h="188595">
                <a:moveTo>
                  <a:pt x="0" y="0"/>
                </a:moveTo>
                <a:lnTo>
                  <a:pt x="0" y="134519"/>
                </a:lnTo>
                <a:lnTo>
                  <a:pt x="100704" y="188494"/>
                </a:lnTo>
                <a:lnTo>
                  <a:pt x="100704" y="53973"/>
                </a:lnTo>
                <a:lnTo>
                  <a:pt x="0" y="0"/>
                </a:lnTo>
                <a:close/>
              </a:path>
            </a:pathLst>
          </a:custGeom>
          <a:solidFill>
            <a:srgbClr val="424242"/>
          </a:solidFill>
        </p:spPr>
        <p:txBody>
          <a:bodyPr wrap="square" lIns="0" tIns="0" rIns="0" bIns="0" rtlCol="0"/>
          <a:lstStyle/>
          <a:p>
            <a:endParaRPr/>
          </a:p>
        </p:txBody>
      </p:sp>
      <p:sp>
        <p:nvSpPr>
          <p:cNvPr id="20" name="object 20"/>
          <p:cNvSpPr/>
          <p:nvPr/>
        </p:nvSpPr>
        <p:spPr>
          <a:xfrm>
            <a:off x="4350993" y="4409136"/>
            <a:ext cx="715010" cy="549910"/>
          </a:xfrm>
          <a:custGeom>
            <a:avLst/>
            <a:gdLst/>
            <a:ahLst/>
            <a:cxnLst/>
            <a:rect l="l" t="t" r="r" b="b"/>
            <a:pathLst>
              <a:path w="715010" h="549910">
                <a:moveTo>
                  <a:pt x="571741" y="0"/>
                </a:moveTo>
                <a:lnTo>
                  <a:pt x="571741" y="137011"/>
                </a:lnTo>
                <a:lnTo>
                  <a:pt x="0" y="302254"/>
                </a:lnTo>
                <a:lnTo>
                  <a:pt x="0" y="549705"/>
                </a:lnTo>
                <a:lnTo>
                  <a:pt x="571741" y="357059"/>
                </a:lnTo>
                <a:lnTo>
                  <a:pt x="643425" y="357059"/>
                </a:lnTo>
                <a:lnTo>
                  <a:pt x="714677" y="220047"/>
                </a:lnTo>
                <a:lnTo>
                  <a:pt x="571741" y="0"/>
                </a:lnTo>
                <a:close/>
              </a:path>
              <a:path w="715010" h="549910">
                <a:moveTo>
                  <a:pt x="643425" y="357059"/>
                </a:moveTo>
                <a:lnTo>
                  <a:pt x="571741" y="357059"/>
                </a:lnTo>
                <a:lnTo>
                  <a:pt x="571741" y="494901"/>
                </a:lnTo>
                <a:lnTo>
                  <a:pt x="643425" y="357059"/>
                </a:lnTo>
                <a:close/>
              </a:path>
            </a:pathLst>
          </a:custGeom>
          <a:solidFill>
            <a:srgbClr val="424242"/>
          </a:solidFill>
        </p:spPr>
        <p:txBody>
          <a:bodyPr wrap="square" lIns="0" tIns="0" rIns="0" bIns="0" rtlCol="0"/>
          <a:lstStyle/>
          <a:p>
            <a:endParaRPr/>
          </a:p>
        </p:txBody>
      </p:sp>
      <p:sp>
        <p:nvSpPr>
          <p:cNvPr id="21" name="object 21"/>
          <p:cNvSpPr/>
          <p:nvPr/>
        </p:nvSpPr>
        <p:spPr>
          <a:xfrm>
            <a:off x="4243791" y="4659078"/>
            <a:ext cx="99060" cy="300355"/>
          </a:xfrm>
          <a:custGeom>
            <a:avLst/>
            <a:gdLst/>
            <a:ahLst/>
            <a:cxnLst/>
            <a:rect l="l" t="t" r="r" b="b"/>
            <a:pathLst>
              <a:path w="99060" h="300354">
                <a:moveTo>
                  <a:pt x="0" y="0"/>
                </a:moveTo>
                <a:lnTo>
                  <a:pt x="0" y="244958"/>
                </a:lnTo>
                <a:lnTo>
                  <a:pt x="98539" y="299763"/>
                </a:lnTo>
                <a:lnTo>
                  <a:pt x="98539" y="54804"/>
                </a:lnTo>
                <a:lnTo>
                  <a:pt x="0" y="0"/>
                </a:lnTo>
                <a:close/>
              </a:path>
            </a:pathLst>
          </a:custGeom>
          <a:solidFill>
            <a:srgbClr val="424242"/>
          </a:solidFill>
        </p:spPr>
        <p:txBody>
          <a:bodyPr wrap="square" lIns="0" tIns="0" rIns="0" bIns="0" rtlCol="0"/>
          <a:lstStyle/>
          <a:p>
            <a:endParaRPr/>
          </a:p>
        </p:txBody>
      </p:sp>
      <p:sp>
        <p:nvSpPr>
          <p:cNvPr id="22" name="object 22"/>
          <p:cNvSpPr/>
          <p:nvPr/>
        </p:nvSpPr>
        <p:spPr>
          <a:xfrm>
            <a:off x="4243791" y="4492172"/>
            <a:ext cx="676910" cy="215900"/>
          </a:xfrm>
          <a:custGeom>
            <a:avLst/>
            <a:gdLst/>
            <a:ahLst/>
            <a:cxnLst/>
            <a:rect l="l" t="t" r="r" b="b"/>
            <a:pathLst>
              <a:path w="676910" h="215900">
                <a:moveTo>
                  <a:pt x="568493" y="0"/>
                </a:moveTo>
                <a:lnTo>
                  <a:pt x="0" y="161922"/>
                </a:lnTo>
                <a:lnTo>
                  <a:pt x="106118" y="215897"/>
                </a:lnTo>
                <a:lnTo>
                  <a:pt x="676777" y="53975"/>
                </a:lnTo>
                <a:lnTo>
                  <a:pt x="568493" y="0"/>
                </a:lnTo>
                <a:close/>
              </a:path>
            </a:pathLst>
          </a:custGeom>
          <a:solidFill>
            <a:srgbClr val="424242"/>
          </a:solidFill>
        </p:spPr>
        <p:txBody>
          <a:bodyPr wrap="square" lIns="0" tIns="0" rIns="0" bIns="0" rtlCol="0"/>
          <a:lstStyle/>
          <a:p>
            <a:endParaRPr/>
          </a:p>
        </p:txBody>
      </p:sp>
      <p:sp>
        <p:nvSpPr>
          <p:cNvPr id="23" name="object 23"/>
          <p:cNvSpPr/>
          <p:nvPr/>
        </p:nvSpPr>
        <p:spPr>
          <a:xfrm>
            <a:off x="4819864" y="4353501"/>
            <a:ext cx="100965" cy="187960"/>
          </a:xfrm>
          <a:custGeom>
            <a:avLst/>
            <a:gdLst/>
            <a:ahLst/>
            <a:cxnLst/>
            <a:rect l="l" t="t" r="r" b="b"/>
            <a:pathLst>
              <a:path w="100964" h="187960">
                <a:moveTo>
                  <a:pt x="0" y="0"/>
                </a:moveTo>
                <a:lnTo>
                  <a:pt x="0" y="133689"/>
                </a:lnTo>
                <a:lnTo>
                  <a:pt x="100704" y="187662"/>
                </a:lnTo>
                <a:lnTo>
                  <a:pt x="100704" y="53973"/>
                </a:lnTo>
                <a:lnTo>
                  <a:pt x="0" y="0"/>
                </a:lnTo>
                <a:close/>
              </a:path>
            </a:pathLst>
          </a:custGeom>
          <a:solidFill>
            <a:srgbClr val="424242"/>
          </a:solidFill>
        </p:spPr>
        <p:txBody>
          <a:bodyPr wrap="square" lIns="0" tIns="0" rIns="0" bIns="0" rtlCol="0"/>
          <a:lstStyle/>
          <a:p>
            <a:endParaRPr/>
          </a:p>
        </p:txBody>
      </p:sp>
      <p:sp>
        <p:nvSpPr>
          <p:cNvPr id="24" name="object 24"/>
          <p:cNvSpPr txBox="1"/>
          <p:nvPr/>
        </p:nvSpPr>
        <p:spPr>
          <a:xfrm>
            <a:off x="3529484" y="4757962"/>
            <a:ext cx="2988310" cy="91630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输入</a:t>
            </a:r>
            <a:endParaRPr sz="2000">
              <a:latin typeface="微软雅黑" panose="020B0503020204020204" pitchFamily="34" charset="-122"/>
              <a:cs typeface="微软雅黑" panose="020B0503020204020204" pitchFamily="34" charset="-122"/>
            </a:endParaRPr>
          </a:p>
          <a:p>
            <a:pPr marL="1958975">
              <a:lnSpc>
                <a:spcPct val="100000"/>
              </a:lnSpc>
              <a:spcBef>
                <a:spcPts val="2210"/>
              </a:spcBef>
            </a:pPr>
            <a:r>
              <a:rPr sz="2000" dirty="0">
                <a:solidFill>
                  <a:srgbClr val="0033CC"/>
                </a:solidFill>
                <a:latin typeface="微软雅黑" panose="020B0503020204020204" pitchFamily="34" charset="-122"/>
                <a:cs typeface="微软雅黑" panose="020B0503020204020204" pitchFamily="34" charset="-122"/>
              </a:rPr>
              <a:t>事件驱动</a:t>
            </a:r>
            <a:endParaRPr sz="2000">
              <a:latin typeface="微软雅黑" panose="020B0503020204020204" pitchFamily="34" charset="-122"/>
              <a:cs typeface="微软雅黑" panose="020B0503020204020204" pitchFamily="34" charset="-122"/>
            </a:endParaRPr>
          </a:p>
        </p:txBody>
      </p:sp>
      <p:sp>
        <p:nvSpPr>
          <p:cNvPr id="25" name="灯片编号占位符 24"/>
          <p:cNvSpPr>
            <a:spLocks noGrp="1"/>
          </p:cNvSpPr>
          <p:nvPr>
            <p:ph type="sldNum" sz="quarter" idx="12"/>
          </p:nvPr>
        </p:nvSpPr>
        <p:spPr/>
        <p:txBody>
          <a:bodyPr/>
          <a:lstStyle/>
          <a:p>
            <a:fld id="{74D2AB8B-5816-41F2-8B4B-CA5C3E4E6A65}" type="slidenum">
              <a:rPr lang="zh-CN" altLang="en-US" smtClean="0"/>
              <a:t>39</a:t>
            </a:fld>
            <a:endParaRPr lang="zh-CN" altLang="en-US"/>
          </a:p>
        </p:txBody>
      </p:sp>
      <p:sp>
        <p:nvSpPr>
          <p:cNvPr id="27" name="标题 26"/>
          <p:cNvSpPr>
            <a:spLocks noGrp="1"/>
          </p:cNvSpPr>
          <p:nvPr>
            <p:ph type="title"/>
          </p:nvPr>
        </p:nvSpPr>
        <p:spPr/>
        <p:txBody>
          <a:bodyPr/>
          <a:lstStyle/>
          <a:p>
            <a:r>
              <a:rPr lang="zh-CN" altLang="en-US" dirty="0"/>
              <a:t>单元测试方法</a:t>
            </a:r>
          </a:p>
        </p:txBody>
      </p:sp>
      <p:sp>
        <p:nvSpPr>
          <p:cNvPr id="10" name="矩形 9">
            <a:extLst>
              <a:ext uri="{FF2B5EF4-FFF2-40B4-BE49-F238E27FC236}">
                <a16:creationId xmlns:a16="http://schemas.microsoft.com/office/drawing/2014/main" id="{3968E1F5-2A0E-4B75-96C5-B0B6228BC6C1}"/>
              </a:ext>
            </a:extLst>
          </p:cNvPr>
          <p:cNvSpPr/>
          <p:nvPr/>
        </p:nvSpPr>
        <p:spPr>
          <a:xfrm>
            <a:off x="646545" y="5724157"/>
            <a:ext cx="10668261"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只是根据需求规格说明设计有代表性的测试输入，再通过测试执行的输出结果来检查程序的功能是不是符合规格说明</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55868" y="1542111"/>
            <a:ext cx="10140950" cy="1219200"/>
          </a:xfrm>
          <a:prstGeom prst="rect">
            <a:avLst/>
          </a:prstGeom>
        </p:spPr>
        <p:txBody>
          <a:bodyPr vert="horz" wrap="square" lIns="0" tIns="6350" rIns="0" bIns="0" rtlCol="0">
            <a:spAutoFit/>
          </a:bodyPr>
          <a:lstStyle/>
          <a:p>
            <a:pPr marL="12700" marR="5080">
              <a:lnSpc>
                <a:spcPct val="119000"/>
              </a:lnSpc>
              <a:spcBef>
                <a:spcPts val="50"/>
              </a:spcBef>
            </a:pPr>
            <a:r>
              <a:rPr sz="2200" dirty="0">
                <a:solidFill>
                  <a:srgbClr val="0033CC"/>
                </a:solidFill>
                <a:latin typeface="微软雅黑" panose="020B0503020204020204" pitchFamily="34" charset="-122"/>
                <a:cs typeface="微软雅黑" panose="020B0503020204020204" pitchFamily="34" charset="-122"/>
              </a:rPr>
              <a:t>白盒测试</a:t>
            </a:r>
            <a:r>
              <a:rPr sz="2200" spc="-5" dirty="0">
                <a:solidFill>
                  <a:srgbClr val="0033CC"/>
                </a:solidFill>
                <a:latin typeface="微软雅黑" panose="020B0503020204020204" pitchFamily="34" charset="-122"/>
                <a:cs typeface="微软雅黑" panose="020B0503020204020204" pitchFamily="34" charset="-122"/>
              </a:rPr>
              <a:t>（</a:t>
            </a:r>
            <a:r>
              <a:rPr sz="2200" spc="-5" dirty="0">
                <a:solidFill>
                  <a:srgbClr val="0033CC"/>
                </a:solidFill>
                <a:latin typeface="Arial" panose="020B0604020202020204"/>
                <a:cs typeface="Arial" panose="020B0604020202020204"/>
              </a:rPr>
              <a:t>White</a:t>
            </a:r>
            <a:r>
              <a:rPr sz="2200" spc="225" dirty="0">
                <a:solidFill>
                  <a:srgbClr val="0033CC"/>
                </a:solidFill>
                <a:latin typeface="Arial" panose="020B0604020202020204"/>
                <a:cs typeface="Arial" panose="020B0604020202020204"/>
              </a:rPr>
              <a:t> </a:t>
            </a:r>
            <a:r>
              <a:rPr sz="2200" dirty="0">
                <a:solidFill>
                  <a:srgbClr val="0033CC"/>
                </a:solidFill>
                <a:latin typeface="Arial" panose="020B0604020202020204"/>
                <a:cs typeface="Arial" panose="020B0604020202020204"/>
              </a:rPr>
              <a:t>Box</a:t>
            </a:r>
            <a:r>
              <a:rPr sz="2200" spc="185" dirty="0">
                <a:solidFill>
                  <a:srgbClr val="0033CC"/>
                </a:solidFill>
                <a:latin typeface="Arial" panose="020B0604020202020204"/>
                <a:cs typeface="Arial" panose="020B0604020202020204"/>
              </a:rPr>
              <a:t> </a:t>
            </a:r>
            <a:r>
              <a:rPr sz="2200" spc="-30" dirty="0">
                <a:solidFill>
                  <a:srgbClr val="0033CC"/>
                </a:solidFill>
                <a:latin typeface="Arial" panose="020B0604020202020204"/>
                <a:cs typeface="Arial" panose="020B0604020202020204"/>
              </a:rPr>
              <a:t>Testing</a:t>
            </a:r>
            <a:r>
              <a:rPr sz="2200" spc="-30" dirty="0">
                <a:solidFill>
                  <a:srgbClr val="0033CC"/>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又称结构测试，它把测试对象看做一个透明的 </a:t>
            </a:r>
            <a:r>
              <a:rPr sz="2200" spc="10" dirty="0">
                <a:latin typeface="微软雅黑" panose="020B0503020204020204" pitchFamily="34" charset="-122"/>
                <a:cs typeface="微软雅黑" panose="020B0503020204020204" pitchFamily="34" charset="-122"/>
              </a:rPr>
              <a:t>盒子，允许测试人员利用程序内部的逻辑结构及有关信息，设计或选择测试用</a:t>
            </a:r>
            <a:r>
              <a:rPr sz="2200" dirty="0">
                <a:latin typeface="微软雅黑" panose="020B0503020204020204" pitchFamily="34" charset="-122"/>
                <a:cs typeface="微软雅黑" panose="020B0503020204020204" pitchFamily="34" charset="-122"/>
              </a:rPr>
              <a:t>例， 对程序所有逻辑路径进行测试。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7019039" y="2790102"/>
            <a:ext cx="224357" cy="34081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747513" y="3158114"/>
            <a:ext cx="796290" cy="228600"/>
          </a:xfrm>
          <a:custGeom>
            <a:avLst/>
            <a:gdLst/>
            <a:ahLst/>
            <a:cxnLst/>
            <a:rect l="l" t="t" r="r" b="b"/>
            <a:pathLst>
              <a:path w="796290" h="228600">
                <a:moveTo>
                  <a:pt x="0" y="0"/>
                </a:moveTo>
                <a:lnTo>
                  <a:pt x="795829" y="0"/>
                </a:lnTo>
                <a:lnTo>
                  <a:pt x="795829" y="228415"/>
                </a:lnTo>
                <a:lnTo>
                  <a:pt x="0" y="228415"/>
                </a:lnTo>
                <a:lnTo>
                  <a:pt x="0" y="0"/>
                </a:lnTo>
                <a:close/>
              </a:path>
            </a:pathLst>
          </a:custGeom>
          <a:ln w="25399">
            <a:solidFill>
              <a:srgbClr val="000000"/>
            </a:solidFill>
          </a:ln>
        </p:spPr>
        <p:txBody>
          <a:bodyPr wrap="square" lIns="0" tIns="0" rIns="0" bIns="0" rtlCol="0"/>
          <a:lstStyle/>
          <a:p>
            <a:endParaRPr/>
          </a:p>
        </p:txBody>
      </p:sp>
      <p:sp>
        <p:nvSpPr>
          <p:cNvPr id="6" name="object 6"/>
          <p:cNvSpPr/>
          <p:nvPr/>
        </p:nvSpPr>
        <p:spPr>
          <a:xfrm>
            <a:off x="6719091" y="3141798"/>
            <a:ext cx="852805" cy="261620"/>
          </a:xfrm>
          <a:custGeom>
            <a:avLst/>
            <a:gdLst/>
            <a:ahLst/>
            <a:cxnLst/>
            <a:rect l="l" t="t" r="r" b="b"/>
            <a:pathLst>
              <a:path w="852804" h="261620">
                <a:moveTo>
                  <a:pt x="0" y="0"/>
                </a:moveTo>
                <a:lnTo>
                  <a:pt x="852675" y="0"/>
                </a:lnTo>
                <a:lnTo>
                  <a:pt x="852675" y="261044"/>
                </a:lnTo>
                <a:lnTo>
                  <a:pt x="0" y="261044"/>
                </a:lnTo>
                <a:lnTo>
                  <a:pt x="0" y="0"/>
                </a:lnTo>
                <a:close/>
              </a:path>
            </a:pathLst>
          </a:custGeom>
          <a:solidFill>
            <a:srgbClr val="6CACDD"/>
          </a:solidFill>
        </p:spPr>
        <p:txBody>
          <a:bodyPr wrap="square" lIns="0" tIns="0" rIns="0" bIns="0" rtlCol="0"/>
          <a:lstStyle/>
          <a:p>
            <a:endParaRPr/>
          </a:p>
        </p:txBody>
      </p:sp>
      <p:sp>
        <p:nvSpPr>
          <p:cNvPr id="7" name="object 7"/>
          <p:cNvSpPr/>
          <p:nvPr/>
        </p:nvSpPr>
        <p:spPr>
          <a:xfrm>
            <a:off x="6719091" y="3141798"/>
            <a:ext cx="852805" cy="261620"/>
          </a:xfrm>
          <a:custGeom>
            <a:avLst/>
            <a:gdLst/>
            <a:ahLst/>
            <a:cxnLst/>
            <a:rect l="l" t="t" r="r" b="b"/>
            <a:pathLst>
              <a:path w="852804" h="261620">
                <a:moveTo>
                  <a:pt x="0" y="0"/>
                </a:moveTo>
                <a:lnTo>
                  <a:pt x="852675" y="0"/>
                </a:lnTo>
                <a:lnTo>
                  <a:pt x="852675" y="261044"/>
                </a:lnTo>
                <a:lnTo>
                  <a:pt x="0" y="261044"/>
                </a:lnTo>
                <a:lnTo>
                  <a:pt x="0" y="0"/>
                </a:lnTo>
                <a:close/>
              </a:path>
            </a:pathLst>
          </a:custGeom>
          <a:ln w="25399">
            <a:solidFill>
              <a:srgbClr val="000000"/>
            </a:solidFill>
          </a:ln>
        </p:spPr>
        <p:txBody>
          <a:bodyPr wrap="square" lIns="0" tIns="0" rIns="0" bIns="0" rtlCol="0"/>
          <a:lstStyle/>
          <a:p>
            <a:endParaRPr/>
          </a:p>
        </p:txBody>
      </p:sp>
      <p:sp>
        <p:nvSpPr>
          <p:cNvPr id="8" name="object 8"/>
          <p:cNvSpPr/>
          <p:nvPr/>
        </p:nvSpPr>
        <p:spPr>
          <a:xfrm>
            <a:off x="7145428" y="3419159"/>
            <a:ext cx="3810" cy="81915"/>
          </a:xfrm>
          <a:custGeom>
            <a:avLst/>
            <a:gdLst/>
            <a:ahLst/>
            <a:cxnLst/>
            <a:rect l="l" t="t" r="r" b="b"/>
            <a:pathLst>
              <a:path w="3809" h="81914">
                <a:moveTo>
                  <a:pt x="1776" y="-12699"/>
                </a:moveTo>
                <a:lnTo>
                  <a:pt x="1776" y="94276"/>
                </a:lnTo>
              </a:path>
            </a:pathLst>
          </a:custGeom>
          <a:ln w="28953">
            <a:solidFill>
              <a:srgbClr val="000000"/>
            </a:solidFill>
          </a:ln>
        </p:spPr>
        <p:txBody>
          <a:bodyPr wrap="square" lIns="0" tIns="0" rIns="0" bIns="0" rtlCol="0"/>
          <a:lstStyle/>
          <a:p>
            <a:endParaRPr/>
          </a:p>
        </p:txBody>
      </p:sp>
      <p:sp>
        <p:nvSpPr>
          <p:cNvPr id="9" name="object 9"/>
          <p:cNvSpPr/>
          <p:nvPr/>
        </p:nvSpPr>
        <p:spPr>
          <a:xfrm>
            <a:off x="5866416" y="3631257"/>
            <a:ext cx="796290" cy="1905"/>
          </a:xfrm>
          <a:custGeom>
            <a:avLst/>
            <a:gdLst/>
            <a:ahLst/>
            <a:cxnLst/>
            <a:rect l="l" t="t" r="r" b="b"/>
            <a:pathLst>
              <a:path w="796290" h="1904">
                <a:moveTo>
                  <a:pt x="795829" y="0"/>
                </a:moveTo>
                <a:lnTo>
                  <a:pt x="0" y="1813"/>
                </a:lnTo>
              </a:path>
            </a:pathLst>
          </a:custGeom>
          <a:ln w="25399">
            <a:solidFill>
              <a:srgbClr val="000000"/>
            </a:solidFill>
          </a:ln>
        </p:spPr>
        <p:txBody>
          <a:bodyPr wrap="square" lIns="0" tIns="0" rIns="0" bIns="0" rtlCol="0"/>
          <a:lstStyle/>
          <a:p>
            <a:endParaRPr/>
          </a:p>
        </p:txBody>
      </p:sp>
      <p:sp>
        <p:nvSpPr>
          <p:cNvPr id="10" name="object 10"/>
          <p:cNvSpPr/>
          <p:nvPr/>
        </p:nvSpPr>
        <p:spPr>
          <a:xfrm>
            <a:off x="5496924" y="3859673"/>
            <a:ext cx="796290" cy="228600"/>
          </a:xfrm>
          <a:custGeom>
            <a:avLst/>
            <a:gdLst/>
            <a:ahLst/>
            <a:cxnLst/>
            <a:rect l="l" t="t" r="r" b="b"/>
            <a:pathLst>
              <a:path w="796289" h="228600">
                <a:moveTo>
                  <a:pt x="0" y="0"/>
                </a:moveTo>
                <a:lnTo>
                  <a:pt x="795829" y="0"/>
                </a:lnTo>
                <a:lnTo>
                  <a:pt x="795829" y="228414"/>
                </a:lnTo>
                <a:lnTo>
                  <a:pt x="0" y="228414"/>
                </a:lnTo>
                <a:lnTo>
                  <a:pt x="0" y="0"/>
                </a:lnTo>
                <a:close/>
              </a:path>
            </a:pathLst>
          </a:custGeom>
          <a:ln w="25399">
            <a:solidFill>
              <a:srgbClr val="000000"/>
            </a:solidFill>
          </a:ln>
        </p:spPr>
        <p:txBody>
          <a:bodyPr wrap="square" lIns="0" tIns="0" rIns="0" bIns="0" rtlCol="0"/>
          <a:lstStyle/>
          <a:p>
            <a:endParaRPr/>
          </a:p>
        </p:txBody>
      </p:sp>
      <p:sp>
        <p:nvSpPr>
          <p:cNvPr id="11" name="object 11"/>
          <p:cNvSpPr/>
          <p:nvPr/>
        </p:nvSpPr>
        <p:spPr>
          <a:xfrm>
            <a:off x="5468501" y="3843357"/>
            <a:ext cx="852805" cy="261620"/>
          </a:xfrm>
          <a:custGeom>
            <a:avLst/>
            <a:gdLst/>
            <a:ahLst/>
            <a:cxnLst/>
            <a:rect l="l" t="t" r="r" b="b"/>
            <a:pathLst>
              <a:path w="852804" h="261620">
                <a:moveTo>
                  <a:pt x="0" y="0"/>
                </a:moveTo>
                <a:lnTo>
                  <a:pt x="852674" y="0"/>
                </a:lnTo>
                <a:lnTo>
                  <a:pt x="852674" y="261044"/>
                </a:lnTo>
                <a:lnTo>
                  <a:pt x="0" y="261044"/>
                </a:lnTo>
                <a:lnTo>
                  <a:pt x="0" y="0"/>
                </a:lnTo>
                <a:close/>
              </a:path>
            </a:pathLst>
          </a:custGeom>
          <a:solidFill>
            <a:srgbClr val="6CACDD"/>
          </a:solidFill>
        </p:spPr>
        <p:txBody>
          <a:bodyPr wrap="square" lIns="0" tIns="0" rIns="0" bIns="0" rtlCol="0"/>
          <a:lstStyle/>
          <a:p>
            <a:endParaRPr/>
          </a:p>
        </p:txBody>
      </p:sp>
      <p:sp>
        <p:nvSpPr>
          <p:cNvPr id="12" name="object 12"/>
          <p:cNvSpPr/>
          <p:nvPr/>
        </p:nvSpPr>
        <p:spPr>
          <a:xfrm>
            <a:off x="5468501" y="3843358"/>
            <a:ext cx="852805" cy="261620"/>
          </a:xfrm>
          <a:custGeom>
            <a:avLst/>
            <a:gdLst/>
            <a:ahLst/>
            <a:cxnLst/>
            <a:rect l="l" t="t" r="r" b="b"/>
            <a:pathLst>
              <a:path w="852804" h="261620">
                <a:moveTo>
                  <a:pt x="0" y="0"/>
                </a:moveTo>
                <a:lnTo>
                  <a:pt x="852674" y="0"/>
                </a:lnTo>
                <a:lnTo>
                  <a:pt x="852674" y="261044"/>
                </a:lnTo>
                <a:lnTo>
                  <a:pt x="0" y="261044"/>
                </a:lnTo>
                <a:lnTo>
                  <a:pt x="0" y="0"/>
                </a:lnTo>
                <a:close/>
              </a:path>
            </a:pathLst>
          </a:custGeom>
          <a:ln w="25399">
            <a:solidFill>
              <a:srgbClr val="000000"/>
            </a:solidFill>
          </a:ln>
        </p:spPr>
        <p:txBody>
          <a:bodyPr wrap="square" lIns="0" tIns="0" rIns="0" bIns="0" rtlCol="0"/>
          <a:lstStyle/>
          <a:p>
            <a:endParaRPr/>
          </a:p>
        </p:txBody>
      </p:sp>
      <p:sp>
        <p:nvSpPr>
          <p:cNvPr id="13" name="object 13"/>
          <p:cNvSpPr/>
          <p:nvPr/>
        </p:nvSpPr>
        <p:spPr>
          <a:xfrm>
            <a:off x="7998104" y="3892303"/>
            <a:ext cx="796290" cy="228600"/>
          </a:xfrm>
          <a:custGeom>
            <a:avLst/>
            <a:gdLst/>
            <a:ahLst/>
            <a:cxnLst/>
            <a:rect l="l" t="t" r="r" b="b"/>
            <a:pathLst>
              <a:path w="796290" h="228600">
                <a:moveTo>
                  <a:pt x="0" y="0"/>
                </a:moveTo>
                <a:lnTo>
                  <a:pt x="795829" y="0"/>
                </a:lnTo>
                <a:lnTo>
                  <a:pt x="795829" y="228414"/>
                </a:lnTo>
                <a:lnTo>
                  <a:pt x="0" y="228414"/>
                </a:lnTo>
                <a:lnTo>
                  <a:pt x="0" y="0"/>
                </a:lnTo>
                <a:close/>
              </a:path>
            </a:pathLst>
          </a:custGeom>
          <a:ln w="25399">
            <a:solidFill>
              <a:srgbClr val="000000"/>
            </a:solidFill>
          </a:ln>
        </p:spPr>
        <p:txBody>
          <a:bodyPr wrap="square" lIns="0" tIns="0" rIns="0" bIns="0" rtlCol="0"/>
          <a:lstStyle/>
          <a:p>
            <a:endParaRPr/>
          </a:p>
        </p:txBody>
      </p:sp>
      <p:sp>
        <p:nvSpPr>
          <p:cNvPr id="14" name="object 14"/>
          <p:cNvSpPr/>
          <p:nvPr/>
        </p:nvSpPr>
        <p:spPr>
          <a:xfrm>
            <a:off x="7969680" y="3875987"/>
            <a:ext cx="852805" cy="261620"/>
          </a:xfrm>
          <a:custGeom>
            <a:avLst/>
            <a:gdLst/>
            <a:ahLst/>
            <a:cxnLst/>
            <a:rect l="l" t="t" r="r" b="b"/>
            <a:pathLst>
              <a:path w="852804" h="261620">
                <a:moveTo>
                  <a:pt x="0" y="0"/>
                </a:moveTo>
                <a:lnTo>
                  <a:pt x="852675" y="0"/>
                </a:lnTo>
                <a:lnTo>
                  <a:pt x="852675" y="261044"/>
                </a:lnTo>
                <a:lnTo>
                  <a:pt x="0" y="261044"/>
                </a:lnTo>
                <a:lnTo>
                  <a:pt x="0" y="0"/>
                </a:lnTo>
                <a:close/>
              </a:path>
            </a:pathLst>
          </a:custGeom>
          <a:solidFill>
            <a:srgbClr val="6CACDD"/>
          </a:solidFill>
        </p:spPr>
        <p:txBody>
          <a:bodyPr wrap="square" lIns="0" tIns="0" rIns="0" bIns="0" rtlCol="0"/>
          <a:lstStyle/>
          <a:p>
            <a:endParaRPr/>
          </a:p>
        </p:txBody>
      </p:sp>
      <p:sp>
        <p:nvSpPr>
          <p:cNvPr id="15" name="object 15"/>
          <p:cNvSpPr/>
          <p:nvPr/>
        </p:nvSpPr>
        <p:spPr>
          <a:xfrm>
            <a:off x="7969680" y="3875987"/>
            <a:ext cx="852805" cy="261620"/>
          </a:xfrm>
          <a:custGeom>
            <a:avLst/>
            <a:gdLst/>
            <a:ahLst/>
            <a:cxnLst/>
            <a:rect l="l" t="t" r="r" b="b"/>
            <a:pathLst>
              <a:path w="852804" h="261620">
                <a:moveTo>
                  <a:pt x="0" y="0"/>
                </a:moveTo>
                <a:lnTo>
                  <a:pt x="852674" y="0"/>
                </a:lnTo>
                <a:lnTo>
                  <a:pt x="852674" y="261044"/>
                </a:lnTo>
                <a:lnTo>
                  <a:pt x="0" y="261044"/>
                </a:lnTo>
                <a:lnTo>
                  <a:pt x="0" y="0"/>
                </a:lnTo>
                <a:close/>
              </a:path>
            </a:pathLst>
          </a:custGeom>
          <a:ln w="25399">
            <a:solidFill>
              <a:srgbClr val="000000"/>
            </a:solidFill>
          </a:ln>
        </p:spPr>
        <p:txBody>
          <a:bodyPr wrap="square" lIns="0" tIns="0" rIns="0" bIns="0" rtlCol="0"/>
          <a:lstStyle/>
          <a:p>
            <a:endParaRPr/>
          </a:p>
        </p:txBody>
      </p:sp>
      <p:sp>
        <p:nvSpPr>
          <p:cNvPr id="16" name="object 16"/>
          <p:cNvSpPr/>
          <p:nvPr/>
        </p:nvSpPr>
        <p:spPr>
          <a:xfrm>
            <a:off x="5880627" y="3631257"/>
            <a:ext cx="3810" cy="196215"/>
          </a:xfrm>
          <a:custGeom>
            <a:avLst/>
            <a:gdLst/>
            <a:ahLst/>
            <a:cxnLst/>
            <a:rect l="l" t="t" r="r" b="b"/>
            <a:pathLst>
              <a:path w="3810" h="196214">
                <a:moveTo>
                  <a:pt x="1776" y="-12699"/>
                </a:moveTo>
                <a:lnTo>
                  <a:pt x="1776" y="208483"/>
                </a:lnTo>
              </a:path>
            </a:pathLst>
          </a:custGeom>
          <a:ln w="28952">
            <a:solidFill>
              <a:srgbClr val="000000"/>
            </a:solidFill>
          </a:ln>
        </p:spPr>
        <p:txBody>
          <a:bodyPr wrap="square" lIns="0" tIns="0" rIns="0" bIns="0" rtlCol="0"/>
          <a:lstStyle/>
          <a:p>
            <a:endParaRPr/>
          </a:p>
        </p:txBody>
      </p:sp>
      <p:sp>
        <p:nvSpPr>
          <p:cNvPr id="17" name="object 17"/>
          <p:cNvSpPr/>
          <p:nvPr/>
        </p:nvSpPr>
        <p:spPr>
          <a:xfrm>
            <a:off x="7600188" y="3631257"/>
            <a:ext cx="796290" cy="1905"/>
          </a:xfrm>
          <a:custGeom>
            <a:avLst/>
            <a:gdLst/>
            <a:ahLst/>
            <a:cxnLst/>
            <a:rect l="l" t="t" r="r" b="b"/>
            <a:pathLst>
              <a:path w="796290" h="1904">
                <a:moveTo>
                  <a:pt x="795829" y="0"/>
                </a:moveTo>
                <a:lnTo>
                  <a:pt x="0" y="1813"/>
                </a:lnTo>
              </a:path>
            </a:pathLst>
          </a:custGeom>
          <a:ln w="25399">
            <a:solidFill>
              <a:srgbClr val="000000"/>
            </a:solidFill>
          </a:ln>
        </p:spPr>
        <p:txBody>
          <a:bodyPr wrap="square" lIns="0" tIns="0" rIns="0" bIns="0" rtlCol="0"/>
          <a:lstStyle/>
          <a:p>
            <a:endParaRPr/>
          </a:p>
        </p:txBody>
      </p:sp>
      <p:sp>
        <p:nvSpPr>
          <p:cNvPr id="18" name="object 18"/>
          <p:cNvSpPr/>
          <p:nvPr/>
        </p:nvSpPr>
        <p:spPr>
          <a:xfrm>
            <a:off x="8388912" y="3624007"/>
            <a:ext cx="0" cy="250190"/>
          </a:xfrm>
          <a:custGeom>
            <a:avLst/>
            <a:gdLst/>
            <a:ahLst/>
            <a:cxnLst/>
            <a:rect l="l" t="t" r="r" b="b"/>
            <a:pathLst>
              <a:path h="250189">
                <a:moveTo>
                  <a:pt x="0" y="0"/>
                </a:moveTo>
                <a:lnTo>
                  <a:pt x="0" y="250167"/>
                </a:lnTo>
              </a:path>
            </a:pathLst>
          </a:custGeom>
          <a:ln w="25399">
            <a:solidFill>
              <a:srgbClr val="000000"/>
            </a:solidFill>
          </a:ln>
        </p:spPr>
        <p:txBody>
          <a:bodyPr wrap="square" lIns="0" tIns="0" rIns="0" bIns="0" rtlCol="0"/>
          <a:lstStyle/>
          <a:p>
            <a:endParaRPr/>
          </a:p>
        </p:txBody>
      </p:sp>
      <p:sp>
        <p:nvSpPr>
          <p:cNvPr id="19" name="object 19"/>
          <p:cNvSpPr/>
          <p:nvPr/>
        </p:nvSpPr>
        <p:spPr>
          <a:xfrm>
            <a:off x="5894839" y="4113466"/>
            <a:ext cx="0" cy="205104"/>
          </a:xfrm>
          <a:custGeom>
            <a:avLst/>
            <a:gdLst/>
            <a:ahLst/>
            <a:cxnLst/>
            <a:rect l="l" t="t" r="r" b="b"/>
            <a:pathLst>
              <a:path h="205104">
                <a:moveTo>
                  <a:pt x="0" y="0"/>
                </a:moveTo>
                <a:lnTo>
                  <a:pt x="1" y="204847"/>
                </a:lnTo>
              </a:path>
            </a:pathLst>
          </a:custGeom>
          <a:ln w="25399">
            <a:solidFill>
              <a:srgbClr val="000000"/>
            </a:solidFill>
          </a:ln>
        </p:spPr>
        <p:txBody>
          <a:bodyPr wrap="square" lIns="0" tIns="0" rIns="0" bIns="0" rtlCol="0"/>
          <a:lstStyle/>
          <a:p>
            <a:endParaRPr/>
          </a:p>
        </p:txBody>
      </p:sp>
      <p:sp>
        <p:nvSpPr>
          <p:cNvPr id="20" name="object 20"/>
          <p:cNvSpPr/>
          <p:nvPr/>
        </p:nvSpPr>
        <p:spPr>
          <a:xfrm>
            <a:off x="8381808" y="4146098"/>
            <a:ext cx="0" cy="165100"/>
          </a:xfrm>
          <a:custGeom>
            <a:avLst/>
            <a:gdLst/>
            <a:ahLst/>
            <a:cxnLst/>
            <a:rect l="l" t="t" r="r" b="b"/>
            <a:pathLst>
              <a:path h="165100">
                <a:moveTo>
                  <a:pt x="0" y="0"/>
                </a:moveTo>
                <a:lnTo>
                  <a:pt x="0" y="164965"/>
                </a:lnTo>
              </a:path>
            </a:pathLst>
          </a:custGeom>
          <a:ln w="25399">
            <a:solidFill>
              <a:srgbClr val="000000"/>
            </a:solidFill>
          </a:ln>
        </p:spPr>
        <p:txBody>
          <a:bodyPr wrap="square" lIns="0" tIns="0" rIns="0" bIns="0" rtlCol="0"/>
          <a:lstStyle/>
          <a:p>
            <a:endParaRPr/>
          </a:p>
        </p:txBody>
      </p:sp>
      <p:sp>
        <p:nvSpPr>
          <p:cNvPr id="21" name="object 21"/>
          <p:cNvSpPr/>
          <p:nvPr/>
        </p:nvSpPr>
        <p:spPr>
          <a:xfrm>
            <a:off x="5894839" y="4307438"/>
            <a:ext cx="2501265" cy="0"/>
          </a:xfrm>
          <a:custGeom>
            <a:avLst/>
            <a:gdLst/>
            <a:ahLst/>
            <a:cxnLst/>
            <a:rect l="l" t="t" r="r" b="b"/>
            <a:pathLst>
              <a:path w="2501265">
                <a:moveTo>
                  <a:pt x="0" y="0"/>
                </a:moveTo>
                <a:lnTo>
                  <a:pt x="2501179" y="0"/>
                </a:lnTo>
              </a:path>
            </a:pathLst>
          </a:custGeom>
          <a:ln w="25399">
            <a:solidFill>
              <a:srgbClr val="000000"/>
            </a:solidFill>
          </a:ln>
        </p:spPr>
        <p:txBody>
          <a:bodyPr wrap="square" lIns="0" tIns="0" rIns="0" bIns="0" rtlCol="0"/>
          <a:lstStyle/>
          <a:p>
            <a:endParaRPr/>
          </a:p>
        </p:txBody>
      </p:sp>
      <p:sp>
        <p:nvSpPr>
          <p:cNvPr id="22" name="object 22"/>
          <p:cNvSpPr/>
          <p:nvPr/>
        </p:nvSpPr>
        <p:spPr>
          <a:xfrm>
            <a:off x="7145428" y="4300185"/>
            <a:ext cx="0" cy="234315"/>
          </a:xfrm>
          <a:custGeom>
            <a:avLst/>
            <a:gdLst/>
            <a:ahLst/>
            <a:cxnLst/>
            <a:rect l="l" t="t" r="r" b="b"/>
            <a:pathLst>
              <a:path h="234314">
                <a:moveTo>
                  <a:pt x="0" y="0"/>
                </a:moveTo>
                <a:lnTo>
                  <a:pt x="0" y="233852"/>
                </a:lnTo>
              </a:path>
            </a:pathLst>
          </a:custGeom>
          <a:ln w="25399">
            <a:solidFill>
              <a:srgbClr val="000000"/>
            </a:solidFill>
          </a:ln>
        </p:spPr>
        <p:txBody>
          <a:bodyPr wrap="square" lIns="0" tIns="0" rIns="0" bIns="0" rtlCol="0"/>
          <a:lstStyle/>
          <a:p>
            <a:endParaRPr/>
          </a:p>
        </p:txBody>
      </p:sp>
      <p:sp>
        <p:nvSpPr>
          <p:cNvPr id="23" name="object 23"/>
          <p:cNvSpPr/>
          <p:nvPr/>
        </p:nvSpPr>
        <p:spPr>
          <a:xfrm>
            <a:off x="6747513" y="4561231"/>
            <a:ext cx="796290" cy="228600"/>
          </a:xfrm>
          <a:custGeom>
            <a:avLst/>
            <a:gdLst/>
            <a:ahLst/>
            <a:cxnLst/>
            <a:rect l="l" t="t" r="r" b="b"/>
            <a:pathLst>
              <a:path w="796290" h="228600">
                <a:moveTo>
                  <a:pt x="0" y="0"/>
                </a:moveTo>
                <a:lnTo>
                  <a:pt x="795830" y="0"/>
                </a:lnTo>
                <a:lnTo>
                  <a:pt x="795830" y="228415"/>
                </a:lnTo>
                <a:lnTo>
                  <a:pt x="0" y="228415"/>
                </a:lnTo>
                <a:lnTo>
                  <a:pt x="0" y="0"/>
                </a:lnTo>
                <a:close/>
              </a:path>
            </a:pathLst>
          </a:custGeom>
          <a:solidFill>
            <a:srgbClr val="6CACDD"/>
          </a:solidFill>
        </p:spPr>
        <p:txBody>
          <a:bodyPr wrap="square" lIns="0" tIns="0" rIns="0" bIns="0" rtlCol="0"/>
          <a:lstStyle/>
          <a:p>
            <a:endParaRPr/>
          </a:p>
        </p:txBody>
      </p:sp>
      <p:sp>
        <p:nvSpPr>
          <p:cNvPr id="24" name="object 24"/>
          <p:cNvSpPr/>
          <p:nvPr/>
        </p:nvSpPr>
        <p:spPr>
          <a:xfrm>
            <a:off x="6747513" y="4561231"/>
            <a:ext cx="796290" cy="228600"/>
          </a:xfrm>
          <a:custGeom>
            <a:avLst/>
            <a:gdLst/>
            <a:ahLst/>
            <a:cxnLst/>
            <a:rect l="l" t="t" r="r" b="b"/>
            <a:pathLst>
              <a:path w="796290" h="228600">
                <a:moveTo>
                  <a:pt x="0" y="0"/>
                </a:moveTo>
                <a:lnTo>
                  <a:pt x="795829" y="0"/>
                </a:lnTo>
                <a:lnTo>
                  <a:pt x="795829" y="228414"/>
                </a:lnTo>
                <a:lnTo>
                  <a:pt x="0" y="228414"/>
                </a:lnTo>
                <a:lnTo>
                  <a:pt x="0" y="0"/>
                </a:lnTo>
                <a:close/>
              </a:path>
            </a:pathLst>
          </a:custGeom>
          <a:ln w="25399">
            <a:solidFill>
              <a:srgbClr val="000000"/>
            </a:solidFill>
          </a:ln>
        </p:spPr>
        <p:txBody>
          <a:bodyPr wrap="square" lIns="0" tIns="0" rIns="0" bIns="0" rtlCol="0"/>
          <a:lstStyle/>
          <a:p>
            <a:endParaRPr/>
          </a:p>
        </p:txBody>
      </p:sp>
      <p:sp>
        <p:nvSpPr>
          <p:cNvPr id="25" name="object 25"/>
          <p:cNvSpPr/>
          <p:nvPr/>
        </p:nvSpPr>
        <p:spPr>
          <a:xfrm>
            <a:off x="6719091" y="4544915"/>
            <a:ext cx="852805" cy="261620"/>
          </a:xfrm>
          <a:custGeom>
            <a:avLst/>
            <a:gdLst/>
            <a:ahLst/>
            <a:cxnLst/>
            <a:rect l="l" t="t" r="r" b="b"/>
            <a:pathLst>
              <a:path w="852804" h="261620">
                <a:moveTo>
                  <a:pt x="0" y="0"/>
                </a:moveTo>
                <a:lnTo>
                  <a:pt x="852675" y="0"/>
                </a:lnTo>
                <a:lnTo>
                  <a:pt x="852675" y="261044"/>
                </a:lnTo>
                <a:lnTo>
                  <a:pt x="0" y="261044"/>
                </a:lnTo>
                <a:lnTo>
                  <a:pt x="0" y="0"/>
                </a:lnTo>
                <a:close/>
              </a:path>
            </a:pathLst>
          </a:custGeom>
          <a:ln w="25399">
            <a:solidFill>
              <a:srgbClr val="000000"/>
            </a:solidFill>
          </a:ln>
        </p:spPr>
        <p:txBody>
          <a:bodyPr wrap="square" lIns="0" tIns="0" rIns="0" bIns="0" rtlCol="0"/>
          <a:lstStyle/>
          <a:p>
            <a:endParaRPr/>
          </a:p>
        </p:txBody>
      </p:sp>
      <p:sp>
        <p:nvSpPr>
          <p:cNvPr id="26" name="object 26"/>
          <p:cNvSpPr/>
          <p:nvPr/>
        </p:nvSpPr>
        <p:spPr>
          <a:xfrm>
            <a:off x="7145428" y="4822276"/>
            <a:ext cx="0" cy="270510"/>
          </a:xfrm>
          <a:custGeom>
            <a:avLst/>
            <a:gdLst/>
            <a:ahLst/>
            <a:cxnLst/>
            <a:rect l="l" t="t" r="r" b="b"/>
            <a:pathLst>
              <a:path h="270510">
                <a:moveTo>
                  <a:pt x="0" y="0"/>
                </a:moveTo>
                <a:lnTo>
                  <a:pt x="0" y="270108"/>
                </a:lnTo>
              </a:path>
            </a:pathLst>
          </a:custGeom>
          <a:ln w="25399">
            <a:solidFill>
              <a:srgbClr val="000000"/>
            </a:solidFill>
          </a:ln>
        </p:spPr>
        <p:txBody>
          <a:bodyPr wrap="square" lIns="0" tIns="0" rIns="0" bIns="0" rtlCol="0"/>
          <a:lstStyle/>
          <a:p>
            <a:endParaRPr/>
          </a:p>
        </p:txBody>
      </p:sp>
      <p:sp>
        <p:nvSpPr>
          <p:cNvPr id="27" name="object 27"/>
          <p:cNvSpPr/>
          <p:nvPr/>
        </p:nvSpPr>
        <p:spPr>
          <a:xfrm>
            <a:off x="7145428" y="5213845"/>
            <a:ext cx="3810" cy="81915"/>
          </a:xfrm>
          <a:custGeom>
            <a:avLst/>
            <a:gdLst/>
            <a:ahLst/>
            <a:cxnLst/>
            <a:rect l="l" t="t" r="r" b="b"/>
            <a:pathLst>
              <a:path w="3809" h="81914">
                <a:moveTo>
                  <a:pt x="1776" y="-12699"/>
                </a:moveTo>
                <a:lnTo>
                  <a:pt x="1776" y="94276"/>
                </a:lnTo>
              </a:path>
            </a:pathLst>
          </a:custGeom>
          <a:ln w="28953">
            <a:solidFill>
              <a:srgbClr val="000000"/>
            </a:solidFill>
          </a:ln>
        </p:spPr>
        <p:txBody>
          <a:bodyPr wrap="square" lIns="0" tIns="0" rIns="0" bIns="0" rtlCol="0"/>
          <a:lstStyle/>
          <a:p>
            <a:endParaRPr/>
          </a:p>
        </p:txBody>
      </p:sp>
      <p:sp>
        <p:nvSpPr>
          <p:cNvPr id="28" name="object 28"/>
          <p:cNvSpPr/>
          <p:nvPr/>
        </p:nvSpPr>
        <p:spPr>
          <a:xfrm>
            <a:off x="7145428" y="3060222"/>
            <a:ext cx="1932939" cy="1905"/>
          </a:xfrm>
          <a:custGeom>
            <a:avLst/>
            <a:gdLst/>
            <a:ahLst/>
            <a:cxnLst/>
            <a:rect l="l" t="t" r="r" b="b"/>
            <a:pathLst>
              <a:path w="1932940" h="1905">
                <a:moveTo>
                  <a:pt x="0" y="0"/>
                </a:moveTo>
                <a:lnTo>
                  <a:pt x="1932729" y="1813"/>
                </a:lnTo>
              </a:path>
            </a:pathLst>
          </a:custGeom>
          <a:ln w="25399">
            <a:solidFill>
              <a:srgbClr val="000000"/>
            </a:solidFill>
          </a:ln>
        </p:spPr>
        <p:txBody>
          <a:bodyPr wrap="square" lIns="0" tIns="0" rIns="0" bIns="0" rtlCol="0"/>
          <a:lstStyle/>
          <a:p>
            <a:endParaRPr/>
          </a:p>
        </p:txBody>
      </p:sp>
      <p:sp>
        <p:nvSpPr>
          <p:cNvPr id="29" name="object 29"/>
          <p:cNvSpPr/>
          <p:nvPr/>
        </p:nvSpPr>
        <p:spPr>
          <a:xfrm>
            <a:off x="7166745" y="5250101"/>
            <a:ext cx="1932939" cy="1905"/>
          </a:xfrm>
          <a:custGeom>
            <a:avLst/>
            <a:gdLst/>
            <a:ahLst/>
            <a:cxnLst/>
            <a:rect l="l" t="t" r="r" b="b"/>
            <a:pathLst>
              <a:path w="1932940" h="1904">
                <a:moveTo>
                  <a:pt x="0" y="0"/>
                </a:moveTo>
                <a:lnTo>
                  <a:pt x="1932729" y="1812"/>
                </a:lnTo>
              </a:path>
            </a:pathLst>
          </a:custGeom>
          <a:ln w="25399">
            <a:solidFill>
              <a:srgbClr val="000000"/>
            </a:solidFill>
          </a:ln>
        </p:spPr>
        <p:txBody>
          <a:bodyPr wrap="square" lIns="0" tIns="0" rIns="0" bIns="0" rtlCol="0"/>
          <a:lstStyle/>
          <a:p>
            <a:endParaRPr/>
          </a:p>
        </p:txBody>
      </p:sp>
      <p:sp>
        <p:nvSpPr>
          <p:cNvPr id="30" name="object 30"/>
          <p:cNvSpPr/>
          <p:nvPr/>
        </p:nvSpPr>
        <p:spPr>
          <a:xfrm>
            <a:off x="9085265" y="3045719"/>
            <a:ext cx="3810" cy="2202815"/>
          </a:xfrm>
          <a:custGeom>
            <a:avLst/>
            <a:gdLst/>
            <a:ahLst/>
            <a:cxnLst/>
            <a:rect l="l" t="t" r="r" b="b"/>
            <a:pathLst>
              <a:path w="3809" h="2202815">
                <a:moveTo>
                  <a:pt x="0" y="0"/>
                </a:moveTo>
                <a:lnTo>
                  <a:pt x="3553" y="2202568"/>
                </a:lnTo>
              </a:path>
            </a:pathLst>
          </a:custGeom>
          <a:ln w="25399">
            <a:solidFill>
              <a:srgbClr val="000000"/>
            </a:solidFill>
          </a:ln>
        </p:spPr>
        <p:txBody>
          <a:bodyPr wrap="square" lIns="0" tIns="0" rIns="0" bIns="0" rtlCol="0"/>
          <a:lstStyle/>
          <a:p>
            <a:endParaRPr/>
          </a:p>
        </p:txBody>
      </p:sp>
      <p:sp>
        <p:nvSpPr>
          <p:cNvPr id="31" name="object 31"/>
          <p:cNvSpPr/>
          <p:nvPr/>
        </p:nvSpPr>
        <p:spPr>
          <a:xfrm>
            <a:off x="6633823" y="3484420"/>
            <a:ext cx="995044" cy="310515"/>
          </a:xfrm>
          <a:custGeom>
            <a:avLst/>
            <a:gdLst/>
            <a:ahLst/>
            <a:cxnLst/>
            <a:rect l="l" t="t" r="r" b="b"/>
            <a:pathLst>
              <a:path w="995045" h="310514">
                <a:moveTo>
                  <a:pt x="497394" y="0"/>
                </a:moveTo>
                <a:lnTo>
                  <a:pt x="0" y="154995"/>
                </a:lnTo>
                <a:lnTo>
                  <a:pt x="497394" y="309990"/>
                </a:lnTo>
                <a:lnTo>
                  <a:pt x="994788" y="154995"/>
                </a:lnTo>
                <a:lnTo>
                  <a:pt x="497394" y="0"/>
                </a:lnTo>
                <a:close/>
              </a:path>
            </a:pathLst>
          </a:custGeom>
          <a:solidFill>
            <a:srgbClr val="FFD300"/>
          </a:solidFill>
        </p:spPr>
        <p:txBody>
          <a:bodyPr wrap="square" lIns="0" tIns="0" rIns="0" bIns="0" rtlCol="0"/>
          <a:lstStyle/>
          <a:p>
            <a:endParaRPr/>
          </a:p>
        </p:txBody>
      </p:sp>
      <p:sp>
        <p:nvSpPr>
          <p:cNvPr id="32" name="object 32"/>
          <p:cNvSpPr/>
          <p:nvPr/>
        </p:nvSpPr>
        <p:spPr>
          <a:xfrm>
            <a:off x="6633822" y="3484420"/>
            <a:ext cx="995044" cy="310515"/>
          </a:xfrm>
          <a:custGeom>
            <a:avLst/>
            <a:gdLst/>
            <a:ahLst/>
            <a:cxnLst/>
            <a:rect l="l" t="t" r="r" b="b"/>
            <a:pathLst>
              <a:path w="995045" h="310514">
                <a:moveTo>
                  <a:pt x="0" y="154995"/>
                </a:moveTo>
                <a:lnTo>
                  <a:pt x="497393" y="0"/>
                </a:lnTo>
                <a:lnTo>
                  <a:pt x="994788" y="154995"/>
                </a:lnTo>
                <a:lnTo>
                  <a:pt x="497393" y="309990"/>
                </a:lnTo>
                <a:lnTo>
                  <a:pt x="0" y="154995"/>
                </a:lnTo>
                <a:close/>
              </a:path>
            </a:pathLst>
          </a:custGeom>
          <a:ln w="25399">
            <a:solidFill>
              <a:srgbClr val="000000"/>
            </a:solidFill>
          </a:ln>
        </p:spPr>
        <p:txBody>
          <a:bodyPr wrap="square" lIns="0" tIns="0" rIns="0" bIns="0" rtlCol="0"/>
          <a:lstStyle/>
          <a:p>
            <a:endParaRPr/>
          </a:p>
        </p:txBody>
      </p:sp>
      <p:sp>
        <p:nvSpPr>
          <p:cNvPr id="33" name="object 33"/>
          <p:cNvSpPr/>
          <p:nvPr/>
        </p:nvSpPr>
        <p:spPr>
          <a:xfrm>
            <a:off x="6633823" y="5099636"/>
            <a:ext cx="995044" cy="310515"/>
          </a:xfrm>
          <a:custGeom>
            <a:avLst/>
            <a:gdLst/>
            <a:ahLst/>
            <a:cxnLst/>
            <a:rect l="l" t="t" r="r" b="b"/>
            <a:pathLst>
              <a:path w="995045" h="310514">
                <a:moveTo>
                  <a:pt x="497394" y="0"/>
                </a:moveTo>
                <a:lnTo>
                  <a:pt x="0" y="154995"/>
                </a:lnTo>
                <a:lnTo>
                  <a:pt x="497394" y="309991"/>
                </a:lnTo>
                <a:lnTo>
                  <a:pt x="994788" y="154995"/>
                </a:lnTo>
                <a:lnTo>
                  <a:pt x="497394" y="0"/>
                </a:lnTo>
                <a:close/>
              </a:path>
            </a:pathLst>
          </a:custGeom>
          <a:solidFill>
            <a:srgbClr val="FFD300"/>
          </a:solidFill>
        </p:spPr>
        <p:txBody>
          <a:bodyPr wrap="square" lIns="0" tIns="0" rIns="0" bIns="0" rtlCol="0"/>
          <a:lstStyle/>
          <a:p>
            <a:endParaRPr/>
          </a:p>
        </p:txBody>
      </p:sp>
      <p:sp>
        <p:nvSpPr>
          <p:cNvPr id="34" name="object 34"/>
          <p:cNvSpPr/>
          <p:nvPr/>
        </p:nvSpPr>
        <p:spPr>
          <a:xfrm>
            <a:off x="6633822" y="5099636"/>
            <a:ext cx="995044" cy="310515"/>
          </a:xfrm>
          <a:custGeom>
            <a:avLst/>
            <a:gdLst/>
            <a:ahLst/>
            <a:cxnLst/>
            <a:rect l="l" t="t" r="r" b="b"/>
            <a:pathLst>
              <a:path w="995045" h="310514">
                <a:moveTo>
                  <a:pt x="0" y="154995"/>
                </a:moveTo>
                <a:lnTo>
                  <a:pt x="497393" y="0"/>
                </a:lnTo>
                <a:lnTo>
                  <a:pt x="994788" y="154995"/>
                </a:lnTo>
                <a:lnTo>
                  <a:pt x="497393" y="309990"/>
                </a:lnTo>
                <a:lnTo>
                  <a:pt x="0" y="154995"/>
                </a:lnTo>
                <a:close/>
              </a:path>
            </a:pathLst>
          </a:custGeom>
          <a:ln w="25399">
            <a:solidFill>
              <a:srgbClr val="000000"/>
            </a:solidFill>
          </a:ln>
        </p:spPr>
        <p:txBody>
          <a:bodyPr wrap="square" lIns="0" tIns="0" rIns="0" bIns="0" rtlCol="0"/>
          <a:lstStyle/>
          <a:p>
            <a:endParaRPr/>
          </a:p>
        </p:txBody>
      </p:sp>
      <p:sp>
        <p:nvSpPr>
          <p:cNvPr id="35" name="object 35"/>
          <p:cNvSpPr/>
          <p:nvPr/>
        </p:nvSpPr>
        <p:spPr>
          <a:xfrm>
            <a:off x="7145428" y="5415066"/>
            <a:ext cx="3175" cy="382905"/>
          </a:xfrm>
          <a:custGeom>
            <a:avLst/>
            <a:gdLst/>
            <a:ahLst/>
            <a:cxnLst/>
            <a:rect l="l" t="t" r="r" b="b"/>
            <a:pathLst>
              <a:path w="3175" h="382904">
                <a:moveTo>
                  <a:pt x="0" y="0"/>
                </a:moveTo>
                <a:lnTo>
                  <a:pt x="2977" y="382588"/>
                </a:lnTo>
              </a:path>
            </a:pathLst>
          </a:custGeom>
          <a:ln w="25399">
            <a:solidFill>
              <a:srgbClr val="000000"/>
            </a:solidFill>
          </a:ln>
        </p:spPr>
        <p:txBody>
          <a:bodyPr wrap="square" lIns="0" tIns="0" rIns="0" bIns="0" rtlCol="0"/>
          <a:lstStyle/>
          <a:p>
            <a:endParaRPr/>
          </a:p>
        </p:txBody>
      </p:sp>
      <p:sp>
        <p:nvSpPr>
          <p:cNvPr id="36" name="object 36"/>
          <p:cNvSpPr/>
          <p:nvPr/>
        </p:nvSpPr>
        <p:spPr>
          <a:xfrm>
            <a:off x="7109911" y="5746560"/>
            <a:ext cx="76200" cy="76835"/>
          </a:xfrm>
          <a:custGeom>
            <a:avLst/>
            <a:gdLst/>
            <a:ahLst/>
            <a:cxnLst/>
            <a:rect l="l" t="t" r="r" b="b"/>
            <a:pathLst>
              <a:path w="76200" h="76835">
                <a:moveTo>
                  <a:pt x="76197" y="0"/>
                </a:moveTo>
                <a:lnTo>
                  <a:pt x="0" y="592"/>
                </a:lnTo>
                <a:lnTo>
                  <a:pt x="38691" y="76494"/>
                </a:lnTo>
                <a:lnTo>
                  <a:pt x="76197" y="0"/>
                </a:lnTo>
                <a:close/>
              </a:path>
            </a:pathLst>
          </a:custGeom>
          <a:solidFill>
            <a:srgbClr val="000000"/>
          </a:solidFill>
        </p:spPr>
        <p:txBody>
          <a:bodyPr wrap="square" lIns="0" tIns="0" rIns="0" bIns="0" rtlCol="0"/>
          <a:lstStyle/>
          <a:p>
            <a:endParaRPr/>
          </a:p>
        </p:txBody>
      </p:sp>
      <p:sp>
        <p:nvSpPr>
          <p:cNvPr id="37" name="object 37"/>
          <p:cNvSpPr/>
          <p:nvPr/>
        </p:nvSpPr>
        <p:spPr>
          <a:xfrm>
            <a:off x="3176140" y="3239008"/>
            <a:ext cx="2062342" cy="2234306"/>
          </a:xfrm>
          <a:prstGeom prst="rect">
            <a:avLst/>
          </a:prstGeom>
          <a:blipFill>
            <a:blip r:embed="rId4" cstate="print"/>
            <a:stretch>
              <a:fillRect/>
            </a:stretch>
          </a:blipFill>
        </p:spPr>
        <p:txBody>
          <a:bodyPr wrap="square" lIns="0" tIns="0" rIns="0" bIns="0" rtlCol="0"/>
          <a:lstStyle/>
          <a:p>
            <a:endParaRPr/>
          </a:p>
        </p:txBody>
      </p:sp>
      <p:sp>
        <p:nvSpPr>
          <p:cNvPr id="38" name="灯片编号占位符 37"/>
          <p:cNvSpPr>
            <a:spLocks noGrp="1"/>
          </p:cNvSpPr>
          <p:nvPr>
            <p:ph type="sldNum" sz="quarter" idx="12"/>
          </p:nvPr>
        </p:nvSpPr>
        <p:spPr/>
        <p:txBody>
          <a:bodyPr/>
          <a:lstStyle/>
          <a:p>
            <a:fld id="{74D2AB8B-5816-41F2-8B4B-CA5C3E4E6A65}" type="slidenum">
              <a:rPr lang="zh-CN" altLang="en-US" smtClean="0"/>
              <a:t>40</a:t>
            </a:fld>
            <a:endParaRPr lang="zh-CN" altLang="en-US"/>
          </a:p>
        </p:txBody>
      </p:sp>
      <p:sp>
        <p:nvSpPr>
          <p:cNvPr id="40" name="标题 39"/>
          <p:cNvSpPr>
            <a:spLocks noGrp="1"/>
          </p:cNvSpPr>
          <p:nvPr>
            <p:ph type="title"/>
          </p:nvPr>
        </p:nvSpPr>
        <p:spPr/>
        <p:txBody>
          <a:bodyPr/>
          <a:lstStyle/>
          <a:p>
            <a:r>
              <a:rPr lang="zh-CN" altLang="en-US" dirty="0"/>
              <a:t>单元测试方法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316886184"/>
              </p:ext>
            </p:extLst>
          </p:nvPr>
        </p:nvGraphicFramePr>
        <p:xfrm>
          <a:off x="6536446" y="1901441"/>
          <a:ext cx="2566670" cy="2272477"/>
        </p:xfrm>
        <a:graphic>
          <a:graphicData uri="http://schemas.openxmlformats.org/drawingml/2006/table">
            <a:tbl>
              <a:tblPr firstRow="1" bandRow="1">
                <a:tableStyleId>{2D5ABB26-0587-4C30-8999-92F81FD0307C}</a:tableStyleId>
              </a:tblPr>
              <a:tblGrid>
                <a:gridCol w="1283335">
                  <a:extLst>
                    <a:ext uri="{9D8B030D-6E8A-4147-A177-3AD203B41FA5}">
                      <a16:colId xmlns:a16="http://schemas.microsoft.com/office/drawing/2014/main" val="20000"/>
                    </a:ext>
                  </a:extLst>
                </a:gridCol>
                <a:gridCol w="1283335">
                  <a:extLst>
                    <a:ext uri="{9D8B030D-6E8A-4147-A177-3AD203B41FA5}">
                      <a16:colId xmlns:a16="http://schemas.microsoft.com/office/drawing/2014/main" val="20001"/>
                    </a:ext>
                  </a:extLst>
                </a:gridCol>
              </a:tblGrid>
              <a:tr h="841557">
                <a:tc gridSpan="2">
                  <a:txBody>
                    <a:bodyPr/>
                    <a:lstStyle/>
                    <a:p>
                      <a:pPr marL="727075">
                        <a:lnSpc>
                          <a:spcPct val="100000"/>
                        </a:lnSpc>
                        <a:spcBef>
                          <a:spcPts val="1990"/>
                        </a:spcBef>
                      </a:pPr>
                      <a:r>
                        <a:rPr sz="2200" dirty="0">
                          <a:latin typeface="微软雅黑" panose="020B0503020204020204" pitchFamily="34" charset="-122"/>
                          <a:cs typeface="微软雅黑" panose="020B0503020204020204" pitchFamily="34" charset="-122"/>
                        </a:rPr>
                        <a:t>上层模块</a:t>
                      </a:r>
                    </a:p>
                  </a:txBody>
                  <a:tcPr marL="0" marR="0" marT="2527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CEBEB"/>
                    </a:solidFill>
                  </a:tcPr>
                </a:tc>
                <a:tc hMerge="1">
                  <a:txBody>
                    <a:bodyPr/>
                    <a:lstStyle/>
                    <a:p>
                      <a:endParaRPr lang="zh-CN"/>
                    </a:p>
                  </a:txBody>
                  <a:tcPr marL="0" marR="0" marT="0" marB="0"/>
                </a:tc>
                <a:extLst>
                  <a:ext uri="{0D108BD9-81ED-4DB2-BD59-A6C34878D82A}">
                    <a16:rowId xmlns:a16="http://schemas.microsoft.com/office/drawing/2014/main" val="10000"/>
                  </a:ext>
                </a:extLst>
              </a:tr>
              <a:tr h="589363">
                <a:tc>
                  <a:txBody>
                    <a:bodyPr/>
                    <a:lstStyle/>
                    <a:p>
                      <a:pPr>
                        <a:lnSpc>
                          <a:spcPct val="100000"/>
                        </a:lnSpc>
                      </a:pPr>
                      <a:endParaRPr sz="2300">
                        <a:latin typeface="Times New Roman" panose="02020603050405020304"/>
                        <a:cs typeface="Times New Roman" panose="02020603050405020304"/>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300">
                        <a:latin typeface="Times New Roman" panose="02020603050405020304"/>
                        <a:cs typeface="Times New Roman" panose="02020603050405020304"/>
                      </a:endParaRPr>
                    </a:p>
                  </a:txBody>
                  <a:tcPr marL="0" marR="0" marT="0"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841557">
                <a:tc gridSpan="2">
                  <a:txBody>
                    <a:bodyPr/>
                    <a:lstStyle/>
                    <a:p>
                      <a:pPr marL="727075">
                        <a:lnSpc>
                          <a:spcPct val="100000"/>
                        </a:lnSpc>
                        <a:spcBef>
                          <a:spcPts val="1990"/>
                        </a:spcBef>
                      </a:pPr>
                      <a:r>
                        <a:rPr sz="2200" dirty="0">
                          <a:latin typeface="微软雅黑" panose="020B0503020204020204" pitchFamily="34" charset="-122"/>
                          <a:cs typeface="微软雅黑" panose="020B0503020204020204" pitchFamily="34" charset="-122"/>
                        </a:rPr>
                        <a:t>被测模块</a:t>
                      </a:r>
                    </a:p>
                  </a:txBody>
                  <a:tcPr marL="0" marR="0" marT="2527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ACA9"/>
                    </a:solidFill>
                  </a:tcPr>
                </a:tc>
                <a:tc hMerge="1">
                  <a:txBody>
                    <a:bodyPr/>
                    <a:lstStyle/>
                    <a:p>
                      <a:endParaRPr lang="zh-CN"/>
                    </a:p>
                  </a:txBody>
                  <a:tcPr marL="0" marR="0" marT="0" marB="0"/>
                </a:tc>
                <a:extLst>
                  <a:ext uri="{0D108BD9-81ED-4DB2-BD59-A6C34878D82A}">
                    <a16:rowId xmlns:a16="http://schemas.microsoft.com/office/drawing/2014/main" val="10002"/>
                  </a:ext>
                </a:extLst>
              </a:tr>
            </a:tbl>
          </a:graphicData>
        </a:graphic>
      </p:graphicFrame>
      <p:sp>
        <p:nvSpPr>
          <p:cNvPr id="4" name="object 4"/>
          <p:cNvSpPr txBox="1"/>
          <p:nvPr/>
        </p:nvSpPr>
        <p:spPr>
          <a:xfrm>
            <a:off x="8804027" y="5091870"/>
            <a:ext cx="40894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Wingdings" panose="05000000000000000000"/>
                <a:cs typeface="Wingdings" panose="05000000000000000000"/>
              </a:rPr>
              <a:t></a:t>
            </a:r>
            <a:endParaRPr sz="2200">
              <a:latin typeface="Wingdings" panose="05000000000000000000"/>
              <a:cs typeface="Wingdings" panose="05000000000000000000"/>
            </a:endParaRPr>
          </a:p>
        </p:txBody>
      </p:sp>
      <p:sp>
        <p:nvSpPr>
          <p:cNvPr id="5" name="object 5"/>
          <p:cNvSpPr txBox="1"/>
          <p:nvPr/>
        </p:nvSpPr>
        <p:spPr>
          <a:xfrm>
            <a:off x="3020125" y="4817567"/>
            <a:ext cx="2169160" cy="842010"/>
          </a:xfrm>
          <a:prstGeom prst="rect">
            <a:avLst/>
          </a:prstGeom>
          <a:solidFill>
            <a:srgbClr val="ECEBEB"/>
          </a:solidFill>
          <a:ln w="9524">
            <a:solidFill>
              <a:srgbClr val="000000"/>
            </a:solidFill>
          </a:ln>
        </p:spPr>
        <p:txBody>
          <a:bodyPr vert="horz" wrap="square" lIns="0" tIns="252729" rIns="0" bIns="0" rtlCol="0">
            <a:spAutoFit/>
          </a:bodyPr>
          <a:lstStyle/>
          <a:p>
            <a:pPr marL="450850">
              <a:lnSpc>
                <a:spcPct val="100000"/>
              </a:lnSpc>
              <a:spcBef>
                <a:spcPts val="1990"/>
              </a:spcBef>
            </a:pPr>
            <a:r>
              <a:rPr sz="2200" dirty="0">
                <a:latin typeface="微软雅黑" panose="020B0503020204020204" pitchFamily="34" charset="-122"/>
                <a:cs typeface="微软雅黑" panose="020B0503020204020204" pitchFamily="34" charset="-122"/>
              </a:rPr>
              <a:t>下层模块</a:t>
            </a:r>
            <a:r>
              <a:rPr sz="2200" dirty="0">
                <a:latin typeface="Arial" panose="020B0604020202020204"/>
                <a:cs typeface="Arial" panose="020B0604020202020204"/>
              </a:rPr>
              <a:t>1</a:t>
            </a:r>
            <a:endParaRPr sz="2200">
              <a:latin typeface="Arial" panose="020B0604020202020204"/>
              <a:cs typeface="Arial" panose="020B0604020202020204"/>
            </a:endParaRPr>
          </a:p>
        </p:txBody>
      </p:sp>
      <p:sp>
        <p:nvSpPr>
          <p:cNvPr id="6" name="object 6"/>
          <p:cNvSpPr/>
          <p:nvPr/>
        </p:nvSpPr>
        <p:spPr>
          <a:xfrm>
            <a:off x="4104665" y="4187150"/>
            <a:ext cx="2894965" cy="630555"/>
          </a:xfrm>
          <a:custGeom>
            <a:avLst/>
            <a:gdLst/>
            <a:ahLst/>
            <a:cxnLst/>
            <a:rect l="l" t="t" r="r" b="b"/>
            <a:pathLst>
              <a:path w="2894965" h="630554">
                <a:moveTo>
                  <a:pt x="2894953" y="0"/>
                </a:moveTo>
                <a:lnTo>
                  <a:pt x="0" y="630415"/>
                </a:lnTo>
              </a:path>
            </a:pathLst>
          </a:custGeom>
          <a:ln w="9524">
            <a:solidFill>
              <a:srgbClr val="000000"/>
            </a:solidFill>
          </a:ln>
        </p:spPr>
        <p:txBody>
          <a:bodyPr wrap="square" lIns="0" tIns="0" rIns="0" bIns="0" rtlCol="0"/>
          <a:lstStyle/>
          <a:p>
            <a:endParaRPr/>
          </a:p>
        </p:txBody>
      </p:sp>
      <p:sp>
        <p:nvSpPr>
          <p:cNvPr id="7" name="object 7"/>
          <p:cNvSpPr txBox="1"/>
          <p:nvPr/>
        </p:nvSpPr>
        <p:spPr>
          <a:xfrm>
            <a:off x="5897344" y="4817563"/>
            <a:ext cx="2169160" cy="842010"/>
          </a:xfrm>
          <a:prstGeom prst="rect">
            <a:avLst/>
          </a:prstGeom>
          <a:solidFill>
            <a:srgbClr val="ECEBEB"/>
          </a:solidFill>
          <a:ln w="9524">
            <a:solidFill>
              <a:srgbClr val="000000"/>
            </a:solidFill>
          </a:ln>
        </p:spPr>
        <p:txBody>
          <a:bodyPr vert="horz" wrap="square" lIns="0" tIns="252729" rIns="0" bIns="0" rtlCol="0">
            <a:spAutoFit/>
          </a:bodyPr>
          <a:lstStyle/>
          <a:p>
            <a:pPr marL="450850">
              <a:lnSpc>
                <a:spcPct val="100000"/>
              </a:lnSpc>
              <a:spcBef>
                <a:spcPts val="1990"/>
              </a:spcBef>
            </a:pPr>
            <a:r>
              <a:rPr sz="2200" dirty="0">
                <a:latin typeface="微软雅黑" panose="020B0503020204020204" pitchFamily="34" charset="-122"/>
                <a:cs typeface="微软雅黑" panose="020B0503020204020204" pitchFamily="34" charset="-122"/>
              </a:rPr>
              <a:t>下层模块</a:t>
            </a:r>
            <a:r>
              <a:rPr sz="2200" dirty="0">
                <a:latin typeface="Arial" panose="020B0604020202020204"/>
                <a:cs typeface="Arial" panose="020B0604020202020204"/>
              </a:rPr>
              <a:t>2</a:t>
            </a:r>
            <a:endParaRPr sz="2200">
              <a:latin typeface="Arial" panose="020B0604020202020204"/>
              <a:cs typeface="Arial" panose="020B0604020202020204"/>
            </a:endParaRPr>
          </a:p>
        </p:txBody>
      </p:sp>
      <p:sp>
        <p:nvSpPr>
          <p:cNvPr id="8" name="object 8"/>
          <p:cNvSpPr/>
          <p:nvPr/>
        </p:nvSpPr>
        <p:spPr>
          <a:xfrm>
            <a:off x="6981882" y="4178683"/>
            <a:ext cx="842644" cy="639445"/>
          </a:xfrm>
          <a:custGeom>
            <a:avLst/>
            <a:gdLst/>
            <a:ahLst/>
            <a:cxnLst/>
            <a:rect l="l" t="t" r="r" b="b"/>
            <a:pathLst>
              <a:path w="842645" h="639445">
                <a:moveTo>
                  <a:pt x="842538" y="0"/>
                </a:moveTo>
                <a:lnTo>
                  <a:pt x="0" y="638881"/>
                </a:lnTo>
              </a:path>
            </a:pathLst>
          </a:custGeom>
          <a:ln w="9524">
            <a:solidFill>
              <a:srgbClr val="000000"/>
            </a:solidFill>
          </a:ln>
        </p:spPr>
        <p:txBody>
          <a:bodyPr wrap="square" lIns="0" tIns="0" rIns="0" bIns="0" rtlCol="0"/>
          <a:lstStyle/>
          <a:p>
            <a:endParaRPr/>
          </a:p>
        </p:txBody>
      </p:sp>
      <p:sp>
        <p:nvSpPr>
          <p:cNvPr id="9" name="object 9"/>
          <p:cNvSpPr txBox="1"/>
          <p:nvPr/>
        </p:nvSpPr>
        <p:spPr>
          <a:xfrm>
            <a:off x="9842804" y="4851431"/>
            <a:ext cx="2169160" cy="842010"/>
          </a:xfrm>
          <a:prstGeom prst="rect">
            <a:avLst/>
          </a:prstGeom>
          <a:solidFill>
            <a:srgbClr val="ECEBEB"/>
          </a:solidFill>
          <a:ln w="9524">
            <a:solidFill>
              <a:srgbClr val="000000"/>
            </a:solidFill>
          </a:ln>
        </p:spPr>
        <p:txBody>
          <a:bodyPr vert="horz" wrap="square" lIns="0" tIns="252729" rIns="0" bIns="0" rtlCol="0">
            <a:spAutoFit/>
          </a:bodyPr>
          <a:lstStyle/>
          <a:p>
            <a:pPr marL="427355">
              <a:lnSpc>
                <a:spcPct val="100000"/>
              </a:lnSpc>
              <a:spcBef>
                <a:spcPts val="1990"/>
              </a:spcBef>
            </a:pPr>
            <a:r>
              <a:rPr sz="2200" dirty="0">
                <a:latin typeface="微软雅黑" panose="020B0503020204020204" pitchFamily="34" charset="-122"/>
                <a:cs typeface="微软雅黑" panose="020B0503020204020204" pitchFamily="34" charset="-122"/>
              </a:rPr>
              <a:t>下层模块</a:t>
            </a:r>
            <a:r>
              <a:rPr sz="2200" dirty="0">
                <a:latin typeface="Arial" panose="020B0604020202020204"/>
                <a:cs typeface="Arial" panose="020B0604020202020204"/>
              </a:rPr>
              <a:t>N</a:t>
            </a:r>
            <a:endParaRPr sz="2200">
              <a:latin typeface="Arial" panose="020B0604020202020204"/>
              <a:cs typeface="Arial" panose="020B0604020202020204"/>
            </a:endParaRPr>
          </a:p>
        </p:txBody>
      </p:sp>
      <p:sp>
        <p:nvSpPr>
          <p:cNvPr id="10" name="object 10"/>
          <p:cNvSpPr/>
          <p:nvPr/>
        </p:nvSpPr>
        <p:spPr>
          <a:xfrm>
            <a:off x="8574417" y="4187150"/>
            <a:ext cx="2353310" cy="664845"/>
          </a:xfrm>
          <a:custGeom>
            <a:avLst/>
            <a:gdLst/>
            <a:ahLst/>
            <a:cxnLst/>
            <a:rect l="l" t="t" r="r" b="b"/>
            <a:pathLst>
              <a:path w="2353309" h="664845">
                <a:moveTo>
                  <a:pt x="0" y="0"/>
                </a:moveTo>
                <a:lnTo>
                  <a:pt x="2352925" y="664279"/>
                </a:lnTo>
              </a:path>
            </a:pathLst>
          </a:custGeom>
          <a:ln w="9524">
            <a:solidFill>
              <a:srgbClr val="000000"/>
            </a:solidFill>
          </a:ln>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41</a:t>
            </a:fld>
            <a:endParaRPr lang="zh-CN" altLang="en-US"/>
          </a:p>
        </p:txBody>
      </p:sp>
      <p:sp>
        <p:nvSpPr>
          <p:cNvPr id="13" name="标题 12"/>
          <p:cNvSpPr>
            <a:spLocks noGrp="1"/>
          </p:cNvSpPr>
          <p:nvPr>
            <p:ph type="title"/>
          </p:nvPr>
        </p:nvSpPr>
        <p:spPr/>
        <p:txBody>
          <a:bodyPr/>
          <a:lstStyle/>
          <a:p>
            <a:r>
              <a:rPr lang="zh-CN" altLang="en-US" dirty="0"/>
              <a:t>单元测试方法</a:t>
            </a:r>
          </a:p>
        </p:txBody>
      </p:sp>
      <p:sp>
        <p:nvSpPr>
          <p:cNvPr id="2" name="矩形 1">
            <a:extLst>
              <a:ext uri="{FF2B5EF4-FFF2-40B4-BE49-F238E27FC236}">
                <a16:creationId xmlns:a16="http://schemas.microsoft.com/office/drawing/2014/main" id="{C46D789C-53AD-460A-A2E1-EB7310D85F6A}"/>
              </a:ext>
            </a:extLst>
          </p:cNvPr>
          <p:cNvSpPr/>
          <p:nvPr/>
        </p:nvSpPr>
        <p:spPr>
          <a:xfrm>
            <a:off x="277089" y="1867950"/>
            <a:ext cx="6109855" cy="1477328"/>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一个单元模块并不是独立存在的，模块之间总会存在相互调用的关系，</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在单元测试的时候，如何来保证被测模块儿是独立的，并且能够构成一个可运行的程序呢？</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6391" y="4201487"/>
            <a:ext cx="40894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Wingdings" panose="05000000000000000000"/>
                <a:cs typeface="Wingdings" panose="05000000000000000000"/>
              </a:rPr>
              <a:t></a:t>
            </a:r>
            <a:endParaRPr sz="2200">
              <a:latin typeface="Wingdings" panose="05000000000000000000"/>
              <a:cs typeface="Wingdings" panose="05000000000000000000"/>
            </a:endParaRPr>
          </a:p>
        </p:txBody>
      </p:sp>
      <p:sp>
        <p:nvSpPr>
          <p:cNvPr id="4" name="object 4"/>
          <p:cNvSpPr txBox="1"/>
          <p:nvPr/>
        </p:nvSpPr>
        <p:spPr>
          <a:xfrm>
            <a:off x="1842489" y="3927184"/>
            <a:ext cx="2169160" cy="842010"/>
          </a:xfrm>
          <a:prstGeom prst="rect">
            <a:avLst/>
          </a:prstGeom>
          <a:solidFill>
            <a:srgbClr val="ECEBEB"/>
          </a:solidFill>
          <a:ln w="9524">
            <a:solidFill>
              <a:srgbClr val="000000"/>
            </a:solidFill>
          </a:ln>
        </p:spPr>
        <p:txBody>
          <a:bodyPr vert="horz" wrap="square" lIns="0" tIns="252729" rIns="0" bIns="0" rtlCol="0">
            <a:spAutoFit/>
          </a:bodyPr>
          <a:lstStyle/>
          <a:p>
            <a:pPr marL="590550">
              <a:lnSpc>
                <a:spcPct val="100000"/>
              </a:lnSpc>
              <a:spcBef>
                <a:spcPts val="1990"/>
              </a:spcBef>
            </a:pPr>
            <a:r>
              <a:rPr sz="2200" dirty="0">
                <a:latin typeface="微软雅黑" panose="020B0503020204020204" pitchFamily="34" charset="-122"/>
                <a:cs typeface="微软雅黑" panose="020B0503020204020204" pitchFamily="34" charset="-122"/>
              </a:rPr>
              <a:t>桩模块</a:t>
            </a:r>
            <a:r>
              <a:rPr sz="2200" dirty="0">
                <a:latin typeface="Arial" panose="020B0604020202020204"/>
                <a:cs typeface="Arial" panose="020B0604020202020204"/>
              </a:rPr>
              <a:t>1</a:t>
            </a:r>
            <a:endParaRPr sz="2200">
              <a:latin typeface="Arial" panose="020B0604020202020204"/>
              <a:cs typeface="Arial" panose="020B0604020202020204"/>
            </a:endParaRPr>
          </a:p>
        </p:txBody>
      </p:sp>
      <p:sp>
        <p:nvSpPr>
          <p:cNvPr id="5" name="object 5"/>
          <p:cNvSpPr/>
          <p:nvPr/>
        </p:nvSpPr>
        <p:spPr>
          <a:xfrm>
            <a:off x="2927029" y="3296767"/>
            <a:ext cx="2894965" cy="630555"/>
          </a:xfrm>
          <a:custGeom>
            <a:avLst/>
            <a:gdLst/>
            <a:ahLst/>
            <a:cxnLst/>
            <a:rect l="l" t="t" r="r" b="b"/>
            <a:pathLst>
              <a:path w="2894965" h="630554">
                <a:moveTo>
                  <a:pt x="2894953" y="0"/>
                </a:moveTo>
                <a:lnTo>
                  <a:pt x="0" y="630415"/>
                </a:lnTo>
              </a:path>
            </a:pathLst>
          </a:custGeom>
          <a:ln w="9524">
            <a:solidFill>
              <a:srgbClr val="000000"/>
            </a:solidFill>
          </a:ln>
        </p:spPr>
        <p:txBody>
          <a:bodyPr wrap="square" lIns="0" tIns="0" rIns="0" bIns="0" rtlCol="0"/>
          <a:lstStyle/>
          <a:p>
            <a:endParaRPr/>
          </a:p>
        </p:txBody>
      </p:sp>
      <p:sp>
        <p:nvSpPr>
          <p:cNvPr id="6" name="object 6"/>
          <p:cNvSpPr txBox="1"/>
          <p:nvPr/>
        </p:nvSpPr>
        <p:spPr>
          <a:xfrm>
            <a:off x="4719708" y="3927180"/>
            <a:ext cx="2169160" cy="842010"/>
          </a:xfrm>
          <a:prstGeom prst="rect">
            <a:avLst/>
          </a:prstGeom>
          <a:solidFill>
            <a:srgbClr val="ECEBEB"/>
          </a:solidFill>
          <a:ln w="9524">
            <a:solidFill>
              <a:srgbClr val="000000"/>
            </a:solidFill>
          </a:ln>
        </p:spPr>
        <p:txBody>
          <a:bodyPr vert="horz" wrap="square" lIns="0" tIns="252729" rIns="0" bIns="0" rtlCol="0">
            <a:spAutoFit/>
          </a:bodyPr>
          <a:lstStyle/>
          <a:p>
            <a:pPr marL="590550">
              <a:lnSpc>
                <a:spcPct val="100000"/>
              </a:lnSpc>
              <a:spcBef>
                <a:spcPts val="1990"/>
              </a:spcBef>
            </a:pPr>
            <a:r>
              <a:rPr sz="2200" dirty="0">
                <a:latin typeface="微软雅黑" panose="020B0503020204020204" pitchFamily="34" charset="-122"/>
                <a:cs typeface="微软雅黑" panose="020B0503020204020204" pitchFamily="34" charset="-122"/>
              </a:rPr>
              <a:t>桩模块</a:t>
            </a:r>
            <a:r>
              <a:rPr sz="2200" dirty="0">
                <a:latin typeface="Arial" panose="020B0604020202020204"/>
                <a:cs typeface="Arial" panose="020B0604020202020204"/>
              </a:rPr>
              <a:t>2</a:t>
            </a:r>
            <a:endParaRPr sz="2200">
              <a:latin typeface="Arial" panose="020B0604020202020204"/>
              <a:cs typeface="Arial" panose="020B0604020202020204"/>
            </a:endParaRPr>
          </a:p>
        </p:txBody>
      </p:sp>
      <p:sp>
        <p:nvSpPr>
          <p:cNvPr id="7" name="object 7"/>
          <p:cNvSpPr/>
          <p:nvPr/>
        </p:nvSpPr>
        <p:spPr>
          <a:xfrm>
            <a:off x="5804246" y="3288300"/>
            <a:ext cx="842644" cy="639445"/>
          </a:xfrm>
          <a:custGeom>
            <a:avLst/>
            <a:gdLst/>
            <a:ahLst/>
            <a:cxnLst/>
            <a:rect l="l" t="t" r="r" b="b"/>
            <a:pathLst>
              <a:path w="842645" h="639445">
                <a:moveTo>
                  <a:pt x="842538" y="0"/>
                </a:moveTo>
                <a:lnTo>
                  <a:pt x="0" y="638881"/>
                </a:lnTo>
              </a:path>
            </a:pathLst>
          </a:custGeom>
          <a:ln w="9524">
            <a:solidFill>
              <a:srgbClr val="000000"/>
            </a:solidFill>
          </a:ln>
        </p:spPr>
        <p:txBody>
          <a:bodyPr wrap="square" lIns="0" tIns="0" rIns="0" bIns="0" rtlCol="0"/>
          <a:lstStyle/>
          <a:p>
            <a:endParaRPr/>
          </a:p>
        </p:txBody>
      </p:sp>
      <p:sp>
        <p:nvSpPr>
          <p:cNvPr id="8" name="object 8"/>
          <p:cNvSpPr txBox="1"/>
          <p:nvPr/>
        </p:nvSpPr>
        <p:spPr>
          <a:xfrm>
            <a:off x="8665168" y="3961048"/>
            <a:ext cx="2169160" cy="842010"/>
          </a:xfrm>
          <a:prstGeom prst="rect">
            <a:avLst/>
          </a:prstGeom>
          <a:solidFill>
            <a:srgbClr val="ECEBEB"/>
          </a:solidFill>
          <a:ln w="9524">
            <a:solidFill>
              <a:srgbClr val="000000"/>
            </a:solidFill>
          </a:ln>
        </p:spPr>
        <p:txBody>
          <a:bodyPr vert="horz" wrap="square" lIns="0" tIns="252729" rIns="0" bIns="0" rtlCol="0">
            <a:spAutoFit/>
          </a:bodyPr>
          <a:lstStyle/>
          <a:p>
            <a:pPr marL="567055">
              <a:lnSpc>
                <a:spcPct val="100000"/>
              </a:lnSpc>
              <a:spcBef>
                <a:spcPts val="1990"/>
              </a:spcBef>
            </a:pPr>
            <a:r>
              <a:rPr sz="2200" dirty="0">
                <a:latin typeface="微软雅黑" panose="020B0503020204020204" pitchFamily="34" charset="-122"/>
                <a:cs typeface="微软雅黑" panose="020B0503020204020204" pitchFamily="34" charset="-122"/>
              </a:rPr>
              <a:t>桩模块</a:t>
            </a:r>
            <a:r>
              <a:rPr sz="2200" dirty="0">
                <a:latin typeface="Arial" panose="020B0604020202020204"/>
                <a:cs typeface="Arial" panose="020B0604020202020204"/>
              </a:rPr>
              <a:t>N</a:t>
            </a:r>
            <a:endParaRPr sz="2200">
              <a:latin typeface="Arial" panose="020B0604020202020204"/>
              <a:cs typeface="Arial" panose="020B0604020202020204"/>
            </a:endParaRPr>
          </a:p>
        </p:txBody>
      </p:sp>
      <p:sp>
        <p:nvSpPr>
          <p:cNvPr id="9" name="object 9"/>
          <p:cNvSpPr/>
          <p:nvPr/>
        </p:nvSpPr>
        <p:spPr>
          <a:xfrm>
            <a:off x="7396781" y="3296767"/>
            <a:ext cx="2353310" cy="664845"/>
          </a:xfrm>
          <a:custGeom>
            <a:avLst/>
            <a:gdLst/>
            <a:ahLst/>
            <a:cxnLst/>
            <a:rect l="l" t="t" r="r" b="b"/>
            <a:pathLst>
              <a:path w="2353309" h="664845">
                <a:moveTo>
                  <a:pt x="0" y="0"/>
                </a:moveTo>
                <a:lnTo>
                  <a:pt x="2352925" y="664279"/>
                </a:lnTo>
              </a:path>
            </a:pathLst>
          </a:custGeom>
          <a:ln w="9524">
            <a:solidFill>
              <a:srgbClr val="000000"/>
            </a:solidFill>
          </a:ln>
        </p:spPr>
        <p:txBody>
          <a:bodyPr wrap="square" lIns="0" tIns="0" rIns="0" bIns="0" rtlCol="0"/>
          <a:lstStyle/>
          <a:p>
            <a:endParaRPr/>
          </a:p>
        </p:txBody>
      </p:sp>
      <p:sp>
        <p:nvSpPr>
          <p:cNvPr id="10" name="object 10"/>
          <p:cNvSpPr/>
          <p:nvPr/>
        </p:nvSpPr>
        <p:spPr>
          <a:xfrm>
            <a:off x="2086474" y="2319987"/>
            <a:ext cx="2169160" cy="842010"/>
          </a:xfrm>
          <a:custGeom>
            <a:avLst/>
            <a:gdLst/>
            <a:ahLst/>
            <a:cxnLst/>
            <a:rect l="l" t="t" r="r" b="b"/>
            <a:pathLst>
              <a:path w="2169160" h="842010">
                <a:moveTo>
                  <a:pt x="2028814" y="0"/>
                </a:moveTo>
                <a:lnTo>
                  <a:pt x="0" y="0"/>
                </a:lnTo>
                <a:lnTo>
                  <a:pt x="0" y="841559"/>
                </a:lnTo>
                <a:lnTo>
                  <a:pt x="2169076" y="841559"/>
                </a:lnTo>
                <a:lnTo>
                  <a:pt x="2169076" y="140262"/>
                </a:lnTo>
                <a:lnTo>
                  <a:pt x="2028814" y="0"/>
                </a:lnTo>
                <a:close/>
              </a:path>
            </a:pathLst>
          </a:custGeom>
          <a:solidFill>
            <a:srgbClr val="C8DFF2"/>
          </a:solidFill>
        </p:spPr>
        <p:txBody>
          <a:bodyPr wrap="square" lIns="0" tIns="0" rIns="0" bIns="0" rtlCol="0"/>
          <a:lstStyle/>
          <a:p>
            <a:endParaRPr/>
          </a:p>
        </p:txBody>
      </p:sp>
      <p:sp>
        <p:nvSpPr>
          <p:cNvPr id="11" name="object 11"/>
          <p:cNvSpPr/>
          <p:nvPr/>
        </p:nvSpPr>
        <p:spPr>
          <a:xfrm>
            <a:off x="2086474" y="2319987"/>
            <a:ext cx="2169160" cy="842010"/>
          </a:xfrm>
          <a:custGeom>
            <a:avLst/>
            <a:gdLst/>
            <a:ahLst/>
            <a:cxnLst/>
            <a:rect l="l" t="t" r="r" b="b"/>
            <a:pathLst>
              <a:path w="2169160" h="842010">
                <a:moveTo>
                  <a:pt x="0" y="0"/>
                </a:moveTo>
                <a:lnTo>
                  <a:pt x="2028814" y="0"/>
                </a:lnTo>
                <a:lnTo>
                  <a:pt x="2169076" y="140261"/>
                </a:lnTo>
                <a:lnTo>
                  <a:pt x="2169076" y="841557"/>
                </a:lnTo>
                <a:lnTo>
                  <a:pt x="0" y="841557"/>
                </a:lnTo>
                <a:lnTo>
                  <a:pt x="0" y="0"/>
                </a:lnTo>
                <a:close/>
              </a:path>
            </a:pathLst>
          </a:custGeom>
          <a:ln w="9524">
            <a:solidFill>
              <a:srgbClr val="000000"/>
            </a:solidFill>
          </a:ln>
        </p:spPr>
        <p:txBody>
          <a:bodyPr wrap="square" lIns="0" tIns="0" rIns="0" bIns="0" rtlCol="0"/>
          <a:lstStyle/>
          <a:p>
            <a:endParaRPr/>
          </a:p>
        </p:txBody>
      </p:sp>
      <p:sp>
        <p:nvSpPr>
          <p:cNvPr id="12" name="object 12"/>
          <p:cNvSpPr/>
          <p:nvPr/>
        </p:nvSpPr>
        <p:spPr>
          <a:xfrm>
            <a:off x="1954547" y="2446742"/>
            <a:ext cx="2169160" cy="842010"/>
          </a:xfrm>
          <a:custGeom>
            <a:avLst/>
            <a:gdLst/>
            <a:ahLst/>
            <a:cxnLst/>
            <a:rect l="l" t="t" r="r" b="b"/>
            <a:pathLst>
              <a:path w="2169160" h="842010">
                <a:moveTo>
                  <a:pt x="2028813" y="0"/>
                </a:moveTo>
                <a:lnTo>
                  <a:pt x="0" y="0"/>
                </a:lnTo>
                <a:lnTo>
                  <a:pt x="0" y="841557"/>
                </a:lnTo>
                <a:lnTo>
                  <a:pt x="2169076" y="841557"/>
                </a:lnTo>
                <a:lnTo>
                  <a:pt x="2169076" y="140261"/>
                </a:lnTo>
                <a:lnTo>
                  <a:pt x="2028813" y="0"/>
                </a:lnTo>
                <a:close/>
              </a:path>
            </a:pathLst>
          </a:custGeom>
          <a:solidFill>
            <a:srgbClr val="C8DFF2"/>
          </a:solidFill>
        </p:spPr>
        <p:txBody>
          <a:bodyPr wrap="square" lIns="0" tIns="0" rIns="0" bIns="0" rtlCol="0"/>
          <a:lstStyle/>
          <a:p>
            <a:endParaRPr/>
          </a:p>
        </p:txBody>
      </p:sp>
      <p:sp>
        <p:nvSpPr>
          <p:cNvPr id="13" name="object 13"/>
          <p:cNvSpPr/>
          <p:nvPr/>
        </p:nvSpPr>
        <p:spPr>
          <a:xfrm>
            <a:off x="1954547" y="2446742"/>
            <a:ext cx="2169160" cy="842010"/>
          </a:xfrm>
          <a:custGeom>
            <a:avLst/>
            <a:gdLst/>
            <a:ahLst/>
            <a:cxnLst/>
            <a:rect l="l" t="t" r="r" b="b"/>
            <a:pathLst>
              <a:path w="2169160" h="842010">
                <a:moveTo>
                  <a:pt x="0" y="0"/>
                </a:moveTo>
                <a:lnTo>
                  <a:pt x="2028814" y="0"/>
                </a:lnTo>
                <a:lnTo>
                  <a:pt x="2169076" y="140261"/>
                </a:lnTo>
                <a:lnTo>
                  <a:pt x="2169076" y="841557"/>
                </a:lnTo>
                <a:lnTo>
                  <a:pt x="0" y="841557"/>
                </a:lnTo>
                <a:lnTo>
                  <a:pt x="0" y="0"/>
                </a:lnTo>
                <a:close/>
              </a:path>
            </a:pathLst>
          </a:custGeom>
          <a:ln w="9524">
            <a:solidFill>
              <a:srgbClr val="000000"/>
            </a:solidFill>
          </a:ln>
        </p:spPr>
        <p:txBody>
          <a:bodyPr wrap="square" lIns="0" tIns="0" rIns="0" bIns="0" rtlCol="0"/>
          <a:lstStyle/>
          <a:p>
            <a:endParaRPr/>
          </a:p>
        </p:txBody>
      </p:sp>
      <p:sp>
        <p:nvSpPr>
          <p:cNvPr id="14" name="object 14"/>
          <p:cNvSpPr/>
          <p:nvPr/>
        </p:nvSpPr>
        <p:spPr>
          <a:xfrm>
            <a:off x="1842480" y="2573496"/>
            <a:ext cx="2169160" cy="842010"/>
          </a:xfrm>
          <a:custGeom>
            <a:avLst/>
            <a:gdLst/>
            <a:ahLst/>
            <a:cxnLst/>
            <a:rect l="l" t="t" r="r" b="b"/>
            <a:pathLst>
              <a:path w="2169160" h="842010">
                <a:moveTo>
                  <a:pt x="2028814" y="0"/>
                </a:moveTo>
                <a:lnTo>
                  <a:pt x="0" y="0"/>
                </a:lnTo>
                <a:lnTo>
                  <a:pt x="0" y="841557"/>
                </a:lnTo>
                <a:lnTo>
                  <a:pt x="2169076" y="841557"/>
                </a:lnTo>
                <a:lnTo>
                  <a:pt x="2169076" y="140261"/>
                </a:lnTo>
                <a:lnTo>
                  <a:pt x="2028814" y="0"/>
                </a:lnTo>
                <a:close/>
              </a:path>
            </a:pathLst>
          </a:custGeom>
          <a:solidFill>
            <a:srgbClr val="C8DFF2"/>
          </a:solidFill>
        </p:spPr>
        <p:txBody>
          <a:bodyPr wrap="square" lIns="0" tIns="0" rIns="0" bIns="0" rtlCol="0"/>
          <a:lstStyle/>
          <a:p>
            <a:endParaRPr/>
          </a:p>
        </p:txBody>
      </p:sp>
      <p:sp>
        <p:nvSpPr>
          <p:cNvPr id="15" name="object 15"/>
          <p:cNvSpPr/>
          <p:nvPr/>
        </p:nvSpPr>
        <p:spPr>
          <a:xfrm>
            <a:off x="1842480" y="2573496"/>
            <a:ext cx="2169160" cy="842010"/>
          </a:xfrm>
          <a:custGeom>
            <a:avLst/>
            <a:gdLst/>
            <a:ahLst/>
            <a:cxnLst/>
            <a:rect l="l" t="t" r="r" b="b"/>
            <a:pathLst>
              <a:path w="2169160" h="842010">
                <a:moveTo>
                  <a:pt x="0" y="0"/>
                </a:moveTo>
                <a:lnTo>
                  <a:pt x="2028814" y="0"/>
                </a:lnTo>
                <a:lnTo>
                  <a:pt x="2169076" y="140262"/>
                </a:lnTo>
                <a:lnTo>
                  <a:pt x="2169076" y="841557"/>
                </a:lnTo>
                <a:lnTo>
                  <a:pt x="0" y="841557"/>
                </a:lnTo>
                <a:lnTo>
                  <a:pt x="0" y="0"/>
                </a:lnTo>
                <a:close/>
              </a:path>
            </a:pathLst>
          </a:custGeom>
          <a:ln w="9524">
            <a:solidFill>
              <a:srgbClr val="000000"/>
            </a:solidFill>
          </a:ln>
        </p:spPr>
        <p:txBody>
          <a:bodyPr wrap="square" lIns="0" tIns="0" rIns="0" bIns="0" rtlCol="0"/>
          <a:lstStyle/>
          <a:p>
            <a:endParaRPr/>
          </a:p>
        </p:txBody>
      </p:sp>
      <p:sp>
        <p:nvSpPr>
          <p:cNvPr id="16" name="object 16"/>
          <p:cNvSpPr txBox="1"/>
          <p:nvPr/>
        </p:nvSpPr>
        <p:spPr>
          <a:xfrm>
            <a:off x="2322858" y="2849001"/>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测试用例</a:t>
            </a:r>
            <a:endParaRPr sz="2200">
              <a:latin typeface="微软雅黑" panose="020B0503020204020204" pitchFamily="34" charset="-122"/>
              <a:cs typeface="微软雅黑" panose="020B0503020204020204" pitchFamily="34" charset="-122"/>
            </a:endParaRPr>
          </a:p>
        </p:txBody>
      </p:sp>
      <p:sp>
        <p:nvSpPr>
          <p:cNvPr id="17" name="object 17"/>
          <p:cNvSpPr/>
          <p:nvPr/>
        </p:nvSpPr>
        <p:spPr>
          <a:xfrm>
            <a:off x="4264115" y="2867520"/>
            <a:ext cx="1057275" cy="0"/>
          </a:xfrm>
          <a:custGeom>
            <a:avLst/>
            <a:gdLst/>
            <a:ahLst/>
            <a:cxnLst/>
            <a:rect l="l" t="t" r="r" b="b"/>
            <a:pathLst>
              <a:path w="1057275">
                <a:moveTo>
                  <a:pt x="1057123" y="0"/>
                </a:moveTo>
                <a:lnTo>
                  <a:pt x="0" y="0"/>
                </a:lnTo>
              </a:path>
            </a:pathLst>
          </a:custGeom>
          <a:ln w="9524">
            <a:solidFill>
              <a:srgbClr val="000000"/>
            </a:solidFill>
          </a:ln>
        </p:spPr>
        <p:txBody>
          <a:bodyPr wrap="square" lIns="0" tIns="0" rIns="0" bIns="0" rtlCol="0"/>
          <a:lstStyle/>
          <a:p>
            <a:endParaRPr/>
          </a:p>
        </p:txBody>
      </p:sp>
      <p:sp>
        <p:nvSpPr>
          <p:cNvPr id="18" name="object 18"/>
          <p:cNvSpPr/>
          <p:nvPr/>
        </p:nvSpPr>
        <p:spPr>
          <a:xfrm>
            <a:off x="5236572" y="2829420"/>
            <a:ext cx="127000" cy="76200"/>
          </a:xfrm>
          <a:custGeom>
            <a:avLst/>
            <a:gdLst/>
            <a:ahLst/>
            <a:cxnLst/>
            <a:rect l="l" t="t" r="r" b="b"/>
            <a:pathLst>
              <a:path w="127000" h="76200">
                <a:moveTo>
                  <a:pt x="0" y="0"/>
                </a:moveTo>
                <a:lnTo>
                  <a:pt x="0" y="76200"/>
                </a:lnTo>
                <a:lnTo>
                  <a:pt x="127000" y="38100"/>
                </a:lnTo>
                <a:lnTo>
                  <a:pt x="0" y="0"/>
                </a:lnTo>
                <a:close/>
              </a:path>
            </a:pathLst>
          </a:custGeom>
          <a:solidFill>
            <a:srgbClr val="000000"/>
          </a:solidFill>
        </p:spPr>
        <p:txBody>
          <a:bodyPr wrap="square" lIns="0" tIns="0" rIns="0" bIns="0" rtlCol="0"/>
          <a:lstStyle/>
          <a:p>
            <a:endParaRPr/>
          </a:p>
        </p:txBody>
      </p:sp>
      <p:sp>
        <p:nvSpPr>
          <p:cNvPr id="19" name="object 19"/>
          <p:cNvSpPr/>
          <p:nvPr/>
        </p:nvSpPr>
        <p:spPr>
          <a:xfrm>
            <a:off x="4772118" y="1436601"/>
            <a:ext cx="549275" cy="1437005"/>
          </a:xfrm>
          <a:custGeom>
            <a:avLst/>
            <a:gdLst/>
            <a:ahLst/>
            <a:cxnLst/>
            <a:rect l="l" t="t" r="r" b="b"/>
            <a:pathLst>
              <a:path w="549275" h="1437004">
                <a:moveTo>
                  <a:pt x="0" y="1436834"/>
                </a:moveTo>
                <a:lnTo>
                  <a:pt x="0" y="0"/>
                </a:lnTo>
                <a:lnTo>
                  <a:pt x="549120" y="0"/>
                </a:lnTo>
              </a:path>
            </a:pathLst>
          </a:custGeom>
          <a:ln w="9524">
            <a:solidFill>
              <a:srgbClr val="000000"/>
            </a:solidFill>
          </a:ln>
        </p:spPr>
        <p:txBody>
          <a:bodyPr wrap="square" lIns="0" tIns="0" rIns="0" bIns="0" rtlCol="0"/>
          <a:lstStyle/>
          <a:p>
            <a:endParaRPr/>
          </a:p>
        </p:txBody>
      </p:sp>
      <p:sp>
        <p:nvSpPr>
          <p:cNvPr id="20" name="object 20"/>
          <p:cNvSpPr/>
          <p:nvPr/>
        </p:nvSpPr>
        <p:spPr>
          <a:xfrm>
            <a:off x="5236572" y="1398501"/>
            <a:ext cx="127000" cy="76200"/>
          </a:xfrm>
          <a:custGeom>
            <a:avLst/>
            <a:gdLst/>
            <a:ahLst/>
            <a:cxnLst/>
            <a:rect l="l" t="t" r="r" b="b"/>
            <a:pathLst>
              <a:path w="127000" h="76200">
                <a:moveTo>
                  <a:pt x="0" y="0"/>
                </a:moveTo>
                <a:lnTo>
                  <a:pt x="0" y="76200"/>
                </a:lnTo>
                <a:lnTo>
                  <a:pt x="127000" y="38100"/>
                </a:lnTo>
                <a:lnTo>
                  <a:pt x="0" y="0"/>
                </a:lnTo>
                <a:close/>
              </a:path>
            </a:pathLst>
          </a:custGeom>
          <a:solidFill>
            <a:srgbClr val="000000"/>
          </a:solidFill>
        </p:spPr>
        <p:txBody>
          <a:bodyPr wrap="square" lIns="0" tIns="0" rIns="0" bIns="0" rtlCol="0"/>
          <a:lstStyle/>
          <a:p>
            <a:endParaRPr/>
          </a:p>
        </p:txBody>
      </p:sp>
      <p:sp>
        <p:nvSpPr>
          <p:cNvPr id="21" name="object 21"/>
          <p:cNvSpPr/>
          <p:nvPr/>
        </p:nvSpPr>
        <p:spPr>
          <a:xfrm>
            <a:off x="9552947" y="680444"/>
            <a:ext cx="1163320" cy="1512570"/>
          </a:xfrm>
          <a:custGeom>
            <a:avLst/>
            <a:gdLst/>
            <a:ahLst/>
            <a:cxnLst/>
            <a:rect l="l" t="t" r="r" b="b"/>
            <a:pathLst>
              <a:path w="1163320" h="1512570">
                <a:moveTo>
                  <a:pt x="1162749" y="0"/>
                </a:moveTo>
                <a:lnTo>
                  <a:pt x="0" y="0"/>
                </a:lnTo>
                <a:lnTo>
                  <a:pt x="0" y="1512296"/>
                </a:lnTo>
                <a:lnTo>
                  <a:pt x="968954" y="1512296"/>
                </a:lnTo>
                <a:lnTo>
                  <a:pt x="1162749" y="1318501"/>
                </a:lnTo>
                <a:lnTo>
                  <a:pt x="1162749" y="0"/>
                </a:lnTo>
                <a:close/>
              </a:path>
            </a:pathLst>
          </a:custGeom>
          <a:solidFill>
            <a:srgbClr val="C8DFF2"/>
          </a:solidFill>
        </p:spPr>
        <p:txBody>
          <a:bodyPr wrap="square" lIns="0" tIns="0" rIns="0" bIns="0" rtlCol="0"/>
          <a:lstStyle/>
          <a:p>
            <a:endParaRPr/>
          </a:p>
        </p:txBody>
      </p:sp>
      <p:sp>
        <p:nvSpPr>
          <p:cNvPr id="22" name="object 22"/>
          <p:cNvSpPr/>
          <p:nvPr/>
        </p:nvSpPr>
        <p:spPr>
          <a:xfrm>
            <a:off x="10521901" y="1998945"/>
            <a:ext cx="194310" cy="194310"/>
          </a:xfrm>
          <a:custGeom>
            <a:avLst/>
            <a:gdLst/>
            <a:ahLst/>
            <a:cxnLst/>
            <a:rect l="l" t="t" r="r" b="b"/>
            <a:pathLst>
              <a:path w="194309" h="194310">
                <a:moveTo>
                  <a:pt x="193795" y="0"/>
                </a:moveTo>
                <a:lnTo>
                  <a:pt x="38760" y="38760"/>
                </a:lnTo>
                <a:lnTo>
                  <a:pt x="0" y="193795"/>
                </a:lnTo>
                <a:lnTo>
                  <a:pt x="193795" y="0"/>
                </a:lnTo>
                <a:close/>
              </a:path>
            </a:pathLst>
          </a:custGeom>
          <a:solidFill>
            <a:srgbClr val="A8BBCB"/>
          </a:solidFill>
        </p:spPr>
        <p:txBody>
          <a:bodyPr wrap="square" lIns="0" tIns="0" rIns="0" bIns="0" rtlCol="0"/>
          <a:lstStyle/>
          <a:p>
            <a:endParaRPr/>
          </a:p>
        </p:txBody>
      </p:sp>
      <p:sp>
        <p:nvSpPr>
          <p:cNvPr id="23" name="object 23"/>
          <p:cNvSpPr/>
          <p:nvPr/>
        </p:nvSpPr>
        <p:spPr>
          <a:xfrm>
            <a:off x="9552946" y="680444"/>
            <a:ext cx="1163320" cy="1512570"/>
          </a:xfrm>
          <a:custGeom>
            <a:avLst/>
            <a:gdLst/>
            <a:ahLst/>
            <a:cxnLst/>
            <a:rect l="l" t="t" r="r" b="b"/>
            <a:pathLst>
              <a:path w="1163320" h="1512570">
                <a:moveTo>
                  <a:pt x="975358" y="1487459"/>
                </a:moveTo>
                <a:lnTo>
                  <a:pt x="1008062" y="1357311"/>
                </a:lnTo>
                <a:lnTo>
                  <a:pt x="1162844" y="1318418"/>
                </a:lnTo>
                <a:lnTo>
                  <a:pt x="969168" y="1512093"/>
                </a:lnTo>
                <a:lnTo>
                  <a:pt x="0" y="1512093"/>
                </a:lnTo>
                <a:lnTo>
                  <a:pt x="0" y="0"/>
                </a:lnTo>
                <a:lnTo>
                  <a:pt x="1162844" y="0"/>
                </a:lnTo>
                <a:lnTo>
                  <a:pt x="1162844" y="1318418"/>
                </a:lnTo>
              </a:path>
            </a:pathLst>
          </a:custGeom>
          <a:ln w="9524">
            <a:solidFill>
              <a:srgbClr val="000000"/>
            </a:solidFill>
          </a:ln>
        </p:spPr>
        <p:txBody>
          <a:bodyPr wrap="square" lIns="0" tIns="0" rIns="0" bIns="0" rtlCol="0"/>
          <a:lstStyle/>
          <a:p>
            <a:endParaRPr/>
          </a:p>
        </p:txBody>
      </p:sp>
      <p:sp>
        <p:nvSpPr>
          <p:cNvPr id="24" name="object 24"/>
          <p:cNvSpPr/>
          <p:nvPr/>
        </p:nvSpPr>
        <p:spPr>
          <a:xfrm>
            <a:off x="10503734" y="2109350"/>
            <a:ext cx="74295" cy="83185"/>
          </a:xfrm>
          <a:custGeom>
            <a:avLst/>
            <a:gdLst/>
            <a:ahLst/>
            <a:cxnLst/>
            <a:rect l="l" t="t" r="r" b="b"/>
            <a:pathLst>
              <a:path w="74295" h="83185">
                <a:moveTo>
                  <a:pt x="0" y="0"/>
                </a:moveTo>
                <a:lnTo>
                  <a:pt x="18380" y="83187"/>
                </a:lnTo>
                <a:lnTo>
                  <a:pt x="73902" y="18569"/>
                </a:lnTo>
                <a:lnTo>
                  <a:pt x="0" y="0"/>
                </a:lnTo>
                <a:close/>
              </a:path>
            </a:pathLst>
          </a:custGeom>
          <a:solidFill>
            <a:srgbClr val="000000"/>
          </a:solidFill>
        </p:spPr>
        <p:txBody>
          <a:bodyPr wrap="square" lIns="0" tIns="0" rIns="0" bIns="0" rtlCol="0"/>
          <a:lstStyle/>
          <a:p>
            <a:endParaRPr/>
          </a:p>
        </p:txBody>
      </p:sp>
      <p:sp>
        <p:nvSpPr>
          <p:cNvPr id="25" name="object 25"/>
          <p:cNvSpPr txBox="1"/>
          <p:nvPr/>
        </p:nvSpPr>
        <p:spPr>
          <a:xfrm>
            <a:off x="9845205" y="991715"/>
            <a:ext cx="584200" cy="690880"/>
          </a:xfrm>
          <a:prstGeom prst="rect">
            <a:avLst/>
          </a:prstGeom>
        </p:spPr>
        <p:txBody>
          <a:bodyPr vert="horz" wrap="square" lIns="0" tIns="27939" rIns="0" bIns="0" rtlCol="0">
            <a:spAutoFit/>
          </a:bodyPr>
          <a:lstStyle/>
          <a:p>
            <a:pPr marL="12700" marR="5080">
              <a:lnSpc>
                <a:spcPts val="2600"/>
              </a:lnSpc>
              <a:spcBef>
                <a:spcPts val="220"/>
              </a:spcBef>
            </a:pPr>
            <a:r>
              <a:rPr sz="2200" dirty="0">
                <a:latin typeface="微软雅黑" panose="020B0503020204020204" pitchFamily="34" charset="-122"/>
                <a:cs typeface="微软雅黑" panose="020B0503020204020204" pitchFamily="34" charset="-122"/>
              </a:rPr>
              <a:t>测试 结果</a:t>
            </a:r>
            <a:endParaRPr sz="2200">
              <a:latin typeface="微软雅黑" panose="020B0503020204020204" pitchFamily="34" charset="-122"/>
              <a:cs typeface="微软雅黑" panose="020B0503020204020204" pitchFamily="34" charset="-122"/>
            </a:endParaRPr>
          </a:p>
        </p:txBody>
      </p:sp>
      <p:sp>
        <p:nvSpPr>
          <p:cNvPr id="26" name="object 26"/>
          <p:cNvSpPr/>
          <p:nvPr/>
        </p:nvSpPr>
        <p:spPr>
          <a:xfrm>
            <a:off x="9426222" y="1398499"/>
            <a:ext cx="127000" cy="76200"/>
          </a:xfrm>
          <a:custGeom>
            <a:avLst/>
            <a:gdLst/>
            <a:ahLst/>
            <a:cxnLst/>
            <a:rect l="l" t="t" r="r" b="b"/>
            <a:pathLst>
              <a:path w="127000" h="76200">
                <a:moveTo>
                  <a:pt x="0" y="0"/>
                </a:moveTo>
                <a:lnTo>
                  <a:pt x="0" y="76200"/>
                </a:lnTo>
                <a:lnTo>
                  <a:pt x="127000" y="38100"/>
                </a:lnTo>
                <a:lnTo>
                  <a:pt x="0" y="0"/>
                </a:lnTo>
                <a:close/>
              </a:path>
            </a:pathLst>
          </a:custGeom>
          <a:solidFill>
            <a:srgbClr val="000000"/>
          </a:solidFill>
        </p:spPr>
        <p:txBody>
          <a:bodyPr wrap="square" lIns="0" tIns="0" rIns="0" bIns="0" rtlCol="0"/>
          <a:lstStyle/>
          <a:p>
            <a:endParaRPr/>
          </a:p>
        </p:txBody>
      </p:sp>
      <p:graphicFrame>
        <p:nvGraphicFramePr>
          <p:cNvPr id="27" name="object 27"/>
          <p:cNvGraphicFramePr>
            <a:graphicFrameLocks noGrp="1"/>
          </p:cNvGraphicFramePr>
          <p:nvPr>
            <p:extLst>
              <p:ext uri="{D42A27DB-BD31-4B8C-83A1-F6EECF244321}">
                <p14:modId xmlns:p14="http://schemas.microsoft.com/office/powerpoint/2010/main" val="2661227930"/>
              </p:ext>
            </p:extLst>
          </p:nvPr>
        </p:nvGraphicFramePr>
        <p:xfrm>
          <a:off x="5358810" y="1011058"/>
          <a:ext cx="4147184" cy="2272477"/>
        </p:xfrm>
        <a:graphic>
          <a:graphicData uri="http://schemas.openxmlformats.org/drawingml/2006/table">
            <a:tbl>
              <a:tblPr firstRow="1" bandRow="1">
                <a:tableStyleId>{2D5ABB26-0587-4C30-8999-92F81FD0307C}</a:tableStyleId>
              </a:tblPr>
              <a:tblGrid>
                <a:gridCol w="1283335">
                  <a:extLst>
                    <a:ext uri="{9D8B030D-6E8A-4147-A177-3AD203B41FA5}">
                      <a16:colId xmlns:a16="http://schemas.microsoft.com/office/drawing/2014/main" val="20000"/>
                    </a:ext>
                  </a:extLst>
                </a:gridCol>
                <a:gridCol w="1283335">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gridCol w="843914">
                  <a:extLst>
                    <a:ext uri="{9D8B030D-6E8A-4147-A177-3AD203B41FA5}">
                      <a16:colId xmlns:a16="http://schemas.microsoft.com/office/drawing/2014/main" val="20003"/>
                    </a:ext>
                  </a:extLst>
                </a:gridCol>
              </a:tblGrid>
              <a:tr h="420779">
                <a:tc rowSpan="2" gridSpan="2">
                  <a:txBody>
                    <a:bodyPr/>
                    <a:lstStyle/>
                    <a:p>
                      <a:pPr marL="727075">
                        <a:lnSpc>
                          <a:spcPct val="100000"/>
                        </a:lnSpc>
                        <a:spcBef>
                          <a:spcPts val="1990"/>
                        </a:spcBef>
                      </a:pPr>
                      <a:r>
                        <a:rPr sz="2200" dirty="0">
                          <a:latin typeface="微软雅黑" panose="020B0503020204020204" pitchFamily="34" charset="-122"/>
                          <a:cs typeface="微软雅黑" panose="020B0503020204020204" pitchFamily="34" charset="-122"/>
                        </a:rPr>
                        <a:t>驱动模块</a:t>
                      </a:r>
                      <a:endParaRPr sz="2200">
                        <a:latin typeface="微软雅黑" panose="020B0503020204020204" pitchFamily="34" charset="-122"/>
                        <a:cs typeface="微软雅黑" panose="020B0503020204020204" pitchFamily="34" charset="-122"/>
                      </a:endParaRPr>
                    </a:p>
                  </a:txBody>
                  <a:tcPr marL="0" marR="0" marT="2527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CEBEB"/>
                    </a:solidFill>
                  </a:tcPr>
                </a:tc>
                <a:tc rowSpan="2" hMerge="1">
                  <a:txBody>
                    <a:bodyPr/>
                    <a:lstStyle/>
                    <a:p>
                      <a:endParaRPr lang="zh-CN"/>
                    </a:p>
                  </a:txBody>
                  <a:tcPr marL="0" marR="0" marT="0" marB="0"/>
                </a:tc>
                <a:tc gridSpan="2">
                  <a:txBody>
                    <a:bodyPr/>
                    <a:lstStyle/>
                    <a:p>
                      <a:pPr>
                        <a:lnSpc>
                          <a:spcPct val="100000"/>
                        </a:lnSpc>
                      </a:pPr>
                      <a:endParaRPr sz="2300">
                        <a:latin typeface="Times New Roman" panose="02020603050405020304"/>
                        <a:cs typeface="Times New Roman" panose="02020603050405020304"/>
                      </a:endParaRPr>
                    </a:p>
                  </a:txBody>
                  <a:tcPr marL="0" marR="0" marT="0" marB="0">
                    <a:lnL w="9525">
                      <a:solidFill>
                        <a:srgbClr val="000000"/>
                      </a:solidFill>
                      <a:prstDash val="solid"/>
                    </a:lnL>
                    <a:lnB w="9525">
                      <a:solidFill>
                        <a:srgbClr val="000000"/>
                      </a:solidFill>
                      <a:prstDash val="solid"/>
                    </a:lnB>
                  </a:tcPr>
                </a:tc>
                <a:tc hMerge="1">
                  <a:txBody>
                    <a:bodyPr/>
                    <a:lstStyle/>
                    <a:p>
                      <a:endParaRPr lang="zh-CN"/>
                    </a:p>
                  </a:txBody>
                  <a:tcPr marL="0" marR="0" marT="0" marB="0"/>
                </a:tc>
                <a:extLst>
                  <a:ext uri="{0D108BD9-81ED-4DB2-BD59-A6C34878D82A}">
                    <a16:rowId xmlns:a16="http://schemas.microsoft.com/office/drawing/2014/main" val="10000"/>
                  </a:ext>
                </a:extLst>
              </a:tr>
              <a:tr h="420778">
                <a:tc gridSpan="2" vMerge="1">
                  <a:txBody>
                    <a:bodyPr/>
                    <a:lstStyle/>
                    <a:p>
                      <a:endParaRPr lang="zh-CN"/>
                    </a:p>
                  </a:txBody>
                  <a:tcPr marL="0" marR="0" marT="2527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CEBEB"/>
                    </a:solidFill>
                  </a:tcPr>
                </a:tc>
                <a:tc hMerge="1" vMerge="1">
                  <a:txBody>
                    <a:bodyPr/>
                    <a:lstStyle/>
                    <a:p>
                      <a:endParaRPr lang="zh-CN"/>
                    </a:p>
                  </a:txBody>
                  <a:tcPr marL="0" marR="0" marT="0" marB="0"/>
                </a:tc>
                <a:tc>
                  <a:txBody>
                    <a:bodyPr/>
                    <a:lstStyle/>
                    <a:p>
                      <a:pPr>
                        <a:lnSpc>
                          <a:spcPct val="100000"/>
                        </a:lnSpc>
                      </a:pPr>
                      <a:endParaRPr sz="23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c rowSpan="3">
                  <a:txBody>
                    <a:bodyPr/>
                    <a:lstStyle/>
                    <a:p>
                      <a:pPr>
                        <a:lnSpc>
                          <a:spcPct val="100000"/>
                        </a:lnSpc>
                      </a:pPr>
                      <a:endParaRPr sz="2300">
                        <a:latin typeface="Times New Roman" panose="02020603050405020304"/>
                        <a:cs typeface="Times New Roman" panose="02020603050405020304"/>
                      </a:endParaRPr>
                    </a:p>
                  </a:txBody>
                  <a:tcPr marL="0" marR="0" marT="0" marB="0">
                    <a:lnL w="9525">
                      <a:solidFill>
                        <a:srgbClr val="000000"/>
                      </a:solidFill>
                      <a:prstDash val="solid"/>
                    </a:lnL>
                    <a:lnT w="9525">
                      <a:solidFill>
                        <a:srgbClr val="000000"/>
                      </a:solidFill>
                      <a:prstDash val="solid"/>
                    </a:lnT>
                  </a:tcPr>
                </a:tc>
                <a:extLst>
                  <a:ext uri="{0D108BD9-81ED-4DB2-BD59-A6C34878D82A}">
                    <a16:rowId xmlns:a16="http://schemas.microsoft.com/office/drawing/2014/main" val="10001"/>
                  </a:ext>
                </a:extLst>
              </a:tr>
              <a:tr h="589363">
                <a:tc>
                  <a:txBody>
                    <a:bodyPr/>
                    <a:lstStyle/>
                    <a:p>
                      <a:pPr>
                        <a:lnSpc>
                          <a:spcPct val="100000"/>
                        </a:lnSpc>
                      </a:pPr>
                      <a:endParaRPr sz="2300">
                        <a:latin typeface="Times New Roman" panose="02020603050405020304"/>
                        <a:cs typeface="Times New Roman" panose="02020603050405020304"/>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gridSpan="2">
                  <a:txBody>
                    <a:bodyPr/>
                    <a:lstStyle/>
                    <a:p>
                      <a:pPr>
                        <a:lnSpc>
                          <a:spcPct val="100000"/>
                        </a:lnSpc>
                      </a:pPr>
                      <a:endParaRPr sz="2300">
                        <a:latin typeface="Times New Roman" panose="02020603050405020304"/>
                        <a:cs typeface="Times New Roman" panose="02020603050405020304"/>
                      </a:endParaRPr>
                    </a:p>
                  </a:txBody>
                  <a:tcPr marL="0" marR="0" marT="0" marB="0">
                    <a:lnL w="12700">
                      <a:solidFill>
                        <a:srgbClr val="000000"/>
                      </a:solidFill>
                      <a:prstDash val="solid"/>
                    </a:lnL>
                    <a:lnR w="9525">
                      <a:solidFill>
                        <a:srgbClr val="000000"/>
                      </a:solidFill>
                      <a:prstDash val="solid"/>
                    </a:lnR>
                  </a:tcPr>
                </a:tc>
                <a:tc hMerge="1">
                  <a:txBody>
                    <a:bodyPr/>
                    <a:lstStyle/>
                    <a:p>
                      <a:endParaRPr lang="zh-CN"/>
                    </a:p>
                  </a:txBody>
                  <a:tcPr marL="0" marR="0" marT="0" marB="0"/>
                </a:tc>
                <a:tc vMerge="1">
                  <a:txBody>
                    <a:bodyPr/>
                    <a:lstStyle/>
                    <a:p>
                      <a:endParaRPr lang="zh-CN"/>
                    </a:p>
                  </a:txBody>
                  <a:tcPr marL="0" marR="0" marT="0" marB="0">
                    <a:lnL w="9525">
                      <a:solidFill>
                        <a:srgbClr val="000000"/>
                      </a:solidFill>
                      <a:prstDash val="solid"/>
                    </a:lnL>
                    <a:lnT w="9525">
                      <a:solidFill>
                        <a:srgbClr val="000000"/>
                      </a:solidFill>
                      <a:prstDash val="solid"/>
                    </a:lnT>
                  </a:tcPr>
                </a:tc>
                <a:extLst>
                  <a:ext uri="{0D108BD9-81ED-4DB2-BD59-A6C34878D82A}">
                    <a16:rowId xmlns:a16="http://schemas.microsoft.com/office/drawing/2014/main" val="10002"/>
                  </a:ext>
                </a:extLst>
              </a:tr>
              <a:tr h="420777">
                <a:tc rowSpan="2" gridSpan="2">
                  <a:txBody>
                    <a:bodyPr/>
                    <a:lstStyle/>
                    <a:p>
                      <a:pPr marL="727075">
                        <a:lnSpc>
                          <a:spcPct val="100000"/>
                        </a:lnSpc>
                        <a:spcBef>
                          <a:spcPts val="1990"/>
                        </a:spcBef>
                      </a:pPr>
                      <a:r>
                        <a:rPr sz="2200" dirty="0">
                          <a:latin typeface="微软雅黑" panose="020B0503020204020204" pitchFamily="34" charset="-122"/>
                          <a:cs typeface="微软雅黑" panose="020B0503020204020204" pitchFamily="34" charset="-122"/>
                        </a:rPr>
                        <a:t>被测模块</a:t>
                      </a:r>
                      <a:endParaRPr sz="2200">
                        <a:latin typeface="微软雅黑" panose="020B0503020204020204" pitchFamily="34" charset="-122"/>
                        <a:cs typeface="微软雅黑" panose="020B0503020204020204" pitchFamily="34" charset="-122"/>
                      </a:endParaRPr>
                    </a:p>
                  </a:txBody>
                  <a:tcPr marL="0" marR="0" marT="2527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ACA9"/>
                    </a:solidFill>
                  </a:tcPr>
                </a:tc>
                <a:tc rowSpan="2" hMerge="1">
                  <a:txBody>
                    <a:bodyPr/>
                    <a:lstStyle/>
                    <a:p>
                      <a:endParaRPr lang="zh-CN"/>
                    </a:p>
                  </a:txBody>
                  <a:tcPr marL="0" marR="0" marT="0" marB="0"/>
                </a:tc>
                <a:tc>
                  <a:txBody>
                    <a:bodyPr/>
                    <a:lstStyle/>
                    <a:p>
                      <a:pPr>
                        <a:lnSpc>
                          <a:spcPct val="100000"/>
                        </a:lnSpc>
                      </a:pPr>
                      <a:endParaRPr sz="23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vMerge="1">
                  <a:txBody>
                    <a:bodyPr/>
                    <a:lstStyle/>
                    <a:p>
                      <a:endParaRPr lang="zh-CN"/>
                    </a:p>
                  </a:txBody>
                  <a:tcPr marL="0" marR="0" marT="0" marB="0">
                    <a:lnL w="9525">
                      <a:solidFill>
                        <a:srgbClr val="000000"/>
                      </a:solidFill>
                      <a:prstDash val="solid"/>
                    </a:lnL>
                    <a:lnT w="9525">
                      <a:solidFill>
                        <a:srgbClr val="000000"/>
                      </a:solidFill>
                      <a:prstDash val="solid"/>
                    </a:lnT>
                  </a:tcPr>
                </a:tc>
                <a:extLst>
                  <a:ext uri="{0D108BD9-81ED-4DB2-BD59-A6C34878D82A}">
                    <a16:rowId xmlns:a16="http://schemas.microsoft.com/office/drawing/2014/main" val="10003"/>
                  </a:ext>
                </a:extLst>
              </a:tr>
              <a:tr h="420780">
                <a:tc gridSpan="2" vMerge="1">
                  <a:txBody>
                    <a:bodyPr/>
                    <a:lstStyle/>
                    <a:p>
                      <a:endParaRPr lang="zh-CN"/>
                    </a:p>
                  </a:txBody>
                  <a:tcPr marL="0" marR="0" marT="252729"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ACA9"/>
                    </a:solidFill>
                  </a:tcPr>
                </a:tc>
                <a:tc hMerge="1" vMerge="1">
                  <a:txBody>
                    <a:bodyPr/>
                    <a:lstStyle/>
                    <a:p>
                      <a:endParaRPr lang="zh-CN"/>
                    </a:p>
                  </a:txBody>
                  <a:tcPr marL="0" marR="0" marT="0" marB="0"/>
                </a:tc>
                <a:tc gridSpan="2">
                  <a:txBody>
                    <a:bodyPr/>
                    <a:lstStyle/>
                    <a:p>
                      <a:pPr>
                        <a:lnSpc>
                          <a:spcPct val="100000"/>
                        </a:lnSpc>
                      </a:pPr>
                      <a:endParaRPr sz="2300">
                        <a:latin typeface="Times New Roman" panose="02020603050405020304"/>
                        <a:cs typeface="Times New Roman" panose="02020603050405020304"/>
                      </a:endParaRPr>
                    </a:p>
                  </a:txBody>
                  <a:tcPr marL="0" marR="0" marT="0" marB="0">
                    <a:lnL w="9525">
                      <a:solidFill>
                        <a:srgbClr val="000000"/>
                      </a:solidFill>
                      <a:prstDash val="solid"/>
                    </a:lnL>
                    <a:lnT w="9525" cap="flat" cmpd="sng" algn="ctr">
                      <a:solidFill>
                        <a:srgbClr val="000000"/>
                      </a:solidFill>
                      <a:prstDash val="solid"/>
                      <a:round/>
                      <a:headEnd type="none" w="med" len="med"/>
                      <a:tailEnd type="none" w="med" len="med"/>
                    </a:lnT>
                  </a:tcPr>
                </a:tc>
                <a:tc hMerge="1">
                  <a:txBody>
                    <a:bodyPr/>
                    <a:lstStyle/>
                    <a:p>
                      <a:endParaRPr lang="zh-CN"/>
                    </a:p>
                  </a:txBody>
                  <a:tcPr marL="0" marR="0" marT="0" marB="0"/>
                </a:tc>
                <a:extLst>
                  <a:ext uri="{0D108BD9-81ED-4DB2-BD59-A6C34878D82A}">
                    <a16:rowId xmlns:a16="http://schemas.microsoft.com/office/drawing/2014/main" val="10004"/>
                  </a:ext>
                </a:extLst>
              </a:tr>
            </a:tbl>
          </a:graphicData>
        </a:graphic>
      </p:graphicFrame>
      <p:sp>
        <p:nvSpPr>
          <p:cNvPr id="28" name="灯片编号占位符 27"/>
          <p:cNvSpPr>
            <a:spLocks noGrp="1"/>
          </p:cNvSpPr>
          <p:nvPr>
            <p:ph type="sldNum" sz="quarter" idx="12"/>
          </p:nvPr>
        </p:nvSpPr>
        <p:spPr/>
        <p:txBody>
          <a:bodyPr/>
          <a:lstStyle/>
          <a:p>
            <a:fld id="{74D2AB8B-5816-41F2-8B4B-CA5C3E4E6A65}" type="slidenum">
              <a:rPr lang="zh-CN" altLang="en-US" smtClean="0"/>
              <a:t>42</a:t>
            </a:fld>
            <a:endParaRPr lang="zh-CN" altLang="en-US"/>
          </a:p>
        </p:txBody>
      </p:sp>
      <p:sp>
        <p:nvSpPr>
          <p:cNvPr id="30" name="标题 29"/>
          <p:cNvSpPr>
            <a:spLocks noGrp="1"/>
          </p:cNvSpPr>
          <p:nvPr>
            <p:ph type="title"/>
          </p:nvPr>
        </p:nvSpPr>
        <p:spPr/>
        <p:txBody>
          <a:bodyPr/>
          <a:lstStyle/>
          <a:p>
            <a:r>
              <a:rPr lang="zh-CN" altLang="en-US" dirty="0"/>
              <a:t>单元测试方法</a:t>
            </a:r>
          </a:p>
        </p:txBody>
      </p:sp>
      <p:sp>
        <p:nvSpPr>
          <p:cNvPr id="2" name="矩形 1">
            <a:extLst>
              <a:ext uri="{FF2B5EF4-FFF2-40B4-BE49-F238E27FC236}">
                <a16:creationId xmlns:a16="http://schemas.microsoft.com/office/drawing/2014/main" id="{0CDCF984-9602-41AB-B4F9-9379F74CEFBC}"/>
              </a:ext>
            </a:extLst>
          </p:cNvPr>
          <p:cNvSpPr/>
          <p:nvPr/>
        </p:nvSpPr>
        <p:spPr>
          <a:xfrm>
            <a:off x="358168" y="4643144"/>
            <a:ext cx="11734799" cy="1670778"/>
          </a:xfrm>
          <a:prstGeom prst="rect">
            <a:avLst/>
          </a:prstGeom>
        </p:spPr>
        <p:txBody>
          <a:bodyPr wrap="square">
            <a:spAutoFit/>
          </a:bodyPr>
          <a:lstStyle/>
          <a:p>
            <a:pPr>
              <a:lnSpc>
                <a:spcPct val="200000"/>
              </a:lnSpc>
            </a:pPr>
            <a:r>
              <a:rPr lang="zh-CN" altLang="en-US" dirty="0">
                <a:latin typeface="微软雅黑" panose="020B0503020204020204" pitchFamily="34" charset="-122"/>
                <a:ea typeface="微软雅黑" panose="020B0503020204020204" pitchFamily="34" charset="-122"/>
              </a:rPr>
              <a:t>开发驱动模块和桩模块</a:t>
            </a:r>
            <a:r>
              <a:rPr lang="zh-CN" altLang="en-US" dirty="0">
                <a:solidFill>
                  <a:srgbClr val="FF0000"/>
                </a:solidFill>
                <a:latin typeface="微软雅黑" panose="020B0503020204020204" pitchFamily="34" charset="-122"/>
                <a:ea typeface="微软雅黑" panose="020B0503020204020204" pitchFamily="34" charset="-122"/>
              </a:rPr>
              <a:t>将被测模块进行隔离</a:t>
            </a:r>
            <a:r>
              <a:rPr lang="zh-CN" altLang="en-US" dirty="0">
                <a:latin typeface="微软雅黑" panose="020B0503020204020204" pitchFamily="34" charset="-122"/>
                <a:ea typeface="微软雅黑" panose="020B0503020204020204" pitchFamily="34" charset="-122"/>
              </a:rPr>
              <a:t>，并帮助完成单元测试。</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solidFill>
                  <a:srgbClr val="FF0000"/>
                </a:solidFill>
                <a:latin typeface="微软雅黑" panose="020B0503020204020204" pitchFamily="34" charset="-122"/>
                <a:ea typeface="微软雅黑" panose="020B0503020204020204" pitchFamily="34" charset="-122"/>
              </a:rPr>
              <a:t>驱动模块</a:t>
            </a:r>
            <a:r>
              <a:rPr lang="zh-CN" altLang="en-US" dirty="0">
                <a:latin typeface="微软雅黑" panose="020B0503020204020204" pitchFamily="34" charset="-122"/>
                <a:ea typeface="微软雅黑" panose="020B0503020204020204" pitchFamily="34" charset="-122"/>
              </a:rPr>
              <a:t>用于替代上层的模块，他去调用被测模块，并且判断被测模块的返回值是否与测试用例的预期结果相符。</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solidFill>
                  <a:srgbClr val="FF0000"/>
                </a:solidFill>
                <a:latin typeface="微软雅黑" panose="020B0503020204020204" pitchFamily="34" charset="-122"/>
                <a:ea typeface="微软雅黑" panose="020B0503020204020204" pitchFamily="34" charset="-122"/>
              </a:rPr>
              <a:t>桩模块</a:t>
            </a:r>
            <a:r>
              <a:rPr lang="zh-CN" altLang="en-US" dirty="0">
                <a:latin typeface="微软雅黑" panose="020B0503020204020204" pitchFamily="34" charset="-122"/>
                <a:ea typeface="微软雅黑" panose="020B0503020204020204" pitchFamily="34" charset="-122"/>
              </a:rPr>
              <a:t>则用于替代下层的调用模块，他要模拟的返回所替代模块儿的各种可能的返回值。</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838200" y="1504783"/>
            <a:ext cx="10515600" cy="4538807"/>
          </a:xfrm>
          <a:prstGeom prst="rect">
            <a:avLst/>
          </a:prstGeom>
        </p:spPr>
        <p:txBody>
          <a:bodyPr vert="horz" wrap="square" lIns="0" tIns="12700" rIns="0" bIns="0" rtlCol="0">
            <a:spAutoFit/>
          </a:bodyPr>
          <a:lstStyle/>
          <a:p>
            <a:pPr marL="25400" marR="5080">
              <a:lnSpc>
                <a:spcPct val="117000"/>
              </a:lnSpc>
              <a:spcBef>
                <a:spcPts val="100"/>
              </a:spcBef>
            </a:pPr>
            <a:r>
              <a:rPr spc="50" dirty="0">
                <a:solidFill>
                  <a:srgbClr val="0033CC"/>
                </a:solidFill>
                <a:latin typeface="Arial" panose="020B0604020202020204"/>
                <a:cs typeface="Arial" panose="020B0604020202020204"/>
              </a:rPr>
              <a:t>Mock</a:t>
            </a:r>
            <a:r>
              <a:rPr spc="50" dirty="0">
                <a:solidFill>
                  <a:srgbClr val="0033CC"/>
                </a:solidFill>
              </a:rPr>
              <a:t>测试</a:t>
            </a:r>
            <a:r>
              <a:rPr spc="50" dirty="0"/>
              <a:t>是在测试过程中对于某些不容易构造或者不容易获取的对</a:t>
            </a:r>
            <a:r>
              <a:rPr spc="55" dirty="0"/>
              <a:t>象</a:t>
            </a:r>
            <a:r>
              <a:rPr spc="50" dirty="0"/>
              <a:t>，用一个 </a:t>
            </a:r>
            <a:r>
              <a:rPr dirty="0" err="1"/>
              <a:t>虚拟的对象（即</a:t>
            </a:r>
            <a:r>
              <a:rPr spc="-5" dirty="0" err="1">
                <a:latin typeface="Arial" panose="020B0604020202020204"/>
                <a:cs typeface="Arial" panose="020B0604020202020204"/>
              </a:rPr>
              <a:t>Mock</a:t>
            </a:r>
            <a:r>
              <a:rPr dirty="0" err="1"/>
              <a:t>对象）来创建以便测试的方法</a:t>
            </a:r>
            <a:r>
              <a:rPr dirty="0"/>
              <a:t>。</a:t>
            </a:r>
            <a:endParaRPr sz="2450" dirty="0">
              <a:latin typeface="Times New Roman" panose="02020603050405020304"/>
              <a:cs typeface="Times New Roman" panose="02020603050405020304"/>
            </a:endParaRPr>
          </a:p>
          <a:p>
            <a:pPr marL="3682365" indent="-351790">
              <a:lnSpc>
                <a:spcPct val="100000"/>
              </a:lnSpc>
              <a:buFont typeface="Arial" panose="020B0604020202020204"/>
              <a:buChar char="•"/>
              <a:tabLst>
                <a:tab pos="3682365" algn="l"/>
                <a:tab pos="3683000" algn="l"/>
              </a:tabLst>
            </a:pPr>
            <a:r>
              <a:rPr sz="2000" dirty="0"/>
              <a:t>真实对象具有不可确定的行为（产生不可预测的结果）</a:t>
            </a:r>
          </a:p>
          <a:p>
            <a:pPr marL="3682365" indent="-351790">
              <a:lnSpc>
                <a:spcPct val="100000"/>
              </a:lnSpc>
              <a:spcBef>
                <a:spcPts val="900"/>
              </a:spcBef>
              <a:buFont typeface="Arial" panose="020B0604020202020204"/>
              <a:buChar char="•"/>
              <a:tabLst>
                <a:tab pos="3682365" algn="l"/>
                <a:tab pos="3683000" algn="l"/>
              </a:tabLst>
            </a:pPr>
            <a:r>
              <a:rPr sz="2000" dirty="0"/>
              <a:t>真实对象很难被创建（如具体的</a:t>
            </a:r>
            <a:r>
              <a:rPr sz="2000" spc="-5" dirty="0">
                <a:latin typeface="Calibri" panose="020F0502020204030204"/>
                <a:cs typeface="Calibri" panose="020F0502020204030204"/>
              </a:rPr>
              <a:t>Web</a:t>
            </a:r>
            <a:r>
              <a:rPr sz="2000" dirty="0"/>
              <a:t>容器）</a:t>
            </a:r>
            <a:endParaRPr sz="2000" dirty="0">
              <a:latin typeface="Calibri" panose="020F0502020204030204"/>
              <a:cs typeface="Calibri" panose="020F0502020204030204"/>
            </a:endParaRPr>
          </a:p>
          <a:p>
            <a:pPr marL="3682365" indent="-351790">
              <a:lnSpc>
                <a:spcPct val="100000"/>
              </a:lnSpc>
              <a:spcBef>
                <a:spcPts val="1000"/>
              </a:spcBef>
              <a:buFont typeface="Arial" panose="020B0604020202020204"/>
              <a:buChar char="•"/>
              <a:tabLst>
                <a:tab pos="3682365" algn="l"/>
                <a:tab pos="3683000" algn="l"/>
              </a:tabLst>
            </a:pPr>
            <a:r>
              <a:rPr sz="2000" dirty="0"/>
              <a:t>真实对象的某些行为很难触发（如网络错误）</a:t>
            </a:r>
          </a:p>
          <a:p>
            <a:pPr marL="3682365" indent="-351790">
              <a:lnSpc>
                <a:spcPct val="100000"/>
              </a:lnSpc>
              <a:spcBef>
                <a:spcPts val="900"/>
              </a:spcBef>
              <a:buFont typeface="Arial" panose="020B0604020202020204"/>
              <a:buChar char="•"/>
              <a:tabLst>
                <a:tab pos="3682365" algn="l"/>
                <a:tab pos="3683000" algn="l"/>
              </a:tabLst>
            </a:pPr>
            <a:r>
              <a:rPr sz="2000" dirty="0"/>
              <a:t>真实情况令程序的运行速度很慢</a:t>
            </a:r>
          </a:p>
          <a:p>
            <a:pPr marL="3682365" indent="-351790">
              <a:lnSpc>
                <a:spcPct val="100000"/>
              </a:lnSpc>
              <a:spcBef>
                <a:spcPts val="1000"/>
              </a:spcBef>
              <a:buFont typeface="Arial" panose="020B0604020202020204"/>
              <a:buChar char="•"/>
              <a:tabLst>
                <a:tab pos="3682365" algn="l"/>
                <a:tab pos="3683000" algn="l"/>
              </a:tabLst>
            </a:pPr>
            <a:r>
              <a:rPr sz="2000" dirty="0"/>
              <a:t>真实对象有用户界面</a:t>
            </a:r>
          </a:p>
          <a:p>
            <a:pPr marL="3682365" indent="-351790">
              <a:lnSpc>
                <a:spcPct val="100000"/>
              </a:lnSpc>
              <a:spcBef>
                <a:spcPts val="1000"/>
              </a:spcBef>
              <a:buFont typeface="Arial" panose="020B0604020202020204"/>
              <a:buChar char="•"/>
              <a:tabLst>
                <a:tab pos="3682365" algn="l"/>
                <a:tab pos="3683000" algn="l"/>
              </a:tabLst>
            </a:pPr>
            <a:r>
              <a:rPr sz="2000" dirty="0"/>
              <a:t>测试需要询问真实对象它是如何被调用的</a:t>
            </a:r>
          </a:p>
          <a:p>
            <a:pPr marL="3682365" indent="-351790">
              <a:lnSpc>
                <a:spcPct val="100000"/>
              </a:lnSpc>
              <a:spcBef>
                <a:spcPts val="900"/>
              </a:spcBef>
              <a:buFont typeface="Arial" panose="020B0604020202020204"/>
              <a:buChar char="•"/>
              <a:tabLst>
                <a:tab pos="3682365" algn="l"/>
                <a:tab pos="3683000" algn="l"/>
              </a:tabLst>
            </a:pPr>
            <a:r>
              <a:rPr sz="2000" dirty="0"/>
              <a:t>真实对象实际上并不存在</a:t>
            </a:r>
          </a:p>
        </p:txBody>
      </p:sp>
      <p:sp>
        <p:nvSpPr>
          <p:cNvPr id="4" name="object 4"/>
          <p:cNvSpPr/>
          <p:nvPr/>
        </p:nvSpPr>
        <p:spPr>
          <a:xfrm>
            <a:off x="1328798" y="3228526"/>
            <a:ext cx="2798705" cy="2003873"/>
          </a:xfrm>
          <a:prstGeom prst="rect">
            <a:avLst/>
          </a:prstGeom>
          <a:blipFill>
            <a:blip r:embed="rId3" cstate="print"/>
            <a:stretch>
              <a:fillRect/>
            </a:stretch>
          </a:blipFill>
        </p:spPr>
        <p:txBody>
          <a:bodyPr wrap="square" lIns="0" tIns="0" rIns="0" bIns="0" rtlCol="0"/>
          <a:lstStyle/>
          <a:p>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43</a:t>
            </a:fld>
            <a:endParaRPr lang="zh-CN" altLang="en-US"/>
          </a:p>
        </p:txBody>
      </p:sp>
      <p:sp>
        <p:nvSpPr>
          <p:cNvPr id="7" name="标题 6"/>
          <p:cNvSpPr>
            <a:spLocks noGrp="1"/>
          </p:cNvSpPr>
          <p:nvPr>
            <p:ph type="title"/>
          </p:nvPr>
        </p:nvSpPr>
        <p:spPr/>
        <p:txBody>
          <a:bodyPr/>
          <a:lstStyle/>
          <a:p>
            <a:r>
              <a:rPr lang="zh-CN" altLang="en-US" dirty="0"/>
              <a:t>单元测试之</a:t>
            </a:r>
            <a:r>
              <a:rPr lang="en-US" altLang="zh-CN" dirty="0">
                <a:latin typeface="Arial" panose="020B0604020202020204"/>
                <a:cs typeface="Arial" panose="020B0604020202020204"/>
              </a:rPr>
              <a:t>M</a:t>
            </a:r>
            <a:r>
              <a:rPr lang="en-US" altLang="zh-CN" spc="-5" dirty="0">
                <a:latin typeface="Arial" panose="020B0604020202020204"/>
                <a:cs typeface="Arial" panose="020B0604020202020204"/>
              </a:rPr>
              <a:t>o</a:t>
            </a:r>
            <a:r>
              <a:rPr lang="en-US" altLang="zh-CN" dirty="0">
                <a:latin typeface="Arial" panose="020B0604020202020204"/>
                <a:cs typeface="Arial" panose="020B0604020202020204"/>
              </a:rPr>
              <a:t>ck</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30206" y="1581169"/>
            <a:ext cx="9796780" cy="889000"/>
          </a:xfrm>
          <a:prstGeom prst="rect">
            <a:avLst/>
          </a:prstGeom>
        </p:spPr>
        <p:txBody>
          <a:bodyPr vert="horz" wrap="square" lIns="0" tIns="12700" rIns="0" bIns="0" rtlCol="0">
            <a:spAutoFit/>
          </a:bodyPr>
          <a:lstStyle/>
          <a:p>
            <a:pPr marL="12700" marR="5080">
              <a:lnSpc>
                <a:spcPct val="129000"/>
              </a:lnSpc>
              <a:spcBef>
                <a:spcPts val="100"/>
              </a:spcBef>
            </a:pPr>
            <a:r>
              <a:rPr sz="2200" spc="60" dirty="0">
                <a:solidFill>
                  <a:srgbClr val="CC0000"/>
                </a:solidFill>
                <a:latin typeface="微软雅黑" panose="020B0503020204020204" pitchFamily="34" charset="-122"/>
                <a:cs typeface="微软雅黑" panose="020B0503020204020204" pitchFamily="34" charset="-122"/>
              </a:rPr>
              <a:t>举例</a:t>
            </a:r>
            <a:r>
              <a:rPr sz="2200" spc="60" dirty="0">
                <a:solidFill>
                  <a:srgbClr val="D81E00"/>
                </a:solidFill>
                <a:latin typeface="微软雅黑" panose="020B0503020204020204" pitchFamily="34" charset="-122"/>
                <a:cs typeface="微软雅黑" panose="020B0503020204020204" pitchFamily="34" charset="-122"/>
              </a:rPr>
              <a:t>：</a:t>
            </a:r>
            <a:r>
              <a:rPr sz="2200" spc="60" dirty="0">
                <a:latin typeface="微软雅黑" panose="020B0503020204020204" pitchFamily="34" charset="-122"/>
                <a:cs typeface="微软雅黑" panose="020B0503020204020204" pitchFamily="34" charset="-122"/>
              </a:rPr>
              <a:t>支付宝接龙红包通过猜金额的小游戏方式，实现朋友之间的互动并领取 </a:t>
            </a:r>
            <a:r>
              <a:rPr sz="2200" dirty="0">
                <a:latin typeface="微软雅黑" panose="020B0503020204020204" pitchFamily="34" charset="-122"/>
                <a:cs typeface="微软雅黑" panose="020B0503020204020204" pitchFamily="34" charset="-122"/>
              </a:rPr>
              <a:t>春节红包。这种情况应如何测试？</a:t>
            </a:r>
            <a:endParaRPr sz="22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4780429" y="2824582"/>
          <a:ext cx="5485130" cy="2838561"/>
        </p:xfrm>
        <a:graphic>
          <a:graphicData uri="http://schemas.openxmlformats.org/drawingml/2006/table">
            <a:tbl>
              <a:tblPr firstRow="1" bandRow="1">
                <a:tableStyleId>{2D5ABB26-0587-4C30-8999-92F81FD0307C}</a:tableStyleId>
              </a:tblPr>
              <a:tblGrid>
                <a:gridCol w="2742565">
                  <a:extLst>
                    <a:ext uri="{9D8B030D-6E8A-4147-A177-3AD203B41FA5}">
                      <a16:colId xmlns:a16="http://schemas.microsoft.com/office/drawing/2014/main" val="20000"/>
                    </a:ext>
                  </a:extLst>
                </a:gridCol>
                <a:gridCol w="2742565">
                  <a:extLst>
                    <a:ext uri="{9D8B030D-6E8A-4147-A177-3AD203B41FA5}">
                      <a16:colId xmlns:a16="http://schemas.microsoft.com/office/drawing/2014/main" val="20001"/>
                    </a:ext>
                  </a:extLst>
                </a:gridCol>
              </a:tblGrid>
              <a:tr h="398020">
                <a:tc gridSpan="2">
                  <a:txBody>
                    <a:bodyPr/>
                    <a:lstStyle/>
                    <a:p>
                      <a:pPr marL="5715" algn="ctr">
                        <a:lnSpc>
                          <a:spcPct val="100000"/>
                        </a:lnSpc>
                        <a:spcBef>
                          <a:spcPts val="540"/>
                        </a:spcBef>
                      </a:pPr>
                      <a:r>
                        <a:rPr sz="1800" b="1" dirty="0">
                          <a:latin typeface="Courier New" panose="02070309020205020404"/>
                          <a:cs typeface="Courier New" panose="02070309020205020404"/>
                        </a:rPr>
                        <a:t>GiftMoney</a:t>
                      </a:r>
                      <a:endParaRPr sz="1800">
                        <a:latin typeface="Courier New" panose="02070309020205020404"/>
                        <a:cs typeface="Courier New" panose="02070309020205020404"/>
                      </a:endParaRPr>
                    </a:p>
                  </a:txBody>
                  <a:tcPr marL="0" marR="0" marT="68580" marB="0">
                    <a:lnL w="19050">
                      <a:solidFill>
                        <a:srgbClr val="B6192B"/>
                      </a:solidFill>
                      <a:prstDash val="solid"/>
                    </a:lnL>
                    <a:lnR w="19050">
                      <a:solidFill>
                        <a:srgbClr val="B6192B"/>
                      </a:solidFill>
                      <a:prstDash val="solid"/>
                    </a:lnR>
                    <a:lnT w="19050">
                      <a:solidFill>
                        <a:srgbClr val="B6192B"/>
                      </a:solidFill>
                      <a:prstDash val="solid"/>
                    </a:lnT>
                    <a:lnB w="28575">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0"/>
                  </a:ext>
                </a:extLst>
              </a:tr>
              <a:tr h="677858">
                <a:tc gridSpan="2">
                  <a:txBody>
                    <a:bodyPr/>
                    <a:lstStyle/>
                    <a:p>
                      <a:pPr marL="106045" marR="2626995">
                        <a:lnSpc>
                          <a:spcPts val="2100"/>
                        </a:lnSpc>
                        <a:spcBef>
                          <a:spcPts val="520"/>
                        </a:spcBef>
                        <a:tabLst>
                          <a:tab pos="654685" algn="l"/>
                          <a:tab pos="1341120" algn="l"/>
                          <a:tab pos="2026920" algn="l"/>
                        </a:tabLst>
                      </a:pPr>
                      <a:r>
                        <a:rPr sz="1800" b="1" dirty="0">
                          <a:latin typeface="Courier New" panose="02070309020205020404"/>
                          <a:cs typeface="Courier New" panose="02070309020205020404"/>
                        </a:rPr>
                        <a:t>int	min,	max,	</a:t>
                      </a:r>
                      <a:r>
                        <a:rPr sz="1800" b="1" spc="-5" dirty="0">
                          <a:latin typeface="Courier New" panose="02070309020205020404"/>
                          <a:cs typeface="Courier New" panose="02070309020205020404"/>
                        </a:rPr>
                        <a:t>money;  </a:t>
                      </a:r>
                      <a:r>
                        <a:rPr sz="1800" b="1" dirty="0">
                          <a:latin typeface="Courier New" panose="02070309020205020404"/>
                          <a:cs typeface="Courier New" panose="02070309020205020404"/>
                        </a:rPr>
                        <a:t>int	winnerID;</a:t>
                      </a:r>
                      <a:endParaRPr sz="1800">
                        <a:latin typeface="Courier New" panose="02070309020205020404"/>
                        <a:cs typeface="Courier New" panose="02070309020205020404"/>
                      </a:endParaRPr>
                    </a:p>
                  </a:txBody>
                  <a:tcPr marL="0" marR="0" marT="66040" marB="0">
                    <a:lnL w="19050">
                      <a:solidFill>
                        <a:srgbClr val="B6192B"/>
                      </a:solidFill>
                      <a:prstDash val="solid"/>
                    </a:lnL>
                    <a:lnR w="19050">
                      <a:solidFill>
                        <a:srgbClr val="B6192B"/>
                      </a:solidFill>
                      <a:prstDash val="solid"/>
                    </a:lnR>
                    <a:lnT w="28575">
                      <a:solidFill>
                        <a:srgbClr val="B6192B"/>
                      </a:solidFill>
                      <a:prstDash val="solid"/>
                    </a:lnT>
                    <a:lnB w="28575">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1"/>
                  </a:ext>
                </a:extLst>
              </a:tr>
              <a:tr h="1021468">
                <a:tc gridSpan="2">
                  <a:txBody>
                    <a:bodyPr/>
                    <a:lstStyle/>
                    <a:p>
                      <a:pPr marL="106045" marR="158115">
                        <a:lnSpc>
                          <a:spcPts val="2100"/>
                        </a:lnSpc>
                        <a:spcBef>
                          <a:spcPts val="1020"/>
                        </a:spcBef>
                        <a:tabLst>
                          <a:tab pos="2026920" algn="l"/>
                          <a:tab pos="2164080" algn="l"/>
                          <a:tab pos="2712720" algn="l"/>
                          <a:tab pos="3261360" algn="l"/>
                          <a:tab pos="3947160" algn="l"/>
                          <a:tab pos="4495800" algn="l"/>
                        </a:tabLst>
                      </a:pPr>
                      <a:r>
                        <a:rPr sz="1800" b="1" dirty="0">
                          <a:latin typeface="Courier New" panose="02070309020205020404"/>
                          <a:cs typeface="Courier New" panose="02070309020205020404"/>
                        </a:rPr>
                        <a:t>GiftMoney(int	min,	int	max,	int	</a:t>
                      </a:r>
                      <a:r>
                        <a:rPr sz="1800" b="1" spc="-5" dirty="0">
                          <a:latin typeface="Courier New" panose="02070309020205020404"/>
                          <a:cs typeface="Courier New" panose="02070309020205020404"/>
                        </a:rPr>
                        <a:t>money)  </a:t>
                      </a:r>
                      <a:r>
                        <a:rPr sz="1800" b="1" dirty="0">
                          <a:latin typeface="Courier New" panose="02070309020205020404"/>
                          <a:cs typeface="Courier New" panose="02070309020205020404"/>
                        </a:rPr>
                        <a:t>GuessMoney(int	</a:t>
                      </a:r>
                      <a:r>
                        <a:rPr sz="1800" b="1" spc="-5" dirty="0">
                          <a:latin typeface="Courier New" panose="02070309020205020404"/>
                          <a:cs typeface="Courier New" panose="02070309020205020404"/>
                        </a:rPr>
                        <a:t>guess)</a:t>
                      </a:r>
                      <a:endParaRPr sz="1800">
                        <a:latin typeface="Courier New" panose="02070309020205020404"/>
                        <a:cs typeface="Courier New" panose="02070309020205020404"/>
                      </a:endParaRPr>
                    </a:p>
                    <a:p>
                      <a:pPr marL="106045">
                        <a:lnSpc>
                          <a:spcPts val="2140"/>
                        </a:lnSpc>
                      </a:pPr>
                      <a:r>
                        <a:rPr sz="1800" b="1" spc="-5" dirty="0">
                          <a:latin typeface="Courier New" panose="02070309020205020404"/>
                          <a:cs typeface="Courier New" panose="02070309020205020404"/>
                        </a:rPr>
                        <a:t>......</a:t>
                      </a:r>
                      <a:endParaRPr sz="1800">
                        <a:latin typeface="Courier New" panose="02070309020205020404"/>
                        <a:cs typeface="Courier New" panose="02070309020205020404"/>
                      </a:endParaRPr>
                    </a:p>
                  </a:txBody>
                  <a:tcPr marL="0" marR="0" marT="129540" marB="0">
                    <a:lnL w="19050">
                      <a:solidFill>
                        <a:srgbClr val="B6192B"/>
                      </a:solidFill>
                      <a:prstDash val="solid"/>
                    </a:lnL>
                    <a:lnR w="19050">
                      <a:solidFill>
                        <a:srgbClr val="B6192B"/>
                      </a:solidFill>
                      <a:prstDash val="solid"/>
                    </a:lnR>
                    <a:lnT w="28575">
                      <a:solidFill>
                        <a:srgbClr val="B6192B"/>
                      </a:solidFill>
                      <a:prstDash val="solid"/>
                    </a:lnT>
                    <a:lnB w="19050">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2"/>
                  </a:ext>
                </a:extLst>
              </a:tr>
              <a:tr h="335244">
                <a:tc>
                  <a:txBody>
                    <a:bodyPr/>
                    <a:lstStyle/>
                    <a:p>
                      <a:pPr>
                        <a:lnSpc>
                          <a:spcPct val="100000"/>
                        </a:lnSpc>
                      </a:pPr>
                      <a:endParaRPr sz="2000">
                        <a:latin typeface="Times New Roman" panose="02020603050405020304"/>
                        <a:cs typeface="Times New Roman" panose="02020603050405020304"/>
                      </a:endParaRPr>
                    </a:p>
                  </a:txBody>
                  <a:tcPr marL="0" marR="0" marT="0" marB="0">
                    <a:lnR w="19050">
                      <a:solidFill>
                        <a:srgbClr val="B6192B"/>
                      </a:solidFill>
                      <a:prstDash val="solid"/>
                    </a:lnR>
                    <a:lnT w="19050">
                      <a:solidFill>
                        <a:srgbClr val="B6192B"/>
                      </a:solidFill>
                      <a:prstDash val="solid"/>
                    </a:lnT>
                    <a:lnB w="19050">
                      <a:solidFill>
                        <a:srgbClr val="B6192B"/>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B6192B"/>
                      </a:solidFill>
                      <a:prstDash val="solid"/>
                    </a:lnL>
                    <a:lnT w="19050">
                      <a:solidFill>
                        <a:srgbClr val="B6192B"/>
                      </a:solidFill>
                      <a:prstDash val="solid"/>
                    </a:lnT>
                    <a:lnB w="19050">
                      <a:solidFill>
                        <a:srgbClr val="B6192B"/>
                      </a:solidFill>
                      <a:prstDash val="solid"/>
                    </a:lnB>
                  </a:tcPr>
                </a:tc>
                <a:extLst>
                  <a:ext uri="{0D108BD9-81ED-4DB2-BD59-A6C34878D82A}">
                    <a16:rowId xmlns:a16="http://schemas.microsoft.com/office/drawing/2014/main" val="10003"/>
                  </a:ext>
                </a:extLst>
              </a:tr>
              <a:tr h="405971">
                <a:tc gridSpan="2">
                  <a:txBody>
                    <a:bodyPr/>
                    <a:lstStyle/>
                    <a:p>
                      <a:pPr marL="5080" algn="ctr">
                        <a:lnSpc>
                          <a:spcPct val="100000"/>
                        </a:lnSpc>
                        <a:spcBef>
                          <a:spcPts val="540"/>
                        </a:spcBef>
                      </a:pPr>
                      <a:r>
                        <a:rPr sz="1800" b="1" dirty="0">
                          <a:latin typeface="Courier New" panose="02070309020205020404"/>
                          <a:cs typeface="Courier New" panose="02070309020205020404"/>
                        </a:rPr>
                        <a:t>GiftMoneyDAO</a:t>
                      </a:r>
                      <a:endParaRPr sz="1800">
                        <a:latin typeface="Courier New" panose="02070309020205020404"/>
                        <a:cs typeface="Courier New" panose="02070309020205020404"/>
                      </a:endParaRPr>
                    </a:p>
                  </a:txBody>
                  <a:tcPr marL="0" marR="0" marT="68580" marB="0">
                    <a:lnL w="19050">
                      <a:solidFill>
                        <a:srgbClr val="B6192B"/>
                      </a:solidFill>
                      <a:prstDash val="solid"/>
                    </a:lnL>
                    <a:lnR w="19050">
                      <a:solidFill>
                        <a:srgbClr val="B6192B"/>
                      </a:solidFill>
                      <a:prstDash val="solid"/>
                    </a:lnR>
                    <a:lnT w="19050">
                      <a:solidFill>
                        <a:srgbClr val="B6192B"/>
                      </a:solidFill>
                      <a:prstDash val="solid"/>
                    </a:lnT>
                    <a:lnB w="19050">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4"/>
                  </a:ext>
                </a:extLst>
              </a:tr>
            </a:tbl>
          </a:graphicData>
        </a:graphic>
      </p:graphicFrame>
      <p:sp>
        <p:nvSpPr>
          <p:cNvPr id="5" name="object 5"/>
          <p:cNvSpPr/>
          <p:nvPr/>
        </p:nvSpPr>
        <p:spPr>
          <a:xfrm>
            <a:off x="7454792" y="5156134"/>
            <a:ext cx="155492" cy="11028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042411" y="3358197"/>
            <a:ext cx="1572751" cy="1958869"/>
          </a:xfrm>
          <a:prstGeom prst="rect">
            <a:avLst/>
          </a:prstGeom>
          <a:blipFill>
            <a:blip r:embed="rId4" cstate="print"/>
            <a:stretch>
              <a:fillRect/>
            </a:stretch>
          </a:blipFill>
        </p:spPr>
        <p:txBody>
          <a:bodyPr wrap="square" lIns="0" tIns="0" rIns="0" bIns="0" rtlCol="0"/>
          <a:lstStyle/>
          <a:p>
            <a:endParaRPr/>
          </a:p>
        </p:txBody>
      </p:sp>
      <p:sp>
        <p:nvSpPr>
          <p:cNvPr id="7" name="灯片编号占位符 6"/>
          <p:cNvSpPr>
            <a:spLocks noGrp="1"/>
          </p:cNvSpPr>
          <p:nvPr>
            <p:ph type="sldNum" sz="quarter" idx="12"/>
          </p:nvPr>
        </p:nvSpPr>
        <p:spPr/>
        <p:txBody>
          <a:bodyPr/>
          <a:lstStyle/>
          <a:p>
            <a:fld id="{74D2AB8B-5816-41F2-8B4B-CA5C3E4E6A65}" type="slidenum">
              <a:rPr lang="zh-CN" altLang="en-US" smtClean="0"/>
              <a:t>44</a:t>
            </a:fld>
            <a:endParaRPr lang="zh-CN" altLang="en-US"/>
          </a:p>
        </p:txBody>
      </p:sp>
      <p:sp>
        <p:nvSpPr>
          <p:cNvPr id="9" name="标题 8"/>
          <p:cNvSpPr>
            <a:spLocks noGrp="1"/>
          </p:cNvSpPr>
          <p:nvPr>
            <p:ph type="title"/>
          </p:nvPr>
        </p:nvSpPr>
        <p:spPr/>
        <p:txBody>
          <a:bodyPr/>
          <a:lstStyle/>
          <a:p>
            <a:r>
              <a:rPr lang="zh-CN" altLang="en-US" dirty="0"/>
              <a:t>单元测试之</a:t>
            </a:r>
            <a:r>
              <a:rPr lang="en-US" altLang="zh-CN" dirty="0">
                <a:latin typeface="Arial" panose="020B0604020202020204"/>
                <a:cs typeface="Arial" panose="020B0604020202020204"/>
              </a:rPr>
              <a:t>M</a:t>
            </a:r>
            <a:r>
              <a:rPr lang="en-US" altLang="zh-CN" spc="-5" dirty="0">
                <a:latin typeface="Arial" panose="020B0604020202020204"/>
                <a:cs typeface="Arial" panose="020B0604020202020204"/>
              </a:rPr>
              <a:t>o</a:t>
            </a:r>
            <a:r>
              <a:rPr lang="en-US" altLang="zh-CN" dirty="0">
                <a:latin typeface="Arial" panose="020B0604020202020204"/>
                <a:cs typeface="Arial" panose="020B0604020202020204"/>
              </a:rPr>
              <a:t>ck</a:t>
            </a:r>
            <a:endParaRPr lang="zh-CN" altLang="en-US" dirty="0"/>
          </a:p>
        </p:txBody>
      </p:sp>
      <p:sp>
        <p:nvSpPr>
          <p:cNvPr id="2" name="矩形 1">
            <a:extLst>
              <a:ext uri="{FF2B5EF4-FFF2-40B4-BE49-F238E27FC236}">
                <a16:creationId xmlns:a16="http://schemas.microsoft.com/office/drawing/2014/main" id="{CD971CE9-49BA-4B6B-A25B-6A4A8D3B0418}"/>
              </a:ext>
            </a:extLst>
          </p:cNvPr>
          <p:cNvSpPr/>
          <p:nvPr/>
        </p:nvSpPr>
        <p:spPr>
          <a:xfrm>
            <a:off x="787526" y="5736647"/>
            <a:ext cx="11252200" cy="646331"/>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Gift money</a:t>
            </a:r>
            <a:r>
              <a:rPr lang="zh-CN" altLang="en-US" dirty="0">
                <a:latin typeface="微软雅黑" panose="020B0503020204020204" pitchFamily="34" charset="-122"/>
                <a:ea typeface="微软雅黑" panose="020B0503020204020204" pitchFamily="34" charset="-122"/>
              </a:rPr>
              <a:t>这类允许设定红包的金额和上下限，并且将所差的金额和设定金额进行比较，由于数据是存放在数据库中的，所以这个类就需要调用数据库存取访问的方法，那么这种情况下应该如何进行测试？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07270" y="1591217"/>
            <a:ext cx="10073005" cy="1219200"/>
          </a:xfrm>
          <a:prstGeom prst="rect">
            <a:avLst/>
          </a:prstGeom>
        </p:spPr>
        <p:txBody>
          <a:bodyPr vert="horz" wrap="square" lIns="0" tIns="6350" rIns="0" bIns="0" rtlCol="0">
            <a:spAutoFit/>
          </a:bodyPr>
          <a:lstStyle/>
          <a:p>
            <a:pPr marL="12700" marR="5080">
              <a:lnSpc>
                <a:spcPct val="119000"/>
              </a:lnSpc>
              <a:spcBef>
                <a:spcPts val="50"/>
              </a:spcBef>
            </a:pPr>
            <a:r>
              <a:rPr sz="2200" spc="130" dirty="0">
                <a:solidFill>
                  <a:srgbClr val="CC0000"/>
                </a:solidFill>
                <a:latin typeface="微软雅黑" panose="020B0503020204020204" pitchFamily="34" charset="-122"/>
                <a:cs typeface="微软雅黑" panose="020B0503020204020204" pitchFamily="34" charset="-122"/>
              </a:rPr>
              <a:t>关键：</a:t>
            </a:r>
            <a:r>
              <a:rPr sz="2200" spc="130" dirty="0">
                <a:latin typeface="微软雅黑" panose="020B0503020204020204" pitchFamily="34" charset="-122"/>
                <a:cs typeface="微软雅黑" panose="020B0503020204020204" pitchFamily="34" charset="-122"/>
              </a:rPr>
              <a:t>需要应用</a:t>
            </a:r>
            <a:r>
              <a:rPr sz="2200" spc="130" dirty="0">
                <a:solidFill>
                  <a:srgbClr val="FF0000"/>
                </a:solidFill>
                <a:latin typeface="微软雅黑" panose="020B0503020204020204" pitchFamily="34" charset="-122"/>
                <a:cs typeface="微软雅黑" panose="020B0503020204020204" pitchFamily="34" charset="-122"/>
              </a:rPr>
              <a:t>针对接口的编程技术</a:t>
            </a:r>
            <a:r>
              <a:rPr sz="2200" spc="130" dirty="0">
                <a:latin typeface="微软雅黑" panose="020B0503020204020204" pitchFamily="34" charset="-122"/>
                <a:cs typeface="微软雅黑" panose="020B0503020204020204" pitchFamily="34" charset="-122"/>
              </a:rPr>
              <a:t>，即被测试的代码通过接口来引用对</a:t>
            </a:r>
            <a:r>
              <a:rPr sz="2200" spc="-5" dirty="0">
                <a:latin typeface="微软雅黑" panose="020B0503020204020204" pitchFamily="34" charset="-122"/>
                <a:cs typeface="微软雅黑" panose="020B0503020204020204" pitchFamily="34" charset="-122"/>
              </a:rPr>
              <a:t>象</a:t>
            </a:r>
            <a:r>
              <a:rPr sz="2200" dirty="0">
                <a:latin typeface="微软雅黑" panose="020B0503020204020204" pitchFamily="34" charset="-122"/>
                <a:cs typeface="微软雅黑" panose="020B0503020204020204" pitchFamily="34" charset="-122"/>
              </a:rPr>
              <a:t>，  </a:t>
            </a:r>
            <a:r>
              <a:rPr sz="2200" spc="35" dirty="0">
                <a:latin typeface="微软雅黑" panose="020B0503020204020204" pitchFamily="34" charset="-122"/>
                <a:cs typeface="微软雅黑" panose="020B0503020204020204" pitchFamily="34" charset="-122"/>
              </a:rPr>
              <a:t>再使用</a:t>
            </a:r>
            <a:r>
              <a:rPr sz="2200" spc="35" dirty="0">
                <a:latin typeface="Arial" panose="020B0604020202020204"/>
                <a:cs typeface="Arial" panose="020B0604020202020204"/>
              </a:rPr>
              <a:t>Mock</a:t>
            </a:r>
            <a:r>
              <a:rPr sz="2200" spc="35" dirty="0">
                <a:latin typeface="微软雅黑" panose="020B0503020204020204" pitchFamily="34" charset="-122"/>
                <a:cs typeface="微软雅黑" panose="020B0503020204020204" pitchFamily="34" charset="-122"/>
              </a:rPr>
              <a:t>对象模拟所引用的对象及其行为，因此被测试模块并不知道它所引 </a:t>
            </a:r>
            <a:r>
              <a:rPr sz="2200" dirty="0">
                <a:latin typeface="微软雅黑" panose="020B0503020204020204" pitchFamily="34" charset="-122"/>
                <a:cs typeface="微软雅黑" panose="020B0503020204020204" pitchFamily="34" charset="-122"/>
              </a:rPr>
              <a:t>用的究竟是真实对象还是</a:t>
            </a:r>
            <a:r>
              <a:rPr sz="2200" spc="-5" dirty="0">
                <a:latin typeface="Arial" panose="020B0604020202020204"/>
                <a:cs typeface="Arial" panose="020B0604020202020204"/>
              </a:rPr>
              <a:t>Mock</a:t>
            </a:r>
            <a:r>
              <a:rPr sz="2200" dirty="0">
                <a:latin typeface="微软雅黑" panose="020B0503020204020204" pitchFamily="34" charset="-122"/>
                <a:cs typeface="微软雅黑" panose="020B0503020204020204" pitchFamily="34" charset="-122"/>
              </a:rPr>
              <a:t>对象。</a:t>
            </a:r>
          </a:p>
        </p:txBody>
      </p:sp>
      <p:graphicFrame>
        <p:nvGraphicFramePr>
          <p:cNvPr id="4" name="object 4"/>
          <p:cNvGraphicFramePr>
            <a:graphicFrameLocks noGrp="1"/>
          </p:cNvGraphicFramePr>
          <p:nvPr/>
        </p:nvGraphicFramePr>
        <p:xfrm>
          <a:off x="1649942" y="3327186"/>
          <a:ext cx="2233930" cy="2166107"/>
        </p:xfrm>
        <a:graphic>
          <a:graphicData uri="http://schemas.openxmlformats.org/drawingml/2006/table">
            <a:tbl>
              <a:tblPr firstRow="1" bandRow="1">
                <a:tableStyleId>{2D5ABB26-0587-4C30-8999-92F81FD0307C}</a:tableStyleId>
              </a:tblPr>
              <a:tblGrid>
                <a:gridCol w="1116965">
                  <a:extLst>
                    <a:ext uri="{9D8B030D-6E8A-4147-A177-3AD203B41FA5}">
                      <a16:colId xmlns:a16="http://schemas.microsoft.com/office/drawing/2014/main" val="20000"/>
                    </a:ext>
                  </a:extLst>
                </a:gridCol>
                <a:gridCol w="1116965">
                  <a:extLst>
                    <a:ext uri="{9D8B030D-6E8A-4147-A177-3AD203B41FA5}">
                      <a16:colId xmlns:a16="http://schemas.microsoft.com/office/drawing/2014/main" val="20001"/>
                    </a:ext>
                  </a:extLst>
                </a:gridCol>
              </a:tblGrid>
              <a:tr h="417159">
                <a:tc gridSpan="2">
                  <a:txBody>
                    <a:bodyPr/>
                    <a:lstStyle/>
                    <a:p>
                      <a:pPr marL="709295">
                        <a:lnSpc>
                          <a:spcPct val="100000"/>
                        </a:lnSpc>
                        <a:spcBef>
                          <a:spcPts val="540"/>
                        </a:spcBef>
                      </a:pPr>
                      <a:r>
                        <a:rPr sz="1800" b="1" dirty="0">
                          <a:latin typeface="Courier New" panose="02070309020205020404"/>
                          <a:cs typeface="Courier New" panose="02070309020205020404"/>
                        </a:rPr>
                        <a:t>ClassA</a:t>
                      </a:r>
                      <a:endParaRPr sz="1800">
                        <a:latin typeface="Courier New" panose="02070309020205020404"/>
                        <a:cs typeface="Courier New" panose="02070309020205020404"/>
                      </a:endParaRPr>
                    </a:p>
                  </a:txBody>
                  <a:tcPr marL="0" marR="0" marT="68580" marB="0">
                    <a:lnL w="19050">
                      <a:solidFill>
                        <a:srgbClr val="B6192B"/>
                      </a:solidFill>
                      <a:prstDash val="solid"/>
                    </a:lnL>
                    <a:lnR w="19050">
                      <a:solidFill>
                        <a:srgbClr val="B6192B"/>
                      </a:solidFill>
                      <a:prstDash val="solid"/>
                    </a:lnR>
                    <a:lnT w="19050">
                      <a:solidFill>
                        <a:srgbClr val="B6192B"/>
                      </a:solidFill>
                      <a:prstDash val="solid"/>
                    </a:lnT>
                    <a:lnB w="19050">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0"/>
                  </a:ext>
                </a:extLst>
              </a:tr>
              <a:tr h="677437">
                <a:tc>
                  <a:txBody>
                    <a:bodyPr/>
                    <a:lstStyle/>
                    <a:p>
                      <a:pPr>
                        <a:lnSpc>
                          <a:spcPct val="100000"/>
                        </a:lnSpc>
                      </a:pPr>
                      <a:endParaRPr sz="2100">
                        <a:latin typeface="Times New Roman" panose="02020603050405020304"/>
                        <a:cs typeface="Times New Roman" panose="02020603050405020304"/>
                      </a:endParaRPr>
                    </a:p>
                  </a:txBody>
                  <a:tcPr marL="0" marR="0" marT="0" marB="0">
                    <a:lnR w="28575">
                      <a:solidFill>
                        <a:srgbClr val="CE1C00"/>
                      </a:solidFill>
                      <a:prstDash val="solid"/>
                    </a:lnR>
                    <a:lnT w="19050">
                      <a:solidFill>
                        <a:srgbClr val="B6192B"/>
                      </a:solidFill>
                      <a:prstDash val="solid"/>
                    </a:lnT>
                    <a:lnB w="19050">
                      <a:solidFill>
                        <a:srgbClr val="B6192B"/>
                      </a:solidFill>
                      <a:prstDash val="solid"/>
                    </a:lnB>
                  </a:tcPr>
                </a:tc>
                <a:tc>
                  <a:txBody>
                    <a:bodyPr/>
                    <a:lstStyle/>
                    <a:p>
                      <a:pPr>
                        <a:lnSpc>
                          <a:spcPct val="100000"/>
                        </a:lnSpc>
                      </a:pPr>
                      <a:endParaRPr sz="2100">
                        <a:latin typeface="Times New Roman" panose="02020603050405020304"/>
                        <a:cs typeface="Times New Roman" panose="02020603050405020304"/>
                      </a:endParaRPr>
                    </a:p>
                  </a:txBody>
                  <a:tcPr marL="0" marR="0" marT="0" marB="0">
                    <a:lnL w="28575">
                      <a:solidFill>
                        <a:srgbClr val="CE1C00"/>
                      </a:solidFill>
                      <a:prstDash val="solid"/>
                    </a:lnL>
                    <a:lnT w="19050">
                      <a:solidFill>
                        <a:srgbClr val="B6192B"/>
                      </a:solidFill>
                      <a:prstDash val="solid"/>
                    </a:lnT>
                    <a:lnB w="19050">
                      <a:solidFill>
                        <a:srgbClr val="B6192B"/>
                      </a:solidFill>
                      <a:prstDash val="solid"/>
                    </a:lnB>
                  </a:tcPr>
                </a:tc>
                <a:extLst>
                  <a:ext uri="{0D108BD9-81ED-4DB2-BD59-A6C34878D82A}">
                    <a16:rowId xmlns:a16="http://schemas.microsoft.com/office/drawing/2014/main" val="10001"/>
                  </a:ext>
                </a:extLst>
              </a:tr>
              <a:tr h="413583">
                <a:tc gridSpan="2">
                  <a:txBody>
                    <a:bodyPr/>
                    <a:lstStyle/>
                    <a:p>
                      <a:pPr marL="706755">
                        <a:lnSpc>
                          <a:spcPct val="100000"/>
                        </a:lnSpc>
                        <a:spcBef>
                          <a:spcPts val="540"/>
                        </a:spcBef>
                      </a:pPr>
                      <a:r>
                        <a:rPr sz="1800" b="1" dirty="0">
                          <a:latin typeface="Courier New" panose="02070309020205020404"/>
                          <a:cs typeface="Courier New" panose="02070309020205020404"/>
                        </a:rPr>
                        <a:t>ClassB</a:t>
                      </a:r>
                      <a:endParaRPr sz="1800">
                        <a:latin typeface="Courier New" panose="02070309020205020404"/>
                        <a:cs typeface="Courier New" panose="02070309020205020404"/>
                      </a:endParaRPr>
                    </a:p>
                  </a:txBody>
                  <a:tcPr marL="0" marR="0" marT="68580" marB="0">
                    <a:lnL w="19050">
                      <a:solidFill>
                        <a:srgbClr val="B6192B"/>
                      </a:solidFill>
                      <a:prstDash val="solid"/>
                    </a:lnL>
                    <a:lnR w="19050">
                      <a:solidFill>
                        <a:srgbClr val="B6192B"/>
                      </a:solidFill>
                      <a:prstDash val="solid"/>
                    </a:lnR>
                    <a:lnT w="19050">
                      <a:solidFill>
                        <a:srgbClr val="B6192B"/>
                      </a:solidFill>
                      <a:prstDash val="solid"/>
                    </a:lnT>
                    <a:lnB w="28575">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2"/>
                  </a:ext>
                </a:extLst>
              </a:tr>
              <a:tr h="156220">
                <a:tc gridSpan="2">
                  <a:txBody>
                    <a:bodyPr/>
                    <a:lstStyle/>
                    <a:p>
                      <a:pPr>
                        <a:lnSpc>
                          <a:spcPct val="100000"/>
                        </a:lnSpc>
                      </a:pPr>
                      <a:endParaRPr sz="800">
                        <a:latin typeface="Times New Roman" panose="02020603050405020304"/>
                        <a:cs typeface="Times New Roman" panose="02020603050405020304"/>
                      </a:endParaRPr>
                    </a:p>
                  </a:txBody>
                  <a:tcPr marL="0" marR="0" marT="0" marB="0">
                    <a:lnL w="19050">
                      <a:solidFill>
                        <a:srgbClr val="B6192B"/>
                      </a:solidFill>
                      <a:prstDash val="solid"/>
                    </a:lnL>
                    <a:lnR w="19050">
                      <a:solidFill>
                        <a:srgbClr val="B6192B"/>
                      </a:solidFill>
                      <a:prstDash val="solid"/>
                    </a:lnR>
                    <a:lnT w="28575">
                      <a:solidFill>
                        <a:srgbClr val="B6192B"/>
                      </a:solidFill>
                      <a:prstDash val="solid"/>
                    </a:lnT>
                    <a:lnB w="28575">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3"/>
                  </a:ext>
                </a:extLst>
              </a:tr>
              <a:tr h="501708">
                <a:tc gridSpan="2">
                  <a:txBody>
                    <a:bodyPr/>
                    <a:lstStyle/>
                    <a:p>
                      <a:pPr marL="74930">
                        <a:lnSpc>
                          <a:spcPct val="100000"/>
                        </a:lnSpc>
                        <a:spcBef>
                          <a:spcPts val="720"/>
                        </a:spcBef>
                      </a:pPr>
                      <a:r>
                        <a:rPr sz="1800" b="1" dirty="0">
                          <a:latin typeface="Courier New" panose="02070309020205020404"/>
                          <a:cs typeface="Courier New" panose="02070309020205020404"/>
                        </a:rPr>
                        <a:t>doMethod(</a:t>
                      </a:r>
                      <a:r>
                        <a:rPr sz="1800" b="1" spc="-25" dirty="0">
                          <a:latin typeface="Courier New" panose="02070309020205020404"/>
                          <a:cs typeface="Courier New" panose="02070309020205020404"/>
                        </a:rPr>
                        <a:t> </a:t>
                      </a:r>
                      <a:r>
                        <a:rPr sz="1800" b="1" dirty="0">
                          <a:latin typeface="Courier New" panose="02070309020205020404"/>
                          <a:cs typeface="Courier New" panose="02070309020205020404"/>
                        </a:rPr>
                        <a:t>)</a:t>
                      </a:r>
                      <a:endParaRPr sz="1800">
                        <a:latin typeface="Courier New" panose="02070309020205020404"/>
                        <a:cs typeface="Courier New" panose="02070309020205020404"/>
                      </a:endParaRPr>
                    </a:p>
                  </a:txBody>
                  <a:tcPr marL="0" marR="0" marT="91440" marB="0">
                    <a:lnL w="19050">
                      <a:solidFill>
                        <a:srgbClr val="B6192B"/>
                      </a:solidFill>
                      <a:prstDash val="solid"/>
                    </a:lnL>
                    <a:lnR w="19050">
                      <a:solidFill>
                        <a:srgbClr val="B6192B"/>
                      </a:solidFill>
                      <a:prstDash val="solid"/>
                    </a:lnR>
                    <a:lnT w="28575">
                      <a:solidFill>
                        <a:srgbClr val="B6192B"/>
                      </a:solidFill>
                      <a:prstDash val="solid"/>
                    </a:lnT>
                    <a:lnB w="19050">
                      <a:solidFill>
                        <a:srgbClr val="B6192B"/>
                      </a:solidFill>
                      <a:prstDash val="solid"/>
                    </a:lnB>
                    <a:solidFill>
                      <a:srgbClr val="FFFED5"/>
                    </a:solidFill>
                  </a:tcPr>
                </a:tc>
                <a:tc hMerge="1">
                  <a:txBody>
                    <a:bodyPr/>
                    <a:lstStyle/>
                    <a:p>
                      <a:endParaRPr lang="zh-CN"/>
                    </a:p>
                  </a:txBody>
                  <a:tcPr marL="0" marR="0" marT="0" marB="0"/>
                </a:tc>
                <a:extLst>
                  <a:ext uri="{0D108BD9-81ED-4DB2-BD59-A6C34878D82A}">
                    <a16:rowId xmlns:a16="http://schemas.microsoft.com/office/drawing/2014/main" val="10004"/>
                  </a:ext>
                </a:extLst>
              </a:tr>
            </a:tbl>
          </a:graphicData>
        </a:graphic>
      </p:graphicFrame>
      <p:sp>
        <p:nvSpPr>
          <p:cNvPr id="5" name="object 5"/>
          <p:cNvSpPr/>
          <p:nvPr/>
        </p:nvSpPr>
        <p:spPr>
          <a:xfrm>
            <a:off x="2716644" y="4315230"/>
            <a:ext cx="117908" cy="11607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342011" y="4081172"/>
            <a:ext cx="687705" cy="432434"/>
          </a:xfrm>
          <a:custGeom>
            <a:avLst/>
            <a:gdLst/>
            <a:ahLst/>
            <a:cxnLst/>
            <a:rect l="l" t="t" r="r" b="b"/>
            <a:pathLst>
              <a:path w="687704" h="432435">
                <a:moveTo>
                  <a:pt x="386518" y="0"/>
                </a:moveTo>
                <a:lnTo>
                  <a:pt x="386518" y="108000"/>
                </a:lnTo>
                <a:lnTo>
                  <a:pt x="0" y="108000"/>
                </a:lnTo>
                <a:lnTo>
                  <a:pt x="0" y="323999"/>
                </a:lnTo>
                <a:lnTo>
                  <a:pt x="386518" y="323999"/>
                </a:lnTo>
                <a:lnTo>
                  <a:pt x="386518" y="432000"/>
                </a:lnTo>
                <a:lnTo>
                  <a:pt x="687185" y="216000"/>
                </a:lnTo>
                <a:lnTo>
                  <a:pt x="386518" y="0"/>
                </a:lnTo>
                <a:close/>
              </a:path>
            </a:pathLst>
          </a:custGeom>
          <a:solidFill>
            <a:srgbClr val="898484"/>
          </a:solidFill>
        </p:spPr>
        <p:txBody>
          <a:bodyPr wrap="square" lIns="0" tIns="0" rIns="0" bIns="0" rtlCol="0"/>
          <a:lstStyle/>
          <a:p>
            <a:endParaRPr/>
          </a:p>
        </p:txBody>
      </p:sp>
      <p:sp>
        <p:nvSpPr>
          <p:cNvPr id="7" name="object 7"/>
          <p:cNvSpPr/>
          <p:nvPr/>
        </p:nvSpPr>
        <p:spPr>
          <a:xfrm>
            <a:off x="8118697" y="3137366"/>
            <a:ext cx="2202815" cy="792480"/>
          </a:xfrm>
          <a:custGeom>
            <a:avLst/>
            <a:gdLst/>
            <a:ahLst/>
            <a:cxnLst/>
            <a:rect l="l" t="t" r="r" b="b"/>
            <a:pathLst>
              <a:path w="2202815" h="792479">
                <a:moveTo>
                  <a:pt x="0" y="0"/>
                </a:moveTo>
                <a:lnTo>
                  <a:pt x="2202477" y="0"/>
                </a:lnTo>
                <a:lnTo>
                  <a:pt x="2202477" y="792162"/>
                </a:lnTo>
                <a:lnTo>
                  <a:pt x="0" y="792162"/>
                </a:lnTo>
                <a:lnTo>
                  <a:pt x="0" y="0"/>
                </a:lnTo>
                <a:close/>
              </a:path>
            </a:pathLst>
          </a:custGeom>
          <a:solidFill>
            <a:srgbClr val="FFFED5"/>
          </a:solidFill>
        </p:spPr>
        <p:txBody>
          <a:bodyPr wrap="square" lIns="0" tIns="0" rIns="0" bIns="0" rtlCol="0"/>
          <a:lstStyle/>
          <a:p>
            <a:endParaRPr/>
          </a:p>
        </p:txBody>
      </p:sp>
      <p:sp>
        <p:nvSpPr>
          <p:cNvPr id="8" name="object 8"/>
          <p:cNvSpPr/>
          <p:nvPr/>
        </p:nvSpPr>
        <p:spPr>
          <a:xfrm>
            <a:off x="8118697" y="3137366"/>
            <a:ext cx="2202815" cy="792480"/>
          </a:xfrm>
          <a:custGeom>
            <a:avLst/>
            <a:gdLst/>
            <a:ahLst/>
            <a:cxnLst/>
            <a:rect l="l" t="t" r="r" b="b"/>
            <a:pathLst>
              <a:path w="2202815" h="792479">
                <a:moveTo>
                  <a:pt x="0" y="0"/>
                </a:moveTo>
                <a:lnTo>
                  <a:pt x="2202477" y="0"/>
                </a:lnTo>
                <a:lnTo>
                  <a:pt x="2202477" y="792161"/>
                </a:lnTo>
                <a:lnTo>
                  <a:pt x="0" y="792161"/>
                </a:lnTo>
                <a:lnTo>
                  <a:pt x="0" y="0"/>
                </a:lnTo>
                <a:close/>
              </a:path>
            </a:pathLst>
          </a:custGeom>
          <a:ln w="19049">
            <a:solidFill>
              <a:srgbClr val="B6192B"/>
            </a:solidFill>
          </a:ln>
        </p:spPr>
        <p:txBody>
          <a:bodyPr wrap="square" lIns="0" tIns="0" rIns="0" bIns="0" rtlCol="0"/>
          <a:lstStyle/>
          <a:p>
            <a:endParaRPr/>
          </a:p>
        </p:txBody>
      </p:sp>
      <p:sp>
        <p:nvSpPr>
          <p:cNvPr id="9" name="object 9"/>
          <p:cNvSpPr txBox="1"/>
          <p:nvPr/>
        </p:nvSpPr>
        <p:spPr>
          <a:xfrm>
            <a:off x="8128222" y="3150740"/>
            <a:ext cx="2183765" cy="391160"/>
          </a:xfrm>
          <a:prstGeom prst="rect">
            <a:avLst/>
          </a:prstGeom>
          <a:solidFill>
            <a:srgbClr val="FFFED5"/>
          </a:solidFill>
        </p:spPr>
        <p:txBody>
          <a:bodyPr vert="horz" wrap="square" lIns="0" tIns="55244" rIns="0" bIns="0" rtlCol="0">
            <a:spAutoFit/>
          </a:bodyPr>
          <a:lstStyle/>
          <a:p>
            <a:pPr marL="408305">
              <a:lnSpc>
                <a:spcPct val="100000"/>
              </a:lnSpc>
              <a:spcBef>
                <a:spcPts val="435"/>
              </a:spcBef>
            </a:pPr>
            <a:r>
              <a:rPr sz="1800" b="1" i="1" dirty="0">
                <a:latin typeface="Courier New" panose="02070309020205020404"/>
                <a:cs typeface="Courier New" panose="02070309020205020404"/>
              </a:rPr>
              <a:t>InterfaceB</a:t>
            </a:r>
            <a:endParaRPr sz="1800">
              <a:latin typeface="Courier New" panose="02070309020205020404"/>
              <a:cs typeface="Courier New" panose="02070309020205020404"/>
            </a:endParaRPr>
          </a:p>
        </p:txBody>
      </p:sp>
      <p:sp>
        <p:nvSpPr>
          <p:cNvPr id="10" name="object 10"/>
          <p:cNvSpPr/>
          <p:nvPr/>
        </p:nvSpPr>
        <p:spPr>
          <a:xfrm>
            <a:off x="8123812" y="3520861"/>
            <a:ext cx="2197735" cy="1905"/>
          </a:xfrm>
          <a:custGeom>
            <a:avLst/>
            <a:gdLst/>
            <a:ahLst/>
            <a:cxnLst/>
            <a:rect l="l" t="t" r="r" b="b"/>
            <a:pathLst>
              <a:path w="2197734" h="1904">
                <a:moveTo>
                  <a:pt x="0" y="0"/>
                </a:moveTo>
                <a:lnTo>
                  <a:pt x="2197361" y="1480"/>
                </a:lnTo>
              </a:path>
            </a:pathLst>
          </a:custGeom>
          <a:ln w="19049">
            <a:solidFill>
              <a:srgbClr val="B6192B"/>
            </a:solidFill>
          </a:ln>
        </p:spPr>
        <p:txBody>
          <a:bodyPr wrap="square" lIns="0" tIns="0" rIns="0" bIns="0" rtlCol="0"/>
          <a:lstStyle/>
          <a:p>
            <a:endParaRPr/>
          </a:p>
        </p:txBody>
      </p:sp>
      <p:sp>
        <p:nvSpPr>
          <p:cNvPr id="11" name="object 11"/>
          <p:cNvSpPr/>
          <p:nvPr/>
        </p:nvSpPr>
        <p:spPr>
          <a:xfrm>
            <a:off x="8128928" y="3583049"/>
            <a:ext cx="2197735" cy="1905"/>
          </a:xfrm>
          <a:custGeom>
            <a:avLst/>
            <a:gdLst/>
            <a:ahLst/>
            <a:cxnLst/>
            <a:rect l="l" t="t" r="r" b="b"/>
            <a:pathLst>
              <a:path w="2197734" h="1904">
                <a:moveTo>
                  <a:pt x="0" y="0"/>
                </a:moveTo>
                <a:lnTo>
                  <a:pt x="2197361" y="1480"/>
                </a:lnTo>
              </a:path>
            </a:pathLst>
          </a:custGeom>
          <a:ln w="19049">
            <a:solidFill>
              <a:srgbClr val="B6192B"/>
            </a:solidFill>
          </a:ln>
        </p:spPr>
        <p:txBody>
          <a:bodyPr wrap="square" lIns="0" tIns="0" rIns="0" bIns="0" rtlCol="0"/>
          <a:lstStyle/>
          <a:p>
            <a:endParaRPr/>
          </a:p>
        </p:txBody>
      </p:sp>
      <p:sp>
        <p:nvSpPr>
          <p:cNvPr id="12" name="object 12"/>
          <p:cNvSpPr txBox="1"/>
          <p:nvPr/>
        </p:nvSpPr>
        <p:spPr>
          <a:xfrm>
            <a:off x="8128222" y="3562277"/>
            <a:ext cx="2183765" cy="358140"/>
          </a:xfrm>
          <a:prstGeom prst="rect">
            <a:avLst/>
          </a:prstGeom>
          <a:solidFill>
            <a:srgbClr val="FFFED5"/>
          </a:solidFill>
        </p:spPr>
        <p:txBody>
          <a:bodyPr vert="horz" wrap="square" lIns="0" tIns="66675" rIns="0" bIns="0" rtlCol="0">
            <a:spAutoFit/>
          </a:bodyPr>
          <a:lstStyle/>
          <a:p>
            <a:pPr marL="64135">
              <a:lnSpc>
                <a:spcPct val="100000"/>
              </a:lnSpc>
              <a:spcBef>
                <a:spcPts val="525"/>
              </a:spcBef>
            </a:pPr>
            <a:r>
              <a:rPr sz="1800" b="1" i="1" dirty="0">
                <a:latin typeface="Courier New" panose="02070309020205020404"/>
                <a:cs typeface="Courier New" panose="02070309020205020404"/>
              </a:rPr>
              <a:t>doMethod(</a:t>
            </a:r>
            <a:r>
              <a:rPr sz="1800" b="1" i="1" spc="-25" dirty="0">
                <a:latin typeface="Courier New" panose="02070309020205020404"/>
                <a:cs typeface="Courier New" panose="02070309020205020404"/>
              </a:rPr>
              <a:t> </a:t>
            </a:r>
            <a:r>
              <a:rPr sz="1800" b="1" i="1" dirty="0">
                <a:latin typeface="Courier New" panose="02070309020205020404"/>
                <a:cs typeface="Courier New" panose="02070309020205020404"/>
              </a:rPr>
              <a:t>)</a:t>
            </a:r>
            <a:endParaRPr sz="1800">
              <a:latin typeface="Courier New" panose="02070309020205020404"/>
              <a:cs typeface="Courier New" panose="02070309020205020404"/>
            </a:endParaRPr>
          </a:p>
        </p:txBody>
      </p:sp>
      <p:sp>
        <p:nvSpPr>
          <p:cNvPr id="13" name="object 13"/>
          <p:cNvSpPr txBox="1"/>
          <p:nvPr/>
        </p:nvSpPr>
        <p:spPr>
          <a:xfrm>
            <a:off x="5326089" y="3141215"/>
            <a:ext cx="2046605" cy="410845"/>
          </a:xfrm>
          <a:prstGeom prst="rect">
            <a:avLst/>
          </a:prstGeom>
          <a:solidFill>
            <a:srgbClr val="FFFED5"/>
          </a:solidFill>
          <a:ln w="19049">
            <a:solidFill>
              <a:srgbClr val="B6192B"/>
            </a:solidFill>
          </a:ln>
        </p:spPr>
        <p:txBody>
          <a:bodyPr vert="horz" wrap="square" lIns="0" tIns="72390" rIns="0" bIns="0" rtlCol="0">
            <a:spAutoFit/>
          </a:bodyPr>
          <a:lstStyle/>
          <a:p>
            <a:pPr marL="614045">
              <a:lnSpc>
                <a:spcPct val="100000"/>
              </a:lnSpc>
              <a:spcBef>
                <a:spcPts val="570"/>
              </a:spcBef>
            </a:pPr>
            <a:r>
              <a:rPr sz="1800" b="1" dirty="0">
                <a:latin typeface="Courier New" panose="02070309020205020404"/>
                <a:cs typeface="Courier New" panose="02070309020205020404"/>
              </a:rPr>
              <a:t>ClassA</a:t>
            </a:r>
            <a:endParaRPr sz="1800">
              <a:latin typeface="Courier New" panose="02070309020205020404"/>
              <a:cs typeface="Courier New" panose="02070309020205020404"/>
            </a:endParaRPr>
          </a:p>
        </p:txBody>
      </p:sp>
      <p:sp>
        <p:nvSpPr>
          <p:cNvPr id="14" name="object 14"/>
          <p:cNvSpPr/>
          <p:nvPr/>
        </p:nvSpPr>
        <p:spPr>
          <a:xfrm>
            <a:off x="7372182" y="3353643"/>
            <a:ext cx="731520" cy="0"/>
          </a:xfrm>
          <a:custGeom>
            <a:avLst/>
            <a:gdLst/>
            <a:ahLst/>
            <a:cxnLst/>
            <a:rect l="l" t="t" r="r" b="b"/>
            <a:pathLst>
              <a:path w="731520">
                <a:moveTo>
                  <a:pt x="0" y="0"/>
                </a:moveTo>
                <a:lnTo>
                  <a:pt x="731238" y="0"/>
                </a:lnTo>
              </a:path>
            </a:pathLst>
          </a:custGeom>
          <a:ln w="19049">
            <a:solidFill>
              <a:srgbClr val="CE1C00"/>
            </a:solidFill>
          </a:ln>
        </p:spPr>
        <p:txBody>
          <a:bodyPr wrap="square" lIns="0" tIns="0" rIns="0" bIns="0" rtlCol="0"/>
          <a:lstStyle/>
          <a:p>
            <a:endParaRPr/>
          </a:p>
        </p:txBody>
      </p:sp>
      <p:sp>
        <p:nvSpPr>
          <p:cNvPr id="15" name="object 15"/>
          <p:cNvSpPr/>
          <p:nvPr/>
        </p:nvSpPr>
        <p:spPr>
          <a:xfrm>
            <a:off x="8012717" y="3294688"/>
            <a:ext cx="115909" cy="11790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8199449" y="4758925"/>
            <a:ext cx="2041525" cy="885825"/>
          </a:xfrm>
          <a:custGeom>
            <a:avLst/>
            <a:gdLst/>
            <a:ahLst/>
            <a:cxnLst/>
            <a:rect l="l" t="t" r="r" b="b"/>
            <a:pathLst>
              <a:path w="2041525" h="885825">
                <a:moveTo>
                  <a:pt x="0" y="0"/>
                </a:moveTo>
                <a:lnTo>
                  <a:pt x="2041349" y="0"/>
                </a:lnTo>
                <a:lnTo>
                  <a:pt x="2041349" y="885249"/>
                </a:lnTo>
                <a:lnTo>
                  <a:pt x="0" y="885249"/>
                </a:lnTo>
                <a:lnTo>
                  <a:pt x="0" y="0"/>
                </a:lnTo>
                <a:close/>
              </a:path>
            </a:pathLst>
          </a:custGeom>
          <a:solidFill>
            <a:srgbClr val="FFFED5"/>
          </a:solidFill>
        </p:spPr>
        <p:txBody>
          <a:bodyPr wrap="square" lIns="0" tIns="0" rIns="0" bIns="0" rtlCol="0"/>
          <a:lstStyle/>
          <a:p>
            <a:endParaRPr/>
          </a:p>
        </p:txBody>
      </p:sp>
      <p:sp>
        <p:nvSpPr>
          <p:cNvPr id="17" name="object 17"/>
          <p:cNvSpPr/>
          <p:nvPr/>
        </p:nvSpPr>
        <p:spPr>
          <a:xfrm>
            <a:off x="8199449" y="4758925"/>
            <a:ext cx="2041525" cy="885825"/>
          </a:xfrm>
          <a:custGeom>
            <a:avLst/>
            <a:gdLst/>
            <a:ahLst/>
            <a:cxnLst/>
            <a:rect l="l" t="t" r="r" b="b"/>
            <a:pathLst>
              <a:path w="2041525" h="885825">
                <a:moveTo>
                  <a:pt x="0" y="0"/>
                </a:moveTo>
                <a:lnTo>
                  <a:pt x="2041350" y="0"/>
                </a:lnTo>
                <a:lnTo>
                  <a:pt x="2041350" y="885249"/>
                </a:lnTo>
                <a:lnTo>
                  <a:pt x="0" y="885249"/>
                </a:lnTo>
                <a:lnTo>
                  <a:pt x="0" y="0"/>
                </a:lnTo>
                <a:close/>
              </a:path>
            </a:pathLst>
          </a:custGeom>
          <a:ln w="19049">
            <a:solidFill>
              <a:srgbClr val="B6192B"/>
            </a:solidFill>
          </a:ln>
        </p:spPr>
        <p:txBody>
          <a:bodyPr wrap="square" lIns="0" tIns="0" rIns="0" bIns="0" rtlCol="0"/>
          <a:lstStyle/>
          <a:p>
            <a:endParaRPr/>
          </a:p>
        </p:txBody>
      </p:sp>
      <p:sp>
        <p:nvSpPr>
          <p:cNvPr id="18" name="object 18"/>
          <p:cNvSpPr txBox="1"/>
          <p:nvPr/>
        </p:nvSpPr>
        <p:spPr>
          <a:xfrm>
            <a:off x="8199449" y="4814804"/>
            <a:ext cx="2041525" cy="299720"/>
          </a:xfrm>
          <a:prstGeom prst="rect">
            <a:avLst/>
          </a:prstGeom>
        </p:spPr>
        <p:txBody>
          <a:bodyPr vert="horz" wrap="square" lIns="0" tIns="12700" rIns="0" bIns="0" rtlCol="0">
            <a:spAutoFit/>
          </a:bodyPr>
          <a:lstStyle/>
          <a:p>
            <a:pPr marL="611505">
              <a:lnSpc>
                <a:spcPct val="100000"/>
              </a:lnSpc>
              <a:spcBef>
                <a:spcPts val="100"/>
              </a:spcBef>
            </a:pPr>
            <a:r>
              <a:rPr sz="1800" b="1" dirty="0">
                <a:latin typeface="Courier New" panose="02070309020205020404"/>
                <a:cs typeface="Courier New" panose="02070309020205020404"/>
              </a:rPr>
              <a:t>ClassB</a:t>
            </a:r>
            <a:endParaRPr sz="1800">
              <a:latin typeface="Courier New" panose="02070309020205020404"/>
              <a:cs typeface="Courier New" panose="02070309020205020404"/>
            </a:endParaRPr>
          </a:p>
        </p:txBody>
      </p:sp>
      <p:sp>
        <p:nvSpPr>
          <p:cNvPr id="19" name="object 19"/>
          <p:cNvSpPr/>
          <p:nvPr/>
        </p:nvSpPr>
        <p:spPr>
          <a:xfrm>
            <a:off x="8204189" y="5171507"/>
            <a:ext cx="2037080" cy="2540"/>
          </a:xfrm>
          <a:custGeom>
            <a:avLst/>
            <a:gdLst/>
            <a:ahLst/>
            <a:cxnLst/>
            <a:rect l="l" t="t" r="r" b="b"/>
            <a:pathLst>
              <a:path w="2037079" h="2539">
                <a:moveTo>
                  <a:pt x="0" y="0"/>
                </a:moveTo>
                <a:lnTo>
                  <a:pt x="2036608" y="2002"/>
                </a:lnTo>
              </a:path>
            </a:pathLst>
          </a:custGeom>
          <a:ln w="19049">
            <a:solidFill>
              <a:srgbClr val="B6192B"/>
            </a:solidFill>
          </a:ln>
        </p:spPr>
        <p:txBody>
          <a:bodyPr wrap="square" lIns="0" tIns="0" rIns="0" bIns="0" rtlCol="0"/>
          <a:lstStyle/>
          <a:p>
            <a:endParaRPr/>
          </a:p>
        </p:txBody>
      </p:sp>
      <p:sp>
        <p:nvSpPr>
          <p:cNvPr id="20" name="object 20"/>
          <p:cNvSpPr/>
          <p:nvPr/>
        </p:nvSpPr>
        <p:spPr>
          <a:xfrm>
            <a:off x="8208931" y="5229589"/>
            <a:ext cx="2037080" cy="2540"/>
          </a:xfrm>
          <a:custGeom>
            <a:avLst/>
            <a:gdLst/>
            <a:ahLst/>
            <a:cxnLst/>
            <a:rect l="l" t="t" r="r" b="b"/>
            <a:pathLst>
              <a:path w="2037079" h="2539">
                <a:moveTo>
                  <a:pt x="0" y="0"/>
                </a:moveTo>
                <a:lnTo>
                  <a:pt x="2036608" y="2002"/>
                </a:lnTo>
              </a:path>
            </a:pathLst>
          </a:custGeom>
          <a:ln w="19049">
            <a:solidFill>
              <a:srgbClr val="B6192B"/>
            </a:solidFill>
          </a:ln>
        </p:spPr>
        <p:txBody>
          <a:bodyPr wrap="square" lIns="0" tIns="0" rIns="0" bIns="0" rtlCol="0"/>
          <a:lstStyle/>
          <a:p>
            <a:endParaRPr/>
          </a:p>
        </p:txBody>
      </p:sp>
      <p:sp>
        <p:nvSpPr>
          <p:cNvPr id="21" name="object 21"/>
          <p:cNvSpPr txBox="1"/>
          <p:nvPr/>
        </p:nvSpPr>
        <p:spPr>
          <a:xfrm>
            <a:off x="8199449" y="5215551"/>
            <a:ext cx="2041525" cy="423545"/>
          </a:xfrm>
          <a:prstGeom prst="rect">
            <a:avLst/>
          </a:prstGeom>
          <a:solidFill>
            <a:srgbClr val="FFFED5"/>
          </a:solidFill>
        </p:spPr>
        <p:txBody>
          <a:bodyPr vert="horz" wrap="square" lIns="0" tIns="90805" rIns="0" bIns="0" rtlCol="0">
            <a:spAutoFit/>
          </a:bodyPr>
          <a:lstStyle/>
          <a:p>
            <a:pPr marL="68580">
              <a:lnSpc>
                <a:spcPct val="100000"/>
              </a:lnSpc>
              <a:spcBef>
                <a:spcPts val="715"/>
              </a:spcBef>
            </a:pPr>
            <a:r>
              <a:rPr sz="1800" b="1" dirty="0">
                <a:latin typeface="Courier New" panose="02070309020205020404"/>
                <a:cs typeface="Courier New" panose="02070309020205020404"/>
              </a:rPr>
              <a:t>doMethod(</a:t>
            </a:r>
            <a:r>
              <a:rPr sz="1800" b="1" spc="-30" dirty="0">
                <a:latin typeface="Courier New" panose="02070309020205020404"/>
                <a:cs typeface="Courier New" panose="02070309020205020404"/>
              </a:rPr>
              <a:t> </a:t>
            </a:r>
            <a:r>
              <a:rPr sz="1800" b="1" dirty="0">
                <a:latin typeface="Courier New" panose="02070309020205020404"/>
                <a:cs typeface="Courier New" panose="02070309020205020404"/>
              </a:rPr>
              <a:t>)</a:t>
            </a:r>
            <a:endParaRPr sz="1800">
              <a:latin typeface="Courier New" panose="02070309020205020404"/>
              <a:cs typeface="Courier New" panose="02070309020205020404"/>
            </a:endParaRPr>
          </a:p>
        </p:txBody>
      </p:sp>
      <p:sp>
        <p:nvSpPr>
          <p:cNvPr id="22" name="object 22"/>
          <p:cNvSpPr/>
          <p:nvPr/>
        </p:nvSpPr>
        <p:spPr>
          <a:xfrm>
            <a:off x="9220123" y="4158115"/>
            <a:ext cx="2540" cy="601345"/>
          </a:xfrm>
          <a:custGeom>
            <a:avLst/>
            <a:gdLst/>
            <a:ahLst/>
            <a:cxnLst/>
            <a:rect l="l" t="t" r="r" b="b"/>
            <a:pathLst>
              <a:path w="2540" h="601345">
                <a:moveTo>
                  <a:pt x="0" y="600809"/>
                </a:moveTo>
                <a:lnTo>
                  <a:pt x="2369" y="0"/>
                </a:lnTo>
              </a:path>
            </a:pathLst>
          </a:custGeom>
          <a:ln w="19049">
            <a:solidFill>
              <a:srgbClr val="CE1C00"/>
            </a:solidFill>
          </a:ln>
        </p:spPr>
        <p:txBody>
          <a:bodyPr wrap="square" lIns="0" tIns="0" rIns="0" bIns="0" rtlCol="0"/>
          <a:lstStyle/>
          <a:p>
            <a:endParaRPr/>
          </a:p>
        </p:txBody>
      </p:sp>
      <p:sp>
        <p:nvSpPr>
          <p:cNvPr id="23" name="object 23"/>
          <p:cNvSpPr/>
          <p:nvPr/>
        </p:nvSpPr>
        <p:spPr>
          <a:xfrm>
            <a:off x="9056598" y="3932527"/>
            <a:ext cx="327660" cy="189230"/>
          </a:xfrm>
          <a:custGeom>
            <a:avLst/>
            <a:gdLst/>
            <a:ahLst/>
            <a:cxnLst/>
            <a:rect l="l" t="t" r="r" b="b"/>
            <a:pathLst>
              <a:path w="327659" h="189229">
                <a:moveTo>
                  <a:pt x="163525" y="0"/>
                </a:moveTo>
                <a:lnTo>
                  <a:pt x="0" y="188912"/>
                </a:lnTo>
                <a:lnTo>
                  <a:pt x="327049" y="188912"/>
                </a:lnTo>
                <a:lnTo>
                  <a:pt x="163525" y="0"/>
                </a:lnTo>
                <a:close/>
              </a:path>
            </a:pathLst>
          </a:custGeom>
          <a:solidFill>
            <a:srgbClr val="FFFED5"/>
          </a:solidFill>
        </p:spPr>
        <p:txBody>
          <a:bodyPr wrap="square" lIns="0" tIns="0" rIns="0" bIns="0" rtlCol="0"/>
          <a:lstStyle/>
          <a:p>
            <a:endParaRPr/>
          </a:p>
        </p:txBody>
      </p:sp>
      <p:sp>
        <p:nvSpPr>
          <p:cNvPr id="24" name="object 24"/>
          <p:cNvSpPr/>
          <p:nvPr/>
        </p:nvSpPr>
        <p:spPr>
          <a:xfrm>
            <a:off x="9056598" y="3932527"/>
            <a:ext cx="327660" cy="189230"/>
          </a:xfrm>
          <a:custGeom>
            <a:avLst/>
            <a:gdLst/>
            <a:ahLst/>
            <a:cxnLst/>
            <a:rect l="l" t="t" r="r" b="b"/>
            <a:pathLst>
              <a:path w="327659" h="189229">
                <a:moveTo>
                  <a:pt x="0" y="188911"/>
                </a:moveTo>
                <a:lnTo>
                  <a:pt x="163524" y="0"/>
                </a:lnTo>
                <a:lnTo>
                  <a:pt x="327048" y="188911"/>
                </a:lnTo>
                <a:lnTo>
                  <a:pt x="0" y="188911"/>
                </a:lnTo>
                <a:close/>
              </a:path>
            </a:pathLst>
          </a:custGeom>
          <a:ln w="19049">
            <a:solidFill>
              <a:srgbClr val="B6192B"/>
            </a:solidFill>
          </a:ln>
        </p:spPr>
        <p:txBody>
          <a:bodyPr wrap="square" lIns="0" tIns="0" rIns="0" bIns="0" rtlCol="0"/>
          <a:lstStyle/>
          <a:p>
            <a:endParaRPr/>
          </a:p>
        </p:txBody>
      </p:sp>
      <p:sp>
        <p:nvSpPr>
          <p:cNvPr id="25" name="object 25"/>
          <p:cNvSpPr/>
          <p:nvPr/>
        </p:nvSpPr>
        <p:spPr>
          <a:xfrm>
            <a:off x="5194726" y="4748380"/>
            <a:ext cx="2041525" cy="885825"/>
          </a:xfrm>
          <a:custGeom>
            <a:avLst/>
            <a:gdLst/>
            <a:ahLst/>
            <a:cxnLst/>
            <a:rect l="l" t="t" r="r" b="b"/>
            <a:pathLst>
              <a:path w="2041525" h="885825">
                <a:moveTo>
                  <a:pt x="0" y="0"/>
                </a:moveTo>
                <a:lnTo>
                  <a:pt x="2041349" y="0"/>
                </a:lnTo>
                <a:lnTo>
                  <a:pt x="2041349" y="885250"/>
                </a:lnTo>
                <a:lnTo>
                  <a:pt x="0" y="885250"/>
                </a:lnTo>
                <a:lnTo>
                  <a:pt x="0" y="0"/>
                </a:lnTo>
                <a:close/>
              </a:path>
            </a:pathLst>
          </a:custGeom>
          <a:solidFill>
            <a:srgbClr val="FFFED5"/>
          </a:solidFill>
        </p:spPr>
        <p:txBody>
          <a:bodyPr wrap="square" lIns="0" tIns="0" rIns="0" bIns="0" rtlCol="0"/>
          <a:lstStyle/>
          <a:p>
            <a:endParaRPr/>
          </a:p>
        </p:txBody>
      </p:sp>
      <p:sp>
        <p:nvSpPr>
          <p:cNvPr id="26" name="object 26"/>
          <p:cNvSpPr/>
          <p:nvPr/>
        </p:nvSpPr>
        <p:spPr>
          <a:xfrm>
            <a:off x="5194726" y="4748380"/>
            <a:ext cx="2041525" cy="885825"/>
          </a:xfrm>
          <a:custGeom>
            <a:avLst/>
            <a:gdLst/>
            <a:ahLst/>
            <a:cxnLst/>
            <a:rect l="l" t="t" r="r" b="b"/>
            <a:pathLst>
              <a:path w="2041525" h="885825">
                <a:moveTo>
                  <a:pt x="0" y="0"/>
                </a:moveTo>
                <a:lnTo>
                  <a:pt x="2041350" y="0"/>
                </a:lnTo>
                <a:lnTo>
                  <a:pt x="2041350" y="885249"/>
                </a:lnTo>
                <a:lnTo>
                  <a:pt x="0" y="885249"/>
                </a:lnTo>
                <a:lnTo>
                  <a:pt x="0" y="0"/>
                </a:lnTo>
                <a:close/>
              </a:path>
            </a:pathLst>
          </a:custGeom>
          <a:ln w="19049">
            <a:solidFill>
              <a:srgbClr val="B6192B"/>
            </a:solidFill>
          </a:ln>
        </p:spPr>
        <p:txBody>
          <a:bodyPr wrap="square" lIns="0" tIns="0" rIns="0" bIns="0" rtlCol="0"/>
          <a:lstStyle/>
          <a:p>
            <a:endParaRPr/>
          </a:p>
        </p:txBody>
      </p:sp>
      <p:sp>
        <p:nvSpPr>
          <p:cNvPr id="27" name="object 27"/>
          <p:cNvSpPr txBox="1"/>
          <p:nvPr/>
        </p:nvSpPr>
        <p:spPr>
          <a:xfrm>
            <a:off x="5204251" y="4763177"/>
            <a:ext cx="2022475" cy="422909"/>
          </a:xfrm>
          <a:prstGeom prst="rect">
            <a:avLst/>
          </a:prstGeom>
          <a:solidFill>
            <a:srgbClr val="FFFED5"/>
          </a:solidFill>
        </p:spPr>
        <p:txBody>
          <a:bodyPr vert="horz" wrap="square" lIns="0" tIns="53340" rIns="0" bIns="0" rtlCol="0">
            <a:spAutoFit/>
          </a:bodyPr>
          <a:lstStyle/>
          <a:p>
            <a:pPr marL="5080" algn="ctr">
              <a:lnSpc>
                <a:spcPct val="100000"/>
              </a:lnSpc>
              <a:spcBef>
                <a:spcPts val="420"/>
              </a:spcBef>
            </a:pPr>
            <a:r>
              <a:rPr sz="1800" b="1" spc="-5" dirty="0">
                <a:latin typeface="Courier New" panose="02070309020205020404"/>
                <a:cs typeface="Courier New" panose="02070309020205020404"/>
              </a:rPr>
              <a:t>Mock</a:t>
            </a:r>
            <a:endParaRPr sz="1800">
              <a:latin typeface="Courier New" panose="02070309020205020404"/>
              <a:cs typeface="Courier New" panose="02070309020205020404"/>
            </a:endParaRPr>
          </a:p>
        </p:txBody>
      </p:sp>
      <p:sp>
        <p:nvSpPr>
          <p:cNvPr id="28" name="object 28"/>
          <p:cNvSpPr/>
          <p:nvPr/>
        </p:nvSpPr>
        <p:spPr>
          <a:xfrm>
            <a:off x="5199469" y="5160963"/>
            <a:ext cx="2037080" cy="2540"/>
          </a:xfrm>
          <a:custGeom>
            <a:avLst/>
            <a:gdLst/>
            <a:ahLst/>
            <a:cxnLst/>
            <a:rect l="l" t="t" r="r" b="b"/>
            <a:pathLst>
              <a:path w="2037079" h="2539">
                <a:moveTo>
                  <a:pt x="0" y="0"/>
                </a:moveTo>
                <a:lnTo>
                  <a:pt x="2036608" y="2002"/>
                </a:lnTo>
              </a:path>
            </a:pathLst>
          </a:custGeom>
          <a:ln w="19049">
            <a:solidFill>
              <a:srgbClr val="B6192B"/>
            </a:solidFill>
          </a:ln>
        </p:spPr>
        <p:txBody>
          <a:bodyPr wrap="square" lIns="0" tIns="0" rIns="0" bIns="0" rtlCol="0"/>
          <a:lstStyle/>
          <a:p>
            <a:endParaRPr/>
          </a:p>
        </p:txBody>
      </p:sp>
      <p:sp>
        <p:nvSpPr>
          <p:cNvPr id="29" name="object 29"/>
          <p:cNvSpPr/>
          <p:nvPr/>
        </p:nvSpPr>
        <p:spPr>
          <a:xfrm>
            <a:off x="5204211" y="5219044"/>
            <a:ext cx="2037080" cy="2540"/>
          </a:xfrm>
          <a:custGeom>
            <a:avLst/>
            <a:gdLst/>
            <a:ahLst/>
            <a:cxnLst/>
            <a:rect l="l" t="t" r="r" b="b"/>
            <a:pathLst>
              <a:path w="2037079" h="2539">
                <a:moveTo>
                  <a:pt x="0" y="0"/>
                </a:moveTo>
                <a:lnTo>
                  <a:pt x="2036608" y="2002"/>
                </a:lnTo>
              </a:path>
            </a:pathLst>
          </a:custGeom>
          <a:ln w="19049">
            <a:solidFill>
              <a:srgbClr val="B6192B"/>
            </a:solidFill>
          </a:ln>
        </p:spPr>
        <p:txBody>
          <a:bodyPr wrap="square" lIns="0" tIns="0" rIns="0" bIns="0" rtlCol="0"/>
          <a:lstStyle/>
          <a:p>
            <a:endParaRPr/>
          </a:p>
        </p:txBody>
      </p:sp>
      <p:sp>
        <p:nvSpPr>
          <p:cNvPr id="30" name="object 30"/>
          <p:cNvSpPr txBox="1"/>
          <p:nvPr/>
        </p:nvSpPr>
        <p:spPr>
          <a:xfrm>
            <a:off x="5204251" y="5206804"/>
            <a:ext cx="2022475" cy="422909"/>
          </a:xfrm>
          <a:prstGeom prst="rect">
            <a:avLst/>
          </a:prstGeom>
          <a:solidFill>
            <a:srgbClr val="FFFED5"/>
          </a:solidFill>
        </p:spPr>
        <p:txBody>
          <a:bodyPr vert="horz" wrap="square" lIns="0" tIns="88900" rIns="0" bIns="0" rtlCol="0">
            <a:spAutoFit/>
          </a:bodyPr>
          <a:lstStyle/>
          <a:p>
            <a:pPr marL="59055">
              <a:lnSpc>
                <a:spcPct val="100000"/>
              </a:lnSpc>
              <a:spcBef>
                <a:spcPts val="700"/>
              </a:spcBef>
            </a:pPr>
            <a:r>
              <a:rPr sz="1800" b="1" dirty="0">
                <a:latin typeface="Courier New" panose="02070309020205020404"/>
                <a:cs typeface="Courier New" panose="02070309020205020404"/>
              </a:rPr>
              <a:t>doMethod(</a:t>
            </a:r>
            <a:r>
              <a:rPr sz="1800" b="1" spc="-30" dirty="0">
                <a:latin typeface="Courier New" panose="02070309020205020404"/>
                <a:cs typeface="Courier New" panose="02070309020205020404"/>
              </a:rPr>
              <a:t> </a:t>
            </a:r>
            <a:r>
              <a:rPr sz="1800" b="1" dirty="0">
                <a:latin typeface="Courier New" panose="02070309020205020404"/>
                <a:cs typeface="Courier New" panose="02070309020205020404"/>
              </a:rPr>
              <a:t>)</a:t>
            </a:r>
            <a:endParaRPr sz="1800">
              <a:latin typeface="Courier New" panose="02070309020205020404"/>
              <a:cs typeface="Courier New" panose="02070309020205020404"/>
            </a:endParaRPr>
          </a:p>
        </p:txBody>
      </p:sp>
      <p:sp>
        <p:nvSpPr>
          <p:cNvPr id="31" name="object 31"/>
          <p:cNvSpPr/>
          <p:nvPr/>
        </p:nvSpPr>
        <p:spPr>
          <a:xfrm>
            <a:off x="7236077" y="4239661"/>
            <a:ext cx="1984375" cy="951865"/>
          </a:xfrm>
          <a:custGeom>
            <a:avLst/>
            <a:gdLst/>
            <a:ahLst/>
            <a:cxnLst/>
            <a:rect l="l" t="t" r="r" b="b"/>
            <a:pathLst>
              <a:path w="1984375" h="951864">
                <a:moveTo>
                  <a:pt x="0" y="951343"/>
                </a:moveTo>
                <a:lnTo>
                  <a:pt x="437243" y="951343"/>
                </a:lnTo>
                <a:lnTo>
                  <a:pt x="437243" y="0"/>
                </a:lnTo>
                <a:lnTo>
                  <a:pt x="1984045" y="0"/>
                </a:lnTo>
              </a:path>
            </a:pathLst>
          </a:custGeom>
          <a:ln w="19049">
            <a:solidFill>
              <a:srgbClr val="CE1C00"/>
            </a:solidFill>
          </a:ln>
        </p:spPr>
        <p:txBody>
          <a:bodyPr wrap="square" lIns="0" tIns="0" rIns="0" bIns="0" rtlCol="0"/>
          <a:lstStyle/>
          <a:p>
            <a:endParaRPr/>
          </a:p>
        </p:txBody>
      </p:sp>
      <p:sp>
        <p:nvSpPr>
          <p:cNvPr id="32" name="object 32"/>
          <p:cNvSpPr/>
          <p:nvPr/>
        </p:nvSpPr>
        <p:spPr>
          <a:xfrm>
            <a:off x="7789336" y="4419600"/>
            <a:ext cx="2850515" cy="1558290"/>
          </a:xfrm>
          <a:custGeom>
            <a:avLst/>
            <a:gdLst/>
            <a:ahLst/>
            <a:cxnLst/>
            <a:rect l="l" t="t" r="r" b="b"/>
            <a:pathLst>
              <a:path w="2850515" h="1558289">
                <a:moveTo>
                  <a:pt x="1425093" y="0"/>
                </a:moveTo>
                <a:lnTo>
                  <a:pt x="1363275" y="719"/>
                </a:lnTo>
                <a:lnTo>
                  <a:pt x="1302131" y="2859"/>
                </a:lnTo>
                <a:lnTo>
                  <a:pt x="1241712" y="6389"/>
                </a:lnTo>
                <a:lnTo>
                  <a:pt x="1182072" y="11280"/>
                </a:lnTo>
                <a:lnTo>
                  <a:pt x="1123266" y="17504"/>
                </a:lnTo>
                <a:lnTo>
                  <a:pt x="1065347" y="25030"/>
                </a:lnTo>
                <a:lnTo>
                  <a:pt x="1008367" y="33831"/>
                </a:lnTo>
                <a:lnTo>
                  <a:pt x="952381" y="43875"/>
                </a:lnTo>
                <a:lnTo>
                  <a:pt x="897442" y="55135"/>
                </a:lnTo>
                <a:lnTo>
                  <a:pt x="843604" y="67581"/>
                </a:lnTo>
                <a:lnTo>
                  <a:pt x="790919" y="81184"/>
                </a:lnTo>
                <a:lnTo>
                  <a:pt x="739442" y="95914"/>
                </a:lnTo>
                <a:lnTo>
                  <a:pt x="689225" y="111743"/>
                </a:lnTo>
                <a:lnTo>
                  <a:pt x="640323" y="128641"/>
                </a:lnTo>
                <a:lnTo>
                  <a:pt x="592789" y="146578"/>
                </a:lnTo>
                <a:lnTo>
                  <a:pt x="546676" y="165527"/>
                </a:lnTo>
                <a:lnTo>
                  <a:pt x="502038" y="185457"/>
                </a:lnTo>
                <a:lnTo>
                  <a:pt x="458928" y="206338"/>
                </a:lnTo>
                <a:lnTo>
                  <a:pt x="417399" y="228143"/>
                </a:lnTo>
                <a:lnTo>
                  <a:pt x="377506" y="250842"/>
                </a:lnTo>
                <a:lnTo>
                  <a:pt x="339302" y="274405"/>
                </a:lnTo>
                <a:lnTo>
                  <a:pt x="302839" y="298804"/>
                </a:lnTo>
                <a:lnTo>
                  <a:pt x="268173" y="324008"/>
                </a:lnTo>
                <a:lnTo>
                  <a:pt x="235355" y="349990"/>
                </a:lnTo>
                <a:lnTo>
                  <a:pt x="204439" y="376719"/>
                </a:lnTo>
                <a:lnTo>
                  <a:pt x="175480" y="404166"/>
                </a:lnTo>
                <a:lnTo>
                  <a:pt x="148530" y="432303"/>
                </a:lnTo>
                <a:lnTo>
                  <a:pt x="100873" y="490527"/>
                </a:lnTo>
                <a:lnTo>
                  <a:pt x="61895" y="551157"/>
                </a:lnTo>
                <a:lnTo>
                  <a:pt x="32024" y="613959"/>
                </a:lnTo>
                <a:lnTo>
                  <a:pt x="11689" y="678699"/>
                </a:lnTo>
                <a:lnTo>
                  <a:pt x="1316" y="745144"/>
                </a:lnTo>
                <a:lnTo>
                  <a:pt x="0" y="778932"/>
                </a:lnTo>
                <a:lnTo>
                  <a:pt x="1316" y="812721"/>
                </a:lnTo>
                <a:lnTo>
                  <a:pt x="11689" y="879166"/>
                </a:lnTo>
                <a:lnTo>
                  <a:pt x="32024" y="943906"/>
                </a:lnTo>
                <a:lnTo>
                  <a:pt x="61895" y="1006708"/>
                </a:lnTo>
                <a:lnTo>
                  <a:pt x="100873" y="1067337"/>
                </a:lnTo>
                <a:lnTo>
                  <a:pt x="148530" y="1125561"/>
                </a:lnTo>
                <a:lnTo>
                  <a:pt x="175480" y="1153698"/>
                </a:lnTo>
                <a:lnTo>
                  <a:pt x="204439" y="1181145"/>
                </a:lnTo>
                <a:lnTo>
                  <a:pt x="235355" y="1207874"/>
                </a:lnTo>
                <a:lnTo>
                  <a:pt x="268173" y="1233856"/>
                </a:lnTo>
                <a:lnTo>
                  <a:pt x="302839" y="1259060"/>
                </a:lnTo>
                <a:lnTo>
                  <a:pt x="339302" y="1283459"/>
                </a:lnTo>
                <a:lnTo>
                  <a:pt x="377506" y="1307022"/>
                </a:lnTo>
                <a:lnTo>
                  <a:pt x="417399" y="1329721"/>
                </a:lnTo>
                <a:lnTo>
                  <a:pt x="458928" y="1351526"/>
                </a:lnTo>
                <a:lnTo>
                  <a:pt x="502038" y="1372408"/>
                </a:lnTo>
                <a:lnTo>
                  <a:pt x="546676" y="1392337"/>
                </a:lnTo>
                <a:lnTo>
                  <a:pt x="592789" y="1411286"/>
                </a:lnTo>
                <a:lnTo>
                  <a:pt x="640323" y="1429223"/>
                </a:lnTo>
                <a:lnTo>
                  <a:pt x="689225" y="1446121"/>
                </a:lnTo>
                <a:lnTo>
                  <a:pt x="739442" y="1461950"/>
                </a:lnTo>
                <a:lnTo>
                  <a:pt x="790919" y="1476680"/>
                </a:lnTo>
                <a:lnTo>
                  <a:pt x="843604" y="1490283"/>
                </a:lnTo>
                <a:lnTo>
                  <a:pt x="897442" y="1502729"/>
                </a:lnTo>
                <a:lnTo>
                  <a:pt x="952381" y="1513989"/>
                </a:lnTo>
                <a:lnTo>
                  <a:pt x="1008367" y="1524034"/>
                </a:lnTo>
                <a:lnTo>
                  <a:pt x="1065347" y="1532834"/>
                </a:lnTo>
                <a:lnTo>
                  <a:pt x="1123266" y="1540360"/>
                </a:lnTo>
                <a:lnTo>
                  <a:pt x="1182072" y="1546584"/>
                </a:lnTo>
                <a:lnTo>
                  <a:pt x="1241712" y="1551475"/>
                </a:lnTo>
                <a:lnTo>
                  <a:pt x="1302131" y="1555006"/>
                </a:lnTo>
                <a:lnTo>
                  <a:pt x="1363275" y="1557145"/>
                </a:lnTo>
                <a:lnTo>
                  <a:pt x="1425093" y="1557865"/>
                </a:lnTo>
                <a:lnTo>
                  <a:pt x="1486911" y="1557145"/>
                </a:lnTo>
                <a:lnTo>
                  <a:pt x="1548056" y="1555006"/>
                </a:lnTo>
                <a:lnTo>
                  <a:pt x="1608474" y="1551475"/>
                </a:lnTo>
                <a:lnTo>
                  <a:pt x="1668114" y="1546584"/>
                </a:lnTo>
                <a:lnTo>
                  <a:pt x="1726920" y="1540360"/>
                </a:lnTo>
                <a:lnTo>
                  <a:pt x="1784839" y="1532834"/>
                </a:lnTo>
                <a:lnTo>
                  <a:pt x="1841819" y="1524034"/>
                </a:lnTo>
                <a:lnTo>
                  <a:pt x="1897805" y="1513989"/>
                </a:lnTo>
                <a:lnTo>
                  <a:pt x="1952744" y="1502729"/>
                </a:lnTo>
                <a:lnTo>
                  <a:pt x="2006582" y="1490283"/>
                </a:lnTo>
                <a:lnTo>
                  <a:pt x="2059267" y="1476680"/>
                </a:lnTo>
                <a:lnTo>
                  <a:pt x="2110744" y="1461950"/>
                </a:lnTo>
                <a:lnTo>
                  <a:pt x="2160960" y="1446121"/>
                </a:lnTo>
                <a:lnTo>
                  <a:pt x="2209863" y="1429223"/>
                </a:lnTo>
                <a:lnTo>
                  <a:pt x="2257397" y="1411286"/>
                </a:lnTo>
                <a:lnTo>
                  <a:pt x="2303510" y="1392337"/>
                </a:lnTo>
                <a:lnTo>
                  <a:pt x="2348148" y="1372408"/>
                </a:lnTo>
                <a:lnTo>
                  <a:pt x="2391258" y="1351526"/>
                </a:lnTo>
                <a:lnTo>
                  <a:pt x="2432786" y="1329721"/>
                </a:lnTo>
                <a:lnTo>
                  <a:pt x="2472680" y="1307022"/>
                </a:lnTo>
                <a:lnTo>
                  <a:pt x="2510884" y="1283459"/>
                </a:lnTo>
                <a:lnTo>
                  <a:pt x="2547347" y="1259060"/>
                </a:lnTo>
                <a:lnTo>
                  <a:pt x="2582013" y="1233856"/>
                </a:lnTo>
                <a:lnTo>
                  <a:pt x="2614831" y="1207874"/>
                </a:lnTo>
                <a:lnTo>
                  <a:pt x="2645747" y="1181145"/>
                </a:lnTo>
                <a:lnTo>
                  <a:pt x="2674706" y="1153698"/>
                </a:lnTo>
                <a:lnTo>
                  <a:pt x="2701656" y="1125561"/>
                </a:lnTo>
                <a:lnTo>
                  <a:pt x="2749313" y="1067337"/>
                </a:lnTo>
                <a:lnTo>
                  <a:pt x="2788291" y="1006708"/>
                </a:lnTo>
                <a:lnTo>
                  <a:pt x="2818162" y="943906"/>
                </a:lnTo>
                <a:lnTo>
                  <a:pt x="2838497" y="879166"/>
                </a:lnTo>
                <a:lnTo>
                  <a:pt x="2848870" y="812721"/>
                </a:lnTo>
                <a:lnTo>
                  <a:pt x="2850187" y="778932"/>
                </a:lnTo>
                <a:lnTo>
                  <a:pt x="2848870" y="745144"/>
                </a:lnTo>
                <a:lnTo>
                  <a:pt x="2838497" y="678699"/>
                </a:lnTo>
                <a:lnTo>
                  <a:pt x="2818162" y="613959"/>
                </a:lnTo>
                <a:lnTo>
                  <a:pt x="2788291" y="551157"/>
                </a:lnTo>
                <a:lnTo>
                  <a:pt x="2749313" y="490527"/>
                </a:lnTo>
                <a:lnTo>
                  <a:pt x="2701656" y="432303"/>
                </a:lnTo>
                <a:lnTo>
                  <a:pt x="2674706" y="404166"/>
                </a:lnTo>
                <a:lnTo>
                  <a:pt x="2645747" y="376719"/>
                </a:lnTo>
                <a:lnTo>
                  <a:pt x="2614831" y="349990"/>
                </a:lnTo>
                <a:lnTo>
                  <a:pt x="2582013" y="324008"/>
                </a:lnTo>
                <a:lnTo>
                  <a:pt x="2547347" y="298804"/>
                </a:lnTo>
                <a:lnTo>
                  <a:pt x="2510884" y="274405"/>
                </a:lnTo>
                <a:lnTo>
                  <a:pt x="2472680" y="250842"/>
                </a:lnTo>
                <a:lnTo>
                  <a:pt x="2432786" y="228143"/>
                </a:lnTo>
                <a:lnTo>
                  <a:pt x="2391258" y="206338"/>
                </a:lnTo>
                <a:lnTo>
                  <a:pt x="2348148" y="185457"/>
                </a:lnTo>
                <a:lnTo>
                  <a:pt x="2303510" y="165527"/>
                </a:lnTo>
                <a:lnTo>
                  <a:pt x="2257397" y="146578"/>
                </a:lnTo>
                <a:lnTo>
                  <a:pt x="2209863" y="128641"/>
                </a:lnTo>
                <a:lnTo>
                  <a:pt x="2160960" y="111743"/>
                </a:lnTo>
                <a:lnTo>
                  <a:pt x="2110744" y="95914"/>
                </a:lnTo>
                <a:lnTo>
                  <a:pt x="2059267" y="81184"/>
                </a:lnTo>
                <a:lnTo>
                  <a:pt x="2006582" y="67581"/>
                </a:lnTo>
                <a:lnTo>
                  <a:pt x="1952744" y="55135"/>
                </a:lnTo>
                <a:lnTo>
                  <a:pt x="1897805" y="43875"/>
                </a:lnTo>
                <a:lnTo>
                  <a:pt x="1841819" y="33831"/>
                </a:lnTo>
                <a:lnTo>
                  <a:pt x="1784839" y="25030"/>
                </a:lnTo>
                <a:lnTo>
                  <a:pt x="1726920" y="17504"/>
                </a:lnTo>
                <a:lnTo>
                  <a:pt x="1668114" y="11280"/>
                </a:lnTo>
                <a:lnTo>
                  <a:pt x="1608474" y="6389"/>
                </a:lnTo>
                <a:lnTo>
                  <a:pt x="1548056" y="2859"/>
                </a:lnTo>
                <a:lnTo>
                  <a:pt x="1486911" y="719"/>
                </a:lnTo>
                <a:lnTo>
                  <a:pt x="1425093" y="0"/>
                </a:lnTo>
                <a:close/>
              </a:path>
            </a:pathLst>
          </a:custGeom>
          <a:solidFill>
            <a:srgbClr val="CBCBCB">
              <a:alpha val="39999"/>
            </a:srgbClr>
          </a:solidFill>
        </p:spPr>
        <p:txBody>
          <a:bodyPr wrap="square" lIns="0" tIns="0" rIns="0" bIns="0" rtlCol="0"/>
          <a:lstStyle/>
          <a:p>
            <a:endParaRPr/>
          </a:p>
        </p:txBody>
      </p:sp>
      <p:sp>
        <p:nvSpPr>
          <p:cNvPr id="33" name="object 33"/>
          <p:cNvSpPr/>
          <p:nvPr/>
        </p:nvSpPr>
        <p:spPr>
          <a:xfrm>
            <a:off x="7789336" y="4419600"/>
            <a:ext cx="2850515" cy="1558290"/>
          </a:xfrm>
          <a:custGeom>
            <a:avLst/>
            <a:gdLst/>
            <a:ahLst/>
            <a:cxnLst/>
            <a:rect l="l" t="t" r="r" b="b"/>
            <a:pathLst>
              <a:path w="2850515" h="1558289">
                <a:moveTo>
                  <a:pt x="0" y="778932"/>
                </a:moveTo>
                <a:lnTo>
                  <a:pt x="5230" y="711723"/>
                </a:lnTo>
                <a:lnTo>
                  <a:pt x="20638" y="646101"/>
                </a:lnTo>
                <a:lnTo>
                  <a:pt x="45795" y="582301"/>
                </a:lnTo>
                <a:lnTo>
                  <a:pt x="80272" y="520556"/>
                </a:lnTo>
                <a:lnTo>
                  <a:pt x="123644" y="461100"/>
                </a:lnTo>
                <a:lnTo>
                  <a:pt x="175480" y="404167"/>
                </a:lnTo>
                <a:lnTo>
                  <a:pt x="204440" y="376719"/>
                </a:lnTo>
                <a:lnTo>
                  <a:pt x="235355" y="349990"/>
                </a:lnTo>
                <a:lnTo>
                  <a:pt x="268173" y="324009"/>
                </a:lnTo>
                <a:lnTo>
                  <a:pt x="302840" y="298804"/>
                </a:lnTo>
                <a:lnTo>
                  <a:pt x="339302" y="274406"/>
                </a:lnTo>
                <a:lnTo>
                  <a:pt x="377507" y="250842"/>
                </a:lnTo>
                <a:lnTo>
                  <a:pt x="417400" y="228144"/>
                </a:lnTo>
                <a:lnTo>
                  <a:pt x="458928" y="206339"/>
                </a:lnTo>
                <a:lnTo>
                  <a:pt x="502038" y="185457"/>
                </a:lnTo>
                <a:lnTo>
                  <a:pt x="546676" y="165527"/>
                </a:lnTo>
                <a:lnTo>
                  <a:pt x="592789" y="146579"/>
                </a:lnTo>
                <a:lnTo>
                  <a:pt x="640324" y="128641"/>
                </a:lnTo>
                <a:lnTo>
                  <a:pt x="689226" y="111743"/>
                </a:lnTo>
                <a:lnTo>
                  <a:pt x="739442" y="95914"/>
                </a:lnTo>
                <a:lnTo>
                  <a:pt x="790919" y="81184"/>
                </a:lnTo>
                <a:lnTo>
                  <a:pt x="843604" y="67581"/>
                </a:lnTo>
                <a:lnTo>
                  <a:pt x="897443" y="55135"/>
                </a:lnTo>
                <a:lnTo>
                  <a:pt x="952382" y="43875"/>
                </a:lnTo>
                <a:lnTo>
                  <a:pt x="1008368" y="33831"/>
                </a:lnTo>
                <a:lnTo>
                  <a:pt x="1065347" y="25030"/>
                </a:lnTo>
                <a:lnTo>
                  <a:pt x="1123267" y="17504"/>
                </a:lnTo>
                <a:lnTo>
                  <a:pt x="1182073" y="11280"/>
                </a:lnTo>
                <a:lnTo>
                  <a:pt x="1241712" y="6389"/>
                </a:lnTo>
                <a:lnTo>
                  <a:pt x="1302131" y="2859"/>
                </a:lnTo>
                <a:lnTo>
                  <a:pt x="1363276" y="719"/>
                </a:lnTo>
                <a:lnTo>
                  <a:pt x="1425093" y="0"/>
                </a:lnTo>
                <a:lnTo>
                  <a:pt x="1486911" y="719"/>
                </a:lnTo>
                <a:lnTo>
                  <a:pt x="1548056" y="2859"/>
                </a:lnTo>
                <a:lnTo>
                  <a:pt x="1608474" y="6389"/>
                </a:lnTo>
                <a:lnTo>
                  <a:pt x="1668114" y="11280"/>
                </a:lnTo>
                <a:lnTo>
                  <a:pt x="1726920" y="17504"/>
                </a:lnTo>
                <a:lnTo>
                  <a:pt x="1784839" y="25030"/>
                </a:lnTo>
                <a:lnTo>
                  <a:pt x="1841819" y="33831"/>
                </a:lnTo>
                <a:lnTo>
                  <a:pt x="1897805" y="43875"/>
                </a:lnTo>
                <a:lnTo>
                  <a:pt x="1952744" y="55135"/>
                </a:lnTo>
                <a:lnTo>
                  <a:pt x="2006582" y="67581"/>
                </a:lnTo>
                <a:lnTo>
                  <a:pt x="2059267" y="81184"/>
                </a:lnTo>
                <a:lnTo>
                  <a:pt x="2110744" y="95914"/>
                </a:lnTo>
                <a:lnTo>
                  <a:pt x="2160960" y="111743"/>
                </a:lnTo>
                <a:lnTo>
                  <a:pt x="2209862" y="128641"/>
                </a:lnTo>
                <a:lnTo>
                  <a:pt x="2257397" y="146579"/>
                </a:lnTo>
                <a:lnTo>
                  <a:pt x="2303510" y="165527"/>
                </a:lnTo>
                <a:lnTo>
                  <a:pt x="2348148" y="185457"/>
                </a:lnTo>
                <a:lnTo>
                  <a:pt x="2391258" y="206339"/>
                </a:lnTo>
                <a:lnTo>
                  <a:pt x="2432786" y="228144"/>
                </a:lnTo>
                <a:lnTo>
                  <a:pt x="2472680" y="250842"/>
                </a:lnTo>
                <a:lnTo>
                  <a:pt x="2510884" y="274406"/>
                </a:lnTo>
                <a:lnTo>
                  <a:pt x="2547347" y="298804"/>
                </a:lnTo>
                <a:lnTo>
                  <a:pt x="2582013" y="324009"/>
                </a:lnTo>
                <a:lnTo>
                  <a:pt x="2614831" y="349990"/>
                </a:lnTo>
                <a:lnTo>
                  <a:pt x="2645747" y="376719"/>
                </a:lnTo>
                <a:lnTo>
                  <a:pt x="2674706" y="404167"/>
                </a:lnTo>
                <a:lnTo>
                  <a:pt x="2701656" y="432303"/>
                </a:lnTo>
                <a:lnTo>
                  <a:pt x="2749313" y="490527"/>
                </a:lnTo>
                <a:lnTo>
                  <a:pt x="2788291" y="551157"/>
                </a:lnTo>
                <a:lnTo>
                  <a:pt x="2818162" y="613959"/>
                </a:lnTo>
                <a:lnTo>
                  <a:pt x="2838497" y="678699"/>
                </a:lnTo>
                <a:lnTo>
                  <a:pt x="2848870" y="745144"/>
                </a:lnTo>
                <a:lnTo>
                  <a:pt x="2850187" y="778932"/>
                </a:lnTo>
                <a:lnTo>
                  <a:pt x="2848870" y="812721"/>
                </a:lnTo>
                <a:lnTo>
                  <a:pt x="2838497" y="879166"/>
                </a:lnTo>
                <a:lnTo>
                  <a:pt x="2818162" y="943906"/>
                </a:lnTo>
                <a:lnTo>
                  <a:pt x="2788291" y="1006708"/>
                </a:lnTo>
                <a:lnTo>
                  <a:pt x="2749313" y="1067338"/>
                </a:lnTo>
                <a:lnTo>
                  <a:pt x="2701656" y="1125561"/>
                </a:lnTo>
                <a:lnTo>
                  <a:pt x="2674706" y="1153698"/>
                </a:lnTo>
                <a:lnTo>
                  <a:pt x="2645747" y="1181145"/>
                </a:lnTo>
                <a:lnTo>
                  <a:pt x="2614831" y="1207874"/>
                </a:lnTo>
                <a:lnTo>
                  <a:pt x="2582013" y="1233856"/>
                </a:lnTo>
                <a:lnTo>
                  <a:pt x="2547347" y="1259061"/>
                </a:lnTo>
                <a:lnTo>
                  <a:pt x="2510884" y="1283459"/>
                </a:lnTo>
                <a:lnTo>
                  <a:pt x="2472680" y="1307022"/>
                </a:lnTo>
                <a:lnTo>
                  <a:pt x="2432786" y="1329721"/>
                </a:lnTo>
                <a:lnTo>
                  <a:pt x="2391258" y="1351526"/>
                </a:lnTo>
                <a:lnTo>
                  <a:pt x="2348148" y="1372408"/>
                </a:lnTo>
                <a:lnTo>
                  <a:pt x="2303510" y="1392338"/>
                </a:lnTo>
                <a:lnTo>
                  <a:pt x="2257397" y="1411286"/>
                </a:lnTo>
                <a:lnTo>
                  <a:pt x="2209862" y="1429224"/>
                </a:lnTo>
                <a:lnTo>
                  <a:pt x="2160960" y="1446121"/>
                </a:lnTo>
                <a:lnTo>
                  <a:pt x="2110744" y="1461950"/>
                </a:lnTo>
                <a:lnTo>
                  <a:pt x="2059267" y="1476680"/>
                </a:lnTo>
                <a:lnTo>
                  <a:pt x="2006582" y="1490283"/>
                </a:lnTo>
                <a:lnTo>
                  <a:pt x="1952744" y="1502729"/>
                </a:lnTo>
                <a:lnTo>
                  <a:pt x="1897805" y="1513989"/>
                </a:lnTo>
                <a:lnTo>
                  <a:pt x="1841819" y="1524034"/>
                </a:lnTo>
                <a:lnTo>
                  <a:pt x="1784839" y="1532834"/>
                </a:lnTo>
                <a:lnTo>
                  <a:pt x="1726920" y="1540361"/>
                </a:lnTo>
                <a:lnTo>
                  <a:pt x="1668114" y="1546584"/>
                </a:lnTo>
                <a:lnTo>
                  <a:pt x="1608474" y="1551476"/>
                </a:lnTo>
                <a:lnTo>
                  <a:pt x="1548056" y="1555006"/>
                </a:lnTo>
                <a:lnTo>
                  <a:pt x="1486911" y="1557145"/>
                </a:lnTo>
                <a:lnTo>
                  <a:pt x="1425093" y="1557865"/>
                </a:lnTo>
                <a:lnTo>
                  <a:pt x="1363276" y="1557145"/>
                </a:lnTo>
                <a:lnTo>
                  <a:pt x="1302131" y="1555006"/>
                </a:lnTo>
                <a:lnTo>
                  <a:pt x="1241712" y="1551476"/>
                </a:lnTo>
                <a:lnTo>
                  <a:pt x="1182073" y="1546584"/>
                </a:lnTo>
                <a:lnTo>
                  <a:pt x="1123267" y="1540361"/>
                </a:lnTo>
                <a:lnTo>
                  <a:pt x="1065347" y="1532834"/>
                </a:lnTo>
                <a:lnTo>
                  <a:pt x="1008368" y="1524034"/>
                </a:lnTo>
                <a:lnTo>
                  <a:pt x="952382" y="1513989"/>
                </a:lnTo>
                <a:lnTo>
                  <a:pt x="897443" y="1502729"/>
                </a:lnTo>
                <a:lnTo>
                  <a:pt x="843604" y="1490283"/>
                </a:lnTo>
                <a:lnTo>
                  <a:pt x="790919" y="1476680"/>
                </a:lnTo>
                <a:lnTo>
                  <a:pt x="739442" y="1461950"/>
                </a:lnTo>
                <a:lnTo>
                  <a:pt x="689226" y="1446121"/>
                </a:lnTo>
                <a:lnTo>
                  <a:pt x="640324" y="1429224"/>
                </a:lnTo>
                <a:lnTo>
                  <a:pt x="592789" y="1411286"/>
                </a:lnTo>
                <a:lnTo>
                  <a:pt x="546676" y="1392338"/>
                </a:lnTo>
                <a:lnTo>
                  <a:pt x="502038" y="1372408"/>
                </a:lnTo>
                <a:lnTo>
                  <a:pt x="458928" y="1351526"/>
                </a:lnTo>
                <a:lnTo>
                  <a:pt x="417400" y="1329721"/>
                </a:lnTo>
                <a:lnTo>
                  <a:pt x="377507" y="1307022"/>
                </a:lnTo>
                <a:lnTo>
                  <a:pt x="339302" y="1283459"/>
                </a:lnTo>
                <a:lnTo>
                  <a:pt x="302840" y="1259061"/>
                </a:lnTo>
                <a:lnTo>
                  <a:pt x="268173" y="1233856"/>
                </a:lnTo>
                <a:lnTo>
                  <a:pt x="235355" y="1207874"/>
                </a:lnTo>
                <a:lnTo>
                  <a:pt x="204440" y="1181145"/>
                </a:lnTo>
                <a:lnTo>
                  <a:pt x="175480" y="1153698"/>
                </a:lnTo>
                <a:lnTo>
                  <a:pt x="148530" y="1125561"/>
                </a:lnTo>
                <a:lnTo>
                  <a:pt x="100873" y="1067338"/>
                </a:lnTo>
                <a:lnTo>
                  <a:pt x="61895" y="1006708"/>
                </a:lnTo>
                <a:lnTo>
                  <a:pt x="32025" y="943906"/>
                </a:lnTo>
                <a:lnTo>
                  <a:pt x="11689" y="879166"/>
                </a:lnTo>
                <a:lnTo>
                  <a:pt x="1316" y="812721"/>
                </a:lnTo>
                <a:lnTo>
                  <a:pt x="0" y="778932"/>
                </a:lnTo>
                <a:close/>
              </a:path>
            </a:pathLst>
          </a:custGeom>
          <a:ln w="9524">
            <a:solidFill>
              <a:srgbClr val="000000"/>
            </a:solidFill>
          </a:ln>
        </p:spPr>
        <p:txBody>
          <a:bodyPr wrap="square" lIns="0" tIns="0" rIns="0" bIns="0" rtlCol="0"/>
          <a:lstStyle/>
          <a:p>
            <a:endParaRPr/>
          </a:p>
        </p:txBody>
      </p:sp>
      <p:sp>
        <p:nvSpPr>
          <p:cNvPr id="34" name="灯片编号占位符 33"/>
          <p:cNvSpPr>
            <a:spLocks noGrp="1"/>
          </p:cNvSpPr>
          <p:nvPr>
            <p:ph type="sldNum" sz="quarter" idx="12"/>
          </p:nvPr>
        </p:nvSpPr>
        <p:spPr/>
        <p:txBody>
          <a:bodyPr/>
          <a:lstStyle/>
          <a:p>
            <a:fld id="{74D2AB8B-5816-41F2-8B4B-CA5C3E4E6A65}" type="slidenum">
              <a:rPr lang="zh-CN" altLang="en-US" smtClean="0"/>
              <a:t>45</a:t>
            </a:fld>
            <a:endParaRPr lang="zh-CN" altLang="en-US"/>
          </a:p>
        </p:txBody>
      </p:sp>
      <p:sp>
        <p:nvSpPr>
          <p:cNvPr id="36" name="标题 35"/>
          <p:cNvSpPr>
            <a:spLocks noGrp="1"/>
          </p:cNvSpPr>
          <p:nvPr>
            <p:ph type="title"/>
          </p:nvPr>
        </p:nvSpPr>
        <p:spPr/>
        <p:txBody>
          <a:bodyPr/>
          <a:lstStyle/>
          <a:p>
            <a:r>
              <a:rPr lang="zh-CN" altLang="en-US" dirty="0"/>
              <a:t>单元测试之</a:t>
            </a:r>
            <a:r>
              <a:rPr lang="en-US" altLang="zh-CN" dirty="0">
                <a:latin typeface="Arial" panose="020B0604020202020204"/>
                <a:cs typeface="Arial" panose="020B0604020202020204"/>
              </a:rPr>
              <a:t>M</a:t>
            </a:r>
            <a:r>
              <a:rPr lang="en-US" altLang="zh-CN" spc="-5" dirty="0">
                <a:latin typeface="Arial" panose="020B0604020202020204"/>
                <a:cs typeface="Arial" panose="020B0604020202020204"/>
              </a:rPr>
              <a:t>o</a:t>
            </a:r>
            <a:r>
              <a:rPr lang="en-US" altLang="zh-CN" dirty="0">
                <a:latin typeface="Arial" panose="020B0604020202020204"/>
                <a:cs typeface="Arial" panose="020B0604020202020204"/>
              </a:rPr>
              <a:t>ck</a:t>
            </a:r>
            <a:endParaRPr lang="zh-CN" altLang="en-US" dirty="0"/>
          </a:p>
        </p:txBody>
      </p:sp>
      <p:sp>
        <p:nvSpPr>
          <p:cNvPr id="2" name="椭圆 1">
            <a:extLst>
              <a:ext uri="{FF2B5EF4-FFF2-40B4-BE49-F238E27FC236}">
                <a16:creationId xmlns:a16="http://schemas.microsoft.com/office/drawing/2014/main" id="{744051BA-24D4-4055-A9D4-14D2F08E6F07}"/>
              </a:ext>
            </a:extLst>
          </p:cNvPr>
          <p:cNvSpPr/>
          <p:nvPr/>
        </p:nvSpPr>
        <p:spPr>
          <a:xfrm>
            <a:off x="7823200" y="2747819"/>
            <a:ext cx="2850515" cy="14743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73B273F9-09F8-4B25-9D7D-3415B145F153}"/>
              </a:ext>
            </a:extLst>
          </p:cNvPr>
          <p:cNvSpPr/>
          <p:nvPr/>
        </p:nvSpPr>
        <p:spPr>
          <a:xfrm>
            <a:off x="7786149" y="4448904"/>
            <a:ext cx="2850515" cy="14743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AB3302E-BD29-4DE2-B285-08AAEEE129BA}"/>
              </a:ext>
            </a:extLst>
          </p:cNvPr>
          <p:cNvSpPr/>
          <p:nvPr/>
        </p:nvSpPr>
        <p:spPr>
          <a:xfrm>
            <a:off x="4730577" y="4434325"/>
            <a:ext cx="2850515" cy="14743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7" grpId="0" animBg="1"/>
      <p:bldP spid="3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991200" y="2736592"/>
            <a:ext cx="1877154" cy="187715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991200" y="2736592"/>
            <a:ext cx="1877695" cy="1877695"/>
          </a:xfrm>
          <a:custGeom>
            <a:avLst/>
            <a:gdLst/>
            <a:ahLst/>
            <a:cxnLst/>
            <a:rect l="l" t="t" r="r" b="b"/>
            <a:pathLst>
              <a:path w="1877695" h="1877695">
                <a:moveTo>
                  <a:pt x="0" y="938576"/>
                </a:moveTo>
                <a:lnTo>
                  <a:pt x="1221" y="890277"/>
                </a:lnTo>
                <a:lnTo>
                  <a:pt x="4845" y="842612"/>
                </a:lnTo>
                <a:lnTo>
                  <a:pt x="10814" y="795640"/>
                </a:lnTo>
                <a:lnTo>
                  <a:pt x="19068" y="749420"/>
                </a:lnTo>
                <a:lnTo>
                  <a:pt x="29548" y="704011"/>
                </a:lnTo>
                <a:lnTo>
                  <a:pt x="42196" y="659472"/>
                </a:lnTo>
                <a:lnTo>
                  <a:pt x="56952" y="615862"/>
                </a:lnTo>
                <a:lnTo>
                  <a:pt x="73757" y="573240"/>
                </a:lnTo>
                <a:lnTo>
                  <a:pt x="92553" y="531664"/>
                </a:lnTo>
                <a:lnTo>
                  <a:pt x="113281" y="491195"/>
                </a:lnTo>
                <a:lnTo>
                  <a:pt x="135880" y="451890"/>
                </a:lnTo>
                <a:lnTo>
                  <a:pt x="160294" y="413809"/>
                </a:lnTo>
                <a:lnTo>
                  <a:pt x="186461" y="377011"/>
                </a:lnTo>
                <a:lnTo>
                  <a:pt x="214325" y="341554"/>
                </a:lnTo>
                <a:lnTo>
                  <a:pt x="243825" y="307498"/>
                </a:lnTo>
                <a:lnTo>
                  <a:pt x="274902" y="274902"/>
                </a:lnTo>
                <a:lnTo>
                  <a:pt x="307498" y="243825"/>
                </a:lnTo>
                <a:lnTo>
                  <a:pt x="341554" y="214325"/>
                </a:lnTo>
                <a:lnTo>
                  <a:pt x="377011" y="186461"/>
                </a:lnTo>
                <a:lnTo>
                  <a:pt x="413809" y="160294"/>
                </a:lnTo>
                <a:lnTo>
                  <a:pt x="451890" y="135880"/>
                </a:lnTo>
                <a:lnTo>
                  <a:pt x="491195" y="113281"/>
                </a:lnTo>
                <a:lnTo>
                  <a:pt x="531664" y="92553"/>
                </a:lnTo>
                <a:lnTo>
                  <a:pt x="573240" y="73757"/>
                </a:lnTo>
                <a:lnTo>
                  <a:pt x="615862" y="56952"/>
                </a:lnTo>
                <a:lnTo>
                  <a:pt x="659472" y="42196"/>
                </a:lnTo>
                <a:lnTo>
                  <a:pt x="704011" y="29548"/>
                </a:lnTo>
                <a:lnTo>
                  <a:pt x="749420" y="19068"/>
                </a:lnTo>
                <a:lnTo>
                  <a:pt x="795640" y="10814"/>
                </a:lnTo>
                <a:lnTo>
                  <a:pt x="842612" y="4845"/>
                </a:lnTo>
                <a:lnTo>
                  <a:pt x="890277" y="1221"/>
                </a:lnTo>
                <a:lnTo>
                  <a:pt x="938576" y="0"/>
                </a:lnTo>
                <a:lnTo>
                  <a:pt x="986875" y="1221"/>
                </a:lnTo>
                <a:lnTo>
                  <a:pt x="1034540" y="4845"/>
                </a:lnTo>
                <a:lnTo>
                  <a:pt x="1081512" y="10814"/>
                </a:lnTo>
                <a:lnTo>
                  <a:pt x="1127732" y="19068"/>
                </a:lnTo>
                <a:lnTo>
                  <a:pt x="1173141" y="29548"/>
                </a:lnTo>
                <a:lnTo>
                  <a:pt x="1217680" y="42196"/>
                </a:lnTo>
                <a:lnTo>
                  <a:pt x="1261290" y="56952"/>
                </a:lnTo>
                <a:lnTo>
                  <a:pt x="1303913" y="73757"/>
                </a:lnTo>
                <a:lnTo>
                  <a:pt x="1345488" y="92553"/>
                </a:lnTo>
                <a:lnTo>
                  <a:pt x="1385958" y="113281"/>
                </a:lnTo>
                <a:lnTo>
                  <a:pt x="1425262" y="135880"/>
                </a:lnTo>
                <a:lnTo>
                  <a:pt x="1463343" y="160294"/>
                </a:lnTo>
                <a:lnTo>
                  <a:pt x="1500142" y="186461"/>
                </a:lnTo>
                <a:lnTo>
                  <a:pt x="1535598" y="214325"/>
                </a:lnTo>
                <a:lnTo>
                  <a:pt x="1569654" y="243825"/>
                </a:lnTo>
                <a:lnTo>
                  <a:pt x="1602250" y="274902"/>
                </a:lnTo>
                <a:lnTo>
                  <a:pt x="1633328" y="307498"/>
                </a:lnTo>
                <a:lnTo>
                  <a:pt x="1662828" y="341554"/>
                </a:lnTo>
                <a:lnTo>
                  <a:pt x="1690691" y="377011"/>
                </a:lnTo>
                <a:lnTo>
                  <a:pt x="1716859" y="413809"/>
                </a:lnTo>
                <a:lnTo>
                  <a:pt x="1741272" y="451890"/>
                </a:lnTo>
                <a:lnTo>
                  <a:pt x="1763872" y="491195"/>
                </a:lnTo>
                <a:lnTo>
                  <a:pt x="1784599" y="531664"/>
                </a:lnTo>
                <a:lnTo>
                  <a:pt x="1803395" y="573240"/>
                </a:lnTo>
                <a:lnTo>
                  <a:pt x="1820200" y="615862"/>
                </a:lnTo>
                <a:lnTo>
                  <a:pt x="1834956" y="659472"/>
                </a:lnTo>
                <a:lnTo>
                  <a:pt x="1847604" y="704011"/>
                </a:lnTo>
                <a:lnTo>
                  <a:pt x="1858084" y="749420"/>
                </a:lnTo>
                <a:lnTo>
                  <a:pt x="1866338" y="795640"/>
                </a:lnTo>
                <a:lnTo>
                  <a:pt x="1872307" y="842612"/>
                </a:lnTo>
                <a:lnTo>
                  <a:pt x="1875932" y="890277"/>
                </a:lnTo>
                <a:lnTo>
                  <a:pt x="1877153" y="938576"/>
                </a:lnTo>
                <a:lnTo>
                  <a:pt x="1875932" y="986875"/>
                </a:lnTo>
                <a:lnTo>
                  <a:pt x="1872307" y="1034540"/>
                </a:lnTo>
                <a:lnTo>
                  <a:pt x="1866338" y="1081512"/>
                </a:lnTo>
                <a:lnTo>
                  <a:pt x="1858084" y="1127732"/>
                </a:lnTo>
                <a:lnTo>
                  <a:pt x="1847604" y="1173141"/>
                </a:lnTo>
                <a:lnTo>
                  <a:pt x="1834956" y="1217680"/>
                </a:lnTo>
                <a:lnTo>
                  <a:pt x="1820200" y="1261290"/>
                </a:lnTo>
                <a:lnTo>
                  <a:pt x="1803395" y="1303913"/>
                </a:lnTo>
                <a:lnTo>
                  <a:pt x="1784599" y="1345488"/>
                </a:lnTo>
                <a:lnTo>
                  <a:pt x="1763872" y="1385958"/>
                </a:lnTo>
                <a:lnTo>
                  <a:pt x="1741272" y="1425262"/>
                </a:lnTo>
                <a:lnTo>
                  <a:pt x="1716859" y="1463343"/>
                </a:lnTo>
                <a:lnTo>
                  <a:pt x="1690691" y="1500142"/>
                </a:lnTo>
                <a:lnTo>
                  <a:pt x="1662828" y="1535598"/>
                </a:lnTo>
                <a:lnTo>
                  <a:pt x="1633328" y="1569654"/>
                </a:lnTo>
                <a:lnTo>
                  <a:pt x="1602250" y="1602250"/>
                </a:lnTo>
                <a:lnTo>
                  <a:pt x="1569654" y="1633328"/>
                </a:lnTo>
                <a:lnTo>
                  <a:pt x="1535598" y="1662828"/>
                </a:lnTo>
                <a:lnTo>
                  <a:pt x="1500142" y="1690691"/>
                </a:lnTo>
                <a:lnTo>
                  <a:pt x="1463343" y="1716859"/>
                </a:lnTo>
                <a:lnTo>
                  <a:pt x="1425262" y="1741272"/>
                </a:lnTo>
                <a:lnTo>
                  <a:pt x="1385958" y="1763872"/>
                </a:lnTo>
                <a:lnTo>
                  <a:pt x="1345488" y="1784599"/>
                </a:lnTo>
                <a:lnTo>
                  <a:pt x="1303913" y="1803395"/>
                </a:lnTo>
                <a:lnTo>
                  <a:pt x="1261290" y="1820200"/>
                </a:lnTo>
                <a:lnTo>
                  <a:pt x="1217680" y="1834956"/>
                </a:lnTo>
                <a:lnTo>
                  <a:pt x="1173141" y="1847604"/>
                </a:lnTo>
                <a:lnTo>
                  <a:pt x="1127732" y="1858084"/>
                </a:lnTo>
                <a:lnTo>
                  <a:pt x="1081512" y="1866338"/>
                </a:lnTo>
                <a:lnTo>
                  <a:pt x="1034540" y="1872307"/>
                </a:lnTo>
                <a:lnTo>
                  <a:pt x="986875" y="1875932"/>
                </a:lnTo>
                <a:lnTo>
                  <a:pt x="938576" y="1877153"/>
                </a:lnTo>
                <a:lnTo>
                  <a:pt x="890277" y="1875932"/>
                </a:lnTo>
                <a:lnTo>
                  <a:pt x="842612" y="1872307"/>
                </a:lnTo>
                <a:lnTo>
                  <a:pt x="795640" y="1866338"/>
                </a:lnTo>
                <a:lnTo>
                  <a:pt x="749420" y="1858084"/>
                </a:lnTo>
                <a:lnTo>
                  <a:pt x="704011" y="1847604"/>
                </a:lnTo>
                <a:lnTo>
                  <a:pt x="659472" y="1834956"/>
                </a:lnTo>
                <a:lnTo>
                  <a:pt x="615862" y="1820200"/>
                </a:lnTo>
                <a:lnTo>
                  <a:pt x="573240" y="1803395"/>
                </a:lnTo>
                <a:lnTo>
                  <a:pt x="531664" y="1784599"/>
                </a:lnTo>
                <a:lnTo>
                  <a:pt x="491195" y="1763872"/>
                </a:lnTo>
                <a:lnTo>
                  <a:pt x="451890" y="1741272"/>
                </a:lnTo>
                <a:lnTo>
                  <a:pt x="413809" y="1716859"/>
                </a:lnTo>
                <a:lnTo>
                  <a:pt x="377011" y="1690691"/>
                </a:lnTo>
                <a:lnTo>
                  <a:pt x="341554" y="1662828"/>
                </a:lnTo>
                <a:lnTo>
                  <a:pt x="307498" y="1633328"/>
                </a:lnTo>
                <a:lnTo>
                  <a:pt x="274902" y="1602250"/>
                </a:lnTo>
                <a:lnTo>
                  <a:pt x="243825" y="1569654"/>
                </a:lnTo>
                <a:lnTo>
                  <a:pt x="214325" y="1535598"/>
                </a:lnTo>
                <a:lnTo>
                  <a:pt x="186461" y="1500142"/>
                </a:lnTo>
                <a:lnTo>
                  <a:pt x="160294" y="1463343"/>
                </a:lnTo>
                <a:lnTo>
                  <a:pt x="135880" y="1425262"/>
                </a:lnTo>
                <a:lnTo>
                  <a:pt x="113281" y="1385958"/>
                </a:lnTo>
                <a:lnTo>
                  <a:pt x="92553" y="1345488"/>
                </a:lnTo>
                <a:lnTo>
                  <a:pt x="73757" y="1303913"/>
                </a:lnTo>
                <a:lnTo>
                  <a:pt x="56952" y="1261290"/>
                </a:lnTo>
                <a:lnTo>
                  <a:pt x="42196" y="1217680"/>
                </a:lnTo>
                <a:lnTo>
                  <a:pt x="29548" y="1173141"/>
                </a:lnTo>
                <a:lnTo>
                  <a:pt x="19068" y="1127732"/>
                </a:lnTo>
                <a:lnTo>
                  <a:pt x="10814" y="1081512"/>
                </a:lnTo>
                <a:lnTo>
                  <a:pt x="4845" y="1034540"/>
                </a:lnTo>
                <a:lnTo>
                  <a:pt x="1221" y="986875"/>
                </a:lnTo>
                <a:lnTo>
                  <a:pt x="0" y="938576"/>
                </a:lnTo>
                <a:close/>
              </a:path>
            </a:pathLst>
          </a:custGeom>
          <a:ln w="9524">
            <a:solidFill>
              <a:srgbClr val="000000"/>
            </a:solidFill>
          </a:ln>
        </p:spPr>
        <p:txBody>
          <a:bodyPr wrap="square" lIns="0" tIns="0" rIns="0" bIns="0" rtlCol="0"/>
          <a:lstStyle/>
          <a:p>
            <a:endParaRPr/>
          </a:p>
        </p:txBody>
      </p:sp>
      <p:sp>
        <p:nvSpPr>
          <p:cNvPr id="5" name="object 5"/>
          <p:cNvSpPr/>
          <p:nvPr/>
        </p:nvSpPr>
        <p:spPr>
          <a:xfrm>
            <a:off x="5205732" y="2767878"/>
            <a:ext cx="1448089" cy="70840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5465617" y="3416530"/>
            <a:ext cx="997527" cy="556952"/>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366793" y="2199231"/>
            <a:ext cx="2249805" cy="701040"/>
          </a:xfrm>
          <a:custGeom>
            <a:avLst/>
            <a:gdLst/>
            <a:ahLst/>
            <a:cxnLst/>
            <a:rect l="l" t="t" r="r" b="b"/>
            <a:pathLst>
              <a:path w="2249804" h="701039">
                <a:moveTo>
                  <a:pt x="1814787" y="239482"/>
                </a:moveTo>
                <a:lnTo>
                  <a:pt x="1367287" y="239482"/>
                </a:lnTo>
                <a:lnTo>
                  <a:pt x="1434143" y="248191"/>
                </a:lnTo>
                <a:lnTo>
                  <a:pt x="1501000" y="252545"/>
                </a:lnTo>
                <a:lnTo>
                  <a:pt x="1549504" y="264157"/>
                </a:lnTo>
                <a:lnTo>
                  <a:pt x="1611118" y="275767"/>
                </a:lnTo>
                <a:lnTo>
                  <a:pt x="1674041" y="291734"/>
                </a:lnTo>
                <a:lnTo>
                  <a:pt x="1731722" y="313504"/>
                </a:lnTo>
                <a:lnTo>
                  <a:pt x="1784158" y="333824"/>
                </a:lnTo>
                <a:lnTo>
                  <a:pt x="1847082" y="365756"/>
                </a:lnTo>
                <a:lnTo>
                  <a:pt x="1904763" y="397686"/>
                </a:lnTo>
                <a:lnTo>
                  <a:pt x="1962443" y="431069"/>
                </a:lnTo>
                <a:lnTo>
                  <a:pt x="2020124" y="471708"/>
                </a:lnTo>
                <a:lnTo>
                  <a:pt x="2072561" y="521056"/>
                </a:lnTo>
                <a:lnTo>
                  <a:pt x="2130240" y="573308"/>
                </a:lnTo>
                <a:lnTo>
                  <a:pt x="2249534" y="701032"/>
                </a:lnTo>
                <a:lnTo>
                  <a:pt x="2168257" y="573308"/>
                </a:lnTo>
                <a:lnTo>
                  <a:pt x="2115821" y="509445"/>
                </a:lnTo>
                <a:lnTo>
                  <a:pt x="2086980" y="471708"/>
                </a:lnTo>
                <a:lnTo>
                  <a:pt x="2043720" y="431069"/>
                </a:lnTo>
                <a:lnTo>
                  <a:pt x="1980796" y="373012"/>
                </a:lnTo>
                <a:lnTo>
                  <a:pt x="1932292" y="329471"/>
                </a:lnTo>
                <a:lnTo>
                  <a:pt x="1865435" y="275767"/>
                </a:lnTo>
                <a:lnTo>
                  <a:pt x="1814787" y="239482"/>
                </a:lnTo>
                <a:close/>
              </a:path>
              <a:path w="2249804" h="701039">
                <a:moveTo>
                  <a:pt x="230720" y="127723"/>
                </a:moveTo>
                <a:lnTo>
                  <a:pt x="0" y="509445"/>
                </a:lnTo>
                <a:lnTo>
                  <a:pt x="407695" y="552988"/>
                </a:lnTo>
                <a:lnTo>
                  <a:pt x="378854" y="478966"/>
                </a:lnTo>
                <a:lnTo>
                  <a:pt x="464064" y="425263"/>
                </a:lnTo>
                <a:lnTo>
                  <a:pt x="521745" y="397686"/>
                </a:lnTo>
                <a:lnTo>
                  <a:pt x="599089" y="365756"/>
                </a:lnTo>
                <a:lnTo>
                  <a:pt x="660702" y="345436"/>
                </a:lnTo>
                <a:lnTo>
                  <a:pt x="734113" y="323664"/>
                </a:lnTo>
                <a:lnTo>
                  <a:pt x="799659" y="303345"/>
                </a:lnTo>
                <a:lnTo>
                  <a:pt x="862584" y="287379"/>
                </a:lnTo>
                <a:lnTo>
                  <a:pt x="938616" y="271414"/>
                </a:lnTo>
                <a:lnTo>
                  <a:pt x="1005474" y="259802"/>
                </a:lnTo>
                <a:lnTo>
                  <a:pt x="1164094" y="239482"/>
                </a:lnTo>
                <a:lnTo>
                  <a:pt x="1814787" y="239482"/>
                </a:lnTo>
                <a:lnTo>
                  <a:pt x="1798579" y="227871"/>
                </a:lnTo>
                <a:lnTo>
                  <a:pt x="1757541" y="201745"/>
                </a:lnTo>
                <a:lnTo>
                  <a:pt x="258250" y="201745"/>
                </a:lnTo>
                <a:lnTo>
                  <a:pt x="230720" y="127723"/>
                </a:lnTo>
                <a:close/>
              </a:path>
              <a:path w="2249804" h="701039">
                <a:moveTo>
                  <a:pt x="1048734" y="0"/>
                </a:moveTo>
                <a:lnTo>
                  <a:pt x="980565" y="5805"/>
                </a:lnTo>
                <a:lnTo>
                  <a:pt x="929440" y="5805"/>
                </a:lnTo>
                <a:lnTo>
                  <a:pt x="857340" y="15965"/>
                </a:lnTo>
                <a:lnTo>
                  <a:pt x="728869" y="36285"/>
                </a:lnTo>
                <a:lnTo>
                  <a:pt x="651525" y="52250"/>
                </a:lnTo>
                <a:lnTo>
                  <a:pt x="579426" y="72570"/>
                </a:lnTo>
                <a:lnTo>
                  <a:pt x="508636" y="94341"/>
                </a:lnTo>
                <a:lnTo>
                  <a:pt x="449644" y="116112"/>
                </a:lnTo>
                <a:lnTo>
                  <a:pt x="397207" y="133529"/>
                </a:lnTo>
                <a:lnTo>
                  <a:pt x="319863" y="165460"/>
                </a:lnTo>
                <a:lnTo>
                  <a:pt x="258250" y="201745"/>
                </a:lnTo>
                <a:lnTo>
                  <a:pt x="1757541" y="201745"/>
                </a:lnTo>
                <a:lnTo>
                  <a:pt x="1679285" y="159655"/>
                </a:lnTo>
                <a:lnTo>
                  <a:pt x="1625537" y="133529"/>
                </a:lnTo>
                <a:lnTo>
                  <a:pt x="1494445" y="85633"/>
                </a:lnTo>
                <a:lnTo>
                  <a:pt x="1418412" y="63861"/>
                </a:lnTo>
                <a:lnTo>
                  <a:pt x="1330581" y="43541"/>
                </a:lnTo>
                <a:lnTo>
                  <a:pt x="1245372" y="21770"/>
                </a:lnTo>
                <a:lnTo>
                  <a:pt x="1178515" y="11611"/>
                </a:lnTo>
                <a:lnTo>
                  <a:pt x="1106413" y="5805"/>
                </a:lnTo>
                <a:lnTo>
                  <a:pt x="1048734" y="0"/>
                </a:lnTo>
                <a:close/>
              </a:path>
            </a:pathLst>
          </a:custGeom>
          <a:solidFill>
            <a:srgbClr val="38D4D6"/>
          </a:solidFill>
        </p:spPr>
        <p:txBody>
          <a:bodyPr wrap="square" lIns="0" tIns="0" rIns="0" bIns="0" rtlCol="0"/>
          <a:lstStyle/>
          <a:p>
            <a:endParaRPr/>
          </a:p>
        </p:txBody>
      </p:sp>
      <p:sp>
        <p:nvSpPr>
          <p:cNvPr id="8" name="object 8"/>
          <p:cNvSpPr txBox="1"/>
          <p:nvPr/>
        </p:nvSpPr>
        <p:spPr>
          <a:xfrm>
            <a:off x="2406181" y="2541023"/>
            <a:ext cx="19735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panose="020B0604020202020204"/>
                <a:cs typeface="Arial" panose="020B0604020202020204"/>
              </a:rPr>
              <a:t>JUnit</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Java</a:t>
            </a:r>
            <a:r>
              <a:rPr sz="2400" spc="-5" dirty="0">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9" name="object 9"/>
          <p:cNvSpPr/>
          <p:nvPr/>
        </p:nvSpPr>
        <p:spPr>
          <a:xfrm>
            <a:off x="5931577" y="1925372"/>
            <a:ext cx="1145540" cy="2042795"/>
          </a:xfrm>
          <a:custGeom>
            <a:avLst/>
            <a:gdLst/>
            <a:ahLst/>
            <a:cxnLst/>
            <a:rect l="l" t="t" r="r" b="b"/>
            <a:pathLst>
              <a:path w="1145540" h="2042795">
                <a:moveTo>
                  <a:pt x="698266" y="312647"/>
                </a:moveTo>
                <a:lnTo>
                  <a:pt x="215701" y="312647"/>
                </a:lnTo>
                <a:lnTo>
                  <a:pt x="304787" y="359542"/>
                </a:lnTo>
                <a:lnTo>
                  <a:pt x="357491" y="395674"/>
                </a:lnTo>
                <a:lnTo>
                  <a:pt x="423791" y="446647"/>
                </a:lnTo>
                <a:lnTo>
                  <a:pt x="472175" y="489812"/>
                </a:lnTo>
                <a:lnTo>
                  <a:pt x="527711" y="542461"/>
                </a:lnTo>
                <a:lnTo>
                  <a:pt x="578060" y="589029"/>
                </a:lnTo>
                <a:lnTo>
                  <a:pt x="623328" y="635505"/>
                </a:lnTo>
                <a:lnTo>
                  <a:pt x="675148" y="693327"/>
                </a:lnTo>
                <a:lnTo>
                  <a:pt x="718610" y="745383"/>
                </a:lnTo>
                <a:lnTo>
                  <a:pt x="766056" y="807242"/>
                </a:lnTo>
                <a:lnTo>
                  <a:pt x="815468" y="872505"/>
                </a:lnTo>
                <a:lnTo>
                  <a:pt x="916998" y="1048362"/>
                </a:lnTo>
                <a:lnTo>
                  <a:pt x="942864" y="1110578"/>
                </a:lnTo>
                <a:lnTo>
                  <a:pt x="972499" y="1170618"/>
                </a:lnTo>
                <a:lnTo>
                  <a:pt x="986680" y="1218402"/>
                </a:lnTo>
                <a:lnTo>
                  <a:pt x="1007410" y="1277532"/>
                </a:lnTo>
                <a:lnTo>
                  <a:pt x="1025025" y="1339974"/>
                </a:lnTo>
                <a:lnTo>
                  <a:pt x="1034994" y="1400780"/>
                </a:lnTo>
                <a:lnTo>
                  <a:pt x="1043598" y="1456321"/>
                </a:lnTo>
                <a:lnTo>
                  <a:pt x="1047386" y="1526747"/>
                </a:lnTo>
                <a:lnTo>
                  <a:pt x="1048372" y="1582350"/>
                </a:lnTo>
                <a:lnTo>
                  <a:pt x="1048466" y="1659244"/>
                </a:lnTo>
                <a:lnTo>
                  <a:pt x="1042093" y="1729484"/>
                </a:lnTo>
                <a:lnTo>
                  <a:pt x="1025558" y="1799541"/>
                </a:lnTo>
                <a:lnTo>
                  <a:pt x="1009129" y="1875586"/>
                </a:lnTo>
                <a:lnTo>
                  <a:pt x="958124" y="2042694"/>
                </a:lnTo>
                <a:lnTo>
                  <a:pt x="1028125" y="1908488"/>
                </a:lnTo>
                <a:lnTo>
                  <a:pt x="1057229" y="1831176"/>
                </a:lnTo>
                <a:lnTo>
                  <a:pt x="1075499" y="1787347"/>
                </a:lnTo>
                <a:lnTo>
                  <a:pt x="1089102" y="1729484"/>
                </a:lnTo>
                <a:lnTo>
                  <a:pt x="1107914" y="1646100"/>
                </a:lnTo>
                <a:lnTo>
                  <a:pt x="1121388" y="1582350"/>
                </a:lnTo>
                <a:lnTo>
                  <a:pt x="1134488" y="1497637"/>
                </a:lnTo>
                <a:lnTo>
                  <a:pt x="1142560" y="1415826"/>
                </a:lnTo>
                <a:lnTo>
                  <a:pt x="1145270" y="1353752"/>
                </a:lnTo>
                <a:lnTo>
                  <a:pt x="1142029" y="1278473"/>
                </a:lnTo>
                <a:lnTo>
                  <a:pt x="1137798" y="1218893"/>
                </a:lnTo>
                <a:lnTo>
                  <a:pt x="1126468" y="1152823"/>
                </a:lnTo>
                <a:lnTo>
                  <a:pt x="1113774" y="1081488"/>
                </a:lnTo>
                <a:lnTo>
                  <a:pt x="1094637" y="1004799"/>
                </a:lnTo>
                <a:lnTo>
                  <a:pt x="1068346" y="918624"/>
                </a:lnTo>
                <a:lnTo>
                  <a:pt x="1044624" y="833992"/>
                </a:lnTo>
                <a:lnTo>
                  <a:pt x="1020015" y="771050"/>
                </a:lnTo>
                <a:lnTo>
                  <a:pt x="989016" y="705746"/>
                </a:lnTo>
                <a:lnTo>
                  <a:pt x="965222" y="652923"/>
                </a:lnTo>
                <a:lnTo>
                  <a:pt x="926133" y="596828"/>
                </a:lnTo>
                <a:lnTo>
                  <a:pt x="900586" y="552580"/>
                </a:lnTo>
                <a:lnTo>
                  <a:pt x="855760" y="495260"/>
                </a:lnTo>
                <a:lnTo>
                  <a:pt x="809678" y="438665"/>
                </a:lnTo>
                <a:lnTo>
                  <a:pt x="773969" y="394233"/>
                </a:lnTo>
                <a:lnTo>
                  <a:pt x="721495" y="335277"/>
                </a:lnTo>
                <a:lnTo>
                  <a:pt x="698266" y="312647"/>
                </a:lnTo>
                <a:close/>
              </a:path>
              <a:path w="1145540" h="2042795">
                <a:moveTo>
                  <a:pt x="0" y="0"/>
                </a:moveTo>
                <a:lnTo>
                  <a:pt x="166008" y="374618"/>
                </a:lnTo>
                <a:lnTo>
                  <a:pt x="215701" y="312647"/>
                </a:lnTo>
                <a:lnTo>
                  <a:pt x="698266" y="312647"/>
                </a:lnTo>
                <a:lnTo>
                  <a:pt x="667871" y="283036"/>
                </a:lnTo>
                <a:lnTo>
                  <a:pt x="613644" y="232656"/>
                </a:lnTo>
                <a:lnTo>
                  <a:pt x="565313" y="192486"/>
                </a:lnTo>
                <a:lnTo>
                  <a:pt x="524028" y="155812"/>
                </a:lnTo>
                <a:lnTo>
                  <a:pt x="457728" y="104839"/>
                </a:lnTo>
                <a:lnTo>
                  <a:pt x="395517" y="69658"/>
                </a:lnTo>
                <a:lnTo>
                  <a:pt x="445866" y="8821"/>
                </a:lnTo>
                <a:lnTo>
                  <a:pt x="0" y="0"/>
                </a:lnTo>
                <a:close/>
              </a:path>
            </a:pathLst>
          </a:custGeom>
          <a:solidFill>
            <a:srgbClr val="78ACFF"/>
          </a:solidFill>
        </p:spPr>
        <p:txBody>
          <a:bodyPr wrap="square" lIns="0" tIns="0" rIns="0" bIns="0" rtlCol="0"/>
          <a:lstStyle/>
          <a:p>
            <a:endParaRPr/>
          </a:p>
        </p:txBody>
      </p:sp>
      <p:sp>
        <p:nvSpPr>
          <p:cNvPr id="10" name="object 10"/>
          <p:cNvSpPr txBox="1"/>
          <p:nvPr/>
        </p:nvSpPr>
        <p:spPr>
          <a:xfrm>
            <a:off x="3989942" y="1665754"/>
            <a:ext cx="193167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panose="020B0604020202020204"/>
                <a:cs typeface="Arial" panose="020B0604020202020204"/>
              </a:rPr>
              <a:t>CppUnit</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a:t>
            </a:r>
            <a:r>
              <a:rPr sz="2000" spc="-5" dirty="0">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p:txBody>
      </p:sp>
      <p:sp>
        <p:nvSpPr>
          <p:cNvPr id="11" name="object 11"/>
          <p:cNvSpPr/>
          <p:nvPr/>
        </p:nvSpPr>
        <p:spPr>
          <a:xfrm>
            <a:off x="4282229" y="2547256"/>
            <a:ext cx="1505585" cy="1851660"/>
          </a:xfrm>
          <a:custGeom>
            <a:avLst/>
            <a:gdLst/>
            <a:ahLst/>
            <a:cxnLst/>
            <a:rect l="l" t="t" r="r" b="b"/>
            <a:pathLst>
              <a:path w="1505585" h="1851660">
                <a:moveTo>
                  <a:pt x="0" y="1460564"/>
                </a:moveTo>
                <a:lnTo>
                  <a:pt x="215294" y="1851107"/>
                </a:lnTo>
                <a:lnTo>
                  <a:pt x="456718" y="1520031"/>
                </a:lnTo>
                <a:lnTo>
                  <a:pt x="378203" y="1507980"/>
                </a:lnTo>
                <a:lnTo>
                  <a:pt x="376865" y="1473749"/>
                </a:lnTo>
                <a:lnTo>
                  <a:pt x="77859" y="1473749"/>
                </a:lnTo>
                <a:lnTo>
                  <a:pt x="0" y="1460564"/>
                </a:lnTo>
                <a:close/>
              </a:path>
              <a:path w="1505585" h="1851660">
                <a:moveTo>
                  <a:pt x="1505256" y="0"/>
                </a:moveTo>
                <a:lnTo>
                  <a:pt x="1354030" y="6479"/>
                </a:lnTo>
                <a:lnTo>
                  <a:pt x="1272523" y="19931"/>
                </a:lnTo>
                <a:lnTo>
                  <a:pt x="1225431" y="26023"/>
                </a:lnTo>
                <a:lnTo>
                  <a:pt x="1086900" y="68573"/>
                </a:lnTo>
                <a:lnTo>
                  <a:pt x="1024954" y="88781"/>
                </a:lnTo>
                <a:lnTo>
                  <a:pt x="945041" y="119792"/>
                </a:lnTo>
                <a:lnTo>
                  <a:pt x="870154" y="153706"/>
                </a:lnTo>
                <a:lnTo>
                  <a:pt x="815042" y="182398"/>
                </a:lnTo>
                <a:lnTo>
                  <a:pt x="751469" y="222844"/>
                </a:lnTo>
                <a:lnTo>
                  <a:pt x="701987" y="256297"/>
                </a:lnTo>
                <a:lnTo>
                  <a:pt x="650434" y="299145"/>
                </a:lnTo>
                <a:lnTo>
                  <a:pt x="595003" y="345805"/>
                </a:lnTo>
                <a:lnTo>
                  <a:pt x="538157" y="400724"/>
                </a:lnTo>
                <a:lnTo>
                  <a:pt x="476671" y="466580"/>
                </a:lnTo>
                <a:lnTo>
                  <a:pt x="415240" y="529440"/>
                </a:lnTo>
                <a:lnTo>
                  <a:pt x="373034" y="582222"/>
                </a:lnTo>
                <a:lnTo>
                  <a:pt x="331979" y="641720"/>
                </a:lnTo>
                <a:lnTo>
                  <a:pt x="298129" y="688738"/>
                </a:lnTo>
                <a:lnTo>
                  <a:pt x="269096" y="750638"/>
                </a:lnTo>
                <a:lnTo>
                  <a:pt x="243549" y="794886"/>
                </a:lnTo>
                <a:lnTo>
                  <a:pt x="216321" y="862366"/>
                </a:lnTo>
                <a:lnTo>
                  <a:pt x="190350" y="930572"/>
                </a:lnTo>
                <a:lnTo>
                  <a:pt x="169725" y="983712"/>
                </a:lnTo>
                <a:lnTo>
                  <a:pt x="144904" y="1058635"/>
                </a:lnTo>
                <a:lnTo>
                  <a:pt x="126475" y="1131195"/>
                </a:lnTo>
                <a:lnTo>
                  <a:pt x="109957" y="1203346"/>
                </a:lnTo>
                <a:lnTo>
                  <a:pt x="99335" y="1265288"/>
                </a:lnTo>
                <a:lnTo>
                  <a:pt x="88216" y="1319378"/>
                </a:lnTo>
                <a:lnTo>
                  <a:pt x="77223" y="1402283"/>
                </a:lnTo>
                <a:lnTo>
                  <a:pt x="77859" y="1473749"/>
                </a:lnTo>
                <a:lnTo>
                  <a:pt x="376865" y="1473749"/>
                </a:lnTo>
                <a:lnTo>
                  <a:pt x="374272" y="1407383"/>
                </a:lnTo>
                <a:lnTo>
                  <a:pt x="379213" y="1343673"/>
                </a:lnTo>
                <a:lnTo>
                  <a:pt x="390206" y="1260769"/>
                </a:lnTo>
                <a:lnTo>
                  <a:pt x="403396" y="1197286"/>
                </a:lnTo>
                <a:lnTo>
                  <a:pt x="421223" y="1122864"/>
                </a:lnTo>
                <a:lnTo>
                  <a:pt x="436378" y="1055977"/>
                </a:lnTo>
                <a:lnTo>
                  <a:pt x="453993" y="993534"/>
                </a:lnTo>
                <a:lnTo>
                  <a:pt x="478158" y="919747"/>
                </a:lnTo>
                <a:lnTo>
                  <a:pt x="501510" y="856080"/>
                </a:lnTo>
                <a:lnTo>
                  <a:pt x="531357" y="784061"/>
                </a:lnTo>
                <a:lnTo>
                  <a:pt x="563171" y="708638"/>
                </a:lnTo>
                <a:lnTo>
                  <a:pt x="664702" y="532782"/>
                </a:lnTo>
                <a:lnTo>
                  <a:pt x="705651" y="479273"/>
                </a:lnTo>
                <a:lnTo>
                  <a:pt x="742829" y="423589"/>
                </a:lnTo>
                <a:lnTo>
                  <a:pt x="777121" y="387416"/>
                </a:lnTo>
                <a:lnTo>
                  <a:pt x="817963" y="339897"/>
                </a:lnTo>
                <a:lnTo>
                  <a:pt x="863231" y="293420"/>
                </a:lnTo>
                <a:lnTo>
                  <a:pt x="910907" y="254386"/>
                </a:lnTo>
                <a:lnTo>
                  <a:pt x="954707" y="219163"/>
                </a:lnTo>
                <a:lnTo>
                  <a:pt x="1013801" y="180671"/>
                </a:lnTo>
                <a:lnTo>
                  <a:pt x="1070277" y="146715"/>
                </a:lnTo>
                <a:lnTo>
                  <a:pt x="1128008" y="113487"/>
                </a:lnTo>
                <a:lnTo>
                  <a:pt x="1192024" y="83886"/>
                </a:lnTo>
                <a:lnTo>
                  <a:pt x="1260962" y="63177"/>
                </a:lnTo>
                <a:lnTo>
                  <a:pt x="1335035" y="39382"/>
                </a:lnTo>
                <a:lnTo>
                  <a:pt x="1505256" y="0"/>
                </a:lnTo>
                <a:close/>
              </a:path>
            </a:pathLst>
          </a:custGeom>
          <a:solidFill>
            <a:srgbClr val="A8D200"/>
          </a:solidFill>
        </p:spPr>
        <p:txBody>
          <a:bodyPr wrap="square" lIns="0" tIns="0" rIns="0" bIns="0" rtlCol="0"/>
          <a:lstStyle/>
          <a:p>
            <a:endParaRPr/>
          </a:p>
        </p:txBody>
      </p:sp>
      <p:sp>
        <p:nvSpPr>
          <p:cNvPr id="12" name="object 12"/>
          <p:cNvSpPr/>
          <p:nvPr/>
        </p:nvSpPr>
        <p:spPr>
          <a:xfrm>
            <a:off x="4775465" y="3382271"/>
            <a:ext cx="1145540" cy="2042795"/>
          </a:xfrm>
          <a:custGeom>
            <a:avLst/>
            <a:gdLst/>
            <a:ahLst/>
            <a:cxnLst/>
            <a:rect l="l" t="t" r="r" b="b"/>
            <a:pathLst>
              <a:path w="1145539" h="2042795">
                <a:moveTo>
                  <a:pt x="187144" y="0"/>
                </a:moveTo>
                <a:lnTo>
                  <a:pt x="117144" y="134204"/>
                </a:lnTo>
                <a:lnTo>
                  <a:pt x="88040" y="211518"/>
                </a:lnTo>
                <a:lnTo>
                  <a:pt x="69769" y="255346"/>
                </a:lnTo>
                <a:lnTo>
                  <a:pt x="56168" y="313208"/>
                </a:lnTo>
                <a:lnTo>
                  <a:pt x="37354" y="396594"/>
                </a:lnTo>
                <a:lnTo>
                  <a:pt x="23882" y="460343"/>
                </a:lnTo>
                <a:lnTo>
                  <a:pt x="10781" y="545057"/>
                </a:lnTo>
                <a:lnTo>
                  <a:pt x="2708" y="626868"/>
                </a:lnTo>
                <a:lnTo>
                  <a:pt x="0" y="688941"/>
                </a:lnTo>
                <a:lnTo>
                  <a:pt x="3239" y="764221"/>
                </a:lnTo>
                <a:lnTo>
                  <a:pt x="7471" y="823800"/>
                </a:lnTo>
                <a:lnTo>
                  <a:pt x="18801" y="889869"/>
                </a:lnTo>
                <a:lnTo>
                  <a:pt x="31494" y="961204"/>
                </a:lnTo>
                <a:lnTo>
                  <a:pt x="50632" y="1037894"/>
                </a:lnTo>
                <a:lnTo>
                  <a:pt x="76922" y="1124069"/>
                </a:lnTo>
                <a:lnTo>
                  <a:pt x="100646" y="1208702"/>
                </a:lnTo>
                <a:lnTo>
                  <a:pt x="125253" y="1271643"/>
                </a:lnTo>
                <a:lnTo>
                  <a:pt x="156253" y="1336948"/>
                </a:lnTo>
                <a:lnTo>
                  <a:pt x="180046" y="1389771"/>
                </a:lnTo>
                <a:lnTo>
                  <a:pt x="219137" y="1445864"/>
                </a:lnTo>
                <a:lnTo>
                  <a:pt x="244683" y="1490112"/>
                </a:lnTo>
                <a:lnTo>
                  <a:pt x="289509" y="1547434"/>
                </a:lnTo>
                <a:lnTo>
                  <a:pt x="335591" y="1604029"/>
                </a:lnTo>
                <a:lnTo>
                  <a:pt x="371299" y="1648459"/>
                </a:lnTo>
                <a:lnTo>
                  <a:pt x="423773" y="1707415"/>
                </a:lnTo>
                <a:lnTo>
                  <a:pt x="477398" y="1759657"/>
                </a:lnTo>
                <a:lnTo>
                  <a:pt x="531624" y="1810038"/>
                </a:lnTo>
                <a:lnTo>
                  <a:pt x="579955" y="1850207"/>
                </a:lnTo>
                <a:lnTo>
                  <a:pt x="621240" y="1886880"/>
                </a:lnTo>
                <a:lnTo>
                  <a:pt x="687541" y="1937854"/>
                </a:lnTo>
                <a:lnTo>
                  <a:pt x="749752" y="1973036"/>
                </a:lnTo>
                <a:lnTo>
                  <a:pt x="699402" y="2033873"/>
                </a:lnTo>
                <a:lnTo>
                  <a:pt x="1145269" y="2042694"/>
                </a:lnTo>
                <a:lnTo>
                  <a:pt x="1006723" y="1730047"/>
                </a:lnTo>
                <a:lnTo>
                  <a:pt x="929567" y="1730047"/>
                </a:lnTo>
                <a:lnTo>
                  <a:pt x="840483" y="1683151"/>
                </a:lnTo>
                <a:lnTo>
                  <a:pt x="787779" y="1647019"/>
                </a:lnTo>
                <a:lnTo>
                  <a:pt x="721479" y="1596045"/>
                </a:lnTo>
                <a:lnTo>
                  <a:pt x="673094" y="1552882"/>
                </a:lnTo>
                <a:lnTo>
                  <a:pt x="617557" y="1500231"/>
                </a:lnTo>
                <a:lnTo>
                  <a:pt x="567208" y="1453663"/>
                </a:lnTo>
                <a:lnTo>
                  <a:pt x="521940" y="1407187"/>
                </a:lnTo>
                <a:lnTo>
                  <a:pt x="470122" y="1349366"/>
                </a:lnTo>
                <a:lnTo>
                  <a:pt x="426659" y="1297310"/>
                </a:lnTo>
                <a:lnTo>
                  <a:pt x="379213" y="1235450"/>
                </a:lnTo>
                <a:lnTo>
                  <a:pt x="329802" y="1170188"/>
                </a:lnTo>
                <a:lnTo>
                  <a:pt x="228271" y="994331"/>
                </a:lnTo>
                <a:lnTo>
                  <a:pt x="202406" y="932115"/>
                </a:lnTo>
                <a:lnTo>
                  <a:pt x="172769" y="872075"/>
                </a:lnTo>
                <a:lnTo>
                  <a:pt x="158589" y="824290"/>
                </a:lnTo>
                <a:lnTo>
                  <a:pt x="137858" y="765161"/>
                </a:lnTo>
                <a:lnTo>
                  <a:pt x="120243" y="702720"/>
                </a:lnTo>
                <a:lnTo>
                  <a:pt x="110276" y="641913"/>
                </a:lnTo>
                <a:lnTo>
                  <a:pt x="101672" y="586371"/>
                </a:lnTo>
                <a:lnTo>
                  <a:pt x="97882" y="515947"/>
                </a:lnTo>
                <a:lnTo>
                  <a:pt x="96714" y="450061"/>
                </a:lnTo>
                <a:lnTo>
                  <a:pt x="96803" y="383449"/>
                </a:lnTo>
                <a:lnTo>
                  <a:pt x="103177" y="313208"/>
                </a:lnTo>
                <a:lnTo>
                  <a:pt x="119711" y="243152"/>
                </a:lnTo>
                <a:lnTo>
                  <a:pt x="136140" y="167106"/>
                </a:lnTo>
                <a:lnTo>
                  <a:pt x="187144" y="0"/>
                </a:lnTo>
                <a:close/>
              </a:path>
              <a:path w="1145539" h="2042795">
                <a:moveTo>
                  <a:pt x="979261" y="1668075"/>
                </a:moveTo>
                <a:lnTo>
                  <a:pt x="929567" y="1730047"/>
                </a:lnTo>
                <a:lnTo>
                  <a:pt x="1006723" y="1730047"/>
                </a:lnTo>
                <a:lnTo>
                  <a:pt x="979261" y="1668075"/>
                </a:lnTo>
                <a:close/>
              </a:path>
            </a:pathLst>
          </a:custGeom>
          <a:solidFill>
            <a:srgbClr val="FFAA79"/>
          </a:solidFill>
        </p:spPr>
        <p:txBody>
          <a:bodyPr wrap="square" lIns="0" tIns="0" rIns="0" bIns="0" rtlCol="0"/>
          <a:lstStyle/>
          <a:p>
            <a:endParaRPr/>
          </a:p>
        </p:txBody>
      </p:sp>
      <p:sp>
        <p:nvSpPr>
          <p:cNvPr id="13" name="object 13"/>
          <p:cNvSpPr/>
          <p:nvPr/>
        </p:nvSpPr>
        <p:spPr>
          <a:xfrm>
            <a:off x="5170804" y="4413863"/>
            <a:ext cx="2249805" cy="702945"/>
          </a:xfrm>
          <a:custGeom>
            <a:avLst/>
            <a:gdLst/>
            <a:ahLst/>
            <a:cxnLst/>
            <a:rect l="l" t="t" r="r" b="b"/>
            <a:pathLst>
              <a:path w="2249804" h="702945">
                <a:moveTo>
                  <a:pt x="0" y="0"/>
                </a:moveTo>
                <a:lnTo>
                  <a:pt x="81276" y="127988"/>
                </a:lnTo>
                <a:lnTo>
                  <a:pt x="133713" y="191980"/>
                </a:lnTo>
                <a:lnTo>
                  <a:pt x="162553" y="229796"/>
                </a:lnTo>
                <a:lnTo>
                  <a:pt x="205813" y="270520"/>
                </a:lnTo>
                <a:lnTo>
                  <a:pt x="268738" y="328696"/>
                </a:lnTo>
                <a:lnTo>
                  <a:pt x="317242" y="372328"/>
                </a:lnTo>
                <a:lnTo>
                  <a:pt x="384098" y="426140"/>
                </a:lnTo>
                <a:lnTo>
                  <a:pt x="450955" y="474136"/>
                </a:lnTo>
                <a:lnTo>
                  <a:pt x="503392" y="507588"/>
                </a:lnTo>
                <a:lnTo>
                  <a:pt x="570249" y="542494"/>
                </a:lnTo>
                <a:lnTo>
                  <a:pt x="623996" y="568672"/>
                </a:lnTo>
                <a:lnTo>
                  <a:pt x="755087" y="616668"/>
                </a:lnTo>
                <a:lnTo>
                  <a:pt x="831121" y="638484"/>
                </a:lnTo>
                <a:lnTo>
                  <a:pt x="918952" y="658846"/>
                </a:lnTo>
                <a:lnTo>
                  <a:pt x="1004162" y="680662"/>
                </a:lnTo>
                <a:lnTo>
                  <a:pt x="1071018" y="690843"/>
                </a:lnTo>
                <a:lnTo>
                  <a:pt x="1143119" y="696661"/>
                </a:lnTo>
                <a:lnTo>
                  <a:pt x="1200800" y="702478"/>
                </a:lnTo>
                <a:lnTo>
                  <a:pt x="1268967" y="696661"/>
                </a:lnTo>
                <a:lnTo>
                  <a:pt x="1320093" y="696661"/>
                </a:lnTo>
                <a:lnTo>
                  <a:pt x="1392194" y="686480"/>
                </a:lnTo>
                <a:lnTo>
                  <a:pt x="1520663" y="666118"/>
                </a:lnTo>
                <a:lnTo>
                  <a:pt x="1598007" y="650120"/>
                </a:lnTo>
                <a:lnTo>
                  <a:pt x="1670108" y="629758"/>
                </a:lnTo>
                <a:lnTo>
                  <a:pt x="1740898" y="607942"/>
                </a:lnTo>
                <a:lnTo>
                  <a:pt x="1799889" y="586126"/>
                </a:lnTo>
                <a:lnTo>
                  <a:pt x="1852325" y="568672"/>
                </a:lnTo>
                <a:lnTo>
                  <a:pt x="1929669" y="536676"/>
                </a:lnTo>
                <a:lnTo>
                  <a:pt x="1991283" y="500316"/>
                </a:lnTo>
                <a:lnTo>
                  <a:pt x="2063552" y="500316"/>
                </a:lnTo>
                <a:lnTo>
                  <a:pt x="2086362" y="462500"/>
                </a:lnTo>
                <a:lnTo>
                  <a:pt x="882247" y="462500"/>
                </a:lnTo>
                <a:lnTo>
                  <a:pt x="815390" y="453774"/>
                </a:lnTo>
                <a:lnTo>
                  <a:pt x="748532" y="449412"/>
                </a:lnTo>
                <a:lnTo>
                  <a:pt x="700029" y="437776"/>
                </a:lnTo>
                <a:lnTo>
                  <a:pt x="638416" y="426140"/>
                </a:lnTo>
                <a:lnTo>
                  <a:pt x="575492" y="410142"/>
                </a:lnTo>
                <a:lnTo>
                  <a:pt x="517812" y="388326"/>
                </a:lnTo>
                <a:lnTo>
                  <a:pt x="465374" y="367964"/>
                </a:lnTo>
                <a:lnTo>
                  <a:pt x="402451" y="335968"/>
                </a:lnTo>
                <a:lnTo>
                  <a:pt x="344770" y="303970"/>
                </a:lnTo>
                <a:lnTo>
                  <a:pt x="287091" y="270520"/>
                </a:lnTo>
                <a:lnTo>
                  <a:pt x="229410" y="229796"/>
                </a:lnTo>
                <a:lnTo>
                  <a:pt x="176973" y="180346"/>
                </a:lnTo>
                <a:lnTo>
                  <a:pt x="119293" y="127988"/>
                </a:lnTo>
                <a:lnTo>
                  <a:pt x="0" y="0"/>
                </a:lnTo>
                <a:close/>
              </a:path>
              <a:path w="2249804" h="702945">
                <a:moveTo>
                  <a:pt x="2063552" y="500316"/>
                </a:moveTo>
                <a:lnTo>
                  <a:pt x="1991283" y="500316"/>
                </a:lnTo>
                <a:lnTo>
                  <a:pt x="2018812" y="574490"/>
                </a:lnTo>
                <a:lnTo>
                  <a:pt x="2063552" y="500316"/>
                </a:lnTo>
                <a:close/>
              </a:path>
              <a:path w="2249804" h="702945">
                <a:moveTo>
                  <a:pt x="1841839" y="148348"/>
                </a:moveTo>
                <a:lnTo>
                  <a:pt x="1870679" y="222524"/>
                </a:lnTo>
                <a:lnTo>
                  <a:pt x="1785470" y="276336"/>
                </a:lnTo>
                <a:lnTo>
                  <a:pt x="1727789" y="303970"/>
                </a:lnTo>
                <a:lnTo>
                  <a:pt x="1650445" y="335968"/>
                </a:lnTo>
                <a:lnTo>
                  <a:pt x="1588832" y="356330"/>
                </a:lnTo>
                <a:lnTo>
                  <a:pt x="1515419" y="378146"/>
                </a:lnTo>
                <a:lnTo>
                  <a:pt x="1449875" y="398506"/>
                </a:lnTo>
                <a:lnTo>
                  <a:pt x="1386950" y="414506"/>
                </a:lnTo>
                <a:lnTo>
                  <a:pt x="1310916" y="430504"/>
                </a:lnTo>
                <a:lnTo>
                  <a:pt x="1244060" y="442140"/>
                </a:lnTo>
                <a:lnTo>
                  <a:pt x="1085439" y="462500"/>
                </a:lnTo>
                <a:lnTo>
                  <a:pt x="2086362" y="462500"/>
                </a:lnTo>
                <a:lnTo>
                  <a:pt x="2249534" y="191980"/>
                </a:lnTo>
                <a:lnTo>
                  <a:pt x="1841839" y="148348"/>
                </a:lnTo>
                <a:close/>
              </a:path>
            </a:pathLst>
          </a:custGeom>
          <a:solidFill>
            <a:srgbClr val="D783FF"/>
          </a:solidFill>
        </p:spPr>
        <p:txBody>
          <a:bodyPr wrap="square" lIns="0" tIns="0" rIns="0" bIns="0" rtlCol="0"/>
          <a:lstStyle/>
          <a:p>
            <a:endParaRPr/>
          </a:p>
        </p:txBody>
      </p:sp>
      <p:sp>
        <p:nvSpPr>
          <p:cNvPr id="14" name="object 14"/>
          <p:cNvSpPr txBox="1"/>
          <p:nvPr/>
        </p:nvSpPr>
        <p:spPr>
          <a:xfrm>
            <a:off x="2627640" y="3442764"/>
            <a:ext cx="6924675" cy="2199005"/>
          </a:xfrm>
          <a:prstGeom prst="rect">
            <a:avLst/>
          </a:prstGeom>
        </p:spPr>
        <p:txBody>
          <a:bodyPr vert="horz" wrap="square" lIns="0" tIns="12700" rIns="0" bIns="0" rtlCol="0">
            <a:spAutoFit/>
          </a:bodyPr>
          <a:lstStyle/>
          <a:p>
            <a:pPr marR="269875" algn="ctr">
              <a:lnSpc>
                <a:spcPct val="100000"/>
              </a:lnSpc>
              <a:spcBef>
                <a:spcPts val="100"/>
              </a:spcBef>
            </a:pPr>
            <a:r>
              <a:rPr sz="2800" b="1" dirty="0">
                <a:solidFill>
                  <a:srgbClr val="DFE29A"/>
                </a:solidFill>
                <a:latin typeface="Arial" panose="020B0604020202020204"/>
                <a:cs typeface="Arial" panose="020B0604020202020204"/>
              </a:rPr>
              <a:t>xUnit</a:t>
            </a:r>
            <a:endParaRPr sz="2800" dirty="0">
              <a:latin typeface="Arial" panose="020B0604020202020204"/>
              <a:cs typeface="Arial" panose="020B0604020202020204"/>
            </a:endParaRPr>
          </a:p>
          <a:p>
            <a:pPr>
              <a:lnSpc>
                <a:spcPct val="100000"/>
              </a:lnSpc>
              <a:spcBef>
                <a:spcPts val="50"/>
              </a:spcBef>
            </a:pPr>
            <a:endParaRPr sz="2500" dirty="0">
              <a:latin typeface="Times New Roman" panose="02020603050405020304"/>
              <a:cs typeface="Times New Roman" panose="02020603050405020304"/>
            </a:endParaRPr>
          </a:p>
          <a:p>
            <a:pPr marL="4977130">
              <a:lnSpc>
                <a:spcPts val="2120"/>
              </a:lnSpc>
            </a:pPr>
            <a:r>
              <a:rPr sz="2000" spc="-5" dirty="0">
                <a:latin typeface="Arial" panose="020B0604020202020204"/>
                <a:cs typeface="Arial" panose="020B0604020202020204"/>
              </a:rPr>
              <a:t>PhpUnit</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Php</a:t>
            </a:r>
            <a:r>
              <a:rPr sz="2000" spc="-5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p>
          <a:p>
            <a:pPr marL="12700">
              <a:lnSpc>
                <a:spcPts val="2120"/>
              </a:lnSpc>
            </a:pPr>
            <a:r>
              <a:rPr sz="2000" dirty="0">
                <a:latin typeface="Arial" panose="020B0604020202020204"/>
                <a:cs typeface="Arial" panose="020B0604020202020204"/>
              </a:rPr>
              <a:t>DUnit </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Delphi</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p>
          <a:p>
            <a:pPr>
              <a:lnSpc>
                <a:spcPct val="100000"/>
              </a:lnSpc>
              <a:spcBef>
                <a:spcPts val="50"/>
              </a:spcBef>
            </a:pPr>
            <a:endParaRPr sz="3600" dirty="0">
              <a:latin typeface="Times New Roman" panose="02020603050405020304"/>
              <a:cs typeface="Times New Roman" panose="02020603050405020304"/>
            </a:endParaRPr>
          </a:p>
          <a:p>
            <a:pPr marL="3491865">
              <a:lnSpc>
                <a:spcPct val="100000"/>
              </a:lnSpc>
              <a:spcBef>
                <a:spcPts val="5"/>
              </a:spcBef>
            </a:pPr>
            <a:r>
              <a:rPr sz="2000" spc="-5" dirty="0">
                <a:latin typeface="Arial" panose="020B0604020202020204"/>
                <a:cs typeface="Arial" panose="020B0604020202020204"/>
              </a:rPr>
              <a:t>NUnit</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.Net</a:t>
            </a:r>
            <a:r>
              <a:rPr sz="2000" spc="-5" dirty="0">
                <a:latin typeface="微软雅黑" panose="020B0503020204020204" pitchFamily="34" charset="-122"/>
                <a:cs typeface="微软雅黑" panose="020B0503020204020204" pitchFamily="34" charset="-122"/>
              </a:rPr>
              <a:t>）</a:t>
            </a:r>
            <a:endParaRPr sz="2000" dirty="0">
              <a:latin typeface="微软雅黑" panose="020B0503020204020204" pitchFamily="34" charset="-122"/>
              <a:cs typeface="微软雅黑" panose="020B0503020204020204" pitchFamily="34" charset="-122"/>
            </a:endParaRPr>
          </a:p>
        </p:txBody>
      </p:sp>
      <p:sp>
        <p:nvSpPr>
          <p:cNvPr id="15" name="object 15"/>
          <p:cNvSpPr/>
          <p:nvPr/>
        </p:nvSpPr>
        <p:spPr>
          <a:xfrm>
            <a:off x="6066008" y="2873692"/>
            <a:ext cx="1507490" cy="1852295"/>
          </a:xfrm>
          <a:custGeom>
            <a:avLst/>
            <a:gdLst/>
            <a:ahLst/>
            <a:cxnLst/>
            <a:rect l="l" t="t" r="r" b="b"/>
            <a:pathLst>
              <a:path w="1507490" h="1852295">
                <a:moveTo>
                  <a:pt x="1291028" y="0"/>
                </a:moveTo>
                <a:lnTo>
                  <a:pt x="1049393" y="331257"/>
                </a:lnTo>
                <a:lnTo>
                  <a:pt x="1128050" y="343369"/>
                </a:lnTo>
                <a:lnTo>
                  <a:pt x="1132050" y="444069"/>
                </a:lnTo>
                <a:lnTo>
                  <a:pt x="1127141" y="507838"/>
                </a:lnTo>
                <a:lnTo>
                  <a:pt x="1116178" y="590819"/>
                </a:lnTo>
                <a:lnTo>
                  <a:pt x="1103006" y="654358"/>
                </a:lnTo>
                <a:lnTo>
                  <a:pt x="1085194" y="728842"/>
                </a:lnTo>
                <a:lnTo>
                  <a:pt x="1070055" y="795788"/>
                </a:lnTo>
                <a:lnTo>
                  <a:pt x="1052447" y="858281"/>
                </a:lnTo>
                <a:lnTo>
                  <a:pt x="1028287" y="932127"/>
                </a:lnTo>
                <a:lnTo>
                  <a:pt x="1004934" y="995845"/>
                </a:lnTo>
                <a:lnTo>
                  <a:pt x="975079" y="1067917"/>
                </a:lnTo>
                <a:lnTo>
                  <a:pt x="943258" y="1143396"/>
                </a:lnTo>
                <a:lnTo>
                  <a:pt x="841662" y="1319364"/>
                </a:lnTo>
                <a:lnTo>
                  <a:pt x="800675" y="1372901"/>
                </a:lnTo>
                <a:lnTo>
                  <a:pt x="763469" y="1428619"/>
                </a:lnTo>
                <a:lnTo>
                  <a:pt x="729140" y="1464807"/>
                </a:lnTo>
                <a:lnTo>
                  <a:pt x="688257" y="1512349"/>
                </a:lnTo>
                <a:lnTo>
                  <a:pt x="642940" y="1558843"/>
                </a:lnTo>
                <a:lnTo>
                  <a:pt x="595207" y="1597887"/>
                </a:lnTo>
                <a:lnTo>
                  <a:pt x="551353" y="1633118"/>
                </a:lnTo>
                <a:lnTo>
                  <a:pt x="492182" y="1671613"/>
                </a:lnTo>
                <a:lnTo>
                  <a:pt x="435631" y="1705568"/>
                </a:lnTo>
                <a:lnTo>
                  <a:pt x="377822" y="1738795"/>
                </a:lnTo>
                <a:lnTo>
                  <a:pt x="313714" y="1768386"/>
                </a:lnTo>
                <a:lnTo>
                  <a:pt x="244671" y="1789073"/>
                </a:lnTo>
                <a:lnTo>
                  <a:pt x="170487" y="1812846"/>
                </a:lnTo>
                <a:lnTo>
                  <a:pt x="0" y="1852162"/>
                </a:lnTo>
                <a:lnTo>
                  <a:pt x="151477" y="1845769"/>
                </a:lnTo>
                <a:lnTo>
                  <a:pt x="233117" y="1832354"/>
                </a:lnTo>
                <a:lnTo>
                  <a:pt x="280286" y="1826285"/>
                </a:lnTo>
                <a:lnTo>
                  <a:pt x="419027" y="1783777"/>
                </a:lnTo>
                <a:lnTo>
                  <a:pt x="481067" y="1763588"/>
                </a:lnTo>
                <a:lnTo>
                  <a:pt x="561098" y="1732594"/>
                </a:lnTo>
                <a:lnTo>
                  <a:pt x="636092" y="1698692"/>
                </a:lnTo>
                <a:lnTo>
                  <a:pt x="691280" y="1670006"/>
                </a:lnTo>
                <a:lnTo>
                  <a:pt x="754938" y="1629559"/>
                </a:lnTo>
                <a:lnTo>
                  <a:pt x="804484" y="1596102"/>
                </a:lnTo>
                <a:lnTo>
                  <a:pt x="856099" y="1553244"/>
                </a:lnTo>
                <a:lnTo>
                  <a:pt x="911595" y="1506571"/>
                </a:lnTo>
                <a:lnTo>
                  <a:pt x="968504" y="1451632"/>
                </a:lnTo>
                <a:lnTo>
                  <a:pt x="1030055" y="1385749"/>
                </a:lnTo>
                <a:lnTo>
                  <a:pt x="1091552" y="1322863"/>
                </a:lnTo>
                <a:lnTo>
                  <a:pt x="1133797" y="1270054"/>
                </a:lnTo>
                <a:lnTo>
                  <a:pt x="1174885" y="1210523"/>
                </a:lnTo>
                <a:lnTo>
                  <a:pt x="1208764" y="1163478"/>
                </a:lnTo>
                <a:lnTo>
                  <a:pt x="1237810" y="1101535"/>
                </a:lnTo>
                <a:lnTo>
                  <a:pt x="1263373" y="1057258"/>
                </a:lnTo>
                <a:lnTo>
                  <a:pt x="1290605" y="989727"/>
                </a:lnTo>
                <a:lnTo>
                  <a:pt x="1316581" y="921468"/>
                </a:lnTo>
                <a:lnTo>
                  <a:pt x="1337208" y="868288"/>
                </a:lnTo>
                <a:lnTo>
                  <a:pt x="1362025" y="793306"/>
                </a:lnTo>
                <a:lnTo>
                  <a:pt x="1380441" y="720685"/>
                </a:lnTo>
                <a:lnTo>
                  <a:pt x="1396942" y="648472"/>
                </a:lnTo>
                <a:lnTo>
                  <a:pt x="1407544" y="586475"/>
                </a:lnTo>
                <a:lnTo>
                  <a:pt x="1418648" y="532338"/>
                </a:lnTo>
                <a:lnTo>
                  <a:pt x="1429609" y="449357"/>
                </a:lnTo>
                <a:lnTo>
                  <a:pt x="1428927" y="377818"/>
                </a:lnTo>
                <a:lnTo>
                  <a:pt x="1499616" y="377818"/>
                </a:lnTo>
                <a:lnTo>
                  <a:pt x="1291028" y="0"/>
                </a:lnTo>
                <a:close/>
              </a:path>
              <a:path w="1507490" h="1852295">
                <a:moveTo>
                  <a:pt x="1499616" y="377818"/>
                </a:moveTo>
                <a:lnTo>
                  <a:pt x="1428927" y="377818"/>
                </a:lnTo>
                <a:lnTo>
                  <a:pt x="1506929" y="391064"/>
                </a:lnTo>
                <a:lnTo>
                  <a:pt x="1499616" y="377818"/>
                </a:lnTo>
                <a:close/>
              </a:path>
            </a:pathLst>
          </a:custGeom>
          <a:solidFill>
            <a:srgbClr val="AB82FF"/>
          </a:solidFill>
        </p:spPr>
        <p:txBody>
          <a:bodyPr wrap="square" lIns="0" tIns="0" rIns="0" bIns="0" rtlCol="0"/>
          <a:lstStyle/>
          <a:p>
            <a:endParaRPr/>
          </a:p>
        </p:txBody>
      </p:sp>
      <p:sp>
        <p:nvSpPr>
          <p:cNvPr id="16" name="object 16"/>
          <p:cNvSpPr txBox="1"/>
          <p:nvPr/>
        </p:nvSpPr>
        <p:spPr>
          <a:xfrm>
            <a:off x="7638788" y="2504624"/>
            <a:ext cx="2143125" cy="641201"/>
          </a:xfrm>
          <a:prstGeom prst="rect">
            <a:avLst/>
          </a:prstGeom>
        </p:spPr>
        <p:txBody>
          <a:bodyPr vert="horz" wrap="square" lIns="0" tIns="12700" rIns="0" bIns="0" rtlCol="0">
            <a:spAutoFit/>
          </a:bodyPr>
          <a:lstStyle/>
          <a:p>
            <a:pPr marL="12700">
              <a:lnSpc>
                <a:spcPct val="100000"/>
              </a:lnSpc>
              <a:spcBef>
                <a:spcPts val="100"/>
              </a:spcBef>
            </a:pPr>
            <a:r>
              <a:rPr sz="2000" spc="-5" dirty="0" err="1">
                <a:latin typeface="Arial" panose="020B0604020202020204"/>
                <a:cs typeface="Arial" panose="020B0604020202020204"/>
              </a:rPr>
              <a:t>PyUnit</a:t>
            </a:r>
            <a:r>
              <a:rPr lang="en-US" altLang="zh-CN" sz="2000" spc="-5" dirty="0">
                <a:latin typeface="Arial" panose="020B0604020202020204"/>
                <a:cs typeface="Arial" panose="020B0604020202020204"/>
              </a:rPr>
              <a:t>/</a:t>
            </a:r>
            <a:r>
              <a:rPr lang="en-US" altLang="zh-CN" sz="2000" spc="-5" dirty="0" err="1">
                <a:latin typeface="Arial" panose="020B0604020202020204"/>
                <a:cs typeface="Arial" panose="020B0604020202020204"/>
              </a:rPr>
              <a:t>unittest</a:t>
            </a:r>
            <a:endParaRPr lang="en-US" altLang="zh-CN" sz="2000" spc="-5" dirty="0">
              <a:latin typeface="Arial" panose="020B0604020202020204"/>
              <a:cs typeface="Arial" panose="020B0604020202020204"/>
            </a:endParaRPr>
          </a:p>
          <a:p>
            <a:pPr marL="12700">
              <a:lnSpc>
                <a:spcPct val="100000"/>
              </a:lnSpc>
              <a:spcBef>
                <a:spcPts val="100"/>
              </a:spcBef>
            </a:pP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Python</a:t>
            </a:r>
            <a:r>
              <a:rPr sz="2000" spc="-4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p>
        </p:txBody>
      </p:sp>
      <p:sp>
        <p:nvSpPr>
          <p:cNvPr id="17" name="灯片编号占位符 16"/>
          <p:cNvSpPr>
            <a:spLocks noGrp="1"/>
          </p:cNvSpPr>
          <p:nvPr>
            <p:ph type="sldNum" sz="quarter" idx="12"/>
          </p:nvPr>
        </p:nvSpPr>
        <p:spPr/>
        <p:txBody>
          <a:bodyPr/>
          <a:lstStyle/>
          <a:p>
            <a:fld id="{74D2AB8B-5816-41F2-8B4B-CA5C3E4E6A65}" type="slidenum">
              <a:rPr lang="zh-CN" altLang="en-US" smtClean="0"/>
              <a:t>46</a:t>
            </a:fld>
            <a:endParaRPr lang="zh-CN" altLang="en-US"/>
          </a:p>
        </p:txBody>
      </p:sp>
      <p:sp>
        <p:nvSpPr>
          <p:cNvPr id="19" name="标题 18"/>
          <p:cNvSpPr>
            <a:spLocks noGrp="1"/>
          </p:cNvSpPr>
          <p:nvPr>
            <p:ph type="title"/>
          </p:nvPr>
        </p:nvSpPr>
        <p:spPr/>
        <p:txBody>
          <a:bodyPr/>
          <a:lstStyle/>
          <a:p>
            <a:r>
              <a:rPr lang="zh-CN" altLang="en-US" dirty="0"/>
              <a:t>单元测试之</a:t>
            </a:r>
            <a:r>
              <a:rPr lang="en-US" altLang="zh-CN" dirty="0" err="1">
                <a:latin typeface="Arial" panose="020B0604020202020204"/>
                <a:cs typeface="Arial" panose="020B0604020202020204"/>
              </a:rPr>
              <a:t>xUnit</a:t>
            </a:r>
            <a:endParaRPr lang="zh-CN" altLang="en-US" dirty="0"/>
          </a:p>
        </p:txBody>
      </p:sp>
      <p:sp>
        <p:nvSpPr>
          <p:cNvPr id="2" name="矩形 1">
            <a:extLst>
              <a:ext uri="{FF2B5EF4-FFF2-40B4-BE49-F238E27FC236}">
                <a16:creationId xmlns:a16="http://schemas.microsoft.com/office/drawing/2014/main" id="{3707BF3D-5D4B-4A4C-A8BC-34487CA2EF4C}"/>
              </a:ext>
            </a:extLst>
          </p:cNvPr>
          <p:cNvSpPr/>
          <p:nvPr/>
        </p:nvSpPr>
        <p:spPr>
          <a:xfrm>
            <a:off x="1439688" y="5736647"/>
            <a:ext cx="9712036"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单元测试一般需要借助工具来编写测试代码，目前最流行的是针对不同编程语言的</a:t>
            </a:r>
            <a:r>
              <a:rPr lang="en-US" altLang="zh-CN" dirty="0">
                <a:latin typeface="微软雅黑" panose="020B0503020204020204" pitchFamily="34" charset="-122"/>
                <a:ea typeface="微软雅黑" panose="020B0503020204020204" pitchFamily="34" charset="-122"/>
              </a:rPr>
              <a:t>unit</a:t>
            </a:r>
            <a:r>
              <a:rPr lang="zh-CN" altLang="en-US" dirty="0">
                <a:latin typeface="微软雅黑" panose="020B0503020204020204" pitchFamily="34" charset="-122"/>
                <a:ea typeface="微软雅黑" panose="020B0503020204020204" pitchFamily="34" charset="-122"/>
              </a:rPr>
              <a:t>系列工具，大家可以在以后的开发中自己学习和使用。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54169" y="1536186"/>
            <a:ext cx="7073900" cy="415290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latin typeface="Arial" panose="020B0604020202020204"/>
                <a:cs typeface="Arial" panose="020B0604020202020204"/>
              </a:rPr>
              <a:t>xUnit</a:t>
            </a:r>
            <a:r>
              <a:rPr sz="2400" spc="35" dirty="0">
                <a:solidFill>
                  <a:srgbClr val="0033CC"/>
                </a:solidFill>
                <a:latin typeface="Arial" panose="020B0604020202020204"/>
                <a:cs typeface="Arial" panose="020B0604020202020204"/>
              </a:rPr>
              <a:t> </a:t>
            </a:r>
            <a:r>
              <a:rPr sz="2400" dirty="0">
                <a:solidFill>
                  <a:srgbClr val="004DD6"/>
                </a:solidFill>
                <a:latin typeface="微软雅黑" panose="020B0503020204020204" pitchFamily="34" charset="-122"/>
                <a:cs typeface="微软雅黑" panose="020B0503020204020204" pitchFamily="34" charset="-122"/>
              </a:rPr>
              <a:t>通常适用于以下场景的测试</a:t>
            </a:r>
            <a:endParaRPr sz="2400">
              <a:latin typeface="微软雅黑" panose="020B0503020204020204" pitchFamily="34" charset="-122"/>
              <a:cs typeface="微软雅黑" panose="020B0503020204020204" pitchFamily="34" charset="-122"/>
            </a:endParaRPr>
          </a:p>
          <a:p>
            <a:pPr marL="355600" indent="-342900">
              <a:lnSpc>
                <a:spcPct val="100000"/>
              </a:lnSpc>
              <a:spcBef>
                <a:spcPts val="168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单个函数、一个类或者几个功能相关类的测试</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1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尤其适用于纯函数测试或者接口级别的测试</a:t>
            </a:r>
            <a:endParaRPr sz="2200">
              <a:latin typeface="微软雅黑" panose="020B0503020204020204" pitchFamily="34" charset="-122"/>
              <a:cs typeface="微软雅黑" panose="020B0503020204020204" pitchFamily="34" charset="-122"/>
            </a:endParaRPr>
          </a:p>
          <a:p>
            <a:pPr>
              <a:lnSpc>
                <a:spcPct val="100000"/>
              </a:lnSpc>
              <a:spcBef>
                <a:spcPts val="25"/>
              </a:spcBef>
              <a:buFont typeface="Arial" panose="020B0604020202020204"/>
              <a:buChar char="•"/>
            </a:pPr>
            <a:endParaRPr sz="2500">
              <a:latin typeface="Times New Roman" panose="02020603050405020304"/>
              <a:cs typeface="Times New Roman" panose="02020603050405020304"/>
            </a:endParaRPr>
          </a:p>
          <a:p>
            <a:pPr marL="12700">
              <a:lnSpc>
                <a:spcPct val="100000"/>
              </a:lnSpc>
            </a:pPr>
            <a:r>
              <a:rPr sz="2400" dirty="0">
                <a:solidFill>
                  <a:srgbClr val="CC0000"/>
                </a:solidFill>
                <a:latin typeface="Arial" panose="020B0604020202020204"/>
                <a:cs typeface="Arial" panose="020B0604020202020204"/>
              </a:rPr>
              <a:t>xUnit</a:t>
            </a:r>
            <a:r>
              <a:rPr sz="2400" spc="35" dirty="0">
                <a:solidFill>
                  <a:srgbClr val="CC0000"/>
                </a:solidFill>
                <a:latin typeface="Arial" panose="020B0604020202020204"/>
                <a:cs typeface="Arial" panose="020B0604020202020204"/>
              </a:rPr>
              <a:t> </a:t>
            </a:r>
            <a:r>
              <a:rPr sz="2400" dirty="0">
                <a:solidFill>
                  <a:srgbClr val="D81E00"/>
                </a:solidFill>
                <a:latin typeface="微软雅黑" panose="020B0503020204020204" pitchFamily="34" charset="-122"/>
                <a:cs typeface="微软雅黑" panose="020B0503020204020204" pitchFamily="34" charset="-122"/>
              </a:rPr>
              <a:t>无法适用于复杂场景的测试</a:t>
            </a:r>
            <a:endParaRPr sz="2400">
              <a:latin typeface="微软雅黑" panose="020B0503020204020204" pitchFamily="34" charset="-122"/>
              <a:cs typeface="微软雅黑" panose="020B0503020204020204" pitchFamily="34" charset="-122"/>
            </a:endParaRPr>
          </a:p>
          <a:p>
            <a:pPr marL="355600" indent="-342900">
              <a:lnSpc>
                <a:spcPct val="100000"/>
              </a:lnSpc>
              <a:spcBef>
                <a:spcPts val="178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被测对象依赖关系复杂，甚至无法简单创建出这个对象</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1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对于一些失败场景的测试</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0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被测对象中涉及多线程合作</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1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被测对象通过消息与外界交互的场景</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9061740" y="1557867"/>
            <a:ext cx="1377654" cy="139484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9197580" y="4088535"/>
            <a:ext cx="1264441" cy="1339451"/>
          </a:xfrm>
          <a:prstGeom prst="rect">
            <a:avLst/>
          </a:prstGeom>
          <a:blipFill>
            <a:blip r:embed="rId4"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47</a:t>
            </a:fld>
            <a:endParaRPr lang="zh-CN" altLang="en-US"/>
          </a:p>
        </p:txBody>
      </p:sp>
      <p:sp>
        <p:nvSpPr>
          <p:cNvPr id="8" name="标题 7"/>
          <p:cNvSpPr>
            <a:spLocks noGrp="1"/>
          </p:cNvSpPr>
          <p:nvPr>
            <p:ph type="title"/>
          </p:nvPr>
        </p:nvSpPr>
        <p:spPr/>
        <p:txBody>
          <a:bodyPr/>
          <a:lstStyle/>
          <a:p>
            <a:r>
              <a:rPr lang="zh-CN" altLang="en-US" dirty="0"/>
              <a:t>单元测试之</a:t>
            </a:r>
            <a:r>
              <a:rPr lang="en-US" altLang="zh-CN" dirty="0" err="1">
                <a:latin typeface="Arial" panose="020B0604020202020204"/>
                <a:cs typeface="Arial" panose="020B0604020202020204"/>
              </a:rPr>
              <a:t>xUnit</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84559C-468B-4F6A-A289-4DF3C8938D98}"/>
              </a:ext>
            </a:extLst>
          </p:cNvPr>
          <p:cNvSpPr>
            <a:spLocks noGrp="1"/>
          </p:cNvSpPr>
          <p:nvPr>
            <p:ph type="title"/>
          </p:nvPr>
        </p:nvSpPr>
        <p:spPr/>
        <p:txBody>
          <a:bodyPr/>
          <a:lstStyle/>
          <a:p>
            <a:r>
              <a:rPr lang="zh-CN" altLang="en-US" dirty="0"/>
              <a:t>单元测试实践</a:t>
            </a:r>
            <a:r>
              <a:rPr lang="en-US" altLang="zh-CN" dirty="0"/>
              <a:t>—C++</a:t>
            </a:r>
            <a:endParaRPr lang="zh-CN" altLang="en-US" dirty="0"/>
          </a:p>
        </p:txBody>
      </p:sp>
      <p:sp>
        <p:nvSpPr>
          <p:cNvPr id="3" name="内容占位符 2">
            <a:extLst>
              <a:ext uri="{FF2B5EF4-FFF2-40B4-BE49-F238E27FC236}">
                <a16:creationId xmlns:a16="http://schemas.microsoft.com/office/drawing/2014/main" id="{3BC2AA61-3558-4A25-8F78-FCB9D837ABE4}"/>
              </a:ext>
            </a:extLst>
          </p:cNvPr>
          <p:cNvSpPr>
            <a:spLocks noGrp="1"/>
          </p:cNvSpPr>
          <p:nvPr>
            <p:ph idx="1"/>
          </p:nvPr>
        </p:nvSpPr>
        <p:spPr/>
        <p:txBody>
          <a:bodyPr/>
          <a:lstStyle/>
          <a:p>
            <a:r>
              <a:rPr lang="en-US" altLang="zh-CN" dirty="0"/>
              <a:t>https://www.cnblogs.com/SivilTaram/p/software_pretraining_cpp.html</a:t>
            </a:r>
            <a:endParaRPr lang="zh-CN" altLang="en-US" dirty="0"/>
          </a:p>
        </p:txBody>
      </p:sp>
      <p:sp>
        <p:nvSpPr>
          <p:cNvPr id="4" name="灯片编号占位符 3">
            <a:extLst>
              <a:ext uri="{FF2B5EF4-FFF2-40B4-BE49-F238E27FC236}">
                <a16:creationId xmlns:a16="http://schemas.microsoft.com/office/drawing/2014/main" id="{802851FF-87DD-47DD-B756-07EAD4AA9310}"/>
              </a:ext>
            </a:extLst>
          </p:cNvPr>
          <p:cNvSpPr>
            <a:spLocks noGrp="1"/>
          </p:cNvSpPr>
          <p:nvPr>
            <p:ph type="sldNum" sz="quarter" idx="12"/>
          </p:nvPr>
        </p:nvSpPr>
        <p:spPr/>
        <p:txBody>
          <a:bodyPr/>
          <a:lstStyle/>
          <a:p>
            <a:fld id="{74D2AB8B-5816-41F2-8B4B-CA5C3E4E6A65}" type="slidenum">
              <a:rPr lang="zh-CN" altLang="en-US" smtClean="0"/>
              <a:t>48</a:t>
            </a:fld>
            <a:endParaRPr lang="zh-CN" altLang="en-US"/>
          </a:p>
        </p:txBody>
      </p:sp>
    </p:spTree>
    <p:extLst>
      <p:ext uri="{BB962C8B-B14F-4D97-AF65-F5344CB8AC3E}">
        <p14:creationId xmlns:p14="http://schemas.microsoft.com/office/powerpoint/2010/main" val="2865623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 ）是错误的。</a:t>
            </a:r>
          </a:p>
        </p:txBody>
      </p:sp>
      <p:sp>
        <p:nvSpPr>
          <p:cNvPr id="5" name="文本框 4"/>
          <p:cNvSpPr txBox="1"/>
          <p:nvPr>
            <p:custDataLst>
              <p:tags r:id="rId3"/>
            </p:custDataLst>
          </p:nvPr>
        </p:nvSpPr>
        <p:spPr>
          <a:xfrm>
            <a:off x="2438400" y="264284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静态测试是不运行被测程序，仅通过检查和阅读等手段来发现程序中的错误</a:t>
            </a:r>
          </a:p>
        </p:txBody>
      </p:sp>
      <p:sp>
        <p:nvSpPr>
          <p:cNvPr id="6" name="文本框 5"/>
          <p:cNvSpPr txBox="1"/>
          <p:nvPr>
            <p:custDataLst>
              <p:tags r:id="rId4"/>
            </p:custDataLst>
          </p:nvPr>
        </p:nvSpPr>
        <p:spPr>
          <a:xfrm>
            <a:off x="2438400" y="350009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动态测试是实际运行被测程序，通过检查运行的结果来发现程序中的错误</a:t>
            </a:r>
          </a:p>
        </p:txBody>
      </p:sp>
      <p:sp>
        <p:nvSpPr>
          <p:cNvPr id="7" name="文本框 6"/>
          <p:cNvSpPr txBox="1"/>
          <p:nvPr>
            <p:custDataLst>
              <p:tags r:id="rId5"/>
            </p:custDataLst>
          </p:nvPr>
        </p:nvSpPr>
        <p:spPr>
          <a:xfrm>
            <a:off x="2438400" y="435734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动态测试可能是黑盒测试，也可能是白盒测试</a:t>
            </a:r>
          </a:p>
        </p:txBody>
      </p:sp>
      <p:sp>
        <p:nvSpPr>
          <p:cNvPr id="8" name="文本框 7"/>
          <p:cNvSpPr txBox="1"/>
          <p:nvPr>
            <p:custDataLst>
              <p:tags r:id="rId6"/>
            </p:custDataLst>
          </p:nvPr>
        </p:nvSpPr>
        <p:spPr>
          <a:xfrm>
            <a:off x="2438400" y="521459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白盒测试是静态测试，黑盒测试是动态测试</a:t>
            </a:r>
          </a:p>
        </p:txBody>
      </p:sp>
      <p:sp>
        <p:nvSpPr>
          <p:cNvPr id="13" name="矩形: 圆角 12"/>
          <p:cNvSpPr/>
          <p:nvPr>
            <p:custDataLst>
              <p:tags r:id="rId7"/>
            </p:custDataLst>
          </p:nvPr>
        </p:nvSpPr>
        <p:spPr>
          <a:xfrm>
            <a:off x="7251853" y="155194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25507AF8-5177-7C44-88A9-E09EE8B99A86}"/>
              </a:ext>
            </a:extLst>
          </p:cNvPr>
          <p:cNvSpPr txBox="1"/>
          <p:nvPr/>
        </p:nvSpPr>
        <p:spPr>
          <a:xfrm>
            <a:off x="1648893" y="2590350"/>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测试用例</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081578" y="974898"/>
            <a:ext cx="5627715" cy="356616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484794" y="2344675"/>
            <a:ext cx="2870200" cy="995680"/>
          </a:xfrm>
          <a:prstGeom prst="rect">
            <a:avLst/>
          </a:prstGeom>
        </p:spPr>
        <p:txBody>
          <a:bodyPr vert="horz" wrap="square" lIns="0" tIns="33020" rIns="0" bIns="0" rtlCol="0">
            <a:spAutoFit/>
          </a:bodyPr>
          <a:lstStyle/>
          <a:p>
            <a:pPr marL="12700" marR="5080" indent="406400">
              <a:lnSpc>
                <a:spcPts val="3800"/>
              </a:lnSpc>
              <a:spcBef>
                <a:spcPts val="260"/>
              </a:spcBef>
            </a:pPr>
            <a:r>
              <a:rPr sz="3200" dirty="0">
                <a:solidFill>
                  <a:srgbClr val="C00000"/>
                </a:solidFill>
                <a:latin typeface="华文行楷" panose="02010800040101010101" charset="-122"/>
                <a:cs typeface="华文行楷" panose="02010800040101010101" charset="-122"/>
              </a:rPr>
              <a:t>设计良好的 测试用例是关键</a:t>
            </a:r>
            <a:endParaRPr sz="3200">
              <a:latin typeface="华文行楷" panose="02010800040101010101" charset="-122"/>
              <a:cs typeface="华文行楷" panose="02010800040101010101" charset="-122"/>
            </a:endParaRPr>
          </a:p>
        </p:txBody>
      </p:sp>
      <p:sp>
        <p:nvSpPr>
          <p:cNvPr id="5" name="object 5"/>
          <p:cNvSpPr txBox="1"/>
          <p:nvPr/>
        </p:nvSpPr>
        <p:spPr>
          <a:xfrm>
            <a:off x="205651" y="4234813"/>
            <a:ext cx="22606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降低软件测试成本</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1315433" y="3547754"/>
            <a:ext cx="616585" cy="628650"/>
          </a:xfrm>
          <a:custGeom>
            <a:avLst/>
            <a:gdLst/>
            <a:ahLst/>
            <a:cxnLst/>
            <a:rect l="l" t="t" r="r" b="b"/>
            <a:pathLst>
              <a:path w="616585" h="628650">
                <a:moveTo>
                  <a:pt x="0" y="84181"/>
                </a:moveTo>
                <a:lnTo>
                  <a:pt x="173448" y="429647"/>
                </a:lnTo>
                <a:lnTo>
                  <a:pt x="505059" y="628304"/>
                </a:lnTo>
                <a:lnTo>
                  <a:pt x="378794" y="492273"/>
                </a:lnTo>
                <a:lnTo>
                  <a:pt x="616038" y="272061"/>
                </a:lnTo>
                <a:lnTo>
                  <a:pt x="567912" y="220212"/>
                </a:lnTo>
                <a:lnTo>
                  <a:pt x="126264" y="220212"/>
                </a:lnTo>
                <a:lnTo>
                  <a:pt x="0" y="84181"/>
                </a:lnTo>
                <a:close/>
              </a:path>
              <a:path w="616585" h="628650">
                <a:moveTo>
                  <a:pt x="363509" y="0"/>
                </a:moveTo>
                <a:lnTo>
                  <a:pt x="126264" y="220212"/>
                </a:lnTo>
                <a:lnTo>
                  <a:pt x="567912" y="220212"/>
                </a:lnTo>
                <a:lnTo>
                  <a:pt x="363509" y="0"/>
                </a:lnTo>
                <a:close/>
              </a:path>
            </a:pathLst>
          </a:custGeom>
          <a:solidFill>
            <a:srgbClr val="A76585"/>
          </a:solidFill>
        </p:spPr>
        <p:txBody>
          <a:bodyPr wrap="square" lIns="0" tIns="0" rIns="0" bIns="0" rtlCol="0"/>
          <a:lstStyle/>
          <a:p>
            <a:endParaRPr/>
          </a:p>
        </p:txBody>
      </p:sp>
      <p:sp>
        <p:nvSpPr>
          <p:cNvPr id="7" name="object 7"/>
          <p:cNvSpPr txBox="1"/>
          <p:nvPr/>
        </p:nvSpPr>
        <p:spPr>
          <a:xfrm>
            <a:off x="2829358" y="5019227"/>
            <a:ext cx="22606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保证测试工作质量</a:t>
            </a:r>
            <a:endParaRPr sz="2200">
              <a:latin typeface="微软雅黑" panose="020B0503020204020204" pitchFamily="34" charset="-122"/>
              <a:cs typeface="微软雅黑" panose="020B0503020204020204" pitchFamily="34" charset="-122"/>
            </a:endParaRPr>
          </a:p>
        </p:txBody>
      </p:sp>
      <p:sp>
        <p:nvSpPr>
          <p:cNvPr id="8" name="object 8"/>
          <p:cNvSpPr/>
          <p:nvPr/>
        </p:nvSpPr>
        <p:spPr>
          <a:xfrm>
            <a:off x="3565238" y="4406726"/>
            <a:ext cx="767715" cy="417830"/>
          </a:xfrm>
          <a:custGeom>
            <a:avLst/>
            <a:gdLst/>
            <a:ahLst/>
            <a:cxnLst/>
            <a:rect l="l" t="t" r="r" b="b"/>
            <a:pathLst>
              <a:path w="767714" h="417829">
                <a:moveTo>
                  <a:pt x="767276" y="313199"/>
                </a:moveTo>
                <a:lnTo>
                  <a:pt x="0" y="313199"/>
                </a:lnTo>
                <a:lnTo>
                  <a:pt x="383639" y="417598"/>
                </a:lnTo>
                <a:lnTo>
                  <a:pt x="767276" y="313199"/>
                </a:lnTo>
                <a:close/>
              </a:path>
              <a:path w="767714" h="417829">
                <a:moveTo>
                  <a:pt x="575457" y="0"/>
                </a:moveTo>
                <a:lnTo>
                  <a:pt x="191818" y="0"/>
                </a:lnTo>
                <a:lnTo>
                  <a:pt x="191818" y="313199"/>
                </a:lnTo>
                <a:lnTo>
                  <a:pt x="575457" y="313199"/>
                </a:lnTo>
                <a:lnTo>
                  <a:pt x="575457" y="0"/>
                </a:lnTo>
                <a:close/>
              </a:path>
            </a:pathLst>
          </a:custGeom>
          <a:solidFill>
            <a:srgbClr val="A76585"/>
          </a:solidFill>
        </p:spPr>
        <p:txBody>
          <a:bodyPr wrap="square" lIns="0" tIns="0" rIns="0" bIns="0" rtlCol="0"/>
          <a:lstStyle/>
          <a:p>
            <a:endParaRPr/>
          </a:p>
        </p:txBody>
      </p:sp>
      <p:sp>
        <p:nvSpPr>
          <p:cNvPr id="9" name="object 9"/>
          <p:cNvSpPr txBox="1"/>
          <p:nvPr/>
        </p:nvSpPr>
        <p:spPr>
          <a:xfrm>
            <a:off x="5724753" y="4397213"/>
            <a:ext cx="25400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评估和检验测试效果</a:t>
            </a:r>
            <a:endParaRPr sz="2200">
              <a:latin typeface="微软雅黑" panose="020B0503020204020204" pitchFamily="34" charset="-122"/>
              <a:cs typeface="微软雅黑" panose="020B0503020204020204" pitchFamily="34" charset="-122"/>
            </a:endParaRPr>
          </a:p>
        </p:txBody>
      </p:sp>
      <p:sp>
        <p:nvSpPr>
          <p:cNvPr id="10" name="object 10"/>
          <p:cNvSpPr/>
          <p:nvPr/>
        </p:nvSpPr>
        <p:spPr>
          <a:xfrm>
            <a:off x="6206040" y="3710196"/>
            <a:ext cx="615950" cy="628650"/>
          </a:xfrm>
          <a:custGeom>
            <a:avLst/>
            <a:gdLst/>
            <a:ahLst/>
            <a:cxnLst/>
            <a:rect l="l" t="t" r="r" b="b"/>
            <a:pathLst>
              <a:path w="615950" h="628650">
                <a:moveTo>
                  <a:pt x="252168" y="0"/>
                </a:moveTo>
                <a:lnTo>
                  <a:pt x="0" y="272394"/>
                </a:lnTo>
                <a:lnTo>
                  <a:pt x="237535" y="492292"/>
                </a:lnTo>
                <a:lnTo>
                  <a:pt x="111450" y="628491"/>
                </a:lnTo>
                <a:lnTo>
                  <a:pt x="442798" y="429394"/>
                </a:lnTo>
                <a:lnTo>
                  <a:pt x="547633" y="219897"/>
                </a:lnTo>
                <a:lnTo>
                  <a:pt x="489705" y="219897"/>
                </a:lnTo>
                <a:lnTo>
                  <a:pt x="252168" y="0"/>
                </a:lnTo>
                <a:close/>
              </a:path>
              <a:path w="615950" h="628650">
                <a:moveTo>
                  <a:pt x="615789" y="83699"/>
                </a:moveTo>
                <a:lnTo>
                  <a:pt x="489705" y="219897"/>
                </a:lnTo>
                <a:lnTo>
                  <a:pt x="547633" y="219897"/>
                </a:lnTo>
                <a:lnTo>
                  <a:pt x="615789" y="83699"/>
                </a:lnTo>
                <a:close/>
              </a:path>
            </a:pathLst>
          </a:custGeom>
          <a:solidFill>
            <a:srgbClr val="A76585"/>
          </a:solidFill>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51</a:t>
            </a:fld>
            <a:endParaRPr lang="zh-CN" altLang="en-US"/>
          </a:p>
        </p:txBody>
      </p:sp>
      <p:sp>
        <p:nvSpPr>
          <p:cNvPr id="13" name="标题 12"/>
          <p:cNvSpPr>
            <a:spLocks noGrp="1"/>
          </p:cNvSpPr>
          <p:nvPr>
            <p:ph type="title"/>
          </p:nvPr>
        </p:nvSpPr>
        <p:spPr/>
        <p:txBody>
          <a:bodyPr/>
          <a:lstStyle/>
          <a:p>
            <a:r>
              <a:rPr lang="zh-CN" altLang="en-US" dirty="0"/>
              <a:t>测试用例的重要性</a:t>
            </a:r>
          </a:p>
        </p:txBody>
      </p:sp>
      <p:sp>
        <p:nvSpPr>
          <p:cNvPr id="2" name="矩形 1">
            <a:extLst>
              <a:ext uri="{FF2B5EF4-FFF2-40B4-BE49-F238E27FC236}">
                <a16:creationId xmlns:a16="http://schemas.microsoft.com/office/drawing/2014/main" id="{04E1C82C-9CFD-4AFA-8F84-FE1A69FD805A}"/>
              </a:ext>
            </a:extLst>
          </p:cNvPr>
          <p:cNvSpPr/>
          <p:nvPr/>
        </p:nvSpPr>
        <p:spPr>
          <a:xfrm>
            <a:off x="6821990" y="1612790"/>
            <a:ext cx="5264007" cy="2862322"/>
          </a:xfrm>
          <a:prstGeom prst="rect">
            <a:avLst/>
          </a:prstGeom>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测试用例的设计是测试活动的基础和关键；</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测试不可能是完备的，会受到时间的约束；</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测试用例可以帮助我们分清先后主次，避免重复和遗漏</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测试用例的通过率和软件缺陷的数量是检验软件质量的量化标准</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17500" y="5365220"/>
            <a:ext cx="6784975" cy="869315"/>
          </a:xfrm>
          <a:prstGeom prst="rect">
            <a:avLst/>
          </a:prstGeom>
          <a:ln w="19049">
            <a:solidFill>
              <a:srgbClr val="004DD6"/>
            </a:solidFill>
          </a:ln>
        </p:spPr>
        <p:txBody>
          <a:bodyPr vert="horz" wrap="square" lIns="0" tIns="96520" rIns="0" bIns="0" rtlCol="0">
            <a:spAutoFit/>
          </a:bodyPr>
          <a:lstStyle/>
          <a:p>
            <a:pPr marL="359410">
              <a:lnSpc>
                <a:spcPct val="100000"/>
              </a:lnSpc>
              <a:spcBef>
                <a:spcPts val="760"/>
              </a:spcBef>
            </a:pPr>
            <a:r>
              <a:rPr sz="2000" dirty="0">
                <a:solidFill>
                  <a:srgbClr val="0033CC"/>
                </a:solidFill>
                <a:latin typeface="微软雅黑" panose="020B0503020204020204" pitchFamily="34" charset="-122"/>
                <a:cs typeface="微软雅黑" panose="020B0503020204020204" pitchFamily="34" charset="-122"/>
              </a:rPr>
              <a:t>验证值</a:t>
            </a:r>
            <a:r>
              <a:rPr sz="2000" dirty="0">
                <a:solidFill>
                  <a:srgbClr val="004DD6"/>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查看测试用例值结果所要用到的值</a:t>
            </a:r>
            <a:endParaRPr sz="2000">
              <a:latin typeface="微软雅黑" panose="020B0503020204020204" pitchFamily="34" charset="-122"/>
              <a:cs typeface="微软雅黑" panose="020B0503020204020204" pitchFamily="34" charset="-122"/>
            </a:endParaRPr>
          </a:p>
          <a:p>
            <a:pPr marL="359410">
              <a:lnSpc>
                <a:spcPct val="100000"/>
              </a:lnSpc>
              <a:spcBef>
                <a:spcPts val="400"/>
              </a:spcBef>
            </a:pPr>
            <a:r>
              <a:rPr sz="2000" dirty="0">
                <a:solidFill>
                  <a:srgbClr val="0033CC"/>
                </a:solidFill>
                <a:latin typeface="微软雅黑" panose="020B0503020204020204" pitchFamily="34" charset="-122"/>
                <a:cs typeface="微软雅黑" panose="020B0503020204020204" pitchFamily="34" charset="-122"/>
              </a:rPr>
              <a:t>结束命令</a:t>
            </a:r>
            <a:r>
              <a:rPr sz="2000" dirty="0">
                <a:solidFill>
                  <a:srgbClr val="004DD6"/>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终止程序或返回到稳定状态所要用到的值</a:t>
            </a:r>
            <a:endParaRPr sz="2000">
              <a:latin typeface="微软雅黑" panose="020B0503020204020204" pitchFamily="34" charset="-122"/>
              <a:cs typeface="微软雅黑" panose="020B0503020204020204" pitchFamily="34" charset="-122"/>
            </a:endParaRPr>
          </a:p>
        </p:txBody>
      </p:sp>
      <p:sp>
        <p:nvSpPr>
          <p:cNvPr id="4" name="object 4"/>
          <p:cNvSpPr/>
          <p:nvPr/>
        </p:nvSpPr>
        <p:spPr>
          <a:xfrm>
            <a:off x="4522021" y="4919014"/>
            <a:ext cx="449580" cy="398780"/>
          </a:xfrm>
          <a:custGeom>
            <a:avLst/>
            <a:gdLst/>
            <a:ahLst/>
            <a:cxnLst/>
            <a:rect l="l" t="t" r="r" b="b"/>
            <a:pathLst>
              <a:path w="449579" h="398779">
                <a:moveTo>
                  <a:pt x="0" y="0"/>
                </a:moveTo>
                <a:lnTo>
                  <a:pt x="0" y="189213"/>
                </a:lnTo>
                <a:lnTo>
                  <a:pt x="224631" y="398462"/>
                </a:lnTo>
                <a:lnTo>
                  <a:pt x="427754" y="209249"/>
                </a:lnTo>
                <a:lnTo>
                  <a:pt x="224631" y="209249"/>
                </a:lnTo>
                <a:lnTo>
                  <a:pt x="0" y="0"/>
                </a:lnTo>
                <a:close/>
              </a:path>
              <a:path w="449579" h="398779">
                <a:moveTo>
                  <a:pt x="449262" y="0"/>
                </a:moveTo>
                <a:lnTo>
                  <a:pt x="224631" y="209249"/>
                </a:lnTo>
                <a:lnTo>
                  <a:pt x="427754" y="209249"/>
                </a:lnTo>
                <a:lnTo>
                  <a:pt x="449262" y="189213"/>
                </a:lnTo>
                <a:lnTo>
                  <a:pt x="449262" y="0"/>
                </a:lnTo>
                <a:close/>
              </a:path>
            </a:pathLst>
          </a:custGeom>
          <a:solidFill>
            <a:srgbClr val="E4EFF9"/>
          </a:solidFill>
        </p:spPr>
        <p:txBody>
          <a:bodyPr wrap="square" lIns="0" tIns="0" rIns="0" bIns="0" rtlCol="0"/>
          <a:lstStyle/>
          <a:p>
            <a:endParaRPr/>
          </a:p>
        </p:txBody>
      </p:sp>
      <p:sp>
        <p:nvSpPr>
          <p:cNvPr id="5" name="object 5"/>
          <p:cNvSpPr/>
          <p:nvPr/>
        </p:nvSpPr>
        <p:spPr>
          <a:xfrm>
            <a:off x="1798400" y="2372454"/>
            <a:ext cx="1441450" cy="142557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798399" y="2372453"/>
            <a:ext cx="1441450" cy="1425575"/>
          </a:xfrm>
          <a:custGeom>
            <a:avLst/>
            <a:gdLst/>
            <a:ahLst/>
            <a:cxnLst/>
            <a:rect l="l" t="t" r="r" b="b"/>
            <a:pathLst>
              <a:path w="1441450" h="1425575">
                <a:moveTo>
                  <a:pt x="0" y="712787"/>
                </a:moveTo>
                <a:lnTo>
                  <a:pt x="1533" y="665921"/>
                </a:lnTo>
                <a:lnTo>
                  <a:pt x="6068" y="619865"/>
                </a:lnTo>
                <a:lnTo>
                  <a:pt x="13512" y="574712"/>
                </a:lnTo>
                <a:lnTo>
                  <a:pt x="23768" y="530556"/>
                </a:lnTo>
                <a:lnTo>
                  <a:pt x="36743" y="487491"/>
                </a:lnTo>
                <a:lnTo>
                  <a:pt x="52340" y="445612"/>
                </a:lnTo>
                <a:lnTo>
                  <a:pt x="70465" y="405011"/>
                </a:lnTo>
                <a:lnTo>
                  <a:pt x="91023" y="365784"/>
                </a:lnTo>
                <a:lnTo>
                  <a:pt x="113919" y="328024"/>
                </a:lnTo>
                <a:lnTo>
                  <a:pt x="139058" y="291824"/>
                </a:lnTo>
                <a:lnTo>
                  <a:pt x="166345" y="257279"/>
                </a:lnTo>
                <a:lnTo>
                  <a:pt x="195685" y="224483"/>
                </a:lnTo>
                <a:lnTo>
                  <a:pt x="226983" y="193530"/>
                </a:lnTo>
                <a:lnTo>
                  <a:pt x="260144" y="164513"/>
                </a:lnTo>
                <a:lnTo>
                  <a:pt x="295074" y="137526"/>
                </a:lnTo>
                <a:lnTo>
                  <a:pt x="331676" y="112664"/>
                </a:lnTo>
                <a:lnTo>
                  <a:pt x="369857" y="90020"/>
                </a:lnTo>
                <a:lnTo>
                  <a:pt x="409521" y="69689"/>
                </a:lnTo>
                <a:lnTo>
                  <a:pt x="450574" y="51763"/>
                </a:lnTo>
                <a:lnTo>
                  <a:pt x="492919" y="36338"/>
                </a:lnTo>
                <a:lnTo>
                  <a:pt x="536464" y="23507"/>
                </a:lnTo>
                <a:lnTo>
                  <a:pt x="581111" y="13363"/>
                </a:lnTo>
                <a:lnTo>
                  <a:pt x="626767" y="6001"/>
                </a:lnTo>
                <a:lnTo>
                  <a:pt x="673336" y="1516"/>
                </a:lnTo>
                <a:lnTo>
                  <a:pt x="720724" y="0"/>
                </a:lnTo>
                <a:lnTo>
                  <a:pt x="768112" y="1516"/>
                </a:lnTo>
                <a:lnTo>
                  <a:pt x="814681" y="6001"/>
                </a:lnTo>
                <a:lnTo>
                  <a:pt x="860337" y="13363"/>
                </a:lnTo>
                <a:lnTo>
                  <a:pt x="904985" y="23507"/>
                </a:lnTo>
                <a:lnTo>
                  <a:pt x="948529" y="36338"/>
                </a:lnTo>
                <a:lnTo>
                  <a:pt x="990875" y="51763"/>
                </a:lnTo>
                <a:lnTo>
                  <a:pt x="1031927" y="69689"/>
                </a:lnTo>
                <a:lnTo>
                  <a:pt x="1071591" y="90020"/>
                </a:lnTo>
                <a:lnTo>
                  <a:pt x="1109772" y="112664"/>
                </a:lnTo>
                <a:lnTo>
                  <a:pt x="1146375" y="137526"/>
                </a:lnTo>
                <a:lnTo>
                  <a:pt x="1181304" y="164513"/>
                </a:lnTo>
                <a:lnTo>
                  <a:pt x="1214466" y="193530"/>
                </a:lnTo>
                <a:lnTo>
                  <a:pt x="1245764" y="224483"/>
                </a:lnTo>
                <a:lnTo>
                  <a:pt x="1275104" y="257279"/>
                </a:lnTo>
                <a:lnTo>
                  <a:pt x="1302391" y="291824"/>
                </a:lnTo>
                <a:lnTo>
                  <a:pt x="1327530" y="328024"/>
                </a:lnTo>
                <a:lnTo>
                  <a:pt x="1350426" y="365784"/>
                </a:lnTo>
                <a:lnTo>
                  <a:pt x="1370984" y="405011"/>
                </a:lnTo>
                <a:lnTo>
                  <a:pt x="1389109" y="445612"/>
                </a:lnTo>
                <a:lnTo>
                  <a:pt x="1404706" y="487491"/>
                </a:lnTo>
                <a:lnTo>
                  <a:pt x="1417680" y="530556"/>
                </a:lnTo>
                <a:lnTo>
                  <a:pt x="1427937" y="574712"/>
                </a:lnTo>
                <a:lnTo>
                  <a:pt x="1435380" y="619865"/>
                </a:lnTo>
                <a:lnTo>
                  <a:pt x="1439916" y="665921"/>
                </a:lnTo>
                <a:lnTo>
                  <a:pt x="1441449" y="712787"/>
                </a:lnTo>
                <a:lnTo>
                  <a:pt x="1439916" y="759653"/>
                </a:lnTo>
                <a:lnTo>
                  <a:pt x="1435380" y="805710"/>
                </a:lnTo>
                <a:lnTo>
                  <a:pt x="1427937" y="850863"/>
                </a:lnTo>
                <a:lnTo>
                  <a:pt x="1417680" y="895019"/>
                </a:lnTo>
                <a:lnTo>
                  <a:pt x="1404706" y="938083"/>
                </a:lnTo>
                <a:lnTo>
                  <a:pt x="1389109" y="979963"/>
                </a:lnTo>
                <a:lnTo>
                  <a:pt x="1370984" y="1020563"/>
                </a:lnTo>
                <a:lnTo>
                  <a:pt x="1350426" y="1059790"/>
                </a:lnTo>
                <a:lnTo>
                  <a:pt x="1327530" y="1097551"/>
                </a:lnTo>
                <a:lnTo>
                  <a:pt x="1302391" y="1133750"/>
                </a:lnTo>
                <a:lnTo>
                  <a:pt x="1275104" y="1168295"/>
                </a:lnTo>
                <a:lnTo>
                  <a:pt x="1245764" y="1201091"/>
                </a:lnTo>
                <a:lnTo>
                  <a:pt x="1214466" y="1232045"/>
                </a:lnTo>
                <a:lnTo>
                  <a:pt x="1181304" y="1261062"/>
                </a:lnTo>
                <a:lnTo>
                  <a:pt x="1146375" y="1288048"/>
                </a:lnTo>
                <a:lnTo>
                  <a:pt x="1109772" y="1312910"/>
                </a:lnTo>
                <a:lnTo>
                  <a:pt x="1071591" y="1335554"/>
                </a:lnTo>
                <a:lnTo>
                  <a:pt x="1031927" y="1355886"/>
                </a:lnTo>
                <a:lnTo>
                  <a:pt x="990875" y="1373811"/>
                </a:lnTo>
                <a:lnTo>
                  <a:pt x="948529" y="1389237"/>
                </a:lnTo>
                <a:lnTo>
                  <a:pt x="904985" y="1402068"/>
                </a:lnTo>
                <a:lnTo>
                  <a:pt x="860337" y="1412211"/>
                </a:lnTo>
                <a:lnTo>
                  <a:pt x="814681" y="1419573"/>
                </a:lnTo>
                <a:lnTo>
                  <a:pt x="768112" y="1424059"/>
                </a:lnTo>
                <a:lnTo>
                  <a:pt x="720724" y="1425575"/>
                </a:lnTo>
                <a:lnTo>
                  <a:pt x="673336" y="1424059"/>
                </a:lnTo>
                <a:lnTo>
                  <a:pt x="626767" y="1419573"/>
                </a:lnTo>
                <a:lnTo>
                  <a:pt x="581111" y="1412211"/>
                </a:lnTo>
                <a:lnTo>
                  <a:pt x="536464" y="1402068"/>
                </a:lnTo>
                <a:lnTo>
                  <a:pt x="492919" y="1389237"/>
                </a:lnTo>
                <a:lnTo>
                  <a:pt x="450574" y="1373811"/>
                </a:lnTo>
                <a:lnTo>
                  <a:pt x="409521" y="1355886"/>
                </a:lnTo>
                <a:lnTo>
                  <a:pt x="369857" y="1335554"/>
                </a:lnTo>
                <a:lnTo>
                  <a:pt x="331676" y="1312910"/>
                </a:lnTo>
                <a:lnTo>
                  <a:pt x="295074" y="1288048"/>
                </a:lnTo>
                <a:lnTo>
                  <a:pt x="260144" y="1261062"/>
                </a:lnTo>
                <a:lnTo>
                  <a:pt x="226983" y="1232045"/>
                </a:lnTo>
                <a:lnTo>
                  <a:pt x="195685" y="1201091"/>
                </a:lnTo>
                <a:lnTo>
                  <a:pt x="166345" y="1168295"/>
                </a:lnTo>
                <a:lnTo>
                  <a:pt x="139058" y="1133750"/>
                </a:lnTo>
                <a:lnTo>
                  <a:pt x="113919" y="1097551"/>
                </a:lnTo>
                <a:lnTo>
                  <a:pt x="91023" y="1059790"/>
                </a:lnTo>
                <a:lnTo>
                  <a:pt x="70465" y="1020563"/>
                </a:lnTo>
                <a:lnTo>
                  <a:pt x="52340" y="979963"/>
                </a:lnTo>
                <a:lnTo>
                  <a:pt x="36743" y="938083"/>
                </a:lnTo>
                <a:lnTo>
                  <a:pt x="23768" y="895019"/>
                </a:lnTo>
                <a:lnTo>
                  <a:pt x="13512" y="850863"/>
                </a:lnTo>
                <a:lnTo>
                  <a:pt x="6068" y="805710"/>
                </a:lnTo>
                <a:lnTo>
                  <a:pt x="1533" y="759653"/>
                </a:lnTo>
                <a:lnTo>
                  <a:pt x="0" y="712787"/>
                </a:lnTo>
                <a:close/>
              </a:path>
            </a:pathLst>
          </a:custGeom>
          <a:ln w="38099">
            <a:solidFill>
              <a:srgbClr val="F9F9F9"/>
            </a:solidFill>
          </a:ln>
        </p:spPr>
        <p:txBody>
          <a:bodyPr wrap="square" lIns="0" tIns="0" rIns="0" bIns="0" rtlCol="0"/>
          <a:lstStyle/>
          <a:p>
            <a:endParaRPr/>
          </a:p>
        </p:txBody>
      </p:sp>
      <p:sp>
        <p:nvSpPr>
          <p:cNvPr id="7" name="object 7"/>
          <p:cNvSpPr/>
          <p:nvPr/>
        </p:nvSpPr>
        <p:spPr>
          <a:xfrm>
            <a:off x="1758711" y="2307365"/>
            <a:ext cx="1511300" cy="1295400"/>
          </a:xfrm>
          <a:prstGeom prst="rect">
            <a:avLst/>
          </a:prstGeom>
          <a:blipFill>
            <a:blip r:embed="rId4" cstate="print"/>
            <a:stretch>
              <a:fillRect/>
            </a:stretch>
          </a:blipFill>
        </p:spPr>
        <p:txBody>
          <a:bodyPr wrap="square" lIns="0" tIns="0" rIns="0" bIns="0" rtlCol="0"/>
          <a:lstStyle/>
          <a:p>
            <a:endParaRPr/>
          </a:p>
        </p:txBody>
      </p:sp>
      <p:sp>
        <p:nvSpPr>
          <p:cNvPr id="8" name="object 8"/>
          <p:cNvSpPr txBox="1"/>
          <p:nvPr/>
        </p:nvSpPr>
        <p:spPr>
          <a:xfrm>
            <a:off x="2248454" y="2800757"/>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8F8F8"/>
                </a:solidFill>
                <a:latin typeface="微软雅黑" panose="020B0503020204020204" pitchFamily="34" charset="-122"/>
                <a:cs typeface="微软雅黑" panose="020B0503020204020204" pitchFamily="34" charset="-122"/>
              </a:rPr>
              <a:t>测试 用例</a:t>
            </a:r>
            <a:endParaRPr sz="2000">
              <a:latin typeface="微软雅黑" panose="020B0503020204020204" pitchFamily="34" charset="-122"/>
              <a:cs typeface="微软雅黑" panose="020B0503020204020204" pitchFamily="34" charset="-122"/>
            </a:endParaRPr>
          </a:p>
        </p:txBody>
      </p:sp>
      <p:sp>
        <p:nvSpPr>
          <p:cNvPr id="9" name="object 9"/>
          <p:cNvSpPr/>
          <p:nvPr/>
        </p:nvSpPr>
        <p:spPr>
          <a:xfrm>
            <a:off x="3374151" y="2655030"/>
            <a:ext cx="431800" cy="86518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928190" y="1554780"/>
            <a:ext cx="1720214" cy="762000"/>
          </a:xfrm>
          <a:custGeom>
            <a:avLst/>
            <a:gdLst/>
            <a:ahLst/>
            <a:cxnLst/>
            <a:rect l="l" t="t" r="r" b="b"/>
            <a:pathLst>
              <a:path w="1720214" h="762000">
                <a:moveTo>
                  <a:pt x="1592893" y="0"/>
                </a:moveTo>
                <a:lnTo>
                  <a:pt x="127002" y="0"/>
                </a:lnTo>
                <a:lnTo>
                  <a:pt x="77567" y="9980"/>
                </a:lnTo>
                <a:lnTo>
                  <a:pt x="37197" y="37198"/>
                </a:lnTo>
                <a:lnTo>
                  <a:pt x="9980" y="77567"/>
                </a:lnTo>
                <a:lnTo>
                  <a:pt x="0" y="127002"/>
                </a:lnTo>
                <a:lnTo>
                  <a:pt x="0" y="634996"/>
                </a:lnTo>
                <a:lnTo>
                  <a:pt x="9980" y="684431"/>
                </a:lnTo>
                <a:lnTo>
                  <a:pt x="37197" y="724801"/>
                </a:lnTo>
                <a:lnTo>
                  <a:pt x="77567" y="752019"/>
                </a:lnTo>
                <a:lnTo>
                  <a:pt x="127002" y="762000"/>
                </a:lnTo>
                <a:lnTo>
                  <a:pt x="1592893" y="762000"/>
                </a:lnTo>
                <a:lnTo>
                  <a:pt x="1642329" y="752019"/>
                </a:lnTo>
                <a:lnTo>
                  <a:pt x="1682698" y="724801"/>
                </a:lnTo>
                <a:lnTo>
                  <a:pt x="1709915" y="684431"/>
                </a:lnTo>
                <a:lnTo>
                  <a:pt x="1719896" y="634996"/>
                </a:lnTo>
                <a:lnTo>
                  <a:pt x="1719896" y="127002"/>
                </a:lnTo>
                <a:lnTo>
                  <a:pt x="1709915" y="77567"/>
                </a:lnTo>
                <a:lnTo>
                  <a:pt x="1682698" y="37198"/>
                </a:lnTo>
                <a:lnTo>
                  <a:pt x="1642329" y="9980"/>
                </a:lnTo>
                <a:lnTo>
                  <a:pt x="1592893" y="0"/>
                </a:lnTo>
                <a:close/>
              </a:path>
            </a:pathLst>
          </a:custGeom>
          <a:solidFill>
            <a:srgbClr val="E4EFF9"/>
          </a:solidFill>
        </p:spPr>
        <p:txBody>
          <a:bodyPr wrap="square" lIns="0" tIns="0" rIns="0" bIns="0" rtlCol="0"/>
          <a:lstStyle/>
          <a:p>
            <a:endParaRPr/>
          </a:p>
        </p:txBody>
      </p:sp>
      <p:sp>
        <p:nvSpPr>
          <p:cNvPr id="11" name="object 11"/>
          <p:cNvSpPr/>
          <p:nvPr/>
        </p:nvSpPr>
        <p:spPr>
          <a:xfrm>
            <a:off x="3928190" y="1554780"/>
            <a:ext cx="1720214" cy="762000"/>
          </a:xfrm>
          <a:custGeom>
            <a:avLst/>
            <a:gdLst/>
            <a:ahLst/>
            <a:cxnLst/>
            <a:rect l="l" t="t" r="r" b="b"/>
            <a:pathLst>
              <a:path w="1720214" h="762000">
                <a:moveTo>
                  <a:pt x="0" y="127003"/>
                </a:moveTo>
                <a:lnTo>
                  <a:pt x="9980" y="77567"/>
                </a:lnTo>
                <a:lnTo>
                  <a:pt x="37198" y="37198"/>
                </a:lnTo>
                <a:lnTo>
                  <a:pt x="77567" y="9980"/>
                </a:lnTo>
                <a:lnTo>
                  <a:pt x="127003" y="0"/>
                </a:lnTo>
                <a:lnTo>
                  <a:pt x="1592893" y="0"/>
                </a:lnTo>
                <a:lnTo>
                  <a:pt x="1642328" y="9980"/>
                </a:lnTo>
                <a:lnTo>
                  <a:pt x="1682698" y="37198"/>
                </a:lnTo>
                <a:lnTo>
                  <a:pt x="1709916" y="77567"/>
                </a:lnTo>
                <a:lnTo>
                  <a:pt x="1719896" y="127003"/>
                </a:lnTo>
                <a:lnTo>
                  <a:pt x="1719896" y="634996"/>
                </a:lnTo>
                <a:lnTo>
                  <a:pt x="1709916" y="684432"/>
                </a:lnTo>
                <a:lnTo>
                  <a:pt x="1682698" y="724801"/>
                </a:lnTo>
                <a:lnTo>
                  <a:pt x="1642328" y="752019"/>
                </a:lnTo>
                <a:lnTo>
                  <a:pt x="1592893" y="761999"/>
                </a:lnTo>
                <a:lnTo>
                  <a:pt x="127003"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p>
        </p:txBody>
      </p:sp>
      <p:sp>
        <p:nvSpPr>
          <p:cNvPr id="12" name="object 12"/>
          <p:cNvSpPr txBox="1"/>
          <p:nvPr/>
        </p:nvSpPr>
        <p:spPr>
          <a:xfrm>
            <a:off x="4145727" y="1770680"/>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CC"/>
                </a:solidFill>
                <a:latin typeface="微软雅黑" panose="020B0503020204020204" pitchFamily="34" charset="-122"/>
                <a:cs typeface="微软雅黑" panose="020B0503020204020204" pitchFamily="34" charset="-122"/>
              </a:rPr>
              <a:t>测试用例值</a:t>
            </a:r>
            <a:endParaRPr sz="2000">
              <a:latin typeface="微软雅黑" panose="020B0503020204020204" pitchFamily="34" charset="-122"/>
              <a:cs typeface="微软雅黑" panose="020B0503020204020204" pitchFamily="34" charset="-122"/>
            </a:endParaRPr>
          </a:p>
        </p:txBody>
      </p:sp>
      <p:sp>
        <p:nvSpPr>
          <p:cNvPr id="13" name="object 13"/>
          <p:cNvSpPr/>
          <p:nvPr/>
        </p:nvSpPr>
        <p:spPr>
          <a:xfrm>
            <a:off x="3928190" y="2418380"/>
            <a:ext cx="1720214" cy="762000"/>
          </a:xfrm>
          <a:custGeom>
            <a:avLst/>
            <a:gdLst/>
            <a:ahLst/>
            <a:cxnLst/>
            <a:rect l="l" t="t" r="r" b="b"/>
            <a:pathLst>
              <a:path w="1720214" h="762000">
                <a:moveTo>
                  <a:pt x="1592893" y="0"/>
                </a:moveTo>
                <a:lnTo>
                  <a:pt x="127002" y="0"/>
                </a:lnTo>
                <a:lnTo>
                  <a:pt x="77567" y="9980"/>
                </a:lnTo>
                <a:lnTo>
                  <a:pt x="37197" y="37198"/>
                </a:lnTo>
                <a:lnTo>
                  <a:pt x="9980" y="77568"/>
                </a:lnTo>
                <a:lnTo>
                  <a:pt x="0" y="127003"/>
                </a:lnTo>
                <a:lnTo>
                  <a:pt x="0" y="634997"/>
                </a:lnTo>
                <a:lnTo>
                  <a:pt x="9980" y="684432"/>
                </a:lnTo>
                <a:lnTo>
                  <a:pt x="37197" y="724802"/>
                </a:lnTo>
                <a:lnTo>
                  <a:pt x="77567" y="752019"/>
                </a:lnTo>
                <a:lnTo>
                  <a:pt x="127002" y="762000"/>
                </a:lnTo>
                <a:lnTo>
                  <a:pt x="1592893" y="762000"/>
                </a:lnTo>
                <a:lnTo>
                  <a:pt x="1642329" y="752019"/>
                </a:lnTo>
                <a:lnTo>
                  <a:pt x="1682698" y="724802"/>
                </a:lnTo>
                <a:lnTo>
                  <a:pt x="1709915" y="684432"/>
                </a:lnTo>
                <a:lnTo>
                  <a:pt x="1719896" y="634997"/>
                </a:lnTo>
                <a:lnTo>
                  <a:pt x="1719896" y="127003"/>
                </a:lnTo>
                <a:lnTo>
                  <a:pt x="1709915" y="77568"/>
                </a:lnTo>
                <a:lnTo>
                  <a:pt x="1682698" y="37198"/>
                </a:lnTo>
                <a:lnTo>
                  <a:pt x="1642329" y="9980"/>
                </a:lnTo>
                <a:lnTo>
                  <a:pt x="1592893" y="0"/>
                </a:lnTo>
                <a:close/>
              </a:path>
            </a:pathLst>
          </a:custGeom>
          <a:solidFill>
            <a:srgbClr val="E4EFF9"/>
          </a:solidFill>
        </p:spPr>
        <p:txBody>
          <a:bodyPr wrap="square" lIns="0" tIns="0" rIns="0" bIns="0" rtlCol="0"/>
          <a:lstStyle/>
          <a:p>
            <a:endParaRPr/>
          </a:p>
        </p:txBody>
      </p:sp>
      <p:sp>
        <p:nvSpPr>
          <p:cNvPr id="14" name="object 14"/>
          <p:cNvSpPr/>
          <p:nvPr/>
        </p:nvSpPr>
        <p:spPr>
          <a:xfrm>
            <a:off x="3928190" y="2418381"/>
            <a:ext cx="1720214" cy="762000"/>
          </a:xfrm>
          <a:custGeom>
            <a:avLst/>
            <a:gdLst/>
            <a:ahLst/>
            <a:cxnLst/>
            <a:rect l="l" t="t" r="r" b="b"/>
            <a:pathLst>
              <a:path w="1720214" h="762000">
                <a:moveTo>
                  <a:pt x="0" y="127003"/>
                </a:moveTo>
                <a:lnTo>
                  <a:pt x="9980" y="77567"/>
                </a:lnTo>
                <a:lnTo>
                  <a:pt x="37198" y="37198"/>
                </a:lnTo>
                <a:lnTo>
                  <a:pt x="77567" y="9980"/>
                </a:lnTo>
                <a:lnTo>
                  <a:pt x="127003" y="0"/>
                </a:lnTo>
                <a:lnTo>
                  <a:pt x="1592893" y="0"/>
                </a:lnTo>
                <a:lnTo>
                  <a:pt x="1642328" y="9980"/>
                </a:lnTo>
                <a:lnTo>
                  <a:pt x="1682698" y="37198"/>
                </a:lnTo>
                <a:lnTo>
                  <a:pt x="1709916" y="77567"/>
                </a:lnTo>
                <a:lnTo>
                  <a:pt x="1719896" y="127003"/>
                </a:lnTo>
                <a:lnTo>
                  <a:pt x="1719896" y="634996"/>
                </a:lnTo>
                <a:lnTo>
                  <a:pt x="1709916" y="684432"/>
                </a:lnTo>
                <a:lnTo>
                  <a:pt x="1682698" y="724801"/>
                </a:lnTo>
                <a:lnTo>
                  <a:pt x="1642328" y="752019"/>
                </a:lnTo>
                <a:lnTo>
                  <a:pt x="1592893" y="761999"/>
                </a:lnTo>
                <a:lnTo>
                  <a:pt x="127003"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p>
        </p:txBody>
      </p:sp>
      <p:sp>
        <p:nvSpPr>
          <p:cNvPr id="15" name="object 15"/>
          <p:cNvSpPr txBox="1"/>
          <p:nvPr/>
        </p:nvSpPr>
        <p:spPr>
          <a:xfrm>
            <a:off x="4272727" y="2634280"/>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CC"/>
                </a:solidFill>
                <a:latin typeface="微软雅黑" panose="020B0503020204020204" pitchFamily="34" charset="-122"/>
                <a:cs typeface="微软雅黑" panose="020B0503020204020204" pitchFamily="34" charset="-122"/>
              </a:rPr>
              <a:t>期望结果</a:t>
            </a:r>
            <a:endParaRPr sz="2000">
              <a:latin typeface="微软雅黑" panose="020B0503020204020204" pitchFamily="34" charset="-122"/>
              <a:cs typeface="微软雅黑" panose="020B0503020204020204" pitchFamily="34" charset="-122"/>
            </a:endParaRPr>
          </a:p>
        </p:txBody>
      </p:sp>
      <p:sp>
        <p:nvSpPr>
          <p:cNvPr id="16" name="object 16"/>
          <p:cNvSpPr/>
          <p:nvPr/>
        </p:nvSpPr>
        <p:spPr>
          <a:xfrm>
            <a:off x="3928190" y="3297222"/>
            <a:ext cx="1720214" cy="762000"/>
          </a:xfrm>
          <a:custGeom>
            <a:avLst/>
            <a:gdLst/>
            <a:ahLst/>
            <a:cxnLst/>
            <a:rect l="l" t="t" r="r" b="b"/>
            <a:pathLst>
              <a:path w="1720214" h="762000">
                <a:moveTo>
                  <a:pt x="1592893" y="0"/>
                </a:moveTo>
                <a:lnTo>
                  <a:pt x="127002" y="0"/>
                </a:lnTo>
                <a:lnTo>
                  <a:pt x="77567" y="9980"/>
                </a:lnTo>
                <a:lnTo>
                  <a:pt x="37197" y="37198"/>
                </a:lnTo>
                <a:lnTo>
                  <a:pt x="9980" y="77568"/>
                </a:lnTo>
                <a:lnTo>
                  <a:pt x="0" y="127003"/>
                </a:lnTo>
                <a:lnTo>
                  <a:pt x="0" y="634997"/>
                </a:lnTo>
                <a:lnTo>
                  <a:pt x="9980" y="684432"/>
                </a:lnTo>
                <a:lnTo>
                  <a:pt x="37197" y="724802"/>
                </a:lnTo>
                <a:lnTo>
                  <a:pt x="77567" y="752019"/>
                </a:lnTo>
                <a:lnTo>
                  <a:pt x="127002" y="761999"/>
                </a:lnTo>
                <a:lnTo>
                  <a:pt x="1592893" y="761999"/>
                </a:lnTo>
                <a:lnTo>
                  <a:pt x="1642329" y="752019"/>
                </a:lnTo>
                <a:lnTo>
                  <a:pt x="1682698" y="724802"/>
                </a:lnTo>
                <a:lnTo>
                  <a:pt x="1709915" y="684432"/>
                </a:lnTo>
                <a:lnTo>
                  <a:pt x="1719896" y="634997"/>
                </a:lnTo>
                <a:lnTo>
                  <a:pt x="1719896" y="127003"/>
                </a:lnTo>
                <a:lnTo>
                  <a:pt x="1709915" y="77568"/>
                </a:lnTo>
                <a:lnTo>
                  <a:pt x="1682698" y="37198"/>
                </a:lnTo>
                <a:lnTo>
                  <a:pt x="1642329" y="9980"/>
                </a:lnTo>
                <a:lnTo>
                  <a:pt x="1592893" y="0"/>
                </a:lnTo>
                <a:close/>
              </a:path>
            </a:pathLst>
          </a:custGeom>
          <a:solidFill>
            <a:srgbClr val="E4EFF9"/>
          </a:solidFill>
        </p:spPr>
        <p:txBody>
          <a:bodyPr wrap="square" lIns="0" tIns="0" rIns="0" bIns="0" rtlCol="0"/>
          <a:lstStyle/>
          <a:p>
            <a:endParaRPr/>
          </a:p>
        </p:txBody>
      </p:sp>
      <p:sp>
        <p:nvSpPr>
          <p:cNvPr id="17" name="object 17"/>
          <p:cNvSpPr/>
          <p:nvPr/>
        </p:nvSpPr>
        <p:spPr>
          <a:xfrm>
            <a:off x="3928190" y="3297222"/>
            <a:ext cx="1720214" cy="762000"/>
          </a:xfrm>
          <a:custGeom>
            <a:avLst/>
            <a:gdLst/>
            <a:ahLst/>
            <a:cxnLst/>
            <a:rect l="l" t="t" r="r" b="b"/>
            <a:pathLst>
              <a:path w="1720214" h="762000">
                <a:moveTo>
                  <a:pt x="0" y="127003"/>
                </a:moveTo>
                <a:lnTo>
                  <a:pt x="9980" y="77567"/>
                </a:lnTo>
                <a:lnTo>
                  <a:pt x="37198" y="37198"/>
                </a:lnTo>
                <a:lnTo>
                  <a:pt x="77567" y="9980"/>
                </a:lnTo>
                <a:lnTo>
                  <a:pt x="127003" y="0"/>
                </a:lnTo>
                <a:lnTo>
                  <a:pt x="1592893" y="0"/>
                </a:lnTo>
                <a:lnTo>
                  <a:pt x="1642328" y="9980"/>
                </a:lnTo>
                <a:lnTo>
                  <a:pt x="1682698" y="37198"/>
                </a:lnTo>
                <a:lnTo>
                  <a:pt x="1709916" y="77567"/>
                </a:lnTo>
                <a:lnTo>
                  <a:pt x="1719896" y="127003"/>
                </a:lnTo>
                <a:lnTo>
                  <a:pt x="1719896" y="634996"/>
                </a:lnTo>
                <a:lnTo>
                  <a:pt x="1709916" y="684432"/>
                </a:lnTo>
                <a:lnTo>
                  <a:pt x="1682698" y="724801"/>
                </a:lnTo>
                <a:lnTo>
                  <a:pt x="1642328" y="752019"/>
                </a:lnTo>
                <a:lnTo>
                  <a:pt x="1592893" y="761999"/>
                </a:lnTo>
                <a:lnTo>
                  <a:pt x="127003"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p>
        </p:txBody>
      </p:sp>
      <p:sp>
        <p:nvSpPr>
          <p:cNvPr id="18" name="object 18"/>
          <p:cNvSpPr txBox="1"/>
          <p:nvPr/>
        </p:nvSpPr>
        <p:spPr>
          <a:xfrm>
            <a:off x="4399727" y="3513122"/>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CC"/>
                </a:solidFill>
                <a:latin typeface="微软雅黑" panose="020B0503020204020204" pitchFamily="34" charset="-122"/>
                <a:cs typeface="微软雅黑" panose="020B0503020204020204" pitchFamily="34" charset="-122"/>
              </a:rPr>
              <a:t>前缀值</a:t>
            </a:r>
            <a:endParaRPr sz="2000">
              <a:latin typeface="微软雅黑" panose="020B0503020204020204" pitchFamily="34" charset="-122"/>
              <a:cs typeface="微软雅黑" panose="020B0503020204020204" pitchFamily="34" charset="-122"/>
            </a:endParaRPr>
          </a:p>
        </p:txBody>
      </p:sp>
      <p:sp>
        <p:nvSpPr>
          <p:cNvPr id="19" name="object 19"/>
          <p:cNvSpPr/>
          <p:nvPr/>
        </p:nvSpPr>
        <p:spPr>
          <a:xfrm>
            <a:off x="3928190" y="4176063"/>
            <a:ext cx="1720214" cy="762000"/>
          </a:xfrm>
          <a:custGeom>
            <a:avLst/>
            <a:gdLst/>
            <a:ahLst/>
            <a:cxnLst/>
            <a:rect l="l" t="t" r="r" b="b"/>
            <a:pathLst>
              <a:path w="1720214" h="762000">
                <a:moveTo>
                  <a:pt x="1592893" y="0"/>
                </a:moveTo>
                <a:lnTo>
                  <a:pt x="127002" y="0"/>
                </a:lnTo>
                <a:lnTo>
                  <a:pt x="77567" y="9980"/>
                </a:lnTo>
                <a:lnTo>
                  <a:pt x="37197" y="37198"/>
                </a:lnTo>
                <a:lnTo>
                  <a:pt x="9980" y="77567"/>
                </a:lnTo>
                <a:lnTo>
                  <a:pt x="0" y="127002"/>
                </a:lnTo>
                <a:lnTo>
                  <a:pt x="0" y="634997"/>
                </a:lnTo>
                <a:lnTo>
                  <a:pt x="9980" y="684432"/>
                </a:lnTo>
                <a:lnTo>
                  <a:pt x="37197" y="724801"/>
                </a:lnTo>
                <a:lnTo>
                  <a:pt x="77567" y="752019"/>
                </a:lnTo>
                <a:lnTo>
                  <a:pt x="127002" y="762000"/>
                </a:lnTo>
                <a:lnTo>
                  <a:pt x="1592893" y="762000"/>
                </a:lnTo>
                <a:lnTo>
                  <a:pt x="1642329" y="752019"/>
                </a:lnTo>
                <a:lnTo>
                  <a:pt x="1682698" y="724801"/>
                </a:lnTo>
                <a:lnTo>
                  <a:pt x="1709915" y="684432"/>
                </a:lnTo>
                <a:lnTo>
                  <a:pt x="1719896" y="634997"/>
                </a:lnTo>
                <a:lnTo>
                  <a:pt x="1719896" y="127002"/>
                </a:lnTo>
                <a:lnTo>
                  <a:pt x="1709915" y="77567"/>
                </a:lnTo>
                <a:lnTo>
                  <a:pt x="1682698" y="37198"/>
                </a:lnTo>
                <a:lnTo>
                  <a:pt x="1642329" y="9980"/>
                </a:lnTo>
                <a:lnTo>
                  <a:pt x="1592893" y="0"/>
                </a:lnTo>
                <a:close/>
              </a:path>
            </a:pathLst>
          </a:custGeom>
          <a:solidFill>
            <a:srgbClr val="E4EFF9"/>
          </a:solidFill>
        </p:spPr>
        <p:txBody>
          <a:bodyPr wrap="square" lIns="0" tIns="0" rIns="0" bIns="0" rtlCol="0"/>
          <a:lstStyle/>
          <a:p>
            <a:endParaRPr/>
          </a:p>
        </p:txBody>
      </p:sp>
      <p:sp>
        <p:nvSpPr>
          <p:cNvPr id="20" name="object 20"/>
          <p:cNvSpPr/>
          <p:nvPr/>
        </p:nvSpPr>
        <p:spPr>
          <a:xfrm>
            <a:off x="3928190" y="4176063"/>
            <a:ext cx="1720214" cy="762000"/>
          </a:xfrm>
          <a:custGeom>
            <a:avLst/>
            <a:gdLst/>
            <a:ahLst/>
            <a:cxnLst/>
            <a:rect l="l" t="t" r="r" b="b"/>
            <a:pathLst>
              <a:path w="1720214" h="762000">
                <a:moveTo>
                  <a:pt x="0" y="127002"/>
                </a:moveTo>
                <a:lnTo>
                  <a:pt x="9980" y="77567"/>
                </a:lnTo>
                <a:lnTo>
                  <a:pt x="37198" y="37198"/>
                </a:lnTo>
                <a:lnTo>
                  <a:pt x="77567" y="9980"/>
                </a:lnTo>
                <a:lnTo>
                  <a:pt x="127003" y="0"/>
                </a:lnTo>
                <a:lnTo>
                  <a:pt x="1592893" y="0"/>
                </a:lnTo>
                <a:lnTo>
                  <a:pt x="1642328" y="9980"/>
                </a:lnTo>
                <a:lnTo>
                  <a:pt x="1682698" y="37198"/>
                </a:lnTo>
                <a:lnTo>
                  <a:pt x="1709916" y="77567"/>
                </a:lnTo>
                <a:lnTo>
                  <a:pt x="1719896" y="127002"/>
                </a:lnTo>
                <a:lnTo>
                  <a:pt x="1719896" y="634996"/>
                </a:lnTo>
                <a:lnTo>
                  <a:pt x="1709916" y="684432"/>
                </a:lnTo>
                <a:lnTo>
                  <a:pt x="1682698" y="724801"/>
                </a:lnTo>
                <a:lnTo>
                  <a:pt x="1642328" y="752019"/>
                </a:lnTo>
                <a:lnTo>
                  <a:pt x="1592893" y="761999"/>
                </a:lnTo>
                <a:lnTo>
                  <a:pt x="127003"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p>
        </p:txBody>
      </p:sp>
      <p:sp>
        <p:nvSpPr>
          <p:cNvPr id="21" name="object 21"/>
          <p:cNvSpPr txBox="1"/>
          <p:nvPr/>
        </p:nvSpPr>
        <p:spPr>
          <a:xfrm>
            <a:off x="4399727" y="4391963"/>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CC"/>
                </a:solidFill>
                <a:latin typeface="微软雅黑" panose="020B0503020204020204" pitchFamily="34" charset="-122"/>
                <a:cs typeface="微软雅黑" panose="020B0503020204020204" pitchFamily="34" charset="-122"/>
              </a:rPr>
              <a:t>后缀值</a:t>
            </a:r>
            <a:endParaRPr sz="2000">
              <a:latin typeface="微软雅黑" panose="020B0503020204020204" pitchFamily="34" charset="-122"/>
              <a:cs typeface="微软雅黑" panose="020B0503020204020204" pitchFamily="34" charset="-122"/>
            </a:endParaRPr>
          </a:p>
        </p:txBody>
      </p:sp>
      <p:sp>
        <p:nvSpPr>
          <p:cNvPr id="22" name="object 22"/>
          <p:cNvSpPr txBox="1"/>
          <p:nvPr/>
        </p:nvSpPr>
        <p:spPr>
          <a:xfrm>
            <a:off x="6477483" y="1819801"/>
            <a:ext cx="434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完成被测软件的某个执行所需的输入值</a:t>
            </a:r>
            <a:endParaRPr sz="2000">
              <a:latin typeface="微软雅黑" panose="020B0503020204020204" pitchFamily="34" charset="-122"/>
              <a:cs typeface="微软雅黑" panose="020B0503020204020204" pitchFamily="34" charset="-122"/>
            </a:endParaRPr>
          </a:p>
        </p:txBody>
      </p:sp>
      <p:sp>
        <p:nvSpPr>
          <p:cNvPr id="23" name="object 23"/>
          <p:cNvSpPr txBox="1"/>
          <p:nvPr/>
        </p:nvSpPr>
        <p:spPr>
          <a:xfrm>
            <a:off x="6462245" y="2493229"/>
            <a:ext cx="4358640" cy="2440155"/>
          </a:xfrm>
          <a:prstGeom prst="rect">
            <a:avLst/>
          </a:prstGeom>
        </p:spPr>
        <p:txBody>
          <a:bodyPr vert="horz" wrap="square" lIns="0" tIns="0" rIns="0" bIns="0" rtlCol="0">
            <a:spAutoFit/>
          </a:bodyPr>
          <a:lstStyle/>
          <a:p>
            <a:pPr marL="27940" marR="5080">
              <a:lnSpc>
                <a:spcPct val="104000"/>
              </a:lnSpc>
            </a:pPr>
            <a:r>
              <a:rPr sz="2000" dirty="0">
                <a:latin typeface="微软雅黑" panose="020B0503020204020204" pitchFamily="34" charset="-122"/>
                <a:cs typeface="微软雅黑" panose="020B0503020204020204" pitchFamily="34" charset="-122"/>
              </a:rPr>
              <a:t>当且仅当程序满足其期望行为，执行测 试时产生的结果</a:t>
            </a:r>
          </a:p>
          <a:p>
            <a:pPr marL="12700" marR="20955">
              <a:lnSpc>
                <a:spcPct val="104000"/>
              </a:lnSpc>
              <a:spcBef>
                <a:spcPts val="2065"/>
              </a:spcBef>
            </a:pPr>
            <a:r>
              <a:rPr sz="2000" dirty="0" err="1">
                <a:latin typeface="微软雅黑" panose="020B0503020204020204" pitchFamily="34" charset="-122"/>
                <a:cs typeface="微软雅黑" panose="020B0503020204020204" pitchFamily="34" charset="-122"/>
              </a:rPr>
              <a:t>将软件置于合适的状态来接受测试用例</a:t>
            </a:r>
            <a:r>
              <a:rPr sz="2000" dirty="0">
                <a:latin typeface="微软雅黑" panose="020B0503020204020204" pitchFamily="34" charset="-122"/>
                <a:cs typeface="微软雅黑" panose="020B0503020204020204" pitchFamily="34" charset="-122"/>
              </a:rPr>
              <a:t> 值</a:t>
            </a:r>
            <a:endParaRPr lang="en-US" altLang="zh-CN" sz="2000" dirty="0">
              <a:latin typeface="微软雅黑" panose="020B0503020204020204" pitchFamily="34" charset="-122"/>
              <a:cs typeface="微软雅黑" panose="020B0503020204020204" pitchFamily="34" charset="-122"/>
            </a:endParaRPr>
          </a:p>
          <a:p>
            <a:pPr marL="12700" marR="20955">
              <a:lnSpc>
                <a:spcPct val="104000"/>
              </a:lnSpc>
              <a:spcBef>
                <a:spcPts val="2065"/>
              </a:spcBef>
            </a:pPr>
            <a:r>
              <a:rPr sz="2000" dirty="0" err="1">
                <a:latin typeface="微软雅黑" panose="020B0503020204020204" pitchFamily="34" charset="-122"/>
                <a:cs typeface="微软雅黑" panose="020B0503020204020204" pitchFamily="34" charset="-122"/>
              </a:rPr>
              <a:t>测试用例值被发送以后</a:t>
            </a:r>
            <a:r>
              <a:rPr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为了查看结果或者终止程序，而需要的任何输入</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object 24"/>
          <p:cNvSpPr/>
          <p:nvPr/>
        </p:nvSpPr>
        <p:spPr>
          <a:xfrm>
            <a:off x="5820806" y="1774490"/>
            <a:ext cx="398780" cy="449580"/>
          </a:xfrm>
          <a:custGeom>
            <a:avLst/>
            <a:gdLst/>
            <a:ahLst/>
            <a:cxnLst/>
            <a:rect l="l" t="t" r="r" b="b"/>
            <a:pathLst>
              <a:path w="398779" h="449580">
                <a:moveTo>
                  <a:pt x="189213" y="0"/>
                </a:moveTo>
                <a:lnTo>
                  <a:pt x="0" y="0"/>
                </a:lnTo>
                <a:lnTo>
                  <a:pt x="209249" y="224629"/>
                </a:lnTo>
                <a:lnTo>
                  <a:pt x="0" y="449261"/>
                </a:lnTo>
                <a:lnTo>
                  <a:pt x="189213" y="449261"/>
                </a:lnTo>
                <a:lnTo>
                  <a:pt x="398462" y="224629"/>
                </a:lnTo>
                <a:lnTo>
                  <a:pt x="189213" y="0"/>
                </a:lnTo>
                <a:close/>
              </a:path>
            </a:pathLst>
          </a:custGeom>
          <a:solidFill>
            <a:srgbClr val="E4EFF9"/>
          </a:solidFill>
        </p:spPr>
        <p:txBody>
          <a:bodyPr wrap="square" lIns="0" tIns="0" rIns="0" bIns="0" rtlCol="0"/>
          <a:lstStyle/>
          <a:p>
            <a:endParaRPr/>
          </a:p>
        </p:txBody>
      </p:sp>
      <p:sp>
        <p:nvSpPr>
          <p:cNvPr id="25" name="object 25"/>
          <p:cNvSpPr/>
          <p:nvPr/>
        </p:nvSpPr>
        <p:spPr>
          <a:xfrm>
            <a:off x="5820806" y="2577130"/>
            <a:ext cx="398780" cy="449580"/>
          </a:xfrm>
          <a:custGeom>
            <a:avLst/>
            <a:gdLst/>
            <a:ahLst/>
            <a:cxnLst/>
            <a:rect l="l" t="t" r="r" b="b"/>
            <a:pathLst>
              <a:path w="398779" h="449580">
                <a:moveTo>
                  <a:pt x="189213" y="0"/>
                </a:moveTo>
                <a:lnTo>
                  <a:pt x="0" y="0"/>
                </a:lnTo>
                <a:lnTo>
                  <a:pt x="209249" y="224631"/>
                </a:lnTo>
                <a:lnTo>
                  <a:pt x="0" y="449262"/>
                </a:lnTo>
                <a:lnTo>
                  <a:pt x="189213" y="449262"/>
                </a:lnTo>
                <a:lnTo>
                  <a:pt x="398462" y="224631"/>
                </a:lnTo>
                <a:lnTo>
                  <a:pt x="189213" y="0"/>
                </a:lnTo>
                <a:close/>
              </a:path>
            </a:pathLst>
          </a:custGeom>
          <a:solidFill>
            <a:srgbClr val="E4EFF9"/>
          </a:solidFill>
        </p:spPr>
        <p:txBody>
          <a:bodyPr wrap="square" lIns="0" tIns="0" rIns="0" bIns="0" rtlCol="0"/>
          <a:lstStyle/>
          <a:p>
            <a:endParaRPr/>
          </a:p>
        </p:txBody>
      </p:sp>
      <p:sp>
        <p:nvSpPr>
          <p:cNvPr id="26" name="object 26"/>
          <p:cNvSpPr/>
          <p:nvPr/>
        </p:nvSpPr>
        <p:spPr>
          <a:xfrm>
            <a:off x="5805566" y="3486452"/>
            <a:ext cx="398780" cy="449580"/>
          </a:xfrm>
          <a:custGeom>
            <a:avLst/>
            <a:gdLst/>
            <a:ahLst/>
            <a:cxnLst/>
            <a:rect l="l" t="t" r="r" b="b"/>
            <a:pathLst>
              <a:path w="398779" h="449579">
                <a:moveTo>
                  <a:pt x="189213" y="0"/>
                </a:moveTo>
                <a:lnTo>
                  <a:pt x="0" y="0"/>
                </a:lnTo>
                <a:lnTo>
                  <a:pt x="209249" y="224631"/>
                </a:lnTo>
                <a:lnTo>
                  <a:pt x="0" y="449262"/>
                </a:lnTo>
                <a:lnTo>
                  <a:pt x="189213" y="449262"/>
                </a:lnTo>
                <a:lnTo>
                  <a:pt x="398462" y="224631"/>
                </a:lnTo>
                <a:lnTo>
                  <a:pt x="189213" y="0"/>
                </a:lnTo>
                <a:close/>
              </a:path>
            </a:pathLst>
          </a:custGeom>
          <a:solidFill>
            <a:srgbClr val="E4EFF9"/>
          </a:solidFill>
        </p:spPr>
        <p:txBody>
          <a:bodyPr wrap="square" lIns="0" tIns="0" rIns="0" bIns="0" rtlCol="0"/>
          <a:lstStyle/>
          <a:p>
            <a:endParaRPr/>
          </a:p>
        </p:txBody>
      </p:sp>
      <p:sp>
        <p:nvSpPr>
          <p:cNvPr id="27" name="object 27"/>
          <p:cNvSpPr/>
          <p:nvPr/>
        </p:nvSpPr>
        <p:spPr>
          <a:xfrm>
            <a:off x="5805566" y="4350053"/>
            <a:ext cx="398780" cy="449580"/>
          </a:xfrm>
          <a:custGeom>
            <a:avLst/>
            <a:gdLst/>
            <a:ahLst/>
            <a:cxnLst/>
            <a:rect l="l" t="t" r="r" b="b"/>
            <a:pathLst>
              <a:path w="398779" h="449579">
                <a:moveTo>
                  <a:pt x="189213" y="0"/>
                </a:moveTo>
                <a:lnTo>
                  <a:pt x="0" y="0"/>
                </a:lnTo>
                <a:lnTo>
                  <a:pt x="209249" y="224631"/>
                </a:lnTo>
                <a:lnTo>
                  <a:pt x="0" y="449261"/>
                </a:lnTo>
                <a:lnTo>
                  <a:pt x="189213" y="449261"/>
                </a:lnTo>
                <a:lnTo>
                  <a:pt x="398462" y="224631"/>
                </a:lnTo>
                <a:lnTo>
                  <a:pt x="189213" y="0"/>
                </a:lnTo>
                <a:close/>
              </a:path>
            </a:pathLst>
          </a:custGeom>
          <a:solidFill>
            <a:srgbClr val="E4EFF9"/>
          </a:solidFill>
        </p:spPr>
        <p:txBody>
          <a:bodyPr wrap="square" lIns="0" tIns="0" rIns="0" bIns="0" rtlCol="0"/>
          <a:lstStyle/>
          <a:p>
            <a:endParaRPr/>
          </a:p>
        </p:txBody>
      </p:sp>
      <p:sp>
        <p:nvSpPr>
          <p:cNvPr id="28" name="object 28"/>
          <p:cNvSpPr txBox="1"/>
          <p:nvPr/>
        </p:nvSpPr>
        <p:spPr>
          <a:xfrm>
            <a:off x="1373441" y="4064931"/>
            <a:ext cx="2317750" cy="736600"/>
          </a:xfrm>
          <a:prstGeom prst="rect">
            <a:avLst/>
          </a:prstGeom>
          <a:ln w="19049">
            <a:solidFill>
              <a:srgbClr val="004DD6"/>
            </a:solidFill>
          </a:ln>
        </p:spPr>
        <p:txBody>
          <a:bodyPr vert="horz" wrap="square" lIns="0" tIns="58419" rIns="0" bIns="0" rtlCol="0">
            <a:spAutoFit/>
          </a:bodyPr>
          <a:lstStyle/>
          <a:p>
            <a:pPr marL="5080" algn="ctr">
              <a:lnSpc>
                <a:spcPct val="100000"/>
              </a:lnSpc>
              <a:spcBef>
                <a:spcPts val="460"/>
              </a:spcBef>
            </a:pPr>
            <a:r>
              <a:rPr sz="2000" dirty="0">
                <a:solidFill>
                  <a:srgbClr val="0033CC"/>
                </a:solidFill>
                <a:latin typeface="微软雅黑" panose="020B0503020204020204" pitchFamily="34" charset="-122"/>
                <a:cs typeface="微软雅黑" panose="020B0503020204020204" pitchFamily="34" charset="-122"/>
              </a:rPr>
              <a:t>测试集</a:t>
            </a:r>
            <a:endParaRPr sz="2000">
              <a:latin typeface="微软雅黑" panose="020B0503020204020204" pitchFamily="34" charset="-122"/>
              <a:cs typeface="微软雅黑" panose="020B0503020204020204" pitchFamily="34" charset="-122"/>
            </a:endParaRPr>
          </a:p>
          <a:p>
            <a:pPr marL="5080" algn="ctr">
              <a:lnSpc>
                <a:spcPct val="100000"/>
              </a:lnSpc>
              <a:spcBef>
                <a:spcPts val="100"/>
              </a:spcBef>
            </a:pPr>
            <a:r>
              <a:rPr sz="2000" dirty="0">
                <a:latin typeface="微软雅黑" panose="020B0503020204020204" pitchFamily="34" charset="-122"/>
                <a:cs typeface="微软雅黑" panose="020B0503020204020204" pitchFamily="34" charset="-122"/>
              </a:rPr>
              <a:t>测试用例值的集合</a:t>
            </a:r>
            <a:endParaRPr sz="2000">
              <a:latin typeface="微软雅黑" panose="020B0503020204020204" pitchFamily="34" charset="-122"/>
              <a:cs typeface="微软雅黑" panose="020B0503020204020204" pitchFamily="34" charset="-122"/>
            </a:endParaRPr>
          </a:p>
        </p:txBody>
      </p:sp>
      <p:sp>
        <p:nvSpPr>
          <p:cNvPr id="29" name="灯片编号占位符 28"/>
          <p:cNvSpPr>
            <a:spLocks noGrp="1"/>
          </p:cNvSpPr>
          <p:nvPr>
            <p:ph type="sldNum" sz="quarter" idx="12"/>
          </p:nvPr>
        </p:nvSpPr>
        <p:spPr/>
        <p:txBody>
          <a:bodyPr/>
          <a:lstStyle/>
          <a:p>
            <a:fld id="{74D2AB8B-5816-41F2-8B4B-CA5C3E4E6A65}" type="slidenum">
              <a:rPr lang="zh-CN" altLang="en-US" smtClean="0"/>
              <a:t>52</a:t>
            </a:fld>
            <a:endParaRPr lang="zh-CN" altLang="en-US"/>
          </a:p>
        </p:txBody>
      </p:sp>
      <p:sp>
        <p:nvSpPr>
          <p:cNvPr id="31" name="标题 30"/>
          <p:cNvSpPr>
            <a:spLocks noGrp="1"/>
          </p:cNvSpPr>
          <p:nvPr>
            <p:ph type="title"/>
          </p:nvPr>
        </p:nvSpPr>
        <p:spPr/>
        <p:txBody>
          <a:bodyPr/>
          <a:lstStyle/>
          <a:p>
            <a:r>
              <a:rPr lang="zh-CN" altLang="en-US" dirty="0"/>
              <a:t>测试用例的概念</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169622" y="1840901"/>
            <a:ext cx="2248592" cy="3890356"/>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2208955" y="1882851"/>
            <a:ext cx="2114519" cy="3753272"/>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2204191" y="1878088"/>
            <a:ext cx="2124075" cy="3763010"/>
          </a:xfrm>
          <a:custGeom>
            <a:avLst/>
            <a:gdLst/>
            <a:ahLst/>
            <a:cxnLst/>
            <a:rect l="l" t="t" r="r" b="b"/>
            <a:pathLst>
              <a:path w="2124075" h="3763010">
                <a:moveTo>
                  <a:pt x="0" y="0"/>
                </a:moveTo>
                <a:lnTo>
                  <a:pt x="2124073" y="0"/>
                </a:lnTo>
                <a:lnTo>
                  <a:pt x="2124073" y="3762771"/>
                </a:lnTo>
                <a:lnTo>
                  <a:pt x="0" y="3762771"/>
                </a:lnTo>
                <a:lnTo>
                  <a:pt x="0" y="0"/>
                </a:lnTo>
                <a:close/>
              </a:path>
            </a:pathLst>
          </a:custGeom>
          <a:ln w="9524">
            <a:solidFill>
              <a:srgbClr val="919191"/>
            </a:solidFill>
          </a:ln>
        </p:spPr>
        <p:txBody>
          <a:bodyPr wrap="square" lIns="0" tIns="0" rIns="0" bIns="0" rtlCol="0"/>
          <a:lstStyle/>
          <a:p>
            <a:endParaRPr/>
          </a:p>
        </p:txBody>
      </p:sp>
      <p:sp>
        <p:nvSpPr>
          <p:cNvPr id="6" name="object 6"/>
          <p:cNvSpPr txBox="1"/>
          <p:nvPr/>
        </p:nvSpPr>
        <p:spPr>
          <a:xfrm>
            <a:off x="5134908" y="2783411"/>
            <a:ext cx="5118100" cy="198628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测试用例值：电话号码</a:t>
            </a:r>
          </a:p>
          <a:p>
            <a:pPr marL="355600" indent="-342900">
              <a:lnSpc>
                <a:spcPct val="100000"/>
              </a:lnSpc>
              <a:spcBef>
                <a:spcPts val="15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期望结果：接通（或未接通）</a:t>
            </a:r>
          </a:p>
          <a:p>
            <a:pPr marL="355600" indent="-342900">
              <a:lnSpc>
                <a:spcPct val="100000"/>
              </a:lnSpc>
              <a:spcBef>
                <a:spcPts val="16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前缀值：电话开启并进入拨号界面</a:t>
            </a:r>
          </a:p>
          <a:p>
            <a:pPr marL="355600" indent="-342900">
              <a:lnSpc>
                <a:spcPct val="100000"/>
              </a:lnSpc>
              <a:spcBef>
                <a:spcPts val="16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后缀值：按下“呼叫”或“取消”按钮</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53</a:t>
            </a:fld>
            <a:endParaRPr lang="zh-CN" altLang="en-US"/>
          </a:p>
        </p:txBody>
      </p:sp>
      <p:sp>
        <p:nvSpPr>
          <p:cNvPr id="9" name="标题 8"/>
          <p:cNvSpPr>
            <a:spLocks noGrp="1"/>
          </p:cNvSpPr>
          <p:nvPr>
            <p:ph type="title"/>
          </p:nvPr>
        </p:nvSpPr>
        <p:spPr/>
        <p:txBody>
          <a:bodyPr/>
          <a:lstStyle/>
          <a:p>
            <a:r>
              <a:rPr lang="zh-CN" altLang="en-US" dirty="0"/>
              <a:t>测试用例的概念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928325" y="2429359"/>
            <a:ext cx="2805430" cy="2917825"/>
          </a:xfrm>
          <a:custGeom>
            <a:avLst/>
            <a:gdLst/>
            <a:ahLst/>
            <a:cxnLst/>
            <a:rect l="l" t="t" r="r" b="b"/>
            <a:pathLst>
              <a:path w="2805429" h="2917825">
                <a:moveTo>
                  <a:pt x="1647733" y="0"/>
                </a:moveTo>
                <a:lnTo>
                  <a:pt x="1647733" y="542904"/>
                </a:lnTo>
                <a:lnTo>
                  <a:pt x="0" y="542904"/>
                </a:lnTo>
                <a:lnTo>
                  <a:pt x="0" y="2374919"/>
                </a:lnTo>
                <a:lnTo>
                  <a:pt x="1647733" y="2374919"/>
                </a:lnTo>
                <a:lnTo>
                  <a:pt x="1647733" y="2917823"/>
                </a:lnTo>
                <a:lnTo>
                  <a:pt x="2805082" y="1458912"/>
                </a:lnTo>
                <a:lnTo>
                  <a:pt x="1647733" y="0"/>
                </a:lnTo>
                <a:close/>
              </a:path>
            </a:pathLst>
          </a:custGeom>
          <a:solidFill>
            <a:srgbClr val="E0E0E0"/>
          </a:solidFill>
        </p:spPr>
        <p:txBody>
          <a:bodyPr wrap="square" lIns="0" tIns="0" rIns="0" bIns="0" rtlCol="0"/>
          <a:lstStyle/>
          <a:p>
            <a:endParaRPr/>
          </a:p>
        </p:txBody>
      </p:sp>
      <p:sp>
        <p:nvSpPr>
          <p:cNvPr id="4" name="object 4"/>
          <p:cNvSpPr/>
          <p:nvPr/>
        </p:nvSpPr>
        <p:spPr>
          <a:xfrm>
            <a:off x="1928325" y="2429359"/>
            <a:ext cx="2805430" cy="2917825"/>
          </a:xfrm>
          <a:custGeom>
            <a:avLst/>
            <a:gdLst/>
            <a:ahLst/>
            <a:cxnLst/>
            <a:rect l="l" t="t" r="r" b="b"/>
            <a:pathLst>
              <a:path w="2805429" h="2917825">
                <a:moveTo>
                  <a:pt x="0" y="542904"/>
                </a:moveTo>
                <a:lnTo>
                  <a:pt x="1647732" y="542904"/>
                </a:lnTo>
                <a:lnTo>
                  <a:pt x="1647732" y="0"/>
                </a:lnTo>
                <a:lnTo>
                  <a:pt x="2805081" y="1458911"/>
                </a:lnTo>
                <a:lnTo>
                  <a:pt x="1647732" y="2917823"/>
                </a:lnTo>
                <a:lnTo>
                  <a:pt x="1647732" y="2374918"/>
                </a:lnTo>
                <a:lnTo>
                  <a:pt x="0" y="2374918"/>
                </a:lnTo>
                <a:lnTo>
                  <a:pt x="0" y="542904"/>
                </a:lnTo>
                <a:close/>
              </a:path>
            </a:pathLst>
          </a:custGeom>
          <a:ln w="19049">
            <a:solidFill>
              <a:srgbClr val="ECEBEB"/>
            </a:solidFill>
            <a:prstDash val="dot"/>
          </a:ln>
        </p:spPr>
        <p:txBody>
          <a:bodyPr wrap="square" lIns="0" tIns="0" rIns="0" bIns="0" rtlCol="0"/>
          <a:lstStyle/>
          <a:p>
            <a:endParaRPr/>
          </a:p>
        </p:txBody>
      </p:sp>
      <p:sp>
        <p:nvSpPr>
          <p:cNvPr id="5" name="object 5"/>
          <p:cNvSpPr/>
          <p:nvPr/>
        </p:nvSpPr>
        <p:spPr>
          <a:xfrm>
            <a:off x="4745592" y="1935964"/>
            <a:ext cx="5661025" cy="3816350"/>
          </a:xfrm>
          <a:custGeom>
            <a:avLst/>
            <a:gdLst/>
            <a:ahLst/>
            <a:cxnLst/>
            <a:rect l="l" t="t" r="r" b="b"/>
            <a:pathLst>
              <a:path w="5661025" h="3816350">
                <a:moveTo>
                  <a:pt x="0" y="132834"/>
                </a:moveTo>
                <a:lnTo>
                  <a:pt x="6772" y="90848"/>
                </a:lnTo>
                <a:lnTo>
                  <a:pt x="25629" y="54384"/>
                </a:lnTo>
                <a:lnTo>
                  <a:pt x="54384" y="25629"/>
                </a:lnTo>
                <a:lnTo>
                  <a:pt x="90848" y="6772"/>
                </a:lnTo>
                <a:lnTo>
                  <a:pt x="132834" y="0"/>
                </a:lnTo>
                <a:lnTo>
                  <a:pt x="5528021" y="0"/>
                </a:lnTo>
                <a:lnTo>
                  <a:pt x="5570007" y="6772"/>
                </a:lnTo>
                <a:lnTo>
                  <a:pt x="5606471" y="25629"/>
                </a:lnTo>
                <a:lnTo>
                  <a:pt x="5635226" y="54384"/>
                </a:lnTo>
                <a:lnTo>
                  <a:pt x="5654084" y="90848"/>
                </a:lnTo>
                <a:lnTo>
                  <a:pt x="5660856" y="132834"/>
                </a:lnTo>
                <a:lnTo>
                  <a:pt x="5660856" y="3683163"/>
                </a:lnTo>
                <a:lnTo>
                  <a:pt x="5654084" y="3725149"/>
                </a:lnTo>
                <a:lnTo>
                  <a:pt x="5635226" y="3761614"/>
                </a:lnTo>
                <a:lnTo>
                  <a:pt x="5606471" y="3790369"/>
                </a:lnTo>
                <a:lnTo>
                  <a:pt x="5570007" y="3809226"/>
                </a:lnTo>
                <a:lnTo>
                  <a:pt x="5528021" y="3815998"/>
                </a:lnTo>
                <a:lnTo>
                  <a:pt x="132834" y="3815998"/>
                </a:lnTo>
                <a:lnTo>
                  <a:pt x="90848" y="3809226"/>
                </a:lnTo>
                <a:lnTo>
                  <a:pt x="54384" y="3790369"/>
                </a:lnTo>
                <a:lnTo>
                  <a:pt x="25629" y="3761614"/>
                </a:lnTo>
                <a:lnTo>
                  <a:pt x="6772" y="3725149"/>
                </a:lnTo>
                <a:lnTo>
                  <a:pt x="0" y="3683163"/>
                </a:lnTo>
                <a:lnTo>
                  <a:pt x="0" y="132834"/>
                </a:lnTo>
                <a:close/>
              </a:path>
            </a:pathLst>
          </a:custGeom>
          <a:ln w="19049">
            <a:solidFill>
              <a:srgbClr val="898484"/>
            </a:solidFill>
            <a:prstDash val="dot"/>
          </a:ln>
        </p:spPr>
        <p:txBody>
          <a:bodyPr wrap="square" lIns="0" tIns="0" rIns="0" bIns="0" rtlCol="0"/>
          <a:lstStyle/>
          <a:p>
            <a:endParaRPr/>
          </a:p>
        </p:txBody>
      </p:sp>
      <p:sp>
        <p:nvSpPr>
          <p:cNvPr id="6" name="object 6"/>
          <p:cNvSpPr/>
          <p:nvPr/>
        </p:nvSpPr>
        <p:spPr>
          <a:xfrm>
            <a:off x="4874600" y="2088367"/>
            <a:ext cx="5407660" cy="792480"/>
          </a:xfrm>
          <a:custGeom>
            <a:avLst/>
            <a:gdLst/>
            <a:ahLst/>
            <a:cxnLst/>
            <a:rect l="l" t="t" r="r" b="b"/>
            <a:pathLst>
              <a:path w="5407659" h="792480">
                <a:moveTo>
                  <a:pt x="5321126" y="0"/>
                </a:moveTo>
                <a:lnTo>
                  <a:pt x="86258" y="0"/>
                </a:lnTo>
                <a:lnTo>
                  <a:pt x="52682" y="6778"/>
                </a:lnTo>
                <a:lnTo>
                  <a:pt x="25264" y="25264"/>
                </a:lnTo>
                <a:lnTo>
                  <a:pt x="6778" y="52682"/>
                </a:lnTo>
                <a:lnTo>
                  <a:pt x="0" y="86258"/>
                </a:lnTo>
                <a:lnTo>
                  <a:pt x="0" y="705902"/>
                </a:lnTo>
                <a:lnTo>
                  <a:pt x="6778" y="739479"/>
                </a:lnTo>
                <a:lnTo>
                  <a:pt x="25264" y="766897"/>
                </a:lnTo>
                <a:lnTo>
                  <a:pt x="52682" y="785383"/>
                </a:lnTo>
                <a:lnTo>
                  <a:pt x="86258" y="792162"/>
                </a:lnTo>
                <a:lnTo>
                  <a:pt x="5321126" y="792162"/>
                </a:lnTo>
                <a:lnTo>
                  <a:pt x="5354701" y="785383"/>
                </a:lnTo>
                <a:lnTo>
                  <a:pt x="5382119" y="766897"/>
                </a:lnTo>
                <a:lnTo>
                  <a:pt x="5400605" y="739479"/>
                </a:lnTo>
                <a:lnTo>
                  <a:pt x="5407384" y="705902"/>
                </a:lnTo>
                <a:lnTo>
                  <a:pt x="5407384" y="86258"/>
                </a:lnTo>
                <a:lnTo>
                  <a:pt x="5400605" y="52682"/>
                </a:lnTo>
                <a:lnTo>
                  <a:pt x="5382119" y="25264"/>
                </a:lnTo>
                <a:lnTo>
                  <a:pt x="5354701" y="6778"/>
                </a:lnTo>
                <a:lnTo>
                  <a:pt x="5321126" y="0"/>
                </a:lnTo>
                <a:close/>
              </a:path>
            </a:pathLst>
          </a:custGeom>
          <a:solidFill>
            <a:srgbClr val="C8DFF2"/>
          </a:solidFill>
        </p:spPr>
        <p:txBody>
          <a:bodyPr wrap="square" lIns="0" tIns="0" rIns="0" bIns="0" rtlCol="0"/>
          <a:lstStyle/>
          <a:p>
            <a:endParaRPr/>
          </a:p>
        </p:txBody>
      </p:sp>
      <p:sp>
        <p:nvSpPr>
          <p:cNvPr id="7" name="object 7"/>
          <p:cNvSpPr/>
          <p:nvPr/>
        </p:nvSpPr>
        <p:spPr>
          <a:xfrm>
            <a:off x="4821792" y="2301092"/>
            <a:ext cx="591820" cy="381000"/>
          </a:xfrm>
          <a:custGeom>
            <a:avLst/>
            <a:gdLst/>
            <a:ahLst/>
            <a:cxnLst/>
            <a:rect l="l" t="t" r="r" b="b"/>
            <a:pathLst>
              <a:path w="591820" h="381000">
                <a:moveTo>
                  <a:pt x="369183" y="0"/>
                </a:moveTo>
                <a:lnTo>
                  <a:pt x="369183" y="95250"/>
                </a:lnTo>
                <a:lnTo>
                  <a:pt x="0" y="95250"/>
                </a:lnTo>
                <a:lnTo>
                  <a:pt x="0" y="285750"/>
                </a:lnTo>
                <a:lnTo>
                  <a:pt x="369183" y="285750"/>
                </a:lnTo>
                <a:lnTo>
                  <a:pt x="369183" y="381000"/>
                </a:lnTo>
                <a:lnTo>
                  <a:pt x="591432" y="190500"/>
                </a:lnTo>
                <a:lnTo>
                  <a:pt x="369183" y="0"/>
                </a:lnTo>
                <a:close/>
              </a:path>
            </a:pathLst>
          </a:custGeom>
          <a:solidFill>
            <a:srgbClr val="FFFFFF"/>
          </a:solidFill>
        </p:spPr>
        <p:txBody>
          <a:bodyPr wrap="square" lIns="0" tIns="0" rIns="0" bIns="0" rtlCol="0"/>
          <a:lstStyle/>
          <a:p>
            <a:endParaRPr/>
          </a:p>
        </p:txBody>
      </p:sp>
      <p:sp>
        <p:nvSpPr>
          <p:cNvPr id="8" name="object 8"/>
          <p:cNvSpPr/>
          <p:nvPr/>
        </p:nvSpPr>
        <p:spPr>
          <a:xfrm>
            <a:off x="4874600" y="3008482"/>
            <a:ext cx="5407660" cy="792480"/>
          </a:xfrm>
          <a:custGeom>
            <a:avLst/>
            <a:gdLst/>
            <a:ahLst/>
            <a:cxnLst/>
            <a:rect l="l" t="t" r="r" b="b"/>
            <a:pathLst>
              <a:path w="5407659" h="792479">
                <a:moveTo>
                  <a:pt x="5321126" y="0"/>
                </a:moveTo>
                <a:lnTo>
                  <a:pt x="86258" y="0"/>
                </a:lnTo>
                <a:lnTo>
                  <a:pt x="52682" y="6778"/>
                </a:lnTo>
                <a:lnTo>
                  <a:pt x="25264" y="25264"/>
                </a:lnTo>
                <a:lnTo>
                  <a:pt x="6778" y="52683"/>
                </a:lnTo>
                <a:lnTo>
                  <a:pt x="0" y="86259"/>
                </a:lnTo>
                <a:lnTo>
                  <a:pt x="0" y="705904"/>
                </a:lnTo>
                <a:lnTo>
                  <a:pt x="6778" y="739480"/>
                </a:lnTo>
                <a:lnTo>
                  <a:pt x="25264" y="766899"/>
                </a:lnTo>
                <a:lnTo>
                  <a:pt x="52682" y="785385"/>
                </a:lnTo>
                <a:lnTo>
                  <a:pt x="86258" y="792163"/>
                </a:lnTo>
                <a:lnTo>
                  <a:pt x="5321126" y="792163"/>
                </a:lnTo>
                <a:lnTo>
                  <a:pt x="5354701" y="785385"/>
                </a:lnTo>
                <a:lnTo>
                  <a:pt x="5382119" y="766899"/>
                </a:lnTo>
                <a:lnTo>
                  <a:pt x="5400605" y="739480"/>
                </a:lnTo>
                <a:lnTo>
                  <a:pt x="5407384" y="705904"/>
                </a:lnTo>
                <a:lnTo>
                  <a:pt x="5407384" y="86259"/>
                </a:lnTo>
                <a:lnTo>
                  <a:pt x="5400605" y="52683"/>
                </a:lnTo>
                <a:lnTo>
                  <a:pt x="5382119" y="25264"/>
                </a:lnTo>
                <a:lnTo>
                  <a:pt x="5354701" y="6778"/>
                </a:lnTo>
                <a:lnTo>
                  <a:pt x="5321126" y="0"/>
                </a:lnTo>
                <a:close/>
              </a:path>
            </a:pathLst>
          </a:custGeom>
          <a:solidFill>
            <a:srgbClr val="AA7CA9">
              <a:alpha val="49798"/>
            </a:srgbClr>
          </a:solidFill>
        </p:spPr>
        <p:txBody>
          <a:bodyPr wrap="square" lIns="0" tIns="0" rIns="0" bIns="0" rtlCol="0"/>
          <a:lstStyle/>
          <a:p>
            <a:endParaRPr/>
          </a:p>
        </p:txBody>
      </p:sp>
      <p:sp>
        <p:nvSpPr>
          <p:cNvPr id="9" name="object 9"/>
          <p:cNvSpPr/>
          <p:nvPr/>
        </p:nvSpPr>
        <p:spPr>
          <a:xfrm>
            <a:off x="4821792" y="3216445"/>
            <a:ext cx="591820" cy="381000"/>
          </a:xfrm>
          <a:custGeom>
            <a:avLst/>
            <a:gdLst/>
            <a:ahLst/>
            <a:cxnLst/>
            <a:rect l="l" t="t" r="r" b="b"/>
            <a:pathLst>
              <a:path w="591820" h="381000">
                <a:moveTo>
                  <a:pt x="369183" y="0"/>
                </a:moveTo>
                <a:lnTo>
                  <a:pt x="369183" y="95250"/>
                </a:lnTo>
                <a:lnTo>
                  <a:pt x="0" y="95250"/>
                </a:lnTo>
                <a:lnTo>
                  <a:pt x="0" y="285750"/>
                </a:lnTo>
                <a:lnTo>
                  <a:pt x="369183" y="285750"/>
                </a:lnTo>
                <a:lnTo>
                  <a:pt x="369183" y="381000"/>
                </a:lnTo>
                <a:lnTo>
                  <a:pt x="591432" y="190500"/>
                </a:lnTo>
                <a:lnTo>
                  <a:pt x="369183" y="0"/>
                </a:lnTo>
                <a:close/>
              </a:path>
            </a:pathLst>
          </a:custGeom>
          <a:solidFill>
            <a:srgbClr val="FFFFFF"/>
          </a:solidFill>
        </p:spPr>
        <p:txBody>
          <a:bodyPr wrap="square" lIns="0" tIns="0" rIns="0" bIns="0" rtlCol="0"/>
          <a:lstStyle/>
          <a:p>
            <a:endParaRPr/>
          </a:p>
        </p:txBody>
      </p:sp>
      <p:sp>
        <p:nvSpPr>
          <p:cNvPr id="10" name="object 10"/>
          <p:cNvSpPr/>
          <p:nvPr/>
        </p:nvSpPr>
        <p:spPr>
          <a:xfrm>
            <a:off x="4874600" y="3917168"/>
            <a:ext cx="5407660" cy="792480"/>
          </a:xfrm>
          <a:custGeom>
            <a:avLst/>
            <a:gdLst/>
            <a:ahLst/>
            <a:cxnLst/>
            <a:rect l="l" t="t" r="r" b="b"/>
            <a:pathLst>
              <a:path w="5407659" h="792479">
                <a:moveTo>
                  <a:pt x="5321126" y="0"/>
                </a:moveTo>
                <a:lnTo>
                  <a:pt x="86258" y="0"/>
                </a:lnTo>
                <a:lnTo>
                  <a:pt x="52682" y="6778"/>
                </a:lnTo>
                <a:lnTo>
                  <a:pt x="25264" y="25264"/>
                </a:lnTo>
                <a:lnTo>
                  <a:pt x="6778" y="52682"/>
                </a:lnTo>
                <a:lnTo>
                  <a:pt x="0" y="86258"/>
                </a:lnTo>
                <a:lnTo>
                  <a:pt x="0" y="705904"/>
                </a:lnTo>
                <a:lnTo>
                  <a:pt x="6778" y="739479"/>
                </a:lnTo>
                <a:lnTo>
                  <a:pt x="25264" y="766897"/>
                </a:lnTo>
                <a:lnTo>
                  <a:pt x="52682" y="785383"/>
                </a:lnTo>
                <a:lnTo>
                  <a:pt x="86258" y="792162"/>
                </a:lnTo>
                <a:lnTo>
                  <a:pt x="5321126" y="792162"/>
                </a:lnTo>
                <a:lnTo>
                  <a:pt x="5354701" y="785383"/>
                </a:lnTo>
                <a:lnTo>
                  <a:pt x="5382119" y="766897"/>
                </a:lnTo>
                <a:lnTo>
                  <a:pt x="5400605" y="739479"/>
                </a:lnTo>
                <a:lnTo>
                  <a:pt x="5407384" y="705904"/>
                </a:lnTo>
                <a:lnTo>
                  <a:pt x="5407384" y="86258"/>
                </a:lnTo>
                <a:lnTo>
                  <a:pt x="5400605" y="52682"/>
                </a:lnTo>
                <a:lnTo>
                  <a:pt x="5382119" y="25264"/>
                </a:lnTo>
                <a:lnTo>
                  <a:pt x="5354701" y="6778"/>
                </a:lnTo>
                <a:lnTo>
                  <a:pt x="5321126" y="0"/>
                </a:lnTo>
                <a:close/>
              </a:path>
            </a:pathLst>
          </a:custGeom>
          <a:solidFill>
            <a:srgbClr val="78A9A9">
              <a:alpha val="50199"/>
            </a:srgbClr>
          </a:solidFill>
        </p:spPr>
        <p:txBody>
          <a:bodyPr wrap="square" lIns="0" tIns="0" rIns="0" bIns="0" rtlCol="0"/>
          <a:lstStyle/>
          <a:p>
            <a:endParaRPr/>
          </a:p>
        </p:txBody>
      </p:sp>
      <p:sp>
        <p:nvSpPr>
          <p:cNvPr id="11" name="object 11"/>
          <p:cNvSpPr/>
          <p:nvPr/>
        </p:nvSpPr>
        <p:spPr>
          <a:xfrm>
            <a:off x="4821792" y="4129893"/>
            <a:ext cx="591820" cy="381000"/>
          </a:xfrm>
          <a:custGeom>
            <a:avLst/>
            <a:gdLst/>
            <a:ahLst/>
            <a:cxnLst/>
            <a:rect l="l" t="t" r="r" b="b"/>
            <a:pathLst>
              <a:path w="591820" h="381000">
                <a:moveTo>
                  <a:pt x="369183" y="0"/>
                </a:moveTo>
                <a:lnTo>
                  <a:pt x="369183" y="95250"/>
                </a:lnTo>
                <a:lnTo>
                  <a:pt x="0" y="95250"/>
                </a:lnTo>
                <a:lnTo>
                  <a:pt x="0" y="285750"/>
                </a:lnTo>
                <a:lnTo>
                  <a:pt x="369183" y="285750"/>
                </a:lnTo>
                <a:lnTo>
                  <a:pt x="369183" y="381000"/>
                </a:lnTo>
                <a:lnTo>
                  <a:pt x="591432" y="190500"/>
                </a:lnTo>
                <a:lnTo>
                  <a:pt x="369183" y="0"/>
                </a:lnTo>
                <a:close/>
              </a:path>
            </a:pathLst>
          </a:custGeom>
          <a:solidFill>
            <a:srgbClr val="FFFFFF"/>
          </a:solidFill>
        </p:spPr>
        <p:txBody>
          <a:bodyPr wrap="square" lIns="0" tIns="0" rIns="0" bIns="0" rtlCol="0"/>
          <a:lstStyle/>
          <a:p>
            <a:endParaRPr/>
          </a:p>
        </p:txBody>
      </p:sp>
      <p:sp>
        <p:nvSpPr>
          <p:cNvPr id="12" name="object 12"/>
          <p:cNvSpPr/>
          <p:nvPr/>
        </p:nvSpPr>
        <p:spPr>
          <a:xfrm>
            <a:off x="4852273" y="4837282"/>
            <a:ext cx="5407660" cy="792480"/>
          </a:xfrm>
          <a:custGeom>
            <a:avLst/>
            <a:gdLst/>
            <a:ahLst/>
            <a:cxnLst/>
            <a:rect l="l" t="t" r="r" b="b"/>
            <a:pathLst>
              <a:path w="5407659" h="792479">
                <a:moveTo>
                  <a:pt x="5321127" y="0"/>
                </a:moveTo>
                <a:lnTo>
                  <a:pt x="86259" y="0"/>
                </a:lnTo>
                <a:lnTo>
                  <a:pt x="52683" y="6778"/>
                </a:lnTo>
                <a:lnTo>
                  <a:pt x="25264" y="25264"/>
                </a:lnTo>
                <a:lnTo>
                  <a:pt x="6778" y="52683"/>
                </a:lnTo>
                <a:lnTo>
                  <a:pt x="0" y="86259"/>
                </a:lnTo>
                <a:lnTo>
                  <a:pt x="0" y="705904"/>
                </a:lnTo>
                <a:lnTo>
                  <a:pt x="6778" y="739479"/>
                </a:lnTo>
                <a:lnTo>
                  <a:pt x="25264" y="766897"/>
                </a:lnTo>
                <a:lnTo>
                  <a:pt x="52683" y="785383"/>
                </a:lnTo>
                <a:lnTo>
                  <a:pt x="86259" y="792162"/>
                </a:lnTo>
                <a:lnTo>
                  <a:pt x="5321127" y="792162"/>
                </a:lnTo>
                <a:lnTo>
                  <a:pt x="5354702" y="785383"/>
                </a:lnTo>
                <a:lnTo>
                  <a:pt x="5382121" y="766897"/>
                </a:lnTo>
                <a:lnTo>
                  <a:pt x="5400607" y="739479"/>
                </a:lnTo>
                <a:lnTo>
                  <a:pt x="5407385" y="705904"/>
                </a:lnTo>
                <a:lnTo>
                  <a:pt x="5407385" y="86259"/>
                </a:lnTo>
                <a:lnTo>
                  <a:pt x="5400607" y="52683"/>
                </a:lnTo>
                <a:lnTo>
                  <a:pt x="5382121" y="25264"/>
                </a:lnTo>
                <a:lnTo>
                  <a:pt x="5354702" y="6778"/>
                </a:lnTo>
                <a:lnTo>
                  <a:pt x="5321127" y="0"/>
                </a:lnTo>
                <a:close/>
              </a:path>
            </a:pathLst>
          </a:custGeom>
          <a:solidFill>
            <a:srgbClr val="CFE5C1"/>
          </a:solidFill>
        </p:spPr>
        <p:txBody>
          <a:bodyPr wrap="square" lIns="0" tIns="0" rIns="0" bIns="0" rtlCol="0"/>
          <a:lstStyle/>
          <a:p>
            <a:endParaRPr/>
          </a:p>
        </p:txBody>
      </p:sp>
      <p:sp>
        <p:nvSpPr>
          <p:cNvPr id="13" name="object 13"/>
          <p:cNvSpPr/>
          <p:nvPr/>
        </p:nvSpPr>
        <p:spPr>
          <a:xfrm>
            <a:off x="4852273" y="5065882"/>
            <a:ext cx="591820" cy="381000"/>
          </a:xfrm>
          <a:custGeom>
            <a:avLst/>
            <a:gdLst/>
            <a:ahLst/>
            <a:cxnLst/>
            <a:rect l="l" t="t" r="r" b="b"/>
            <a:pathLst>
              <a:path w="591820" h="381000">
                <a:moveTo>
                  <a:pt x="369185" y="0"/>
                </a:moveTo>
                <a:lnTo>
                  <a:pt x="369185" y="95249"/>
                </a:lnTo>
                <a:lnTo>
                  <a:pt x="0" y="95249"/>
                </a:lnTo>
                <a:lnTo>
                  <a:pt x="0" y="285749"/>
                </a:lnTo>
                <a:lnTo>
                  <a:pt x="369185" y="285749"/>
                </a:lnTo>
                <a:lnTo>
                  <a:pt x="369185" y="380999"/>
                </a:lnTo>
                <a:lnTo>
                  <a:pt x="591433" y="190499"/>
                </a:lnTo>
                <a:lnTo>
                  <a:pt x="369185" y="0"/>
                </a:lnTo>
                <a:close/>
              </a:path>
            </a:pathLst>
          </a:custGeom>
          <a:solidFill>
            <a:srgbClr val="FFFFFF"/>
          </a:solidFill>
        </p:spPr>
        <p:txBody>
          <a:bodyPr wrap="square" lIns="0" tIns="0" rIns="0" bIns="0" rtlCol="0"/>
          <a:lstStyle/>
          <a:p>
            <a:endParaRPr/>
          </a:p>
        </p:txBody>
      </p:sp>
      <p:sp>
        <p:nvSpPr>
          <p:cNvPr id="14" name="object 14"/>
          <p:cNvSpPr txBox="1"/>
          <p:nvPr/>
        </p:nvSpPr>
        <p:spPr>
          <a:xfrm>
            <a:off x="2336204" y="2334109"/>
            <a:ext cx="7458075" cy="3106420"/>
          </a:xfrm>
          <a:prstGeom prst="rect">
            <a:avLst/>
          </a:prstGeom>
        </p:spPr>
        <p:txBody>
          <a:bodyPr vert="horz" wrap="square" lIns="0" tIns="12700" rIns="0" bIns="0" rtlCol="0">
            <a:spAutoFit/>
          </a:bodyPr>
          <a:lstStyle/>
          <a:p>
            <a:pPr marL="3253740">
              <a:lnSpc>
                <a:spcPct val="100000"/>
              </a:lnSpc>
              <a:spcBef>
                <a:spcPts val="100"/>
              </a:spcBef>
            </a:pPr>
            <a:r>
              <a:rPr sz="2200" dirty="0">
                <a:latin typeface="微软雅黑" panose="020B0503020204020204" pitchFamily="34" charset="-122"/>
                <a:cs typeface="微软雅黑" panose="020B0503020204020204" pitchFamily="34" charset="-122"/>
              </a:rPr>
              <a:t>具有代表性和典型性</a:t>
            </a:r>
            <a:endParaRPr sz="2200">
              <a:latin typeface="微软雅黑" panose="020B0503020204020204" pitchFamily="34" charset="-122"/>
              <a:cs typeface="微软雅黑" panose="020B0503020204020204" pitchFamily="34" charset="-122"/>
            </a:endParaRPr>
          </a:p>
          <a:p>
            <a:pPr>
              <a:lnSpc>
                <a:spcPct val="100000"/>
              </a:lnSpc>
              <a:spcBef>
                <a:spcPts val="25"/>
              </a:spcBef>
            </a:pPr>
            <a:endParaRPr sz="3950">
              <a:latin typeface="Times New Roman" panose="02020603050405020304"/>
              <a:cs typeface="Times New Roman" panose="02020603050405020304"/>
            </a:endParaRPr>
          </a:p>
          <a:p>
            <a:pPr marL="3238500">
              <a:lnSpc>
                <a:spcPct val="100000"/>
              </a:lnSpc>
            </a:pPr>
            <a:r>
              <a:rPr sz="2200" dirty="0">
                <a:latin typeface="微软雅黑" panose="020B0503020204020204" pitchFamily="34" charset="-122"/>
                <a:cs typeface="微软雅黑" panose="020B0503020204020204" pitchFamily="34" charset="-122"/>
              </a:rPr>
              <a:t>寻求系统设计和功能设计的弱点</a:t>
            </a:r>
            <a:endParaRPr sz="2200">
              <a:latin typeface="微软雅黑" panose="020B0503020204020204" pitchFamily="34" charset="-122"/>
              <a:cs typeface="微软雅黑" panose="020B0503020204020204" pitchFamily="34" charset="-122"/>
            </a:endParaRPr>
          </a:p>
          <a:p>
            <a:pPr marL="12700">
              <a:lnSpc>
                <a:spcPct val="100000"/>
              </a:lnSpc>
              <a:spcBef>
                <a:spcPts val="880"/>
              </a:spcBef>
            </a:pPr>
            <a:r>
              <a:rPr sz="2200" dirty="0">
                <a:solidFill>
                  <a:srgbClr val="3300CC"/>
                </a:solidFill>
                <a:latin typeface="微软雅黑" panose="020B0503020204020204" pitchFamily="34" charset="-122"/>
                <a:cs typeface="微软雅黑" panose="020B0503020204020204" pitchFamily="34" charset="-122"/>
              </a:rPr>
              <a:t>测试用例设计</a:t>
            </a:r>
            <a:endParaRPr sz="2200">
              <a:latin typeface="微软雅黑" panose="020B0503020204020204" pitchFamily="34" charset="-122"/>
              <a:cs typeface="微软雅黑" panose="020B0503020204020204" pitchFamily="34" charset="-122"/>
            </a:endParaRPr>
          </a:p>
          <a:p>
            <a:pPr marL="3253740">
              <a:lnSpc>
                <a:spcPct val="100000"/>
              </a:lnSpc>
              <a:spcBef>
                <a:spcPts val="1030"/>
              </a:spcBef>
            </a:pPr>
            <a:r>
              <a:rPr sz="2200" dirty="0">
                <a:latin typeface="微软雅黑" panose="020B0503020204020204" pitchFamily="34" charset="-122"/>
                <a:cs typeface="微软雅黑" panose="020B0503020204020204" pitchFamily="34" charset="-122"/>
              </a:rPr>
              <a:t>既有正确输入也有错误或异常输入</a:t>
            </a:r>
            <a:endParaRPr sz="2200">
              <a:latin typeface="微软雅黑" panose="020B0503020204020204" pitchFamily="34" charset="-122"/>
              <a:cs typeface="微软雅黑" panose="020B0503020204020204" pitchFamily="34" charset="-122"/>
            </a:endParaRPr>
          </a:p>
          <a:p>
            <a:pPr>
              <a:lnSpc>
                <a:spcPct val="100000"/>
              </a:lnSpc>
              <a:spcBef>
                <a:spcPts val="40"/>
              </a:spcBef>
            </a:pPr>
            <a:endParaRPr sz="3950">
              <a:latin typeface="Times New Roman" panose="02020603050405020304"/>
              <a:cs typeface="Times New Roman" panose="02020603050405020304"/>
            </a:endParaRPr>
          </a:p>
          <a:p>
            <a:pPr marL="3186430">
              <a:lnSpc>
                <a:spcPct val="100000"/>
              </a:lnSpc>
            </a:pPr>
            <a:r>
              <a:rPr sz="2200" dirty="0">
                <a:latin typeface="微软雅黑" panose="020B0503020204020204" pitchFamily="34" charset="-122"/>
                <a:cs typeface="微软雅黑" panose="020B0503020204020204" pitchFamily="34" charset="-122"/>
              </a:rPr>
              <a:t>考虑用户实际的诸多使用场景</a:t>
            </a:r>
            <a:endParaRPr sz="2200">
              <a:latin typeface="微软雅黑" panose="020B0503020204020204" pitchFamily="34" charset="-122"/>
              <a:cs typeface="微软雅黑" panose="020B0503020204020204" pitchFamily="34" charset="-122"/>
            </a:endParaRPr>
          </a:p>
        </p:txBody>
      </p:sp>
      <p:sp>
        <p:nvSpPr>
          <p:cNvPr id="15" name="灯片编号占位符 14"/>
          <p:cNvSpPr>
            <a:spLocks noGrp="1"/>
          </p:cNvSpPr>
          <p:nvPr>
            <p:ph type="sldNum" sz="quarter" idx="12"/>
          </p:nvPr>
        </p:nvSpPr>
        <p:spPr/>
        <p:txBody>
          <a:bodyPr/>
          <a:lstStyle/>
          <a:p>
            <a:fld id="{74D2AB8B-5816-41F2-8B4B-CA5C3E4E6A65}" type="slidenum">
              <a:rPr lang="zh-CN" altLang="en-US" smtClean="0"/>
              <a:t>54</a:t>
            </a:fld>
            <a:endParaRPr lang="zh-CN" altLang="en-US"/>
          </a:p>
        </p:txBody>
      </p:sp>
      <p:sp>
        <p:nvSpPr>
          <p:cNvPr id="17" name="标题 16"/>
          <p:cNvSpPr>
            <a:spLocks noGrp="1"/>
          </p:cNvSpPr>
          <p:nvPr>
            <p:ph type="title"/>
          </p:nvPr>
        </p:nvSpPr>
        <p:spPr/>
        <p:txBody>
          <a:bodyPr/>
          <a:lstStyle/>
          <a:p>
            <a:r>
              <a:rPr lang="zh-CN" altLang="en-US" dirty="0"/>
              <a:t>测试用例设计的要求</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不同类型的测试</a:t>
            </a:r>
            <a:endParaRPr lang="en-US" dirty="0"/>
          </a:p>
        </p:txBody>
      </p:sp>
      <p:graphicFrame>
        <p:nvGraphicFramePr>
          <p:cNvPr id="31746" name="Object 2"/>
          <p:cNvGraphicFramePr>
            <a:graphicFrameLocks noChangeAspect="1"/>
          </p:cNvGraphicFramePr>
          <p:nvPr/>
        </p:nvGraphicFramePr>
        <p:xfrm>
          <a:off x="2225675" y="2286001"/>
          <a:ext cx="8153400" cy="3825875"/>
        </p:xfrm>
        <a:graphic>
          <a:graphicData uri="http://schemas.openxmlformats.org/presentationml/2006/ole">
            <mc:AlternateContent xmlns:mc="http://schemas.openxmlformats.org/markup-compatibility/2006">
              <mc:Choice xmlns:v="urn:schemas-microsoft-com:vml" Requires="v">
                <p:oleObj spid="_x0000_s1034" name="Document" r:id="rId3" imgW="4123690" imgH="1935480" progId="Word.Document.12">
                  <p:embed/>
                </p:oleObj>
              </mc:Choice>
              <mc:Fallback>
                <p:oleObj name="Document" r:id="rId3" imgW="4123690" imgH="1935480" progId="Word.Document.12">
                  <p:embed/>
                  <p:pic>
                    <p:nvPicPr>
                      <p:cNvPr id="317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2286001"/>
                        <a:ext cx="8153400" cy="382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黑盒测试方法</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56</a:t>
            </a:fld>
            <a:endParaRPr lang="zh-CN" altLang="en-US"/>
          </a:p>
        </p:txBody>
      </p:sp>
    </p:spTree>
    <p:extLst>
      <p:ext uri="{BB962C8B-B14F-4D97-AF65-F5344CB8AC3E}">
        <p14:creationId xmlns:p14="http://schemas.microsoft.com/office/powerpoint/2010/main" val="29219377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761054" y="3783498"/>
            <a:ext cx="2016760" cy="762000"/>
          </a:xfrm>
          <a:custGeom>
            <a:avLst/>
            <a:gdLst/>
            <a:ahLst/>
            <a:cxnLst/>
            <a:rect l="l" t="t" r="r" b="b"/>
            <a:pathLst>
              <a:path w="2016760" h="762000">
                <a:moveTo>
                  <a:pt x="1889560" y="0"/>
                </a:moveTo>
                <a:lnTo>
                  <a:pt x="127003" y="0"/>
                </a:lnTo>
                <a:lnTo>
                  <a:pt x="77568" y="9980"/>
                </a:lnTo>
                <a:lnTo>
                  <a:pt x="37198" y="37198"/>
                </a:lnTo>
                <a:lnTo>
                  <a:pt x="9980" y="77568"/>
                </a:lnTo>
                <a:lnTo>
                  <a:pt x="0" y="127003"/>
                </a:lnTo>
                <a:lnTo>
                  <a:pt x="0" y="634997"/>
                </a:lnTo>
                <a:lnTo>
                  <a:pt x="9980" y="684432"/>
                </a:lnTo>
                <a:lnTo>
                  <a:pt x="37198" y="724802"/>
                </a:lnTo>
                <a:lnTo>
                  <a:pt x="77568" y="752019"/>
                </a:lnTo>
                <a:lnTo>
                  <a:pt x="127003" y="762000"/>
                </a:lnTo>
                <a:lnTo>
                  <a:pt x="1889560" y="762000"/>
                </a:lnTo>
                <a:lnTo>
                  <a:pt x="1938996" y="752019"/>
                </a:lnTo>
                <a:lnTo>
                  <a:pt x="1979365" y="724802"/>
                </a:lnTo>
                <a:lnTo>
                  <a:pt x="2006583" y="684432"/>
                </a:lnTo>
                <a:lnTo>
                  <a:pt x="2016564" y="634997"/>
                </a:lnTo>
                <a:lnTo>
                  <a:pt x="2016564" y="127003"/>
                </a:lnTo>
                <a:lnTo>
                  <a:pt x="2006583" y="77568"/>
                </a:lnTo>
                <a:lnTo>
                  <a:pt x="1979365" y="37198"/>
                </a:lnTo>
                <a:lnTo>
                  <a:pt x="1938996" y="9980"/>
                </a:lnTo>
                <a:lnTo>
                  <a:pt x="1889560" y="0"/>
                </a:lnTo>
                <a:close/>
              </a:path>
            </a:pathLst>
          </a:custGeom>
          <a:solidFill>
            <a:srgbClr val="007879"/>
          </a:solidFill>
        </p:spPr>
        <p:txBody>
          <a:bodyPr wrap="square" lIns="0" tIns="0" rIns="0" bIns="0" rtlCol="0"/>
          <a:lstStyle/>
          <a:p>
            <a:endParaRPr/>
          </a:p>
        </p:txBody>
      </p:sp>
      <p:sp>
        <p:nvSpPr>
          <p:cNvPr id="4" name="object 4"/>
          <p:cNvSpPr/>
          <p:nvPr/>
        </p:nvSpPr>
        <p:spPr>
          <a:xfrm>
            <a:off x="1761054" y="3783498"/>
            <a:ext cx="2016760" cy="762000"/>
          </a:xfrm>
          <a:custGeom>
            <a:avLst/>
            <a:gdLst/>
            <a:ahLst/>
            <a:cxnLst/>
            <a:rect l="l" t="t" r="r" b="b"/>
            <a:pathLst>
              <a:path w="2016760" h="762000">
                <a:moveTo>
                  <a:pt x="0" y="127002"/>
                </a:moveTo>
                <a:lnTo>
                  <a:pt x="9980" y="77567"/>
                </a:lnTo>
                <a:lnTo>
                  <a:pt x="37198" y="37198"/>
                </a:lnTo>
                <a:lnTo>
                  <a:pt x="77567" y="9980"/>
                </a:lnTo>
                <a:lnTo>
                  <a:pt x="127002" y="0"/>
                </a:lnTo>
                <a:lnTo>
                  <a:pt x="1889560" y="0"/>
                </a:lnTo>
                <a:lnTo>
                  <a:pt x="1938995" y="9980"/>
                </a:lnTo>
                <a:lnTo>
                  <a:pt x="1979365" y="37198"/>
                </a:lnTo>
                <a:lnTo>
                  <a:pt x="2006582" y="77567"/>
                </a:lnTo>
                <a:lnTo>
                  <a:pt x="2016563" y="127002"/>
                </a:lnTo>
                <a:lnTo>
                  <a:pt x="2016563" y="634996"/>
                </a:lnTo>
                <a:lnTo>
                  <a:pt x="2006582" y="684432"/>
                </a:lnTo>
                <a:lnTo>
                  <a:pt x="1979365" y="724801"/>
                </a:lnTo>
                <a:lnTo>
                  <a:pt x="1938995" y="752019"/>
                </a:lnTo>
                <a:lnTo>
                  <a:pt x="1889560" y="761999"/>
                </a:lnTo>
                <a:lnTo>
                  <a:pt x="127002"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p>
        </p:txBody>
      </p:sp>
      <p:sp>
        <p:nvSpPr>
          <p:cNvPr id="5" name="object 5"/>
          <p:cNvSpPr txBox="1"/>
          <p:nvPr/>
        </p:nvSpPr>
        <p:spPr>
          <a:xfrm>
            <a:off x="2118292" y="3999398"/>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边界值分析</a:t>
            </a:r>
            <a:endParaRPr sz="2000">
              <a:latin typeface="微软雅黑" panose="020B0503020204020204" pitchFamily="34" charset="-122"/>
              <a:cs typeface="微软雅黑" panose="020B0503020204020204" pitchFamily="34" charset="-122"/>
            </a:endParaRPr>
          </a:p>
        </p:txBody>
      </p:sp>
      <p:sp>
        <p:nvSpPr>
          <p:cNvPr id="6" name="object 6"/>
          <p:cNvSpPr/>
          <p:nvPr/>
        </p:nvSpPr>
        <p:spPr>
          <a:xfrm>
            <a:off x="3959011" y="3689441"/>
            <a:ext cx="524885" cy="86518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644790" y="3674519"/>
            <a:ext cx="524885" cy="865187"/>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629784" y="3604033"/>
            <a:ext cx="2867660" cy="1027430"/>
          </a:xfrm>
          <a:custGeom>
            <a:avLst/>
            <a:gdLst/>
            <a:ahLst/>
            <a:cxnLst/>
            <a:rect l="l" t="t" r="r" b="b"/>
            <a:pathLst>
              <a:path w="2867659" h="1027429">
                <a:moveTo>
                  <a:pt x="2696432" y="0"/>
                </a:moveTo>
                <a:lnTo>
                  <a:pt x="171189" y="0"/>
                </a:lnTo>
                <a:lnTo>
                  <a:pt x="125680" y="6114"/>
                </a:lnTo>
                <a:lnTo>
                  <a:pt x="84787" y="23372"/>
                </a:lnTo>
                <a:lnTo>
                  <a:pt x="50140" y="50139"/>
                </a:lnTo>
                <a:lnTo>
                  <a:pt x="23372" y="84786"/>
                </a:lnTo>
                <a:lnTo>
                  <a:pt x="6115" y="125679"/>
                </a:lnTo>
                <a:lnTo>
                  <a:pt x="0" y="171188"/>
                </a:lnTo>
                <a:lnTo>
                  <a:pt x="0" y="855922"/>
                </a:lnTo>
                <a:lnTo>
                  <a:pt x="6115" y="901431"/>
                </a:lnTo>
                <a:lnTo>
                  <a:pt x="23372" y="942325"/>
                </a:lnTo>
                <a:lnTo>
                  <a:pt x="50140" y="976972"/>
                </a:lnTo>
                <a:lnTo>
                  <a:pt x="84787" y="1003740"/>
                </a:lnTo>
                <a:lnTo>
                  <a:pt x="125680" y="1020997"/>
                </a:lnTo>
                <a:lnTo>
                  <a:pt x="171189" y="1027112"/>
                </a:lnTo>
                <a:lnTo>
                  <a:pt x="2696432" y="1027112"/>
                </a:lnTo>
                <a:lnTo>
                  <a:pt x="2741941" y="1020997"/>
                </a:lnTo>
                <a:lnTo>
                  <a:pt x="2782834" y="1003740"/>
                </a:lnTo>
                <a:lnTo>
                  <a:pt x="2817480" y="976972"/>
                </a:lnTo>
                <a:lnTo>
                  <a:pt x="2844248" y="942325"/>
                </a:lnTo>
                <a:lnTo>
                  <a:pt x="2861505" y="901431"/>
                </a:lnTo>
                <a:lnTo>
                  <a:pt x="2867620" y="855922"/>
                </a:lnTo>
                <a:lnTo>
                  <a:pt x="2867620" y="171188"/>
                </a:lnTo>
                <a:lnTo>
                  <a:pt x="2861505" y="125679"/>
                </a:lnTo>
                <a:lnTo>
                  <a:pt x="2844248" y="84786"/>
                </a:lnTo>
                <a:lnTo>
                  <a:pt x="2817480" y="50139"/>
                </a:lnTo>
                <a:lnTo>
                  <a:pt x="2782834" y="23372"/>
                </a:lnTo>
                <a:lnTo>
                  <a:pt x="2741941" y="6114"/>
                </a:lnTo>
                <a:lnTo>
                  <a:pt x="2696432" y="0"/>
                </a:lnTo>
                <a:close/>
              </a:path>
            </a:pathLst>
          </a:custGeom>
          <a:solidFill>
            <a:srgbClr val="E4E4E4"/>
          </a:solidFill>
        </p:spPr>
        <p:txBody>
          <a:bodyPr wrap="square" lIns="0" tIns="0" rIns="0" bIns="0" rtlCol="0"/>
          <a:lstStyle/>
          <a:p>
            <a:endParaRPr/>
          </a:p>
        </p:txBody>
      </p:sp>
      <p:sp>
        <p:nvSpPr>
          <p:cNvPr id="9" name="object 9"/>
          <p:cNvSpPr/>
          <p:nvPr/>
        </p:nvSpPr>
        <p:spPr>
          <a:xfrm>
            <a:off x="4629784" y="3604033"/>
            <a:ext cx="2867660" cy="1027430"/>
          </a:xfrm>
          <a:custGeom>
            <a:avLst/>
            <a:gdLst/>
            <a:ahLst/>
            <a:cxnLst/>
            <a:rect l="l" t="t" r="r" b="b"/>
            <a:pathLst>
              <a:path w="2867659" h="1027429">
                <a:moveTo>
                  <a:pt x="0" y="171188"/>
                </a:moveTo>
                <a:lnTo>
                  <a:pt x="6115" y="125680"/>
                </a:lnTo>
                <a:lnTo>
                  <a:pt x="23372" y="84786"/>
                </a:lnTo>
                <a:lnTo>
                  <a:pt x="50140" y="50140"/>
                </a:lnTo>
                <a:lnTo>
                  <a:pt x="84786" y="23372"/>
                </a:lnTo>
                <a:lnTo>
                  <a:pt x="125680" y="6115"/>
                </a:lnTo>
                <a:lnTo>
                  <a:pt x="171189" y="0"/>
                </a:lnTo>
                <a:lnTo>
                  <a:pt x="2696431" y="0"/>
                </a:lnTo>
                <a:lnTo>
                  <a:pt x="2741939" y="6115"/>
                </a:lnTo>
                <a:lnTo>
                  <a:pt x="2782833" y="23372"/>
                </a:lnTo>
                <a:lnTo>
                  <a:pt x="2817479" y="50140"/>
                </a:lnTo>
                <a:lnTo>
                  <a:pt x="2844247" y="84786"/>
                </a:lnTo>
                <a:lnTo>
                  <a:pt x="2861504" y="125680"/>
                </a:lnTo>
                <a:lnTo>
                  <a:pt x="2867619" y="171188"/>
                </a:lnTo>
                <a:lnTo>
                  <a:pt x="2867619" y="855923"/>
                </a:lnTo>
                <a:lnTo>
                  <a:pt x="2861504" y="901432"/>
                </a:lnTo>
                <a:lnTo>
                  <a:pt x="2844247" y="942326"/>
                </a:lnTo>
                <a:lnTo>
                  <a:pt x="2817479" y="976972"/>
                </a:lnTo>
                <a:lnTo>
                  <a:pt x="2782833" y="1003740"/>
                </a:lnTo>
                <a:lnTo>
                  <a:pt x="2741939" y="1020997"/>
                </a:lnTo>
                <a:lnTo>
                  <a:pt x="2696431" y="1027112"/>
                </a:lnTo>
                <a:lnTo>
                  <a:pt x="171189" y="1027112"/>
                </a:lnTo>
                <a:lnTo>
                  <a:pt x="125680" y="1020997"/>
                </a:lnTo>
                <a:lnTo>
                  <a:pt x="84786" y="1003740"/>
                </a:lnTo>
                <a:lnTo>
                  <a:pt x="50140" y="976972"/>
                </a:lnTo>
                <a:lnTo>
                  <a:pt x="23372" y="942326"/>
                </a:lnTo>
                <a:lnTo>
                  <a:pt x="6115" y="901432"/>
                </a:lnTo>
                <a:lnTo>
                  <a:pt x="0" y="855923"/>
                </a:lnTo>
                <a:lnTo>
                  <a:pt x="0" y="171188"/>
                </a:lnTo>
                <a:close/>
              </a:path>
            </a:pathLst>
          </a:custGeom>
          <a:ln w="12699">
            <a:solidFill>
              <a:srgbClr val="929292"/>
            </a:solidFill>
          </a:ln>
        </p:spPr>
        <p:txBody>
          <a:bodyPr wrap="square" lIns="0" tIns="0" rIns="0" bIns="0" rtlCol="0"/>
          <a:lstStyle/>
          <a:p>
            <a:endParaRPr/>
          </a:p>
        </p:txBody>
      </p:sp>
      <p:sp>
        <p:nvSpPr>
          <p:cNvPr id="10" name="object 10"/>
          <p:cNvSpPr/>
          <p:nvPr/>
        </p:nvSpPr>
        <p:spPr>
          <a:xfrm>
            <a:off x="4640561" y="3622734"/>
            <a:ext cx="2833946" cy="417174"/>
          </a:xfrm>
          <a:prstGeom prst="rect">
            <a:avLst/>
          </a:prstGeom>
          <a:blipFill>
            <a:blip r:embed="rId5" cstate="print"/>
            <a:stretch>
              <a:fillRect/>
            </a:stretch>
          </a:blipFill>
        </p:spPr>
        <p:txBody>
          <a:bodyPr wrap="square" lIns="0" tIns="0" rIns="0" bIns="0" rtlCol="0"/>
          <a:lstStyle/>
          <a:p>
            <a:endParaRPr/>
          </a:p>
        </p:txBody>
      </p:sp>
      <p:sp>
        <p:nvSpPr>
          <p:cNvPr id="11" name="object 11"/>
          <p:cNvSpPr txBox="1"/>
          <p:nvPr/>
        </p:nvSpPr>
        <p:spPr>
          <a:xfrm>
            <a:off x="5213163" y="3913392"/>
            <a:ext cx="17018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黑盒测试技术</a:t>
            </a:r>
            <a:endParaRPr sz="2200">
              <a:latin typeface="微软雅黑" panose="020B0503020204020204" pitchFamily="34" charset="-122"/>
              <a:cs typeface="微软雅黑" panose="020B0503020204020204" pitchFamily="34" charset="-122"/>
            </a:endParaRPr>
          </a:p>
        </p:txBody>
      </p:sp>
      <p:sp>
        <p:nvSpPr>
          <p:cNvPr id="12" name="object 12"/>
          <p:cNvSpPr/>
          <p:nvPr/>
        </p:nvSpPr>
        <p:spPr>
          <a:xfrm>
            <a:off x="1761054" y="2908787"/>
            <a:ext cx="2016760" cy="762000"/>
          </a:xfrm>
          <a:custGeom>
            <a:avLst/>
            <a:gdLst/>
            <a:ahLst/>
            <a:cxnLst/>
            <a:rect l="l" t="t" r="r" b="b"/>
            <a:pathLst>
              <a:path w="2016760" h="762000">
                <a:moveTo>
                  <a:pt x="1889560" y="0"/>
                </a:moveTo>
                <a:lnTo>
                  <a:pt x="127003" y="0"/>
                </a:lnTo>
                <a:lnTo>
                  <a:pt x="77568" y="9980"/>
                </a:lnTo>
                <a:lnTo>
                  <a:pt x="37198" y="37198"/>
                </a:lnTo>
                <a:lnTo>
                  <a:pt x="9980" y="77567"/>
                </a:lnTo>
                <a:lnTo>
                  <a:pt x="0" y="127002"/>
                </a:lnTo>
                <a:lnTo>
                  <a:pt x="0" y="634996"/>
                </a:lnTo>
                <a:lnTo>
                  <a:pt x="9980" y="684431"/>
                </a:lnTo>
                <a:lnTo>
                  <a:pt x="37198" y="724801"/>
                </a:lnTo>
                <a:lnTo>
                  <a:pt x="77568" y="752019"/>
                </a:lnTo>
                <a:lnTo>
                  <a:pt x="127003" y="761999"/>
                </a:lnTo>
                <a:lnTo>
                  <a:pt x="1889560" y="761999"/>
                </a:lnTo>
                <a:lnTo>
                  <a:pt x="1938996" y="752019"/>
                </a:lnTo>
                <a:lnTo>
                  <a:pt x="1979365" y="724801"/>
                </a:lnTo>
                <a:lnTo>
                  <a:pt x="2006583" y="684431"/>
                </a:lnTo>
                <a:lnTo>
                  <a:pt x="2016564" y="634996"/>
                </a:lnTo>
                <a:lnTo>
                  <a:pt x="2016564" y="127002"/>
                </a:lnTo>
                <a:lnTo>
                  <a:pt x="2006583" y="77567"/>
                </a:lnTo>
                <a:lnTo>
                  <a:pt x="1979365" y="37198"/>
                </a:lnTo>
                <a:lnTo>
                  <a:pt x="1938996" y="9980"/>
                </a:lnTo>
                <a:lnTo>
                  <a:pt x="1889560" y="0"/>
                </a:lnTo>
                <a:close/>
              </a:path>
            </a:pathLst>
          </a:custGeom>
          <a:solidFill>
            <a:srgbClr val="007879"/>
          </a:solidFill>
        </p:spPr>
        <p:txBody>
          <a:bodyPr wrap="square" lIns="0" tIns="0" rIns="0" bIns="0" rtlCol="0"/>
          <a:lstStyle/>
          <a:p>
            <a:endParaRPr/>
          </a:p>
        </p:txBody>
      </p:sp>
      <p:sp>
        <p:nvSpPr>
          <p:cNvPr id="13" name="object 13"/>
          <p:cNvSpPr/>
          <p:nvPr/>
        </p:nvSpPr>
        <p:spPr>
          <a:xfrm>
            <a:off x="1761054" y="2908787"/>
            <a:ext cx="2016760" cy="762000"/>
          </a:xfrm>
          <a:custGeom>
            <a:avLst/>
            <a:gdLst/>
            <a:ahLst/>
            <a:cxnLst/>
            <a:rect l="l" t="t" r="r" b="b"/>
            <a:pathLst>
              <a:path w="2016760" h="762000">
                <a:moveTo>
                  <a:pt x="0" y="127003"/>
                </a:moveTo>
                <a:lnTo>
                  <a:pt x="9980" y="77567"/>
                </a:lnTo>
                <a:lnTo>
                  <a:pt x="37198" y="37198"/>
                </a:lnTo>
                <a:lnTo>
                  <a:pt x="77567" y="9980"/>
                </a:lnTo>
                <a:lnTo>
                  <a:pt x="127002" y="0"/>
                </a:lnTo>
                <a:lnTo>
                  <a:pt x="1889560" y="0"/>
                </a:lnTo>
                <a:lnTo>
                  <a:pt x="1938995" y="9980"/>
                </a:lnTo>
                <a:lnTo>
                  <a:pt x="1979365" y="37198"/>
                </a:lnTo>
                <a:lnTo>
                  <a:pt x="2006582" y="77567"/>
                </a:lnTo>
                <a:lnTo>
                  <a:pt x="2016563" y="127003"/>
                </a:lnTo>
                <a:lnTo>
                  <a:pt x="2016563" y="634996"/>
                </a:lnTo>
                <a:lnTo>
                  <a:pt x="2006582" y="684432"/>
                </a:lnTo>
                <a:lnTo>
                  <a:pt x="1979365" y="724801"/>
                </a:lnTo>
                <a:lnTo>
                  <a:pt x="1938995" y="752019"/>
                </a:lnTo>
                <a:lnTo>
                  <a:pt x="1889560" y="761999"/>
                </a:lnTo>
                <a:lnTo>
                  <a:pt x="127002"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p>
        </p:txBody>
      </p:sp>
      <p:sp>
        <p:nvSpPr>
          <p:cNvPr id="14" name="object 14"/>
          <p:cNvSpPr txBox="1"/>
          <p:nvPr/>
        </p:nvSpPr>
        <p:spPr>
          <a:xfrm>
            <a:off x="2118292" y="3124687"/>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等价类划分</a:t>
            </a:r>
            <a:endParaRPr sz="2000">
              <a:latin typeface="微软雅黑" panose="020B0503020204020204" pitchFamily="34" charset="-122"/>
              <a:cs typeface="微软雅黑" panose="020B0503020204020204" pitchFamily="34" charset="-122"/>
            </a:endParaRPr>
          </a:p>
        </p:txBody>
      </p:sp>
      <p:sp>
        <p:nvSpPr>
          <p:cNvPr id="15" name="object 15"/>
          <p:cNvSpPr/>
          <p:nvPr/>
        </p:nvSpPr>
        <p:spPr>
          <a:xfrm>
            <a:off x="8313633" y="3783815"/>
            <a:ext cx="2016760" cy="762000"/>
          </a:xfrm>
          <a:custGeom>
            <a:avLst/>
            <a:gdLst/>
            <a:ahLst/>
            <a:cxnLst/>
            <a:rect l="l" t="t" r="r" b="b"/>
            <a:pathLst>
              <a:path w="2016759" h="762000">
                <a:moveTo>
                  <a:pt x="1889560" y="0"/>
                </a:moveTo>
                <a:lnTo>
                  <a:pt x="127003" y="0"/>
                </a:lnTo>
                <a:lnTo>
                  <a:pt x="77568" y="9980"/>
                </a:lnTo>
                <a:lnTo>
                  <a:pt x="37198" y="37198"/>
                </a:lnTo>
                <a:lnTo>
                  <a:pt x="9980" y="77567"/>
                </a:lnTo>
                <a:lnTo>
                  <a:pt x="0" y="127002"/>
                </a:lnTo>
                <a:lnTo>
                  <a:pt x="0" y="634997"/>
                </a:lnTo>
                <a:lnTo>
                  <a:pt x="9980" y="684432"/>
                </a:lnTo>
                <a:lnTo>
                  <a:pt x="37198" y="724802"/>
                </a:lnTo>
                <a:lnTo>
                  <a:pt x="77568" y="752019"/>
                </a:lnTo>
                <a:lnTo>
                  <a:pt x="127003" y="762000"/>
                </a:lnTo>
                <a:lnTo>
                  <a:pt x="1889560" y="762000"/>
                </a:lnTo>
                <a:lnTo>
                  <a:pt x="1938996" y="752019"/>
                </a:lnTo>
                <a:lnTo>
                  <a:pt x="1979365" y="724802"/>
                </a:lnTo>
                <a:lnTo>
                  <a:pt x="2006583" y="684432"/>
                </a:lnTo>
                <a:lnTo>
                  <a:pt x="2016564" y="634997"/>
                </a:lnTo>
                <a:lnTo>
                  <a:pt x="2016564" y="127002"/>
                </a:lnTo>
                <a:lnTo>
                  <a:pt x="2006583" y="77567"/>
                </a:lnTo>
                <a:lnTo>
                  <a:pt x="1979365" y="37198"/>
                </a:lnTo>
                <a:lnTo>
                  <a:pt x="1938996" y="9980"/>
                </a:lnTo>
                <a:lnTo>
                  <a:pt x="1889560" y="0"/>
                </a:lnTo>
                <a:close/>
              </a:path>
            </a:pathLst>
          </a:custGeom>
          <a:solidFill>
            <a:srgbClr val="007879"/>
          </a:solidFill>
        </p:spPr>
        <p:txBody>
          <a:bodyPr wrap="square" lIns="0" tIns="0" rIns="0" bIns="0" rtlCol="0"/>
          <a:lstStyle/>
          <a:p>
            <a:endParaRPr/>
          </a:p>
        </p:txBody>
      </p:sp>
      <p:sp>
        <p:nvSpPr>
          <p:cNvPr id="16" name="object 16"/>
          <p:cNvSpPr/>
          <p:nvPr/>
        </p:nvSpPr>
        <p:spPr>
          <a:xfrm>
            <a:off x="8313633" y="3783815"/>
            <a:ext cx="2016760" cy="762000"/>
          </a:xfrm>
          <a:custGeom>
            <a:avLst/>
            <a:gdLst/>
            <a:ahLst/>
            <a:cxnLst/>
            <a:rect l="l" t="t" r="r" b="b"/>
            <a:pathLst>
              <a:path w="2016759" h="762000">
                <a:moveTo>
                  <a:pt x="0" y="127002"/>
                </a:moveTo>
                <a:lnTo>
                  <a:pt x="9980" y="77567"/>
                </a:lnTo>
                <a:lnTo>
                  <a:pt x="37198" y="37198"/>
                </a:lnTo>
                <a:lnTo>
                  <a:pt x="77567" y="9980"/>
                </a:lnTo>
                <a:lnTo>
                  <a:pt x="127003" y="0"/>
                </a:lnTo>
                <a:lnTo>
                  <a:pt x="1889560" y="0"/>
                </a:lnTo>
                <a:lnTo>
                  <a:pt x="1938995" y="9980"/>
                </a:lnTo>
                <a:lnTo>
                  <a:pt x="1979365" y="37198"/>
                </a:lnTo>
                <a:lnTo>
                  <a:pt x="2006583" y="77567"/>
                </a:lnTo>
                <a:lnTo>
                  <a:pt x="2016563" y="127002"/>
                </a:lnTo>
                <a:lnTo>
                  <a:pt x="2016563" y="634996"/>
                </a:lnTo>
                <a:lnTo>
                  <a:pt x="2006583" y="684432"/>
                </a:lnTo>
                <a:lnTo>
                  <a:pt x="1979365" y="724801"/>
                </a:lnTo>
                <a:lnTo>
                  <a:pt x="1938995" y="752019"/>
                </a:lnTo>
                <a:lnTo>
                  <a:pt x="1889560" y="761999"/>
                </a:lnTo>
                <a:lnTo>
                  <a:pt x="127003"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p>
        </p:txBody>
      </p:sp>
      <p:sp>
        <p:nvSpPr>
          <p:cNvPr id="17" name="object 17"/>
          <p:cNvSpPr txBox="1"/>
          <p:nvPr/>
        </p:nvSpPr>
        <p:spPr>
          <a:xfrm>
            <a:off x="8670871" y="3999715"/>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组合设计法</a:t>
            </a:r>
            <a:endParaRPr sz="2000" dirty="0">
              <a:latin typeface="微软雅黑" panose="020B0503020204020204" pitchFamily="34" charset="-122"/>
              <a:cs typeface="微软雅黑" panose="020B0503020204020204" pitchFamily="34" charset="-122"/>
            </a:endParaRPr>
          </a:p>
        </p:txBody>
      </p:sp>
      <p:sp>
        <p:nvSpPr>
          <p:cNvPr id="18" name="object 18"/>
          <p:cNvSpPr/>
          <p:nvPr/>
        </p:nvSpPr>
        <p:spPr>
          <a:xfrm>
            <a:off x="8319423" y="2911961"/>
            <a:ext cx="2016760" cy="762000"/>
          </a:xfrm>
          <a:custGeom>
            <a:avLst/>
            <a:gdLst/>
            <a:ahLst/>
            <a:cxnLst/>
            <a:rect l="l" t="t" r="r" b="b"/>
            <a:pathLst>
              <a:path w="2016759" h="762000">
                <a:moveTo>
                  <a:pt x="1889561" y="0"/>
                </a:moveTo>
                <a:lnTo>
                  <a:pt x="127002" y="0"/>
                </a:lnTo>
                <a:lnTo>
                  <a:pt x="77567" y="9980"/>
                </a:lnTo>
                <a:lnTo>
                  <a:pt x="37197" y="37198"/>
                </a:lnTo>
                <a:lnTo>
                  <a:pt x="9980" y="77567"/>
                </a:lnTo>
                <a:lnTo>
                  <a:pt x="0" y="127002"/>
                </a:lnTo>
                <a:lnTo>
                  <a:pt x="0" y="634997"/>
                </a:lnTo>
                <a:lnTo>
                  <a:pt x="9980" y="684432"/>
                </a:lnTo>
                <a:lnTo>
                  <a:pt x="37197" y="724801"/>
                </a:lnTo>
                <a:lnTo>
                  <a:pt x="77567" y="752019"/>
                </a:lnTo>
                <a:lnTo>
                  <a:pt x="127002" y="762000"/>
                </a:lnTo>
                <a:lnTo>
                  <a:pt x="1889561" y="762000"/>
                </a:lnTo>
                <a:lnTo>
                  <a:pt x="1938997" y="752019"/>
                </a:lnTo>
                <a:lnTo>
                  <a:pt x="1979366" y="724801"/>
                </a:lnTo>
                <a:lnTo>
                  <a:pt x="2006584" y="684432"/>
                </a:lnTo>
                <a:lnTo>
                  <a:pt x="2016564" y="634997"/>
                </a:lnTo>
                <a:lnTo>
                  <a:pt x="2016564" y="127002"/>
                </a:lnTo>
                <a:lnTo>
                  <a:pt x="2006584" y="77567"/>
                </a:lnTo>
                <a:lnTo>
                  <a:pt x="1979366" y="37198"/>
                </a:lnTo>
                <a:lnTo>
                  <a:pt x="1938997" y="9980"/>
                </a:lnTo>
                <a:lnTo>
                  <a:pt x="1889561" y="0"/>
                </a:lnTo>
                <a:close/>
              </a:path>
            </a:pathLst>
          </a:custGeom>
          <a:solidFill>
            <a:srgbClr val="007879"/>
          </a:solidFill>
        </p:spPr>
        <p:txBody>
          <a:bodyPr wrap="square" lIns="0" tIns="0" rIns="0" bIns="0" rtlCol="0"/>
          <a:lstStyle/>
          <a:p>
            <a:endParaRPr/>
          </a:p>
        </p:txBody>
      </p:sp>
      <p:sp>
        <p:nvSpPr>
          <p:cNvPr id="19" name="object 19"/>
          <p:cNvSpPr/>
          <p:nvPr/>
        </p:nvSpPr>
        <p:spPr>
          <a:xfrm>
            <a:off x="8319423" y="2911961"/>
            <a:ext cx="2016760" cy="762000"/>
          </a:xfrm>
          <a:custGeom>
            <a:avLst/>
            <a:gdLst/>
            <a:ahLst/>
            <a:cxnLst/>
            <a:rect l="l" t="t" r="r" b="b"/>
            <a:pathLst>
              <a:path w="2016759" h="762000">
                <a:moveTo>
                  <a:pt x="0" y="127003"/>
                </a:moveTo>
                <a:lnTo>
                  <a:pt x="9980" y="77567"/>
                </a:lnTo>
                <a:lnTo>
                  <a:pt x="37198" y="37198"/>
                </a:lnTo>
                <a:lnTo>
                  <a:pt x="77567" y="9980"/>
                </a:lnTo>
                <a:lnTo>
                  <a:pt x="127003" y="0"/>
                </a:lnTo>
                <a:lnTo>
                  <a:pt x="1889561" y="0"/>
                </a:lnTo>
                <a:lnTo>
                  <a:pt x="1938996" y="9980"/>
                </a:lnTo>
                <a:lnTo>
                  <a:pt x="1979366" y="37198"/>
                </a:lnTo>
                <a:lnTo>
                  <a:pt x="2006583" y="77567"/>
                </a:lnTo>
                <a:lnTo>
                  <a:pt x="2016564" y="127003"/>
                </a:lnTo>
                <a:lnTo>
                  <a:pt x="2016564" y="634996"/>
                </a:lnTo>
                <a:lnTo>
                  <a:pt x="2006583" y="684432"/>
                </a:lnTo>
                <a:lnTo>
                  <a:pt x="1979366" y="724801"/>
                </a:lnTo>
                <a:lnTo>
                  <a:pt x="1938996" y="752019"/>
                </a:lnTo>
                <a:lnTo>
                  <a:pt x="1889561" y="761999"/>
                </a:lnTo>
                <a:lnTo>
                  <a:pt x="127003"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p>
        </p:txBody>
      </p:sp>
      <p:sp>
        <p:nvSpPr>
          <p:cNvPr id="20" name="object 20"/>
          <p:cNvSpPr txBox="1"/>
          <p:nvPr/>
        </p:nvSpPr>
        <p:spPr>
          <a:xfrm>
            <a:off x="8930661" y="3127861"/>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场景法</a:t>
            </a:r>
            <a:endParaRPr sz="2000">
              <a:latin typeface="微软雅黑" panose="020B0503020204020204" pitchFamily="34" charset="-122"/>
              <a:cs typeface="微软雅黑" panose="020B0503020204020204" pitchFamily="34" charset="-122"/>
            </a:endParaRPr>
          </a:p>
        </p:txBody>
      </p:sp>
      <p:sp>
        <p:nvSpPr>
          <p:cNvPr id="21" name="object 21"/>
          <p:cNvSpPr/>
          <p:nvPr/>
        </p:nvSpPr>
        <p:spPr>
          <a:xfrm>
            <a:off x="1761054" y="4656307"/>
            <a:ext cx="2016760" cy="762000"/>
          </a:xfrm>
          <a:custGeom>
            <a:avLst/>
            <a:gdLst/>
            <a:ahLst/>
            <a:cxnLst/>
            <a:rect l="l" t="t" r="r" b="b"/>
            <a:pathLst>
              <a:path w="2016760" h="762000">
                <a:moveTo>
                  <a:pt x="1889560" y="0"/>
                </a:moveTo>
                <a:lnTo>
                  <a:pt x="127003" y="0"/>
                </a:lnTo>
                <a:lnTo>
                  <a:pt x="77568" y="9980"/>
                </a:lnTo>
                <a:lnTo>
                  <a:pt x="37198" y="37197"/>
                </a:lnTo>
                <a:lnTo>
                  <a:pt x="9980" y="77567"/>
                </a:lnTo>
                <a:lnTo>
                  <a:pt x="0" y="127002"/>
                </a:lnTo>
                <a:lnTo>
                  <a:pt x="0" y="634996"/>
                </a:lnTo>
                <a:lnTo>
                  <a:pt x="9980" y="684431"/>
                </a:lnTo>
                <a:lnTo>
                  <a:pt x="37198" y="724800"/>
                </a:lnTo>
                <a:lnTo>
                  <a:pt x="77568" y="752018"/>
                </a:lnTo>
                <a:lnTo>
                  <a:pt x="127003" y="761998"/>
                </a:lnTo>
                <a:lnTo>
                  <a:pt x="1889560" y="761998"/>
                </a:lnTo>
                <a:lnTo>
                  <a:pt x="1938996" y="752018"/>
                </a:lnTo>
                <a:lnTo>
                  <a:pt x="1979365" y="724800"/>
                </a:lnTo>
                <a:lnTo>
                  <a:pt x="2006583" y="684431"/>
                </a:lnTo>
                <a:lnTo>
                  <a:pt x="2016564" y="634996"/>
                </a:lnTo>
                <a:lnTo>
                  <a:pt x="2016564" y="127002"/>
                </a:lnTo>
                <a:lnTo>
                  <a:pt x="2006583" y="77567"/>
                </a:lnTo>
                <a:lnTo>
                  <a:pt x="1979365" y="37197"/>
                </a:lnTo>
                <a:lnTo>
                  <a:pt x="1938996" y="9980"/>
                </a:lnTo>
                <a:lnTo>
                  <a:pt x="1889560" y="0"/>
                </a:lnTo>
                <a:close/>
              </a:path>
            </a:pathLst>
          </a:custGeom>
          <a:solidFill>
            <a:srgbClr val="007879"/>
          </a:solidFill>
        </p:spPr>
        <p:txBody>
          <a:bodyPr wrap="square" lIns="0" tIns="0" rIns="0" bIns="0" rtlCol="0"/>
          <a:lstStyle/>
          <a:p>
            <a:endParaRPr/>
          </a:p>
        </p:txBody>
      </p:sp>
      <p:sp>
        <p:nvSpPr>
          <p:cNvPr id="22" name="object 22"/>
          <p:cNvSpPr/>
          <p:nvPr/>
        </p:nvSpPr>
        <p:spPr>
          <a:xfrm>
            <a:off x="1761054" y="4656307"/>
            <a:ext cx="2016760" cy="762000"/>
          </a:xfrm>
          <a:custGeom>
            <a:avLst/>
            <a:gdLst/>
            <a:ahLst/>
            <a:cxnLst/>
            <a:rect l="l" t="t" r="r" b="b"/>
            <a:pathLst>
              <a:path w="2016760" h="762000">
                <a:moveTo>
                  <a:pt x="0" y="127002"/>
                </a:moveTo>
                <a:lnTo>
                  <a:pt x="9980" y="77567"/>
                </a:lnTo>
                <a:lnTo>
                  <a:pt x="37198" y="37198"/>
                </a:lnTo>
                <a:lnTo>
                  <a:pt x="77567" y="9980"/>
                </a:lnTo>
                <a:lnTo>
                  <a:pt x="127002" y="0"/>
                </a:lnTo>
                <a:lnTo>
                  <a:pt x="1889560" y="0"/>
                </a:lnTo>
                <a:lnTo>
                  <a:pt x="1938995" y="9980"/>
                </a:lnTo>
                <a:lnTo>
                  <a:pt x="1979365" y="37198"/>
                </a:lnTo>
                <a:lnTo>
                  <a:pt x="2006582" y="77567"/>
                </a:lnTo>
                <a:lnTo>
                  <a:pt x="2016563" y="127002"/>
                </a:lnTo>
                <a:lnTo>
                  <a:pt x="2016563" y="634996"/>
                </a:lnTo>
                <a:lnTo>
                  <a:pt x="2006582" y="684432"/>
                </a:lnTo>
                <a:lnTo>
                  <a:pt x="1979365" y="724801"/>
                </a:lnTo>
                <a:lnTo>
                  <a:pt x="1938995" y="752019"/>
                </a:lnTo>
                <a:lnTo>
                  <a:pt x="1889560" y="761999"/>
                </a:lnTo>
                <a:lnTo>
                  <a:pt x="127002"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p>
        </p:txBody>
      </p:sp>
      <p:sp>
        <p:nvSpPr>
          <p:cNvPr id="23" name="object 23"/>
          <p:cNvSpPr txBox="1"/>
          <p:nvPr/>
        </p:nvSpPr>
        <p:spPr>
          <a:xfrm>
            <a:off x="2372292" y="4719807"/>
            <a:ext cx="787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因果图 决策表</a:t>
            </a:r>
            <a:endParaRPr sz="2000">
              <a:latin typeface="微软雅黑" panose="020B0503020204020204" pitchFamily="34" charset="-122"/>
              <a:cs typeface="微软雅黑" panose="020B0503020204020204" pitchFamily="34" charset="-122"/>
            </a:endParaRPr>
          </a:p>
        </p:txBody>
      </p:sp>
      <p:sp>
        <p:nvSpPr>
          <p:cNvPr id="24" name="object 24"/>
          <p:cNvSpPr/>
          <p:nvPr/>
        </p:nvSpPr>
        <p:spPr>
          <a:xfrm>
            <a:off x="8319424" y="4656307"/>
            <a:ext cx="2016760" cy="762000"/>
          </a:xfrm>
          <a:custGeom>
            <a:avLst/>
            <a:gdLst/>
            <a:ahLst/>
            <a:cxnLst/>
            <a:rect l="l" t="t" r="r" b="b"/>
            <a:pathLst>
              <a:path w="2016759" h="762000">
                <a:moveTo>
                  <a:pt x="1889560" y="0"/>
                </a:moveTo>
                <a:lnTo>
                  <a:pt x="127002" y="0"/>
                </a:lnTo>
                <a:lnTo>
                  <a:pt x="77567" y="9980"/>
                </a:lnTo>
                <a:lnTo>
                  <a:pt x="37197" y="37197"/>
                </a:lnTo>
                <a:lnTo>
                  <a:pt x="9980" y="77567"/>
                </a:lnTo>
                <a:lnTo>
                  <a:pt x="0" y="127002"/>
                </a:lnTo>
                <a:lnTo>
                  <a:pt x="0" y="634996"/>
                </a:lnTo>
                <a:lnTo>
                  <a:pt x="9980" y="684431"/>
                </a:lnTo>
                <a:lnTo>
                  <a:pt x="37197" y="724800"/>
                </a:lnTo>
                <a:lnTo>
                  <a:pt x="77567" y="752018"/>
                </a:lnTo>
                <a:lnTo>
                  <a:pt x="127002" y="761998"/>
                </a:lnTo>
                <a:lnTo>
                  <a:pt x="1889560" y="761998"/>
                </a:lnTo>
                <a:lnTo>
                  <a:pt x="1938995" y="752018"/>
                </a:lnTo>
                <a:lnTo>
                  <a:pt x="1979365" y="724800"/>
                </a:lnTo>
                <a:lnTo>
                  <a:pt x="2006582" y="684431"/>
                </a:lnTo>
                <a:lnTo>
                  <a:pt x="2016563" y="634996"/>
                </a:lnTo>
                <a:lnTo>
                  <a:pt x="2016563" y="127002"/>
                </a:lnTo>
                <a:lnTo>
                  <a:pt x="2006582" y="77567"/>
                </a:lnTo>
                <a:lnTo>
                  <a:pt x="1979365" y="37197"/>
                </a:lnTo>
                <a:lnTo>
                  <a:pt x="1938995" y="9980"/>
                </a:lnTo>
                <a:lnTo>
                  <a:pt x="1889560" y="0"/>
                </a:lnTo>
                <a:close/>
              </a:path>
            </a:pathLst>
          </a:custGeom>
          <a:solidFill>
            <a:srgbClr val="007879"/>
          </a:solidFill>
        </p:spPr>
        <p:txBody>
          <a:bodyPr wrap="square" lIns="0" tIns="0" rIns="0" bIns="0" rtlCol="0"/>
          <a:lstStyle/>
          <a:p>
            <a:endParaRPr/>
          </a:p>
        </p:txBody>
      </p:sp>
      <p:sp>
        <p:nvSpPr>
          <p:cNvPr id="25" name="object 25"/>
          <p:cNvSpPr/>
          <p:nvPr/>
        </p:nvSpPr>
        <p:spPr>
          <a:xfrm>
            <a:off x="8319423" y="4656307"/>
            <a:ext cx="2016760" cy="762000"/>
          </a:xfrm>
          <a:custGeom>
            <a:avLst/>
            <a:gdLst/>
            <a:ahLst/>
            <a:cxnLst/>
            <a:rect l="l" t="t" r="r" b="b"/>
            <a:pathLst>
              <a:path w="2016759" h="762000">
                <a:moveTo>
                  <a:pt x="0" y="127002"/>
                </a:moveTo>
                <a:lnTo>
                  <a:pt x="9980" y="77567"/>
                </a:lnTo>
                <a:lnTo>
                  <a:pt x="37198" y="37198"/>
                </a:lnTo>
                <a:lnTo>
                  <a:pt x="77567" y="9980"/>
                </a:lnTo>
                <a:lnTo>
                  <a:pt x="127003" y="0"/>
                </a:lnTo>
                <a:lnTo>
                  <a:pt x="1889560" y="0"/>
                </a:lnTo>
                <a:lnTo>
                  <a:pt x="1938996" y="9980"/>
                </a:lnTo>
                <a:lnTo>
                  <a:pt x="1979365" y="37198"/>
                </a:lnTo>
                <a:lnTo>
                  <a:pt x="2006583" y="77567"/>
                </a:lnTo>
                <a:lnTo>
                  <a:pt x="2016563" y="127002"/>
                </a:lnTo>
                <a:lnTo>
                  <a:pt x="2016563" y="634996"/>
                </a:lnTo>
                <a:lnTo>
                  <a:pt x="2006583" y="684432"/>
                </a:lnTo>
                <a:lnTo>
                  <a:pt x="1979365" y="724801"/>
                </a:lnTo>
                <a:lnTo>
                  <a:pt x="1938996" y="752019"/>
                </a:lnTo>
                <a:lnTo>
                  <a:pt x="1889560" y="761999"/>
                </a:lnTo>
                <a:lnTo>
                  <a:pt x="127003"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p>
        </p:txBody>
      </p:sp>
      <p:sp>
        <p:nvSpPr>
          <p:cNvPr id="26" name="object 26"/>
          <p:cNvSpPr txBox="1"/>
          <p:nvPr/>
        </p:nvSpPr>
        <p:spPr>
          <a:xfrm>
            <a:off x="8549661" y="4872207"/>
            <a:ext cx="154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状态转换测试</a:t>
            </a:r>
            <a:endParaRPr sz="2000" dirty="0">
              <a:latin typeface="微软雅黑" panose="020B0503020204020204" pitchFamily="34" charset="-122"/>
              <a:cs typeface="微软雅黑" panose="020B0503020204020204" pitchFamily="34" charset="-122"/>
            </a:endParaRPr>
          </a:p>
        </p:txBody>
      </p:sp>
      <p:sp>
        <p:nvSpPr>
          <p:cNvPr id="27" name="object 27"/>
          <p:cNvSpPr txBox="1"/>
          <p:nvPr/>
        </p:nvSpPr>
        <p:spPr>
          <a:xfrm>
            <a:off x="1172797" y="1559042"/>
            <a:ext cx="9899650" cy="812800"/>
          </a:xfrm>
          <a:prstGeom prst="rect">
            <a:avLst/>
          </a:prstGeom>
        </p:spPr>
        <p:txBody>
          <a:bodyPr vert="horz" wrap="square" lIns="0" tIns="12700" rIns="0" bIns="0" rtlCol="0">
            <a:spAutoFit/>
          </a:bodyPr>
          <a:lstStyle/>
          <a:p>
            <a:pPr marL="12700" marR="5080">
              <a:lnSpc>
                <a:spcPct val="117000"/>
              </a:lnSpc>
              <a:spcBef>
                <a:spcPts val="100"/>
              </a:spcBef>
            </a:pPr>
            <a:r>
              <a:rPr sz="2200" spc="20" dirty="0">
                <a:solidFill>
                  <a:srgbClr val="0033CC"/>
                </a:solidFill>
                <a:latin typeface="微软雅黑" panose="020B0503020204020204" pitchFamily="34" charset="-122"/>
                <a:cs typeface="微软雅黑" panose="020B0503020204020204" pitchFamily="34" charset="-122"/>
              </a:rPr>
              <a:t>黑盒测试</a:t>
            </a:r>
            <a:r>
              <a:rPr sz="2200" spc="20" dirty="0">
                <a:latin typeface="微软雅黑" panose="020B0503020204020204" pitchFamily="34" charset="-122"/>
                <a:cs typeface="微软雅黑" panose="020B0503020204020204" pitchFamily="34" charset="-122"/>
              </a:rPr>
              <a:t>是将测试对象看做一个黑盒子，完全不考虑程序内部的逻辑结构和内部 </a:t>
            </a:r>
            <a:r>
              <a:rPr sz="2200" dirty="0">
                <a:latin typeface="微软雅黑" panose="020B0503020204020204" pitchFamily="34" charset="-122"/>
                <a:cs typeface="微软雅黑" panose="020B0503020204020204" pitchFamily="34" charset="-122"/>
              </a:rPr>
              <a:t>特性，只依据程序的需求规格说明书，检查程序的功能是否符合它的功能说明。</a:t>
            </a:r>
          </a:p>
        </p:txBody>
      </p:sp>
      <p:sp>
        <p:nvSpPr>
          <p:cNvPr id="28" name="灯片编号占位符 27"/>
          <p:cNvSpPr>
            <a:spLocks noGrp="1"/>
          </p:cNvSpPr>
          <p:nvPr>
            <p:ph type="sldNum" sz="quarter" idx="12"/>
          </p:nvPr>
        </p:nvSpPr>
        <p:spPr/>
        <p:txBody>
          <a:bodyPr/>
          <a:lstStyle/>
          <a:p>
            <a:fld id="{74D2AB8B-5816-41F2-8B4B-CA5C3E4E6A65}" type="slidenum">
              <a:rPr lang="zh-CN" altLang="en-US" smtClean="0"/>
              <a:t>57</a:t>
            </a:fld>
            <a:endParaRPr lang="zh-CN" altLang="en-US"/>
          </a:p>
        </p:txBody>
      </p:sp>
      <p:sp>
        <p:nvSpPr>
          <p:cNvPr id="30" name="标题 29"/>
          <p:cNvSpPr>
            <a:spLocks noGrp="1"/>
          </p:cNvSpPr>
          <p:nvPr>
            <p:ph type="title"/>
          </p:nvPr>
        </p:nvSpPr>
        <p:spPr/>
        <p:txBody>
          <a:bodyPr/>
          <a:lstStyle/>
          <a:p>
            <a:r>
              <a:rPr lang="zh-CN" altLang="en-US" dirty="0"/>
              <a:t>黑盒测试技术</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60312" y="3087326"/>
            <a:ext cx="3391472" cy="2409549"/>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938864" y="4275667"/>
            <a:ext cx="1024466" cy="1024466"/>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3937001" y="4428067"/>
            <a:ext cx="804332" cy="804333"/>
          </a:xfrm>
          <a:prstGeom prst="rect">
            <a:avLst/>
          </a:prstGeom>
          <a:blipFill>
            <a:blip r:embed="rId5" cstate="print"/>
            <a:stretch>
              <a:fillRect/>
            </a:stretch>
          </a:blipFill>
        </p:spPr>
        <p:txBody>
          <a:bodyPr wrap="square" lIns="0" tIns="0" rIns="0" bIns="0" rtlCol="0"/>
          <a:lstStyle/>
          <a:p>
            <a:endParaRPr/>
          </a:p>
        </p:txBody>
      </p:sp>
      <p:sp>
        <p:nvSpPr>
          <p:cNvPr id="6" name="object 6"/>
          <p:cNvSpPr txBox="1"/>
          <p:nvPr/>
        </p:nvSpPr>
        <p:spPr>
          <a:xfrm>
            <a:off x="1055294" y="1654155"/>
            <a:ext cx="10088880" cy="3689985"/>
          </a:xfrm>
          <a:prstGeom prst="rect">
            <a:avLst/>
          </a:prstGeom>
        </p:spPr>
        <p:txBody>
          <a:bodyPr vert="horz" wrap="square" lIns="0" tIns="12700" rIns="0" bIns="0" rtlCol="0">
            <a:spAutoFit/>
          </a:bodyPr>
          <a:lstStyle/>
          <a:p>
            <a:pPr marL="12700" marR="5080">
              <a:lnSpc>
                <a:spcPct val="117000"/>
              </a:lnSpc>
              <a:spcBef>
                <a:spcPts val="100"/>
              </a:spcBef>
            </a:pPr>
            <a:r>
              <a:rPr sz="2200" spc="60" dirty="0">
                <a:solidFill>
                  <a:srgbClr val="0033CC"/>
                </a:solidFill>
                <a:latin typeface="微软雅黑" panose="020B0503020204020204" pitchFamily="34" charset="-122"/>
                <a:cs typeface="微软雅黑" panose="020B0503020204020204" pitchFamily="34" charset="-122"/>
              </a:rPr>
              <a:t>等价类划分</a:t>
            </a:r>
            <a:r>
              <a:rPr sz="2200" spc="60" dirty="0">
                <a:latin typeface="微软雅黑" panose="020B0503020204020204" pitchFamily="34" charset="-122"/>
                <a:cs typeface="微软雅黑" panose="020B0503020204020204" pitchFamily="34" charset="-122"/>
              </a:rPr>
              <a:t>是将输入域划分成尽可能少的若干子域，在划分中要求每个子域两两 </a:t>
            </a:r>
            <a:r>
              <a:rPr sz="2200" dirty="0">
                <a:latin typeface="微软雅黑" panose="020B0503020204020204" pitchFamily="34" charset="-122"/>
                <a:cs typeface="微软雅黑" panose="020B0503020204020204" pitchFamily="34" charset="-122"/>
              </a:rPr>
              <a:t>互不相交，每个子域称为一个等价类。</a:t>
            </a:r>
          </a:p>
          <a:p>
            <a:pPr>
              <a:lnSpc>
                <a:spcPct val="100000"/>
              </a:lnSpc>
            </a:pPr>
            <a:endParaRPr sz="2900" dirty="0">
              <a:latin typeface="Times New Roman" panose="02020603050405020304"/>
              <a:cs typeface="Times New Roman" panose="02020603050405020304"/>
            </a:endParaRPr>
          </a:p>
          <a:p>
            <a:pPr marL="5414645" indent="-448310">
              <a:lnSpc>
                <a:spcPct val="100000"/>
              </a:lnSpc>
              <a:spcBef>
                <a:spcPts val="1675"/>
              </a:spcBef>
              <a:buFont typeface="Arial" panose="020B0604020202020204"/>
              <a:buChar char="•"/>
              <a:tabLst>
                <a:tab pos="5414645" algn="l"/>
                <a:tab pos="5415280" algn="l"/>
              </a:tabLst>
            </a:pPr>
            <a:r>
              <a:rPr sz="2200" dirty="0">
                <a:latin typeface="微软雅黑" panose="020B0503020204020204" pitchFamily="34" charset="-122"/>
                <a:cs typeface="微软雅黑" panose="020B0503020204020204" pitchFamily="34" charset="-122"/>
              </a:rPr>
              <a:t>同一输入域的等价类划分可能不唯一</a:t>
            </a:r>
          </a:p>
          <a:p>
            <a:pPr marL="5411470" marR="149860" indent="-444500">
              <a:lnSpc>
                <a:spcPct val="121000"/>
              </a:lnSpc>
              <a:spcBef>
                <a:spcPts val="1100"/>
              </a:spcBef>
              <a:buFont typeface="Arial" panose="020B0604020202020204"/>
              <a:buChar char="•"/>
              <a:tabLst>
                <a:tab pos="5415915" algn="l"/>
                <a:tab pos="5416550" algn="l"/>
              </a:tabLst>
            </a:pPr>
            <a:r>
              <a:rPr sz="2200" spc="20" dirty="0">
                <a:latin typeface="微软雅黑" panose="020B0503020204020204" pitchFamily="34" charset="-122"/>
                <a:cs typeface="微软雅黑" panose="020B0503020204020204" pitchFamily="34" charset="-122"/>
              </a:rPr>
              <a:t>只需从每一个等价类中选取一个输入 </a:t>
            </a:r>
            <a:r>
              <a:rPr sz="2200" dirty="0">
                <a:latin typeface="微软雅黑" panose="020B0503020204020204" pitchFamily="34" charset="-122"/>
                <a:cs typeface="微软雅黑" panose="020B0503020204020204" pitchFamily="34" charset="-122"/>
              </a:rPr>
              <a:t>作为测试用例</a:t>
            </a:r>
          </a:p>
          <a:p>
            <a:pPr marL="5411470" marR="149860" indent="-444500">
              <a:lnSpc>
                <a:spcPct val="117000"/>
              </a:lnSpc>
              <a:spcBef>
                <a:spcPts val="1300"/>
              </a:spcBef>
              <a:buFont typeface="Arial" panose="020B0604020202020204"/>
              <a:buChar char="•"/>
              <a:tabLst>
                <a:tab pos="5415915" algn="l"/>
                <a:tab pos="5416550" algn="l"/>
              </a:tabLst>
            </a:pPr>
            <a:r>
              <a:rPr sz="2200" spc="20" dirty="0">
                <a:latin typeface="微软雅黑" panose="020B0503020204020204" pitchFamily="34" charset="-122"/>
                <a:cs typeface="微软雅黑" panose="020B0503020204020204" pitchFamily="34" charset="-122"/>
              </a:rPr>
              <a:t>对于相同的等价类划分，不同测试人 </a:t>
            </a:r>
            <a:r>
              <a:rPr sz="2200" dirty="0">
                <a:latin typeface="微软雅黑" panose="020B0503020204020204" pitchFamily="34" charset="-122"/>
                <a:cs typeface="微软雅黑" panose="020B0503020204020204" pitchFamily="34" charset="-122"/>
              </a:rPr>
              <a:t>员选取的测试用例集可能是不同的</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58</a:t>
            </a:fld>
            <a:endParaRPr lang="zh-CN" altLang="en-US"/>
          </a:p>
        </p:txBody>
      </p:sp>
      <p:sp>
        <p:nvSpPr>
          <p:cNvPr id="9" name="标题 8"/>
          <p:cNvSpPr>
            <a:spLocks noGrp="1"/>
          </p:cNvSpPr>
          <p:nvPr>
            <p:ph type="title"/>
          </p:nvPr>
        </p:nvSpPr>
        <p:spPr/>
        <p:txBody>
          <a:bodyPr/>
          <a:lstStyle/>
          <a:p>
            <a:r>
              <a:rPr lang="zh-CN" altLang="en-US" dirty="0"/>
              <a:t>等价类划分</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153061" y="3805782"/>
            <a:ext cx="1085651" cy="175788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63875" y="1550342"/>
            <a:ext cx="9759315" cy="3470275"/>
          </a:xfrm>
          <a:prstGeom prst="rect">
            <a:avLst/>
          </a:prstGeom>
        </p:spPr>
        <p:txBody>
          <a:bodyPr vert="horz" wrap="square" lIns="0" tIns="12700" rIns="0" bIns="0" rtlCol="0">
            <a:spAutoFit/>
          </a:bodyPr>
          <a:lstStyle/>
          <a:p>
            <a:pPr marL="12700" marR="5080">
              <a:lnSpc>
                <a:spcPct val="117000"/>
              </a:lnSpc>
              <a:spcBef>
                <a:spcPts val="100"/>
              </a:spcBef>
            </a:pPr>
            <a:r>
              <a:rPr sz="2200" spc="50" dirty="0">
                <a:solidFill>
                  <a:srgbClr val="0033CC"/>
                </a:solidFill>
                <a:latin typeface="微软雅黑" panose="020B0503020204020204" pitchFamily="34" charset="-122"/>
                <a:cs typeface="微软雅黑" panose="020B0503020204020204" pitchFamily="34" charset="-122"/>
              </a:rPr>
              <a:t>有效等价类</a:t>
            </a:r>
            <a:r>
              <a:rPr sz="2200" spc="50" dirty="0">
                <a:latin typeface="微软雅黑" panose="020B0503020204020204" pitchFamily="34" charset="-122"/>
                <a:cs typeface="微软雅黑" panose="020B0503020204020204" pitchFamily="34" charset="-122"/>
              </a:rPr>
              <a:t>是对规格说明有意义、合理的输入数据构成的集合，能够检验程序 </a:t>
            </a:r>
            <a:r>
              <a:rPr sz="2200" dirty="0">
                <a:latin typeface="微软雅黑" panose="020B0503020204020204" pitchFamily="34" charset="-122"/>
                <a:cs typeface="微软雅黑" panose="020B0503020204020204" pitchFamily="34" charset="-122"/>
              </a:rPr>
              <a:t>是否实现了规格说明中预先规定的功能和性能。</a:t>
            </a:r>
            <a:endParaRPr sz="2200">
              <a:latin typeface="微软雅黑" panose="020B0503020204020204" pitchFamily="34" charset="-122"/>
              <a:cs typeface="微软雅黑" panose="020B0503020204020204" pitchFamily="34" charset="-122"/>
            </a:endParaRPr>
          </a:p>
          <a:p>
            <a:pPr marL="12700" marR="5080">
              <a:lnSpc>
                <a:spcPct val="121000"/>
              </a:lnSpc>
              <a:spcBef>
                <a:spcPts val="1200"/>
              </a:spcBef>
            </a:pPr>
            <a:r>
              <a:rPr sz="2200" spc="50" dirty="0">
                <a:solidFill>
                  <a:srgbClr val="0033CC"/>
                </a:solidFill>
                <a:latin typeface="微软雅黑" panose="020B0503020204020204" pitchFamily="34" charset="-122"/>
                <a:cs typeface="微软雅黑" panose="020B0503020204020204" pitchFamily="34" charset="-122"/>
              </a:rPr>
              <a:t>无效等价类</a:t>
            </a:r>
            <a:r>
              <a:rPr sz="2200" spc="50" dirty="0">
                <a:latin typeface="微软雅黑" panose="020B0503020204020204" pitchFamily="34" charset="-122"/>
                <a:cs typeface="微软雅黑" panose="020B0503020204020204" pitchFamily="34" charset="-122"/>
              </a:rPr>
              <a:t>是对规格说明无意义、不合理的输入数据构成的集合，以检查程序 </a:t>
            </a:r>
            <a:r>
              <a:rPr sz="2200" dirty="0">
                <a:latin typeface="微软雅黑" panose="020B0503020204020204" pitchFamily="34" charset="-122"/>
                <a:cs typeface="微软雅黑" panose="020B0503020204020204" pitchFamily="34" charset="-122"/>
              </a:rPr>
              <a:t>是否具有一定的容错性。</a:t>
            </a:r>
            <a:endParaRPr sz="2200">
              <a:latin typeface="微软雅黑" panose="020B0503020204020204" pitchFamily="34" charset="-122"/>
              <a:cs typeface="微软雅黑" panose="020B0503020204020204" pitchFamily="34" charset="-122"/>
            </a:endParaRPr>
          </a:p>
          <a:p>
            <a:pPr>
              <a:lnSpc>
                <a:spcPct val="100000"/>
              </a:lnSpc>
            </a:pPr>
            <a:endParaRPr sz="2900">
              <a:latin typeface="Times New Roman" panose="02020603050405020304"/>
              <a:cs typeface="Times New Roman" panose="02020603050405020304"/>
            </a:endParaRPr>
          </a:p>
          <a:p>
            <a:pPr>
              <a:lnSpc>
                <a:spcPct val="100000"/>
              </a:lnSpc>
              <a:spcBef>
                <a:spcPts val="25"/>
              </a:spcBef>
            </a:pPr>
            <a:endParaRPr sz="3150">
              <a:latin typeface="Times New Roman" panose="02020603050405020304"/>
              <a:cs typeface="Times New Roman" panose="02020603050405020304"/>
            </a:endParaRPr>
          </a:p>
          <a:p>
            <a:pPr marL="4474210" indent="-264160">
              <a:lnSpc>
                <a:spcPct val="100000"/>
              </a:lnSpc>
              <a:buChar char="•"/>
              <a:tabLst>
                <a:tab pos="4473575" algn="l"/>
                <a:tab pos="4474845" algn="l"/>
              </a:tabLst>
            </a:pPr>
            <a:r>
              <a:rPr sz="2200" dirty="0">
                <a:latin typeface="Arial" panose="020B0604020202020204"/>
                <a:cs typeface="Arial" panose="020B0604020202020204"/>
              </a:rPr>
              <a:t>E</a:t>
            </a:r>
            <a:r>
              <a:rPr sz="2200" spc="-10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表示所有正常和合法的输入</a:t>
            </a:r>
            <a:endParaRPr sz="2200">
              <a:latin typeface="微软雅黑" panose="020B0503020204020204" pitchFamily="34" charset="-122"/>
              <a:cs typeface="微软雅黑" panose="020B0503020204020204" pitchFamily="34" charset="-122"/>
            </a:endParaRPr>
          </a:p>
          <a:p>
            <a:pPr marL="4474210" indent="-264160">
              <a:lnSpc>
                <a:spcPct val="100000"/>
              </a:lnSpc>
              <a:spcBef>
                <a:spcPts val="1060"/>
              </a:spcBef>
              <a:buChar char="•"/>
              <a:tabLst>
                <a:tab pos="4473575" algn="l"/>
                <a:tab pos="4474845" algn="l"/>
              </a:tabLst>
            </a:pPr>
            <a:r>
              <a:rPr sz="2200" dirty="0">
                <a:latin typeface="Arial" panose="020B0604020202020204"/>
                <a:cs typeface="Arial" panose="020B0604020202020204"/>
              </a:rPr>
              <a:t>U</a:t>
            </a:r>
            <a:r>
              <a:rPr sz="2200" spc="-10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表示所有异常和非法的输入</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59</a:t>
            </a:fld>
            <a:endParaRPr lang="zh-CN" altLang="en-US"/>
          </a:p>
        </p:txBody>
      </p:sp>
      <p:sp>
        <p:nvSpPr>
          <p:cNvPr id="7" name="标题 6"/>
          <p:cNvSpPr>
            <a:spLocks noGrp="1"/>
          </p:cNvSpPr>
          <p:nvPr>
            <p:ph type="title"/>
          </p:nvPr>
        </p:nvSpPr>
        <p:spPr/>
        <p:txBody>
          <a:bodyPr/>
          <a:lstStyle/>
          <a:p>
            <a:r>
              <a:rPr lang="zh-CN" altLang="en-US" dirty="0"/>
              <a:t>等价类类型</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1654" y="1453478"/>
            <a:ext cx="9808210" cy="889000"/>
          </a:xfrm>
          <a:prstGeom prst="rect">
            <a:avLst/>
          </a:prstGeom>
        </p:spPr>
        <p:txBody>
          <a:bodyPr vert="horz" wrap="square" lIns="0" tIns="12700" rIns="0" bIns="0" rtlCol="0">
            <a:spAutoFit/>
          </a:bodyPr>
          <a:lstStyle/>
          <a:p>
            <a:pPr marL="12700" marR="5080">
              <a:lnSpc>
                <a:spcPct val="129000"/>
              </a:lnSpc>
              <a:spcBef>
                <a:spcPts val="100"/>
              </a:spcBef>
            </a:pPr>
            <a:r>
              <a:rPr sz="2200" spc="65" dirty="0">
                <a:solidFill>
                  <a:srgbClr val="0033CC"/>
                </a:solidFill>
                <a:latin typeface="微软雅黑" panose="020B0503020204020204" pitchFamily="34" charset="-122"/>
                <a:cs typeface="微软雅黑" panose="020B0503020204020204" pitchFamily="34" charset="-122"/>
              </a:rPr>
              <a:t>取值范围：</a:t>
            </a:r>
            <a:r>
              <a:rPr sz="2200" spc="65" dirty="0">
                <a:latin typeface="微软雅黑" panose="020B0503020204020204" pitchFamily="34" charset="-122"/>
                <a:cs typeface="微软雅黑" panose="020B0503020204020204" pitchFamily="34" charset="-122"/>
              </a:rPr>
              <a:t>在输入条件规定了取值范围的情况下，可以确定一个有效等价类和 </a:t>
            </a:r>
            <a:r>
              <a:rPr sz="2200" dirty="0">
                <a:latin typeface="微软雅黑" panose="020B0503020204020204" pitchFamily="34" charset="-122"/>
                <a:cs typeface="微软雅黑" panose="020B0503020204020204" pitchFamily="34" charset="-122"/>
              </a:rPr>
              <a:t>两个无效等价类。</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7314920" y="3049138"/>
            <a:ext cx="2197735" cy="0"/>
          </a:xfrm>
          <a:custGeom>
            <a:avLst/>
            <a:gdLst/>
            <a:ahLst/>
            <a:cxnLst/>
            <a:rect l="l" t="t" r="r" b="b"/>
            <a:pathLst>
              <a:path w="2197734">
                <a:moveTo>
                  <a:pt x="0" y="0"/>
                </a:moveTo>
                <a:lnTo>
                  <a:pt x="2197594" y="0"/>
                </a:lnTo>
              </a:path>
            </a:pathLst>
          </a:custGeom>
          <a:ln w="38101">
            <a:solidFill>
              <a:srgbClr val="000000"/>
            </a:solidFill>
          </a:ln>
        </p:spPr>
        <p:txBody>
          <a:bodyPr wrap="square" lIns="0" tIns="0" rIns="0" bIns="0" rtlCol="0"/>
          <a:lstStyle/>
          <a:p>
            <a:endParaRPr/>
          </a:p>
        </p:txBody>
      </p:sp>
      <p:sp>
        <p:nvSpPr>
          <p:cNvPr id="5" name="object 5"/>
          <p:cNvSpPr/>
          <p:nvPr/>
        </p:nvSpPr>
        <p:spPr>
          <a:xfrm>
            <a:off x="2568117" y="3049138"/>
            <a:ext cx="2197735" cy="0"/>
          </a:xfrm>
          <a:custGeom>
            <a:avLst/>
            <a:gdLst/>
            <a:ahLst/>
            <a:cxnLst/>
            <a:rect l="l" t="t" r="r" b="b"/>
            <a:pathLst>
              <a:path w="2197735">
                <a:moveTo>
                  <a:pt x="0" y="0"/>
                </a:moveTo>
                <a:lnTo>
                  <a:pt x="2197592" y="0"/>
                </a:lnTo>
              </a:path>
            </a:pathLst>
          </a:custGeom>
          <a:ln w="38101">
            <a:solidFill>
              <a:srgbClr val="000000"/>
            </a:solidFill>
          </a:ln>
        </p:spPr>
        <p:txBody>
          <a:bodyPr wrap="square" lIns="0" tIns="0" rIns="0" bIns="0" rtlCol="0"/>
          <a:lstStyle/>
          <a:p>
            <a:endParaRPr/>
          </a:p>
        </p:txBody>
      </p:sp>
      <p:sp>
        <p:nvSpPr>
          <p:cNvPr id="6" name="object 6"/>
          <p:cNvSpPr/>
          <p:nvPr/>
        </p:nvSpPr>
        <p:spPr>
          <a:xfrm>
            <a:off x="4765710" y="2949859"/>
            <a:ext cx="2549210" cy="19855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65710" y="2949859"/>
            <a:ext cx="2549525" cy="198755"/>
          </a:xfrm>
          <a:custGeom>
            <a:avLst/>
            <a:gdLst/>
            <a:ahLst/>
            <a:cxnLst/>
            <a:rect l="l" t="t" r="r" b="b"/>
            <a:pathLst>
              <a:path w="2549525" h="198755">
                <a:moveTo>
                  <a:pt x="0" y="0"/>
                </a:moveTo>
                <a:lnTo>
                  <a:pt x="2549209" y="0"/>
                </a:lnTo>
                <a:lnTo>
                  <a:pt x="2549209" y="198558"/>
                </a:lnTo>
                <a:lnTo>
                  <a:pt x="0" y="198558"/>
                </a:lnTo>
                <a:lnTo>
                  <a:pt x="0" y="0"/>
                </a:lnTo>
                <a:close/>
              </a:path>
            </a:pathLst>
          </a:custGeom>
          <a:ln w="12699">
            <a:solidFill>
              <a:srgbClr val="000000"/>
            </a:solidFill>
          </a:ln>
        </p:spPr>
        <p:txBody>
          <a:bodyPr wrap="square" lIns="0" tIns="0" rIns="0" bIns="0" rtlCol="0"/>
          <a:lstStyle/>
          <a:p>
            <a:endParaRPr/>
          </a:p>
        </p:txBody>
      </p:sp>
      <p:sp>
        <p:nvSpPr>
          <p:cNvPr id="8" name="object 8"/>
          <p:cNvSpPr/>
          <p:nvPr/>
        </p:nvSpPr>
        <p:spPr>
          <a:xfrm>
            <a:off x="4760217" y="2668881"/>
            <a:ext cx="2563495" cy="725805"/>
          </a:xfrm>
          <a:custGeom>
            <a:avLst/>
            <a:gdLst/>
            <a:ahLst/>
            <a:cxnLst/>
            <a:rect l="l" t="t" r="r" b="b"/>
            <a:pathLst>
              <a:path w="2563495" h="725804">
                <a:moveTo>
                  <a:pt x="1230651" y="20604"/>
                </a:moveTo>
                <a:lnTo>
                  <a:pt x="1182226" y="23644"/>
                </a:lnTo>
                <a:lnTo>
                  <a:pt x="1133026" y="26457"/>
                </a:lnTo>
                <a:lnTo>
                  <a:pt x="1083131" y="29115"/>
                </a:lnTo>
                <a:lnTo>
                  <a:pt x="1032616" y="31689"/>
                </a:lnTo>
                <a:lnTo>
                  <a:pt x="981561" y="34250"/>
                </a:lnTo>
                <a:lnTo>
                  <a:pt x="930043" y="36869"/>
                </a:lnTo>
                <a:lnTo>
                  <a:pt x="878138" y="39617"/>
                </a:lnTo>
                <a:lnTo>
                  <a:pt x="825926" y="42566"/>
                </a:lnTo>
                <a:lnTo>
                  <a:pt x="773484" y="45787"/>
                </a:lnTo>
                <a:lnTo>
                  <a:pt x="720889" y="49350"/>
                </a:lnTo>
                <a:lnTo>
                  <a:pt x="668219" y="53327"/>
                </a:lnTo>
                <a:lnTo>
                  <a:pt x="615551" y="57789"/>
                </a:lnTo>
                <a:lnTo>
                  <a:pt x="562964" y="62807"/>
                </a:lnTo>
                <a:lnTo>
                  <a:pt x="510535" y="68452"/>
                </a:lnTo>
                <a:lnTo>
                  <a:pt x="458342" y="74796"/>
                </a:lnTo>
                <a:lnTo>
                  <a:pt x="406462" y="81909"/>
                </a:lnTo>
                <a:lnTo>
                  <a:pt x="354974" y="89863"/>
                </a:lnTo>
                <a:lnTo>
                  <a:pt x="303954" y="98728"/>
                </a:lnTo>
                <a:lnTo>
                  <a:pt x="253480" y="108576"/>
                </a:lnTo>
                <a:lnTo>
                  <a:pt x="203630" y="119479"/>
                </a:lnTo>
                <a:lnTo>
                  <a:pt x="154482" y="131506"/>
                </a:lnTo>
                <a:lnTo>
                  <a:pt x="106114" y="144730"/>
                </a:lnTo>
                <a:lnTo>
                  <a:pt x="58602" y="159221"/>
                </a:lnTo>
                <a:lnTo>
                  <a:pt x="21747" y="214246"/>
                </a:lnTo>
                <a:lnTo>
                  <a:pt x="4778" y="249046"/>
                </a:lnTo>
                <a:lnTo>
                  <a:pt x="0" y="279105"/>
                </a:lnTo>
                <a:lnTo>
                  <a:pt x="3481" y="326399"/>
                </a:lnTo>
                <a:lnTo>
                  <a:pt x="5424" y="376020"/>
                </a:lnTo>
                <a:lnTo>
                  <a:pt x="7207" y="426853"/>
                </a:lnTo>
                <a:lnTo>
                  <a:pt x="10208" y="477784"/>
                </a:lnTo>
                <a:lnTo>
                  <a:pt x="15803" y="527699"/>
                </a:lnTo>
                <a:lnTo>
                  <a:pt x="25371" y="575485"/>
                </a:lnTo>
                <a:lnTo>
                  <a:pt x="40289" y="620026"/>
                </a:lnTo>
                <a:lnTo>
                  <a:pt x="115848" y="635220"/>
                </a:lnTo>
                <a:lnTo>
                  <a:pt x="183361" y="641100"/>
                </a:lnTo>
                <a:lnTo>
                  <a:pt x="251638" y="646667"/>
                </a:lnTo>
                <a:lnTo>
                  <a:pt x="306382" y="652547"/>
                </a:lnTo>
                <a:lnTo>
                  <a:pt x="333301" y="659363"/>
                </a:lnTo>
                <a:lnTo>
                  <a:pt x="370259" y="689149"/>
                </a:lnTo>
                <a:lnTo>
                  <a:pt x="405951" y="703395"/>
                </a:lnTo>
                <a:lnTo>
                  <a:pt x="441146" y="705569"/>
                </a:lnTo>
                <a:lnTo>
                  <a:pt x="476612" y="699140"/>
                </a:lnTo>
                <a:lnTo>
                  <a:pt x="513118" y="687577"/>
                </a:lnTo>
                <a:lnTo>
                  <a:pt x="551433" y="674349"/>
                </a:lnTo>
                <a:lnTo>
                  <a:pt x="592325" y="662925"/>
                </a:lnTo>
                <a:lnTo>
                  <a:pt x="636563" y="656773"/>
                </a:lnTo>
                <a:lnTo>
                  <a:pt x="684916" y="659363"/>
                </a:lnTo>
                <a:lnTo>
                  <a:pt x="741561" y="658534"/>
                </a:lnTo>
                <a:lnTo>
                  <a:pt x="795085" y="659791"/>
                </a:lnTo>
                <a:lnTo>
                  <a:pt x="846182" y="662619"/>
                </a:lnTo>
                <a:lnTo>
                  <a:pt x="895545" y="666501"/>
                </a:lnTo>
                <a:lnTo>
                  <a:pt x="943868" y="670925"/>
                </a:lnTo>
                <a:lnTo>
                  <a:pt x="991845" y="675373"/>
                </a:lnTo>
                <a:lnTo>
                  <a:pt x="1040168" y="679332"/>
                </a:lnTo>
                <a:lnTo>
                  <a:pt x="1089531" y="682286"/>
                </a:lnTo>
                <a:lnTo>
                  <a:pt x="1140628" y="683720"/>
                </a:lnTo>
                <a:lnTo>
                  <a:pt x="1194152" y="683119"/>
                </a:lnTo>
                <a:lnTo>
                  <a:pt x="1250796" y="679968"/>
                </a:lnTo>
                <a:lnTo>
                  <a:pt x="1298613" y="677439"/>
                </a:lnTo>
                <a:lnTo>
                  <a:pt x="1346541" y="678086"/>
                </a:lnTo>
                <a:lnTo>
                  <a:pt x="1394558" y="681296"/>
                </a:lnTo>
                <a:lnTo>
                  <a:pt x="1442645" y="686455"/>
                </a:lnTo>
                <a:lnTo>
                  <a:pt x="1490782" y="692950"/>
                </a:lnTo>
                <a:lnTo>
                  <a:pt x="1538949" y="700165"/>
                </a:lnTo>
                <a:lnTo>
                  <a:pt x="1587126" y="707488"/>
                </a:lnTo>
                <a:lnTo>
                  <a:pt x="1635294" y="714305"/>
                </a:lnTo>
                <a:lnTo>
                  <a:pt x="1683431" y="720001"/>
                </a:lnTo>
                <a:lnTo>
                  <a:pt x="1731518" y="723963"/>
                </a:lnTo>
                <a:lnTo>
                  <a:pt x="1779535" y="725577"/>
                </a:lnTo>
                <a:lnTo>
                  <a:pt x="1827462" y="724229"/>
                </a:lnTo>
                <a:lnTo>
                  <a:pt x="1875279" y="719305"/>
                </a:lnTo>
                <a:lnTo>
                  <a:pt x="1924078" y="712504"/>
                </a:lnTo>
                <a:lnTo>
                  <a:pt x="1975173" y="707042"/>
                </a:lnTo>
                <a:lnTo>
                  <a:pt x="2027770" y="702150"/>
                </a:lnTo>
                <a:lnTo>
                  <a:pt x="2081075" y="697061"/>
                </a:lnTo>
                <a:lnTo>
                  <a:pt x="2134294" y="691006"/>
                </a:lnTo>
                <a:lnTo>
                  <a:pt x="2186634" y="683217"/>
                </a:lnTo>
                <a:lnTo>
                  <a:pt x="2237299" y="672926"/>
                </a:lnTo>
                <a:lnTo>
                  <a:pt x="2285497" y="659363"/>
                </a:lnTo>
                <a:lnTo>
                  <a:pt x="2314369" y="649529"/>
                </a:lnTo>
                <a:lnTo>
                  <a:pt x="2343413" y="639695"/>
                </a:lnTo>
                <a:lnTo>
                  <a:pt x="2372800" y="629861"/>
                </a:lnTo>
                <a:lnTo>
                  <a:pt x="2402702" y="620026"/>
                </a:lnTo>
                <a:lnTo>
                  <a:pt x="2419584" y="613646"/>
                </a:lnTo>
                <a:lnTo>
                  <a:pt x="2438870" y="606914"/>
                </a:lnTo>
                <a:lnTo>
                  <a:pt x="2454722" y="601587"/>
                </a:lnTo>
                <a:lnTo>
                  <a:pt x="2461303" y="599421"/>
                </a:lnTo>
                <a:lnTo>
                  <a:pt x="2494267" y="562689"/>
                </a:lnTo>
                <a:lnTo>
                  <a:pt x="2520364" y="526133"/>
                </a:lnTo>
                <a:lnTo>
                  <a:pt x="2541653" y="486415"/>
                </a:lnTo>
                <a:lnTo>
                  <a:pt x="2560196" y="440200"/>
                </a:lnTo>
                <a:lnTo>
                  <a:pt x="2563143" y="389038"/>
                </a:lnTo>
                <a:lnTo>
                  <a:pt x="2560425" y="331555"/>
                </a:lnTo>
                <a:lnTo>
                  <a:pt x="2551182" y="276881"/>
                </a:lnTo>
                <a:lnTo>
                  <a:pt x="2534557" y="234149"/>
                </a:lnTo>
                <a:lnTo>
                  <a:pt x="2489003" y="189660"/>
                </a:lnTo>
                <a:lnTo>
                  <a:pt x="2449315" y="176197"/>
                </a:lnTo>
                <a:lnTo>
                  <a:pt x="2384388" y="159221"/>
                </a:lnTo>
                <a:lnTo>
                  <a:pt x="2349374" y="131745"/>
                </a:lnTo>
                <a:lnTo>
                  <a:pt x="2308144" y="110138"/>
                </a:lnTo>
                <a:lnTo>
                  <a:pt x="2262018" y="93673"/>
                </a:lnTo>
                <a:lnTo>
                  <a:pt x="2212318" y="81625"/>
                </a:lnTo>
                <a:lnTo>
                  <a:pt x="2160364" y="73266"/>
                </a:lnTo>
                <a:lnTo>
                  <a:pt x="2107477" y="67872"/>
                </a:lnTo>
                <a:lnTo>
                  <a:pt x="2054978" y="64715"/>
                </a:lnTo>
                <a:lnTo>
                  <a:pt x="2004188" y="63070"/>
                </a:lnTo>
                <a:lnTo>
                  <a:pt x="1956427" y="62210"/>
                </a:lnTo>
                <a:lnTo>
                  <a:pt x="1913018" y="61409"/>
                </a:lnTo>
                <a:lnTo>
                  <a:pt x="1875279" y="59942"/>
                </a:lnTo>
                <a:lnTo>
                  <a:pt x="1826385" y="51537"/>
                </a:lnTo>
                <a:lnTo>
                  <a:pt x="1777501" y="44177"/>
                </a:lnTo>
                <a:lnTo>
                  <a:pt x="1728639" y="37671"/>
                </a:lnTo>
                <a:lnTo>
                  <a:pt x="1679811" y="31829"/>
                </a:lnTo>
                <a:lnTo>
                  <a:pt x="1631026" y="26458"/>
                </a:lnTo>
                <a:lnTo>
                  <a:pt x="1582296" y="21369"/>
                </a:lnTo>
                <a:lnTo>
                  <a:pt x="1533633" y="16369"/>
                </a:lnTo>
                <a:lnTo>
                  <a:pt x="1485046" y="11269"/>
                </a:lnTo>
                <a:lnTo>
                  <a:pt x="1436547" y="5876"/>
                </a:lnTo>
                <a:lnTo>
                  <a:pt x="1388146" y="0"/>
                </a:lnTo>
                <a:lnTo>
                  <a:pt x="1328694" y="10774"/>
                </a:lnTo>
                <a:lnTo>
                  <a:pt x="1298426" y="16963"/>
                </a:lnTo>
                <a:lnTo>
                  <a:pt x="1282134" y="19825"/>
                </a:lnTo>
                <a:lnTo>
                  <a:pt x="1264612" y="20619"/>
                </a:lnTo>
                <a:lnTo>
                  <a:pt x="1230651" y="20604"/>
                </a:lnTo>
                <a:close/>
              </a:path>
            </a:pathLst>
          </a:custGeom>
          <a:ln w="12699">
            <a:solidFill>
              <a:srgbClr val="000000"/>
            </a:solidFill>
          </a:ln>
        </p:spPr>
        <p:txBody>
          <a:bodyPr wrap="square" lIns="0" tIns="0" rIns="0" bIns="0" rtlCol="0"/>
          <a:lstStyle/>
          <a:p>
            <a:endParaRPr/>
          </a:p>
        </p:txBody>
      </p:sp>
      <p:sp>
        <p:nvSpPr>
          <p:cNvPr id="9" name="object 9"/>
          <p:cNvSpPr txBox="1"/>
          <p:nvPr/>
        </p:nvSpPr>
        <p:spPr>
          <a:xfrm>
            <a:off x="5719826" y="3387490"/>
            <a:ext cx="7969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in</a:t>
            </a:r>
            <a:r>
              <a:rPr sz="1800" b="1" spc="-70" dirty="0">
                <a:latin typeface="Calibri" panose="020F0502020204030204"/>
                <a:cs typeface="Calibri" panose="020F0502020204030204"/>
              </a:rPr>
              <a:t> </a:t>
            </a:r>
            <a:r>
              <a:rPr sz="1800" b="1" spc="-5" dirty="0">
                <a:latin typeface="Calibri" panose="020F0502020204030204"/>
                <a:cs typeface="Calibri" panose="020F0502020204030204"/>
              </a:rPr>
              <a:t>range</a:t>
            </a:r>
            <a:endParaRPr sz="1800">
              <a:latin typeface="Calibri" panose="020F0502020204030204"/>
              <a:cs typeface="Calibri" panose="020F0502020204030204"/>
            </a:endParaRPr>
          </a:p>
        </p:txBody>
      </p:sp>
      <p:sp>
        <p:nvSpPr>
          <p:cNvPr id="10" name="object 10"/>
          <p:cNvSpPr/>
          <p:nvPr/>
        </p:nvSpPr>
        <p:spPr>
          <a:xfrm>
            <a:off x="7320414" y="2703298"/>
            <a:ext cx="2558415" cy="655320"/>
          </a:xfrm>
          <a:custGeom>
            <a:avLst/>
            <a:gdLst/>
            <a:ahLst/>
            <a:cxnLst/>
            <a:rect l="l" t="t" r="r" b="b"/>
            <a:pathLst>
              <a:path w="2558415" h="655320">
                <a:moveTo>
                  <a:pt x="955953" y="33015"/>
                </a:moveTo>
                <a:lnTo>
                  <a:pt x="941024" y="32705"/>
                </a:lnTo>
                <a:lnTo>
                  <a:pt x="915405" y="31925"/>
                </a:lnTo>
                <a:lnTo>
                  <a:pt x="880376" y="30899"/>
                </a:lnTo>
                <a:lnTo>
                  <a:pt x="837220" y="29849"/>
                </a:lnTo>
                <a:lnTo>
                  <a:pt x="787217" y="29000"/>
                </a:lnTo>
                <a:lnTo>
                  <a:pt x="731649" y="28574"/>
                </a:lnTo>
                <a:lnTo>
                  <a:pt x="671796" y="28797"/>
                </a:lnTo>
                <a:lnTo>
                  <a:pt x="608940" y="29890"/>
                </a:lnTo>
                <a:lnTo>
                  <a:pt x="544362" y="32078"/>
                </a:lnTo>
                <a:lnTo>
                  <a:pt x="479343" y="35584"/>
                </a:lnTo>
                <a:lnTo>
                  <a:pt x="415164" y="40632"/>
                </a:lnTo>
                <a:lnTo>
                  <a:pt x="353107" y="47445"/>
                </a:lnTo>
                <a:lnTo>
                  <a:pt x="294452" y="56247"/>
                </a:lnTo>
                <a:lnTo>
                  <a:pt x="240481" y="67261"/>
                </a:lnTo>
                <a:lnTo>
                  <a:pt x="192475" y="80711"/>
                </a:lnTo>
                <a:lnTo>
                  <a:pt x="151716" y="96821"/>
                </a:lnTo>
                <a:lnTo>
                  <a:pt x="97059" y="137913"/>
                </a:lnTo>
                <a:lnTo>
                  <a:pt x="87216" y="151494"/>
                </a:lnTo>
                <a:lnTo>
                  <a:pt x="71879" y="159455"/>
                </a:lnTo>
                <a:lnTo>
                  <a:pt x="39344" y="191182"/>
                </a:lnTo>
                <a:lnTo>
                  <a:pt x="29301" y="225953"/>
                </a:lnTo>
                <a:lnTo>
                  <a:pt x="21889" y="242666"/>
                </a:lnTo>
                <a:lnTo>
                  <a:pt x="12590" y="262715"/>
                </a:lnTo>
                <a:lnTo>
                  <a:pt x="4320" y="287330"/>
                </a:lnTo>
                <a:lnTo>
                  <a:pt x="0" y="317740"/>
                </a:lnTo>
                <a:lnTo>
                  <a:pt x="1316" y="362140"/>
                </a:lnTo>
                <a:lnTo>
                  <a:pt x="915" y="407419"/>
                </a:lnTo>
                <a:lnTo>
                  <a:pt x="4635" y="452346"/>
                </a:lnTo>
                <a:lnTo>
                  <a:pt x="18312" y="495693"/>
                </a:lnTo>
                <a:lnTo>
                  <a:pt x="47843" y="522064"/>
                </a:lnTo>
                <a:lnTo>
                  <a:pt x="96602" y="542288"/>
                </a:lnTo>
                <a:lnTo>
                  <a:pt x="150168" y="556542"/>
                </a:lnTo>
                <a:lnTo>
                  <a:pt x="194120" y="565001"/>
                </a:lnTo>
                <a:lnTo>
                  <a:pt x="246397" y="573321"/>
                </a:lnTo>
                <a:lnTo>
                  <a:pt x="297713" y="581016"/>
                </a:lnTo>
                <a:lnTo>
                  <a:pt x="348279" y="588129"/>
                </a:lnTo>
                <a:lnTo>
                  <a:pt x="398305" y="594699"/>
                </a:lnTo>
                <a:lnTo>
                  <a:pt x="448001" y="600768"/>
                </a:lnTo>
                <a:lnTo>
                  <a:pt x="497577" y="606377"/>
                </a:lnTo>
                <a:lnTo>
                  <a:pt x="547243" y="611566"/>
                </a:lnTo>
                <a:lnTo>
                  <a:pt x="597209" y="616376"/>
                </a:lnTo>
                <a:lnTo>
                  <a:pt x="647685" y="620849"/>
                </a:lnTo>
                <a:lnTo>
                  <a:pt x="698881" y="625025"/>
                </a:lnTo>
                <a:lnTo>
                  <a:pt x="751008" y="628945"/>
                </a:lnTo>
                <a:lnTo>
                  <a:pt x="804275" y="632651"/>
                </a:lnTo>
                <a:lnTo>
                  <a:pt x="858892" y="636182"/>
                </a:lnTo>
                <a:lnTo>
                  <a:pt x="909451" y="639569"/>
                </a:lnTo>
                <a:lnTo>
                  <a:pt x="960099" y="643046"/>
                </a:lnTo>
                <a:lnTo>
                  <a:pt x="1010922" y="646702"/>
                </a:lnTo>
                <a:lnTo>
                  <a:pt x="1062009" y="650628"/>
                </a:lnTo>
                <a:lnTo>
                  <a:pt x="1113447" y="654914"/>
                </a:lnTo>
                <a:lnTo>
                  <a:pt x="1162893" y="653309"/>
                </a:lnTo>
                <a:lnTo>
                  <a:pt x="1212345" y="651920"/>
                </a:lnTo>
                <a:lnTo>
                  <a:pt x="1261807" y="650694"/>
                </a:lnTo>
                <a:lnTo>
                  <a:pt x="1311284" y="649580"/>
                </a:lnTo>
                <a:lnTo>
                  <a:pt x="1360780" y="648528"/>
                </a:lnTo>
                <a:lnTo>
                  <a:pt x="1410302" y="647486"/>
                </a:lnTo>
                <a:lnTo>
                  <a:pt x="1459854" y="646403"/>
                </a:lnTo>
                <a:lnTo>
                  <a:pt x="1509441" y="645229"/>
                </a:lnTo>
                <a:lnTo>
                  <a:pt x="1559067" y="643910"/>
                </a:lnTo>
                <a:lnTo>
                  <a:pt x="1608739" y="642398"/>
                </a:lnTo>
                <a:lnTo>
                  <a:pt x="1658461" y="640640"/>
                </a:lnTo>
                <a:lnTo>
                  <a:pt x="1708238" y="638585"/>
                </a:lnTo>
                <a:lnTo>
                  <a:pt x="1758075" y="636182"/>
                </a:lnTo>
                <a:lnTo>
                  <a:pt x="1803901" y="630008"/>
                </a:lnTo>
                <a:lnTo>
                  <a:pt x="1850871" y="618260"/>
                </a:lnTo>
                <a:lnTo>
                  <a:pt x="1898369" y="604353"/>
                </a:lnTo>
                <a:lnTo>
                  <a:pt x="1945778" y="591705"/>
                </a:lnTo>
                <a:lnTo>
                  <a:pt x="1992484" y="583733"/>
                </a:lnTo>
                <a:lnTo>
                  <a:pt x="2042468" y="578233"/>
                </a:lnTo>
                <a:lnTo>
                  <a:pt x="2092501" y="573729"/>
                </a:lnTo>
                <a:lnTo>
                  <a:pt x="2142543" y="569825"/>
                </a:lnTo>
                <a:lnTo>
                  <a:pt x="2192551" y="566124"/>
                </a:lnTo>
                <a:lnTo>
                  <a:pt x="2242486" y="562228"/>
                </a:lnTo>
                <a:lnTo>
                  <a:pt x="2292305" y="557742"/>
                </a:lnTo>
                <a:lnTo>
                  <a:pt x="2341967" y="552267"/>
                </a:lnTo>
                <a:lnTo>
                  <a:pt x="2391430" y="545408"/>
                </a:lnTo>
                <a:lnTo>
                  <a:pt x="2440655" y="536767"/>
                </a:lnTo>
                <a:lnTo>
                  <a:pt x="2489599" y="525947"/>
                </a:lnTo>
                <a:lnTo>
                  <a:pt x="2538220" y="512552"/>
                </a:lnTo>
                <a:lnTo>
                  <a:pt x="2543943" y="480590"/>
                </a:lnTo>
                <a:lnTo>
                  <a:pt x="2551039" y="449331"/>
                </a:lnTo>
                <a:lnTo>
                  <a:pt x="2556762" y="418775"/>
                </a:lnTo>
                <a:lnTo>
                  <a:pt x="2558364" y="388921"/>
                </a:lnTo>
                <a:lnTo>
                  <a:pt x="2553098" y="345328"/>
                </a:lnTo>
                <a:lnTo>
                  <a:pt x="2543550" y="305007"/>
                </a:lnTo>
                <a:lnTo>
                  <a:pt x="2529943" y="267839"/>
                </a:lnTo>
                <a:lnTo>
                  <a:pt x="2512496" y="233706"/>
                </a:lnTo>
                <a:lnTo>
                  <a:pt x="2466968" y="174068"/>
                </a:lnTo>
                <a:lnTo>
                  <a:pt x="2408733" y="125143"/>
                </a:lnTo>
                <a:lnTo>
                  <a:pt x="2375403" y="104401"/>
                </a:lnTo>
                <a:lnTo>
                  <a:pt x="2339560" y="85981"/>
                </a:lnTo>
                <a:lnTo>
                  <a:pt x="2301423" y="69764"/>
                </a:lnTo>
                <a:lnTo>
                  <a:pt x="2261215" y="55632"/>
                </a:lnTo>
                <a:lnTo>
                  <a:pt x="2219155" y="43465"/>
                </a:lnTo>
                <a:lnTo>
                  <a:pt x="2175465" y="33145"/>
                </a:lnTo>
                <a:lnTo>
                  <a:pt x="2130366" y="24554"/>
                </a:lnTo>
                <a:lnTo>
                  <a:pt x="2084078" y="17572"/>
                </a:lnTo>
                <a:lnTo>
                  <a:pt x="2036823" y="12080"/>
                </a:lnTo>
                <a:lnTo>
                  <a:pt x="1988822" y="7961"/>
                </a:lnTo>
                <a:lnTo>
                  <a:pt x="1940294" y="5094"/>
                </a:lnTo>
                <a:lnTo>
                  <a:pt x="1891462" y="3362"/>
                </a:lnTo>
                <a:lnTo>
                  <a:pt x="1842546" y="2646"/>
                </a:lnTo>
                <a:lnTo>
                  <a:pt x="1793768" y="2826"/>
                </a:lnTo>
                <a:lnTo>
                  <a:pt x="1745347" y="3784"/>
                </a:lnTo>
                <a:lnTo>
                  <a:pt x="1697505" y="5402"/>
                </a:lnTo>
                <a:lnTo>
                  <a:pt x="1650463" y="7561"/>
                </a:lnTo>
                <a:lnTo>
                  <a:pt x="1604441" y="10141"/>
                </a:lnTo>
                <a:lnTo>
                  <a:pt x="1559661" y="13024"/>
                </a:lnTo>
                <a:lnTo>
                  <a:pt x="1516344" y="16092"/>
                </a:lnTo>
                <a:lnTo>
                  <a:pt x="1474710" y="19225"/>
                </a:lnTo>
                <a:lnTo>
                  <a:pt x="1434980" y="22304"/>
                </a:lnTo>
                <a:lnTo>
                  <a:pt x="1397376" y="25212"/>
                </a:lnTo>
                <a:lnTo>
                  <a:pt x="1329427" y="30037"/>
                </a:lnTo>
                <a:lnTo>
                  <a:pt x="1272629" y="32748"/>
                </a:lnTo>
                <a:lnTo>
                  <a:pt x="1248965" y="33015"/>
                </a:lnTo>
                <a:lnTo>
                  <a:pt x="1194957" y="17014"/>
                </a:lnTo>
                <a:lnTo>
                  <a:pt x="1147767" y="5541"/>
                </a:lnTo>
                <a:lnTo>
                  <a:pt x="1103832" y="0"/>
                </a:lnTo>
                <a:lnTo>
                  <a:pt x="1059592" y="1795"/>
                </a:lnTo>
                <a:lnTo>
                  <a:pt x="1011486" y="12331"/>
                </a:lnTo>
                <a:lnTo>
                  <a:pt x="955953" y="33015"/>
                </a:lnTo>
                <a:close/>
              </a:path>
            </a:pathLst>
          </a:custGeom>
          <a:ln w="12699">
            <a:solidFill>
              <a:srgbClr val="000000"/>
            </a:solidFill>
          </a:ln>
        </p:spPr>
        <p:txBody>
          <a:bodyPr wrap="square" lIns="0" tIns="0" rIns="0" bIns="0" rtlCol="0"/>
          <a:lstStyle/>
          <a:p>
            <a:endParaRPr/>
          </a:p>
        </p:txBody>
      </p:sp>
      <p:sp>
        <p:nvSpPr>
          <p:cNvPr id="11" name="object 11"/>
          <p:cNvSpPr txBox="1"/>
          <p:nvPr/>
        </p:nvSpPr>
        <p:spPr>
          <a:xfrm>
            <a:off x="7781782" y="3389360"/>
            <a:ext cx="179895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greater than</a:t>
            </a:r>
            <a:r>
              <a:rPr sz="1800" b="1" spc="-75" dirty="0">
                <a:latin typeface="Calibri" panose="020F0502020204030204"/>
                <a:cs typeface="Calibri" panose="020F0502020204030204"/>
              </a:rPr>
              <a:t> </a:t>
            </a:r>
            <a:r>
              <a:rPr sz="1800" b="1" spc="-5" dirty="0">
                <a:latin typeface="Calibri" panose="020F0502020204030204"/>
                <a:cs typeface="Calibri" panose="020F0502020204030204"/>
              </a:rPr>
              <a:t>range</a:t>
            </a:r>
            <a:endParaRPr sz="1800">
              <a:latin typeface="Calibri" panose="020F0502020204030204"/>
              <a:cs typeface="Calibri" panose="020F0502020204030204"/>
            </a:endParaRPr>
          </a:p>
        </p:txBody>
      </p:sp>
      <p:sp>
        <p:nvSpPr>
          <p:cNvPr id="12" name="object 12"/>
          <p:cNvSpPr/>
          <p:nvPr/>
        </p:nvSpPr>
        <p:spPr>
          <a:xfrm>
            <a:off x="2392477" y="2735146"/>
            <a:ext cx="2367915" cy="615950"/>
          </a:xfrm>
          <a:custGeom>
            <a:avLst/>
            <a:gdLst/>
            <a:ahLst/>
            <a:cxnLst/>
            <a:rect l="l" t="t" r="r" b="b"/>
            <a:pathLst>
              <a:path w="2367915" h="615950">
                <a:moveTo>
                  <a:pt x="2367739" y="299008"/>
                </a:moveTo>
                <a:lnTo>
                  <a:pt x="2363933" y="262042"/>
                </a:lnTo>
                <a:lnTo>
                  <a:pt x="2359269" y="223846"/>
                </a:lnTo>
                <a:lnTo>
                  <a:pt x="2351515" y="188109"/>
                </a:lnTo>
                <a:lnTo>
                  <a:pt x="2338438" y="158519"/>
                </a:lnTo>
                <a:lnTo>
                  <a:pt x="2327393" y="130421"/>
                </a:lnTo>
                <a:lnTo>
                  <a:pt x="2317377" y="105133"/>
                </a:lnTo>
                <a:lnTo>
                  <a:pt x="2293627" y="82654"/>
                </a:lnTo>
                <a:lnTo>
                  <a:pt x="2241378" y="62986"/>
                </a:lnTo>
                <a:lnTo>
                  <a:pt x="2208068" y="37890"/>
                </a:lnTo>
                <a:lnTo>
                  <a:pt x="2166527" y="20247"/>
                </a:lnTo>
                <a:lnTo>
                  <a:pt x="2118636" y="8852"/>
                </a:lnTo>
                <a:lnTo>
                  <a:pt x="2066273" y="2504"/>
                </a:lnTo>
                <a:lnTo>
                  <a:pt x="2011317" y="0"/>
                </a:lnTo>
                <a:lnTo>
                  <a:pt x="1955646" y="136"/>
                </a:lnTo>
                <a:lnTo>
                  <a:pt x="1901140" y="1712"/>
                </a:lnTo>
                <a:lnTo>
                  <a:pt x="1849678" y="3523"/>
                </a:lnTo>
                <a:lnTo>
                  <a:pt x="1803138" y="4368"/>
                </a:lnTo>
                <a:lnTo>
                  <a:pt x="1763400" y="3044"/>
                </a:lnTo>
                <a:lnTo>
                  <a:pt x="1712066" y="3586"/>
                </a:lnTo>
                <a:lnTo>
                  <a:pt x="1660745" y="4058"/>
                </a:lnTo>
                <a:lnTo>
                  <a:pt x="1609436" y="4466"/>
                </a:lnTo>
                <a:lnTo>
                  <a:pt x="1558139" y="4821"/>
                </a:lnTo>
                <a:lnTo>
                  <a:pt x="1506853" y="5130"/>
                </a:lnTo>
                <a:lnTo>
                  <a:pt x="1455577" y="5403"/>
                </a:lnTo>
                <a:lnTo>
                  <a:pt x="1404312" y="5649"/>
                </a:lnTo>
                <a:lnTo>
                  <a:pt x="1353057" y="5875"/>
                </a:lnTo>
                <a:lnTo>
                  <a:pt x="1301812" y="6092"/>
                </a:lnTo>
                <a:lnTo>
                  <a:pt x="1250575" y="6307"/>
                </a:lnTo>
                <a:lnTo>
                  <a:pt x="1199347" y="6529"/>
                </a:lnTo>
                <a:lnTo>
                  <a:pt x="1148128" y="6768"/>
                </a:lnTo>
                <a:lnTo>
                  <a:pt x="1096915" y="7031"/>
                </a:lnTo>
                <a:lnTo>
                  <a:pt x="1045710" y="7328"/>
                </a:lnTo>
                <a:lnTo>
                  <a:pt x="994512" y="7668"/>
                </a:lnTo>
                <a:lnTo>
                  <a:pt x="943320" y="8059"/>
                </a:lnTo>
                <a:lnTo>
                  <a:pt x="892134" y="8509"/>
                </a:lnTo>
                <a:lnTo>
                  <a:pt x="840953" y="9028"/>
                </a:lnTo>
                <a:lnTo>
                  <a:pt x="789777" y="9625"/>
                </a:lnTo>
                <a:lnTo>
                  <a:pt x="738606" y="10308"/>
                </a:lnTo>
                <a:lnTo>
                  <a:pt x="687439" y="11085"/>
                </a:lnTo>
                <a:lnTo>
                  <a:pt x="636275" y="11967"/>
                </a:lnTo>
                <a:lnTo>
                  <a:pt x="585115" y="12961"/>
                </a:lnTo>
                <a:lnTo>
                  <a:pt x="533957" y="14076"/>
                </a:lnTo>
                <a:lnTo>
                  <a:pt x="482802" y="15321"/>
                </a:lnTo>
                <a:lnTo>
                  <a:pt x="431648" y="16704"/>
                </a:lnTo>
                <a:lnTo>
                  <a:pt x="380496" y="18236"/>
                </a:lnTo>
                <a:lnTo>
                  <a:pt x="329344" y="19923"/>
                </a:lnTo>
                <a:lnTo>
                  <a:pt x="278193" y="21775"/>
                </a:lnTo>
                <a:lnTo>
                  <a:pt x="210977" y="60627"/>
                </a:lnTo>
                <a:lnTo>
                  <a:pt x="165338" y="98108"/>
                </a:lnTo>
                <a:lnTo>
                  <a:pt x="116494" y="137774"/>
                </a:lnTo>
                <a:lnTo>
                  <a:pt x="68057" y="172238"/>
                </a:lnTo>
                <a:lnTo>
                  <a:pt x="23639" y="194109"/>
                </a:lnTo>
                <a:lnTo>
                  <a:pt x="8507" y="234556"/>
                </a:lnTo>
                <a:lnTo>
                  <a:pt x="788" y="272144"/>
                </a:lnTo>
                <a:lnTo>
                  <a:pt x="0" y="306976"/>
                </a:lnTo>
                <a:lnTo>
                  <a:pt x="5656" y="339160"/>
                </a:lnTo>
                <a:lnTo>
                  <a:pt x="34369" y="396004"/>
                </a:lnTo>
                <a:lnTo>
                  <a:pt x="83055" y="443521"/>
                </a:lnTo>
                <a:lnTo>
                  <a:pt x="147842" y="482557"/>
                </a:lnTo>
                <a:lnTo>
                  <a:pt x="185062" y="499159"/>
                </a:lnTo>
                <a:lnTo>
                  <a:pt x="224856" y="513957"/>
                </a:lnTo>
                <a:lnTo>
                  <a:pt x="266738" y="527058"/>
                </a:lnTo>
                <a:lnTo>
                  <a:pt x="310226" y="538566"/>
                </a:lnTo>
                <a:lnTo>
                  <a:pt x="354834" y="548589"/>
                </a:lnTo>
                <a:lnTo>
                  <a:pt x="400078" y="557231"/>
                </a:lnTo>
                <a:lnTo>
                  <a:pt x="445476" y="564598"/>
                </a:lnTo>
                <a:lnTo>
                  <a:pt x="490542" y="570797"/>
                </a:lnTo>
                <a:lnTo>
                  <a:pt x="534792" y="575931"/>
                </a:lnTo>
                <a:lnTo>
                  <a:pt x="577743" y="580108"/>
                </a:lnTo>
                <a:lnTo>
                  <a:pt x="618910" y="583433"/>
                </a:lnTo>
                <a:lnTo>
                  <a:pt x="657809" y="586012"/>
                </a:lnTo>
                <a:lnTo>
                  <a:pt x="726869" y="589353"/>
                </a:lnTo>
                <a:lnTo>
                  <a:pt x="776315" y="590803"/>
                </a:lnTo>
                <a:lnTo>
                  <a:pt x="825765" y="592164"/>
                </a:lnTo>
                <a:lnTo>
                  <a:pt x="875221" y="593444"/>
                </a:lnTo>
                <a:lnTo>
                  <a:pt x="924687" y="594655"/>
                </a:lnTo>
                <a:lnTo>
                  <a:pt x="974166" y="595805"/>
                </a:lnTo>
                <a:lnTo>
                  <a:pt x="1023661" y="596906"/>
                </a:lnTo>
                <a:lnTo>
                  <a:pt x="1073176" y="597966"/>
                </a:lnTo>
                <a:lnTo>
                  <a:pt x="1122713" y="598997"/>
                </a:lnTo>
                <a:lnTo>
                  <a:pt x="1172277" y="600008"/>
                </a:lnTo>
                <a:lnTo>
                  <a:pt x="1221870" y="601008"/>
                </a:lnTo>
                <a:lnTo>
                  <a:pt x="1271495" y="602009"/>
                </a:lnTo>
                <a:lnTo>
                  <a:pt x="1321157" y="603020"/>
                </a:lnTo>
                <a:lnTo>
                  <a:pt x="1370857" y="604050"/>
                </a:lnTo>
                <a:lnTo>
                  <a:pt x="1420600" y="605111"/>
                </a:lnTo>
                <a:lnTo>
                  <a:pt x="1470388" y="606212"/>
                </a:lnTo>
                <a:lnTo>
                  <a:pt x="1520173" y="610197"/>
                </a:lnTo>
                <a:lnTo>
                  <a:pt x="1568466" y="613257"/>
                </a:lnTo>
                <a:lnTo>
                  <a:pt x="1615673" y="615161"/>
                </a:lnTo>
                <a:lnTo>
                  <a:pt x="1662203" y="615678"/>
                </a:lnTo>
                <a:lnTo>
                  <a:pt x="1708461" y="614576"/>
                </a:lnTo>
                <a:lnTo>
                  <a:pt x="1754854" y="611623"/>
                </a:lnTo>
                <a:lnTo>
                  <a:pt x="1801791" y="606590"/>
                </a:lnTo>
                <a:lnTo>
                  <a:pt x="1849677" y="599243"/>
                </a:lnTo>
                <a:lnTo>
                  <a:pt x="1898919" y="589353"/>
                </a:lnTo>
                <a:lnTo>
                  <a:pt x="1933600" y="584582"/>
                </a:lnTo>
                <a:lnTo>
                  <a:pt x="1929136" y="584904"/>
                </a:lnTo>
                <a:lnTo>
                  <a:pt x="1912311" y="586982"/>
                </a:lnTo>
                <a:lnTo>
                  <a:pt x="1909907" y="587480"/>
                </a:lnTo>
                <a:lnTo>
                  <a:pt x="1926103" y="584084"/>
                </a:lnTo>
                <a:lnTo>
                  <a:pt x="1948823" y="579987"/>
                </a:lnTo>
                <a:lnTo>
                  <a:pt x="1976350" y="575889"/>
                </a:lnTo>
                <a:lnTo>
                  <a:pt x="2006967" y="572494"/>
                </a:lnTo>
                <a:lnTo>
                  <a:pt x="2037985" y="590904"/>
                </a:lnTo>
                <a:lnTo>
                  <a:pt x="2080678" y="587714"/>
                </a:lnTo>
                <a:lnTo>
                  <a:pt x="2125431" y="572231"/>
                </a:lnTo>
                <a:lnTo>
                  <a:pt x="2162630" y="553762"/>
                </a:lnTo>
                <a:lnTo>
                  <a:pt x="2181229" y="546474"/>
                </a:lnTo>
                <a:lnTo>
                  <a:pt x="2204293" y="543225"/>
                </a:lnTo>
                <a:lnTo>
                  <a:pt x="2223923" y="542435"/>
                </a:lnTo>
                <a:lnTo>
                  <a:pt x="2232221" y="542523"/>
                </a:lnTo>
                <a:lnTo>
                  <a:pt x="2256722" y="507495"/>
                </a:lnTo>
                <a:lnTo>
                  <a:pt x="2267000" y="490063"/>
                </a:lnTo>
                <a:lnTo>
                  <a:pt x="2269461" y="484427"/>
                </a:lnTo>
                <a:lnTo>
                  <a:pt x="2270513" y="484787"/>
                </a:lnTo>
                <a:lnTo>
                  <a:pt x="2276562" y="485344"/>
                </a:lnTo>
                <a:lnTo>
                  <a:pt x="2294016" y="480298"/>
                </a:lnTo>
                <a:lnTo>
                  <a:pt x="2329281" y="463849"/>
                </a:lnTo>
                <a:lnTo>
                  <a:pt x="2339696" y="453371"/>
                </a:lnTo>
                <a:lnTo>
                  <a:pt x="2345305" y="450268"/>
                </a:lnTo>
                <a:lnTo>
                  <a:pt x="2357180" y="404902"/>
                </a:lnTo>
                <a:lnTo>
                  <a:pt x="2361100" y="366443"/>
                </a:lnTo>
                <a:lnTo>
                  <a:pt x="2364677" y="327984"/>
                </a:lnTo>
                <a:lnTo>
                  <a:pt x="2367739" y="299008"/>
                </a:lnTo>
                <a:close/>
              </a:path>
            </a:pathLst>
          </a:custGeom>
          <a:ln w="12699">
            <a:solidFill>
              <a:srgbClr val="000000"/>
            </a:solidFill>
          </a:ln>
        </p:spPr>
        <p:txBody>
          <a:bodyPr wrap="square" lIns="0" tIns="0" rIns="0" bIns="0" rtlCol="0"/>
          <a:lstStyle/>
          <a:p>
            <a:endParaRPr/>
          </a:p>
        </p:txBody>
      </p:sp>
      <p:sp>
        <p:nvSpPr>
          <p:cNvPr id="13" name="object 13"/>
          <p:cNvSpPr txBox="1"/>
          <p:nvPr/>
        </p:nvSpPr>
        <p:spPr>
          <a:xfrm>
            <a:off x="2765774" y="3389364"/>
            <a:ext cx="14611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less </a:t>
            </a:r>
            <a:r>
              <a:rPr sz="1800" b="1" dirty="0">
                <a:latin typeface="Calibri" panose="020F0502020204030204"/>
                <a:cs typeface="Calibri" panose="020F0502020204030204"/>
              </a:rPr>
              <a:t>than</a:t>
            </a:r>
            <a:r>
              <a:rPr sz="1800" b="1" spc="-60" dirty="0">
                <a:latin typeface="Calibri" panose="020F0502020204030204"/>
                <a:cs typeface="Calibri" panose="020F0502020204030204"/>
              </a:rPr>
              <a:t> </a:t>
            </a:r>
            <a:r>
              <a:rPr sz="1800" b="1" spc="-5" dirty="0">
                <a:latin typeface="Calibri" panose="020F0502020204030204"/>
                <a:cs typeface="Calibri" panose="020F0502020204030204"/>
              </a:rPr>
              <a:t>range</a:t>
            </a:r>
            <a:endParaRPr sz="1800">
              <a:latin typeface="Calibri" panose="020F0502020204030204"/>
              <a:cs typeface="Calibri" panose="020F0502020204030204"/>
            </a:endParaRPr>
          </a:p>
        </p:txBody>
      </p:sp>
      <p:sp>
        <p:nvSpPr>
          <p:cNvPr id="14" name="object 14"/>
          <p:cNvSpPr txBox="1"/>
          <p:nvPr/>
        </p:nvSpPr>
        <p:spPr>
          <a:xfrm>
            <a:off x="1259012" y="4212187"/>
            <a:ext cx="6410960" cy="145034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举例：</a:t>
            </a:r>
            <a:r>
              <a:rPr sz="2200" dirty="0">
                <a:latin typeface="微软雅黑" panose="020B0503020204020204" pitchFamily="34" charset="-122"/>
                <a:cs typeface="微软雅黑" panose="020B0503020204020204" pitchFamily="34" charset="-122"/>
              </a:rPr>
              <a:t>程序的输入参数</a:t>
            </a:r>
            <a:r>
              <a:rPr sz="2200" spc="-4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x</a:t>
            </a:r>
            <a:r>
              <a:rPr sz="2200" spc="-3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是小于</a:t>
            </a:r>
            <a:r>
              <a:rPr sz="2200" spc="-5" dirty="0">
                <a:latin typeface="Arial" panose="020B0604020202020204"/>
                <a:cs typeface="Arial" panose="020B0604020202020204"/>
              </a:rPr>
              <a:t>100</a:t>
            </a:r>
            <a:r>
              <a:rPr sz="2200" dirty="0">
                <a:latin typeface="微软雅黑" panose="020B0503020204020204" pitchFamily="34" charset="-122"/>
                <a:cs typeface="微软雅黑" panose="020B0503020204020204" pitchFamily="34" charset="-122"/>
              </a:rPr>
              <a:t>大于</a:t>
            </a:r>
            <a:r>
              <a:rPr sz="2200" spc="-5" dirty="0">
                <a:latin typeface="Arial" panose="020B0604020202020204"/>
                <a:cs typeface="Arial" panose="020B0604020202020204"/>
              </a:rPr>
              <a:t>10</a:t>
            </a:r>
            <a:r>
              <a:rPr sz="2200" dirty="0">
                <a:latin typeface="微软雅黑" panose="020B0503020204020204" pitchFamily="34" charset="-122"/>
                <a:cs typeface="微软雅黑" panose="020B0503020204020204" pitchFamily="34" charset="-122"/>
              </a:rPr>
              <a:t>的整数。</a:t>
            </a:r>
            <a:endParaRPr sz="2200">
              <a:latin typeface="微软雅黑" panose="020B0503020204020204" pitchFamily="34" charset="-122"/>
              <a:cs typeface="微软雅黑" panose="020B0503020204020204" pitchFamily="34" charset="-122"/>
            </a:endParaRPr>
          </a:p>
          <a:p>
            <a:pPr marL="889635">
              <a:lnSpc>
                <a:spcPct val="100000"/>
              </a:lnSpc>
              <a:spcBef>
                <a:spcPts val="2435"/>
              </a:spcBef>
            </a:pPr>
            <a:r>
              <a:rPr sz="2200" dirty="0">
                <a:solidFill>
                  <a:srgbClr val="C00000"/>
                </a:solidFill>
                <a:latin typeface="Arial" panose="020B0604020202020204"/>
                <a:cs typeface="Arial" panose="020B0604020202020204"/>
              </a:rPr>
              <a:t>1</a:t>
            </a:r>
            <a:r>
              <a:rPr sz="2200" dirty="0">
                <a:solidFill>
                  <a:srgbClr val="C00000"/>
                </a:solidFill>
                <a:latin typeface="微软雅黑" panose="020B0503020204020204" pitchFamily="34" charset="-122"/>
                <a:cs typeface="微软雅黑" panose="020B0503020204020204" pitchFamily="34" charset="-122"/>
              </a:rPr>
              <a:t>个有效等价类</a:t>
            </a:r>
            <a:r>
              <a:rPr sz="2200" spc="-5" dirty="0">
                <a:solidFill>
                  <a:srgbClr val="CE1C00"/>
                </a:solidFill>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10</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x</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100</a:t>
            </a:r>
            <a:endParaRPr sz="2200">
              <a:latin typeface="Arial" panose="020B0604020202020204"/>
              <a:cs typeface="Arial" panose="020B0604020202020204"/>
            </a:endParaRPr>
          </a:p>
          <a:p>
            <a:pPr marL="889635">
              <a:lnSpc>
                <a:spcPct val="100000"/>
              </a:lnSpc>
              <a:spcBef>
                <a:spcPts val="860"/>
              </a:spcBef>
            </a:pPr>
            <a:r>
              <a:rPr sz="2200" dirty="0">
                <a:solidFill>
                  <a:srgbClr val="C00000"/>
                </a:solidFill>
                <a:latin typeface="Arial" panose="020B0604020202020204"/>
                <a:cs typeface="Arial" panose="020B0604020202020204"/>
              </a:rPr>
              <a:t>2</a:t>
            </a:r>
            <a:r>
              <a:rPr sz="2200" dirty="0">
                <a:solidFill>
                  <a:srgbClr val="C00000"/>
                </a:solidFill>
                <a:latin typeface="微软雅黑" panose="020B0503020204020204" pitchFamily="34" charset="-122"/>
                <a:cs typeface="微软雅黑" panose="020B0503020204020204" pitchFamily="34" charset="-122"/>
              </a:rPr>
              <a:t>个无效等价类</a:t>
            </a:r>
            <a:r>
              <a:rPr sz="2200" spc="-5" dirty="0">
                <a:solidFill>
                  <a:srgbClr val="CE1C00"/>
                </a:solidFill>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x≤10 </a:t>
            </a:r>
            <a:r>
              <a:rPr sz="2200" dirty="0">
                <a:latin typeface="微软雅黑" panose="020B0503020204020204" pitchFamily="34" charset="-122"/>
                <a:cs typeface="微软雅黑" panose="020B0503020204020204" pitchFamily="34" charset="-122"/>
              </a:rPr>
              <a:t>和</a:t>
            </a:r>
            <a:r>
              <a:rPr sz="2200" spc="-5" dirty="0">
                <a:latin typeface="微软雅黑" panose="020B0503020204020204" pitchFamily="34" charset="-122"/>
                <a:cs typeface="微软雅黑" panose="020B0503020204020204" pitchFamily="34" charset="-122"/>
              </a:rPr>
              <a:t> </a:t>
            </a:r>
            <a:r>
              <a:rPr sz="2200" spc="-5" dirty="0">
                <a:latin typeface="Arial" panose="020B0604020202020204"/>
                <a:cs typeface="Arial" panose="020B0604020202020204"/>
              </a:rPr>
              <a:t>x≥100</a:t>
            </a:r>
            <a:endParaRPr sz="2200">
              <a:latin typeface="Arial" panose="020B0604020202020204"/>
              <a:cs typeface="Arial" panose="020B0604020202020204"/>
            </a:endParaRPr>
          </a:p>
        </p:txBody>
      </p:sp>
      <p:sp>
        <p:nvSpPr>
          <p:cNvPr id="15" name="灯片编号占位符 14"/>
          <p:cNvSpPr>
            <a:spLocks noGrp="1"/>
          </p:cNvSpPr>
          <p:nvPr>
            <p:ph type="sldNum" sz="quarter" idx="12"/>
          </p:nvPr>
        </p:nvSpPr>
        <p:spPr/>
        <p:txBody>
          <a:bodyPr/>
          <a:lstStyle/>
          <a:p>
            <a:fld id="{74D2AB8B-5816-41F2-8B4B-CA5C3E4E6A65}" type="slidenum">
              <a:rPr lang="zh-CN" altLang="en-US" smtClean="0"/>
              <a:t>60</a:t>
            </a:fld>
            <a:endParaRPr lang="zh-CN" altLang="en-US"/>
          </a:p>
        </p:txBody>
      </p:sp>
      <p:sp>
        <p:nvSpPr>
          <p:cNvPr id="17" name="标题 16"/>
          <p:cNvSpPr>
            <a:spLocks noGrp="1"/>
          </p:cNvSpPr>
          <p:nvPr>
            <p:ph type="title"/>
          </p:nvPr>
        </p:nvSpPr>
        <p:spPr/>
        <p:txBody>
          <a:bodyPr/>
          <a:lstStyle/>
          <a:p>
            <a:r>
              <a:rPr lang="zh-CN" altLang="en-US" dirty="0"/>
              <a:t>变量的等价类</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34874" y="1555551"/>
            <a:ext cx="10213975" cy="3964304"/>
          </a:xfrm>
          <a:prstGeom prst="rect">
            <a:avLst/>
          </a:prstGeom>
        </p:spPr>
        <p:txBody>
          <a:bodyPr vert="horz" wrap="square" lIns="0" tIns="12700" rIns="0" bIns="0" rtlCol="0">
            <a:spAutoFit/>
          </a:bodyPr>
          <a:lstStyle/>
          <a:p>
            <a:pPr marL="12700" marR="120015">
              <a:lnSpc>
                <a:spcPct val="129000"/>
              </a:lnSpc>
              <a:spcBef>
                <a:spcPts val="100"/>
              </a:spcBef>
            </a:pPr>
            <a:r>
              <a:rPr sz="2200" dirty="0">
                <a:solidFill>
                  <a:srgbClr val="0033CC"/>
                </a:solidFill>
                <a:latin typeface="微软雅黑" panose="020B0503020204020204" pitchFamily="34" charset="-122"/>
                <a:cs typeface="微软雅黑" panose="020B0503020204020204" pitchFamily="34" charset="-122"/>
              </a:rPr>
              <a:t>字符串：</a:t>
            </a:r>
            <a:r>
              <a:rPr sz="2200" dirty="0">
                <a:latin typeface="微软雅黑" panose="020B0503020204020204" pitchFamily="34" charset="-122"/>
                <a:cs typeface="微软雅黑" panose="020B0503020204020204" pitchFamily="34" charset="-122"/>
              </a:rPr>
              <a:t>在规定了输入数据必须遵守的规则情况下，可确定一个有效等价类（符合 规则）和若干个无效等价类（从不同角度违反规则）。</a:t>
            </a:r>
            <a:endParaRPr sz="2200">
              <a:latin typeface="微软雅黑" panose="020B0503020204020204" pitchFamily="34" charset="-122"/>
              <a:cs typeface="微软雅黑" panose="020B0503020204020204" pitchFamily="34" charset="-122"/>
            </a:endParaRPr>
          </a:p>
          <a:p>
            <a:pPr>
              <a:lnSpc>
                <a:spcPct val="100000"/>
              </a:lnSpc>
              <a:spcBef>
                <a:spcPts val="40"/>
              </a:spcBef>
            </a:pPr>
            <a:endParaRPr sz="3200">
              <a:latin typeface="Times New Roman" panose="02020603050405020304"/>
              <a:cs typeface="Times New Roman" panose="02020603050405020304"/>
            </a:endParaRPr>
          </a:p>
          <a:p>
            <a:pPr marL="12700">
              <a:lnSpc>
                <a:spcPct val="100000"/>
              </a:lnSpc>
              <a:spcBef>
                <a:spcPts val="5"/>
              </a:spcBef>
            </a:pPr>
            <a:r>
              <a:rPr sz="2000" dirty="0">
                <a:solidFill>
                  <a:srgbClr val="0033CC"/>
                </a:solidFill>
                <a:latin typeface="微软雅黑" panose="020B0503020204020204" pitchFamily="34" charset="-122"/>
                <a:cs typeface="微软雅黑" panose="020B0503020204020204" pitchFamily="34" charset="-122"/>
              </a:rPr>
              <a:t>举例</a:t>
            </a:r>
            <a:r>
              <a:rPr sz="2000" dirty="0">
                <a:solidFill>
                  <a:srgbClr val="004DD6"/>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姓名是长度不超过</a:t>
            </a:r>
            <a:r>
              <a:rPr sz="2000" dirty="0">
                <a:latin typeface="Arial" panose="020B0604020202020204"/>
                <a:cs typeface="Arial" panose="020B0604020202020204"/>
              </a:rPr>
              <a:t>2</a:t>
            </a:r>
            <a:r>
              <a:rPr sz="2000" spc="-5" dirty="0">
                <a:latin typeface="Arial" panose="020B0604020202020204"/>
                <a:cs typeface="Arial" panose="020B0604020202020204"/>
              </a:rPr>
              <a:t>0</a:t>
            </a:r>
            <a:r>
              <a:rPr sz="2000" dirty="0">
                <a:latin typeface="微软雅黑" panose="020B0503020204020204" pitchFamily="34" charset="-122"/>
                <a:cs typeface="微软雅黑" panose="020B0503020204020204" pitchFamily="34" charset="-122"/>
              </a:rPr>
              <a:t>的非空字符串，且只由字母组成，数字和其他字符都是非法的。</a:t>
            </a:r>
            <a:endParaRPr sz="2000">
              <a:latin typeface="微软雅黑" panose="020B0503020204020204" pitchFamily="34" charset="-122"/>
              <a:cs typeface="微软雅黑" panose="020B0503020204020204" pitchFamily="34" charset="-122"/>
            </a:endParaRPr>
          </a:p>
          <a:p>
            <a:pPr>
              <a:lnSpc>
                <a:spcPct val="100000"/>
              </a:lnSpc>
              <a:spcBef>
                <a:spcPts val="50"/>
              </a:spcBef>
            </a:pPr>
            <a:endParaRPr sz="2550">
              <a:latin typeface="Times New Roman" panose="02020603050405020304"/>
              <a:cs typeface="Times New Roman" panose="02020603050405020304"/>
            </a:endParaRPr>
          </a:p>
          <a:p>
            <a:pPr marL="794385">
              <a:lnSpc>
                <a:spcPct val="100000"/>
              </a:lnSpc>
              <a:spcBef>
                <a:spcPts val="5"/>
              </a:spcBef>
            </a:pPr>
            <a:r>
              <a:rPr sz="2000" dirty="0">
                <a:solidFill>
                  <a:srgbClr val="C00000"/>
                </a:solidFill>
                <a:latin typeface="Arial" panose="020B0604020202020204"/>
                <a:cs typeface="Arial" panose="020B0604020202020204"/>
              </a:rPr>
              <a:t>1</a:t>
            </a:r>
            <a:r>
              <a:rPr sz="2000" dirty="0">
                <a:solidFill>
                  <a:srgbClr val="C00000"/>
                </a:solidFill>
                <a:latin typeface="微软雅黑" panose="020B0503020204020204" pitchFamily="34" charset="-122"/>
                <a:cs typeface="微软雅黑" panose="020B0503020204020204" pitchFamily="34" charset="-122"/>
              </a:rPr>
              <a:t>个有效等价类</a:t>
            </a:r>
            <a:r>
              <a:rPr sz="2000" dirty="0">
                <a:solidFill>
                  <a:srgbClr val="CE1C00"/>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满足了上述所有条件的字符串</a:t>
            </a:r>
            <a:endParaRPr sz="2000">
              <a:latin typeface="微软雅黑" panose="020B0503020204020204" pitchFamily="34" charset="-122"/>
              <a:cs typeface="微软雅黑" panose="020B0503020204020204" pitchFamily="34" charset="-122"/>
            </a:endParaRPr>
          </a:p>
          <a:p>
            <a:pPr marL="794385">
              <a:lnSpc>
                <a:spcPct val="100000"/>
              </a:lnSpc>
              <a:spcBef>
                <a:spcPts val="1000"/>
              </a:spcBef>
            </a:pPr>
            <a:r>
              <a:rPr sz="2000" dirty="0">
                <a:solidFill>
                  <a:srgbClr val="C00000"/>
                </a:solidFill>
                <a:latin typeface="Arial" panose="020B0604020202020204"/>
                <a:cs typeface="Arial" panose="020B0604020202020204"/>
              </a:rPr>
              <a:t>3</a:t>
            </a:r>
            <a:r>
              <a:rPr sz="2000" dirty="0">
                <a:solidFill>
                  <a:srgbClr val="C00000"/>
                </a:solidFill>
                <a:latin typeface="微软雅黑" panose="020B0503020204020204" pitchFamily="34" charset="-122"/>
                <a:cs typeface="微软雅黑" panose="020B0503020204020204" pitchFamily="34" charset="-122"/>
              </a:rPr>
              <a:t>个无效等价类</a:t>
            </a:r>
            <a:r>
              <a:rPr sz="2000" dirty="0">
                <a:solidFill>
                  <a:srgbClr val="CE1C00"/>
                </a:solidFill>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a:p>
            <a:pPr marL="1413510" indent="-264160">
              <a:lnSpc>
                <a:spcPct val="100000"/>
              </a:lnSpc>
              <a:spcBef>
                <a:spcPts val="1100"/>
              </a:spcBef>
              <a:buFont typeface="Arial" panose="020B0604020202020204"/>
              <a:buChar char="•"/>
              <a:tabLst>
                <a:tab pos="1413510" algn="l"/>
                <a:tab pos="1414145" algn="l"/>
              </a:tabLst>
            </a:pPr>
            <a:r>
              <a:rPr sz="2000" dirty="0">
                <a:latin typeface="微软雅黑" panose="020B0503020204020204" pitchFamily="34" charset="-122"/>
                <a:cs typeface="微软雅黑" panose="020B0503020204020204" pitchFamily="34" charset="-122"/>
              </a:rPr>
              <a:t>空字符串</a:t>
            </a:r>
            <a:endParaRPr sz="2000">
              <a:latin typeface="微软雅黑" panose="020B0503020204020204" pitchFamily="34" charset="-122"/>
              <a:cs typeface="微软雅黑" panose="020B0503020204020204" pitchFamily="34" charset="-122"/>
            </a:endParaRPr>
          </a:p>
          <a:p>
            <a:pPr marL="1413510" indent="-264160">
              <a:lnSpc>
                <a:spcPct val="100000"/>
              </a:lnSpc>
              <a:spcBef>
                <a:spcPts val="500"/>
              </a:spcBef>
              <a:buFont typeface="Arial" panose="020B0604020202020204"/>
              <a:buChar char="•"/>
              <a:tabLst>
                <a:tab pos="1413510" algn="l"/>
                <a:tab pos="1414145" algn="l"/>
              </a:tabLst>
            </a:pPr>
            <a:r>
              <a:rPr sz="2000" dirty="0">
                <a:latin typeface="微软雅黑" panose="020B0503020204020204" pitchFamily="34" charset="-122"/>
                <a:cs typeface="微软雅黑" panose="020B0503020204020204" pitchFamily="34" charset="-122"/>
              </a:rPr>
              <a:t>长度超过</a:t>
            </a:r>
            <a:r>
              <a:rPr sz="2000" spc="-5" dirty="0">
                <a:latin typeface="Arial" panose="020B0604020202020204"/>
                <a:cs typeface="Arial" panose="020B0604020202020204"/>
              </a:rPr>
              <a:t>20</a:t>
            </a:r>
            <a:r>
              <a:rPr sz="2000" dirty="0">
                <a:latin typeface="微软雅黑" panose="020B0503020204020204" pitchFamily="34" charset="-122"/>
                <a:cs typeface="微软雅黑" panose="020B0503020204020204" pitchFamily="34" charset="-122"/>
              </a:rPr>
              <a:t>的字符串</a:t>
            </a:r>
            <a:endParaRPr sz="2000">
              <a:latin typeface="微软雅黑" panose="020B0503020204020204" pitchFamily="34" charset="-122"/>
              <a:cs typeface="微软雅黑" panose="020B0503020204020204" pitchFamily="34" charset="-122"/>
            </a:endParaRPr>
          </a:p>
          <a:p>
            <a:pPr marL="1413510" indent="-264160">
              <a:lnSpc>
                <a:spcPct val="100000"/>
              </a:lnSpc>
              <a:spcBef>
                <a:spcPts val="500"/>
              </a:spcBef>
              <a:buFont typeface="Arial" panose="020B0604020202020204"/>
              <a:buChar char="•"/>
              <a:tabLst>
                <a:tab pos="1413510" algn="l"/>
                <a:tab pos="1414145" algn="l"/>
              </a:tabLst>
            </a:pPr>
            <a:r>
              <a:rPr sz="2000" dirty="0">
                <a:latin typeface="微软雅黑" panose="020B0503020204020204" pitchFamily="34" charset="-122"/>
                <a:cs typeface="微软雅黑" panose="020B0503020204020204" pitchFamily="34" charset="-122"/>
              </a:rPr>
              <a:t>包含了数字或其它字符的字符串（长度不超过</a:t>
            </a:r>
            <a:r>
              <a:rPr sz="2000" spc="-5" dirty="0">
                <a:latin typeface="Arial" panose="020B0604020202020204"/>
                <a:cs typeface="Arial" panose="020B0604020202020204"/>
              </a:rPr>
              <a:t>20</a:t>
            </a:r>
            <a:r>
              <a:rPr sz="2000" spc="-5" dirty="0">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61</a:t>
            </a:fld>
            <a:endParaRPr lang="zh-CN" altLang="en-US"/>
          </a:p>
        </p:txBody>
      </p:sp>
      <p:sp>
        <p:nvSpPr>
          <p:cNvPr id="6" name="标题 5"/>
          <p:cNvSpPr>
            <a:spLocks noGrp="1"/>
          </p:cNvSpPr>
          <p:nvPr>
            <p:ph type="title"/>
          </p:nvPr>
        </p:nvSpPr>
        <p:spPr/>
        <p:txBody>
          <a:bodyPr/>
          <a:lstStyle/>
          <a:p>
            <a:r>
              <a:rPr lang="zh-CN" altLang="en-US" dirty="0"/>
              <a:t>变量的等价类</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26296" y="1567940"/>
            <a:ext cx="10727055" cy="3977640"/>
          </a:xfrm>
          <a:prstGeom prst="rect">
            <a:avLst/>
          </a:prstGeom>
        </p:spPr>
        <p:txBody>
          <a:bodyPr vert="horz" wrap="square" lIns="0" tIns="12700" rIns="0" bIns="0" rtlCol="0">
            <a:spAutoFit/>
          </a:bodyPr>
          <a:lstStyle/>
          <a:p>
            <a:pPr marL="12700" marR="5080">
              <a:lnSpc>
                <a:spcPct val="129000"/>
              </a:lnSpc>
              <a:spcBef>
                <a:spcPts val="100"/>
              </a:spcBef>
            </a:pPr>
            <a:r>
              <a:rPr sz="2200" spc="35" dirty="0">
                <a:solidFill>
                  <a:srgbClr val="0033CC"/>
                </a:solidFill>
                <a:latin typeface="微软雅黑" panose="020B0503020204020204" pitchFamily="34" charset="-122"/>
                <a:cs typeface="微软雅黑" panose="020B0503020204020204" pitchFamily="34" charset="-122"/>
              </a:rPr>
              <a:t>枚举：</a:t>
            </a:r>
            <a:r>
              <a:rPr sz="2200" spc="35" dirty="0">
                <a:latin typeface="微软雅黑" panose="020B0503020204020204" pitchFamily="34" charset="-122"/>
                <a:cs typeface="微软雅黑" panose="020B0503020204020204" pitchFamily="34" charset="-122"/>
              </a:rPr>
              <a:t>若规定输入数据是一组值（假</a:t>
            </a:r>
            <a:r>
              <a:rPr sz="2200" spc="30" dirty="0">
                <a:latin typeface="微软雅黑" panose="020B0503020204020204" pitchFamily="34" charset="-122"/>
                <a:cs typeface="微软雅黑" panose="020B0503020204020204" pitchFamily="34" charset="-122"/>
              </a:rPr>
              <a:t>定</a:t>
            </a:r>
            <a:r>
              <a:rPr sz="2200" spc="35" dirty="0">
                <a:latin typeface="Arial" panose="020B0604020202020204"/>
                <a:cs typeface="Arial" panose="020B0604020202020204"/>
              </a:rPr>
              <a:t>N</a:t>
            </a:r>
            <a:r>
              <a:rPr sz="2200" spc="35" dirty="0">
                <a:latin typeface="微软雅黑" panose="020B0503020204020204" pitchFamily="34" charset="-122"/>
                <a:cs typeface="微软雅黑" panose="020B0503020204020204" pitchFamily="34" charset="-122"/>
              </a:rPr>
              <a:t>个），并且程序要对每一个输入值分别处</a:t>
            </a:r>
            <a:r>
              <a:rPr sz="2200" spc="-5" dirty="0">
                <a:latin typeface="微软雅黑" panose="020B0503020204020204" pitchFamily="34" charset="-122"/>
                <a:cs typeface="微软雅黑" panose="020B0503020204020204" pitchFamily="34" charset="-122"/>
              </a:rPr>
              <a:t>理</a:t>
            </a:r>
            <a:r>
              <a:rPr sz="2200" dirty="0">
                <a:latin typeface="微软雅黑" panose="020B0503020204020204" pitchFamily="34" charset="-122"/>
                <a:cs typeface="微软雅黑" panose="020B0503020204020204" pitchFamily="34" charset="-122"/>
              </a:rPr>
              <a:t>， 可确定</a:t>
            </a:r>
            <a:r>
              <a:rPr sz="2200" dirty="0">
                <a:latin typeface="Arial" panose="020B0604020202020204"/>
                <a:cs typeface="Arial" panose="020B0604020202020204"/>
              </a:rPr>
              <a:t>N</a:t>
            </a:r>
            <a:r>
              <a:rPr sz="2200" dirty="0">
                <a:latin typeface="微软雅黑" panose="020B0503020204020204" pitchFamily="34" charset="-122"/>
                <a:cs typeface="微软雅黑" panose="020B0503020204020204" pitchFamily="34" charset="-122"/>
              </a:rPr>
              <a:t>个有效等价类和一个无效等价类。</a:t>
            </a:r>
            <a:endParaRPr sz="2200">
              <a:latin typeface="微软雅黑" panose="020B0503020204020204" pitchFamily="34" charset="-122"/>
              <a:cs typeface="微软雅黑" panose="020B0503020204020204" pitchFamily="34" charset="-122"/>
            </a:endParaRPr>
          </a:p>
          <a:p>
            <a:pPr marL="12700" marR="5080">
              <a:lnSpc>
                <a:spcPct val="129000"/>
              </a:lnSpc>
              <a:spcBef>
                <a:spcPts val="2260"/>
              </a:spcBef>
            </a:pPr>
            <a:r>
              <a:rPr sz="2200" spc="15" dirty="0">
                <a:solidFill>
                  <a:srgbClr val="0033CC"/>
                </a:solidFill>
                <a:latin typeface="微软雅黑" panose="020B0503020204020204" pitchFamily="34" charset="-122"/>
                <a:cs typeface="微软雅黑" panose="020B0503020204020204" pitchFamily="34" charset="-122"/>
              </a:rPr>
              <a:t>举例：</a:t>
            </a:r>
            <a:r>
              <a:rPr sz="2200" spc="15" dirty="0">
                <a:latin typeface="微软雅黑" panose="020B0503020204020204" pitchFamily="34" charset="-122"/>
                <a:cs typeface="微软雅黑" panose="020B0503020204020204" pitchFamily="34" charset="-122"/>
              </a:rPr>
              <a:t>某程序根据不同的学历分别计算岗位工资，其中学历可以是专科、本科、硕</a:t>
            </a:r>
            <a:r>
              <a:rPr sz="2200" spc="-5" dirty="0">
                <a:latin typeface="微软雅黑" panose="020B0503020204020204" pitchFamily="34" charset="-122"/>
                <a:cs typeface="微软雅黑" panose="020B0503020204020204" pitchFamily="34" charset="-122"/>
              </a:rPr>
              <a:t>士</a:t>
            </a:r>
            <a:r>
              <a:rPr sz="2200" dirty="0">
                <a:latin typeface="微软雅黑" panose="020B0503020204020204" pitchFamily="34" charset="-122"/>
                <a:cs typeface="微软雅黑" panose="020B0503020204020204" pitchFamily="34" charset="-122"/>
              </a:rPr>
              <a:t>、 博士等四种类型。</a:t>
            </a:r>
            <a:endParaRPr sz="2200">
              <a:latin typeface="微软雅黑" panose="020B0503020204020204" pitchFamily="34" charset="-122"/>
              <a:cs typeface="微软雅黑" panose="020B0503020204020204" pitchFamily="34" charset="-122"/>
            </a:endParaRPr>
          </a:p>
          <a:p>
            <a:pPr marL="884555">
              <a:lnSpc>
                <a:spcPct val="100000"/>
              </a:lnSpc>
              <a:spcBef>
                <a:spcPts val="2350"/>
              </a:spcBef>
            </a:pPr>
            <a:r>
              <a:rPr sz="2200" dirty="0">
                <a:solidFill>
                  <a:srgbClr val="C00000"/>
                </a:solidFill>
                <a:latin typeface="Arial" panose="020B0604020202020204"/>
                <a:cs typeface="Arial" panose="020B0604020202020204"/>
              </a:rPr>
              <a:t>4</a:t>
            </a:r>
            <a:r>
              <a:rPr sz="2200" dirty="0">
                <a:solidFill>
                  <a:srgbClr val="C00000"/>
                </a:solidFill>
                <a:latin typeface="微软雅黑" panose="020B0503020204020204" pitchFamily="34" charset="-122"/>
                <a:cs typeface="微软雅黑" panose="020B0503020204020204" pitchFamily="34" charset="-122"/>
              </a:rPr>
              <a:t>个有效等价类</a:t>
            </a:r>
            <a:r>
              <a:rPr sz="2200" dirty="0">
                <a:solidFill>
                  <a:srgbClr val="CE1C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专科、本科、硕士、博士</a:t>
            </a:r>
            <a:endParaRPr sz="2200">
              <a:latin typeface="微软雅黑" panose="020B0503020204020204" pitchFamily="34" charset="-122"/>
              <a:cs typeface="微软雅黑" panose="020B0503020204020204" pitchFamily="34" charset="-122"/>
            </a:endParaRPr>
          </a:p>
          <a:p>
            <a:pPr marL="884555">
              <a:lnSpc>
                <a:spcPct val="100000"/>
              </a:lnSpc>
              <a:spcBef>
                <a:spcPts val="1060"/>
              </a:spcBef>
            </a:pPr>
            <a:r>
              <a:rPr sz="2200" dirty="0">
                <a:solidFill>
                  <a:srgbClr val="C00000"/>
                </a:solidFill>
                <a:latin typeface="Arial" panose="020B0604020202020204"/>
                <a:cs typeface="Arial" panose="020B0604020202020204"/>
              </a:rPr>
              <a:t>1</a:t>
            </a:r>
            <a:r>
              <a:rPr sz="2200" dirty="0">
                <a:solidFill>
                  <a:srgbClr val="C00000"/>
                </a:solidFill>
                <a:latin typeface="微软雅黑" panose="020B0503020204020204" pitchFamily="34" charset="-122"/>
                <a:cs typeface="微软雅黑" panose="020B0503020204020204" pitchFamily="34" charset="-122"/>
              </a:rPr>
              <a:t>个无效等价类</a:t>
            </a:r>
            <a:r>
              <a:rPr sz="2200" dirty="0">
                <a:solidFill>
                  <a:srgbClr val="CE1C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其他学历</a:t>
            </a:r>
            <a:endParaRPr sz="2200">
              <a:latin typeface="微软雅黑" panose="020B0503020204020204" pitchFamily="34" charset="-122"/>
              <a:cs typeface="微软雅黑" panose="020B0503020204020204" pitchFamily="34" charset="-122"/>
            </a:endParaRPr>
          </a:p>
          <a:p>
            <a:pPr>
              <a:lnSpc>
                <a:spcPct val="100000"/>
              </a:lnSpc>
              <a:spcBef>
                <a:spcPts val="15"/>
              </a:spcBef>
            </a:pPr>
            <a:endParaRPr sz="3400">
              <a:latin typeface="Times New Roman" panose="02020603050405020304"/>
              <a:cs typeface="Times New Roman" panose="02020603050405020304"/>
            </a:endParaRPr>
          </a:p>
          <a:p>
            <a:pPr marL="46355">
              <a:lnSpc>
                <a:spcPct val="100000"/>
              </a:lnSpc>
              <a:spcBef>
                <a:spcPts val="5"/>
              </a:spcBef>
            </a:pPr>
            <a:r>
              <a:rPr sz="2200" dirty="0">
                <a:latin typeface="微软雅黑" panose="020B0503020204020204" pitchFamily="34" charset="-122"/>
                <a:cs typeface="微软雅黑" panose="020B0503020204020204" pitchFamily="34" charset="-122"/>
              </a:rPr>
              <a:t>如果将专科、本科、硕士、博士按一种方式计算岗位工资，这时应如何划分等价类？</a:t>
            </a:r>
            <a:endParaRPr sz="2200">
              <a:latin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62</a:t>
            </a:fld>
            <a:endParaRPr lang="zh-CN" altLang="en-US"/>
          </a:p>
        </p:txBody>
      </p:sp>
      <p:sp>
        <p:nvSpPr>
          <p:cNvPr id="6" name="标题 5"/>
          <p:cNvSpPr>
            <a:spLocks noGrp="1"/>
          </p:cNvSpPr>
          <p:nvPr>
            <p:ph type="title"/>
          </p:nvPr>
        </p:nvSpPr>
        <p:spPr/>
        <p:txBody>
          <a:bodyPr/>
          <a:lstStyle/>
          <a:p>
            <a:r>
              <a:rPr lang="zh-CN" altLang="en-US" dirty="0"/>
              <a:t>变量的等价类</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0908" y="1476311"/>
            <a:ext cx="10030460" cy="4424045"/>
          </a:xfrm>
          <a:prstGeom prst="rect">
            <a:avLst/>
          </a:prstGeom>
        </p:spPr>
        <p:txBody>
          <a:bodyPr vert="horz" wrap="square" lIns="0" tIns="12700" rIns="0" bIns="0" rtlCol="0">
            <a:spAutoFit/>
          </a:bodyPr>
          <a:lstStyle/>
          <a:p>
            <a:pPr marL="12700" marR="5080">
              <a:lnSpc>
                <a:spcPct val="129000"/>
              </a:lnSpc>
              <a:spcBef>
                <a:spcPts val="100"/>
              </a:spcBef>
            </a:pPr>
            <a:r>
              <a:rPr sz="2200" spc="50" dirty="0">
                <a:solidFill>
                  <a:srgbClr val="0033CC"/>
                </a:solidFill>
                <a:latin typeface="微软雅黑" panose="020B0503020204020204" pitchFamily="34" charset="-122"/>
                <a:cs typeface="微软雅黑" panose="020B0503020204020204" pitchFamily="34" charset="-122"/>
              </a:rPr>
              <a:t>数组：</a:t>
            </a:r>
            <a:r>
              <a:rPr sz="2200" spc="50" dirty="0">
                <a:latin typeface="微软雅黑" panose="020B0503020204020204" pitchFamily="34" charset="-122"/>
                <a:cs typeface="微软雅黑" panose="020B0503020204020204" pitchFamily="34" charset="-122"/>
              </a:rPr>
              <a:t>数组是一组具有相同类型的元素的集</a:t>
            </a:r>
            <a:r>
              <a:rPr sz="2200" spc="45" dirty="0">
                <a:latin typeface="微软雅黑" panose="020B0503020204020204" pitchFamily="34" charset="-122"/>
                <a:cs typeface="微软雅黑" panose="020B0503020204020204" pitchFamily="34" charset="-122"/>
              </a:rPr>
              <a:t>合</a:t>
            </a:r>
            <a:r>
              <a:rPr sz="2200" spc="50" dirty="0">
                <a:latin typeface="微软雅黑" panose="020B0503020204020204" pitchFamily="34" charset="-122"/>
                <a:cs typeface="微软雅黑" panose="020B0503020204020204" pitchFamily="34" charset="-122"/>
              </a:rPr>
              <a:t>，数组长度及其类型都可以作为等 </a:t>
            </a:r>
            <a:r>
              <a:rPr sz="2200" dirty="0">
                <a:latin typeface="微软雅黑" panose="020B0503020204020204" pitchFamily="34" charset="-122"/>
                <a:cs typeface="微软雅黑" panose="020B0503020204020204" pitchFamily="34" charset="-122"/>
              </a:rPr>
              <a:t>价类划分的依据。</a:t>
            </a:r>
            <a:endParaRPr sz="2200">
              <a:latin typeface="微软雅黑" panose="020B0503020204020204" pitchFamily="34" charset="-122"/>
              <a:cs typeface="微软雅黑" panose="020B0503020204020204" pitchFamily="34" charset="-122"/>
            </a:endParaRPr>
          </a:p>
          <a:p>
            <a:pPr>
              <a:lnSpc>
                <a:spcPct val="100000"/>
              </a:lnSpc>
              <a:spcBef>
                <a:spcPts val="25"/>
              </a:spcBef>
            </a:pPr>
            <a:endParaRPr sz="2300">
              <a:latin typeface="Times New Roman" panose="02020603050405020304"/>
              <a:cs typeface="Times New Roman" panose="02020603050405020304"/>
            </a:endParaRPr>
          </a:p>
          <a:p>
            <a:pPr marL="12700">
              <a:lnSpc>
                <a:spcPct val="100000"/>
              </a:lnSpc>
              <a:tabLst>
                <a:tab pos="5795010" algn="l"/>
              </a:tabLst>
            </a:pPr>
            <a:r>
              <a:rPr sz="2200" dirty="0">
                <a:solidFill>
                  <a:srgbClr val="0033CC"/>
                </a:solidFill>
                <a:latin typeface="微软雅黑" panose="020B0503020204020204" pitchFamily="34" charset="-122"/>
                <a:cs typeface="微软雅黑" panose="020B0503020204020204" pitchFamily="34" charset="-122"/>
              </a:rPr>
              <a:t>举例：</a:t>
            </a:r>
            <a:r>
              <a:rPr sz="2200" dirty="0">
                <a:latin typeface="微软雅黑" panose="020B0503020204020204" pitchFamily="34" charset="-122"/>
                <a:cs typeface="微软雅黑" panose="020B0503020204020204" pitchFamily="34" charset="-122"/>
              </a:rPr>
              <a:t>假设某程序的输入是一个整数数组 </a:t>
            </a:r>
            <a:r>
              <a:rPr sz="2200" b="1" dirty="0">
                <a:latin typeface="Courier New" panose="02070309020205020404"/>
                <a:cs typeface="Courier New" panose="02070309020205020404"/>
              </a:rPr>
              <a:t>int	</a:t>
            </a:r>
            <a:r>
              <a:rPr sz="2200" b="1" spc="-5" dirty="0">
                <a:latin typeface="Courier New" panose="02070309020205020404"/>
                <a:cs typeface="Courier New" panose="02070309020205020404"/>
              </a:rPr>
              <a:t>oper[3]</a:t>
            </a:r>
            <a:endParaRPr sz="2200">
              <a:latin typeface="Courier New" panose="02070309020205020404"/>
              <a:cs typeface="Courier New" panose="02070309020205020404"/>
            </a:endParaRPr>
          </a:p>
          <a:p>
            <a:pPr marL="794385">
              <a:lnSpc>
                <a:spcPct val="100000"/>
              </a:lnSpc>
              <a:spcBef>
                <a:spcPts val="1435"/>
              </a:spcBef>
            </a:pPr>
            <a:r>
              <a:rPr sz="2200" dirty="0">
                <a:solidFill>
                  <a:srgbClr val="C00000"/>
                </a:solidFill>
                <a:latin typeface="Calibri" panose="020F0502020204030204"/>
                <a:cs typeface="Calibri" panose="020F0502020204030204"/>
              </a:rPr>
              <a:t>1</a:t>
            </a:r>
            <a:r>
              <a:rPr sz="2200" dirty="0">
                <a:solidFill>
                  <a:srgbClr val="CE1C00"/>
                </a:solidFill>
                <a:latin typeface="微软雅黑" panose="020B0503020204020204" pitchFamily="34" charset="-122"/>
                <a:cs typeface="微软雅黑" panose="020B0503020204020204" pitchFamily="34" charset="-122"/>
              </a:rPr>
              <a:t>个有效等价类：</a:t>
            </a:r>
            <a:r>
              <a:rPr sz="2200" dirty="0">
                <a:latin typeface="微软雅黑" panose="020B0503020204020204" pitchFamily="34" charset="-122"/>
                <a:cs typeface="微软雅黑" panose="020B0503020204020204" pitchFamily="34" charset="-122"/>
              </a:rPr>
              <a:t>所有合法值的数组，如</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{-10,20}</a:t>
            </a:r>
            <a:endParaRPr sz="2200">
              <a:latin typeface="Courier New" panose="02070309020205020404"/>
              <a:cs typeface="Courier New" panose="02070309020205020404"/>
            </a:endParaRPr>
          </a:p>
          <a:p>
            <a:pPr marL="794385">
              <a:lnSpc>
                <a:spcPct val="100000"/>
              </a:lnSpc>
              <a:spcBef>
                <a:spcPts val="1060"/>
              </a:spcBef>
            </a:pPr>
            <a:r>
              <a:rPr sz="2200" dirty="0">
                <a:solidFill>
                  <a:srgbClr val="C00000"/>
                </a:solidFill>
                <a:latin typeface="Calibri" panose="020F0502020204030204"/>
                <a:cs typeface="Calibri" panose="020F0502020204030204"/>
              </a:rPr>
              <a:t>2</a:t>
            </a:r>
            <a:r>
              <a:rPr sz="2200" dirty="0">
                <a:solidFill>
                  <a:srgbClr val="CE1C00"/>
                </a:solidFill>
                <a:latin typeface="微软雅黑" panose="020B0503020204020204" pitchFamily="34" charset="-122"/>
                <a:cs typeface="微软雅黑" panose="020B0503020204020204" pitchFamily="34" charset="-122"/>
              </a:rPr>
              <a:t>个无效等价类：</a:t>
            </a:r>
            <a:endParaRPr sz="2200">
              <a:latin typeface="微软雅黑" panose="020B0503020204020204" pitchFamily="34" charset="-122"/>
              <a:cs typeface="微软雅黑" panose="020B0503020204020204" pitchFamily="34" charset="-122"/>
            </a:endParaRPr>
          </a:p>
          <a:p>
            <a:pPr marL="1413510" indent="-264160">
              <a:lnSpc>
                <a:spcPct val="100000"/>
              </a:lnSpc>
              <a:spcBef>
                <a:spcPts val="1160"/>
              </a:spcBef>
              <a:buFont typeface="Arial" panose="020B0604020202020204"/>
              <a:buChar char="•"/>
              <a:tabLst>
                <a:tab pos="1413510" algn="l"/>
                <a:tab pos="1414145" algn="l"/>
              </a:tabLst>
            </a:pPr>
            <a:r>
              <a:rPr sz="2200" dirty="0">
                <a:latin typeface="微软雅黑" panose="020B0503020204020204" pitchFamily="34" charset="-122"/>
                <a:cs typeface="微软雅黑" panose="020B0503020204020204" pitchFamily="34" charset="-122"/>
              </a:rPr>
              <a:t>空数组</a:t>
            </a:r>
            <a:endParaRPr sz="2200">
              <a:latin typeface="微软雅黑" panose="020B0503020204020204" pitchFamily="34" charset="-122"/>
              <a:cs typeface="微软雅黑" panose="020B0503020204020204" pitchFamily="34" charset="-122"/>
            </a:endParaRPr>
          </a:p>
          <a:p>
            <a:pPr marL="1413510" indent="-264160">
              <a:lnSpc>
                <a:spcPct val="100000"/>
              </a:lnSpc>
              <a:spcBef>
                <a:spcPts val="560"/>
              </a:spcBef>
              <a:buFont typeface="Arial" panose="020B0604020202020204"/>
              <a:buChar char="•"/>
              <a:tabLst>
                <a:tab pos="1413510" algn="l"/>
                <a:tab pos="1414145" algn="l"/>
              </a:tabLst>
            </a:pPr>
            <a:r>
              <a:rPr sz="2200" dirty="0">
                <a:latin typeface="微软雅黑" panose="020B0503020204020204" pitchFamily="34" charset="-122"/>
                <a:cs typeface="微软雅黑" panose="020B0503020204020204" pitchFamily="34" charset="-122"/>
              </a:rPr>
              <a:t>所有大于期望长度的数组，如</a:t>
            </a:r>
            <a:r>
              <a:rPr sz="2200" spc="-5" dirty="0">
                <a:latin typeface="微软雅黑" panose="020B0503020204020204" pitchFamily="34" charset="-122"/>
                <a:cs typeface="微软雅黑" panose="020B0503020204020204" pitchFamily="34" charset="-122"/>
              </a:rPr>
              <a:t> </a:t>
            </a:r>
            <a:r>
              <a:rPr sz="2200" b="1" dirty="0">
                <a:latin typeface="Courier New" panose="02070309020205020404"/>
                <a:cs typeface="Courier New" panose="02070309020205020404"/>
              </a:rPr>
              <a:t>{-9,0,12,5}</a:t>
            </a:r>
            <a:endParaRPr sz="2200">
              <a:latin typeface="Courier New" panose="02070309020205020404"/>
              <a:cs typeface="Courier New" panose="02070309020205020404"/>
            </a:endParaRPr>
          </a:p>
          <a:p>
            <a:pPr marL="12700" marR="11430">
              <a:lnSpc>
                <a:spcPct val="117000"/>
              </a:lnSpc>
              <a:spcBef>
                <a:spcPts val="1545"/>
              </a:spcBef>
            </a:pPr>
            <a:r>
              <a:rPr sz="2200" spc="45" dirty="0">
                <a:latin typeface="微软雅黑" panose="020B0503020204020204" pitchFamily="34" charset="-122"/>
                <a:cs typeface="微软雅黑" panose="020B0503020204020204" pitchFamily="34" charset="-122"/>
              </a:rPr>
              <a:t>如果对数组元素有其他附加约束，例如数组</a:t>
            </a:r>
            <a:r>
              <a:rPr sz="2200" b="1" spc="45" dirty="0">
                <a:latin typeface="Courier New" panose="02070309020205020404"/>
                <a:cs typeface="Courier New" panose="02070309020205020404"/>
              </a:rPr>
              <a:t>oper</a:t>
            </a:r>
            <a:r>
              <a:rPr sz="2200" spc="45" dirty="0">
                <a:latin typeface="微软雅黑" panose="020B0503020204020204" pitchFamily="34" charset="-122"/>
                <a:cs typeface="微软雅黑" panose="020B0503020204020204" pitchFamily="34" charset="-122"/>
              </a:rPr>
              <a:t>元素的取值范围是</a:t>
            </a:r>
            <a:r>
              <a:rPr sz="2200" b="1" spc="45" dirty="0">
                <a:latin typeface="Courier New" panose="02070309020205020404"/>
                <a:cs typeface="Courier New" panose="02070309020205020404"/>
              </a:rPr>
              <a:t>[-3,3]</a:t>
            </a:r>
            <a:r>
              <a:rPr sz="2200" spc="4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则 需要增加相应的等价类。</a:t>
            </a:r>
            <a:endParaRPr sz="2200">
              <a:latin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63</a:t>
            </a:fld>
            <a:endParaRPr lang="zh-CN" altLang="en-US"/>
          </a:p>
        </p:txBody>
      </p:sp>
      <p:sp>
        <p:nvSpPr>
          <p:cNvPr id="6" name="标题 5"/>
          <p:cNvSpPr>
            <a:spLocks noGrp="1"/>
          </p:cNvSpPr>
          <p:nvPr>
            <p:ph type="title"/>
          </p:nvPr>
        </p:nvSpPr>
        <p:spPr/>
        <p:txBody>
          <a:bodyPr/>
          <a:lstStyle/>
          <a:p>
            <a:r>
              <a:rPr lang="zh-CN" altLang="en-US" dirty="0"/>
              <a:t>变量的等价类</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6942" y="1490824"/>
            <a:ext cx="10360025" cy="4286885"/>
          </a:xfrm>
          <a:prstGeom prst="rect">
            <a:avLst/>
          </a:prstGeom>
        </p:spPr>
        <p:txBody>
          <a:bodyPr vert="horz" wrap="square" lIns="0" tIns="12700" rIns="0" bIns="0" rtlCol="0">
            <a:spAutoFit/>
          </a:bodyPr>
          <a:lstStyle/>
          <a:p>
            <a:pPr marL="12700" marR="5080">
              <a:lnSpc>
                <a:spcPct val="129000"/>
              </a:lnSpc>
              <a:spcBef>
                <a:spcPts val="100"/>
              </a:spcBef>
            </a:pPr>
            <a:r>
              <a:rPr sz="2200" spc="60" dirty="0">
                <a:solidFill>
                  <a:srgbClr val="0033CC"/>
                </a:solidFill>
                <a:latin typeface="微软雅黑" panose="020B0503020204020204" pitchFamily="34" charset="-122"/>
                <a:cs typeface="微软雅黑" panose="020B0503020204020204" pitchFamily="34" charset="-122"/>
              </a:rPr>
              <a:t>复合数据类型：</a:t>
            </a:r>
            <a:r>
              <a:rPr sz="2200" spc="60" dirty="0">
                <a:latin typeface="微软雅黑" panose="020B0503020204020204" pitchFamily="34" charset="-122"/>
                <a:cs typeface="微软雅黑" panose="020B0503020204020204" pitchFamily="34" charset="-122"/>
              </a:rPr>
              <a:t>复合数据类型是包含两个或两个以上相互独立的属性的输入数</a:t>
            </a:r>
            <a:r>
              <a:rPr sz="2200" spc="-5" dirty="0">
                <a:latin typeface="微软雅黑" panose="020B0503020204020204" pitchFamily="34" charset="-122"/>
                <a:cs typeface="微软雅黑" panose="020B0503020204020204" pitchFamily="34" charset="-122"/>
              </a:rPr>
              <a:t>据</a:t>
            </a:r>
            <a:r>
              <a:rPr sz="2200" dirty="0">
                <a:latin typeface="微软雅黑" panose="020B0503020204020204" pitchFamily="34" charset="-122"/>
                <a:cs typeface="微软雅黑" panose="020B0503020204020204" pitchFamily="34" charset="-122"/>
              </a:rPr>
              <a:t>， 在进行等价类划分时需要考虑输入数据的每个属性的合法和非法取值。</a:t>
            </a:r>
          </a:p>
          <a:p>
            <a:pPr marL="180340">
              <a:lnSpc>
                <a:spcPct val="100000"/>
              </a:lnSpc>
              <a:spcBef>
                <a:spcPts val="2485"/>
              </a:spcBef>
              <a:tabLst>
                <a:tab pos="2192020" algn="l"/>
              </a:tabLst>
            </a:pPr>
            <a:r>
              <a:rPr sz="2200" dirty="0">
                <a:solidFill>
                  <a:srgbClr val="0033CC"/>
                </a:solidFill>
                <a:latin typeface="微软雅黑" panose="020B0503020204020204" pitchFamily="34" charset="-122"/>
                <a:cs typeface="微软雅黑" panose="020B0503020204020204" pitchFamily="34" charset="-122"/>
              </a:rPr>
              <a:t>举例：</a:t>
            </a:r>
            <a:r>
              <a:rPr sz="2200" b="1" dirty="0">
                <a:latin typeface="Courier New" panose="02070309020205020404"/>
                <a:cs typeface="Courier New" panose="02070309020205020404"/>
              </a:rPr>
              <a:t>struct	</a:t>
            </a:r>
            <a:r>
              <a:rPr sz="2200" b="1" spc="-5" dirty="0">
                <a:latin typeface="Courier New" panose="02070309020205020404"/>
                <a:cs typeface="Courier New" panose="02070309020205020404"/>
              </a:rPr>
              <a:t>student</a:t>
            </a:r>
            <a:r>
              <a:rPr sz="2200" b="1" spc="-10" dirty="0">
                <a:latin typeface="Courier New" panose="02070309020205020404"/>
                <a:cs typeface="Courier New" panose="02070309020205020404"/>
              </a:rPr>
              <a:t> </a:t>
            </a:r>
            <a:r>
              <a:rPr sz="2200" b="1" dirty="0">
                <a:latin typeface="Courier New" panose="02070309020205020404"/>
                <a:cs typeface="Courier New" panose="02070309020205020404"/>
              </a:rPr>
              <a:t>{</a:t>
            </a:r>
            <a:endParaRPr sz="2200" dirty="0">
              <a:latin typeface="Courier New" panose="02070309020205020404"/>
              <a:cs typeface="Courier New" panose="02070309020205020404"/>
            </a:endParaRPr>
          </a:p>
          <a:p>
            <a:pPr marL="1526540">
              <a:lnSpc>
                <a:spcPct val="100000"/>
              </a:lnSpc>
              <a:spcBef>
                <a:spcPts val="460"/>
              </a:spcBef>
            </a:pPr>
            <a:r>
              <a:rPr sz="2200" b="1" spc="-5" dirty="0">
                <a:latin typeface="Courier New" panose="02070309020205020404"/>
                <a:cs typeface="Courier New" panose="02070309020205020404"/>
              </a:rPr>
              <a:t>string</a:t>
            </a:r>
            <a:r>
              <a:rPr sz="2200" b="1" spc="-10" dirty="0">
                <a:latin typeface="Courier New" panose="02070309020205020404"/>
                <a:cs typeface="Courier New" panose="02070309020205020404"/>
              </a:rPr>
              <a:t> </a:t>
            </a:r>
            <a:r>
              <a:rPr sz="2200" b="1" spc="-5" dirty="0">
                <a:latin typeface="Courier New" panose="02070309020205020404"/>
                <a:cs typeface="Courier New" panose="02070309020205020404"/>
              </a:rPr>
              <a:t>name;</a:t>
            </a:r>
            <a:endParaRPr sz="2200" dirty="0">
              <a:latin typeface="Courier New" panose="02070309020205020404"/>
              <a:cs typeface="Courier New" panose="02070309020205020404"/>
            </a:endParaRPr>
          </a:p>
          <a:p>
            <a:pPr marL="1526540" marR="5640070">
              <a:lnSpc>
                <a:spcPct val="121000"/>
              </a:lnSpc>
              <a:tabLst>
                <a:tab pos="2197100" algn="l"/>
              </a:tabLst>
            </a:pPr>
            <a:r>
              <a:rPr sz="2200" b="1" spc="-5" dirty="0">
                <a:latin typeface="Courier New" panose="02070309020205020404"/>
                <a:cs typeface="Courier New" panose="02070309020205020404"/>
              </a:rPr>
              <a:t>string</a:t>
            </a:r>
            <a:r>
              <a:rPr sz="2200" b="1" spc="-95" dirty="0">
                <a:latin typeface="Courier New" panose="02070309020205020404"/>
                <a:cs typeface="Courier New" panose="02070309020205020404"/>
              </a:rPr>
              <a:t> </a:t>
            </a:r>
            <a:r>
              <a:rPr sz="2200" b="1" spc="-5" dirty="0">
                <a:latin typeface="Courier New" panose="02070309020205020404"/>
                <a:cs typeface="Courier New" panose="02070309020205020404"/>
              </a:rPr>
              <a:t>course[100];  </a:t>
            </a:r>
            <a:r>
              <a:rPr sz="2200" b="1" dirty="0">
                <a:latin typeface="Courier New" panose="02070309020205020404"/>
                <a:cs typeface="Courier New" panose="02070309020205020404"/>
              </a:rPr>
              <a:t>int	</a:t>
            </a:r>
            <a:r>
              <a:rPr sz="2200" b="1" spc="-5" dirty="0">
                <a:latin typeface="Courier New" panose="02070309020205020404"/>
                <a:cs typeface="Courier New" panose="02070309020205020404"/>
              </a:rPr>
              <a:t>grade[100];</a:t>
            </a:r>
            <a:endParaRPr sz="2200" dirty="0">
              <a:latin typeface="Courier New" panose="02070309020205020404"/>
              <a:cs typeface="Courier New" panose="02070309020205020404"/>
            </a:endParaRPr>
          </a:p>
          <a:p>
            <a:pPr marL="891540">
              <a:lnSpc>
                <a:spcPct val="100000"/>
              </a:lnSpc>
              <a:spcBef>
                <a:spcPts val="460"/>
              </a:spcBef>
            </a:pPr>
            <a:r>
              <a:rPr sz="2200" b="1" dirty="0">
                <a:latin typeface="Courier New" panose="02070309020205020404"/>
                <a:cs typeface="Courier New" panose="02070309020205020404"/>
              </a:rPr>
              <a:t>}</a:t>
            </a:r>
            <a:endParaRPr sz="2200" dirty="0">
              <a:latin typeface="Courier New" panose="02070309020205020404"/>
              <a:cs typeface="Courier New" panose="02070309020205020404"/>
            </a:endParaRPr>
          </a:p>
          <a:p>
            <a:pPr marL="12700" marR="276225">
              <a:lnSpc>
                <a:spcPct val="129000"/>
              </a:lnSpc>
              <a:spcBef>
                <a:spcPts val="2225"/>
              </a:spcBef>
            </a:pPr>
            <a:r>
              <a:rPr sz="2200" spc="60" dirty="0">
                <a:latin typeface="微软雅黑" panose="020B0503020204020204" pitchFamily="34" charset="-122"/>
                <a:cs typeface="微软雅黑" panose="020B0503020204020204" pitchFamily="34" charset="-122"/>
              </a:rPr>
              <a:t>对复合数据类型中的每个元素进行等价类划分，再将这些等价类进行组合，最终 </a:t>
            </a:r>
            <a:r>
              <a:rPr sz="2200" dirty="0">
                <a:latin typeface="微软雅黑" panose="020B0503020204020204" pitchFamily="34" charset="-122"/>
                <a:cs typeface="微软雅黑" panose="020B0503020204020204" pitchFamily="34" charset="-122"/>
              </a:rPr>
              <a:t>形成对软件整个输入域的划分。</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64</a:t>
            </a:fld>
            <a:endParaRPr lang="zh-CN" altLang="en-US"/>
          </a:p>
        </p:txBody>
      </p:sp>
      <p:sp>
        <p:nvSpPr>
          <p:cNvPr id="6" name="标题 5"/>
          <p:cNvSpPr>
            <a:spLocks noGrp="1"/>
          </p:cNvSpPr>
          <p:nvPr>
            <p:ph type="title"/>
          </p:nvPr>
        </p:nvSpPr>
        <p:spPr/>
        <p:txBody>
          <a:bodyPr/>
          <a:lstStyle/>
          <a:p>
            <a:r>
              <a:rPr lang="zh-CN" altLang="en-US" dirty="0"/>
              <a:t>变量的等价类</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90007" y="1731139"/>
            <a:ext cx="9880600" cy="3543300"/>
          </a:xfrm>
          <a:prstGeom prst="rect">
            <a:avLst/>
          </a:prstGeom>
        </p:spPr>
        <p:txBody>
          <a:bodyPr vert="horz" wrap="square" lIns="0" tIns="12700" rIns="0" bIns="0" rtlCol="0">
            <a:spAutoFit/>
          </a:bodyPr>
          <a:lstStyle/>
          <a:p>
            <a:pPr marL="12700" marR="281940">
              <a:lnSpc>
                <a:spcPct val="129000"/>
              </a:lnSpc>
              <a:spcBef>
                <a:spcPts val="100"/>
              </a:spcBef>
            </a:pPr>
            <a:r>
              <a:rPr sz="2200" spc="15" dirty="0">
                <a:solidFill>
                  <a:srgbClr val="0033CC"/>
                </a:solidFill>
                <a:latin typeface="微软雅黑" panose="020B0503020204020204" pitchFamily="34" charset="-122"/>
                <a:cs typeface="微软雅黑" panose="020B0503020204020204" pitchFamily="34" charset="-122"/>
              </a:rPr>
              <a:t>测试用例生成：</a:t>
            </a:r>
            <a:r>
              <a:rPr sz="2200" spc="15" dirty="0">
                <a:latin typeface="微软雅黑" panose="020B0503020204020204" pitchFamily="34" charset="-122"/>
                <a:cs typeface="微软雅黑" panose="020B0503020204020204" pitchFamily="34" charset="-122"/>
              </a:rPr>
              <a:t>测试对象通常有多个输入参数，如何对这些参数等价类进行组 </a:t>
            </a:r>
            <a:r>
              <a:rPr sz="2200" dirty="0">
                <a:latin typeface="微软雅黑" panose="020B0503020204020204" pitchFamily="34" charset="-122"/>
                <a:cs typeface="微软雅黑" panose="020B0503020204020204" pitchFamily="34" charset="-122"/>
              </a:rPr>
              <a:t>合测试，来保证等价类的覆盖率，是测试用例设计首先需要考虑的问题。</a:t>
            </a:r>
          </a:p>
          <a:p>
            <a:pPr>
              <a:lnSpc>
                <a:spcPct val="100000"/>
              </a:lnSpc>
              <a:spcBef>
                <a:spcPts val="30"/>
              </a:spcBef>
            </a:pPr>
            <a:endParaRPr sz="3100" dirty="0">
              <a:latin typeface="Times New Roman" panose="02020603050405020304"/>
              <a:cs typeface="Times New Roman" panose="02020603050405020304"/>
            </a:endParaRPr>
          </a:p>
          <a:p>
            <a:pPr marL="12700" marR="5080">
              <a:lnSpc>
                <a:spcPct val="129000"/>
              </a:lnSpc>
              <a:spcBef>
                <a:spcPts val="5"/>
              </a:spcBef>
            </a:pPr>
            <a:r>
              <a:rPr sz="2200" spc="15" dirty="0">
                <a:latin typeface="微软雅黑" panose="020B0503020204020204" pitchFamily="34" charset="-122"/>
                <a:cs typeface="微软雅黑" panose="020B0503020204020204" pitchFamily="34" charset="-122"/>
              </a:rPr>
              <a:t>所有有效等价类的代表值都集成到测试用例中，即</a:t>
            </a:r>
            <a:r>
              <a:rPr sz="2200" spc="15" dirty="0">
                <a:solidFill>
                  <a:srgbClr val="FF0000"/>
                </a:solidFill>
                <a:latin typeface="微软雅黑" panose="020B0503020204020204" pitchFamily="34" charset="-122"/>
                <a:cs typeface="微软雅黑" panose="020B0503020204020204" pitchFamily="34" charset="-122"/>
              </a:rPr>
              <a:t>覆盖有效等价类的所有组</a:t>
            </a:r>
            <a:r>
              <a:rPr sz="2200" spc="-5" dirty="0">
                <a:solidFill>
                  <a:srgbClr val="FF0000"/>
                </a:solidFill>
                <a:latin typeface="微软雅黑" panose="020B0503020204020204" pitchFamily="34" charset="-122"/>
                <a:cs typeface="微软雅黑" panose="020B0503020204020204" pitchFamily="34" charset="-122"/>
              </a:rPr>
              <a:t>合</a:t>
            </a:r>
            <a:r>
              <a:rPr sz="2200" dirty="0">
                <a:latin typeface="微软雅黑" panose="020B0503020204020204" pitchFamily="34" charset="-122"/>
                <a:cs typeface="微软雅黑" panose="020B0503020204020204" pitchFamily="34" charset="-122"/>
              </a:rPr>
              <a:t>。 任何一个组合都将设计成一个有效的测试用例，也称</a:t>
            </a:r>
            <a:r>
              <a:rPr sz="2200" dirty="0">
                <a:solidFill>
                  <a:srgbClr val="0033CC"/>
                </a:solidFill>
                <a:latin typeface="微软雅黑" panose="020B0503020204020204" pitchFamily="34" charset="-122"/>
                <a:cs typeface="微软雅黑" panose="020B0503020204020204" pitchFamily="34" charset="-122"/>
              </a:rPr>
              <a:t>正面测试用例</a:t>
            </a:r>
            <a:r>
              <a:rPr sz="2200" dirty="0">
                <a:latin typeface="微软雅黑" panose="020B0503020204020204" pitchFamily="34" charset="-122"/>
                <a:cs typeface="微软雅黑" panose="020B0503020204020204" pitchFamily="34" charset="-122"/>
              </a:rPr>
              <a:t>。</a:t>
            </a:r>
          </a:p>
          <a:p>
            <a:pPr>
              <a:lnSpc>
                <a:spcPct val="100000"/>
              </a:lnSpc>
              <a:spcBef>
                <a:spcPts val="15"/>
              </a:spcBef>
            </a:pPr>
            <a:endParaRPr sz="3200" dirty="0">
              <a:latin typeface="Times New Roman" panose="02020603050405020304"/>
              <a:cs typeface="Times New Roman" panose="02020603050405020304"/>
            </a:endParaRPr>
          </a:p>
          <a:p>
            <a:pPr marL="12700" marR="5080">
              <a:lnSpc>
                <a:spcPct val="129000"/>
              </a:lnSpc>
              <a:spcBef>
                <a:spcPts val="5"/>
              </a:spcBef>
            </a:pPr>
            <a:r>
              <a:rPr sz="2200" spc="15" dirty="0">
                <a:latin typeface="微软雅黑" panose="020B0503020204020204" pitchFamily="34" charset="-122"/>
                <a:cs typeface="微软雅黑" panose="020B0503020204020204" pitchFamily="34" charset="-122"/>
              </a:rPr>
              <a:t>无效等价类的代表值只能和其他有效等价类的代表值（随意）进行组合。因</a:t>
            </a:r>
            <a:r>
              <a:rPr sz="2200" spc="-5" dirty="0">
                <a:latin typeface="微软雅黑" panose="020B0503020204020204" pitchFamily="34" charset="-122"/>
                <a:cs typeface="微软雅黑" panose="020B0503020204020204" pitchFamily="34" charset="-122"/>
              </a:rPr>
              <a:t>此</a:t>
            </a:r>
            <a:r>
              <a:rPr sz="2200" dirty="0">
                <a:latin typeface="微软雅黑" panose="020B0503020204020204" pitchFamily="34" charset="-122"/>
                <a:cs typeface="微软雅黑" panose="020B0503020204020204" pitchFamily="34" charset="-122"/>
              </a:rPr>
              <a:t>， </a:t>
            </a:r>
            <a:r>
              <a:rPr sz="2200" dirty="0">
                <a:solidFill>
                  <a:srgbClr val="FF0000"/>
                </a:solidFill>
                <a:latin typeface="微软雅黑" panose="020B0503020204020204" pitchFamily="34" charset="-122"/>
                <a:cs typeface="微软雅黑" panose="020B0503020204020204" pitchFamily="34" charset="-122"/>
              </a:rPr>
              <a:t>每个无效等价类将产生一个额外的无效测试用例</a:t>
            </a:r>
            <a:r>
              <a:rPr sz="2200" dirty="0">
                <a:latin typeface="微软雅黑" panose="020B0503020204020204" pitchFamily="34" charset="-122"/>
                <a:cs typeface="微软雅黑" panose="020B0503020204020204" pitchFamily="34" charset="-122"/>
              </a:rPr>
              <a:t>，也称</a:t>
            </a:r>
            <a:r>
              <a:rPr sz="2200" dirty="0">
                <a:solidFill>
                  <a:srgbClr val="0033CC"/>
                </a:solidFill>
                <a:latin typeface="微软雅黑" panose="020B0503020204020204" pitchFamily="34" charset="-122"/>
                <a:cs typeface="微软雅黑" panose="020B0503020204020204" pitchFamily="34" charset="-122"/>
              </a:rPr>
              <a:t>负面测试用例</a:t>
            </a:r>
            <a:r>
              <a:rPr sz="2200" dirty="0">
                <a:latin typeface="微软雅黑" panose="020B0503020204020204" pitchFamily="34" charset="-122"/>
                <a:cs typeface="微软雅黑" panose="020B0503020204020204" pitchFamily="34" charset="-122"/>
              </a:rPr>
              <a:t>。</a:t>
            </a:r>
          </a:p>
        </p:txBody>
      </p:sp>
      <p:sp>
        <p:nvSpPr>
          <p:cNvPr id="4" name="object 4"/>
          <p:cNvSpPr/>
          <p:nvPr/>
        </p:nvSpPr>
        <p:spPr>
          <a:xfrm>
            <a:off x="1219198" y="4893733"/>
            <a:ext cx="8907145" cy="0"/>
          </a:xfrm>
          <a:custGeom>
            <a:avLst/>
            <a:gdLst/>
            <a:ahLst/>
            <a:cxnLst/>
            <a:rect l="l" t="t" r="r" b="b"/>
            <a:pathLst>
              <a:path w="8907145">
                <a:moveTo>
                  <a:pt x="0" y="0"/>
                </a:moveTo>
                <a:lnTo>
                  <a:pt x="8906931" y="0"/>
                </a:lnTo>
              </a:path>
            </a:pathLst>
          </a:custGeom>
          <a:ln w="28574">
            <a:solidFill>
              <a:srgbClr val="D81E00"/>
            </a:solidFill>
          </a:ln>
        </p:spPr>
        <p:txBody>
          <a:bodyPr wrap="square" lIns="0" tIns="0" rIns="0" bIns="0" rtlCol="0"/>
          <a:lstStyle/>
          <a:p>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65</a:t>
            </a:fld>
            <a:endParaRPr lang="zh-CN" altLang="en-US"/>
          </a:p>
        </p:txBody>
      </p:sp>
      <p:sp>
        <p:nvSpPr>
          <p:cNvPr id="7" name="标题 6"/>
          <p:cNvSpPr>
            <a:spLocks noGrp="1"/>
          </p:cNvSpPr>
          <p:nvPr>
            <p:ph type="title"/>
          </p:nvPr>
        </p:nvSpPr>
        <p:spPr/>
        <p:txBody>
          <a:bodyPr/>
          <a:lstStyle/>
          <a:p>
            <a:r>
              <a:rPr lang="zh-CN" altLang="en-US" dirty="0"/>
              <a:t>等价类组合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72230" y="1486471"/>
            <a:ext cx="10050145" cy="1930400"/>
          </a:xfrm>
          <a:prstGeom prst="rect">
            <a:avLst/>
          </a:prstGeom>
        </p:spPr>
        <p:txBody>
          <a:bodyPr vert="horz" wrap="square" lIns="0" tIns="6350" rIns="0" bIns="0" rtlCol="0">
            <a:spAutoFit/>
          </a:bodyPr>
          <a:lstStyle/>
          <a:p>
            <a:pPr marL="12700" marR="5080" algn="just">
              <a:lnSpc>
                <a:spcPct val="119000"/>
              </a:lnSpc>
              <a:spcBef>
                <a:spcPts val="50"/>
              </a:spcBef>
            </a:pPr>
            <a:r>
              <a:rPr sz="2200" spc="10" dirty="0">
                <a:latin typeface="微软雅黑" panose="020B0503020204020204" pitchFamily="34" charset="-122"/>
                <a:cs typeface="微软雅黑" panose="020B0503020204020204" pitchFamily="34" charset="-122"/>
              </a:rPr>
              <a:t>输入三个整数</a:t>
            </a:r>
            <a:r>
              <a:rPr sz="2200" spc="10" dirty="0">
                <a:latin typeface="Arial" panose="020B0604020202020204"/>
                <a:cs typeface="Arial" panose="020B0604020202020204"/>
              </a:rPr>
              <a:t>a</a:t>
            </a:r>
            <a:r>
              <a:rPr sz="2200" spc="10" dirty="0">
                <a:latin typeface="微软雅黑" panose="020B0503020204020204" pitchFamily="34" charset="-122"/>
                <a:cs typeface="微软雅黑" panose="020B0503020204020204" pitchFamily="34" charset="-122"/>
              </a:rPr>
              <a:t>、</a:t>
            </a:r>
            <a:r>
              <a:rPr sz="2200" spc="10" dirty="0">
                <a:latin typeface="Arial" panose="020B0604020202020204"/>
                <a:cs typeface="Arial" panose="020B0604020202020204"/>
              </a:rPr>
              <a:t>b</a:t>
            </a:r>
            <a:r>
              <a:rPr sz="2200" spc="10" dirty="0">
                <a:latin typeface="微软雅黑" panose="020B0503020204020204" pitchFamily="34" charset="-122"/>
                <a:cs typeface="微软雅黑" panose="020B0503020204020204" pitchFamily="34" charset="-122"/>
              </a:rPr>
              <a:t>、</a:t>
            </a:r>
            <a:r>
              <a:rPr sz="2200" spc="10" dirty="0">
                <a:latin typeface="Arial" panose="020B0604020202020204"/>
                <a:cs typeface="Arial" panose="020B0604020202020204"/>
              </a:rPr>
              <a:t>c</a:t>
            </a:r>
            <a:r>
              <a:rPr sz="2200" spc="10" dirty="0">
                <a:latin typeface="微软雅黑" panose="020B0503020204020204" pitchFamily="34" charset="-122"/>
                <a:cs typeface="微软雅黑" panose="020B0503020204020204" pitchFamily="34" charset="-122"/>
              </a:rPr>
              <a:t>，分别作为三角形的三条边，现通过一个程序判断这三条边 </a:t>
            </a:r>
            <a:r>
              <a:rPr sz="2200" spc="55" dirty="0">
                <a:latin typeface="微软雅黑" panose="020B0503020204020204" pitchFamily="34" charset="-122"/>
                <a:cs typeface="微软雅黑" panose="020B0503020204020204" pitchFamily="34" charset="-122"/>
              </a:rPr>
              <a:t>构成的三角形类</a:t>
            </a:r>
            <a:r>
              <a:rPr sz="2200" spc="50" dirty="0">
                <a:latin typeface="微软雅黑" panose="020B0503020204020204" pitchFamily="34" charset="-122"/>
                <a:cs typeface="微软雅黑" panose="020B0503020204020204" pitchFamily="34" charset="-122"/>
              </a:rPr>
              <a:t>型</a:t>
            </a:r>
            <a:r>
              <a:rPr sz="2200" spc="55" dirty="0">
                <a:latin typeface="微软雅黑" panose="020B0503020204020204" pitchFamily="34" charset="-122"/>
                <a:cs typeface="微软雅黑" panose="020B0503020204020204" pitchFamily="34" charset="-122"/>
              </a:rPr>
              <a:t>，包括等边三角</a:t>
            </a:r>
            <a:r>
              <a:rPr sz="2200" spc="50" dirty="0">
                <a:latin typeface="微软雅黑" panose="020B0503020204020204" pitchFamily="34" charset="-122"/>
                <a:cs typeface="微软雅黑" panose="020B0503020204020204" pitchFamily="34" charset="-122"/>
              </a:rPr>
              <a:t>形</a:t>
            </a:r>
            <a:r>
              <a:rPr sz="2200" spc="55" dirty="0">
                <a:latin typeface="微软雅黑" panose="020B0503020204020204" pitchFamily="34" charset="-122"/>
                <a:cs typeface="微软雅黑" panose="020B0503020204020204" pitchFamily="34" charset="-122"/>
              </a:rPr>
              <a:t>、等腰三角</a:t>
            </a:r>
            <a:r>
              <a:rPr sz="2200" spc="50" dirty="0">
                <a:latin typeface="微软雅黑" panose="020B0503020204020204" pitchFamily="34" charset="-122"/>
                <a:cs typeface="微软雅黑" panose="020B0503020204020204" pitchFamily="34" charset="-122"/>
              </a:rPr>
              <a:t>形</a:t>
            </a:r>
            <a:r>
              <a:rPr sz="2200" spc="55" dirty="0">
                <a:latin typeface="微软雅黑" panose="020B0503020204020204" pitchFamily="34" charset="-122"/>
                <a:cs typeface="微软雅黑" panose="020B0503020204020204" pitchFamily="34" charset="-122"/>
              </a:rPr>
              <a:t>、一般三角形（特殊的还包括 </a:t>
            </a:r>
            <a:r>
              <a:rPr sz="2200" dirty="0">
                <a:latin typeface="微软雅黑" panose="020B0503020204020204" pitchFamily="34" charset="-122"/>
                <a:cs typeface="微软雅黑" panose="020B0503020204020204" pitchFamily="34" charset="-122"/>
              </a:rPr>
              <a:t>直角三角形）以及构不成三角形。</a:t>
            </a:r>
          </a:p>
          <a:p>
            <a:pPr>
              <a:lnSpc>
                <a:spcPct val="100000"/>
              </a:lnSpc>
              <a:spcBef>
                <a:spcPts val="25"/>
              </a:spcBef>
            </a:pPr>
            <a:endParaRPr sz="2550" dirty="0">
              <a:latin typeface="Times New Roman" panose="02020603050405020304"/>
              <a:cs typeface="Times New Roman" panose="02020603050405020304"/>
            </a:endParaRPr>
          </a:p>
          <a:p>
            <a:pPr marL="12700">
              <a:lnSpc>
                <a:spcPct val="100000"/>
              </a:lnSpc>
            </a:pPr>
            <a:r>
              <a:rPr sz="2200" dirty="0">
                <a:latin typeface="微软雅黑" panose="020B0503020204020204" pitchFamily="34" charset="-122"/>
                <a:cs typeface="微软雅黑" panose="020B0503020204020204" pitchFamily="34" charset="-122"/>
              </a:rPr>
              <a:t>现在要求输入的三个整数</a:t>
            </a:r>
            <a:r>
              <a:rPr sz="2200" dirty="0">
                <a:latin typeface="Arial" panose="020B0604020202020204"/>
                <a:cs typeface="Arial" panose="020B0604020202020204"/>
              </a:rPr>
              <a:t>a</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b</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c</a:t>
            </a:r>
            <a:r>
              <a:rPr sz="2200" dirty="0">
                <a:latin typeface="微软雅黑" panose="020B0503020204020204" pitchFamily="34" charset="-122"/>
                <a:cs typeface="微软雅黑" panose="020B0503020204020204" pitchFamily="34" charset="-122"/>
              </a:rPr>
              <a:t>必须满足以下条件：</a:t>
            </a:r>
          </a:p>
        </p:txBody>
      </p:sp>
      <p:sp>
        <p:nvSpPr>
          <p:cNvPr id="4" name="object 4"/>
          <p:cNvSpPr txBox="1"/>
          <p:nvPr/>
        </p:nvSpPr>
        <p:spPr>
          <a:xfrm>
            <a:off x="2074199" y="3490273"/>
            <a:ext cx="2103120" cy="1395126"/>
          </a:xfrm>
          <a:prstGeom prst="rect">
            <a:avLst/>
          </a:prstGeom>
        </p:spPr>
        <p:txBody>
          <a:bodyPr vert="horz" wrap="square" lIns="0" tIns="6350" rIns="0" bIns="0" rtlCol="0">
            <a:spAutoFit/>
          </a:bodyPr>
          <a:lstStyle/>
          <a:p>
            <a:pPr marL="12700" marR="5080" algn="just">
              <a:lnSpc>
                <a:spcPct val="142000"/>
              </a:lnSpc>
              <a:spcBef>
                <a:spcPts val="50"/>
              </a:spcBef>
            </a:pPr>
            <a:r>
              <a:rPr sz="2200" dirty="0">
                <a:latin typeface="微软雅黑" panose="020B0503020204020204" pitchFamily="34" charset="-122"/>
                <a:cs typeface="微软雅黑" panose="020B0503020204020204" pitchFamily="34" charset="-122"/>
              </a:rPr>
              <a:t>条件</a:t>
            </a:r>
            <a:r>
              <a:rPr sz="2200" dirty="0">
                <a:latin typeface="Arial" panose="020B0604020202020204"/>
                <a:cs typeface="Arial" panose="020B0604020202020204"/>
              </a:rPr>
              <a:t>1</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1≤a≤</a:t>
            </a:r>
            <a:r>
              <a:rPr lang="en-US" altLang="zh-CN" sz="2200" spc="-5" dirty="0">
                <a:latin typeface="Arial" panose="020B0604020202020204"/>
                <a:cs typeface="Arial" panose="020B0604020202020204"/>
              </a:rPr>
              <a:t>20</a:t>
            </a:r>
            <a:r>
              <a:rPr sz="2200" spc="-5" dirty="0">
                <a:latin typeface="Arial" panose="020B0604020202020204"/>
                <a:cs typeface="Arial" panose="020B0604020202020204"/>
              </a:rPr>
              <a:t>0 </a:t>
            </a:r>
            <a:r>
              <a:rPr sz="2200" dirty="0">
                <a:latin typeface="微软雅黑" panose="020B0503020204020204" pitchFamily="34" charset="-122"/>
                <a:cs typeface="微软雅黑" panose="020B0503020204020204" pitchFamily="34" charset="-122"/>
              </a:rPr>
              <a:t>条件</a:t>
            </a:r>
            <a:r>
              <a:rPr sz="2200" dirty="0">
                <a:latin typeface="Arial" panose="020B0604020202020204"/>
                <a:cs typeface="Arial" panose="020B0604020202020204"/>
              </a:rPr>
              <a:t>2</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1≤b≤</a:t>
            </a:r>
            <a:r>
              <a:rPr lang="en-US" altLang="zh-CN" sz="2200" spc="-5" dirty="0">
                <a:latin typeface="Arial" panose="020B0604020202020204"/>
                <a:cs typeface="Arial" panose="020B0604020202020204"/>
              </a:rPr>
              <a:t>20</a:t>
            </a:r>
            <a:r>
              <a:rPr sz="2200" spc="-5" dirty="0">
                <a:latin typeface="Arial" panose="020B0604020202020204"/>
                <a:cs typeface="Arial" panose="020B0604020202020204"/>
              </a:rPr>
              <a:t>0 </a:t>
            </a:r>
            <a:r>
              <a:rPr sz="2200" dirty="0">
                <a:latin typeface="微软雅黑" panose="020B0503020204020204" pitchFamily="34" charset="-122"/>
                <a:cs typeface="微软雅黑" panose="020B0503020204020204" pitchFamily="34" charset="-122"/>
              </a:rPr>
              <a:t>条件</a:t>
            </a:r>
            <a:r>
              <a:rPr sz="2200" spc="-5" dirty="0">
                <a:latin typeface="Arial" panose="020B0604020202020204"/>
                <a:cs typeface="Arial" panose="020B0604020202020204"/>
              </a:rPr>
              <a:t>3</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1≤c≤</a:t>
            </a:r>
            <a:r>
              <a:rPr lang="en-US" altLang="zh-CN" sz="2200" spc="-5" dirty="0">
                <a:latin typeface="Arial" panose="020B0604020202020204"/>
                <a:cs typeface="Arial" panose="020B0604020202020204"/>
              </a:rPr>
              <a:t>20</a:t>
            </a:r>
            <a:r>
              <a:rPr sz="2200" spc="-5" dirty="0">
                <a:latin typeface="Arial" panose="020B0604020202020204"/>
                <a:cs typeface="Arial" panose="020B0604020202020204"/>
              </a:rPr>
              <a:t>0</a:t>
            </a:r>
            <a:endParaRPr sz="2200" dirty="0">
              <a:latin typeface="Arial" panose="020B0604020202020204"/>
              <a:cs typeface="Arial" panose="020B0604020202020204"/>
            </a:endParaRPr>
          </a:p>
        </p:txBody>
      </p:sp>
      <p:sp>
        <p:nvSpPr>
          <p:cNvPr id="6" name="object 6"/>
          <p:cNvSpPr txBox="1"/>
          <p:nvPr/>
        </p:nvSpPr>
        <p:spPr>
          <a:xfrm>
            <a:off x="1072230" y="5195820"/>
            <a:ext cx="61722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请使用等价类划分方法，设计该程序的测试用例。</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66</a:t>
            </a:fld>
            <a:endParaRPr lang="zh-CN" altLang="en-US"/>
          </a:p>
        </p:txBody>
      </p:sp>
      <p:sp>
        <p:nvSpPr>
          <p:cNvPr id="9" name="标题 8"/>
          <p:cNvSpPr>
            <a:spLocks noGrp="1"/>
          </p:cNvSpPr>
          <p:nvPr>
            <p:ph type="title"/>
          </p:nvPr>
        </p:nvSpPr>
        <p:spPr/>
        <p:txBody>
          <a:bodyPr/>
          <a:lstStyle/>
          <a:p>
            <a:r>
              <a:rPr lang="zh-CN" altLang="en-US" dirty="0"/>
              <a:t>举例：判断三角形类型</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504180" y="4415941"/>
            <a:ext cx="778678" cy="1165675"/>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12967" y="1463607"/>
            <a:ext cx="8046084" cy="3896360"/>
          </a:xfrm>
          <a:prstGeom prst="rect">
            <a:avLst/>
          </a:prstGeom>
        </p:spPr>
        <p:txBody>
          <a:bodyPr vert="horz" wrap="square" lIns="0" tIns="185420" rIns="0" bIns="0" rtlCol="0">
            <a:spAutoFit/>
          </a:bodyPr>
          <a:lstStyle/>
          <a:p>
            <a:pPr marL="12700">
              <a:lnSpc>
                <a:spcPct val="100000"/>
              </a:lnSpc>
              <a:spcBef>
                <a:spcPts val="1460"/>
              </a:spcBef>
            </a:pPr>
            <a:r>
              <a:rPr sz="2200" dirty="0">
                <a:solidFill>
                  <a:srgbClr val="0033CC"/>
                </a:solidFill>
                <a:latin typeface="微软雅黑" panose="020B0503020204020204" pitchFamily="34" charset="-122"/>
                <a:cs typeface="微软雅黑" panose="020B0503020204020204" pitchFamily="34" charset="-122"/>
              </a:rPr>
              <a:t>等价类划分：</a:t>
            </a:r>
            <a:endParaRPr sz="2200">
              <a:latin typeface="微软雅黑" panose="020B0503020204020204" pitchFamily="34" charset="-122"/>
              <a:cs typeface="微软雅黑" panose="020B0503020204020204" pitchFamily="34" charset="-122"/>
            </a:endParaRPr>
          </a:p>
          <a:p>
            <a:pPr marL="100965">
              <a:lnSpc>
                <a:spcPct val="100000"/>
              </a:lnSpc>
              <a:spcBef>
                <a:spcPts val="1360"/>
              </a:spcBef>
              <a:tabLst>
                <a:tab pos="558165" algn="l"/>
              </a:tabLst>
            </a:pPr>
            <a:r>
              <a:rPr sz="2200" dirty="0">
                <a:latin typeface="微软雅黑" panose="020B0503020204020204" pitchFamily="34" charset="-122"/>
                <a:cs typeface="微软雅黑" panose="020B0503020204020204" pitchFamily="34" charset="-122"/>
              </a:rPr>
              <a:t>①	按输入取值划分</a:t>
            </a:r>
            <a:endParaRPr sz="2200">
              <a:latin typeface="微软雅黑" panose="020B0503020204020204" pitchFamily="34" charset="-122"/>
              <a:cs typeface="微软雅黑" panose="020B0503020204020204" pitchFamily="34" charset="-122"/>
            </a:endParaRPr>
          </a:p>
          <a:p>
            <a:pPr marL="578485">
              <a:lnSpc>
                <a:spcPct val="100000"/>
              </a:lnSpc>
              <a:spcBef>
                <a:spcPts val="970"/>
              </a:spcBef>
              <a:tabLst>
                <a:tab pos="2271395" algn="l"/>
                <a:tab pos="2716530" algn="l"/>
              </a:tabLst>
            </a:pPr>
            <a:r>
              <a:rPr sz="2200" dirty="0">
                <a:latin typeface="Arial" panose="020B0604020202020204"/>
                <a:cs typeface="Arial" panose="020B0604020202020204"/>
              </a:rPr>
              <a:t>{0</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&gt;0</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&lt;0}	</a:t>
            </a:r>
            <a:r>
              <a:rPr sz="2200" dirty="0">
                <a:latin typeface="微软雅黑" panose="020B0503020204020204" pitchFamily="34" charset="-122"/>
                <a:cs typeface="微软雅黑" panose="020B0503020204020204" pitchFamily="34" charset="-122"/>
              </a:rPr>
              <a:t>或	</a:t>
            </a:r>
            <a:r>
              <a:rPr sz="2200" dirty="0">
                <a:latin typeface="Arial" panose="020B0604020202020204"/>
                <a:cs typeface="Arial" panose="020B0604020202020204"/>
              </a:rPr>
              <a:t>{0</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1</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&gt;1</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&lt;0}</a:t>
            </a:r>
            <a:endParaRPr sz="2200">
              <a:latin typeface="Arial" panose="020B0604020202020204"/>
              <a:cs typeface="Arial" panose="020B0604020202020204"/>
            </a:endParaRPr>
          </a:p>
          <a:p>
            <a:pPr marL="100965">
              <a:lnSpc>
                <a:spcPct val="100000"/>
              </a:lnSpc>
              <a:spcBef>
                <a:spcPts val="1950"/>
              </a:spcBef>
              <a:tabLst>
                <a:tab pos="558165" algn="l"/>
              </a:tabLst>
            </a:pPr>
            <a:r>
              <a:rPr sz="2200" dirty="0">
                <a:latin typeface="微软雅黑" panose="020B0503020204020204" pitchFamily="34" charset="-122"/>
                <a:cs typeface="微软雅黑" panose="020B0503020204020204" pitchFamily="34" charset="-122"/>
              </a:rPr>
              <a:t>②	按输出的几何特性划分</a:t>
            </a:r>
            <a:endParaRPr sz="2200">
              <a:latin typeface="微软雅黑" panose="020B0503020204020204" pitchFamily="34" charset="-122"/>
              <a:cs typeface="微软雅黑" panose="020B0503020204020204" pitchFamily="34" charset="-122"/>
            </a:endParaRPr>
          </a:p>
          <a:p>
            <a:pPr marL="581660">
              <a:lnSpc>
                <a:spcPct val="100000"/>
              </a:lnSpc>
              <a:spcBef>
                <a:spcPts val="1340"/>
              </a:spcBef>
            </a:pPr>
            <a:r>
              <a:rPr sz="2200" dirty="0">
                <a:latin typeface="Arial" panose="020B0604020202020204"/>
                <a:cs typeface="Arial" panose="020B0604020202020204"/>
              </a:rPr>
              <a:t>{</a:t>
            </a:r>
            <a:r>
              <a:rPr sz="2200" dirty="0">
                <a:latin typeface="微软雅黑" panose="020B0503020204020204" pitchFamily="34" charset="-122"/>
                <a:cs typeface="微软雅黑" panose="020B0503020204020204" pitchFamily="34" charset="-122"/>
              </a:rPr>
              <a:t>等腰且非等边三角形，等边三角形，一般三角形，非三角形</a:t>
            </a:r>
            <a:r>
              <a:rPr sz="2200" dirty="0">
                <a:latin typeface="Arial" panose="020B0604020202020204"/>
                <a:cs typeface="Arial" panose="020B0604020202020204"/>
              </a:rPr>
              <a:t>}</a:t>
            </a:r>
            <a:endParaRPr sz="2200">
              <a:latin typeface="Arial" panose="020B0604020202020204"/>
              <a:cs typeface="Arial" panose="020B0604020202020204"/>
            </a:endParaRPr>
          </a:p>
          <a:p>
            <a:pPr>
              <a:lnSpc>
                <a:spcPct val="100000"/>
              </a:lnSpc>
            </a:pPr>
            <a:endParaRPr sz="2900">
              <a:latin typeface="Times New Roman" panose="02020603050405020304"/>
              <a:cs typeface="Times New Roman" panose="02020603050405020304"/>
            </a:endParaRPr>
          </a:p>
          <a:p>
            <a:pPr>
              <a:lnSpc>
                <a:spcPct val="100000"/>
              </a:lnSpc>
              <a:spcBef>
                <a:spcPts val="15"/>
              </a:spcBef>
            </a:pPr>
            <a:endParaRPr sz="2700">
              <a:latin typeface="Times New Roman" panose="02020603050405020304"/>
              <a:cs typeface="Times New Roman" panose="02020603050405020304"/>
            </a:endParaRPr>
          </a:p>
          <a:p>
            <a:pPr marL="147955" algn="ctr">
              <a:lnSpc>
                <a:spcPct val="100000"/>
              </a:lnSpc>
            </a:pPr>
            <a:r>
              <a:rPr sz="3200" b="1" spc="-5" dirty="0">
                <a:latin typeface="华文楷体" panose="02010600040101010101" charset="-122"/>
                <a:cs typeface="华文楷体" panose="02010600040101010101" charset="-122"/>
              </a:rPr>
              <a:t>你会选择哪⼀种⽅法划分等价类</a:t>
            </a:r>
            <a:endParaRPr sz="3200">
              <a:latin typeface="华文楷体" panose="02010600040101010101" charset="-122"/>
              <a:cs typeface="华文楷体" panose="02010600040101010101" charset="-122"/>
            </a:endParaRPr>
          </a:p>
        </p:txBody>
      </p:sp>
      <p:sp>
        <p:nvSpPr>
          <p:cNvPr id="5" name="object 5"/>
          <p:cNvSpPr/>
          <p:nvPr/>
        </p:nvSpPr>
        <p:spPr>
          <a:xfrm>
            <a:off x="9869814" y="3232249"/>
            <a:ext cx="984447" cy="868395"/>
          </a:xfrm>
          <a:prstGeom prst="rect">
            <a:avLst/>
          </a:prstGeom>
          <a:blipFill>
            <a:blip r:embed="rId4"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67</a:t>
            </a:fld>
            <a:endParaRPr lang="zh-CN" altLang="en-US"/>
          </a:p>
        </p:txBody>
      </p:sp>
      <p:sp>
        <p:nvSpPr>
          <p:cNvPr id="8" name="标题 7"/>
          <p:cNvSpPr>
            <a:spLocks noGrp="1"/>
          </p:cNvSpPr>
          <p:nvPr>
            <p:ph type="title"/>
          </p:nvPr>
        </p:nvSpPr>
        <p:spPr/>
        <p:txBody>
          <a:bodyPr/>
          <a:lstStyle/>
          <a:p>
            <a:r>
              <a:rPr lang="zh-CN" altLang="en-US" dirty="0"/>
              <a:t>举例：判断三角形类型</a:t>
            </a:r>
          </a:p>
        </p:txBody>
      </p:sp>
      <p:sp>
        <p:nvSpPr>
          <p:cNvPr id="2" name="矩形 1">
            <a:extLst>
              <a:ext uri="{FF2B5EF4-FFF2-40B4-BE49-F238E27FC236}">
                <a16:creationId xmlns:a16="http://schemas.microsoft.com/office/drawing/2014/main" id="{9FEEE5A3-F88C-4DBF-BE33-8672B59511B6}"/>
              </a:ext>
            </a:extLst>
          </p:cNvPr>
          <p:cNvSpPr/>
          <p:nvPr/>
        </p:nvSpPr>
        <p:spPr>
          <a:xfrm>
            <a:off x="1255486" y="5739547"/>
            <a:ext cx="9598775" cy="369332"/>
          </a:xfrm>
          <a:prstGeom prst="rect">
            <a:avLst/>
          </a:prstGeom>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在多数情况下，等价类是根据输入域进行划分的，但并不是说不能从输出反过来划分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7133" y="1521585"/>
            <a:ext cx="3096260" cy="540385"/>
          </a:xfrm>
          <a:prstGeom prst="rect">
            <a:avLst/>
          </a:prstGeom>
          <a:solidFill>
            <a:srgbClr val="797BA9"/>
          </a:solidFill>
        </p:spPr>
        <p:txBody>
          <a:bodyPr vert="horz" wrap="square" lIns="0" tIns="117475" rIns="0" bIns="0" rtlCol="0">
            <a:spAutoFit/>
          </a:bodyPr>
          <a:lstStyle/>
          <a:p>
            <a:pPr marL="408940">
              <a:lnSpc>
                <a:spcPct val="100000"/>
              </a:lnSpc>
              <a:spcBef>
                <a:spcPts val="925"/>
              </a:spcBef>
            </a:pPr>
            <a:r>
              <a:rPr sz="2000" dirty="0">
                <a:solidFill>
                  <a:srgbClr val="FFFFFF"/>
                </a:solidFill>
                <a:latin typeface="微软雅黑" panose="020B0503020204020204" pitchFamily="34" charset="-122"/>
                <a:cs typeface="微软雅黑" panose="020B0503020204020204" pitchFamily="34" charset="-122"/>
              </a:rPr>
              <a:t>标准等价类测试用例</a:t>
            </a:r>
            <a:endParaRPr sz="20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extLst>
              <p:ext uri="{D42A27DB-BD31-4B8C-83A1-F6EECF244321}">
                <p14:modId xmlns:p14="http://schemas.microsoft.com/office/powerpoint/2010/main" val="306654257"/>
              </p:ext>
            </p:extLst>
          </p:nvPr>
        </p:nvGraphicFramePr>
        <p:xfrm>
          <a:off x="1039311" y="2081975"/>
          <a:ext cx="9988549" cy="4190995"/>
        </p:xfrm>
        <a:graphic>
          <a:graphicData uri="http://schemas.openxmlformats.org/drawingml/2006/table">
            <a:tbl>
              <a:tblPr firstRow="1" bandRow="1">
                <a:tableStyleId>{2D5ABB26-0587-4C30-8999-92F81FD0307C}</a:tableStyleId>
              </a:tblPr>
              <a:tblGrid>
                <a:gridCol w="849630">
                  <a:extLst>
                    <a:ext uri="{9D8B030D-6E8A-4147-A177-3AD203B41FA5}">
                      <a16:colId xmlns:a16="http://schemas.microsoft.com/office/drawing/2014/main" val="20000"/>
                    </a:ext>
                  </a:extLst>
                </a:gridCol>
                <a:gridCol w="3984625">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51230">
                  <a:extLst>
                    <a:ext uri="{9D8B030D-6E8A-4147-A177-3AD203B41FA5}">
                      <a16:colId xmlns:a16="http://schemas.microsoft.com/office/drawing/2014/main" val="20003"/>
                    </a:ext>
                  </a:extLst>
                </a:gridCol>
                <a:gridCol w="1012190">
                  <a:extLst>
                    <a:ext uri="{9D8B030D-6E8A-4147-A177-3AD203B41FA5}">
                      <a16:colId xmlns:a16="http://schemas.microsoft.com/office/drawing/2014/main" val="20004"/>
                    </a:ext>
                  </a:extLst>
                </a:gridCol>
                <a:gridCol w="2259964">
                  <a:extLst>
                    <a:ext uri="{9D8B030D-6E8A-4147-A177-3AD203B41FA5}">
                      <a16:colId xmlns:a16="http://schemas.microsoft.com/office/drawing/2014/main" val="20005"/>
                    </a:ext>
                  </a:extLst>
                </a:gridCol>
              </a:tblGrid>
              <a:tr h="365759">
                <a:tc rowSpan="2">
                  <a:txBody>
                    <a:bodyPr/>
                    <a:lstStyle/>
                    <a:p>
                      <a:pPr marL="17018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229995">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37895">
                        <a:lnSpc>
                          <a:spcPct val="100000"/>
                        </a:lnSpc>
                        <a:spcBef>
                          <a:spcPts val="14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177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62103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65760">
                <a:tc vMerge="1">
                  <a:txBody>
                    <a:bodyPr/>
                    <a:lstStyle/>
                    <a:p>
                      <a:endParaRPr lang="zh-CN"/>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4445"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p>
                  </a:txBody>
                  <a:tcPr marL="0" marR="0" marT="6858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等边三角形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914399">
                <a:tc>
                  <a:txBody>
                    <a:bodyPr/>
                    <a:lstStyle/>
                    <a:p>
                      <a:pPr>
                        <a:lnSpc>
                          <a:spcPct val="100000"/>
                        </a:lnSpc>
                      </a:pPr>
                      <a:endParaRPr sz="20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546100" marR="538480" algn="ctr">
                        <a:lnSpc>
                          <a:spcPct val="90000"/>
                        </a:lnSpc>
                        <a:spcBef>
                          <a:spcPts val="39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495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2300"/>
                        </a:spcBef>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292100"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endParaRPr sz="2000">
                        <a:latin typeface="Arial" panose="020B0604020202020204"/>
                        <a:cs typeface="Arial" panose="020B0604020202020204"/>
                      </a:endParaRPr>
                    </a:p>
                  </a:txBody>
                  <a:tcPr marL="0" marR="0" marT="44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endParaRPr sz="2000">
                        <a:latin typeface="Arial" panose="020B0604020202020204"/>
                        <a:cs typeface="Arial" panose="020B0604020202020204"/>
                      </a:endParaRPr>
                    </a:p>
                  </a:txBody>
                  <a:tcPr marL="0" marR="0" marT="6858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一般三角形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640079">
                <a:tc>
                  <a:txBody>
                    <a:bodyPr/>
                    <a:lstStyle/>
                    <a:p>
                      <a:pPr algn="ctr">
                        <a:lnSpc>
                          <a:spcPct val="100000"/>
                        </a:lnSpc>
                        <a:spcBef>
                          <a:spcPts val="1220"/>
                        </a:spcBef>
                      </a:pPr>
                      <a:r>
                        <a:rPr sz="2000" dirty="0">
                          <a:latin typeface="Arial" panose="020B0604020202020204"/>
                          <a:cs typeface="Arial" panose="020B0604020202020204"/>
                        </a:rPr>
                        <a:t>4</a:t>
                      </a:r>
                      <a:endParaRPr sz="2000">
                        <a:latin typeface="Arial" panose="020B0604020202020204"/>
                        <a:cs typeface="Arial" panose="020B0604020202020204"/>
                      </a:endParaRPr>
                    </a:p>
                  </a:txBody>
                  <a:tcPr marL="0" marR="0" marT="154940" marB="0">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546100" marR="538480" indent="552450">
                        <a:lnSpc>
                          <a:spcPts val="2100"/>
                        </a:lnSpc>
                        <a:spcBef>
                          <a:spcPts val="46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0"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58419"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635" algn="ctr">
                        <a:lnSpc>
                          <a:spcPct val="100000"/>
                        </a:lnSpc>
                        <a:spcBef>
                          <a:spcPts val="1220"/>
                        </a:spcBef>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2</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微软雅黑" panose="020B0503020204020204" pitchFamily="34" charset="-122"/>
                          <a:cs typeface="微软雅黑" panose="020B0503020204020204" pitchFamily="34" charset="-122"/>
                        </a:rPr>
                        <a:t>非三角形</a:t>
                      </a:r>
                    </a:p>
                  </a:txBody>
                  <a:tcPr marL="0" marR="0" marT="15494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68</a:t>
            </a:fld>
            <a:endParaRPr lang="zh-CN" altLang="en-US"/>
          </a:p>
        </p:txBody>
      </p:sp>
      <p:sp>
        <p:nvSpPr>
          <p:cNvPr id="7" name="标题 6"/>
          <p:cNvSpPr>
            <a:spLocks noGrp="1"/>
          </p:cNvSpPr>
          <p:nvPr>
            <p:ph type="title"/>
          </p:nvPr>
        </p:nvSpPr>
        <p:spPr/>
        <p:txBody>
          <a:bodyPr/>
          <a:lstStyle/>
          <a:p>
            <a:r>
              <a:rPr lang="zh-CN" altLang="en-US" dirty="0"/>
              <a:t>举例：判断三角形类型</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65619" y="1644674"/>
            <a:ext cx="10134600" cy="3799204"/>
          </a:xfrm>
          <a:prstGeom prst="rect">
            <a:avLst/>
          </a:prstGeom>
        </p:spPr>
        <p:txBody>
          <a:bodyPr vert="horz" wrap="square" lIns="0" tIns="12700" rIns="0" bIns="0" rtlCol="0">
            <a:spAutoFit/>
          </a:bodyPr>
          <a:lstStyle/>
          <a:p>
            <a:pPr marL="12700" marR="282575">
              <a:lnSpc>
                <a:spcPct val="129000"/>
              </a:lnSpc>
              <a:spcBef>
                <a:spcPts val="100"/>
              </a:spcBef>
            </a:pPr>
            <a:r>
              <a:rPr sz="2200" spc="10" dirty="0">
                <a:solidFill>
                  <a:srgbClr val="0033CC"/>
                </a:solidFill>
                <a:latin typeface="微软雅黑" panose="020B0503020204020204" pitchFamily="34" charset="-122"/>
                <a:cs typeface="微软雅黑" panose="020B0503020204020204" pitchFamily="34" charset="-122"/>
              </a:rPr>
              <a:t>边界值分析</a:t>
            </a:r>
            <a:r>
              <a:rPr sz="2200" spc="10" dirty="0">
                <a:latin typeface="微软雅黑" panose="020B0503020204020204" pitchFamily="34" charset="-122"/>
                <a:cs typeface="微软雅黑" panose="020B0503020204020204" pitchFamily="34" charset="-122"/>
              </a:rPr>
              <a:t>是对输入或输出的边界值进行测试的一种方法，</a:t>
            </a:r>
            <a:r>
              <a:rPr sz="2200" spc="10" dirty="0">
                <a:solidFill>
                  <a:srgbClr val="FF0000"/>
                </a:solidFill>
                <a:latin typeface="微软雅黑" panose="020B0503020204020204" pitchFamily="34" charset="-122"/>
                <a:cs typeface="微软雅黑" panose="020B0503020204020204" pitchFamily="34" charset="-122"/>
              </a:rPr>
              <a:t>它通常作为等价类划 </a:t>
            </a:r>
            <a:r>
              <a:rPr sz="2200" dirty="0">
                <a:solidFill>
                  <a:srgbClr val="FF0000"/>
                </a:solidFill>
                <a:latin typeface="微软雅黑" panose="020B0503020204020204" pitchFamily="34" charset="-122"/>
                <a:cs typeface="微软雅黑" panose="020B0503020204020204" pitchFamily="34" charset="-122"/>
              </a:rPr>
              <a:t>分法的补充</a:t>
            </a:r>
            <a:r>
              <a:rPr sz="2200" dirty="0">
                <a:latin typeface="微软雅黑" panose="020B0503020204020204" pitchFamily="34" charset="-122"/>
                <a:cs typeface="微软雅黑" panose="020B0503020204020204" pitchFamily="34" charset="-122"/>
              </a:rPr>
              <a:t>，这种情况下的测试用例来自等价类的边界。</a:t>
            </a:r>
          </a:p>
          <a:p>
            <a:pPr marL="276225" indent="-263525">
              <a:lnSpc>
                <a:spcPct val="100000"/>
              </a:lnSpc>
              <a:spcBef>
                <a:spcPts val="2560"/>
              </a:spcBef>
              <a:buFont typeface="Arial" panose="020B0604020202020204"/>
              <a:buChar char="•"/>
              <a:tabLst>
                <a:tab pos="275590" algn="l"/>
                <a:tab pos="276225" algn="l"/>
              </a:tabLst>
            </a:pPr>
            <a:r>
              <a:rPr sz="2200" dirty="0">
                <a:latin typeface="微软雅黑" panose="020B0503020204020204" pitchFamily="34" charset="-122"/>
                <a:cs typeface="微软雅黑" panose="020B0503020204020204" pitchFamily="34" charset="-122"/>
              </a:rPr>
              <a:t>先确定边界：通常输入或输出等价类的边界就是应该着重测试的边界情况。</a:t>
            </a:r>
          </a:p>
          <a:p>
            <a:pPr marL="266700" marR="281940" indent="-254000">
              <a:lnSpc>
                <a:spcPct val="133000"/>
              </a:lnSpc>
              <a:spcBef>
                <a:spcPts val="500"/>
              </a:spcBef>
              <a:buFont typeface="Arial" panose="020B0604020202020204"/>
              <a:buChar char="•"/>
              <a:tabLst>
                <a:tab pos="276860" algn="l"/>
                <a:tab pos="277495" algn="l"/>
              </a:tabLst>
            </a:pPr>
            <a:r>
              <a:rPr sz="2200" spc="15" dirty="0">
                <a:solidFill>
                  <a:srgbClr val="FF0000"/>
                </a:solidFill>
                <a:latin typeface="微软雅黑" panose="020B0503020204020204" pitchFamily="34" charset="-122"/>
                <a:cs typeface="微软雅黑" panose="020B0503020204020204" pitchFamily="34" charset="-122"/>
              </a:rPr>
              <a:t>选取正好等于、刚刚大于或刚刚小于边界</a:t>
            </a:r>
            <a:r>
              <a:rPr sz="2200" spc="15" dirty="0">
                <a:latin typeface="微软雅黑" panose="020B0503020204020204" pitchFamily="34" charset="-122"/>
                <a:cs typeface="微软雅黑" panose="020B0503020204020204" pitchFamily="34" charset="-122"/>
              </a:rPr>
              <a:t>的值作为测试数据，而不是选取等价 </a:t>
            </a:r>
            <a:r>
              <a:rPr sz="2200" dirty="0">
                <a:latin typeface="微软雅黑" panose="020B0503020204020204" pitchFamily="34" charset="-122"/>
                <a:cs typeface="微软雅黑" panose="020B0503020204020204" pitchFamily="34" charset="-122"/>
              </a:rPr>
              <a:t>类中的典型值或任意值。</a:t>
            </a:r>
          </a:p>
          <a:p>
            <a:pPr>
              <a:lnSpc>
                <a:spcPct val="100000"/>
              </a:lnSpc>
              <a:spcBef>
                <a:spcPts val="15"/>
              </a:spcBef>
            </a:pPr>
            <a:endParaRPr sz="2950" dirty="0">
              <a:latin typeface="Times New Roman" panose="02020603050405020304"/>
              <a:cs typeface="Times New Roman" panose="02020603050405020304"/>
            </a:endParaRPr>
          </a:p>
          <a:p>
            <a:pPr marL="12700" marR="5080">
              <a:lnSpc>
                <a:spcPct val="129000"/>
              </a:lnSpc>
            </a:pPr>
            <a:r>
              <a:rPr sz="2200" spc="10" dirty="0">
                <a:latin typeface="微软雅黑" panose="020B0503020204020204" pitchFamily="34" charset="-122"/>
                <a:cs typeface="微软雅黑" panose="020B0503020204020204" pitchFamily="34" charset="-122"/>
              </a:rPr>
              <a:t>实践表明：</a:t>
            </a:r>
            <a:r>
              <a:rPr sz="2200" spc="10" dirty="0">
                <a:solidFill>
                  <a:srgbClr val="C00000"/>
                </a:solidFill>
                <a:latin typeface="微软雅黑" panose="020B0503020204020204" pitchFamily="34" charset="-122"/>
                <a:cs typeface="微软雅黑" panose="020B0503020204020204" pitchFamily="34" charset="-122"/>
              </a:rPr>
              <a:t>大多数故障往往发生在输入定义域或输出值域的边界上</a:t>
            </a:r>
            <a:r>
              <a:rPr sz="2200" spc="10" dirty="0">
                <a:latin typeface="微软雅黑" panose="020B0503020204020204" pitchFamily="34" charset="-122"/>
                <a:cs typeface="微软雅黑" panose="020B0503020204020204" pitchFamily="34" charset="-122"/>
              </a:rPr>
              <a:t>，而不是内</a:t>
            </a:r>
            <a:r>
              <a:rPr sz="2200" dirty="0">
                <a:latin typeface="微软雅黑" panose="020B0503020204020204" pitchFamily="34" charset="-122"/>
                <a:cs typeface="微软雅黑" panose="020B0503020204020204" pitchFamily="34" charset="-122"/>
              </a:rPr>
              <a:t>部。 因此，针对各种边界情况设计测试用例，通常会取得很好的测试效果。</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69</a:t>
            </a:fld>
            <a:endParaRPr lang="zh-CN" altLang="en-US"/>
          </a:p>
        </p:txBody>
      </p:sp>
      <p:sp>
        <p:nvSpPr>
          <p:cNvPr id="6" name="标题 5"/>
          <p:cNvSpPr>
            <a:spLocks noGrp="1"/>
          </p:cNvSpPr>
          <p:nvPr>
            <p:ph type="title"/>
          </p:nvPr>
        </p:nvSpPr>
        <p:spPr/>
        <p:txBody>
          <a:bodyPr/>
          <a:lstStyle/>
          <a:p>
            <a:r>
              <a:rPr lang="zh-CN" altLang="en-US" dirty="0"/>
              <a:t>边界值分析</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62730" y="5499844"/>
            <a:ext cx="267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x1</a:t>
            </a:r>
            <a:endParaRPr sz="1800">
              <a:latin typeface="Arial" panose="020B0604020202020204"/>
              <a:cs typeface="Arial" panose="020B0604020202020204"/>
            </a:endParaRPr>
          </a:p>
        </p:txBody>
      </p:sp>
      <p:sp>
        <p:nvSpPr>
          <p:cNvPr id="4" name="object 4"/>
          <p:cNvSpPr/>
          <p:nvPr/>
        </p:nvSpPr>
        <p:spPr>
          <a:xfrm>
            <a:off x="1280007" y="4209248"/>
            <a:ext cx="0" cy="1370330"/>
          </a:xfrm>
          <a:custGeom>
            <a:avLst/>
            <a:gdLst/>
            <a:ahLst/>
            <a:cxnLst/>
            <a:rect l="l" t="t" r="r" b="b"/>
            <a:pathLst>
              <a:path h="1370329">
                <a:moveTo>
                  <a:pt x="0" y="1370012"/>
                </a:moveTo>
                <a:lnTo>
                  <a:pt x="0" y="0"/>
                </a:lnTo>
              </a:path>
            </a:pathLst>
          </a:custGeom>
          <a:ln w="9524">
            <a:solidFill>
              <a:srgbClr val="000000"/>
            </a:solidFill>
          </a:ln>
        </p:spPr>
        <p:txBody>
          <a:bodyPr wrap="square" lIns="0" tIns="0" rIns="0" bIns="0" rtlCol="0"/>
          <a:lstStyle/>
          <a:p>
            <a:endParaRPr/>
          </a:p>
        </p:txBody>
      </p:sp>
      <p:sp>
        <p:nvSpPr>
          <p:cNvPr id="5" name="object 5"/>
          <p:cNvSpPr/>
          <p:nvPr/>
        </p:nvSpPr>
        <p:spPr>
          <a:xfrm>
            <a:off x="1241907" y="4183848"/>
            <a:ext cx="76200" cy="76200"/>
          </a:xfrm>
          <a:custGeom>
            <a:avLst/>
            <a:gdLst/>
            <a:ahLst/>
            <a:cxnLst/>
            <a:rect l="l" t="t" r="r" b="b"/>
            <a:pathLst>
              <a:path w="76200" h="76200">
                <a:moveTo>
                  <a:pt x="38100" y="0"/>
                </a:moveTo>
                <a:lnTo>
                  <a:pt x="0" y="76199"/>
                </a:lnTo>
                <a:lnTo>
                  <a:pt x="76200" y="76199"/>
                </a:lnTo>
                <a:lnTo>
                  <a:pt x="38100" y="0"/>
                </a:lnTo>
                <a:close/>
              </a:path>
            </a:pathLst>
          </a:custGeom>
          <a:solidFill>
            <a:srgbClr val="000000"/>
          </a:solidFill>
        </p:spPr>
        <p:txBody>
          <a:bodyPr wrap="square" lIns="0" tIns="0" rIns="0" bIns="0" rtlCol="0"/>
          <a:lstStyle/>
          <a:p>
            <a:endParaRPr/>
          </a:p>
        </p:txBody>
      </p:sp>
      <p:sp>
        <p:nvSpPr>
          <p:cNvPr id="6" name="object 6"/>
          <p:cNvSpPr/>
          <p:nvPr/>
        </p:nvSpPr>
        <p:spPr>
          <a:xfrm>
            <a:off x="1283513" y="5586940"/>
            <a:ext cx="2453640" cy="0"/>
          </a:xfrm>
          <a:custGeom>
            <a:avLst/>
            <a:gdLst/>
            <a:ahLst/>
            <a:cxnLst/>
            <a:rect l="l" t="t" r="r" b="b"/>
            <a:pathLst>
              <a:path w="2453640">
                <a:moveTo>
                  <a:pt x="0" y="0"/>
                </a:moveTo>
                <a:lnTo>
                  <a:pt x="2453481" y="0"/>
                </a:lnTo>
              </a:path>
            </a:pathLst>
          </a:custGeom>
          <a:ln w="9524">
            <a:solidFill>
              <a:srgbClr val="000000"/>
            </a:solidFill>
          </a:ln>
        </p:spPr>
        <p:txBody>
          <a:bodyPr wrap="square" lIns="0" tIns="0" rIns="0" bIns="0" rtlCol="0"/>
          <a:lstStyle/>
          <a:p>
            <a:endParaRPr/>
          </a:p>
        </p:txBody>
      </p:sp>
      <p:sp>
        <p:nvSpPr>
          <p:cNvPr id="7" name="object 7"/>
          <p:cNvSpPr/>
          <p:nvPr/>
        </p:nvSpPr>
        <p:spPr>
          <a:xfrm>
            <a:off x="3686195" y="554884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1777879" y="4563489"/>
            <a:ext cx="1620520" cy="684530"/>
          </a:xfrm>
          <a:custGeom>
            <a:avLst/>
            <a:gdLst/>
            <a:ahLst/>
            <a:cxnLst/>
            <a:rect l="l" t="t" r="r" b="b"/>
            <a:pathLst>
              <a:path w="1620520" h="684529">
                <a:moveTo>
                  <a:pt x="0" y="0"/>
                </a:moveTo>
                <a:lnTo>
                  <a:pt x="1620000" y="0"/>
                </a:lnTo>
                <a:lnTo>
                  <a:pt x="1620000" y="684493"/>
                </a:lnTo>
                <a:lnTo>
                  <a:pt x="0" y="684493"/>
                </a:lnTo>
                <a:lnTo>
                  <a:pt x="0" y="0"/>
                </a:lnTo>
                <a:close/>
              </a:path>
            </a:pathLst>
          </a:custGeom>
          <a:solidFill>
            <a:srgbClr val="EBEBEB"/>
          </a:solidFill>
        </p:spPr>
        <p:txBody>
          <a:bodyPr wrap="square" lIns="0" tIns="0" rIns="0" bIns="0" rtlCol="0"/>
          <a:lstStyle/>
          <a:p>
            <a:endParaRPr/>
          </a:p>
        </p:txBody>
      </p:sp>
      <p:sp>
        <p:nvSpPr>
          <p:cNvPr id="9" name="object 9"/>
          <p:cNvSpPr/>
          <p:nvPr/>
        </p:nvSpPr>
        <p:spPr>
          <a:xfrm>
            <a:off x="1777879" y="4563489"/>
            <a:ext cx="1620520" cy="684530"/>
          </a:xfrm>
          <a:custGeom>
            <a:avLst/>
            <a:gdLst/>
            <a:ahLst/>
            <a:cxnLst/>
            <a:rect l="l" t="t" r="r" b="b"/>
            <a:pathLst>
              <a:path w="1620520" h="684529">
                <a:moveTo>
                  <a:pt x="0" y="0"/>
                </a:moveTo>
                <a:lnTo>
                  <a:pt x="1619999" y="0"/>
                </a:lnTo>
                <a:lnTo>
                  <a:pt x="1619999" y="684493"/>
                </a:lnTo>
                <a:lnTo>
                  <a:pt x="0" y="684493"/>
                </a:lnTo>
                <a:lnTo>
                  <a:pt x="0" y="0"/>
                </a:lnTo>
                <a:close/>
              </a:path>
            </a:pathLst>
          </a:custGeom>
          <a:ln w="9524">
            <a:solidFill>
              <a:srgbClr val="000000"/>
            </a:solidFill>
          </a:ln>
        </p:spPr>
        <p:txBody>
          <a:bodyPr wrap="square" lIns="0" tIns="0" rIns="0" bIns="0" rtlCol="0"/>
          <a:lstStyle/>
          <a:p>
            <a:endParaRPr/>
          </a:p>
        </p:txBody>
      </p:sp>
      <p:sp>
        <p:nvSpPr>
          <p:cNvPr id="10" name="object 10"/>
          <p:cNvSpPr/>
          <p:nvPr/>
        </p:nvSpPr>
        <p:spPr>
          <a:xfrm>
            <a:off x="1283513" y="4563489"/>
            <a:ext cx="2500630" cy="0"/>
          </a:xfrm>
          <a:custGeom>
            <a:avLst/>
            <a:gdLst/>
            <a:ahLst/>
            <a:cxnLst/>
            <a:rect l="l" t="t" r="r" b="b"/>
            <a:pathLst>
              <a:path w="2500629">
                <a:moveTo>
                  <a:pt x="0" y="0"/>
                </a:moveTo>
                <a:lnTo>
                  <a:pt x="2500477" y="0"/>
                </a:lnTo>
              </a:path>
            </a:pathLst>
          </a:custGeom>
          <a:ln w="9524">
            <a:solidFill>
              <a:srgbClr val="000000"/>
            </a:solidFill>
          </a:ln>
        </p:spPr>
        <p:txBody>
          <a:bodyPr wrap="square" lIns="0" tIns="0" rIns="0" bIns="0" rtlCol="0"/>
          <a:lstStyle/>
          <a:p>
            <a:endParaRPr/>
          </a:p>
        </p:txBody>
      </p:sp>
      <p:sp>
        <p:nvSpPr>
          <p:cNvPr id="11" name="object 11"/>
          <p:cNvSpPr/>
          <p:nvPr/>
        </p:nvSpPr>
        <p:spPr>
          <a:xfrm>
            <a:off x="1283512" y="5245787"/>
            <a:ext cx="2479675" cy="0"/>
          </a:xfrm>
          <a:custGeom>
            <a:avLst/>
            <a:gdLst/>
            <a:ahLst/>
            <a:cxnLst/>
            <a:rect l="l" t="t" r="r" b="b"/>
            <a:pathLst>
              <a:path w="2479675">
                <a:moveTo>
                  <a:pt x="0" y="0"/>
                </a:moveTo>
                <a:lnTo>
                  <a:pt x="2479095" y="0"/>
                </a:lnTo>
              </a:path>
            </a:pathLst>
          </a:custGeom>
          <a:ln w="9524">
            <a:solidFill>
              <a:srgbClr val="000000"/>
            </a:solidFill>
          </a:ln>
        </p:spPr>
        <p:txBody>
          <a:bodyPr wrap="square" lIns="0" tIns="0" rIns="0" bIns="0" rtlCol="0"/>
          <a:lstStyle/>
          <a:p>
            <a:endParaRPr/>
          </a:p>
        </p:txBody>
      </p:sp>
      <p:sp>
        <p:nvSpPr>
          <p:cNvPr id="12" name="object 12"/>
          <p:cNvSpPr/>
          <p:nvPr/>
        </p:nvSpPr>
        <p:spPr>
          <a:xfrm>
            <a:off x="1777879" y="4278283"/>
            <a:ext cx="0" cy="1308735"/>
          </a:xfrm>
          <a:custGeom>
            <a:avLst/>
            <a:gdLst/>
            <a:ahLst/>
            <a:cxnLst/>
            <a:rect l="l" t="t" r="r" b="b"/>
            <a:pathLst>
              <a:path h="1308735">
                <a:moveTo>
                  <a:pt x="0" y="0"/>
                </a:moveTo>
                <a:lnTo>
                  <a:pt x="0" y="1308656"/>
                </a:lnTo>
              </a:path>
            </a:pathLst>
          </a:custGeom>
          <a:ln w="9524">
            <a:solidFill>
              <a:srgbClr val="000000"/>
            </a:solidFill>
          </a:ln>
        </p:spPr>
        <p:txBody>
          <a:bodyPr wrap="square" lIns="0" tIns="0" rIns="0" bIns="0" rtlCol="0"/>
          <a:lstStyle/>
          <a:p>
            <a:endParaRPr/>
          </a:p>
        </p:txBody>
      </p:sp>
      <p:sp>
        <p:nvSpPr>
          <p:cNvPr id="13" name="object 13"/>
          <p:cNvSpPr/>
          <p:nvPr/>
        </p:nvSpPr>
        <p:spPr>
          <a:xfrm>
            <a:off x="3400163" y="4278283"/>
            <a:ext cx="0" cy="1308735"/>
          </a:xfrm>
          <a:custGeom>
            <a:avLst/>
            <a:gdLst/>
            <a:ahLst/>
            <a:cxnLst/>
            <a:rect l="l" t="t" r="r" b="b"/>
            <a:pathLst>
              <a:path h="1308735">
                <a:moveTo>
                  <a:pt x="0" y="0"/>
                </a:moveTo>
                <a:lnTo>
                  <a:pt x="1" y="1308656"/>
                </a:lnTo>
              </a:path>
            </a:pathLst>
          </a:custGeom>
          <a:ln w="9524">
            <a:solidFill>
              <a:srgbClr val="000000"/>
            </a:solidFill>
          </a:ln>
        </p:spPr>
        <p:txBody>
          <a:bodyPr wrap="square" lIns="0" tIns="0" rIns="0" bIns="0" rtlCol="0"/>
          <a:lstStyle/>
          <a:p>
            <a:endParaRPr/>
          </a:p>
        </p:txBody>
      </p:sp>
      <p:sp>
        <p:nvSpPr>
          <p:cNvPr id="14" name="object 14"/>
          <p:cNvSpPr txBox="1">
            <a:spLocks noGrp="1"/>
          </p:cNvSpPr>
          <p:nvPr>
            <p:ph type="body" idx="1"/>
          </p:nvPr>
        </p:nvSpPr>
        <p:spPr>
          <a:xfrm>
            <a:off x="838199" y="1825625"/>
            <a:ext cx="10776281" cy="2452466"/>
          </a:xfrm>
          <a:prstGeom prst="rect">
            <a:avLst/>
          </a:prstGeom>
        </p:spPr>
        <p:txBody>
          <a:bodyPr vert="horz" wrap="square" lIns="0" tIns="12700" rIns="0" bIns="0" rtlCol="0">
            <a:spAutoFit/>
          </a:bodyPr>
          <a:lstStyle/>
          <a:p>
            <a:pPr marL="21590">
              <a:lnSpc>
                <a:spcPct val="100000"/>
              </a:lnSpc>
              <a:spcBef>
                <a:spcPts val="100"/>
              </a:spcBef>
            </a:pPr>
            <a:r>
              <a:rPr sz="2000" dirty="0">
                <a:solidFill>
                  <a:srgbClr val="000000"/>
                </a:solidFill>
              </a:rPr>
              <a:t>基本思想：</a:t>
            </a:r>
            <a:r>
              <a:rPr sz="2000" dirty="0"/>
              <a:t>故障往往出现在程序输入变量的边界值附近</a:t>
            </a:r>
          </a:p>
          <a:p>
            <a:pPr marL="275590" marR="5080" indent="-254000">
              <a:lnSpc>
                <a:spcPct val="121000"/>
              </a:lnSpc>
              <a:spcBef>
                <a:spcPts val="1100"/>
              </a:spcBef>
              <a:buFont typeface="Arial" panose="020B0604020202020204"/>
              <a:buChar char="•"/>
              <a:tabLst>
                <a:tab pos="287655" algn="l"/>
                <a:tab pos="288290" algn="l"/>
              </a:tabLst>
            </a:pPr>
            <a:r>
              <a:rPr sz="2000" spc="40" dirty="0">
                <a:solidFill>
                  <a:srgbClr val="000000"/>
                </a:solidFill>
              </a:rPr>
              <a:t>边界值分析法是基于可靠性理论中称为“</a:t>
            </a:r>
            <a:r>
              <a:rPr sz="2000" spc="40" dirty="0">
                <a:solidFill>
                  <a:srgbClr val="0033CC"/>
                </a:solidFill>
              </a:rPr>
              <a:t>单故障</a:t>
            </a:r>
            <a:r>
              <a:rPr sz="2000" spc="40" dirty="0">
                <a:solidFill>
                  <a:srgbClr val="000000"/>
                </a:solidFill>
              </a:rPr>
              <a:t>”的假设，即有两个或两个以上 </a:t>
            </a:r>
            <a:r>
              <a:rPr sz="2000" dirty="0">
                <a:solidFill>
                  <a:srgbClr val="000000"/>
                </a:solidFill>
              </a:rPr>
              <a:t>故障同时出现而导致失效的情况很少。</a:t>
            </a:r>
          </a:p>
          <a:p>
            <a:pPr marL="275590" marR="5080" indent="-254000">
              <a:lnSpc>
                <a:spcPct val="117000"/>
              </a:lnSpc>
              <a:spcBef>
                <a:spcPts val="700"/>
              </a:spcBef>
              <a:buFont typeface="Arial" panose="020B0604020202020204"/>
              <a:buChar char="•"/>
              <a:tabLst>
                <a:tab pos="287655" algn="l"/>
                <a:tab pos="288290" algn="l"/>
              </a:tabLst>
            </a:pPr>
            <a:r>
              <a:rPr sz="2000" spc="40" dirty="0">
                <a:solidFill>
                  <a:srgbClr val="000000"/>
                </a:solidFill>
              </a:rPr>
              <a:t>对程序中的每个变量重复：每次保留一个变量，让其余的变量取正常值，被保留 </a:t>
            </a:r>
            <a:r>
              <a:rPr sz="2000" dirty="0">
                <a:solidFill>
                  <a:srgbClr val="000000"/>
                </a:solidFill>
              </a:rPr>
              <a:t>的变量依次取</a:t>
            </a:r>
            <a:r>
              <a:rPr sz="2000" spc="-5" dirty="0">
                <a:solidFill>
                  <a:srgbClr val="000000"/>
                </a:solidFill>
              </a:rPr>
              <a:t> </a:t>
            </a:r>
            <a:r>
              <a:rPr sz="2000" spc="-5" dirty="0">
                <a:solidFill>
                  <a:srgbClr val="000000"/>
                </a:solidFill>
                <a:latin typeface="Arial" panose="020B0604020202020204"/>
                <a:cs typeface="Arial" panose="020B0604020202020204"/>
              </a:rPr>
              <a:t>min</a:t>
            </a:r>
            <a:r>
              <a:rPr sz="2000" dirty="0">
                <a:solidFill>
                  <a:srgbClr val="000000"/>
                </a:solidFill>
              </a:rPr>
              <a:t>、</a:t>
            </a:r>
            <a:r>
              <a:rPr sz="2000" spc="-5" dirty="0">
                <a:solidFill>
                  <a:srgbClr val="000000"/>
                </a:solidFill>
                <a:latin typeface="Arial" panose="020B0604020202020204"/>
                <a:cs typeface="Arial" panose="020B0604020202020204"/>
              </a:rPr>
              <a:t>min+</a:t>
            </a:r>
            <a:r>
              <a:rPr sz="2000" dirty="0">
                <a:solidFill>
                  <a:srgbClr val="000000"/>
                </a:solidFill>
              </a:rPr>
              <a:t>、</a:t>
            </a:r>
            <a:r>
              <a:rPr sz="2000" spc="-5" dirty="0">
                <a:solidFill>
                  <a:srgbClr val="000000"/>
                </a:solidFill>
                <a:latin typeface="Arial" panose="020B0604020202020204"/>
                <a:cs typeface="Arial" panose="020B0604020202020204"/>
              </a:rPr>
              <a:t>nom</a:t>
            </a:r>
            <a:r>
              <a:rPr sz="2000" dirty="0">
                <a:solidFill>
                  <a:srgbClr val="000000"/>
                </a:solidFill>
              </a:rPr>
              <a:t>、</a:t>
            </a:r>
            <a:r>
              <a:rPr sz="2000" spc="-5" dirty="0">
                <a:solidFill>
                  <a:srgbClr val="000000"/>
                </a:solidFill>
                <a:latin typeface="Arial" panose="020B0604020202020204"/>
                <a:cs typeface="Arial" panose="020B0604020202020204"/>
              </a:rPr>
              <a:t>max-</a:t>
            </a:r>
            <a:r>
              <a:rPr sz="2000" dirty="0">
                <a:solidFill>
                  <a:srgbClr val="000000"/>
                </a:solidFill>
                <a:latin typeface="Arial" panose="020B0604020202020204"/>
                <a:cs typeface="Arial" panose="020B0604020202020204"/>
              </a:rPr>
              <a:t> </a:t>
            </a:r>
            <a:r>
              <a:rPr sz="2000" dirty="0">
                <a:solidFill>
                  <a:srgbClr val="000000"/>
                </a:solidFill>
              </a:rPr>
              <a:t>和 </a:t>
            </a:r>
            <a:r>
              <a:rPr sz="2000" spc="-5" dirty="0">
                <a:solidFill>
                  <a:srgbClr val="000000"/>
                </a:solidFill>
                <a:latin typeface="Arial" panose="020B0604020202020204"/>
                <a:cs typeface="Arial" panose="020B0604020202020204"/>
              </a:rPr>
              <a:t>max</a:t>
            </a:r>
            <a:endParaRPr lang="en-US" sz="2000" dirty="0">
              <a:solidFill>
                <a:srgbClr val="000000"/>
              </a:solidFill>
            </a:endParaRPr>
          </a:p>
          <a:p>
            <a:pPr marL="340995" indent="0">
              <a:lnSpc>
                <a:spcPct val="100000"/>
              </a:lnSpc>
              <a:spcBef>
                <a:spcPts val="995"/>
              </a:spcBef>
              <a:buNone/>
            </a:pPr>
            <a:r>
              <a:rPr lang="en-US" sz="2000" dirty="0">
                <a:solidFill>
                  <a:srgbClr val="000000"/>
                </a:solidFill>
                <a:latin typeface="Arial" panose="020B0604020202020204"/>
                <a:cs typeface="Arial" panose="020B0604020202020204"/>
              </a:rPr>
              <a:t>x2</a:t>
            </a:r>
            <a:endParaRPr lang="en-US" sz="2000" dirty="0">
              <a:latin typeface="Arial" panose="020B0604020202020204"/>
              <a:cs typeface="Arial" panose="020B0604020202020204"/>
            </a:endParaRPr>
          </a:p>
        </p:txBody>
      </p:sp>
      <p:sp>
        <p:nvSpPr>
          <p:cNvPr id="15" name="object 15"/>
          <p:cNvSpPr txBox="1"/>
          <p:nvPr/>
        </p:nvSpPr>
        <p:spPr>
          <a:xfrm>
            <a:off x="1744475" y="5574984"/>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a</a:t>
            </a:r>
            <a:endParaRPr sz="1800">
              <a:latin typeface="Arial" panose="020B0604020202020204"/>
              <a:cs typeface="Arial" panose="020B0604020202020204"/>
            </a:endParaRPr>
          </a:p>
        </p:txBody>
      </p:sp>
      <p:sp>
        <p:nvSpPr>
          <p:cNvPr id="16" name="object 16"/>
          <p:cNvSpPr txBox="1"/>
          <p:nvPr/>
        </p:nvSpPr>
        <p:spPr>
          <a:xfrm>
            <a:off x="3315891" y="5581088"/>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b</a:t>
            </a:r>
            <a:endParaRPr sz="1800">
              <a:latin typeface="Arial" panose="020B0604020202020204"/>
              <a:cs typeface="Arial" panose="020B0604020202020204"/>
            </a:endParaRPr>
          </a:p>
        </p:txBody>
      </p:sp>
      <p:sp>
        <p:nvSpPr>
          <p:cNvPr id="17" name="object 17"/>
          <p:cNvSpPr txBox="1"/>
          <p:nvPr/>
        </p:nvSpPr>
        <p:spPr>
          <a:xfrm>
            <a:off x="1115767" y="4447323"/>
            <a:ext cx="1397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c</a:t>
            </a:r>
            <a:endParaRPr sz="1800">
              <a:latin typeface="Arial" panose="020B0604020202020204"/>
              <a:cs typeface="Arial" panose="020B0604020202020204"/>
            </a:endParaRPr>
          </a:p>
        </p:txBody>
      </p:sp>
      <p:sp>
        <p:nvSpPr>
          <p:cNvPr id="18" name="object 18"/>
          <p:cNvSpPr txBox="1"/>
          <p:nvPr/>
        </p:nvSpPr>
        <p:spPr>
          <a:xfrm>
            <a:off x="1101750" y="5129624"/>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d</a:t>
            </a:r>
            <a:endParaRPr sz="1800">
              <a:latin typeface="Arial" panose="020B0604020202020204"/>
              <a:cs typeface="Arial" panose="020B0604020202020204"/>
            </a:endParaRPr>
          </a:p>
        </p:txBody>
      </p:sp>
      <p:sp>
        <p:nvSpPr>
          <p:cNvPr id="19" name="object 19"/>
          <p:cNvSpPr/>
          <p:nvPr/>
        </p:nvSpPr>
        <p:spPr>
          <a:xfrm>
            <a:off x="3192539" y="4846501"/>
            <a:ext cx="105410" cy="105410"/>
          </a:xfrm>
          <a:custGeom>
            <a:avLst/>
            <a:gdLst/>
            <a:ahLst/>
            <a:cxnLst/>
            <a:rect l="l" t="t" r="r" b="b"/>
            <a:pathLst>
              <a:path w="105410" h="105410">
                <a:moveTo>
                  <a:pt x="52567" y="0"/>
                </a:moveTo>
                <a:lnTo>
                  <a:pt x="32106" y="4137"/>
                </a:lnTo>
                <a:lnTo>
                  <a:pt x="15396" y="15421"/>
                </a:lnTo>
                <a:lnTo>
                  <a:pt x="4131" y="32158"/>
                </a:lnTo>
                <a:lnTo>
                  <a:pt x="0" y="52654"/>
                </a:lnTo>
                <a:lnTo>
                  <a:pt x="4131" y="73149"/>
                </a:lnTo>
                <a:lnTo>
                  <a:pt x="15396" y="89885"/>
                </a:lnTo>
                <a:lnTo>
                  <a:pt x="32106" y="101169"/>
                </a:lnTo>
                <a:lnTo>
                  <a:pt x="52567" y="105307"/>
                </a:lnTo>
                <a:lnTo>
                  <a:pt x="73029" y="101169"/>
                </a:lnTo>
                <a:lnTo>
                  <a:pt x="89738" y="89885"/>
                </a:lnTo>
                <a:lnTo>
                  <a:pt x="101004" y="73149"/>
                </a:lnTo>
                <a:lnTo>
                  <a:pt x="105135" y="52654"/>
                </a:lnTo>
                <a:lnTo>
                  <a:pt x="101004" y="32158"/>
                </a:lnTo>
                <a:lnTo>
                  <a:pt x="89738" y="15421"/>
                </a:lnTo>
                <a:lnTo>
                  <a:pt x="73029" y="4137"/>
                </a:lnTo>
                <a:lnTo>
                  <a:pt x="52567" y="0"/>
                </a:lnTo>
                <a:close/>
              </a:path>
            </a:pathLst>
          </a:custGeom>
          <a:solidFill>
            <a:srgbClr val="000000"/>
          </a:solidFill>
        </p:spPr>
        <p:txBody>
          <a:bodyPr wrap="square" lIns="0" tIns="0" rIns="0" bIns="0" rtlCol="0"/>
          <a:lstStyle/>
          <a:p>
            <a:endParaRPr/>
          </a:p>
        </p:txBody>
      </p:sp>
      <p:sp>
        <p:nvSpPr>
          <p:cNvPr id="20" name="object 20"/>
          <p:cNvSpPr/>
          <p:nvPr/>
        </p:nvSpPr>
        <p:spPr>
          <a:xfrm>
            <a:off x="3192539" y="4846501"/>
            <a:ext cx="105410" cy="105410"/>
          </a:xfrm>
          <a:custGeom>
            <a:avLst/>
            <a:gdLst/>
            <a:ahLst/>
            <a:cxnLst/>
            <a:rect l="l" t="t" r="r" b="b"/>
            <a:pathLst>
              <a:path w="105410" h="105410">
                <a:moveTo>
                  <a:pt x="0" y="52653"/>
                </a:moveTo>
                <a:lnTo>
                  <a:pt x="4131" y="32158"/>
                </a:lnTo>
                <a:lnTo>
                  <a:pt x="15396" y="15421"/>
                </a:lnTo>
                <a:lnTo>
                  <a:pt x="32106" y="4137"/>
                </a:lnTo>
                <a:lnTo>
                  <a:pt x="52568" y="0"/>
                </a:lnTo>
                <a:lnTo>
                  <a:pt x="73029" y="4137"/>
                </a:lnTo>
                <a:lnTo>
                  <a:pt x="89739" y="15421"/>
                </a:lnTo>
                <a:lnTo>
                  <a:pt x="101004" y="32158"/>
                </a:lnTo>
                <a:lnTo>
                  <a:pt x="105135" y="52653"/>
                </a:lnTo>
                <a:lnTo>
                  <a:pt x="101004" y="73149"/>
                </a:lnTo>
                <a:lnTo>
                  <a:pt x="89739" y="89885"/>
                </a:lnTo>
                <a:lnTo>
                  <a:pt x="73029" y="101170"/>
                </a:lnTo>
                <a:lnTo>
                  <a:pt x="52568"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21" name="object 21"/>
          <p:cNvSpPr/>
          <p:nvPr/>
        </p:nvSpPr>
        <p:spPr>
          <a:xfrm>
            <a:off x="2329168" y="5026026"/>
            <a:ext cx="115829" cy="225623"/>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2565139" y="4829671"/>
            <a:ext cx="114660" cy="114832"/>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328090" y="4566780"/>
            <a:ext cx="105410" cy="105410"/>
          </a:xfrm>
          <a:custGeom>
            <a:avLst/>
            <a:gdLst/>
            <a:ahLst/>
            <a:cxnLst/>
            <a:rect l="l" t="t" r="r" b="b"/>
            <a:pathLst>
              <a:path w="105410" h="105410">
                <a:moveTo>
                  <a:pt x="52567" y="0"/>
                </a:moveTo>
                <a:lnTo>
                  <a:pt x="32106" y="4137"/>
                </a:lnTo>
                <a:lnTo>
                  <a:pt x="15396" y="15421"/>
                </a:lnTo>
                <a:lnTo>
                  <a:pt x="4131" y="32158"/>
                </a:lnTo>
                <a:lnTo>
                  <a:pt x="0" y="52654"/>
                </a:lnTo>
                <a:lnTo>
                  <a:pt x="4131" y="73149"/>
                </a:lnTo>
                <a:lnTo>
                  <a:pt x="15396" y="89886"/>
                </a:lnTo>
                <a:lnTo>
                  <a:pt x="32106" y="101170"/>
                </a:lnTo>
                <a:lnTo>
                  <a:pt x="52567" y="105308"/>
                </a:lnTo>
                <a:lnTo>
                  <a:pt x="73029" y="101170"/>
                </a:lnTo>
                <a:lnTo>
                  <a:pt x="89738" y="89886"/>
                </a:lnTo>
                <a:lnTo>
                  <a:pt x="101004" y="73149"/>
                </a:lnTo>
                <a:lnTo>
                  <a:pt x="105135" y="52654"/>
                </a:lnTo>
                <a:lnTo>
                  <a:pt x="101004" y="32158"/>
                </a:lnTo>
                <a:lnTo>
                  <a:pt x="89738" y="15421"/>
                </a:lnTo>
                <a:lnTo>
                  <a:pt x="73029" y="4137"/>
                </a:lnTo>
                <a:lnTo>
                  <a:pt x="52567" y="0"/>
                </a:lnTo>
                <a:close/>
              </a:path>
            </a:pathLst>
          </a:custGeom>
          <a:solidFill>
            <a:srgbClr val="000000"/>
          </a:solidFill>
        </p:spPr>
        <p:txBody>
          <a:bodyPr wrap="square" lIns="0" tIns="0" rIns="0" bIns="0" rtlCol="0"/>
          <a:lstStyle/>
          <a:p>
            <a:endParaRPr/>
          </a:p>
        </p:txBody>
      </p:sp>
      <p:sp>
        <p:nvSpPr>
          <p:cNvPr id="24" name="object 24"/>
          <p:cNvSpPr/>
          <p:nvPr/>
        </p:nvSpPr>
        <p:spPr>
          <a:xfrm>
            <a:off x="2328090" y="4566780"/>
            <a:ext cx="105410" cy="105410"/>
          </a:xfrm>
          <a:custGeom>
            <a:avLst/>
            <a:gdLst/>
            <a:ahLst/>
            <a:cxnLst/>
            <a:rect l="l" t="t" r="r" b="b"/>
            <a:pathLst>
              <a:path w="105410" h="105410">
                <a:moveTo>
                  <a:pt x="0" y="52653"/>
                </a:moveTo>
                <a:lnTo>
                  <a:pt x="4131" y="32158"/>
                </a:lnTo>
                <a:lnTo>
                  <a:pt x="15396" y="15421"/>
                </a:lnTo>
                <a:lnTo>
                  <a:pt x="32106" y="4137"/>
                </a:lnTo>
                <a:lnTo>
                  <a:pt x="52567" y="0"/>
                </a:lnTo>
                <a:lnTo>
                  <a:pt x="73029" y="4137"/>
                </a:lnTo>
                <a:lnTo>
                  <a:pt x="89739" y="15421"/>
                </a:lnTo>
                <a:lnTo>
                  <a:pt x="101004" y="32158"/>
                </a:lnTo>
                <a:lnTo>
                  <a:pt x="105136" y="52653"/>
                </a:lnTo>
                <a:lnTo>
                  <a:pt x="101004" y="73149"/>
                </a:lnTo>
                <a:lnTo>
                  <a:pt x="89739" y="89885"/>
                </a:lnTo>
                <a:lnTo>
                  <a:pt x="73029" y="101170"/>
                </a:lnTo>
                <a:lnTo>
                  <a:pt x="52567"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25" name="object 25"/>
          <p:cNvSpPr/>
          <p:nvPr/>
        </p:nvSpPr>
        <p:spPr>
          <a:xfrm>
            <a:off x="1776621" y="4854902"/>
            <a:ext cx="227974" cy="115928"/>
          </a:xfrm>
          <a:prstGeom prst="rect">
            <a:avLst/>
          </a:prstGeom>
          <a:blipFill>
            <a:blip r:embed="rId5" cstate="print"/>
            <a:stretch>
              <a:fillRect/>
            </a:stretch>
          </a:blipFill>
        </p:spPr>
        <p:txBody>
          <a:bodyPr wrap="square" lIns="0" tIns="0" rIns="0" bIns="0" rtlCol="0"/>
          <a:lstStyle/>
          <a:p>
            <a:endParaRPr/>
          </a:p>
        </p:txBody>
      </p:sp>
      <p:sp>
        <p:nvSpPr>
          <p:cNvPr id="26" name="object 26"/>
          <p:cNvSpPr/>
          <p:nvPr/>
        </p:nvSpPr>
        <p:spPr>
          <a:xfrm>
            <a:off x="2328090" y="4683056"/>
            <a:ext cx="105410" cy="105410"/>
          </a:xfrm>
          <a:custGeom>
            <a:avLst/>
            <a:gdLst/>
            <a:ahLst/>
            <a:cxnLst/>
            <a:rect l="l" t="t" r="r" b="b"/>
            <a:pathLst>
              <a:path w="105410" h="105410">
                <a:moveTo>
                  <a:pt x="52567" y="0"/>
                </a:moveTo>
                <a:lnTo>
                  <a:pt x="32106" y="4137"/>
                </a:lnTo>
                <a:lnTo>
                  <a:pt x="15396" y="15421"/>
                </a:lnTo>
                <a:lnTo>
                  <a:pt x="4131" y="32158"/>
                </a:lnTo>
                <a:lnTo>
                  <a:pt x="0" y="52654"/>
                </a:lnTo>
                <a:lnTo>
                  <a:pt x="4131" y="73149"/>
                </a:lnTo>
                <a:lnTo>
                  <a:pt x="15396" y="89885"/>
                </a:lnTo>
                <a:lnTo>
                  <a:pt x="32106" y="101170"/>
                </a:lnTo>
                <a:lnTo>
                  <a:pt x="52567" y="105308"/>
                </a:lnTo>
                <a:lnTo>
                  <a:pt x="73029" y="101170"/>
                </a:lnTo>
                <a:lnTo>
                  <a:pt x="89738" y="89885"/>
                </a:lnTo>
                <a:lnTo>
                  <a:pt x="101004" y="73149"/>
                </a:lnTo>
                <a:lnTo>
                  <a:pt x="105135" y="52654"/>
                </a:lnTo>
                <a:lnTo>
                  <a:pt x="101004" y="32158"/>
                </a:lnTo>
                <a:lnTo>
                  <a:pt x="89738" y="15421"/>
                </a:lnTo>
                <a:lnTo>
                  <a:pt x="73029" y="4137"/>
                </a:lnTo>
                <a:lnTo>
                  <a:pt x="52567" y="0"/>
                </a:lnTo>
                <a:close/>
              </a:path>
            </a:pathLst>
          </a:custGeom>
          <a:solidFill>
            <a:srgbClr val="000000"/>
          </a:solidFill>
        </p:spPr>
        <p:txBody>
          <a:bodyPr wrap="square" lIns="0" tIns="0" rIns="0" bIns="0" rtlCol="0"/>
          <a:lstStyle/>
          <a:p>
            <a:endParaRPr/>
          </a:p>
        </p:txBody>
      </p:sp>
      <p:sp>
        <p:nvSpPr>
          <p:cNvPr id="27" name="object 27"/>
          <p:cNvSpPr/>
          <p:nvPr/>
        </p:nvSpPr>
        <p:spPr>
          <a:xfrm>
            <a:off x="2328090" y="4683056"/>
            <a:ext cx="105410" cy="105410"/>
          </a:xfrm>
          <a:custGeom>
            <a:avLst/>
            <a:gdLst/>
            <a:ahLst/>
            <a:cxnLst/>
            <a:rect l="l" t="t" r="r" b="b"/>
            <a:pathLst>
              <a:path w="105410" h="105410">
                <a:moveTo>
                  <a:pt x="0" y="52653"/>
                </a:moveTo>
                <a:lnTo>
                  <a:pt x="4131" y="32158"/>
                </a:lnTo>
                <a:lnTo>
                  <a:pt x="15396" y="15421"/>
                </a:lnTo>
                <a:lnTo>
                  <a:pt x="32106" y="4137"/>
                </a:lnTo>
                <a:lnTo>
                  <a:pt x="52567" y="0"/>
                </a:lnTo>
                <a:lnTo>
                  <a:pt x="73029" y="4137"/>
                </a:lnTo>
                <a:lnTo>
                  <a:pt x="89739" y="15421"/>
                </a:lnTo>
                <a:lnTo>
                  <a:pt x="101004" y="32158"/>
                </a:lnTo>
                <a:lnTo>
                  <a:pt x="105136" y="52653"/>
                </a:lnTo>
                <a:lnTo>
                  <a:pt x="101004" y="73149"/>
                </a:lnTo>
                <a:lnTo>
                  <a:pt x="89739" y="89885"/>
                </a:lnTo>
                <a:lnTo>
                  <a:pt x="73029" y="101170"/>
                </a:lnTo>
                <a:lnTo>
                  <a:pt x="52567"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28" name="object 28"/>
          <p:cNvSpPr/>
          <p:nvPr/>
        </p:nvSpPr>
        <p:spPr>
          <a:xfrm>
            <a:off x="3307020" y="4847598"/>
            <a:ext cx="105410" cy="105410"/>
          </a:xfrm>
          <a:custGeom>
            <a:avLst/>
            <a:gdLst/>
            <a:ahLst/>
            <a:cxnLst/>
            <a:rect l="l" t="t" r="r" b="b"/>
            <a:pathLst>
              <a:path w="105410" h="105410">
                <a:moveTo>
                  <a:pt x="52569" y="0"/>
                </a:moveTo>
                <a:lnTo>
                  <a:pt x="32106" y="4137"/>
                </a:lnTo>
                <a:lnTo>
                  <a:pt x="15397" y="15421"/>
                </a:lnTo>
                <a:lnTo>
                  <a:pt x="4131" y="32158"/>
                </a:lnTo>
                <a:lnTo>
                  <a:pt x="0" y="52652"/>
                </a:lnTo>
                <a:lnTo>
                  <a:pt x="4131" y="73148"/>
                </a:lnTo>
                <a:lnTo>
                  <a:pt x="15397" y="89885"/>
                </a:lnTo>
                <a:lnTo>
                  <a:pt x="32106" y="101169"/>
                </a:lnTo>
                <a:lnTo>
                  <a:pt x="52569" y="105307"/>
                </a:lnTo>
                <a:lnTo>
                  <a:pt x="73030" y="101169"/>
                </a:lnTo>
                <a:lnTo>
                  <a:pt x="89740" y="89885"/>
                </a:lnTo>
                <a:lnTo>
                  <a:pt x="101005" y="73148"/>
                </a:lnTo>
                <a:lnTo>
                  <a:pt x="105136" y="52652"/>
                </a:lnTo>
                <a:lnTo>
                  <a:pt x="101005" y="32158"/>
                </a:lnTo>
                <a:lnTo>
                  <a:pt x="89740" y="15421"/>
                </a:lnTo>
                <a:lnTo>
                  <a:pt x="73030" y="4137"/>
                </a:lnTo>
                <a:lnTo>
                  <a:pt x="52569" y="0"/>
                </a:lnTo>
                <a:close/>
              </a:path>
            </a:pathLst>
          </a:custGeom>
          <a:solidFill>
            <a:srgbClr val="000000"/>
          </a:solidFill>
        </p:spPr>
        <p:txBody>
          <a:bodyPr wrap="square" lIns="0" tIns="0" rIns="0" bIns="0" rtlCol="0"/>
          <a:lstStyle/>
          <a:p>
            <a:endParaRPr/>
          </a:p>
        </p:txBody>
      </p:sp>
      <p:sp>
        <p:nvSpPr>
          <p:cNvPr id="29" name="object 29"/>
          <p:cNvSpPr/>
          <p:nvPr/>
        </p:nvSpPr>
        <p:spPr>
          <a:xfrm>
            <a:off x="3307020" y="4847598"/>
            <a:ext cx="105410" cy="105410"/>
          </a:xfrm>
          <a:custGeom>
            <a:avLst/>
            <a:gdLst/>
            <a:ahLst/>
            <a:cxnLst/>
            <a:rect l="l" t="t" r="r" b="b"/>
            <a:pathLst>
              <a:path w="105410" h="105410">
                <a:moveTo>
                  <a:pt x="0" y="52653"/>
                </a:moveTo>
                <a:lnTo>
                  <a:pt x="4131" y="32158"/>
                </a:lnTo>
                <a:lnTo>
                  <a:pt x="15396" y="15421"/>
                </a:lnTo>
                <a:lnTo>
                  <a:pt x="32106" y="4137"/>
                </a:lnTo>
                <a:lnTo>
                  <a:pt x="52568" y="0"/>
                </a:lnTo>
                <a:lnTo>
                  <a:pt x="73029" y="4137"/>
                </a:lnTo>
                <a:lnTo>
                  <a:pt x="89739" y="15421"/>
                </a:lnTo>
                <a:lnTo>
                  <a:pt x="101004" y="32158"/>
                </a:lnTo>
                <a:lnTo>
                  <a:pt x="105135" y="52653"/>
                </a:lnTo>
                <a:lnTo>
                  <a:pt x="101004" y="73149"/>
                </a:lnTo>
                <a:lnTo>
                  <a:pt x="89739" y="89885"/>
                </a:lnTo>
                <a:lnTo>
                  <a:pt x="73029" y="101170"/>
                </a:lnTo>
                <a:lnTo>
                  <a:pt x="52568"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30" name="object 30"/>
          <p:cNvSpPr txBox="1"/>
          <p:nvPr/>
        </p:nvSpPr>
        <p:spPr>
          <a:xfrm>
            <a:off x="4851285" y="4278091"/>
            <a:ext cx="1751964" cy="1168400"/>
          </a:xfrm>
          <a:prstGeom prst="rect">
            <a:avLst/>
          </a:prstGeom>
        </p:spPr>
        <p:txBody>
          <a:bodyPr vert="horz" wrap="square" lIns="0" tIns="88900" rIns="0" bIns="0" rtlCol="0">
            <a:spAutoFit/>
          </a:bodyPr>
          <a:lstStyle/>
          <a:p>
            <a:pPr marL="38100">
              <a:lnSpc>
                <a:spcPct val="100000"/>
              </a:lnSpc>
              <a:spcBef>
                <a:spcPts val="7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 </a:t>
            </a:r>
            <a:r>
              <a:rPr sz="2000" spc="10" dirty="0">
                <a:highlight>
                  <a:srgbClr val="FFFF00"/>
                </a:highlight>
                <a:latin typeface="Arial" panose="020B0604020202020204"/>
                <a:cs typeface="Arial" panose="020B0604020202020204"/>
              </a:rPr>
              <a:t>x2</a:t>
            </a:r>
            <a:r>
              <a:rPr sz="1950" spc="15" baseline="-21000" dirty="0">
                <a:highlight>
                  <a:srgbClr val="FFFF00"/>
                </a:highlight>
                <a:latin typeface="Arial" panose="020B0604020202020204"/>
                <a:cs typeface="Arial" panose="020B0604020202020204"/>
              </a:rPr>
              <a:t>min</a:t>
            </a:r>
            <a:r>
              <a:rPr sz="1950" spc="427" baseline="-21000" dirty="0">
                <a:highlight>
                  <a:srgbClr val="FFFF00"/>
                </a:highlight>
                <a:latin typeface="Arial" panose="020B0604020202020204"/>
                <a:cs typeface="Arial" panose="020B0604020202020204"/>
              </a:rPr>
              <a:t> </a:t>
            </a:r>
            <a:r>
              <a:rPr sz="2000" dirty="0">
                <a:highlight>
                  <a:srgbClr val="FFFF00"/>
                </a:highlight>
                <a:latin typeface="Arial" panose="020B0604020202020204"/>
                <a:cs typeface="Arial" panose="020B0604020202020204"/>
              </a:rPr>
              <a:t>&gt;</a:t>
            </a:r>
          </a:p>
          <a:p>
            <a:pPr marL="38100">
              <a:lnSpc>
                <a:spcPct val="100000"/>
              </a:lnSpc>
              <a:spcBef>
                <a:spcPts val="6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 </a:t>
            </a:r>
            <a:r>
              <a:rPr sz="2000" spc="10" dirty="0">
                <a:highlight>
                  <a:srgbClr val="FFFF00"/>
                </a:highlight>
                <a:latin typeface="Arial" panose="020B0604020202020204"/>
                <a:cs typeface="Arial" panose="020B0604020202020204"/>
              </a:rPr>
              <a:t>x2</a:t>
            </a:r>
            <a:r>
              <a:rPr sz="1950" spc="15" baseline="-21000" dirty="0">
                <a:highlight>
                  <a:srgbClr val="FFFF00"/>
                </a:highlight>
                <a:latin typeface="Arial" panose="020B0604020202020204"/>
                <a:cs typeface="Arial" panose="020B0604020202020204"/>
              </a:rPr>
              <a:t>max</a:t>
            </a:r>
            <a:r>
              <a:rPr sz="1950" spc="-112" baseline="-21000" dirty="0">
                <a:highlight>
                  <a:srgbClr val="FFFF00"/>
                </a:highlight>
                <a:latin typeface="Arial" panose="020B0604020202020204"/>
                <a:cs typeface="Arial" panose="020B0604020202020204"/>
              </a:rPr>
              <a:t> </a:t>
            </a:r>
            <a:r>
              <a:rPr sz="2000" dirty="0">
                <a:highlight>
                  <a:srgbClr val="FFFF00"/>
                </a:highlight>
                <a:latin typeface="Arial" panose="020B0604020202020204"/>
                <a:cs typeface="Arial" panose="020B0604020202020204"/>
              </a:rPr>
              <a:t>&gt;</a:t>
            </a:r>
          </a:p>
          <a:p>
            <a:pPr marL="38100">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min+</a:t>
            </a:r>
            <a:r>
              <a:rPr sz="2000" spc="5" dirty="0">
                <a:highlight>
                  <a:srgbClr val="00FFFF"/>
                </a:highlight>
                <a:latin typeface="Arial" panose="020B0604020202020204"/>
                <a:cs typeface="Arial" panose="020B0604020202020204"/>
              </a:rPr>
              <a:t>,</a:t>
            </a:r>
            <a:r>
              <a:rPr sz="2000" spc="-85"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2000" spc="10" dirty="0">
                <a:highlight>
                  <a:srgbClr val="00FFFF"/>
                </a:highlight>
                <a:latin typeface="Arial" panose="020B0604020202020204"/>
                <a:cs typeface="Arial" panose="020B0604020202020204"/>
              </a:rPr>
              <a:t>&gt;</a:t>
            </a:r>
            <a:endParaRPr sz="2000" dirty="0">
              <a:highlight>
                <a:srgbClr val="00FFFF"/>
              </a:highlight>
              <a:latin typeface="Arial" panose="020B0604020202020204"/>
              <a:cs typeface="Arial" panose="020B0604020202020204"/>
            </a:endParaRPr>
          </a:p>
        </p:txBody>
      </p:sp>
      <p:sp>
        <p:nvSpPr>
          <p:cNvPr id="31" name="object 31"/>
          <p:cNvSpPr txBox="1"/>
          <p:nvPr/>
        </p:nvSpPr>
        <p:spPr>
          <a:xfrm>
            <a:off x="6804216" y="4278091"/>
            <a:ext cx="1756410" cy="1168400"/>
          </a:xfrm>
          <a:prstGeom prst="rect">
            <a:avLst/>
          </a:prstGeom>
        </p:spPr>
        <p:txBody>
          <a:bodyPr vert="horz" wrap="square" lIns="0" tIns="88900" rIns="0" bIns="0" rtlCol="0">
            <a:spAutoFit/>
          </a:bodyPr>
          <a:lstStyle/>
          <a:p>
            <a:pPr marL="38100">
              <a:lnSpc>
                <a:spcPct val="100000"/>
              </a:lnSpc>
              <a:spcBef>
                <a:spcPts val="7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a:t>
            </a:r>
            <a:r>
              <a:rPr sz="2000" spc="-50" dirty="0">
                <a:highlight>
                  <a:srgbClr val="FFFF00"/>
                </a:highlight>
                <a:latin typeface="Arial" panose="020B0604020202020204"/>
                <a:cs typeface="Arial" panose="020B0604020202020204"/>
              </a:rPr>
              <a:t> </a:t>
            </a:r>
            <a:r>
              <a:rPr sz="2000" spc="5" dirty="0">
                <a:highlight>
                  <a:srgbClr val="FFFF00"/>
                </a:highlight>
                <a:latin typeface="Arial" panose="020B0604020202020204"/>
                <a:cs typeface="Arial" panose="020B0604020202020204"/>
              </a:rPr>
              <a:t>x2</a:t>
            </a:r>
            <a:r>
              <a:rPr sz="1950" spc="7" baseline="-21000" dirty="0">
                <a:highlight>
                  <a:srgbClr val="FFFF00"/>
                </a:highlight>
                <a:latin typeface="Arial" panose="020B0604020202020204"/>
                <a:cs typeface="Arial" panose="020B0604020202020204"/>
              </a:rPr>
              <a:t>min+</a:t>
            </a:r>
            <a:r>
              <a:rPr sz="2000" spc="5" dirty="0">
                <a:highlight>
                  <a:srgbClr val="FFFF00"/>
                </a:highlight>
                <a:latin typeface="Arial" panose="020B0604020202020204"/>
                <a:cs typeface="Arial" panose="020B0604020202020204"/>
              </a:rPr>
              <a:t>&gt;</a:t>
            </a:r>
            <a:endParaRPr sz="2000" dirty="0">
              <a:highlight>
                <a:srgbClr val="FFFF00"/>
              </a:highlight>
              <a:latin typeface="Arial" panose="020B0604020202020204"/>
              <a:cs typeface="Arial" panose="020B0604020202020204"/>
            </a:endParaRPr>
          </a:p>
          <a:p>
            <a:pPr marL="38100">
              <a:lnSpc>
                <a:spcPct val="100000"/>
              </a:lnSpc>
              <a:spcBef>
                <a:spcPts val="6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a:t>
            </a:r>
            <a:r>
              <a:rPr sz="2000" spc="-50" dirty="0">
                <a:highlight>
                  <a:srgbClr val="FFFF00"/>
                </a:highlight>
                <a:latin typeface="Arial" panose="020B0604020202020204"/>
                <a:cs typeface="Arial" panose="020B0604020202020204"/>
              </a:rPr>
              <a:t> </a:t>
            </a:r>
            <a:r>
              <a:rPr sz="2000" spc="5" dirty="0">
                <a:highlight>
                  <a:srgbClr val="FFFF00"/>
                </a:highlight>
                <a:latin typeface="Arial" panose="020B0604020202020204"/>
                <a:cs typeface="Arial" panose="020B0604020202020204"/>
              </a:rPr>
              <a:t>x2</a:t>
            </a:r>
            <a:r>
              <a:rPr sz="1950" spc="7" baseline="-21000" dirty="0">
                <a:highlight>
                  <a:srgbClr val="FFFF00"/>
                </a:highlight>
                <a:latin typeface="Arial" panose="020B0604020202020204"/>
                <a:cs typeface="Arial" panose="020B0604020202020204"/>
              </a:rPr>
              <a:t>max-</a:t>
            </a:r>
            <a:r>
              <a:rPr sz="2000" spc="5" dirty="0">
                <a:highlight>
                  <a:srgbClr val="FFFF00"/>
                </a:highlight>
                <a:latin typeface="Arial" panose="020B0604020202020204"/>
                <a:cs typeface="Arial" panose="020B0604020202020204"/>
              </a:rPr>
              <a:t>&gt;</a:t>
            </a:r>
            <a:endParaRPr sz="2000" dirty="0">
              <a:highlight>
                <a:srgbClr val="FFFF00"/>
              </a:highlight>
              <a:latin typeface="Arial" panose="020B0604020202020204"/>
              <a:cs typeface="Arial" panose="020B0604020202020204"/>
            </a:endParaRPr>
          </a:p>
          <a:p>
            <a:pPr marL="42545">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max</a:t>
            </a:r>
            <a:r>
              <a:rPr sz="2000" spc="5"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1950" spc="-104" baseline="-21000" dirty="0">
                <a:highlight>
                  <a:srgbClr val="00FFFF"/>
                </a:highlight>
                <a:latin typeface="Arial" panose="020B0604020202020204"/>
                <a:cs typeface="Arial" panose="020B0604020202020204"/>
              </a:rPr>
              <a:t> </a:t>
            </a:r>
            <a:r>
              <a:rPr sz="2000" dirty="0">
                <a:highlight>
                  <a:srgbClr val="00FFFF"/>
                </a:highlight>
                <a:latin typeface="Arial" panose="020B0604020202020204"/>
                <a:cs typeface="Arial" panose="020B0604020202020204"/>
              </a:rPr>
              <a:t>&gt;</a:t>
            </a:r>
          </a:p>
        </p:txBody>
      </p:sp>
      <p:sp>
        <p:nvSpPr>
          <p:cNvPr id="32" name="object 32"/>
          <p:cNvSpPr txBox="1"/>
          <p:nvPr/>
        </p:nvSpPr>
        <p:spPr>
          <a:xfrm>
            <a:off x="8761967" y="4278091"/>
            <a:ext cx="1756410" cy="1168400"/>
          </a:xfrm>
          <a:prstGeom prst="rect">
            <a:avLst/>
          </a:prstGeom>
        </p:spPr>
        <p:txBody>
          <a:bodyPr vert="horz" wrap="square" lIns="0" tIns="88900" rIns="0" bIns="0" rtlCol="0">
            <a:spAutoFit/>
          </a:bodyPr>
          <a:lstStyle/>
          <a:p>
            <a:pPr marL="38100">
              <a:lnSpc>
                <a:spcPct val="100000"/>
              </a:lnSpc>
              <a:spcBef>
                <a:spcPts val="700"/>
              </a:spcBef>
            </a:pPr>
            <a:r>
              <a:rPr sz="2000" spc="5" dirty="0">
                <a:highlight>
                  <a:srgbClr val="00FF00"/>
                </a:highlight>
                <a:latin typeface="Arial" panose="020B0604020202020204"/>
                <a:cs typeface="Arial" panose="020B0604020202020204"/>
              </a:rPr>
              <a:t>&lt;x1</a:t>
            </a:r>
            <a:r>
              <a:rPr sz="1950" spc="7" baseline="-21000" dirty="0">
                <a:highlight>
                  <a:srgbClr val="00FF00"/>
                </a:highlight>
                <a:latin typeface="Arial" panose="020B0604020202020204"/>
                <a:cs typeface="Arial" panose="020B0604020202020204"/>
              </a:rPr>
              <a:t>nom</a:t>
            </a:r>
            <a:r>
              <a:rPr sz="2000" spc="5" dirty="0">
                <a:highlight>
                  <a:srgbClr val="00FF00"/>
                </a:highlight>
                <a:latin typeface="Arial" panose="020B0604020202020204"/>
                <a:cs typeface="Arial" panose="020B0604020202020204"/>
              </a:rPr>
              <a:t>, </a:t>
            </a:r>
            <a:r>
              <a:rPr sz="2000" spc="10" dirty="0">
                <a:highlight>
                  <a:srgbClr val="00FF00"/>
                </a:highlight>
                <a:latin typeface="Arial" panose="020B0604020202020204"/>
                <a:cs typeface="Arial" panose="020B0604020202020204"/>
              </a:rPr>
              <a:t>x2</a:t>
            </a:r>
            <a:r>
              <a:rPr sz="1950" spc="15" baseline="-21000" dirty="0">
                <a:highlight>
                  <a:srgbClr val="00FF00"/>
                </a:highlight>
                <a:latin typeface="Arial" panose="020B0604020202020204"/>
                <a:cs typeface="Arial" panose="020B0604020202020204"/>
              </a:rPr>
              <a:t>nom</a:t>
            </a:r>
            <a:r>
              <a:rPr sz="1950" spc="-104" baseline="-21000" dirty="0">
                <a:highlight>
                  <a:srgbClr val="00FF00"/>
                </a:highlight>
                <a:latin typeface="Arial" panose="020B0604020202020204"/>
                <a:cs typeface="Arial" panose="020B0604020202020204"/>
              </a:rPr>
              <a:t> </a:t>
            </a:r>
            <a:r>
              <a:rPr sz="2000" dirty="0">
                <a:highlight>
                  <a:srgbClr val="00FF00"/>
                </a:highlight>
                <a:latin typeface="Arial" panose="020B0604020202020204"/>
                <a:cs typeface="Arial" panose="020B0604020202020204"/>
              </a:rPr>
              <a:t>&gt;</a:t>
            </a:r>
          </a:p>
          <a:p>
            <a:pPr marL="42545">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min</a:t>
            </a:r>
            <a:r>
              <a:rPr sz="2000" spc="5"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1950" spc="434" baseline="-21000" dirty="0">
                <a:highlight>
                  <a:srgbClr val="00FFFF"/>
                </a:highlight>
                <a:latin typeface="Arial" panose="020B0604020202020204"/>
                <a:cs typeface="Arial" panose="020B0604020202020204"/>
              </a:rPr>
              <a:t> </a:t>
            </a:r>
            <a:r>
              <a:rPr sz="2000" dirty="0">
                <a:highlight>
                  <a:srgbClr val="00FFFF"/>
                </a:highlight>
                <a:latin typeface="Arial" panose="020B0604020202020204"/>
                <a:cs typeface="Arial" panose="020B0604020202020204"/>
              </a:rPr>
              <a:t>&gt;</a:t>
            </a:r>
          </a:p>
          <a:p>
            <a:pPr marL="38100">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max-</a:t>
            </a:r>
            <a:r>
              <a:rPr sz="2000" spc="5" dirty="0">
                <a:highlight>
                  <a:srgbClr val="00FFFF"/>
                </a:highlight>
                <a:latin typeface="Arial" panose="020B0604020202020204"/>
                <a:cs typeface="Arial" panose="020B0604020202020204"/>
              </a:rPr>
              <a:t>,</a:t>
            </a:r>
            <a:r>
              <a:rPr sz="2000" spc="-80"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2000" spc="10" dirty="0">
                <a:highlight>
                  <a:srgbClr val="00FFFF"/>
                </a:highlight>
                <a:latin typeface="Arial" panose="020B0604020202020204"/>
                <a:cs typeface="Arial" panose="020B0604020202020204"/>
              </a:rPr>
              <a:t>&gt;</a:t>
            </a:r>
            <a:endParaRPr sz="2000" dirty="0">
              <a:highlight>
                <a:srgbClr val="00FFFF"/>
              </a:highlight>
              <a:latin typeface="Arial" panose="020B0604020202020204"/>
              <a:cs typeface="Arial" panose="020B0604020202020204"/>
            </a:endParaRPr>
          </a:p>
        </p:txBody>
      </p:sp>
      <p:sp>
        <p:nvSpPr>
          <p:cNvPr id="33" name="灯片编号占位符 32"/>
          <p:cNvSpPr>
            <a:spLocks noGrp="1"/>
          </p:cNvSpPr>
          <p:nvPr>
            <p:ph type="sldNum" sz="quarter" idx="12"/>
          </p:nvPr>
        </p:nvSpPr>
        <p:spPr/>
        <p:txBody>
          <a:bodyPr/>
          <a:lstStyle/>
          <a:p>
            <a:fld id="{74D2AB8B-5816-41F2-8B4B-CA5C3E4E6A65}" type="slidenum">
              <a:rPr lang="zh-CN" altLang="en-US" smtClean="0"/>
              <a:t>70</a:t>
            </a:fld>
            <a:endParaRPr lang="zh-CN" altLang="en-US"/>
          </a:p>
        </p:txBody>
      </p:sp>
      <p:sp>
        <p:nvSpPr>
          <p:cNvPr id="35" name="标题 34"/>
          <p:cNvSpPr>
            <a:spLocks noGrp="1"/>
          </p:cNvSpPr>
          <p:nvPr>
            <p:ph type="title"/>
          </p:nvPr>
        </p:nvSpPr>
        <p:spPr/>
        <p:txBody>
          <a:bodyPr/>
          <a:lstStyle/>
          <a:p>
            <a:r>
              <a:rPr lang="zh-CN" altLang="en-US" dirty="0"/>
              <a:t>边界值分析</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59129" y="5615097"/>
            <a:ext cx="294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x1</a:t>
            </a:r>
            <a:endParaRPr sz="2000">
              <a:latin typeface="Arial" panose="020B0604020202020204"/>
              <a:cs typeface="Arial" panose="020B0604020202020204"/>
            </a:endParaRPr>
          </a:p>
        </p:txBody>
      </p:sp>
      <p:sp>
        <p:nvSpPr>
          <p:cNvPr id="4" name="object 4"/>
          <p:cNvSpPr/>
          <p:nvPr/>
        </p:nvSpPr>
        <p:spPr>
          <a:xfrm>
            <a:off x="3525426" y="3602055"/>
            <a:ext cx="0" cy="2195195"/>
          </a:xfrm>
          <a:custGeom>
            <a:avLst/>
            <a:gdLst/>
            <a:ahLst/>
            <a:cxnLst/>
            <a:rect l="l" t="t" r="r" b="b"/>
            <a:pathLst>
              <a:path h="2195195">
                <a:moveTo>
                  <a:pt x="0" y="2194718"/>
                </a:moveTo>
                <a:lnTo>
                  <a:pt x="0" y="0"/>
                </a:lnTo>
              </a:path>
            </a:pathLst>
          </a:custGeom>
          <a:ln w="9524">
            <a:solidFill>
              <a:srgbClr val="000000"/>
            </a:solidFill>
          </a:ln>
        </p:spPr>
        <p:txBody>
          <a:bodyPr wrap="square" lIns="0" tIns="0" rIns="0" bIns="0" rtlCol="0"/>
          <a:lstStyle/>
          <a:p>
            <a:endParaRPr/>
          </a:p>
        </p:txBody>
      </p:sp>
      <p:sp>
        <p:nvSpPr>
          <p:cNvPr id="5" name="object 5"/>
          <p:cNvSpPr/>
          <p:nvPr/>
        </p:nvSpPr>
        <p:spPr>
          <a:xfrm>
            <a:off x="3487326" y="3576655"/>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6" name="object 6"/>
          <p:cNvSpPr/>
          <p:nvPr/>
        </p:nvSpPr>
        <p:spPr>
          <a:xfrm>
            <a:off x="3531002" y="5808992"/>
            <a:ext cx="5211445" cy="0"/>
          </a:xfrm>
          <a:custGeom>
            <a:avLst/>
            <a:gdLst/>
            <a:ahLst/>
            <a:cxnLst/>
            <a:rect l="l" t="t" r="r" b="b"/>
            <a:pathLst>
              <a:path w="5211445">
                <a:moveTo>
                  <a:pt x="0" y="0"/>
                </a:moveTo>
                <a:lnTo>
                  <a:pt x="5210968" y="0"/>
                </a:lnTo>
              </a:path>
            </a:pathLst>
          </a:custGeom>
          <a:ln w="9524">
            <a:solidFill>
              <a:srgbClr val="000000"/>
            </a:solidFill>
          </a:ln>
        </p:spPr>
        <p:txBody>
          <a:bodyPr wrap="square" lIns="0" tIns="0" rIns="0" bIns="0" rtlCol="0"/>
          <a:lstStyle/>
          <a:p>
            <a:endParaRPr/>
          </a:p>
        </p:txBody>
      </p:sp>
      <p:sp>
        <p:nvSpPr>
          <p:cNvPr id="7" name="object 7"/>
          <p:cNvSpPr/>
          <p:nvPr/>
        </p:nvSpPr>
        <p:spPr>
          <a:xfrm>
            <a:off x="8691171" y="5770892"/>
            <a:ext cx="76200" cy="76200"/>
          </a:xfrm>
          <a:custGeom>
            <a:avLst/>
            <a:gdLst/>
            <a:ahLst/>
            <a:cxnLst/>
            <a:rect l="l" t="t" r="r" b="b"/>
            <a:pathLst>
              <a:path w="76200" h="76200">
                <a:moveTo>
                  <a:pt x="0" y="0"/>
                </a:moveTo>
                <a:lnTo>
                  <a:pt x="0" y="76200"/>
                </a:lnTo>
                <a:lnTo>
                  <a:pt x="76200" y="38099"/>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4769064" y="4185977"/>
            <a:ext cx="2597150" cy="1089660"/>
          </a:xfrm>
          <a:custGeom>
            <a:avLst/>
            <a:gdLst/>
            <a:ahLst/>
            <a:cxnLst/>
            <a:rect l="l" t="t" r="r" b="b"/>
            <a:pathLst>
              <a:path w="2597150" h="1089660">
                <a:moveTo>
                  <a:pt x="0" y="0"/>
                </a:moveTo>
                <a:lnTo>
                  <a:pt x="2596809" y="0"/>
                </a:lnTo>
                <a:lnTo>
                  <a:pt x="2596809" y="1089196"/>
                </a:lnTo>
                <a:lnTo>
                  <a:pt x="0" y="1089196"/>
                </a:lnTo>
                <a:lnTo>
                  <a:pt x="0" y="0"/>
                </a:lnTo>
                <a:close/>
              </a:path>
            </a:pathLst>
          </a:custGeom>
          <a:solidFill>
            <a:srgbClr val="EBEBEB"/>
          </a:solidFill>
        </p:spPr>
        <p:txBody>
          <a:bodyPr wrap="square" lIns="0" tIns="0" rIns="0" bIns="0" rtlCol="0"/>
          <a:lstStyle/>
          <a:p>
            <a:endParaRPr/>
          </a:p>
        </p:txBody>
      </p:sp>
      <p:sp>
        <p:nvSpPr>
          <p:cNvPr id="9" name="object 9"/>
          <p:cNvSpPr/>
          <p:nvPr/>
        </p:nvSpPr>
        <p:spPr>
          <a:xfrm>
            <a:off x="4769064" y="4185977"/>
            <a:ext cx="2597150" cy="1089660"/>
          </a:xfrm>
          <a:custGeom>
            <a:avLst/>
            <a:gdLst/>
            <a:ahLst/>
            <a:cxnLst/>
            <a:rect l="l" t="t" r="r" b="b"/>
            <a:pathLst>
              <a:path w="2597150" h="1089660">
                <a:moveTo>
                  <a:pt x="0" y="0"/>
                </a:moveTo>
                <a:lnTo>
                  <a:pt x="2596810" y="0"/>
                </a:lnTo>
                <a:lnTo>
                  <a:pt x="2596810" y="1089196"/>
                </a:lnTo>
                <a:lnTo>
                  <a:pt x="0" y="1089196"/>
                </a:lnTo>
                <a:lnTo>
                  <a:pt x="0" y="0"/>
                </a:lnTo>
                <a:close/>
              </a:path>
            </a:pathLst>
          </a:custGeom>
          <a:ln w="9524">
            <a:solidFill>
              <a:srgbClr val="000000"/>
            </a:solidFill>
          </a:ln>
        </p:spPr>
        <p:txBody>
          <a:bodyPr wrap="square" lIns="0" tIns="0" rIns="0" bIns="0" rtlCol="0"/>
          <a:lstStyle/>
          <a:p>
            <a:endParaRPr/>
          </a:p>
        </p:txBody>
      </p:sp>
      <p:sp>
        <p:nvSpPr>
          <p:cNvPr id="10" name="object 10"/>
          <p:cNvSpPr/>
          <p:nvPr/>
        </p:nvSpPr>
        <p:spPr>
          <a:xfrm>
            <a:off x="3531002" y="4180434"/>
            <a:ext cx="4398645" cy="17780"/>
          </a:xfrm>
          <a:custGeom>
            <a:avLst/>
            <a:gdLst/>
            <a:ahLst/>
            <a:cxnLst/>
            <a:rect l="l" t="t" r="r" b="b"/>
            <a:pathLst>
              <a:path w="4398645" h="17779">
                <a:moveTo>
                  <a:pt x="0" y="0"/>
                </a:moveTo>
                <a:lnTo>
                  <a:pt x="4398032" y="17455"/>
                </a:lnTo>
              </a:path>
            </a:pathLst>
          </a:custGeom>
          <a:ln w="9524">
            <a:solidFill>
              <a:srgbClr val="000000"/>
            </a:solidFill>
          </a:ln>
        </p:spPr>
        <p:txBody>
          <a:bodyPr wrap="square" lIns="0" tIns="0" rIns="0" bIns="0" rtlCol="0"/>
          <a:lstStyle/>
          <a:p>
            <a:endParaRPr/>
          </a:p>
        </p:txBody>
      </p:sp>
      <p:sp>
        <p:nvSpPr>
          <p:cNvPr id="11" name="object 11"/>
          <p:cNvSpPr/>
          <p:nvPr/>
        </p:nvSpPr>
        <p:spPr>
          <a:xfrm>
            <a:off x="3531002" y="5260905"/>
            <a:ext cx="4435475" cy="5715"/>
          </a:xfrm>
          <a:custGeom>
            <a:avLst/>
            <a:gdLst/>
            <a:ahLst/>
            <a:cxnLst/>
            <a:rect l="l" t="t" r="r" b="b"/>
            <a:pathLst>
              <a:path w="4435475" h="5714">
                <a:moveTo>
                  <a:pt x="0" y="5235"/>
                </a:moveTo>
                <a:lnTo>
                  <a:pt x="4435208" y="0"/>
                </a:lnTo>
              </a:path>
            </a:pathLst>
          </a:custGeom>
          <a:ln w="9524">
            <a:solidFill>
              <a:srgbClr val="000000"/>
            </a:solidFill>
          </a:ln>
        </p:spPr>
        <p:txBody>
          <a:bodyPr wrap="square" lIns="0" tIns="0" rIns="0" bIns="0" rtlCol="0"/>
          <a:lstStyle/>
          <a:p>
            <a:endParaRPr/>
          </a:p>
        </p:txBody>
      </p:sp>
      <p:sp>
        <p:nvSpPr>
          <p:cNvPr id="12" name="object 12"/>
          <p:cNvSpPr/>
          <p:nvPr/>
        </p:nvSpPr>
        <p:spPr>
          <a:xfrm>
            <a:off x="4761558" y="3726602"/>
            <a:ext cx="0" cy="2082800"/>
          </a:xfrm>
          <a:custGeom>
            <a:avLst/>
            <a:gdLst/>
            <a:ahLst/>
            <a:cxnLst/>
            <a:rect l="l" t="t" r="r" b="b"/>
            <a:pathLst>
              <a:path h="2082800">
                <a:moveTo>
                  <a:pt x="0" y="0"/>
                </a:moveTo>
                <a:lnTo>
                  <a:pt x="1" y="2082389"/>
                </a:lnTo>
              </a:path>
            </a:pathLst>
          </a:custGeom>
          <a:ln w="9524">
            <a:solidFill>
              <a:srgbClr val="000000"/>
            </a:solidFill>
          </a:ln>
        </p:spPr>
        <p:txBody>
          <a:bodyPr wrap="square" lIns="0" tIns="0" rIns="0" bIns="0" rtlCol="0"/>
          <a:lstStyle/>
          <a:p>
            <a:endParaRPr/>
          </a:p>
        </p:txBody>
      </p:sp>
      <p:sp>
        <p:nvSpPr>
          <p:cNvPr id="13" name="object 13"/>
          <p:cNvSpPr/>
          <p:nvPr/>
        </p:nvSpPr>
        <p:spPr>
          <a:xfrm>
            <a:off x="7367662" y="3726602"/>
            <a:ext cx="0" cy="2082800"/>
          </a:xfrm>
          <a:custGeom>
            <a:avLst/>
            <a:gdLst/>
            <a:ahLst/>
            <a:cxnLst/>
            <a:rect l="l" t="t" r="r" b="b"/>
            <a:pathLst>
              <a:path h="2082800">
                <a:moveTo>
                  <a:pt x="0" y="0"/>
                </a:moveTo>
                <a:lnTo>
                  <a:pt x="0" y="2082389"/>
                </a:lnTo>
              </a:path>
            </a:pathLst>
          </a:custGeom>
          <a:ln w="9524">
            <a:solidFill>
              <a:srgbClr val="000000"/>
            </a:solidFill>
          </a:ln>
        </p:spPr>
        <p:txBody>
          <a:bodyPr wrap="square" lIns="0" tIns="0" rIns="0" bIns="0" rtlCol="0"/>
          <a:lstStyle/>
          <a:p>
            <a:endParaRPr/>
          </a:p>
        </p:txBody>
      </p:sp>
      <p:sp>
        <p:nvSpPr>
          <p:cNvPr id="14" name="object 14"/>
          <p:cNvSpPr txBox="1"/>
          <p:nvPr/>
        </p:nvSpPr>
        <p:spPr>
          <a:xfrm>
            <a:off x="4661848" y="5770447"/>
            <a:ext cx="167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a</a:t>
            </a:r>
            <a:endParaRPr sz="2000">
              <a:latin typeface="Arial" panose="020B0604020202020204"/>
              <a:cs typeface="Arial" panose="020B0604020202020204"/>
            </a:endParaRPr>
          </a:p>
        </p:txBody>
      </p:sp>
      <p:sp>
        <p:nvSpPr>
          <p:cNvPr id="15" name="object 15"/>
          <p:cNvSpPr txBox="1"/>
          <p:nvPr/>
        </p:nvSpPr>
        <p:spPr>
          <a:xfrm>
            <a:off x="7284609" y="5807103"/>
            <a:ext cx="167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b</a:t>
            </a:r>
            <a:endParaRPr sz="2000">
              <a:latin typeface="Arial" panose="020B0604020202020204"/>
              <a:cs typeface="Arial" panose="020B0604020202020204"/>
            </a:endParaRPr>
          </a:p>
        </p:txBody>
      </p:sp>
      <p:sp>
        <p:nvSpPr>
          <p:cNvPr id="16" name="object 16"/>
          <p:cNvSpPr txBox="1"/>
          <p:nvPr/>
        </p:nvSpPr>
        <p:spPr>
          <a:xfrm>
            <a:off x="1002825" y="1731522"/>
            <a:ext cx="10321925" cy="2607958"/>
          </a:xfrm>
          <a:prstGeom prst="rect">
            <a:avLst/>
          </a:prstGeom>
        </p:spPr>
        <p:txBody>
          <a:bodyPr vert="horz" wrap="square" lIns="0" tIns="12700" rIns="0" bIns="0" rtlCol="0">
            <a:spAutoFit/>
          </a:bodyPr>
          <a:lstStyle/>
          <a:p>
            <a:pPr marL="12700" marR="5080">
              <a:lnSpc>
                <a:spcPct val="129000"/>
              </a:lnSpc>
              <a:spcBef>
                <a:spcPts val="100"/>
              </a:spcBef>
            </a:pPr>
            <a:r>
              <a:rPr sz="2200" spc="15" dirty="0">
                <a:solidFill>
                  <a:srgbClr val="0033CC"/>
                </a:solidFill>
                <a:latin typeface="微软雅黑" panose="020B0503020204020204" pitchFamily="34" charset="-122"/>
                <a:cs typeface="微软雅黑" panose="020B0503020204020204" pitchFamily="34" charset="-122"/>
              </a:rPr>
              <a:t>健壮性测试</a:t>
            </a:r>
            <a:r>
              <a:rPr sz="2200" spc="15" dirty="0">
                <a:latin typeface="微软雅黑" panose="020B0503020204020204" pitchFamily="34" charset="-122"/>
                <a:cs typeface="微软雅黑" panose="020B0503020204020204" pitchFamily="34" charset="-122"/>
              </a:rPr>
              <a:t>是作为边界值分析的一个简单的扩充，它除了对变量的</a:t>
            </a:r>
            <a:r>
              <a:rPr sz="2200" spc="15" dirty="0">
                <a:latin typeface="Arial" panose="020B0604020202020204"/>
                <a:cs typeface="Arial" panose="020B0604020202020204"/>
              </a:rPr>
              <a:t>5</a:t>
            </a:r>
            <a:r>
              <a:rPr sz="2200" spc="15" dirty="0">
                <a:latin typeface="微软雅黑" panose="020B0503020204020204" pitchFamily="34" charset="-122"/>
                <a:cs typeface="微软雅黑" panose="020B0503020204020204" pitchFamily="34" charset="-122"/>
              </a:rPr>
              <a:t>个边界值分析 </a:t>
            </a:r>
            <a:r>
              <a:rPr sz="2200" spc="25" dirty="0">
                <a:latin typeface="微软雅黑" panose="020B0503020204020204" pitchFamily="34" charset="-122"/>
                <a:cs typeface="微软雅黑" panose="020B0503020204020204" pitchFamily="34" charset="-122"/>
              </a:rPr>
              <a:t>取值外，还要增加一个略大于最大值（</a:t>
            </a:r>
            <a:r>
              <a:rPr sz="2200" spc="25" dirty="0">
                <a:latin typeface="Arial" panose="020B0604020202020204"/>
                <a:cs typeface="Arial" panose="020B0604020202020204"/>
              </a:rPr>
              <a:t>max+</a:t>
            </a:r>
            <a:r>
              <a:rPr sz="2200" spc="25" dirty="0">
                <a:latin typeface="微软雅黑" panose="020B0503020204020204" pitchFamily="34" charset="-122"/>
                <a:cs typeface="微软雅黑" panose="020B0503020204020204" pitchFamily="34" charset="-122"/>
              </a:rPr>
              <a:t>）以及略小于最小值（</a:t>
            </a:r>
            <a:r>
              <a:rPr sz="2200" spc="25" dirty="0">
                <a:latin typeface="Arial" panose="020B0604020202020204"/>
                <a:cs typeface="Arial" panose="020B0604020202020204"/>
              </a:rPr>
              <a:t>min-</a:t>
            </a:r>
            <a:r>
              <a:rPr sz="2200" spc="25" dirty="0">
                <a:latin typeface="微软雅黑" panose="020B0503020204020204" pitchFamily="34" charset="-122"/>
                <a:cs typeface="微软雅黑" panose="020B0503020204020204" pitchFamily="34" charset="-122"/>
              </a:rPr>
              <a:t>）的取</a:t>
            </a:r>
            <a:r>
              <a:rPr sz="2200" dirty="0">
                <a:latin typeface="微软雅黑" panose="020B0503020204020204" pitchFamily="34" charset="-122"/>
                <a:cs typeface="微软雅黑" panose="020B0503020204020204" pitchFamily="34" charset="-122"/>
              </a:rPr>
              <a:t>值， 检查</a:t>
            </a:r>
            <a:r>
              <a:rPr sz="2200" dirty="0">
                <a:solidFill>
                  <a:srgbClr val="FF0000"/>
                </a:solidFill>
                <a:latin typeface="微软雅黑" panose="020B0503020204020204" pitchFamily="34" charset="-122"/>
                <a:cs typeface="微软雅黑" panose="020B0503020204020204" pitchFamily="34" charset="-122"/>
              </a:rPr>
              <a:t>超过极限值时</a:t>
            </a:r>
            <a:r>
              <a:rPr sz="2200" dirty="0">
                <a:latin typeface="微软雅黑" panose="020B0503020204020204" pitchFamily="34" charset="-122"/>
                <a:cs typeface="微软雅黑" panose="020B0503020204020204" pitchFamily="34" charset="-122"/>
              </a:rPr>
              <a:t>系统的情况。</a:t>
            </a:r>
          </a:p>
          <a:p>
            <a:pPr marL="2366645">
              <a:lnSpc>
                <a:spcPct val="100000"/>
              </a:lnSpc>
              <a:spcBef>
                <a:spcPts val="1480"/>
              </a:spcBef>
            </a:pPr>
            <a:r>
              <a:rPr sz="2000" dirty="0">
                <a:latin typeface="Arial" panose="020B0604020202020204"/>
                <a:cs typeface="Arial" panose="020B0604020202020204"/>
              </a:rPr>
              <a:t>x2</a:t>
            </a:r>
          </a:p>
          <a:p>
            <a:pPr>
              <a:lnSpc>
                <a:spcPct val="100000"/>
              </a:lnSpc>
              <a:spcBef>
                <a:spcPts val="25"/>
              </a:spcBef>
            </a:pPr>
            <a:endParaRPr sz="3100" dirty="0">
              <a:latin typeface="Times New Roman" panose="02020603050405020304"/>
              <a:cs typeface="Times New Roman" panose="02020603050405020304"/>
            </a:endParaRPr>
          </a:p>
          <a:p>
            <a:pPr marL="2296160">
              <a:lnSpc>
                <a:spcPct val="100000"/>
              </a:lnSpc>
            </a:pPr>
            <a:r>
              <a:rPr sz="2000" dirty="0">
                <a:latin typeface="Arial" panose="020B0604020202020204"/>
                <a:cs typeface="Arial" panose="020B0604020202020204"/>
              </a:rPr>
              <a:t>c</a:t>
            </a:r>
          </a:p>
        </p:txBody>
      </p:sp>
      <p:sp>
        <p:nvSpPr>
          <p:cNvPr id="17" name="object 17"/>
          <p:cNvSpPr txBox="1"/>
          <p:nvPr/>
        </p:nvSpPr>
        <p:spPr>
          <a:xfrm>
            <a:off x="3286302" y="5061771"/>
            <a:ext cx="167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d</a:t>
            </a:r>
            <a:endParaRPr sz="2000">
              <a:latin typeface="Arial" panose="020B0604020202020204"/>
              <a:cs typeface="Arial" panose="020B0604020202020204"/>
            </a:endParaRPr>
          </a:p>
        </p:txBody>
      </p:sp>
      <p:sp>
        <p:nvSpPr>
          <p:cNvPr id="18" name="object 18"/>
          <p:cNvSpPr/>
          <p:nvPr/>
        </p:nvSpPr>
        <p:spPr>
          <a:xfrm>
            <a:off x="7029388" y="4630775"/>
            <a:ext cx="167640" cy="167640"/>
          </a:xfrm>
          <a:custGeom>
            <a:avLst/>
            <a:gdLst/>
            <a:ahLst/>
            <a:cxnLst/>
            <a:rect l="l" t="t" r="r" b="b"/>
            <a:pathLst>
              <a:path w="167640"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19" name="object 19"/>
          <p:cNvSpPr/>
          <p:nvPr/>
        </p:nvSpPr>
        <p:spPr>
          <a:xfrm>
            <a:off x="7029387" y="4630775"/>
            <a:ext cx="167640" cy="167640"/>
          </a:xfrm>
          <a:custGeom>
            <a:avLst/>
            <a:gdLst/>
            <a:ahLst/>
            <a:cxnLst/>
            <a:rect l="l" t="t" r="r" b="b"/>
            <a:pathLst>
              <a:path w="167640" h="167639">
                <a:moveTo>
                  <a:pt x="0" y="83784"/>
                </a:moveTo>
                <a:lnTo>
                  <a:pt x="6573" y="51172"/>
                </a:lnTo>
                <a:lnTo>
                  <a:pt x="24499" y="24540"/>
                </a:lnTo>
                <a:lnTo>
                  <a:pt x="51088" y="6584"/>
                </a:lnTo>
                <a:lnTo>
                  <a:pt x="83647" y="0"/>
                </a:lnTo>
                <a:lnTo>
                  <a:pt x="116207" y="6584"/>
                </a:lnTo>
                <a:lnTo>
                  <a:pt x="142796" y="24540"/>
                </a:lnTo>
                <a:lnTo>
                  <a:pt x="160722" y="51172"/>
                </a:lnTo>
                <a:lnTo>
                  <a:pt x="167296" y="83784"/>
                </a:lnTo>
                <a:lnTo>
                  <a:pt x="160722" y="116397"/>
                </a:lnTo>
                <a:lnTo>
                  <a:pt x="142796" y="143029"/>
                </a:lnTo>
                <a:lnTo>
                  <a:pt x="116207" y="160985"/>
                </a:lnTo>
                <a:lnTo>
                  <a:pt x="83647" y="167570"/>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0" name="object 20"/>
          <p:cNvSpPr/>
          <p:nvPr/>
        </p:nvSpPr>
        <p:spPr>
          <a:xfrm>
            <a:off x="5648230" y="5100318"/>
            <a:ext cx="167640" cy="167640"/>
          </a:xfrm>
          <a:custGeom>
            <a:avLst/>
            <a:gdLst/>
            <a:ahLst/>
            <a:cxnLst/>
            <a:rect l="l" t="t" r="r" b="b"/>
            <a:pathLst>
              <a:path w="167639" h="167639">
                <a:moveTo>
                  <a:pt x="83647" y="0"/>
                </a:moveTo>
                <a:lnTo>
                  <a:pt x="51087" y="6584"/>
                </a:lnTo>
                <a:lnTo>
                  <a:pt x="24499" y="24540"/>
                </a:lnTo>
                <a:lnTo>
                  <a:pt x="6573" y="51171"/>
                </a:lnTo>
                <a:lnTo>
                  <a:pt x="0" y="83784"/>
                </a:lnTo>
                <a:lnTo>
                  <a:pt x="6573" y="116397"/>
                </a:lnTo>
                <a:lnTo>
                  <a:pt x="24499" y="143029"/>
                </a:lnTo>
                <a:lnTo>
                  <a:pt x="51087" y="160985"/>
                </a:lnTo>
                <a:lnTo>
                  <a:pt x="83647" y="167570"/>
                </a:lnTo>
                <a:lnTo>
                  <a:pt x="116206" y="160985"/>
                </a:lnTo>
                <a:lnTo>
                  <a:pt x="142795" y="143029"/>
                </a:lnTo>
                <a:lnTo>
                  <a:pt x="160722" y="116397"/>
                </a:lnTo>
                <a:lnTo>
                  <a:pt x="167295" y="83784"/>
                </a:lnTo>
                <a:lnTo>
                  <a:pt x="160722" y="51171"/>
                </a:lnTo>
                <a:lnTo>
                  <a:pt x="142795" y="24540"/>
                </a:lnTo>
                <a:lnTo>
                  <a:pt x="116206" y="6584"/>
                </a:lnTo>
                <a:lnTo>
                  <a:pt x="83647" y="0"/>
                </a:lnTo>
                <a:close/>
              </a:path>
            </a:pathLst>
          </a:custGeom>
          <a:solidFill>
            <a:srgbClr val="000000"/>
          </a:solidFill>
        </p:spPr>
        <p:txBody>
          <a:bodyPr wrap="square" lIns="0" tIns="0" rIns="0" bIns="0" rtlCol="0"/>
          <a:lstStyle/>
          <a:p>
            <a:endParaRPr/>
          </a:p>
        </p:txBody>
      </p:sp>
      <p:sp>
        <p:nvSpPr>
          <p:cNvPr id="21" name="object 21"/>
          <p:cNvSpPr/>
          <p:nvPr/>
        </p:nvSpPr>
        <p:spPr>
          <a:xfrm>
            <a:off x="5648230" y="5100318"/>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2" name="object 22"/>
          <p:cNvSpPr/>
          <p:nvPr/>
        </p:nvSpPr>
        <p:spPr>
          <a:xfrm>
            <a:off x="5651948" y="4924020"/>
            <a:ext cx="167640" cy="167640"/>
          </a:xfrm>
          <a:custGeom>
            <a:avLst/>
            <a:gdLst/>
            <a:ahLst/>
            <a:cxnLst/>
            <a:rect l="l" t="t" r="r" b="b"/>
            <a:pathLst>
              <a:path w="167639"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23" name="object 23"/>
          <p:cNvSpPr/>
          <p:nvPr/>
        </p:nvSpPr>
        <p:spPr>
          <a:xfrm>
            <a:off x="5651948" y="4924020"/>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4" name="object 24"/>
          <p:cNvSpPr/>
          <p:nvPr/>
        </p:nvSpPr>
        <p:spPr>
          <a:xfrm>
            <a:off x="6017096" y="4606813"/>
            <a:ext cx="176820" cy="177095"/>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5637076" y="4185977"/>
            <a:ext cx="167640" cy="167640"/>
          </a:xfrm>
          <a:custGeom>
            <a:avLst/>
            <a:gdLst/>
            <a:ahLst/>
            <a:cxnLst/>
            <a:rect l="l" t="t" r="r" b="b"/>
            <a:pathLst>
              <a:path w="167639"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26" name="object 26"/>
          <p:cNvSpPr/>
          <p:nvPr/>
        </p:nvSpPr>
        <p:spPr>
          <a:xfrm>
            <a:off x="5637076" y="4185977"/>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7" name="object 27"/>
          <p:cNvSpPr/>
          <p:nvPr/>
        </p:nvSpPr>
        <p:spPr>
          <a:xfrm>
            <a:off x="4767136" y="4651722"/>
            <a:ext cx="167640" cy="167640"/>
          </a:xfrm>
          <a:custGeom>
            <a:avLst/>
            <a:gdLst/>
            <a:ahLst/>
            <a:cxnLst/>
            <a:rect l="l" t="t" r="r" b="b"/>
            <a:pathLst>
              <a:path w="167639" h="167639">
                <a:moveTo>
                  <a:pt x="83647" y="0"/>
                </a:moveTo>
                <a:lnTo>
                  <a:pt x="51087" y="6584"/>
                </a:lnTo>
                <a:lnTo>
                  <a:pt x="24499" y="24540"/>
                </a:lnTo>
                <a:lnTo>
                  <a:pt x="6573" y="51172"/>
                </a:lnTo>
                <a:lnTo>
                  <a:pt x="0" y="83785"/>
                </a:lnTo>
                <a:lnTo>
                  <a:pt x="6573" y="116398"/>
                </a:lnTo>
                <a:lnTo>
                  <a:pt x="24499" y="143030"/>
                </a:lnTo>
                <a:lnTo>
                  <a:pt x="51087" y="160985"/>
                </a:lnTo>
                <a:lnTo>
                  <a:pt x="83647" y="167570"/>
                </a:lnTo>
                <a:lnTo>
                  <a:pt x="116206" y="160985"/>
                </a:lnTo>
                <a:lnTo>
                  <a:pt x="142795" y="143030"/>
                </a:lnTo>
                <a:lnTo>
                  <a:pt x="160722" y="116398"/>
                </a:lnTo>
                <a:lnTo>
                  <a:pt x="167295" y="83785"/>
                </a:lnTo>
                <a:lnTo>
                  <a:pt x="160722" y="51172"/>
                </a:lnTo>
                <a:lnTo>
                  <a:pt x="142795" y="24540"/>
                </a:lnTo>
                <a:lnTo>
                  <a:pt x="116206" y="6584"/>
                </a:lnTo>
                <a:lnTo>
                  <a:pt x="83647" y="0"/>
                </a:lnTo>
                <a:close/>
              </a:path>
            </a:pathLst>
          </a:custGeom>
          <a:solidFill>
            <a:srgbClr val="000000"/>
          </a:solidFill>
        </p:spPr>
        <p:txBody>
          <a:bodyPr wrap="square" lIns="0" tIns="0" rIns="0" bIns="0" rtlCol="0"/>
          <a:lstStyle/>
          <a:p>
            <a:endParaRPr/>
          </a:p>
        </p:txBody>
      </p:sp>
      <p:sp>
        <p:nvSpPr>
          <p:cNvPr id="28" name="object 28"/>
          <p:cNvSpPr/>
          <p:nvPr/>
        </p:nvSpPr>
        <p:spPr>
          <a:xfrm>
            <a:off x="4767136" y="4651722"/>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9" name="object 29"/>
          <p:cNvSpPr/>
          <p:nvPr/>
        </p:nvSpPr>
        <p:spPr>
          <a:xfrm>
            <a:off x="4936291" y="4648230"/>
            <a:ext cx="167640" cy="167640"/>
          </a:xfrm>
          <a:custGeom>
            <a:avLst/>
            <a:gdLst/>
            <a:ahLst/>
            <a:cxnLst/>
            <a:rect l="l" t="t" r="r" b="b"/>
            <a:pathLst>
              <a:path w="167639" h="167639">
                <a:moveTo>
                  <a:pt x="83647" y="0"/>
                </a:moveTo>
                <a:lnTo>
                  <a:pt x="51087" y="6584"/>
                </a:lnTo>
                <a:lnTo>
                  <a:pt x="24499" y="24540"/>
                </a:lnTo>
                <a:lnTo>
                  <a:pt x="6573" y="51172"/>
                </a:lnTo>
                <a:lnTo>
                  <a:pt x="0" y="83785"/>
                </a:lnTo>
                <a:lnTo>
                  <a:pt x="6573" y="116398"/>
                </a:lnTo>
                <a:lnTo>
                  <a:pt x="24499" y="143030"/>
                </a:lnTo>
                <a:lnTo>
                  <a:pt x="51087" y="160985"/>
                </a:lnTo>
                <a:lnTo>
                  <a:pt x="83647" y="167570"/>
                </a:lnTo>
                <a:lnTo>
                  <a:pt x="116206" y="160985"/>
                </a:lnTo>
                <a:lnTo>
                  <a:pt x="142795" y="143030"/>
                </a:lnTo>
                <a:lnTo>
                  <a:pt x="160722" y="116398"/>
                </a:lnTo>
                <a:lnTo>
                  <a:pt x="167295" y="83785"/>
                </a:lnTo>
                <a:lnTo>
                  <a:pt x="160722" y="51172"/>
                </a:lnTo>
                <a:lnTo>
                  <a:pt x="142795" y="24540"/>
                </a:lnTo>
                <a:lnTo>
                  <a:pt x="116206" y="6584"/>
                </a:lnTo>
                <a:lnTo>
                  <a:pt x="83647" y="0"/>
                </a:lnTo>
                <a:close/>
              </a:path>
            </a:pathLst>
          </a:custGeom>
          <a:solidFill>
            <a:srgbClr val="000000"/>
          </a:solidFill>
        </p:spPr>
        <p:txBody>
          <a:bodyPr wrap="square" lIns="0" tIns="0" rIns="0" bIns="0" rtlCol="0"/>
          <a:lstStyle/>
          <a:p>
            <a:endParaRPr/>
          </a:p>
        </p:txBody>
      </p:sp>
      <p:sp>
        <p:nvSpPr>
          <p:cNvPr id="30" name="object 30"/>
          <p:cNvSpPr/>
          <p:nvPr/>
        </p:nvSpPr>
        <p:spPr>
          <a:xfrm>
            <a:off x="4936291" y="4648230"/>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31" name="object 31"/>
          <p:cNvSpPr/>
          <p:nvPr/>
        </p:nvSpPr>
        <p:spPr>
          <a:xfrm>
            <a:off x="5637076" y="4361051"/>
            <a:ext cx="167640" cy="167640"/>
          </a:xfrm>
          <a:custGeom>
            <a:avLst/>
            <a:gdLst/>
            <a:ahLst/>
            <a:cxnLst/>
            <a:rect l="l" t="t" r="r" b="b"/>
            <a:pathLst>
              <a:path w="167639"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32" name="object 32"/>
          <p:cNvSpPr/>
          <p:nvPr/>
        </p:nvSpPr>
        <p:spPr>
          <a:xfrm>
            <a:off x="5637076" y="4361051"/>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33" name="object 33"/>
          <p:cNvSpPr/>
          <p:nvPr/>
        </p:nvSpPr>
        <p:spPr>
          <a:xfrm>
            <a:off x="7200403" y="4632523"/>
            <a:ext cx="167640" cy="167640"/>
          </a:xfrm>
          <a:custGeom>
            <a:avLst/>
            <a:gdLst/>
            <a:ahLst/>
            <a:cxnLst/>
            <a:rect l="l" t="t" r="r" b="b"/>
            <a:pathLst>
              <a:path w="167640" h="167639">
                <a:moveTo>
                  <a:pt x="83647" y="0"/>
                </a:moveTo>
                <a:lnTo>
                  <a:pt x="51087" y="6584"/>
                </a:lnTo>
                <a:lnTo>
                  <a:pt x="24499" y="24539"/>
                </a:lnTo>
                <a:lnTo>
                  <a:pt x="6573" y="51171"/>
                </a:lnTo>
                <a:lnTo>
                  <a:pt x="0" y="83784"/>
                </a:lnTo>
                <a:lnTo>
                  <a:pt x="6573" y="116397"/>
                </a:lnTo>
                <a:lnTo>
                  <a:pt x="24499" y="143029"/>
                </a:lnTo>
                <a:lnTo>
                  <a:pt x="51087" y="160984"/>
                </a:lnTo>
                <a:lnTo>
                  <a:pt x="83647" y="167568"/>
                </a:lnTo>
                <a:lnTo>
                  <a:pt x="116206" y="160984"/>
                </a:lnTo>
                <a:lnTo>
                  <a:pt x="142795" y="143029"/>
                </a:lnTo>
                <a:lnTo>
                  <a:pt x="160722" y="116397"/>
                </a:lnTo>
                <a:lnTo>
                  <a:pt x="167295" y="83784"/>
                </a:lnTo>
                <a:lnTo>
                  <a:pt x="160722" y="51171"/>
                </a:lnTo>
                <a:lnTo>
                  <a:pt x="142795" y="24539"/>
                </a:lnTo>
                <a:lnTo>
                  <a:pt x="116206" y="6584"/>
                </a:lnTo>
                <a:lnTo>
                  <a:pt x="83647" y="0"/>
                </a:lnTo>
                <a:close/>
              </a:path>
            </a:pathLst>
          </a:custGeom>
          <a:solidFill>
            <a:srgbClr val="000000"/>
          </a:solidFill>
        </p:spPr>
        <p:txBody>
          <a:bodyPr wrap="square" lIns="0" tIns="0" rIns="0" bIns="0" rtlCol="0"/>
          <a:lstStyle/>
          <a:p>
            <a:endParaRPr/>
          </a:p>
        </p:txBody>
      </p:sp>
      <p:sp>
        <p:nvSpPr>
          <p:cNvPr id="34" name="object 34"/>
          <p:cNvSpPr/>
          <p:nvPr/>
        </p:nvSpPr>
        <p:spPr>
          <a:xfrm>
            <a:off x="7200403" y="4632523"/>
            <a:ext cx="167640" cy="167640"/>
          </a:xfrm>
          <a:custGeom>
            <a:avLst/>
            <a:gdLst/>
            <a:ahLst/>
            <a:cxnLst/>
            <a:rect l="l" t="t" r="r" b="b"/>
            <a:pathLst>
              <a:path w="167640" h="167639">
                <a:moveTo>
                  <a:pt x="0" y="83784"/>
                </a:moveTo>
                <a:lnTo>
                  <a:pt x="6573" y="51172"/>
                </a:lnTo>
                <a:lnTo>
                  <a:pt x="24499" y="24540"/>
                </a:lnTo>
                <a:lnTo>
                  <a:pt x="51088" y="6584"/>
                </a:lnTo>
                <a:lnTo>
                  <a:pt x="83647" y="0"/>
                </a:lnTo>
                <a:lnTo>
                  <a:pt x="116207" y="6584"/>
                </a:lnTo>
                <a:lnTo>
                  <a:pt x="142795" y="24540"/>
                </a:lnTo>
                <a:lnTo>
                  <a:pt x="160722" y="51172"/>
                </a:lnTo>
                <a:lnTo>
                  <a:pt x="167295" y="83784"/>
                </a:lnTo>
                <a:lnTo>
                  <a:pt x="160722" y="116397"/>
                </a:lnTo>
                <a:lnTo>
                  <a:pt x="142795"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35" name="object 35"/>
          <p:cNvSpPr/>
          <p:nvPr/>
        </p:nvSpPr>
        <p:spPr>
          <a:xfrm>
            <a:off x="5633746" y="4000897"/>
            <a:ext cx="167640" cy="167640"/>
          </a:xfrm>
          <a:custGeom>
            <a:avLst/>
            <a:gdLst/>
            <a:ahLst/>
            <a:cxnLst/>
            <a:rect l="l" t="t" r="r" b="b"/>
            <a:pathLst>
              <a:path w="167639" h="167639">
                <a:moveTo>
                  <a:pt x="83648" y="0"/>
                </a:moveTo>
                <a:lnTo>
                  <a:pt x="51088" y="6584"/>
                </a:lnTo>
                <a:lnTo>
                  <a:pt x="24500" y="24540"/>
                </a:lnTo>
                <a:lnTo>
                  <a:pt x="6573" y="51171"/>
                </a:lnTo>
                <a:lnTo>
                  <a:pt x="0" y="83784"/>
                </a:lnTo>
                <a:lnTo>
                  <a:pt x="6573" y="116397"/>
                </a:lnTo>
                <a:lnTo>
                  <a:pt x="24500" y="143029"/>
                </a:lnTo>
                <a:lnTo>
                  <a:pt x="51088" y="160985"/>
                </a:lnTo>
                <a:lnTo>
                  <a:pt x="83648" y="167570"/>
                </a:lnTo>
                <a:lnTo>
                  <a:pt x="116208" y="160985"/>
                </a:lnTo>
                <a:lnTo>
                  <a:pt x="142796" y="143029"/>
                </a:lnTo>
                <a:lnTo>
                  <a:pt x="160722" y="116397"/>
                </a:lnTo>
                <a:lnTo>
                  <a:pt x="167295" y="83784"/>
                </a:lnTo>
                <a:lnTo>
                  <a:pt x="160722" y="51171"/>
                </a:lnTo>
                <a:lnTo>
                  <a:pt x="142796" y="24540"/>
                </a:lnTo>
                <a:lnTo>
                  <a:pt x="116208" y="6584"/>
                </a:lnTo>
                <a:lnTo>
                  <a:pt x="83648" y="0"/>
                </a:lnTo>
                <a:close/>
              </a:path>
            </a:pathLst>
          </a:custGeom>
          <a:solidFill>
            <a:srgbClr val="D81E00"/>
          </a:solidFill>
        </p:spPr>
        <p:txBody>
          <a:bodyPr wrap="square" lIns="0" tIns="0" rIns="0" bIns="0" rtlCol="0"/>
          <a:lstStyle/>
          <a:p>
            <a:endParaRPr/>
          </a:p>
        </p:txBody>
      </p:sp>
      <p:sp>
        <p:nvSpPr>
          <p:cNvPr id="36" name="object 36"/>
          <p:cNvSpPr/>
          <p:nvPr/>
        </p:nvSpPr>
        <p:spPr>
          <a:xfrm>
            <a:off x="5633746" y="4000897"/>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37" name="object 37"/>
          <p:cNvSpPr/>
          <p:nvPr/>
        </p:nvSpPr>
        <p:spPr>
          <a:xfrm>
            <a:off x="4577567" y="4651722"/>
            <a:ext cx="167640" cy="167640"/>
          </a:xfrm>
          <a:custGeom>
            <a:avLst/>
            <a:gdLst/>
            <a:ahLst/>
            <a:cxnLst/>
            <a:rect l="l" t="t" r="r" b="b"/>
            <a:pathLst>
              <a:path w="167639" h="167639">
                <a:moveTo>
                  <a:pt x="83647" y="0"/>
                </a:moveTo>
                <a:lnTo>
                  <a:pt x="51087" y="6584"/>
                </a:lnTo>
                <a:lnTo>
                  <a:pt x="24499" y="24540"/>
                </a:lnTo>
                <a:lnTo>
                  <a:pt x="6573" y="51172"/>
                </a:lnTo>
                <a:lnTo>
                  <a:pt x="0" y="83785"/>
                </a:lnTo>
                <a:lnTo>
                  <a:pt x="6573" y="116398"/>
                </a:lnTo>
                <a:lnTo>
                  <a:pt x="24499" y="143030"/>
                </a:lnTo>
                <a:lnTo>
                  <a:pt x="51087" y="160985"/>
                </a:lnTo>
                <a:lnTo>
                  <a:pt x="83647" y="167570"/>
                </a:lnTo>
                <a:lnTo>
                  <a:pt x="116206" y="160985"/>
                </a:lnTo>
                <a:lnTo>
                  <a:pt x="142795" y="143030"/>
                </a:lnTo>
                <a:lnTo>
                  <a:pt x="160722" y="116398"/>
                </a:lnTo>
                <a:lnTo>
                  <a:pt x="167295" y="83785"/>
                </a:lnTo>
                <a:lnTo>
                  <a:pt x="160722" y="51172"/>
                </a:lnTo>
                <a:lnTo>
                  <a:pt x="142795" y="24540"/>
                </a:lnTo>
                <a:lnTo>
                  <a:pt x="116206" y="6584"/>
                </a:lnTo>
                <a:lnTo>
                  <a:pt x="83647" y="0"/>
                </a:lnTo>
                <a:close/>
              </a:path>
            </a:pathLst>
          </a:custGeom>
          <a:solidFill>
            <a:srgbClr val="D81E00"/>
          </a:solidFill>
        </p:spPr>
        <p:txBody>
          <a:bodyPr wrap="square" lIns="0" tIns="0" rIns="0" bIns="0" rtlCol="0"/>
          <a:lstStyle/>
          <a:p>
            <a:endParaRPr/>
          </a:p>
        </p:txBody>
      </p:sp>
      <p:sp>
        <p:nvSpPr>
          <p:cNvPr id="38" name="object 38"/>
          <p:cNvSpPr/>
          <p:nvPr/>
        </p:nvSpPr>
        <p:spPr>
          <a:xfrm>
            <a:off x="4577567" y="4651722"/>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39" name="object 39"/>
          <p:cNvSpPr/>
          <p:nvPr/>
        </p:nvSpPr>
        <p:spPr>
          <a:xfrm>
            <a:off x="7384323" y="4635097"/>
            <a:ext cx="167640" cy="167640"/>
          </a:xfrm>
          <a:custGeom>
            <a:avLst/>
            <a:gdLst/>
            <a:ahLst/>
            <a:cxnLst/>
            <a:rect l="l" t="t" r="r" b="b"/>
            <a:pathLst>
              <a:path w="167640" h="167639">
                <a:moveTo>
                  <a:pt x="83647" y="0"/>
                </a:moveTo>
                <a:lnTo>
                  <a:pt x="51088" y="6584"/>
                </a:lnTo>
                <a:lnTo>
                  <a:pt x="24500" y="24540"/>
                </a:lnTo>
                <a:lnTo>
                  <a:pt x="6573" y="51171"/>
                </a:lnTo>
                <a:lnTo>
                  <a:pt x="0" y="83784"/>
                </a:lnTo>
                <a:lnTo>
                  <a:pt x="6573" y="116397"/>
                </a:lnTo>
                <a:lnTo>
                  <a:pt x="24500" y="143029"/>
                </a:lnTo>
                <a:lnTo>
                  <a:pt x="51088" y="160985"/>
                </a:lnTo>
                <a:lnTo>
                  <a:pt x="83647" y="167570"/>
                </a:lnTo>
                <a:lnTo>
                  <a:pt x="116207" y="160985"/>
                </a:lnTo>
                <a:lnTo>
                  <a:pt x="142796" y="143029"/>
                </a:lnTo>
                <a:lnTo>
                  <a:pt x="160722" y="116397"/>
                </a:lnTo>
                <a:lnTo>
                  <a:pt x="167295" y="83784"/>
                </a:lnTo>
                <a:lnTo>
                  <a:pt x="160722" y="51171"/>
                </a:lnTo>
                <a:lnTo>
                  <a:pt x="142796" y="24540"/>
                </a:lnTo>
                <a:lnTo>
                  <a:pt x="116207" y="6584"/>
                </a:lnTo>
                <a:lnTo>
                  <a:pt x="83647" y="0"/>
                </a:lnTo>
                <a:close/>
              </a:path>
            </a:pathLst>
          </a:custGeom>
          <a:solidFill>
            <a:srgbClr val="D81E00"/>
          </a:solidFill>
        </p:spPr>
        <p:txBody>
          <a:bodyPr wrap="square" lIns="0" tIns="0" rIns="0" bIns="0" rtlCol="0"/>
          <a:lstStyle/>
          <a:p>
            <a:endParaRPr/>
          </a:p>
        </p:txBody>
      </p:sp>
      <p:sp>
        <p:nvSpPr>
          <p:cNvPr id="40" name="object 40"/>
          <p:cNvSpPr/>
          <p:nvPr/>
        </p:nvSpPr>
        <p:spPr>
          <a:xfrm>
            <a:off x="7384323" y="4635097"/>
            <a:ext cx="167640" cy="167640"/>
          </a:xfrm>
          <a:custGeom>
            <a:avLst/>
            <a:gdLst/>
            <a:ahLst/>
            <a:cxnLst/>
            <a:rect l="l" t="t" r="r" b="b"/>
            <a:pathLst>
              <a:path w="167640"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70"/>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41" name="object 41"/>
          <p:cNvSpPr/>
          <p:nvPr/>
        </p:nvSpPr>
        <p:spPr>
          <a:xfrm>
            <a:off x="5646405" y="5291801"/>
            <a:ext cx="167640" cy="167640"/>
          </a:xfrm>
          <a:custGeom>
            <a:avLst/>
            <a:gdLst/>
            <a:ahLst/>
            <a:cxnLst/>
            <a:rect l="l" t="t" r="r" b="b"/>
            <a:pathLst>
              <a:path w="167639" h="167639">
                <a:moveTo>
                  <a:pt x="83648" y="0"/>
                </a:moveTo>
                <a:lnTo>
                  <a:pt x="51088" y="6584"/>
                </a:lnTo>
                <a:lnTo>
                  <a:pt x="24500" y="24540"/>
                </a:lnTo>
                <a:lnTo>
                  <a:pt x="6573" y="51171"/>
                </a:lnTo>
                <a:lnTo>
                  <a:pt x="0" y="83784"/>
                </a:lnTo>
                <a:lnTo>
                  <a:pt x="6573" y="116397"/>
                </a:lnTo>
                <a:lnTo>
                  <a:pt x="24500" y="143029"/>
                </a:lnTo>
                <a:lnTo>
                  <a:pt x="51088" y="160985"/>
                </a:lnTo>
                <a:lnTo>
                  <a:pt x="83648" y="167570"/>
                </a:lnTo>
                <a:lnTo>
                  <a:pt x="116208" y="160985"/>
                </a:lnTo>
                <a:lnTo>
                  <a:pt x="142796" y="143029"/>
                </a:lnTo>
                <a:lnTo>
                  <a:pt x="160722" y="116397"/>
                </a:lnTo>
                <a:lnTo>
                  <a:pt x="167295" y="83784"/>
                </a:lnTo>
                <a:lnTo>
                  <a:pt x="160722" y="51171"/>
                </a:lnTo>
                <a:lnTo>
                  <a:pt x="142796" y="24540"/>
                </a:lnTo>
                <a:lnTo>
                  <a:pt x="116208" y="6584"/>
                </a:lnTo>
                <a:lnTo>
                  <a:pt x="83648" y="0"/>
                </a:lnTo>
                <a:close/>
              </a:path>
            </a:pathLst>
          </a:custGeom>
          <a:solidFill>
            <a:srgbClr val="D81E00"/>
          </a:solidFill>
        </p:spPr>
        <p:txBody>
          <a:bodyPr wrap="square" lIns="0" tIns="0" rIns="0" bIns="0" rtlCol="0"/>
          <a:lstStyle/>
          <a:p>
            <a:endParaRPr/>
          </a:p>
        </p:txBody>
      </p:sp>
      <p:sp>
        <p:nvSpPr>
          <p:cNvPr id="42" name="object 42"/>
          <p:cNvSpPr/>
          <p:nvPr/>
        </p:nvSpPr>
        <p:spPr>
          <a:xfrm>
            <a:off x="5646405" y="5291801"/>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70"/>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43" name="灯片编号占位符 42"/>
          <p:cNvSpPr>
            <a:spLocks noGrp="1"/>
          </p:cNvSpPr>
          <p:nvPr>
            <p:ph type="sldNum" sz="quarter" idx="12"/>
          </p:nvPr>
        </p:nvSpPr>
        <p:spPr/>
        <p:txBody>
          <a:bodyPr/>
          <a:lstStyle/>
          <a:p>
            <a:fld id="{74D2AB8B-5816-41F2-8B4B-CA5C3E4E6A65}" type="slidenum">
              <a:rPr lang="zh-CN" altLang="en-US" smtClean="0"/>
              <a:t>71</a:t>
            </a:fld>
            <a:endParaRPr lang="zh-CN" altLang="en-US"/>
          </a:p>
        </p:txBody>
      </p:sp>
      <p:sp>
        <p:nvSpPr>
          <p:cNvPr id="45" name="标题 44"/>
          <p:cNvSpPr>
            <a:spLocks noGrp="1"/>
          </p:cNvSpPr>
          <p:nvPr>
            <p:ph type="title"/>
          </p:nvPr>
        </p:nvSpPr>
        <p:spPr/>
        <p:txBody>
          <a:bodyPr/>
          <a:lstStyle/>
          <a:p>
            <a:r>
              <a:rPr lang="zh-CN" altLang="en-US" dirty="0"/>
              <a:t>健壮性测试</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1138462" y="1620151"/>
          <a:ext cx="9885045" cy="4407731"/>
        </p:xfrm>
        <a:graphic>
          <a:graphicData uri="http://schemas.openxmlformats.org/drawingml/2006/table">
            <a:tbl>
              <a:tblPr firstRow="1" bandRow="1">
                <a:tableStyleId>{2D5ABB26-0587-4C30-8999-92F81FD0307C}</a:tableStyleId>
              </a:tblPr>
              <a:tblGrid>
                <a:gridCol w="1149350">
                  <a:extLst>
                    <a:ext uri="{9D8B030D-6E8A-4147-A177-3AD203B41FA5}">
                      <a16:colId xmlns:a16="http://schemas.microsoft.com/office/drawing/2014/main" val="20000"/>
                    </a:ext>
                  </a:extLst>
                </a:gridCol>
                <a:gridCol w="2509520">
                  <a:extLst>
                    <a:ext uri="{9D8B030D-6E8A-4147-A177-3AD203B41FA5}">
                      <a16:colId xmlns:a16="http://schemas.microsoft.com/office/drawing/2014/main" val="20001"/>
                    </a:ext>
                  </a:extLst>
                </a:gridCol>
                <a:gridCol w="6226175">
                  <a:extLst>
                    <a:ext uri="{9D8B030D-6E8A-4147-A177-3AD203B41FA5}">
                      <a16:colId xmlns:a16="http://schemas.microsoft.com/office/drawing/2014/main" val="20002"/>
                    </a:ext>
                  </a:extLst>
                </a:gridCol>
              </a:tblGrid>
              <a:tr h="543562">
                <a:tc>
                  <a:txBody>
                    <a:bodyPr/>
                    <a:lstStyle/>
                    <a:p>
                      <a:pPr algn="ctr">
                        <a:lnSpc>
                          <a:spcPct val="100000"/>
                        </a:lnSpc>
                        <a:spcBef>
                          <a:spcPts val="1140"/>
                        </a:spcBef>
                      </a:pPr>
                      <a:r>
                        <a:rPr sz="2000" dirty="0">
                          <a:solidFill>
                            <a:srgbClr val="0033CC"/>
                          </a:solidFill>
                          <a:latin typeface="微软雅黑" panose="020B0503020204020204" pitchFamily="34" charset="-122"/>
                          <a:cs typeface="微软雅黑" panose="020B0503020204020204" pitchFamily="34" charset="-122"/>
                        </a:rPr>
                        <a:t>输入项</a:t>
                      </a:r>
                      <a:endParaRPr sz="2000">
                        <a:latin typeface="微软雅黑" panose="020B0503020204020204" pitchFamily="34" charset="-122"/>
                        <a:cs typeface="微软雅黑" panose="020B0503020204020204" pitchFamily="34" charset="-122"/>
                      </a:endParaRPr>
                    </a:p>
                  </a:txBody>
                  <a:tcPr marL="0" marR="0" marT="144780" marB="0">
                    <a:lnR w="1905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140"/>
                        </a:spcBef>
                      </a:pPr>
                      <a:r>
                        <a:rPr sz="2000" dirty="0">
                          <a:solidFill>
                            <a:srgbClr val="0033CC"/>
                          </a:solidFill>
                          <a:latin typeface="微软雅黑" panose="020B0503020204020204" pitchFamily="34" charset="-122"/>
                          <a:cs typeface="微软雅黑" panose="020B0503020204020204" pitchFamily="34" charset="-122"/>
                        </a:rPr>
                        <a:t>边界值</a:t>
                      </a:r>
                      <a:endParaRPr sz="2000">
                        <a:latin typeface="微软雅黑" panose="020B0503020204020204" pitchFamily="34" charset="-122"/>
                        <a:cs typeface="微软雅黑" panose="020B0503020204020204" pitchFamily="34" charset="-122"/>
                      </a:endParaRPr>
                    </a:p>
                  </a:txBody>
                  <a:tcPr marL="0" marR="0" marT="144780" marB="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140"/>
                        </a:spcBef>
                      </a:pPr>
                      <a:r>
                        <a:rPr sz="2000" dirty="0">
                          <a:solidFill>
                            <a:srgbClr val="0033CC"/>
                          </a:solidFill>
                          <a:latin typeface="微软雅黑" panose="020B0503020204020204" pitchFamily="34" charset="-122"/>
                          <a:cs typeface="微软雅黑" panose="020B0503020204020204" pitchFamily="34" charset="-122"/>
                        </a:rPr>
                        <a:t>测试用例的设计思路</a:t>
                      </a:r>
                      <a:endParaRPr sz="2000">
                        <a:latin typeface="微软雅黑" panose="020B0503020204020204" pitchFamily="34" charset="-122"/>
                        <a:cs typeface="微软雅黑" panose="020B0503020204020204" pitchFamily="34" charset="-122"/>
                      </a:endParaRPr>
                    </a:p>
                  </a:txBody>
                  <a:tcPr marL="0" marR="0" marT="144780" marB="0">
                    <a:lnL w="1905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1680629">
                <a:tc>
                  <a:txBody>
                    <a:bodyPr/>
                    <a:lstStyle/>
                    <a:p>
                      <a:pPr>
                        <a:lnSpc>
                          <a:spcPct val="100000"/>
                        </a:lnSpc>
                      </a:pPr>
                      <a:endParaRPr sz="2600" dirty="0">
                        <a:latin typeface="Times New Roman" panose="02020603050405020304"/>
                        <a:cs typeface="Times New Roman" panose="02020603050405020304"/>
                      </a:endParaRPr>
                    </a:p>
                    <a:p>
                      <a:pPr>
                        <a:lnSpc>
                          <a:spcPct val="100000"/>
                        </a:lnSpc>
                        <a:spcBef>
                          <a:spcPts val="35"/>
                        </a:spcBef>
                      </a:pPr>
                      <a:endParaRPr sz="2250" dirty="0">
                        <a:latin typeface="Times New Roman" panose="02020603050405020304"/>
                        <a:cs typeface="Times New Roman" panose="02020603050405020304"/>
                      </a:endParaRPr>
                    </a:p>
                    <a:p>
                      <a:pPr algn="ctr">
                        <a:lnSpc>
                          <a:spcPct val="100000"/>
                        </a:lnSpc>
                        <a:spcBef>
                          <a:spcPts val="5"/>
                        </a:spcBef>
                      </a:pPr>
                      <a:r>
                        <a:rPr sz="2000" dirty="0">
                          <a:latin typeface="微软雅黑" panose="020B0503020204020204" pitchFamily="34" charset="-122"/>
                          <a:cs typeface="微软雅黑" panose="020B0503020204020204" pitchFamily="34" charset="-122"/>
                        </a:rPr>
                        <a:t>字符</a:t>
                      </a:r>
                    </a:p>
                  </a:txBody>
                  <a:tcPr marL="0" marR="0" marT="0" marB="0">
                    <a:lnR w="19050">
                      <a:solidFill>
                        <a:srgbClr val="000000"/>
                      </a:solidFill>
                      <a:prstDash val="solid"/>
                    </a:lnR>
                    <a:lnT w="28575">
                      <a:solidFill>
                        <a:srgbClr val="000000"/>
                      </a:solidFill>
                      <a:prstDash val="solid"/>
                    </a:lnT>
                    <a:lnB w="19050">
                      <a:solidFill>
                        <a:srgbClr val="000000"/>
                      </a:solidFill>
                      <a:prstDash val="solid"/>
                    </a:lnB>
                  </a:tcPr>
                </a:tc>
                <a:tc>
                  <a:txBody>
                    <a:bodyPr/>
                    <a:lstStyle/>
                    <a:p>
                      <a:pPr>
                        <a:lnSpc>
                          <a:spcPct val="100000"/>
                        </a:lnSpc>
                        <a:spcBef>
                          <a:spcPts val="5"/>
                        </a:spcBef>
                      </a:pPr>
                      <a:endParaRPr sz="2650">
                        <a:latin typeface="Times New Roman" panose="02020603050405020304"/>
                        <a:cs typeface="Times New Roman" panose="02020603050405020304"/>
                      </a:endParaRPr>
                    </a:p>
                    <a:p>
                      <a:pPr marL="431165" marR="404495">
                        <a:lnSpc>
                          <a:spcPct val="137000"/>
                        </a:lnSpc>
                      </a:pPr>
                      <a:r>
                        <a:rPr sz="2000" dirty="0">
                          <a:latin typeface="微软雅黑" panose="020B0503020204020204" pitchFamily="34" charset="-122"/>
                          <a:cs typeface="微软雅黑" panose="020B0503020204020204" pitchFamily="34" charset="-122"/>
                        </a:rPr>
                        <a:t>起始﹣</a:t>
                      </a:r>
                      <a:r>
                        <a:rPr sz="2000" dirty="0">
                          <a:latin typeface="Arial" panose="020B0604020202020204"/>
                          <a:cs typeface="Arial" panose="020B0604020202020204"/>
                        </a:rPr>
                        <a:t>1</a:t>
                      </a:r>
                      <a:r>
                        <a:rPr sz="2000" dirty="0">
                          <a:latin typeface="微软雅黑" panose="020B0503020204020204" pitchFamily="34" charset="-122"/>
                          <a:cs typeface="微软雅黑" panose="020B0503020204020204" pitchFamily="34" charset="-122"/>
                        </a:rPr>
                        <a:t>个字符 结束﹢</a:t>
                      </a:r>
                      <a:r>
                        <a:rPr sz="2000" dirty="0">
                          <a:latin typeface="Arial" panose="020B0604020202020204"/>
                          <a:cs typeface="Arial" panose="020B0604020202020204"/>
                        </a:rPr>
                        <a:t>1</a:t>
                      </a:r>
                      <a:r>
                        <a:rPr sz="2000" dirty="0">
                          <a:latin typeface="微软雅黑" panose="020B0503020204020204" pitchFamily="34" charset="-122"/>
                          <a:cs typeface="微软雅黑" panose="020B0503020204020204" pitchFamily="34" charset="-122"/>
                        </a:rPr>
                        <a:t>个字符</a:t>
                      </a:r>
                      <a:endParaRPr sz="2000">
                        <a:latin typeface="微软雅黑" panose="020B0503020204020204" pitchFamily="34" charset="-122"/>
                        <a:cs typeface="微软雅黑" panose="020B0503020204020204" pitchFamily="34" charset="-122"/>
                      </a:endParaRPr>
                    </a:p>
                  </a:txBody>
                  <a:tcPr marL="0" marR="0" marT="635" marB="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tcPr>
                </a:tc>
                <a:tc>
                  <a:txBody>
                    <a:bodyPr/>
                    <a:lstStyle/>
                    <a:p>
                      <a:pPr marL="287655" marR="20320">
                        <a:lnSpc>
                          <a:spcPct val="119000"/>
                        </a:lnSpc>
                        <a:spcBef>
                          <a:spcPts val="830"/>
                        </a:spcBef>
                        <a:tabLst>
                          <a:tab pos="5015865" algn="l"/>
                        </a:tabLst>
                      </a:pPr>
                      <a:r>
                        <a:rPr sz="2000" spc="190" dirty="0">
                          <a:latin typeface="微软雅黑" panose="020B0503020204020204" pitchFamily="34" charset="-122"/>
                          <a:cs typeface="微软雅黑" panose="020B0503020204020204" pitchFamily="34" charset="-122"/>
                        </a:rPr>
                        <a:t>假设一个文本输入区域允许输</a:t>
                      </a:r>
                      <a:r>
                        <a:rPr sz="2000" spc="195" dirty="0">
                          <a:latin typeface="微软雅黑" panose="020B0503020204020204" pitchFamily="34" charset="-122"/>
                          <a:cs typeface="微软雅黑" panose="020B0503020204020204" pitchFamily="34" charset="-122"/>
                        </a:rPr>
                        <a:t>入</a:t>
                      </a:r>
                      <a:r>
                        <a:rPr sz="2000" dirty="0">
                          <a:latin typeface="Arial" panose="020B0604020202020204"/>
                          <a:cs typeface="Arial" panose="020B0604020202020204"/>
                        </a:rPr>
                        <a:t>1</a:t>
                      </a:r>
                      <a:r>
                        <a:rPr sz="2000" spc="-405" dirty="0">
                          <a:latin typeface="Arial" panose="020B0604020202020204"/>
                          <a:cs typeface="Arial" panose="020B0604020202020204"/>
                        </a:rPr>
                        <a:t> </a:t>
                      </a:r>
                      <a:r>
                        <a:rPr sz="2000" spc="190" dirty="0">
                          <a:latin typeface="微软雅黑" panose="020B0503020204020204" pitchFamily="34" charset="-122"/>
                          <a:cs typeface="微软雅黑" panose="020B0503020204020204" pitchFamily="34" charset="-122"/>
                        </a:rPr>
                        <a:t>到</a:t>
                      </a:r>
                      <a:r>
                        <a:rPr sz="2000" spc="125" dirty="0">
                          <a:latin typeface="Arial" panose="020B0604020202020204"/>
                          <a:cs typeface="Arial" panose="020B0604020202020204"/>
                        </a:rPr>
                        <a:t>255</a:t>
                      </a:r>
                      <a:r>
                        <a:rPr sz="2000" spc="-400" dirty="0">
                          <a:latin typeface="Arial" panose="020B0604020202020204"/>
                          <a:cs typeface="Arial" panose="020B0604020202020204"/>
                        </a:rPr>
                        <a:t> </a:t>
                      </a:r>
                      <a:r>
                        <a:rPr sz="2000" spc="190" dirty="0">
                          <a:latin typeface="微软雅黑" panose="020B0503020204020204" pitchFamily="34" charset="-122"/>
                          <a:cs typeface="微软雅黑" panose="020B0503020204020204" pitchFamily="34" charset="-122"/>
                        </a:rPr>
                        <a:t>个字</a:t>
                      </a:r>
                      <a:r>
                        <a:rPr sz="2000" dirty="0">
                          <a:latin typeface="微软雅黑" panose="020B0503020204020204" pitchFamily="34" charset="-122"/>
                          <a:cs typeface="微软雅黑" panose="020B0503020204020204" pitchFamily="34" charset="-122"/>
                        </a:rPr>
                        <a:t>符，  </a:t>
                      </a:r>
                      <a:r>
                        <a:rPr sz="2000" spc="60" dirty="0">
                          <a:latin typeface="微软雅黑" panose="020B0503020204020204" pitchFamily="34" charset="-122"/>
                          <a:cs typeface="微软雅黑" panose="020B0503020204020204" pitchFamily="34" charset="-122"/>
                        </a:rPr>
                        <a:t>输入</a:t>
                      </a:r>
                      <a:r>
                        <a:rPr sz="2000" spc="60" dirty="0">
                          <a:latin typeface="Arial" panose="020B0604020202020204"/>
                          <a:cs typeface="Arial" panose="020B0604020202020204"/>
                        </a:rPr>
                        <a:t>1</a:t>
                      </a:r>
                      <a:r>
                        <a:rPr sz="2000" spc="60" dirty="0">
                          <a:latin typeface="微软雅黑" panose="020B0503020204020204" pitchFamily="34" charset="-122"/>
                          <a:cs typeface="微软雅黑" panose="020B0503020204020204" pitchFamily="34" charset="-122"/>
                        </a:rPr>
                        <a:t>个和</a:t>
                      </a:r>
                      <a:r>
                        <a:rPr sz="2000" spc="60" dirty="0">
                          <a:latin typeface="Arial" panose="020B0604020202020204"/>
                          <a:cs typeface="Arial" panose="020B0604020202020204"/>
                        </a:rPr>
                        <a:t>255</a:t>
                      </a:r>
                      <a:r>
                        <a:rPr sz="2000" spc="60" dirty="0">
                          <a:latin typeface="微软雅黑" panose="020B0503020204020204" pitchFamily="34" charset="-122"/>
                          <a:cs typeface="微软雅黑" panose="020B0503020204020204" pitchFamily="34" charset="-122"/>
                        </a:rPr>
                        <a:t>个字符作为有效等价类</a:t>
                      </a:r>
                      <a:r>
                        <a:rPr sz="2000" dirty="0">
                          <a:latin typeface="微软雅黑" panose="020B0503020204020204" pitchFamily="34" charset="-122"/>
                          <a:cs typeface="微软雅黑" panose="020B0503020204020204" pitchFamily="34" charset="-122"/>
                        </a:rPr>
                        <a:t>；	</a:t>
                      </a:r>
                      <a:r>
                        <a:rPr sz="2000" spc="60" dirty="0">
                          <a:latin typeface="微软雅黑" panose="020B0503020204020204" pitchFamily="34" charset="-122"/>
                          <a:cs typeface="微软雅黑" panose="020B0503020204020204" pitchFamily="34" charset="-122"/>
                        </a:rPr>
                        <a:t>输入</a:t>
                      </a:r>
                      <a:r>
                        <a:rPr sz="2000" spc="60" dirty="0">
                          <a:latin typeface="Arial" panose="020B0604020202020204"/>
                          <a:cs typeface="Arial" panose="020B0604020202020204"/>
                        </a:rPr>
                        <a:t>0</a:t>
                      </a:r>
                      <a:r>
                        <a:rPr sz="2000" dirty="0">
                          <a:latin typeface="微软雅黑" panose="020B0503020204020204" pitchFamily="34" charset="-122"/>
                          <a:cs typeface="微软雅黑" panose="020B0503020204020204" pitchFamily="34" charset="-122"/>
                        </a:rPr>
                        <a:t>个 </a:t>
                      </a:r>
                      <a:r>
                        <a:rPr sz="2000" spc="150" dirty="0">
                          <a:latin typeface="微软雅黑" panose="020B0503020204020204" pitchFamily="34" charset="-122"/>
                          <a:cs typeface="微软雅黑" panose="020B0503020204020204" pitchFamily="34" charset="-122"/>
                        </a:rPr>
                        <a:t>和</a:t>
                      </a:r>
                      <a:r>
                        <a:rPr sz="2000" spc="150" dirty="0">
                          <a:latin typeface="Arial" panose="020B0604020202020204"/>
                          <a:cs typeface="Arial" panose="020B0604020202020204"/>
                        </a:rPr>
                        <a:t>256</a:t>
                      </a:r>
                      <a:r>
                        <a:rPr sz="2000" spc="150" dirty="0">
                          <a:latin typeface="微软雅黑" panose="020B0503020204020204" pitchFamily="34" charset="-122"/>
                          <a:cs typeface="微软雅黑" panose="020B0503020204020204" pitchFamily="34" charset="-122"/>
                        </a:rPr>
                        <a:t>个字符作为无效等价类，这几个数值都属 </a:t>
                      </a:r>
                      <a:r>
                        <a:rPr sz="2000" dirty="0">
                          <a:latin typeface="微软雅黑" panose="020B0503020204020204" pitchFamily="34" charset="-122"/>
                          <a:cs typeface="微软雅黑" panose="020B0503020204020204" pitchFamily="34" charset="-122"/>
                        </a:rPr>
                        <a:t>于边界条件值。</a:t>
                      </a:r>
                      <a:endParaRPr sz="2000">
                        <a:latin typeface="微软雅黑" panose="020B0503020204020204" pitchFamily="34" charset="-122"/>
                        <a:cs typeface="微软雅黑" panose="020B0503020204020204" pitchFamily="34" charset="-122"/>
                      </a:endParaRPr>
                    </a:p>
                  </a:txBody>
                  <a:tcPr marL="0" marR="0" marT="105410" marB="0">
                    <a:lnL w="19050">
                      <a:solidFill>
                        <a:srgbClr val="000000"/>
                      </a:solidFill>
                      <a:prstDash val="solid"/>
                    </a:lnL>
                    <a:lnT w="28575">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1283061">
                <a:tc>
                  <a:txBody>
                    <a:bodyPr/>
                    <a:lstStyle/>
                    <a:p>
                      <a:pPr>
                        <a:lnSpc>
                          <a:spcPct val="100000"/>
                        </a:lnSpc>
                        <a:spcBef>
                          <a:spcPts val="25"/>
                        </a:spcBef>
                      </a:pPr>
                      <a:endParaRPr sz="35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数值</a:t>
                      </a:r>
                      <a:endParaRPr sz="2000">
                        <a:latin typeface="微软雅黑" panose="020B0503020204020204" pitchFamily="34" charset="-122"/>
                        <a:cs typeface="微软雅黑" panose="020B0503020204020204" pitchFamily="34" charset="-122"/>
                      </a:endParaRPr>
                    </a:p>
                  </a:txBody>
                  <a:tcPr marL="0" marR="0" marT="3175" marB="0">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704215" marR="639445">
                        <a:lnSpc>
                          <a:spcPct val="137000"/>
                        </a:lnSpc>
                        <a:spcBef>
                          <a:spcPts val="1490"/>
                        </a:spcBef>
                      </a:pPr>
                      <a:r>
                        <a:rPr sz="2000" dirty="0">
                          <a:latin typeface="微软雅黑" panose="020B0503020204020204" pitchFamily="34" charset="-122"/>
                          <a:cs typeface="微软雅黑" panose="020B0503020204020204" pitchFamily="34" charset="-122"/>
                        </a:rPr>
                        <a:t>最小值﹣</a:t>
                      </a:r>
                      <a:r>
                        <a:rPr sz="2000" dirty="0">
                          <a:latin typeface="Arial" panose="020B0604020202020204"/>
                          <a:cs typeface="Arial" panose="020B0604020202020204"/>
                        </a:rPr>
                        <a:t>1 </a:t>
                      </a:r>
                      <a:r>
                        <a:rPr sz="2000" dirty="0">
                          <a:latin typeface="微软雅黑" panose="020B0503020204020204" pitchFamily="34" charset="-122"/>
                          <a:cs typeface="微软雅黑" panose="020B0503020204020204" pitchFamily="34" charset="-122"/>
                        </a:rPr>
                        <a:t>最大值﹢</a:t>
                      </a: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1892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287655" marR="252730" algn="just">
                        <a:lnSpc>
                          <a:spcPct val="119000"/>
                        </a:lnSpc>
                        <a:spcBef>
                          <a:spcPts val="720"/>
                        </a:spcBef>
                      </a:pPr>
                      <a:r>
                        <a:rPr sz="2000" spc="170" dirty="0">
                          <a:latin typeface="微软雅黑" panose="020B0503020204020204" pitchFamily="34" charset="-122"/>
                          <a:cs typeface="微软雅黑" panose="020B0503020204020204" pitchFamily="34" charset="-122"/>
                        </a:rPr>
                        <a:t>假设某软件要求输入</a:t>
                      </a:r>
                      <a:r>
                        <a:rPr sz="2000" spc="170" dirty="0">
                          <a:latin typeface="Arial" panose="020B0604020202020204"/>
                          <a:cs typeface="Arial" panose="020B0604020202020204"/>
                        </a:rPr>
                        <a:t>5</a:t>
                      </a:r>
                      <a:r>
                        <a:rPr sz="2000" spc="170" dirty="0">
                          <a:latin typeface="微软雅黑" panose="020B0503020204020204" pitchFamily="34" charset="-122"/>
                          <a:cs typeface="微软雅黑" panose="020B0503020204020204" pitchFamily="34" charset="-122"/>
                        </a:rPr>
                        <a:t>位十进制整数值</a:t>
                      </a:r>
                      <a:r>
                        <a:rPr sz="2000" dirty="0">
                          <a:latin typeface="微软雅黑" panose="020B0503020204020204" pitchFamily="34" charset="-122"/>
                          <a:cs typeface="微软雅黑" panose="020B0503020204020204" pitchFamily="34" charset="-122"/>
                        </a:rPr>
                        <a:t>，</a:t>
                      </a:r>
                      <a:r>
                        <a:rPr sz="2000" spc="-509" dirty="0">
                          <a:latin typeface="微软雅黑" panose="020B0503020204020204" pitchFamily="34" charset="-122"/>
                          <a:cs typeface="微软雅黑" panose="020B0503020204020204" pitchFamily="34" charset="-122"/>
                        </a:rPr>
                        <a:t> </a:t>
                      </a:r>
                      <a:r>
                        <a:rPr sz="2000" spc="170" dirty="0">
                          <a:latin typeface="微软雅黑" panose="020B0503020204020204" pitchFamily="34" charset="-122"/>
                          <a:cs typeface="微软雅黑" panose="020B0503020204020204" pitchFamily="34" charset="-122"/>
                        </a:rPr>
                        <a:t>可以使 </a:t>
                      </a:r>
                      <a:r>
                        <a:rPr sz="2000" spc="140" dirty="0">
                          <a:latin typeface="微软雅黑" panose="020B0503020204020204" pitchFamily="34" charset="-122"/>
                          <a:cs typeface="微软雅黑" panose="020B0503020204020204" pitchFamily="34" charset="-122"/>
                        </a:rPr>
                        <a:t>用</a:t>
                      </a:r>
                      <a:r>
                        <a:rPr sz="2000" spc="140" dirty="0">
                          <a:latin typeface="Arial" panose="020B0604020202020204"/>
                          <a:cs typeface="Arial" panose="020B0604020202020204"/>
                        </a:rPr>
                        <a:t>10000</a:t>
                      </a:r>
                      <a:r>
                        <a:rPr sz="2000" spc="140" dirty="0">
                          <a:latin typeface="微软雅黑" panose="020B0503020204020204" pitchFamily="34" charset="-122"/>
                          <a:cs typeface="微软雅黑" panose="020B0503020204020204" pitchFamily="34" charset="-122"/>
                        </a:rPr>
                        <a:t>作为最小值、</a:t>
                      </a:r>
                      <a:r>
                        <a:rPr sz="2000" spc="140" dirty="0">
                          <a:latin typeface="Arial" panose="020B0604020202020204"/>
                          <a:cs typeface="Arial" panose="020B0604020202020204"/>
                        </a:rPr>
                        <a:t>99999</a:t>
                      </a:r>
                      <a:r>
                        <a:rPr sz="2000" spc="140" dirty="0">
                          <a:latin typeface="微软雅黑" panose="020B0503020204020204" pitchFamily="34" charset="-122"/>
                          <a:cs typeface="微软雅黑" panose="020B0503020204020204" pitchFamily="34" charset="-122"/>
                        </a:rPr>
                        <a:t>作为最大值；然后 </a:t>
                      </a:r>
                      <a:r>
                        <a:rPr sz="2000" dirty="0">
                          <a:latin typeface="微软雅黑" panose="020B0503020204020204" pitchFamily="34" charset="-122"/>
                          <a:cs typeface="微软雅黑" panose="020B0503020204020204" pitchFamily="34" charset="-122"/>
                        </a:rPr>
                        <a:t>使用刚好小于</a:t>
                      </a:r>
                      <a:r>
                        <a:rPr sz="2000" dirty="0">
                          <a:latin typeface="Arial" panose="020B0604020202020204"/>
                          <a:cs typeface="Arial" panose="020B0604020202020204"/>
                        </a:rPr>
                        <a:t>5</a:t>
                      </a:r>
                      <a:r>
                        <a:rPr sz="2000" dirty="0">
                          <a:latin typeface="微软雅黑" panose="020B0503020204020204" pitchFamily="34" charset="-122"/>
                          <a:cs typeface="微软雅黑" panose="020B0503020204020204" pitchFamily="34" charset="-122"/>
                        </a:rPr>
                        <a:t>位和大于</a:t>
                      </a:r>
                      <a:r>
                        <a:rPr sz="2000" dirty="0">
                          <a:latin typeface="Arial" panose="020B0604020202020204"/>
                          <a:cs typeface="Arial" panose="020B0604020202020204"/>
                        </a:rPr>
                        <a:t>5</a:t>
                      </a:r>
                      <a:r>
                        <a:rPr sz="2000" dirty="0">
                          <a:latin typeface="微软雅黑" panose="020B0503020204020204" pitchFamily="34" charset="-122"/>
                          <a:cs typeface="微软雅黑" panose="020B0503020204020204" pitchFamily="34" charset="-122"/>
                        </a:rPr>
                        <a:t>位的数值作为边界条件。</a:t>
                      </a:r>
                      <a:endParaRPr sz="2000">
                        <a:latin typeface="微软雅黑" panose="020B0503020204020204" pitchFamily="34" charset="-122"/>
                        <a:cs typeface="微软雅黑" panose="020B0503020204020204" pitchFamily="34" charset="-122"/>
                      </a:endParaRPr>
                    </a:p>
                  </a:txBody>
                  <a:tcPr marL="0" marR="0" marT="91440" marB="0">
                    <a:lnL w="19050">
                      <a:solidFill>
                        <a:srgbClr val="000000"/>
                      </a:solidFill>
                      <a:prstDash val="solid"/>
                    </a:lnL>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900479">
                <a:tc>
                  <a:txBody>
                    <a:bodyPr/>
                    <a:lstStyle/>
                    <a:p>
                      <a:pPr>
                        <a:lnSpc>
                          <a:spcPct val="100000"/>
                        </a:lnSpc>
                        <a:spcBef>
                          <a:spcPts val="15"/>
                        </a:spcBef>
                      </a:pPr>
                      <a:endParaRPr sz="22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空间</a:t>
                      </a:r>
                      <a:endParaRPr sz="2000">
                        <a:latin typeface="微软雅黑" panose="020B0503020204020204" pitchFamily="34" charset="-122"/>
                        <a:cs typeface="微软雅黑" panose="020B0503020204020204" pitchFamily="34" charset="-122"/>
                      </a:endParaRPr>
                    </a:p>
                  </a:txBody>
                  <a:tcPr marL="0" marR="0" marT="1905" marB="0">
                    <a:lnR w="19050">
                      <a:solidFill>
                        <a:srgbClr val="000000"/>
                      </a:solidFill>
                      <a:prstDash val="solid"/>
                    </a:lnR>
                    <a:lnT w="19050">
                      <a:solidFill>
                        <a:srgbClr val="000000"/>
                      </a:solidFill>
                      <a:prstDash val="solid"/>
                    </a:lnT>
                    <a:lnB w="28575">
                      <a:solidFill>
                        <a:srgbClr val="000000"/>
                      </a:solidFill>
                      <a:prstDash val="solid"/>
                    </a:lnB>
                  </a:tcPr>
                </a:tc>
                <a:tc>
                  <a:txBody>
                    <a:bodyPr/>
                    <a:lstStyle/>
                    <a:p>
                      <a:pPr marL="370205" marR="226060" indent="-127000">
                        <a:lnSpc>
                          <a:spcPts val="3280"/>
                        </a:lnSpc>
                        <a:spcBef>
                          <a:spcPts val="240"/>
                        </a:spcBef>
                      </a:pPr>
                      <a:r>
                        <a:rPr sz="2000" dirty="0">
                          <a:latin typeface="微软雅黑" panose="020B0503020204020204" pitchFamily="34" charset="-122"/>
                          <a:cs typeface="微软雅黑" panose="020B0503020204020204" pitchFamily="34" charset="-122"/>
                        </a:rPr>
                        <a:t>小于空余空间一点 大于满空间一点</a:t>
                      </a:r>
                      <a:endParaRPr sz="2000">
                        <a:latin typeface="微软雅黑" panose="020B0503020204020204" pitchFamily="34" charset="-122"/>
                        <a:cs typeface="微软雅黑" panose="020B0503020204020204" pitchFamily="34" charset="-122"/>
                      </a:endParaRPr>
                    </a:p>
                  </a:txBody>
                  <a:tcPr marL="0" marR="0" marT="3048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tc>
                  <a:txBody>
                    <a:bodyPr/>
                    <a:lstStyle/>
                    <a:p>
                      <a:pPr marL="287655" marR="254635">
                        <a:lnSpc>
                          <a:spcPct val="117000"/>
                        </a:lnSpc>
                        <a:spcBef>
                          <a:spcPts val="705"/>
                        </a:spcBef>
                      </a:pPr>
                      <a:r>
                        <a:rPr sz="2000" spc="150" dirty="0">
                          <a:latin typeface="微软雅黑" panose="020B0503020204020204" pitchFamily="34" charset="-122"/>
                          <a:cs typeface="微软雅黑" panose="020B0503020204020204" pitchFamily="34" charset="-122"/>
                        </a:rPr>
                        <a:t>例如在用</a:t>
                      </a:r>
                      <a:r>
                        <a:rPr sz="2000" spc="150" dirty="0">
                          <a:latin typeface="Arial" panose="020B0604020202020204"/>
                          <a:cs typeface="Arial" panose="020B0604020202020204"/>
                        </a:rPr>
                        <a:t>U</a:t>
                      </a:r>
                      <a:r>
                        <a:rPr sz="2000" spc="150" dirty="0">
                          <a:latin typeface="微软雅黑" panose="020B0503020204020204" pitchFamily="34" charset="-122"/>
                          <a:cs typeface="微软雅黑" panose="020B0503020204020204" pitchFamily="34" charset="-122"/>
                        </a:rPr>
                        <a:t>盘存储数据时，使用比剩余磁盘空间 </a:t>
                      </a:r>
                      <a:r>
                        <a:rPr sz="2000" dirty="0">
                          <a:latin typeface="微软雅黑" panose="020B0503020204020204" pitchFamily="34" charset="-122"/>
                          <a:cs typeface="微软雅黑" panose="020B0503020204020204" pitchFamily="34" charset="-122"/>
                        </a:rPr>
                        <a:t>大一点（几</a:t>
                      </a:r>
                      <a:r>
                        <a:rPr sz="2000" spc="-10"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KB</a:t>
                      </a:r>
                      <a:r>
                        <a:rPr sz="2000" dirty="0">
                          <a:latin typeface="微软雅黑" panose="020B0503020204020204" pitchFamily="34" charset="-122"/>
                          <a:cs typeface="微软雅黑" panose="020B0503020204020204" pitchFamily="34" charset="-122"/>
                        </a:rPr>
                        <a:t>）的文件作为边界条件。</a:t>
                      </a:r>
                    </a:p>
                  </a:txBody>
                  <a:tcPr marL="0" marR="0" marT="89535" marB="0">
                    <a:lnL w="19050">
                      <a:solidFill>
                        <a:srgbClr val="000000"/>
                      </a:solidFill>
                      <a:prstDash val="solid"/>
                    </a:lnL>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灯片编号占位符 3"/>
          <p:cNvSpPr>
            <a:spLocks noGrp="1"/>
          </p:cNvSpPr>
          <p:nvPr>
            <p:ph type="sldNum" sz="quarter" idx="12"/>
          </p:nvPr>
        </p:nvSpPr>
        <p:spPr/>
        <p:txBody>
          <a:bodyPr/>
          <a:lstStyle/>
          <a:p>
            <a:fld id="{74D2AB8B-5816-41F2-8B4B-CA5C3E4E6A65}" type="slidenum">
              <a:rPr lang="zh-CN" altLang="en-US" smtClean="0"/>
              <a:t>72</a:t>
            </a:fld>
            <a:endParaRPr lang="zh-CN" altLang="en-US"/>
          </a:p>
        </p:txBody>
      </p:sp>
      <p:sp>
        <p:nvSpPr>
          <p:cNvPr id="6" name="标题 5"/>
          <p:cNvSpPr>
            <a:spLocks noGrp="1"/>
          </p:cNvSpPr>
          <p:nvPr>
            <p:ph type="title"/>
          </p:nvPr>
        </p:nvSpPr>
        <p:spPr/>
        <p:txBody>
          <a:bodyPr/>
          <a:lstStyle/>
          <a:p>
            <a:r>
              <a:rPr lang="zh-CN" altLang="en-US" dirty="0"/>
              <a:t>健壮性测试</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7133" y="1521585"/>
            <a:ext cx="3096260" cy="540385"/>
          </a:xfrm>
          <a:prstGeom prst="rect">
            <a:avLst/>
          </a:prstGeom>
          <a:solidFill>
            <a:srgbClr val="797BA9"/>
          </a:solidFill>
        </p:spPr>
        <p:txBody>
          <a:bodyPr vert="horz" wrap="square" lIns="0" tIns="117475" rIns="0" bIns="0" rtlCol="0">
            <a:spAutoFit/>
          </a:bodyPr>
          <a:lstStyle/>
          <a:p>
            <a:pPr marL="408940">
              <a:lnSpc>
                <a:spcPct val="100000"/>
              </a:lnSpc>
              <a:spcBef>
                <a:spcPts val="925"/>
              </a:spcBef>
            </a:pPr>
            <a:r>
              <a:rPr sz="2000" dirty="0">
                <a:solidFill>
                  <a:srgbClr val="FFFFFF"/>
                </a:solidFill>
                <a:latin typeface="微软雅黑" panose="020B0503020204020204" pitchFamily="34" charset="-122"/>
                <a:cs typeface="微软雅黑" panose="020B0503020204020204" pitchFamily="34" charset="-122"/>
              </a:rPr>
              <a:t>标准等价类测试用例</a:t>
            </a:r>
            <a:endParaRPr sz="20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1039311" y="2081975"/>
          <a:ext cx="9988549" cy="4190995"/>
        </p:xfrm>
        <a:graphic>
          <a:graphicData uri="http://schemas.openxmlformats.org/drawingml/2006/table">
            <a:tbl>
              <a:tblPr firstRow="1" bandRow="1">
                <a:tableStyleId>{2D5ABB26-0587-4C30-8999-92F81FD0307C}</a:tableStyleId>
              </a:tblPr>
              <a:tblGrid>
                <a:gridCol w="849630">
                  <a:extLst>
                    <a:ext uri="{9D8B030D-6E8A-4147-A177-3AD203B41FA5}">
                      <a16:colId xmlns:a16="http://schemas.microsoft.com/office/drawing/2014/main" val="20000"/>
                    </a:ext>
                  </a:extLst>
                </a:gridCol>
                <a:gridCol w="3984625">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51230">
                  <a:extLst>
                    <a:ext uri="{9D8B030D-6E8A-4147-A177-3AD203B41FA5}">
                      <a16:colId xmlns:a16="http://schemas.microsoft.com/office/drawing/2014/main" val="20003"/>
                    </a:ext>
                  </a:extLst>
                </a:gridCol>
                <a:gridCol w="1012190">
                  <a:extLst>
                    <a:ext uri="{9D8B030D-6E8A-4147-A177-3AD203B41FA5}">
                      <a16:colId xmlns:a16="http://schemas.microsoft.com/office/drawing/2014/main" val="20004"/>
                    </a:ext>
                  </a:extLst>
                </a:gridCol>
                <a:gridCol w="2259964">
                  <a:extLst>
                    <a:ext uri="{9D8B030D-6E8A-4147-A177-3AD203B41FA5}">
                      <a16:colId xmlns:a16="http://schemas.microsoft.com/office/drawing/2014/main" val="20005"/>
                    </a:ext>
                  </a:extLst>
                </a:gridCol>
              </a:tblGrid>
              <a:tr h="365759">
                <a:tc rowSpan="2">
                  <a:txBody>
                    <a:bodyPr/>
                    <a:lstStyle/>
                    <a:p>
                      <a:pPr marL="17018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229995">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37895">
                        <a:lnSpc>
                          <a:spcPct val="100000"/>
                        </a:lnSpc>
                        <a:spcBef>
                          <a:spcPts val="14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177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62103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65760">
                <a:tc vMerge="1">
                  <a:txBody>
                    <a:bodyPr/>
                    <a:lstStyle/>
                    <a:p>
                      <a:endParaRPr lang="zh-CN"/>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4445"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p>
                  </a:txBody>
                  <a:tcPr marL="0" marR="0" marT="6858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等边三角形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914399">
                <a:tc>
                  <a:txBody>
                    <a:bodyPr/>
                    <a:lstStyle/>
                    <a:p>
                      <a:pPr>
                        <a:lnSpc>
                          <a:spcPct val="100000"/>
                        </a:lnSpc>
                      </a:pPr>
                      <a:endParaRPr sz="20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546100" marR="538480" algn="ctr">
                        <a:lnSpc>
                          <a:spcPct val="90000"/>
                        </a:lnSpc>
                        <a:spcBef>
                          <a:spcPts val="39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495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2300"/>
                        </a:spcBef>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292100"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endParaRPr sz="2000">
                        <a:latin typeface="Arial" panose="020B0604020202020204"/>
                        <a:cs typeface="Arial" panose="020B0604020202020204"/>
                      </a:endParaRPr>
                    </a:p>
                  </a:txBody>
                  <a:tcPr marL="0" marR="0" marT="44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endParaRPr sz="2000">
                        <a:latin typeface="Arial" panose="020B0604020202020204"/>
                        <a:cs typeface="Arial" panose="020B0604020202020204"/>
                      </a:endParaRPr>
                    </a:p>
                  </a:txBody>
                  <a:tcPr marL="0" marR="0" marT="6858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一般三角形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640079">
                <a:tc>
                  <a:txBody>
                    <a:bodyPr/>
                    <a:lstStyle/>
                    <a:p>
                      <a:pPr algn="ctr">
                        <a:lnSpc>
                          <a:spcPct val="100000"/>
                        </a:lnSpc>
                        <a:spcBef>
                          <a:spcPts val="1220"/>
                        </a:spcBef>
                      </a:pPr>
                      <a:r>
                        <a:rPr sz="2000" dirty="0">
                          <a:latin typeface="Arial" panose="020B0604020202020204"/>
                          <a:cs typeface="Arial" panose="020B0604020202020204"/>
                        </a:rPr>
                        <a:t>4</a:t>
                      </a:r>
                      <a:endParaRPr sz="2000">
                        <a:latin typeface="Arial" panose="020B0604020202020204"/>
                        <a:cs typeface="Arial" panose="020B0604020202020204"/>
                      </a:endParaRPr>
                    </a:p>
                  </a:txBody>
                  <a:tcPr marL="0" marR="0" marT="154940" marB="0">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546100" marR="538480" indent="552450">
                        <a:lnSpc>
                          <a:spcPts val="2100"/>
                        </a:lnSpc>
                        <a:spcBef>
                          <a:spcPts val="46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0"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58419"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635" algn="ctr">
                        <a:lnSpc>
                          <a:spcPct val="100000"/>
                        </a:lnSpc>
                        <a:spcBef>
                          <a:spcPts val="1220"/>
                        </a:spcBef>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2</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微软雅黑" panose="020B0503020204020204" pitchFamily="34" charset="-122"/>
                          <a:cs typeface="微软雅黑" panose="020B0503020204020204" pitchFamily="34" charset="-122"/>
                        </a:rPr>
                        <a:t>非三角形</a:t>
                      </a:r>
                    </a:p>
                  </a:txBody>
                  <a:tcPr marL="0" marR="0" marT="15494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73</a:t>
            </a:fld>
            <a:endParaRPr lang="zh-CN" altLang="en-US"/>
          </a:p>
        </p:txBody>
      </p:sp>
      <p:sp>
        <p:nvSpPr>
          <p:cNvPr id="7" name="标题 6"/>
          <p:cNvSpPr>
            <a:spLocks noGrp="1"/>
          </p:cNvSpPr>
          <p:nvPr>
            <p:ph type="title"/>
          </p:nvPr>
        </p:nvSpPr>
        <p:spPr/>
        <p:txBody>
          <a:bodyPr/>
          <a:lstStyle/>
          <a:p>
            <a:r>
              <a:rPr lang="zh-CN" altLang="en-US" dirty="0"/>
              <a:t>举例：判断三角形类型 </a:t>
            </a:r>
            <a:r>
              <a:rPr lang="zh-CN" altLang="en-US" dirty="0">
                <a:solidFill>
                  <a:srgbClr val="FF0000"/>
                </a:solidFill>
              </a:rPr>
              <a:t>边界值分析？</a:t>
            </a:r>
          </a:p>
        </p:txBody>
      </p:sp>
    </p:spTree>
    <p:extLst>
      <p:ext uri="{BB962C8B-B14F-4D97-AF65-F5344CB8AC3E}">
        <p14:creationId xmlns:p14="http://schemas.microsoft.com/office/powerpoint/2010/main" val="30748841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15907272"/>
              </p:ext>
            </p:extLst>
          </p:nvPr>
        </p:nvGraphicFramePr>
        <p:xfrm>
          <a:off x="1239993" y="1664458"/>
          <a:ext cx="9733912" cy="4535999"/>
        </p:xfrm>
        <a:graphic>
          <a:graphicData uri="http://schemas.openxmlformats.org/drawingml/2006/table">
            <a:tbl>
              <a:tblPr firstRow="1" bandRow="1">
                <a:tableStyleId>{2D5ABB26-0587-4C30-8999-92F81FD0307C}</a:tableStyleId>
              </a:tblPr>
              <a:tblGrid>
                <a:gridCol w="828040">
                  <a:extLst>
                    <a:ext uri="{9D8B030D-6E8A-4147-A177-3AD203B41FA5}">
                      <a16:colId xmlns:a16="http://schemas.microsoft.com/office/drawing/2014/main" val="20000"/>
                    </a:ext>
                  </a:extLst>
                </a:gridCol>
                <a:gridCol w="3883025">
                  <a:extLst>
                    <a:ext uri="{9D8B030D-6E8A-4147-A177-3AD203B41FA5}">
                      <a16:colId xmlns:a16="http://schemas.microsoft.com/office/drawing/2014/main" val="20001"/>
                    </a:ext>
                  </a:extLst>
                </a:gridCol>
                <a:gridCol w="907414">
                  <a:extLst>
                    <a:ext uri="{9D8B030D-6E8A-4147-A177-3AD203B41FA5}">
                      <a16:colId xmlns:a16="http://schemas.microsoft.com/office/drawing/2014/main" val="20002"/>
                    </a:ext>
                  </a:extLst>
                </a:gridCol>
                <a:gridCol w="927100">
                  <a:extLst>
                    <a:ext uri="{9D8B030D-6E8A-4147-A177-3AD203B41FA5}">
                      <a16:colId xmlns:a16="http://schemas.microsoft.com/office/drawing/2014/main" val="20003"/>
                    </a:ext>
                  </a:extLst>
                </a:gridCol>
                <a:gridCol w="986154">
                  <a:extLst>
                    <a:ext uri="{9D8B030D-6E8A-4147-A177-3AD203B41FA5}">
                      <a16:colId xmlns:a16="http://schemas.microsoft.com/office/drawing/2014/main" val="20004"/>
                    </a:ext>
                  </a:extLst>
                </a:gridCol>
                <a:gridCol w="2202179">
                  <a:extLst>
                    <a:ext uri="{9D8B030D-6E8A-4147-A177-3AD203B41FA5}">
                      <a16:colId xmlns:a16="http://schemas.microsoft.com/office/drawing/2014/main" val="20005"/>
                    </a:ext>
                  </a:extLst>
                </a:gridCol>
              </a:tblGrid>
              <a:tr h="434609">
                <a:tc rowSpan="2">
                  <a:txBody>
                    <a:bodyPr/>
                    <a:lstStyle/>
                    <a:p>
                      <a:pPr marL="159385">
                        <a:lnSpc>
                          <a:spcPct val="100000"/>
                        </a:lnSpc>
                        <a:spcBef>
                          <a:spcPts val="222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8194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179195">
                        <a:lnSpc>
                          <a:spcPct val="100000"/>
                        </a:lnSpc>
                        <a:spcBef>
                          <a:spcPts val="222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8194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01065">
                        <a:lnSpc>
                          <a:spcPct val="100000"/>
                        </a:lnSpc>
                        <a:spcBef>
                          <a:spcPts val="51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64769"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592455">
                        <a:lnSpc>
                          <a:spcPct val="100000"/>
                        </a:lnSpc>
                        <a:spcBef>
                          <a:spcPts val="222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8194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34608">
                <a:tc vMerge="1">
                  <a:txBody>
                    <a:bodyPr/>
                    <a:lstStyle/>
                    <a:p>
                      <a:endParaRPr lang="zh-CN"/>
                    </a:p>
                  </a:txBody>
                  <a:tcPr marL="0" marR="0" marT="28194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8194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51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64769"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1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64769"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1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64769"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8194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1086523">
                <a:tc>
                  <a:txBody>
                    <a:bodyPr/>
                    <a:lstStyle/>
                    <a:p>
                      <a:pPr>
                        <a:lnSpc>
                          <a:spcPct val="100000"/>
                        </a:lnSpc>
                        <a:spcBef>
                          <a:spcPts val="30"/>
                        </a:spcBef>
                      </a:pPr>
                      <a:endParaRPr sz="2650">
                        <a:latin typeface="Times New Roman" panose="02020603050405020304"/>
                        <a:cs typeface="Times New Roman" panose="02020603050405020304"/>
                      </a:endParaRPr>
                    </a:p>
                    <a:p>
                      <a:pPr marL="342900">
                        <a:lnSpc>
                          <a:spcPct val="100000"/>
                        </a:lnSpc>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3810"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L="627380" marR="619760" indent="-635" algn="ctr">
                        <a:lnSpc>
                          <a:spcPct val="100000"/>
                        </a:lnSpc>
                        <a:spcBef>
                          <a:spcPts val="67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endParaRPr sz="2000">
                        <a:latin typeface="Arial" panose="020B0604020202020204"/>
                        <a:cs typeface="Arial" panose="020B0604020202020204"/>
                      </a:endParaRPr>
                    </a:p>
                  </a:txBody>
                  <a:tcPr marL="0" marR="0" marT="8572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marL="463550">
                        <a:lnSpc>
                          <a:spcPct val="100000"/>
                        </a:lnSpc>
                      </a:pPr>
                      <a:r>
                        <a:rPr sz="2000" dirty="0">
                          <a:latin typeface="微软雅黑" panose="020B0503020204020204" pitchFamily="34" charset="-122"/>
                          <a:cs typeface="微软雅黑" panose="020B0503020204020204" pitchFamily="34" charset="-122"/>
                        </a:rPr>
                        <a:t>等边三角形</a:t>
                      </a:r>
                      <a:endParaRPr sz="2000">
                        <a:latin typeface="微软雅黑" panose="020B0503020204020204" pitchFamily="34" charset="-122"/>
                        <a:cs typeface="微软雅黑" panose="020B0503020204020204" pitchFamily="34" charset="-122"/>
                      </a:endParaRPr>
                    </a:p>
                  </a:txBody>
                  <a:tcPr marL="0" marR="0" marT="3810"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529596">
                <a:tc>
                  <a:txBody>
                    <a:bodyPr/>
                    <a:lstStyle/>
                    <a:p>
                      <a:pPr marL="342900">
                        <a:lnSpc>
                          <a:spcPct val="100000"/>
                        </a:lnSpc>
                        <a:spcBef>
                          <a:spcPts val="830"/>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105410" marB="0">
                    <a:lnR w="12700">
                      <a:solidFill>
                        <a:srgbClr val="000000"/>
                      </a:solidFill>
                      <a:prstDash val="solid"/>
                    </a:lnR>
                    <a:lnT w="952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tcPr>
                </a:tc>
                <a:tc>
                  <a:txBody>
                    <a:bodyPr/>
                    <a:lstStyle/>
                    <a:p>
                      <a:pPr algn="ctr">
                        <a:lnSpc>
                          <a:spcPct val="100000"/>
                        </a:lnSpc>
                        <a:spcBef>
                          <a:spcPts val="83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05410" marB="0">
                    <a:lnL w="12700">
                      <a:solidFill>
                        <a:srgbClr val="000000"/>
                      </a:solidFill>
                      <a:prstDash val="solid"/>
                    </a:lnL>
                    <a:lnR w="12700">
                      <a:solidFill>
                        <a:srgbClr val="000000"/>
                      </a:solidFill>
                      <a:prstDash val="solid"/>
                    </a:lnR>
                    <a:lnT w="9525">
                      <a:solidFill>
                        <a:srgbClr val="000000"/>
                      </a:solidFill>
                      <a:prstDash val="solid"/>
                    </a:lnT>
                  </a:tcPr>
                </a:tc>
                <a:tc>
                  <a:txBody>
                    <a:bodyPr/>
                    <a:lstStyle/>
                    <a:p>
                      <a:pPr algn="ctr">
                        <a:lnSpc>
                          <a:spcPct val="100000"/>
                        </a:lnSpc>
                        <a:spcBef>
                          <a:spcPts val="83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05410" marB="0">
                    <a:lnL w="12700">
                      <a:solidFill>
                        <a:srgbClr val="000000"/>
                      </a:solidFill>
                      <a:prstDash val="solid"/>
                    </a:lnL>
                    <a:lnR w="12700">
                      <a:solidFill>
                        <a:srgbClr val="000000"/>
                      </a:solidFill>
                      <a:prstDash val="solid"/>
                    </a:lnR>
                    <a:lnT w="9525">
                      <a:solidFill>
                        <a:srgbClr val="000000"/>
                      </a:solidFill>
                      <a:prstDash val="solid"/>
                    </a:lnT>
                  </a:tcPr>
                </a:tc>
                <a:tc>
                  <a:txBody>
                    <a:bodyPr/>
                    <a:lstStyle/>
                    <a:p>
                      <a:pPr algn="ctr">
                        <a:lnSpc>
                          <a:spcPct val="100000"/>
                        </a:lnSpc>
                        <a:spcBef>
                          <a:spcPts val="830"/>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105410" marB="0">
                    <a:lnL w="12700">
                      <a:solidFill>
                        <a:srgbClr val="000000"/>
                      </a:solidFill>
                      <a:prstDash val="solid"/>
                    </a:lnL>
                    <a:lnR w="12700">
                      <a:solidFill>
                        <a:srgbClr val="000000"/>
                      </a:solidFill>
                      <a:prstDash val="solid"/>
                    </a:lnR>
                    <a:lnT w="9525">
                      <a:solidFill>
                        <a:srgbClr val="000000"/>
                      </a:solidFill>
                      <a:prstDash val="solid"/>
                    </a:lnT>
                  </a:tcPr>
                </a:tc>
                <a:tc rowSpan="5">
                  <a:txBody>
                    <a:bodyPr/>
                    <a:lstStyle/>
                    <a:p>
                      <a:pPr>
                        <a:lnSpc>
                          <a:spcPct val="100000"/>
                        </a:lnSpc>
                      </a:pPr>
                      <a:endParaRPr sz="2600">
                        <a:latin typeface="Times New Roman" panose="02020603050405020304"/>
                        <a:cs typeface="Times New Roman" panose="02020603050405020304"/>
                      </a:endParaRPr>
                    </a:p>
                    <a:p>
                      <a:pPr>
                        <a:lnSpc>
                          <a:spcPct val="100000"/>
                        </a:lnSpc>
                      </a:pPr>
                      <a:endParaRPr sz="2600">
                        <a:latin typeface="Times New Roman" panose="02020603050405020304"/>
                        <a:cs typeface="Times New Roman" panose="02020603050405020304"/>
                      </a:endParaRPr>
                    </a:p>
                    <a:p>
                      <a:pPr>
                        <a:lnSpc>
                          <a:spcPct val="100000"/>
                        </a:lnSpc>
                        <a:spcBef>
                          <a:spcPts val="45"/>
                        </a:spcBef>
                      </a:pPr>
                      <a:endParaRPr sz="2550">
                        <a:latin typeface="Times New Roman" panose="02020603050405020304"/>
                        <a:cs typeface="Times New Roman" panose="02020603050405020304"/>
                      </a:endParaRPr>
                    </a:p>
                    <a:p>
                      <a:pPr marL="463550">
                        <a:lnSpc>
                          <a:spcPct val="100000"/>
                        </a:lnSpc>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r h="608593">
                <a:tc>
                  <a:txBody>
                    <a:bodyPr/>
                    <a:lstStyle/>
                    <a:p>
                      <a:pPr marL="342900">
                        <a:lnSpc>
                          <a:spcPct val="100000"/>
                        </a:lnSpc>
                        <a:spcBef>
                          <a:spcPts val="725"/>
                        </a:spcBef>
                      </a:pPr>
                      <a:r>
                        <a:rPr sz="2000" dirty="0">
                          <a:latin typeface="Arial" panose="020B0604020202020204"/>
                          <a:cs typeface="Arial" panose="020B0604020202020204"/>
                        </a:rPr>
                        <a:t>3</a:t>
                      </a:r>
                      <a:endParaRPr sz="2000">
                        <a:latin typeface="Arial" panose="020B0604020202020204"/>
                        <a:cs typeface="Arial" panose="020B0604020202020204"/>
                      </a:endParaRPr>
                    </a:p>
                  </a:txBody>
                  <a:tcPr marL="0" marR="0" marT="92075" marB="0">
                    <a:lnR w="12700">
                      <a:solidFill>
                        <a:srgbClr val="000000"/>
                      </a:solidFill>
                      <a:prstDash val="solid"/>
                    </a:lnR>
                  </a:tcPr>
                </a:tc>
                <a:tc>
                  <a:txBody>
                    <a:bodyPr/>
                    <a:lstStyle/>
                    <a:p>
                      <a:pPr>
                        <a:lnSpc>
                          <a:spcPct val="100000"/>
                        </a:lnSpc>
                        <a:spcBef>
                          <a:spcPts val="30"/>
                        </a:spcBef>
                      </a:pPr>
                      <a:endParaRPr sz="2050">
                        <a:latin typeface="Times New Roman" panose="02020603050405020304"/>
                        <a:cs typeface="Times New Roman" panose="02020603050405020304"/>
                      </a:endParaRPr>
                    </a:p>
                    <a:p>
                      <a:pPr algn="ctr">
                        <a:lnSpc>
                          <a:spcPts val="2305"/>
                        </a:lnSpc>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tcPr>
                </a:tc>
                <a:tc>
                  <a:txBody>
                    <a:bodyPr/>
                    <a:lstStyle/>
                    <a:p>
                      <a:pPr algn="ctr">
                        <a:lnSpc>
                          <a:spcPct val="100000"/>
                        </a:lnSpc>
                        <a:spcBef>
                          <a:spcPts val="725"/>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tcPr>
                </a:tc>
                <a:tc>
                  <a:txBody>
                    <a:bodyPr/>
                    <a:lstStyle/>
                    <a:p>
                      <a:pPr algn="ctr">
                        <a:lnSpc>
                          <a:spcPct val="100000"/>
                        </a:lnSpc>
                        <a:spcBef>
                          <a:spcPts val="725"/>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tcPr>
                </a:tc>
                <a:tc>
                  <a:txBody>
                    <a:bodyPr/>
                    <a:lstStyle/>
                    <a:p>
                      <a:pPr algn="ctr">
                        <a:lnSpc>
                          <a:spcPct val="100000"/>
                        </a:lnSpc>
                        <a:spcBef>
                          <a:spcPts val="725"/>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304800">
                <a:tc>
                  <a:txBody>
                    <a:bodyPr/>
                    <a:lstStyle/>
                    <a:p>
                      <a:pPr marL="343535">
                        <a:lnSpc>
                          <a:spcPts val="2300"/>
                        </a:lnSpc>
                      </a:pPr>
                      <a:r>
                        <a:rPr sz="2000" dirty="0">
                          <a:latin typeface="Arial" panose="020B0604020202020204"/>
                          <a:cs typeface="Arial" panose="020B0604020202020204"/>
                        </a:rPr>
                        <a:t>4</a:t>
                      </a:r>
                      <a:endParaRPr sz="2000">
                        <a:latin typeface="Arial" panose="020B0604020202020204"/>
                        <a:cs typeface="Arial" panose="020B0604020202020204"/>
                      </a:endParaRPr>
                    </a:p>
                  </a:txBody>
                  <a:tcPr marL="0" marR="0" marT="0" marB="0">
                    <a:lnR w="12700">
                      <a:solidFill>
                        <a:srgbClr val="000000"/>
                      </a:solidFill>
                      <a:prstDash val="solid"/>
                    </a:lnR>
                  </a:tcPr>
                </a:tc>
                <a:tc>
                  <a:txBody>
                    <a:bodyPr/>
                    <a:lstStyle/>
                    <a:p>
                      <a:pPr algn="ctr">
                        <a:lnSpc>
                          <a:spcPts val="2300"/>
                        </a:lnSpc>
                      </a:pPr>
                      <a:r>
                        <a:rPr sz="2000" spc="-5" dirty="0">
                          <a:latin typeface="Arial" panose="020B0604020202020204"/>
                          <a:cs typeface="Arial" panose="020B0604020202020204"/>
                        </a:rPr>
                        <a:t>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a:t>
                      </a:r>
                      <a:endParaRPr sz="200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tcPr>
                </a:tc>
                <a:tc>
                  <a:txBody>
                    <a:bodyPr/>
                    <a:lstStyle/>
                    <a:p>
                      <a:pPr algn="ctr">
                        <a:lnSpc>
                          <a:spcPts val="23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tcPr>
                </a:tc>
                <a:tc>
                  <a:txBody>
                    <a:bodyPr/>
                    <a:lstStyle/>
                    <a:p>
                      <a:pPr algn="ctr">
                        <a:lnSpc>
                          <a:spcPts val="23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tcPr>
                </a:tc>
                <a:tc>
                  <a:txBody>
                    <a:bodyPr/>
                    <a:lstStyle/>
                    <a:p>
                      <a:pPr algn="ctr">
                        <a:lnSpc>
                          <a:spcPts val="2300"/>
                        </a:lnSpc>
                      </a:pPr>
                      <a:r>
                        <a:rPr lang="en-US" altLang="zh-CN" sz="2000" dirty="0">
                          <a:latin typeface="Arial" panose="020B0604020202020204"/>
                          <a:cs typeface="Arial" panose="020B0604020202020204"/>
                        </a:rPr>
                        <a:t>11</a:t>
                      </a:r>
                      <a:r>
                        <a:rPr sz="2000" dirty="0">
                          <a:latin typeface="Arial" panose="020B0604020202020204"/>
                          <a:cs typeface="Arial" panose="020B0604020202020204"/>
                        </a:rPr>
                        <a:t>9</a:t>
                      </a:r>
                    </a:p>
                  </a:txBody>
                  <a:tcPr marL="0" marR="0" marT="0" marB="0">
                    <a:lnL w="12700">
                      <a:solidFill>
                        <a:srgbClr val="000000"/>
                      </a:solidFill>
                      <a:prstDash val="solid"/>
                    </a:lnL>
                    <a:lnR w="12700">
                      <a:solidFill>
                        <a:srgbClr val="000000"/>
                      </a:solidFill>
                      <a:prstDash val="solid"/>
                    </a:lnR>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r h="634762">
                <a:tc>
                  <a:txBody>
                    <a:bodyPr/>
                    <a:lstStyle/>
                    <a:p>
                      <a:pPr marL="342900">
                        <a:lnSpc>
                          <a:spcPct val="100000"/>
                        </a:lnSpc>
                        <a:spcBef>
                          <a:spcPts val="1660"/>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210820" marB="0">
                    <a:lnR w="12700">
                      <a:solidFill>
                        <a:srgbClr val="000000"/>
                      </a:solidFill>
                      <a:prstDash val="solid"/>
                    </a:lnR>
                  </a:tcPr>
                </a:tc>
                <a:tc>
                  <a:txBody>
                    <a:bodyPr/>
                    <a:lstStyle/>
                    <a:p>
                      <a:pPr algn="ctr">
                        <a:lnSpc>
                          <a:spcPts val="2395"/>
                        </a:lnSpc>
                      </a:pPr>
                      <a:r>
                        <a:rPr sz="2000" spc="-5" dirty="0">
                          <a:latin typeface="Arial" panose="020B0604020202020204"/>
                          <a:cs typeface="Arial" panose="020B0604020202020204"/>
                        </a:rPr>
                        <a:t>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1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tcPr>
                </a:tc>
                <a:tc>
                  <a:txBody>
                    <a:bodyPr/>
                    <a:lstStyle/>
                    <a:p>
                      <a:pPr algn="ctr">
                        <a:lnSpc>
                          <a:spcPct val="100000"/>
                        </a:lnSpc>
                        <a:spcBef>
                          <a:spcPts val="166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210820" marB="0">
                    <a:lnL w="12700">
                      <a:solidFill>
                        <a:srgbClr val="000000"/>
                      </a:solidFill>
                      <a:prstDash val="solid"/>
                    </a:lnL>
                    <a:lnR w="12700">
                      <a:solidFill>
                        <a:srgbClr val="000000"/>
                      </a:solidFill>
                      <a:prstDash val="solid"/>
                    </a:lnR>
                  </a:tcPr>
                </a:tc>
                <a:tc>
                  <a:txBody>
                    <a:bodyPr/>
                    <a:lstStyle/>
                    <a:p>
                      <a:pPr algn="ctr">
                        <a:lnSpc>
                          <a:spcPct val="100000"/>
                        </a:lnSpc>
                        <a:spcBef>
                          <a:spcPts val="1660"/>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210820" marB="0">
                    <a:lnL w="12700">
                      <a:solidFill>
                        <a:srgbClr val="000000"/>
                      </a:solidFill>
                      <a:prstDash val="solid"/>
                    </a:lnL>
                    <a:lnR w="12700">
                      <a:solidFill>
                        <a:srgbClr val="000000"/>
                      </a:solidFill>
                      <a:prstDash val="solid"/>
                    </a:lnR>
                  </a:tcPr>
                </a:tc>
                <a:tc>
                  <a:txBody>
                    <a:bodyPr/>
                    <a:lstStyle/>
                    <a:p>
                      <a:pPr algn="ctr">
                        <a:lnSpc>
                          <a:spcPct val="100000"/>
                        </a:lnSpc>
                        <a:spcBef>
                          <a:spcPts val="166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210820" marB="0">
                    <a:lnL w="12700">
                      <a:solidFill>
                        <a:srgbClr val="000000"/>
                      </a:solidFill>
                      <a:prstDash val="solid"/>
                    </a:lnL>
                    <a:lnR w="12700">
                      <a:solidFill>
                        <a:srgbClr val="000000"/>
                      </a:solidFill>
                      <a:prstDash val="solid"/>
                    </a:lnR>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502508">
                <a:tc>
                  <a:txBody>
                    <a:bodyPr/>
                    <a:lstStyle/>
                    <a:p>
                      <a:pPr marL="342900">
                        <a:lnSpc>
                          <a:spcPct val="100000"/>
                        </a:lnSpc>
                        <a:spcBef>
                          <a:spcPts val="725"/>
                        </a:spcBef>
                      </a:pPr>
                      <a:r>
                        <a:rPr sz="2000" dirty="0">
                          <a:latin typeface="Arial" panose="020B0604020202020204"/>
                          <a:cs typeface="Arial" panose="020B0604020202020204"/>
                        </a:rPr>
                        <a:t>6</a:t>
                      </a:r>
                      <a:endParaRPr sz="2000">
                        <a:latin typeface="Arial" panose="020B0604020202020204"/>
                        <a:cs typeface="Arial" panose="020B0604020202020204"/>
                      </a:endParaRPr>
                    </a:p>
                  </a:txBody>
                  <a:tcPr marL="0" marR="0" marT="92075" marB="0">
                    <a:lnR w="12700">
                      <a:solidFill>
                        <a:srgbClr val="000000"/>
                      </a:solidFill>
                      <a:prstDash val="solid"/>
                    </a:lnR>
                    <a:lnB w="2857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B w="28575">
                      <a:solidFill>
                        <a:srgbClr val="000000"/>
                      </a:solidFill>
                      <a:prstDash val="solid"/>
                    </a:lnB>
                  </a:tcPr>
                </a:tc>
                <a:tc>
                  <a:txBody>
                    <a:bodyPr/>
                    <a:lstStyle/>
                    <a:p>
                      <a:pPr algn="ctr">
                        <a:lnSpc>
                          <a:spcPct val="100000"/>
                        </a:lnSpc>
                        <a:spcBef>
                          <a:spcPts val="725"/>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lnB w="28575">
                      <a:solidFill>
                        <a:srgbClr val="000000"/>
                      </a:solidFill>
                      <a:prstDash val="solid"/>
                    </a:lnB>
                  </a:tcPr>
                </a:tc>
                <a:tc>
                  <a:txBody>
                    <a:bodyPr/>
                    <a:lstStyle/>
                    <a:p>
                      <a:pPr algn="ctr">
                        <a:lnSpc>
                          <a:spcPct val="100000"/>
                        </a:lnSpc>
                        <a:spcBef>
                          <a:spcPts val="725"/>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lnB w="28575">
                      <a:solidFill>
                        <a:srgbClr val="000000"/>
                      </a:solidFill>
                      <a:prstDash val="solid"/>
                    </a:lnB>
                  </a:tcPr>
                </a:tc>
                <a:tc>
                  <a:txBody>
                    <a:bodyPr/>
                    <a:lstStyle/>
                    <a:p>
                      <a:pPr algn="ctr">
                        <a:lnSpc>
                          <a:spcPct val="100000"/>
                        </a:lnSpc>
                        <a:spcBef>
                          <a:spcPts val="725"/>
                        </a:spcBef>
                      </a:pPr>
                      <a:r>
                        <a:rPr sz="2000" dirty="0">
                          <a:latin typeface="Arial" panose="020B0604020202020204"/>
                          <a:cs typeface="Arial" panose="020B0604020202020204"/>
                        </a:rPr>
                        <a:t>60</a:t>
                      </a:r>
                    </a:p>
                  </a:txBody>
                  <a:tcPr marL="0" marR="0" marT="92075" marB="0">
                    <a:lnL w="12700">
                      <a:solidFill>
                        <a:srgbClr val="000000"/>
                      </a:solidFill>
                      <a:prstDash val="solid"/>
                    </a:lnL>
                    <a:lnR w="12700">
                      <a:solidFill>
                        <a:srgbClr val="000000"/>
                      </a:solidFill>
                      <a:prstDash val="solid"/>
                    </a:lnR>
                    <a:lnB w="28575">
                      <a:solidFill>
                        <a:srgbClr val="000000"/>
                      </a:solidFill>
                      <a:prstDash val="solid"/>
                    </a:lnB>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4" name="object 4"/>
          <p:cNvSpPr/>
          <p:nvPr/>
        </p:nvSpPr>
        <p:spPr>
          <a:xfrm>
            <a:off x="8026398" y="3661163"/>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5" name="object 5"/>
          <p:cNvSpPr/>
          <p:nvPr/>
        </p:nvSpPr>
        <p:spPr>
          <a:xfrm>
            <a:off x="7078133" y="5202095"/>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6" name="object 6"/>
          <p:cNvSpPr/>
          <p:nvPr/>
        </p:nvSpPr>
        <p:spPr>
          <a:xfrm>
            <a:off x="8026398" y="4711028"/>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7" name="object 7"/>
          <p:cNvSpPr/>
          <p:nvPr/>
        </p:nvSpPr>
        <p:spPr>
          <a:xfrm>
            <a:off x="8026397" y="418609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8" name="object 8"/>
          <p:cNvSpPr/>
          <p:nvPr/>
        </p:nvSpPr>
        <p:spPr>
          <a:xfrm>
            <a:off x="7078133" y="5710095"/>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9" name="灯片编号占位符 8"/>
          <p:cNvSpPr>
            <a:spLocks noGrp="1"/>
          </p:cNvSpPr>
          <p:nvPr>
            <p:ph type="sldNum" sz="quarter" idx="12"/>
          </p:nvPr>
        </p:nvSpPr>
        <p:spPr/>
        <p:txBody>
          <a:bodyPr/>
          <a:lstStyle/>
          <a:p>
            <a:fld id="{74D2AB8B-5816-41F2-8B4B-CA5C3E4E6A65}" type="slidenum">
              <a:rPr lang="zh-CN" altLang="en-US" smtClean="0"/>
              <a:t>74</a:t>
            </a:fld>
            <a:endParaRPr lang="zh-CN" altLang="en-US"/>
          </a:p>
        </p:txBody>
      </p:sp>
      <p:sp>
        <p:nvSpPr>
          <p:cNvPr id="11" name="标题 10"/>
          <p:cNvSpPr>
            <a:spLocks noGrp="1"/>
          </p:cNvSpPr>
          <p:nvPr>
            <p:ph type="title"/>
          </p:nvPr>
        </p:nvSpPr>
        <p:spPr/>
        <p:txBody>
          <a:bodyPr/>
          <a:lstStyle/>
          <a:p>
            <a:r>
              <a:rPr lang="zh-CN" altLang="en-US" dirty="0"/>
              <a:t>举例：判断三角形类型</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43849853"/>
              </p:ext>
            </p:extLst>
          </p:nvPr>
        </p:nvGraphicFramePr>
        <p:xfrm>
          <a:off x="1239993" y="1683040"/>
          <a:ext cx="9768837" cy="4535997"/>
        </p:xfrm>
        <a:graphic>
          <a:graphicData uri="http://schemas.openxmlformats.org/drawingml/2006/table">
            <a:tbl>
              <a:tblPr firstRow="1" bandRow="1">
                <a:tableStyleId>{2D5ABB26-0587-4C30-8999-92F81FD0307C}</a:tableStyleId>
              </a:tblPr>
              <a:tblGrid>
                <a:gridCol w="831215">
                  <a:extLst>
                    <a:ext uri="{9D8B030D-6E8A-4147-A177-3AD203B41FA5}">
                      <a16:colId xmlns:a16="http://schemas.microsoft.com/office/drawing/2014/main" val="20000"/>
                    </a:ext>
                  </a:extLst>
                </a:gridCol>
                <a:gridCol w="3897629">
                  <a:extLst>
                    <a:ext uri="{9D8B030D-6E8A-4147-A177-3AD203B41FA5}">
                      <a16:colId xmlns:a16="http://schemas.microsoft.com/office/drawing/2014/main" val="20001"/>
                    </a:ext>
                  </a:extLst>
                </a:gridCol>
                <a:gridCol w="910589">
                  <a:extLst>
                    <a:ext uri="{9D8B030D-6E8A-4147-A177-3AD203B41FA5}">
                      <a16:colId xmlns:a16="http://schemas.microsoft.com/office/drawing/2014/main" val="20002"/>
                    </a:ext>
                  </a:extLst>
                </a:gridCol>
                <a:gridCol w="930275">
                  <a:extLst>
                    <a:ext uri="{9D8B030D-6E8A-4147-A177-3AD203B41FA5}">
                      <a16:colId xmlns:a16="http://schemas.microsoft.com/office/drawing/2014/main" val="20003"/>
                    </a:ext>
                  </a:extLst>
                </a:gridCol>
                <a:gridCol w="989329">
                  <a:extLst>
                    <a:ext uri="{9D8B030D-6E8A-4147-A177-3AD203B41FA5}">
                      <a16:colId xmlns:a16="http://schemas.microsoft.com/office/drawing/2014/main" val="20004"/>
                    </a:ext>
                  </a:extLst>
                </a:gridCol>
                <a:gridCol w="2209800">
                  <a:extLst>
                    <a:ext uri="{9D8B030D-6E8A-4147-A177-3AD203B41FA5}">
                      <a16:colId xmlns:a16="http://schemas.microsoft.com/office/drawing/2014/main" val="20005"/>
                    </a:ext>
                  </a:extLst>
                </a:gridCol>
              </a:tblGrid>
              <a:tr h="439887">
                <a:tc rowSpan="2">
                  <a:txBody>
                    <a:bodyPr/>
                    <a:lstStyle/>
                    <a:p>
                      <a:pPr marL="161290">
                        <a:lnSpc>
                          <a:spcPct val="100000"/>
                        </a:lnSpc>
                        <a:spcBef>
                          <a:spcPts val="226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8702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186180">
                        <a:lnSpc>
                          <a:spcPct val="100000"/>
                        </a:lnSpc>
                        <a:spcBef>
                          <a:spcPts val="226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8702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06145">
                        <a:lnSpc>
                          <a:spcPct val="100000"/>
                        </a:lnSpc>
                        <a:spcBef>
                          <a:spcPts val="53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6731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596900">
                        <a:lnSpc>
                          <a:spcPct val="100000"/>
                        </a:lnSpc>
                        <a:spcBef>
                          <a:spcPts val="226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8702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39887">
                <a:tc vMerge="1">
                  <a:txBody>
                    <a:bodyPr/>
                    <a:lstStyle/>
                    <a:p>
                      <a:endParaRPr lang="zh-CN"/>
                    </a:p>
                  </a:txBody>
                  <a:tcPr marL="0" marR="0" marT="28702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8702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53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3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3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8702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494632">
                <a:tc>
                  <a:txBody>
                    <a:bodyPr/>
                    <a:lstStyle/>
                    <a:p>
                      <a:pPr algn="ctr">
                        <a:lnSpc>
                          <a:spcPct val="100000"/>
                        </a:lnSpc>
                        <a:spcBef>
                          <a:spcPts val="855"/>
                        </a:spcBef>
                      </a:pPr>
                      <a:r>
                        <a:rPr sz="2000" dirty="0">
                          <a:latin typeface="Arial" panose="020B0604020202020204"/>
                          <a:cs typeface="Arial" panose="020B0604020202020204"/>
                        </a:rPr>
                        <a:t>7</a:t>
                      </a:r>
                      <a:endParaRPr sz="2000">
                        <a:latin typeface="Arial" panose="020B0604020202020204"/>
                        <a:cs typeface="Arial" panose="020B0604020202020204"/>
                      </a:endParaRPr>
                    </a:p>
                  </a:txBody>
                  <a:tcPr marL="0" marR="0" marT="108585" marB="0">
                    <a:lnR w="9525">
                      <a:solidFill>
                        <a:srgbClr val="000000"/>
                      </a:solidFill>
                      <a:prstDash val="solid"/>
                    </a:lnR>
                    <a:lnT w="2857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11</a:t>
                      </a:r>
                      <a:r>
                        <a:rPr sz="2000" dirty="0">
                          <a:latin typeface="Arial" panose="020B0604020202020204"/>
                          <a:cs typeface="Arial" panose="020B0604020202020204"/>
                        </a:rPr>
                        <a:t>9</a:t>
                      </a:r>
                    </a:p>
                  </a:txBody>
                  <a:tcPr marL="0" marR="0" marT="108585"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T w="28575">
                      <a:solidFill>
                        <a:srgbClr val="000000"/>
                      </a:solidFill>
                      <a:prstDash val="solid"/>
                    </a:lnT>
                  </a:tcPr>
                </a:tc>
                <a:extLst>
                  <a:ext uri="{0D108BD9-81ED-4DB2-BD59-A6C34878D82A}">
                    <a16:rowId xmlns:a16="http://schemas.microsoft.com/office/drawing/2014/main" val="10002"/>
                  </a:ext>
                </a:extLst>
              </a:tr>
              <a:tr h="1114011">
                <a:tc>
                  <a:txBody>
                    <a:bodyPr/>
                    <a:lstStyle/>
                    <a:p>
                      <a:pPr algn="ctr">
                        <a:lnSpc>
                          <a:spcPct val="100000"/>
                        </a:lnSpc>
                        <a:spcBef>
                          <a:spcPts val="1075"/>
                        </a:spcBef>
                      </a:pPr>
                      <a:r>
                        <a:rPr sz="2000" dirty="0">
                          <a:latin typeface="Arial" panose="020B0604020202020204"/>
                          <a:cs typeface="Arial" panose="020B0604020202020204"/>
                        </a:rPr>
                        <a:t>8</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9</a:t>
                      </a:r>
                      <a:endParaRPr sz="2000">
                        <a:latin typeface="Arial" panose="020B0604020202020204"/>
                        <a:cs typeface="Arial" panose="020B0604020202020204"/>
                      </a:endParaRPr>
                    </a:p>
                  </a:txBody>
                  <a:tcPr marL="0" marR="0" marT="136525" marB="0">
                    <a:lnR w="9525">
                      <a:solidFill>
                        <a:srgbClr val="000000"/>
                      </a:solidFill>
                      <a:prstDash val="solid"/>
                    </a:lnR>
                  </a:tcPr>
                </a:tc>
                <a:tc>
                  <a:txBody>
                    <a:bodyPr/>
                    <a:lstStyle/>
                    <a:p>
                      <a:pPr marL="502920" marR="495300" algn="ctr">
                        <a:lnSpc>
                          <a:spcPct val="100000"/>
                        </a:lnSpc>
                        <a:spcBef>
                          <a:spcPts val="73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92710" marB="0">
                    <a:lnL w="9525">
                      <a:solidFill>
                        <a:srgbClr val="000000"/>
                      </a:solidFill>
                      <a:prstDash val="solid"/>
                    </a:lnL>
                    <a:lnR w="9525">
                      <a:solidFill>
                        <a:srgbClr val="000000"/>
                      </a:solidFill>
                      <a:prstDash val="solid"/>
                    </a:lnR>
                  </a:tcPr>
                </a:tc>
                <a:tc>
                  <a:txBody>
                    <a:bodyPr/>
                    <a:lstStyle/>
                    <a:p>
                      <a:pPr algn="ctr">
                        <a:lnSpc>
                          <a:spcPct val="100000"/>
                        </a:lnSpc>
                        <a:spcBef>
                          <a:spcPts val="1075"/>
                        </a:spcBef>
                      </a:pPr>
                      <a:r>
                        <a:rPr sz="2000" dirty="0">
                          <a:latin typeface="Arial" panose="020B0604020202020204"/>
                          <a:cs typeface="Arial" panose="020B0604020202020204"/>
                        </a:rPr>
                        <a:t>1</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136525" marB="0">
                    <a:lnL w="9525">
                      <a:solidFill>
                        <a:srgbClr val="000000"/>
                      </a:solidFill>
                      <a:prstDash val="solid"/>
                    </a:lnL>
                    <a:lnR w="9525">
                      <a:solidFill>
                        <a:srgbClr val="000000"/>
                      </a:solidFill>
                      <a:prstDash val="solid"/>
                    </a:lnR>
                  </a:tcPr>
                </a:tc>
                <a:tc>
                  <a:txBody>
                    <a:bodyPr/>
                    <a:lstStyle/>
                    <a:p>
                      <a:pPr algn="ctr">
                        <a:lnSpc>
                          <a:spcPct val="100000"/>
                        </a:lnSpc>
                        <a:spcBef>
                          <a:spcPts val="1075"/>
                        </a:spcBef>
                      </a:pPr>
                      <a:r>
                        <a:rPr sz="2000" dirty="0">
                          <a:latin typeface="Arial" panose="020B0604020202020204"/>
                          <a:cs typeface="Arial" panose="020B0604020202020204"/>
                        </a:rPr>
                        <a:t>60</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36525" marB="0">
                    <a:lnL w="9525">
                      <a:solidFill>
                        <a:srgbClr val="000000"/>
                      </a:solidFill>
                      <a:prstDash val="solid"/>
                    </a:lnL>
                    <a:lnR w="9525">
                      <a:solidFill>
                        <a:srgbClr val="000000"/>
                      </a:solidFill>
                      <a:prstDash val="solid"/>
                    </a:lnR>
                  </a:tcPr>
                </a:tc>
                <a:tc>
                  <a:txBody>
                    <a:bodyPr/>
                    <a:lstStyle/>
                    <a:p>
                      <a:pPr algn="ctr">
                        <a:lnSpc>
                          <a:spcPct val="100000"/>
                        </a:lnSpc>
                        <a:spcBef>
                          <a:spcPts val="1075"/>
                        </a:spcBef>
                      </a:pPr>
                      <a:r>
                        <a:rPr sz="2000" dirty="0">
                          <a:latin typeface="Arial" panose="020B0604020202020204"/>
                          <a:cs typeface="Arial" panose="020B0604020202020204"/>
                        </a:rPr>
                        <a:t>60</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36525" marB="0">
                    <a:lnL w="9525">
                      <a:solidFill>
                        <a:srgbClr val="000000"/>
                      </a:solidFill>
                      <a:prstDash val="solid"/>
                    </a:lnL>
                    <a:lnR w="9525">
                      <a:solidFill>
                        <a:srgbClr val="000000"/>
                      </a:solidFill>
                      <a:prstDash val="solid"/>
                    </a:lnR>
                  </a:tcPr>
                </a:tc>
                <a:tc>
                  <a:txBody>
                    <a:bodyPr/>
                    <a:lstStyle/>
                    <a:p>
                      <a:pPr>
                        <a:lnSpc>
                          <a:spcPct val="100000"/>
                        </a:lnSpc>
                        <a:spcBef>
                          <a:spcPts val="25"/>
                        </a:spcBef>
                      </a:pPr>
                      <a:endParaRPr sz="27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3175" marB="0">
                    <a:lnL w="9525">
                      <a:solidFill>
                        <a:srgbClr val="000000"/>
                      </a:solidFill>
                      <a:prstDash val="solid"/>
                    </a:lnL>
                  </a:tcPr>
                </a:tc>
                <a:extLst>
                  <a:ext uri="{0D108BD9-81ED-4DB2-BD59-A6C34878D82A}">
                    <a16:rowId xmlns:a16="http://schemas.microsoft.com/office/drawing/2014/main" val="10003"/>
                  </a:ext>
                </a:extLst>
              </a:tr>
              <a:tr h="480628">
                <a:tc>
                  <a:txBody>
                    <a:bodyPr/>
                    <a:lstStyle/>
                    <a:p>
                      <a:pPr algn="ctr">
                        <a:lnSpc>
                          <a:spcPct val="100000"/>
                        </a:lnSpc>
                        <a:spcBef>
                          <a:spcPts val="525"/>
                        </a:spcBef>
                      </a:pPr>
                      <a:r>
                        <a:rPr sz="2000" dirty="0">
                          <a:latin typeface="Arial" panose="020B0604020202020204"/>
                          <a:cs typeface="Arial" panose="020B0604020202020204"/>
                        </a:rPr>
                        <a:t>10</a:t>
                      </a:r>
                      <a:endParaRPr sz="2000">
                        <a:latin typeface="Arial" panose="020B0604020202020204"/>
                        <a:cs typeface="Arial" panose="020B0604020202020204"/>
                      </a:endParaRPr>
                    </a:p>
                  </a:txBody>
                  <a:tcPr marL="0" marR="0" marT="66675" marB="0">
                    <a:lnR w="9525">
                      <a:solidFill>
                        <a:srgbClr val="000000"/>
                      </a:solidFill>
                      <a:prstDash val="solid"/>
                    </a:lnR>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gn="ctr">
                        <a:lnSpc>
                          <a:spcPct val="100000"/>
                        </a:lnSpc>
                        <a:spcBef>
                          <a:spcPts val="525"/>
                        </a:spcBef>
                      </a:pPr>
                      <a:r>
                        <a:rPr lang="en-US" altLang="zh-CN" sz="2000" dirty="0">
                          <a:latin typeface="Arial" panose="020B0604020202020204"/>
                          <a:cs typeface="Arial" panose="020B0604020202020204"/>
                        </a:rPr>
                        <a:t>11</a:t>
                      </a:r>
                      <a:r>
                        <a:rPr sz="2000" dirty="0">
                          <a:latin typeface="Arial" panose="020B0604020202020204"/>
                          <a:cs typeface="Arial" panose="020B0604020202020204"/>
                        </a:rPr>
                        <a:t>9</a:t>
                      </a:r>
                    </a:p>
                  </a:txBody>
                  <a:tcPr marL="0" marR="0" marT="66675"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gn="ctr">
                        <a:lnSpc>
                          <a:spcPct val="100000"/>
                        </a:lnSpc>
                        <a:spcBef>
                          <a:spcPts val="52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66675"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gn="ctr">
                        <a:lnSpc>
                          <a:spcPct val="100000"/>
                        </a:lnSpc>
                        <a:spcBef>
                          <a:spcPts val="52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66675"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B w="9525">
                      <a:solidFill>
                        <a:srgbClr val="000000"/>
                      </a:solidFill>
                      <a:prstDash val="solid"/>
                    </a:lnB>
                  </a:tcPr>
                </a:tc>
                <a:extLst>
                  <a:ext uri="{0D108BD9-81ED-4DB2-BD59-A6C34878D82A}">
                    <a16:rowId xmlns:a16="http://schemas.microsoft.com/office/drawing/2014/main" val="10004"/>
                  </a:ext>
                </a:extLst>
              </a:tr>
              <a:tr h="440251">
                <a:tc>
                  <a:txBody>
                    <a:bodyPr/>
                    <a:lstStyle/>
                    <a:p>
                      <a:pPr marR="10795" algn="ctr">
                        <a:lnSpc>
                          <a:spcPct val="100000"/>
                        </a:lnSpc>
                        <a:spcBef>
                          <a:spcPts val="855"/>
                        </a:spcBef>
                      </a:pPr>
                      <a:r>
                        <a:rPr sz="2000" spc="-150" dirty="0">
                          <a:latin typeface="Arial" panose="020B0604020202020204"/>
                          <a:cs typeface="Arial" panose="020B0604020202020204"/>
                        </a:rPr>
                        <a:t>11</a:t>
                      </a:r>
                      <a:endParaRPr sz="2000">
                        <a:latin typeface="Arial" panose="020B0604020202020204"/>
                        <a:cs typeface="Arial" panose="020B0604020202020204"/>
                      </a:endParaRPr>
                    </a:p>
                  </a:txBody>
                  <a:tcPr marL="0" marR="0" marT="108585" marB="0">
                    <a:lnR w="9525">
                      <a:solidFill>
                        <a:srgbClr val="000000"/>
                      </a:solidFill>
                      <a:prstDash val="solid"/>
                    </a:lnR>
                    <a:lnT w="952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gn="ctr">
                        <a:lnSpc>
                          <a:spcPct val="100000"/>
                        </a:lnSpc>
                        <a:spcBef>
                          <a:spcPts val="855"/>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2</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T w="9525">
                      <a:solidFill>
                        <a:srgbClr val="000000"/>
                      </a:solidFill>
                      <a:prstDash val="solid"/>
                    </a:lnT>
                  </a:tcPr>
                </a:tc>
                <a:extLst>
                  <a:ext uri="{0D108BD9-81ED-4DB2-BD59-A6C34878D82A}">
                    <a16:rowId xmlns:a16="http://schemas.microsoft.com/office/drawing/2014/main" val="10005"/>
                  </a:ext>
                </a:extLst>
              </a:tr>
              <a:tr h="700452">
                <a:tc>
                  <a:txBody>
                    <a:bodyPr/>
                    <a:lstStyle/>
                    <a:p>
                      <a:pPr algn="ctr">
                        <a:lnSpc>
                          <a:spcPct val="100000"/>
                        </a:lnSpc>
                        <a:spcBef>
                          <a:spcPts val="1500"/>
                        </a:spcBef>
                      </a:pPr>
                      <a:r>
                        <a:rPr sz="2000" dirty="0">
                          <a:latin typeface="Arial" panose="020B0604020202020204"/>
                          <a:cs typeface="Arial" panose="020B0604020202020204"/>
                        </a:rPr>
                        <a:t>12</a:t>
                      </a:r>
                      <a:endParaRPr sz="2000">
                        <a:latin typeface="Arial" panose="020B0604020202020204"/>
                        <a:cs typeface="Arial" panose="020B0604020202020204"/>
                      </a:endParaRPr>
                    </a:p>
                  </a:txBody>
                  <a:tcPr marL="0" marR="0" marT="190500" marB="0">
                    <a:lnR w="9525">
                      <a:solidFill>
                        <a:srgbClr val="000000"/>
                      </a:solidFill>
                      <a:prstDash val="solid"/>
                    </a:lnR>
                  </a:tcPr>
                </a:tc>
                <a:tc>
                  <a:txBody>
                    <a:bodyPr/>
                    <a:lstStyle/>
                    <a:p>
                      <a:pPr marL="502920" marR="495300" indent="552450">
                        <a:lnSpc>
                          <a:spcPct val="100000"/>
                        </a:lnSpc>
                        <a:spcBef>
                          <a:spcPts val="30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0"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381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905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2</a:t>
                      </a:r>
                      <a:r>
                        <a:rPr sz="2000" dirty="0">
                          <a:latin typeface="Arial" panose="020B0604020202020204"/>
                          <a:cs typeface="Arial" panose="020B0604020202020204"/>
                        </a:rPr>
                        <a:t>0</a:t>
                      </a:r>
                    </a:p>
                  </a:txBody>
                  <a:tcPr marL="0" marR="0" marT="1905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905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sz="2000" dirty="0">
                          <a:latin typeface="微软雅黑" panose="020B0503020204020204" pitchFamily="34" charset="-122"/>
                          <a:cs typeface="微软雅黑" panose="020B0503020204020204" pitchFamily="34" charset="-122"/>
                        </a:rPr>
                        <a:t>非三角形</a:t>
                      </a:r>
                      <a:endParaRPr sz="2000">
                        <a:latin typeface="微软雅黑" panose="020B0503020204020204" pitchFamily="34" charset="-122"/>
                        <a:cs typeface="微软雅黑" panose="020B0503020204020204" pitchFamily="34" charset="-122"/>
                      </a:endParaRPr>
                    </a:p>
                  </a:txBody>
                  <a:tcPr marL="0" marR="0" marT="190500" marB="0">
                    <a:lnL w="9525">
                      <a:solidFill>
                        <a:srgbClr val="000000"/>
                      </a:solidFill>
                      <a:prstDash val="solid"/>
                    </a:lnL>
                  </a:tcPr>
                </a:tc>
                <a:extLst>
                  <a:ext uri="{0D108BD9-81ED-4DB2-BD59-A6C34878D82A}">
                    <a16:rowId xmlns:a16="http://schemas.microsoft.com/office/drawing/2014/main" val="10006"/>
                  </a:ext>
                </a:extLst>
              </a:tr>
              <a:tr h="426249">
                <a:tc>
                  <a:txBody>
                    <a:bodyPr/>
                    <a:lstStyle/>
                    <a:p>
                      <a:pPr algn="ctr">
                        <a:lnSpc>
                          <a:spcPct val="100000"/>
                        </a:lnSpc>
                        <a:spcBef>
                          <a:spcPts val="100"/>
                        </a:spcBef>
                      </a:pPr>
                      <a:r>
                        <a:rPr sz="2000" dirty="0">
                          <a:latin typeface="Arial" panose="020B0604020202020204"/>
                          <a:cs typeface="Arial" panose="020B0604020202020204"/>
                        </a:rPr>
                        <a:t>13</a:t>
                      </a:r>
                      <a:endParaRPr sz="2000">
                        <a:latin typeface="Arial" panose="020B0604020202020204"/>
                        <a:cs typeface="Arial" panose="020B0604020202020204"/>
                      </a:endParaRPr>
                    </a:p>
                  </a:txBody>
                  <a:tcPr marL="0" marR="0" marT="12700" marB="0">
                    <a:lnR w="9525">
                      <a:solidFill>
                        <a:srgbClr val="000000"/>
                      </a:solidFill>
                      <a:prstDash val="solid"/>
                    </a:lnR>
                    <a:lnB w="2857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gn="ctr">
                        <a:lnSpc>
                          <a:spcPct val="100000"/>
                        </a:lnSpc>
                        <a:spcBef>
                          <a:spcPts val="10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2</a:t>
                      </a:r>
                      <a:r>
                        <a:rPr sz="2000" dirty="0">
                          <a:latin typeface="Arial" panose="020B0604020202020204"/>
                          <a:cs typeface="Arial" panose="020B0604020202020204"/>
                        </a:rPr>
                        <a:t>0</a:t>
                      </a:r>
                    </a:p>
                  </a:txBody>
                  <a:tcPr marL="0" marR="0" marT="1270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gn="ctr">
                        <a:lnSpc>
                          <a:spcPct val="100000"/>
                        </a:lnSpc>
                        <a:spcBef>
                          <a:spcPts val="1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270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gn="ctr">
                        <a:lnSpc>
                          <a:spcPct val="100000"/>
                        </a:lnSpc>
                        <a:spcBef>
                          <a:spcPts val="1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270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txBody>
                  <a:tcPr marL="0" marR="0" marT="0" marB="0">
                    <a:lnL w="9525">
                      <a:solidFill>
                        <a:srgbClr val="000000"/>
                      </a:solidFill>
                      <a:prstDash val="solid"/>
                    </a:lnL>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4" name="object 4"/>
          <p:cNvSpPr/>
          <p:nvPr/>
        </p:nvSpPr>
        <p:spPr>
          <a:xfrm>
            <a:off x="7095066" y="5235070"/>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5" name="object 5"/>
          <p:cNvSpPr/>
          <p:nvPr/>
        </p:nvSpPr>
        <p:spPr>
          <a:xfrm>
            <a:off x="7095066" y="2610405"/>
            <a:ext cx="508000" cy="474345"/>
          </a:xfrm>
          <a:custGeom>
            <a:avLst/>
            <a:gdLst/>
            <a:ahLst/>
            <a:cxnLst/>
            <a:rect l="l" t="t" r="r" b="b"/>
            <a:pathLst>
              <a:path w="508000" h="474344">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6" name="object 6"/>
          <p:cNvSpPr/>
          <p:nvPr/>
        </p:nvSpPr>
        <p:spPr>
          <a:xfrm>
            <a:off x="6180664" y="3135337"/>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7" name="object 7"/>
          <p:cNvSpPr/>
          <p:nvPr/>
        </p:nvSpPr>
        <p:spPr>
          <a:xfrm>
            <a:off x="6180664" y="4168272"/>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8" name="object 8"/>
          <p:cNvSpPr/>
          <p:nvPr/>
        </p:nvSpPr>
        <p:spPr>
          <a:xfrm>
            <a:off x="8060266" y="469320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9" name="object 9"/>
          <p:cNvSpPr/>
          <p:nvPr/>
        </p:nvSpPr>
        <p:spPr>
          <a:xfrm>
            <a:off x="6180664" y="5726137"/>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0" name="object 10"/>
          <p:cNvSpPr/>
          <p:nvPr/>
        </p:nvSpPr>
        <p:spPr>
          <a:xfrm>
            <a:off x="6180664" y="3660272"/>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75</a:t>
            </a:fld>
            <a:endParaRPr lang="zh-CN" altLang="en-US"/>
          </a:p>
        </p:txBody>
      </p:sp>
      <p:sp>
        <p:nvSpPr>
          <p:cNvPr id="13" name="标题 12"/>
          <p:cNvSpPr>
            <a:spLocks noGrp="1"/>
          </p:cNvSpPr>
          <p:nvPr>
            <p:ph type="title"/>
          </p:nvPr>
        </p:nvSpPr>
        <p:spPr/>
        <p:txBody>
          <a:bodyPr/>
          <a:lstStyle/>
          <a:p>
            <a:r>
              <a:rPr lang="zh-CN" altLang="en-US" dirty="0"/>
              <a:t>举例：判断三角形类型</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7133" y="1489501"/>
            <a:ext cx="3096260" cy="540385"/>
          </a:xfrm>
          <a:prstGeom prst="rect">
            <a:avLst/>
          </a:prstGeom>
          <a:solidFill>
            <a:srgbClr val="797BA9"/>
          </a:solidFill>
        </p:spPr>
        <p:txBody>
          <a:bodyPr vert="horz" wrap="square" lIns="0" tIns="117475" rIns="0" bIns="0" rtlCol="0">
            <a:spAutoFit/>
          </a:bodyPr>
          <a:lstStyle/>
          <a:p>
            <a:pPr marL="408940">
              <a:lnSpc>
                <a:spcPct val="100000"/>
              </a:lnSpc>
              <a:spcBef>
                <a:spcPts val="925"/>
              </a:spcBef>
            </a:pPr>
            <a:r>
              <a:rPr sz="2000" dirty="0">
                <a:solidFill>
                  <a:srgbClr val="FFFFFF"/>
                </a:solidFill>
                <a:latin typeface="微软雅黑" panose="020B0503020204020204" pitchFamily="34" charset="-122"/>
                <a:cs typeface="微软雅黑" panose="020B0503020204020204" pitchFamily="34" charset="-122"/>
              </a:rPr>
              <a:t>健壮等价类测试用例</a:t>
            </a:r>
            <a:endParaRPr sz="20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extLst>
              <p:ext uri="{D42A27DB-BD31-4B8C-83A1-F6EECF244321}">
                <p14:modId xmlns:p14="http://schemas.microsoft.com/office/powerpoint/2010/main" val="2362073446"/>
              </p:ext>
            </p:extLst>
          </p:nvPr>
        </p:nvGraphicFramePr>
        <p:xfrm>
          <a:off x="1040897" y="2051478"/>
          <a:ext cx="9988549" cy="4198231"/>
        </p:xfrm>
        <a:graphic>
          <a:graphicData uri="http://schemas.openxmlformats.org/drawingml/2006/table">
            <a:tbl>
              <a:tblPr firstRow="1" bandRow="1">
                <a:tableStyleId>{2D5ABB26-0587-4C30-8999-92F81FD0307C}</a:tableStyleId>
              </a:tblPr>
              <a:tblGrid>
                <a:gridCol w="849630">
                  <a:extLst>
                    <a:ext uri="{9D8B030D-6E8A-4147-A177-3AD203B41FA5}">
                      <a16:colId xmlns:a16="http://schemas.microsoft.com/office/drawing/2014/main" val="20000"/>
                    </a:ext>
                  </a:extLst>
                </a:gridCol>
                <a:gridCol w="3984625">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51230">
                  <a:extLst>
                    <a:ext uri="{9D8B030D-6E8A-4147-A177-3AD203B41FA5}">
                      <a16:colId xmlns:a16="http://schemas.microsoft.com/office/drawing/2014/main" val="20003"/>
                    </a:ext>
                  </a:extLst>
                </a:gridCol>
                <a:gridCol w="1012190">
                  <a:extLst>
                    <a:ext uri="{9D8B030D-6E8A-4147-A177-3AD203B41FA5}">
                      <a16:colId xmlns:a16="http://schemas.microsoft.com/office/drawing/2014/main" val="20004"/>
                    </a:ext>
                  </a:extLst>
                </a:gridCol>
                <a:gridCol w="2259964">
                  <a:extLst>
                    <a:ext uri="{9D8B030D-6E8A-4147-A177-3AD203B41FA5}">
                      <a16:colId xmlns:a16="http://schemas.microsoft.com/office/drawing/2014/main" val="20005"/>
                    </a:ext>
                  </a:extLst>
                </a:gridCol>
              </a:tblGrid>
              <a:tr h="466471">
                <a:tc rowSpan="2">
                  <a:txBody>
                    <a:bodyPr/>
                    <a:lstStyle/>
                    <a:p>
                      <a:pPr>
                        <a:lnSpc>
                          <a:spcPct val="100000"/>
                        </a:lnSpc>
                      </a:pPr>
                      <a:endParaRPr sz="2150">
                        <a:latin typeface="Times New Roman" panose="02020603050405020304"/>
                        <a:cs typeface="Times New Roman" panose="02020603050405020304"/>
                      </a:endParaRPr>
                    </a:p>
                    <a:p>
                      <a:pPr marL="170180">
                        <a:lnSpc>
                          <a:spcPct val="100000"/>
                        </a:lnSpc>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a:lnSpc>
                          <a:spcPct val="100000"/>
                        </a:lnSpc>
                      </a:pPr>
                      <a:endParaRPr sz="2150">
                        <a:latin typeface="Times New Roman" panose="02020603050405020304"/>
                        <a:cs typeface="Times New Roman" panose="02020603050405020304"/>
                      </a:endParaRPr>
                    </a:p>
                    <a:p>
                      <a:pPr marL="1229995">
                        <a:lnSpc>
                          <a:spcPct val="100000"/>
                        </a:lnSpc>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37895">
                        <a:lnSpc>
                          <a:spcPct val="100000"/>
                        </a:lnSpc>
                        <a:spcBef>
                          <a:spcPts val="635"/>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a:lnSpc>
                          <a:spcPct val="100000"/>
                        </a:lnSpc>
                      </a:pPr>
                      <a:endParaRPr sz="2150">
                        <a:latin typeface="Times New Roman" panose="02020603050405020304"/>
                        <a:cs typeface="Times New Roman" panose="02020603050405020304"/>
                      </a:endParaRPr>
                    </a:p>
                    <a:p>
                      <a:pPr marL="621030">
                        <a:lnSpc>
                          <a:spcPct val="100000"/>
                        </a:lnSpc>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66470">
                <a:tc vMerge="1">
                  <a:txBody>
                    <a:bodyPr/>
                    <a:lstStyle/>
                    <a:p>
                      <a:endParaRPr lang="zh-CN"/>
                    </a:p>
                  </a:txBody>
                  <a:tcPr marL="0" marR="0" marT="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466470">
                <a:tc>
                  <a:txBody>
                    <a:bodyPr/>
                    <a:lstStyle/>
                    <a:p>
                      <a:pPr algn="ctr">
                        <a:lnSpc>
                          <a:spcPct val="100000"/>
                        </a:lnSpc>
                        <a:spcBef>
                          <a:spcPts val="635"/>
                        </a:spcBef>
                      </a:pPr>
                      <a:r>
                        <a:rPr sz="2000" dirty="0">
                          <a:latin typeface="Arial" panose="020B0604020202020204"/>
                          <a:cs typeface="Arial" panose="020B0604020202020204"/>
                        </a:rPr>
                        <a:t>1-4</a:t>
                      </a:r>
                      <a:endParaRPr sz="2000">
                        <a:latin typeface="Arial" panose="020B0604020202020204"/>
                        <a:cs typeface="Arial" panose="020B0604020202020204"/>
                      </a:endParaRPr>
                    </a:p>
                  </a:txBody>
                  <a:tcPr marL="0" marR="0" marT="80645"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微软雅黑" panose="020B0503020204020204" pitchFamily="34" charset="-122"/>
                          <a:cs typeface="微软雅黑" panose="020B0503020204020204" pitchFamily="34" charset="-122"/>
                        </a:rPr>
                        <a:t>有效等价类同前面（略）</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466470">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solidFill>
                            <a:srgbClr val="FF0000"/>
                          </a:solidFill>
                          <a:latin typeface="Arial" panose="020B0604020202020204"/>
                          <a:cs typeface="Arial" panose="020B0604020202020204"/>
                        </a:rPr>
                        <a:t>a&lt;0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a</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466470">
                <a:tc>
                  <a:txBody>
                    <a:bodyPr/>
                    <a:lstStyle/>
                    <a:p>
                      <a:pPr algn="ctr">
                        <a:lnSpc>
                          <a:spcPct val="100000"/>
                        </a:lnSpc>
                        <a:spcBef>
                          <a:spcPts val="635"/>
                        </a:spcBef>
                      </a:pPr>
                      <a:r>
                        <a:rPr sz="2000" dirty="0">
                          <a:latin typeface="Arial" panose="020B0604020202020204"/>
                          <a:cs typeface="Arial" panose="020B0604020202020204"/>
                        </a:rPr>
                        <a:t>6</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b&lt;0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b</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466470">
                <a:tc>
                  <a:txBody>
                    <a:bodyPr/>
                    <a:lstStyle/>
                    <a:p>
                      <a:pPr algn="ctr">
                        <a:lnSpc>
                          <a:spcPct val="100000"/>
                        </a:lnSpc>
                        <a:spcBef>
                          <a:spcPts val="635"/>
                        </a:spcBef>
                      </a:pPr>
                      <a:r>
                        <a:rPr sz="2000" dirty="0">
                          <a:latin typeface="Arial" panose="020B0604020202020204"/>
                          <a:cs typeface="Arial" panose="020B0604020202020204"/>
                        </a:rPr>
                        <a:t>7</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c&lt;0</a:t>
                      </a:r>
                      <a:endParaRPr sz="2000" dirty="0">
                        <a:solidFill>
                          <a:srgbClr val="FF0000"/>
                        </a:solidFill>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c</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466470">
                <a:tc>
                  <a:txBody>
                    <a:bodyPr/>
                    <a:lstStyle/>
                    <a:p>
                      <a:pPr algn="ctr">
                        <a:lnSpc>
                          <a:spcPct val="100000"/>
                        </a:lnSpc>
                        <a:spcBef>
                          <a:spcPts val="635"/>
                        </a:spcBef>
                      </a:pPr>
                      <a:r>
                        <a:rPr sz="2000" dirty="0">
                          <a:latin typeface="Arial" panose="020B0604020202020204"/>
                          <a:cs typeface="Arial" panose="020B0604020202020204"/>
                        </a:rPr>
                        <a:t>8</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solidFill>
                            <a:srgbClr val="FF0000"/>
                          </a:solidFill>
                          <a:latin typeface="Arial" panose="020B0604020202020204"/>
                          <a:cs typeface="Arial" panose="020B0604020202020204"/>
                        </a:rPr>
                        <a:t>a&gt;</a:t>
                      </a:r>
                      <a:r>
                        <a:rPr lang="en-US" altLang="zh-CN" sz="2000" spc="-5" dirty="0">
                          <a:solidFill>
                            <a:srgbClr val="FF0000"/>
                          </a:solidFill>
                          <a:latin typeface="Arial" panose="020B0604020202020204"/>
                          <a:cs typeface="Arial" panose="020B0604020202020204"/>
                        </a:rPr>
                        <a:t>2</a:t>
                      </a:r>
                      <a:r>
                        <a:rPr sz="2000" spc="-5" dirty="0">
                          <a:solidFill>
                            <a:srgbClr val="FF0000"/>
                          </a:solidFill>
                          <a:latin typeface="Arial" panose="020B0604020202020204"/>
                          <a:cs typeface="Arial" panose="020B0604020202020204"/>
                        </a:rPr>
                        <a:t>00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lang="en-US" altLang="zh-CN" sz="2000" dirty="0">
                          <a:latin typeface="Arial" panose="020B0604020202020204"/>
                          <a:cs typeface="Arial" panose="020B0604020202020204"/>
                        </a:rPr>
                        <a:t>2</a:t>
                      </a:r>
                      <a:r>
                        <a:rPr sz="2000" dirty="0">
                          <a:latin typeface="Arial" panose="020B0604020202020204"/>
                          <a:cs typeface="Arial" panose="020B0604020202020204"/>
                        </a:rPr>
                        <a:t>01</a:t>
                      </a: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a</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466470">
                <a:tc>
                  <a:txBody>
                    <a:bodyPr/>
                    <a:lstStyle/>
                    <a:p>
                      <a:pPr algn="ctr">
                        <a:lnSpc>
                          <a:spcPct val="100000"/>
                        </a:lnSpc>
                        <a:spcBef>
                          <a:spcPts val="635"/>
                        </a:spcBef>
                      </a:pPr>
                      <a:r>
                        <a:rPr sz="2000" dirty="0">
                          <a:latin typeface="Arial" panose="020B0604020202020204"/>
                          <a:cs typeface="Arial" panose="020B0604020202020204"/>
                        </a:rPr>
                        <a:t>9</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b&gt;</a:t>
                      </a:r>
                      <a:r>
                        <a:rPr lang="en-US" altLang="zh-CN" sz="2000" spc="-5" dirty="0">
                          <a:solidFill>
                            <a:srgbClr val="FF0000"/>
                          </a:solidFill>
                          <a:latin typeface="Arial" panose="020B0604020202020204"/>
                          <a:cs typeface="Arial" panose="020B0604020202020204"/>
                        </a:rPr>
                        <a:t>2</a:t>
                      </a:r>
                      <a:r>
                        <a:rPr sz="2000" spc="-5" dirty="0">
                          <a:solidFill>
                            <a:srgbClr val="FF0000"/>
                          </a:solidFill>
                          <a:latin typeface="Arial" panose="020B0604020202020204"/>
                          <a:cs typeface="Arial" panose="020B0604020202020204"/>
                        </a:rPr>
                        <a:t>00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lang="en-US" altLang="zh-CN" sz="2000" dirty="0">
                          <a:latin typeface="Arial" panose="020B0604020202020204"/>
                          <a:cs typeface="Arial" panose="020B0604020202020204"/>
                        </a:rPr>
                        <a:t>2</a:t>
                      </a:r>
                      <a:r>
                        <a:rPr sz="2000" dirty="0">
                          <a:latin typeface="Arial" panose="020B0604020202020204"/>
                          <a:cs typeface="Arial" panose="020B0604020202020204"/>
                        </a:rPr>
                        <a:t>01</a:t>
                      </a: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b</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7"/>
                  </a:ext>
                </a:extLst>
              </a:tr>
              <a:tr h="466470">
                <a:tc>
                  <a:txBody>
                    <a:bodyPr/>
                    <a:lstStyle/>
                    <a:p>
                      <a:pPr algn="ctr">
                        <a:lnSpc>
                          <a:spcPct val="100000"/>
                        </a:lnSpc>
                        <a:spcBef>
                          <a:spcPts val="635"/>
                        </a:spcBef>
                      </a:pPr>
                      <a:r>
                        <a:rPr sz="2000" dirty="0">
                          <a:latin typeface="Arial" panose="020B0604020202020204"/>
                          <a:cs typeface="Arial" panose="020B0604020202020204"/>
                        </a:rPr>
                        <a:t>10</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c&gt;</a:t>
                      </a:r>
                      <a:r>
                        <a:rPr lang="en-US" altLang="zh-CN" sz="2000" spc="-5" dirty="0">
                          <a:solidFill>
                            <a:srgbClr val="FF0000"/>
                          </a:solidFill>
                          <a:latin typeface="Arial" panose="020B0604020202020204"/>
                          <a:cs typeface="Arial" panose="020B0604020202020204"/>
                        </a:rPr>
                        <a:t>2</a:t>
                      </a:r>
                      <a:r>
                        <a:rPr sz="2000" spc="-5" dirty="0">
                          <a:solidFill>
                            <a:srgbClr val="FF0000"/>
                          </a:solidFill>
                          <a:latin typeface="Arial" panose="020B0604020202020204"/>
                          <a:cs typeface="Arial" panose="020B0604020202020204"/>
                        </a:rPr>
                        <a:t>00</a:t>
                      </a:r>
                      <a:endParaRPr sz="2000" dirty="0">
                        <a:solidFill>
                          <a:srgbClr val="FF0000"/>
                        </a:solidFill>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lang="en-US" altLang="zh-CN" sz="2000" dirty="0">
                          <a:latin typeface="Arial" panose="020B0604020202020204"/>
                          <a:cs typeface="Arial" panose="020B0604020202020204"/>
                        </a:rPr>
                        <a:t>2</a:t>
                      </a:r>
                      <a:r>
                        <a:rPr sz="2000" dirty="0">
                          <a:latin typeface="Arial" panose="020B0604020202020204"/>
                          <a:cs typeface="Arial" panose="020B0604020202020204"/>
                        </a:rPr>
                        <a:t>01</a:t>
                      </a: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c</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p>
                  </a:txBody>
                  <a:tcPr marL="0" marR="0" marT="80645"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object 5"/>
          <p:cNvSpPr/>
          <p:nvPr/>
        </p:nvSpPr>
        <p:spPr>
          <a:xfrm>
            <a:off x="6095998" y="3493612"/>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9" y="144789"/>
                </a:lnTo>
                <a:lnTo>
                  <a:pt x="502839" y="189289"/>
                </a:lnTo>
                <a:lnTo>
                  <a:pt x="507999" y="237066"/>
                </a:lnTo>
                <a:lnTo>
                  <a:pt x="502839" y="284844"/>
                </a:lnTo>
                <a:lnTo>
                  <a:pt x="488039"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6" name="object 6"/>
          <p:cNvSpPr/>
          <p:nvPr/>
        </p:nvSpPr>
        <p:spPr>
          <a:xfrm>
            <a:off x="7027331" y="3933879"/>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7" name="object 7"/>
          <p:cNvSpPr/>
          <p:nvPr/>
        </p:nvSpPr>
        <p:spPr>
          <a:xfrm>
            <a:off x="8009464" y="4391077"/>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8" name="object 8"/>
          <p:cNvSpPr/>
          <p:nvPr/>
        </p:nvSpPr>
        <p:spPr>
          <a:xfrm>
            <a:off x="6112931" y="4865211"/>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9" name="object 9"/>
          <p:cNvSpPr/>
          <p:nvPr/>
        </p:nvSpPr>
        <p:spPr>
          <a:xfrm>
            <a:off x="7027332" y="533934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0" name="object 10"/>
          <p:cNvSpPr/>
          <p:nvPr/>
        </p:nvSpPr>
        <p:spPr>
          <a:xfrm>
            <a:off x="8009464" y="579654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76</a:t>
            </a:fld>
            <a:endParaRPr lang="zh-CN" altLang="en-US"/>
          </a:p>
        </p:txBody>
      </p:sp>
      <p:sp>
        <p:nvSpPr>
          <p:cNvPr id="13" name="标题 12"/>
          <p:cNvSpPr>
            <a:spLocks noGrp="1"/>
          </p:cNvSpPr>
          <p:nvPr>
            <p:ph type="title"/>
          </p:nvPr>
        </p:nvSpPr>
        <p:spPr/>
        <p:txBody>
          <a:bodyPr/>
          <a:lstStyle/>
          <a:p>
            <a:r>
              <a:rPr lang="zh-CN" altLang="en-US" dirty="0"/>
              <a:t>举例：判断三角形类型</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298439" y="3198206"/>
            <a:ext cx="2715831" cy="193988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091468" y="1707895"/>
            <a:ext cx="10088880" cy="3636645"/>
          </a:xfrm>
          <a:prstGeom prst="rect">
            <a:avLst/>
          </a:prstGeom>
        </p:spPr>
        <p:txBody>
          <a:bodyPr vert="horz" wrap="square" lIns="0" tIns="12700" rIns="0" bIns="0" rtlCol="0">
            <a:spAutoFit/>
          </a:bodyPr>
          <a:lstStyle/>
          <a:p>
            <a:pPr marL="12700" marR="5080">
              <a:lnSpc>
                <a:spcPct val="129000"/>
              </a:lnSpc>
              <a:spcBef>
                <a:spcPts val="100"/>
              </a:spcBef>
            </a:pPr>
            <a:r>
              <a:rPr sz="2200" spc="60" dirty="0">
                <a:solidFill>
                  <a:srgbClr val="0033CC"/>
                </a:solidFill>
                <a:latin typeface="微软雅黑" panose="020B0503020204020204" pitchFamily="34" charset="-122"/>
                <a:cs typeface="微软雅黑" panose="020B0503020204020204" pitchFamily="34" charset="-122"/>
              </a:rPr>
              <a:t>错误推测法</a:t>
            </a:r>
            <a:r>
              <a:rPr sz="2200" spc="60" dirty="0">
                <a:latin typeface="微软雅黑" panose="020B0503020204020204" pitchFamily="34" charset="-122"/>
                <a:cs typeface="微软雅黑" panose="020B0503020204020204" pitchFamily="34" charset="-122"/>
              </a:rPr>
              <a:t>是人们根据经验或直觉推测程序中可能存在的各种错误，从而有针对 </a:t>
            </a:r>
            <a:r>
              <a:rPr sz="2200" dirty="0">
                <a:latin typeface="微软雅黑" panose="020B0503020204020204" pitchFamily="34" charset="-122"/>
                <a:cs typeface="微软雅黑" panose="020B0503020204020204" pitchFamily="34" charset="-122"/>
              </a:rPr>
              <a:t>性地编写检查这些错误的测试用例的方法。</a:t>
            </a:r>
            <a:endParaRPr sz="2200">
              <a:latin typeface="微软雅黑" panose="020B0503020204020204" pitchFamily="34" charset="-122"/>
              <a:cs typeface="微软雅黑" panose="020B0503020204020204" pitchFamily="34" charset="-122"/>
            </a:endParaRPr>
          </a:p>
          <a:p>
            <a:pPr>
              <a:lnSpc>
                <a:spcPct val="100000"/>
              </a:lnSpc>
              <a:spcBef>
                <a:spcPts val="30"/>
              </a:spcBef>
            </a:pPr>
            <a:endParaRPr sz="2350">
              <a:latin typeface="Times New Roman" panose="02020603050405020304"/>
              <a:cs typeface="Times New Roman" panose="02020603050405020304"/>
            </a:endParaRPr>
          </a:p>
          <a:p>
            <a:pPr marL="500380" marR="3154045" indent="-431800" algn="just">
              <a:lnSpc>
                <a:spcPct val="129000"/>
              </a:lnSpc>
              <a:buFont typeface="Arial" panose="020B0604020202020204"/>
              <a:buChar char="•"/>
              <a:tabLst>
                <a:tab pos="514350" algn="l"/>
              </a:tabLst>
            </a:pPr>
            <a:r>
              <a:rPr sz="2200" spc="35" dirty="0">
                <a:latin typeface="微软雅黑" panose="020B0503020204020204" pitchFamily="34" charset="-122"/>
                <a:cs typeface="微软雅黑" panose="020B0503020204020204" pitchFamily="34" charset="-122"/>
              </a:rPr>
              <a:t>软件缺陷具有空间聚集性，</a:t>
            </a:r>
            <a:r>
              <a:rPr sz="2200" spc="35" dirty="0">
                <a:latin typeface="Arial" panose="020B0604020202020204"/>
                <a:cs typeface="Arial" panose="020B0604020202020204"/>
              </a:rPr>
              <a:t>80%</a:t>
            </a:r>
            <a:r>
              <a:rPr sz="2200" spc="35" dirty="0">
                <a:latin typeface="微软雅黑" panose="020B0503020204020204" pitchFamily="34" charset="-122"/>
                <a:cs typeface="微软雅黑" panose="020B0503020204020204" pitchFamily="34" charset="-122"/>
              </a:rPr>
              <a:t>的缺陷常常存在于 </a:t>
            </a:r>
            <a:r>
              <a:rPr sz="2200" spc="35" dirty="0">
                <a:latin typeface="Arial" panose="020B0604020202020204"/>
                <a:cs typeface="Arial" panose="020B0604020202020204"/>
              </a:rPr>
              <a:t>20%</a:t>
            </a:r>
            <a:r>
              <a:rPr sz="2200" spc="35" dirty="0">
                <a:latin typeface="微软雅黑" panose="020B0503020204020204" pitchFamily="34" charset="-122"/>
                <a:cs typeface="微软雅黑" panose="020B0503020204020204" pitchFamily="34" charset="-122"/>
              </a:rPr>
              <a:t>的代码中。因此，应当记住常常光临代码的高 </a:t>
            </a:r>
            <a:r>
              <a:rPr sz="2200" dirty="0">
                <a:latin typeface="微软雅黑" panose="020B0503020204020204" pitchFamily="34" charset="-122"/>
                <a:cs typeface="微软雅黑" panose="020B0503020204020204" pitchFamily="34" charset="-122"/>
              </a:rPr>
              <a:t>危多发“地段”，这样发现缺陷的可能性会大得多。</a:t>
            </a:r>
            <a:endParaRPr sz="2200">
              <a:latin typeface="微软雅黑" panose="020B0503020204020204" pitchFamily="34" charset="-122"/>
              <a:cs typeface="微软雅黑" panose="020B0503020204020204" pitchFamily="34" charset="-122"/>
            </a:endParaRPr>
          </a:p>
          <a:p>
            <a:pPr marL="500380" marR="3307715" indent="-431800" algn="just">
              <a:lnSpc>
                <a:spcPct val="133000"/>
              </a:lnSpc>
              <a:spcBef>
                <a:spcPts val="1700"/>
              </a:spcBef>
              <a:buFont typeface="Arial" panose="020B0604020202020204"/>
              <a:buChar char="•"/>
              <a:tabLst>
                <a:tab pos="514350" algn="l"/>
              </a:tabLst>
            </a:pPr>
            <a:r>
              <a:rPr sz="2200" spc="40" dirty="0">
                <a:latin typeface="微软雅黑" panose="020B0503020204020204" pitchFamily="34" charset="-122"/>
                <a:cs typeface="微软雅黑" panose="020B0503020204020204" pitchFamily="34" charset="-122"/>
              </a:rPr>
              <a:t>列举程序中所有可能的错误和容易发生错误的特殊 </a:t>
            </a:r>
            <a:r>
              <a:rPr sz="2200" dirty="0">
                <a:latin typeface="微软雅黑" panose="020B0503020204020204" pitchFamily="34" charset="-122"/>
                <a:cs typeface="微软雅黑" panose="020B0503020204020204" pitchFamily="34" charset="-122"/>
              </a:rPr>
              <a:t>情况，根据可能出现的错误情况选择测试用例。</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77</a:t>
            </a:fld>
            <a:endParaRPr lang="zh-CN" altLang="en-US"/>
          </a:p>
        </p:txBody>
      </p:sp>
      <p:sp>
        <p:nvSpPr>
          <p:cNvPr id="7" name="标题 6"/>
          <p:cNvSpPr>
            <a:spLocks noGrp="1"/>
          </p:cNvSpPr>
          <p:nvPr>
            <p:ph type="title"/>
          </p:nvPr>
        </p:nvSpPr>
        <p:spPr/>
        <p:txBody>
          <a:bodyPr/>
          <a:lstStyle/>
          <a:p>
            <a:r>
              <a:rPr lang="zh-CN" altLang="en-US" dirty="0"/>
              <a:t>错误推测法</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199" y="635000"/>
            <a:ext cx="10557831" cy="5580063"/>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返校登记程序，需要登记姓名、学号、年龄、性别和体温，要求如下：</a:t>
            </a:r>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姓名：长度不超过</a:t>
            </a:r>
            <a:r>
              <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的字符串，只能由字母构成，不能有其它字符</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学号：长度为</a:t>
            </a:r>
            <a:r>
              <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7</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的字符串，只能由数字构成</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年龄：大于</a:t>
            </a:r>
            <a:r>
              <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，小于等于</a:t>
            </a:r>
            <a:r>
              <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的整数</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性别：男或者女</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体温：</a:t>
            </a:r>
            <a:r>
              <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20~50</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的数字</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请分析如何对这个程序进行等价类划分、边界测试和健壮性测试</a:t>
            </a:r>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矩形: 圆角 4"/>
          <p:cNvSpPr/>
          <p:nvPr>
            <p:custDataLst>
              <p:tags r:id="rId3"/>
            </p:custDataLst>
          </p:nvPr>
        </p:nvSpPr>
        <p:spPr>
          <a:xfrm>
            <a:off x="9212855" y="507841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3426770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关于等价类划分，下面的（ ）说法是正确的。</a:t>
            </a:r>
          </a:p>
        </p:txBody>
      </p:sp>
      <p:sp>
        <p:nvSpPr>
          <p:cNvPr id="5" name="文本框 4"/>
          <p:cNvSpPr txBox="1"/>
          <p:nvPr>
            <p:custDataLst>
              <p:tags r:id="rId3"/>
            </p:custDataLst>
          </p:nvPr>
        </p:nvSpPr>
        <p:spPr>
          <a:xfrm>
            <a:off x="2438400" y="22352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将输入域的子域越少越好</a:t>
            </a:r>
          </a:p>
        </p:txBody>
      </p:sp>
      <p:sp>
        <p:nvSpPr>
          <p:cNvPr id="6" name="文本框 5"/>
          <p:cNvSpPr txBox="1"/>
          <p:nvPr>
            <p:custDataLst>
              <p:tags r:id="rId4"/>
            </p:custDataLst>
          </p:nvPr>
        </p:nvSpPr>
        <p:spPr>
          <a:xfrm>
            <a:off x="2438400" y="30924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同一输入域的等价类划分是唯一的</a:t>
            </a:r>
          </a:p>
        </p:txBody>
      </p:sp>
      <p:sp>
        <p:nvSpPr>
          <p:cNvPr id="7" name="文本框 6"/>
          <p:cNvSpPr txBox="1"/>
          <p:nvPr>
            <p:custDataLst>
              <p:tags r:id="rId5"/>
            </p:custDataLst>
          </p:nvPr>
        </p:nvSpPr>
        <p:spPr>
          <a:xfrm>
            <a:off x="2438400" y="39497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用同一等价类中的任意输入对软件进行测试，软件都输出相同的结果</a:t>
            </a:r>
          </a:p>
        </p:txBody>
      </p:sp>
      <p:sp>
        <p:nvSpPr>
          <p:cNvPr id="8" name="文本框 7"/>
          <p:cNvSpPr txBox="1"/>
          <p:nvPr>
            <p:custDataLst>
              <p:tags r:id="rId6"/>
            </p:custDataLst>
          </p:nvPr>
        </p:nvSpPr>
        <p:spPr>
          <a:xfrm>
            <a:off x="2438400" y="48069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对于相同的等价类划分，不同测试人员选取的测试用例集是一样的</a:t>
            </a:r>
          </a:p>
        </p:txBody>
      </p:sp>
      <p:sp>
        <p:nvSpPr>
          <p:cNvPr id="13" name="矩形: 圆角 12"/>
          <p:cNvSpPr/>
          <p:nvPr>
            <p:custDataLst>
              <p:tags r:id="rId7"/>
            </p:custDataLst>
          </p:nvPr>
        </p:nvSpPr>
        <p:spPr>
          <a:xfrm>
            <a:off x="8816248"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A4B8B391-93B0-E942-8069-34C69A14A3CD}"/>
              </a:ext>
            </a:extLst>
          </p:cNvPr>
          <p:cNvSpPr txBox="1"/>
          <p:nvPr/>
        </p:nvSpPr>
        <p:spPr>
          <a:xfrm>
            <a:off x="1609136" y="2272302"/>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32424052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77345" y="1690688"/>
            <a:ext cx="9728200" cy="4319905"/>
          </a:xfrm>
          <a:prstGeom prst="rect">
            <a:avLst/>
          </a:prstGeom>
        </p:spPr>
        <p:txBody>
          <a:bodyPr vert="horz" wrap="square" lIns="0" tIns="12700" rIns="0" bIns="0" rtlCol="0">
            <a:spAutoFit/>
          </a:bodyPr>
          <a:lstStyle/>
          <a:p>
            <a:pPr marL="457200" marR="5080" indent="-444500" algn="just">
              <a:lnSpc>
                <a:spcPct val="117000"/>
              </a:lnSpc>
              <a:spcBef>
                <a:spcPts val="100"/>
              </a:spcBef>
              <a:buClr>
                <a:srgbClr val="0033CC"/>
              </a:buClr>
              <a:buFont typeface="Arial" panose="020B0604020202020204"/>
              <a:buChar char="•"/>
              <a:tabLst>
                <a:tab pos="460375" algn="l"/>
              </a:tabLst>
            </a:pPr>
            <a:r>
              <a:rPr sz="2200" spc="5" dirty="0">
                <a:solidFill>
                  <a:srgbClr val="004DD6"/>
                </a:solidFill>
                <a:latin typeface="微软雅黑" panose="020B0503020204020204" pitchFamily="34" charset="-122"/>
                <a:cs typeface="微软雅黑" panose="020B0503020204020204" pitchFamily="34" charset="-122"/>
              </a:rPr>
              <a:t>测试需求</a:t>
            </a:r>
            <a:r>
              <a:rPr sz="2200" spc="5" dirty="0">
                <a:latin typeface="微软雅黑" panose="020B0503020204020204" pitchFamily="34" charset="-122"/>
                <a:cs typeface="微软雅黑" panose="020B0503020204020204" pitchFamily="34" charset="-122"/>
              </a:rPr>
              <a:t>：测试需求是软件制品的一个特定元素，测试用例必须满足或覆盖 </a:t>
            </a:r>
            <a:r>
              <a:rPr sz="2200" dirty="0">
                <a:latin typeface="微软雅黑" panose="020B0503020204020204" pitchFamily="34" charset="-122"/>
                <a:cs typeface="微软雅黑" panose="020B0503020204020204" pitchFamily="34" charset="-122"/>
              </a:rPr>
              <a:t>这个特定元素。</a:t>
            </a:r>
          </a:p>
          <a:p>
            <a:pPr marL="457200" marR="5080" indent="-444500" algn="just">
              <a:lnSpc>
                <a:spcPct val="121000"/>
              </a:lnSpc>
              <a:spcBef>
                <a:spcPts val="1800"/>
              </a:spcBef>
              <a:buClr>
                <a:srgbClr val="0033CC"/>
              </a:buClr>
              <a:buFont typeface="Arial" panose="020B0604020202020204"/>
              <a:buChar char="•"/>
              <a:tabLst>
                <a:tab pos="460375" algn="l"/>
              </a:tabLst>
            </a:pPr>
            <a:r>
              <a:rPr sz="2200" spc="5" dirty="0">
                <a:solidFill>
                  <a:srgbClr val="004DD6"/>
                </a:solidFill>
                <a:latin typeface="微软雅黑" panose="020B0503020204020204" pitchFamily="34" charset="-122"/>
                <a:cs typeface="微软雅黑" panose="020B0503020204020204" pitchFamily="34" charset="-122"/>
              </a:rPr>
              <a:t>覆盖标准</a:t>
            </a:r>
            <a:r>
              <a:rPr sz="2200" spc="5" dirty="0">
                <a:latin typeface="微软雅黑" panose="020B0503020204020204" pitchFamily="34" charset="-122"/>
                <a:cs typeface="微软雅黑" panose="020B0503020204020204" pitchFamily="34" charset="-122"/>
              </a:rPr>
              <a:t>：一个覆盖标准是一条规则，或者是将测试需求施加在一个测试集 </a:t>
            </a:r>
            <a:r>
              <a:rPr sz="2200" dirty="0">
                <a:latin typeface="微软雅黑" panose="020B0503020204020204" pitchFamily="34" charset="-122"/>
                <a:cs typeface="微软雅黑" panose="020B0503020204020204" pitchFamily="34" charset="-122"/>
              </a:rPr>
              <a:t>上的一组规则。</a:t>
            </a:r>
          </a:p>
          <a:p>
            <a:pPr marL="457200" marR="5715" indent="-444500" algn="just">
              <a:lnSpc>
                <a:spcPct val="119000"/>
              </a:lnSpc>
              <a:spcBef>
                <a:spcPts val="1710"/>
              </a:spcBef>
              <a:buClr>
                <a:srgbClr val="0033CC"/>
              </a:buClr>
              <a:buFont typeface="Arial" panose="020B0604020202020204"/>
              <a:buChar char="•"/>
              <a:tabLst>
                <a:tab pos="460375" algn="l"/>
              </a:tabLst>
            </a:pPr>
            <a:r>
              <a:rPr sz="2200" dirty="0">
                <a:solidFill>
                  <a:srgbClr val="004DD6"/>
                </a:solidFill>
                <a:latin typeface="微软雅黑" panose="020B0503020204020204" pitchFamily="34" charset="-122"/>
                <a:cs typeface="微软雅黑" panose="020B0503020204020204" pitchFamily="34" charset="-122"/>
              </a:rPr>
              <a:t>测试覆盖</a:t>
            </a:r>
            <a:r>
              <a:rPr sz="2200" dirty="0">
                <a:latin typeface="微软雅黑" panose="020B0503020204020204" pitchFamily="34" charset="-122"/>
                <a:cs typeface="微软雅黑" panose="020B0503020204020204" pitchFamily="34" charset="-122"/>
              </a:rPr>
              <a:t>：给定一个覆盖标准</a:t>
            </a:r>
            <a:r>
              <a:rPr sz="2200" spc="215"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C</a:t>
            </a:r>
            <a:r>
              <a:rPr sz="2250" i="1" spc="200"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和相关的测试需求集合</a:t>
            </a:r>
            <a:r>
              <a:rPr sz="2200" spc="215" dirty="0">
                <a:latin typeface="微软雅黑" panose="020B0503020204020204" pitchFamily="34" charset="-122"/>
                <a:cs typeface="微软雅黑" panose="020B0503020204020204" pitchFamily="34" charset="-122"/>
              </a:rPr>
              <a:t> </a:t>
            </a:r>
            <a:r>
              <a:rPr sz="2250" i="1" spc="-25" dirty="0">
                <a:latin typeface="微软雅黑" panose="020B0503020204020204" pitchFamily="34" charset="-122"/>
                <a:cs typeface="微软雅黑" panose="020B0503020204020204" pitchFamily="34" charset="-122"/>
              </a:rPr>
              <a:t>TR</a:t>
            </a:r>
            <a:r>
              <a:rPr sz="2200" spc="-2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欲使一个测试 集合</a:t>
            </a:r>
            <a:r>
              <a:rPr sz="2200" spc="365" dirty="0">
                <a:latin typeface="微软雅黑" panose="020B0503020204020204" pitchFamily="34" charset="-122"/>
                <a:cs typeface="微软雅黑" panose="020B0503020204020204" pitchFamily="34" charset="-122"/>
              </a:rPr>
              <a:t> </a:t>
            </a:r>
            <a:r>
              <a:rPr sz="2250" i="1" spc="-30" dirty="0">
                <a:latin typeface="微软雅黑" panose="020B0503020204020204" pitchFamily="34" charset="-122"/>
                <a:cs typeface="微软雅黑" panose="020B0503020204020204" pitchFamily="34" charset="-122"/>
              </a:rPr>
              <a:t>T</a:t>
            </a:r>
            <a:r>
              <a:rPr sz="2250" i="1" spc="35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满足</a:t>
            </a:r>
            <a:r>
              <a:rPr sz="2250" i="1" spc="-20" dirty="0">
                <a:latin typeface="微软雅黑" panose="020B0503020204020204" pitchFamily="34" charset="-122"/>
                <a:cs typeface="微软雅黑" panose="020B0503020204020204" pitchFamily="34" charset="-122"/>
              </a:rPr>
              <a:t>C</a:t>
            </a:r>
            <a:r>
              <a:rPr sz="2200" spc="-20"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当且仅当对于测试需求集合</a:t>
            </a:r>
            <a:r>
              <a:rPr sz="2200" spc="370"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TR</a:t>
            </a:r>
            <a:r>
              <a:rPr sz="2250" i="1" spc="35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中的每一条测试需求</a:t>
            </a:r>
            <a:r>
              <a:rPr sz="2250" i="1" spc="-15" dirty="0">
                <a:latin typeface="微软雅黑" panose="020B0503020204020204" pitchFamily="34" charset="-122"/>
                <a:cs typeface="微软雅黑" panose="020B0503020204020204" pitchFamily="34" charset="-122"/>
              </a:rPr>
              <a:t>tr</a:t>
            </a:r>
            <a:r>
              <a:rPr sz="2200" spc="-1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在 </a:t>
            </a:r>
            <a:r>
              <a:rPr sz="2250" i="1" spc="-30" dirty="0">
                <a:latin typeface="微软雅黑" panose="020B0503020204020204" pitchFamily="34" charset="-122"/>
                <a:cs typeface="微软雅黑" panose="020B0503020204020204" pitchFamily="34" charset="-122"/>
              </a:rPr>
              <a:t>T</a:t>
            </a:r>
            <a:r>
              <a:rPr sz="2250" i="1" spc="-20"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中至少存在一个测试 </a:t>
            </a:r>
            <a:r>
              <a:rPr sz="2250" i="1" spc="-20" dirty="0">
                <a:latin typeface="微软雅黑" panose="020B0503020204020204" pitchFamily="34" charset="-122"/>
                <a:cs typeface="微软雅黑" panose="020B0503020204020204" pitchFamily="34" charset="-122"/>
              </a:rPr>
              <a:t>t</a:t>
            </a:r>
            <a:r>
              <a:rPr sz="2250" i="1" spc="-1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可以满足</a:t>
            </a:r>
            <a:r>
              <a:rPr sz="2200" spc="-5" dirty="0">
                <a:latin typeface="微软雅黑" panose="020B0503020204020204" pitchFamily="34" charset="-122"/>
                <a:cs typeface="微软雅黑" panose="020B0503020204020204" pitchFamily="34" charset="-122"/>
              </a:rPr>
              <a:t> </a:t>
            </a:r>
            <a:r>
              <a:rPr sz="2250" i="1" spc="-25" dirty="0">
                <a:latin typeface="微软雅黑" panose="020B0503020204020204" pitchFamily="34" charset="-122"/>
                <a:cs typeface="微软雅黑" panose="020B0503020204020204" pitchFamily="34" charset="-122"/>
              </a:rPr>
              <a:t>tr</a:t>
            </a:r>
            <a:r>
              <a:rPr sz="2200" dirty="0">
                <a:latin typeface="微软雅黑" panose="020B0503020204020204" pitchFamily="34" charset="-122"/>
                <a:cs typeface="微软雅黑" panose="020B0503020204020204" pitchFamily="34" charset="-122"/>
              </a:rPr>
              <a:t>。</a:t>
            </a:r>
          </a:p>
          <a:p>
            <a:pPr marL="460375" indent="-447675">
              <a:lnSpc>
                <a:spcPct val="100000"/>
              </a:lnSpc>
              <a:spcBef>
                <a:spcPts val="2200"/>
              </a:spcBef>
              <a:buClr>
                <a:srgbClr val="0033CC"/>
              </a:buClr>
              <a:buFont typeface="Arial" panose="020B0604020202020204"/>
              <a:buChar char="•"/>
              <a:tabLst>
                <a:tab pos="459740" algn="l"/>
                <a:tab pos="460375" algn="l"/>
              </a:tabLst>
            </a:pPr>
            <a:r>
              <a:rPr sz="2200" dirty="0">
                <a:solidFill>
                  <a:srgbClr val="004DD6"/>
                </a:solidFill>
                <a:latin typeface="微软雅黑" panose="020B0503020204020204" pitchFamily="34" charset="-122"/>
                <a:cs typeface="微软雅黑" panose="020B0503020204020204" pitchFamily="34" charset="-122"/>
              </a:rPr>
              <a:t>覆盖程度</a:t>
            </a:r>
            <a:r>
              <a:rPr sz="2200" dirty="0">
                <a:latin typeface="微软雅黑" panose="020B0503020204020204" pitchFamily="34" charset="-122"/>
                <a:cs typeface="微软雅黑" panose="020B0503020204020204" pitchFamily="34" charset="-122"/>
              </a:rPr>
              <a:t>：给定一个测试需求集合</a:t>
            </a:r>
            <a:r>
              <a:rPr sz="2200" spc="280"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TR</a:t>
            </a:r>
            <a:r>
              <a:rPr sz="2250" i="1" spc="270"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和一个测试集合</a:t>
            </a:r>
            <a:r>
              <a:rPr sz="2200" spc="285" dirty="0">
                <a:latin typeface="微软雅黑" panose="020B0503020204020204" pitchFamily="34" charset="-122"/>
                <a:cs typeface="微软雅黑" panose="020B0503020204020204" pitchFamily="34" charset="-122"/>
              </a:rPr>
              <a:t> </a:t>
            </a:r>
            <a:r>
              <a:rPr sz="2250" i="1" spc="-15" dirty="0">
                <a:latin typeface="微软雅黑" panose="020B0503020204020204" pitchFamily="34" charset="-122"/>
                <a:cs typeface="微软雅黑" panose="020B0503020204020204" pitchFamily="34" charset="-122"/>
              </a:rPr>
              <a:t>T</a:t>
            </a:r>
            <a:r>
              <a:rPr sz="2200" spc="-1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覆盖程度就是</a:t>
            </a:r>
            <a:r>
              <a:rPr sz="2200" spc="280" dirty="0">
                <a:latin typeface="微软雅黑" panose="020B0503020204020204" pitchFamily="34" charset="-122"/>
                <a:cs typeface="微软雅黑" panose="020B0503020204020204" pitchFamily="34" charset="-122"/>
              </a:rPr>
              <a:t> </a:t>
            </a:r>
            <a:r>
              <a:rPr sz="2250" i="1" spc="-30" dirty="0">
                <a:latin typeface="微软雅黑" panose="020B0503020204020204" pitchFamily="34" charset="-122"/>
                <a:cs typeface="微软雅黑" panose="020B0503020204020204" pitchFamily="34" charset="-122"/>
              </a:rPr>
              <a:t>T</a:t>
            </a:r>
            <a:endParaRPr sz="2250" dirty="0">
              <a:latin typeface="微软雅黑" panose="020B0503020204020204" pitchFamily="34" charset="-122"/>
              <a:cs typeface="微软雅黑" panose="020B0503020204020204" pitchFamily="34" charset="-122"/>
            </a:endParaRPr>
          </a:p>
          <a:p>
            <a:pPr marL="457200">
              <a:lnSpc>
                <a:spcPct val="100000"/>
              </a:lnSpc>
              <a:spcBef>
                <a:spcPts val="500"/>
              </a:spcBef>
            </a:pPr>
            <a:r>
              <a:rPr sz="2200" dirty="0">
                <a:latin typeface="微软雅黑" panose="020B0503020204020204" pitchFamily="34" charset="-122"/>
                <a:cs typeface="微软雅黑" panose="020B0503020204020204" pitchFamily="34" charset="-122"/>
              </a:rPr>
              <a:t>满足的测试需求数占</a:t>
            </a:r>
            <a:r>
              <a:rPr sz="2200" spc="-5"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TR</a:t>
            </a:r>
            <a:r>
              <a:rPr sz="2250" i="1" spc="-1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总数的比例。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80</a:t>
            </a:fld>
            <a:endParaRPr lang="zh-CN" altLang="en-US"/>
          </a:p>
        </p:txBody>
      </p:sp>
      <p:sp>
        <p:nvSpPr>
          <p:cNvPr id="6" name="标题 5"/>
          <p:cNvSpPr>
            <a:spLocks noGrp="1"/>
          </p:cNvSpPr>
          <p:nvPr>
            <p:ph type="title"/>
          </p:nvPr>
        </p:nvSpPr>
        <p:spPr/>
        <p:txBody>
          <a:bodyPr/>
          <a:lstStyle/>
          <a:p>
            <a:r>
              <a:rPr lang="zh-CN" altLang="en-US" dirty="0"/>
              <a:t>测试覆盖标准</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504603" y="1550323"/>
            <a:ext cx="1795548" cy="1795548"/>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597209" y="1617216"/>
            <a:ext cx="9112250" cy="3632789"/>
          </a:xfrm>
          <a:prstGeom prst="rect">
            <a:avLst/>
          </a:prstGeom>
        </p:spPr>
        <p:txBody>
          <a:bodyPr vert="horz" wrap="square" lIns="0" tIns="198120" rIns="0" bIns="0" rtlCol="0">
            <a:spAutoFit/>
          </a:bodyPr>
          <a:lstStyle/>
          <a:p>
            <a:pPr marL="2393315">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软心糖豆：</a:t>
            </a:r>
            <a:r>
              <a:rPr sz="2200" dirty="0">
                <a:solidFill>
                  <a:srgbClr val="0033CC"/>
                </a:solidFill>
                <a:latin typeface="Arial" panose="020B0604020202020204"/>
                <a:cs typeface="Arial" panose="020B0604020202020204"/>
              </a:rPr>
              <a:t>6</a:t>
            </a:r>
            <a:r>
              <a:rPr sz="2200" spc="-5" dirty="0">
                <a:solidFill>
                  <a:srgbClr val="0033CC"/>
                </a:solidFill>
                <a:latin typeface="Arial" panose="020B0604020202020204"/>
                <a:cs typeface="Arial" panose="020B0604020202020204"/>
              </a:rPr>
              <a:t> </a:t>
            </a:r>
            <a:r>
              <a:rPr sz="2200" dirty="0">
                <a:solidFill>
                  <a:srgbClr val="0033CC"/>
                </a:solidFill>
                <a:latin typeface="微软雅黑" panose="020B0503020204020204" pitchFamily="34" charset="-122"/>
                <a:cs typeface="微软雅黑" panose="020B0503020204020204" pitchFamily="34" charset="-122"/>
              </a:rPr>
              <a:t>种口味和</a:t>
            </a:r>
            <a:r>
              <a:rPr sz="2200" spc="-5" dirty="0">
                <a:solidFill>
                  <a:srgbClr val="0033CC"/>
                </a:solidFill>
                <a:latin typeface="微软雅黑" panose="020B0503020204020204" pitchFamily="34" charset="-122"/>
                <a:cs typeface="微软雅黑" panose="020B0503020204020204" pitchFamily="34" charset="-122"/>
              </a:rPr>
              <a:t> </a:t>
            </a:r>
            <a:r>
              <a:rPr sz="2200" dirty="0">
                <a:solidFill>
                  <a:srgbClr val="0033CC"/>
                </a:solidFill>
                <a:latin typeface="Arial" panose="020B0604020202020204"/>
                <a:cs typeface="Arial" panose="020B0604020202020204"/>
              </a:rPr>
              <a:t>4 </a:t>
            </a:r>
            <a:r>
              <a:rPr sz="2200" dirty="0">
                <a:solidFill>
                  <a:srgbClr val="0033CC"/>
                </a:solidFill>
                <a:latin typeface="微软雅黑" panose="020B0503020204020204" pitchFamily="34" charset="-122"/>
                <a:cs typeface="微软雅黑" panose="020B0503020204020204" pitchFamily="34" charset="-122"/>
              </a:rPr>
              <a:t>种颜色</a:t>
            </a:r>
            <a:endParaRPr sz="2200" dirty="0">
              <a:latin typeface="微软雅黑" panose="020B0503020204020204" pitchFamily="34" charset="-122"/>
              <a:cs typeface="微软雅黑" panose="020B0503020204020204" pitchFamily="34" charset="-122"/>
            </a:endParaRPr>
          </a:p>
          <a:p>
            <a:pPr marL="2393315" marR="5080">
              <a:lnSpc>
                <a:spcPct val="110000"/>
              </a:lnSpc>
              <a:spcBef>
                <a:spcPts val="1200"/>
              </a:spcBef>
            </a:pPr>
            <a:r>
              <a:rPr sz="2200" dirty="0">
                <a:latin typeface="微软雅黑" panose="020B0503020204020204" pitchFamily="34" charset="-122"/>
                <a:cs typeface="微软雅黑" panose="020B0503020204020204" pitchFamily="34" charset="-122"/>
              </a:rPr>
              <a:t>柠檬味（黄色）、开心果味（绿色）、梨子味（白色） 哈密瓜味（橙色）、橘子味（橙色）、杏味（黄色）</a:t>
            </a:r>
          </a:p>
          <a:p>
            <a:pPr>
              <a:lnSpc>
                <a:spcPct val="100000"/>
              </a:lnSpc>
            </a:pPr>
            <a:endParaRPr sz="2900" dirty="0">
              <a:latin typeface="Times New Roman" panose="02020603050405020304"/>
              <a:cs typeface="Times New Roman" panose="02020603050405020304"/>
            </a:endParaRPr>
          </a:p>
          <a:p>
            <a:pPr>
              <a:lnSpc>
                <a:spcPct val="100000"/>
              </a:lnSpc>
              <a:spcBef>
                <a:spcPts val="40"/>
              </a:spcBef>
            </a:pPr>
            <a:endParaRPr sz="3000" dirty="0">
              <a:latin typeface="Times New Roman" panose="02020603050405020304"/>
              <a:cs typeface="Times New Roman" panose="02020603050405020304"/>
            </a:endParaRPr>
          </a:p>
          <a:p>
            <a:pPr marL="558800" indent="-546100">
              <a:lnSpc>
                <a:spcPct val="100000"/>
              </a:lnSpc>
              <a:buClr>
                <a:srgbClr val="262626"/>
              </a:buClr>
              <a:buFont typeface="Wingdings" panose="05000000000000000000"/>
              <a:buChar char=""/>
              <a:tabLst>
                <a:tab pos="558165" algn="l"/>
                <a:tab pos="558800" algn="l"/>
              </a:tabLst>
            </a:pPr>
            <a:r>
              <a:rPr sz="2400" b="1" spc="-5" dirty="0" err="1">
                <a:solidFill>
                  <a:srgbClr val="323232"/>
                </a:solidFill>
                <a:latin typeface="华文楷体" panose="02010600040101010101" pitchFamily="2" charset="-122"/>
                <a:ea typeface="华文楷体" panose="02010600040101010101" pitchFamily="2" charset="-122"/>
                <a:cs typeface="华文楷体" panose="02010600040101010101" charset="-122"/>
              </a:rPr>
              <a:t>可以用什么覆盖标准来选择糖</a:t>
            </a:r>
            <a:r>
              <a:rPr lang="zh-CN" altLang="en-US" sz="2400" b="1" spc="-5" dirty="0">
                <a:solidFill>
                  <a:srgbClr val="323232"/>
                </a:solidFill>
                <a:latin typeface="华文楷体" panose="02010600040101010101" pitchFamily="2" charset="-122"/>
                <a:ea typeface="华文楷体" panose="02010600040101010101" pitchFamily="2" charset="-122"/>
                <a:cs typeface="华文楷体" panose="02010600040101010101" charset="-122"/>
              </a:rPr>
              <a:t>豆</a:t>
            </a:r>
            <a:r>
              <a:rPr sz="2400" b="1" spc="-5" dirty="0" err="1">
                <a:solidFill>
                  <a:srgbClr val="323232"/>
                </a:solidFill>
                <a:latin typeface="华文楷体" panose="02010600040101010101" pitchFamily="2" charset="-122"/>
                <a:ea typeface="华文楷体" panose="02010600040101010101" pitchFamily="2" charset="-122"/>
              </a:rPr>
              <a:t>测试</a:t>
            </a:r>
            <a:r>
              <a:rPr sz="2400" b="1" spc="-5" dirty="0">
                <a:solidFill>
                  <a:srgbClr val="323232"/>
                </a:solidFill>
                <a:latin typeface="华文楷体" panose="02010600040101010101" charset="-122"/>
                <a:cs typeface="华文楷体" panose="02010600040101010101" charset="-122"/>
              </a:rPr>
              <a:t>？</a:t>
            </a:r>
            <a:endParaRPr sz="2400" dirty="0">
              <a:latin typeface="华文楷体" panose="02010600040101010101" charset="-122"/>
              <a:cs typeface="华文楷体" panose="02010600040101010101" charset="-122"/>
            </a:endParaRPr>
          </a:p>
          <a:p>
            <a:pPr marL="558800" indent="-546100">
              <a:lnSpc>
                <a:spcPct val="100000"/>
              </a:lnSpc>
              <a:spcBef>
                <a:spcPts val="720"/>
              </a:spcBef>
              <a:buClr>
                <a:srgbClr val="262626"/>
              </a:buClr>
              <a:buFont typeface="Wingdings" panose="05000000000000000000"/>
              <a:buChar char=""/>
              <a:tabLst>
                <a:tab pos="558165" algn="l"/>
                <a:tab pos="558800" algn="l"/>
              </a:tabLst>
            </a:pPr>
            <a:r>
              <a:rPr sz="2400" b="1" spc="-5" dirty="0">
                <a:solidFill>
                  <a:srgbClr val="323232"/>
                </a:solidFill>
                <a:latin typeface="华文楷体" panose="02010600040101010101" charset="-122"/>
                <a:cs typeface="华文楷体" panose="02010600040101010101" charset="-122"/>
              </a:rPr>
              <a:t>哪⼀种覆盖标准更好？为什么？</a:t>
            </a:r>
            <a:endParaRPr sz="2400" dirty="0">
              <a:latin typeface="华文楷体" panose="02010600040101010101" charset="-122"/>
              <a:cs typeface="华文楷体" panose="02010600040101010101" charset="-122"/>
            </a:endParaRPr>
          </a:p>
          <a:p>
            <a:pPr marL="558800" indent="-546100">
              <a:lnSpc>
                <a:spcPct val="100000"/>
              </a:lnSpc>
              <a:spcBef>
                <a:spcPts val="720"/>
              </a:spcBef>
              <a:buClr>
                <a:srgbClr val="262626"/>
              </a:buClr>
              <a:buFont typeface="Wingdings" panose="05000000000000000000"/>
              <a:buChar char=""/>
              <a:tabLst>
                <a:tab pos="558165" algn="l"/>
                <a:tab pos="558800" algn="l"/>
              </a:tabLst>
            </a:pPr>
            <a:r>
              <a:rPr sz="2400" b="1" spc="-5" dirty="0">
                <a:solidFill>
                  <a:srgbClr val="323232"/>
                </a:solidFill>
                <a:latin typeface="华文楷体" panose="02010600040101010101" charset="-122"/>
                <a:cs typeface="华文楷体" panose="02010600040101010101" charset="-122"/>
              </a:rPr>
              <a:t>应该考虑哪些因素来选择覆盖标准？</a:t>
            </a:r>
            <a:endParaRPr sz="2400" dirty="0">
              <a:latin typeface="华文楷体" panose="02010600040101010101" charset="-122"/>
              <a:cs typeface="华文楷体" panose="02010600040101010101" charset="-122"/>
            </a:endParaRPr>
          </a:p>
        </p:txBody>
      </p:sp>
      <p:sp>
        <p:nvSpPr>
          <p:cNvPr id="5" name="object 5"/>
          <p:cNvSpPr/>
          <p:nvPr/>
        </p:nvSpPr>
        <p:spPr>
          <a:xfrm>
            <a:off x="8897577" y="3898040"/>
            <a:ext cx="1821400" cy="1342851"/>
          </a:xfrm>
          <a:prstGeom prst="rect">
            <a:avLst/>
          </a:prstGeom>
          <a:blipFill>
            <a:blip r:embed="rId4"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81</a:t>
            </a:fld>
            <a:endParaRPr lang="zh-CN" altLang="en-US"/>
          </a:p>
        </p:txBody>
      </p:sp>
      <p:sp>
        <p:nvSpPr>
          <p:cNvPr id="8" name="标题 7"/>
          <p:cNvSpPr>
            <a:spLocks noGrp="1"/>
          </p:cNvSpPr>
          <p:nvPr>
            <p:ph type="title"/>
          </p:nvPr>
        </p:nvSpPr>
        <p:spPr/>
        <p:txBody>
          <a:bodyPr/>
          <a:lstStyle/>
          <a:p>
            <a:r>
              <a:rPr lang="zh-CN" altLang="en-US" dirty="0"/>
              <a:t>测试覆盖标准</a:t>
            </a:r>
          </a:p>
        </p:txBody>
      </p:sp>
      <p:sp>
        <p:nvSpPr>
          <p:cNvPr id="2" name="矩形 1">
            <a:extLst>
              <a:ext uri="{FF2B5EF4-FFF2-40B4-BE49-F238E27FC236}">
                <a16:creationId xmlns:a16="http://schemas.microsoft.com/office/drawing/2014/main" id="{6E628321-A9FA-4250-A2C6-6E76D028A4BE}"/>
              </a:ext>
            </a:extLst>
          </p:cNvPr>
          <p:cNvSpPr/>
          <p:nvPr/>
        </p:nvSpPr>
        <p:spPr>
          <a:xfrm>
            <a:off x="1008338" y="5627268"/>
            <a:ext cx="10289991" cy="369332"/>
          </a:xfrm>
          <a:prstGeom prst="rect">
            <a:avLst/>
          </a:prstGeom>
        </p:spPr>
        <p:txBody>
          <a:bodyPr wrap="square">
            <a:spAutoFit/>
          </a:bodyPr>
          <a:lstStyle/>
          <a:p>
            <a:r>
              <a:rPr lang="zh-CN" altLang="en-US" dirty="0">
                <a:solidFill>
                  <a:srgbClr val="FF0000"/>
                </a:solidFill>
                <a:latin typeface="华文楷体" panose="02010600040101010101" pitchFamily="2" charset="-122"/>
                <a:ea typeface="华文楷体" panose="02010600040101010101" pitchFamily="2" charset="-122"/>
              </a:rPr>
              <a:t>第一处理测试需求的满意程度。第二是生成测试用例的难易程度。第三是用测试发现缺陷的能力</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白盒测试方法</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82</a:t>
            </a:fld>
            <a:endParaRPr lang="zh-CN" altLang="en-US"/>
          </a:p>
        </p:txBody>
      </p:sp>
    </p:spTree>
    <p:extLst>
      <p:ext uri="{BB962C8B-B14F-4D97-AF65-F5344CB8AC3E}">
        <p14:creationId xmlns:p14="http://schemas.microsoft.com/office/powerpoint/2010/main" val="13351373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白盒测试技术</a:t>
            </a:r>
          </a:p>
        </p:txBody>
      </p:sp>
      <p:sp>
        <p:nvSpPr>
          <p:cNvPr id="3" name="内容占位符 2"/>
          <p:cNvSpPr>
            <a:spLocks noGrp="1"/>
          </p:cNvSpPr>
          <p:nvPr>
            <p:ph idx="1"/>
          </p:nvPr>
        </p:nvSpPr>
        <p:spPr/>
        <p:txBody>
          <a:bodyPr>
            <a:normAutofit/>
          </a:bodyPr>
          <a:lstStyle/>
          <a:p>
            <a:pPr marL="0" indent="0" algn="just">
              <a:buNone/>
            </a:pPr>
            <a:r>
              <a:rPr lang="zh-CN" altLang="en-US" sz="2400" dirty="0">
                <a:solidFill>
                  <a:srgbClr val="0033CC"/>
                </a:solidFill>
                <a:latin typeface="微软雅黑" panose="020B0503020204020204" pitchFamily="34" charset="-122"/>
                <a:cs typeface="微软雅黑" panose="020B0503020204020204" pitchFamily="34" charset="-122"/>
              </a:rPr>
              <a:t>白盒测试</a:t>
            </a:r>
            <a:r>
              <a:rPr lang="zh-CN" altLang="en-US" sz="2400" dirty="0">
                <a:latin typeface="微软雅黑" panose="020B0503020204020204" pitchFamily="34" charset="-122"/>
                <a:cs typeface="微软雅黑" panose="020B0503020204020204" pitchFamily="34" charset="-122"/>
              </a:rPr>
              <a:t>是将测试对象看做一个透明的盒子，允许测试人员利用程序内部的逻辑 结构及有关信息，设计或选择测试用例，对程序所有逻辑路径进行测试。</a:t>
            </a:r>
          </a:p>
          <a:p>
            <a:pPr algn="just"/>
            <a:endParaRPr lang="zh-CN" altLang="en-US" sz="24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83</a:t>
            </a:fld>
            <a:endParaRPr lang="zh-CN" altLang="en-US"/>
          </a:p>
        </p:txBody>
      </p:sp>
      <p:pic>
        <p:nvPicPr>
          <p:cNvPr id="6" name="图片 5"/>
          <p:cNvPicPr>
            <a:picLocks noChangeAspect="1"/>
          </p:cNvPicPr>
          <p:nvPr/>
        </p:nvPicPr>
        <p:blipFill>
          <a:blip r:embed="rId3"/>
          <a:stretch>
            <a:fillRect/>
          </a:stretch>
        </p:blipFill>
        <p:spPr>
          <a:xfrm>
            <a:off x="3829300" y="2622371"/>
            <a:ext cx="4886325" cy="36576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63209" y="1467519"/>
            <a:ext cx="8982710" cy="182372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控制流图</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CFG</a:t>
            </a:r>
            <a:r>
              <a:rPr sz="2200" spc="-5" dirty="0">
                <a:latin typeface="微软雅黑" panose="020B0503020204020204" pitchFamily="34" charset="-122"/>
                <a:cs typeface="微软雅黑" panose="020B0503020204020204" pitchFamily="34" charset="-122"/>
              </a:rPr>
              <a:t>，</a:t>
            </a:r>
            <a:r>
              <a:rPr sz="2200" spc="-45" dirty="0">
                <a:latin typeface="微软雅黑" panose="020B0503020204020204" pitchFamily="34" charset="-122"/>
                <a:cs typeface="微软雅黑" panose="020B0503020204020204" pitchFamily="34" charset="-122"/>
              </a:rPr>
              <a:t> </a:t>
            </a:r>
            <a:r>
              <a:rPr sz="2200" spc="-5" dirty="0">
                <a:latin typeface="Arial" panose="020B0604020202020204"/>
                <a:cs typeface="Arial" panose="020B0604020202020204"/>
              </a:rPr>
              <a:t>Control Flow Graph</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是一个过程或程序的抽象表示。</a:t>
            </a:r>
            <a:endParaRPr sz="2200">
              <a:latin typeface="微软雅黑" panose="020B0503020204020204" pitchFamily="34" charset="-122"/>
              <a:cs typeface="微软雅黑" panose="020B0503020204020204" pitchFamily="34" charset="-122"/>
            </a:endParaRPr>
          </a:p>
          <a:p>
            <a:pPr marL="12700">
              <a:lnSpc>
                <a:spcPct val="100000"/>
              </a:lnSpc>
              <a:spcBef>
                <a:spcPts val="2060"/>
              </a:spcBef>
            </a:pPr>
            <a:r>
              <a:rPr sz="2200" dirty="0">
                <a:latin typeface="微软雅黑" panose="020B0503020204020204" pitchFamily="34" charset="-122"/>
                <a:cs typeface="微软雅黑" panose="020B0503020204020204" pitchFamily="34" charset="-122"/>
              </a:rPr>
              <a:t>控制流图的基本符号：</a:t>
            </a:r>
            <a:endParaRPr sz="2200">
              <a:latin typeface="微软雅黑" panose="020B0503020204020204" pitchFamily="34" charset="-122"/>
              <a:cs typeface="微软雅黑" panose="020B0503020204020204" pitchFamily="34" charset="-122"/>
            </a:endParaRPr>
          </a:p>
          <a:p>
            <a:pPr marL="365125" indent="-263525">
              <a:lnSpc>
                <a:spcPct val="100000"/>
              </a:lnSpc>
              <a:spcBef>
                <a:spcPts val="1080"/>
              </a:spcBef>
              <a:buFont typeface="Arial" panose="020B0604020202020204"/>
              <a:buChar char="•"/>
              <a:tabLst>
                <a:tab pos="364490" algn="l"/>
                <a:tab pos="365125" algn="l"/>
              </a:tabLst>
            </a:pPr>
            <a:r>
              <a:rPr sz="2200" dirty="0">
                <a:latin typeface="微软雅黑" panose="020B0503020204020204" pitchFamily="34" charset="-122"/>
                <a:cs typeface="微软雅黑" panose="020B0503020204020204" pitchFamily="34" charset="-122"/>
              </a:rPr>
              <a:t>矩形代表了连续的顺序计算，也称基本块</a:t>
            </a:r>
            <a:endParaRPr sz="2200">
              <a:latin typeface="微软雅黑" panose="020B0503020204020204" pitchFamily="34" charset="-122"/>
              <a:cs typeface="微软雅黑" panose="020B0503020204020204" pitchFamily="34" charset="-122"/>
            </a:endParaRPr>
          </a:p>
          <a:p>
            <a:pPr marL="365125" indent="-263525">
              <a:lnSpc>
                <a:spcPct val="100000"/>
              </a:lnSpc>
              <a:spcBef>
                <a:spcPts val="460"/>
              </a:spcBef>
              <a:buFont typeface="Arial" panose="020B0604020202020204"/>
              <a:buChar char="•"/>
              <a:tabLst>
                <a:tab pos="364490" algn="l"/>
                <a:tab pos="365125" algn="l"/>
              </a:tabLst>
            </a:pPr>
            <a:r>
              <a:rPr sz="2200" dirty="0">
                <a:latin typeface="微软雅黑" panose="020B0503020204020204" pitchFamily="34" charset="-122"/>
                <a:cs typeface="微软雅黑" panose="020B0503020204020204" pitchFamily="34" charset="-122"/>
              </a:rPr>
              <a:t>节点是语句或语句的一部分，边表示语句的控制流</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2751757" y="4183462"/>
            <a:ext cx="1472565" cy="548640"/>
          </a:xfrm>
          <a:prstGeom prst="rect">
            <a:avLst/>
          </a:prstGeom>
          <a:ln w="9524">
            <a:solidFill>
              <a:srgbClr val="000000"/>
            </a:solidFill>
          </a:ln>
        </p:spPr>
        <p:txBody>
          <a:bodyPr vert="horz" wrap="square" lIns="0" tIns="121920" rIns="0" bIns="0" rtlCol="0">
            <a:spAutoFit/>
          </a:bodyPr>
          <a:lstStyle/>
          <a:p>
            <a:pPr marL="484505">
              <a:lnSpc>
                <a:spcPct val="100000"/>
              </a:lnSpc>
              <a:spcBef>
                <a:spcPts val="960"/>
              </a:spcBef>
            </a:pPr>
            <a:r>
              <a:rPr sz="2000" dirty="0">
                <a:latin typeface="微软雅黑" panose="020B0503020204020204" pitchFamily="34" charset="-122"/>
                <a:cs typeface="微软雅黑" panose="020B0503020204020204" pitchFamily="34" charset="-122"/>
              </a:rPr>
              <a:t>计算</a:t>
            </a:r>
            <a:endParaRPr sz="2000">
              <a:latin typeface="微软雅黑" panose="020B0503020204020204" pitchFamily="34" charset="-122"/>
              <a:cs typeface="微软雅黑" panose="020B0503020204020204" pitchFamily="34" charset="-122"/>
            </a:endParaRPr>
          </a:p>
        </p:txBody>
      </p:sp>
      <p:sp>
        <p:nvSpPr>
          <p:cNvPr id="5" name="object 5"/>
          <p:cNvSpPr/>
          <p:nvPr/>
        </p:nvSpPr>
        <p:spPr>
          <a:xfrm>
            <a:off x="3449180" y="3606802"/>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6" name="object 6"/>
          <p:cNvSpPr/>
          <p:nvPr/>
        </p:nvSpPr>
        <p:spPr>
          <a:xfrm>
            <a:off x="3411080" y="405685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7" name="object 7"/>
          <p:cNvSpPr/>
          <p:nvPr/>
        </p:nvSpPr>
        <p:spPr>
          <a:xfrm>
            <a:off x="3449180" y="4731992"/>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8" name="object 8"/>
          <p:cNvSpPr/>
          <p:nvPr/>
        </p:nvSpPr>
        <p:spPr>
          <a:xfrm>
            <a:off x="3411080" y="518204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9" name="object 9"/>
          <p:cNvSpPr txBox="1"/>
          <p:nvPr/>
        </p:nvSpPr>
        <p:spPr>
          <a:xfrm>
            <a:off x="2936565" y="5394205"/>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顺序计算</a:t>
            </a:r>
            <a:endParaRPr sz="2000">
              <a:latin typeface="微软雅黑" panose="020B0503020204020204" pitchFamily="34" charset="-122"/>
              <a:cs typeface="微软雅黑" panose="020B0503020204020204" pitchFamily="34" charset="-122"/>
            </a:endParaRPr>
          </a:p>
        </p:txBody>
      </p:sp>
      <p:sp>
        <p:nvSpPr>
          <p:cNvPr id="10" name="object 10"/>
          <p:cNvSpPr/>
          <p:nvPr/>
        </p:nvSpPr>
        <p:spPr>
          <a:xfrm>
            <a:off x="5370959" y="4183462"/>
            <a:ext cx="1550035" cy="548640"/>
          </a:xfrm>
          <a:custGeom>
            <a:avLst/>
            <a:gdLst/>
            <a:ahLst/>
            <a:cxnLst/>
            <a:rect l="l" t="t" r="r" b="b"/>
            <a:pathLst>
              <a:path w="1550034" h="548639">
                <a:moveTo>
                  <a:pt x="0" y="274265"/>
                </a:moveTo>
                <a:lnTo>
                  <a:pt x="774913" y="0"/>
                </a:lnTo>
                <a:lnTo>
                  <a:pt x="1549826" y="274265"/>
                </a:lnTo>
                <a:lnTo>
                  <a:pt x="774913" y="548529"/>
                </a:lnTo>
                <a:lnTo>
                  <a:pt x="0" y="274265"/>
                </a:lnTo>
                <a:close/>
              </a:path>
            </a:pathLst>
          </a:custGeom>
          <a:ln w="9524">
            <a:solidFill>
              <a:srgbClr val="000000"/>
            </a:solidFill>
          </a:ln>
        </p:spPr>
        <p:txBody>
          <a:bodyPr wrap="square" lIns="0" tIns="0" rIns="0" bIns="0" rtlCol="0"/>
          <a:lstStyle/>
          <a:p>
            <a:endParaRPr/>
          </a:p>
        </p:txBody>
      </p:sp>
      <p:sp>
        <p:nvSpPr>
          <p:cNvPr id="11" name="object 11"/>
          <p:cNvSpPr txBox="1"/>
          <p:nvPr/>
        </p:nvSpPr>
        <p:spPr>
          <a:xfrm>
            <a:off x="5881607" y="4292627"/>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决策</a:t>
            </a:r>
            <a:endParaRPr sz="2000">
              <a:latin typeface="微软雅黑" panose="020B0503020204020204" pitchFamily="34" charset="-122"/>
              <a:cs typeface="微软雅黑" panose="020B0503020204020204" pitchFamily="34" charset="-122"/>
            </a:endParaRPr>
          </a:p>
        </p:txBody>
      </p:sp>
      <p:sp>
        <p:nvSpPr>
          <p:cNvPr id="12" name="object 12"/>
          <p:cNvSpPr/>
          <p:nvPr/>
        </p:nvSpPr>
        <p:spPr>
          <a:xfrm>
            <a:off x="6145874" y="3606802"/>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13" name="object 13"/>
          <p:cNvSpPr/>
          <p:nvPr/>
        </p:nvSpPr>
        <p:spPr>
          <a:xfrm>
            <a:off x="6107774" y="405685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14" name="object 14"/>
          <p:cNvSpPr/>
          <p:nvPr/>
        </p:nvSpPr>
        <p:spPr>
          <a:xfrm>
            <a:off x="4921507" y="4457725"/>
            <a:ext cx="449580" cy="527685"/>
          </a:xfrm>
          <a:custGeom>
            <a:avLst/>
            <a:gdLst/>
            <a:ahLst/>
            <a:cxnLst/>
            <a:rect l="l" t="t" r="r" b="b"/>
            <a:pathLst>
              <a:path w="449579" h="527685">
                <a:moveTo>
                  <a:pt x="449451" y="0"/>
                </a:moveTo>
                <a:lnTo>
                  <a:pt x="0" y="0"/>
                </a:lnTo>
                <a:lnTo>
                  <a:pt x="0" y="527289"/>
                </a:lnTo>
              </a:path>
            </a:pathLst>
          </a:custGeom>
          <a:ln w="9524">
            <a:solidFill>
              <a:srgbClr val="000000"/>
            </a:solidFill>
          </a:ln>
        </p:spPr>
        <p:txBody>
          <a:bodyPr wrap="square" lIns="0" tIns="0" rIns="0" bIns="0" rtlCol="0"/>
          <a:lstStyle/>
          <a:p>
            <a:endParaRPr/>
          </a:p>
        </p:txBody>
      </p:sp>
      <p:sp>
        <p:nvSpPr>
          <p:cNvPr id="15" name="object 15"/>
          <p:cNvSpPr/>
          <p:nvPr/>
        </p:nvSpPr>
        <p:spPr>
          <a:xfrm>
            <a:off x="4883407" y="490034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16" name="object 16"/>
          <p:cNvSpPr/>
          <p:nvPr/>
        </p:nvSpPr>
        <p:spPr>
          <a:xfrm>
            <a:off x="6920786" y="4457726"/>
            <a:ext cx="480695" cy="527685"/>
          </a:xfrm>
          <a:custGeom>
            <a:avLst/>
            <a:gdLst/>
            <a:ahLst/>
            <a:cxnLst/>
            <a:rect l="l" t="t" r="r" b="b"/>
            <a:pathLst>
              <a:path w="480695" h="527685">
                <a:moveTo>
                  <a:pt x="0" y="0"/>
                </a:moveTo>
                <a:lnTo>
                  <a:pt x="480218" y="0"/>
                </a:lnTo>
                <a:lnTo>
                  <a:pt x="480218" y="527579"/>
                </a:lnTo>
              </a:path>
            </a:pathLst>
          </a:custGeom>
          <a:ln w="9524">
            <a:solidFill>
              <a:srgbClr val="000000"/>
            </a:solidFill>
          </a:ln>
        </p:spPr>
        <p:txBody>
          <a:bodyPr wrap="square" lIns="0" tIns="0" rIns="0" bIns="0" rtlCol="0"/>
          <a:lstStyle/>
          <a:p>
            <a:endParaRPr/>
          </a:p>
        </p:txBody>
      </p:sp>
      <p:sp>
        <p:nvSpPr>
          <p:cNvPr id="17" name="object 17"/>
          <p:cNvSpPr/>
          <p:nvPr/>
        </p:nvSpPr>
        <p:spPr>
          <a:xfrm>
            <a:off x="7362904" y="4900639"/>
            <a:ext cx="76200" cy="127000"/>
          </a:xfrm>
          <a:custGeom>
            <a:avLst/>
            <a:gdLst/>
            <a:ahLst/>
            <a:cxnLst/>
            <a:rect l="l" t="t" r="r" b="b"/>
            <a:pathLst>
              <a:path w="76200" h="127000">
                <a:moveTo>
                  <a:pt x="76200" y="0"/>
                </a:moveTo>
                <a:lnTo>
                  <a:pt x="0" y="0"/>
                </a:lnTo>
                <a:lnTo>
                  <a:pt x="38100" y="126999"/>
                </a:lnTo>
                <a:lnTo>
                  <a:pt x="76200" y="0"/>
                </a:lnTo>
                <a:close/>
              </a:path>
            </a:pathLst>
          </a:custGeom>
          <a:solidFill>
            <a:srgbClr val="000000"/>
          </a:solidFill>
        </p:spPr>
        <p:txBody>
          <a:bodyPr wrap="square" lIns="0" tIns="0" rIns="0" bIns="0" rtlCol="0"/>
          <a:lstStyle/>
          <a:p>
            <a:endParaRPr/>
          </a:p>
        </p:txBody>
      </p:sp>
      <p:sp>
        <p:nvSpPr>
          <p:cNvPr id="18" name="object 18"/>
          <p:cNvSpPr txBox="1"/>
          <p:nvPr/>
        </p:nvSpPr>
        <p:spPr>
          <a:xfrm>
            <a:off x="5071473" y="409108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真</a:t>
            </a:r>
            <a:endParaRPr sz="2000">
              <a:latin typeface="微软雅黑" panose="020B0503020204020204" pitchFamily="34" charset="-122"/>
              <a:cs typeface="微软雅黑" panose="020B0503020204020204" pitchFamily="34" charset="-122"/>
            </a:endParaRPr>
          </a:p>
        </p:txBody>
      </p:sp>
      <p:sp>
        <p:nvSpPr>
          <p:cNvPr id="19" name="object 19"/>
          <p:cNvSpPr txBox="1"/>
          <p:nvPr/>
        </p:nvSpPr>
        <p:spPr>
          <a:xfrm>
            <a:off x="6999527" y="409108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假</a:t>
            </a:r>
            <a:endParaRPr sz="2000">
              <a:latin typeface="微软雅黑" panose="020B0503020204020204" pitchFamily="34" charset="-122"/>
              <a:cs typeface="微软雅黑" panose="020B0503020204020204" pitchFamily="34" charset="-122"/>
            </a:endParaRPr>
          </a:p>
        </p:txBody>
      </p:sp>
      <p:sp>
        <p:nvSpPr>
          <p:cNvPr id="20" name="object 20"/>
          <p:cNvSpPr txBox="1"/>
          <p:nvPr/>
        </p:nvSpPr>
        <p:spPr>
          <a:xfrm>
            <a:off x="5633260" y="5407116"/>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判断节点</a:t>
            </a:r>
            <a:endParaRPr sz="2000">
              <a:latin typeface="微软雅黑" panose="020B0503020204020204" pitchFamily="34" charset="-122"/>
              <a:cs typeface="微软雅黑" panose="020B0503020204020204" pitchFamily="34" charset="-122"/>
            </a:endParaRPr>
          </a:p>
        </p:txBody>
      </p:sp>
      <p:sp>
        <p:nvSpPr>
          <p:cNvPr id="21" name="object 21"/>
          <p:cNvSpPr/>
          <p:nvPr/>
        </p:nvSpPr>
        <p:spPr>
          <a:xfrm>
            <a:off x="8532613" y="4267850"/>
            <a:ext cx="465455" cy="422275"/>
          </a:xfrm>
          <a:custGeom>
            <a:avLst/>
            <a:gdLst/>
            <a:ahLst/>
            <a:cxnLst/>
            <a:rect l="l" t="t" r="r" b="b"/>
            <a:pathLst>
              <a:path w="465454" h="422275">
                <a:moveTo>
                  <a:pt x="0" y="210972"/>
                </a:moveTo>
                <a:lnTo>
                  <a:pt x="4723" y="168454"/>
                </a:lnTo>
                <a:lnTo>
                  <a:pt x="18269" y="128852"/>
                </a:lnTo>
                <a:lnTo>
                  <a:pt x="39703" y="93015"/>
                </a:lnTo>
                <a:lnTo>
                  <a:pt x="68090" y="61792"/>
                </a:lnTo>
                <a:lnTo>
                  <a:pt x="102496" y="36030"/>
                </a:lnTo>
                <a:lnTo>
                  <a:pt x="141985" y="16579"/>
                </a:lnTo>
                <a:lnTo>
                  <a:pt x="185623" y="4286"/>
                </a:lnTo>
                <a:lnTo>
                  <a:pt x="232474" y="0"/>
                </a:lnTo>
                <a:lnTo>
                  <a:pt x="279326" y="4286"/>
                </a:lnTo>
                <a:lnTo>
                  <a:pt x="322964" y="16579"/>
                </a:lnTo>
                <a:lnTo>
                  <a:pt x="362453" y="36030"/>
                </a:lnTo>
                <a:lnTo>
                  <a:pt x="396859" y="61792"/>
                </a:lnTo>
                <a:lnTo>
                  <a:pt x="425246" y="93015"/>
                </a:lnTo>
                <a:lnTo>
                  <a:pt x="446680" y="128852"/>
                </a:lnTo>
                <a:lnTo>
                  <a:pt x="460226" y="168454"/>
                </a:lnTo>
                <a:lnTo>
                  <a:pt x="464949" y="210972"/>
                </a:lnTo>
                <a:lnTo>
                  <a:pt x="460226" y="253491"/>
                </a:lnTo>
                <a:lnTo>
                  <a:pt x="446680" y="293093"/>
                </a:lnTo>
                <a:lnTo>
                  <a:pt x="425246" y="328929"/>
                </a:lnTo>
                <a:lnTo>
                  <a:pt x="396859" y="360153"/>
                </a:lnTo>
                <a:lnTo>
                  <a:pt x="362453" y="385915"/>
                </a:lnTo>
                <a:lnTo>
                  <a:pt x="322964" y="405366"/>
                </a:lnTo>
                <a:lnTo>
                  <a:pt x="279326" y="417659"/>
                </a:lnTo>
                <a:lnTo>
                  <a:pt x="232474" y="421945"/>
                </a:lnTo>
                <a:lnTo>
                  <a:pt x="185623" y="417659"/>
                </a:lnTo>
                <a:lnTo>
                  <a:pt x="141985" y="405366"/>
                </a:lnTo>
                <a:lnTo>
                  <a:pt x="102496" y="385915"/>
                </a:lnTo>
                <a:lnTo>
                  <a:pt x="68090" y="360153"/>
                </a:lnTo>
                <a:lnTo>
                  <a:pt x="39703" y="328929"/>
                </a:lnTo>
                <a:lnTo>
                  <a:pt x="18269" y="293093"/>
                </a:lnTo>
                <a:lnTo>
                  <a:pt x="4723" y="253491"/>
                </a:lnTo>
                <a:lnTo>
                  <a:pt x="0" y="210972"/>
                </a:lnTo>
                <a:close/>
              </a:path>
            </a:pathLst>
          </a:custGeom>
          <a:ln w="9524">
            <a:solidFill>
              <a:srgbClr val="000000"/>
            </a:solidFill>
          </a:ln>
        </p:spPr>
        <p:txBody>
          <a:bodyPr wrap="square" lIns="0" tIns="0" rIns="0" bIns="0" rtlCol="0"/>
          <a:lstStyle/>
          <a:p>
            <a:endParaRPr/>
          </a:p>
        </p:txBody>
      </p:sp>
      <p:sp>
        <p:nvSpPr>
          <p:cNvPr id="22" name="object 22"/>
          <p:cNvSpPr/>
          <p:nvPr/>
        </p:nvSpPr>
        <p:spPr>
          <a:xfrm>
            <a:off x="8083158" y="3691190"/>
            <a:ext cx="407670" cy="788035"/>
          </a:xfrm>
          <a:custGeom>
            <a:avLst/>
            <a:gdLst/>
            <a:ahLst/>
            <a:cxnLst/>
            <a:rect l="l" t="t" r="r" b="b"/>
            <a:pathLst>
              <a:path w="407670" h="788035">
                <a:moveTo>
                  <a:pt x="0" y="0"/>
                </a:moveTo>
                <a:lnTo>
                  <a:pt x="0" y="787632"/>
                </a:lnTo>
                <a:lnTo>
                  <a:pt x="407120" y="787632"/>
                </a:lnTo>
              </a:path>
            </a:pathLst>
          </a:custGeom>
          <a:ln w="9524">
            <a:solidFill>
              <a:srgbClr val="000000"/>
            </a:solidFill>
          </a:ln>
        </p:spPr>
        <p:txBody>
          <a:bodyPr wrap="square" lIns="0" tIns="0" rIns="0" bIns="0" rtlCol="0"/>
          <a:lstStyle/>
          <a:p>
            <a:endParaRPr/>
          </a:p>
        </p:txBody>
      </p:sp>
      <p:sp>
        <p:nvSpPr>
          <p:cNvPr id="23" name="object 23"/>
          <p:cNvSpPr/>
          <p:nvPr/>
        </p:nvSpPr>
        <p:spPr>
          <a:xfrm>
            <a:off x="8405613" y="4440722"/>
            <a:ext cx="127000" cy="76200"/>
          </a:xfrm>
          <a:custGeom>
            <a:avLst/>
            <a:gdLst/>
            <a:ahLst/>
            <a:cxnLst/>
            <a:rect l="l" t="t" r="r" b="b"/>
            <a:pathLst>
              <a:path w="127000" h="76200">
                <a:moveTo>
                  <a:pt x="0" y="0"/>
                </a:moveTo>
                <a:lnTo>
                  <a:pt x="0" y="76200"/>
                </a:lnTo>
                <a:lnTo>
                  <a:pt x="127000" y="38100"/>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9039894" y="3691192"/>
            <a:ext cx="380365" cy="788035"/>
          </a:xfrm>
          <a:custGeom>
            <a:avLst/>
            <a:gdLst/>
            <a:ahLst/>
            <a:cxnLst/>
            <a:rect l="l" t="t" r="r" b="b"/>
            <a:pathLst>
              <a:path w="380365" h="788035">
                <a:moveTo>
                  <a:pt x="379995" y="0"/>
                </a:moveTo>
                <a:lnTo>
                  <a:pt x="379995" y="787630"/>
                </a:lnTo>
                <a:lnTo>
                  <a:pt x="0" y="787630"/>
                </a:lnTo>
              </a:path>
            </a:pathLst>
          </a:custGeom>
          <a:ln w="9524">
            <a:solidFill>
              <a:srgbClr val="000000"/>
            </a:solidFill>
          </a:ln>
        </p:spPr>
        <p:txBody>
          <a:bodyPr wrap="square" lIns="0" tIns="0" rIns="0" bIns="0" rtlCol="0"/>
          <a:lstStyle/>
          <a:p>
            <a:endParaRPr/>
          </a:p>
        </p:txBody>
      </p:sp>
      <p:sp>
        <p:nvSpPr>
          <p:cNvPr id="25" name="object 25"/>
          <p:cNvSpPr/>
          <p:nvPr/>
        </p:nvSpPr>
        <p:spPr>
          <a:xfrm>
            <a:off x="8997562" y="4440722"/>
            <a:ext cx="127000" cy="76200"/>
          </a:xfrm>
          <a:custGeom>
            <a:avLst/>
            <a:gdLst/>
            <a:ahLst/>
            <a:cxnLst/>
            <a:rect l="l" t="t" r="r" b="b"/>
            <a:pathLst>
              <a:path w="127000" h="76200">
                <a:moveTo>
                  <a:pt x="127000" y="0"/>
                </a:moveTo>
                <a:lnTo>
                  <a:pt x="0" y="38100"/>
                </a:lnTo>
                <a:lnTo>
                  <a:pt x="127000" y="76200"/>
                </a:lnTo>
                <a:lnTo>
                  <a:pt x="127000" y="0"/>
                </a:lnTo>
                <a:close/>
              </a:path>
            </a:pathLst>
          </a:custGeom>
          <a:solidFill>
            <a:srgbClr val="000000"/>
          </a:solidFill>
        </p:spPr>
        <p:txBody>
          <a:bodyPr wrap="square" lIns="0" tIns="0" rIns="0" bIns="0" rtlCol="0"/>
          <a:lstStyle/>
          <a:p>
            <a:endParaRPr/>
          </a:p>
        </p:txBody>
      </p:sp>
      <p:sp>
        <p:nvSpPr>
          <p:cNvPr id="26" name="object 26"/>
          <p:cNvSpPr/>
          <p:nvPr/>
        </p:nvSpPr>
        <p:spPr>
          <a:xfrm>
            <a:off x="8765087" y="4689795"/>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27" name="object 27"/>
          <p:cNvSpPr/>
          <p:nvPr/>
        </p:nvSpPr>
        <p:spPr>
          <a:xfrm>
            <a:off x="8726988" y="5139851"/>
            <a:ext cx="76200" cy="127000"/>
          </a:xfrm>
          <a:custGeom>
            <a:avLst/>
            <a:gdLst/>
            <a:ahLst/>
            <a:cxnLst/>
            <a:rect l="l" t="t" r="r" b="b"/>
            <a:pathLst>
              <a:path w="76200" h="127000">
                <a:moveTo>
                  <a:pt x="76200" y="0"/>
                </a:moveTo>
                <a:lnTo>
                  <a:pt x="0" y="0"/>
                </a:lnTo>
                <a:lnTo>
                  <a:pt x="38100" y="126999"/>
                </a:lnTo>
                <a:lnTo>
                  <a:pt x="76200" y="0"/>
                </a:lnTo>
                <a:close/>
              </a:path>
            </a:pathLst>
          </a:custGeom>
          <a:solidFill>
            <a:srgbClr val="000000"/>
          </a:solidFill>
        </p:spPr>
        <p:txBody>
          <a:bodyPr wrap="square" lIns="0" tIns="0" rIns="0" bIns="0" rtlCol="0"/>
          <a:lstStyle/>
          <a:p>
            <a:endParaRPr/>
          </a:p>
        </p:txBody>
      </p:sp>
      <p:sp>
        <p:nvSpPr>
          <p:cNvPr id="28" name="object 28"/>
          <p:cNvSpPr txBox="1"/>
          <p:nvPr/>
        </p:nvSpPr>
        <p:spPr>
          <a:xfrm>
            <a:off x="8252473" y="5405964"/>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合并节点</a:t>
            </a:r>
            <a:endParaRPr sz="2000">
              <a:latin typeface="微软雅黑" panose="020B0503020204020204" pitchFamily="34" charset="-122"/>
              <a:cs typeface="微软雅黑" panose="020B0503020204020204" pitchFamily="34" charset="-122"/>
            </a:endParaRPr>
          </a:p>
        </p:txBody>
      </p:sp>
      <p:sp>
        <p:nvSpPr>
          <p:cNvPr id="29" name="灯片编号占位符 28"/>
          <p:cNvSpPr>
            <a:spLocks noGrp="1"/>
          </p:cNvSpPr>
          <p:nvPr>
            <p:ph type="sldNum" sz="quarter" idx="12"/>
          </p:nvPr>
        </p:nvSpPr>
        <p:spPr/>
        <p:txBody>
          <a:bodyPr/>
          <a:lstStyle/>
          <a:p>
            <a:fld id="{74D2AB8B-5816-41F2-8B4B-CA5C3E4E6A65}" type="slidenum">
              <a:rPr lang="zh-CN" altLang="en-US" smtClean="0"/>
              <a:t>84</a:t>
            </a:fld>
            <a:endParaRPr lang="zh-CN" altLang="en-US"/>
          </a:p>
        </p:txBody>
      </p:sp>
      <p:sp>
        <p:nvSpPr>
          <p:cNvPr id="31" name="标题 30"/>
          <p:cNvSpPr>
            <a:spLocks noGrp="1"/>
          </p:cNvSpPr>
          <p:nvPr>
            <p:ph type="title"/>
          </p:nvPr>
        </p:nvSpPr>
        <p:spPr/>
        <p:txBody>
          <a:bodyPr/>
          <a:lstStyle/>
          <a:p>
            <a:r>
              <a:rPr lang="zh-CN" altLang="en-US" dirty="0"/>
              <a:t>控制流图</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0739" y="583620"/>
            <a:ext cx="9322435" cy="5537200"/>
          </a:xfrm>
          <a:prstGeom prst="rect">
            <a:avLst/>
          </a:prstGeom>
        </p:spPr>
        <p:txBody>
          <a:bodyPr vert="horz" wrap="square" lIns="0" tIns="12700" rIns="0" bIns="0" rtlCol="0">
            <a:spAutoFit/>
          </a:bodyPr>
          <a:lstStyle/>
          <a:p>
            <a:pPr marL="12700">
              <a:lnSpc>
                <a:spcPts val="2250"/>
              </a:lnSpc>
              <a:spcBef>
                <a:spcPts val="100"/>
              </a:spcBef>
            </a:pPr>
            <a:r>
              <a:rPr sz="2000" b="1" spc="-5" dirty="0">
                <a:latin typeface="Courier New" panose="02070309020205020404"/>
                <a:cs typeface="Courier New" panose="02070309020205020404"/>
              </a:rPr>
              <a:t>FindMean(float *mean, FILE</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*fp)</a:t>
            </a:r>
            <a:endParaRPr sz="2000">
              <a:latin typeface="Courier New" panose="02070309020205020404"/>
              <a:cs typeface="Courier New" panose="02070309020205020404"/>
            </a:endParaRPr>
          </a:p>
          <a:p>
            <a:pPr marL="12700">
              <a:lnSpc>
                <a:spcPts val="21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622300" marR="4272280">
              <a:lnSpc>
                <a:spcPts val="2100"/>
              </a:lnSpc>
              <a:spcBef>
                <a:spcPts val="220"/>
              </a:spcBef>
              <a:tabLst>
                <a:tab pos="1231900" algn="l"/>
              </a:tabLst>
            </a:pPr>
            <a:r>
              <a:rPr sz="2000" b="1" spc="-5" dirty="0">
                <a:latin typeface="Courier New" panose="02070309020205020404"/>
                <a:cs typeface="Courier New" panose="02070309020205020404"/>
              </a:rPr>
              <a:t>float sum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score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a:t>
            </a:r>
            <a:r>
              <a:rPr sz="2000" b="1" dirty="0">
                <a:latin typeface="Courier New" panose="02070309020205020404"/>
                <a:cs typeface="Courier New" panose="02070309020205020404"/>
              </a:rPr>
              <a:t>int	</a:t>
            </a:r>
            <a:r>
              <a:rPr sz="2000" b="1" spc="-5" dirty="0">
                <a:latin typeface="Courier New" panose="02070309020205020404"/>
                <a:cs typeface="Courier New" panose="02070309020205020404"/>
              </a:rPr>
              <a:t>num </a:t>
            </a:r>
            <a:r>
              <a:rPr sz="2000" b="1" dirty="0">
                <a:latin typeface="Courier New" panose="02070309020205020404"/>
                <a:cs typeface="Courier New" panose="02070309020205020404"/>
              </a:rPr>
              <a:t>=</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0;</a:t>
            </a:r>
            <a:endParaRPr sz="2000">
              <a:latin typeface="Courier New" panose="02070309020205020404"/>
              <a:cs typeface="Courier New" panose="02070309020205020404"/>
            </a:endParaRPr>
          </a:p>
          <a:p>
            <a:pPr>
              <a:lnSpc>
                <a:spcPct val="100000"/>
              </a:lnSpc>
              <a:spcBef>
                <a:spcPts val="50"/>
              </a:spcBef>
            </a:pPr>
            <a:endParaRPr sz="1800">
              <a:latin typeface="Times New Roman" panose="02020603050405020304"/>
              <a:cs typeface="Times New Roman" panose="02020603050405020304"/>
            </a:endParaRPr>
          </a:p>
          <a:p>
            <a:pPr marL="622300" marR="5080">
              <a:lnSpc>
                <a:spcPts val="220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 &amp;score); /* Read and parse into score */  while (!EOF(fp))</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841500" marR="5339080" indent="-610235">
              <a:lnSpc>
                <a:spcPct val="90000"/>
              </a:lnSpc>
              <a:spcBef>
                <a:spcPts val="10"/>
              </a:spcBef>
            </a:pPr>
            <a:r>
              <a:rPr sz="2000" b="1" spc="-5" dirty="0">
                <a:latin typeface="Courier New" panose="02070309020205020404"/>
                <a:cs typeface="Courier New" panose="02070309020205020404"/>
              </a:rPr>
              <a:t>if (score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0.0)</a:t>
            </a:r>
            <a:r>
              <a:rPr sz="2000" b="1" spc="-95" dirty="0">
                <a:latin typeface="Courier New" panose="02070309020205020404"/>
                <a:cs typeface="Courier New" panose="02070309020205020404"/>
              </a:rPr>
              <a:t>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sum += score;  num++;</a:t>
            </a:r>
            <a:endParaRPr sz="2000">
              <a:latin typeface="Courier New" panose="02070309020205020404"/>
              <a:cs typeface="Courier New" panose="02070309020205020404"/>
            </a:endParaRPr>
          </a:p>
          <a:p>
            <a:pPr marL="1231900">
              <a:lnSpc>
                <a:spcPts val="20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231900">
              <a:lnSpc>
                <a:spcPts val="215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&amp;score);</a:t>
            </a:r>
            <a:endParaRPr sz="200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622300" marR="2138680">
              <a:lnSpc>
                <a:spcPts val="2200"/>
              </a:lnSpc>
              <a:spcBef>
                <a:spcPts val="90"/>
              </a:spcBef>
            </a:pPr>
            <a:r>
              <a:rPr sz="2000" b="1" spc="-5" dirty="0">
                <a:latin typeface="Courier New" panose="02070309020205020404"/>
                <a:cs typeface="Courier New" panose="02070309020205020404"/>
              </a:rPr>
              <a:t>/* Compute the mean and print the result */  if (num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a:t>
            </a:r>
            <a:r>
              <a:rPr sz="2000" b="1" spc="-2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231900">
              <a:lnSpc>
                <a:spcPts val="2010"/>
              </a:lnSpc>
            </a:pPr>
            <a:r>
              <a:rPr sz="2000" b="1" spc="-5" dirty="0">
                <a:latin typeface="Courier New" panose="02070309020205020404"/>
                <a:cs typeface="Courier New" panose="02070309020205020404"/>
              </a:rPr>
              <a:t>*mean </a:t>
            </a: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sum/num;</a:t>
            </a:r>
            <a:endParaRPr sz="200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printf(“The mean score is %f \n”,</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endParaRPr sz="200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else</a:t>
            </a:r>
            <a:endParaRPr sz="200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printf(”No scores found in</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file\n”);</a:t>
            </a:r>
            <a:endParaRPr sz="2000">
              <a:latin typeface="Courier New" panose="02070309020205020404"/>
              <a:cs typeface="Courier New" panose="02070309020205020404"/>
            </a:endParaRPr>
          </a:p>
          <a:p>
            <a:pPr marL="12700">
              <a:lnSpc>
                <a:spcPts val="230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85</a:t>
            </a:fld>
            <a:endParaRPr lang="en-US"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624479" y="1647202"/>
            <a:ext cx="10515600" cy="4455105"/>
            <a:chOff x="869729" y="1129720"/>
            <a:chExt cx="9612624" cy="4991100"/>
          </a:xfrm>
        </p:grpSpPr>
        <p:sp>
          <p:nvSpPr>
            <p:cNvPr id="4" name="object 4"/>
            <p:cNvSpPr txBox="1"/>
            <p:nvPr/>
          </p:nvSpPr>
          <p:spPr>
            <a:xfrm>
              <a:off x="1480438" y="1129720"/>
              <a:ext cx="4445635" cy="596900"/>
            </a:xfrm>
            <a:prstGeom prst="rect">
              <a:avLst/>
            </a:prstGeom>
          </p:spPr>
          <p:txBody>
            <a:bodyPr vert="horz" wrap="square" lIns="0" tIns="53340" rIns="0" bIns="0" rtlCol="0">
              <a:spAutoFit/>
            </a:bodyPr>
            <a:lstStyle/>
            <a:p>
              <a:pPr marL="12700" marR="5080">
                <a:lnSpc>
                  <a:spcPts val="2100"/>
                </a:lnSpc>
                <a:spcBef>
                  <a:spcPts val="420"/>
                </a:spcBef>
                <a:tabLst>
                  <a:tab pos="622300" algn="l"/>
                </a:tabLst>
              </a:pPr>
              <a:r>
                <a:rPr sz="2000" b="1" spc="-5" dirty="0">
                  <a:latin typeface="Courier New" panose="02070309020205020404"/>
                  <a:cs typeface="Courier New" panose="02070309020205020404"/>
                </a:rPr>
                <a:t>float sum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score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a:t>
              </a:r>
              <a:r>
                <a:rPr sz="2000" b="1" dirty="0">
                  <a:latin typeface="Courier New" panose="02070309020205020404"/>
                  <a:cs typeface="Courier New" panose="02070309020205020404"/>
                </a:rPr>
                <a:t>int	</a:t>
              </a:r>
              <a:r>
                <a:rPr sz="2000" b="1" spc="-5" dirty="0">
                  <a:latin typeface="Courier New" panose="02070309020205020404"/>
                  <a:cs typeface="Courier New" panose="02070309020205020404"/>
                </a:rPr>
                <a:t>num </a:t>
              </a:r>
              <a:r>
                <a:rPr sz="2000" b="1" dirty="0">
                  <a:latin typeface="Courier New" panose="02070309020205020404"/>
                  <a:cs typeface="Courier New" panose="02070309020205020404"/>
                </a:rPr>
                <a:t>=</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0;</a:t>
              </a:r>
              <a:endParaRPr sz="2000">
                <a:latin typeface="Courier New" panose="02070309020205020404"/>
                <a:cs typeface="Courier New" panose="02070309020205020404"/>
              </a:endParaRPr>
            </a:p>
          </p:txBody>
        </p:sp>
        <p:sp>
          <p:nvSpPr>
            <p:cNvPr id="5" name="object 5"/>
            <p:cNvSpPr txBox="1"/>
            <p:nvPr/>
          </p:nvSpPr>
          <p:spPr>
            <a:xfrm>
              <a:off x="1480438" y="1942520"/>
              <a:ext cx="87128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 &amp;score); /* Read and parse into score</a:t>
              </a:r>
              <a:r>
                <a:rPr sz="2000" b="1" spc="-70" dirty="0">
                  <a:latin typeface="Courier New" panose="02070309020205020404"/>
                  <a:cs typeface="Courier New" panose="02070309020205020404"/>
                </a:rPr>
                <a:t> </a:t>
              </a:r>
              <a:r>
                <a:rPr sz="2000" b="1" spc="-5"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6" name="object 6"/>
            <p:cNvSpPr txBox="1"/>
            <p:nvPr/>
          </p:nvSpPr>
          <p:spPr>
            <a:xfrm>
              <a:off x="1480441" y="2221920"/>
              <a:ext cx="27692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while (!EOF(fp))</a:t>
              </a:r>
              <a:r>
                <a:rPr sz="2000" b="1" spc="-5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7" name="object 7"/>
            <p:cNvSpPr txBox="1"/>
            <p:nvPr/>
          </p:nvSpPr>
          <p:spPr>
            <a:xfrm>
              <a:off x="2090143" y="2501320"/>
              <a:ext cx="27692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if (score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0.0)</a:t>
              </a:r>
              <a:r>
                <a:rPr sz="2000" b="1" spc="-9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8" name="object 8"/>
            <p:cNvSpPr txBox="1"/>
            <p:nvPr/>
          </p:nvSpPr>
          <p:spPr>
            <a:xfrm>
              <a:off x="2699844" y="2768020"/>
              <a:ext cx="2007235" cy="609600"/>
            </a:xfrm>
            <a:prstGeom prst="rect">
              <a:avLst/>
            </a:prstGeom>
          </p:spPr>
          <p:txBody>
            <a:bodyPr vert="horz" wrap="square" lIns="0" tIns="43180" rIns="0" bIns="0" rtlCol="0">
              <a:spAutoFit/>
            </a:bodyPr>
            <a:lstStyle/>
            <a:p>
              <a:pPr marL="12700" marR="5080">
                <a:lnSpc>
                  <a:spcPts val="2200"/>
                </a:lnSpc>
                <a:spcBef>
                  <a:spcPts val="340"/>
                </a:spcBef>
              </a:pPr>
              <a:r>
                <a:rPr sz="2000" b="1" spc="-5" dirty="0">
                  <a:latin typeface="Courier New" panose="02070309020205020404"/>
                  <a:cs typeface="Courier New" panose="02070309020205020404"/>
                </a:rPr>
                <a:t>sum +=</a:t>
              </a:r>
              <a:r>
                <a:rPr sz="2000" b="1" spc="-95" dirty="0">
                  <a:latin typeface="Courier New" panose="02070309020205020404"/>
                  <a:cs typeface="Courier New" panose="02070309020205020404"/>
                </a:rPr>
                <a:t> </a:t>
              </a:r>
              <a:r>
                <a:rPr sz="2000" b="1" spc="-5" dirty="0">
                  <a:latin typeface="Courier New" panose="02070309020205020404"/>
                  <a:cs typeface="Courier New" panose="02070309020205020404"/>
                </a:rPr>
                <a:t>score;  num++;</a:t>
              </a:r>
              <a:endParaRPr sz="2000">
                <a:latin typeface="Courier New" panose="02070309020205020404"/>
                <a:cs typeface="Courier New" panose="02070309020205020404"/>
              </a:endParaRPr>
            </a:p>
          </p:txBody>
        </p:sp>
        <p:sp>
          <p:nvSpPr>
            <p:cNvPr id="9" name="object 9"/>
            <p:cNvSpPr txBox="1"/>
            <p:nvPr/>
          </p:nvSpPr>
          <p:spPr>
            <a:xfrm>
              <a:off x="2090143" y="3326820"/>
              <a:ext cx="178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10" name="object 10"/>
            <p:cNvSpPr txBox="1"/>
            <p:nvPr/>
          </p:nvSpPr>
          <p:spPr>
            <a:xfrm>
              <a:off x="2090138" y="3593520"/>
              <a:ext cx="38360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a:t>
              </a:r>
              <a:r>
                <a:rPr sz="2000" b="1" spc="-100" dirty="0">
                  <a:latin typeface="Courier New" panose="02070309020205020404"/>
                  <a:cs typeface="Courier New" panose="02070309020205020404"/>
                </a:rPr>
                <a:t> </a:t>
              </a:r>
              <a:r>
                <a:rPr sz="2000" b="1" spc="-5" dirty="0">
                  <a:latin typeface="Courier New" panose="02070309020205020404"/>
                  <a:cs typeface="Courier New" panose="02070309020205020404"/>
                </a:rPr>
                <a:t>&amp;score);</a:t>
              </a:r>
              <a:endParaRPr sz="2000">
                <a:latin typeface="Courier New" panose="02070309020205020404"/>
                <a:cs typeface="Courier New" panose="02070309020205020404"/>
              </a:endParaRPr>
            </a:p>
          </p:txBody>
        </p:sp>
        <p:sp>
          <p:nvSpPr>
            <p:cNvPr id="11" name="object 11"/>
            <p:cNvSpPr txBox="1"/>
            <p:nvPr/>
          </p:nvSpPr>
          <p:spPr>
            <a:xfrm>
              <a:off x="1480441" y="3872919"/>
              <a:ext cx="178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12" name="object 12"/>
            <p:cNvSpPr txBox="1"/>
            <p:nvPr/>
          </p:nvSpPr>
          <p:spPr>
            <a:xfrm>
              <a:off x="1480441" y="4139618"/>
              <a:ext cx="6579234" cy="731275"/>
            </a:xfrm>
            <a:prstGeom prst="rect">
              <a:avLst/>
            </a:prstGeom>
          </p:spPr>
          <p:txBody>
            <a:bodyPr vert="horz" wrap="square" lIns="0" tIns="43180" rIns="0" bIns="0" rtlCol="0">
              <a:spAutoFit/>
            </a:bodyPr>
            <a:lstStyle/>
            <a:p>
              <a:pPr marL="12700" marR="5080">
                <a:lnSpc>
                  <a:spcPts val="2200"/>
                </a:lnSpc>
                <a:spcBef>
                  <a:spcPts val="340"/>
                </a:spcBef>
              </a:pPr>
              <a:r>
                <a:rPr sz="2000" b="1" spc="-5" dirty="0">
                  <a:latin typeface="Courier New" panose="02070309020205020404"/>
                  <a:cs typeface="Courier New" panose="02070309020205020404"/>
                </a:rPr>
                <a:t>/* Compute the mean and print the result */  </a:t>
              </a:r>
              <a:endParaRPr lang="en-US" altLang="zh-CN" sz="2000" b="1" spc="-5" dirty="0">
                <a:latin typeface="Courier New" panose="02070309020205020404"/>
                <a:cs typeface="Courier New" panose="02070309020205020404"/>
              </a:endParaRPr>
            </a:p>
            <a:p>
              <a:pPr marL="12700" marR="5080">
                <a:lnSpc>
                  <a:spcPts val="2200"/>
                </a:lnSpc>
                <a:spcBef>
                  <a:spcPts val="340"/>
                </a:spcBef>
              </a:pPr>
              <a:r>
                <a:rPr sz="2000" b="1" spc="-5" dirty="0">
                  <a:latin typeface="Courier New" panose="02070309020205020404"/>
                  <a:cs typeface="Courier New" panose="02070309020205020404"/>
                </a:rPr>
                <a:t>if (num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a:t>
              </a:r>
              <a:r>
                <a:rPr sz="2000" b="1" spc="-2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p:txBody>
        </p:sp>
        <p:sp>
          <p:nvSpPr>
            <p:cNvPr id="13" name="object 13"/>
            <p:cNvSpPr txBox="1"/>
            <p:nvPr/>
          </p:nvSpPr>
          <p:spPr>
            <a:xfrm>
              <a:off x="2090143" y="4698419"/>
              <a:ext cx="24644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*mean </a:t>
              </a:r>
              <a:r>
                <a:rPr sz="2000" b="1" dirty="0">
                  <a:latin typeface="Courier New" panose="02070309020205020404"/>
                  <a:cs typeface="Courier New" panose="02070309020205020404"/>
                </a:rPr>
                <a:t>=</a:t>
              </a:r>
              <a:r>
                <a:rPr sz="2000" b="1" spc="-95" dirty="0">
                  <a:latin typeface="Courier New" panose="02070309020205020404"/>
                  <a:cs typeface="Courier New" panose="02070309020205020404"/>
                </a:rPr>
                <a:t> </a:t>
              </a:r>
              <a:r>
                <a:rPr sz="2000" b="1" spc="-5" dirty="0">
                  <a:latin typeface="Courier New" panose="02070309020205020404"/>
                  <a:cs typeface="Courier New" panose="02070309020205020404"/>
                </a:rPr>
                <a:t>sum/num;</a:t>
              </a:r>
              <a:endParaRPr sz="2000">
                <a:latin typeface="Courier New" panose="02070309020205020404"/>
                <a:cs typeface="Courier New" panose="02070309020205020404"/>
              </a:endParaRPr>
            </a:p>
          </p:txBody>
        </p:sp>
        <p:sp>
          <p:nvSpPr>
            <p:cNvPr id="14" name="object 14"/>
            <p:cNvSpPr txBox="1"/>
            <p:nvPr/>
          </p:nvSpPr>
          <p:spPr>
            <a:xfrm>
              <a:off x="2090138" y="4965120"/>
              <a:ext cx="61220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printf(“The mean score is %f \n”,</a:t>
              </a:r>
              <a:r>
                <a:rPr sz="2000" b="1" spc="-45"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endParaRPr sz="2000">
                <a:latin typeface="Courier New" panose="02070309020205020404"/>
                <a:cs typeface="Courier New" panose="02070309020205020404"/>
              </a:endParaRPr>
            </a:p>
          </p:txBody>
        </p:sp>
        <p:sp>
          <p:nvSpPr>
            <p:cNvPr id="15" name="object 15"/>
            <p:cNvSpPr txBox="1"/>
            <p:nvPr/>
          </p:nvSpPr>
          <p:spPr>
            <a:xfrm>
              <a:off x="1480441" y="5244519"/>
              <a:ext cx="940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r>
                <a:rPr sz="2000" b="1" spc="-100" dirty="0">
                  <a:latin typeface="Courier New" panose="02070309020205020404"/>
                  <a:cs typeface="Courier New" panose="02070309020205020404"/>
                </a:rPr>
                <a:t> </a:t>
              </a:r>
              <a:r>
                <a:rPr sz="2000" b="1" spc="-5" dirty="0">
                  <a:latin typeface="Courier New" panose="02070309020205020404"/>
                  <a:cs typeface="Courier New" panose="02070309020205020404"/>
                </a:rPr>
                <a:t>else</a:t>
              </a:r>
              <a:endParaRPr sz="2000">
                <a:latin typeface="Courier New" panose="02070309020205020404"/>
                <a:cs typeface="Courier New" panose="02070309020205020404"/>
              </a:endParaRPr>
            </a:p>
          </p:txBody>
        </p:sp>
        <p:sp>
          <p:nvSpPr>
            <p:cNvPr id="16" name="object 16"/>
            <p:cNvSpPr txBox="1"/>
            <p:nvPr/>
          </p:nvSpPr>
          <p:spPr>
            <a:xfrm>
              <a:off x="2090138" y="5511220"/>
              <a:ext cx="55124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printf(”No scores found in</a:t>
              </a:r>
              <a:r>
                <a:rPr sz="2000" b="1" spc="-55" dirty="0">
                  <a:latin typeface="Courier New" panose="02070309020205020404"/>
                  <a:cs typeface="Courier New" panose="02070309020205020404"/>
                </a:rPr>
                <a:t> </a:t>
              </a:r>
              <a:r>
                <a:rPr sz="2000" b="1" spc="-5" dirty="0">
                  <a:latin typeface="Courier New" panose="02070309020205020404"/>
                  <a:cs typeface="Courier New" panose="02070309020205020404"/>
                </a:rPr>
                <a:t>file\n”);</a:t>
              </a:r>
              <a:endParaRPr sz="2000">
                <a:latin typeface="Courier New" panose="02070309020205020404"/>
                <a:cs typeface="Courier New" panose="02070309020205020404"/>
              </a:endParaRPr>
            </a:p>
          </p:txBody>
        </p:sp>
        <p:sp>
          <p:nvSpPr>
            <p:cNvPr id="17" name="object 17"/>
            <p:cNvSpPr txBox="1"/>
            <p:nvPr/>
          </p:nvSpPr>
          <p:spPr>
            <a:xfrm>
              <a:off x="870739" y="5790620"/>
              <a:ext cx="178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18" name="object 18"/>
            <p:cNvSpPr/>
            <p:nvPr/>
          </p:nvSpPr>
          <p:spPr>
            <a:xfrm>
              <a:off x="1331368" y="1152083"/>
              <a:ext cx="9150985" cy="1117600"/>
            </a:xfrm>
            <a:custGeom>
              <a:avLst/>
              <a:gdLst/>
              <a:ahLst/>
              <a:cxnLst/>
              <a:rect l="l" t="t" r="r" b="b"/>
              <a:pathLst>
                <a:path w="9150985" h="1117600">
                  <a:moveTo>
                    <a:pt x="0" y="0"/>
                  </a:moveTo>
                  <a:lnTo>
                    <a:pt x="9150360" y="0"/>
                  </a:lnTo>
                  <a:lnTo>
                    <a:pt x="9150360" y="1116983"/>
                  </a:lnTo>
                  <a:lnTo>
                    <a:pt x="0" y="1116983"/>
                  </a:lnTo>
                  <a:lnTo>
                    <a:pt x="0" y="0"/>
                  </a:lnTo>
                  <a:close/>
                </a:path>
              </a:pathLst>
            </a:custGeom>
            <a:ln w="19049">
              <a:solidFill>
                <a:srgbClr val="004DD6"/>
              </a:solidFill>
            </a:ln>
          </p:spPr>
          <p:txBody>
            <a:bodyPr wrap="square" lIns="0" tIns="0" rIns="0" bIns="0" rtlCol="0"/>
            <a:lstStyle/>
            <a:p>
              <a:endParaRPr/>
            </a:p>
          </p:txBody>
        </p:sp>
        <p:sp>
          <p:nvSpPr>
            <p:cNvPr id="19" name="object 19"/>
            <p:cNvSpPr txBox="1"/>
            <p:nvPr/>
          </p:nvSpPr>
          <p:spPr>
            <a:xfrm>
              <a:off x="869729" y="1453401"/>
              <a:ext cx="330200" cy="106934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①</a:t>
              </a:r>
              <a:endParaRPr sz="2400">
                <a:latin typeface="微软雅黑" panose="020B0503020204020204" pitchFamily="34" charset="-122"/>
                <a:cs typeface="微软雅黑" panose="020B0503020204020204" pitchFamily="34" charset="-122"/>
              </a:endParaRPr>
            </a:p>
            <a:p>
              <a:pPr marL="12700">
                <a:lnSpc>
                  <a:spcPct val="100000"/>
                </a:lnSpc>
                <a:spcBef>
                  <a:spcPts val="2455"/>
                </a:spcBef>
              </a:pPr>
              <a:r>
                <a:rPr sz="2400" dirty="0">
                  <a:solidFill>
                    <a:srgbClr val="CC0000"/>
                  </a:solidFill>
                  <a:latin typeface="微软雅黑" panose="020B0503020204020204" pitchFamily="34" charset="-122"/>
                  <a:cs typeface="微软雅黑" panose="020B0503020204020204" pitchFamily="34" charset="-122"/>
                </a:rPr>
                <a:t>②</a:t>
              </a:r>
              <a:endParaRPr sz="2400">
                <a:latin typeface="微软雅黑" panose="020B0503020204020204" pitchFamily="34" charset="-122"/>
                <a:cs typeface="微软雅黑" panose="020B0503020204020204" pitchFamily="34" charset="-122"/>
              </a:endParaRPr>
            </a:p>
          </p:txBody>
        </p:sp>
        <p:sp>
          <p:nvSpPr>
            <p:cNvPr id="20" name="object 20"/>
            <p:cNvSpPr txBox="1"/>
            <p:nvPr/>
          </p:nvSpPr>
          <p:spPr>
            <a:xfrm>
              <a:off x="1564872" y="2437956"/>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③</a:t>
              </a:r>
              <a:endParaRPr sz="2400">
                <a:latin typeface="微软雅黑" panose="020B0503020204020204" pitchFamily="34" charset="-122"/>
                <a:cs typeface="微软雅黑" panose="020B0503020204020204" pitchFamily="34" charset="-122"/>
              </a:endParaRPr>
            </a:p>
          </p:txBody>
        </p:sp>
        <p:sp>
          <p:nvSpPr>
            <p:cNvPr id="21" name="object 21"/>
            <p:cNvSpPr/>
            <p:nvPr/>
          </p:nvSpPr>
          <p:spPr>
            <a:xfrm>
              <a:off x="2538688" y="2849800"/>
              <a:ext cx="4408805" cy="525780"/>
            </a:xfrm>
            <a:custGeom>
              <a:avLst/>
              <a:gdLst/>
              <a:ahLst/>
              <a:cxnLst/>
              <a:rect l="l" t="t" r="r" b="b"/>
              <a:pathLst>
                <a:path w="4408805" h="525779">
                  <a:moveTo>
                    <a:pt x="0" y="0"/>
                  </a:moveTo>
                  <a:lnTo>
                    <a:pt x="4408486" y="0"/>
                  </a:lnTo>
                  <a:lnTo>
                    <a:pt x="4408486" y="525461"/>
                  </a:lnTo>
                  <a:lnTo>
                    <a:pt x="0" y="525461"/>
                  </a:lnTo>
                  <a:lnTo>
                    <a:pt x="0" y="0"/>
                  </a:lnTo>
                  <a:close/>
                </a:path>
              </a:pathLst>
            </a:custGeom>
            <a:ln w="19049">
              <a:solidFill>
                <a:srgbClr val="004DD6"/>
              </a:solidFill>
            </a:ln>
          </p:spPr>
          <p:txBody>
            <a:bodyPr wrap="square" lIns="0" tIns="0" rIns="0" bIns="0" rtlCol="0"/>
            <a:lstStyle/>
            <a:p>
              <a:endParaRPr/>
            </a:p>
          </p:txBody>
        </p:sp>
        <p:sp>
          <p:nvSpPr>
            <p:cNvPr id="22" name="object 22"/>
            <p:cNvSpPr txBox="1"/>
            <p:nvPr/>
          </p:nvSpPr>
          <p:spPr>
            <a:xfrm>
              <a:off x="2169972" y="288616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④</a:t>
              </a:r>
              <a:endParaRPr sz="2400">
                <a:latin typeface="微软雅黑" panose="020B0503020204020204" pitchFamily="34" charset="-122"/>
                <a:cs typeface="微软雅黑" panose="020B0503020204020204" pitchFamily="34" charset="-122"/>
              </a:endParaRPr>
            </a:p>
          </p:txBody>
        </p:sp>
        <p:sp>
          <p:nvSpPr>
            <p:cNvPr id="23" name="object 23"/>
            <p:cNvSpPr txBox="1"/>
            <p:nvPr/>
          </p:nvSpPr>
          <p:spPr>
            <a:xfrm>
              <a:off x="1567235" y="3556984"/>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⑤</a:t>
              </a:r>
              <a:endParaRPr sz="2400">
                <a:latin typeface="微软雅黑" panose="020B0503020204020204" pitchFamily="34" charset="-122"/>
                <a:cs typeface="微软雅黑" panose="020B0503020204020204" pitchFamily="34" charset="-122"/>
              </a:endParaRPr>
            </a:p>
          </p:txBody>
        </p:sp>
        <p:sp>
          <p:nvSpPr>
            <p:cNvPr id="24" name="object 24"/>
            <p:cNvSpPr txBox="1"/>
            <p:nvPr/>
          </p:nvSpPr>
          <p:spPr>
            <a:xfrm>
              <a:off x="879084" y="4396051"/>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⑥</a:t>
              </a:r>
              <a:endParaRPr sz="2400">
                <a:latin typeface="微软雅黑" panose="020B0503020204020204" pitchFamily="34" charset="-122"/>
                <a:cs typeface="微软雅黑" panose="020B0503020204020204" pitchFamily="34" charset="-122"/>
              </a:endParaRPr>
            </a:p>
          </p:txBody>
        </p:sp>
        <p:sp>
          <p:nvSpPr>
            <p:cNvPr id="25" name="object 25"/>
            <p:cNvSpPr/>
            <p:nvPr/>
          </p:nvSpPr>
          <p:spPr>
            <a:xfrm>
              <a:off x="1983027" y="4783914"/>
              <a:ext cx="6247130" cy="527050"/>
            </a:xfrm>
            <a:custGeom>
              <a:avLst/>
              <a:gdLst/>
              <a:ahLst/>
              <a:cxnLst/>
              <a:rect l="l" t="t" r="r" b="b"/>
              <a:pathLst>
                <a:path w="6247130" h="527050">
                  <a:moveTo>
                    <a:pt x="0" y="0"/>
                  </a:moveTo>
                  <a:lnTo>
                    <a:pt x="6246569" y="0"/>
                  </a:lnTo>
                  <a:lnTo>
                    <a:pt x="6246569" y="527049"/>
                  </a:lnTo>
                  <a:lnTo>
                    <a:pt x="0" y="527049"/>
                  </a:lnTo>
                  <a:lnTo>
                    <a:pt x="0" y="0"/>
                  </a:lnTo>
                  <a:close/>
                </a:path>
              </a:pathLst>
            </a:custGeom>
            <a:ln w="19049">
              <a:solidFill>
                <a:srgbClr val="004DD6"/>
              </a:solidFill>
            </a:ln>
          </p:spPr>
          <p:txBody>
            <a:bodyPr wrap="square" lIns="0" tIns="0" rIns="0" bIns="0" rtlCol="0"/>
            <a:lstStyle/>
            <a:p>
              <a:endParaRPr/>
            </a:p>
          </p:txBody>
        </p:sp>
        <p:sp>
          <p:nvSpPr>
            <p:cNvPr id="26" name="object 26"/>
            <p:cNvSpPr txBox="1"/>
            <p:nvPr/>
          </p:nvSpPr>
          <p:spPr>
            <a:xfrm>
              <a:off x="1573984" y="4796311"/>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⑦</a:t>
              </a:r>
              <a:endParaRPr sz="2400">
                <a:latin typeface="微软雅黑" panose="020B0503020204020204" pitchFamily="34" charset="-122"/>
                <a:cs typeface="微软雅黑" panose="020B0503020204020204" pitchFamily="34" charset="-122"/>
              </a:endParaRPr>
            </a:p>
          </p:txBody>
        </p:sp>
        <p:sp>
          <p:nvSpPr>
            <p:cNvPr id="27" name="object 27"/>
            <p:cNvSpPr/>
            <p:nvPr/>
          </p:nvSpPr>
          <p:spPr>
            <a:xfrm>
              <a:off x="1981198" y="5550453"/>
              <a:ext cx="5876290" cy="308610"/>
            </a:xfrm>
            <a:custGeom>
              <a:avLst/>
              <a:gdLst/>
              <a:ahLst/>
              <a:cxnLst/>
              <a:rect l="l" t="t" r="r" b="b"/>
              <a:pathLst>
                <a:path w="5876290" h="308610">
                  <a:moveTo>
                    <a:pt x="0" y="0"/>
                  </a:moveTo>
                  <a:lnTo>
                    <a:pt x="5875865" y="0"/>
                  </a:lnTo>
                  <a:lnTo>
                    <a:pt x="5875865" y="308479"/>
                  </a:lnTo>
                  <a:lnTo>
                    <a:pt x="0" y="308479"/>
                  </a:lnTo>
                  <a:lnTo>
                    <a:pt x="0" y="0"/>
                  </a:lnTo>
                  <a:close/>
                </a:path>
              </a:pathLst>
            </a:custGeom>
            <a:ln w="19049">
              <a:solidFill>
                <a:srgbClr val="004DD6"/>
              </a:solidFill>
            </a:ln>
          </p:spPr>
          <p:txBody>
            <a:bodyPr wrap="square" lIns="0" tIns="0" rIns="0" bIns="0" rtlCol="0"/>
            <a:lstStyle/>
            <a:p>
              <a:endParaRPr/>
            </a:p>
          </p:txBody>
        </p:sp>
        <p:sp>
          <p:nvSpPr>
            <p:cNvPr id="28" name="object 28"/>
            <p:cNvSpPr txBox="1"/>
            <p:nvPr/>
          </p:nvSpPr>
          <p:spPr>
            <a:xfrm>
              <a:off x="1561270" y="5491784"/>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⑧</a:t>
              </a:r>
              <a:endParaRPr sz="2400">
                <a:latin typeface="微软雅黑" panose="020B0503020204020204" pitchFamily="34" charset="-122"/>
                <a:cs typeface="微软雅黑" panose="020B0503020204020204" pitchFamily="34" charset="-122"/>
              </a:endParaRPr>
            </a:p>
          </p:txBody>
        </p:sp>
        <p:sp>
          <p:nvSpPr>
            <p:cNvPr id="29" name="object 29"/>
            <p:cNvSpPr txBox="1"/>
            <p:nvPr/>
          </p:nvSpPr>
          <p:spPr>
            <a:xfrm>
              <a:off x="9282925" y="3977363"/>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00000"/>
                  </a:solidFill>
                  <a:latin typeface="微软雅黑" panose="020B0503020204020204" pitchFamily="34" charset="-122"/>
                  <a:cs typeface="微软雅黑" panose="020B0503020204020204" pitchFamily="34" charset="-122"/>
                </a:rPr>
                <a:t>基本块</a:t>
              </a:r>
              <a:endParaRPr sz="2000">
                <a:latin typeface="微软雅黑" panose="020B0503020204020204" pitchFamily="34" charset="-122"/>
                <a:cs typeface="微软雅黑" panose="020B0503020204020204" pitchFamily="34" charset="-122"/>
              </a:endParaRPr>
            </a:p>
          </p:txBody>
        </p:sp>
        <p:sp>
          <p:nvSpPr>
            <p:cNvPr id="30" name="object 30"/>
            <p:cNvSpPr/>
            <p:nvPr/>
          </p:nvSpPr>
          <p:spPr>
            <a:xfrm>
              <a:off x="8978166" y="2748119"/>
              <a:ext cx="703580" cy="1196340"/>
            </a:xfrm>
            <a:custGeom>
              <a:avLst/>
              <a:gdLst/>
              <a:ahLst/>
              <a:cxnLst/>
              <a:rect l="l" t="t" r="r" b="b"/>
              <a:pathLst>
                <a:path w="703579" h="1196339">
                  <a:moveTo>
                    <a:pt x="0" y="0"/>
                  </a:moveTo>
                  <a:lnTo>
                    <a:pt x="703186" y="1195885"/>
                  </a:lnTo>
                </a:path>
              </a:pathLst>
            </a:custGeom>
            <a:ln w="9524">
              <a:solidFill>
                <a:srgbClr val="000000"/>
              </a:solidFill>
            </a:ln>
          </p:spPr>
          <p:txBody>
            <a:bodyPr wrap="square" lIns="0" tIns="0" rIns="0" bIns="0" rtlCol="0"/>
            <a:lstStyle/>
            <a:p>
              <a:endParaRPr/>
            </a:p>
          </p:txBody>
        </p:sp>
        <p:sp>
          <p:nvSpPr>
            <p:cNvPr id="31" name="object 31"/>
            <p:cNvSpPr/>
            <p:nvPr/>
          </p:nvSpPr>
          <p:spPr>
            <a:xfrm>
              <a:off x="8965390" y="2726392"/>
              <a:ext cx="104225" cy="122668"/>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7401720" y="3369159"/>
              <a:ext cx="1755775" cy="575945"/>
            </a:xfrm>
            <a:custGeom>
              <a:avLst/>
              <a:gdLst/>
              <a:ahLst/>
              <a:cxnLst/>
              <a:rect l="l" t="t" r="r" b="b"/>
              <a:pathLst>
                <a:path w="1755775" h="575945">
                  <a:moveTo>
                    <a:pt x="0" y="0"/>
                  </a:moveTo>
                  <a:lnTo>
                    <a:pt x="1755637" y="575554"/>
                  </a:lnTo>
                </a:path>
              </a:pathLst>
            </a:custGeom>
            <a:ln w="9524">
              <a:solidFill>
                <a:srgbClr val="000000"/>
              </a:solidFill>
            </a:ln>
          </p:spPr>
          <p:txBody>
            <a:bodyPr wrap="square" lIns="0" tIns="0" rIns="0" bIns="0" rtlCol="0"/>
            <a:lstStyle/>
            <a:p>
              <a:endParaRPr/>
            </a:p>
          </p:txBody>
        </p:sp>
        <p:sp>
          <p:nvSpPr>
            <p:cNvPr id="33" name="object 33"/>
            <p:cNvSpPr/>
            <p:nvPr/>
          </p:nvSpPr>
          <p:spPr>
            <a:xfrm>
              <a:off x="7377770" y="3336769"/>
              <a:ext cx="124094" cy="112519"/>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6188873" y="3978926"/>
              <a:ext cx="3016250" cy="165735"/>
            </a:xfrm>
            <a:custGeom>
              <a:avLst/>
              <a:gdLst/>
              <a:ahLst/>
              <a:cxnLst/>
              <a:rect l="l" t="t" r="r" b="b"/>
              <a:pathLst>
                <a:path w="3016250" h="165735">
                  <a:moveTo>
                    <a:pt x="0" y="0"/>
                  </a:moveTo>
                  <a:lnTo>
                    <a:pt x="3015688" y="165307"/>
                  </a:lnTo>
                </a:path>
              </a:pathLst>
            </a:custGeom>
            <a:ln w="9524">
              <a:solidFill>
                <a:srgbClr val="000000"/>
              </a:solidFill>
            </a:ln>
          </p:spPr>
          <p:txBody>
            <a:bodyPr wrap="square" lIns="0" tIns="0" rIns="0" bIns="0" rtlCol="0"/>
            <a:lstStyle/>
            <a:p>
              <a:endParaRPr/>
            </a:p>
          </p:txBody>
        </p:sp>
        <p:sp>
          <p:nvSpPr>
            <p:cNvPr id="35" name="object 35"/>
            <p:cNvSpPr/>
            <p:nvPr/>
          </p:nvSpPr>
          <p:spPr>
            <a:xfrm>
              <a:off x="6163706" y="3924212"/>
              <a:ext cx="118187" cy="117732"/>
            </a:xfrm>
            <a:prstGeom prst="rect">
              <a:avLst/>
            </a:prstGeom>
            <a:blipFill>
              <a:blip r:embed="rId5" cstate="print"/>
              <a:stretch>
                <a:fillRect/>
              </a:stretch>
            </a:blipFill>
          </p:spPr>
          <p:txBody>
            <a:bodyPr wrap="square" lIns="0" tIns="0" rIns="0" bIns="0" rtlCol="0"/>
            <a:lstStyle/>
            <a:p>
              <a:endParaRPr/>
            </a:p>
          </p:txBody>
        </p:sp>
        <p:sp>
          <p:nvSpPr>
            <p:cNvPr id="36" name="object 36"/>
            <p:cNvSpPr/>
            <p:nvPr/>
          </p:nvSpPr>
          <p:spPr>
            <a:xfrm>
              <a:off x="8317115" y="4313658"/>
              <a:ext cx="1022350" cy="697865"/>
            </a:xfrm>
            <a:custGeom>
              <a:avLst/>
              <a:gdLst/>
              <a:ahLst/>
              <a:cxnLst/>
              <a:rect l="l" t="t" r="r" b="b"/>
              <a:pathLst>
                <a:path w="1022350" h="697864">
                  <a:moveTo>
                    <a:pt x="0" y="697783"/>
                  </a:moveTo>
                  <a:lnTo>
                    <a:pt x="1022170" y="0"/>
                  </a:lnTo>
                </a:path>
              </a:pathLst>
            </a:custGeom>
            <a:ln w="9524">
              <a:solidFill>
                <a:srgbClr val="000000"/>
              </a:solidFill>
            </a:ln>
          </p:spPr>
          <p:txBody>
            <a:bodyPr wrap="square" lIns="0" tIns="0" rIns="0" bIns="0" rtlCol="0"/>
            <a:lstStyle/>
            <a:p>
              <a:endParaRPr/>
            </a:p>
          </p:txBody>
        </p:sp>
        <p:sp>
          <p:nvSpPr>
            <p:cNvPr id="37" name="object 37"/>
            <p:cNvSpPr/>
            <p:nvPr/>
          </p:nvSpPr>
          <p:spPr>
            <a:xfrm>
              <a:off x="8296299" y="4917286"/>
              <a:ext cx="121977" cy="108365"/>
            </a:xfrm>
            <a:prstGeom prst="rect">
              <a:avLst/>
            </a:prstGeom>
            <a:blipFill>
              <a:blip r:embed="rId6" cstate="print"/>
              <a:stretch>
                <a:fillRect/>
              </a:stretch>
            </a:blipFill>
          </p:spPr>
          <p:txBody>
            <a:bodyPr wrap="square" lIns="0" tIns="0" rIns="0" bIns="0" rtlCol="0"/>
            <a:lstStyle/>
            <a:p>
              <a:endParaRPr/>
            </a:p>
          </p:txBody>
        </p:sp>
        <p:sp>
          <p:nvSpPr>
            <p:cNvPr id="38" name="object 38"/>
            <p:cNvSpPr/>
            <p:nvPr/>
          </p:nvSpPr>
          <p:spPr>
            <a:xfrm>
              <a:off x="7864823" y="4344627"/>
              <a:ext cx="1816735" cy="1373505"/>
            </a:xfrm>
            <a:custGeom>
              <a:avLst/>
              <a:gdLst/>
              <a:ahLst/>
              <a:cxnLst/>
              <a:rect l="l" t="t" r="r" b="b"/>
              <a:pathLst>
                <a:path w="1816734" h="1373504">
                  <a:moveTo>
                    <a:pt x="0" y="1373070"/>
                  </a:moveTo>
                  <a:lnTo>
                    <a:pt x="1816630" y="0"/>
                  </a:lnTo>
                </a:path>
              </a:pathLst>
            </a:custGeom>
            <a:ln w="9524">
              <a:solidFill>
                <a:srgbClr val="000000"/>
              </a:solidFill>
            </a:ln>
          </p:spPr>
          <p:txBody>
            <a:bodyPr wrap="square" lIns="0" tIns="0" rIns="0" bIns="0" rtlCol="0"/>
            <a:lstStyle/>
            <a:p>
              <a:endParaRPr/>
            </a:p>
          </p:txBody>
        </p:sp>
        <p:sp>
          <p:nvSpPr>
            <p:cNvPr id="39" name="object 39"/>
            <p:cNvSpPr/>
            <p:nvPr/>
          </p:nvSpPr>
          <p:spPr>
            <a:xfrm>
              <a:off x="7844716" y="5621868"/>
              <a:ext cx="121142" cy="111026"/>
            </a:xfrm>
            <a:prstGeom prst="rect">
              <a:avLst/>
            </a:prstGeom>
            <a:blipFill>
              <a:blip r:embed="rId7" cstate="print"/>
              <a:stretch>
                <a:fillRect/>
              </a:stretch>
            </a:blipFill>
          </p:spPr>
          <p:txBody>
            <a:bodyPr wrap="square" lIns="0" tIns="0" rIns="0" bIns="0" rtlCol="0"/>
            <a:lstStyle/>
            <a:p>
              <a:endParaRPr/>
            </a:p>
          </p:txBody>
        </p:sp>
      </p:grpSp>
      <p:sp>
        <p:nvSpPr>
          <p:cNvPr id="40" name="灯片编号占位符 39"/>
          <p:cNvSpPr>
            <a:spLocks noGrp="1"/>
          </p:cNvSpPr>
          <p:nvPr>
            <p:ph type="sldNum" sz="quarter" idx="12"/>
          </p:nvPr>
        </p:nvSpPr>
        <p:spPr/>
        <p:txBody>
          <a:bodyPr/>
          <a:lstStyle/>
          <a:p>
            <a:fld id="{74D2AB8B-5816-41F2-8B4B-CA5C3E4E6A65}" type="slidenum">
              <a:rPr lang="zh-CN" altLang="en-US" smtClean="0"/>
              <a:t>86</a:t>
            </a:fld>
            <a:endParaRPr lang="zh-CN" altLang="en-US"/>
          </a:p>
        </p:txBody>
      </p:sp>
      <p:sp>
        <p:nvSpPr>
          <p:cNvPr id="42" name="标题 41"/>
          <p:cNvSpPr>
            <a:spLocks noGrp="1"/>
          </p:cNvSpPr>
          <p:nvPr>
            <p:ph type="title"/>
          </p:nvPr>
        </p:nvSpPr>
        <p:spPr>
          <a:xfrm>
            <a:off x="620319" y="428036"/>
            <a:ext cx="10515600" cy="1325563"/>
          </a:xfrm>
        </p:spPr>
        <p:txBody>
          <a:bodyPr/>
          <a:lstStyle/>
          <a:p>
            <a:r>
              <a:rPr lang="en-US" altLang="zh-CN" b="1" spc="-5" dirty="0" err="1">
                <a:latin typeface="Courier New" panose="02070309020205020404"/>
                <a:cs typeface="Courier New" panose="02070309020205020404"/>
              </a:rPr>
              <a:t>FindMean</a:t>
            </a:r>
            <a:r>
              <a:rPr lang="en-US" altLang="zh-CN" b="1" spc="-5" dirty="0">
                <a:latin typeface="Courier New" panose="02070309020205020404"/>
                <a:cs typeface="Courier New" panose="02070309020205020404"/>
              </a:rPr>
              <a:t>(float *mean, FILE</a:t>
            </a:r>
            <a:r>
              <a:rPr lang="en-US" altLang="zh-CN" b="1" spc="-50" dirty="0">
                <a:latin typeface="Courier New" panose="02070309020205020404"/>
                <a:cs typeface="Courier New" panose="02070309020205020404"/>
              </a:rPr>
              <a:t> </a:t>
            </a:r>
            <a:r>
              <a:rPr lang="en-US" altLang="zh-CN" b="1" dirty="0">
                <a:latin typeface="Courier New" panose="02070309020205020404"/>
                <a:cs typeface="Courier New" panose="02070309020205020404"/>
              </a:rPr>
              <a:t>*</a:t>
            </a:r>
            <a:r>
              <a:rPr lang="en-US" altLang="zh-CN" b="1" dirty="0" err="1">
                <a:latin typeface="Courier New" panose="02070309020205020404"/>
                <a:cs typeface="Courier New" panose="02070309020205020404"/>
              </a:rPr>
              <a:t>fp</a:t>
            </a:r>
            <a:r>
              <a:rPr lang="en-US" altLang="zh-CN" b="1" dirty="0">
                <a:latin typeface="Courier New" panose="02070309020205020404"/>
                <a:cs typeface="Courier New" panose="02070309020205020404"/>
              </a:rPr>
              <a:t>)</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87</a:t>
            </a:fld>
            <a:endParaRPr lang="zh-CN" altLang="en-US"/>
          </a:p>
        </p:txBody>
      </p:sp>
      <p:grpSp>
        <p:nvGrpSpPr>
          <p:cNvPr id="63" name="组合 62"/>
          <p:cNvGrpSpPr/>
          <p:nvPr/>
        </p:nvGrpSpPr>
        <p:grpSpPr>
          <a:xfrm>
            <a:off x="1813342" y="573448"/>
            <a:ext cx="8565315" cy="5711104"/>
            <a:chOff x="1737253" y="520905"/>
            <a:chExt cx="8565315" cy="5711104"/>
          </a:xfrm>
        </p:grpSpPr>
        <p:sp>
          <p:nvSpPr>
            <p:cNvPr id="3" name="object 2"/>
            <p:cNvSpPr/>
            <p:nvPr/>
          </p:nvSpPr>
          <p:spPr>
            <a:xfrm>
              <a:off x="5926994" y="520905"/>
              <a:ext cx="479425" cy="479425"/>
            </a:xfrm>
            <a:custGeom>
              <a:avLst/>
              <a:gdLst/>
              <a:ahLst/>
              <a:cxnLst/>
              <a:rect l="l" t="t" r="r" b="b"/>
              <a:pathLst>
                <a:path w="479425" h="479425">
                  <a:moveTo>
                    <a:pt x="239522" y="0"/>
                  </a:moveTo>
                  <a:lnTo>
                    <a:pt x="191249" y="4865"/>
                  </a:lnTo>
                  <a:lnTo>
                    <a:pt x="146289" y="18820"/>
                  </a:lnTo>
                  <a:lnTo>
                    <a:pt x="105602" y="40900"/>
                  </a:lnTo>
                  <a:lnTo>
                    <a:pt x="70154" y="70144"/>
                  </a:lnTo>
                  <a:lnTo>
                    <a:pt x="40906" y="105587"/>
                  </a:lnTo>
                  <a:lnTo>
                    <a:pt x="18822" y="146268"/>
                  </a:lnTo>
                  <a:lnTo>
                    <a:pt x="4866" y="191222"/>
                  </a:lnTo>
                  <a:lnTo>
                    <a:pt x="0" y="239487"/>
                  </a:lnTo>
                  <a:lnTo>
                    <a:pt x="4866" y="287752"/>
                  </a:lnTo>
                  <a:lnTo>
                    <a:pt x="18822" y="332707"/>
                  </a:lnTo>
                  <a:lnTo>
                    <a:pt x="40906" y="373387"/>
                  </a:lnTo>
                  <a:lnTo>
                    <a:pt x="70154" y="408831"/>
                  </a:lnTo>
                  <a:lnTo>
                    <a:pt x="105602" y="438074"/>
                  </a:lnTo>
                  <a:lnTo>
                    <a:pt x="146289" y="460155"/>
                  </a:lnTo>
                  <a:lnTo>
                    <a:pt x="191249" y="474109"/>
                  </a:lnTo>
                  <a:lnTo>
                    <a:pt x="239522" y="478975"/>
                  </a:lnTo>
                  <a:lnTo>
                    <a:pt x="287793" y="474109"/>
                  </a:lnTo>
                  <a:lnTo>
                    <a:pt x="332754" y="460155"/>
                  </a:lnTo>
                  <a:lnTo>
                    <a:pt x="373440" y="438074"/>
                  </a:lnTo>
                  <a:lnTo>
                    <a:pt x="408888" y="408831"/>
                  </a:lnTo>
                  <a:lnTo>
                    <a:pt x="438136" y="373387"/>
                  </a:lnTo>
                  <a:lnTo>
                    <a:pt x="460219" y="332707"/>
                  </a:lnTo>
                  <a:lnTo>
                    <a:pt x="474176" y="287752"/>
                  </a:lnTo>
                  <a:lnTo>
                    <a:pt x="479042" y="239487"/>
                  </a:lnTo>
                  <a:lnTo>
                    <a:pt x="474176" y="191222"/>
                  </a:lnTo>
                  <a:lnTo>
                    <a:pt x="460219" y="146268"/>
                  </a:lnTo>
                  <a:lnTo>
                    <a:pt x="438136" y="105587"/>
                  </a:lnTo>
                  <a:lnTo>
                    <a:pt x="408888" y="70144"/>
                  </a:lnTo>
                  <a:lnTo>
                    <a:pt x="373440" y="40900"/>
                  </a:lnTo>
                  <a:lnTo>
                    <a:pt x="332754" y="18820"/>
                  </a:lnTo>
                  <a:lnTo>
                    <a:pt x="287793" y="4865"/>
                  </a:lnTo>
                  <a:lnTo>
                    <a:pt x="239522" y="0"/>
                  </a:lnTo>
                  <a:close/>
                </a:path>
              </a:pathLst>
            </a:custGeom>
            <a:solidFill>
              <a:srgbClr val="A8D5D6"/>
            </a:solidFill>
          </p:spPr>
          <p:txBody>
            <a:bodyPr wrap="square" lIns="0" tIns="0" rIns="0" bIns="0" rtlCol="0"/>
            <a:lstStyle/>
            <a:p>
              <a:endParaRPr/>
            </a:p>
          </p:txBody>
        </p:sp>
        <p:sp>
          <p:nvSpPr>
            <p:cNvPr id="4" name="object 3"/>
            <p:cNvSpPr/>
            <p:nvPr/>
          </p:nvSpPr>
          <p:spPr>
            <a:xfrm>
              <a:off x="5926994" y="520906"/>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8"/>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8"/>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5" name="object 4"/>
            <p:cNvSpPr txBox="1"/>
            <p:nvPr/>
          </p:nvSpPr>
          <p:spPr>
            <a:xfrm>
              <a:off x="6099702" y="610533"/>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6" name="object 5"/>
            <p:cNvSpPr/>
            <p:nvPr/>
          </p:nvSpPr>
          <p:spPr>
            <a:xfrm>
              <a:off x="5682757" y="1445966"/>
              <a:ext cx="965200" cy="507365"/>
            </a:xfrm>
            <a:custGeom>
              <a:avLst/>
              <a:gdLst/>
              <a:ahLst/>
              <a:cxnLst/>
              <a:rect l="l" t="t" r="r" b="b"/>
              <a:pathLst>
                <a:path w="965200" h="507364">
                  <a:moveTo>
                    <a:pt x="482479" y="0"/>
                  </a:moveTo>
                  <a:lnTo>
                    <a:pt x="0" y="253467"/>
                  </a:lnTo>
                  <a:lnTo>
                    <a:pt x="482479" y="506937"/>
                  </a:lnTo>
                  <a:lnTo>
                    <a:pt x="964959" y="253467"/>
                  </a:lnTo>
                  <a:lnTo>
                    <a:pt x="482479" y="0"/>
                  </a:lnTo>
                  <a:close/>
                </a:path>
              </a:pathLst>
            </a:custGeom>
            <a:solidFill>
              <a:srgbClr val="FFACA9"/>
            </a:solidFill>
          </p:spPr>
          <p:txBody>
            <a:bodyPr wrap="square" lIns="0" tIns="0" rIns="0" bIns="0" rtlCol="0"/>
            <a:lstStyle/>
            <a:p>
              <a:endParaRPr/>
            </a:p>
          </p:txBody>
        </p:sp>
        <p:sp>
          <p:nvSpPr>
            <p:cNvPr id="7" name="object 6"/>
            <p:cNvSpPr/>
            <p:nvPr/>
          </p:nvSpPr>
          <p:spPr>
            <a:xfrm>
              <a:off x="5682757" y="1445966"/>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8" name="object 7"/>
            <p:cNvSpPr txBox="1"/>
            <p:nvPr/>
          </p:nvSpPr>
          <p:spPr>
            <a:xfrm>
              <a:off x="6097986" y="154957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9" name="object 8"/>
            <p:cNvSpPr/>
            <p:nvPr/>
          </p:nvSpPr>
          <p:spPr>
            <a:xfrm>
              <a:off x="5688209" y="2390089"/>
              <a:ext cx="965200" cy="507365"/>
            </a:xfrm>
            <a:custGeom>
              <a:avLst/>
              <a:gdLst/>
              <a:ahLst/>
              <a:cxnLst/>
              <a:rect l="l" t="t" r="r" b="b"/>
              <a:pathLst>
                <a:path w="965200" h="507364">
                  <a:moveTo>
                    <a:pt x="482479" y="0"/>
                  </a:moveTo>
                  <a:lnTo>
                    <a:pt x="0" y="253469"/>
                  </a:lnTo>
                  <a:lnTo>
                    <a:pt x="482479" y="506937"/>
                  </a:lnTo>
                  <a:lnTo>
                    <a:pt x="964959" y="253469"/>
                  </a:lnTo>
                  <a:lnTo>
                    <a:pt x="482479" y="0"/>
                  </a:lnTo>
                  <a:close/>
                </a:path>
              </a:pathLst>
            </a:custGeom>
            <a:solidFill>
              <a:srgbClr val="FFACA9"/>
            </a:solidFill>
          </p:spPr>
          <p:txBody>
            <a:bodyPr wrap="square" lIns="0" tIns="0" rIns="0" bIns="0" rtlCol="0"/>
            <a:lstStyle/>
            <a:p>
              <a:endParaRPr/>
            </a:p>
          </p:txBody>
        </p:sp>
        <p:sp>
          <p:nvSpPr>
            <p:cNvPr id="10" name="object 9"/>
            <p:cNvSpPr/>
            <p:nvPr/>
          </p:nvSpPr>
          <p:spPr>
            <a:xfrm>
              <a:off x="5688209" y="2390089"/>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11" name="object 10"/>
            <p:cNvSpPr txBox="1"/>
            <p:nvPr/>
          </p:nvSpPr>
          <p:spPr>
            <a:xfrm>
              <a:off x="6103439" y="249369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3</a:t>
              </a:r>
              <a:endParaRPr sz="1800">
                <a:latin typeface="Times New Roman" panose="02020603050405020304"/>
                <a:cs typeface="Times New Roman" panose="02020603050405020304"/>
              </a:endParaRPr>
            </a:p>
          </p:txBody>
        </p:sp>
        <p:sp>
          <p:nvSpPr>
            <p:cNvPr id="12" name="object 11"/>
            <p:cNvSpPr/>
            <p:nvPr/>
          </p:nvSpPr>
          <p:spPr>
            <a:xfrm>
              <a:off x="4844425" y="2959023"/>
              <a:ext cx="479425" cy="479425"/>
            </a:xfrm>
            <a:custGeom>
              <a:avLst/>
              <a:gdLst/>
              <a:ahLst/>
              <a:cxnLst/>
              <a:rect l="l" t="t" r="r" b="b"/>
              <a:pathLst>
                <a:path w="479425" h="479425">
                  <a:moveTo>
                    <a:pt x="239520" y="0"/>
                  </a:moveTo>
                  <a:lnTo>
                    <a:pt x="191249" y="4865"/>
                  </a:lnTo>
                  <a:lnTo>
                    <a:pt x="146288" y="18820"/>
                  </a:lnTo>
                  <a:lnTo>
                    <a:pt x="105602" y="40900"/>
                  </a:lnTo>
                  <a:lnTo>
                    <a:pt x="70154" y="70144"/>
                  </a:lnTo>
                  <a:lnTo>
                    <a:pt x="40906" y="105587"/>
                  </a:lnTo>
                  <a:lnTo>
                    <a:pt x="18822" y="146268"/>
                  </a:lnTo>
                  <a:lnTo>
                    <a:pt x="4866" y="191222"/>
                  </a:lnTo>
                  <a:lnTo>
                    <a:pt x="0" y="239487"/>
                  </a:lnTo>
                  <a:lnTo>
                    <a:pt x="4866" y="287752"/>
                  </a:lnTo>
                  <a:lnTo>
                    <a:pt x="18822" y="332707"/>
                  </a:lnTo>
                  <a:lnTo>
                    <a:pt x="40906" y="373387"/>
                  </a:lnTo>
                  <a:lnTo>
                    <a:pt x="70154" y="408831"/>
                  </a:lnTo>
                  <a:lnTo>
                    <a:pt x="105602" y="438074"/>
                  </a:lnTo>
                  <a:lnTo>
                    <a:pt x="146288" y="460155"/>
                  </a:lnTo>
                  <a:lnTo>
                    <a:pt x="191249" y="474109"/>
                  </a:lnTo>
                  <a:lnTo>
                    <a:pt x="239520" y="478975"/>
                  </a:lnTo>
                  <a:lnTo>
                    <a:pt x="287792" y="474109"/>
                  </a:lnTo>
                  <a:lnTo>
                    <a:pt x="332753" y="460155"/>
                  </a:lnTo>
                  <a:lnTo>
                    <a:pt x="373439" y="438074"/>
                  </a:lnTo>
                  <a:lnTo>
                    <a:pt x="408888" y="408831"/>
                  </a:lnTo>
                  <a:lnTo>
                    <a:pt x="438136" y="373387"/>
                  </a:lnTo>
                  <a:lnTo>
                    <a:pt x="460219" y="332707"/>
                  </a:lnTo>
                  <a:lnTo>
                    <a:pt x="474176" y="287752"/>
                  </a:lnTo>
                  <a:lnTo>
                    <a:pt x="479042" y="239487"/>
                  </a:lnTo>
                  <a:lnTo>
                    <a:pt x="474176" y="191222"/>
                  </a:lnTo>
                  <a:lnTo>
                    <a:pt x="460219" y="146268"/>
                  </a:lnTo>
                  <a:lnTo>
                    <a:pt x="438136" y="105587"/>
                  </a:lnTo>
                  <a:lnTo>
                    <a:pt x="408888" y="70144"/>
                  </a:lnTo>
                  <a:lnTo>
                    <a:pt x="373439" y="40900"/>
                  </a:lnTo>
                  <a:lnTo>
                    <a:pt x="332753" y="18820"/>
                  </a:lnTo>
                  <a:lnTo>
                    <a:pt x="287792" y="4865"/>
                  </a:lnTo>
                  <a:lnTo>
                    <a:pt x="239520" y="0"/>
                  </a:lnTo>
                  <a:close/>
                </a:path>
              </a:pathLst>
            </a:custGeom>
            <a:solidFill>
              <a:srgbClr val="A8D5D6"/>
            </a:solidFill>
          </p:spPr>
          <p:txBody>
            <a:bodyPr wrap="square" lIns="0" tIns="0" rIns="0" bIns="0" rtlCol="0"/>
            <a:lstStyle/>
            <a:p>
              <a:endParaRPr/>
            </a:p>
          </p:txBody>
        </p:sp>
        <p:sp>
          <p:nvSpPr>
            <p:cNvPr id="13" name="object 12"/>
            <p:cNvSpPr/>
            <p:nvPr/>
          </p:nvSpPr>
          <p:spPr>
            <a:xfrm>
              <a:off x="4844425" y="2959024"/>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0"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7"/>
                  </a:lnTo>
                  <a:lnTo>
                    <a:pt x="408887" y="408831"/>
                  </a:lnTo>
                  <a:lnTo>
                    <a:pt x="373439" y="438075"/>
                  </a:lnTo>
                  <a:lnTo>
                    <a:pt x="332753" y="460155"/>
                  </a:lnTo>
                  <a:lnTo>
                    <a:pt x="287792" y="474110"/>
                  </a:lnTo>
                  <a:lnTo>
                    <a:pt x="239520"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14" name="object 13"/>
            <p:cNvSpPr/>
            <p:nvPr/>
          </p:nvSpPr>
          <p:spPr>
            <a:xfrm>
              <a:off x="5966247" y="3453026"/>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8"/>
                  </a:lnTo>
                  <a:lnTo>
                    <a:pt x="191249" y="474175"/>
                  </a:lnTo>
                  <a:lnTo>
                    <a:pt x="239520" y="479041"/>
                  </a:lnTo>
                  <a:lnTo>
                    <a:pt x="287792" y="474175"/>
                  </a:lnTo>
                  <a:lnTo>
                    <a:pt x="332753" y="460218"/>
                  </a:lnTo>
                  <a:lnTo>
                    <a:pt x="373439" y="438135"/>
                  </a:lnTo>
                  <a:lnTo>
                    <a:pt x="408888" y="408887"/>
                  </a:lnTo>
                  <a:lnTo>
                    <a:pt x="438136" y="373439"/>
                  </a:lnTo>
                  <a:lnTo>
                    <a:pt x="460219" y="332753"/>
                  </a:lnTo>
                  <a:lnTo>
                    <a:pt x="474176" y="287792"/>
                  </a:lnTo>
                  <a:lnTo>
                    <a:pt x="479042" y="239520"/>
                  </a:lnTo>
                  <a:lnTo>
                    <a:pt x="474176" y="191249"/>
                  </a:lnTo>
                  <a:lnTo>
                    <a:pt x="460219" y="146288"/>
                  </a:lnTo>
                  <a:lnTo>
                    <a:pt x="438136" y="105602"/>
                  </a:lnTo>
                  <a:lnTo>
                    <a:pt x="408888" y="70154"/>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15" name="object 14"/>
            <p:cNvSpPr/>
            <p:nvPr/>
          </p:nvSpPr>
          <p:spPr>
            <a:xfrm>
              <a:off x="5966248" y="3453026"/>
              <a:ext cx="479425" cy="479425"/>
            </a:xfrm>
            <a:custGeom>
              <a:avLst/>
              <a:gdLst/>
              <a:ahLst/>
              <a:cxnLst/>
              <a:rect l="l" t="t" r="r" b="b"/>
              <a:pathLst>
                <a:path w="479425" h="479425">
                  <a:moveTo>
                    <a:pt x="0" y="239521"/>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1"/>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1"/>
                  </a:lnTo>
                  <a:close/>
                </a:path>
              </a:pathLst>
            </a:custGeom>
            <a:ln w="9524">
              <a:solidFill>
                <a:srgbClr val="000000"/>
              </a:solidFill>
            </a:ln>
          </p:spPr>
          <p:txBody>
            <a:bodyPr wrap="square" lIns="0" tIns="0" rIns="0" bIns="0" rtlCol="0"/>
            <a:lstStyle/>
            <a:p>
              <a:endParaRPr/>
            </a:p>
          </p:txBody>
        </p:sp>
        <p:sp>
          <p:nvSpPr>
            <p:cNvPr id="16" name="object 15"/>
            <p:cNvSpPr txBox="1"/>
            <p:nvPr/>
          </p:nvSpPr>
          <p:spPr>
            <a:xfrm>
              <a:off x="5010781" y="3033411"/>
              <a:ext cx="1274445" cy="82423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a:p>
              <a:pPr marR="5080" algn="r">
                <a:lnSpc>
                  <a:spcPct val="100000"/>
                </a:lnSpc>
                <a:spcBef>
                  <a:spcPts val="1490"/>
                </a:spcBef>
              </a:pPr>
              <a:r>
                <a:rPr sz="2000" b="1" dirty="0">
                  <a:latin typeface="Times New Roman" panose="02020603050405020304"/>
                  <a:cs typeface="Times New Roman" panose="02020603050405020304"/>
                </a:rPr>
                <a:t>5</a:t>
              </a:r>
              <a:endParaRPr sz="2000">
                <a:latin typeface="Times New Roman" panose="02020603050405020304"/>
                <a:cs typeface="Times New Roman" panose="02020603050405020304"/>
              </a:endParaRPr>
            </a:p>
          </p:txBody>
        </p:sp>
        <p:sp>
          <p:nvSpPr>
            <p:cNvPr id="17" name="object 16"/>
            <p:cNvSpPr/>
            <p:nvPr/>
          </p:nvSpPr>
          <p:spPr>
            <a:xfrm>
              <a:off x="6165308" y="999881"/>
              <a:ext cx="1270" cy="421005"/>
            </a:xfrm>
            <a:custGeom>
              <a:avLst/>
              <a:gdLst/>
              <a:ahLst/>
              <a:cxnLst/>
              <a:rect l="l" t="t" r="r" b="b"/>
              <a:pathLst>
                <a:path w="1270" h="421005">
                  <a:moveTo>
                    <a:pt x="1207" y="0"/>
                  </a:moveTo>
                  <a:lnTo>
                    <a:pt x="0" y="420880"/>
                  </a:lnTo>
                </a:path>
              </a:pathLst>
            </a:custGeom>
            <a:ln w="9524">
              <a:solidFill>
                <a:srgbClr val="000000"/>
              </a:solidFill>
            </a:ln>
          </p:spPr>
          <p:txBody>
            <a:bodyPr wrap="square" lIns="0" tIns="0" rIns="0" bIns="0" rtlCol="0"/>
            <a:lstStyle/>
            <a:p>
              <a:endParaRPr/>
            </a:p>
          </p:txBody>
        </p:sp>
        <p:sp>
          <p:nvSpPr>
            <p:cNvPr id="18" name="object 17"/>
            <p:cNvSpPr/>
            <p:nvPr/>
          </p:nvSpPr>
          <p:spPr>
            <a:xfrm>
              <a:off x="6106572" y="1329928"/>
              <a:ext cx="117906" cy="116037"/>
            </a:xfrm>
            <a:prstGeom prst="rect">
              <a:avLst/>
            </a:prstGeom>
            <a:blipFill>
              <a:blip r:embed="rId3" cstate="print"/>
              <a:stretch>
                <a:fillRect/>
              </a:stretch>
            </a:blipFill>
          </p:spPr>
          <p:txBody>
            <a:bodyPr wrap="square" lIns="0" tIns="0" rIns="0" bIns="0" rtlCol="0"/>
            <a:lstStyle/>
            <a:p>
              <a:endParaRPr/>
            </a:p>
          </p:txBody>
        </p:sp>
        <p:sp>
          <p:nvSpPr>
            <p:cNvPr id="19" name="object 18"/>
            <p:cNvSpPr/>
            <p:nvPr/>
          </p:nvSpPr>
          <p:spPr>
            <a:xfrm>
              <a:off x="6165236" y="1952903"/>
              <a:ext cx="5715" cy="412750"/>
            </a:xfrm>
            <a:custGeom>
              <a:avLst/>
              <a:gdLst/>
              <a:ahLst/>
              <a:cxnLst/>
              <a:rect l="l" t="t" r="r" b="b"/>
              <a:pathLst>
                <a:path w="5714" h="412750">
                  <a:moveTo>
                    <a:pt x="0" y="0"/>
                  </a:moveTo>
                  <a:lnTo>
                    <a:pt x="5236" y="412153"/>
                  </a:lnTo>
                </a:path>
              </a:pathLst>
            </a:custGeom>
            <a:ln w="9524">
              <a:solidFill>
                <a:srgbClr val="000000"/>
              </a:solidFill>
            </a:ln>
          </p:spPr>
          <p:txBody>
            <a:bodyPr wrap="square" lIns="0" tIns="0" rIns="0" bIns="0" rtlCol="0"/>
            <a:lstStyle/>
            <a:p>
              <a:endParaRPr/>
            </a:p>
          </p:txBody>
        </p:sp>
        <p:sp>
          <p:nvSpPr>
            <p:cNvPr id="20" name="object 19"/>
            <p:cNvSpPr/>
            <p:nvPr/>
          </p:nvSpPr>
          <p:spPr>
            <a:xfrm>
              <a:off x="6110559" y="2273791"/>
              <a:ext cx="117897" cy="116467"/>
            </a:xfrm>
            <a:prstGeom prst="rect">
              <a:avLst/>
            </a:prstGeom>
            <a:blipFill>
              <a:blip r:embed="rId4" cstate="print"/>
              <a:stretch>
                <a:fillRect/>
              </a:stretch>
            </a:blipFill>
          </p:spPr>
          <p:txBody>
            <a:bodyPr wrap="square" lIns="0" tIns="0" rIns="0" bIns="0" rtlCol="0"/>
            <a:lstStyle/>
            <a:p>
              <a:endParaRPr/>
            </a:p>
          </p:txBody>
        </p:sp>
        <p:sp>
          <p:nvSpPr>
            <p:cNvPr id="21" name="object 20"/>
            <p:cNvSpPr/>
            <p:nvPr/>
          </p:nvSpPr>
          <p:spPr>
            <a:xfrm>
              <a:off x="5083946" y="2643556"/>
              <a:ext cx="604520" cy="290830"/>
            </a:xfrm>
            <a:custGeom>
              <a:avLst/>
              <a:gdLst/>
              <a:ahLst/>
              <a:cxnLst/>
              <a:rect l="l" t="t" r="r" b="b"/>
              <a:pathLst>
                <a:path w="604520" h="290830">
                  <a:moveTo>
                    <a:pt x="604262" y="0"/>
                  </a:moveTo>
                  <a:lnTo>
                    <a:pt x="0" y="0"/>
                  </a:lnTo>
                  <a:lnTo>
                    <a:pt x="0" y="290260"/>
                  </a:lnTo>
                </a:path>
              </a:pathLst>
            </a:custGeom>
            <a:ln w="9524">
              <a:solidFill>
                <a:srgbClr val="000000"/>
              </a:solidFill>
            </a:ln>
          </p:spPr>
          <p:txBody>
            <a:bodyPr wrap="square" lIns="0" tIns="0" rIns="0" bIns="0" rtlCol="0"/>
            <a:lstStyle/>
            <a:p>
              <a:endParaRPr/>
            </a:p>
          </p:txBody>
        </p:sp>
        <p:sp>
          <p:nvSpPr>
            <p:cNvPr id="22" name="object 21"/>
            <p:cNvSpPr/>
            <p:nvPr/>
          </p:nvSpPr>
          <p:spPr>
            <a:xfrm>
              <a:off x="5024992" y="2843113"/>
              <a:ext cx="117908" cy="115909"/>
            </a:xfrm>
            <a:prstGeom prst="rect">
              <a:avLst/>
            </a:prstGeom>
            <a:blipFill>
              <a:blip r:embed="rId5" cstate="print"/>
              <a:stretch>
                <a:fillRect/>
              </a:stretch>
            </a:blipFill>
          </p:spPr>
          <p:txBody>
            <a:bodyPr wrap="square" lIns="0" tIns="0" rIns="0" bIns="0" rtlCol="0"/>
            <a:lstStyle/>
            <a:p>
              <a:endParaRPr/>
            </a:p>
          </p:txBody>
        </p:sp>
        <p:sp>
          <p:nvSpPr>
            <p:cNvPr id="23" name="object 22"/>
            <p:cNvSpPr/>
            <p:nvPr/>
          </p:nvSpPr>
          <p:spPr>
            <a:xfrm>
              <a:off x="6470494" y="2643557"/>
              <a:ext cx="774700" cy="1049020"/>
            </a:xfrm>
            <a:custGeom>
              <a:avLst/>
              <a:gdLst/>
              <a:ahLst/>
              <a:cxnLst/>
              <a:rect l="l" t="t" r="r" b="b"/>
              <a:pathLst>
                <a:path w="774700" h="1049020">
                  <a:moveTo>
                    <a:pt x="182675" y="0"/>
                  </a:moveTo>
                  <a:lnTo>
                    <a:pt x="774159" y="0"/>
                  </a:lnTo>
                  <a:lnTo>
                    <a:pt x="774159" y="1048989"/>
                  </a:lnTo>
                  <a:lnTo>
                    <a:pt x="0" y="1048989"/>
                  </a:lnTo>
                </a:path>
              </a:pathLst>
            </a:custGeom>
            <a:ln w="9524">
              <a:solidFill>
                <a:srgbClr val="000000"/>
              </a:solidFill>
            </a:ln>
          </p:spPr>
          <p:txBody>
            <a:bodyPr wrap="square" lIns="0" tIns="0" rIns="0" bIns="0" rtlCol="0"/>
            <a:lstStyle/>
            <a:p>
              <a:endParaRPr/>
            </a:p>
          </p:txBody>
        </p:sp>
        <p:sp>
          <p:nvSpPr>
            <p:cNvPr id="24" name="object 23"/>
            <p:cNvSpPr/>
            <p:nvPr/>
          </p:nvSpPr>
          <p:spPr>
            <a:xfrm>
              <a:off x="6445290" y="3633593"/>
              <a:ext cx="115909" cy="117908"/>
            </a:xfrm>
            <a:prstGeom prst="rect">
              <a:avLst/>
            </a:prstGeom>
            <a:blipFill>
              <a:blip r:embed="rId6" cstate="print"/>
              <a:stretch>
                <a:fillRect/>
              </a:stretch>
            </a:blipFill>
          </p:spPr>
          <p:txBody>
            <a:bodyPr wrap="square" lIns="0" tIns="0" rIns="0" bIns="0" rtlCol="0"/>
            <a:lstStyle/>
            <a:p>
              <a:endParaRPr/>
            </a:p>
          </p:txBody>
        </p:sp>
        <p:sp>
          <p:nvSpPr>
            <p:cNvPr id="25" name="object 24"/>
            <p:cNvSpPr/>
            <p:nvPr/>
          </p:nvSpPr>
          <p:spPr>
            <a:xfrm>
              <a:off x="5083945" y="3437997"/>
              <a:ext cx="857250" cy="254635"/>
            </a:xfrm>
            <a:custGeom>
              <a:avLst/>
              <a:gdLst/>
              <a:ahLst/>
              <a:cxnLst/>
              <a:rect l="l" t="t" r="r" b="b"/>
              <a:pathLst>
                <a:path w="857250" h="254635">
                  <a:moveTo>
                    <a:pt x="0" y="0"/>
                  </a:moveTo>
                  <a:lnTo>
                    <a:pt x="0" y="254548"/>
                  </a:lnTo>
                  <a:lnTo>
                    <a:pt x="857096" y="254548"/>
                  </a:lnTo>
                </a:path>
              </a:pathLst>
            </a:custGeom>
            <a:ln w="9524">
              <a:solidFill>
                <a:srgbClr val="000000"/>
              </a:solidFill>
            </a:ln>
          </p:spPr>
          <p:txBody>
            <a:bodyPr wrap="square" lIns="0" tIns="0" rIns="0" bIns="0" rtlCol="0"/>
            <a:lstStyle/>
            <a:p>
              <a:endParaRPr/>
            </a:p>
          </p:txBody>
        </p:sp>
        <p:sp>
          <p:nvSpPr>
            <p:cNvPr id="26" name="object 25"/>
            <p:cNvSpPr/>
            <p:nvPr/>
          </p:nvSpPr>
          <p:spPr>
            <a:xfrm>
              <a:off x="5850338" y="3633593"/>
              <a:ext cx="115909" cy="117908"/>
            </a:xfrm>
            <a:prstGeom prst="rect">
              <a:avLst/>
            </a:prstGeom>
            <a:blipFill>
              <a:blip r:embed="rId7" cstate="print"/>
              <a:stretch>
                <a:fillRect/>
              </a:stretch>
            </a:blipFill>
          </p:spPr>
          <p:txBody>
            <a:bodyPr wrap="square" lIns="0" tIns="0" rIns="0" bIns="0" rtlCol="0"/>
            <a:lstStyle/>
            <a:p>
              <a:endParaRPr/>
            </a:p>
          </p:txBody>
        </p:sp>
        <p:sp>
          <p:nvSpPr>
            <p:cNvPr id="27" name="object 26"/>
            <p:cNvSpPr/>
            <p:nvPr/>
          </p:nvSpPr>
          <p:spPr>
            <a:xfrm>
              <a:off x="3885966" y="4214520"/>
              <a:ext cx="965200" cy="507365"/>
            </a:xfrm>
            <a:custGeom>
              <a:avLst/>
              <a:gdLst/>
              <a:ahLst/>
              <a:cxnLst/>
              <a:rect l="l" t="t" r="r" b="b"/>
              <a:pathLst>
                <a:path w="965200" h="507364">
                  <a:moveTo>
                    <a:pt x="482480" y="0"/>
                  </a:moveTo>
                  <a:lnTo>
                    <a:pt x="0" y="253467"/>
                  </a:lnTo>
                  <a:lnTo>
                    <a:pt x="482480" y="506937"/>
                  </a:lnTo>
                  <a:lnTo>
                    <a:pt x="964959" y="253467"/>
                  </a:lnTo>
                  <a:lnTo>
                    <a:pt x="482480" y="0"/>
                  </a:lnTo>
                  <a:close/>
                </a:path>
              </a:pathLst>
            </a:custGeom>
            <a:solidFill>
              <a:srgbClr val="FFACA9"/>
            </a:solidFill>
          </p:spPr>
          <p:txBody>
            <a:bodyPr wrap="square" lIns="0" tIns="0" rIns="0" bIns="0" rtlCol="0"/>
            <a:lstStyle/>
            <a:p>
              <a:endParaRPr/>
            </a:p>
          </p:txBody>
        </p:sp>
        <p:sp>
          <p:nvSpPr>
            <p:cNvPr id="28" name="object 27"/>
            <p:cNvSpPr/>
            <p:nvPr/>
          </p:nvSpPr>
          <p:spPr>
            <a:xfrm>
              <a:off x="3885966" y="4214520"/>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29" name="object 28"/>
            <p:cNvSpPr txBox="1"/>
            <p:nvPr/>
          </p:nvSpPr>
          <p:spPr>
            <a:xfrm>
              <a:off x="4301196" y="431812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6</a:t>
              </a:r>
              <a:endParaRPr sz="1800">
                <a:latin typeface="Times New Roman" panose="02020603050405020304"/>
                <a:cs typeface="Times New Roman" panose="02020603050405020304"/>
              </a:endParaRPr>
            </a:p>
          </p:txBody>
        </p:sp>
        <p:sp>
          <p:nvSpPr>
            <p:cNvPr id="30" name="object 29"/>
            <p:cNvSpPr/>
            <p:nvPr/>
          </p:nvSpPr>
          <p:spPr>
            <a:xfrm>
              <a:off x="3341477" y="4718048"/>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9"/>
                  </a:lnTo>
                  <a:lnTo>
                    <a:pt x="4866" y="191249"/>
                  </a:lnTo>
                  <a:lnTo>
                    <a:pt x="0" y="239521"/>
                  </a:lnTo>
                  <a:lnTo>
                    <a:pt x="4866" y="287793"/>
                  </a:lnTo>
                  <a:lnTo>
                    <a:pt x="18822" y="332754"/>
                  </a:lnTo>
                  <a:lnTo>
                    <a:pt x="40906" y="373440"/>
                  </a:lnTo>
                  <a:lnTo>
                    <a:pt x="70153" y="408888"/>
                  </a:lnTo>
                  <a:lnTo>
                    <a:pt x="105602" y="438136"/>
                  </a:lnTo>
                  <a:lnTo>
                    <a:pt x="146288" y="460219"/>
                  </a:lnTo>
                  <a:lnTo>
                    <a:pt x="191248" y="474176"/>
                  </a:lnTo>
                  <a:lnTo>
                    <a:pt x="239520" y="479042"/>
                  </a:lnTo>
                  <a:lnTo>
                    <a:pt x="287792" y="474176"/>
                  </a:lnTo>
                  <a:lnTo>
                    <a:pt x="332752" y="460219"/>
                  </a:lnTo>
                  <a:lnTo>
                    <a:pt x="373438" y="438136"/>
                  </a:lnTo>
                  <a:lnTo>
                    <a:pt x="408887" y="408888"/>
                  </a:lnTo>
                  <a:lnTo>
                    <a:pt x="438134" y="373440"/>
                  </a:lnTo>
                  <a:lnTo>
                    <a:pt x="460218" y="332754"/>
                  </a:lnTo>
                  <a:lnTo>
                    <a:pt x="474175" y="287793"/>
                  </a:lnTo>
                  <a:lnTo>
                    <a:pt x="479041" y="239521"/>
                  </a:lnTo>
                  <a:lnTo>
                    <a:pt x="474175" y="191249"/>
                  </a:lnTo>
                  <a:lnTo>
                    <a:pt x="460218" y="146289"/>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31" name="object 30"/>
            <p:cNvSpPr/>
            <p:nvPr/>
          </p:nvSpPr>
          <p:spPr>
            <a:xfrm>
              <a:off x="3341477" y="4718048"/>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2" name="object 31"/>
            <p:cNvSpPr txBox="1"/>
            <p:nvPr/>
          </p:nvSpPr>
          <p:spPr>
            <a:xfrm>
              <a:off x="3507833" y="4792469"/>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7</a:t>
              </a:r>
              <a:endParaRPr sz="2000">
                <a:latin typeface="Times New Roman" panose="02020603050405020304"/>
                <a:cs typeface="Times New Roman" panose="02020603050405020304"/>
              </a:endParaRPr>
            </a:p>
          </p:txBody>
        </p:sp>
        <p:sp>
          <p:nvSpPr>
            <p:cNvPr id="33" name="object 32"/>
            <p:cNvSpPr/>
            <p:nvPr/>
          </p:nvSpPr>
          <p:spPr>
            <a:xfrm>
              <a:off x="4998809" y="4707148"/>
              <a:ext cx="479425" cy="479425"/>
            </a:xfrm>
            <a:custGeom>
              <a:avLst/>
              <a:gdLst/>
              <a:ahLst/>
              <a:cxnLst/>
              <a:rect l="l" t="t" r="r" b="b"/>
              <a:pathLst>
                <a:path w="479425" h="479425">
                  <a:moveTo>
                    <a:pt x="239520" y="0"/>
                  </a:moveTo>
                  <a:lnTo>
                    <a:pt x="191248" y="4866"/>
                  </a:lnTo>
                  <a:lnTo>
                    <a:pt x="146288" y="18822"/>
                  </a:lnTo>
                  <a:lnTo>
                    <a:pt x="105602" y="40906"/>
                  </a:lnTo>
                  <a:lnTo>
                    <a:pt x="70153" y="70153"/>
                  </a:lnTo>
                  <a:lnTo>
                    <a:pt x="40906" y="105602"/>
                  </a:lnTo>
                  <a:lnTo>
                    <a:pt x="18822" y="146288"/>
                  </a:lnTo>
                  <a:lnTo>
                    <a:pt x="4866" y="191248"/>
                  </a:lnTo>
                  <a:lnTo>
                    <a:pt x="0" y="239520"/>
                  </a:lnTo>
                  <a:lnTo>
                    <a:pt x="4866" y="287792"/>
                  </a:lnTo>
                  <a:lnTo>
                    <a:pt x="18822" y="332752"/>
                  </a:lnTo>
                  <a:lnTo>
                    <a:pt x="40906" y="373438"/>
                  </a:lnTo>
                  <a:lnTo>
                    <a:pt x="70153" y="408887"/>
                  </a:lnTo>
                  <a:lnTo>
                    <a:pt x="105602" y="438134"/>
                  </a:lnTo>
                  <a:lnTo>
                    <a:pt x="146288" y="460218"/>
                  </a:lnTo>
                  <a:lnTo>
                    <a:pt x="191248" y="474175"/>
                  </a:lnTo>
                  <a:lnTo>
                    <a:pt x="239520" y="479041"/>
                  </a:lnTo>
                  <a:lnTo>
                    <a:pt x="287792" y="474175"/>
                  </a:lnTo>
                  <a:lnTo>
                    <a:pt x="332752" y="460218"/>
                  </a:lnTo>
                  <a:lnTo>
                    <a:pt x="373438" y="438134"/>
                  </a:lnTo>
                  <a:lnTo>
                    <a:pt x="408887" y="408887"/>
                  </a:lnTo>
                  <a:lnTo>
                    <a:pt x="438134" y="373438"/>
                  </a:lnTo>
                  <a:lnTo>
                    <a:pt x="460218" y="332752"/>
                  </a:lnTo>
                  <a:lnTo>
                    <a:pt x="474175" y="287792"/>
                  </a:lnTo>
                  <a:lnTo>
                    <a:pt x="479041" y="239520"/>
                  </a:lnTo>
                  <a:lnTo>
                    <a:pt x="474175" y="191248"/>
                  </a:lnTo>
                  <a:lnTo>
                    <a:pt x="460218" y="146288"/>
                  </a:lnTo>
                  <a:lnTo>
                    <a:pt x="438134" y="105602"/>
                  </a:lnTo>
                  <a:lnTo>
                    <a:pt x="408887" y="70153"/>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34" name="object 33"/>
            <p:cNvSpPr/>
            <p:nvPr/>
          </p:nvSpPr>
          <p:spPr>
            <a:xfrm>
              <a:off x="4998809" y="4707148"/>
              <a:ext cx="479425" cy="479425"/>
            </a:xfrm>
            <a:custGeom>
              <a:avLst/>
              <a:gdLst/>
              <a:ahLst/>
              <a:cxnLst/>
              <a:rect l="l" t="t" r="r" b="b"/>
              <a:pathLst>
                <a:path w="479425" h="479425">
                  <a:moveTo>
                    <a:pt x="0" y="239521"/>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1" y="239521"/>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1"/>
                  </a:lnTo>
                  <a:close/>
                </a:path>
              </a:pathLst>
            </a:custGeom>
            <a:ln w="9524">
              <a:solidFill>
                <a:srgbClr val="000000"/>
              </a:solidFill>
            </a:ln>
          </p:spPr>
          <p:txBody>
            <a:bodyPr wrap="square" lIns="0" tIns="0" rIns="0" bIns="0" rtlCol="0"/>
            <a:lstStyle/>
            <a:p>
              <a:endParaRPr/>
            </a:p>
          </p:txBody>
        </p:sp>
        <p:sp>
          <p:nvSpPr>
            <p:cNvPr id="35" name="object 34"/>
            <p:cNvSpPr txBox="1"/>
            <p:nvPr/>
          </p:nvSpPr>
          <p:spPr>
            <a:xfrm>
              <a:off x="5165166" y="4781568"/>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8</a:t>
              </a:r>
              <a:endParaRPr sz="2000">
                <a:latin typeface="Times New Roman" panose="02020603050405020304"/>
                <a:cs typeface="Times New Roman" panose="02020603050405020304"/>
              </a:endParaRPr>
            </a:p>
          </p:txBody>
        </p:sp>
        <p:sp>
          <p:nvSpPr>
            <p:cNvPr id="36" name="object 35"/>
            <p:cNvSpPr/>
            <p:nvPr/>
          </p:nvSpPr>
          <p:spPr>
            <a:xfrm>
              <a:off x="4368448" y="1699435"/>
              <a:ext cx="1314450" cy="2490470"/>
            </a:xfrm>
            <a:custGeom>
              <a:avLst/>
              <a:gdLst/>
              <a:ahLst/>
              <a:cxnLst/>
              <a:rect l="l" t="t" r="r" b="b"/>
              <a:pathLst>
                <a:path w="1314450" h="2490470">
                  <a:moveTo>
                    <a:pt x="1314308" y="0"/>
                  </a:moveTo>
                  <a:lnTo>
                    <a:pt x="0" y="0"/>
                  </a:lnTo>
                  <a:lnTo>
                    <a:pt x="0" y="2489880"/>
                  </a:lnTo>
                </a:path>
              </a:pathLst>
            </a:custGeom>
            <a:ln w="9524">
              <a:solidFill>
                <a:srgbClr val="000000"/>
              </a:solidFill>
            </a:ln>
          </p:spPr>
          <p:txBody>
            <a:bodyPr wrap="square" lIns="0" tIns="0" rIns="0" bIns="0" rtlCol="0"/>
            <a:lstStyle/>
            <a:p>
              <a:endParaRPr/>
            </a:p>
          </p:txBody>
        </p:sp>
        <p:sp>
          <p:nvSpPr>
            <p:cNvPr id="37" name="object 36"/>
            <p:cNvSpPr/>
            <p:nvPr/>
          </p:nvSpPr>
          <p:spPr>
            <a:xfrm>
              <a:off x="4309494" y="4098611"/>
              <a:ext cx="117908" cy="115909"/>
            </a:xfrm>
            <a:prstGeom prst="rect">
              <a:avLst/>
            </a:prstGeom>
            <a:blipFill>
              <a:blip r:embed="rId5" cstate="print"/>
              <a:stretch>
                <a:fillRect/>
              </a:stretch>
            </a:blipFill>
          </p:spPr>
          <p:txBody>
            <a:bodyPr wrap="square" lIns="0" tIns="0" rIns="0" bIns="0" rtlCol="0"/>
            <a:lstStyle/>
            <a:p>
              <a:endParaRPr/>
            </a:p>
          </p:txBody>
        </p:sp>
        <p:sp>
          <p:nvSpPr>
            <p:cNvPr id="38" name="object 37"/>
            <p:cNvSpPr/>
            <p:nvPr/>
          </p:nvSpPr>
          <p:spPr>
            <a:xfrm>
              <a:off x="6205768" y="1699434"/>
              <a:ext cx="2875915" cy="2520315"/>
            </a:xfrm>
            <a:custGeom>
              <a:avLst/>
              <a:gdLst/>
              <a:ahLst/>
              <a:cxnLst/>
              <a:rect l="l" t="t" r="r" b="b"/>
              <a:pathLst>
                <a:path w="2875915" h="2520315">
                  <a:moveTo>
                    <a:pt x="0" y="2232634"/>
                  </a:moveTo>
                  <a:lnTo>
                    <a:pt x="0" y="2519907"/>
                  </a:lnTo>
                  <a:lnTo>
                    <a:pt x="2875479" y="2519907"/>
                  </a:lnTo>
                  <a:lnTo>
                    <a:pt x="2875479" y="0"/>
                  </a:lnTo>
                  <a:lnTo>
                    <a:pt x="467151" y="0"/>
                  </a:lnTo>
                </a:path>
              </a:pathLst>
            </a:custGeom>
            <a:ln w="9524">
              <a:solidFill>
                <a:srgbClr val="000000"/>
              </a:solidFill>
            </a:ln>
          </p:spPr>
          <p:txBody>
            <a:bodyPr wrap="square" lIns="0" tIns="0" rIns="0" bIns="0" rtlCol="0"/>
            <a:lstStyle/>
            <a:p>
              <a:endParaRPr/>
            </a:p>
          </p:txBody>
        </p:sp>
        <p:sp>
          <p:nvSpPr>
            <p:cNvPr id="39" name="object 38"/>
            <p:cNvSpPr/>
            <p:nvPr/>
          </p:nvSpPr>
          <p:spPr>
            <a:xfrm>
              <a:off x="6647714" y="1640480"/>
              <a:ext cx="115909" cy="117908"/>
            </a:xfrm>
            <a:prstGeom prst="rect">
              <a:avLst/>
            </a:prstGeom>
            <a:blipFill>
              <a:blip r:embed="rId8" cstate="print"/>
              <a:stretch>
                <a:fillRect/>
              </a:stretch>
            </a:blipFill>
          </p:spPr>
          <p:txBody>
            <a:bodyPr wrap="square" lIns="0" tIns="0" rIns="0" bIns="0" rtlCol="0"/>
            <a:lstStyle/>
            <a:p>
              <a:endParaRPr/>
            </a:p>
          </p:txBody>
        </p:sp>
        <p:sp>
          <p:nvSpPr>
            <p:cNvPr id="40" name="object 39"/>
            <p:cNvSpPr/>
            <p:nvPr/>
          </p:nvSpPr>
          <p:spPr>
            <a:xfrm>
              <a:off x="3580998" y="4467989"/>
              <a:ext cx="305435" cy="225425"/>
            </a:xfrm>
            <a:custGeom>
              <a:avLst/>
              <a:gdLst/>
              <a:ahLst/>
              <a:cxnLst/>
              <a:rect l="l" t="t" r="r" b="b"/>
              <a:pathLst>
                <a:path w="305435" h="225425">
                  <a:moveTo>
                    <a:pt x="304967" y="0"/>
                  </a:moveTo>
                  <a:lnTo>
                    <a:pt x="0" y="0"/>
                  </a:lnTo>
                  <a:lnTo>
                    <a:pt x="0" y="224855"/>
                  </a:lnTo>
                </a:path>
              </a:pathLst>
            </a:custGeom>
            <a:ln w="9524">
              <a:solidFill>
                <a:srgbClr val="000000"/>
              </a:solidFill>
            </a:ln>
          </p:spPr>
          <p:txBody>
            <a:bodyPr wrap="square" lIns="0" tIns="0" rIns="0" bIns="0" rtlCol="0"/>
            <a:lstStyle/>
            <a:p>
              <a:endParaRPr/>
            </a:p>
          </p:txBody>
        </p:sp>
        <p:sp>
          <p:nvSpPr>
            <p:cNvPr id="41" name="object 40"/>
            <p:cNvSpPr/>
            <p:nvPr/>
          </p:nvSpPr>
          <p:spPr>
            <a:xfrm>
              <a:off x="3522045" y="4602139"/>
              <a:ext cx="117908" cy="115909"/>
            </a:xfrm>
            <a:prstGeom prst="rect">
              <a:avLst/>
            </a:prstGeom>
            <a:blipFill>
              <a:blip r:embed="rId9" cstate="print"/>
              <a:stretch>
                <a:fillRect/>
              </a:stretch>
            </a:blipFill>
          </p:spPr>
          <p:txBody>
            <a:bodyPr wrap="square" lIns="0" tIns="0" rIns="0" bIns="0" rtlCol="0"/>
            <a:lstStyle/>
            <a:p>
              <a:endParaRPr/>
            </a:p>
          </p:txBody>
        </p:sp>
        <p:sp>
          <p:nvSpPr>
            <p:cNvPr id="42" name="object 41"/>
            <p:cNvSpPr/>
            <p:nvPr/>
          </p:nvSpPr>
          <p:spPr>
            <a:xfrm>
              <a:off x="4850927" y="4467989"/>
              <a:ext cx="387350" cy="213995"/>
            </a:xfrm>
            <a:custGeom>
              <a:avLst/>
              <a:gdLst/>
              <a:ahLst/>
              <a:cxnLst/>
              <a:rect l="l" t="t" r="r" b="b"/>
              <a:pathLst>
                <a:path w="387350" h="213995">
                  <a:moveTo>
                    <a:pt x="0" y="0"/>
                  </a:moveTo>
                  <a:lnTo>
                    <a:pt x="387349" y="0"/>
                  </a:lnTo>
                  <a:lnTo>
                    <a:pt x="387349" y="213713"/>
                  </a:lnTo>
                </a:path>
              </a:pathLst>
            </a:custGeom>
            <a:ln w="9524">
              <a:solidFill>
                <a:srgbClr val="000000"/>
              </a:solidFill>
            </a:ln>
          </p:spPr>
          <p:txBody>
            <a:bodyPr wrap="square" lIns="0" tIns="0" rIns="0" bIns="0" rtlCol="0"/>
            <a:lstStyle/>
            <a:p>
              <a:endParaRPr/>
            </a:p>
          </p:txBody>
        </p:sp>
        <p:sp>
          <p:nvSpPr>
            <p:cNvPr id="43" name="object 42"/>
            <p:cNvSpPr/>
            <p:nvPr/>
          </p:nvSpPr>
          <p:spPr>
            <a:xfrm>
              <a:off x="5179323" y="4590999"/>
              <a:ext cx="117908" cy="115909"/>
            </a:xfrm>
            <a:prstGeom prst="rect">
              <a:avLst/>
            </a:prstGeom>
            <a:blipFill>
              <a:blip r:embed="rId10" cstate="print"/>
              <a:stretch>
                <a:fillRect/>
              </a:stretch>
            </a:blipFill>
          </p:spPr>
          <p:txBody>
            <a:bodyPr wrap="square" lIns="0" tIns="0" rIns="0" bIns="0" rtlCol="0"/>
            <a:lstStyle/>
            <a:p>
              <a:endParaRPr/>
            </a:p>
          </p:txBody>
        </p:sp>
        <p:sp>
          <p:nvSpPr>
            <p:cNvPr id="44" name="object 43"/>
            <p:cNvSpPr txBox="1"/>
            <p:nvPr/>
          </p:nvSpPr>
          <p:spPr>
            <a:xfrm>
              <a:off x="5906636" y="2016486"/>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5" name="object 44"/>
            <p:cNvSpPr txBox="1"/>
            <p:nvPr/>
          </p:nvSpPr>
          <p:spPr>
            <a:xfrm>
              <a:off x="5485765" y="1379804"/>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6" name="object 45"/>
            <p:cNvSpPr txBox="1"/>
            <p:nvPr/>
          </p:nvSpPr>
          <p:spPr>
            <a:xfrm>
              <a:off x="5420885" y="2697324"/>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7" name="object 46"/>
            <p:cNvSpPr txBox="1"/>
            <p:nvPr/>
          </p:nvSpPr>
          <p:spPr>
            <a:xfrm>
              <a:off x="6697684" y="2696777"/>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8" name="object 47"/>
            <p:cNvSpPr txBox="1"/>
            <p:nvPr/>
          </p:nvSpPr>
          <p:spPr>
            <a:xfrm>
              <a:off x="3728210" y="4220320"/>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9" name="object 48"/>
            <p:cNvSpPr txBox="1"/>
            <p:nvPr/>
          </p:nvSpPr>
          <p:spPr>
            <a:xfrm>
              <a:off x="4840368" y="4220320"/>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50" name="object 49"/>
            <p:cNvSpPr txBox="1"/>
            <p:nvPr/>
          </p:nvSpPr>
          <p:spPr>
            <a:xfrm>
              <a:off x="6231577" y="1094248"/>
              <a:ext cx="2120265" cy="259045"/>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US" sz="1600" spc="-5"/>
                <a:t>Covered </a:t>
              </a:r>
              <a:r>
                <a:rPr lang="en-US" sz="1600"/>
                <a:t>by </a:t>
              </a:r>
              <a:r>
                <a:rPr lang="en-US" sz="1600" spc="-5"/>
                <a:t>any</a:t>
              </a:r>
              <a:r>
                <a:rPr lang="en-US" sz="1600" spc="-50"/>
                <a:t> </a:t>
              </a:r>
              <a:r>
                <a:rPr lang="en-US" sz="1600" spc="-5"/>
                <a:t>data</a:t>
              </a:r>
              <a:endParaRPr lang="en-US" sz="1600" spc="-5" dirty="0"/>
            </a:p>
          </p:txBody>
        </p:sp>
        <p:sp>
          <p:nvSpPr>
            <p:cNvPr id="51" name="object 50"/>
            <p:cNvSpPr txBox="1"/>
            <p:nvPr/>
          </p:nvSpPr>
          <p:spPr>
            <a:xfrm>
              <a:off x="1779275" y="1731185"/>
              <a:ext cx="240982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a:t>
              </a:r>
              <a:r>
                <a:rPr sz="2000" dirty="0">
                  <a:latin typeface="Times New Roman" panose="02020603050405020304"/>
                  <a:cs typeface="Times New Roman" panose="02020603050405020304"/>
                </a:rPr>
                <a:t>be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empty</a:t>
              </a:r>
              <a:endParaRPr sz="2000">
                <a:latin typeface="Times New Roman" panose="02020603050405020304"/>
                <a:cs typeface="Times New Roman" panose="02020603050405020304"/>
              </a:endParaRPr>
            </a:p>
          </p:txBody>
        </p:sp>
        <p:sp>
          <p:nvSpPr>
            <p:cNvPr id="52" name="object 51"/>
            <p:cNvSpPr txBox="1"/>
            <p:nvPr/>
          </p:nvSpPr>
          <p:spPr>
            <a:xfrm>
              <a:off x="6263968" y="1984272"/>
              <a:ext cx="40386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contain at least </a:t>
              </a:r>
              <a:r>
                <a:rPr sz="2000" dirty="0">
                  <a:latin typeface="Times New Roman" panose="02020603050405020304"/>
                  <a:cs typeface="Times New Roman" panose="02020603050405020304"/>
                </a:rPr>
                <a:t>one</a:t>
              </a:r>
              <a:r>
                <a:rPr sz="2000" spc="-2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value</a:t>
              </a:r>
              <a:endParaRPr sz="2000">
                <a:latin typeface="Times New Roman" panose="02020603050405020304"/>
                <a:cs typeface="Times New Roman" panose="02020603050405020304"/>
              </a:endParaRPr>
            </a:p>
          </p:txBody>
        </p:sp>
        <p:sp>
          <p:nvSpPr>
            <p:cNvPr id="53" name="object 52"/>
            <p:cNvSpPr txBox="1"/>
            <p:nvPr/>
          </p:nvSpPr>
          <p:spPr>
            <a:xfrm>
              <a:off x="3570604" y="2607796"/>
              <a:ext cx="144335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Positive</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4" name="object 53"/>
            <p:cNvSpPr txBox="1"/>
            <p:nvPr/>
          </p:nvSpPr>
          <p:spPr>
            <a:xfrm>
              <a:off x="7310330" y="2623638"/>
              <a:ext cx="15417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Negative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5" name="object 54"/>
            <p:cNvSpPr txBox="1"/>
            <p:nvPr/>
          </p:nvSpPr>
          <p:spPr>
            <a:xfrm>
              <a:off x="1737253" y="4416046"/>
              <a:ext cx="173101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&gt;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6" name="object 55"/>
            <p:cNvSpPr txBox="1"/>
            <p:nvPr/>
          </p:nvSpPr>
          <p:spPr>
            <a:xfrm>
              <a:off x="5325244" y="4403371"/>
              <a:ext cx="187452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&lt;=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7" name="object 56"/>
            <p:cNvSpPr/>
            <p:nvPr/>
          </p:nvSpPr>
          <p:spPr>
            <a:xfrm>
              <a:off x="4103071" y="5752584"/>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9"/>
                  </a:lnTo>
                  <a:lnTo>
                    <a:pt x="191249" y="474175"/>
                  </a:lnTo>
                  <a:lnTo>
                    <a:pt x="239520" y="479041"/>
                  </a:lnTo>
                  <a:lnTo>
                    <a:pt x="287792" y="474175"/>
                  </a:lnTo>
                  <a:lnTo>
                    <a:pt x="332752" y="460219"/>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58" name="object 57"/>
            <p:cNvSpPr/>
            <p:nvPr/>
          </p:nvSpPr>
          <p:spPr>
            <a:xfrm>
              <a:off x="4103071" y="5752584"/>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1"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59" name="object 58"/>
            <p:cNvSpPr txBox="1"/>
            <p:nvPr/>
          </p:nvSpPr>
          <p:spPr>
            <a:xfrm>
              <a:off x="4269268" y="5827006"/>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9</a:t>
              </a:r>
              <a:endParaRPr sz="2000">
                <a:latin typeface="Times New Roman" panose="02020603050405020304"/>
                <a:cs typeface="Times New Roman" panose="02020603050405020304"/>
              </a:endParaRPr>
            </a:p>
          </p:txBody>
        </p:sp>
        <p:sp>
          <p:nvSpPr>
            <p:cNvPr id="60" name="object 59"/>
            <p:cNvSpPr/>
            <p:nvPr/>
          </p:nvSpPr>
          <p:spPr>
            <a:xfrm>
              <a:off x="3580997" y="5186189"/>
              <a:ext cx="1657350" cy="213995"/>
            </a:xfrm>
            <a:custGeom>
              <a:avLst/>
              <a:gdLst/>
              <a:ahLst/>
              <a:cxnLst/>
              <a:rect l="l" t="t" r="r" b="b"/>
              <a:pathLst>
                <a:path w="1657350" h="213995">
                  <a:moveTo>
                    <a:pt x="0" y="10902"/>
                  </a:moveTo>
                  <a:lnTo>
                    <a:pt x="0" y="213704"/>
                  </a:lnTo>
                  <a:lnTo>
                    <a:pt x="1657331" y="213704"/>
                  </a:lnTo>
                  <a:lnTo>
                    <a:pt x="1657331" y="0"/>
                  </a:lnTo>
                </a:path>
              </a:pathLst>
            </a:custGeom>
            <a:ln w="9524">
              <a:solidFill>
                <a:srgbClr val="000000"/>
              </a:solidFill>
            </a:ln>
          </p:spPr>
          <p:txBody>
            <a:bodyPr wrap="square" lIns="0" tIns="0" rIns="0" bIns="0" rtlCol="0"/>
            <a:lstStyle/>
            <a:p>
              <a:endParaRPr/>
            </a:p>
          </p:txBody>
        </p:sp>
        <p:sp>
          <p:nvSpPr>
            <p:cNvPr id="61" name="object 60"/>
            <p:cNvSpPr/>
            <p:nvPr/>
          </p:nvSpPr>
          <p:spPr>
            <a:xfrm>
              <a:off x="4330421" y="5394346"/>
              <a:ext cx="0" cy="333375"/>
            </a:xfrm>
            <a:custGeom>
              <a:avLst/>
              <a:gdLst/>
              <a:ahLst/>
              <a:cxnLst/>
              <a:rect l="l" t="t" r="r" b="b"/>
              <a:pathLst>
                <a:path h="333375">
                  <a:moveTo>
                    <a:pt x="0" y="0"/>
                  </a:moveTo>
                  <a:lnTo>
                    <a:pt x="0" y="332776"/>
                  </a:lnTo>
                </a:path>
              </a:pathLst>
            </a:custGeom>
            <a:ln w="9524">
              <a:solidFill>
                <a:srgbClr val="000000"/>
              </a:solidFill>
            </a:ln>
          </p:spPr>
          <p:txBody>
            <a:bodyPr wrap="square" lIns="0" tIns="0" rIns="0" bIns="0" rtlCol="0"/>
            <a:lstStyle/>
            <a:p>
              <a:endParaRPr/>
            </a:p>
          </p:txBody>
        </p:sp>
        <p:sp>
          <p:nvSpPr>
            <p:cNvPr id="62" name="object 61"/>
            <p:cNvSpPr/>
            <p:nvPr/>
          </p:nvSpPr>
          <p:spPr>
            <a:xfrm>
              <a:off x="4271467" y="5636418"/>
              <a:ext cx="117908" cy="115908"/>
            </a:xfrm>
            <a:prstGeom prst="rect">
              <a:avLst/>
            </a:prstGeom>
            <a:blipFill>
              <a:blip r:embed="rId11" cstate="print"/>
              <a:stretch>
                <a:fillRect/>
              </a:stretch>
            </a:blipFill>
          </p:spPr>
          <p:txBody>
            <a:bodyPr wrap="square" lIns="0" tIns="0" rIns="0" bIns="0" rtlCol="0"/>
            <a:lstStyle/>
            <a:p>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970778" y="1541881"/>
            <a:ext cx="9934767" cy="4841097"/>
            <a:chOff x="1103964" y="1270861"/>
            <a:chExt cx="9934767" cy="4841097"/>
          </a:xfrm>
        </p:grpSpPr>
        <p:sp>
          <p:nvSpPr>
            <p:cNvPr id="3" name="object 3"/>
            <p:cNvSpPr/>
            <p:nvPr/>
          </p:nvSpPr>
          <p:spPr>
            <a:xfrm>
              <a:off x="1103964" y="2045787"/>
              <a:ext cx="1473200" cy="648335"/>
            </a:xfrm>
            <a:custGeom>
              <a:avLst/>
              <a:gdLst/>
              <a:ahLst/>
              <a:cxnLst/>
              <a:rect l="l" t="t" r="r" b="b"/>
              <a:pathLst>
                <a:path w="1473200" h="648335">
                  <a:moveTo>
                    <a:pt x="0" y="0"/>
                  </a:moveTo>
                  <a:lnTo>
                    <a:pt x="1472668" y="0"/>
                  </a:lnTo>
                  <a:lnTo>
                    <a:pt x="1472668" y="647999"/>
                  </a:lnTo>
                  <a:lnTo>
                    <a:pt x="0" y="647999"/>
                  </a:lnTo>
                  <a:lnTo>
                    <a:pt x="0" y="0"/>
                  </a:lnTo>
                  <a:close/>
                </a:path>
              </a:pathLst>
            </a:custGeom>
            <a:ln w="9524">
              <a:solidFill>
                <a:srgbClr val="000000"/>
              </a:solidFill>
            </a:ln>
          </p:spPr>
          <p:txBody>
            <a:bodyPr wrap="square" lIns="0" tIns="0" rIns="0" bIns="0" rtlCol="0"/>
            <a:lstStyle/>
            <a:p>
              <a:endParaRPr/>
            </a:p>
          </p:txBody>
        </p:sp>
        <p:sp>
          <p:nvSpPr>
            <p:cNvPr id="4" name="object 4"/>
            <p:cNvSpPr txBox="1"/>
            <p:nvPr/>
          </p:nvSpPr>
          <p:spPr>
            <a:xfrm>
              <a:off x="1373204" y="2219928"/>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程序单元</a:t>
              </a:r>
              <a:endParaRPr sz="1800">
                <a:latin typeface="微软雅黑" panose="020B0503020204020204" pitchFamily="34" charset="-122"/>
                <a:cs typeface="微软雅黑" panose="020B0503020204020204" pitchFamily="34" charset="-122"/>
              </a:endParaRPr>
            </a:p>
          </p:txBody>
        </p:sp>
        <p:sp>
          <p:nvSpPr>
            <p:cNvPr id="5" name="object 5"/>
            <p:cNvSpPr/>
            <p:nvPr/>
          </p:nvSpPr>
          <p:spPr>
            <a:xfrm>
              <a:off x="1103964" y="1270861"/>
              <a:ext cx="1473200" cy="648335"/>
            </a:xfrm>
            <a:custGeom>
              <a:avLst/>
              <a:gdLst/>
              <a:ahLst/>
              <a:cxnLst/>
              <a:rect l="l" t="t" r="r" b="b"/>
              <a:pathLst>
                <a:path w="1473200" h="648335">
                  <a:moveTo>
                    <a:pt x="0" y="0"/>
                  </a:moveTo>
                  <a:lnTo>
                    <a:pt x="1472668" y="0"/>
                  </a:lnTo>
                  <a:lnTo>
                    <a:pt x="1472668" y="647999"/>
                  </a:lnTo>
                  <a:lnTo>
                    <a:pt x="0" y="647999"/>
                  </a:lnTo>
                  <a:lnTo>
                    <a:pt x="0"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1373204" y="1307841"/>
              <a:ext cx="939800" cy="566420"/>
            </a:xfrm>
            <a:prstGeom prst="rect">
              <a:avLst/>
            </a:prstGeom>
          </p:spPr>
          <p:txBody>
            <a:bodyPr vert="horz" wrap="square" lIns="0" tIns="27939" rIns="0" bIns="0" rtlCol="0">
              <a:spAutoFit/>
            </a:bodyPr>
            <a:lstStyle/>
            <a:p>
              <a:pPr marL="241300" marR="5080" indent="-228600">
                <a:lnSpc>
                  <a:spcPts val="2100"/>
                </a:lnSpc>
                <a:spcBef>
                  <a:spcPts val="220"/>
                </a:spcBef>
              </a:pPr>
              <a:r>
                <a:rPr sz="1800" dirty="0">
                  <a:latin typeface="微软雅黑" panose="020B0503020204020204" pitchFamily="34" charset="-122"/>
                  <a:cs typeface="微软雅黑" panose="020B0503020204020204" pitchFamily="34" charset="-122"/>
                </a:rPr>
                <a:t>路径选择 标准</a:t>
              </a:r>
              <a:endParaRPr sz="1800">
                <a:latin typeface="微软雅黑" panose="020B0503020204020204" pitchFamily="34" charset="-122"/>
                <a:cs typeface="微软雅黑" panose="020B0503020204020204" pitchFamily="34" charset="-122"/>
              </a:endParaRPr>
            </a:p>
          </p:txBody>
        </p:sp>
        <p:sp>
          <p:nvSpPr>
            <p:cNvPr id="7" name="object 7"/>
            <p:cNvSpPr/>
            <p:nvPr/>
          </p:nvSpPr>
          <p:spPr>
            <a:xfrm>
              <a:off x="3101496" y="1793048"/>
              <a:ext cx="1457325" cy="1152525"/>
            </a:xfrm>
            <a:custGeom>
              <a:avLst/>
              <a:gdLst/>
              <a:ahLst/>
              <a:cxnLst/>
              <a:rect l="l" t="t" r="r" b="b"/>
              <a:pathLst>
                <a:path w="1457325" h="1152525">
                  <a:moveTo>
                    <a:pt x="0" y="575999"/>
                  </a:moveTo>
                  <a:lnTo>
                    <a:pt x="1998" y="533012"/>
                  </a:lnTo>
                  <a:lnTo>
                    <a:pt x="7899" y="490882"/>
                  </a:lnTo>
                  <a:lnTo>
                    <a:pt x="17562" y="449722"/>
                  </a:lnTo>
                  <a:lnTo>
                    <a:pt x="30847" y="409643"/>
                  </a:lnTo>
                  <a:lnTo>
                    <a:pt x="47611" y="370756"/>
                  </a:lnTo>
                  <a:lnTo>
                    <a:pt x="67715" y="333172"/>
                  </a:lnTo>
                  <a:lnTo>
                    <a:pt x="91018" y="297004"/>
                  </a:lnTo>
                  <a:lnTo>
                    <a:pt x="117378" y="262361"/>
                  </a:lnTo>
                  <a:lnTo>
                    <a:pt x="146655" y="229357"/>
                  </a:lnTo>
                  <a:lnTo>
                    <a:pt x="178707" y="198101"/>
                  </a:lnTo>
                  <a:lnTo>
                    <a:pt x="213395" y="168706"/>
                  </a:lnTo>
                  <a:lnTo>
                    <a:pt x="250576" y="141283"/>
                  </a:lnTo>
                  <a:lnTo>
                    <a:pt x="290111" y="115942"/>
                  </a:lnTo>
                  <a:lnTo>
                    <a:pt x="331859" y="92797"/>
                  </a:lnTo>
                  <a:lnTo>
                    <a:pt x="375677" y="71957"/>
                  </a:lnTo>
                  <a:lnTo>
                    <a:pt x="421427" y="53534"/>
                  </a:lnTo>
                  <a:lnTo>
                    <a:pt x="468966" y="37641"/>
                  </a:lnTo>
                  <a:lnTo>
                    <a:pt x="518154" y="24387"/>
                  </a:lnTo>
                  <a:lnTo>
                    <a:pt x="568850" y="13884"/>
                  </a:lnTo>
                  <a:lnTo>
                    <a:pt x="620913" y="6245"/>
                  </a:lnTo>
                  <a:lnTo>
                    <a:pt x="674202" y="1579"/>
                  </a:lnTo>
                  <a:lnTo>
                    <a:pt x="728576" y="0"/>
                  </a:lnTo>
                  <a:lnTo>
                    <a:pt x="782951" y="1579"/>
                  </a:lnTo>
                  <a:lnTo>
                    <a:pt x="836240" y="6245"/>
                  </a:lnTo>
                  <a:lnTo>
                    <a:pt x="888303" y="13884"/>
                  </a:lnTo>
                  <a:lnTo>
                    <a:pt x="938999" y="24387"/>
                  </a:lnTo>
                  <a:lnTo>
                    <a:pt x="988187" y="37641"/>
                  </a:lnTo>
                  <a:lnTo>
                    <a:pt x="1035726" y="53534"/>
                  </a:lnTo>
                  <a:lnTo>
                    <a:pt x="1081475" y="71957"/>
                  </a:lnTo>
                  <a:lnTo>
                    <a:pt x="1125294" y="92797"/>
                  </a:lnTo>
                  <a:lnTo>
                    <a:pt x="1167041" y="115942"/>
                  </a:lnTo>
                  <a:lnTo>
                    <a:pt x="1206576" y="141283"/>
                  </a:lnTo>
                  <a:lnTo>
                    <a:pt x="1243758" y="168706"/>
                  </a:lnTo>
                  <a:lnTo>
                    <a:pt x="1278446" y="198101"/>
                  </a:lnTo>
                  <a:lnTo>
                    <a:pt x="1310498" y="229357"/>
                  </a:lnTo>
                  <a:lnTo>
                    <a:pt x="1339775" y="262361"/>
                  </a:lnTo>
                  <a:lnTo>
                    <a:pt x="1366135" y="297004"/>
                  </a:lnTo>
                  <a:lnTo>
                    <a:pt x="1389437" y="333172"/>
                  </a:lnTo>
                  <a:lnTo>
                    <a:pt x="1409541" y="370756"/>
                  </a:lnTo>
                  <a:lnTo>
                    <a:pt x="1426306" y="409643"/>
                  </a:lnTo>
                  <a:lnTo>
                    <a:pt x="1439590" y="449722"/>
                  </a:lnTo>
                  <a:lnTo>
                    <a:pt x="1449253" y="490882"/>
                  </a:lnTo>
                  <a:lnTo>
                    <a:pt x="1455155" y="533012"/>
                  </a:lnTo>
                  <a:lnTo>
                    <a:pt x="1457153" y="575999"/>
                  </a:lnTo>
                  <a:lnTo>
                    <a:pt x="1455155" y="618987"/>
                  </a:lnTo>
                  <a:lnTo>
                    <a:pt x="1449253" y="661116"/>
                  </a:lnTo>
                  <a:lnTo>
                    <a:pt x="1439590" y="702276"/>
                  </a:lnTo>
                  <a:lnTo>
                    <a:pt x="1426306" y="742356"/>
                  </a:lnTo>
                  <a:lnTo>
                    <a:pt x="1409541" y="781243"/>
                  </a:lnTo>
                  <a:lnTo>
                    <a:pt x="1389437" y="818826"/>
                  </a:lnTo>
                  <a:lnTo>
                    <a:pt x="1366135" y="854995"/>
                  </a:lnTo>
                  <a:lnTo>
                    <a:pt x="1339775" y="889637"/>
                  </a:lnTo>
                  <a:lnTo>
                    <a:pt x="1310498" y="922642"/>
                  </a:lnTo>
                  <a:lnTo>
                    <a:pt x="1278446" y="953898"/>
                  </a:lnTo>
                  <a:lnTo>
                    <a:pt x="1243758" y="983293"/>
                  </a:lnTo>
                  <a:lnTo>
                    <a:pt x="1206576" y="1010716"/>
                  </a:lnTo>
                  <a:lnTo>
                    <a:pt x="1167041" y="1036056"/>
                  </a:lnTo>
                  <a:lnTo>
                    <a:pt x="1125294" y="1059202"/>
                  </a:lnTo>
                  <a:lnTo>
                    <a:pt x="1081475" y="1080042"/>
                  </a:lnTo>
                  <a:lnTo>
                    <a:pt x="1035726" y="1098464"/>
                  </a:lnTo>
                  <a:lnTo>
                    <a:pt x="988187" y="1114358"/>
                  </a:lnTo>
                  <a:lnTo>
                    <a:pt x="938999" y="1127612"/>
                  </a:lnTo>
                  <a:lnTo>
                    <a:pt x="888303" y="1138114"/>
                  </a:lnTo>
                  <a:lnTo>
                    <a:pt x="836240" y="1145754"/>
                  </a:lnTo>
                  <a:lnTo>
                    <a:pt x="782951" y="1150419"/>
                  </a:lnTo>
                  <a:lnTo>
                    <a:pt x="728576" y="1151999"/>
                  </a:lnTo>
                  <a:lnTo>
                    <a:pt x="674202" y="1150419"/>
                  </a:lnTo>
                  <a:lnTo>
                    <a:pt x="620913" y="1145754"/>
                  </a:lnTo>
                  <a:lnTo>
                    <a:pt x="568850" y="1138114"/>
                  </a:lnTo>
                  <a:lnTo>
                    <a:pt x="518154" y="1127612"/>
                  </a:lnTo>
                  <a:lnTo>
                    <a:pt x="468966" y="1114358"/>
                  </a:lnTo>
                  <a:lnTo>
                    <a:pt x="421427" y="1098464"/>
                  </a:lnTo>
                  <a:lnTo>
                    <a:pt x="375677" y="1080042"/>
                  </a:lnTo>
                  <a:lnTo>
                    <a:pt x="331859" y="1059202"/>
                  </a:lnTo>
                  <a:lnTo>
                    <a:pt x="290111" y="1036056"/>
                  </a:lnTo>
                  <a:lnTo>
                    <a:pt x="250576" y="1010716"/>
                  </a:lnTo>
                  <a:lnTo>
                    <a:pt x="213395" y="983293"/>
                  </a:lnTo>
                  <a:lnTo>
                    <a:pt x="178707" y="953898"/>
                  </a:lnTo>
                  <a:lnTo>
                    <a:pt x="146655" y="922642"/>
                  </a:lnTo>
                  <a:lnTo>
                    <a:pt x="117378" y="889637"/>
                  </a:lnTo>
                  <a:lnTo>
                    <a:pt x="91018" y="854995"/>
                  </a:lnTo>
                  <a:lnTo>
                    <a:pt x="67715" y="818826"/>
                  </a:lnTo>
                  <a:lnTo>
                    <a:pt x="47611" y="781243"/>
                  </a:lnTo>
                  <a:lnTo>
                    <a:pt x="30847" y="742356"/>
                  </a:lnTo>
                  <a:lnTo>
                    <a:pt x="17562" y="702276"/>
                  </a:lnTo>
                  <a:lnTo>
                    <a:pt x="7899" y="661116"/>
                  </a:lnTo>
                  <a:lnTo>
                    <a:pt x="1998" y="618987"/>
                  </a:lnTo>
                  <a:lnTo>
                    <a:pt x="0" y="575999"/>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3363309" y="2219187"/>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画流程图</a:t>
              </a:r>
              <a:endParaRPr sz="1800">
                <a:latin typeface="微软雅黑" panose="020B0503020204020204" pitchFamily="34" charset="-122"/>
                <a:cs typeface="微软雅黑" panose="020B0503020204020204" pitchFamily="34" charset="-122"/>
              </a:endParaRPr>
            </a:p>
          </p:txBody>
        </p:sp>
        <p:sp>
          <p:nvSpPr>
            <p:cNvPr id="9" name="object 9"/>
            <p:cNvSpPr/>
            <p:nvPr/>
          </p:nvSpPr>
          <p:spPr>
            <a:xfrm>
              <a:off x="7053671" y="1793048"/>
              <a:ext cx="1457325" cy="1152525"/>
            </a:xfrm>
            <a:custGeom>
              <a:avLst/>
              <a:gdLst/>
              <a:ahLst/>
              <a:cxnLst/>
              <a:rect l="l" t="t" r="r" b="b"/>
              <a:pathLst>
                <a:path w="1457325" h="1152525">
                  <a:moveTo>
                    <a:pt x="0" y="575999"/>
                  </a:moveTo>
                  <a:lnTo>
                    <a:pt x="1998" y="533012"/>
                  </a:lnTo>
                  <a:lnTo>
                    <a:pt x="7899" y="490882"/>
                  </a:lnTo>
                  <a:lnTo>
                    <a:pt x="17562" y="449722"/>
                  </a:lnTo>
                  <a:lnTo>
                    <a:pt x="30847" y="409643"/>
                  </a:lnTo>
                  <a:lnTo>
                    <a:pt x="47611" y="370756"/>
                  </a:lnTo>
                  <a:lnTo>
                    <a:pt x="67715" y="333172"/>
                  </a:lnTo>
                  <a:lnTo>
                    <a:pt x="91018" y="297004"/>
                  </a:lnTo>
                  <a:lnTo>
                    <a:pt x="117378" y="262361"/>
                  </a:lnTo>
                  <a:lnTo>
                    <a:pt x="146654" y="229357"/>
                  </a:lnTo>
                  <a:lnTo>
                    <a:pt x="178707" y="198101"/>
                  </a:lnTo>
                  <a:lnTo>
                    <a:pt x="213395" y="168706"/>
                  </a:lnTo>
                  <a:lnTo>
                    <a:pt x="250576" y="141283"/>
                  </a:lnTo>
                  <a:lnTo>
                    <a:pt x="290111" y="115942"/>
                  </a:lnTo>
                  <a:lnTo>
                    <a:pt x="331859" y="92797"/>
                  </a:lnTo>
                  <a:lnTo>
                    <a:pt x="375677" y="71957"/>
                  </a:lnTo>
                  <a:lnTo>
                    <a:pt x="421427" y="53534"/>
                  </a:lnTo>
                  <a:lnTo>
                    <a:pt x="468966" y="37641"/>
                  </a:lnTo>
                  <a:lnTo>
                    <a:pt x="518154" y="24387"/>
                  </a:lnTo>
                  <a:lnTo>
                    <a:pt x="568850" y="13884"/>
                  </a:lnTo>
                  <a:lnTo>
                    <a:pt x="620913" y="6245"/>
                  </a:lnTo>
                  <a:lnTo>
                    <a:pt x="674202" y="1579"/>
                  </a:lnTo>
                  <a:lnTo>
                    <a:pt x="728577" y="0"/>
                  </a:lnTo>
                  <a:lnTo>
                    <a:pt x="782951" y="1579"/>
                  </a:lnTo>
                  <a:lnTo>
                    <a:pt x="836240" y="6245"/>
                  </a:lnTo>
                  <a:lnTo>
                    <a:pt x="888303" y="13884"/>
                  </a:lnTo>
                  <a:lnTo>
                    <a:pt x="938999" y="24387"/>
                  </a:lnTo>
                  <a:lnTo>
                    <a:pt x="988187" y="37641"/>
                  </a:lnTo>
                  <a:lnTo>
                    <a:pt x="1035726" y="53534"/>
                  </a:lnTo>
                  <a:lnTo>
                    <a:pt x="1081475" y="71957"/>
                  </a:lnTo>
                  <a:lnTo>
                    <a:pt x="1125294" y="92797"/>
                  </a:lnTo>
                  <a:lnTo>
                    <a:pt x="1167041" y="115942"/>
                  </a:lnTo>
                  <a:lnTo>
                    <a:pt x="1206576" y="141283"/>
                  </a:lnTo>
                  <a:lnTo>
                    <a:pt x="1243758" y="168706"/>
                  </a:lnTo>
                  <a:lnTo>
                    <a:pt x="1278445" y="198101"/>
                  </a:lnTo>
                  <a:lnTo>
                    <a:pt x="1310498" y="229357"/>
                  </a:lnTo>
                  <a:lnTo>
                    <a:pt x="1339775" y="262361"/>
                  </a:lnTo>
                  <a:lnTo>
                    <a:pt x="1366135" y="297004"/>
                  </a:lnTo>
                  <a:lnTo>
                    <a:pt x="1389437" y="333172"/>
                  </a:lnTo>
                  <a:lnTo>
                    <a:pt x="1409541" y="370756"/>
                  </a:lnTo>
                  <a:lnTo>
                    <a:pt x="1426306" y="409643"/>
                  </a:lnTo>
                  <a:lnTo>
                    <a:pt x="1439590" y="449722"/>
                  </a:lnTo>
                  <a:lnTo>
                    <a:pt x="1449253" y="490882"/>
                  </a:lnTo>
                  <a:lnTo>
                    <a:pt x="1455155" y="533012"/>
                  </a:lnTo>
                  <a:lnTo>
                    <a:pt x="1457153" y="575999"/>
                  </a:lnTo>
                  <a:lnTo>
                    <a:pt x="1455155" y="618987"/>
                  </a:lnTo>
                  <a:lnTo>
                    <a:pt x="1449253" y="661116"/>
                  </a:lnTo>
                  <a:lnTo>
                    <a:pt x="1439590" y="702276"/>
                  </a:lnTo>
                  <a:lnTo>
                    <a:pt x="1426306" y="742356"/>
                  </a:lnTo>
                  <a:lnTo>
                    <a:pt x="1409541" y="781243"/>
                  </a:lnTo>
                  <a:lnTo>
                    <a:pt x="1389437" y="818826"/>
                  </a:lnTo>
                  <a:lnTo>
                    <a:pt x="1366135" y="854995"/>
                  </a:lnTo>
                  <a:lnTo>
                    <a:pt x="1339775" y="889637"/>
                  </a:lnTo>
                  <a:lnTo>
                    <a:pt x="1310498" y="922642"/>
                  </a:lnTo>
                  <a:lnTo>
                    <a:pt x="1278445" y="953898"/>
                  </a:lnTo>
                  <a:lnTo>
                    <a:pt x="1243758" y="983293"/>
                  </a:lnTo>
                  <a:lnTo>
                    <a:pt x="1206576" y="1010716"/>
                  </a:lnTo>
                  <a:lnTo>
                    <a:pt x="1167041" y="1036056"/>
                  </a:lnTo>
                  <a:lnTo>
                    <a:pt x="1125294" y="1059202"/>
                  </a:lnTo>
                  <a:lnTo>
                    <a:pt x="1081475" y="1080042"/>
                  </a:lnTo>
                  <a:lnTo>
                    <a:pt x="1035726" y="1098464"/>
                  </a:lnTo>
                  <a:lnTo>
                    <a:pt x="988187" y="1114358"/>
                  </a:lnTo>
                  <a:lnTo>
                    <a:pt x="938999" y="1127612"/>
                  </a:lnTo>
                  <a:lnTo>
                    <a:pt x="888303" y="1138114"/>
                  </a:lnTo>
                  <a:lnTo>
                    <a:pt x="836240" y="1145754"/>
                  </a:lnTo>
                  <a:lnTo>
                    <a:pt x="782951" y="1150419"/>
                  </a:lnTo>
                  <a:lnTo>
                    <a:pt x="728577" y="1151999"/>
                  </a:lnTo>
                  <a:lnTo>
                    <a:pt x="674202" y="1150419"/>
                  </a:lnTo>
                  <a:lnTo>
                    <a:pt x="620913" y="1145754"/>
                  </a:lnTo>
                  <a:lnTo>
                    <a:pt x="568850" y="1138114"/>
                  </a:lnTo>
                  <a:lnTo>
                    <a:pt x="518154" y="1127612"/>
                  </a:lnTo>
                  <a:lnTo>
                    <a:pt x="468966" y="1114358"/>
                  </a:lnTo>
                  <a:lnTo>
                    <a:pt x="421427" y="1098464"/>
                  </a:lnTo>
                  <a:lnTo>
                    <a:pt x="375677" y="1080042"/>
                  </a:lnTo>
                  <a:lnTo>
                    <a:pt x="331859" y="1059202"/>
                  </a:lnTo>
                  <a:lnTo>
                    <a:pt x="290111" y="1036056"/>
                  </a:lnTo>
                  <a:lnTo>
                    <a:pt x="250576" y="1010716"/>
                  </a:lnTo>
                  <a:lnTo>
                    <a:pt x="213395" y="983293"/>
                  </a:lnTo>
                  <a:lnTo>
                    <a:pt x="178707" y="953898"/>
                  </a:lnTo>
                  <a:lnTo>
                    <a:pt x="146654" y="922642"/>
                  </a:lnTo>
                  <a:lnTo>
                    <a:pt x="117378" y="889637"/>
                  </a:lnTo>
                  <a:lnTo>
                    <a:pt x="91018" y="854995"/>
                  </a:lnTo>
                  <a:lnTo>
                    <a:pt x="67715" y="818826"/>
                  </a:lnTo>
                  <a:lnTo>
                    <a:pt x="47611" y="781243"/>
                  </a:lnTo>
                  <a:lnTo>
                    <a:pt x="30847" y="742356"/>
                  </a:lnTo>
                  <a:lnTo>
                    <a:pt x="17562" y="702276"/>
                  </a:lnTo>
                  <a:lnTo>
                    <a:pt x="7899" y="661116"/>
                  </a:lnTo>
                  <a:lnTo>
                    <a:pt x="1998" y="618987"/>
                  </a:lnTo>
                  <a:lnTo>
                    <a:pt x="0" y="575999"/>
                  </a:lnTo>
                  <a:close/>
                </a:path>
              </a:pathLst>
            </a:custGeom>
            <a:ln w="9524">
              <a:solidFill>
                <a:srgbClr val="000000"/>
              </a:solidFill>
            </a:ln>
          </p:spPr>
          <p:txBody>
            <a:bodyPr wrap="square" lIns="0" tIns="0" rIns="0" bIns="0" rtlCol="0"/>
            <a:lstStyle/>
            <a:p>
              <a:endParaRPr/>
            </a:p>
          </p:txBody>
        </p:sp>
        <p:sp>
          <p:nvSpPr>
            <p:cNvPr id="10" name="object 10"/>
            <p:cNvSpPr txBox="1"/>
            <p:nvPr/>
          </p:nvSpPr>
          <p:spPr>
            <a:xfrm>
              <a:off x="7315484" y="2219187"/>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选择路径</a:t>
              </a:r>
              <a:endParaRPr sz="1800">
                <a:latin typeface="微软雅黑" panose="020B0503020204020204" pitchFamily="34" charset="-122"/>
                <a:cs typeface="微软雅黑" panose="020B0503020204020204" pitchFamily="34" charset="-122"/>
              </a:endParaRPr>
            </a:p>
          </p:txBody>
        </p:sp>
        <p:sp>
          <p:nvSpPr>
            <p:cNvPr id="11" name="object 11"/>
            <p:cNvSpPr txBox="1"/>
            <p:nvPr/>
          </p:nvSpPr>
          <p:spPr>
            <a:xfrm>
              <a:off x="5054608" y="2045787"/>
              <a:ext cx="1473200" cy="648335"/>
            </a:xfrm>
            <a:prstGeom prst="rect">
              <a:avLst/>
            </a:prstGeom>
            <a:ln w="9524">
              <a:solidFill>
                <a:srgbClr val="000000"/>
              </a:solidFill>
            </a:ln>
          </p:spPr>
          <p:txBody>
            <a:bodyPr vert="horz" wrap="square" lIns="0" tIns="186690" rIns="0" bIns="0" rtlCol="0">
              <a:spAutoFit/>
            </a:bodyPr>
            <a:lstStyle/>
            <a:p>
              <a:pPr marL="281305">
                <a:lnSpc>
                  <a:spcPct val="100000"/>
                </a:lnSpc>
                <a:spcBef>
                  <a:spcPts val="1470"/>
                </a:spcBef>
              </a:pPr>
              <a:r>
                <a:rPr sz="1800" dirty="0">
                  <a:latin typeface="微软雅黑" panose="020B0503020204020204" pitchFamily="34" charset="-122"/>
                  <a:cs typeface="微软雅黑" panose="020B0503020204020204" pitchFamily="34" charset="-122"/>
                </a:rPr>
                <a:t>控制流图</a:t>
              </a:r>
            </a:p>
          </p:txBody>
        </p:sp>
        <p:sp>
          <p:nvSpPr>
            <p:cNvPr id="12" name="object 12"/>
            <p:cNvSpPr txBox="1"/>
            <p:nvPr/>
          </p:nvSpPr>
          <p:spPr>
            <a:xfrm>
              <a:off x="9017304" y="2045787"/>
              <a:ext cx="1473200" cy="648335"/>
            </a:xfrm>
            <a:prstGeom prst="rect">
              <a:avLst/>
            </a:prstGeom>
            <a:ln w="9524">
              <a:solidFill>
                <a:srgbClr val="000000"/>
              </a:solidFill>
            </a:ln>
          </p:spPr>
          <p:txBody>
            <a:bodyPr vert="horz" wrap="square" lIns="0" tIns="64769" rIns="0" bIns="0" rtlCol="0">
              <a:spAutoFit/>
            </a:bodyPr>
            <a:lstStyle/>
            <a:p>
              <a:pPr marL="509905" marR="268605" indent="-228600">
                <a:lnSpc>
                  <a:spcPts val="2100"/>
                </a:lnSpc>
                <a:spcBef>
                  <a:spcPts val="510"/>
                </a:spcBef>
              </a:pPr>
              <a:r>
                <a:rPr sz="1800" dirty="0">
                  <a:latin typeface="微软雅黑" panose="020B0503020204020204" pitchFamily="34" charset="-122"/>
                  <a:cs typeface="微软雅黑" panose="020B0503020204020204" pitchFamily="34" charset="-122"/>
                </a:rPr>
                <a:t>所选择的 路径</a:t>
              </a:r>
              <a:endParaRPr sz="1800">
                <a:latin typeface="微软雅黑" panose="020B0503020204020204" pitchFamily="34" charset="-122"/>
                <a:cs typeface="微软雅黑" panose="020B0503020204020204" pitchFamily="34" charset="-122"/>
              </a:endParaRPr>
            </a:p>
          </p:txBody>
        </p:sp>
        <p:sp>
          <p:nvSpPr>
            <p:cNvPr id="13" name="object 13"/>
            <p:cNvSpPr/>
            <p:nvPr/>
          </p:nvSpPr>
          <p:spPr>
            <a:xfrm>
              <a:off x="9026796" y="2854243"/>
              <a:ext cx="1457325" cy="1152525"/>
            </a:xfrm>
            <a:custGeom>
              <a:avLst/>
              <a:gdLst/>
              <a:ahLst/>
              <a:cxnLst/>
              <a:rect l="l" t="t" r="r" b="b"/>
              <a:pathLst>
                <a:path w="1457325" h="1152525">
                  <a:moveTo>
                    <a:pt x="0" y="575999"/>
                  </a:moveTo>
                  <a:lnTo>
                    <a:pt x="1998" y="533012"/>
                  </a:lnTo>
                  <a:lnTo>
                    <a:pt x="7899" y="490882"/>
                  </a:lnTo>
                  <a:lnTo>
                    <a:pt x="17562" y="449722"/>
                  </a:lnTo>
                  <a:lnTo>
                    <a:pt x="30847" y="409643"/>
                  </a:lnTo>
                  <a:lnTo>
                    <a:pt x="47611" y="370756"/>
                  </a:lnTo>
                  <a:lnTo>
                    <a:pt x="67715" y="333172"/>
                  </a:lnTo>
                  <a:lnTo>
                    <a:pt x="91018" y="297004"/>
                  </a:lnTo>
                  <a:lnTo>
                    <a:pt x="117378" y="262361"/>
                  </a:lnTo>
                  <a:lnTo>
                    <a:pt x="146654" y="229357"/>
                  </a:lnTo>
                  <a:lnTo>
                    <a:pt x="178707" y="198101"/>
                  </a:lnTo>
                  <a:lnTo>
                    <a:pt x="213395" y="168706"/>
                  </a:lnTo>
                  <a:lnTo>
                    <a:pt x="250576" y="141283"/>
                  </a:lnTo>
                  <a:lnTo>
                    <a:pt x="290111" y="115942"/>
                  </a:lnTo>
                  <a:lnTo>
                    <a:pt x="331859" y="92797"/>
                  </a:lnTo>
                  <a:lnTo>
                    <a:pt x="375677" y="71957"/>
                  </a:lnTo>
                  <a:lnTo>
                    <a:pt x="421427" y="53534"/>
                  </a:lnTo>
                  <a:lnTo>
                    <a:pt x="468966" y="37641"/>
                  </a:lnTo>
                  <a:lnTo>
                    <a:pt x="518154" y="24387"/>
                  </a:lnTo>
                  <a:lnTo>
                    <a:pt x="568850" y="13884"/>
                  </a:lnTo>
                  <a:lnTo>
                    <a:pt x="620913" y="6245"/>
                  </a:lnTo>
                  <a:lnTo>
                    <a:pt x="674202" y="1579"/>
                  </a:lnTo>
                  <a:lnTo>
                    <a:pt x="728577" y="0"/>
                  </a:lnTo>
                  <a:lnTo>
                    <a:pt x="782951" y="1579"/>
                  </a:lnTo>
                  <a:lnTo>
                    <a:pt x="836240" y="6245"/>
                  </a:lnTo>
                  <a:lnTo>
                    <a:pt x="888303" y="13884"/>
                  </a:lnTo>
                  <a:lnTo>
                    <a:pt x="938999" y="24387"/>
                  </a:lnTo>
                  <a:lnTo>
                    <a:pt x="988187" y="37641"/>
                  </a:lnTo>
                  <a:lnTo>
                    <a:pt x="1035726" y="53534"/>
                  </a:lnTo>
                  <a:lnTo>
                    <a:pt x="1081476" y="71957"/>
                  </a:lnTo>
                  <a:lnTo>
                    <a:pt x="1125294" y="92797"/>
                  </a:lnTo>
                  <a:lnTo>
                    <a:pt x="1167042" y="115942"/>
                  </a:lnTo>
                  <a:lnTo>
                    <a:pt x="1206577" y="141283"/>
                  </a:lnTo>
                  <a:lnTo>
                    <a:pt x="1243758" y="168706"/>
                  </a:lnTo>
                  <a:lnTo>
                    <a:pt x="1278446" y="198101"/>
                  </a:lnTo>
                  <a:lnTo>
                    <a:pt x="1310498" y="229357"/>
                  </a:lnTo>
                  <a:lnTo>
                    <a:pt x="1339775" y="262361"/>
                  </a:lnTo>
                  <a:lnTo>
                    <a:pt x="1366135" y="297004"/>
                  </a:lnTo>
                  <a:lnTo>
                    <a:pt x="1389438" y="333172"/>
                  </a:lnTo>
                  <a:lnTo>
                    <a:pt x="1409542" y="370756"/>
                  </a:lnTo>
                  <a:lnTo>
                    <a:pt x="1426306" y="409643"/>
                  </a:lnTo>
                  <a:lnTo>
                    <a:pt x="1439591" y="449722"/>
                  </a:lnTo>
                  <a:lnTo>
                    <a:pt x="1449254" y="490882"/>
                  </a:lnTo>
                  <a:lnTo>
                    <a:pt x="1455155" y="533012"/>
                  </a:lnTo>
                  <a:lnTo>
                    <a:pt x="1457153" y="575999"/>
                  </a:lnTo>
                  <a:lnTo>
                    <a:pt x="1455155" y="618987"/>
                  </a:lnTo>
                  <a:lnTo>
                    <a:pt x="1449254" y="661116"/>
                  </a:lnTo>
                  <a:lnTo>
                    <a:pt x="1439591" y="702276"/>
                  </a:lnTo>
                  <a:lnTo>
                    <a:pt x="1426306" y="742356"/>
                  </a:lnTo>
                  <a:lnTo>
                    <a:pt x="1409542" y="781243"/>
                  </a:lnTo>
                  <a:lnTo>
                    <a:pt x="1389438" y="818826"/>
                  </a:lnTo>
                  <a:lnTo>
                    <a:pt x="1366135" y="854995"/>
                  </a:lnTo>
                  <a:lnTo>
                    <a:pt x="1339775" y="889637"/>
                  </a:lnTo>
                  <a:lnTo>
                    <a:pt x="1310498" y="922642"/>
                  </a:lnTo>
                  <a:lnTo>
                    <a:pt x="1278446" y="953897"/>
                  </a:lnTo>
                  <a:lnTo>
                    <a:pt x="1243758" y="983293"/>
                  </a:lnTo>
                  <a:lnTo>
                    <a:pt x="1206577" y="1010716"/>
                  </a:lnTo>
                  <a:lnTo>
                    <a:pt x="1167042" y="1036056"/>
                  </a:lnTo>
                  <a:lnTo>
                    <a:pt x="1125294" y="1059202"/>
                  </a:lnTo>
                  <a:lnTo>
                    <a:pt x="1081476" y="1080042"/>
                  </a:lnTo>
                  <a:lnTo>
                    <a:pt x="1035726" y="1098464"/>
                  </a:lnTo>
                  <a:lnTo>
                    <a:pt x="988187" y="1114358"/>
                  </a:lnTo>
                  <a:lnTo>
                    <a:pt x="938999" y="1127612"/>
                  </a:lnTo>
                  <a:lnTo>
                    <a:pt x="888303" y="1138114"/>
                  </a:lnTo>
                  <a:lnTo>
                    <a:pt x="836240" y="1145754"/>
                  </a:lnTo>
                  <a:lnTo>
                    <a:pt x="782951" y="1150419"/>
                  </a:lnTo>
                  <a:lnTo>
                    <a:pt x="728577" y="1151999"/>
                  </a:lnTo>
                  <a:lnTo>
                    <a:pt x="674202" y="1150419"/>
                  </a:lnTo>
                  <a:lnTo>
                    <a:pt x="620913" y="1145754"/>
                  </a:lnTo>
                  <a:lnTo>
                    <a:pt x="568850" y="1138114"/>
                  </a:lnTo>
                  <a:lnTo>
                    <a:pt x="518154" y="1127612"/>
                  </a:lnTo>
                  <a:lnTo>
                    <a:pt x="468966" y="1114358"/>
                  </a:lnTo>
                  <a:lnTo>
                    <a:pt x="421427" y="1098464"/>
                  </a:lnTo>
                  <a:lnTo>
                    <a:pt x="375677" y="1080042"/>
                  </a:lnTo>
                  <a:lnTo>
                    <a:pt x="331859" y="1059202"/>
                  </a:lnTo>
                  <a:lnTo>
                    <a:pt x="290111" y="1036056"/>
                  </a:lnTo>
                  <a:lnTo>
                    <a:pt x="250576" y="1010716"/>
                  </a:lnTo>
                  <a:lnTo>
                    <a:pt x="213395" y="983293"/>
                  </a:lnTo>
                  <a:lnTo>
                    <a:pt x="178707" y="953897"/>
                  </a:lnTo>
                  <a:lnTo>
                    <a:pt x="146654" y="922642"/>
                  </a:lnTo>
                  <a:lnTo>
                    <a:pt x="117378" y="889637"/>
                  </a:lnTo>
                  <a:lnTo>
                    <a:pt x="91018" y="854995"/>
                  </a:lnTo>
                  <a:lnTo>
                    <a:pt x="67715" y="818826"/>
                  </a:lnTo>
                  <a:lnTo>
                    <a:pt x="47611" y="781243"/>
                  </a:lnTo>
                  <a:lnTo>
                    <a:pt x="30847" y="742356"/>
                  </a:lnTo>
                  <a:lnTo>
                    <a:pt x="17562" y="702276"/>
                  </a:lnTo>
                  <a:lnTo>
                    <a:pt x="7899" y="661116"/>
                  </a:lnTo>
                  <a:lnTo>
                    <a:pt x="1998" y="618987"/>
                  </a:lnTo>
                  <a:lnTo>
                    <a:pt x="0" y="575999"/>
                  </a:lnTo>
                  <a:close/>
                </a:path>
              </a:pathLst>
            </a:custGeom>
            <a:ln w="9524">
              <a:solidFill>
                <a:srgbClr val="000000"/>
              </a:solidFill>
            </a:ln>
          </p:spPr>
          <p:txBody>
            <a:bodyPr wrap="square" lIns="0" tIns="0" rIns="0" bIns="0" rtlCol="0"/>
            <a:lstStyle/>
            <a:p>
              <a:endParaRPr/>
            </a:p>
          </p:txBody>
        </p:sp>
        <p:sp>
          <p:nvSpPr>
            <p:cNvPr id="14" name="object 14"/>
            <p:cNvSpPr txBox="1"/>
            <p:nvPr/>
          </p:nvSpPr>
          <p:spPr>
            <a:xfrm>
              <a:off x="9288610" y="3143223"/>
              <a:ext cx="93980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生成测试 输入数据</a:t>
              </a:r>
              <a:endParaRPr sz="1800">
                <a:latin typeface="微软雅黑" panose="020B0503020204020204" pitchFamily="34" charset="-122"/>
                <a:cs typeface="微软雅黑" panose="020B0503020204020204" pitchFamily="34" charset="-122"/>
              </a:endParaRPr>
            </a:p>
          </p:txBody>
        </p:sp>
        <p:sp>
          <p:nvSpPr>
            <p:cNvPr id="15" name="object 15"/>
            <p:cNvSpPr/>
            <p:nvPr/>
          </p:nvSpPr>
          <p:spPr>
            <a:xfrm>
              <a:off x="8639054" y="4153556"/>
              <a:ext cx="2232025" cy="1069975"/>
            </a:xfrm>
            <a:custGeom>
              <a:avLst/>
              <a:gdLst/>
              <a:ahLst/>
              <a:cxnLst/>
              <a:rect l="l" t="t" r="r" b="b"/>
              <a:pathLst>
                <a:path w="2232025" h="1069975">
                  <a:moveTo>
                    <a:pt x="0" y="534690"/>
                  </a:moveTo>
                  <a:lnTo>
                    <a:pt x="1115798" y="0"/>
                  </a:lnTo>
                  <a:lnTo>
                    <a:pt x="2231596" y="534690"/>
                  </a:lnTo>
                  <a:lnTo>
                    <a:pt x="1115798" y="1069381"/>
                  </a:lnTo>
                  <a:lnTo>
                    <a:pt x="0" y="534690"/>
                  </a:lnTo>
                  <a:close/>
                </a:path>
              </a:pathLst>
            </a:custGeom>
            <a:ln w="9524">
              <a:solidFill>
                <a:srgbClr val="000000"/>
              </a:solidFill>
            </a:ln>
          </p:spPr>
          <p:txBody>
            <a:bodyPr wrap="square" lIns="0" tIns="0" rIns="0" bIns="0" rtlCol="0"/>
            <a:lstStyle/>
            <a:p>
              <a:endParaRPr/>
            </a:p>
          </p:txBody>
        </p:sp>
        <p:sp>
          <p:nvSpPr>
            <p:cNvPr id="16" name="object 16"/>
            <p:cNvSpPr/>
            <p:nvPr/>
          </p:nvSpPr>
          <p:spPr>
            <a:xfrm>
              <a:off x="9021893" y="5463623"/>
              <a:ext cx="1473200" cy="648335"/>
            </a:xfrm>
            <a:custGeom>
              <a:avLst/>
              <a:gdLst/>
              <a:ahLst/>
              <a:cxnLst/>
              <a:rect l="l" t="t" r="r" b="b"/>
              <a:pathLst>
                <a:path w="1473200" h="648335">
                  <a:moveTo>
                    <a:pt x="0" y="0"/>
                  </a:moveTo>
                  <a:lnTo>
                    <a:pt x="1472668" y="0"/>
                  </a:lnTo>
                  <a:lnTo>
                    <a:pt x="1472668" y="647999"/>
                  </a:lnTo>
                  <a:lnTo>
                    <a:pt x="0" y="647999"/>
                  </a:lnTo>
                  <a:lnTo>
                    <a:pt x="0"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9291132" y="5500603"/>
              <a:ext cx="939800" cy="566420"/>
            </a:xfrm>
            <a:prstGeom prst="rect">
              <a:avLst/>
            </a:prstGeom>
          </p:spPr>
          <p:txBody>
            <a:bodyPr vert="horz" wrap="square" lIns="0" tIns="27940" rIns="0" bIns="0" rtlCol="0">
              <a:spAutoFit/>
            </a:bodyPr>
            <a:lstStyle/>
            <a:p>
              <a:pPr marL="12700" marR="5080" indent="228600">
                <a:lnSpc>
                  <a:spcPts val="2100"/>
                </a:lnSpc>
                <a:spcBef>
                  <a:spcPts val="220"/>
                </a:spcBef>
              </a:pPr>
              <a:r>
                <a:rPr sz="1800" dirty="0">
                  <a:latin typeface="微软雅黑" panose="020B0503020204020204" pitchFamily="34" charset="-122"/>
                  <a:cs typeface="微软雅黑" panose="020B0503020204020204" pitchFamily="34" charset="-122"/>
                </a:rPr>
                <a:t>测试 输入数据</a:t>
              </a:r>
              <a:endParaRPr sz="1800">
                <a:latin typeface="微软雅黑" panose="020B0503020204020204" pitchFamily="34" charset="-122"/>
                <a:cs typeface="微软雅黑" panose="020B0503020204020204" pitchFamily="34" charset="-122"/>
              </a:endParaRPr>
            </a:p>
          </p:txBody>
        </p:sp>
        <p:sp>
          <p:nvSpPr>
            <p:cNvPr id="18" name="object 18"/>
            <p:cNvSpPr/>
            <p:nvPr/>
          </p:nvSpPr>
          <p:spPr>
            <a:xfrm>
              <a:off x="2576633" y="2369031"/>
              <a:ext cx="499745" cy="1270"/>
            </a:xfrm>
            <a:custGeom>
              <a:avLst/>
              <a:gdLst/>
              <a:ahLst/>
              <a:cxnLst/>
              <a:rect l="l" t="t" r="r" b="b"/>
              <a:pathLst>
                <a:path w="499744" h="1269">
                  <a:moveTo>
                    <a:pt x="0" y="755"/>
                  </a:moveTo>
                  <a:lnTo>
                    <a:pt x="499268" y="0"/>
                  </a:lnTo>
                </a:path>
              </a:pathLst>
            </a:custGeom>
            <a:ln w="9524">
              <a:solidFill>
                <a:srgbClr val="000000"/>
              </a:solidFill>
            </a:ln>
          </p:spPr>
          <p:txBody>
            <a:bodyPr wrap="square" lIns="0" tIns="0" rIns="0" bIns="0" rtlCol="0"/>
            <a:lstStyle/>
            <a:p>
              <a:endParaRPr/>
            </a:p>
          </p:txBody>
        </p:sp>
        <p:sp>
          <p:nvSpPr>
            <p:cNvPr id="19" name="object 19"/>
            <p:cNvSpPr/>
            <p:nvPr/>
          </p:nvSpPr>
          <p:spPr>
            <a:xfrm>
              <a:off x="3025044" y="2331008"/>
              <a:ext cx="76835" cy="76200"/>
            </a:xfrm>
            <a:custGeom>
              <a:avLst/>
              <a:gdLst/>
              <a:ahLst/>
              <a:cxnLst/>
              <a:rect l="l" t="t" r="r" b="b"/>
              <a:pathLst>
                <a:path w="76835" h="76200">
                  <a:moveTo>
                    <a:pt x="0" y="0"/>
                  </a:moveTo>
                  <a:lnTo>
                    <a:pt x="115" y="76200"/>
                  </a:lnTo>
                  <a:lnTo>
                    <a:pt x="76257" y="37984"/>
                  </a:lnTo>
                  <a:lnTo>
                    <a:pt x="0" y="0"/>
                  </a:lnTo>
                  <a:close/>
                </a:path>
              </a:pathLst>
            </a:custGeom>
            <a:solidFill>
              <a:srgbClr val="000000"/>
            </a:solidFill>
          </p:spPr>
          <p:txBody>
            <a:bodyPr wrap="square" lIns="0" tIns="0" rIns="0" bIns="0" rtlCol="0"/>
            <a:lstStyle/>
            <a:p>
              <a:endParaRPr/>
            </a:p>
          </p:txBody>
        </p:sp>
        <p:sp>
          <p:nvSpPr>
            <p:cNvPr id="20" name="object 20"/>
            <p:cNvSpPr/>
            <p:nvPr/>
          </p:nvSpPr>
          <p:spPr>
            <a:xfrm>
              <a:off x="4558648" y="2369048"/>
              <a:ext cx="471170" cy="1270"/>
            </a:xfrm>
            <a:custGeom>
              <a:avLst/>
              <a:gdLst/>
              <a:ahLst/>
              <a:cxnLst/>
              <a:rect l="l" t="t" r="r" b="b"/>
              <a:pathLst>
                <a:path w="471170" h="1269">
                  <a:moveTo>
                    <a:pt x="0" y="0"/>
                  </a:moveTo>
                  <a:lnTo>
                    <a:pt x="470693" y="753"/>
                  </a:lnTo>
                </a:path>
              </a:pathLst>
            </a:custGeom>
            <a:ln w="9524">
              <a:solidFill>
                <a:srgbClr val="000000"/>
              </a:solidFill>
            </a:ln>
          </p:spPr>
          <p:txBody>
            <a:bodyPr wrap="square" lIns="0" tIns="0" rIns="0" bIns="0" rtlCol="0"/>
            <a:lstStyle/>
            <a:p>
              <a:endParaRPr/>
            </a:p>
          </p:txBody>
        </p:sp>
        <p:sp>
          <p:nvSpPr>
            <p:cNvPr id="21" name="object 21"/>
            <p:cNvSpPr/>
            <p:nvPr/>
          </p:nvSpPr>
          <p:spPr>
            <a:xfrm>
              <a:off x="4978481" y="2331619"/>
              <a:ext cx="76835" cy="76200"/>
            </a:xfrm>
            <a:custGeom>
              <a:avLst/>
              <a:gdLst/>
              <a:ahLst/>
              <a:cxnLst/>
              <a:rect l="l" t="t" r="r" b="b"/>
              <a:pathLst>
                <a:path w="76835" h="76200">
                  <a:moveTo>
                    <a:pt x="121" y="0"/>
                  </a:moveTo>
                  <a:lnTo>
                    <a:pt x="0" y="76200"/>
                  </a:lnTo>
                  <a:lnTo>
                    <a:pt x="76260" y="38221"/>
                  </a:lnTo>
                  <a:lnTo>
                    <a:pt x="121" y="0"/>
                  </a:lnTo>
                  <a:close/>
                </a:path>
              </a:pathLst>
            </a:custGeom>
            <a:solidFill>
              <a:srgbClr val="000000"/>
            </a:solidFill>
          </p:spPr>
          <p:txBody>
            <a:bodyPr wrap="square" lIns="0" tIns="0" rIns="0" bIns="0" rtlCol="0"/>
            <a:lstStyle/>
            <a:p>
              <a:endParaRPr/>
            </a:p>
          </p:txBody>
        </p:sp>
        <p:sp>
          <p:nvSpPr>
            <p:cNvPr id="22" name="object 22"/>
            <p:cNvSpPr/>
            <p:nvPr/>
          </p:nvSpPr>
          <p:spPr>
            <a:xfrm>
              <a:off x="6527277" y="2369031"/>
              <a:ext cx="501015" cy="1270"/>
            </a:xfrm>
            <a:custGeom>
              <a:avLst/>
              <a:gdLst/>
              <a:ahLst/>
              <a:cxnLst/>
              <a:rect l="l" t="t" r="r" b="b"/>
              <a:pathLst>
                <a:path w="501015" h="1269">
                  <a:moveTo>
                    <a:pt x="0" y="755"/>
                  </a:moveTo>
                  <a:lnTo>
                    <a:pt x="500856" y="0"/>
                  </a:lnTo>
                </a:path>
              </a:pathLst>
            </a:custGeom>
            <a:ln w="9524">
              <a:solidFill>
                <a:srgbClr val="000000"/>
              </a:solidFill>
            </a:ln>
          </p:spPr>
          <p:txBody>
            <a:bodyPr wrap="square" lIns="0" tIns="0" rIns="0" bIns="0" rtlCol="0"/>
            <a:lstStyle/>
            <a:p>
              <a:endParaRPr/>
            </a:p>
          </p:txBody>
        </p:sp>
        <p:sp>
          <p:nvSpPr>
            <p:cNvPr id="23" name="object 23"/>
            <p:cNvSpPr/>
            <p:nvPr/>
          </p:nvSpPr>
          <p:spPr>
            <a:xfrm>
              <a:off x="6977277" y="2331008"/>
              <a:ext cx="76835" cy="76200"/>
            </a:xfrm>
            <a:custGeom>
              <a:avLst/>
              <a:gdLst/>
              <a:ahLst/>
              <a:cxnLst/>
              <a:rect l="l" t="t" r="r" b="b"/>
              <a:pathLst>
                <a:path w="76834" h="76200">
                  <a:moveTo>
                    <a:pt x="0" y="0"/>
                  </a:moveTo>
                  <a:lnTo>
                    <a:pt x="114" y="76200"/>
                  </a:lnTo>
                  <a:lnTo>
                    <a:pt x="76257" y="37984"/>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8510822" y="2369048"/>
              <a:ext cx="481330" cy="1270"/>
            </a:xfrm>
            <a:custGeom>
              <a:avLst/>
              <a:gdLst/>
              <a:ahLst/>
              <a:cxnLst/>
              <a:rect l="l" t="t" r="r" b="b"/>
              <a:pathLst>
                <a:path w="481329" h="1269">
                  <a:moveTo>
                    <a:pt x="0" y="0"/>
                  </a:moveTo>
                  <a:lnTo>
                    <a:pt x="481012" y="753"/>
                  </a:lnTo>
                </a:path>
              </a:pathLst>
            </a:custGeom>
            <a:ln w="9524">
              <a:solidFill>
                <a:srgbClr val="000000"/>
              </a:solidFill>
            </a:ln>
          </p:spPr>
          <p:txBody>
            <a:bodyPr wrap="square" lIns="0" tIns="0" rIns="0" bIns="0" rtlCol="0"/>
            <a:lstStyle/>
            <a:p>
              <a:endParaRPr/>
            </a:p>
          </p:txBody>
        </p:sp>
        <p:sp>
          <p:nvSpPr>
            <p:cNvPr id="25" name="object 25"/>
            <p:cNvSpPr/>
            <p:nvPr/>
          </p:nvSpPr>
          <p:spPr>
            <a:xfrm>
              <a:off x="8940975" y="2331622"/>
              <a:ext cx="76835" cy="76200"/>
            </a:xfrm>
            <a:custGeom>
              <a:avLst/>
              <a:gdLst/>
              <a:ahLst/>
              <a:cxnLst/>
              <a:rect l="l" t="t" r="r" b="b"/>
              <a:pathLst>
                <a:path w="76834" h="76200">
                  <a:moveTo>
                    <a:pt x="119" y="0"/>
                  </a:moveTo>
                  <a:lnTo>
                    <a:pt x="0" y="76200"/>
                  </a:lnTo>
                  <a:lnTo>
                    <a:pt x="76259" y="38219"/>
                  </a:lnTo>
                  <a:lnTo>
                    <a:pt x="119" y="0"/>
                  </a:lnTo>
                  <a:close/>
                </a:path>
              </a:pathLst>
            </a:custGeom>
            <a:solidFill>
              <a:srgbClr val="000000"/>
            </a:solidFill>
          </p:spPr>
          <p:txBody>
            <a:bodyPr wrap="square" lIns="0" tIns="0" rIns="0" bIns="0" rtlCol="0"/>
            <a:lstStyle/>
            <a:p>
              <a:endParaRPr/>
            </a:p>
          </p:txBody>
        </p:sp>
        <p:sp>
          <p:nvSpPr>
            <p:cNvPr id="26" name="object 26"/>
            <p:cNvSpPr/>
            <p:nvPr/>
          </p:nvSpPr>
          <p:spPr>
            <a:xfrm>
              <a:off x="9753640" y="2693788"/>
              <a:ext cx="1905" cy="135255"/>
            </a:xfrm>
            <a:custGeom>
              <a:avLst/>
              <a:gdLst/>
              <a:ahLst/>
              <a:cxnLst/>
              <a:rect l="l" t="t" r="r" b="b"/>
              <a:pathLst>
                <a:path w="1904" h="135255">
                  <a:moveTo>
                    <a:pt x="0" y="0"/>
                  </a:moveTo>
                  <a:lnTo>
                    <a:pt x="1336" y="134938"/>
                  </a:lnTo>
                </a:path>
              </a:pathLst>
            </a:custGeom>
            <a:ln w="9524">
              <a:solidFill>
                <a:srgbClr val="000000"/>
              </a:solidFill>
            </a:ln>
          </p:spPr>
          <p:txBody>
            <a:bodyPr wrap="square" lIns="0" tIns="0" rIns="0" bIns="0" rtlCol="0"/>
            <a:lstStyle/>
            <a:p>
              <a:endParaRPr/>
            </a:p>
          </p:txBody>
        </p:sp>
        <p:sp>
          <p:nvSpPr>
            <p:cNvPr id="27" name="object 27"/>
            <p:cNvSpPr/>
            <p:nvPr/>
          </p:nvSpPr>
          <p:spPr>
            <a:xfrm>
              <a:off x="9716375" y="2777551"/>
              <a:ext cx="76200" cy="76835"/>
            </a:xfrm>
            <a:custGeom>
              <a:avLst/>
              <a:gdLst/>
              <a:ahLst/>
              <a:cxnLst/>
              <a:rect l="l" t="t" r="r" b="b"/>
              <a:pathLst>
                <a:path w="76200" h="76835">
                  <a:moveTo>
                    <a:pt x="76196" y="0"/>
                  </a:moveTo>
                  <a:lnTo>
                    <a:pt x="0" y="755"/>
                  </a:lnTo>
                  <a:lnTo>
                    <a:pt x="38851" y="76574"/>
                  </a:lnTo>
                  <a:lnTo>
                    <a:pt x="76196" y="0"/>
                  </a:lnTo>
                  <a:close/>
                </a:path>
              </a:pathLst>
            </a:custGeom>
            <a:solidFill>
              <a:srgbClr val="000000"/>
            </a:solidFill>
          </p:spPr>
          <p:txBody>
            <a:bodyPr wrap="square" lIns="0" tIns="0" rIns="0" bIns="0" rtlCol="0"/>
            <a:lstStyle/>
            <a:p>
              <a:endParaRPr/>
            </a:p>
          </p:txBody>
        </p:sp>
        <p:sp>
          <p:nvSpPr>
            <p:cNvPr id="28" name="object 28"/>
            <p:cNvSpPr/>
            <p:nvPr/>
          </p:nvSpPr>
          <p:spPr>
            <a:xfrm>
              <a:off x="9754942" y="4006243"/>
              <a:ext cx="635" cy="121920"/>
            </a:xfrm>
            <a:custGeom>
              <a:avLst/>
              <a:gdLst/>
              <a:ahLst/>
              <a:cxnLst/>
              <a:rect l="l" t="t" r="r" b="b"/>
              <a:pathLst>
                <a:path w="634" h="121920">
                  <a:moveTo>
                    <a:pt x="430" y="0"/>
                  </a:moveTo>
                  <a:lnTo>
                    <a:pt x="0" y="121914"/>
                  </a:lnTo>
                </a:path>
              </a:pathLst>
            </a:custGeom>
            <a:ln w="9524">
              <a:solidFill>
                <a:srgbClr val="000000"/>
              </a:solidFill>
            </a:ln>
          </p:spPr>
          <p:txBody>
            <a:bodyPr wrap="square" lIns="0" tIns="0" rIns="0" bIns="0" rtlCol="0"/>
            <a:lstStyle/>
            <a:p>
              <a:endParaRPr/>
            </a:p>
          </p:txBody>
        </p:sp>
        <p:sp>
          <p:nvSpPr>
            <p:cNvPr id="29" name="object 29"/>
            <p:cNvSpPr/>
            <p:nvPr/>
          </p:nvSpPr>
          <p:spPr>
            <a:xfrm>
              <a:off x="9717022" y="4077223"/>
              <a:ext cx="76200" cy="76835"/>
            </a:xfrm>
            <a:custGeom>
              <a:avLst/>
              <a:gdLst/>
              <a:ahLst/>
              <a:cxnLst/>
              <a:rect l="l" t="t" r="r" b="b"/>
              <a:pathLst>
                <a:path w="76200" h="76835">
                  <a:moveTo>
                    <a:pt x="0" y="0"/>
                  </a:moveTo>
                  <a:lnTo>
                    <a:pt x="37830" y="76333"/>
                  </a:lnTo>
                  <a:lnTo>
                    <a:pt x="76200" y="269"/>
                  </a:lnTo>
                  <a:lnTo>
                    <a:pt x="0" y="0"/>
                  </a:lnTo>
                  <a:close/>
                </a:path>
              </a:pathLst>
            </a:custGeom>
            <a:solidFill>
              <a:srgbClr val="000000"/>
            </a:solidFill>
          </p:spPr>
          <p:txBody>
            <a:bodyPr wrap="square" lIns="0" tIns="0" rIns="0" bIns="0" rtlCol="0"/>
            <a:lstStyle/>
            <a:p>
              <a:endParaRPr/>
            </a:p>
          </p:txBody>
        </p:sp>
        <p:sp>
          <p:nvSpPr>
            <p:cNvPr id="30" name="object 30"/>
            <p:cNvSpPr/>
            <p:nvPr/>
          </p:nvSpPr>
          <p:spPr>
            <a:xfrm>
              <a:off x="9754853" y="5222939"/>
              <a:ext cx="3175" cy="215265"/>
            </a:xfrm>
            <a:custGeom>
              <a:avLst/>
              <a:gdLst/>
              <a:ahLst/>
              <a:cxnLst/>
              <a:rect l="l" t="t" r="r" b="b"/>
              <a:pathLst>
                <a:path w="3175" h="215264">
                  <a:moveTo>
                    <a:pt x="0" y="0"/>
                  </a:moveTo>
                  <a:lnTo>
                    <a:pt x="2839" y="215108"/>
                  </a:lnTo>
                </a:path>
              </a:pathLst>
            </a:custGeom>
            <a:ln w="9524">
              <a:solidFill>
                <a:srgbClr val="000000"/>
              </a:solidFill>
            </a:ln>
          </p:spPr>
          <p:txBody>
            <a:bodyPr wrap="square" lIns="0" tIns="0" rIns="0" bIns="0" rtlCol="0"/>
            <a:lstStyle/>
            <a:p>
              <a:endParaRPr/>
            </a:p>
          </p:txBody>
        </p:sp>
        <p:sp>
          <p:nvSpPr>
            <p:cNvPr id="31" name="object 31"/>
            <p:cNvSpPr/>
            <p:nvPr/>
          </p:nvSpPr>
          <p:spPr>
            <a:xfrm>
              <a:off x="9718925" y="5386749"/>
              <a:ext cx="76200" cy="76835"/>
            </a:xfrm>
            <a:custGeom>
              <a:avLst/>
              <a:gdLst/>
              <a:ahLst/>
              <a:cxnLst/>
              <a:rect l="l" t="t" r="r" b="b"/>
              <a:pathLst>
                <a:path w="76200" h="76835">
                  <a:moveTo>
                    <a:pt x="76193" y="0"/>
                  </a:moveTo>
                  <a:lnTo>
                    <a:pt x="0" y="1005"/>
                  </a:lnTo>
                  <a:lnTo>
                    <a:pt x="39103" y="76696"/>
                  </a:lnTo>
                  <a:lnTo>
                    <a:pt x="76193" y="0"/>
                  </a:lnTo>
                  <a:close/>
                </a:path>
              </a:pathLst>
            </a:custGeom>
            <a:solidFill>
              <a:srgbClr val="000000"/>
            </a:solidFill>
          </p:spPr>
          <p:txBody>
            <a:bodyPr wrap="square" lIns="0" tIns="0" rIns="0" bIns="0" rtlCol="0"/>
            <a:lstStyle/>
            <a:p>
              <a:endParaRPr/>
            </a:p>
          </p:txBody>
        </p:sp>
        <p:sp>
          <p:nvSpPr>
            <p:cNvPr id="32" name="object 32"/>
            <p:cNvSpPr/>
            <p:nvPr/>
          </p:nvSpPr>
          <p:spPr>
            <a:xfrm>
              <a:off x="7782245" y="2970448"/>
              <a:ext cx="857250" cy="1718310"/>
            </a:xfrm>
            <a:custGeom>
              <a:avLst/>
              <a:gdLst/>
              <a:ahLst/>
              <a:cxnLst/>
              <a:rect l="l" t="t" r="r" b="b"/>
              <a:pathLst>
                <a:path w="857250" h="1718310">
                  <a:moveTo>
                    <a:pt x="856808" y="1717799"/>
                  </a:moveTo>
                  <a:lnTo>
                    <a:pt x="0" y="1717799"/>
                  </a:lnTo>
                  <a:lnTo>
                    <a:pt x="0" y="0"/>
                  </a:lnTo>
                </a:path>
              </a:pathLst>
            </a:custGeom>
            <a:ln w="9524">
              <a:solidFill>
                <a:srgbClr val="000000"/>
              </a:solidFill>
            </a:ln>
          </p:spPr>
          <p:txBody>
            <a:bodyPr wrap="square" lIns="0" tIns="0" rIns="0" bIns="0" rtlCol="0"/>
            <a:lstStyle/>
            <a:p>
              <a:endParaRPr/>
            </a:p>
          </p:txBody>
        </p:sp>
        <p:sp>
          <p:nvSpPr>
            <p:cNvPr id="33" name="object 33"/>
            <p:cNvSpPr/>
            <p:nvPr/>
          </p:nvSpPr>
          <p:spPr>
            <a:xfrm>
              <a:off x="7744146" y="2945048"/>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34" name="object 34"/>
            <p:cNvSpPr/>
            <p:nvPr/>
          </p:nvSpPr>
          <p:spPr>
            <a:xfrm>
              <a:off x="2842151" y="1270861"/>
              <a:ext cx="8196580" cy="4032250"/>
            </a:xfrm>
            <a:custGeom>
              <a:avLst/>
              <a:gdLst/>
              <a:ahLst/>
              <a:cxnLst/>
              <a:rect l="l" t="t" r="r" b="b"/>
              <a:pathLst>
                <a:path w="8196580" h="4032250">
                  <a:moveTo>
                    <a:pt x="0" y="0"/>
                  </a:moveTo>
                  <a:lnTo>
                    <a:pt x="8196481" y="0"/>
                  </a:lnTo>
                  <a:lnTo>
                    <a:pt x="8196481" y="4031998"/>
                  </a:lnTo>
                  <a:lnTo>
                    <a:pt x="0" y="4031998"/>
                  </a:lnTo>
                  <a:lnTo>
                    <a:pt x="0" y="0"/>
                  </a:lnTo>
                  <a:close/>
                </a:path>
              </a:pathLst>
            </a:custGeom>
            <a:ln w="19049">
              <a:solidFill>
                <a:srgbClr val="004DD6"/>
              </a:solidFill>
            </a:ln>
          </p:spPr>
          <p:txBody>
            <a:bodyPr wrap="square" lIns="0" tIns="0" rIns="0" bIns="0" rtlCol="0"/>
            <a:lstStyle/>
            <a:p>
              <a:endParaRPr/>
            </a:p>
          </p:txBody>
        </p:sp>
        <p:sp>
          <p:nvSpPr>
            <p:cNvPr id="35" name="object 35"/>
            <p:cNvSpPr/>
            <p:nvPr/>
          </p:nvSpPr>
          <p:spPr>
            <a:xfrm>
              <a:off x="2576633" y="1594862"/>
              <a:ext cx="5205730" cy="173355"/>
            </a:xfrm>
            <a:custGeom>
              <a:avLst/>
              <a:gdLst/>
              <a:ahLst/>
              <a:cxnLst/>
              <a:rect l="l" t="t" r="r" b="b"/>
              <a:pathLst>
                <a:path w="5205730" h="173355">
                  <a:moveTo>
                    <a:pt x="0" y="0"/>
                  </a:moveTo>
                  <a:lnTo>
                    <a:pt x="5205411" y="0"/>
                  </a:lnTo>
                  <a:lnTo>
                    <a:pt x="5205411" y="173037"/>
                  </a:lnTo>
                </a:path>
              </a:pathLst>
            </a:custGeom>
            <a:ln w="9524">
              <a:solidFill>
                <a:srgbClr val="000000"/>
              </a:solidFill>
            </a:ln>
          </p:spPr>
          <p:txBody>
            <a:bodyPr wrap="square" lIns="0" tIns="0" rIns="0" bIns="0" rtlCol="0"/>
            <a:lstStyle/>
            <a:p>
              <a:endParaRPr/>
            </a:p>
          </p:txBody>
        </p:sp>
        <p:sp>
          <p:nvSpPr>
            <p:cNvPr id="36" name="object 36"/>
            <p:cNvSpPr/>
            <p:nvPr/>
          </p:nvSpPr>
          <p:spPr>
            <a:xfrm>
              <a:off x="7743945" y="171709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37" name="object 37"/>
            <p:cNvSpPr txBox="1"/>
            <p:nvPr/>
          </p:nvSpPr>
          <p:spPr>
            <a:xfrm>
              <a:off x="1488644" y="2856268"/>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输入</a:t>
              </a:r>
              <a:endParaRPr sz="1800">
                <a:latin typeface="微软雅黑" panose="020B0503020204020204" pitchFamily="34" charset="-122"/>
                <a:cs typeface="微软雅黑" panose="020B0503020204020204" pitchFamily="34" charset="-122"/>
              </a:endParaRPr>
            </a:p>
          </p:txBody>
        </p:sp>
        <p:sp>
          <p:nvSpPr>
            <p:cNvPr id="38" name="object 38"/>
            <p:cNvSpPr txBox="1"/>
            <p:nvPr/>
          </p:nvSpPr>
          <p:spPr>
            <a:xfrm>
              <a:off x="8252441" y="5651624"/>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输出</a:t>
              </a:r>
              <a:endParaRPr sz="1800">
                <a:latin typeface="微软雅黑" panose="020B0503020204020204" pitchFamily="34" charset="-122"/>
                <a:cs typeface="微软雅黑" panose="020B0503020204020204" pitchFamily="34" charset="-122"/>
              </a:endParaRPr>
            </a:p>
          </p:txBody>
        </p:sp>
        <p:sp>
          <p:nvSpPr>
            <p:cNvPr id="39" name="object 39"/>
            <p:cNvSpPr txBox="1"/>
            <p:nvPr/>
          </p:nvSpPr>
          <p:spPr>
            <a:xfrm>
              <a:off x="8198652" y="4382713"/>
              <a:ext cx="254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否</a:t>
              </a:r>
              <a:endParaRPr sz="1800">
                <a:latin typeface="微软雅黑" panose="020B0503020204020204" pitchFamily="34" charset="-122"/>
                <a:cs typeface="微软雅黑" panose="020B0503020204020204" pitchFamily="34" charset="-122"/>
              </a:endParaRPr>
            </a:p>
          </p:txBody>
        </p:sp>
        <p:sp>
          <p:nvSpPr>
            <p:cNvPr id="40" name="object 40"/>
            <p:cNvSpPr txBox="1"/>
            <p:nvPr/>
          </p:nvSpPr>
          <p:spPr>
            <a:xfrm>
              <a:off x="9287441" y="4401228"/>
              <a:ext cx="1054100" cy="1065530"/>
            </a:xfrm>
            <a:prstGeom prst="rect">
              <a:avLst/>
            </a:prstGeom>
          </p:spPr>
          <p:txBody>
            <a:bodyPr vert="horz" wrap="square" lIns="0" tIns="27939" rIns="0" bIns="0" rtlCol="0">
              <a:spAutoFit/>
            </a:bodyPr>
            <a:lstStyle/>
            <a:p>
              <a:pPr marL="127000" marR="5080" indent="-114300">
                <a:lnSpc>
                  <a:spcPts val="2100"/>
                </a:lnSpc>
                <a:spcBef>
                  <a:spcPts val="220"/>
                </a:spcBef>
              </a:pPr>
              <a:r>
                <a:rPr sz="1800" dirty="0">
                  <a:latin typeface="微软雅黑" panose="020B0503020204020204" pitchFamily="34" charset="-122"/>
                  <a:cs typeface="微软雅黑" panose="020B0503020204020204" pitchFamily="34" charset="-122"/>
                </a:rPr>
                <a:t>选择路径 可行吗？</a:t>
              </a:r>
              <a:endParaRPr sz="1800">
                <a:latin typeface="微软雅黑" panose="020B0503020204020204" pitchFamily="34" charset="-122"/>
                <a:cs typeface="微软雅黑" panose="020B0503020204020204" pitchFamily="34" charset="-122"/>
              </a:endParaRPr>
            </a:p>
            <a:p>
              <a:pPr marL="24765">
                <a:lnSpc>
                  <a:spcPct val="100000"/>
                </a:lnSpc>
                <a:spcBef>
                  <a:spcPts val="1705"/>
                </a:spcBef>
              </a:pPr>
              <a:r>
                <a:rPr sz="1800" dirty="0">
                  <a:latin typeface="微软雅黑" panose="020B0503020204020204" pitchFamily="34" charset="-122"/>
                  <a:cs typeface="微软雅黑" panose="020B0503020204020204" pitchFamily="34" charset="-122"/>
                </a:rPr>
                <a:t>是</a:t>
              </a:r>
              <a:endParaRPr sz="1800">
                <a:latin typeface="微软雅黑" panose="020B0503020204020204" pitchFamily="34" charset="-122"/>
                <a:cs typeface="微软雅黑" panose="020B0503020204020204" pitchFamily="34" charset="-122"/>
              </a:endParaRPr>
            </a:p>
          </p:txBody>
        </p:sp>
        <p:sp>
          <p:nvSpPr>
            <p:cNvPr id="41" name="object 41"/>
            <p:cNvSpPr txBox="1"/>
            <p:nvPr/>
          </p:nvSpPr>
          <p:spPr>
            <a:xfrm>
              <a:off x="2901567" y="5403476"/>
              <a:ext cx="281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生成测试输入数据的过程</a:t>
              </a:r>
              <a:endParaRPr sz="2000">
                <a:latin typeface="微软雅黑" panose="020B0503020204020204" pitchFamily="34" charset="-122"/>
                <a:cs typeface="微软雅黑" panose="020B0503020204020204" pitchFamily="34" charset="-122"/>
              </a:endParaRPr>
            </a:p>
          </p:txBody>
        </p:sp>
      </p:grpSp>
      <p:sp>
        <p:nvSpPr>
          <p:cNvPr id="42" name="灯片编号占位符 41"/>
          <p:cNvSpPr>
            <a:spLocks noGrp="1"/>
          </p:cNvSpPr>
          <p:nvPr>
            <p:ph type="sldNum" sz="quarter" idx="12"/>
          </p:nvPr>
        </p:nvSpPr>
        <p:spPr/>
        <p:txBody>
          <a:bodyPr/>
          <a:lstStyle/>
          <a:p>
            <a:fld id="{74D2AB8B-5816-41F2-8B4B-CA5C3E4E6A65}" type="slidenum">
              <a:rPr lang="zh-CN" altLang="en-US" smtClean="0"/>
              <a:t>88</a:t>
            </a:fld>
            <a:endParaRPr lang="zh-CN" altLang="en-US"/>
          </a:p>
        </p:txBody>
      </p:sp>
      <p:sp>
        <p:nvSpPr>
          <p:cNvPr id="44" name="标题 43"/>
          <p:cNvSpPr>
            <a:spLocks noGrp="1"/>
          </p:cNvSpPr>
          <p:nvPr>
            <p:ph type="title"/>
          </p:nvPr>
        </p:nvSpPr>
        <p:spPr>
          <a:xfrm>
            <a:off x="838200" y="268872"/>
            <a:ext cx="10515600" cy="1325563"/>
          </a:xfrm>
        </p:spPr>
        <p:txBody>
          <a:bodyPr/>
          <a:lstStyle/>
          <a:p>
            <a:r>
              <a:rPr lang="zh-CN" altLang="en-US" dirty="0"/>
              <a:t>基于控制流的测试</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8621" y="1581484"/>
            <a:ext cx="9710420" cy="889000"/>
          </a:xfrm>
          <a:prstGeom prst="rect">
            <a:avLst/>
          </a:prstGeom>
        </p:spPr>
        <p:txBody>
          <a:bodyPr vert="horz" wrap="square" lIns="0" tIns="12700" rIns="0" bIns="0" rtlCol="0">
            <a:spAutoFit/>
          </a:bodyPr>
          <a:lstStyle/>
          <a:p>
            <a:pPr marL="12700" marR="5080">
              <a:lnSpc>
                <a:spcPct val="129000"/>
              </a:lnSpc>
              <a:spcBef>
                <a:spcPts val="100"/>
              </a:spcBef>
            </a:pPr>
            <a:r>
              <a:rPr sz="2200" spc="40" dirty="0">
                <a:solidFill>
                  <a:srgbClr val="0033CC"/>
                </a:solidFill>
                <a:latin typeface="微软雅黑" panose="020B0503020204020204" pitchFamily="34" charset="-122"/>
                <a:cs typeface="微软雅黑" panose="020B0503020204020204" pitchFamily="34" charset="-122"/>
              </a:rPr>
              <a:t>代码覆盖率</a:t>
            </a:r>
            <a:r>
              <a:rPr sz="2200" spc="40" dirty="0">
                <a:latin typeface="微软雅黑" panose="020B0503020204020204" pitchFamily="34" charset="-122"/>
                <a:cs typeface="微软雅黑" panose="020B0503020204020204" pitchFamily="34" charset="-122"/>
              </a:rPr>
              <a:t>描述的是代码被测试的比例和程度，通过代码覆盖率可以得知哪些 </a:t>
            </a:r>
            <a:r>
              <a:rPr sz="2200" dirty="0">
                <a:latin typeface="微软雅黑" panose="020B0503020204020204" pitchFamily="34" charset="-122"/>
                <a:cs typeface="微软雅黑" panose="020B0503020204020204" pitchFamily="34" charset="-122"/>
              </a:rPr>
              <a:t>代码没有被覆盖，从而进一步补足测试用例。</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1710255" y="3803478"/>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8" y="788799"/>
                </a:lnTo>
                <a:lnTo>
                  <a:pt x="2066972" y="759395"/>
                </a:lnTo>
                <a:lnTo>
                  <a:pt x="2086256" y="722106"/>
                </a:lnTo>
                <a:lnTo>
                  <a:pt x="2093180" y="679171"/>
                </a:lnTo>
                <a:lnTo>
                  <a:pt x="2093180" y="135837"/>
                </a:lnTo>
                <a:lnTo>
                  <a:pt x="2086256" y="92902"/>
                </a:lnTo>
                <a:lnTo>
                  <a:pt x="2066972" y="55613"/>
                </a:lnTo>
                <a:lnTo>
                  <a:pt x="2037568" y="26208"/>
                </a:lnTo>
                <a:lnTo>
                  <a:pt x="2000279" y="6925"/>
                </a:lnTo>
                <a:lnTo>
                  <a:pt x="1957344" y="0"/>
                </a:lnTo>
                <a:close/>
              </a:path>
            </a:pathLst>
          </a:custGeom>
          <a:solidFill>
            <a:srgbClr val="007879"/>
          </a:solidFill>
        </p:spPr>
        <p:txBody>
          <a:bodyPr wrap="square" lIns="0" tIns="0" rIns="0" bIns="0" rtlCol="0"/>
          <a:lstStyle/>
          <a:p>
            <a:endParaRPr/>
          </a:p>
        </p:txBody>
      </p:sp>
      <p:sp>
        <p:nvSpPr>
          <p:cNvPr id="5" name="object 5"/>
          <p:cNvSpPr/>
          <p:nvPr/>
        </p:nvSpPr>
        <p:spPr>
          <a:xfrm>
            <a:off x="1710255" y="3803478"/>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7" y="0"/>
                </a:lnTo>
                <a:lnTo>
                  <a:pt x="1957344" y="0"/>
                </a:lnTo>
                <a:lnTo>
                  <a:pt x="2000279" y="6925"/>
                </a:lnTo>
                <a:lnTo>
                  <a:pt x="2037568" y="26208"/>
                </a:lnTo>
                <a:lnTo>
                  <a:pt x="2066972" y="55613"/>
                </a:lnTo>
                <a:lnTo>
                  <a:pt x="2086256" y="92902"/>
                </a:lnTo>
                <a:lnTo>
                  <a:pt x="2093181" y="135837"/>
                </a:lnTo>
                <a:lnTo>
                  <a:pt x="2093181" y="679170"/>
                </a:lnTo>
                <a:lnTo>
                  <a:pt x="2086256" y="722105"/>
                </a:lnTo>
                <a:lnTo>
                  <a:pt x="2066972" y="759394"/>
                </a:lnTo>
                <a:lnTo>
                  <a:pt x="2037568" y="788799"/>
                </a:lnTo>
                <a:lnTo>
                  <a:pt x="2000279" y="808082"/>
                </a:lnTo>
                <a:lnTo>
                  <a:pt x="1957344" y="815007"/>
                </a:lnTo>
                <a:lnTo>
                  <a:pt x="135837"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6" name="object 6"/>
          <p:cNvSpPr txBox="1"/>
          <p:nvPr/>
        </p:nvSpPr>
        <p:spPr>
          <a:xfrm>
            <a:off x="2184381" y="4030643"/>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判定覆盖</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3991724" y="3702879"/>
            <a:ext cx="544827" cy="925372"/>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7817541" y="3686917"/>
            <a:ext cx="544827" cy="92537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687982" y="3611529"/>
            <a:ext cx="2976880" cy="1099185"/>
          </a:xfrm>
          <a:custGeom>
            <a:avLst/>
            <a:gdLst/>
            <a:ahLst/>
            <a:cxnLst/>
            <a:rect l="l" t="t" r="r" b="b"/>
            <a:pathLst>
              <a:path w="2976879" h="1099185">
                <a:moveTo>
                  <a:pt x="2793475" y="0"/>
                </a:moveTo>
                <a:lnTo>
                  <a:pt x="183098" y="0"/>
                </a:lnTo>
                <a:lnTo>
                  <a:pt x="134423" y="6540"/>
                </a:lnTo>
                <a:lnTo>
                  <a:pt x="90684" y="24998"/>
                </a:lnTo>
                <a:lnTo>
                  <a:pt x="53627" y="53628"/>
                </a:lnTo>
                <a:lnTo>
                  <a:pt x="24998" y="90684"/>
                </a:lnTo>
                <a:lnTo>
                  <a:pt x="6540" y="134422"/>
                </a:lnTo>
                <a:lnTo>
                  <a:pt x="0" y="183097"/>
                </a:lnTo>
                <a:lnTo>
                  <a:pt x="0" y="915465"/>
                </a:lnTo>
                <a:lnTo>
                  <a:pt x="6540" y="964140"/>
                </a:lnTo>
                <a:lnTo>
                  <a:pt x="24998" y="1007878"/>
                </a:lnTo>
                <a:lnTo>
                  <a:pt x="53627" y="1044935"/>
                </a:lnTo>
                <a:lnTo>
                  <a:pt x="90684" y="1073565"/>
                </a:lnTo>
                <a:lnTo>
                  <a:pt x="134423" y="1092023"/>
                </a:lnTo>
                <a:lnTo>
                  <a:pt x="183098" y="1098563"/>
                </a:lnTo>
                <a:lnTo>
                  <a:pt x="2793475" y="1098563"/>
                </a:lnTo>
                <a:lnTo>
                  <a:pt x="2842150" y="1092023"/>
                </a:lnTo>
                <a:lnTo>
                  <a:pt x="2885888" y="1073565"/>
                </a:lnTo>
                <a:lnTo>
                  <a:pt x="2922945" y="1044935"/>
                </a:lnTo>
                <a:lnTo>
                  <a:pt x="2951575" y="1007878"/>
                </a:lnTo>
                <a:lnTo>
                  <a:pt x="2970033" y="964140"/>
                </a:lnTo>
                <a:lnTo>
                  <a:pt x="2976573" y="915465"/>
                </a:lnTo>
                <a:lnTo>
                  <a:pt x="2976573" y="183097"/>
                </a:lnTo>
                <a:lnTo>
                  <a:pt x="2970033" y="134422"/>
                </a:lnTo>
                <a:lnTo>
                  <a:pt x="2951575" y="90684"/>
                </a:lnTo>
                <a:lnTo>
                  <a:pt x="2922945" y="53628"/>
                </a:lnTo>
                <a:lnTo>
                  <a:pt x="2885888" y="24998"/>
                </a:lnTo>
                <a:lnTo>
                  <a:pt x="2842150" y="6540"/>
                </a:lnTo>
                <a:lnTo>
                  <a:pt x="2793475" y="0"/>
                </a:lnTo>
                <a:close/>
              </a:path>
            </a:pathLst>
          </a:custGeom>
          <a:solidFill>
            <a:srgbClr val="E4E4E4"/>
          </a:solidFill>
        </p:spPr>
        <p:txBody>
          <a:bodyPr wrap="square" lIns="0" tIns="0" rIns="0" bIns="0" rtlCol="0"/>
          <a:lstStyle/>
          <a:p>
            <a:endParaRPr/>
          </a:p>
        </p:txBody>
      </p:sp>
      <p:sp>
        <p:nvSpPr>
          <p:cNvPr id="10" name="object 10"/>
          <p:cNvSpPr/>
          <p:nvPr/>
        </p:nvSpPr>
        <p:spPr>
          <a:xfrm>
            <a:off x="4687982" y="3611529"/>
            <a:ext cx="2976880" cy="1099185"/>
          </a:xfrm>
          <a:custGeom>
            <a:avLst/>
            <a:gdLst/>
            <a:ahLst/>
            <a:cxnLst/>
            <a:rect l="l" t="t" r="r" b="b"/>
            <a:pathLst>
              <a:path w="2976879" h="1099185">
                <a:moveTo>
                  <a:pt x="0" y="183097"/>
                </a:moveTo>
                <a:lnTo>
                  <a:pt x="6540" y="134423"/>
                </a:lnTo>
                <a:lnTo>
                  <a:pt x="24998" y="90684"/>
                </a:lnTo>
                <a:lnTo>
                  <a:pt x="53628" y="53628"/>
                </a:lnTo>
                <a:lnTo>
                  <a:pt x="90684" y="24998"/>
                </a:lnTo>
                <a:lnTo>
                  <a:pt x="134423" y="6540"/>
                </a:lnTo>
                <a:lnTo>
                  <a:pt x="183098" y="0"/>
                </a:lnTo>
                <a:lnTo>
                  <a:pt x="2793475" y="0"/>
                </a:lnTo>
                <a:lnTo>
                  <a:pt x="2842150" y="6540"/>
                </a:lnTo>
                <a:lnTo>
                  <a:pt x="2885889" y="24998"/>
                </a:lnTo>
                <a:lnTo>
                  <a:pt x="2922946" y="53628"/>
                </a:lnTo>
                <a:lnTo>
                  <a:pt x="2951576" y="90684"/>
                </a:lnTo>
                <a:lnTo>
                  <a:pt x="2970034" y="134423"/>
                </a:lnTo>
                <a:lnTo>
                  <a:pt x="2976574" y="183097"/>
                </a:lnTo>
                <a:lnTo>
                  <a:pt x="2976574" y="915465"/>
                </a:lnTo>
                <a:lnTo>
                  <a:pt x="2970034" y="964140"/>
                </a:lnTo>
                <a:lnTo>
                  <a:pt x="2951576" y="1007878"/>
                </a:lnTo>
                <a:lnTo>
                  <a:pt x="2922946" y="1044935"/>
                </a:lnTo>
                <a:lnTo>
                  <a:pt x="2885889" y="1073565"/>
                </a:lnTo>
                <a:lnTo>
                  <a:pt x="2842150" y="1092023"/>
                </a:lnTo>
                <a:lnTo>
                  <a:pt x="2793475" y="1098563"/>
                </a:lnTo>
                <a:lnTo>
                  <a:pt x="183098" y="1098563"/>
                </a:lnTo>
                <a:lnTo>
                  <a:pt x="134423" y="1092023"/>
                </a:lnTo>
                <a:lnTo>
                  <a:pt x="90684" y="1073565"/>
                </a:lnTo>
                <a:lnTo>
                  <a:pt x="53628" y="1044935"/>
                </a:lnTo>
                <a:lnTo>
                  <a:pt x="24998" y="1007878"/>
                </a:lnTo>
                <a:lnTo>
                  <a:pt x="6540" y="964140"/>
                </a:lnTo>
                <a:lnTo>
                  <a:pt x="0" y="915465"/>
                </a:lnTo>
                <a:lnTo>
                  <a:pt x="0" y="183097"/>
                </a:lnTo>
                <a:close/>
              </a:path>
            </a:pathLst>
          </a:custGeom>
          <a:ln w="12699">
            <a:solidFill>
              <a:srgbClr val="929292"/>
            </a:solidFill>
          </a:ln>
        </p:spPr>
        <p:txBody>
          <a:bodyPr wrap="square" lIns="0" tIns="0" rIns="0" bIns="0" rtlCol="0"/>
          <a:lstStyle/>
          <a:p>
            <a:endParaRPr/>
          </a:p>
        </p:txBody>
      </p:sp>
      <p:sp>
        <p:nvSpPr>
          <p:cNvPr id="11" name="object 11"/>
          <p:cNvSpPr/>
          <p:nvPr/>
        </p:nvSpPr>
        <p:spPr>
          <a:xfrm>
            <a:off x="4699167" y="3631530"/>
            <a:ext cx="2941622" cy="446195"/>
          </a:xfrm>
          <a:prstGeom prst="rect">
            <a:avLst/>
          </a:prstGeom>
          <a:blipFill>
            <a:blip r:embed="rId5" cstate="print"/>
            <a:stretch>
              <a:fillRect/>
            </a:stretch>
          </a:blipFill>
        </p:spPr>
        <p:txBody>
          <a:bodyPr wrap="square" lIns="0" tIns="0" rIns="0" bIns="0" rtlCol="0"/>
          <a:lstStyle/>
          <a:p>
            <a:endParaRPr/>
          </a:p>
        </p:txBody>
      </p:sp>
      <p:sp>
        <p:nvSpPr>
          <p:cNvPr id="12" name="object 12"/>
          <p:cNvSpPr txBox="1"/>
          <p:nvPr/>
        </p:nvSpPr>
        <p:spPr>
          <a:xfrm>
            <a:off x="5465888" y="3994447"/>
            <a:ext cx="14224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代码覆盖率</a:t>
            </a:r>
            <a:endParaRPr sz="2200">
              <a:latin typeface="微软雅黑" panose="020B0503020204020204" pitchFamily="34" charset="-122"/>
              <a:cs typeface="微软雅黑" panose="020B0503020204020204" pitchFamily="34" charset="-122"/>
            </a:endParaRPr>
          </a:p>
        </p:txBody>
      </p:sp>
      <p:sp>
        <p:nvSpPr>
          <p:cNvPr id="13" name="object 13"/>
          <p:cNvSpPr/>
          <p:nvPr/>
        </p:nvSpPr>
        <p:spPr>
          <a:xfrm>
            <a:off x="1710255" y="2867917"/>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8" y="788799"/>
                </a:lnTo>
                <a:lnTo>
                  <a:pt x="2066972" y="759395"/>
                </a:lnTo>
                <a:lnTo>
                  <a:pt x="2086256" y="722106"/>
                </a:lnTo>
                <a:lnTo>
                  <a:pt x="2093180" y="679171"/>
                </a:lnTo>
                <a:lnTo>
                  <a:pt x="2093180" y="135837"/>
                </a:lnTo>
                <a:lnTo>
                  <a:pt x="2086256" y="92902"/>
                </a:lnTo>
                <a:lnTo>
                  <a:pt x="2066972" y="55613"/>
                </a:lnTo>
                <a:lnTo>
                  <a:pt x="2037568" y="26208"/>
                </a:lnTo>
                <a:lnTo>
                  <a:pt x="2000279" y="6925"/>
                </a:lnTo>
                <a:lnTo>
                  <a:pt x="1957344" y="0"/>
                </a:lnTo>
                <a:close/>
              </a:path>
            </a:pathLst>
          </a:custGeom>
          <a:solidFill>
            <a:srgbClr val="007879"/>
          </a:solidFill>
        </p:spPr>
        <p:txBody>
          <a:bodyPr wrap="square" lIns="0" tIns="0" rIns="0" bIns="0" rtlCol="0"/>
          <a:lstStyle/>
          <a:p>
            <a:endParaRPr/>
          </a:p>
        </p:txBody>
      </p:sp>
      <p:sp>
        <p:nvSpPr>
          <p:cNvPr id="14" name="object 14"/>
          <p:cNvSpPr/>
          <p:nvPr/>
        </p:nvSpPr>
        <p:spPr>
          <a:xfrm>
            <a:off x="1710255" y="2867917"/>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7" y="0"/>
                </a:lnTo>
                <a:lnTo>
                  <a:pt x="1957344" y="0"/>
                </a:lnTo>
                <a:lnTo>
                  <a:pt x="2000279" y="6925"/>
                </a:lnTo>
                <a:lnTo>
                  <a:pt x="2037568" y="26208"/>
                </a:lnTo>
                <a:lnTo>
                  <a:pt x="2066972" y="55613"/>
                </a:lnTo>
                <a:lnTo>
                  <a:pt x="2086256" y="92902"/>
                </a:lnTo>
                <a:lnTo>
                  <a:pt x="2093181" y="135837"/>
                </a:lnTo>
                <a:lnTo>
                  <a:pt x="2093181" y="679170"/>
                </a:lnTo>
                <a:lnTo>
                  <a:pt x="2086256" y="722105"/>
                </a:lnTo>
                <a:lnTo>
                  <a:pt x="2066972" y="759394"/>
                </a:lnTo>
                <a:lnTo>
                  <a:pt x="2037568" y="788799"/>
                </a:lnTo>
                <a:lnTo>
                  <a:pt x="2000279" y="808082"/>
                </a:lnTo>
                <a:lnTo>
                  <a:pt x="1957344" y="815007"/>
                </a:lnTo>
                <a:lnTo>
                  <a:pt x="135837"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15" name="object 15"/>
          <p:cNvSpPr txBox="1"/>
          <p:nvPr/>
        </p:nvSpPr>
        <p:spPr>
          <a:xfrm>
            <a:off x="2184381" y="3095082"/>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语句覆盖</a:t>
            </a:r>
            <a:endParaRPr sz="2200">
              <a:latin typeface="微软雅黑" panose="020B0503020204020204" pitchFamily="34" charset="-122"/>
              <a:cs typeface="微软雅黑" panose="020B0503020204020204" pitchFamily="34" charset="-122"/>
            </a:endParaRPr>
          </a:p>
        </p:txBody>
      </p:sp>
      <p:sp>
        <p:nvSpPr>
          <p:cNvPr id="16" name="object 16"/>
          <p:cNvSpPr/>
          <p:nvPr/>
        </p:nvSpPr>
        <p:spPr>
          <a:xfrm>
            <a:off x="8511797" y="3803817"/>
            <a:ext cx="2093595" cy="815340"/>
          </a:xfrm>
          <a:custGeom>
            <a:avLst/>
            <a:gdLst/>
            <a:ahLst/>
            <a:cxnLst/>
            <a:rect l="l" t="t" r="r" b="b"/>
            <a:pathLst>
              <a:path w="2093595" h="815339">
                <a:moveTo>
                  <a:pt x="1957344" y="0"/>
                </a:moveTo>
                <a:lnTo>
                  <a:pt x="135836" y="0"/>
                </a:lnTo>
                <a:lnTo>
                  <a:pt x="92901" y="6924"/>
                </a:lnTo>
                <a:lnTo>
                  <a:pt x="55613" y="26208"/>
                </a:lnTo>
                <a:lnTo>
                  <a:pt x="26208" y="55612"/>
                </a:lnTo>
                <a:lnTo>
                  <a:pt x="6925" y="92901"/>
                </a:lnTo>
                <a:lnTo>
                  <a:pt x="0" y="135836"/>
                </a:lnTo>
                <a:lnTo>
                  <a:pt x="0" y="679170"/>
                </a:lnTo>
                <a:lnTo>
                  <a:pt x="6925" y="722105"/>
                </a:lnTo>
                <a:lnTo>
                  <a:pt x="26208" y="759393"/>
                </a:lnTo>
                <a:lnTo>
                  <a:pt x="55613" y="788798"/>
                </a:lnTo>
                <a:lnTo>
                  <a:pt x="92901" y="808082"/>
                </a:lnTo>
                <a:lnTo>
                  <a:pt x="135836" y="815007"/>
                </a:lnTo>
                <a:lnTo>
                  <a:pt x="1957344" y="815007"/>
                </a:lnTo>
                <a:lnTo>
                  <a:pt x="2000279" y="808082"/>
                </a:lnTo>
                <a:lnTo>
                  <a:pt x="2037567" y="788798"/>
                </a:lnTo>
                <a:lnTo>
                  <a:pt x="2066972" y="759393"/>
                </a:lnTo>
                <a:lnTo>
                  <a:pt x="2086255" y="722105"/>
                </a:lnTo>
                <a:lnTo>
                  <a:pt x="2093180" y="679170"/>
                </a:lnTo>
                <a:lnTo>
                  <a:pt x="2093180" y="135836"/>
                </a:lnTo>
                <a:lnTo>
                  <a:pt x="2086255" y="92901"/>
                </a:lnTo>
                <a:lnTo>
                  <a:pt x="2066972" y="55612"/>
                </a:lnTo>
                <a:lnTo>
                  <a:pt x="2037567" y="26208"/>
                </a:lnTo>
                <a:lnTo>
                  <a:pt x="2000279" y="6924"/>
                </a:lnTo>
                <a:lnTo>
                  <a:pt x="1957344" y="0"/>
                </a:lnTo>
                <a:close/>
              </a:path>
            </a:pathLst>
          </a:custGeom>
          <a:solidFill>
            <a:srgbClr val="004479"/>
          </a:solidFill>
        </p:spPr>
        <p:txBody>
          <a:bodyPr wrap="square" lIns="0" tIns="0" rIns="0" bIns="0" rtlCol="0"/>
          <a:lstStyle/>
          <a:p>
            <a:endParaRPr/>
          </a:p>
        </p:txBody>
      </p:sp>
      <p:sp>
        <p:nvSpPr>
          <p:cNvPr id="17" name="object 17"/>
          <p:cNvSpPr/>
          <p:nvPr/>
        </p:nvSpPr>
        <p:spPr>
          <a:xfrm>
            <a:off x="8511797" y="3803817"/>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6" y="0"/>
                </a:lnTo>
                <a:lnTo>
                  <a:pt x="1957344" y="0"/>
                </a:lnTo>
                <a:lnTo>
                  <a:pt x="2000279" y="6925"/>
                </a:lnTo>
                <a:lnTo>
                  <a:pt x="2037567" y="26208"/>
                </a:lnTo>
                <a:lnTo>
                  <a:pt x="2066972" y="55613"/>
                </a:lnTo>
                <a:lnTo>
                  <a:pt x="2086256" y="92902"/>
                </a:lnTo>
                <a:lnTo>
                  <a:pt x="2093181" y="135837"/>
                </a:lnTo>
                <a:lnTo>
                  <a:pt x="2093181" y="679170"/>
                </a:lnTo>
                <a:lnTo>
                  <a:pt x="2086256" y="722105"/>
                </a:lnTo>
                <a:lnTo>
                  <a:pt x="2066972" y="759394"/>
                </a:lnTo>
                <a:lnTo>
                  <a:pt x="2037567" y="788799"/>
                </a:lnTo>
                <a:lnTo>
                  <a:pt x="2000279" y="808082"/>
                </a:lnTo>
                <a:lnTo>
                  <a:pt x="1957344" y="815007"/>
                </a:lnTo>
                <a:lnTo>
                  <a:pt x="135836"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18" name="object 18"/>
          <p:cNvSpPr txBox="1"/>
          <p:nvPr/>
        </p:nvSpPr>
        <p:spPr>
          <a:xfrm>
            <a:off x="8706522" y="4030981"/>
            <a:ext cx="17018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条件组合覆盖</a:t>
            </a:r>
            <a:endParaRPr sz="2200">
              <a:latin typeface="微软雅黑" panose="020B0503020204020204" pitchFamily="34" charset="-122"/>
              <a:cs typeface="微软雅黑" panose="020B0503020204020204" pitchFamily="34" charset="-122"/>
            </a:endParaRPr>
          </a:p>
        </p:txBody>
      </p:sp>
      <p:sp>
        <p:nvSpPr>
          <p:cNvPr id="19" name="object 19"/>
          <p:cNvSpPr/>
          <p:nvPr/>
        </p:nvSpPr>
        <p:spPr>
          <a:xfrm>
            <a:off x="8517806" y="2871313"/>
            <a:ext cx="2093595" cy="815340"/>
          </a:xfrm>
          <a:custGeom>
            <a:avLst/>
            <a:gdLst/>
            <a:ahLst/>
            <a:cxnLst/>
            <a:rect l="l" t="t" r="r" b="b"/>
            <a:pathLst>
              <a:path w="2093595" h="815339">
                <a:moveTo>
                  <a:pt x="1957345" y="0"/>
                </a:moveTo>
                <a:lnTo>
                  <a:pt x="135836" y="0"/>
                </a:lnTo>
                <a:lnTo>
                  <a:pt x="92901" y="6925"/>
                </a:lnTo>
                <a:lnTo>
                  <a:pt x="55613" y="26208"/>
                </a:lnTo>
                <a:lnTo>
                  <a:pt x="26208" y="55613"/>
                </a:lnTo>
                <a:lnTo>
                  <a:pt x="6925" y="92901"/>
                </a:lnTo>
                <a:lnTo>
                  <a:pt x="0" y="135836"/>
                </a:lnTo>
                <a:lnTo>
                  <a:pt x="0" y="679170"/>
                </a:lnTo>
                <a:lnTo>
                  <a:pt x="6925" y="722105"/>
                </a:lnTo>
                <a:lnTo>
                  <a:pt x="26208" y="759393"/>
                </a:lnTo>
                <a:lnTo>
                  <a:pt x="55613" y="788798"/>
                </a:lnTo>
                <a:lnTo>
                  <a:pt x="92901" y="808082"/>
                </a:lnTo>
                <a:lnTo>
                  <a:pt x="135836" y="815007"/>
                </a:lnTo>
                <a:lnTo>
                  <a:pt x="1957345" y="815007"/>
                </a:lnTo>
                <a:lnTo>
                  <a:pt x="2000280" y="808082"/>
                </a:lnTo>
                <a:lnTo>
                  <a:pt x="2037569" y="788798"/>
                </a:lnTo>
                <a:lnTo>
                  <a:pt x="2066974" y="759393"/>
                </a:lnTo>
                <a:lnTo>
                  <a:pt x="2086258" y="722105"/>
                </a:lnTo>
                <a:lnTo>
                  <a:pt x="2093183" y="679170"/>
                </a:lnTo>
                <a:lnTo>
                  <a:pt x="2093183" y="135836"/>
                </a:lnTo>
                <a:lnTo>
                  <a:pt x="2086258" y="92901"/>
                </a:lnTo>
                <a:lnTo>
                  <a:pt x="2066974" y="55613"/>
                </a:lnTo>
                <a:lnTo>
                  <a:pt x="2037569" y="26208"/>
                </a:lnTo>
                <a:lnTo>
                  <a:pt x="2000280" y="6925"/>
                </a:lnTo>
                <a:lnTo>
                  <a:pt x="1957345" y="0"/>
                </a:lnTo>
                <a:close/>
              </a:path>
            </a:pathLst>
          </a:custGeom>
          <a:solidFill>
            <a:srgbClr val="004479"/>
          </a:solidFill>
        </p:spPr>
        <p:txBody>
          <a:bodyPr wrap="square" lIns="0" tIns="0" rIns="0" bIns="0" rtlCol="0"/>
          <a:lstStyle/>
          <a:p>
            <a:endParaRPr/>
          </a:p>
        </p:txBody>
      </p:sp>
      <p:sp>
        <p:nvSpPr>
          <p:cNvPr id="20" name="object 20"/>
          <p:cNvSpPr/>
          <p:nvPr/>
        </p:nvSpPr>
        <p:spPr>
          <a:xfrm>
            <a:off x="8517806" y="2871313"/>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6" y="0"/>
                </a:lnTo>
                <a:lnTo>
                  <a:pt x="1957346" y="0"/>
                </a:lnTo>
                <a:lnTo>
                  <a:pt x="2000281" y="6925"/>
                </a:lnTo>
                <a:lnTo>
                  <a:pt x="2037570" y="26208"/>
                </a:lnTo>
                <a:lnTo>
                  <a:pt x="2066974" y="55613"/>
                </a:lnTo>
                <a:lnTo>
                  <a:pt x="2086258" y="92902"/>
                </a:lnTo>
                <a:lnTo>
                  <a:pt x="2093183" y="135837"/>
                </a:lnTo>
                <a:lnTo>
                  <a:pt x="2093183" y="679170"/>
                </a:lnTo>
                <a:lnTo>
                  <a:pt x="2086258" y="722105"/>
                </a:lnTo>
                <a:lnTo>
                  <a:pt x="2066974" y="759394"/>
                </a:lnTo>
                <a:lnTo>
                  <a:pt x="2037570" y="788799"/>
                </a:lnTo>
                <a:lnTo>
                  <a:pt x="2000281" y="808082"/>
                </a:lnTo>
                <a:lnTo>
                  <a:pt x="1957346" y="815007"/>
                </a:lnTo>
                <a:lnTo>
                  <a:pt x="135836"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21" name="object 21"/>
          <p:cNvSpPr txBox="1"/>
          <p:nvPr/>
        </p:nvSpPr>
        <p:spPr>
          <a:xfrm>
            <a:off x="8712531" y="3098477"/>
            <a:ext cx="17018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判定条件覆盖</a:t>
            </a:r>
            <a:endParaRPr sz="2200">
              <a:latin typeface="微软雅黑" panose="020B0503020204020204" pitchFamily="34" charset="-122"/>
              <a:cs typeface="微软雅黑" panose="020B0503020204020204" pitchFamily="34" charset="-122"/>
            </a:endParaRPr>
          </a:p>
        </p:txBody>
      </p:sp>
      <p:sp>
        <p:nvSpPr>
          <p:cNvPr id="22" name="object 22"/>
          <p:cNvSpPr/>
          <p:nvPr/>
        </p:nvSpPr>
        <p:spPr>
          <a:xfrm>
            <a:off x="1710255" y="4737003"/>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8" y="788799"/>
                </a:lnTo>
                <a:lnTo>
                  <a:pt x="2066972" y="759395"/>
                </a:lnTo>
                <a:lnTo>
                  <a:pt x="2086256" y="722106"/>
                </a:lnTo>
                <a:lnTo>
                  <a:pt x="2093180" y="679171"/>
                </a:lnTo>
                <a:lnTo>
                  <a:pt x="2093180" y="135837"/>
                </a:lnTo>
                <a:lnTo>
                  <a:pt x="2086256" y="92902"/>
                </a:lnTo>
                <a:lnTo>
                  <a:pt x="2066972" y="55613"/>
                </a:lnTo>
                <a:lnTo>
                  <a:pt x="2037568" y="26208"/>
                </a:lnTo>
                <a:lnTo>
                  <a:pt x="2000279" y="6925"/>
                </a:lnTo>
                <a:lnTo>
                  <a:pt x="1957344" y="0"/>
                </a:lnTo>
                <a:close/>
              </a:path>
            </a:pathLst>
          </a:custGeom>
          <a:solidFill>
            <a:srgbClr val="007879"/>
          </a:solidFill>
        </p:spPr>
        <p:txBody>
          <a:bodyPr wrap="square" lIns="0" tIns="0" rIns="0" bIns="0" rtlCol="0"/>
          <a:lstStyle/>
          <a:p>
            <a:endParaRPr/>
          </a:p>
        </p:txBody>
      </p:sp>
      <p:sp>
        <p:nvSpPr>
          <p:cNvPr id="23" name="object 23"/>
          <p:cNvSpPr/>
          <p:nvPr/>
        </p:nvSpPr>
        <p:spPr>
          <a:xfrm>
            <a:off x="1710255" y="4737003"/>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7" y="0"/>
                </a:lnTo>
                <a:lnTo>
                  <a:pt x="1957344" y="0"/>
                </a:lnTo>
                <a:lnTo>
                  <a:pt x="2000279" y="6925"/>
                </a:lnTo>
                <a:lnTo>
                  <a:pt x="2037568" y="26208"/>
                </a:lnTo>
                <a:lnTo>
                  <a:pt x="2066972" y="55613"/>
                </a:lnTo>
                <a:lnTo>
                  <a:pt x="2086256" y="92902"/>
                </a:lnTo>
                <a:lnTo>
                  <a:pt x="2093181" y="135837"/>
                </a:lnTo>
                <a:lnTo>
                  <a:pt x="2093181" y="679170"/>
                </a:lnTo>
                <a:lnTo>
                  <a:pt x="2086256" y="722105"/>
                </a:lnTo>
                <a:lnTo>
                  <a:pt x="2066972" y="759394"/>
                </a:lnTo>
                <a:lnTo>
                  <a:pt x="2037568" y="788799"/>
                </a:lnTo>
                <a:lnTo>
                  <a:pt x="2000279" y="808082"/>
                </a:lnTo>
                <a:lnTo>
                  <a:pt x="1957344" y="815007"/>
                </a:lnTo>
                <a:lnTo>
                  <a:pt x="135837"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24" name="object 24"/>
          <p:cNvSpPr txBox="1"/>
          <p:nvPr/>
        </p:nvSpPr>
        <p:spPr>
          <a:xfrm>
            <a:off x="2184381" y="4964168"/>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条件覆盖</a:t>
            </a:r>
            <a:endParaRPr sz="2200">
              <a:latin typeface="微软雅黑" panose="020B0503020204020204" pitchFamily="34" charset="-122"/>
              <a:cs typeface="微软雅黑" panose="020B0503020204020204" pitchFamily="34" charset="-122"/>
            </a:endParaRPr>
          </a:p>
        </p:txBody>
      </p:sp>
      <p:sp>
        <p:nvSpPr>
          <p:cNvPr id="25" name="object 25"/>
          <p:cNvSpPr/>
          <p:nvPr/>
        </p:nvSpPr>
        <p:spPr>
          <a:xfrm>
            <a:off x="8517807" y="4737003"/>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7" y="788799"/>
                </a:lnTo>
                <a:lnTo>
                  <a:pt x="2066972" y="759395"/>
                </a:lnTo>
                <a:lnTo>
                  <a:pt x="2086255" y="722106"/>
                </a:lnTo>
                <a:lnTo>
                  <a:pt x="2093180" y="679171"/>
                </a:lnTo>
                <a:lnTo>
                  <a:pt x="2093180" y="135837"/>
                </a:lnTo>
                <a:lnTo>
                  <a:pt x="2086255" y="92902"/>
                </a:lnTo>
                <a:lnTo>
                  <a:pt x="2066972" y="55613"/>
                </a:lnTo>
                <a:lnTo>
                  <a:pt x="2037567" y="26208"/>
                </a:lnTo>
                <a:lnTo>
                  <a:pt x="2000279" y="6925"/>
                </a:lnTo>
                <a:lnTo>
                  <a:pt x="1957344" y="0"/>
                </a:lnTo>
                <a:close/>
              </a:path>
            </a:pathLst>
          </a:custGeom>
          <a:solidFill>
            <a:srgbClr val="004479"/>
          </a:solidFill>
        </p:spPr>
        <p:txBody>
          <a:bodyPr wrap="square" lIns="0" tIns="0" rIns="0" bIns="0" rtlCol="0"/>
          <a:lstStyle/>
          <a:p>
            <a:endParaRPr/>
          </a:p>
        </p:txBody>
      </p:sp>
      <p:sp>
        <p:nvSpPr>
          <p:cNvPr id="26" name="object 26"/>
          <p:cNvSpPr/>
          <p:nvPr/>
        </p:nvSpPr>
        <p:spPr>
          <a:xfrm>
            <a:off x="8517807" y="4737003"/>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6" y="0"/>
                </a:lnTo>
                <a:lnTo>
                  <a:pt x="1957344" y="0"/>
                </a:lnTo>
                <a:lnTo>
                  <a:pt x="2000279" y="6925"/>
                </a:lnTo>
                <a:lnTo>
                  <a:pt x="2037567" y="26208"/>
                </a:lnTo>
                <a:lnTo>
                  <a:pt x="2066972" y="55613"/>
                </a:lnTo>
                <a:lnTo>
                  <a:pt x="2086255" y="92902"/>
                </a:lnTo>
                <a:lnTo>
                  <a:pt x="2093180" y="135837"/>
                </a:lnTo>
                <a:lnTo>
                  <a:pt x="2093180" y="679170"/>
                </a:lnTo>
                <a:lnTo>
                  <a:pt x="2086255" y="722105"/>
                </a:lnTo>
                <a:lnTo>
                  <a:pt x="2066972" y="759394"/>
                </a:lnTo>
                <a:lnTo>
                  <a:pt x="2037567" y="788799"/>
                </a:lnTo>
                <a:lnTo>
                  <a:pt x="2000279" y="808082"/>
                </a:lnTo>
                <a:lnTo>
                  <a:pt x="1957344" y="815007"/>
                </a:lnTo>
                <a:lnTo>
                  <a:pt x="135836"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27" name="object 27"/>
          <p:cNvSpPr txBox="1"/>
          <p:nvPr/>
        </p:nvSpPr>
        <p:spPr>
          <a:xfrm>
            <a:off x="8991932" y="4964168"/>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路径覆盖</a:t>
            </a:r>
            <a:endParaRPr sz="2200">
              <a:latin typeface="微软雅黑" panose="020B0503020204020204" pitchFamily="34" charset="-122"/>
              <a:cs typeface="微软雅黑" panose="020B0503020204020204" pitchFamily="34" charset="-122"/>
            </a:endParaRPr>
          </a:p>
        </p:txBody>
      </p:sp>
      <p:sp>
        <p:nvSpPr>
          <p:cNvPr id="28" name="灯片编号占位符 27"/>
          <p:cNvSpPr>
            <a:spLocks noGrp="1"/>
          </p:cNvSpPr>
          <p:nvPr>
            <p:ph type="sldNum" sz="quarter" idx="12"/>
          </p:nvPr>
        </p:nvSpPr>
        <p:spPr/>
        <p:txBody>
          <a:bodyPr/>
          <a:lstStyle/>
          <a:p>
            <a:fld id="{74D2AB8B-5816-41F2-8B4B-CA5C3E4E6A65}" type="slidenum">
              <a:rPr lang="zh-CN" altLang="en-US" smtClean="0"/>
              <a:t>89</a:t>
            </a:fld>
            <a:endParaRPr lang="zh-CN" altLang="en-US"/>
          </a:p>
        </p:txBody>
      </p:sp>
      <p:sp>
        <p:nvSpPr>
          <p:cNvPr id="30" name="标题 29"/>
          <p:cNvSpPr>
            <a:spLocks noGrp="1"/>
          </p:cNvSpPr>
          <p:nvPr>
            <p:ph type="title"/>
          </p:nvPr>
        </p:nvSpPr>
        <p:spPr/>
        <p:txBody>
          <a:bodyPr/>
          <a:lstStyle/>
          <a:p>
            <a:r>
              <a:rPr lang="zh-CN" altLang="en-US" dirty="0"/>
              <a:t>代码覆盖标准</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18463" y="1544981"/>
            <a:ext cx="4689475" cy="1435100"/>
          </a:xfrm>
          <a:prstGeom prst="rect">
            <a:avLst/>
          </a:prstGeom>
        </p:spPr>
        <p:txBody>
          <a:bodyPr vert="horz" wrap="square" lIns="0" tIns="33020" rIns="0" bIns="0" rtlCol="0">
            <a:spAutoFit/>
          </a:bodyPr>
          <a:lstStyle/>
          <a:p>
            <a:pPr marL="12700">
              <a:lnSpc>
                <a:spcPct val="100000"/>
              </a:lnSpc>
              <a:spcBef>
                <a:spcPts val="260"/>
              </a:spcBef>
              <a:tabLst>
                <a:tab pos="2214880" algn="l"/>
                <a:tab pos="3121660" algn="l"/>
              </a:tabLst>
            </a:pPr>
            <a:r>
              <a:rPr sz="1700" b="1" spc="-5" dirty="0">
                <a:latin typeface="Courier New" panose="02070309020205020404"/>
                <a:cs typeface="Courier New" panose="02070309020205020404"/>
              </a:rPr>
              <a:t>double </a:t>
            </a:r>
            <a:r>
              <a:rPr sz="1700" b="1" dirty="0">
                <a:latin typeface="Courier New" panose="02070309020205020404"/>
                <a:cs typeface="Courier New" panose="02070309020205020404"/>
              </a:rPr>
              <a:t>func1(int	</a:t>
            </a:r>
            <a:r>
              <a:rPr sz="1700" b="1" spc="-5" dirty="0">
                <a:latin typeface="Courier New" panose="02070309020205020404"/>
                <a:cs typeface="Courier New" panose="02070309020205020404"/>
              </a:rPr>
              <a:t>a,</a:t>
            </a:r>
            <a:r>
              <a:rPr sz="1700" b="1" spc="5" dirty="0">
                <a:latin typeface="Courier New" panose="02070309020205020404"/>
                <a:cs typeface="Courier New" panose="02070309020205020404"/>
              </a:rPr>
              <a:t> </a:t>
            </a:r>
            <a:r>
              <a:rPr sz="1700" b="1" dirty="0">
                <a:latin typeface="Courier New" panose="02070309020205020404"/>
                <a:cs typeface="Courier New" panose="02070309020205020404"/>
              </a:rPr>
              <a:t>int	</a:t>
            </a:r>
            <a:r>
              <a:rPr sz="1700" b="1" spc="-5" dirty="0">
                <a:latin typeface="Courier New" panose="02070309020205020404"/>
                <a:cs typeface="Courier New" panose="02070309020205020404"/>
              </a:rPr>
              <a:t>b, double</a:t>
            </a:r>
            <a:r>
              <a:rPr sz="1700" b="1" spc="-90" dirty="0">
                <a:latin typeface="Courier New" panose="02070309020205020404"/>
                <a:cs typeface="Courier New" panose="02070309020205020404"/>
              </a:rPr>
              <a:t> </a:t>
            </a:r>
            <a:r>
              <a:rPr sz="1700" b="1" spc="-5" dirty="0">
                <a:latin typeface="Courier New" panose="02070309020205020404"/>
                <a:cs typeface="Courier New" panose="02070309020205020404"/>
              </a:rPr>
              <a:t>c)</a:t>
            </a:r>
            <a:endParaRPr sz="1700">
              <a:latin typeface="Courier New" panose="02070309020205020404"/>
              <a:cs typeface="Courier New" panose="02070309020205020404"/>
            </a:endParaRPr>
          </a:p>
          <a:p>
            <a:pPr marL="12700">
              <a:lnSpc>
                <a:spcPct val="100000"/>
              </a:lnSpc>
              <a:spcBef>
                <a:spcPts val="16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a:p>
            <a:pPr marL="1049020" marR="1948180" indent="-518795">
              <a:lnSpc>
                <a:spcPts val="2300"/>
              </a:lnSpc>
              <a:spcBef>
                <a:spcPts val="20"/>
              </a:spcBef>
            </a:pPr>
            <a:r>
              <a:rPr sz="1700" b="1" spc="-5" dirty="0">
                <a:latin typeface="Courier New" panose="02070309020205020404"/>
                <a:cs typeface="Courier New" panose="02070309020205020404"/>
              </a:rPr>
              <a:t>if (a&gt;0 &amp;&amp; b&gt;0)</a:t>
            </a:r>
            <a:r>
              <a:rPr sz="1700" b="1" spc="-85" dirty="0">
                <a:latin typeface="Courier New" panose="02070309020205020404"/>
                <a:cs typeface="Courier New" panose="02070309020205020404"/>
              </a:rPr>
              <a:t> </a:t>
            </a:r>
            <a:r>
              <a:rPr sz="1700" b="1" dirty="0">
                <a:latin typeface="Courier New" panose="02070309020205020404"/>
                <a:cs typeface="Courier New" panose="02070309020205020404"/>
              </a:rPr>
              <a:t>{  c =</a:t>
            </a:r>
            <a:r>
              <a:rPr sz="1700" b="1" spc="-40" dirty="0">
                <a:latin typeface="Courier New" panose="02070309020205020404"/>
                <a:cs typeface="Courier New" panose="02070309020205020404"/>
              </a:rPr>
              <a:t> </a:t>
            </a:r>
            <a:r>
              <a:rPr sz="1700" b="1" spc="-5" dirty="0">
                <a:latin typeface="Courier New" panose="02070309020205020404"/>
                <a:cs typeface="Courier New" panose="02070309020205020404"/>
              </a:rPr>
              <a:t>c/a;</a:t>
            </a:r>
            <a:endParaRPr sz="1700">
              <a:latin typeface="Courier New" panose="02070309020205020404"/>
              <a:cs typeface="Courier New" panose="02070309020205020404"/>
            </a:endParaRPr>
          </a:p>
          <a:p>
            <a:pPr marL="530860">
              <a:lnSpc>
                <a:spcPct val="100000"/>
              </a:lnSpc>
              <a:spcBef>
                <a:spcPts val="4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p:txBody>
      </p:sp>
      <p:sp>
        <p:nvSpPr>
          <p:cNvPr id="4" name="object 4"/>
          <p:cNvSpPr txBox="1"/>
          <p:nvPr/>
        </p:nvSpPr>
        <p:spPr>
          <a:xfrm>
            <a:off x="1836709" y="3234081"/>
            <a:ext cx="2228215" cy="889000"/>
          </a:xfrm>
          <a:prstGeom prst="rect">
            <a:avLst/>
          </a:prstGeom>
        </p:spPr>
        <p:txBody>
          <a:bodyPr vert="horz" wrap="square" lIns="0" tIns="12700" rIns="0" bIns="0" rtlCol="0">
            <a:spAutoFit/>
          </a:bodyPr>
          <a:lstStyle/>
          <a:p>
            <a:pPr marL="530860" marR="5080" indent="-518795">
              <a:lnSpc>
                <a:spcPct val="113000"/>
              </a:lnSpc>
              <a:spcBef>
                <a:spcPts val="100"/>
              </a:spcBef>
            </a:pPr>
            <a:r>
              <a:rPr sz="1700" b="1" spc="-5" dirty="0">
                <a:latin typeface="Courier New" panose="02070309020205020404"/>
                <a:cs typeface="Courier New" panose="02070309020205020404"/>
              </a:rPr>
              <a:t>if (a&gt;1 || c&gt;1)</a:t>
            </a:r>
            <a:r>
              <a:rPr sz="1700" b="1" spc="-85" dirty="0">
                <a:latin typeface="Courier New" panose="02070309020205020404"/>
                <a:cs typeface="Courier New" panose="02070309020205020404"/>
              </a:rPr>
              <a:t> </a:t>
            </a:r>
            <a:r>
              <a:rPr sz="1700" b="1" dirty="0">
                <a:latin typeface="Courier New" panose="02070309020205020404"/>
                <a:cs typeface="Courier New" panose="02070309020205020404"/>
              </a:rPr>
              <a:t>{  c =</a:t>
            </a:r>
            <a:r>
              <a:rPr sz="1700" b="1" spc="-40" dirty="0">
                <a:latin typeface="Courier New" panose="02070309020205020404"/>
                <a:cs typeface="Courier New" panose="02070309020205020404"/>
              </a:rPr>
              <a:t> </a:t>
            </a:r>
            <a:r>
              <a:rPr sz="1700" b="1" spc="-5" dirty="0">
                <a:latin typeface="Courier New" panose="02070309020205020404"/>
                <a:cs typeface="Courier New" panose="02070309020205020404"/>
              </a:rPr>
              <a:t>c+1;</a:t>
            </a:r>
            <a:endParaRPr sz="1700">
              <a:latin typeface="Courier New" panose="02070309020205020404"/>
              <a:cs typeface="Courier New" panose="02070309020205020404"/>
            </a:endParaRPr>
          </a:p>
          <a:p>
            <a:pPr marL="12700">
              <a:lnSpc>
                <a:spcPct val="100000"/>
              </a:lnSpc>
              <a:spcBef>
                <a:spcPts val="16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p:txBody>
      </p:sp>
      <p:sp>
        <p:nvSpPr>
          <p:cNvPr id="5" name="object 5"/>
          <p:cNvSpPr txBox="1"/>
          <p:nvPr/>
        </p:nvSpPr>
        <p:spPr>
          <a:xfrm>
            <a:off x="1836709" y="4410101"/>
            <a:ext cx="1062355" cy="284480"/>
          </a:xfrm>
          <a:prstGeom prst="rect">
            <a:avLst/>
          </a:prstGeom>
        </p:spPr>
        <p:txBody>
          <a:bodyPr vert="horz" wrap="square" lIns="0" tIns="12700" rIns="0" bIns="0" rtlCol="0">
            <a:spAutoFit/>
          </a:bodyPr>
          <a:lstStyle/>
          <a:p>
            <a:pPr marL="12700">
              <a:lnSpc>
                <a:spcPct val="100000"/>
              </a:lnSpc>
              <a:spcBef>
                <a:spcPts val="100"/>
              </a:spcBef>
            </a:pPr>
            <a:r>
              <a:rPr sz="1700" b="1" dirty="0">
                <a:latin typeface="Courier New" panose="02070309020205020404"/>
                <a:cs typeface="Courier New" panose="02070309020205020404"/>
              </a:rPr>
              <a:t>c =</a:t>
            </a:r>
            <a:r>
              <a:rPr sz="1700" b="1" spc="-100" dirty="0">
                <a:latin typeface="Courier New" panose="02070309020205020404"/>
                <a:cs typeface="Courier New" panose="02070309020205020404"/>
              </a:rPr>
              <a:t> </a:t>
            </a:r>
            <a:r>
              <a:rPr sz="1700" b="1" dirty="0">
                <a:latin typeface="Courier New" panose="02070309020205020404"/>
                <a:cs typeface="Courier New" panose="02070309020205020404"/>
              </a:rPr>
              <a:t>b+c;</a:t>
            </a:r>
            <a:endParaRPr sz="1700">
              <a:latin typeface="Courier New" panose="02070309020205020404"/>
              <a:cs typeface="Courier New" panose="02070309020205020404"/>
            </a:endParaRPr>
          </a:p>
        </p:txBody>
      </p:sp>
      <p:sp>
        <p:nvSpPr>
          <p:cNvPr id="6" name="object 6"/>
          <p:cNvSpPr txBox="1"/>
          <p:nvPr/>
        </p:nvSpPr>
        <p:spPr>
          <a:xfrm>
            <a:off x="1318463" y="4961283"/>
            <a:ext cx="1710055" cy="584200"/>
          </a:xfrm>
          <a:prstGeom prst="rect">
            <a:avLst/>
          </a:prstGeom>
        </p:spPr>
        <p:txBody>
          <a:bodyPr vert="horz" wrap="square" lIns="0" tIns="33019" rIns="0" bIns="0" rtlCol="0">
            <a:spAutoFit/>
          </a:bodyPr>
          <a:lstStyle/>
          <a:p>
            <a:pPr marL="530860">
              <a:lnSpc>
                <a:spcPct val="100000"/>
              </a:lnSpc>
              <a:spcBef>
                <a:spcPts val="260"/>
              </a:spcBef>
            </a:pPr>
            <a:r>
              <a:rPr sz="1700" b="1" spc="-5" dirty="0">
                <a:latin typeface="Courier New" panose="02070309020205020404"/>
                <a:cs typeface="Courier New" panose="02070309020205020404"/>
              </a:rPr>
              <a:t>return</a:t>
            </a:r>
            <a:r>
              <a:rPr sz="1700" b="1" spc="-90" dirty="0">
                <a:latin typeface="Courier New" panose="02070309020205020404"/>
                <a:cs typeface="Courier New" panose="02070309020205020404"/>
              </a:rPr>
              <a:t> </a:t>
            </a:r>
            <a:r>
              <a:rPr sz="1700" b="1" spc="-5" dirty="0">
                <a:latin typeface="Courier New" panose="02070309020205020404"/>
                <a:cs typeface="Courier New" panose="02070309020205020404"/>
              </a:rPr>
              <a:t>c;</a:t>
            </a:r>
            <a:endParaRPr sz="1700">
              <a:latin typeface="Courier New" panose="02070309020205020404"/>
              <a:cs typeface="Courier New" panose="02070309020205020404"/>
            </a:endParaRPr>
          </a:p>
          <a:p>
            <a:pPr marL="12700">
              <a:lnSpc>
                <a:spcPct val="100000"/>
              </a:lnSpc>
              <a:spcBef>
                <a:spcPts val="16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p:txBody>
      </p:sp>
      <p:sp>
        <p:nvSpPr>
          <p:cNvPr id="7" name="object 7"/>
          <p:cNvSpPr/>
          <p:nvPr/>
        </p:nvSpPr>
        <p:spPr>
          <a:xfrm>
            <a:off x="8172785" y="4598060"/>
            <a:ext cx="635" cy="834390"/>
          </a:xfrm>
          <a:custGeom>
            <a:avLst/>
            <a:gdLst/>
            <a:ahLst/>
            <a:cxnLst/>
            <a:rect l="l" t="t" r="r" b="b"/>
            <a:pathLst>
              <a:path w="634" h="834389">
                <a:moveTo>
                  <a:pt x="613" y="0"/>
                </a:moveTo>
                <a:lnTo>
                  <a:pt x="0" y="834389"/>
                </a:lnTo>
              </a:path>
            </a:pathLst>
          </a:custGeom>
          <a:ln w="19049">
            <a:solidFill>
              <a:srgbClr val="000000"/>
            </a:solidFill>
          </a:ln>
        </p:spPr>
        <p:txBody>
          <a:bodyPr wrap="square" lIns="0" tIns="0" rIns="0" bIns="0" rtlCol="0"/>
          <a:lstStyle/>
          <a:p>
            <a:endParaRPr/>
          </a:p>
        </p:txBody>
      </p:sp>
      <p:sp>
        <p:nvSpPr>
          <p:cNvPr id="8" name="object 8"/>
          <p:cNvSpPr/>
          <p:nvPr/>
        </p:nvSpPr>
        <p:spPr>
          <a:xfrm>
            <a:off x="8134723" y="5381622"/>
            <a:ext cx="76200" cy="76835"/>
          </a:xfrm>
          <a:custGeom>
            <a:avLst/>
            <a:gdLst/>
            <a:ahLst/>
            <a:cxnLst/>
            <a:rect l="l" t="t" r="r" b="b"/>
            <a:pathLst>
              <a:path w="76200" h="76835">
                <a:moveTo>
                  <a:pt x="0" y="0"/>
                </a:moveTo>
                <a:lnTo>
                  <a:pt x="38044" y="76227"/>
                </a:lnTo>
                <a:lnTo>
                  <a:pt x="76200" y="55"/>
                </a:lnTo>
                <a:lnTo>
                  <a:pt x="0" y="0"/>
                </a:lnTo>
                <a:close/>
              </a:path>
            </a:pathLst>
          </a:custGeom>
          <a:solidFill>
            <a:srgbClr val="000000"/>
          </a:solidFill>
        </p:spPr>
        <p:txBody>
          <a:bodyPr wrap="square" lIns="0" tIns="0" rIns="0" bIns="0" rtlCol="0"/>
          <a:lstStyle/>
          <a:p>
            <a:endParaRPr/>
          </a:p>
        </p:txBody>
      </p:sp>
      <p:sp>
        <p:nvSpPr>
          <p:cNvPr id="9" name="object 9"/>
          <p:cNvSpPr/>
          <p:nvPr/>
        </p:nvSpPr>
        <p:spPr>
          <a:xfrm>
            <a:off x="7106687" y="1775089"/>
            <a:ext cx="2133600" cy="902969"/>
          </a:xfrm>
          <a:custGeom>
            <a:avLst/>
            <a:gdLst/>
            <a:ahLst/>
            <a:cxnLst/>
            <a:rect l="l" t="t" r="r" b="b"/>
            <a:pathLst>
              <a:path w="2133600" h="902969">
                <a:moveTo>
                  <a:pt x="0" y="451365"/>
                </a:moveTo>
                <a:lnTo>
                  <a:pt x="1066711" y="0"/>
                </a:lnTo>
                <a:lnTo>
                  <a:pt x="2133424" y="451365"/>
                </a:lnTo>
                <a:lnTo>
                  <a:pt x="1066711" y="902731"/>
                </a:lnTo>
                <a:lnTo>
                  <a:pt x="0" y="451365"/>
                </a:lnTo>
                <a:close/>
              </a:path>
            </a:pathLst>
          </a:custGeom>
          <a:ln w="19049">
            <a:solidFill>
              <a:srgbClr val="000000"/>
            </a:solidFill>
          </a:ln>
        </p:spPr>
        <p:txBody>
          <a:bodyPr wrap="square" lIns="0" tIns="0" rIns="0" bIns="0" rtlCol="0"/>
          <a:lstStyle/>
          <a:p>
            <a:endParaRPr/>
          </a:p>
        </p:txBody>
      </p:sp>
      <p:sp>
        <p:nvSpPr>
          <p:cNvPr id="10" name="object 10"/>
          <p:cNvSpPr txBox="1"/>
          <p:nvPr/>
        </p:nvSpPr>
        <p:spPr>
          <a:xfrm>
            <a:off x="7401283" y="2076594"/>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11" name="object 11"/>
          <p:cNvSpPr/>
          <p:nvPr/>
        </p:nvSpPr>
        <p:spPr>
          <a:xfrm>
            <a:off x="9481628" y="2449220"/>
            <a:ext cx="1149985" cy="369570"/>
          </a:xfrm>
          <a:custGeom>
            <a:avLst/>
            <a:gdLst/>
            <a:ahLst/>
            <a:cxnLst/>
            <a:rect l="l" t="t" r="r" b="b"/>
            <a:pathLst>
              <a:path w="1149984" h="369569">
                <a:moveTo>
                  <a:pt x="0" y="0"/>
                </a:moveTo>
                <a:lnTo>
                  <a:pt x="1149674" y="0"/>
                </a:lnTo>
                <a:lnTo>
                  <a:pt x="1149674" y="369332"/>
                </a:lnTo>
                <a:lnTo>
                  <a:pt x="0" y="369332"/>
                </a:lnTo>
                <a:lnTo>
                  <a:pt x="0" y="0"/>
                </a:lnTo>
                <a:close/>
              </a:path>
            </a:pathLst>
          </a:custGeom>
          <a:ln w="19049">
            <a:solidFill>
              <a:srgbClr val="000000"/>
            </a:solidFill>
          </a:ln>
        </p:spPr>
        <p:txBody>
          <a:bodyPr wrap="square" lIns="0" tIns="0" rIns="0" bIns="0" rtlCol="0"/>
          <a:lstStyle/>
          <a:p>
            <a:endParaRPr/>
          </a:p>
        </p:txBody>
      </p:sp>
      <p:sp>
        <p:nvSpPr>
          <p:cNvPr id="12" name="object 12"/>
          <p:cNvSpPr txBox="1"/>
          <p:nvPr/>
        </p:nvSpPr>
        <p:spPr>
          <a:xfrm>
            <a:off x="9560368" y="2484025"/>
            <a:ext cx="98615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urier New" panose="02070309020205020404"/>
                <a:cs typeface="Courier New" panose="02070309020205020404"/>
              </a:rPr>
              <a:t>c =</a:t>
            </a:r>
            <a:r>
              <a:rPr sz="1800" b="1" spc="-10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13" name="object 13"/>
          <p:cNvSpPr/>
          <p:nvPr/>
        </p:nvSpPr>
        <p:spPr>
          <a:xfrm>
            <a:off x="7106687" y="3649370"/>
            <a:ext cx="2133600" cy="948690"/>
          </a:xfrm>
          <a:custGeom>
            <a:avLst/>
            <a:gdLst/>
            <a:ahLst/>
            <a:cxnLst/>
            <a:rect l="l" t="t" r="r" b="b"/>
            <a:pathLst>
              <a:path w="2133600" h="948689">
                <a:moveTo>
                  <a:pt x="0" y="474344"/>
                </a:moveTo>
                <a:lnTo>
                  <a:pt x="1066711" y="0"/>
                </a:lnTo>
                <a:lnTo>
                  <a:pt x="2133424" y="474344"/>
                </a:lnTo>
                <a:lnTo>
                  <a:pt x="1066711" y="948689"/>
                </a:lnTo>
                <a:lnTo>
                  <a:pt x="0" y="474344"/>
                </a:lnTo>
                <a:close/>
              </a:path>
            </a:pathLst>
          </a:custGeom>
          <a:ln w="19049">
            <a:solidFill>
              <a:srgbClr val="000000"/>
            </a:solidFill>
          </a:ln>
        </p:spPr>
        <p:txBody>
          <a:bodyPr wrap="square" lIns="0" tIns="0" rIns="0" bIns="0" rtlCol="0"/>
          <a:lstStyle/>
          <a:p>
            <a:endParaRPr/>
          </a:p>
        </p:txBody>
      </p:sp>
      <p:sp>
        <p:nvSpPr>
          <p:cNvPr id="14" name="object 14"/>
          <p:cNvSpPr txBox="1"/>
          <p:nvPr/>
        </p:nvSpPr>
        <p:spPr>
          <a:xfrm>
            <a:off x="7477483" y="3973855"/>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5" name="object 15"/>
          <p:cNvSpPr txBox="1"/>
          <p:nvPr/>
        </p:nvSpPr>
        <p:spPr>
          <a:xfrm>
            <a:off x="9474206" y="4399940"/>
            <a:ext cx="1149985" cy="369570"/>
          </a:xfrm>
          <a:prstGeom prst="rect">
            <a:avLst/>
          </a:prstGeom>
          <a:ln w="19049">
            <a:solidFill>
              <a:srgbClr val="000000"/>
            </a:solidFill>
          </a:ln>
        </p:spPr>
        <p:txBody>
          <a:bodyPr vert="horz" wrap="square" lIns="0" tIns="47625" rIns="0" bIns="0" rtlCol="0">
            <a:spAutoFit/>
          </a:bodyPr>
          <a:lstStyle/>
          <a:p>
            <a:pPr marL="91440">
              <a:lnSpc>
                <a:spcPct val="100000"/>
              </a:lnSpc>
              <a:spcBef>
                <a:spcPts val="375"/>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6" name="object 16"/>
          <p:cNvSpPr/>
          <p:nvPr/>
        </p:nvSpPr>
        <p:spPr>
          <a:xfrm>
            <a:off x="9240111" y="2226454"/>
            <a:ext cx="815975" cy="198120"/>
          </a:xfrm>
          <a:custGeom>
            <a:avLst/>
            <a:gdLst/>
            <a:ahLst/>
            <a:cxnLst/>
            <a:rect l="l" t="t" r="r" b="b"/>
            <a:pathLst>
              <a:path w="815975" h="198119">
                <a:moveTo>
                  <a:pt x="0" y="0"/>
                </a:moveTo>
                <a:lnTo>
                  <a:pt x="815974" y="0"/>
                </a:lnTo>
                <a:lnTo>
                  <a:pt x="815974" y="197643"/>
                </a:lnTo>
              </a:path>
            </a:pathLst>
          </a:custGeom>
          <a:ln w="19049">
            <a:solidFill>
              <a:srgbClr val="000000"/>
            </a:solidFill>
          </a:ln>
        </p:spPr>
        <p:txBody>
          <a:bodyPr wrap="square" lIns="0" tIns="0" rIns="0" bIns="0" rtlCol="0"/>
          <a:lstStyle/>
          <a:p>
            <a:endParaRPr/>
          </a:p>
        </p:txBody>
      </p:sp>
      <p:sp>
        <p:nvSpPr>
          <p:cNvPr id="17" name="object 17"/>
          <p:cNvSpPr/>
          <p:nvPr/>
        </p:nvSpPr>
        <p:spPr>
          <a:xfrm>
            <a:off x="10017986" y="237329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8" name="object 18"/>
          <p:cNvSpPr/>
          <p:nvPr/>
        </p:nvSpPr>
        <p:spPr>
          <a:xfrm>
            <a:off x="8173399" y="2677820"/>
            <a:ext cx="0" cy="946150"/>
          </a:xfrm>
          <a:custGeom>
            <a:avLst/>
            <a:gdLst/>
            <a:ahLst/>
            <a:cxnLst/>
            <a:rect l="l" t="t" r="r" b="b"/>
            <a:pathLst>
              <a:path h="946150">
                <a:moveTo>
                  <a:pt x="0" y="0"/>
                </a:moveTo>
                <a:lnTo>
                  <a:pt x="0" y="946149"/>
                </a:lnTo>
              </a:path>
            </a:pathLst>
          </a:custGeom>
          <a:ln w="19049">
            <a:solidFill>
              <a:srgbClr val="000000"/>
            </a:solidFill>
          </a:ln>
        </p:spPr>
        <p:txBody>
          <a:bodyPr wrap="square" lIns="0" tIns="0" rIns="0" bIns="0" rtlCol="0"/>
          <a:lstStyle/>
          <a:p>
            <a:endParaRPr/>
          </a:p>
        </p:txBody>
      </p:sp>
      <p:sp>
        <p:nvSpPr>
          <p:cNvPr id="19" name="object 19"/>
          <p:cNvSpPr/>
          <p:nvPr/>
        </p:nvSpPr>
        <p:spPr>
          <a:xfrm>
            <a:off x="8135300" y="357317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0" name="object 20"/>
          <p:cNvSpPr txBox="1"/>
          <p:nvPr/>
        </p:nvSpPr>
        <p:spPr>
          <a:xfrm>
            <a:off x="8266746" y="271084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1" name="object 21"/>
          <p:cNvSpPr/>
          <p:nvPr/>
        </p:nvSpPr>
        <p:spPr>
          <a:xfrm>
            <a:off x="8266595" y="2818552"/>
            <a:ext cx="1790064" cy="312420"/>
          </a:xfrm>
          <a:custGeom>
            <a:avLst/>
            <a:gdLst/>
            <a:ahLst/>
            <a:cxnLst/>
            <a:rect l="l" t="t" r="r" b="b"/>
            <a:pathLst>
              <a:path w="1790065" h="312419">
                <a:moveTo>
                  <a:pt x="1789870" y="0"/>
                </a:moveTo>
                <a:lnTo>
                  <a:pt x="1789870" y="312267"/>
                </a:lnTo>
                <a:lnTo>
                  <a:pt x="0" y="312267"/>
                </a:lnTo>
              </a:path>
            </a:pathLst>
          </a:custGeom>
          <a:ln w="19049">
            <a:solidFill>
              <a:srgbClr val="000000"/>
            </a:solidFill>
          </a:ln>
        </p:spPr>
        <p:txBody>
          <a:bodyPr wrap="square" lIns="0" tIns="0" rIns="0" bIns="0" rtlCol="0"/>
          <a:lstStyle/>
          <a:p>
            <a:endParaRPr/>
          </a:p>
        </p:txBody>
      </p:sp>
      <p:sp>
        <p:nvSpPr>
          <p:cNvPr id="22" name="object 22"/>
          <p:cNvSpPr/>
          <p:nvPr/>
        </p:nvSpPr>
        <p:spPr>
          <a:xfrm>
            <a:off x="8092443" y="3054058"/>
            <a:ext cx="224951" cy="153525"/>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9240111" y="4123715"/>
            <a:ext cx="808990" cy="250825"/>
          </a:xfrm>
          <a:custGeom>
            <a:avLst/>
            <a:gdLst/>
            <a:ahLst/>
            <a:cxnLst/>
            <a:rect l="l" t="t" r="r" b="b"/>
            <a:pathLst>
              <a:path w="808990" h="250825">
                <a:moveTo>
                  <a:pt x="0" y="0"/>
                </a:moveTo>
                <a:lnTo>
                  <a:pt x="808831" y="0"/>
                </a:lnTo>
                <a:lnTo>
                  <a:pt x="808831" y="250824"/>
                </a:lnTo>
              </a:path>
            </a:pathLst>
          </a:custGeom>
          <a:ln w="19049">
            <a:solidFill>
              <a:srgbClr val="000000"/>
            </a:solidFill>
          </a:ln>
        </p:spPr>
        <p:txBody>
          <a:bodyPr wrap="square" lIns="0" tIns="0" rIns="0" bIns="0" rtlCol="0"/>
          <a:lstStyle/>
          <a:p>
            <a:endParaRPr/>
          </a:p>
        </p:txBody>
      </p:sp>
      <p:sp>
        <p:nvSpPr>
          <p:cNvPr id="24" name="object 24"/>
          <p:cNvSpPr/>
          <p:nvPr/>
        </p:nvSpPr>
        <p:spPr>
          <a:xfrm>
            <a:off x="10010843" y="432374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5" name="object 25"/>
          <p:cNvSpPr/>
          <p:nvPr/>
        </p:nvSpPr>
        <p:spPr>
          <a:xfrm>
            <a:off x="8266594" y="4769271"/>
            <a:ext cx="1782445" cy="327660"/>
          </a:xfrm>
          <a:custGeom>
            <a:avLst/>
            <a:gdLst/>
            <a:ahLst/>
            <a:cxnLst/>
            <a:rect l="l" t="t" r="r" b="b"/>
            <a:pathLst>
              <a:path w="1782445" h="327660">
                <a:moveTo>
                  <a:pt x="1782449" y="0"/>
                </a:moveTo>
                <a:lnTo>
                  <a:pt x="1782449" y="327507"/>
                </a:lnTo>
                <a:lnTo>
                  <a:pt x="0" y="327507"/>
                </a:lnTo>
              </a:path>
            </a:pathLst>
          </a:custGeom>
          <a:ln w="19049">
            <a:solidFill>
              <a:srgbClr val="000000"/>
            </a:solidFill>
          </a:ln>
        </p:spPr>
        <p:txBody>
          <a:bodyPr wrap="square" lIns="0" tIns="0" rIns="0" bIns="0" rtlCol="0"/>
          <a:lstStyle/>
          <a:p>
            <a:endParaRPr/>
          </a:p>
        </p:txBody>
      </p:sp>
      <p:sp>
        <p:nvSpPr>
          <p:cNvPr id="26" name="object 26"/>
          <p:cNvSpPr/>
          <p:nvPr/>
        </p:nvSpPr>
        <p:spPr>
          <a:xfrm>
            <a:off x="8092443" y="5020018"/>
            <a:ext cx="224951" cy="153524"/>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8173399" y="1312570"/>
            <a:ext cx="0" cy="437515"/>
          </a:xfrm>
          <a:custGeom>
            <a:avLst/>
            <a:gdLst/>
            <a:ahLst/>
            <a:cxnLst/>
            <a:rect l="l" t="t" r="r" b="b"/>
            <a:pathLst>
              <a:path h="437514">
                <a:moveTo>
                  <a:pt x="0" y="0"/>
                </a:moveTo>
                <a:lnTo>
                  <a:pt x="0" y="437356"/>
                </a:lnTo>
              </a:path>
            </a:pathLst>
          </a:custGeom>
          <a:ln w="19049">
            <a:solidFill>
              <a:srgbClr val="000000"/>
            </a:solidFill>
          </a:ln>
        </p:spPr>
        <p:txBody>
          <a:bodyPr wrap="square" lIns="0" tIns="0" rIns="0" bIns="0" rtlCol="0"/>
          <a:lstStyle/>
          <a:p>
            <a:endParaRPr/>
          </a:p>
        </p:txBody>
      </p:sp>
      <p:sp>
        <p:nvSpPr>
          <p:cNvPr id="28" name="object 28"/>
          <p:cNvSpPr/>
          <p:nvPr/>
        </p:nvSpPr>
        <p:spPr>
          <a:xfrm>
            <a:off x="8135300" y="169912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9" name="object 29"/>
          <p:cNvSpPr txBox="1"/>
          <p:nvPr/>
        </p:nvSpPr>
        <p:spPr>
          <a:xfrm>
            <a:off x="9265248" y="196050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30" name="object 30"/>
          <p:cNvSpPr txBox="1"/>
          <p:nvPr/>
        </p:nvSpPr>
        <p:spPr>
          <a:xfrm>
            <a:off x="8260368" y="464632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31" name="object 31"/>
          <p:cNvSpPr txBox="1"/>
          <p:nvPr/>
        </p:nvSpPr>
        <p:spPr>
          <a:xfrm>
            <a:off x="9218550" y="3848362"/>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32" name="object 32"/>
          <p:cNvSpPr txBox="1"/>
          <p:nvPr/>
        </p:nvSpPr>
        <p:spPr>
          <a:xfrm>
            <a:off x="7597929" y="5457850"/>
            <a:ext cx="1149985" cy="369570"/>
          </a:xfrm>
          <a:prstGeom prst="rect">
            <a:avLst/>
          </a:prstGeom>
          <a:ln w="19049">
            <a:solidFill>
              <a:srgbClr val="000000"/>
            </a:solidFill>
          </a:ln>
        </p:spPr>
        <p:txBody>
          <a:bodyPr vert="horz" wrap="square" lIns="0" tIns="47625" rIns="0" bIns="0" rtlCol="0">
            <a:spAutoFit/>
          </a:bodyPr>
          <a:lstStyle/>
          <a:p>
            <a:pPr marL="91440">
              <a:lnSpc>
                <a:spcPct val="100000"/>
              </a:lnSpc>
              <a:spcBef>
                <a:spcPts val="375"/>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33" name="object 33"/>
          <p:cNvSpPr/>
          <p:nvPr/>
        </p:nvSpPr>
        <p:spPr>
          <a:xfrm>
            <a:off x="8801341" y="1319395"/>
            <a:ext cx="1908810" cy="737235"/>
          </a:xfrm>
          <a:custGeom>
            <a:avLst/>
            <a:gdLst/>
            <a:ahLst/>
            <a:cxnLst/>
            <a:rect l="l" t="t" r="r" b="b"/>
            <a:pathLst>
              <a:path w="1908809" h="737235">
                <a:moveTo>
                  <a:pt x="828359" y="66000"/>
                </a:moveTo>
                <a:lnTo>
                  <a:pt x="833546" y="40310"/>
                </a:lnTo>
                <a:lnTo>
                  <a:pt x="847690" y="19331"/>
                </a:lnTo>
                <a:lnTo>
                  <a:pt x="868669" y="5186"/>
                </a:lnTo>
                <a:lnTo>
                  <a:pt x="894360" y="0"/>
                </a:lnTo>
                <a:lnTo>
                  <a:pt x="1008359" y="0"/>
                </a:lnTo>
                <a:lnTo>
                  <a:pt x="1278359" y="0"/>
                </a:lnTo>
                <a:lnTo>
                  <a:pt x="1842358" y="0"/>
                </a:lnTo>
                <a:lnTo>
                  <a:pt x="1868048" y="5186"/>
                </a:lnTo>
                <a:lnTo>
                  <a:pt x="1889027" y="19331"/>
                </a:lnTo>
                <a:lnTo>
                  <a:pt x="1903172" y="40310"/>
                </a:lnTo>
                <a:lnTo>
                  <a:pt x="1908359" y="66000"/>
                </a:lnTo>
                <a:lnTo>
                  <a:pt x="1908359" y="230999"/>
                </a:lnTo>
                <a:lnTo>
                  <a:pt x="1908359" y="330000"/>
                </a:lnTo>
                <a:lnTo>
                  <a:pt x="1903172" y="355689"/>
                </a:lnTo>
                <a:lnTo>
                  <a:pt x="1889027" y="376668"/>
                </a:lnTo>
                <a:lnTo>
                  <a:pt x="1868048" y="390813"/>
                </a:lnTo>
                <a:lnTo>
                  <a:pt x="1842358" y="395999"/>
                </a:lnTo>
                <a:lnTo>
                  <a:pt x="1278359" y="395999"/>
                </a:lnTo>
                <a:lnTo>
                  <a:pt x="0" y="736674"/>
                </a:lnTo>
                <a:lnTo>
                  <a:pt x="1008359" y="395999"/>
                </a:lnTo>
                <a:lnTo>
                  <a:pt x="894360" y="395999"/>
                </a:lnTo>
                <a:lnTo>
                  <a:pt x="868669" y="390813"/>
                </a:lnTo>
                <a:lnTo>
                  <a:pt x="847690" y="376668"/>
                </a:lnTo>
                <a:lnTo>
                  <a:pt x="833546" y="355689"/>
                </a:lnTo>
                <a:lnTo>
                  <a:pt x="828359" y="329998"/>
                </a:lnTo>
                <a:lnTo>
                  <a:pt x="828359" y="230999"/>
                </a:lnTo>
                <a:lnTo>
                  <a:pt x="828359" y="66000"/>
                </a:lnTo>
                <a:close/>
              </a:path>
            </a:pathLst>
          </a:custGeom>
          <a:ln w="4156">
            <a:solidFill>
              <a:srgbClr val="000000"/>
            </a:solidFill>
          </a:ln>
        </p:spPr>
        <p:txBody>
          <a:bodyPr wrap="square" lIns="0" tIns="0" rIns="0" bIns="0" rtlCol="0"/>
          <a:lstStyle/>
          <a:p>
            <a:endParaRPr/>
          </a:p>
        </p:txBody>
      </p:sp>
      <p:sp>
        <p:nvSpPr>
          <p:cNvPr id="34" name="object 34"/>
          <p:cNvSpPr txBox="1"/>
          <p:nvPr/>
        </p:nvSpPr>
        <p:spPr>
          <a:xfrm>
            <a:off x="9867403" y="1371746"/>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判断</a:t>
            </a:r>
            <a:r>
              <a:rPr sz="1800" dirty="0">
                <a:solidFill>
                  <a:srgbClr val="CC0000"/>
                </a:solidFill>
                <a:latin typeface="Arial" panose="020B0604020202020204"/>
                <a:cs typeface="Arial" panose="020B0604020202020204"/>
              </a:rPr>
              <a:t>1</a:t>
            </a:r>
            <a:endParaRPr sz="1800">
              <a:latin typeface="Arial" panose="020B0604020202020204"/>
              <a:cs typeface="Arial" panose="020B0604020202020204"/>
            </a:endParaRPr>
          </a:p>
        </p:txBody>
      </p:sp>
      <p:sp>
        <p:nvSpPr>
          <p:cNvPr id="35" name="object 35"/>
          <p:cNvSpPr/>
          <p:nvPr/>
        </p:nvSpPr>
        <p:spPr>
          <a:xfrm>
            <a:off x="8819256" y="3202820"/>
            <a:ext cx="1908810" cy="737235"/>
          </a:xfrm>
          <a:custGeom>
            <a:avLst/>
            <a:gdLst/>
            <a:ahLst/>
            <a:cxnLst/>
            <a:rect l="l" t="t" r="r" b="b"/>
            <a:pathLst>
              <a:path w="1908809" h="737235">
                <a:moveTo>
                  <a:pt x="828359" y="66000"/>
                </a:moveTo>
                <a:lnTo>
                  <a:pt x="833546" y="40310"/>
                </a:lnTo>
                <a:lnTo>
                  <a:pt x="847690" y="19331"/>
                </a:lnTo>
                <a:lnTo>
                  <a:pt x="868669" y="5186"/>
                </a:lnTo>
                <a:lnTo>
                  <a:pt x="894360" y="0"/>
                </a:lnTo>
                <a:lnTo>
                  <a:pt x="1008359" y="0"/>
                </a:lnTo>
                <a:lnTo>
                  <a:pt x="1278359" y="0"/>
                </a:lnTo>
                <a:lnTo>
                  <a:pt x="1842358" y="0"/>
                </a:lnTo>
                <a:lnTo>
                  <a:pt x="1868048" y="5186"/>
                </a:lnTo>
                <a:lnTo>
                  <a:pt x="1889027" y="19331"/>
                </a:lnTo>
                <a:lnTo>
                  <a:pt x="1903172" y="40310"/>
                </a:lnTo>
                <a:lnTo>
                  <a:pt x="1908359" y="66000"/>
                </a:lnTo>
                <a:lnTo>
                  <a:pt x="1908359" y="230999"/>
                </a:lnTo>
                <a:lnTo>
                  <a:pt x="1908359" y="330000"/>
                </a:lnTo>
                <a:lnTo>
                  <a:pt x="1903172" y="355689"/>
                </a:lnTo>
                <a:lnTo>
                  <a:pt x="1889027" y="376668"/>
                </a:lnTo>
                <a:lnTo>
                  <a:pt x="1868048" y="390813"/>
                </a:lnTo>
                <a:lnTo>
                  <a:pt x="1842358" y="395999"/>
                </a:lnTo>
                <a:lnTo>
                  <a:pt x="1278359" y="395999"/>
                </a:lnTo>
                <a:lnTo>
                  <a:pt x="0" y="736674"/>
                </a:lnTo>
                <a:lnTo>
                  <a:pt x="1008359" y="395999"/>
                </a:lnTo>
                <a:lnTo>
                  <a:pt x="894360" y="395999"/>
                </a:lnTo>
                <a:lnTo>
                  <a:pt x="868669" y="390813"/>
                </a:lnTo>
                <a:lnTo>
                  <a:pt x="847690" y="376668"/>
                </a:lnTo>
                <a:lnTo>
                  <a:pt x="833546" y="355689"/>
                </a:lnTo>
                <a:lnTo>
                  <a:pt x="828359" y="329998"/>
                </a:lnTo>
                <a:lnTo>
                  <a:pt x="828359" y="230999"/>
                </a:lnTo>
                <a:lnTo>
                  <a:pt x="828359" y="66000"/>
                </a:lnTo>
                <a:close/>
              </a:path>
            </a:pathLst>
          </a:custGeom>
          <a:ln w="4156">
            <a:solidFill>
              <a:srgbClr val="000000"/>
            </a:solidFill>
          </a:ln>
        </p:spPr>
        <p:txBody>
          <a:bodyPr wrap="square" lIns="0" tIns="0" rIns="0" bIns="0" rtlCol="0"/>
          <a:lstStyle/>
          <a:p>
            <a:endParaRPr/>
          </a:p>
        </p:txBody>
      </p:sp>
      <p:sp>
        <p:nvSpPr>
          <p:cNvPr id="36" name="object 36"/>
          <p:cNvSpPr txBox="1"/>
          <p:nvPr/>
        </p:nvSpPr>
        <p:spPr>
          <a:xfrm>
            <a:off x="9885319" y="3255171"/>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判断</a:t>
            </a:r>
            <a:r>
              <a:rPr sz="1800" dirty="0">
                <a:solidFill>
                  <a:srgbClr val="CC0000"/>
                </a:solidFill>
                <a:latin typeface="Arial" panose="020B0604020202020204"/>
                <a:cs typeface="Arial" panose="020B0604020202020204"/>
              </a:rPr>
              <a:t>2</a:t>
            </a:r>
            <a:endParaRPr sz="1800">
              <a:latin typeface="Arial" panose="020B0604020202020204"/>
              <a:cs typeface="Arial" panose="020B0604020202020204"/>
            </a:endParaRPr>
          </a:p>
        </p:txBody>
      </p:sp>
      <p:sp>
        <p:nvSpPr>
          <p:cNvPr id="37" name="object 37"/>
          <p:cNvSpPr txBox="1"/>
          <p:nvPr/>
        </p:nvSpPr>
        <p:spPr>
          <a:xfrm>
            <a:off x="7806694" y="1440125"/>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8" name="object 38"/>
          <p:cNvSpPr txBox="1"/>
          <p:nvPr/>
        </p:nvSpPr>
        <p:spPr>
          <a:xfrm>
            <a:off x="9133748" y="2510714"/>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9" name="object 39"/>
          <p:cNvSpPr txBox="1"/>
          <p:nvPr/>
        </p:nvSpPr>
        <p:spPr>
          <a:xfrm>
            <a:off x="7873190" y="3351417"/>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40" name="object 40"/>
          <p:cNvSpPr txBox="1"/>
          <p:nvPr/>
        </p:nvSpPr>
        <p:spPr>
          <a:xfrm>
            <a:off x="9171820" y="4464311"/>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41" name="object 41"/>
          <p:cNvSpPr txBox="1"/>
          <p:nvPr/>
        </p:nvSpPr>
        <p:spPr>
          <a:xfrm>
            <a:off x="7184473" y="5489600"/>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42" name="灯片编号占位符 41"/>
          <p:cNvSpPr>
            <a:spLocks noGrp="1"/>
          </p:cNvSpPr>
          <p:nvPr>
            <p:ph type="sldNum" sz="quarter" idx="12"/>
          </p:nvPr>
        </p:nvSpPr>
        <p:spPr/>
        <p:txBody>
          <a:bodyPr/>
          <a:lstStyle/>
          <a:p>
            <a:fld id="{74D2AB8B-5816-41F2-8B4B-CA5C3E4E6A65}" type="slidenum">
              <a:rPr lang="zh-CN" altLang="en-US" smtClean="0"/>
              <a:t>90</a:t>
            </a:fld>
            <a:endParaRPr lang="zh-CN" altLang="en-US"/>
          </a:p>
        </p:txBody>
      </p:sp>
      <p:sp>
        <p:nvSpPr>
          <p:cNvPr id="44" name="标题 43"/>
          <p:cNvSpPr>
            <a:spLocks noGrp="1"/>
          </p:cNvSpPr>
          <p:nvPr>
            <p:ph type="title"/>
          </p:nvPr>
        </p:nvSpPr>
        <p:spPr/>
        <p:txBody>
          <a:bodyPr/>
          <a:lstStyle/>
          <a:p>
            <a:r>
              <a:rPr lang="zh-CN" altLang="en-US" dirty="0"/>
              <a:t>示例描述</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4340" y="1548000"/>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程序中的每个可执行语句至少被执行一次。</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7104418" y="3937219"/>
            <a:ext cx="293179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a:t>
            </a:r>
            <a:r>
              <a:rPr sz="2200" b="1"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b=1</a:t>
            </a:r>
            <a:r>
              <a:rPr sz="2200" b="1"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c=6</a:t>
            </a:r>
            <a:endParaRPr sz="2200">
              <a:latin typeface="Courier New" panose="02070309020205020404"/>
              <a:cs typeface="Courier New" panose="02070309020205020404"/>
            </a:endParaRPr>
          </a:p>
        </p:txBody>
      </p:sp>
      <p:sp>
        <p:nvSpPr>
          <p:cNvPr id="5" name="object 5"/>
          <p:cNvSpPr/>
          <p:nvPr/>
        </p:nvSpPr>
        <p:spPr>
          <a:xfrm>
            <a:off x="3116705" y="4907994"/>
            <a:ext cx="1270" cy="578485"/>
          </a:xfrm>
          <a:custGeom>
            <a:avLst/>
            <a:gdLst/>
            <a:ahLst/>
            <a:cxnLst/>
            <a:rect l="l" t="t" r="r" b="b"/>
            <a:pathLst>
              <a:path w="1269" h="578485">
                <a:moveTo>
                  <a:pt x="655" y="0"/>
                </a:moveTo>
                <a:lnTo>
                  <a:pt x="0" y="578408"/>
                </a:lnTo>
              </a:path>
            </a:pathLst>
          </a:custGeom>
          <a:ln w="19049">
            <a:solidFill>
              <a:srgbClr val="000000"/>
            </a:solidFill>
          </a:ln>
        </p:spPr>
        <p:txBody>
          <a:bodyPr wrap="square" lIns="0" tIns="0" rIns="0" bIns="0" rtlCol="0"/>
          <a:lstStyle/>
          <a:p>
            <a:endParaRPr/>
          </a:p>
        </p:txBody>
      </p:sp>
      <p:sp>
        <p:nvSpPr>
          <p:cNvPr id="6" name="object 6"/>
          <p:cNvSpPr/>
          <p:nvPr/>
        </p:nvSpPr>
        <p:spPr>
          <a:xfrm>
            <a:off x="3078664" y="5435560"/>
            <a:ext cx="76200" cy="76835"/>
          </a:xfrm>
          <a:custGeom>
            <a:avLst/>
            <a:gdLst/>
            <a:ahLst/>
            <a:cxnLst/>
            <a:rect l="l" t="t" r="r" b="b"/>
            <a:pathLst>
              <a:path w="76200" h="76835">
                <a:moveTo>
                  <a:pt x="0" y="0"/>
                </a:moveTo>
                <a:lnTo>
                  <a:pt x="38013" y="76243"/>
                </a:lnTo>
                <a:lnTo>
                  <a:pt x="76200" y="86"/>
                </a:lnTo>
                <a:lnTo>
                  <a:pt x="0" y="0"/>
                </a:lnTo>
                <a:close/>
              </a:path>
            </a:pathLst>
          </a:custGeom>
          <a:solidFill>
            <a:srgbClr val="000000"/>
          </a:solidFill>
        </p:spPr>
        <p:txBody>
          <a:bodyPr wrap="square" lIns="0" tIns="0" rIns="0" bIns="0" rtlCol="0"/>
          <a:lstStyle/>
          <a:p>
            <a:endParaRPr/>
          </a:p>
        </p:txBody>
      </p:sp>
      <p:sp>
        <p:nvSpPr>
          <p:cNvPr id="7" name="object 7"/>
          <p:cNvSpPr/>
          <p:nvPr/>
        </p:nvSpPr>
        <p:spPr>
          <a:xfrm>
            <a:off x="1964278" y="2808086"/>
            <a:ext cx="2306320" cy="671830"/>
          </a:xfrm>
          <a:custGeom>
            <a:avLst/>
            <a:gdLst/>
            <a:ahLst/>
            <a:cxnLst/>
            <a:rect l="l" t="t" r="r" b="b"/>
            <a:pathLst>
              <a:path w="2306320" h="671829">
                <a:moveTo>
                  <a:pt x="0" y="335755"/>
                </a:moveTo>
                <a:lnTo>
                  <a:pt x="1153082" y="0"/>
                </a:lnTo>
                <a:lnTo>
                  <a:pt x="2306165" y="335755"/>
                </a:lnTo>
                <a:lnTo>
                  <a:pt x="1153082" y="671509"/>
                </a:lnTo>
                <a:lnTo>
                  <a:pt x="0" y="335755"/>
                </a:lnTo>
                <a:close/>
              </a:path>
            </a:pathLst>
          </a:custGeom>
          <a:ln w="19049">
            <a:solidFill>
              <a:srgbClr val="000000"/>
            </a:solidFill>
          </a:ln>
        </p:spPr>
        <p:txBody>
          <a:bodyPr wrap="square" lIns="0" tIns="0" rIns="0" bIns="0" rtlCol="0"/>
          <a:lstStyle/>
          <a:p>
            <a:endParaRPr/>
          </a:p>
        </p:txBody>
      </p:sp>
      <p:sp>
        <p:nvSpPr>
          <p:cNvPr id="8" name="object 8"/>
          <p:cNvSpPr txBox="1"/>
          <p:nvPr/>
        </p:nvSpPr>
        <p:spPr>
          <a:xfrm>
            <a:off x="2352860" y="2982551"/>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9" name="object 9"/>
          <p:cNvSpPr txBox="1"/>
          <p:nvPr/>
        </p:nvSpPr>
        <p:spPr>
          <a:xfrm>
            <a:off x="4575736" y="327379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10" name="object 10"/>
          <p:cNvSpPr/>
          <p:nvPr/>
        </p:nvSpPr>
        <p:spPr>
          <a:xfrm>
            <a:off x="1964278" y="4202297"/>
            <a:ext cx="2306320" cy="706120"/>
          </a:xfrm>
          <a:custGeom>
            <a:avLst/>
            <a:gdLst/>
            <a:ahLst/>
            <a:cxnLst/>
            <a:rect l="l" t="t" r="r" b="b"/>
            <a:pathLst>
              <a:path w="2306320" h="706120">
                <a:moveTo>
                  <a:pt x="0" y="352848"/>
                </a:moveTo>
                <a:lnTo>
                  <a:pt x="1153082" y="0"/>
                </a:lnTo>
                <a:lnTo>
                  <a:pt x="2306165" y="352848"/>
                </a:lnTo>
                <a:lnTo>
                  <a:pt x="1153082" y="705696"/>
                </a:lnTo>
                <a:lnTo>
                  <a:pt x="0" y="352848"/>
                </a:lnTo>
                <a:close/>
              </a:path>
            </a:pathLst>
          </a:custGeom>
          <a:ln w="19049">
            <a:solidFill>
              <a:srgbClr val="000000"/>
            </a:solidFill>
          </a:ln>
        </p:spPr>
        <p:txBody>
          <a:bodyPr wrap="square" lIns="0" tIns="0" rIns="0" bIns="0" rtlCol="0"/>
          <a:lstStyle/>
          <a:p>
            <a:endParaRPr/>
          </a:p>
        </p:txBody>
      </p:sp>
      <p:sp>
        <p:nvSpPr>
          <p:cNvPr id="11" name="object 11"/>
          <p:cNvSpPr txBox="1"/>
          <p:nvPr/>
        </p:nvSpPr>
        <p:spPr>
          <a:xfrm>
            <a:off x="2416360" y="4393857"/>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2" name="object 12"/>
          <p:cNvSpPr txBox="1"/>
          <p:nvPr/>
        </p:nvSpPr>
        <p:spPr>
          <a:xfrm>
            <a:off x="4567713" y="472486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3" name="object 13"/>
          <p:cNvSpPr/>
          <p:nvPr/>
        </p:nvSpPr>
        <p:spPr>
          <a:xfrm>
            <a:off x="4270444" y="3143842"/>
            <a:ext cx="882650" cy="104775"/>
          </a:xfrm>
          <a:custGeom>
            <a:avLst/>
            <a:gdLst/>
            <a:ahLst/>
            <a:cxnLst/>
            <a:rect l="l" t="t" r="r" b="b"/>
            <a:pathLst>
              <a:path w="882650" h="104775">
                <a:moveTo>
                  <a:pt x="0" y="0"/>
                </a:moveTo>
                <a:lnTo>
                  <a:pt x="882649" y="0"/>
                </a:lnTo>
                <a:lnTo>
                  <a:pt x="882649" y="104774"/>
                </a:lnTo>
              </a:path>
            </a:pathLst>
          </a:custGeom>
          <a:ln w="19049">
            <a:solidFill>
              <a:srgbClr val="000000"/>
            </a:solidFill>
          </a:ln>
        </p:spPr>
        <p:txBody>
          <a:bodyPr wrap="square" lIns="0" tIns="0" rIns="0" bIns="0" rtlCol="0"/>
          <a:lstStyle/>
          <a:p>
            <a:endParaRPr/>
          </a:p>
        </p:txBody>
      </p:sp>
      <p:sp>
        <p:nvSpPr>
          <p:cNvPr id="14" name="object 14"/>
          <p:cNvSpPr/>
          <p:nvPr/>
        </p:nvSpPr>
        <p:spPr>
          <a:xfrm>
            <a:off x="5114994" y="319781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5" name="object 15"/>
          <p:cNvSpPr/>
          <p:nvPr/>
        </p:nvSpPr>
        <p:spPr>
          <a:xfrm>
            <a:off x="3117362" y="3479596"/>
            <a:ext cx="0" cy="697230"/>
          </a:xfrm>
          <a:custGeom>
            <a:avLst/>
            <a:gdLst/>
            <a:ahLst/>
            <a:cxnLst/>
            <a:rect l="l" t="t" r="r" b="b"/>
            <a:pathLst>
              <a:path h="697229">
                <a:moveTo>
                  <a:pt x="0" y="0"/>
                </a:moveTo>
                <a:lnTo>
                  <a:pt x="0" y="696912"/>
                </a:lnTo>
              </a:path>
            </a:pathLst>
          </a:custGeom>
          <a:ln w="19049">
            <a:solidFill>
              <a:srgbClr val="000000"/>
            </a:solidFill>
          </a:ln>
        </p:spPr>
        <p:txBody>
          <a:bodyPr wrap="square" lIns="0" tIns="0" rIns="0" bIns="0" rtlCol="0"/>
          <a:lstStyle/>
          <a:p>
            <a:endParaRPr/>
          </a:p>
        </p:txBody>
      </p:sp>
      <p:sp>
        <p:nvSpPr>
          <p:cNvPr id="16" name="object 16"/>
          <p:cNvSpPr/>
          <p:nvPr/>
        </p:nvSpPr>
        <p:spPr>
          <a:xfrm>
            <a:off x="3079262" y="4125709"/>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7" name="object 17"/>
          <p:cNvSpPr txBox="1"/>
          <p:nvPr/>
        </p:nvSpPr>
        <p:spPr>
          <a:xfrm>
            <a:off x="3211892" y="348975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18" name="object 18"/>
          <p:cNvSpPr/>
          <p:nvPr/>
        </p:nvSpPr>
        <p:spPr>
          <a:xfrm>
            <a:off x="3216045" y="3620039"/>
            <a:ext cx="1937385" cy="196850"/>
          </a:xfrm>
          <a:custGeom>
            <a:avLst/>
            <a:gdLst/>
            <a:ahLst/>
            <a:cxnLst/>
            <a:rect l="l" t="t" r="r" b="b"/>
            <a:pathLst>
              <a:path w="1937385" h="196850">
                <a:moveTo>
                  <a:pt x="1936849" y="0"/>
                </a:moveTo>
                <a:lnTo>
                  <a:pt x="1936849" y="196527"/>
                </a:lnTo>
                <a:lnTo>
                  <a:pt x="0" y="196527"/>
                </a:lnTo>
              </a:path>
            </a:pathLst>
          </a:custGeom>
          <a:ln w="19049">
            <a:solidFill>
              <a:srgbClr val="000000"/>
            </a:solidFill>
          </a:ln>
        </p:spPr>
        <p:txBody>
          <a:bodyPr wrap="square" lIns="0" tIns="0" rIns="0" bIns="0" rtlCol="0"/>
          <a:lstStyle/>
          <a:p>
            <a:endParaRPr/>
          </a:p>
        </p:txBody>
      </p:sp>
      <p:sp>
        <p:nvSpPr>
          <p:cNvPr id="19" name="object 19"/>
          <p:cNvSpPr/>
          <p:nvPr/>
        </p:nvSpPr>
        <p:spPr>
          <a:xfrm>
            <a:off x="3030236" y="3758247"/>
            <a:ext cx="236608" cy="116643"/>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4270444" y="4555147"/>
            <a:ext cx="875030" cy="144780"/>
          </a:xfrm>
          <a:custGeom>
            <a:avLst/>
            <a:gdLst/>
            <a:ahLst/>
            <a:cxnLst/>
            <a:rect l="l" t="t" r="r" b="b"/>
            <a:pathLst>
              <a:path w="875029" h="144779">
                <a:moveTo>
                  <a:pt x="0" y="0"/>
                </a:moveTo>
                <a:lnTo>
                  <a:pt x="874712" y="0"/>
                </a:lnTo>
                <a:lnTo>
                  <a:pt x="874712" y="144462"/>
                </a:lnTo>
              </a:path>
            </a:pathLst>
          </a:custGeom>
          <a:ln w="19049">
            <a:solidFill>
              <a:srgbClr val="000000"/>
            </a:solidFill>
          </a:ln>
        </p:spPr>
        <p:txBody>
          <a:bodyPr wrap="square" lIns="0" tIns="0" rIns="0" bIns="0" rtlCol="0"/>
          <a:lstStyle/>
          <a:p>
            <a:endParaRPr/>
          </a:p>
        </p:txBody>
      </p:sp>
      <p:sp>
        <p:nvSpPr>
          <p:cNvPr id="21" name="object 21"/>
          <p:cNvSpPr/>
          <p:nvPr/>
        </p:nvSpPr>
        <p:spPr>
          <a:xfrm>
            <a:off x="5107057" y="464880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2" name="object 22"/>
          <p:cNvSpPr/>
          <p:nvPr/>
        </p:nvSpPr>
        <p:spPr>
          <a:xfrm>
            <a:off x="3216046" y="5071111"/>
            <a:ext cx="1929130" cy="208279"/>
          </a:xfrm>
          <a:custGeom>
            <a:avLst/>
            <a:gdLst/>
            <a:ahLst/>
            <a:cxnLst/>
            <a:rect l="l" t="t" r="r" b="b"/>
            <a:pathLst>
              <a:path w="1929129" h="208279">
                <a:moveTo>
                  <a:pt x="1928828" y="0"/>
                </a:moveTo>
                <a:lnTo>
                  <a:pt x="1928828" y="207864"/>
                </a:lnTo>
                <a:lnTo>
                  <a:pt x="0" y="207864"/>
                </a:lnTo>
              </a:path>
            </a:pathLst>
          </a:custGeom>
          <a:ln w="19049">
            <a:solidFill>
              <a:srgbClr val="000000"/>
            </a:solidFill>
          </a:ln>
        </p:spPr>
        <p:txBody>
          <a:bodyPr wrap="square" lIns="0" tIns="0" rIns="0" bIns="0" rtlCol="0"/>
          <a:lstStyle/>
          <a:p>
            <a:endParaRPr/>
          </a:p>
        </p:txBody>
      </p:sp>
      <p:sp>
        <p:nvSpPr>
          <p:cNvPr id="23" name="object 23"/>
          <p:cNvSpPr/>
          <p:nvPr/>
        </p:nvSpPr>
        <p:spPr>
          <a:xfrm>
            <a:off x="3030236" y="5220654"/>
            <a:ext cx="236610" cy="116642"/>
          </a:xfrm>
          <a:prstGeom prst="rect">
            <a:avLst/>
          </a:prstGeom>
          <a:blipFill>
            <a:blip r:embed="rId3" cstate="print"/>
            <a:stretch>
              <a:fillRect/>
            </a:stretch>
          </a:blipFill>
        </p:spPr>
        <p:txBody>
          <a:bodyPr wrap="square" lIns="0" tIns="0" rIns="0" bIns="0" rtlCol="0"/>
          <a:lstStyle/>
          <a:p>
            <a:endParaRPr/>
          </a:p>
        </p:txBody>
      </p:sp>
      <p:sp>
        <p:nvSpPr>
          <p:cNvPr id="24" name="object 24"/>
          <p:cNvSpPr/>
          <p:nvPr/>
        </p:nvSpPr>
        <p:spPr>
          <a:xfrm>
            <a:off x="3117362" y="2464035"/>
            <a:ext cx="0" cy="318770"/>
          </a:xfrm>
          <a:custGeom>
            <a:avLst/>
            <a:gdLst/>
            <a:ahLst/>
            <a:cxnLst/>
            <a:rect l="l" t="t" r="r" b="b"/>
            <a:pathLst>
              <a:path h="318769">
                <a:moveTo>
                  <a:pt x="0" y="0"/>
                </a:moveTo>
                <a:lnTo>
                  <a:pt x="0" y="318293"/>
                </a:lnTo>
              </a:path>
            </a:pathLst>
          </a:custGeom>
          <a:ln w="19049">
            <a:solidFill>
              <a:srgbClr val="000000"/>
            </a:solidFill>
          </a:ln>
        </p:spPr>
        <p:txBody>
          <a:bodyPr wrap="square" lIns="0" tIns="0" rIns="0" bIns="0" rtlCol="0"/>
          <a:lstStyle/>
          <a:p>
            <a:endParaRPr/>
          </a:p>
        </p:txBody>
      </p:sp>
      <p:sp>
        <p:nvSpPr>
          <p:cNvPr id="25" name="object 25"/>
          <p:cNvSpPr/>
          <p:nvPr/>
        </p:nvSpPr>
        <p:spPr>
          <a:xfrm>
            <a:off x="3079262" y="273152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6" name="object 26"/>
          <p:cNvSpPr txBox="1"/>
          <p:nvPr/>
        </p:nvSpPr>
        <p:spPr>
          <a:xfrm>
            <a:off x="4291240" y="286387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7" name="object 27"/>
          <p:cNvSpPr txBox="1"/>
          <p:nvPr/>
        </p:nvSpPr>
        <p:spPr>
          <a:xfrm>
            <a:off x="3204997" y="492949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8" name="object 28"/>
          <p:cNvSpPr txBox="1"/>
          <p:nvPr/>
        </p:nvSpPr>
        <p:spPr>
          <a:xfrm>
            <a:off x="4240761" y="426818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9" name="object 29"/>
          <p:cNvSpPr txBox="1"/>
          <p:nvPr/>
        </p:nvSpPr>
        <p:spPr>
          <a:xfrm>
            <a:off x="2539517" y="5511803"/>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30" name="object 30"/>
          <p:cNvSpPr txBox="1"/>
          <p:nvPr/>
        </p:nvSpPr>
        <p:spPr>
          <a:xfrm>
            <a:off x="2625093" y="2489992"/>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1" name="object 31"/>
          <p:cNvSpPr txBox="1"/>
          <p:nvPr/>
        </p:nvSpPr>
        <p:spPr>
          <a:xfrm>
            <a:off x="4240016" y="323884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2" name="object 32"/>
          <p:cNvSpPr txBox="1"/>
          <p:nvPr/>
        </p:nvSpPr>
        <p:spPr>
          <a:xfrm>
            <a:off x="2623858" y="3927148"/>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33" name="object 33"/>
          <p:cNvSpPr txBox="1"/>
          <p:nvPr/>
        </p:nvSpPr>
        <p:spPr>
          <a:xfrm>
            <a:off x="4244221" y="470137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34" name="object 34"/>
          <p:cNvSpPr txBox="1"/>
          <p:nvPr/>
        </p:nvSpPr>
        <p:spPr>
          <a:xfrm>
            <a:off x="2155275" y="5506533"/>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35" name="灯片编号占位符 34"/>
          <p:cNvSpPr>
            <a:spLocks noGrp="1"/>
          </p:cNvSpPr>
          <p:nvPr>
            <p:ph type="sldNum" sz="quarter" idx="12"/>
          </p:nvPr>
        </p:nvSpPr>
        <p:spPr/>
        <p:txBody>
          <a:bodyPr/>
          <a:lstStyle/>
          <a:p>
            <a:fld id="{74D2AB8B-5816-41F2-8B4B-CA5C3E4E6A65}" type="slidenum">
              <a:rPr lang="zh-CN" altLang="en-US" smtClean="0"/>
              <a:t>91</a:t>
            </a:fld>
            <a:endParaRPr lang="zh-CN" altLang="en-US"/>
          </a:p>
        </p:txBody>
      </p:sp>
      <p:sp>
        <p:nvSpPr>
          <p:cNvPr id="37" name="标题 36"/>
          <p:cNvSpPr>
            <a:spLocks noGrp="1"/>
          </p:cNvSpPr>
          <p:nvPr>
            <p:ph type="title"/>
          </p:nvPr>
        </p:nvSpPr>
        <p:spPr/>
        <p:txBody>
          <a:bodyPr/>
          <a:lstStyle/>
          <a:p>
            <a:r>
              <a:rPr lang="zh-CN" altLang="en-US" dirty="0"/>
              <a:t>语句覆盖</a:t>
            </a:r>
          </a:p>
        </p:txBody>
      </p:sp>
      <p:sp>
        <p:nvSpPr>
          <p:cNvPr id="36" name="矩形 35">
            <a:extLst>
              <a:ext uri="{FF2B5EF4-FFF2-40B4-BE49-F238E27FC236}">
                <a16:creationId xmlns:a16="http://schemas.microsoft.com/office/drawing/2014/main" id="{13E1F31B-C4A3-477D-BF45-A25AC1F73041}"/>
              </a:ext>
            </a:extLst>
          </p:cNvPr>
          <p:cNvSpPr/>
          <p:nvPr/>
        </p:nvSpPr>
        <p:spPr>
          <a:xfrm>
            <a:off x="4180611" y="5692446"/>
            <a:ext cx="7913807" cy="369332"/>
          </a:xfrm>
          <a:prstGeom prst="rect">
            <a:avLst/>
          </a:prstGeom>
        </p:spPr>
        <p:txBody>
          <a:bodyPr wrap="square">
            <a:spAutoFit/>
          </a:bodyPr>
          <a:lstStyle/>
          <a:p>
            <a:r>
              <a:rPr lang="zh-CN" altLang="en-US" dirty="0">
                <a:latin typeface="华文楷体" panose="02010600040101010101" pitchFamily="2" charset="-122"/>
                <a:ea typeface="华文楷体" panose="02010600040101010101" pitchFamily="2" charset="-122"/>
              </a:rPr>
              <a:t>第一个条件判断中与被错误地写成或，显然这个测试用例是无法检查出来的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prstGeom prst="rect">
            <a:avLst/>
          </a:prstGeom>
        </p:spPr>
        <p:txBody>
          <a:bodyPr vert="horz" wrap="square" lIns="0" tIns="198120" rIns="0" bIns="0" rtlCol="0">
            <a:spAutoFit/>
          </a:bodyPr>
          <a:lstStyle/>
          <a:p>
            <a:pPr marL="39370">
              <a:lnSpc>
                <a:spcPct val="100000"/>
              </a:lnSpc>
              <a:spcBef>
                <a:spcPts val="1560"/>
              </a:spcBef>
            </a:pPr>
            <a:r>
              <a:rPr dirty="0"/>
              <a:t>测试用例</a:t>
            </a:r>
            <a:r>
              <a:rPr dirty="0">
                <a:solidFill>
                  <a:srgbClr val="004DD6"/>
                </a:solidFill>
              </a:rPr>
              <a:t>：</a:t>
            </a:r>
          </a:p>
          <a:p>
            <a:pPr marL="39370">
              <a:lnSpc>
                <a:spcPct val="100000"/>
              </a:lnSpc>
              <a:spcBef>
                <a:spcPts val="1460"/>
              </a:spcBef>
            </a:pPr>
            <a:r>
              <a:rPr dirty="0">
                <a:solidFill>
                  <a:srgbClr val="000000"/>
                </a:solidFill>
              </a:rPr>
              <a:t>输入</a:t>
            </a:r>
            <a:r>
              <a:rPr spc="-5" dirty="0">
                <a:solidFill>
                  <a:srgbClr val="000000"/>
                </a:solidFill>
              </a:rPr>
              <a:t>：</a:t>
            </a:r>
            <a:r>
              <a:rPr b="1" spc="-5" dirty="0">
                <a:solidFill>
                  <a:srgbClr val="000000"/>
                </a:solidFill>
                <a:latin typeface="Courier New" panose="02070309020205020404"/>
                <a:cs typeface="Courier New" panose="02070309020205020404"/>
              </a:rPr>
              <a:t>a=2</a:t>
            </a:r>
            <a:r>
              <a:rPr b="1" spc="-5" dirty="0">
                <a:solidFill>
                  <a:srgbClr val="000000"/>
                </a:solidFill>
                <a:latin typeface="微软雅黑" panose="020B0503020204020204" pitchFamily="34" charset="-122"/>
                <a:cs typeface="微软雅黑" panose="020B0503020204020204" pitchFamily="34" charset="-122"/>
              </a:rPr>
              <a:t>，</a:t>
            </a:r>
            <a:r>
              <a:rPr b="1" spc="-5" dirty="0">
                <a:solidFill>
                  <a:srgbClr val="000000"/>
                </a:solidFill>
                <a:latin typeface="Courier New" panose="02070309020205020404"/>
                <a:cs typeface="Courier New" panose="02070309020205020404"/>
              </a:rPr>
              <a:t>b=1</a:t>
            </a:r>
            <a:r>
              <a:rPr b="1" spc="-5" dirty="0">
                <a:solidFill>
                  <a:srgbClr val="000000"/>
                </a:solidFill>
                <a:latin typeface="微软雅黑" panose="020B0503020204020204" pitchFamily="34" charset="-122"/>
                <a:cs typeface="微软雅黑" panose="020B0503020204020204" pitchFamily="34" charset="-122"/>
              </a:rPr>
              <a:t>，</a:t>
            </a:r>
            <a:r>
              <a:rPr b="1" spc="-5" dirty="0">
                <a:solidFill>
                  <a:srgbClr val="000000"/>
                </a:solidFill>
                <a:latin typeface="Courier New" panose="02070309020205020404"/>
                <a:cs typeface="Courier New" panose="02070309020205020404"/>
              </a:rPr>
              <a:t>c=6</a:t>
            </a:r>
          </a:p>
          <a:p>
            <a:pPr marL="39370">
              <a:lnSpc>
                <a:spcPct val="100000"/>
              </a:lnSpc>
              <a:spcBef>
                <a:spcPts val="860"/>
              </a:spcBef>
            </a:pPr>
            <a:r>
              <a:rPr dirty="0">
                <a:solidFill>
                  <a:srgbClr val="000000"/>
                </a:solidFill>
              </a:rPr>
              <a:t>程序中三个可执行语句均被执行一次，满足语句覆盖标准。</a:t>
            </a:r>
          </a:p>
          <a:p>
            <a:pPr marL="26670">
              <a:lnSpc>
                <a:spcPct val="100000"/>
              </a:lnSpc>
              <a:spcBef>
                <a:spcPts val="15"/>
              </a:spcBef>
            </a:pPr>
            <a:endParaRPr sz="2300" dirty="0">
              <a:latin typeface="Times New Roman" panose="02020603050405020304"/>
              <a:cs typeface="Times New Roman" panose="02020603050405020304"/>
            </a:endParaRPr>
          </a:p>
          <a:p>
            <a:pPr marL="39370">
              <a:lnSpc>
                <a:spcPct val="100000"/>
              </a:lnSpc>
            </a:pPr>
            <a:r>
              <a:rPr dirty="0"/>
              <a:t>问题分析</a:t>
            </a:r>
            <a:r>
              <a:rPr dirty="0">
                <a:solidFill>
                  <a:srgbClr val="004DD6"/>
                </a:solidFill>
              </a:rPr>
              <a:t>：</a:t>
            </a:r>
          </a:p>
          <a:p>
            <a:pPr marL="39370" marR="5080">
              <a:lnSpc>
                <a:spcPct val="110000"/>
              </a:lnSpc>
              <a:spcBef>
                <a:spcPts val="1200"/>
              </a:spcBef>
            </a:pPr>
            <a:r>
              <a:rPr spc="50" dirty="0">
                <a:solidFill>
                  <a:srgbClr val="000000"/>
                </a:solidFill>
              </a:rPr>
              <a:t>测试用例虽然覆盖可执行语句，但无法检查判断逻辑是否存在问题，例如 </a:t>
            </a:r>
            <a:r>
              <a:rPr dirty="0">
                <a:solidFill>
                  <a:srgbClr val="000000"/>
                </a:solidFill>
              </a:rPr>
              <a:t>第一个条件判断中“</a:t>
            </a:r>
            <a:r>
              <a:rPr b="1" dirty="0">
                <a:solidFill>
                  <a:srgbClr val="000000"/>
                </a:solidFill>
                <a:latin typeface="Courier New" panose="02070309020205020404"/>
                <a:cs typeface="Courier New" panose="02070309020205020404"/>
              </a:rPr>
              <a:t>&amp;&amp;</a:t>
            </a:r>
            <a:r>
              <a:rPr dirty="0">
                <a:solidFill>
                  <a:srgbClr val="000000"/>
                </a:solidFill>
              </a:rPr>
              <a:t>”被错误地写成“</a:t>
            </a:r>
            <a:r>
              <a:rPr b="1" dirty="0">
                <a:solidFill>
                  <a:srgbClr val="000000"/>
                </a:solidFill>
                <a:latin typeface="Courier New" panose="02070309020205020404"/>
                <a:cs typeface="Courier New" panose="02070309020205020404"/>
              </a:rPr>
              <a:t>||</a:t>
            </a:r>
            <a:r>
              <a:rPr dirty="0">
                <a:solidFill>
                  <a:srgbClr val="000000"/>
                </a:solidFill>
              </a:rPr>
              <a:t>”。</a:t>
            </a:r>
          </a:p>
          <a:p>
            <a:pPr marL="39370">
              <a:lnSpc>
                <a:spcPct val="100000"/>
              </a:lnSpc>
              <a:spcBef>
                <a:spcPts val="860"/>
              </a:spcBef>
            </a:pPr>
            <a:r>
              <a:rPr dirty="0">
                <a:solidFill>
                  <a:srgbClr val="C00000"/>
                </a:solidFill>
              </a:rPr>
              <a:t>语句覆盖是最弱的逻辑覆盖准则</a:t>
            </a:r>
            <a:r>
              <a:rPr dirty="0">
                <a:solidFill>
                  <a:srgbClr val="CE1C00"/>
                </a:solidFill>
              </a:rPr>
              <a:t>。</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92</a:t>
            </a:fld>
            <a:endParaRPr lang="zh-CN" altLang="en-US"/>
          </a:p>
        </p:txBody>
      </p:sp>
      <p:sp>
        <p:nvSpPr>
          <p:cNvPr id="7" name="标题 6"/>
          <p:cNvSpPr>
            <a:spLocks noGrp="1"/>
          </p:cNvSpPr>
          <p:nvPr>
            <p:ph type="title"/>
          </p:nvPr>
        </p:nvSpPr>
        <p:spPr/>
        <p:txBody>
          <a:bodyPr/>
          <a:lstStyle/>
          <a:p>
            <a:r>
              <a:rPr lang="zh-CN" altLang="en-US" dirty="0"/>
              <a:t>语句覆盖</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3999" y="1548000"/>
            <a:ext cx="9720580" cy="688975"/>
          </a:xfrm>
          <a:prstGeom prst="rect">
            <a:avLst/>
          </a:prstGeom>
          <a:solidFill>
            <a:srgbClr val="797BA9"/>
          </a:solidFill>
        </p:spPr>
        <p:txBody>
          <a:bodyPr vert="horz" wrap="square" lIns="0" tIns="191770" rIns="0" bIns="0" rtlCol="0">
            <a:spAutoFit/>
          </a:bodyPr>
          <a:lstStyle/>
          <a:p>
            <a:pPr marL="391795">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程序中每个判断的取真和取假分支至少经历一次，即判断真假值均被满足。</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116705" y="4907994"/>
            <a:ext cx="1270" cy="578485"/>
          </a:xfrm>
          <a:custGeom>
            <a:avLst/>
            <a:gdLst/>
            <a:ahLst/>
            <a:cxnLst/>
            <a:rect l="l" t="t" r="r" b="b"/>
            <a:pathLst>
              <a:path w="1269" h="578485">
                <a:moveTo>
                  <a:pt x="655" y="0"/>
                </a:moveTo>
                <a:lnTo>
                  <a:pt x="0" y="578408"/>
                </a:lnTo>
              </a:path>
            </a:pathLst>
          </a:custGeom>
          <a:ln w="19049">
            <a:solidFill>
              <a:srgbClr val="000000"/>
            </a:solidFill>
          </a:ln>
        </p:spPr>
        <p:txBody>
          <a:bodyPr wrap="square" lIns="0" tIns="0" rIns="0" bIns="0" rtlCol="0"/>
          <a:lstStyle/>
          <a:p>
            <a:endParaRPr/>
          </a:p>
        </p:txBody>
      </p:sp>
      <p:sp>
        <p:nvSpPr>
          <p:cNvPr id="5" name="object 5"/>
          <p:cNvSpPr/>
          <p:nvPr/>
        </p:nvSpPr>
        <p:spPr>
          <a:xfrm>
            <a:off x="3078664" y="5435560"/>
            <a:ext cx="76200" cy="76835"/>
          </a:xfrm>
          <a:custGeom>
            <a:avLst/>
            <a:gdLst/>
            <a:ahLst/>
            <a:cxnLst/>
            <a:rect l="l" t="t" r="r" b="b"/>
            <a:pathLst>
              <a:path w="76200" h="76835">
                <a:moveTo>
                  <a:pt x="0" y="0"/>
                </a:moveTo>
                <a:lnTo>
                  <a:pt x="38013" y="76243"/>
                </a:lnTo>
                <a:lnTo>
                  <a:pt x="76200" y="86"/>
                </a:lnTo>
                <a:lnTo>
                  <a:pt x="0" y="0"/>
                </a:lnTo>
                <a:close/>
              </a:path>
            </a:pathLst>
          </a:custGeom>
          <a:solidFill>
            <a:srgbClr val="000000"/>
          </a:solidFill>
        </p:spPr>
        <p:txBody>
          <a:bodyPr wrap="square" lIns="0" tIns="0" rIns="0" bIns="0" rtlCol="0"/>
          <a:lstStyle/>
          <a:p>
            <a:endParaRPr/>
          </a:p>
        </p:txBody>
      </p:sp>
      <p:sp>
        <p:nvSpPr>
          <p:cNvPr id="6" name="object 6"/>
          <p:cNvSpPr/>
          <p:nvPr/>
        </p:nvSpPr>
        <p:spPr>
          <a:xfrm>
            <a:off x="1964278" y="2808086"/>
            <a:ext cx="2306320" cy="671830"/>
          </a:xfrm>
          <a:custGeom>
            <a:avLst/>
            <a:gdLst/>
            <a:ahLst/>
            <a:cxnLst/>
            <a:rect l="l" t="t" r="r" b="b"/>
            <a:pathLst>
              <a:path w="2306320" h="671829">
                <a:moveTo>
                  <a:pt x="0" y="335755"/>
                </a:moveTo>
                <a:lnTo>
                  <a:pt x="1153082" y="0"/>
                </a:lnTo>
                <a:lnTo>
                  <a:pt x="2306165" y="335755"/>
                </a:lnTo>
                <a:lnTo>
                  <a:pt x="1153082" y="671509"/>
                </a:lnTo>
                <a:lnTo>
                  <a:pt x="0" y="335755"/>
                </a:lnTo>
                <a:close/>
              </a:path>
            </a:pathLst>
          </a:custGeom>
          <a:ln w="19049">
            <a:solidFill>
              <a:srgbClr val="000000"/>
            </a:solidFill>
          </a:ln>
        </p:spPr>
        <p:txBody>
          <a:bodyPr wrap="square" lIns="0" tIns="0" rIns="0" bIns="0" rtlCol="0"/>
          <a:lstStyle/>
          <a:p>
            <a:endParaRPr/>
          </a:p>
        </p:txBody>
      </p:sp>
      <p:sp>
        <p:nvSpPr>
          <p:cNvPr id="7" name="object 7"/>
          <p:cNvSpPr txBox="1"/>
          <p:nvPr/>
        </p:nvSpPr>
        <p:spPr>
          <a:xfrm>
            <a:off x="2352860" y="2982551"/>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8" name="object 8"/>
          <p:cNvSpPr txBox="1"/>
          <p:nvPr/>
        </p:nvSpPr>
        <p:spPr>
          <a:xfrm>
            <a:off x="4575736" y="327379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9" name="object 9"/>
          <p:cNvSpPr/>
          <p:nvPr/>
        </p:nvSpPr>
        <p:spPr>
          <a:xfrm>
            <a:off x="1964278" y="4202297"/>
            <a:ext cx="2306320" cy="706120"/>
          </a:xfrm>
          <a:custGeom>
            <a:avLst/>
            <a:gdLst/>
            <a:ahLst/>
            <a:cxnLst/>
            <a:rect l="l" t="t" r="r" b="b"/>
            <a:pathLst>
              <a:path w="2306320" h="706120">
                <a:moveTo>
                  <a:pt x="0" y="352848"/>
                </a:moveTo>
                <a:lnTo>
                  <a:pt x="1153082" y="0"/>
                </a:lnTo>
                <a:lnTo>
                  <a:pt x="2306165" y="352848"/>
                </a:lnTo>
                <a:lnTo>
                  <a:pt x="1153082" y="705696"/>
                </a:lnTo>
                <a:lnTo>
                  <a:pt x="0" y="352848"/>
                </a:lnTo>
                <a:close/>
              </a:path>
            </a:pathLst>
          </a:custGeom>
          <a:ln w="19049">
            <a:solidFill>
              <a:srgbClr val="000000"/>
            </a:solidFill>
          </a:ln>
        </p:spPr>
        <p:txBody>
          <a:bodyPr wrap="square" lIns="0" tIns="0" rIns="0" bIns="0" rtlCol="0"/>
          <a:lstStyle/>
          <a:p>
            <a:endParaRPr/>
          </a:p>
        </p:txBody>
      </p:sp>
      <p:sp>
        <p:nvSpPr>
          <p:cNvPr id="10" name="object 10"/>
          <p:cNvSpPr txBox="1"/>
          <p:nvPr/>
        </p:nvSpPr>
        <p:spPr>
          <a:xfrm>
            <a:off x="2416360" y="4393857"/>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1" name="object 11"/>
          <p:cNvSpPr txBox="1"/>
          <p:nvPr/>
        </p:nvSpPr>
        <p:spPr>
          <a:xfrm>
            <a:off x="4567713" y="472486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2" name="object 12"/>
          <p:cNvSpPr/>
          <p:nvPr/>
        </p:nvSpPr>
        <p:spPr>
          <a:xfrm>
            <a:off x="4270444" y="3143842"/>
            <a:ext cx="882650" cy="104775"/>
          </a:xfrm>
          <a:custGeom>
            <a:avLst/>
            <a:gdLst/>
            <a:ahLst/>
            <a:cxnLst/>
            <a:rect l="l" t="t" r="r" b="b"/>
            <a:pathLst>
              <a:path w="882650" h="104775">
                <a:moveTo>
                  <a:pt x="0" y="0"/>
                </a:moveTo>
                <a:lnTo>
                  <a:pt x="882649" y="0"/>
                </a:lnTo>
                <a:lnTo>
                  <a:pt x="882649" y="104774"/>
                </a:lnTo>
              </a:path>
            </a:pathLst>
          </a:custGeom>
          <a:ln w="19049">
            <a:solidFill>
              <a:srgbClr val="000000"/>
            </a:solidFill>
          </a:ln>
        </p:spPr>
        <p:txBody>
          <a:bodyPr wrap="square" lIns="0" tIns="0" rIns="0" bIns="0" rtlCol="0"/>
          <a:lstStyle/>
          <a:p>
            <a:endParaRPr/>
          </a:p>
        </p:txBody>
      </p:sp>
      <p:sp>
        <p:nvSpPr>
          <p:cNvPr id="13" name="object 13"/>
          <p:cNvSpPr/>
          <p:nvPr/>
        </p:nvSpPr>
        <p:spPr>
          <a:xfrm>
            <a:off x="5114994" y="319781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4" name="object 14"/>
          <p:cNvSpPr/>
          <p:nvPr/>
        </p:nvSpPr>
        <p:spPr>
          <a:xfrm>
            <a:off x="3117362" y="3479596"/>
            <a:ext cx="0" cy="697230"/>
          </a:xfrm>
          <a:custGeom>
            <a:avLst/>
            <a:gdLst/>
            <a:ahLst/>
            <a:cxnLst/>
            <a:rect l="l" t="t" r="r" b="b"/>
            <a:pathLst>
              <a:path h="697229">
                <a:moveTo>
                  <a:pt x="0" y="0"/>
                </a:moveTo>
                <a:lnTo>
                  <a:pt x="0" y="696912"/>
                </a:lnTo>
              </a:path>
            </a:pathLst>
          </a:custGeom>
          <a:ln w="19049">
            <a:solidFill>
              <a:srgbClr val="000000"/>
            </a:solidFill>
          </a:ln>
        </p:spPr>
        <p:txBody>
          <a:bodyPr wrap="square" lIns="0" tIns="0" rIns="0" bIns="0" rtlCol="0"/>
          <a:lstStyle/>
          <a:p>
            <a:endParaRPr/>
          </a:p>
        </p:txBody>
      </p:sp>
      <p:sp>
        <p:nvSpPr>
          <p:cNvPr id="15" name="object 15"/>
          <p:cNvSpPr/>
          <p:nvPr/>
        </p:nvSpPr>
        <p:spPr>
          <a:xfrm>
            <a:off x="3079262" y="4125709"/>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6" name="object 16"/>
          <p:cNvSpPr txBox="1"/>
          <p:nvPr/>
        </p:nvSpPr>
        <p:spPr>
          <a:xfrm>
            <a:off x="3211892" y="348975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17" name="object 17"/>
          <p:cNvSpPr/>
          <p:nvPr/>
        </p:nvSpPr>
        <p:spPr>
          <a:xfrm>
            <a:off x="3216045" y="3620039"/>
            <a:ext cx="1937385" cy="196850"/>
          </a:xfrm>
          <a:custGeom>
            <a:avLst/>
            <a:gdLst/>
            <a:ahLst/>
            <a:cxnLst/>
            <a:rect l="l" t="t" r="r" b="b"/>
            <a:pathLst>
              <a:path w="1937385" h="196850">
                <a:moveTo>
                  <a:pt x="1936849" y="0"/>
                </a:moveTo>
                <a:lnTo>
                  <a:pt x="1936849" y="196527"/>
                </a:lnTo>
                <a:lnTo>
                  <a:pt x="0" y="196527"/>
                </a:lnTo>
              </a:path>
            </a:pathLst>
          </a:custGeom>
          <a:ln w="19049">
            <a:solidFill>
              <a:srgbClr val="000000"/>
            </a:solidFill>
          </a:ln>
        </p:spPr>
        <p:txBody>
          <a:bodyPr wrap="square" lIns="0" tIns="0" rIns="0" bIns="0" rtlCol="0"/>
          <a:lstStyle/>
          <a:p>
            <a:endParaRPr/>
          </a:p>
        </p:txBody>
      </p:sp>
      <p:sp>
        <p:nvSpPr>
          <p:cNvPr id="18" name="object 18"/>
          <p:cNvSpPr/>
          <p:nvPr/>
        </p:nvSpPr>
        <p:spPr>
          <a:xfrm>
            <a:off x="3030236" y="3758247"/>
            <a:ext cx="236608" cy="116643"/>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4270444" y="4555147"/>
            <a:ext cx="875030" cy="144780"/>
          </a:xfrm>
          <a:custGeom>
            <a:avLst/>
            <a:gdLst/>
            <a:ahLst/>
            <a:cxnLst/>
            <a:rect l="l" t="t" r="r" b="b"/>
            <a:pathLst>
              <a:path w="875029" h="144779">
                <a:moveTo>
                  <a:pt x="0" y="0"/>
                </a:moveTo>
                <a:lnTo>
                  <a:pt x="874712" y="0"/>
                </a:lnTo>
                <a:lnTo>
                  <a:pt x="874712" y="144462"/>
                </a:lnTo>
              </a:path>
            </a:pathLst>
          </a:custGeom>
          <a:ln w="19049">
            <a:solidFill>
              <a:srgbClr val="000000"/>
            </a:solidFill>
          </a:ln>
        </p:spPr>
        <p:txBody>
          <a:bodyPr wrap="square" lIns="0" tIns="0" rIns="0" bIns="0" rtlCol="0"/>
          <a:lstStyle/>
          <a:p>
            <a:endParaRPr/>
          </a:p>
        </p:txBody>
      </p:sp>
      <p:sp>
        <p:nvSpPr>
          <p:cNvPr id="20" name="object 20"/>
          <p:cNvSpPr/>
          <p:nvPr/>
        </p:nvSpPr>
        <p:spPr>
          <a:xfrm>
            <a:off x="5107057" y="464880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1" name="object 21"/>
          <p:cNvSpPr/>
          <p:nvPr/>
        </p:nvSpPr>
        <p:spPr>
          <a:xfrm>
            <a:off x="3216046" y="5071111"/>
            <a:ext cx="1929130" cy="208279"/>
          </a:xfrm>
          <a:custGeom>
            <a:avLst/>
            <a:gdLst/>
            <a:ahLst/>
            <a:cxnLst/>
            <a:rect l="l" t="t" r="r" b="b"/>
            <a:pathLst>
              <a:path w="1929129" h="208279">
                <a:moveTo>
                  <a:pt x="1928828" y="0"/>
                </a:moveTo>
                <a:lnTo>
                  <a:pt x="1928828" y="207864"/>
                </a:lnTo>
                <a:lnTo>
                  <a:pt x="0" y="207864"/>
                </a:lnTo>
              </a:path>
            </a:pathLst>
          </a:custGeom>
          <a:ln w="19049">
            <a:solidFill>
              <a:srgbClr val="000000"/>
            </a:solidFill>
          </a:ln>
        </p:spPr>
        <p:txBody>
          <a:bodyPr wrap="square" lIns="0" tIns="0" rIns="0" bIns="0" rtlCol="0"/>
          <a:lstStyle/>
          <a:p>
            <a:endParaRPr/>
          </a:p>
        </p:txBody>
      </p:sp>
      <p:sp>
        <p:nvSpPr>
          <p:cNvPr id="22" name="object 22"/>
          <p:cNvSpPr/>
          <p:nvPr/>
        </p:nvSpPr>
        <p:spPr>
          <a:xfrm>
            <a:off x="3030236" y="5220654"/>
            <a:ext cx="236610" cy="116642"/>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3117362" y="2464035"/>
            <a:ext cx="0" cy="318770"/>
          </a:xfrm>
          <a:custGeom>
            <a:avLst/>
            <a:gdLst/>
            <a:ahLst/>
            <a:cxnLst/>
            <a:rect l="l" t="t" r="r" b="b"/>
            <a:pathLst>
              <a:path h="318769">
                <a:moveTo>
                  <a:pt x="0" y="0"/>
                </a:moveTo>
                <a:lnTo>
                  <a:pt x="0" y="318293"/>
                </a:lnTo>
              </a:path>
            </a:pathLst>
          </a:custGeom>
          <a:ln w="19049">
            <a:solidFill>
              <a:srgbClr val="000000"/>
            </a:solidFill>
          </a:ln>
        </p:spPr>
        <p:txBody>
          <a:bodyPr wrap="square" lIns="0" tIns="0" rIns="0" bIns="0" rtlCol="0"/>
          <a:lstStyle/>
          <a:p>
            <a:endParaRPr/>
          </a:p>
        </p:txBody>
      </p:sp>
      <p:sp>
        <p:nvSpPr>
          <p:cNvPr id="24" name="object 24"/>
          <p:cNvSpPr/>
          <p:nvPr/>
        </p:nvSpPr>
        <p:spPr>
          <a:xfrm>
            <a:off x="3079262" y="273152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5" name="object 25"/>
          <p:cNvSpPr txBox="1"/>
          <p:nvPr/>
        </p:nvSpPr>
        <p:spPr>
          <a:xfrm>
            <a:off x="4291240" y="286387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6" name="object 26"/>
          <p:cNvSpPr txBox="1"/>
          <p:nvPr/>
        </p:nvSpPr>
        <p:spPr>
          <a:xfrm>
            <a:off x="3204997" y="492949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7" name="object 27"/>
          <p:cNvSpPr txBox="1"/>
          <p:nvPr/>
        </p:nvSpPr>
        <p:spPr>
          <a:xfrm>
            <a:off x="4240761" y="426818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8" name="object 28"/>
          <p:cNvSpPr txBox="1"/>
          <p:nvPr/>
        </p:nvSpPr>
        <p:spPr>
          <a:xfrm>
            <a:off x="2539517" y="5511803"/>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29" name="object 29"/>
          <p:cNvSpPr txBox="1"/>
          <p:nvPr/>
        </p:nvSpPr>
        <p:spPr>
          <a:xfrm>
            <a:off x="2625093" y="2489992"/>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0" name="object 30"/>
          <p:cNvSpPr txBox="1"/>
          <p:nvPr/>
        </p:nvSpPr>
        <p:spPr>
          <a:xfrm>
            <a:off x="4240016" y="323884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1" name="object 31"/>
          <p:cNvSpPr txBox="1"/>
          <p:nvPr/>
        </p:nvSpPr>
        <p:spPr>
          <a:xfrm>
            <a:off x="2623858" y="3927148"/>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32" name="object 32"/>
          <p:cNvSpPr txBox="1"/>
          <p:nvPr/>
        </p:nvSpPr>
        <p:spPr>
          <a:xfrm>
            <a:off x="4244221" y="470137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33" name="object 33"/>
          <p:cNvSpPr txBox="1"/>
          <p:nvPr/>
        </p:nvSpPr>
        <p:spPr>
          <a:xfrm>
            <a:off x="2155275" y="5506533"/>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34" name="object 34"/>
          <p:cNvSpPr txBox="1"/>
          <p:nvPr/>
        </p:nvSpPr>
        <p:spPr>
          <a:xfrm>
            <a:off x="7089805" y="3566006"/>
            <a:ext cx="3211195" cy="914400"/>
          </a:xfrm>
          <a:prstGeom prst="rect">
            <a:avLst/>
          </a:prstGeom>
        </p:spPr>
        <p:txBody>
          <a:bodyPr vert="horz" wrap="square" lIns="0" tIns="121920" rIns="0" bIns="0" rtlCol="0">
            <a:spAutoFit/>
          </a:bodyPr>
          <a:lstStyle/>
          <a:p>
            <a:pPr marL="12700">
              <a:lnSpc>
                <a:spcPct val="100000"/>
              </a:lnSpc>
              <a:spcBef>
                <a:spcPts val="9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a=2,b=1,c=6</a:t>
            </a:r>
            <a:endParaRPr sz="2200">
              <a:latin typeface="Courier New" panose="02070309020205020404"/>
              <a:cs typeface="Courier New" panose="02070309020205020404"/>
            </a:endParaRPr>
          </a:p>
          <a:p>
            <a:pPr marL="12700">
              <a:lnSpc>
                <a:spcPct val="100000"/>
              </a:lnSpc>
              <a:spcBef>
                <a:spcPts val="860"/>
              </a:spcBef>
            </a:pPr>
            <a:r>
              <a:rPr sz="2200" dirty="0">
                <a:latin typeface="微软雅黑" panose="020B0503020204020204" pitchFamily="34" charset="-122"/>
                <a:cs typeface="微软雅黑" panose="020B0503020204020204" pitchFamily="34" charset="-122"/>
              </a:rPr>
              <a:t>输入：</a:t>
            </a:r>
            <a:r>
              <a:rPr sz="2200" b="1" dirty="0">
                <a:latin typeface="Courier New" panose="02070309020205020404"/>
                <a:cs typeface="Courier New" panose="02070309020205020404"/>
              </a:rPr>
              <a:t>a=-2,b=-1,c=-3</a:t>
            </a:r>
            <a:endParaRPr sz="2200">
              <a:latin typeface="Courier New" panose="02070309020205020404"/>
              <a:cs typeface="Courier New" panose="02070309020205020404"/>
            </a:endParaRPr>
          </a:p>
        </p:txBody>
      </p:sp>
      <p:sp>
        <p:nvSpPr>
          <p:cNvPr id="35" name="灯片编号占位符 34"/>
          <p:cNvSpPr>
            <a:spLocks noGrp="1"/>
          </p:cNvSpPr>
          <p:nvPr>
            <p:ph type="sldNum" sz="quarter" idx="12"/>
          </p:nvPr>
        </p:nvSpPr>
        <p:spPr/>
        <p:txBody>
          <a:bodyPr/>
          <a:lstStyle/>
          <a:p>
            <a:fld id="{74D2AB8B-5816-41F2-8B4B-CA5C3E4E6A65}" type="slidenum">
              <a:rPr lang="zh-CN" altLang="en-US" smtClean="0"/>
              <a:t>93</a:t>
            </a:fld>
            <a:endParaRPr lang="zh-CN" altLang="en-US"/>
          </a:p>
        </p:txBody>
      </p:sp>
      <p:sp>
        <p:nvSpPr>
          <p:cNvPr id="37" name="标题 36"/>
          <p:cNvSpPr>
            <a:spLocks noGrp="1"/>
          </p:cNvSpPr>
          <p:nvPr>
            <p:ph type="title"/>
          </p:nvPr>
        </p:nvSpPr>
        <p:spPr/>
        <p:txBody>
          <a:bodyPr/>
          <a:lstStyle/>
          <a:p>
            <a:r>
              <a:rPr lang="zh-CN" altLang="en-US" dirty="0"/>
              <a:t>判定覆盖（分支覆盖）</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3999" y="1548000"/>
            <a:ext cx="9720580" cy="688975"/>
          </a:xfrm>
          <a:prstGeom prst="rect">
            <a:avLst/>
          </a:prstGeom>
          <a:solidFill>
            <a:srgbClr val="797BA9"/>
          </a:solidFill>
        </p:spPr>
        <p:txBody>
          <a:bodyPr vert="horz" wrap="square" lIns="0" tIns="191770" rIns="0" bIns="0" rtlCol="0">
            <a:spAutoFit/>
          </a:bodyPr>
          <a:lstStyle/>
          <a:p>
            <a:pPr marL="391795">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程序中每个判断的取真和取假分支至少经历一次，即判断真假值均被满足。</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484873" y="2287540"/>
            <a:ext cx="9558655" cy="3517900"/>
          </a:xfrm>
          <a:prstGeom prst="rect">
            <a:avLst/>
          </a:prstGeom>
        </p:spPr>
        <p:txBody>
          <a:bodyPr vert="horz" wrap="square" lIns="0" tIns="198120" rIns="0" bIns="0" rtlCol="0">
            <a:spAutoFit/>
          </a:bodyPr>
          <a:lstStyle/>
          <a:p>
            <a:pPr marL="12700">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a:lnSpc>
                <a:spcPct val="100000"/>
              </a:lnSpc>
              <a:spcBef>
                <a:spcPts val="14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a=2,b=1,c=6</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覆盖判断</a:t>
            </a:r>
            <a:r>
              <a:rPr sz="2200" dirty="0">
                <a:latin typeface="Calibri" panose="020F0502020204030204"/>
                <a:cs typeface="Calibri" panose="020F0502020204030204"/>
              </a:rPr>
              <a:t>1</a:t>
            </a:r>
            <a:r>
              <a:rPr sz="2200" dirty="0">
                <a:latin typeface="微软雅黑" panose="020B0503020204020204" pitchFamily="34" charset="-122"/>
                <a:cs typeface="微软雅黑" panose="020B0503020204020204" pitchFamily="34" charset="-122"/>
              </a:rPr>
              <a:t>的</a:t>
            </a:r>
            <a:r>
              <a:rPr sz="2200" spc="-5" dirty="0">
                <a:latin typeface="微软雅黑" panose="020B0503020204020204" pitchFamily="34" charset="-122"/>
                <a:cs typeface="微软雅黑" panose="020B0503020204020204" pitchFamily="34" charset="-122"/>
              </a:rPr>
              <a:t> </a:t>
            </a:r>
            <a:r>
              <a:rPr sz="2200" dirty="0">
                <a:latin typeface="Calibri" panose="020F0502020204030204"/>
                <a:cs typeface="Calibri" panose="020F0502020204030204"/>
              </a:rPr>
              <a:t>T</a:t>
            </a:r>
            <a:r>
              <a:rPr sz="2200" dirty="0">
                <a:latin typeface="微软雅黑" panose="020B0503020204020204" pitchFamily="34" charset="-122"/>
                <a:cs typeface="微软雅黑" panose="020B0503020204020204" pitchFamily="34" charset="-122"/>
              </a:rPr>
              <a:t>分支和判断</a:t>
            </a:r>
            <a:r>
              <a:rPr sz="2200" dirty="0">
                <a:latin typeface="Calibri" panose="020F0502020204030204"/>
                <a:cs typeface="Calibri" panose="020F0502020204030204"/>
              </a:rPr>
              <a:t>2</a:t>
            </a:r>
            <a:r>
              <a:rPr sz="2200" dirty="0">
                <a:latin typeface="微软雅黑" panose="020B0503020204020204" pitchFamily="34" charset="-122"/>
                <a:cs typeface="微软雅黑" panose="020B0503020204020204" pitchFamily="34" charset="-122"/>
              </a:rPr>
              <a:t>的 </a:t>
            </a:r>
            <a:r>
              <a:rPr sz="2200" dirty="0">
                <a:latin typeface="Calibri" panose="020F0502020204030204"/>
                <a:cs typeface="Calibri" panose="020F0502020204030204"/>
              </a:rPr>
              <a:t>T</a:t>
            </a:r>
            <a:r>
              <a:rPr sz="2200" dirty="0">
                <a:latin typeface="微软雅黑" panose="020B0503020204020204" pitchFamily="34" charset="-122"/>
                <a:cs typeface="微软雅黑" panose="020B0503020204020204" pitchFamily="34" charset="-122"/>
              </a:rPr>
              <a:t>分支</a:t>
            </a:r>
            <a:endParaRPr sz="2200">
              <a:latin typeface="微软雅黑" panose="020B0503020204020204" pitchFamily="34" charset="-122"/>
              <a:cs typeface="微软雅黑" panose="020B0503020204020204" pitchFamily="34" charset="-122"/>
            </a:endParaRPr>
          </a:p>
          <a:p>
            <a:pPr marL="12700">
              <a:lnSpc>
                <a:spcPct val="100000"/>
              </a:lnSpc>
              <a:spcBef>
                <a:spcPts val="8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a=-2,b=-1,c=-3</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覆盖判断</a:t>
            </a:r>
            <a:r>
              <a:rPr sz="2200" dirty="0">
                <a:latin typeface="Calibri" panose="020F0502020204030204"/>
                <a:cs typeface="Calibri" panose="020F0502020204030204"/>
              </a:rPr>
              <a:t>1</a:t>
            </a:r>
            <a:r>
              <a:rPr sz="2200" dirty="0">
                <a:latin typeface="微软雅黑" panose="020B0503020204020204" pitchFamily="34" charset="-122"/>
                <a:cs typeface="微软雅黑" panose="020B0503020204020204" pitchFamily="34" charset="-122"/>
              </a:rPr>
              <a:t>的</a:t>
            </a:r>
            <a:r>
              <a:rPr sz="2200" spc="-5" dirty="0">
                <a:latin typeface="微软雅黑" panose="020B0503020204020204" pitchFamily="34" charset="-122"/>
                <a:cs typeface="微软雅黑" panose="020B0503020204020204" pitchFamily="34" charset="-122"/>
              </a:rPr>
              <a:t> </a:t>
            </a:r>
            <a:r>
              <a:rPr sz="2200" dirty="0">
                <a:latin typeface="Calibri" panose="020F0502020204030204"/>
                <a:cs typeface="Calibri" panose="020F0502020204030204"/>
              </a:rPr>
              <a:t>F</a:t>
            </a:r>
            <a:r>
              <a:rPr sz="2200" dirty="0">
                <a:latin typeface="微软雅黑" panose="020B0503020204020204" pitchFamily="34" charset="-122"/>
                <a:cs typeface="微软雅黑" panose="020B0503020204020204" pitchFamily="34" charset="-122"/>
              </a:rPr>
              <a:t>分支和判断</a:t>
            </a:r>
            <a:r>
              <a:rPr sz="2200" dirty="0">
                <a:latin typeface="Calibri" panose="020F0502020204030204"/>
                <a:cs typeface="Calibri" panose="020F0502020204030204"/>
              </a:rPr>
              <a:t>2</a:t>
            </a:r>
            <a:r>
              <a:rPr sz="2200" dirty="0">
                <a:latin typeface="微软雅黑" panose="020B0503020204020204" pitchFamily="34" charset="-122"/>
                <a:cs typeface="微软雅黑" panose="020B0503020204020204" pitchFamily="34" charset="-122"/>
              </a:rPr>
              <a:t>的 </a:t>
            </a:r>
            <a:r>
              <a:rPr sz="2200" dirty="0">
                <a:latin typeface="Calibri" panose="020F0502020204030204"/>
                <a:cs typeface="Calibri" panose="020F0502020204030204"/>
              </a:rPr>
              <a:t>F</a:t>
            </a:r>
            <a:r>
              <a:rPr sz="2200" dirty="0">
                <a:latin typeface="微软雅黑" panose="020B0503020204020204" pitchFamily="34" charset="-122"/>
                <a:cs typeface="微软雅黑" panose="020B0503020204020204" pitchFamily="34" charset="-122"/>
              </a:rPr>
              <a:t>分支</a:t>
            </a:r>
            <a:endParaRPr sz="2200">
              <a:latin typeface="微软雅黑" panose="020B0503020204020204" pitchFamily="34" charset="-122"/>
              <a:cs typeface="微软雅黑" panose="020B0503020204020204" pitchFamily="34" charset="-122"/>
            </a:endParaRPr>
          </a:p>
          <a:p>
            <a:pPr marL="12700">
              <a:lnSpc>
                <a:spcPct val="100000"/>
              </a:lnSpc>
              <a:spcBef>
                <a:spcPts val="2660"/>
              </a:spcBef>
            </a:pPr>
            <a:r>
              <a:rPr sz="2200" dirty="0">
                <a:solidFill>
                  <a:srgbClr val="0033CC"/>
                </a:solidFill>
                <a:latin typeface="微软雅黑" panose="020B0503020204020204" pitchFamily="34" charset="-122"/>
                <a:cs typeface="微软雅黑" panose="020B0503020204020204" pitchFamily="34" charset="-122"/>
              </a:rPr>
              <a:t>问题分析</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marR="5080">
              <a:lnSpc>
                <a:spcPct val="110000"/>
              </a:lnSpc>
              <a:spcBef>
                <a:spcPts val="1200"/>
              </a:spcBef>
            </a:pPr>
            <a:r>
              <a:rPr sz="2200" spc="5" dirty="0">
                <a:latin typeface="微软雅黑" panose="020B0503020204020204" pitchFamily="34" charset="-122"/>
                <a:cs typeface="微软雅黑" panose="020B0503020204020204" pitchFamily="34" charset="-122"/>
              </a:rPr>
              <a:t>由于大部分判定语句是由多个逻辑条件组合而成，若仅判断其整个最终结</a:t>
            </a:r>
            <a:r>
              <a:rPr sz="2200" dirty="0">
                <a:latin typeface="微软雅黑" panose="020B0503020204020204" pitchFamily="34" charset="-122"/>
                <a:cs typeface="微软雅黑" panose="020B0503020204020204" pitchFamily="34" charset="-122"/>
              </a:rPr>
              <a:t>果， 而忽略每个条件的取值情况，必然会遗漏部分测试路径。</a:t>
            </a:r>
            <a:endParaRPr sz="2200">
              <a:latin typeface="微软雅黑" panose="020B0503020204020204" pitchFamily="34" charset="-122"/>
              <a:cs typeface="微软雅黑" panose="020B0503020204020204" pitchFamily="34" charset="-122"/>
            </a:endParaRPr>
          </a:p>
          <a:p>
            <a:pPr marL="12700">
              <a:lnSpc>
                <a:spcPct val="100000"/>
              </a:lnSpc>
              <a:spcBef>
                <a:spcPts val="860"/>
              </a:spcBef>
            </a:pPr>
            <a:r>
              <a:rPr sz="2200" dirty="0">
                <a:solidFill>
                  <a:srgbClr val="C00000"/>
                </a:solidFill>
                <a:latin typeface="微软雅黑" panose="020B0503020204020204" pitchFamily="34" charset="-122"/>
                <a:cs typeface="微软雅黑" panose="020B0503020204020204" pitchFamily="34" charset="-122"/>
              </a:rPr>
              <a:t>判定覆盖具有比语句覆盖更强的测试能力</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但仍是弱的逻辑覆盖</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94</a:t>
            </a:fld>
            <a:endParaRPr lang="zh-CN" altLang="en-US"/>
          </a:p>
        </p:txBody>
      </p:sp>
      <p:sp>
        <p:nvSpPr>
          <p:cNvPr id="7" name="标题 6"/>
          <p:cNvSpPr>
            <a:spLocks noGrp="1"/>
          </p:cNvSpPr>
          <p:nvPr>
            <p:ph type="title"/>
          </p:nvPr>
        </p:nvSpPr>
        <p:spPr/>
        <p:txBody>
          <a:bodyPr/>
          <a:lstStyle/>
          <a:p>
            <a:r>
              <a:rPr lang="zh-CN" altLang="en-US" dirty="0"/>
              <a:t>判定覆盖（分支覆盖）</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28740" y="2939473"/>
            <a:ext cx="4243705" cy="914400"/>
          </a:xfrm>
          <a:prstGeom prst="rect">
            <a:avLst/>
          </a:prstGeom>
        </p:spPr>
        <p:txBody>
          <a:bodyPr vert="horz" wrap="square" lIns="0" tIns="121920" rIns="0" bIns="0" rtlCol="0">
            <a:spAutoFit/>
          </a:bodyPr>
          <a:lstStyle/>
          <a:p>
            <a:pPr marL="12700">
              <a:lnSpc>
                <a:spcPct val="100000"/>
              </a:lnSpc>
              <a:spcBef>
                <a:spcPts val="960"/>
              </a:spcBef>
            </a:pPr>
            <a:r>
              <a:rPr sz="2200" dirty="0">
                <a:latin typeface="微软雅黑" panose="020B0503020204020204" pitchFamily="34" charset="-122"/>
                <a:cs typeface="微软雅黑" panose="020B0503020204020204" pitchFamily="34" charset="-122"/>
              </a:rPr>
              <a:t>输入：</a:t>
            </a:r>
            <a:r>
              <a:rPr sz="2200" spc="-10" dirty="0">
                <a:latin typeface="微软雅黑" panose="020B0503020204020204" pitchFamily="34" charset="-122"/>
                <a:cs typeface="微软雅黑" panose="020B0503020204020204" pitchFamily="34" charset="-122"/>
              </a:rPr>
              <a:t> </a:t>
            </a:r>
            <a:r>
              <a:rPr sz="2200" b="1" dirty="0">
                <a:latin typeface="Courier New" panose="02070309020205020404"/>
                <a:cs typeface="Courier New" panose="02070309020205020404"/>
              </a:rPr>
              <a:t>a=2,b=-1,c=-2</a:t>
            </a:r>
            <a:endParaRPr sz="2200">
              <a:latin typeface="Courier New" panose="02070309020205020404"/>
              <a:cs typeface="Courier New" panose="02070309020205020404"/>
            </a:endParaRPr>
          </a:p>
          <a:p>
            <a:pPr marL="12700">
              <a:lnSpc>
                <a:spcPct val="100000"/>
              </a:lnSpc>
              <a:spcBef>
                <a:spcPts val="860"/>
              </a:spcBef>
              <a:tabLst>
                <a:tab pos="3671570" algn="l"/>
              </a:tabLst>
            </a:pPr>
            <a:r>
              <a:rPr sz="2200" dirty="0">
                <a:latin typeface="微软雅黑" panose="020B0503020204020204" pitchFamily="34" charset="-122"/>
                <a:cs typeface="微软雅黑" panose="020B0503020204020204" pitchFamily="34" charset="-122"/>
              </a:rPr>
              <a:t>覆盖 </a:t>
            </a:r>
            <a:r>
              <a:rPr sz="2200" b="1" dirty="0">
                <a:latin typeface="Courier New" panose="02070309020205020404"/>
                <a:cs typeface="Courier New" panose="02070309020205020404"/>
              </a:rPr>
              <a:t>a&gt;0,b&lt;=0,a&gt;1,c&lt;=1	</a:t>
            </a:r>
            <a:r>
              <a:rPr sz="2200" dirty="0">
                <a:latin typeface="微软雅黑" panose="020B0503020204020204" pitchFamily="34" charset="-122"/>
                <a:cs typeface="微软雅黑" panose="020B0503020204020204" pitchFamily="34" charset="-122"/>
              </a:rPr>
              <a:t>条件</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6428740" y="4272973"/>
            <a:ext cx="4243705" cy="914400"/>
          </a:xfrm>
          <a:prstGeom prst="rect">
            <a:avLst/>
          </a:prstGeom>
        </p:spPr>
        <p:txBody>
          <a:bodyPr vert="horz" wrap="square" lIns="0" tIns="121920" rIns="0" bIns="0" rtlCol="0">
            <a:spAutoFit/>
          </a:bodyPr>
          <a:lstStyle/>
          <a:p>
            <a:pPr marL="12700">
              <a:lnSpc>
                <a:spcPct val="100000"/>
              </a:lnSpc>
              <a:spcBef>
                <a:spcPts val="960"/>
              </a:spcBef>
            </a:pPr>
            <a:r>
              <a:rPr sz="2200" dirty="0">
                <a:latin typeface="微软雅黑" panose="020B0503020204020204" pitchFamily="34" charset="-122"/>
                <a:cs typeface="微软雅黑" panose="020B0503020204020204" pitchFamily="34" charset="-122"/>
              </a:rPr>
              <a:t>输入：</a:t>
            </a:r>
            <a:r>
              <a:rPr sz="2200" b="1" dirty="0">
                <a:latin typeface="Courier New" panose="02070309020205020404"/>
                <a:cs typeface="Courier New" panose="02070309020205020404"/>
              </a:rPr>
              <a:t>a=-1,b=2,c=3</a:t>
            </a:r>
            <a:endParaRPr sz="2200">
              <a:latin typeface="Courier New" panose="02070309020205020404"/>
              <a:cs typeface="Courier New" panose="02070309020205020404"/>
            </a:endParaRPr>
          </a:p>
          <a:p>
            <a:pPr marL="12700">
              <a:lnSpc>
                <a:spcPct val="100000"/>
              </a:lnSpc>
              <a:spcBef>
                <a:spcPts val="860"/>
              </a:spcBef>
            </a:pPr>
            <a:r>
              <a:rPr sz="2200" dirty="0">
                <a:latin typeface="微软雅黑" panose="020B0503020204020204" pitchFamily="34" charset="-122"/>
                <a:cs typeface="微软雅黑" panose="020B0503020204020204" pitchFamily="34" charset="-122"/>
              </a:rPr>
              <a:t>覆盖</a:t>
            </a:r>
            <a:r>
              <a:rPr sz="2200" spc="-30"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a&lt;=0,b&gt;0,a&lt;=1,c&gt;1</a:t>
            </a:r>
            <a:r>
              <a:rPr sz="2200" b="1" spc="-60" dirty="0">
                <a:latin typeface="Courier New" panose="02070309020205020404"/>
                <a:cs typeface="Courier New" panose="02070309020205020404"/>
              </a:rPr>
              <a:t> </a:t>
            </a:r>
            <a:r>
              <a:rPr sz="2200" dirty="0">
                <a:latin typeface="微软雅黑" panose="020B0503020204020204" pitchFamily="34" charset="-122"/>
                <a:cs typeface="微软雅黑" panose="020B0503020204020204" pitchFamily="34" charset="-122"/>
              </a:rPr>
              <a:t>条件</a:t>
            </a:r>
            <a:endParaRPr sz="2200">
              <a:latin typeface="微软雅黑" panose="020B0503020204020204" pitchFamily="34" charset="-122"/>
              <a:cs typeface="微软雅黑" panose="020B0503020204020204" pitchFamily="34" charset="-122"/>
            </a:endParaRPr>
          </a:p>
        </p:txBody>
      </p:sp>
      <p:sp>
        <p:nvSpPr>
          <p:cNvPr id="5" name="object 5"/>
          <p:cNvSpPr txBox="1"/>
          <p:nvPr/>
        </p:nvSpPr>
        <p:spPr>
          <a:xfrm>
            <a:off x="1224340" y="1594799"/>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每个判断中每个条件的可能取值至少满足一次。</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3116705" y="4907994"/>
            <a:ext cx="1270" cy="578485"/>
          </a:xfrm>
          <a:custGeom>
            <a:avLst/>
            <a:gdLst/>
            <a:ahLst/>
            <a:cxnLst/>
            <a:rect l="l" t="t" r="r" b="b"/>
            <a:pathLst>
              <a:path w="1269" h="578485">
                <a:moveTo>
                  <a:pt x="655" y="0"/>
                </a:moveTo>
                <a:lnTo>
                  <a:pt x="0" y="578408"/>
                </a:lnTo>
              </a:path>
            </a:pathLst>
          </a:custGeom>
          <a:ln w="19049">
            <a:solidFill>
              <a:srgbClr val="000000"/>
            </a:solidFill>
          </a:ln>
        </p:spPr>
        <p:txBody>
          <a:bodyPr wrap="square" lIns="0" tIns="0" rIns="0" bIns="0" rtlCol="0"/>
          <a:lstStyle/>
          <a:p>
            <a:endParaRPr/>
          </a:p>
        </p:txBody>
      </p:sp>
      <p:sp>
        <p:nvSpPr>
          <p:cNvPr id="7" name="object 7"/>
          <p:cNvSpPr/>
          <p:nvPr/>
        </p:nvSpPr>
        <p:spPr>
          <a:xfrm>
            <a:off x="3078664" y="5435560"/>
            <a:ext cx="76200" cy="76835"/>
          </a:xfrm>
          <a:custGeom>
            <a:avLst/>
            <a:gdLst/>
            <a:ahLst/>
            <a:cxnLst/>
            <a:rect l="l" t="t" r="r" b="b"/>
            <a:pathLst>
              <a:path w="76200" h="76835">
                <a:moveTo>
                  <a:pt x="0" y="0"/>
                </a:moveTo>
                <a:lnTo>
                  <a:pt x="38013" y="76243"/>
                </a:lnTo>
                <a:lnTo>
                  <a:pt x="76200" y="86"/>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1964278" y="2808086"/>
            <a:ext cx="2306320" cy="671830"/>
          </a:xfrm>
          <a:custGeom>
            <a:avLst/>
            <a:gdLst/>
            <a:ahLst/>
            <a:cxnLst/>
            <a:rect l="l" t="t" r="r" b="b"/>
            <a:pathLst>
              <a:path w="2306320" h="671829">
                <a:moveTo>
                  <a:pt x="0" y="335755"/>
                </a:moveTo>
                <a:lnTo>
                  <a:pt x="1153082" y="0"/>
                </a:lnTo>
                <a:lnTo>
                  <a:pt x="2306165" y="335755"/>
                </a:lnTo>
                <a:lnTo>
                  <a:pt x="1153082" y="671509"/>
                </a:lnTo>
                <a:lnTo>
                  <a:pt x="0" y="335755"/>
                </a:lnTo>
                <a:close/>
              </a:path>
            </a:pathLst>
          </a:custGeom>
          <a:ln w="19049">
            <a:solidFill>
              <a:srgbClr val="000000"/>
            </a:solidFill>
          </a:ln>
        </p:spPr>
        <p:txBody>
          <a:bodyPr wrap="square" lIns="0" tIns="0" rIns="0" bIns="0" rtlCol="0"/>
          <a:lstStyle/>
          <a:p>
            <a:endParaRPr/>
          </a:p>
        </p:txBody>
      </p:sp>
      <p:sp>
        <p:nvSpPr>
          <p:cNvPr id="9" name="object 9"/>
          <p:cNvSpPr txBox="1"/>
          <p:nvPr/>
        </p:nvSpPr>
        <p:spPr>
          <a:xfrm>
            <a:off x="2352860" y="2982551"/>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10" name="object 10"/>
          <p:cNvSpPr txBox="1"/>
          <p:nvPr/>
        </p:nvSpPr>
        <p:spPr>
          <a:xfrm>
            <a:off x="4575736" y="327379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11" name="object 11"/>
          <p:cNvSpPr/>
          <p:nvPr/>
        </p:nvSpPr>
        <p:spPr>
          <a:xfrm>
            <a:off x="1964278" y="4202297"/>
            <a:ext cx="2306320" cy="706120"/>
          </a:xfrm>
          <a:custGeom>
            <a:avLst/>
            <a:gdLst/>
            <a:ahLst/>
            <a:cxnLst/>
            <a:rect l="l" t="t" r="r" b="b"/>
            <a:pathLst>
              <a:path w="2306320" h="706120">
                <a:moveTo>
                  <a:pt x="0" y="352848"/>
                </a:moveTo>
                <a:lnTo>
                  <a:pt x="1153082" y="0"/>
                </a:lnTo>
                <a:lnTo>
                  <a:pt x="2306165" y="352848"/>
                </a:lnTo>
                <a:lnTo>
                  <a:pt x="1153082" y="705696"/>
                </a:lnTo>
                <a:lnTo>
                  <a:pt x="0" y="352848"/>
                </a:lnTo>
                <a:close/>
              </a:path>
            </a:pathLst>
          </a:custGeom>
          <a:ln w="19049">
            <a:solidFill>
              <a:srgbClr val="000000"/>
            </a:solidFill>
          </a:ln>
        </p:spPr>
        <p:txBody>
          <a:bodyPr wrap="square" lIns="0" tIns="0" rIns="0" bIns="0" rtlCol="0"/>
          <a:lstStyle/>
          <a:p>
            <a:endParaRPr/>
          </a:p>
        </p:txBody>
      </p:sp>
      <p:sp>
        <p:nvSpPr>
          <p:cNvPr id="12" name="object 12"/>
          <p:cNvSpPr txBox="1"/>
          <p:nvPr/>
        </p:nvSpPr>
        <p:spPr>
          <a:xfrm>
            <a:off x="2416360" y="4393857"/>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3" name="object 13"/>
          <p:cNvSpPr txBox="1"/>
          <p:nvPr/>
        </p:nvSpPr>
        <p:spPr>
          <a:xfrm>
            <a:off x="4567713" y="472486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4" name="object 14"/>
          <p:cNvSpPr/>
          <p:nvPr/>
        </p:nvSpPr>
        <p:spPr>
          <a:xfrm>
            <a:off x="4270444" y="3143842"/>
            <a:ext cx="882650" cy="104775"/>
          </a:xfrm>
          <a:custGeom>
            <a:avLst/>
            <a:gdLst/>
            <a:ahLst/>
            <a:cxnLst/>
            <a:rect l="l" t="t" r="r" b="b"/>
            <a:pathLst>
              <a:path w="882650" h="104775">
                <a:moveTo>
                  <a:pt x="0" y="0"/>
                </a:moveTo>
                <a:lnTo>
                  <a:pt x="882649" y="0"/>
                </a:lnTo>
                <a:lnTo>
                  <a:pt x="882649" y="104774"/>
                </a:lnTo>
              </a:path>
            </a:pathLst>
          </a:custGeom>
          <a:ln w="19049">
            <a:solidFill>
              <a:srgbClr val="000000"/>
            </a:solidFill>
          </a:ln>
        </p:spPr>
        <p:txBody>
          <a:bodyPr wrap="square" lIns="0" tIns="0" rIns="0" bIns="0" rtlCol="0"/>
          <a:lstStyle/>
          <a:p>
            <a:endParaRPr/>
          </a:p>
        </p:txBody>
      </p:sp>
      <p:sp>
        <p:nvSpPr>
          <p:cNvPr id="15" name="object 15"/>
          <p:cNvSpPr/>
          <p:nvPr/>
        </p:nvSpPr>
        <p:spPr>
          <a:xfrm>
            <a:off x="5114994" y="319781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6" name="object 16"/>
          <p:cNvSpPr/>
          <p:nvPr/>
        </p:nvSpPr>
        <p:spPr>
          <a:xfrm>
            <a:off x="3117362" y="3479596"/>
            <a:ext cx="0" cy="697230"/>
          </a:xfrm>
          <a:custGeom>
            <a:avLst/>
            <a:gdLst/>
            <a:ahLst/>
            <a:cxnLst/>
            <a:rect l="l" t="t" r="r" b="b"/>
            <a:pathLst>
              <a:path h="697229">
                <a:moveTo>
                  <a:pt x="0" y="0"/>
                </a:moveTo>
                <a:lnTo>
                  <a:pt x="0" y="696912"/>
                </a:lnTo>
              </a:path>
            </a:pathLst>
          </a:custGeom>
          <a:ln w="19049">
            <a:solidFill>
              <a:srgbClr val="000000"/>
            </a:solidFill>
          </a:ln>
        </p:spPr>
        <p:txBody>
          <a:bodyPr wrap="square" lIns="0" tIns="0" rIns="0" bIns="0" rtlCol="0"/>
          <a:lstStyle/>
          <a:p>
            <a:endParaRPr/>
          </a:p>
        </p:txBody>
      </p:sp>
      <p:sp>
        <p:nvSpPr>
          <p:cNvPr id="17" name="object 17"/>
          <p:cNvSpPr/>
          <p:nvPr/>
        </p:nvSpPr>
        <p:spPr>
          <a:xfrm>
            <a:off x="3079262" y="4125709"/>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8" name="object 18"/>
          <p:cNvSpPr txBox="1"/>
          <p:nvPr/>
        </p:nvSpPr>
        <p:spPr>
          <a:xfrm>
            <a:off x="3211892" y="348975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19" name="object 19"/>
          <p:cNvSpPr/>
          <p:nvPr/>
        </p:nvSpPr>
        <p:spPr>
          <a:xfrm>
            <a:off x="3216045" y="3620039"/>
            <a:ext cx="1937385" cy="196850"/>
          </a:xfrm>
          <a:custGeom>
            <a:avLst/>
            <a:gdLst/>
            <a:ahLst/>
            <a:cxnLst/>
            <a:rect l="l" t="t" r="r" b="b"/>
            <a:pathLst>
              <a:path w="1937385" h="196850">
                <a:moveTo>
                  <a:pt x="1936849" y="0"/>
                </a:moveTo>
                <a:lnTo>
                  <a:pt x="1936849" y="196527"/>
                </a:lnTo>
                <a:lnTo>
                  <a:pt x="0" y="196527"/>
                </a:lnTo>
              </a:path>
            </a:pathLst>
          </a:custGeom>
          <a:ln w="19049">
            <a:solidFill>
              <a:srgbClr val="000000"/>
            </a:solidFill>
          </a:ln>
        </p:spPr>
        <p:txBody>
          <a:bodyPr wrap="square" lIns="0" tIns="0" rIns="0" bIns="0" rtlCol="0"/>
          <a:lstStyle/>
          <a:p>
            <a:endParaRPr/>
          </a:p>
        </p:txBody>
      </p:sp>
      <p:sp>
        <p:nvSpPr>
          <p:cNvPr id="20" name="object 20"/>
          <p:cNvSpPr/>
          <p:nvPr/>
        </p:nvSpPr>
        <p:spPr>
          <a:xfrm>
            <a:off x="3030236" y="3758247"/>
            <a:ext cx="236608" cy="116643"/>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4270444" y="4555147"/>
            <a:ext cx="875030" cy="144780"/>
          </a:xfrm>
          <a:custGeom>
            <a:avLst/>
            <a:gdLst/>
            <a:ahLst/>
            <a:cxnLst/>
            <a:rect l="l" t="t" r="r" b="b"/>
            <a:pathLst>
              <a:path w="875029" h="144779">
                <a:moveTo>
                  <a:pt x="0" y="0"/>
                </a:moveTo>
                <a:lnTo>
                  <a:pt x="874712" y="0"/>
                </a:lnTo>
                <a:lnTo>
                  <a:pt x="874712" y="144462"/>
                </a:lnTo>
              </a:path>
            </a:pathLst>
          </a:custGeom>
          <a:ln w="19049">
            <a:solidFill>
              <a:srgbClr val="000000"/>
            </a:solidFill>
          </a:ln>
        </p:spPr>
        <p:txBody>
          <a:bodyPr wrap="square" lIns="0" tIns="0" rIns="0" bIns="0" rtlCol="0"/>
          <a:lstStyle/>
          <a:p>
            <a:endParaRPr/>
          </a:p>
        </p:txBody>
      </p:sp>
      <p:sp>
        <p:nvSpPr>
          <p:cNvPr id="22" name="object 22"/>
          <p:cNvSpPr/>
          <p:nvPr/>
        </p:nvSpPr>
        <p:spPr>
          <a:xfrm>
            <a:off x="5107057" y="464880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3" name="object 23"/>
          <p:cNvSpPr/>
          <p:nvPr/>
        </p:nvSpPr>
        <p:spPr>
          <a:xfrm>
            <a:off x="3216046" y="5071111"/>
            <a:ext cx="1929130" cy="208279"/>
          </a:xfrm>
          <a:custGeom>
            <a:avLst/>
            <a:gdLst/>
            <a:ahLst/>
            <a:cxnLst/>
            <a:rect l="l" t="t" r="r" b="b"/>
            <a:pathLst>
              <a:path w="1929129" h="208279">
                <a:moveTo>
                  <a:pt x="1928828" y="0"/>
                </a:moveTo>
                <a:lnTo>
                  <a:pt x="1928828" y="207864"/>
                </a:lnTo>
                <a:lnTo>
                  <a:pt x="0" y="207864"/>
                </a:lnTo>
              </a:path>
            </a:pathLst>
          </a:custGeom>
          <a:ln w="19049">
            <a:solidFill>
              <a:srgbClr val="000000"/>
            </a:solidFill>
          </a:ln>
        </p:spPr>
        <p:txBody>
          <a:bodyPr wrap="square" lIns="0" tIns="0" rIns="0" bIns="0" rtlCol="0"/>
          <a:lstStyle/>
          <a:p>
            <a:endParaRPr/>
          </a:p>
        </p:txBody>
      </p:sp>
      <p:sp>
        <p:nvSpPr>
          <p:cNvPr id="24" name="object 24"/>
          <p:cNvSpPr/>
          <p:nvPr/>
        </p:nvSpPr>
        <p:spPr>
          <a:xfrm>
            <a:off x="3030236" y="5220654"/>
            <a:ext cx="236610" cy="116642"/>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3117362" y="2464035"/>
            <a:ext cx="0" cy="318770"/>
          </a:xfrm>
          <a:custGeom>
            <a:avLst/>
            <a:gdLst/>
            <a:ahLst/>
            <a:cxnLst/>
            <a:rect l="l" t="t" r="r" b="b"/>
            <a:pathLst>
              <a:path h="318769">
                <a:moveTo>
                  <a:pt x="0" y="0"/>
                </a:moveTo>
                <a:lnTo>
                  <a:pt x="0" y="318293"/>
                </a:lnTo>
              </a:path>
            </a:pathLst>
          </a:custGeom>
          <a:ln w="19049">
            <a:solidFill>
              <a:srgbClr val="000000"/>
            </a:solidFill>
          </a:ln>
        </p:spPr>
        <p:txBody>
          <a:bodyPr wrap="square" lIns="0" tIns="0" rIns="0" bIns="0" rtlCol="0"/>
          <a:lstStyle/>
          <a:p>
            <a:endParaRPr/>
          </a:p>
        </p:txBody>
      </p:sp>
      <p:sp>
        <p:nvSpPr>
          <p:cNvPr id="26" name="object 26"/>
          <p:cNvSpPr/>
          <p:nvPr/>
        </p:nvSpPr>
        <p:spPr>
          <a:xfrm>
            <a:off x="3079262" y="273152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7" name="object 27"/>
          <p:cNvSpPr txBox="1"/>
          <p:nvPr/>
        </p:nvSpPr>
        <p:spPr>
          <a:xfrm>
            <a:off x="4291240" y="286387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8" name="object 28"/>
          <p:cNvSpPr txBox="1"/>
          <p:nvPr/>
        </p:nvSpPr>
        <p:spPr>
          <a:xfrm>
            <a:off x="3204997" y="492949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9" name="object 29"/>
          <p:cNvSpPr txBox="1"/>
          <p:nvPr/>
        </p:nvSpPr>
        <p:spPr>
          <a:xfrm>
            <a:off x="4240761" y="426818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30" name="object 30"/>
          <p:cNvSpPr txBox="1"/>
          <p:nvPr/>
        </p:nvSpPr>
        <p:spPr>
          <a:xfrm>
            <a:off x="2539517" y="5511803"/>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31" name="object 31"/>
          <p:cNvSpPr txBox="1"/>
          <p:nvPr/>
        </p:nvSpPr>
        <p:spPr>
          <a:xfrm>
            <a:off x="2625093" y="2489992"/>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2" name="object 32"/>
          <p:cNvSpPr txBox="1"/>
          <p:nvPr/>
        </p:nvSpPr>
        <p:spPr>
          <a:xfrm>
            <a:off x="4240016" y="323884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3" name="object 33"/>
          <p:cNvSpPr txBox="1"/>
          <p:nvPr/>
        </p:nvSpPr>
        <p:spPr>
          <a:xfrm>
            <a:off x="2623858" y="3927148"/>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34" name="object 34"/>
          <p:cNvSpPr txBox="1"/>
          <p:nvPr/>
        </p:nvSpPr>
        <p:spPr>
          <a:xfrm>
            <a:off x="4244221" y="470137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35" name="object 35"/>
          <p:cNvSpPr txBox="1"/>
          <p:nvPr/>
        </p:nvSpPr>
        <p:spPr>
          <a:xfrm>
            <a:off x="2155275" y="5506533"/>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36" name="灯片编号占位符 35"/>
          <p:cNvSpPr>
            <a:spLocks noGrp="1"/>
          </p:cNvSpPr>
          <p:nvPr>
            <p:ph type="sldNum" sz="quarter" idx="12"/>
          </p:nvPr>
        </p:nvSpPr>
        <p:spPr/>
        <p:txBody>
          <a:bodyPr/>
          <a:lstStyle/>
          <a:p>
            <a:fld id="{74D2AB8B-5816-41F2-8B4B-CA5C3E4E6A65}" type="slidenum">
              <a:rPr lang="zh-CN" altLang="en-US" smtClean="0"/>
              <a:t>95</a:t>
            </a:fld>
            <a:endParaRPr lang="zh-CN" altLang="en-US"/>
          </a:p>
        </p:txBody>
      </p:sp>
      <p:sp>
        <p:nvSpPr>
          <p:cNvPr id="38" name="标题 37"/>
          <p:cNvSpPr>
            <a:spLocks noGrp="1"/>
          </p:cNvSpPr>
          <p:nvPr>
            <p:ph type="title"/>
          </p:nvPr>
        </p:nvSpPr>
        <p:spPr/>
        <p:txBody>
          <a:bodyPr/>
          <a:lstStyle/>
          <a:p>
            <a:r>
              <a:rPr lang="zh-CN" altLang="en-US" dirty="0"/>
              <a:t>条件覆盖</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99541" y="2287540"/>
            <a:ext cx="9366885" cy="3517900"/>
          </a:xfrm>
          <a:prstGeom prst="rect">
            <a:avLst/>
          </a:prstGeom>
        </p:spPr>
        <p:txBody>
          <a:bodyPr vert="horz" wrap="square" lIns="0" tIns="198120" rIns="0" bIns="0" rtlCol="0">
            <a:spAutoFit/>
          </a:bodyPr>
          <a:lstStyle/>
          <a:p>
            <a:pPr marL="12700">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marR="1748155">
              <a:lnSpc>
                <a:spcPct val="133000"/>
              </a:lnSpc>
              <a:spcBef>
                <a:spcPts val="600"/>
              </a:spcBef>
              <a:tabLst>
                <a:tab pos="7051675" algn="l"/>
              </a:tabLst>
            </a:pPr>
            <a:r>
              <a:rPr sz="2200" dirty="0">
                <a:latin typeface="微软雅黑" panose="020B0503020204020204" pitchFamily="34" charset="-122"/>
                <a:cs typeface="微软雅黑" panose="020B0503020204020204" pitchFamily="34" charset="-122"/>
              </a:rPr>
              <a:t>输入： </a:t>
            </a:r>
            <a:r>
              <a:rPr sz="2200" b="1" dirty="0">
                <a:latin typeface="Courier New" panose="02070309020205020404"/>
                <a:cs typeface="Courier New" panose="02070309020205020404"/>
              </a:rPr>
              <a:t>a=2,b=-1,c=-</a:t>
            </a:r>
            <a:r>
              <a:rPr sz="2200" b="1" spc="-5" dirty="0">
                <a:latin typeface="Courier New" panose="02070309020205020404"/>
                <a:cs typeface="Courier New" panose="02070309020205020404"/>
              </a:rPr>
              <a:t>2</a:t>
            </a:r>
            <a:r>
              <a:rPr sz="2200" dirty="0">
                <a:latin typeface="微软雅黑" panose="020B0503020204020204" pitchFamily="34" charset="-122"/>
                <a:cs typeface="微软雅黑" panose="020B0503020204020204" pitchFamily="34" charset="-122"/>
              </a:rPr>
              <a:t>，覆盖 </a:t>
            </a:r>
            <a:r>
              <a:rPr sz="2200" b="1" dirty="0">
                <a:latin typeface="Courier New" panose="02070309020205020404"/>
                <a:cs typeface="Courier New" panose="02070309020205020404"/>
              </a:rPr>
              <a:t>a&gt;0,b&lt;=0,a&gt;1,c&lt;=1	</a:t>
            </a:r>
            <a:r>
              <a:rPr sz="2200" dirty="0">
                <a:latin typeface="微软雅黑" panose="020B0503020204020204" pitchFamily="34" charset="-122"/>
                <a:cs typeface="微软雅黑" panose="020B0503020204020204" pitchFamily="34" charset="-122"/>
              </a:rPr>
              <a:t>条件 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a=-1,b=2,c=3</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a&lt;=0,b&gt;0,a&lt;=1,c&gt;1</a:t>
            </a:r>
            <a:r>
              <a:rPr sz="2200" b="1" spc="-10" dirty="0">
                <a:latin typeface="Courier New" panose="02070309020205020404"/>
                <a:cs typeface="Courier New" panose="02070309020205020404"/>
              </a:rPr>
              <a:t> </a:t>
            </a:r>
            <a:r>
              <a:rPr sz="2200" dirty="0">
                <a:latin typeface="微软雅黑" panose="020B0503020204020204" pitchFamily="34" charset="-122"/>
                <a:cs typeface="微软雅黑" panose="020B0503020204020204" pitchFamily="34" charset="-122"/>
              </a:rPr>
              <a:t>条件</a:t>
            </a:r>
            <a:endParaRPr sz="2200">
              <a:latin typeface="微软雅黑" panose="020B0503020204020204" pitchFamily="34" charset="-122"/>
              <a:cs typeface="微软雅黑" panose="020B0503020204020204" pitchFamily="34" charset="-122"/>
            </a:endParaRPr>
          </a:p>
          <a:p>
            <a:pPr marL="12700">
              <a:lnSpc>
                <a:spcPct val="100000"/>
              </a:lnSpc>
              <a:spcBef>
                <a:spcPts val="2660"/>
              </a:spcBef>
            </a:pPr>
            <a:r>
              <a:rPr sz="2200" dirty="0">
                <a:solidFill>
                  <a:srgbClr val="0033CC"/>
                </a:solidFill>
                <a:latin typeface="微软雅黑" panose="020B0503020204020204" pitchFamily="34" charset="-122"/>
                <a:cs typeface="微软雅黑" panose="020B0503020204020204" pitchFamily="34" charset="-122"/>
              </a:rPr>
              <a:t>问题分析</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marR="5080">
              <a:lnSpc>
                <a:spcPct val="110000"/>
              </a:lnSpc>
              <a:spcBef>
                <a:spcPts val="1200"/>
              </a:spcBef>
            </a:pPr>
            <a:r>
              <a:rPr sz="2200" spc="15" dirty="0">
                <a:latin typeface="微软雅黑" panose="020B0503020204020204" pitchFamily="34" charset="-122"/>
                <a:cs typeface="微软雅黑" panose="020B0503020204020204" pitchFamily="34" charset="-122"/>
              </a:rPr>
              <a:t>条件覆盖不一定包含判定覆盖，例如上面测试用例就没有覆盖判断</a:t>
            </a:r>
            <a:r>
              <a:rPr sz="2200" spc="15" dirty="0">
                <a:latin typeface="Arial" panose="020B0604020202020204"/>
                <a:cs typeface="Arial" panose="020B0604020202020204"/>
              </a:rPr>
              <a:t>1</a:t>
            </a:r>
            <a:r>
              <a:rPr sz="2200" spc="15" dirty="0">
                <a:latin typeface="微软雅黑" panose="020B0503020204020204" pitchFamily="34" charset="-122"/>
                <a:cs typeface="微软雅黑" panose="020B0503020204020204" pitchFamily="34" charset="-122"/>
              </a:rPr>
              <a:t>的</a:t>
            </a:r>
            <a:r>
              <a:rPr sz="2200" spc="15" dirty="0">
                <a:latin typeface="Arial" panose="020B0604020202020204"/>
                <a:cs typeface="Arial" panose="020B0604020202020204"/>
              </a:rPr>
              <a:t>T</a:t>
            </a:r>
            <a:r>
              <a:rPr sz="2200" spc="15" dirty="0">
                <a:latin typeface="微软雅黑" panose="020B0503020204020204" pitchFamily="34" charset="-122"/>
                <a:cs typeface="微软雅黑" panose="020B0503020204020204" pitchFamily="34" charset="-122"/>
              </a:rPr>
              <a:t>分支 </a:t>
            </a:r>
            <a:r>
              <a:rPr sz="2200" dirty="0">
                <a:latin typeface="微软雅黑" panose="020B0503020204020204" pitchFamily="34" charset="-122"/>
                <a:cs typeface="微软雅黑" panose="020B0503020204020204" pitchFamily="34" charset="-122"/>
              </a:rPr>
              <a:t>和判断</a:t>
            </a:r>
            <a:r>
              <a:rPr sz="2200" dirty="0">
                <a:latin typeface="Arial" panose="020B0604020202020204"/>
                <a:cs typeface="Arial" panose="020B0604020202020204"/>
              </a:rPr>
              <a:t>2</a:t>
            </a:r>
            <a:r>
              <a:rPr sz="2200" dirty="0">
                <a:latin typeface="微软雅黑" panose="020B0503020204020204" pitchFamily="34" charset="-122"/>
                <a:cs typeface="微软雅黑" panose="020B0503020204020204" pitchFamily="34" charset="-122"/>
              </a:rPr>
              <a:t>的</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F</a:t>
            </a:r>
            <a:r>
              <a:rPr sz="2200" dirty="0">
                <a:latin typeface="微软雅黑" panose="020B0503020204020204" pitchFamily="34" charset="-122"/>
                <a:cs typeface="微软雅黑" panose="020B0503020204020204" pitchFamily="34" charset="-122"/>
              </a:rPr>
              <a:t>分支。</a:t>
            </a:r>
            <a:endParaRPr sz="2200">
              <a:latin typeface="微软雅黑" panose="020B0503020204020204" pitchFamily="34" charset="-122"/>
              <a:cs typeface="微软雅黑" panose="020B0503020204020204" pitchFamily="34" charset="-122"/>
            </a:endParaRPr>
          </a:p>
          <a:p>
            <a:pPr marL="12700">
              <a:lnSpc>
                <a:spcPct val="100000"/>
              </a:lnSpc>
              <a:spcBef>
                <a:spcPts val="860"/>
              </a:spcBef>
            </a:pPr>
            <a:r>
              <a:rPr sz="2200" dirty="0">
                <a:solidFill>
                  <a:srgbClr val="C00000"/>
                </a:solidFill>
                <a:latin typeface="微软雅黑" panose="020B0503020204020204" pitchFamily="34" charset="-122"/>
                <a:cs typeface="微软雅黑" panose="020B0503020204020204" pitchFamily="34" charset="-122"/>
              </a:rPr>
              <a:t>条件覆盖只能保证每个条件至少有一次为真</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而没有考虑整个判定结果</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224340" y="1594799"/>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每个判断中每个条件的可能取值至少满足一次。</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96</a:t>
            </a:fld>
            <a:endParaRPr lang="zh-CN" altLang="en-US"/>
          </a:p>
        </p:txBody>
      </p:sp>
      <p:sp>
        <p:nvSpPr>
          <p:cNvPr id="7" name="标题 6"/>
          <p:cNvSpPr>
            <a:spLocks noGrp="1"/>
          </p:cNvSpPr>
          <p:nvPr>
            <p:ph type="title"/>
          </p:nvPr>
        </p:nvSpPr>
        <p:spPr/>
        <p:txBody>
          <a:bodyPr/>
          <a:lstStyle/>
          <a:p>
            <a:r>
              <a:rPr lang="zh-CN" altLang="en-US" dirty="0"/>
              <a:t>条件覆盖</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015999" y="1548000"/>
            <a:ext cx="10245090" cy="688975"/>
          </a:xfrm>
          <a:custGeom>
            <a:avLst/>
            <a:gdLst/>
            <a:ahLst/>
            <a:cxnLst/>
            <a:rect l="l" t="t" r="r" b="b"/>
            <a:pathLst>
              <a:path w="10245090" h="688975">
                <a:moveTo>
                  <a:pt x="0" y="0"/>
                </a:moveTo>
                <a:lnTo>
                  <a:pt x="10244665" y="0"/>
                </a:lnTo>
                <a:lnTo>
                  <a:pt x="10244665" y="688558"/>
                </a:lnTo>
                <a:lnTo>
                  <a:pt x="0" y="688558"/>
                </a:lnTo>
                <a:lnTo>
                  <a:pt x="0" y="0"/>
                </a:lnTo>
                <a:close/>
              </a:path>
            </a:pathLst>
          </a:custGeom>
          <a:solidFill>
            <a:srgbClr val="797BA9"/>
          </a:solidFill>
        </p:spPr>
        <p:txBody>
          <a:bodyPr wrap="square" lIns="0" tIns="0" rIns="0" bIns="0" rtlCol="0"/>
          <a:lstStyle/>
          <a:p>
            <a:endParaRPr/>
          </a:p>
        </p:txBody>
      </p:sp>
      <p:sp>
        <p:nvSpPr>
          <p:cNvPr id="4" name="object 4"/>
          <p:cNvSpPr txBox="1"/>
          <p:nvPr/>
        </p:nvSpPr>
        <p:spPr>
          <a:xfrm>
            <a:off x="1239143" y="1727119"/>
            <a:ext cx="10083800" cy="393065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判断中所有条件的可能取值至少执行一次，且所有判断的可能结果至少执行一次。</a:t>
            </a:r>
            <a:endParaRPr sz="2200">
              <a:latin typeface="微软雅黑" panose="020B0503020204020204" pitchFamily="34" charset="-122"/>
              <a:cs typeface="微软雅黑" panose="020B0503020204020204" pitchFamily="34" charset="-122"/>
            </a:endParaRPr>
          </a:p>
          <a:p>
            <a:pPr>
              <a:lnSpc>
                <a:spcPct val="100000"/>
              </a:lnSpc>
              <a:spcBef>
                <a:spcPts val="25"/>
              </a:spcBef>
            </a:pPr>
            <a:endParaRPr sz="3250">
              <a:latin typeface="Times New Roman" panose="02020603050405020304"/>
              <a:cs typeface="Times New Roman" panose="02020603050405020304"/>
            </a:endParaRPr>
          </a:p>
          <a:p>
            <a:pPr marL="325755">
              <a:lnSpc>
                <a:spcPct val="100000"/>
              </a:lnSpc>
            </a:pPr>
            <a:r>
              <a:rPr sz="2200" dirty="0">
                <a:solidFill>
                  <a:srgbClr val="0033CC"/>
                </a:solidFill>
                <a:latin typeface="微软雅黑" panose="020B0503020204020204" pitchFamily="34" charset="-122"/>
                <a:cs typeface="微软雅黑" panose="020B0503020204020204" pitchFamily="34" charset="-122"/>
              </a:rPr>
              <a:t>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325755">
              <a:lnSpc>
                <a:spcPct val="100000"/>
              </a:lnSpc>
              <a:spcBef>
                <a:spcPts val="14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a=2,b=1,c=6</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a&gt;0,b&gt;0,a&gt;1,c&gt;1</a:t>
            </a:r>
            <a:r>
              <a:rPr sz="2200" b="1" dirty="0">
                <a:latin typeface="Courier New" panose="02070309020205020404"/>
                <a:cs typeface="Courier New" panose="02070309020205020404"/>
              </a:rPr>
              <a:t> </a:t>
            </a:r>
            <a:r>
              <a:rPr sz="2200" dirty="0">
                <a:latin typeface="微软雅黑" panose="020B0503020204020204" pitchFamily="34" charset="-122"/>
                <a:cs typeface="微软雅黑" panose="020B0503020204020204" pitchFamily="34" charset="-122"/>
              </a:rPr>
              <a:t>且判断均为</a:t>
            </a:r>
            <a:r>
              <a:rPr sz="2200" dirty="0">
                <a:latin typeface="Calibri" panose="020F0502020204030204"/>
                <a:cs typeface="Calibri" panose="020F0502020204030204"/>
              </a:rPr>
              <a:t>T</a:t>
            </a:r>
            <a:endParaRPr sz="2200">
              <a:latin typeface="Calibri" panose="020F0502020204030204"/>
              <a:cs typeface="Calibri" panose="020F0502020204030204"/>
            </a:endParaRPr>
          </a:p>
          <a:p>
            <a:pPr marL="325755">
              <a:lnSpc>
                <a:spcPct val="100000"/>
              </a:lnSpc>
              <a:spcBef>
                <a:spcPts val="8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a=-1,b=-2,c=-3</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a&lt;=0,b&lt;=0,a&lt;=1,c&lt;=1</a:t>
            </a:r>
            <a:r>
              <a:rPr sz="2200" dirty="0">
                <a:latin typeface="微软雅黑" panose="020B0503020204020204" pitchFamily="34" charset="-122"/>
                <a:cs typeface="微软雅黑" panose="020B0503020204020204" pitchFamily="34" charset="-122"/>
              </a:rPr>
              <a:t>且判断均为</a:t>
            </a:r>
            <a:r>
              <a:rPr sz="2200" dirty="0">
                <a:latin typeface="Calibri" panose="020F0502020204030204"/>
                <a:cs typeface="Calibri" panose="020F0502020204030204"/>
              </a:rPr>
              <a:t>F</a:t>
            </a:r>
            <a:endParaRPr sz="2200">
              <a:latin typeface="Calibri" panose="020F0502020204030204"/>
              <a:cs typeface="Calibri" panose="020F0502020204030204"/>
            </a:endParaRPr>
          </a:p>
          <a:p>
            <a:pPr>
              <a:lnSpc>
                <a:spcPct val="100000"/>
              </a:lnSpc>
              <a:spcBef>
                <a:spcPts val="10"/>
              </a:spcBef>
            </a:pPr>
            <a:endParaRPr sz="3350">
              <a:latin typeface="Times New Roman" panose="02020603050405020304"/>
              <a:cs typeface="Times New Roman" panose="02020603050405020304"/>
            </a:endParaRPr>
          </a:p>
          <a:p>
            <a:pPr marL="325755">
              <a:lnSpc>
                <a:spcPct val="100000"/>
              </a:lnSpc>
            </a:pPr>
            <a:r>
              <a:rPr sz="2200" dirty="0">
                <a:solidFill>
                  <a:srgbClr val="0033CC"/>
                </a:solidFill>
                <a:latin typeface="微软雅黑" panose="020B0503020204020204" pitchFamily="34" charset="-122"/>
                <a:cs typeface="微软雅黑" panose="020B0503020204020204" pitchFamily="34" charset="-122"/>
              </a:rPr>
              <a:t>问题分析</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325755" marR="3044190">
              <a:lnSpc>
                <a:spcPct val="133000"/>
              </a:lnSpc>
              <a:spcBef>
                <a:spcPts val="600"/>
              </a:spcBef>
            </a:pPr>
            <a:r>
              <a:rPr sz="2200" dirty="0">
                <a:latin typeface="微软雅黑" panose="020B0503020204020204" pitchFamily="34" charset="-122"/>
                <a:cs typeface="微软雅黑" panose="020B0503020204020204" pitchFamily="34" charset="-122"/>
              </a:rPr>
              <a:t>判定条件覆盖能够同时满足判定、条件两种覆盖标准。 </a:t>
            </a:r>
            <a:r>
              <a:rPr sz="2200" dirty="0">
                <a:solidFill>
                  <a:srgbClr val="C00000"/>
                </a:solidFill>
                <a:latin typeface="微软雅黑" panose="020B0503020204020204" pitchFamily="34" charset="-122"/>
                <a:cs typeface="微软雅黑" panose="020B0503020204020204" pitchFamily="34" charset="-122"/>
              </a:rPr>
              <a:t>没有考虑条件的各种组合情况</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97</a:t>
            </a:fld>
            <a:endParaRPr lang="zh-CN" altLang="en-US"/>
          </a:p>
        </p:txBody>
      </p:sp>
      <p:sp>
        <p:nvSpPr>
          <p:cNvPr id="7" name="标题 6"/>
          <p:cNvSpPr>
            <a:spLocks noGrp="1"/>
          </p:cNvSpPr>
          <p:nvPr>
            <p:ph type="title"/>
          </p:nvPr>
        </p:nvSpPr>
        <p:spPr/>
        <p:txBody>
          <a:bodyPr/>
          <a:lstStyle/>
          <a:p>
            <a:r>
              <a:rPr lang="zh-CN" altLang="en-US" dirty="0"/>
              <a:t>判定条件覆盖</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4340" y="1465781"/>
            <a:ext cx="9714865" cy="1004569"/>
          </a:xfrm>
          <a:prstGeom prst="rect">
            <a:avLst/>
          </a:prstGeom>
          <a:solidFill>
            <a:srgbClr val="797BA9"/>
          </a:solidFill>
        </p:spPr>
        <p:txBody>
          <a:bodyPr vert="horz" wrap="square" lIns="0" tIns="102870" rIns="0" bIns="0" rtlCol="0">
            <a:spAutoFit/>
          </a:bodyPr>
          <a:lstStyle/>
          <a:p>
            <a:pPr marL="215900" marR="191135">
              <a:lnSpc>
                <a:spcPct val="110000"/>
              </a:lnSpc>
              <a:spcBef>
                <a:spcPts val="810"/>
              </a:spcBef>
            </a:pPr>
            <a:r>
              <a:rPr sz="2200" spc="85" dirty="0">
                <a:solidFill>
                  <a:srgbClr val="FFFFFF"/>
                </a:solidFill>
                <a:latin typeface="微软雅黑" panose="020B0503020204020204" pitchFamily="34" charset="-122"/>
                <a:cs typeface="微软雅黑" panose="020B0503020204020204" pitchFamily="34" charset="-122"/>
              </a:rPr>
              <a:t>判断中每个条件的所有可能取值组合至少执行一</a:t>
            </a:r>
            <a:r>
              <a:rPr sz="2200" spc="90" dirty="0">
                <a:solidFill>
                  <a:srgbClr val="FFFFFF"/>
                </a:solidFill>
                <a:latin typeface="微软雅黑" panose="020B0503020204020204" pitchFamily="34" charset="-122"/>
                <a:cs typeface="微软雅黑" panose="020B0503020204020204" pitchFamily="34" charset="-122"/>
              </a:rPr>
              <a:t>次</a:t>
            </a:r>
            <a:r>
              <a:rPr sz="2200" spc="85" dirty="0">
                <a:solidFill>
                  <a:srgbClr val="FFFFFF"/>
                </a:solidFill>
                <a:latin typeface="微软雅黑" panose="020B0503020204020204" pitchFamily="34" charset="-122"/>
                <a:cs typeface="微软雅黑" panose="020B0503020204020204" pitchFamily="34" charset="-122"/>
              </a:rPr>
              <a:t>，并且每个判断本身的 </a:t>
            </a:r>
            <a:r>
              <a:rPr sz="2200" dirty="0">
                <a:solidFill>
                  <a:srgbClr val="FFFFFF"/>
                </a:solidFill>
                <a:latin typeface="微软雅黑" panose="020B0503020204020204" pitchFamily="34" charset="-122"/>
                <a:cs typeface="微软雅黑" panose="020B0503020204020204" pitchFamily="34" charset="-122"/>
              </a:rPr>
              <a:t>结果也至少执行一次。</a:t>
            </a:r>
            <a:endParaRPr sz="22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1659449" y="2738803"/>
          <a:ext cx="8723630" cy="3161402"/>
        </p:xfrm>
        <a:graphic>
          <a:graphicData uri="http://schemas.openxmlformats.org/drawingml/2006/table">
            <a:tbl>
              <a:tblPr firstRow="1" bandRow="1">
                <a:tableStyleId>{2D5ABB26-0587-4C30-8999-92F81FD0307C}</a:tableStyleId>
              </a:tblPr>
              <a:tblGrid>
                <a:gridCol w="1414145">
                  <a:extLst>
                    <a:ext uri="{9D8B030D-6E8A-4147-A177-3AD203B41FA5}">
                      <a16:colId xmlns:a16="http://schemas.microsoft.com/office/drawing/2014/main" val="20000"/>
                    </a:ext>
                  </a:extLst>
                </a:gridCol>
                <a:gridCol w="2099945">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3094990">
                  <a:extLst>
                    <a:ext uri="{9D8B030D-6E8A-4147-A177-3AD203B41FA5}">
                      <a16:colId xmlns:a16="http://schemas.microsoft.com/office/drawing/2014/main" val="20003"/>
                    </a:ext>
                  </a:extLst>
                </a:gridCol>
              </a:tblGrid>
              <a:tr h="368736">
                <a:tc>
                  <a:txBody>
                    <a:bodyPr/>
                    <a:lstStyle/>
                    <a:p>
                      <a:pPr marL="5080" algn="ctr">
                        <a:lnSpc>
                          <a:spcPct val="100000"/>
                        </a:lnSpc>
                        <a:spcBef>
                          <a:spcPts val="370"/>
                        </a:spcBef>
                      </a:pPr>
                      <a:r>
                        <a:rPr sz="1800" dirty="0">
                          <a:latin typeface="微软雅黑" panose="020B0503020204020204" pitchFamily="34" charset="-122"/>
                          <a:cs typeface="微软雅黑" panose="020B0503020204020204" pitchFamily="34" charset="-122"/>
                        </a:rPr>
                        <a:t>组合编号</a:t>
                      </a:r>
                      <a:endParaRPr sz="1800">
                        <a:latin typeface="微软雅黑" panose="020B0503020204020204" pitchFamily="34" charset="-122"/>
                        <a:cs typeface="微软雅黑" panose="020B0503020204020204" pitchFamily="34" charset="-122"/>
                      </a:endParaRPr>
                    </a:p>
                  </a:txBody>
                  <a:tcPr marL="0" marR="0" marT="4699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080" algn="ctr">
                        <a:lnSpc>
                          <a:spcPct val="100000"/>
                        </a:lnSpc>
                        <a:spcBef>
                          <a:spcPts val="370"/>
                        </a:spcBef>
                      </a:pPr>
                      <a:r>
                        <a:rPr sz="1800" dirty="0">
                          <a:latin typeface="微软雅黑" panose="020B0503020204020204" pitchFamily="34" charset="-122"/>
                          <a:cs typeface="微软雅黑" panose="020B0503020204020204" pitchFamily="34" charset="-122"/>
                        </a:rPr>
                        <a:t>覆盖条件取值</a:t>
                      </a:r>
                      <a:endParaRPr sz="1800">
                        <a:latin typeface="微软雅黑" panose="020B0503020204020204" pitchFamily="34" charset="-122"/>
                        <a:cs typeface="微软雅黑" panose="020B0503020204020204" pitchFamily="34" charset="-122"/>
                      </a:endParaRPr>
                    </a:p>
                  </a:txBody>
                  <a:tcPr marL="0" marR="0" marT="4699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080" algn="ctr">
                        <a:lnSpc>
                          <a:spcPct val="100000"/>
                        </a:lnSpc>
                        <a:spcBef>
                          <a:spcPts val="370"/>
                        </a:spcBef>
                      </a:pPr>
                      <a:r>
                        <a:rPr sz="1800" dirty="0">
                          <a:latin typeface="微软雅黑" panose="020B0503020204020204" pitchFamily="34" charset="-122"/>
                          <a:cs typeface="微软雅黑" panose="020B0503020204020204" pitchFamily="34" charset="-122"/>
                        </a:rPr>
                        <a:t>判定条件取值</a:t>
                      </a:r>
                      <a:endParaRPr sz="1800">
                        <a:latin typeface="微软雅黑" panose="020B0503020204020204" pitchFamily="34" charset="-122"/>
                        <a:cs typeface="微软雅黑" panose="020B0503020204020204" pitchFamily="34" charset="-122"/>
                      </a:endParaRPr>
                    </a:p>
                  </a:txBody>
                  <a:tcPr marL="0" marR="0" marT="4699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715" algn="ctr">
                        <a:lnSpc>
                          <a:spcPct val="100000"/>
                        </a:lnSpc>
                        <a:spcBef>
                          <a:spcPts val="370"/>
                        </a:spcBef>
                      </a:pPr>
                      <a:r>
                        <a:rPr sz="1800" dirty="0">
                          <a:latin typeface="微软雅黑" panose="020B0503020204020204" pitchFamily="34" charset="-122"/>
                          <a:cs typeface="微软雅黑" panose="020B0503020204020204" pitchFamily="34" charset="-122"/>
                        </a:rPr>
                        <a:t>判定</a:t>
                      </a:r>
                      <a:r>
                        <a:rPr sz="1800" dirty="0">
                          <a:latin typeface="Arial" panose="020B0604020202020204"/>
                          <a:cs typeface="Arial" panose="020B0604020202020204"/>
                        </a:rPr>
                        <a:t>-</a:t>
                      </a:r>
                      <a:r>
                        <a:rPr sz="1800" dirty="0">
                          <a:latin typeface="微软雅黑" panose="020B0503020204020204" pitchFamily="34" charset="-122"/>
                          <a:cs typeface="微软雅黑" panose="020B0503020204020204" pitchFamily="34" charset="-122"/>
                        </a:rPr>
                        <a:t>条件组合</a:t>
                      </a:r>
                      <a:endParaRPr sz="1800">
                        <a:latin typeface="微软雅黑" panose="020B0503020204020204" pitchFamily="34" charset="-122"/>
                        <a:cs typeface="微软雅黑" panose="020B0503020204020204" pitchFamily="34" charset="-122"/>
                      </a:endParaRPr>
                    </a:p>
                  </a:txBody>
                  <a:tcPr marL="0" marR="0" marT="4699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349084">
                <a:tc>
                  <a:txBody>
                    <a:bodyPr/>
                    <a:lstStyle/>
                    <a:p>
                      <a:pPr marL="5080" algn="ctr">
                        <a:lnSpc>
                          <a:spcPct val="100000"/>
                        </a:lnSpc>
                        <a:spcBef>
                          <a:spcPts val="295"/>
                        </a:spcBef>
                      </a:pPr>
                      <a:r>
                        <a:rPr sz="1800" dirty="0">
                          <a:latin typeface="Arial" panose="020B0604020202020204"/>
                          <a:cs typeface="Arial" panose="020B0604020202020204"/>
                        </a:rPr>
                        <a:t>1</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9084">
                <a:tc>
                  <a:txBody>
                    <a:bodyPr/>
                    <a:lstStyle/>
                    <a:p>
                      <a:pPr marL="5080" algn="ctr">
                        <a:lnSpc>
                          <a:spcPct val="100000"/>
                        </a:lnSpc>
                        <a:spcBef>
                          <a:spcPts val="295"/>
                        </a:spcBef>
                      </a:pPr>
                      <a:r>
                        <a:rPr sz="1800" dirty="0">
                          <a:latin typeface="Arial" panose="020B0604020202020204"/>
                          <a:cs typeface="Arial" panose="020B0604020202020204"/>
                        </a:rPr>
                        <a:t>2</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9083">
                <a:tc>
                  <a:txBody>
                    <a:bodyPr/>
                    <a:lstStyle/>
                    <a:p>
                      <a:pPr marL="5080" algn="ctr">
                        <a:lnSpc>
                          <a:spcPct val="100000"/>
                        </a:lnSpc>
                        <a:spcBef>
                          <a:spcPts val="295"/>
                        </a:spcBef>
                      </a:pPr>
                      <a:r>
                        <a:rPr sz="1800" dirty="0">
                          <a:latin typeface="Arial" panose="020B0604020202020204"/>
                          <a:cs typeface="Arial" panose="020B0604020202020204"/>
                        </a:rPr>
                        <a:t>3</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49083">
                <a:tc>
                  <a:txBody>
                    <a:bodyPr/>
                    <a:lstStyle/>
                    <a:p>
                      <a:pPr marL="5080" algn="ctr">
                        <a:lnSpc>
                          <a:spcPct val="100000"/>
                        </a:lnSpc>
                        <a:spcBef>
                          <a:spcPts val="295"/>
                        </a:spcBef>
                      </a:pPr>
                      <a:r>
                        <a:rPr sz="1800" dirty="0">
                          <a:latin typeface="Arial" panose="020B0604020202020204"/>
                          <a:cs typeface="Arial" panose="020B0604020202020204"/>
                        </a:rPr>
                        <a:t>4</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49083">
                <a:tc>
                  <a:txBody>
                    <a:bodyPr/>
                    <a:lstStyle/>
                    <a:p>
                      <a:pPr marL="5080" algn="ctr">
                        <a:lnSpc>
                          <a:spcPct val="100000"/>
                        </a:lnSpc>
                        <a:spcBef>
                          <a:spcPts val="295"/>
                        </a:spcBef>
                      </a:pPr>
                      <a:r>
                        <a:rPr sz="1800" dirty="0">
                          <a:latin typeface="Arial" panose="020B0604020202020204"/>
                          <a:cs typeface="Arial" panose="020B0604020202020204"/>
                        </a:rPr>
                        <a:t>5</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49083">
                <a:tc>
                  <a:txBody>
                    <a:bodyPr/>
                    <a:lstStyle/>
                    <a:p>
                      <a:pPr marL="5080" algn="ctr">
                        <a:lnSpc>
                          <a:spcPct val="100000"/>
                        </a:lnSpc>
                        <a:spcBef>
                          <a:spcPts val="295"/>
                        </a:spcBef>
                      </a:pPr>
                      <a:r>
                        <a:rPr sz="1800" dirty="0">
                          <a:latin typeface="Arial" panose="020B0604020202020204"/>
                          <a:cs typeface="Arial" panose="020B0604020202020204"/>
                        </a:rPr>
                        <a:t>6</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49083">
                <a:tc>
                  <a:txBody>
                    <a:bodyPr/>
                    <a:lstStyle/>
                    <a:p>
                      <a:pPr marL="5080" algn="ctr">
                        <a:lnSpc>
                          <a:spcPct val="100000"/>
                        </a:lnSpc>
                        <a:spcBef>
                          <a:spcPts val="295"/>
                        </a:spcBef>
                      </a:pPr>
                      <a:r>
                        <a:rPr sz="1800" dirty="0">
                          <a:latin typeface="Arial" panose="020B0604020202020204"/>
                          <a:cs typeface="Arial" panose="020B0604020202020204"/>
                        </a:rPr>
                        <a:t>7</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49083">
                <a:tc>
                  <a:txBody>
                    <a:bodyPr/>
                    <a:lstStyle/>
                    <a:p>
                      <a:pPr marL="5080" algn="ctr">
                        <a:lnSpc>
                          <a:spcPct val="100000"/>
                        </a:lnSpc>
                        <a:spcBef>
                          <a:spcPts val="295"/>
                        </a:spcBef>
                      </a:pPr>
                      <a:r>
                        <a:rPr sz="1800" dirty="0">
                          <a:latin typeface="Arial" panose="020B0604020202020204"/>
                          <a:cs typeface="Arial" panose="020B0604020202020204"/>
                        </a:rPr>
                        <a:t>8</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98</a:t>
            </a:fld>
            <a:endParaRPr lang="zh-CN" altLang="en-US"/>
          </a:p>
        </p:txBody>
      </p:sp>
      <p:sp>
        <p:nvSpPr>
          <p:cNvPr id="7" name="标题 6"/>
          <p:cNvSpPr>
            <a:spLocks noGrp="1"/>
          </p:cNvSpPr>
          <p:nvPr>
            <p:ph type="title"/>
          </p:nvPr>
        </p:nvSpPr>
        <p:spPr/>
        <p:txBody>
          <a:bodyPr/>
          <a:lstStyle/>
          <a:p>
            <a:r>
              <a:rPr lang="zh-CN" altLang="en-US" dirty="0"/>
              <a:t>条件组合覆盖</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1342504" y="1626121"/>
          <a:ext cx="9415142" cy="2865116"/>
        </p:xfrm>
        <a:graphic>
          <a:graphicData uri="http://schemas.openxmlformats.org/drawingml/2006/table">
            <a:tbl>
              <a:tblPr firstRow="1" bandRow="1">
                <a:tableStyleId>{2D5ABB26-0587-4C30-8999-92F81FD0307C}</a:tableStyleId>
              </a:tblPr>
              <a:tblGrid>
                <a:gridCol w="3611879">
                  <a:extLst>
                    <a:ext uri="{9D8B030D-6E8A-4147-A177-3AD203B41FA5}">
                      <a16:colId xmlns:a16="http://schemas.microsoft.com/office/drawing/2014/main" val="20000"/>
                    </a:ext>
                  </a:extLst>
                </a:gridCol>
                <a:gridCol w="2217420">
                  <a:extLst>
                    <a:ext uri="{9D8B030D-6E8A-4147-A177-3AD203B41FA5}">
                      <a16:colId xmlns:a16="http://schemas.microsoft.com/office/drawing/2014/main" val="20001"/>
                    </a:ext>
                  </a:extLst>
                </a:gridCol>
                <a:gridCol w="1722754">
                  <a:extLst>
                    <a:ext uri="{9D8B030D-6E8A-4147-A177-3AD203B41FA5}">
                      <a16:colId xmlns:a16="http://schemas.microsoft.com/office/drawing/2014/main" val="20002"/>
                    </a:ext>
                  </a:extLst>
                </a:gridCol>
                <a:gridCol w="1863089">
                  <a:extLst>
                    <a:ext uri="{9D8B030D-6E8A-4147-A177-3AD203B41FA5}">
                      <a16:colId xmlns:a16="http://schemas.microsoft.com/office/drawing/2014/main" val="20003"/>
                    </a:ext>
                  </a:extLst>
                </a:gridCol>
              </a:tblGrid>
              <a:tr h="413856">
                <a:tc>
                  <a:txBody>
                    <a:bodyPr/>
                    <a:lstStyle/>
                    <a:p>
                      <a:pPr algn="ctr">
                        <a:lnSpc>
                          <a:spcPct val="100000"/>
                        </a:lnSpc>
                        <a:spcBef>
                          <a:spcPts val="730"/>
                        </a:spcBef>
                      </a:pPr>
                      <a:r>
                        <a:rPr sz="1800" dirty="0">
                          <a:latin typeface="微软雅黑" panose="020B0503020204020204" pitchFamily="34" charset="-122"/>
                          <a:cs typeface="微软雅黑" panose="020B0503020204020204" pitchFamily="34" charset="-122"/>
                        </a:rPr>
                        <a:t>测试用例</a:t>
                      </a:r>
                      <a:endParaRPr sz="1800">
                        <a:latin typeface="微软雅黑" panose="020B0503020204020204" pitchFamily="34" charset="-122"/>
                        <a:cs typeface="微软雅黑" panose="020B0503020204020204" pitchFamily="34" charset="-122"/>
                      </a:endParaRPr>
                    </a:p>
                  </a:txBody>
                  <a:tcPr marL="0" marR="0" marT="9271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652145">
                        <a:lnSpc>
                          <a:spcPct val="100000"/>
                        </a:lnSpc>
                        <a:spcBef>
                          <a:spcPts val="730"/>
                        </a:spcBef>
                      </a:pPr>
                      <a:r>
                        <a:rPr sz="1800" dirty="0">
                          <a:latin typeface="微软雅黑" panose="020B0503020204020204" pitchFamily="34" charset="-122"/>
                          <a:cs typeface="微软雅黑" panose="020B0503020204020204" pitchFamily="34" charset="-122"/>
                        </a:rPr>
                        <a:t>覆盖条件</a:t>
                      </a:r>
                      <a:endParaRPr sz="1800">
                        <a:latin typeface="微软雅黑" panose="020B0503020204020204" pitchFamily="34" charset="-122"/>
                        <a:cs typeface="微软雅黑" panose="020B0503020204020204" pitchFamily="34" charset="-122"/>
                      </a:endParaRPr>
                    </a:p>
                  </a:txBody>
                  <a:tcPr marL="0" marR="0" marT="9271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algn="ctr">
                        <a:lnSpc>
                          <a:spcPct val="100000"/>
                        </a:lnSpc>
                        <a:spcBef>
                          <a:spcPts val="730"/>
                        </a:spcBef>
                      </a:pPr>
                      <a:r>
                        <a:rPr sz="1800" dirty="0">
                          <a:latin typeface="微软雅黑" panose="020B0503020204020204" pitchFamily="34" charset="-122"/>
                          <a:cs typeface="微软雅黑" panose="020B0503020204020204" pitchFamily="34" charset="-122"/>
                        </a:rPr>
                        <a:t>覆盖路径</a:t>
                      </a:r>
                      <a:endParaRPr sz="1800">
                        <a:latin typeface="微软雅黑" panose="020B0503020204020204" pitchFamily="34" charset="-122"/>
                        <a:cs typeface="微软雅黑" panose="020B0503020204020204" pitchFamily="34" charset="-122"/>
                      </a:endParaRPr>
                    </a:p>
                  </a:txBody>
                  <a:tcPr marL="0" marR="0" marT="9271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1905" algn="ctr">
                        <a:lnSpc>
                          <a:spcPct val="100000"/>
                        </a:lnSpc>
                        <a:spcBef>
                          <a:spcPts val="730"/>
                        </a:spcBef>
                      </a:pPr>
                      <a:r>
                        <a:rPr sz="1800" dirty="0">
                          <a:latin typeface="微软雅黑" panose="020B0503020204020204" pitchFamily="34" charset="-122"/>
                          <a:cs typeface="微软雅黑" panose="020B0503020204020204" pitchFamily="34" charset="-122"/>
                        </a:rPr>
                        <a:t>覆盖组合</a:t>
                      </a:r>
                      <a:endParaRPr sz="1800">
                        <a:latin typeface="微软雅黑" panose="020B0503020204020204" pitchFamily="34" charset="-122"/>
                        <a:cs typeface="微软雅黑" panose="020B0503020204020204" pitchFamily="34" charset="-122"/>
                      </a:endParaRPr>
                    </a:p>
                  </a:txBody>
                  <a:tcPr marL="0" marR="0" marT="9271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c=6</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8650" marR="621030">
                        <a:lnSpc>
                          <a:spcPct val="102000"/>
                        </a:lnSpc>
                        <a:spcBef>
                          <a:spcPts val="150"/>
                        </a:spcBef>
                      </a:pPr>
                      <a:r>
                        <a:rPr sz="1800" b="1" spc="-5" dirty="0">
                          <a:latin typeface="Courier New" panose="02070309020205020404"/>
                          <a:cs typeface="Courier New" panose="02070309020205020404"/>
                        </a:rPr>
                        <a:t>a&gt;0,b&gt;0  a&gt;1,c&gt;1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1-2-4</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0"/>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5</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c=-2</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0070" marR="552450">
                        <a:lnSpc>
                          <a:spcPct val="102000"/>
                        </a:lnSpc>
                        <a:spcBef>
                          <a:spcPts val="150"/>
                        </a:spcBef>
                      </a:pPr>
                      <a:r>
                        <a:rPr sz="1800" b="1" spc="-5" dirty="0">
                          <a:latin typeface="Courier New" panose="02070309020205020404"/>
                          <a:cs typeface="Courier New" panose="02070309020205020404"/>
                        </a:rPr>
                        <a:t>a&gt;0,b&lt;=0  </a:t>
                      </a:r>
                      <a:r>
                        <a:rPr sz="1800" b="1" dirty="0">
                          <a:latin typeface="Courier New" panose="02070309020205020404"/>
                          <a:cs typeface="Courier New" panose="02070309020205020404"/>
                        </a:rPr>
                        <a:t>a&gt;1,c&lt;=1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0"/>
                        </a:spcBef>
                      </a:pPr>
                      <a:r>
                        <a:rPr sz="1800" b="1" dirty="0">
                          <a:latin typeface="Courier New" panose="02070309020205020404"/>
                          <a:cs typeface="Courier New" panose="02070309020205020404"/>
                        </a:rPr>
                        <a:t>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6</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a=-1</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b=2</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0070" marR="552450">
                        <a:lnSpc>
                          <a:spcPct val="102000"/>
                        </a:lnSpc>
                        <a:spcBef>
                          <a:spcPts val="150"/>
                        </a:spcBef>
                      </a:pPr>
                      <a:r>
                        <a:rPr sz="1800" b="1" spc="-5" dirty="0">
                          <a:latin typeface="Courier New" panose="02070309020205020404"/>
                          <a:cs typeface="Courier New" panose="02070309020205020404"/>
                        </a:rPr>
                        <a:t>a&lt;=0,b&gt;0  a&lt;=1,c&gt;1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510"/>
                        </a:spcBef>
                      </a:pPr>
                      <a:r>
                        <a:rPr sz="1800" b="1" dirty="0">
                          <a:latin typeface="Courier New" panose="02070309020205020404"/>
                          <a:cs typeface="Courier New" panose="02070309020205020404"/>
                        </a:rPr>
                        <a:t>3</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7</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491490" marR="483870">
                        <a:lnSpc>
                          <a:spcPct val="102000"/>
                        </a:lnSpc>
                        <a:spcBef>
                          <a:spcPts val="150"/>
                        </a:spcBef>
                      </a:pPr>
                      <a:r>
                        <a:rPr sz="1800" b="1" spc="-5" dirty="0">
                          <a:latin typeface="Courier New" panose="02070309020205020404"/>
                          <a:cs typeface="Courier New" panose="02070309020205020404"/>
                        </a:rPr>
                        <a:t>a&lt;=0,b&lt;=0  a&lt;=1,c&lt;=1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1-3-5</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510"/>
                        </a:spcBef>
                      </a:pPr>
                      <a:r>
                        <a:rPr sz="1800" b="1" dirty="0">
                          <a:latin typeface="Courier New" panose="02070309020205020404"/>
                          <a:cs typeface="Courier New" panose="02070309020205020404"/>
                        </a:rPr>
                        <a:t>4</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bl>
          </a:graphicData>
        </a:graphic>
      </p:graphicFrame>
      <p:sp>
        <p:nvSpPr>
          <p:cNvPr id="4" name="object 4"/>
          <p:cNvSpPr txBox="1"/>
          <p:nvPr/>
        </p:nvSpPr>
        <p:spPr>
          <a:xfrm>
            <a:off x="1468654" y="4670576"/>
            <a:ext cx="8128000" cy="1397000"/>
          </a:xfrm>
          <a:prstGeom prst="rect">
            <a:avLst/>
          </a:prstGeom>
        </p:spPr>
        <p:txBody>
          <a:bodyPr vert="horz" wrap="square" lIns="0" tIns="160020" rIns="0" bIns="0" rtlCol="0">
            <a:spAutoFit/>
          </a:bodyPr>
          <a:lstStyle/>
          <a:p>
            <a:pPr marL="12700">
              <a:lnSpc>
                <a:spcPct val="100000"/>
              </a:lnSpc>
              <a:spcBef>
                <a:spcPts val="1260"/>
              </a:spcBef>
            </a:pPr>
            <a:r>
              <a:rPr sz="2200" dirty="0">
                <a:solidFill>
                  <a:srgbClr val="0033CC"/>
                </a:solidFill>
                <a:latin typeface="微软雅黑" panose="020B0503020204020204" pitchFamily="34" charset="-122"/>
                <a:cs typeface="微软雅黑" panose="020B0503020204020204" pitchFamily="34" charset="-122"/>
              </a:rPr>
              <a:t>问题分析：</a:t>
            </a:r>
            <a:endParaRPr sz="2200">
              <a:latin typeface="微软雅黑" panose="020B0503020204020204" pitchFamily="34" charset="-122"/>
              <a:cs typeface="微软雅黑" panose="020B0503020204020204" pitchFamily="34" charset="-122"/>
            </a:endParaRPr>
          </a:p>
          <a:p>
            <a:pPr marL="12700" marR="5080">
              <a:lnSpc>
                <a:spcPct val="121000"/>
              </a:lnSpc>
              <a:spcBef>
                <a:spcPts val="600"/>
              </a:spcBef>
            </a:pPr>
            <a:r>
              <a:rPr sz="2200" dirty="0">
                <a:latin typeface="微软雅黑" panose="020B0503020204020204" pitchFamily="34" charset="-122"/>
                <a:cs typeface="微软雅黑" panose="020B0503020204020204" pitchFamily="34" charset="-122"/>
              </a:rPr>
              <a:t>条件组合覆盖准则满足判定覆盖、条件覆盖和判定条件覆盖准则。 </a:t>
            </a:r>
            <a:r>
              <a:rPr sz="2200" dirty="0">
                <a:solidFill>
                  <a:srgbClr val="C00000"/>
                </a:solidFill>
                <a:latin typeface="微软雅黑" panose="020B0503020204020204" pitchFamily="34" charset="-122"/>
                <a:cs typeface="微软雅黑" panose="020B0503020204020204" pitchFamily="34" charset="-122"/>
              </a:rPr>
              <a:t>覆盖了所有组合</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但覆盖路径有限</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上面示例中</a:t>
            </a:r>
            <a:r>
              <a:rPr sz="2200" spc="-5" dirty="0">
                <a:solidFill>
                  <a:srgbClr val="CE1C00"/>
                </a:solidFill>
                <a:latin typeface="Arial" panose="020B0604020202020204"/>
                <a:cs typeface="Arial" panose="020B0604020202020204"/>
              </a:rPr>
              <a:t>1-2-5</a:t>
            </a:r>
            <a:r>
              <a:rPr sz="2200" dirty="0">
                <a:solidFill>
                  <a:srgbClr val="C00000"/>
                </a:solidFill>
                <a:latin typeface="微软雅黑" panose="020B0503020204020204" pitchFamily="34" charset="-122"/>
                <a:cs typeface="微软雅黑" panose="020B0503020204020204" pitchFamily="34" charset="-122"/>
              </a:rPr>
              <a:t>没覆盖</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99</a:t>
            </a:fld>
            <a:endParaRPr lang="zh-CN" altLang="en-US"/>
          </a:p>
        </p:txBody>
      </p:sp>
      <p:sp>
        <p:nvSpPr>
          <p:cNvPr id="7" name="标题 6"/>
          <p:cNvSpPr>
            <a:spLocks noGrp="1"/>
          </p:cNvSpPr>
          <p:nvPr>
            <p:ph type="title"/>
          </p:nvPr>
        </p:nvSpPr>
        <p:spPr/>
        <p:txBody>
          <a:bodyPr/>
          <a:lstStyle/>
          <a:p>
            <a:r>
              <a:rPr lang="zh-CN" altLang="en-US" dirty="0"/>
              <a:t>条件组合覆盖</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4340" y="1598801"/>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覆盖程序中的所有可能的执行路径。</a:t>
            </a:r>
            <a:endParaRPr sz="22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1680588" y="2591878"/>
          <a:ext cx="8667749" cy="3081164"/>
        </p:xfrm>
        <a:graphic>
          <a:graphicData uri="http://schemas.openxmlformats.org/drawingml/2006/table">
            <a:tbl>
              <a:tblPr firstRow="1" bandRow="1">
                <a:tableStyleId>{2D5ABB26-0587-4C30-8999-92F81FD0307C}</a:tableStyleId>
              </a:tblPr>
              <a:tblGrid>
                <a:gridCol w="3324860">
                  <a:extLst>
                    <a:ext uri="{9D8B030D-6E8A-4147-A177-3AD203B41FA5}">
                      <a16:colId xmlns:a16="http://schemas.microsoft.com/office/drawing/2014/main" val="20000"/>
                    </a:ext>
                  </a:extLst>
                </a:gridCol>
                <a:gridCol w="2041525">
                  <a:extLst>
                    <a:ext uri="{9D8B030D-6E8A-4147-A177-3AD203B41FA5}">
                      <a16:colId xmlns:a16="http://schemas.microsoft.com/office/drawing/2014/main" val="20001"/>
                    </a:ext>
                  </a:extLst>
                </a:gridCol>
                <a:gridCol w="1586230">
                  <a:extLst>
                    <a:ext uri="{9D8B030D-6E8A-4147-A177-3AD203B41FA5}">
                      <a16:colId xmlns:a16="http://schemas.microsoft.com/office/drawing/2014/main" val="20002"/>
                    </a:ext>
                  </a:extLst>
                </a:gridCol>
                <a:gridCol w="1715134">
                  <a:extLst>
                    <a:ext uri="{9D8B030D-6E8A-4147-A177-3AD203B41FA5}">
                      <a16:colId xmlns:a16="http://schemas.microsoft.com/office/drawing/2014/main" val="20003"/>
                    </a:ext>
                  </a:extLst>
                </a:gridCol>
              </a:tblGrid>
              <a:tr h="445063">
                <a:tc>
                  <a:txBody>
                    <a:bodyPr/>
                    <a:lstStyle/>
                    <a:p>
                      <a:pPr algn="ctr">
                        <a:lnSpc>
                          <a:spcPct val="100000"/>
                        </a:lnSpc>
                        <a:spcBef>
                          <a:spcPts val="850"/>
                        </a:spcBef>
                      </a:pPr>
                      <a:r>
                        <a:rPr sz="1800" dirty="0">
                          <a:latin typeface="微软雅黑" panose="020B0503020204020204" pitchFamily="34" charset="-122"/>
                          <a:cs typeface="微软雅黑" panose="020B0503020204020204" pitchFamily="34" charset="-122"/>
                        </a:rPr>
                        <a:t>测试用例</a:t>
                      </a:r>
                      <a:endParaRPr sz="1800">
                        <a:latin typeface="微软雅黑" panose="020B0503020204020204" pitchFamily="34" charset="-122"/>
                        <a:cs typeface="微软雅黑" panose="020B0503020204020204" pitchFamily="34" charset="-122"/>
                      </a:endParaRPr>
                    </a:p>
                  </a:txBody>
                  <a:tcPr marL="0" marR="0" marT="10795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64515">
                        <a:lnSpc>
                          <a:spcPct val="100000"/>
                        </a:lnSpc>
                        <a:spcBef>
                          <a:spcPts val="850"/>
                        </a:spcBef>
                      </a:pPr>
                      <a:r>
                        <a:rPr sz="1800" dirty="0">
                          <a:latin typeface="微软雅黑" panose="020B0503020204020204" pitchFamily="34" charset="-122"/>
                          <a:cs typeface="微软雅黑" panose="020B0503020204020204" pitchFamily="34" charset="-122"/>
                        </a:rPr>
                        <a:t>覆盖条件</a:t>
                      </a:r>
                      <a:endParaRPr sz="1800">
                        <a:latin typeface="微软雅黑" panose="020B0503020204020204" pitchFamily="34" charset="-122"/>
                        <a:cs typeface="微软雅黑" panose="020B0503020204020204" pitchFamily="34" charset="-122"/>
                      </a:endParaRPr>
                    </a:p>
                  </a:txBody>
                  <a:tcPr marL="0" marR="0" marT="10795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2540" algn="ctr">
                        <a:lnSpc>
                          <a:spcPct val="100000"/>
                        </a:lnSpc>
                        <a:spcBef>
                          <a:spcPts val="850"/>
                        </a:spcBef>
                      </a:pPr>
                      <a:r>
                        <a:rPr sz="1800" dirty="0">
                          <a:latin typeface="微软雅黑" panose="020B0503020204020204" pitchFamily="34" charset="-122"/>
                          <a:cs typeface="微软雅黑" panose="020B0503020204020204" pitchFamily="34" charset="-122"/>
                        </a:rPr>
                        <a:t>覆盖路径</a:t>
                      </a:r>
                      <a:endParaRPr sz="1800">
                        <a:latin typeface="微软雅黑" panose="020B0503020204020204" pitchFamily="34" charset="-122"/>
                        <a:cs typeface="微软雅黑" panose="020B0503020204020204" pitchFamily="34" charset="-122"/>
                      </a:endParaRPr>
                    </a:p>
                  </a:txBody>
                  <a:tcPr marL="0" marR="0" marT="10795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3810" algn="ctr">
                        <a:lnSpc>
                          <a:spcPct val="100000"/>
                        </a:lnSpc>
                        <a:spcBef>
                          <a:spcPts val="850"/>
                        </a:spcBef>
                      </a:pPr>
                      <a:r>
                        <a:rPr sz="1800" dirty="0">
                          <a:latin typeface="微软雅黑" panose="020B0503020204020204" pitchFamily="34" charset="-122"/>
                          <a:cs typeface="微软雅黑" panose="020B0503020204020204" pitchFamily="34" charset="-122"/>
                        </a:rPr>
                        <a:t>覆盖组合</a:t>
                      </a:r>
                      <a:endParaRPr sz="1800">
                        <a:latin typeface="微软雅黑" panose="020B0503020204020204" pitchFamily="34" charset="-122"/>
                        <a:cs typeface="微软雅黑" panose="020B0503020204020204" pitchFamily="34" charset="-122"/>
                      </a:endParaRPr>
                    </a:p>
                  </a:txBody>
                  <a:tcPr marL="0" marR="0" marT="10795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659026">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c=6</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40385" marR="532765">
                        <a:lnSpc>
                          <a:spcPct val="102000"/>
                        </a:lnSpc>
                        <a:spcBef>
                          <a:spcPts val="330"/>
                        </a:spcBef>
                      </a:pPr>
                      <a:r>
                        <a:rPr sz="1800" b="1" spc="-5" dirty="0">
                          <a:latin typeface="Courier New" panose="02070309020205020404"/>
                          <a:cs typeface="Courier New" panose="02070309020205020404"/>
                        </a:rPr>
                        <a:t>a&gt;0,b&gt;0  a&gt;1,c&gt;1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1-2-4</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5</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59025">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03225" marR="395605" indent="137160">
                        <a:lnSpc>
                          <a:spcPct val="102000"/>
                        </a:lnSpc>
                        <a:spcBef>
                          <a:spcPts val="330"/>
                        </a:spcBef>
                      </a:pPr>
                      <a:r>
                        <a:rPr sz="1800" b="1" spc="-5" dirty="0">
                          <a:latin typeface="Courier New" panose="02070309020205020404"/>
                          <a:cs typeface="Courier New" panose="02070309020205020404"/>
                        </a:rPr>
                        <a:t>a&gt;0,b&gt;0  </a:t>
                      </a:r>
                      <a:r>
                        <a:rPr sz="1800" b="1" dirty="0">
                          <a:latin typeface="Courier New" panose="02070309020205020404"/>
                          <a:cs typeface="Courier New" panose="02070309020205020404"/>
                        </a:rPr>
                        <a:t>a&lt;=1,c&lt;=1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1-2-5</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59025">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a=-1</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b=2</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71805" marR="464185">
                        <a:lnSpc>
                          <a:spcPct val="102000"/>
                        </a:lnSpc>
                        <a:spcBef>
                          <a:spcPts val="330"/>
                        </a:spcBef>
                      </a:pPr>
                      <a:r>
                        <a:rPr sz="1800" b="1" spc="-5" dirty="0">
                          <a:latin typeface="Courier New" panose="02070309020205020404"/>
                          <a:cs typeface="Courier New" panose="02070309020205020404"/>
                        </a:rPr>
                        <a:t>a&lt;=0,b&gt;0  a&lt;=1,c&gt;1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3</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7</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59025">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403225" marR="395605">
                        <a:lnSpc>
                          <a:spcPct val="102000"/>
                        </a:lnSpc>
                        <a:spcBef>
                          <a:spcPts val="330"/>
                        </a:spcBef>
                      </a:pPr>
                      <a:r>
                        <a:rPr sz="1800" b="1" spc="-5" dirty="0">
                          <a:latin typeface="Courier New" panose="02070309020205020404"/>
                          <a:cs typeface="Courier New" panose="02070309020205020404"/>
                        </a:rPr>
                        <a:t>a&lt;=0,b&lt;=0  a&lt;=1,c&lt;=1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1-3-5</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4</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100</a:t>
            </a:fld>
            <a:endParaRPr lang="zh-CN" altLang="en-US"/>
          </a:p>
        </p:txBody>
      </p:sp>
      <p:sp>
        <p:nvSpPr>
          <p:cNvPr id="7" name="标题 6"/>
          <p:cNvSpPr>
            <a:spLocks noGrp="1"/>
          </p:cNvSpPr>
          <p:nvPr>
            <p:ph type="title"/>
          </p:nvPr>
        </p:nvSpPr>
        <p:spPr/>
        <p:txBody>
          <a:bodyPr/>
          <a:lstStyle/>
          <a:p>
            <a:r>
              <a:rPr lang="zh-CN" altLang="en-US" dirty="0"/>
              <a:t>路径覆盖</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762997771"/>
              </p:ext>
            </p:extLst>
          </p:nvPr>
        </p:nvGraphicFramePr>
        <p:xfrm>
          <a:off x="1581241" y="2767246"/>
          <a:ext cx="8859520" cy="3325324"/>
        </p:xfrm>
        <a:graphic>
          <a:graphicData uri="http://schemas.openxmlformats.org/drawingml/2006/table">
            <a:tbl>
              <a:tblPr firstRow="1" bandRow="1">
                <a:tableStyleId>{2D5ABB26-0587-4C30-8999-92F81FD0307C}</a:tableStyleId>
              </a:tblPr>
              <a:tblGrid>
                <a:gridCol w="3398520">
                  <a:extLst>
                    <a:ext uri="{9D8B030D-6E8A-4147-A177-3AD203B41FA5}">
                      <a16:colId xmlns:a16="http://schemas.microsoft.com/office/drawing/2014/main" val="20000"/>
                    </a:ext>
                  </a:extLst>
                </a:gridCol>
                <a:gridCol w="2086610">
                  <a:extLst>
                    <a:ext uri="{9D8B030D-6E8A-4147-A177-3AD203B41FA5}">
                      <a16:colId xmlns:a16="http://schemas.microsoft.com/office/drawing/2014/main" val="20001"/>
                    </a:ext>
                  </a:extLst>
                </a:gridCol>
                <a:gridCol w="1621155">
                  <a:extLst>
                    <a:ext uri="{9D8B030D-6E8A-4147-A177-3AD203B41FA5}">
                      <a16:colId xmlns:a16="http://schemas.microsoft.com/office/drawing/2014/main" val="20002"/>
                    </a:ext>
                  </a:extLst>
                </a:gridCol>
                <a:gridCol w="1753235">
                  <a:extLst>
                    <a:ext uri="{9D8B030D-6E8A-4147-A177-3AD203B41FA5}">
                      <a16:colId xmlns:a16="http://schemas.microsoft.com/office/drawing/2014/main" val="20003"/>
                    </a:ext>
                  </a:extLst>
                </a:gridCol>
              </a:tblGrid>
              <a:tr h="505924">
                <a:tc>
                  <a:txBody>
                    <a:bodyPr/>
                    <a:lstStyle/>
                    <a:p>
                      <a:pPr algn="ctr">
                        <a:lnSpc>
                          <a:spcPct val="100000"/>
                        </a:lnSpc>
                        <a:spcBef>
                          <a:spcPts val="1090"/>
                        </a:spcBef>
                      </a:pPr>
                      <a:r>
                        <a:rPr sz="1800" dirty="0">
                          <a:latin typeface="微软雅黑" panose="020B0503020204020204" pitchFamily="34" charset="-122"/>
                          <a:cs typeface="微软雅黑" panose="020B0503020204020204" pitchFamily="34" charset="-122"/>
                        </a:rPr>
                        <a:t>测试用例</a:t>
                      </a:r>
                      <a:endParaRPr sz="1800">
                        <a:latin typeface="微软雅黑" panose="020B0503020204020204" pitchFamily="34" charset="-122"/>
                        <a:cs typeface="微软雅黑" panose="020B0503020204020204" pitchFamily="34" charset="-122"/>
                      </a:endParaRPr>
                    </a:p>
                  </a:txBody>
                  <a:tcPr marL="0" marR="0" marT="13843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86105">
                        <a:lnSpc>
                          <a:spcPct val="100000"/>
                        </a:lnSpc>
                        <a:spcBef>
                          <a:spcPts val="1090"/>
                        </a:spcBef>
                      </a:pPr>
                      <a:r>
                        <a:rPr sz="1800" dirty="0">
                          <a:latin typeface="微软雅黑" panose="020B0503020204020204" pitchFamily="34" charset="-122"/>
                          <a:cs typeface="微软雅黑" panose="020B0503020204020204" pitchFamily="34" charset="-122"/>
                        </a:rPr>
                        <a:t>覆盖条件</a:t>
                      </a:r>
                      <a:endParaRPr sz="1800">
                        <a:latin typeface="微软雅黑" panose="020B0503020204020204" pitchFamily="34" charset="-122"/>
                        <a:cs typeface="微软雅黑" panose="020B0503020204020204" pitchFamily="34" charset="-122"/>
                      </a:endParaRPr>
                    </a:p>
                  </a:txBody>
                  <a:tcPr marL="0" marR="0" marT="13843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algn="ctr">
                        <a:lnSpc>
                          <a:spcPct val="100000"/>
                        </a:lnSpc>
                        <a:spcBef>
                          <a:spcPts val="1090"/>
                        </a:spcBef>
                      </a:pPr>
                      <a:r>
                        <a:rPr sz="1800" dirty="0">
                          <a:latin typeface="微软雅黑" panose="020B0503020204020204" pitchFamily="34" charset="-122"/>
                          <a:cs typeface="微软雅黑" panose="020B0503020204020204" pitchFamily="34" charset="-122"/>
                        </a:rPr>
                        <a:t>覆盖路径</a:t>
                      </a:r>
                      <a:endParaRPr sz="1800">
                        <a:latin typeface="微软雅黑" panose="020B0503020204020204" pitchFamily="34" charset="-122"/>
                        <a:cs typeface="微软雅黑" panose="020B0503020204020204" pitchFamily="34" charset="-122"/>
                      </a:endParaRPr>
                    </a:p>
                  </a:txBody>
                  <a:tcPr marL="0" marR="0" marT="13843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algn="ctr">
                        <a:lnSpc>
                          <a:spcPct val="100000"/>
                        </a:lnSpc>
                        <a:spcBef>
                          <a:spcPts val="1090"/>
                        </a:spcBef>
                      </a:pPr>
                      <a:r>
                        <a:rPr sz="1800" dirty="0">
                          <a:latin typeface="微软雅黑" panose="020B0503020204020204" pitchFamily="34" charset="-122"/>
                          <a:cs typeface="微软雅黑" panose="020B0503020204020204" pitchFamily="34" charset="-122"/>
                        </a:rPr>
                        <a:t>覆盖组合</a:t>
                      </a:r>
                      <a:endParaRPr sz="1800">
                        <a:latin typeface="微软雅黑" panose="020B0503020204020204" pitchFamily="34" charset="-122"/>
                        <a:cs typeface="微软雅黑" panose="020B0503020204020204" pitchFamily="34" charset="-122"/>
                      </a:endParaRPr>
                    </a:p>
                  </a:txBody>
                  <a:tcPr marL="0" marR="0" marT="13843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563880">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c=6</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3245" marR="555625">
                        <a:lnSpc>
                          <a:spcPts val="2200"/>
                        </a:lnSpc>
                        <a:spcBef>
                          <a:spcPts val="40"/>
                        </a:spcBef>
                      </a:pPr>
                      <a:r>
                        <a:rPr sz="1800" b="1" spc="-5" dirty="0">
                          <a:latin typeface="Courier New" panose="02070309020205020404"/>
                          <a:cs typeface="Courier New" panose="02070309020205020404"/>
                        </a:rPr>
                        <a:t>a&gt;0,b&gt;0  a&gt;1,c&gt;1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1-2-4</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5</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26085" marR="419100" indent="137160">
                        <a:lnSpc>
                          <a:spcPts val="2200"/>
                        </a:lnSpc>
                        <a:spcBef>
                          <a:spcPts val="40"/>
                        </a:spcBef>
                      </a:pPr>
                      <a:r>
                        <a:rPr sz="1800" b="1" spc="-5" dirty="0">
                          <a:latin typeface="Courier New" panose="02070309020205020404"/>
                          <a:cs typeface="Courier New" panose="02070309020205020404"/>
                        </a:rPr>
                        <a:t>a&gt;0,b&gt;0  </a:t>
                      </a:r>
                      <a:r>
                        <a:rPr sz="1800" b="1" dirty="0">
                          <a:latin typeface="Courier New" panose="02070309020205020404"/>
                          <a:cs typeface="Courier New" panose="02070309020205020404"/>
                        </a:rPr>
                        <a:t>a&lt;=1,c&lt;=1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1-2-5</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solidFill>
                            <a:srgbClr val="FF0000"/>
                          </a:solidFill>
                          <a:latin typeface="Courier New" panose="02070309020205020404"/>
                          <a:cs typeface="Courier New" panose="02070309020205020404"/>
                        </a:rPr>
                        <a:t>a=2</a:t>
                      </a:r>
                      <a:r>
                        <a:rPr sz="1800" b="1" dirty="0">
                          <a:solidFill>
                            <a:srgbClr val="FF0000"/>
                          </a:solidFill>
                          <a:latin typeface="微软雅黑" panose="020B0503020204020204" pitchFamily="34" charset="-122"/>
                          <a:cs typeface="微软雅黑" panose="020B0503020204020204" pitchFamily="34" charset="-122"/>
                        </a:rPr>
                        <a:t>，</a:t>
                      </a:r>
                      <a:r>
                        <a:rPr sz="1800" b="1" dirty="0">
                          <a:solidFill>
                            <a:srgbClr val="FF0000"/>
                          </a:solidFill>
                          <a:latin typeface="Courier New" panose="02070309020205020404"/>
                          <a:cs typeface="Courier New" panose="02070309020205020404"/>
                        </a:rPr>
                        <a:t>b=-1</a:t>
                      </a:r>
                      <a:r>
                        <a:rPr sz="1800" b="1" dirty="0">
                          <a:solidFill>
                            <a:srgbClr val="FF0000"/>
                          </a:solidFill>
                          <a:latin typeface="微软雅黑" panose="020B0503020204020204" pitchFamily="34" charset="-122"/>
                          <a:cs typeface="微软雅黑" panose="020B0503020204020204" pitchFamily="34" charset="-122"/>
                        </a:rPr>
                        <a:t>，</a:t>
                      </a:r>
                      <a:r>
                        <a:rPr sz="1800" b="1" dirty="0">
                          <a:solidFill>
                            <a:srgbClr val="FF0000"/>
                          </a:solidFill>
                          <a:latin typeface="Courier New" panose="02070309020205020404"/>
                          <a:cs typeface="Courier New" panose="02070309020205020404"/>
                        </a:rPr>
                        <a:t>c=-2</a:t>
                      </a:r>
                      <a:endParaRPr sz="1800" dirty="0">
                        <a:solidFill>
                          <a:srgbClr val="FF0000"/>
                        </a:solidFill>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94665" marR="487045">
                        <a:lnSpc>
                          <a:spcPts val="2200"/>
                        </a:lnSpc>
                        <a:spcBef>
                          <a:spcPts val="40"/>
                        </a:spcBef>
                      </a:pPr>
                      <a:r>
                        <a:rPr sz="1800" b="1" spc="-5" dirty="0">
                          <a:latin typeface="Courier New" panose="02070309020205020404"/>
                          <a:cs typeface="Courier New" panose="02070309020205020404"/>
                        </a:rPr>
                        <a:t>a&gt;0,b&lt;=0  </a:t>
                      </a:r>
                      <a:r>
                        <a:rPr sz="1800" b="1" dirty="0">
                          <a:latin typeface="Courier New" panose="02070309020205020404"/>
                          <a:cs typeface="Courier New" panose="02070309020205020404"/>
                        </a:rPr>
                        <a:t>a&gt;1,c&lt;=1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1-3-4</a:t>
                      </a:r>
                      <a:endParaRPr sz="1800" dirty="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6</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a=-1</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b=2</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94665" marR="487045">
                        <a:lnSpc>
                          <a:spcPts val="2200"/>
                        </a:lnSpc>
                        <a:spcBef>
                          <a:spcPts val="40"/>
                        </a:spcBef>
                      </a:pPr>
                      <a:r>
                        <a:rPr sz="1800" b="1" spc="-5" dirty="0">
                          <a:latin typeface="Courier New" panose="02070309020205020404"/>
                          <a:cs typeface="Courier New" panose="02070309020205020404"/>
                        </a:rPr>
                        <a:t>a&lt;=0,b&gt;0  a&lt;=1,c&gt;1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3</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7</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426085" marR="418465">
                        <a:lnSpc>
                          <a:spcPts val="2200"/>
                        </a:lnSpc>
                        <a:spcBef>
                          <a:spcPts val="40"/>
                        </a:spcBef>
                      </a:pPr>
                      <a:r>
                        <a:rPr sz="1800" b="1" spc="-5" dirty="0">
                          <a:latin typeface="Courier New" panose="02070309020205020404"/>
                          <a:cs typeface="Courier New" panose="02070309020205020404"/>
                        </a:rPr>
                        <a:t>a&lt;=0,b&lt;=0  a&lt;=1,c&lt;=1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1-3-5</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4</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dirty="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bl>
          </a:graphicData>
        </a:graphic>
      </p:graphicFrame>
      <p:sp>
        <p:nvSpPr>
          <p:cNvPr id="4" name="object 4"/>
          <p:cNvSpPr txBox="1"/>
          <p:nvPr/>
        </p:nvSpPr>
        <p:spPr>
          <a:xfrm>
            <a:off x="1583880" y="1640526"/>
            <a:ext cx="9245600" cy="838200"/>
          </a:xfrm>
          <a:prstGeom prst="rect">
            <a:avLst/>
          </a:prstGeom>
        </p:spPr>
        <p:txBody>
          <a:bodyPr vert="horz" wrap="square" lIns="0" tIns="12700" rIns="0" bIns="0" rtlCol="0">
            <a:spAutoFit/>
          </a:bodyPr>
          <a:lstStyle/>
          <a:p>
            <a:pPr marL="12700" marR="5080">
              <a:lnSpc>
                <a:spcPct val="121000"/>
              </a:lnSpc>
              <a:spcBef>
                <a:spcPts val="100"/>
              </a:spcBef>
            </a:pPr>
            <a:r>
              <a:rPr sz="2200" dirty="0">
                <a:solidFill>
                  <a:srgbClr val="CC0000"/>
                </a:solidFill>
                <a:latin typeface="微软雅黑" panose="020B0503020204020204" pitchFamily="34" charset="-122"/>
                <a:cs typeface="微软雅黑" panose="020B0503020204020204" pitchFamily="34" charset="-122"/>
              </a:rPr>
              <a:t>问题分析</a:t>
            </a:r>
            <a:r>
              <a:rPr sz="2200" dirty="0">
                <a:solidFill>
                  <a:srgbClr val="D81E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前面的测试用例完全覆盖所有路径，但没有覆盖所有条件组合。 </a:t>
            </a:r>
            <a:r>
              <a:rPr sz="2200" dirty="0">
                <a:solidFill>
                  <a:srgbClr val="0033CC"/>
                </a:solidFill>
                <a:latin typeface="微软雅黑" panose="020B0503020204020204" pitchFamily="34" charset="-122"/>
                <a:cs typeface="微软雅黑" panose="020B0503020204020204" pitchFamily="34" charset="-122"/>
              </a:rPr>
              <a:t>下面结合条件组合和路径覆盖两种方法重新设计测试用例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101</a:t>
            </a:fld>
            <a:endParaRPr lang="zh-CN" altLang="en-US"/>
          </a:p>
        </p:txBody>
      </p:sp>
      <p:sp>
        <p:nvSpPr>
          <p:cNvPr id="7" name="标题 6"/>
          <p:cNvSpPr>
            <a:spLocks noGrp="1"/>
          </p:cNvSpPr>
          <p:nvPr>
            <p:ph type="title"/>
          </p:nvPr>
        </p:nvSpPr>
        <p:spPr/>
        <p:txBody>
          <a:bodyPr/>
          <a:lstStyle/>
          <a:p>
            <a:r>
              <a:rPr lang="zh-CN" altLang="en-US" dirty="0"/>
              <a:t>路径覆盖</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90007" y="1934338"/>
            <a:ext cx="9406255" cy="2976880"/>
          </a:xfrm>
          <a:prstGeom prst="rect">
            <a:avLst/>
          </a:prstGeom>
        </p:spPr>
        <p:txBody>
          <a:bodyPr vert="horz" wrap="square" lIns="0" tIns="12700" rIns="0" bIns="0" rtlCol="0">
            <a:spAutoFit/>
          </a:bodyPr>
          <a:lstStyle/>
          <a:p>
            <a:pPr marL="452120" indent="-440055">
              <a:lnSpc>
                <a:spcPct val="100000"/>
              </a:lnSpc>
              <a:spcBef>
                <a:spcPts val="10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覆盖率数据只能代表测试过哪些代码，不能代表是否测试好这些代码。</a:t>
            </a:r>
          </a:p>
          <a:p>
            <a:pPr marL="452120" indent="-440055">
              <a:lnSpc>
                <a:spcPct val="100000"/>
              </a:lnSpc>
              <a:spcBef>
                <a:spcPts val="24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较低的测试覆盖率能说明所做的测试还不够，但反之不成立。</a:t>
            </a:r>
          </a:p>
          <a:p>
            <a:pPr marL="452120" indent="-440055">
              <a:lnSpc>
                <a:spcPct val="100000"/>
              </a:lnSpc>
              <a:spcBef>
                <a:spcPts val="25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路径覆盖</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&gt; </a:t>
            </a:r>
            <a:r>
              <a:rPr sz="2200" dirty="0">
                <a:latin typeface="微软雅黑" panose="020B0503020204020204" pitchFamily="34" charset="-122"/>
                <a:cs typeface="微软雅黑" panose="020B0503020204020204" pitchFamily="34" charset="-122"/>
              </a:rPr>
              <a:t>判定覆盖 </a:t>
            </a:r>
            <a:r>
              <a:rPr sz="2200" dirty="0">
                <a:latin typeface="Arial" panose="020B0604020202020204"/>
                <a:cs typeface="Arial" panose="020B0604020202020204"/>
              </a:rPr>
              <a:t>&gt;</a:t>
            </a:r>
            <a:r>
              <a:rPr sz="2200" spc="-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语句覆盖</a:t>
            </a:r>
          </a:p>
          <a:p>
            <a:pPr marL="452120" indent="-440055">
              <a:lnSpc>
                <a:spcPct val="100000"/>
              </a:lnSpc>
              <a:spcBef>
                <a:spcPts val="24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测试人员不能盲目追求代码覆盖率，而应该想办法设计更好的测试用例。</a:t>
            </a:r>
          </a:p>
          <a:p>
            <a:pPr marL="452120" indent="-440055">
              <a:lnSpc>
                <a:spcPct val="100000"/>
              </a:lnSpc>
              <a:spcBef>
                <a:spcPts val="25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测试覆盖率应达到多少需要考虑软件整体的覆盖率情况以及测试成本。</a:t>
            </a:r>
          </a:p>
        </p:txBody>
      </p:sp>
      <p:sp>
        <p:nvSpPr>
          <p:cNvPr id="4" name="object 4"/>
          <p:cNvSpPr/>
          <p:nvPr/>
        </p:nvSpPr>
        <p:spPr>
          <a:xfrm>
            <a:off x="1693335" y="2387600"/>
            <a:ext cx="8534400" cy="0"/>
          </a:xfrm>
          <a:custGeom>
            <a:avLst/>
            <a:gdLst/>
            <a:ahLst/>
            <a:cxnLst/>
            <a:rect l="l" t="t" r="r" b="b"/>
            <a:pathLst>
              <a:path w="8534400">
                <a:moveTo>
                  <a:pt x="0" y="0"/>
                </a:moveTo>
                <a:lnTo>
                  <a:pt x="8534395" y="1"/>
                </a:lnTo>
              </a:path>
            </a:pathLst>
          </a:custGeom>
          <a:ln w="28574">
            <a:solidFill>
              <a:srgbClr val="D81E00"/>
            </a:solidFill>
          </a:ln>
        </p:spPr>
        <p:txBody>
          <a:bodyPr wrap="square" lIns="0" tIns="0" rIns="0" bIns="0" rtlCol="0"/>
          <a:lstStyle/>
          <a:p>
            <a:endParaRPr/>
          </a:p>
        </p:txBody>
      </p:sp>
      <p:sp>
        <p:nvSpPr>
          <p:cNvPr id="5" name="object 5"/>
          <p:cNvSpPr/>
          <p:nvPr/>
        </p:nvSpPr>
        <p:spPr>
          <a:xfrm>
            <a:off x="1693335" y="5012268"/>
            <a:ext cx="8534400" cy="0"/>
          </a:xfrm>
          <a:custGeom>
            <a:avLst/>
            <a:gdLst/>
            <a:ahLst/>
            <a:cxnLst/>
            <a:rect l="l" t="t" r="r" b="b"/>
            <a:pathLst>
              <a:path w="8534400">
                <a:moveTo>
                  <a:pt x="0" y="0"/>
                </a:moveTo>
                <a:lnTo>
                  <a:pt x="8534395" y="0"/>
                </a:lnTo>
              </a:path>
            </a:pathLst>
          </a:custGeom>
          <a:ln w="28574">
            <a:solidFill>
              <a:srgbClr val="D81E00"/>
            </a:solidFill>
          </a:ln>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102</a:t>
            </a:fld>
            <a:endParaRPr lang="zh-CN" altLang="en-US"/>
          </a:p>
        </p:txBody>
      </p:sp>
      <p:sp>
        <p:nvSpPr>
          <p:cNvPr id="8" name="标题 7"/>
          <p:cNvSpPr>
            <a:spLocks noGrp="1"/>
          </p:cNvSpPr>
          <p:nvPr>
            <p:ph type="title"/>
          </p:nvPr>
        </p:nvSpPr>
        <p:spPr/>
        <p:txBody>
          <a:bodyPr/>
          <a:lstStyle/>
          <a:p>
            <a:r>
              <a:rPr lang="zh-CN" altLang="en-US" dirty="0"/>
              <a:t>如何看待测试覆盖率</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18944" y="2761783"/>
            <a:ext cx="5763895" cy="1219200"/>
          </a:xfrm>
          <a:prstGeom prst="rect">
            <a:avLst/>
          </a:prstGeom>
        </p:spPr>
        <p:txBody>
          <a:bodyPr vert="horz" wrap="square" lIns="0" tIns="6350" rIns="0" bIns="0" rtlCol="0">
            <a:spAutoFit/>
          </a:bodyPr>
          <a:lstStyle/>
          <a:p>
            <a:pPr marL="12700" marR="5080" algn="just">
              <a:lnSpc>
                <a:spcPct val="119000"/>
              </a:lnSpc>
              <a:spcBef>
                <a:spcPts val="50"/>
              </a:spcBef>
            </a:pPr>
            <a:r>
              <a:rPr sz="2200" spc="55" dirty="0">
                <a:solidFill>
                  <a:srgbClr val="0033CC"/>
                </a:solidFill>
                <a:latin typeface="微软雅黑" panose="020B0503020204020204" pitchFamily="34" charset="-122"/>
                <a:cs typeface="微软雅黑" panose="020B0503020204020204" pitchFamily="34" charset="-122"/>
              </a:rPr>
              <a:t>基本路径测试</a:t>
            </a:r>
            <a:r>
              <a:rPr sz="2200" spc="55" dirty="0">
                <a:latin typeface="微软雅黑" panose="020B0503020204020204" pitchFamily="34" charset="-122"/>
                <a:cs typeface="微软雅黑" panose="020B0503020204020204" pitchFamily="34" charset="-122"/>
              </a:rPr>
              <a:t>是在程序控制流图基础上，通过 分析控制构造的环路复杂性，导出基本可执行 </a:t>
            </a:r>
            <a:r>
              <a:rPr sz="2200" dirty="0">
                <a:latin typeface="微软雅黑" panose="020B0503020204020204" pitchFamily="34" charset="-122"/>
                <a:cs typeface="微软雅黑" panose="020B0503020204020204" pitchFamily="34" charset="-122"/>
              </a:rPr>
              <a:t>路径集合，从而设计测试用例的方法。</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8398931" y="4859860"/>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315595">
              <a:lnSpc>
                <a:spcPct val="100000"/>
              </a:lnSpc>
              <a:spcBef>
                <a:spcPts val="1800"/>
              </a:spcBef>
            </a:pPr>
            <a:r>
              <a:rPr sz="2000" dirty="0">
                <a:latin typeface="微软雅黑" panose="020B0503020204020204" pitchFamily="34" charset="-122"/>
                <a:cs typeface="微软雅黑" panose="020B0503020204020204" pitchFamily="34" charset="-122"/>
              </a:rPr>
              <a:t>设计测试用例</a:t>
            </a:r>
            <a:endParaRPr sz="2000">
              <a:latin typeface="微软雅黑" panose="020B0503020204020204" pitchFamily="34" charset="-122"/>
              <a:cs typeface="微软雅黑" panose="020B0503020204020204" pitchFamily="34" charset="-122"/>
            </a:endParaRPr>
          </a:p>
        </p:txBody>
      </p:sp>
      <p:sp>
        <p:nvSpPr>
          <p:cNvPr id="5" name="object 5"/>
          <p:cNvSpPr txBox="1"/>
          <p:nvPr/>
        </p:nvSpPr>
        <p:spPr>
          <a:xfrm>
            <a:off x="8398931" y="1608672"/>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315595">
              <a:lnSpc>
                <a:spcPct val="100000"/>
              </a:lnSpc>
              <a:spcBef>
                <a:spcPts val="1800"/>
              </a:spcBef>
            </a:pPr>
            <a:r>
              <a:rPr sz="2000" dirty="0">
                <a:latin typeface="微软雅黑" panose="020B0503020204020204" pitchFamily="34" charset="-122"/>
                <a:cs typeface="微软雅黑" panose="020B0503020204020204" pitchFamily="34" charset="-122"/>
              </a:rPr>
              <a:t>绘制控制流图</a:t>
            </a:r>
            <a:endParaRPr sz="2000">
              <a:latin typeface="微软雅黑" panose="020B0503020204020204" pitchFamily="34" charset="-122"/>
              <a:cs typeface="微软雅黑" panose="020B0503020204020204" pitchFamily="34" charset="-122"/>
            </a:endParaRPr>
          </a:p>
        </p:txBody>
      </p:sp>
      <p:sp>
        <p:nvSpPr>
          <p:cNvPr id="6" name="object 6"/>
          <p:cNvSpPr/>
          <p:nvPr/>
        </p:nvSpPr>
        <p:spPr>
          <a:xfrm>
            <a:off x="9347198" y="2404532"/>
            <a:ext cx="271145" cy="271145"/>
          </a:xfrm>
          <a:custGeom>
            <a:avLst/>
            <a:gdLst/>
            <a:ahLst/>
            <a:cxnLst/>
            <a:rect l="l" t="t" r="r" b="b"/>
            <a:pathLst>
              <a:path w="271145" h="271144">
                <a:moveTo>
                  <a:pt x="270934" y="135467"/>
                </a:moveTo>
                <a:lnTo>
                  <a:pt x="0" y="135467"/>
                </a:lnTo>
                <a:lnTo>
                  <a:pt x="135467" y="270934"/>
                </a:lnTo>
                <a:lnTo>
                  <a:pt x="270934" y="135467"/>
                </a:lnTo>
                <a:close/>
              </a:path>
              <a:path w="271145" h="271144">
                <a:moveTo>
                  <a:pt x="203200" y="0"/>
                </a:moveTo>
                <a:lnTo>
                  <a:pt x="67734" y="0"/>
                </a:lnTo>
                <a:lnTo>
                  <a:pt x="67734" y="135467"/>
                </a:lnTo>
                <a:lnTo>
                  <a:pt x="203200" y="135467"/>
                </a:lnTo>
                <a:lnTo>
                  <a:pt x="203200" y="0"/>
                </a:lnTo>
                <a:close/>
              </a:path>
            </a:pathLst>
          </a:custGeom>
          <a:solidFill>
            <a:srgbClr val="919191"/>
          </a:solidFill>
        </p:spPr>
        <p:txBody>
          <a:bodyPr wrap="square" lIns="0" tIns="0" rIns="0" bIns="0" rtlCol="0"/>
          <a:lstStyle/>
          <a:p>
            <a:endParaRPr/>
          </a:p>
        </p:txBody>
      </p:sp>
      <p:sp>
        <p:nvSpPr>
          <p:cNvPr id="7" name="object 7"/>
          <p:cNvSpPr txBox="1"/>
          <p:nvPr/>
        </p:nvSpPr>
        <p:spPr>
          <a:xfrm>
            <a:off x="8398932" y="2692405"/>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188595">
              <a:lnSpc>
                <a:spcPct val="100000"/>
              </a:lnSpc>
              <a:spcBef>
                <a:spcPts val="1800"/>
              </a:spcBef>
            </a:pPr>
            <a:r>
              <a:rPr sz="2000" dirty="0">
                <a:latin typeface="微软雅黑" panose="020B0503020204020204" pitchFamily="34" charset="-122"/>
                <a:cs typeface="微软雅黑" panose="020B0503020204020204" pitchFamily="34" charset="-122"/>
              </a:rPr>
              <a:t>计算环路复杂度</a:t>
            </a:r>
            <a:endParaRPr sz="2000">
              <a:latin typeface="微软雅黑" panose="020B0503020204020204" pitchFamily="34" charset="-122"/>
              <a:cs typeface="微软雅黑" panose="020B0503020204020204" pitchFamily="34" charset="-122"/>
            </a:endParaRPr>
          </a:p>
        </p:txBody>
      </p:sp>
      <p:sp>
        <p:nvSpPr>
          <p:cNvPr id="8" name="object 8"/>
          <p:cNvSpPr/>
          <p:nvPr/>
        </p:nvSpPr>
        <p:spPr>
          <a:xfrm>
            <a:off x="9347198" y="3488265"/>
            <a:ext cx="271145" cy="271145"/>
          </a:xfrm>
          <a:custGeom>
            <a:avLst/>
            <a:gdLst/>
            <a:ahLst/>
            <a:cxnLst/>
            <a:rect l="l" t="t" r="r" b="b"/>
            <a:pathLst>
              <a:path w="271145" h="271145">
                <a:moveTo>
                  <a:pt x="270934" y="135467"/>
                </a:moveTo>
                <a:lnTo>
                  <a:pt x="0" y="135467"/>
                </a:lnTo>
                <a:lnTo>
                  <a:pt x="135467" y="270932"/>
                </a:lnTo>
                <a:lnTo>
                  <a:pt x="270934" y="135467"/>
                </a:lnTo>
                <a:close/>
              </a:path>
              <a:path w="271145" h="271145">
                <a:moveTo>
                  <a:pt x="203200" y="0"/>
                </a:moveTo>
                <a:lnTo>
                  <a:pt x="67734" y="0"/>
                </a:lnTo>
                <a:lnTo>
                  <a:pt x="67734" y="135467"/>
                </a:lnTo>
                <a:lnTo>
                  <a:pt x="203200" y="135467"/>
                </a:lnTo>
                <a:lnTo>
                  <a:pt x="203200" y="0"/>
                </a:lnTo>
                <a:close/>
              </a:path>
            </a:pathLst>
          </a:custGeom>
          <a:solidFill>
            <a:srgbClr val="919191"/>
          </a:solidFill>
        </p:spPr>
        <p:txBody>
          <a:bodyPr wrap="square" lIns="0" tIns="0" rIns="0" bIns="0" rtlCol="0"/>
          <a:lstStyle/>
          <a:p>
            <a:endParaRPr/>
          </a:p>
        </p:txBody>
      </p:sp>
      <p:sp>
        <p:nvSpPr>
          <p:cNvPr id="9" name="object 9"/>
          <p:cNvSpPr txBox="1"/>
          <p:nvPr/>
        </p:nvSpPr>
        <p:spPr>
          <a:xfrm>
            <a:off x="8398930" y="3776135"/>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315595">
              <a:lnSpc>
                <a:spcPct val="100000"/>
              </a:lnSpc>
              <a:spcBef>
                <a:spcPts val="1800"/>
              </a:spcBef>
            </a:pPr>
            <a:r>
              <a:rPr sz="2000" dirty="0">
                <a:latin typeface="微软雅黑" panose="020B0503020204020204" pitchFamily="34" charset="-122"/>
                <a:cs typeface="微软雅黑" panose="020B0503020204020204" pitchFamily="34" charset="-122"/>
              </a:rPr>
              <a:t>确定基本路径</a:t>
            </a:r>
            <a:endParaRPr sz="2000">
              <a:latin typeface="微软雅黑" panose="020B0503020204020204" pitchFamily="34" charset="-122"/>
              <a:cs typeface="微软雅黑" panose="020B0503020204020204" pitchFamily="34" charset="-122"/>
            </a:endParaRPr>
          </a:p>
        </p:txBody>
      </p:sp>
      <p:sp>
        <p:nvSpPr>
          <p:cNvPr id="10" name="object 10"/>
          <p:cNvSpPr/>
          <p:nvPr/>
        </p:nvSpPr>
        <p:spPr>
          <a:xfrm>
            <a:off x="9347198" y="4572000"/>
            <a:ext cx="271145" cy="271145"/>
          </a:xfrm>
          <a:custGeom>
            <a:avLst/>
            <a:gdLst/>
            <a:ahLst/>
            <a:cxnLst/>
            <a:rect l="l" t="t" r="r" b="b"/>
            <a:pathLst>
              <a:path w="271145" h="271145">
                <a:moveTo>
                  <a:pt x="270934" y="135467"/>
                </a:moveTo>
                <a:lnTo>
                  <a:pt x="0" y="135467"/>
                </a:lnTo>
                <a:lnTo>
                  <a:pt x="135467" y="270932"/>
                </a:lnTo>
                <a:lnTo>
                  <a:pt x="270934" y="135467"/>
                </a:lnTo>
                <a:close/>
              </a:path>
              <a:path w="271145" h="271145">
                <a:moveTo>
                  <a:pt x="203200" y="0"/>
                </a:moveTo>
                <a:lnTo>
                  <a:pt x="67734" y="0"/>
                </a:lnTo>
                <a:lnTo>
                  <a:pt x="67734" y="135467"/>
                </a:lnTo>
                <a:lnTo>
                  <a:pt x="203200" y="135467"/>
                </a:lnTo>
                <a:lnTo>
                  <a:pt x="203200" y="0"/>
                </a:lnTo>
                <a:close/>
              </a:path>
            </a:pathLst>
          </a:custGeom>
          <a:solidFill>
            <a:srgbClr val="919191"/>
          </a:solidFill>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103</a:t>
            </a:fld>
            <a:endParaRPr lang="zh-CN" altLang="en-US"/>
          </a:p>
        </p:txBody>
      </p:sp>
      <p:sp>
        <p:nvSpPr>
          <p:cNvPr id="13" name="标题 12"/>
          <p:cNvSpPr>
            <a:spLocks noGrp="1"/>
          </p:cNvSpPr>
          <p:nvPr>
            <p:ph type="title"/>
          </p:nvPr>
        </p:nvSpPr>
        <p:spPr/>
        <p:txBody>
          <a:bodyPr/>
          <a:lstStyle/>
          <a:p>
            <a:r>
              <a:rPr lang="zh-CN" altLang="en-US" dirty="0"/>
              <a:t>基本路径测试</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0739" y="583620"/>
            <a:ext cx="9322435" cy="5537200"/>
          </a:xfrm>
          <a:prstGeom prst="rect">
            <a:avLst/>
          </a:prstGeom>
        </p:spPr>
        <p:txBody>
          <a:bodyPr vert="horz" wrap="square" lIns="0" tIns="12700" rIns="0" bIns="0" rtlCol="0">
            <a:spAutoFit/>
          </a:bodyPr>
          <a:lstStyle/>
          <a:p>
            <a:pPr marL="12700">
              <a:lnSpc>
                <a:spcPts val="2250"/>
              </a:lnSpc>
              <a:spcBef>
                <a:spcPts val="100"/>
              </a:spcBef>
            </a:pPr>
            <a:r>
              <a:rPr sz="2000" b="1" spc="-5" dirty="0">
                <a:latin typeface="Courier New" panose="02070309020205020404"/>
                <a:cs typeface="Courier New" panose="02070309020205020404"/>
              </a:rPr>
              <a:t>FindMean(float *mean, FILE</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*fp)</a:t>
            </a:r>
            <a:endParaRPr sz="2000">
              <a:latin typeface="Courier New" panose="02070309020205020404"/>
              <a:cs typeface="Courier New" panose="02070309020205020404"/>
            </a:endParaRPr>
          </a:p>
          <a:p>
            <a:pPr marL="12700">
              <a:lnSpc>
                <a:spcPts val="21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622300" marR="4272280">
              <a:lnSpc>
                <a:spcPts val="2100"/>
              </a:lnSpc>
              <a:spcBef>
                <a:spcPts val="220"/>
              </a:spcBef>
              <a:tabLst>
                <a:tab pos="1231900" algn="l"/>
              </a:tabLst>
            </a:pPr>
            <a:r>
              <a:rPr sz="2000" b="1" spc="-5" dirty="0">
                <a:latin typeface="Courier New" panose="02070309020205020404"/>
                <a:cs typeface="Courier New" panose="02070309020205020404"/>
              </a:rPr>
              <a:t>float sum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score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a:t>
            </a:r>
            <a:r>
              <a:rPr sz="2000" b="1" dirty="0">
                <a:latin typeface="Courier New" panose="02070309020205020404"/>
                <a:cs typeface="Courier New" panose="02070309020205020404"/>
              </a:rPr>
              <a:t>int	</a:t>
            </a:r>
            <a:r>
              <a:rPr sz="2000" b="1" spc="-5" dirty="0">
                <a:latin typeface="Courier New" panose="02070309020205020404"/>
                <a:cs typeface="Courier New" panose="02070309020205020404"/>
              </a:rPr>
              <a:t>num </a:t>
            </a:r>
            <a:r>
              <a:rPr sz="2000" b="1" dirty="0">
                <a:latin typeface="Courier New" panose="02070309020205020404"/>
                <a:cs typeface="Courier New" panose="02070309020205020404"/>
              </a:rPr>
              <a:t>=</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0;</a:t>
            </a:r>
            <a:endParaRPr sz="2000">
              <a:latin typeface="Courier New" panose="02070309020205020404"/>
              <a:cs typeface="Courier New" panose="02070309020205020404"/>
            </a:endParaRPr>
          </a:p>
          <a:p>
            <a:pPr>
              <a:lnSpc>
                <a:spcPct val="100000"/>
              </a:lnSpc>
              <a:spcBef>
                <a:spcPts val="50"/>
              </a:spcBef>
            </a:pPr>
            <a:endParaRPr sz="1800">
              <a:latin typeface="Times New Roman" panose="02020603050405020304"/>
              <a:cs typeface="Times New Roman" panose="02020603050405020304"/>
            </a:endParaRPr>
          </a:p>
          <a:p>
            <a:pPr marL="622300" marR="5080">
              <a:lnSpc>
                <a:spcPts val="220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 &amp;score); /* Read and parse into score */  while (!EOF(fp))</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841500" marR="5339080" indent="-610235">
              <a:lnSpc>
                <a:spcPct val="90000"/>
              </a:lnSpc>
              <a:spcBef>
                <a:spcPts val="10"/>
              </a:spcBef>
            </a:pPr>
            <a:r>
              <a:rPr sz="2000" b="1" spc="-5" dirty="0">
                <a:latin typeface="Courier New" panose="02070309020205020404"/>
                <a:cs typeface="Courier New" panose="02070309020205020404"/>
              </a:rPr>
              <a:t>if (score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0.0)</a:t>
            </a:r>
            <a:r>
              <a:rPr sz="2000" b="1" spc="-95" dirty="0">
                <a:latin typeface="Courier New" panose="02070309020205020404"/>
                <a:cs typeface="Courier New" panose="02070309020205020404"/>
              </a:rPr>
              <a:t>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sum += score;  num++;</a:t>
            </a:r>
            <a:endParaRPr sz="2000">
              <a:latin typeface="Courier New" panose="02070309020205020404"/>
              <a:cs typeface="Courier New" panose="02070309020205020404"/>
            </a:endParaRPr>
          </a:p>
          <a:p>
            <a:pPr marL="1231900">
              <a:lnSpc>
                <a:spcPts val="20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231900">
              <a:lnSpc>
                <a:spcPts val="215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&amp;score);</a:t>
            </a:r>
            <a:endParaRPr sz="200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622300" marR="2138680">
              <a:lnSpc>
                <a:spcPts val="2200"/>
              </a:lnSpc>
              <a:spcBef>
                <a:spcPts val="90"/>
              </a:spcBef>
            </a:pPr>
            <a:r>
              <a:rPr sz="2000" b="1" spc="-5" dirty="0">
                <a:latin typeface="Courier New" panose="02070309020205020404"/>
                <a:cs typeface="Courier New" panose="02070309020205020404"/>
              </a:rPr>
              <a:t>/* Compute the mean and print the result */  if (num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a:t>
            </a:r>
            <a:r>
              <a:rPr sz="2000" b="1" spc="-2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231900">
              <a:lnSpc>
                <a:spcPts val="2010"/>
              </a:lnSpc>
            </a:pPr>
            <a:r>
              <a:rPr sz="2000" b="1" spc="-5" dirty="0">
                <a:latin typeface="Courier New" panose="02070309020205020404"/>
                <a:cs typeface="Courier New" panose="02070309020205020404"/>
              </a:rPr>
              <a:t>*mean </a:t>
            </a: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sum/num;</a:t>
            </a:r>
            <a:endParaRPr sz="200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printf(“The mean score is %f \n”,</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endParaRPr sz="200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else</a:t>
            </a:r>
            <a:endParaRPr sz="200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printf(”No scores found in</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file\n”);</a:t>
            </a:r>
            <a:endParaRPr sz="2000">
              <a:latin typeface="Courier New" panose="02070309020205020404"/>
              <a:cs typeface="Courier New" panose="02070309020205020404"/>
            </a:endParaRPr>
          </a:p>
          <a:p>
            <a:pPr marL="12700">
              <a:lnSpc>
                <a:spcPts val="230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104</a:t>
            </a:fld>
            <a:endParaRPr lang="en-US" altLang="zh-C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105</a:t>
            </a:fld>
            <a:endParaRPr lang="zh-CN" altLang="en-US"/>
          </a:p>
        </p:txBody>
      </p:sp>
      <p:grpSp>
        <p:nvGrpSpPr>
          <p:cNvPr id="69" name="组合 68"/>
          <p:cNvGrpSpPr/>
          <p:nvPr/>
        </p:nvGrpSpPr>
        <p:grpSpPr>
          <a:xfrm>
            <a:off x="953083" y="573448"/>
            <a:ext cx="10285834" cy="5711104"/>
            <a:chOff x="907522" y="571707"/>
            <a:chExt cx="10285834" cy="5711104"/>
          </a:xfrm>
        </p:grpSpPr>
        <p:sp>
          <p:nvSpPr>
            <p:cNvPr id="3" name="object 2"/>
            <p:cNvSpPr/>
            <p:nvPr/>
          </p:nvSpPr>
          <p:spPr>
            <a:xfrm>
              <a:off x="5097265" y="571707"/>
              <a:ext cx="479425" cy="479425"/>
            </a:xfrm>
            <a:custGeom>
              <a:avLst/>
              <a:gdLst/>
              <a:ahLst/>
              <a:cxnLst/>
              <a:rect l="l" t="t" r="r" b="b"/>
              <a:pathLst>
                <a:path w="479425" h="479425">
                  <a:moveTo>
                    <a:pt x="239520" y="0"/>
                  </a:moveTo>
                  <a:lnTo>
                    <a:pt x="191248" y="4865"/>
                  </a:lnTo>
                  <a:lnTo>
                    <a:pt x="146288" y="18820"/>
                  </a:lnTo>
                  <a:lnTo>
                    <a:pt x="105602" y="40900"/>
                  </a:lnTo>
                  <a:lnTo>
                    <a:pt x="70153" y="70144"/>
                  </a:lnTo>
                  <a:lnTo>
                    <a:pt x="40906" y="105587"/>
                  </a:lnTo>
                  <a:lnTo>
                    <a:pt x="18822" y="146268"/>
                  </a:lnTo>
                  <a:lnTo>
                    <a:pt x="4866" y="191222"/>
                  </a:lnTo>
                  <a:lnTo>
                    <a:pt x="0" y="239487"/>
                  </a:lnTo>
                  <a:lnTo>
                    <a:pt x="4866" y="287752"/>
                  </a:lnTo>
                  <a:lnTo>
                    <a:pt x="18822" y="332707"/>
                  </a:lnTo>
                  <a:lnTo>
                    <a:pt x="40906" y="373387"/>
                  </a:lnTo>
                  <a:lnTo>
                    <a:pt x="70153" y="408831"/>
                  </a:lnTo>
                  <a:lnTo>
                    <a:pt x="105602" y="438074"/>
                  </a:lnTo>
                  <a:lnTo>
                    <a:pt x="146288" y="460155"/>
                  </a:lnTo>
                  <a:lnTo>
                    <a:pt x="191248" y="474109"/>
                  </a:lnTo>
                  <a:lnTo>
                    <a:pt x="239520" y="478975"/>
                  </a:lnTo>
                  <a:lnTo>
                    <a:pt x="287792" y="474109"/>
                  </a:lnTo>
                  <a:lnTo>
                    <a:pt x="332752" y="460155"/>
                  </a:lnTo>
                  <a:lnTo>
                    <a:pt x="373438" y="438074"/>
                  </a:lnTo>
                  <a:lnTo>
                    <a:pt x="408887" y="408831"/>
                  </a:lnTo>
                  <a:lnTo>
                    <a:pt x="438134" y="373387"/>
                  </a:lnTo>
                  <a:lnTo>
                    <a:pt x="460218" y="332707"/>
                  </a:lnTo>
                  <a:lnTo>
                    <a:pt x="474175" y="287752"/>
                  </a:lnTo>
                  <a:lnTo>
                    <a:pt x="479041" y="239487"/>
                  </a:lnTo>
                  <a:lnTo>
                    <a:pt x="474175" y="191222"/>
                  </a:lnTo>
                  <a:lnTo>
                    <a:pt x="460218" y="146268"/>
                  </a:lnTo>
                  <a:lnTo>
                    <a:pt x="438134" y="105587"/>
                  </a:lnTo>
                  <a:lnTo>
                    <a:pt x="408887" y="70144"/>
                  </a:lnTo>
                  <a:lnTo>
                    <a:pt x="373438" y="40900"/>
                  </a:lnTo>
                  <a:lnTo>
                    <a:pt x="332752" y="18820"/>
                  </a:lnTo>
                  <a:lnTo>
                    <a:pt x="287792" y="4865"/>
                  </a:lnTo>
                  <a:lnTo>
                    <a:pt x="239520" y="0"/>
                  </a:lnTo>
                  <a:close/>
                </a:path>
              </a:pathLst>
            </a:custGeom>
            <a:solidFill>
              <a:srgbClr val="A8D5D6"/>
            </a:solidFill>
          </p:spPr>
          <p:txBody>
            <a:bodyPr wrap="square" lIns="0" tIns="0" rIns="0" bIns="0" rtlCol="0"/>
            <a:lstStyle/>
            <a:p>
              <a:endParaRPr/>
            </a:p>
          </p:txBody>
        </p:sp>
        <p:sp>
          <p:nvSpPr>
            <p:cNvPr id="4" name="object 3"/>
            <p:cNvSpPr/>
            <p:nvPr/>
          </p:nvSpPr>
          <p:spPr>
            <a:xfrm>
              <a:off x="5097265" y="571707"/>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2"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5" name="object 4"/>
            <p:cNvSpPr txBox="1"/>
            <p:nvPr/>
          </p:nvSpPr>
          <p:spPr>
            <a:xfrm>
              <a:off x="5269971" y="66133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6" name="object 5"/>
            <p:cNvSpPr/>
            <p:nvPr/>
          </p:nvSpPr>
          <p:spPr>
            <a:xfrm>
              <a:off x="4853027" y="1496767"/>
              <a:ext cx="965200" cy="507365"/>
            </a:xfrm>
            <a:custGeom>
              <a:avLst/>
              <a:gdLst/>
              <a:ahLst/>
              <a:cxnLst/>
              <a:rect l="l" t="t" r="r" b="b"/>
              <a:pathLst>
                <a:path w="965200" h="507364">
                  <a:moveTo>
                    <a:pt x="482479" y="0"/>
                  </a:moveTo>
                  <a:lnTo>
                    <a:pt x="0" y="253467"/>
                  </a:lnTo>
                  <a:lnTo>
                    <a:pt x="482479" y="506935"/>
                  </a:lnTo>
                  <a:lnTo>
                    <a:pt x="964958" y="253467"/>
                  </a:lnTo>
                  <a:lnTo>
                    <a:pt x="482479" y="0"/>
                  </a:lnTo>
                  <a:close/>
                </a:path>
              </a:pathLst>
            </a:custGeom>
            <a:solidFill>
              <a:srgbClr val="FFACA9"/>
            </a:solidFill>
          </p:spPr>
          <p:txBody>
            <a:bodyPr wrap="square" lIns="0" tIns="0" rIns="0" bIns="0" rtlCol="0"/>
            <a:lstStyle/>
            <a:p>
              <a:endParaRPr/>
            </a:p>
          </p:txBody>
        </p:sp>
        <p:sp>
          <p:nvSpPr>
            <p:cNvPr id="7" name="object 6"/>
            <p:cNvSpPr/>
            <p:nvPr/>
          </p:nvSpPr>
          <p:spPr>
            <a:xfrm>
              <a:off x="4853027" y="1496767"/>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8" name="object 7"/>
            <p:cNvSpPr txBox="1"/>
            <p:nvPr/>
          </p:nvSpPr>
          <p:spPr>
            <a:xfrm>
              <a:off x="5268255" y="1600375"/>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9" name="object 8"/>
            <p:cNvSpPr/>
            <p:nvPr/>
          </p:nvSpPr>
          <p:spPr>
            <a:xfrm>
              <a:off x="4858479" y="2440890"/>
              <a:ext cx="965200" cy="507365"/>
            </a:xfrm>
            <a:custGeom>
              <a:avLst/>
              <a:gdLst/>
              <a:ahLst/>
              <a:cxnLst/>
              <a:rect l="l" t="t" r="r" b="b"/>
              <a:pathLst>
                <a:path w="965200" h="507364">
                  <a:moveTo>
                    <a:pt x="482480" y="0"/>
                  </a:moveTo>
                  <a:lnTo>
                    <a:pt x="0" y="253469"/>
                  </a:lnTo>
                  <a:lnTo>
                    <a:pt x="482480" y="506937"/>
                  </a:lnTo>
                  <a:lnTo>
                    <a:pt x="964959" y="253469"/>
                  </a:lnTo>
                  <a:lnTo>
                    <a:pt x="482480" y="0"/>
                  </a:lnTo>
                  <a:close/>
                </a:path>
              </a:pathLst>
            </a:custGeom>
            <a:solidFill>
              <a:srgbClr val="FFACA9"/>
            </a:solidFill>
          </p:spPr>
          <p:txBody>
            <a:bodyPr wrap="square" lIns="0" tIns="0" rIns="0" bIns="0" rtlCol="0"/>
            <a:lstStyle/>
            <a:p>
              <a:endParaRPr/>
            </a:p>
          </p:txBody>
        </p:sp>
        <p:sp>
          <p:nvSpPr>
            <p:cNvPr id="10" name="object 9"/>
            <p:cNvSpPr/>
            <p:nvPr/>
          </p:nvSpPr>
          <p:spPr>
            <a:xfrm>
              <a:off x="4858479" y="2440890"/>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11" name="object 10"/>
            <p:cNvSpPr txBox="1"/>
            <p:nvPr/>
          </p:nvSpPr>
          <p:spPr>
            <a:xfrm>
              <a:off x="5273709" y="254449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3</a:t>
              </a:r>
              <a:endParaRPr sz="1800">
                <a:latin typeface="Times New Roman" panose="02020603050405020304"/>
                <a:cs typeface="Times New Roman" panose="02020603050405020304"/>
              </a:endParaRPr>
            </a:p>
          </p:txBody>
        </p:sp>
        <p:sp>
          <p:nvSpPr>
            <p:cNvPr id="12" name="object 11"/>
            <p:cNvSpPr/>
            <p:nvPr/>
          </p:nvSpPr>
          <p:spPr>
            <a:xfrm>
              <a:off x="4014694" y="3009823"/>
              <a:ext cx="479425" cy="479425"/>
            </a:xfrm>
            <a:custGeom>
              <a:avLst/>
              <a:gdLst/>
              <a:ahLst/>
              <a:cxnLst/>
              <a:rect l="l" t="t" r="r" b="b"/>
              <a:pathLst>
                <a:path w="479425" h="479425">
                  <a:moveTo>
                    <a:pt x="239522" y="0"/>
                  </a:moveTo>
                  <a:lnTo>
                    <a:pt x="191249" y="4865"/>
                  </a:lnTo>
                  <a:lnTo>
                    <a:pt x="146289" y="18820"/>
                  </a:lnTo>
                  <a:lnTo>
                    <a:pt x="105602" y="40901"/>
                  </a:lnTo>
                  <a:lnTo>
                    <a:pt x="70154" y="70144"/>
                  </a:lnTo>
                  <a:lnTo>
                    <a:pt x="40906" y="105588"/>
                  </a:lnTo>
                  <a:lnTo>
                    <a:pt x="18822" y="146269"/>
                  </a:lnTo>
                  <a:lnTo>
                    <a:pt x="4866" y="191223"/>
                  </a:lnTo>
                  <a:lnTo>
                    <a:pt x="0" y="239488"/>
                  </a:lnTo>
                  <a:lnTo>
                    <a:pt x="4866" y="287754"/>
                  </a:lnTo>
                  <a:lnTo>
                    <a:pt x="18822" y="332708"/>
                  </a:lnTo>
                  <a:lnTo>
                    <a:pt x="40906" y="373388"/>
                  </a:lnTo>
                  <a:lnTo>
                    <a:pt x="70154" y="408832"/>
                  </a:lnTo>
                  <a:lnTo>
                    <a:pt x="105602" y="438075"/>
                  </a:lnTo>
                  <a:lnTo>
                    <a:pt x="146289" y="460156"/>
                  </a:lnTo>
                  <a:lnTo>
                    <a:pt x="191249" y="474111"/>
                  </a:lnTo>
                  <a:lnTo>
                    <a:pt x="239522" y="478976"/>
                  </a:lnTo>
                  <a:lnTo>
                    <a:pt x="287793" y="474111"/>
                  </a:lnTo>
                  <a:lnTo>
                    <a:pt x="332754" y="460156"/>
                  </a:lnTo>
                  <a:lnTo>
                    <a:pt x="373440" y="438075"/>
                  </a:lnTo>
                  <a:lnTo>
                    <a:pt x="408888" y="408832"/>
                  </a:lnTo>
                  <a:lnTo>
                    <a:pt x="438136" y="373388"/>
                  </a:lnTo>
                  <a:lnTo>
                    <a:pt x="460219" y="332708"/>
                  </a:lnTo>
                  <a:lnTo>
                    <a:pt x="474176" y="287754"/>
                  </a:lnTo>
                  <a:lnTo>
                    <a:pt x="479042" y="239488"/>
                  </a:lnTo>
                  <a:lnTo>
                    <a:pt x="474176" y="191223"/>
                  </a:lnTo>
                  <a:lnTo>
                    <a:pt x="460219" y="146269"/>
                  </a:lnTo>
                  <a:lnTo>
                    <a:pt x="438136" y="105588"/>
                  </a:lnTo>
                  <a:lnTo>
                    <a:pt x="408888" y="70144"/>
                  </a:lnTo>
                  <a:lnTo>
                    <a:pt x="373440" y="40901"/>
                  </a:lnTo>
                  <a:lnTo>
                    <a:pt x="332754" y="18820"/>
                  </a:lnTo>
                  <a:lnTo>
                    <a:pt x="287793" y="4865"/>
                  </a:lnTo>
                  <a:lnTo>
                    <a:pt x="239522" y="0"/>
                  </a:lnTo>
                  <a:close/>
                </a:path>
              </a:pathLst>
            </a:custGeom>
            <a:solidFill>
              <a:srgbClr val="A8D5D6"/>
            </a:solidFill>
          </p:spPr>
          <p:txBody>
            <a:bodyPr wrap="square" lIns="0" tIns="0" rIns="0" bIns="0" rtlCol="0"/>
            <a:lstStyle/>
            <a:p>
              <a:endParaRPr/>
            </a:p>
          </p:txBody>
        </p:sp>
        <p:sp>
          <p:nvSpPr>
            <p:cNvPr id="13" name="object 12"/>
            <p:cNvSpPr/>
            <p:nvPr/>
          </p:nvSpPr>
          <p:spPr>
            <a:xfrm>
              <a:off x="4014694" y="3009823"/>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14" name="object 13"/>
            <p:cNvSpPr txBox="1"/>
            <p:nvPr/>
          </p:nvSpPr>
          <p:spPr>
            <a:xfrm>
              <a:off x="4181052" y="3084212"/>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p:txBody>
        </p:sp>
        <p:sp>
          <p:nvSpPr>
            <p:cNvPr id="15" name="object 14"/>
            <p:cNvSpPr/>
            <p:nvPr/>
          </p:nvSpPr>
          <p:spPr>
            <a:xfrm>
              <a:off x="5136518" y="3503827"/>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8"/>
                  </a:lnTo>
                  <a:lnTo>
                    <a:pt x="4866" y="191249"/>
                  </a:lnTo>
                  <a:lnTo>
                    <a:pt x="0" y="239520"/>
                  </a:lnTo>
                  <a:lnTo>
                    <a:pt x="4866" y="287792"/>
                  </a:lnTo>
                  <a:lnTo>
                    <a:pt x="18822" y="332753"/>
                  </a:lnTo>
                  <a:lnTo>
                    <a:pt x="40906" y="373439"/>
                  </a:lnTo>
                  <a:lnTo>
                    <a:pt x="70153" y="408887"/>
                  </a:lnTo>
                  <a:lnTo>
                    <a:pt x="105602" y="438135"/>
                  </a:lnTo>
                  <a:lnTo>
                    <a:pt x="146288" y="460218"/>
                  </a:lnTo>
                  <a:lnTo>
                    <a:pt x="191248" y="474175"/>
                  </a:lnTo>
                  <a:lnTo>
                    <a:pt x="239520" y="479041"/>
                  </a:lnTo>
                  <a:lnTo>
                    <a:pt x="287792" y="474175"/>
                  </a:lnTo>
                  <a:lnTo>
                    <a:pt x="332752" y="460218"/>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16" name="object 15"/>
            <p:cNvSpPr/>
            <p:nvPr/>
          </p:nvSpPr>
          <p:spPr>
            <a:xfrm>
              <a:off x="5136519" y="3503827"/>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17" name="object 16"/>
            <p:cNvSpPr txBox="1"/>
            <p:nvPr/>
          </p:nvSpPr>
          <p:spPr>
            <a:xfrm>
              <a:off x="5302874" y="3578247"/>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5</a:t>
              </a:r>
              <a:endParaRPr sz="2000">
                <a:latin typeface="Times New Roman" panose="02020603050405020304"/>
                <a:cs typeface="Times New Roman" panose="02020603050405020304"/>
              </a:endParaRPr>
            </a:p>
          </p:txBody>
        </p:sp>
        <p:sp>
          <p:nvSpPr>
            <p:cNvPr id="18" name="object 17"/>
            <p:cNvSpPr/>
            <p:nvPr/>
          </p:nvSpPr>
          <p:spPr>
            <a:xfrm>
              <a:off x="5335578" y="1050682"/>
              <a:ext cx="1270" cy="421005"/>
            </a:xfrm>
            <a:custGeom>
              <a:avLst/>
              <a:gdLst/>
              <a:ahLst/>
              <a:cxnLst/>
              <a:rect l="l" t="t" r="r" b="b"/>
              <a:pathLst>
                <a:path w="1270" h="421005">
                  <a:moveTo>
                    <a:pt x="1207" y="0"/>
                  </a:moveTo>
                  <a:lnTo>
                    <a:pt x="0" y="420880"/>
                  </a:lnTo>
                </a:path>
              </a:pathLst>
            </a:custGeom>
            <a:ln w="9524">
              <a:solidFill>
                <a:srgbClr val="000000"/>
              </a:solidFill>
            </a:ln>
          </p:spPr>
          <p:txBody>
            <a:bodyPr wrap="square" lIns="0" tIns="0" rIns="0" bIns="0" rtlCol="0"/>
            <a:lstStyle/>
            <a:p>
              <a:endParaRPr/>
            </a:p>
          </p:txBody>
        </p:sp>
        <p:sp>
          <p:nvSpPr>
            <p:cNvPr id="19" name="object 18"/>
            <p:cNvSpPr/>
            <p:nvPr/>
          </p:nvSpPr>
          <p:spPr>
            <a:xfrm>
              <a:off x="5276842" y="1380730"/>
              <a:ext cx="117908" cy="116037"/>
            </a:xfrm>
            <a:prstGeom prst="rect">
              <a:avLst/>
            </a:prstGeom>
            <a:blipFill>
              <a:blip r:embed="rId3" cstate="print"/>
              <a:stretch>
                <a:fillRect/>
              </a:stretch>
            </a:blipFill>
          </p:spPr>
          <p:txBody>
            <a:bodyPr wrap="square" lIns="0" tIns="0" rIns="0" bIns="0" rtlCol="0"/>
            <a:lstStyle/>
            <a:p>
              <a:endParaRPr/>
            </a:p>
          </p:txBody>
        </p:sp>
        <p:sp>
          <p:nvSpPr>
            <p:cNvPr id="20" name="object 19"/>
            <p:cNvSpPr/>
            <p:nvPr/>
          </p:nvSpPr>
          <p:spPr>
            <a:xfrm>
              <a:off x="5335506" y="2003704"/>
              <a:ext cx="5715" cy="412750"/>
            </a:xfrm>
            <a:custGeom>
              <a:avLst/>
              <a:gdLst/>
              <a:ahLst/>
              <a:cxnLst/>
              <a:rect l="l" t="t" r="r" b="b"/>
              <a:pathLst>
                <a:path w="5714" h="412750">
                  <a:moveTo>
                    <a:pt x="0" y="0"/>
                  </a:moveTo>
                  <a:lnTo>
                    <a:pt x="5236" y="412153"/>
                  </a:lnTo>
                </a:path>
              </a:pathLst>
            </a:custGeom>
            <a:ln w="9524">
              <a:solidFill>
                <a:srgbClr val="000000"/>
              </a:solidFill>
            </a:ln>
          </p:spPr>
          <p:txBody>
            <a:bodyPr wrap="square" lIns="0" tIns="0" rIns="0" bIns="0" rtlCol="0"/>
            <a:lstStyle/>
            <a:p>
              <a:endParaRPr/>
            </a:p>
          </p:txBody>
        </p:sp>
        <p:sp>
          <p:nvSpPr>
            <p:cNvPr id="21" name="object 20"/>
            <p:cNvSpPr/>
            <p:nvPr/>
          </p:nvSpPr>
          <p:spPr>
            <a:xfrm>
              <a:off x="5280829" y="2324592"/>
              <a:ext cx="117897" cy="116467"/>
            </a:xfrm>
            <a:prstGeom prst="rect">
              <a:avLst/>
            </a:prstGeom>
            <a:blipFill>
              <a:blip r:embed="rId4" cstate="print"/>
              <a:stretch>
                <a:fillRect/>
              </a:stretch>
            </a:blipFill>
          </p:spPr>
          <p:txBody>
            <a:bodyPr wrap="square" lIns="0" tIns="0" rIns="0" bIns="0" rtlCol="0"/>
            <a:lstStyle/>
            <a:p>
              <a:endParaRPr/>
            </a:p>
          </p:txBody>
        </p:sp>
        <p:sp>
          <p:nvSpPr>
            <p:cNvPr id="22" name="object 21"/>
            <p:cNvSpPr/>
            <p:nvPr/>
          </p:nvSpPr>
          <p:spPr>
            <a:xfrm>
              <a:off x="4254216" y="2694357"/>
              <a:ext cx="604520" cy="290830"/>
            </a:xfrm>
            <a:custGeom>
              <a:avLst/>
              <a:gdLst/>
              <a:ahLst/>
              <a:cxnLst/>
              <a:rect l="l" t="t" r="r" b="b"/>
              <a:pathLst>
                <a:path w="604520" h="290830">
                  <a:moveTo>
                    <a:pt x="604262" y="0"/>
                  </a:moveTo>
                  <a:lnTo>
                    <a:pt x="0" y="0"/>
                  </a:lnTo>
                  <a:lnTo>
                    <a:pt x="0" y="290260"/>
                  </a:lnTo>
                </a:path>
              </a:pathLst>
            </a:custGeom>
            <a:ln w="9524">
              <a:solidFill>
                <a:srgbClr val="000000"/>
              </a:solidFill>
            </a:ln>
          </p:spPr>
          <p:txBody>
            <a:bodyPr wrap="square" lIns="0" tIns="0" rIns="0" bIns="0" rtlCol="0"/>
            <a:lstStyle/>
            <a:p>
              <a:endParaRPr/>
            </a:p>
          </p:txBody>
        </p:sp>
        <p:sp>
          <p:nvSpPr>
            <p:cNvPr id="23" name="object 22"/>
            <p:cNvSpPr/>
            <p:nvPr/>
          </p:nvSpPr>
          <p:spPr>
            <a:xfrm>
              <a:off x="4195262" y="2893913"/>
              <a:ext cx="117909" cy="115910"/>
            </a:xfrm>
            <a:prstGeom prst="rect">
              <a:avLst/>
            </a:prstGeom>
            <a:blipFill>
              <a:blip r:embed="rId5" cstate="print"/>
              <a:stretch>
                <a:fillRect/>
              </a:stretch>
            </a:blipFill>
          </p:spPr>
          <p:txBody>
            <a:bodyPr wrap="square" lIns="0" tIns="0" rIns="0" bIns="0" rtlCol="0"/>
            <a:lstStyle/>
            <a:p>
              <a:endParaRPr/>
            </a:p>
          </p:txBody>
        </p:sp>
        <p:sp>
          <p:nvSpPr>
            <p:cNvPr id="24" name="object 23"/>
            <p:cNvSpPr/>
            <p:nvPr/>
          </p:nvSpPr>
          <p:spPr>
            <a:xfrm>
              <a:off x="5640764" y="2694358"/>
              <a:ext cx="774700" cy="1049020"/>
            </a:xfrm>
            <a:custGeom>
              <a:avLst/>
              <a:gdLst/>
              <a:ahLst/>
              <a:cxnLst/>
              <a:rect l="l" t="t" r="r" b="b"/>
              <a:pathLst>
                <a:path w="774700" h="1049020">
                  <a:moveTo>
                    <a:pt x="182675" y="0"/>
                  </a:moveTo>
                  <a:lnTo>
                    <a:pt x="774159" y="0"/>
                  </a:lnTo>
                  <a:lnTo>
                    <a:pt x="774159" y="1048989"/>
                  </a:lnTo>
                  <a:lnTo>
                    <a:pt x="0" y="1048989"/>
                  </a:lnTo>
                </a:path>
              </a:pathLst>
            </a:custGeom>
            <a:ln w="9524">
              <a:solidFill>
                <a:srgbClr val="000000"/>
              </a:solidFill>
            </a:ln>
          </p:spPr>
          <p:txBody>
            <a:bodyPr wrap="square" lIns="0" tIns="0" rIns="0" bIns="0" rtlCol="0"/>
            <a:lstStyle/>
            <a:p>
              <a:endParaRPr/>
            </a:p>
          </p:txBody>
        </p:sp>
        <p:sp>
          <p:nvSpPr>
            <p:cNvPr id="25" name="object 24"/>
            <p:cNvSpPr/>
            <p:nvPr/>
          </p:nvSpPr>
          <p:spPr>
            <a:xfrm>
              <a:off x="5615560" y="3684394"/>
              <a:ext cx="115909" cy="117908"/>
            </a:xfrm>
            <a:prstGeom prst="rect">
              <a:avLst/>
            </a:prstGeom>
            <a:blipFill>
              <a:blip r:embed="rId6" cstate="print"/>
              <a:stretch>
                <a:fillRect/>
              </a:stretch>
            </a:blipFill>
          </p:spPr>
          <p:txBody>
            <a:bodyPr wrap="square" lIns="0" tIns="0" rIns="0" bIns="0" rtlCol="0"/>
            <a:lstStyle/>
            <a:p>
              <a:endParaRPr/>
            </a:p>
          </p:txBody>
        </p:sp>
        <p:sp>
          <p:nvSpPr>
            <p:cNvPr id="26" name="object 25"/>
            <p:cNvSpPr/>
            <p:nvPr/>
          </p:nvSpPr>
          <p:spPr>
            <a:xfrm>
              <a:off x="4254216" y="3488799"/>
              <a:ext cx="857250" cy="254635"/>
            </a:xfrm>
            <a:custGeom>
              <a:avLst/>
              <a:gdLst/>
              <a:ahLst/>
              <a:cxnLst/>
              <a:rect l="l" t="t" r="r" b="b"/>
              <a:pathLst>
                <a:path w="857250" h="254635">
                  <a:moveTo>
                    <a:pt x="0" y="0"/>
                  </a:moveTo>
                  <a:lnTo>
                    <a:pt x="0" y="254549"/>
                  </a:lnTo>
                  <a:lnTo>
                    <a:pt x="857096" y="254549"/>
                  </a:lnTo>
                </a:path>
              </a:pathLst>
            </a:custGeom>
            <a:ln w="9524">
              <a:solidFill>
                <a:srgbClr val="000000"/>
              </a:solidFill>
            </a:ln>
          </p:spPr>
          <p:txBody>
            <a:bodyPr wrap="square" lIns="0" tIns="0" rIns="0" bIns="0" rtlCol="0"/>
            <a:lstStyle/>
            <a:p>
              <a:endParaRPr/>
            </a:p>
          </p:txBody>
        </p:sp>
        <p:sp>
          <p:nvSpPr>
            <p:cNvPr id="27" name="object 26"/>
            <p:cNvSpPr/>
            <p:nvPr/>
          </p:nvSpPr>
          <p:spPr>
            <a:xfrm>
              <a:off x="5020608" y="3684394"/>
              <a:ext cx="115909" cy="117908"/>
            </a:xfrm>
            <a:prstGeom prst="rect">
              <a:avLst/>
            </a:prstGeom>
            <a:blipFill>
              <a:blip r:embed="rId7" cstate="print"/>
              <a:stretch>
                <a:fillRect/>
              </a:stretch>
            </a:blipFill>
          </p:spPr>
          <p:txBody>
            <a:bodyPr wrap="square" lIns="0" tIns="0" rIns="0" bIns="0" rtlCol="0"/>
            <a:lstStyle/>
            <a:p>
              <a:endParaRPr/>
            </a:p>
          </p:txBody>
        </p:sp>
        <p:sp>
          <p:nvSpPr>
            <p:cNvPr id="28" name="object 27"/>
            <p:cNvSpPr/>
            <p:nvPr/>
          </p:nvSpPr>
          <p:spPr>
            <a:xfrm>
              <a:off x="3056237" y="4265321"/>
              <a:ext cx="965200" cy="507365"/>
            </a:xfrm>
            <a:custGeom>
              <a:avLst/>
              <a:gdLst/>
              <a:ahLst/>
              <a:cxnLst/>
              <a:rect l="l" t="t" r="r" b="b"/>
              <a:pathLst>
                <a:path w="965200" h="507364">
                  <a:moveTo>
                    <a:pt x="482479" y="0"/>
                  </a:moveTo>
                  <a:lnTo>
                    <a:pt x="0" y="253467"/>
                  </a:lnTo>
                  <a:lnTo>
                    <a:pt x="482479" y="506937"/>
                  </a:lnTo>
                  <a:lnTo>
                    <a:pt x="964958" y="253467"/>
                  </a:lnTo>
                  <a:lnTo>
                    <a:pt x="482479" y="0"/>
                  </a:lnTo>
                  <a:close/>
                </a:path>
              </a:pathLst>
            </a:custGeom>
            <a:solidFill>
              <a:srgbClr val="FFACA9"/>
            </a:solidFill>
          </p:spPr>
          <p:txBody>
            <a:bodyPr wrap="square" lIns="0" tIns="0" rIns="0" bIns="0" rtlCol="0"/>
            <a:lstStyle/>
            <a:p>
              <a:endParaRPr/>
            </a:p>
          </p:txBody>
        </p:sp>
        <p:sp>
          <p:nvSpPr>
            <p:cNvPr id="29" name="object 28"/>
            <p:cNvSpPr/>
            <p:nvPr/>
          </p:nvSpPr>
          <p:spPr>
            <a:xfrm>
              <a:off x="3056237" y="4265321"/>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30" name="object 29"/>
            <p:cNvSpPr txBox="1"/>
            <p:nvPr/>
          </p:nvSpPr>
          <p:spPr>
            <a:xfrm>
              <a:off x="3471466" y="4368929"/>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6</a:t>
              </a:r>
              <a:endParaRPr sz="1800">
                <a:latin typeface="Times New Roman" panose="02020603050405020304"/>
                <a:cs typeface="Times New Roman" panose="02020603050405020304"/>
              </a:endParaRPr>
            </a:p>
          </p:txBody>
        </p:sp>
        <p:sp>
          <p:nvSpPr>
            <p:cNvPr id="31" name="object 30"/>
            <p:cNvSpPr/>
            <p:nvPr/>
          </p:nvSpPr>
          <p:spPr>
            <a:xfrm>
              <a:off x="2511747" y="4768850"/>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8"/>
                  </a:lnTo>
                  <a:lnTo>
                    <a:pt x="191249" y="474175"/>
                  </a:lnTo>
                  <a:lnTo>
                    <a:pt x="239520" y="479041"/>
                  </a:lnTo>
                  <a:lnTo>
                    <a:pt x="287792" y="474175"/>
                  </a:lnTo>
                  <a:lnTo>
                    <a:pt x="332753" y="460218"/>
                  </a:lnTo>
                  <a:lnTo>
                    <a:pt x="373439" y="438135"/>
                  </a:lnTo>
                  <a:lnTo>
                    <a:pt x="408887" y="408887"/>
                  </a:lnTo>
                  <a:lnTo>
                    <a:pt x="438135" y="373439"/>
                  </a:lnTo>
                  <a:lnTo>
                    <a:pt x="460218" y="332753"/>
                  </a:lnTo>
                  <a:lnTo>
                    <a:pt x="474175" y="287792"/>
                  </a:lnTo>
                  <a:lnTo>
                    <a:pt x="479041" y="239520"/>
                  </a:lnTo>
                  <a:lnTo>
                    <a:pt x="474175" y="191249"/>
                  </a:lnTo>
                  <a:lnTo>
                    <a:pt x="460218" y="146288"/>
                  </a:lnTo>
                  <a:lnTo>
                    <a:pt x="438135" y="105602"/>
                  </a:lnTo>
                  <a:lnTo>
                    <a:pt x="408887" y="70154"/>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2" name="object 31"/>
            <p:cNvSpPr/>
            <p:nvPr/>
          </p:nvSpPr>
          <p:spPr>
            <a:xfrm>
              <a:off x="2511747" y="4768850"/>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1"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3" name="object 32"/>
            <p:cNvSpPr txBox="1"/>
            <p:nvPr/>
          </p:nvSpPr>
          <p:spPr>
            <a:xfrm>
              <a:off x="2678103" y="48432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7</a:t>
              </a:r>
              <a:endParaRPr sz="2000">
                <a:latin typeface="Times New Roman" panose="02020603050405020304"/>
                <a:cs typeface="Times New Roman" panose="02020603050405020304"/>
              </a:endParaRPr>
            </a:p>
          </p:txBody>
        </p:sp>
        <p:sp>
          <p:nvSpPr>
            <p:cNvPr id="34" name="object 33"/>
            <p:cNvSpPr/>
            <p:nvPr/>
          </p:nvSpPr>
          <p:spPr>
            <a:xfrm>
              <a:off x="4169079" y="4757949"/>
              <a:ext cx="479425" cy="479425"/>
            </a:xfrm>
            <a:custGeom>
              <a:avLst/>
              <a:gdLst/>
              <a:ahLst/>
              <a:cxnLst/>
              <a:rect l="l" t="t" r="r" b="b"/>
              <a:pathLst>
                <a:path w="479425" h="479425">
                  <a:moveTo>
                    <a:pt x="239520" y="0"/>
                  </a:moveTo>
                  <a:lnTo>
                    <a:pt x="191249" y="4866"/>
                  </a:lnTo>
                  <a:lnTo>
                    <a:pt x="146288" y="18822"/>
                  </a:lnTo>
                  <a:lnTo>
                    <a:pt x="105602" y="40906"/>
                  </a:lnTo>
                  <a:lnTo>
                    <a:pt x="70154" y="70153"/>
                  </a:lnTo>
                  <a:lnTo>
                    <a:pt x="40906" y="105602"/>
                  </a:lnTo>
                  <a:lnTo>
                    <a:pt x="18822" y="146288"/>
                  </a:lnTo>
                  <a:lnTo>
                    <a:pt x="4866" y="191248"/>
                  </a:lnTo>
                  <a:lnTo>
                    <a:pt x="0" y="239520"/>
                  </a:lnTo>
                  <a:lnTo>
                    <a:pt x="4866" y="287792"/>
                  </a:lnTo>
                  <a:lnTo>
                    <a:pt x="18822" y="332752"/>
                  </a:lnTo>
                  <a:lnTo>
                    <a:pt x="40906" y="373438"/>
                  </a:lnTo>
                  <a:lnTo>
                    <a:pt x="70154" y="408887"/>
                  </a:lnTo>
                  <a:lnTo>
                    <a:pt x="105602" y="438134"/>
                  </a:lnTo>
                  <a:lnTo>
                    <a:pt x="146288" y="460218"/>
                  </a:lnTo>
                  <a:lnTo>
                    <a:pt x="191249" y="474175"/>
                  </a:lnTo>
                  <a:lnTo>
                    <a:pt x="239520" y="479041"/>
                  </a:lnTo>
                  <a:lnTo>
                    <a:pt x="287792" y="474175"/>
                  </a:lnTo>
                  <a:lnTo>
                    <a:pt x="332753" y="460218"/>
                  </a:lnTo>
                  <a:lnTo>
                    <a:pt x="373439" y="438134"/>
                  </a:lnTo>
                  <a:lnTo>
                    <a:pt x="408887" y="408887"/>
                  </a:lnTo>
                  <a:lnTo>
                    <a:pt x="438135" y="373438"/>
                  </a:lnTo>
                  <a:lnTo>
                    <a:pt x="460218" y="332752"/>
                  </a:lnTo>
                  <a:lnTo>
                    <a:pt x="474175" y="287792"/>
                  </a:lnTo>
                  <a:lnTo>
                    <a:pt x="479041" y="239520"/>
                  </a:lnTo>
                  <a:lnTo>
                    <a:pt x="474175" y="191248"/>
                  </a:lnTo>
                  <a:lnTo>
                    <a:pt x="460218" y="146288"/>
                  </a:lnTo>
                  <a:lnTo>
                    <a:pt x="438135" y="105602"/>
                  </a:lnTo>
                  <a:lnTo>
                    <a:pt x="408887" y="70153"/>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5" name="object 34"/>
            <p:cNvSpPr/>
            <p:nvPr/>
          </p:nvSpPr>
          <p:spPr>
            <a:xfrm>
              <a:off x="4169079" y="4757949"/>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6" name="object 35"/>
            <p:cNvSpPr txBox="1"/>
            <p:nvPr/>
          </p:nvSpPr>
          <p:spPr>
            <a:xfrm>
              <a:off x="4335435" y="48323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8</a:t>
              </a:r>
              <a:endParaRPr sz="2000">
                <a:latin typeface="Times New Roman" panose="02020603050405020304"/>
                <a:cs typeface="Times New Roman" panose="02020603050405020304"/>
              </a:endParaRPr>
            </a:p>
          </p:txBody>
        </p:sp>
        <p:sp>
          <p:nvSpPr>
            <p:cNvPr id="37" name="object 36"/>
            <p:cNvSpPr/>
            <p:nvPr/>
          </p:nvSpPr>
          <p:spPr>
            <a:xfrm>
              <a:off x="3538718" y="1750235"/>
              <a:ext cx="1314450" cy="2490470"/>
            </a:xfrm>
            <a:custGeom>
              <a:avLst/>
              <a:gdLst/>
              <a:ahLst/>
              <a:cxnLst/>
              <a:rect l="l" t="t" r="r" b="b"/>
              <a:pathLst>
                <a:path w="1314450" h="2490470">
                  <a:moveTo>
                    <a:pt x="1314308" y="0"/>
                  </a:moveTo>
                  <a:lnTo>
                    <a:pt x="0" y="0"/>
                  </a:lnTo>
                  <a:lnTo>
                    <a:pt x="0" y="2489880"/>
                  </a:lnTo>
                </a:path>
              </a:pathLst>
            </a:custGeom>
            <a:ln w="9524">
              <a:solidFill>
                <a:srgbClr val="000000"/>
              </a:solidFill>
            </a:ln>
          </p:spPr>
          <p:txBody>
            <a:bodyPr wrap="square" lIns="0" tIns="0" rIns="0" bIns="0" rtlCol="0"/>
            <a:lstStyle/>
            <a:p>
              <a:endParaRPr/>
            </a:p>
          </p:txBody>
        </p:sp>
        <p:sp>
          <p:nvSpPr>
            <p:cNvPr id="38" name="object 37"/>
            <p:cNvSpPr/>
            <p:nvPr/>
          </p:nvSpPr>
          <p:spPr>
            <a:xfrm>
              <a:off x="3479764" y="4149412"/>
              <a:ext cx="117908" cy="115909"/>
            </a:xfrm>
            <a:prstGeom prst="rect">
              <a:avLst/>
            </a:prstGeom>
            <a:blipFill>
              <a:blip r:embed="rId8" cstate="print"/>
              <a:stretch>
                <a:fillRect/>
              </a:stretch>
            </a:blipFill>
          </p:spPr>
          <p:txBody>
            <a:bodyPr wrap="square" lIns="0" tIns="0" rIns="0" bIns="0" rtlCol="0"/>
            <a:lstStyle/>
            <a:p>
              <a:endParaRPr/>
            </a:p>
          </p:txBody>
        </p:sp>
        <p:sp>
          <p:nvSpPr>
            <p:cNvPr id="39" name="object 38"/>
            <p:cNvSpPr/>
            <p:nvPr/>
          </p:nvSpPr>
          <p:spPr>
            <a:xfrm>
              <a:off x="5376038" y="1750235"/>
              <a:ext cx="2875915" cy="2520315"/>
            </a:xfrm>
            <a:custGeom>
              <a:avLst/>
              <a:gdLst/>
              <a:ahLst/>
              <a:cxnLst/>
              <a:rect l="l" t="t" r="r" b="b"/>
              <a:pathLst>
                <a:path w="2875915" h="2520315">
                  <a:moveTo>
                    <a:pt x="0" y="2232634"/>
                  </a:moveTo>
                  <a:lnTo>
                    <a:pt x="0" y="2519907"/>
                  </a:lnTo>
                  <a:lnTo>
                    <a:pt x="2875479" y="2519907"/>
                  </a:lnTo>
                  <a:lnTo>
                    <a:pt x="2875479" y="0"/>
                  </a:lnTo>
                  <a:lnTo>
                    <a:pt x="467151" y="0"/>
                  </a:lnTo>
                </a:path>
              </a:pathLst>
            </a:custGeom>
            <a:ln w="9524">
              <a:solidFill>
                <a:srgbClr val="000000"/>
              </a:solidFill>
            </a:ln>
          </p:spPr>
          <p:txBody>
            <a:bodyPr wrap="square" lIns="0" tIns="0" rIns="0" bIns="0" rtlCol="0"/>
            <a:lstStyle/>
            <a:p>
              <a:endParaRPr/>
            </a:p>
          </p:txBody>
        </p:sp>
        <p:sp>
          <p:nvSpPr>
            <p:cNvPr id="40" name="object 39"/>
            <p:cNvSpPr/>
            <p:nvPr/>
          </p:nvSpPr>
          <p:spPr>
            <a:xfrm>
              <a:off x="5817985" y="1691281"/>
              <a:ext cx="115909" cy="117908"/>
            </a:xfrm>
            <a:prstGeom prst="rect">
              <a:avLst/>
            </a:prstGeom>
            <a:blipFill>
              <a:blip r:embed="rId9" cstate="print"/>
              <a:stretch>
                <a:fillRect/>
              </a:stretch>
            </a:blipFill>
          </p:spPr>
          <p:txBody>
            <a:bodyPr wrap="square" lIns="0" tIns="0" rIns="0" bIns="0" rtlCol="0"/>
            <a:lstStyle/>
            <a:p>
              <a:endParaRPr/>
            </a:p>
          </p:txBody>
        </p:sp>
        <p:sp>
          <p:nvSpPr>
            <p:cNvPr id="41" name="object 40"/>
            <p:cNvSpPr/>
            <p:nvPr/>
          </p:nvSpPr>
          <p:spPr>
            <a:xfrm>
              <a:off x="2751269" y="4518790"/>
              <a:ext cx="305435" cy="225425"/>
            </a:xfrm>
            <a:custGeom>
              <a:avLst/>
              <a:gdLst/>
              <a:ahLst/>
              <a:cxnLst/>
              <a:rect l="l" t="t" r="r" b="b"/>
              <a:pathLst>
                <a:path w="305435" h="225425">
                  <a:moveTo>
                    <a:pt x="304967" y="0"/>
                  </a:moveTo>
                  <a:lnTo>
                    <a:pt x="0" y="0"/>
                  </a:lnTo>
                  <a:lnTo>
                    <a:pt x="0" y="224855"/>
                  </a:lnTo>
                </a:path>
              </a:pathLst>
            </a:custGeom>
            <a:ln w="9524">
              <a:solidFill>
                <a:srgbClr val="000000"/>
              </a:solidFill>
            </a:ln>
          </p:spPr>
          <p:txBody>
            <a:bodyPr wrap="square" lIns="0" tIns="0" rIns="0" bIns="0" rtlCol="0"/>
            <a:lstStyle/>
            <a:p>
              <a:endParaRPr/>
            </a:p>
          </p:txBody>
        </p:sp>
        <p:sp>
          <p:nvSpPr>
            <p:cNvPr id="42" name="object 41"/>
            <p:cNvSpPr/>
            <p:nvPr/>
          </p:nvSpPr>
          <p:spPr>
            <a:xfrm>
              <a:off x="2692314" y="4652940"/>
              <a:ext cx="117908" cy="115909"/>
            </a:xfrm>
            <a:prstGeom prst="rect">
              <a:avLst/>
            </a:prstGeom>
            <a:blipFill>
              <a:blip r:embed="rId5" cstate="print"/>
              <a:stretch>
                <a:fillRect/>
              </a:stretch>
            </a:blipFill>
          </p:spPr>
          <p:txBody>
            <a:bodyPr wrap="square" lIns="0" tIns="0" rIns="0" bIns="0" rtlCol="0"/>
            <a:lstStyle/>
            <a:p>
              <a:endParaRPr/>
            </a:p>
          </p:txBody>
        </p:sp>
        <p:sp>
          <p:nvSpPr>
            <p:cNvPr id="43" name="object 42"/>
            <p:cNvSpPr/>
            <p:nvPr/>
          </p:nvSpPr>
          <p:spPr>
            <a:xfrm>
              <a:off x="4021197" y="4518790"/>
              <a:ext cx="387350" cy="213995"/>
            </a:xfrm>
            <a:custGeom>
              <a:avLst/>
              <a:gdLst/>
              <a:ahLst/>
              <a:cxnLst/>
              <a:rect l="l" t="t" r="r" b="b"/>
              <a:pathLst>
                <a:path w="387350" h="213995">
                  <a:moveTo>
                    <a:pt x="0" y="0"/>
                  </a:moveTo>
                  <a:lnTo>
                    <a:pt x="387349" y="0"/>
                  </a:lnTo>
                  <a:lnTo>
                    <a:pt x="387349" y="213713"/>
                  </a:lnTo>
                </a:path>
              </a:pathLst>
            </a:custGeom>
            <a:ln w="9524">
              <a:solidFill>
                <a:srgbClr val="000000"/>
              </a:solidFill>
            </a:ln>
          </p:spPr>
          <p:txBody>
            <a:bodyPr wrap="square" lIns="0" tIns="0" rIns="0" bIns="0" rtlCol="0"/>
            <a:lstStyle/>
            <a:p>
              <a:endParaRPr/>
            </a:p>
          </p:txBody>
        </p:sp>
        <p:sp>
          <p:nvSpPr>
            <p:cNvPr id="44" name="object 43"/>
            <p:cNvSpPr/>
            <p:nvPr/>
          </p:nvSpPr>
          <p:spPr>
            <a:xfrm>
              <a:off x="4349593" y="4641800"/>
              <a:ext cx="117908" cy="115909"/>
            </a:xfrm>
            <a:prstGeom prst="rect">
              <a:avLst/>
            </a:prstGeom>
            <a:blipFill>
              <a:blip r:embed="rId10" cstate="print"/>
              <a:stretch>
                <a:fillRect/>
              </a:stretch>
            </a:blipFill>
          </p:spPr>
          <p:txBody>
            <a:bodyPr wrap="square" lIns="0" tIns="0" rIns="0" bIns="0" rtlCol="0"/>
            <a:lstStyle/>
            <a:p>
              <a:endParaRPr/>
            </a:p>
          </p:txBody>
        </p:sp>
        <p:sp>
          <p:nvSpPr>
            <p:cNvPr id="45" name="object 44"/>
            <p:cNvSpPr txBox="1"/>
            <p:nvPr/>
          </p:nvSpPr>
          <p:spPr>
            <a:xfrm>
              <a:off x="5076906" y="2067286"/>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6" name="object 45"/>
            <p:cNvSpPr txBox="1"/>
            <p:nvPr/>
          </p:nvSpPr>
          <p:spPr>
            <a:xfrm>
              <a:off x="4656034" y="1430605"/>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7" name="object 46"/>
            <p:cNvSpPr txBox="1"/>
            <p:nvPr/>
          </p:nvSpPr>
          <p:spPr>
            <a:xfrm>
              <a:off x="4591156" y="2748124"/>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8" name="object 47"/>
            <p:cNvSpPr txBox="1"/>
            <p:nvPr/>
          </p:nvSpPr>
          <p:spPr>
            <a:xfrm>
              <a:off x="5867955" y="2747578"/>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9" name="object 48"/>
            <p:cNvSpPr txBox="1"/>
            <p:nvPr/>
          </p:nvSpPr>
          <p:spPr>
            <a:xfrm>
              <a:off x="2898480" y="4271123"/>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50" name="object 49"/>
            <p:cNvSpPr txBox="1"/>
            <p:nvPr/>
          </p:nvSpPr>
          <p:spPr>
            <a:xfrm>
              <a:off x="4010639" y="4271123"/>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51" name="object 51"/>
            <p:cNvSpPr txBox="1"/>
            <p:nvPr/>
          </p:nvSpPr>
          <p:spPr>
            <a:xfrm>
              <a:off x="949546" y="1781985"/>
              <a:ext cx="240982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a:t>
              </a:r>
              <a:r>
                <a:rPr sz="2000" dirty="0">
                  <a:latin typeface="Times New Roman" panose="02020603050405020304"/>
                  <a:cs typeface="Times New Roman" panose="02020603050405020304"/>
                </a:rPr>
                <a:t>be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empty</a:t>
              </a:r>
              <a:endParaRPr sz="2000">
                <a:latin typeface="Times New Roman" panose="02020603050405020304"/>
                <a:cs typeface="Times New Roman" panose="02020603050405020304"/>
              </a:endParaRPr>
            </a:p>
          </p:txBody>
        </p:sp>
        <p:sp>
          <p:nvSpPr>
            <p:cNvPr id="52" name="object 52"/>
            <p:cNvSpPr txBox="1"/>
            <p:nvPr/>
          </p:nvSpPr>
          <p:spPr>
            <a:xfrm>
              <a:off x="5434238" y="2035073"/>
              <a:ext cx="40386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contain at least </a:t>
              </a:r>
              <a:r>
                <a:rPr sz="2000" dirty="0">
                  <a:latin typeface="Times New Roman" panose="02020603050405020304"/>
                  <a:cs typeface="Times New Roman" panose="02020603050405020304"/>
                </a:rPr>
                <a:t>one</a:t>
              </a:r>
              <a:r>
                <a:rPr sz="2000" spc="-2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value</a:t>
              </a:r>
              <a:endParaRPr sz="2000">
                <a:latin typeface="Times New Roman" panose="02020603050405020304"/>
                <a:cs typeface="Times New Roman" panose="02020603050405020304"/>
              </a:endParaRPr>
            </a:p>
          </p:txBody>
        </p:sp>
        <p:sp>
          <p:nvSpPr>
            <p:cNvPr id="53" name="object 53"/>
            <p:cNvSpPr txBox="1"/>
            <p:nvPr/>
          </p:nvSpPr>
          <p:spPr>
            <a:xfrm>
              <a:off x="2740874" y="2658597"/>
              <a:ext cx="144335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Positive</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4" name="object 54"/>
            <p:cNvSpPr txBox="1"/>
            <p:nvPr/>
          </p:nvSpPr>
          <p:spPr>
            <a:xfrm>
              <a:off x="6480600" y="2674439"/>
              <a:ext cx="15417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Negative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5" name="object 55"/>
            <p:cNvSpPr txBox="1"/>
            <p:nvPr/>
          </p:nvSpPr>
          <p:spPr>
            <a:xfrm>
              <a:off x="907522" y="4466846"/>
              <a:ext cx="173101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&gt;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6" name="object 56"/>
            <p:cNvSpPr txBox="1"/>
            <p:nvPr/>
          </p:nvSpPr>
          <p:spPr>
            <a:xfrm>
              <a:off x="4495515" y="4454173"/>
              <a:ext cx="187452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&lt;=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7" name="object 57"/>
            <p:cNvSpPr/>
            <p:nvPr/>
          </p:nvSpPr>
          <p:spPr>
            <a:xfrm>
              <a:off x="3273341" y="5803386"/>
              <a:ext cx="479425" cy="479425"/>
            </a:xfrm>
            <a:custGeom>
              <a:avLst/>
              <a:gdLst/>
              <a:ahLst/>
              <a:cxnLst/>
              <a:rect l="l" t="t" r="r" b="b"/>
              <a:pathLst>
                <a:path w="479425" h="479425">
                  <a:moveTo>
                    <a:pt x="239522" y="0"/>
                  </a:moveTo>
                  <a:lnTo>
                    <a:pt x="191249" y="4866"/>
                  </a:lnTo>
                  <a:lnTo>
                    <a:pt x="146289"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9" y="460219"/>
                  </a:lnTo>
                  <a:lnTo>
                    <a:pt x="191249" y="474175"/>
                  </a:lnTo>
                  <a:lnTo>
                    <a:pt x="239522" y="479041"/>
                  </a:lnTo>
                  <a:lnTo>
                    <a:pt x="287793" y="474175"/>
                  </a:lnTo>
                  <a:lnTo>
                    <a:pt x="332754" y="460219"/>
                  </a:lnTo>
                  <a:lnTo>
                    <a:pt x="373440" y="438135"/>
                  </a:lnTo>
                  <a:lnTo>
                    <a:pt x="408888" y="408887"/>
                  </a:lnTo>
                  <a:lnTo>
                    <a:pt x="438136" y="373439"/>
                  </a:lnTo>
                  <a:lnTo>
                    <a:pt x="460219" y="332753"/>
                  </a:lnTo>
                  <a:lnTo>
                    <a:pt x="474176" y="287792"/>
                  </a:lnTo>
                  <a:lnTo>
                    <a:pt x="479042" y="239520"/>
                  </a:lnTo>
                  <a:lnTo>
                    <a:pt x="474176" y="191249"/>
                  </a:lnTo>
                  <a:lnTo>
                    <a:pt x="460219" y="146288"/>
                  </a:lnTo>
                  <a:lnTo>
                    <a:pt x="438136" y="105602"/>
                  </a:lnTo>
                  <a:lnTo>
                    <a:pt x="408888" y="70154"/>
                  </a:lnTo>
                  <a:lnTo>
                    <a:pt x="373440" y="40906"/>
                  </a:lnTo>
                  <a:lnTo>
                    <a:pt x="332754" y="18822"/>
                  </a:lnTo>
                  <a:lnTo>
                    <a:pt x="287793" y="4866"/>
                  </a:lnTo>
                  <a:lnTo>
                    <a:pt x="239522" y="0"/>
                  </a:lnTo>
                  <a:close/>
                </a:path>
              </a:pathLst>
            </a:custGeom>
            <a:solidFill>
              <a:srgbClr val="A8D5D6"/>
            </a:solidFill>
          </p:spPr>
          <p:txBody>
            <a:bodyPr wrap="square" lIns="0" tIns="0" rIns="0" bIns="0" rtlCol="0"/>
            <a:lstStyle/>
            <a:p>
              <a:endParaRPr/>
            </a:p>
          </p:txBody>
        </p:sp>
        <p:sp>
          <p:nvSpPr>
            <p:cNvPr id="58" name="object 58"/>
            <p:cNvSpPr/>
            <p:nvPr/>
          </p:nvSpPr>
          <p:spPr>
            <a:xfrm>
              <a:off x="3273341" y="5803386"/>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59" name="object 59"/>
            <p:cNvSpPr txBox="1"/>
            <p:nvPr/>
          </p:nvSpPr>
          <p:spPr>
            <a:xfrm>
              <a:off x="3439539" y="5877806"/>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9</a:t>
              </a:r>
              <a:endParaRPr sz="2000">
                <a:latin typeface="Times New Roman" panose="02020603050405020304"/>
                <a:cs typeface="Times New Roman" panose="02020603050405020304"/>
              </a:endParaRPr>
            </a:p>
          </p:txBody>
        </p:sp>
        <p:sp>
          <p:nvSpPr>
            <p:cNvPr id="60" name="object 60"/>
            <p:cNvSpPr/>
            <p:nvPr/>
          </p:nvSpPr>
          <p:spPr>
            <a:xfrm>
              <a:off x="2751266" y="5236990"/>
              <a:ext cx="1657350" cy="213995"/>
            </a:xfrm>
            <a:custGeom>
              <a:avLst/>
              <a:gdLst/>
              <a:ahLst/>
              <a:cxnLst/>
              <a:rect l="l" t="t" r="r" b="b"/>
              <a:pathLst>
                <a:path w="1657350" h="213995">
                  <a:moveTo>
                    <a:pt x="0" y="10901"/>
                  </a:moveTo>
                  <a:lnTo>
                    <a:pt x="0" y="213704"/>
                  </a:lnTo>
                  <a:lnTo>
                    <a:pt x="1657331" y="213704"/>
                  </a:lnTo>
                  <a:lnTo>
                    <a:pt x="1657331" y="0"/>
                  </a:lnTo>
                </a:path>
              </a:pathLst>
            </a:custGeom>
            <a:ln w="9524">
              <a:solidFill>
                <a:srgbClr val="000000"/>
              </a:solidFill>
            </a:ln>
          </p:spPr>
          <p:txBody>
            <a:bodyPr wrap="square" lIns="0" tIns="0" rIns="0" bIns="0" rtlCol="0"/>
            <a:lstStyle/>
            <a:p>
              <a:endParaRPr/>
            </a:p>
          </p:txBody>
        </p:sp>
        <p:sp>
          <p:nvSpPr>
            <p:cNvPr id="61" name="object 61"/>
            <p:cNvSpPr/>
            <p:nvPr/>
          </p:nvSpPr>
          <p:spPr>
            <a:xfrm>
              <a:off x="3500691" y="5445146"/>
              <a:ext cx="0" cy="333375"/>
            </a:xfrm>
            <a:custGeom>
              <a:avLst/>
              <a:gdLst/>
              <a:ahLst/>
              <a:cxnLst/>
              <a:rect l="l" t="t" r="r" b="b"/>
              <a:pathLst>
                <a:path h="333375">
                  <a:moveTo>
                    <a:pt x="0" y="0"/>
                  </a:moveTo>
                  <a:lnTo>
                    <a:pt x="0" y="332776"/>
                  </a:lnTo>
                </a:path>
              </a:pathLst>
            </a:custGeom>
            <a:ln w="9524">
              <a:solidFill>
                <a:srgbClr val="000000"/>
              </a:solidFill>
            </a:ln>
          </p:spPr>
          <p:txBody>
            <a:bodyPr wrap="square" lIns="0" tIns="0" rIns="0" bIns="0" rtlCol="0"/>
            <a:lstStyle/>
            <a:p>
              <a:endParaRPr/>
            </a:p>
          </p:txBody>
        </p:sp>
        <p:sp>
          <p:nvSpPr>
            <p:cNvPr id="62" name="object 62"/>
            <p:cNvSpPr/>
            <p:nvPr/>
          </p:nvSpPr>
          <p:spPr>
            <a:xfrm>
              <a:off x="3441736" y="5687219"/>
              <a:ext cx="117908" cy="115908"/>
            </a:xfrm>
            <a:prstGeom prst="rect">
              <a:avLst/>
            </a:prstGeom>
            <a:blipFill>
              <a:blip r:embed="rId8" cstate="print"/>
              <a:stretch>
                <a:fillRect/>
              </a:stretch>
            </a:blipFill>
          </p:spPr>
          <p:txBody>
            <a:bodyPr wrap="square" lIns="0" tIns="0" rIns="0" bIns="0" rtlCol="0"/>
            <a:lstStyle/>
            <a:p>
              <a:endParaRPr/>
            </a:p>
          </p:txBody>
        </p:sp>
        <p:sp>
          <p:nvSpPr>
            <p:cNvPr id="63" name="object 63"/>
            <p:cNvSpPr txBox="1"/>
            <p:nvPr/>
          </p:nvSpPr>
          <p:spPr>
            <a:xfrm>
              <a:off x="3294639" y="4953754"/>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1</a:t>
              </a:r>
              <a:endParaRPr sz="1800">
                <a:latin typeface="Arial" panose="020B0604020202020204"/>
                <a:cs typeface="Arial" panose="020B0604020202020204"/>
              </a:endParaRPr>
            </a:p>
          </p:txBody>
        </p:sp>
        <p:sp>
          <p:nvSpPr>
            <p:cNvPr id="64" name="object 64"/>
            <p:cNvSpPr txBox="1"/>
            <p:nvPr/>
          </p:nvSpPr>
          <p:spPr>
            <a:xfrm>
              <a:off x="5021839" y="3108021"/>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2</a:t>
              </a:r>
              <a:endParaRPr sz="1800">
                <a:latin typeface="Arial" panose="020B0604020202020204"/>
                <a:cs typeface="Arial" panose="020B0604020202020204"/>
              </a:endParaRPr>
            </a:p>
          </p:txBody>
        </p:sp>
        <p:sp>
          <p:nvSpPr>
            <p:cNvPr id="65" name="object 65"/>
            <p:cNvSpPr txBox="1"/>
            <p:nvPr/>
          </p:nvSpPr>
          <p:spPr>
            <a:xfrm>
              <a:off x="7003039" y="3446687"/>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3</a:t>
              </a:r>
              <a:endParaRPr sz="1800">
                <a:latin typeface="Arial" panose="020B0604020202020204"/>
                <a:cs typeface="Arial" panose="020B0604020202020204"/>
              </a:endParaRPr>
            </a:p>
          </p:txBody>
        </p:sp>
        <p:sp>
          <p:nvSpPr>
            <p:cNvPr id="66" name="object 66"/>
            <p:cNvSpPr txBox="1"/>
            <p:nvPr/>
          </p:nvSpPr>
          <p:spPr>
            <a:xfrm>
              <a:off x="1381173" y="2989488"/>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4</a:t>
              </a:r>
              <a:endParaRPr sz="1800">
                <a:latin typeface="Arial" panose="020B0604020202020204"/>
                <a:cs typeface="Arial" panose="020B0604020202020204"/>
              </a:endParaRPr>
            </a:p>
          </p:txBody>
        </p:sp>
        <p:sp>
          <p:nvSpPr>
            <p:cNvPr id="67" name="object 67"/>
            <p:cNvSpPr txBox="1"/>
            <p:nvPr/>
          </p:nvSpPr>
          <p:spPr>
            <a:xfrm>
              <a:off x="6974362" y="4958729"/>
              <a:ext cx="4171950" cy="1235075"/>
            </a:xfrm>
            <a:prstGeom prst="rect">
              <a:avLst/>
            </a:prstGeom>
          </p:spPr>
          <p:txBody>
            <a:bodyPr vert="horz" wrap="square" lIns="0" tIns="109220" rIns="0" bIns="0" rtlCol="0">
              <a:spAutoFit/>
            </a:bodyPr>
            <a:lstStyle/>
            <a:p>
              <a:pPr marL="12700">
                <a:lnSpc>
                  <a:spcPct val="100000"/>
                </a:lnSpc>
                <a:spcBef>
                  <a:spcPts val="860"/>
                </a:spcBef>
              </a:pPr>
              <a:r>
                <a:rPr sz="3000" spc="-7" baseline="1000" dirty="0">
                  <a:latin typeface="Arial" panose="020B0604020202020204"/>
                  <a:cs typeface="Arial" panose="020B0604020202020204"/>
                </a:rPr>
                <a:t>V(G) </a:t>
              </a:r>
              <a:r>
                <a:rPr sz="3000" baseline="1000" dirty="0">
                  <a:latin typeface="微软雅黑" panose="020B0503020204020204" pitchFamily="34" charset="-122"/>
                  <a:cs typeface="微软雅黑" panose="020B0503020204020204" pitchFamily="34" charset="-122"/>
                </a:rPr>
                <a:t>＝</a:t>
              </a:r>
              <a:r>
                <a:rPr sz="3000" spc="-7" baseline="1000" dirty="0">
                  <a:latin typeface="微软雅黑" panose="020B0503020204020204" pitchFamily="34" charset="-122"/>
                  <a:cs typeface="微软雅黑" panose="020B0503020204020204" pitchFamily="34" charset="-122"/>
                </a:rPr>
                <a:t> </a:t>
              </a:r>
              <a:r>
                <a:rPr sz="3000" baseline="1000" dirty="0">
                  <a:latin typeface="微软雅黑" panose="020B0503020204020204" pitchFamily="34" charset="-122"/>
                  <a:cs typeface="微软雅黑" panose="020B0503020204020204" pitchFamily="34" charset="-122"/>
                </a:rPr>
                <a:t>区域数</a:t>
              </a:r>
              <a:r>
                <a:rPr sz="3000" spc="-352" baseline="1000" dirty="0">
                  <a:latin typeface="微软雅黑" panose="020B0503020204020204" pitchFamily="34" charset="-122"/>
                  <a:cs typeface="微软雅黑" panose="020B0503020204020204" pitchFamily="34" charset="-122"/>
                </a:rPr>
                <a:t>目</a:t>
              </a:r>
              <a:r>
                <a:rPr sz="2000" dirty="0">
                  <a:solidFill>
                    <a:srgbClr val="0033CC"/>
                  </a:solidFill>
                  <a:latin typeface="微软雅黑" panose="020B0503020204020204" pitchFamily="34" charset="-122"/>
                  <a:cs typeface="微软雅黑" panose="020B0503020204020204" pitchFamily="34" charset="-122"/>
                </a:rPr>
                <a:t>＝</a:t>
              </a:r>
              <a:r>
                <a:rPr sz="2000" dirty="0">
                  <a:solidFill>
                    <a:srgbClr val="0033CC"/>
                  </a:solidFill>
                  <a:latin typeface="Arial" panose="020B0604020202020204"/>
                  <a:cs typeface="Arial" panose="020B0604020202020204"/>
                </a:rPr>
                <a:t>4</a:t>
              </a:r>
              <a:endParaRPr sz="2000">
                <a:latin typeface="Arial" panose="020B0604020202020204"/>
                <a:cs typeface="Arial" panose="020B0604020202020204"/>
              </a:endParaRPr>
            </a:p>
            <a:p>
              <a:pPr marL="12700" marR="5080">
                <a:lnSpc>
                  <a:spcPts val="3200"/>
                </a:lnSpc>
                <a:spcBef>
                  <a:spcPts val="200"/>
                </a:spcBef>
              </a:pPr>
              <a:r>
                <a:rPr sz="2000" spc="-5" dirty="0">
                  <a:latin typeface="Arial" panose="020B0604020202020204"/>
                  <a:cs typeface="Arial" panose="020B0604020202020204"/>
                </a:rPr>
                <a:t>V(G)</a:t>
              </a:r>
              <a:r>
                <a:rPr sz="2000" spc="-4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r>
                <a:rPr sz="2000" spc="-40" dirty="0">
                  <a:latin typeface="微软雅黑" panose="020B0503020204020204" pitchFamily="34" charset="-122"/>
                  <a:cs typeface="微软雅黑" panose="020B0503020204020204" pitchFamily="34" charset="-122"/>
                </a:rPr>
                <a:t> </a:t>
              </a:r>
              <a:r>
                <a:rPr sz="2000" dirty="0">
                  <a:latin typeface="微软雅黑" panose="020B0503020204020204" pitchFamily="34" charset="-122"/>
                  <a:cs typeface="微软雅黑" panose="020B0503020204020204" pitchFamily="34" charset="-122"/>
                </a:rPr>
                <a:t>边数</a:t>
              </a:r>
              <a:r>
                <a:rPr sz="2000" spc="-5" dirty="0">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节点数</a:t>
              </a:r>
              <a:r>
                <a:rPr sz="2000" spc="-10" dirty="0">
                  <a:latin typeface="微软雅黑" panose="020B0503020204020204" pitchFamily="34" charset="-122"/>
                  <a:cs typeface="微软雅黑" panose="020B0503020204020204" pitchFamily="34" charset="-122"/>
                </a:rPr>
                <a:t>＋</a:t>
              </a:r>
              <a:r>
                <a:rPr sz="2000" spc="-10" dirty="0">
                  <a:latin typeface="Arial" panose="020B0604020202020204"/>
                  <a:cs typeface="Arial" panose="020B0604020202020204"/>
                </a:rPr>
                <a:t>2</a:t>
              </a:r>
              <a:r>
                <a:rPr sz="3000" spc="-15" baseline="3000" dirty="0">
                  <a:solidFill>
                    <a:srgbClr val="0033CC"/>
                  </a:solidFill>
                  <a:latin typeface="微软雅黑" panose="020B0503020204020204" pitchFamily="34" charset="-122"/>
                  <a:cs typeface="微软雅黑" panose="020B0503020204020204" pitchFamily="34" charset="-122"/>
                </a:rPr>
                <a:t>＝</a:t>
              </a:r>
              <a:r>
                <a:rPr sz="3000" spc="-15" baseline="3000" dirty="0">
                  <a:solidFill>
                    <a:srgbClr val="0033CC"/>
                  </a:solidFill>
                  <a:latin typeface="Arial" panose="020B0604020202020204"/>
                  <a:cs typeface="Arial" panose="020B0604020202020204"/>
                </a:rPr>
                <a:t>11-9+2</a:t>
              </a:r>
              <a:r>
                <a:rPr sz="3000" spc="-15" baseline="3000" dirty="0">
                  <a:solidFill>
                    <a:srgbClr val="0033CC"/>
                  </a:solidFill>
                  <a:latin typeface="微软雅黑" panose="020B0503020204020204" pitchFamily="34" charset="-122"/>
                  <a:cs typeface="微软雅黑" panose="020B0503020204020204" pitchFamily="34" charset="-122"/>
                </a:rPr>
                <a:t>＝</a:t>
              </a:r>
              <a:r>
                <a:rPr sz="3000" spc="-15" baseline="3000" dirty="0">
                  <a:solidFill>
                    <a:srgbClr val="0033CC"/>
                  </a:solidFill>
                  <a:latin typeface="Arial" panose="020B0604020202020204"/>
                  <a:cs typeface="Arial" panose="020B0604020202020204"/>
                </a:rPr>
                <a:t>4  </a:t>
              </a:r>
              <a:r>
                <a:rPr sz="2000" spc="-5" dirty="0">
                  <a:latin typeface="Arial" panose="020B0604020202020204"/>
                  <a:cs typeface="Arial" panose="020B0604020202020204"/>
                </a:rPr>
                <a:t>V(G)</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r>
                <a:rPr sz="2000" spc="-10" dirty="0">
                  <a:latin typeface="微软雅黑" panose="020B0503020204020204" pitchFamily="34" charset="-122"/>
                  <a:cs typeface="微软雅黑" panose="020B0503020204020204" pitchFamily="34" charset="-122"/>
                </a:rPr>
                <a:t> </a:t>
              </a:r>
              <a:r>
                <a:rPr sz="2000" dirty="0">
                  <a:latin typeface="微软雅黑" panose="020B0503020204020204" pitchFamily="34" charset="-122"/>
                  <a:cs typeface="微软雅黑" panose="020B0503020204020204" pitchFamily="34" charset="-122"/>
                </a:rPr>
                <a:t>判断节点数</a:t>
              </a:r>
              <a:r>
                <a:rPr sz="2000" spc="-20" dirty="0">
                  <a:latin typeface="微软雅黑" panose="020B0503020204020204" pitchFamily="34" charset="-122"/>
                  <a:cs typeface="微软雅黑" panose="020B0503020204020204" pitchFamily="34" charset="-122"/>
                </a:rPr>
                <a:t>＋</a:t>
              </a:r>
              <a:r>
                <a:rPr sz="2000" spc="-20" dirty="0">
                  <a:latin typeface="Arial" panose="020B0604020202020204"/>
                  <a:cs typeface="Arial" panose="020B0604020202020204"/>
                </a:rPr>
                <a:t>1</a:t>
              </a:r>
              <a:r>
                <a:rPr sz="3000" spc="-30" baseline="3000" dirty="0">
                  <a:solidFill>
                    <a:srgbClr val="0033CC"/>
                  </a:solidFill>
                  <a:latin typeface="微软雅黑" panose="020B0503020204020204" pitchFamily="34" charset="-122"/>
                  <a:cs typeface="微软雅黑" panose="020B0503020204020204" pitchFamily="34" charset="-122"/>
                </a:rPr>
                <a:t>＝</a:t>
              </a:r>
              <a:r>
                <a:rPr sz="3000" spc="-30" baseline="3000" dirty="0">
                  <a:solidFill>
                    <a:srgbClr val="0033CC"/>
                  </a:solidFill>
                  <a:latin typeface="Arial" panose="020B0604020202020204"/>
                  <a:cs typeface="Arial" panose="020B0604020202020204"/>
                </a:rPr>
                <a:t>3+1</a:t>
              </a:r>
              <a:r>
                <a:rPr sz="3000" spc="-30" baseline="3000" dirty="0">
                  <a:solidFill>
                    <a:srgbClr val="0033CC"/>
                  </a:solidFill>
                  <a:latin typeface="微软雅黑" panose="020B0503020204020204" pitchFamily="34" charset="-122"/>
                  <a:cs typeface="微软雅黑" panose="020B0503020204020204" pitchFamily="34" charset="-122"/>
                </a:rPr>
                <a:t>＝</a:t>
              </a:r>
              <a:r>
                <a:rPr sz="3000" spc="-30" baseline="3000" dirty="0">
                  <a:solidFill>
                    <a:srgbClr val="0033CC"/>
                  </a:solidFill>
                  <a:latin typeface="Arial" panose="020B0604020202020204"/>
                  <a:cs typeface="Arial" panose="020B0604020202020204"/>
                </a:rPr>
                <a:t>4</a:t>
              </a:r>
              <a:endParaRPr sz="3000" baseline="3000">
                <a:latin typeface="Arial" panose="020B0604020202020204"/>
                <a:cs typeface="Arial" panose="020B0604020202020204"/>
              </a:endParaRPr>
            </a:p>
          </p:txBody>
        </p:sp>
        <p:sp>
          <p:nvSpPr>
            <p:cNvPr id="68" name="object 68"/>
            <p:cNvSpPr txBox="1"/>
            <p:nvPr/>
          </p:nvSpPr>
          <p:spPr>
            <a:xfrm>
              <a:off x="8771466" y="3472162"/>
              <a:ext cx="2421890" cy="626110"/>
            </a:xfrm>
            <a:prstGeom prst="rect">
              <a:avLst/>
            </a:prstGeom>
            <a:solidFill>
              <a:srgbClr val="797BA9"/>
            </a:solidFill>
          </p:spPr>
          <p:txBody>
            <a:bodyPr vert="horz" wrap="square" lIns="0" tIns="144780" rIns="0" bIns="0" rtlCol="0">
              <a:spAutoFit/>
            </a:bodyPr>
            <a:lstStyle/>
            <a:p>
              <a:pPr marL="294640">
                <a:lnSpc>
                  <a:spcPct val="100000"/>
                </a:lnSpc>
                <a:spcBef>
                  <a:spcPts val="1140"/>
                </a:spcBef>
              </a:pPr>
              <a:r>
                <a:rPr sz="2200" dirty="0">
                  <a:solidFill>
                    <a:srgbClr val="FFFFFF"/>
                  </a:solidFill>
                  <a:latin typeface="微软雅黑" panose="020B0503020204020204" pitchFamily="34" charset="-122"/>
                  <a:cs typeface="微软雅黑" panose="020B0503020204020204" pitchFamily="34" charset="-122"/>
                </a:rPr>
                <a:t>环路复杂性：</a:t>
              </a:r>
              <a:r>
                <a:rPr sz="2200" dirty="0">
                  <a:solidFill>
                    <a:srgbClr val="FFFFFF"/>
                  </a:solidFill>
                  <a:latin typeface="Arial" panose="020B0604020202020204"/>
                  <a:cs typeface="Arial" panose="020B0604020202020204"/>
                </a:rPr>
                <a:t>4</a:t>
              </a:r>
              <a:endParaRPr sz="2200">
                <a:latin typeface="Arial" panose="020B0604020202020204"/>
                <a:cs typeface="Arial" panose="020B0604020202020204"/>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106</a:t>
            </a:fld>
            <a:endParaRPr lang="zh-CN" altLang="en-US"/>
          </a:p>
        </p:txBody>
      </p:sp>
      <p:grpSp>
        <p:nvGrpSpPr>
          <p:cNvPr id="66" name="组合 65"/>
          <p:cNvGrpSpPr/>
          <p:nvPr/>
        </p:nvGrpSpPr>
        <p:grpSpPr>
          <a:xfrm>
            <a:off x="953083" y="573448"/>
            <a:ext cx="10285834" cy="5711104"/>
            <a:chOff x="907522" y="571707"/>
            <a:chExt cx="10285834" cy="5711104"/>
          </a:xfrm>
        </p:grpSpPr>
        <p:sp>
          <p:nvSpPr>
            <p:cNvPr id="3" name="object 2"/>
            <p:cNvSpPr/>
            <p:nvPr/>
          </p:nvSpPr>
          <p:spPr>
            <a:xfrm>
              <a:off x="5097265" y="571707"/>
              <a:ext cx="479425" cy="479425"/>
            </a:xfrm>
            <a:custGeom>
              <a:avLst/>
              <a:gdLst/>
              <a:ahLst/>
              <a:cxnLst/>
              <a:rect l="l" t="t" r="r" b="b"/>
              <a:pathLst>
                <a:path w="479425" h="479425">
                  <a:moveTo>
                    <a:pt x="239520" y="0"/>
                  </a:moveTo>
                  <a:lnTo>
                    <a:pt x="191248" y="4865"/>
                  </a:lnTo>
                  <a:lnTo>
                    <a:pt x="146288" y="18820"/>
                  </a:lnTo>
                  <a:lnTo>
                    <a:pt x="105602" y="40900"/>
                  </a:lnTo>
                  <a:lnTo>
                    <a:pt x="70153" y="70144"/>
                  </a:lnTo>
                  <a:lnTo>
                    <a:pt x="40906" y="105587"/>
                  </a:lnTo>
                  <a:lnTo>
                    <a:pt x="18822" y="146268"/>
                  </a:lnTo>
                  <a:lnTo>
                    <a:pt x="4866" y="191222"/>
                  </a:lnTo>
                  <a:lnTo>
                    <a:pt x="0" y="239487"/>
                  </a:lnTo>
                  <a:lnTo>
                    <a:pt x="4866" y="287752"/>
                  </a:lnTo>
                  <a:lnTo>
                    <a:pt x="18822" y="332707"/>
                  </a:lnTo>
                  <a:lnTo>
                    <a:pt x="40906" y="373387"/>
                  </a:lnTo>
                  <a:lnTo>
                    <a:pt x="70153" y="408831"/>
                  </a:lnTo>
                  <a:lnTo>
                    <a:pt x="105602" y="438074"/>
                  </a:lnTo>
                  <a:lnTo>
                    <a:pt x="146288" y="460155"/>
                  </a:lnTo>
                  <a:lnTo>
                    <a:pt x="191248" y="474109"/>
                  </a:lnTo>
                  <a:lnTo>
                    <a:pt x="239520" y="478975"/>
                  </a:lnTo>
                  <a:lnTo>
                    <a:pt x="287792" y="474109"/>
                  </a:lnTo>
                  <a:lnTo>
                    <a:pt x="332752" y="460155"/>
                  </a:lnTo>
                  <a:lnTo>
                    <a:pt x="373438" y="438074"/>
                  </a:lnTo>
                  <a:lnTo>
                    <a:pt x="408887" y="408831"/>
                  </a:lnTo>
                  <a:lnTo>
                    <a:pt x="438134" y="373387"/>
                  </a:lnTo>
                  <a:lnTo>
                    <a:pt x="460218" y="332707"/>
                  </a:lnTo>
                  <a:lnTo>
                    <a:pt x="474175" y="287752"/>
                  </a:lnTo>
                  <a:lnTo>
                    <a:pt x="479041" y="239487"/>
                  </a:lnTo>
                  <a:lnTo>
                    <a:pt x="474175" y="191222"/>
                  </a:lnTo>
                  <a:lnTo>
                    <a:pt x="460218" y="146268"/>
                  </a:lnTo>
                  <a:lnTo>
                    <a:pt x="438134" y="105587"/>
                  </a:lnTo>
                  <a:lnTo>
                    <a:pt x="408887" y="70144"/>
                  </a:lnTo>
                  <a:lnTo>
                    <a:pt x="373438" y="40900"/>
                  </a:lnTo>
                  <a:lnTo>
                    <a:pt x="332752" y="18820"/>
                  </a:lnTo>
                  <a:lnTo>
                    <a:pt x="287792" y="4865"/>
                  </a:lnTo>
                  <a:lnTo>
                    <a:pt x="239520" y="0"/>
                  </a:lnTo>
                  <a:close/>
                </a:path>
              </a:pathLst>
            </a:custGeom>
            <a:solidFill>
              <a:srgbClr val="A8D5D6"/>
            </a:solidFill>
          </p:spPr>
          <p:txBody>
            <a:bodyPr wrap="square" lIns="0" tIns="0" rIns="0" bIns="0" rtlCol="0"/>
            <a:lstStyle/>
            <a:p>
              <a:endParaRPr/>
            </a:p>
          </p:txBody>
        </p:sp>
        <p:sp>
          <p:nvSpPr>
            <p:cNvPr id="4" name="object 3"/>
            <p:cNvSpPr/>
            <p:nvPr/>
          </p:nvSpPr>
          <p:spPr>
            <a:xfrm>
              <a:off x="5097265" y="571707"/>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2"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5" name="object 4"/>
            <p:cNvSpPr txBox="1"/>
            <p:nvPr/>
          </p:nvSpPr>
          <p:spPr>
            <a:xfrm>
              <a:off x="5269971" y="66133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6" name="object 5"/>
            <p:cNvSpPr/>
            <p:nvPr/>
          </p:nvSpPr>
          <p:spPr>
            <a:xfrm>
              <a:off x="4853027" y="1496767"/>
              <a:ext cx="965200" cy="507365"/>
            </a:xfrm>
            <a:custGeom>
              <a:avLst/>
              <a:gdLst/>
              <a:ahLst/>
              <a:cxnLst/>
              <a:rect l="l" t="t" r="r" b="b"/>
              <a:pathLst>
                <a:path w="965200" h="507364">
                  <a:moveTo>
                    <a:pt x="482479" y="0"/>
                  </a:moveTo>
                  <a:lnTo>
                    <a:pt x="0" y="253467"/>
                  </a:lnTo>
                  <a:lnTo>
                    <a:pt x="482479" y="506935"/>
                  </a:lnTo>
                  <a:lnTo>
                    <a:pt x="964958" y="253467"/>
                  </a:lnTo>
                  <a:lnTo>
                    <a:pt x="482479" y="0"/>
                  </a:lnTo>
                  <a:close/>
                </a:path>
              </a:pathLst>
            </a:custGeom>
            <a:solidFill>
              <a:srgbClr val="FFACA9"/>
            </a:solidFill>
          </p:spPr>
          <p:txBody>
            <a:bodyPr wrap="square" lIns="0" tIns="0" rIns="0" bIns="0" rtlCol="0"/>
            <a:lstStyle/>
            <a:p>
              <a:endParaRPr/>
            </a:p>
          </p:txBody>
        </p:sp>
        <p:sp>
          <p:nvSpPr>
            <p:cNvPr id="7" name="object 6"/>
            <p:cNvSpPr/>
            <p:nvPr/>
          </p:nvSpPr>
          <p:spPr>
            <a:xfrm>
              <a:off x="4853027" y="1496767"/>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8" name="object 7"/>
            <p:cNvSpPr txBox="1"/>
            <p:nvPr/>
          </p:nvSpPr>
          <p:spPr>
            <a:xfrm>
              <a:off x="5268255" y="1600375"/>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9" name="object 8"/>
            <p:cNvSpPr/>
            <p:nvPr/>
          </p:nvSpPr>
          <p:spPr>
            <a:xfrm>
              <a:off x="4858479" y="2440890"/>
              <a:ext cx="965200" cy="507365"/>
            </a:xfrm>
            <a:custGeom>
              <a:avLst/>
              <a:gdLst/>
              <a:ahLst/>
              <a:cxnLst/>
              <a:rect l="l" t="t" r="r" b="b"/>
              <a:pathLst>
                <a:path w="965200" h="507364">
                  <a:moveTo>
                    <a:pt x="482480" y="0"/>
                  </a:moveTo>
                  <a:lnTo>
                    <a:pt x="0" y="253469"/>
                  </a:lnTo>
                  <a:lnTo>
                    <a:pt x="482480" y="506937"/>
                  </a:lnTo>
                  <a:lnTo>
                    <a:pt x="964959" y="253469"/>
                  </a:lnTo>
                  <a:lnTo>
                    <a:pt x="482480" y="0"/>
                  </a:lnTo>
                  <a:close/>
                </a:path>
              </a:pathLst>
            </a:custGeom>
            <a:solidFill>
              <a:srgbClr val="FFACA9"/>
            </a:solidFill>
          </p:spPr>
          <p:txBody>
            <a:bodyPr wrap="square" lIns="0" tIns="0" rIns="0" bIns="0" rtlCol="0"/>
            <a:lstStyle/>
            <a:p>
              <a:endParaRPr/>
            </a:p>
          </p:txBody>
        </p:sp>
        <p:sp>
          <p:nvSpPr>
            <p:cNvPr id="10" name="object 9"/>
            <p:cNvSpPr/>
            <p:nvPr/>
          </p:nvSpPr>
          <p:spPr>
            <a:xfrm>
              <a:off x="4858479" y="2440890"/>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11" name="object 10"/>
            <p:cNvSpPr txBox="1"/>
            <p:nvPr/>
          </p:nvSpPr>
          <p:spPr>
            <a:xfrm>
              <a:off x="5273709" y="254449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3</a:t>
              </a:r>
              <a:endParaRPr sz="1800">
                <a:latin typeface="Times New Roman" panose="02020603050405020304"/>
                <a:cs typeface="Times New Roman" panose="02020603050405020304"/>
              </a:endParaRPr>
            </a:p>
          </p:txBody>
        </p:sp>
        <p:sp>
          <p:nvSpPr>
            <p:cNvPr id="12" name="object 11"/>
            <p:cNvSpPr/>
            <p:nvPr/>
          </p:nvSpPr>
          <p:spPr>
            <a:xfrm>
              <a:off x="4014694" y="3009823"/>
              <a:ext cx="479425" cy="479425"/>
            </a:xfrm>
            <a:custGeom>
              <a:avLst/>
              <a:gdLst/>
              <a:ahLst/>
              <a:cxnLst/>
              <a:rect l="l" t="t" r="r" b="b"/>
              <a:pathLst>
                <a:path w="479425" h="479425">
                  <a:moveTo>
                    <a:pt x="239522" y="0"/>
                  </a:moveTo>
                  <a:lnTo>
                    <a:pt x="191249" y="4865"/>
                  </a:lnTo>
                  <a:lnTo>
                    <a:pt x="146289" y="18820"/>
                  </a:lnTo>
                  <a:lnTo>
                    <a:pt x="105602" y="40901"/>
                  </a:lnTo>
                  <a:lnTo>
                    <a:pt x="70154" y="70144"/>
                  </a:lnTo>
                  <a:lnTo>
                    <a:pt x="40906" y="105588"/>
                  </a:lnTo>
                  <a:lnTo>
                    <a:pt x="18822" y="146269"/>
                  </a:lnTo>
                  <a:lnTo>
                    <a:pt x="4866" y="191223"/>
                  </a:lnTo>
                  <a:lnTo>
                    <a:pt x="0" y="239488"/>
                  </a:lnTo>
                  <a:lnTo>
                    <a:pt x="4866" y="287754"/>
                  </a:lnTo>
                  <a:lnTo>
                    <a:pt x="18822" y="332708"/>
                  </a:lnTo>
                  <a:lnTo>
                    <a:pt x="40906" y="373388"/>
                  </a:lnTo>
                  <a:lnTo>
                    <a:pt x="70154" y="408832"/>
                  </a:lnTo>
                  <a:lnTo>
                    <a:pt x="105602" y="438075"/>
                  </a:lnTo>
                  <a:lnTo>
                    <a:pt x="146289" y="460156"/>
                  </a:lnTo>
                  <a:lnTo>
                    <a:pt x="191249" y="474111"/>
                  </a:lnTo>
                  <a:lnTo>
                    <a:pt x="239522" y="478976"/>
                  </a:lnTo>
                  <a:lnTo>
                    <a:pt x="287793" y="474111"/>
                  </a:lnTo>
                  <a:lnTo>
                    <a:pt x="332754" y="460156"/>
                  </a:lnTo>
                  <a:lnTo>
                    <a:pt x="373440" y="438075"/>
                  </a:lnTo>
                  <a:lnTo>
                    <a:pt x="408888" y="408832"/>
                  </a:lnTo>
                  <a:lnTo>
                    <a:pt x="438136" y="373388"/>
                  </a:lnTo>
                  <a:lnTo>
                    <a:pt x="460219" y="332708"/>
                  </a:lnTo>
                  <a:lnTo>
                    <a:pt x="474176" y="287754"/>
                  </a:lnTo>
                  <a:lnTo>
                    <a:pt x="479042" y="239488"/>
                  </a:lnTo>
                  <a:lnTo>
                    <a:pt x="474176" y="191223"/>
                  </a:lnTo>
                  <a:lnTo>
                    <a:pt x="460219" y="146269"/>
                  </a:lnTo>
                  <a:lnTo>
                    <a:pt x="438136" y="105588"/>
                  </a:lnTo>
                  <a:lnTo>
                    <a:pt x="408888" y="70144"/>
                  </a:lnTo>
                  <a:lnTo>
                    <a:pt x="373440" y="40901"/>
                  </a:lnTo>
                  <a:lnTo>
                    <a:pt x="332754" y="18820"/>
                  </a:lnTo>
                  <a:lnTo>
                    <a:pt x="287793" y="4865"/>
                  </a:lnTo>
                  <a:lnTo>
                    <a:pt x="239522" y="0"/>
                  </a:lnTo>
                  <a:close/>
                </a:path>
              </a:pathLst>
            </a:custGeom>
            <a:solidFill>
              <a:srgbClr val="A8D5D6"/>
            </a:solidFill>
          </p:spPr>
          <p:txBody>
            <a:bodyPr wrap="square" lIns="0" tIns="0" rIns="0" bIns="0" rtlCol="0"/>
            <a:lstStyle/>
            <a:p>
              <a:endParaRPr/>
            </a:p>
          </p:txBody>
        </p:sp>
        <p:sp>
          <p:nvSpPr>
            <p:cNvPr id="13" name="object 12"/>
            <p:cNvSpPr/>
            <p:nvPr/>
          </p:nvSpPr>
          <p:spPr>
            <a:xfrm>
              <a:off x="4014694" y="3009823"/>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14" name="object 13"/>
            <p:cNvSpPr txBox="1"/>
            <p:nvPr/>
          </p:nvSpPr>
          <p:spPr>
            <a:xfrm>
              <a:off x="4181052" y="3084212"/>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p:txBody>
        </p:sp>
        <p:sp>
          <p:nvSpPr>
            <p:cNvPr id="15" name="object 14"/>
            <p:cNvSpPr/>
            <p:nvPr/>
          </p:nvSpPr>
          <p:spPr>
            <a:xfrm>
              <a:off x="5136518" y="3503827"/>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8"/>
                  </a:lnTo>
                  <a:lnTo>
                    <a:pt x="4866" y="191249"/>
                  </a:lnTo>
                  <a:lnTo>
                    <a:pt x="0" y="239520"/>
                  </a:lnTo>
                  <a:lnTo>
                    <a:pt x="4866" y="287792"/>
                  </a:lnTo>
                  <a:lnTo>
                    <a:pt x="18822" y="332753"/>
                  </a:lnTo>
                  <a:lnTo>
                    <a:pt x="40906" y="373439"/>
                  </a:lnTo>
                  <a:lnTo>
                    <a:pt x="70153" y="408887"/>
                  </a:lnTo>
                  <a:lnTo>
                    <a:pt x="105602" y="438135"/>
                  </a:lnTo>
                  <a:lnTo>
                    <a:pt x="146288" y="460218"/>
                  </a:lnTo>
                  <a:lnTo>
                    <a:pt x="191248" y="474175"/>
                  </a:lnTo>
                  <a:lnTo>
                    <a:pt x="239520" y="479041"/>
                  </a:lnTo>
                  <a:lnTo>
                    <a:pt x="287792" y="474175"/>
                  </a:lnTo>
                  <a:lnTo>
                    <a:pt x="332752" y="460218"/>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16" name="object 15"/>
            <p:cNvSpPr/>
            <p:nvPr/>
          </p:nvSpPr>
          <p:spPr>
            <a:xfrm>
              <a:off x="5136519" y="3503827"/>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17" name="object 16"/>
            <p:cNvSpPr txBox="1"/>
            <p:nvPr/>
          </p:nvSpPr>
          <p:spPr>
            <a:xfrm>
              <a:off x="5302874" y="3578247"/>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5</a:t>
              </a:r>
              <a:endParaRPr sz="2000">
                <a:latin typeface="Times New Roman" panose="02020603050405020304"/>
                <a:cs typeface="Times New Roman" panose="02020603050405020304"/>
              </a:endParaRPr>
            </a:p>
          </p:txBody>
        </p:sp>
        <p:sp>
          <p:nvSpPr>
            <p:cNvPr id="18" name="object 17"/>
            <p:cNvSpPr/>
            <p:nvPr/>
          </p:nvSpPr>
          <p:spPr>
            <a:xfrm>
              <a:off x="5335578" y="1050682"/>
              <a:ext cx="1270" cy="421005"/>
            </a:xfrm>
            <a:custGeom>
              <a:avLst/>
              <a:gdLst/>
              <a:ahLst/>
              <a:cxnLst/>
              <a:rect l="l" t="t" r="r" b="b"/>
              <a:pathLst>
                <a:path w="1270" h="421005">
                  <a:moveTo>
                    <a:pt x="1207" y="0"/>
                  </a:moveTo>
                  <a:lnTo>
                    <a:pt x="0" y="420880"/>
                  </a:lnTo>
                </a:path>
              </a:pathLst>
            </a:custGeom>
            <a:ln w="9524">
              <a:solidFill>
                <a:srgbClr val="000000"/>
              </a:solidFill>
            </a:ln>
          </p:spPr>
          <p:txBody>
            <a:bodyPr wrap="square" lIns="0" tIns="0" rIns="0" bIns="0" rtlCol="0"/>
            <a:lstStyle/>
            <a:p>
              <a:endParaRPr/>
            </a:p>
          </p:txBody>
        </p:sp>
        <p:sp>
          <p:nvSpPr>
            <p:cNvPr id="19" name="object 18"/>
            <p:cNvSpPr/>
            <p:nvPr/>
          </p:nvSpPr>
          <p:spPr>
            <a:xfrm>
              <a:off x="5276842" y="1380730"/>
              <a:ext cx="117908" cy="116037"/>
            </a:xfrm>
            <a:prstGeom prst="rect">
              <a:avLst/>
            </a:prstGeom>
            <a:blipFill>
              <a:blip r:embed="rId3" cstate="print"/>
              <a:stretch>
                <a:fillRect/>
              </a:stretch>
            </a:blipFill>
          </p:spPr>
          <p:txBody>
            <a:bodyPr wrap="square" lIns="0" tIns="0" rIns="0" bIns="0" rtlCol="0"/>
            <a:lstStyle/>
            <a:p>
              <a:endParaRPr/>
            </a:p>
          </p:txBody>
        </p:sp>
        <p:sp>
          <p:nvSpPr>
            <p:cNvPr id="20" name="object 19"/>
            <p:cNvSpPr/>
            <p:nvPr/>
          </p:nvSpPr>
          <p:spPr>
            <a:xfrm>
              <a:off x="5335506" y="2003704"/>
              <a:ext cx="5715" cy="412750"/>
            </a:xfrm>
            <a:custGeom>
              <a:avLst/>
              <a:gdLst/>
              <a:ahLst/>
              <a:cxnLst/>
              <a:rect l="l" t="t" r="r" b="b"/>
              <a:pathLst>
                <a:path w="5714" h="412750">
                  <a:moveTo>
                    <a:pt x="0" y="0"/>
                  </a:moveTo>
                  <a:lnTo>
                    <a:pt x="5236" y="412153"/>
                  </a:lnTo>
                </a:path>
              </a:pathLst>
            </a:custGeom>
            <a:ln w="9524">
              <a:solidFill>
                <a:srgbClr val="000000"/>
              </a:solidFill>
            </a:ln>
          </p:spPr>
          <p:txBody>
            <a:bodyPr wrap="square" lIns="0" tIns="0" rIns="0" bIns="0" rtlCol="0"/>
            <a:lstStyle/>
            <a:p>
              <a:endParaRPr/>
            </a:p>
          </p:txBody>
        </p:sp>
        <p:sp>
          <p:nvSpPr>
            <p:cNvPr id="21" name="object 20"/>
            <p:cNvSpPr/>
            <p:nvPr/>
          </p:nvSpPr>
          <p:spPr>
            <a:xfrm>
              <a:off x="5280829" y="2324592"/>
              <a:ext cx="117897" cy="116467"/>
            </a:xfrm>
            <a:prstGeom prst="rect">
              <a:avLst/>
            </a:prstGeom>
            <a:blipFill>
              <a:blip r:embed="rId4" cstate="print"/>
              <a:stretch>
                <a:fillRect/>
              </a:stretch>
            </a:blipFill>
          </p:spPr>
          <p:txBody>
            <a:bodyPr wrap="square" lIns="0" tIns="0" rIns="0" bIns="0" rtlCol="0"/>
            <a:lstStyle/>
            <a:p>
              <a:endParaRPr/>
            </a:p>
          </p:txBody>
        </p:sp>
        <p:sp>
          <p:nvSpPr>
            <p:cNvPr id="22" name="object 21"/>
            <p:cNvSpPr/>
            <p:nvPr/>
          </p:nvSpPr>
          <p:spPr>
            <a:xfrm>
              <a:off x="4254216" y="2694357"/>
              <a:ext cx="604520" cy="290830"/>
            </a:xfrm>
            <a:custGeom>
              <a:avLst/>
              <a:gdLst/>
              <a:ahLst/>
              <a:cxnLst/>
              <a:rect l="l" t="t" r="r" b="b"/>
              <a:pathLst>
                <a:path w="604520" h="290830">
                  <a:moveTo>
                    <a:pt x="604262" y="0"/>
                  </a:moveTo>
                  <a:lnTo>
                    <a:pt x="0" y="0"/>
                  </a:lnTo>
                  <a:lnTo>
                    <a:pt x="0" y="290260"/>
                  </a:lnTo>
                </a:path>
              </a:pathLst>
            </a:custGeom>
            <a:ln w="9524">
              <a:solidFill>
                <a:srgbClr val="000000"/>
              </a:solidFill>
            </a:ln>
          </p:spPr>
          <p:txBody>
            <a:bodyPr wrap="square" lIns="0" tIns="0" rIns="0" bIns="0" rtlCol="0"/>
            <a:lstStyle/>
            <a:p>
              <a:endParaRPr/>
            </a:p>
          </p:txBody>
        </p:sp>
        <p:sp>
          <p:nvSpPr>
            <p:cNvPr id="23" name="object 22"/>
            <p:cNvSpPr/>
            <p:nvPr/>
          </p:nvSpPr>
          <p:spPr>
            <a:xfrm>
              <a:off x="4195262" y="2893913"/>
              <a:ext cx="117909" cy="115910"/>
            </a:xfrm>
            <a:prstGeom prst="rect">
              <a:avLst/>
            </a:prstGeom>
            <a:blipFill>
              <a:blip r:embed="rId5" cstate="print"/>
              <a:stretch>
                <a:fillRect/>
              </a:stretch>
            </a:blipFill>
          </p:spPr>
          <p:txBody>
            <a:bodyPr wrap="square" lIns="0" tIns="0" rIns="0" bIns="0" rtlCol="0"/>
            <a:lstStyle/>
            <a:p>
              <a:endParaRPr/>
            </a:p>
          </p:txBody>
        </p:sp>
        <p:sp>
          <p:nvSpPr>
            <p:cNvPr id="24" name="object 23"/>
            <p:cNvSpPr/>
            <p:nvPr/>
          </p:nvSpPr>
          <p:spPr>
            <a:xfrm>
              <a:off x="5640764" y="2694358"/>
              <a:ext cx="774700" cy="1049020"/>
            </a:xfrm>
            <a:custGeom>
              <a:avLst/>
              <a:gdLst/>
              <a:ahLst/>
              <a:cxnLst/>
              <a:rect l="l" t="t" r="r" b="b"/>
              <a:pathLst>
                <a:path w="774700" h="1049020">
                  <a:moveTo>
                    <a:pt x="182675" y="0"/>
                  </a:moveTo>
                  <a:lnTo>
                    <a:pt x="774159" y="0"/>
                  </a:lnTo>
                  <a:lnTo>
                    <a:pt x="774159" y="1048989"/>
                  </a:lnTo>
                  <a:lnTo>
                    <a:pt x="0" y="1048989"/>
                  </a:lnTo>
                </a:path>
              </a:pathLst>
            </a:custGeom>
            <a:ln w="9524">
              <a:solidFill>
                <a:srgbClr val="000000"/>
              </a:solidFill>
            </a:ln>
          </p:spPr>
          <p:txBody>
            <a:bodyPr wrap="square" lIns="0" tIns="0" rIns="0" bIns="0" rtlCol="0"/>
            <a:lstStyle/>
            <a:p>
              <a:endParaRPr/>
            </a:p>
          </p:txBody>
        </p:sp>
        <p:sp>
          <p:nvSpPr>
            <p:cNvPr id="25" name="object 24"/>
            <p:cNvSpPr/>
            <p:nvPr/>
          </p:nvSpPr>
          <p:spPr>
            <a:xfrm>
              <a:off x="5615560" y="3684394"/>
              <a:ext cx="115909" cy="117908"/>
            </a:xfrm>
            <a:prstGeom prst="rect">
              <a:avLst/>
            </a:prstGeom>
            <a:blipFill>
              <a:blip r:embed="rId6" cstate="print"/>
              <a:stretch>
                <a:fillRect/>
              </a:stretch>
            </a:blipFill>
          </p:spPr>
          <p:txBody>
            <a:bodyPr wrap="square" lIns="0" tIns="0" rIns="0" bIns="0" rtlCol="0"/>
            <a:lstStyle/>
            <a:p>
              <a:endParaRPr/>
            </a:p>
          </p:txBody>
        </p:sp>
        <p:sp>
          <p:nvSpPr>
            <p:cNvPr id="26" name="object 25"/>
            <p:cNvSpPr/>
            <p:nvPr/>
          </p:nvSpPr>
          <p:spPr>
            <a:xfrm>
              <a:off x="4254216" y="3488799"/>
              <a:ext cx="857250" cy="254635"/>
            </a:xfrm>
            <a:custGeom>
              <a:avLst/>
              <a:gdLst/>
              <a:ahLst/>
              <a:cxnLst/>
              <a:rect l="l" t="t" r="r" b="b"/>
              <a:pathLst>
                <a:path w="857250" h="254635">
                  <a:moveTo>
                    <a:pt x="0" y="0"/>
                  </a:moveTo>
                  <a:lnTo>
                    <a:pt x="0" y="254549"/>
                  </a:lnTo>
                  <a:lnTo>
                    <a:pt x="857096" y="254549"/>
                  </a:lnTo>
                </a:path>
              </a:pathLst>
            </a:custGeom>
            <a:ln w="9524">
              <a:solidFill>
                <a:srgbClr val="000000"/>
              </a:solidFill>
            </a:ln>
          </p:spPr>
          <p:txBody>
            <a:bodyPr wrap="square" lIns="0" tIns="0" rIns="0" bIns="0" rtlCol="0"/>
            <a:lstStyle/>
            <a:p>
              <a:endParaRPr/>
            </a:p>
          </p:txBody>
        </p:sp>
        <p:sp>
          <p:nvSpPr>
            <p:cNvPr id="27" name="object 26"/>
            <p:cNvSpPr/>
            <p:nvPr/>
          </p:nvSpPr>
          <p:spPr>
            <a:xfrm>
              <a:off x="5020608" y="3684394"/>
              <a:ext cx="115909" cy="117908"/>
            </a:xfrm>
            <a:prstGeom prst="rect">
              <a:avLst/>
            </a:prstGeom>
            <a:blipFill>
              <a:blip r:embed="rId7" cstate="print"/>
              <a:stretch>
                <a:fillRect/>
              </a:stretch>
            </a:blipFill>
          </p:spPr>
          <p:txBody>
            <a:bodyPr wrap="square" lIns="0" tIns="0" rIns="0" bIns="0" rtlCol="0"/>
            <a:lstStyle/>
            <a:p>
              <a:endParaRPr/>
            </a:p>
          </p:txBody>
        </p:sp>
        <p:sp>
          <p:nvSpPr>
            <p:cNvPr id="28" name="object 27"/>
            <p:cNvSpPr/>
            <p:nvPr/>
          </p:nvSpPr>
          <p:spPr>
            <a:xfrm>
              <a:off x="3056237" y="4265321"/>
              <a:ext cx="965200" cy="507365"/>
            </a:xfrm>
            <a:custGeom>
              <a:avLst/>
              <a:gdLst/>
              <a:ahLst/>
              <a:cxnLst/>
              <a:rect l="l" t="t" r="r" b="b"/>
              <a:pathLst>
                <a:path w="965200" h="507364">
                  <a:moveTo>
                    <a:pt x="482479" y="0"/>
                  </a:moveTo>
                  <a:lnTo>
                    <a:pt x="0" y="253467"/>
                  </a:lnTo>
                  <a:lnTo>
                    <a:pt x="482479" y="506937"/>
                  </a:lnTo>
                  <a:lnTo>
                    <a:pt x="964958" y="253467"/>
                  </a:lnTo>
                  <a:lnTo>
                    <a:pt x="482479" y="0"/>
                  </a:lnTo>
                  <a:close/>
                </a:path>
              </a:pathLst>
            </a:custGeom>
            <a:solidFill>
              <a:srgbClr val="FFACA9"/>
            </a:solidFill>
          </p:spPr>
          <p:txBody>
            <a:bodyPr wrap="square" lIns="0" tIns="0" rIns="0" bIns="0" rtlCol="0"/>
            <a:lstStyle/>
            <a:p>
              <a:endParaRPr/>
            </a:p>
          </p:txBody>
        </p:sp>
        <p:sp>
          <p:nvSpPr>
            <p:cNvPr id="29" name="object 28"/>
            <p:cNvSpPr/>
            <p:nvPr/>
          </p:nvSpPr>
          <p:spPr>
            <a:xfrm>
              <a:off x="3056237" y="4265321"/>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30" name="object 29"/>
            <p:cNvSpPr txBox="1"/>
            <p:nvPr/>
          </p:nvSpPr>
          <p:spPr>
            <a:xfrm>
              <a:off x="3471466" y="4368929"/>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6</a:t>
              </a:r>
              <a:endParaRPr sz="1800">
                <a:latin typeface="Times New Roman" panose="02020603050405020304"/>
                <a:cs typeface="Times New Roman" panose="02020603050405020304"/>
              </a:endParaRPr>
            </a:p>
          </p:txBody>
        </p:sp>
        <p:sp>
          <p:nvSpPr>
            <p:cNvPr id="31" name="object 30"/>
            <p:cNvSpPr/>
            <p:nvPr/>
          </p:nvSpPr>
          <p:spPr>
            <a:xfrm>
              <a:off x="2511747" y="4768850"/>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8"/>
                  </a:lnTo>
                  <a:lnTo>
                    <a:pt x="191249" y="474175"/>
                  </a:lnTo>
                  <a:lnTo>
                    <a:pt x="239520" y="479041"/>
                  </a:lnTo>
                  <a:lnTo>
                    <a:pt x="287792" y="474175"/>
                  </a:lnTo>
                  <a:lnTo>
                    <a:pt x="332753" y="460218"/>
                  </a:lnTo>
                  <a:lnTo>
                    <a:pt x="373439" y="438135"/>
                  </a:lnTo>
                  <a:lnTo>
                    <a:pt x="408887" y="408887"/>
                  </a:lnTo>
                  <a:lnTo>
                    <a:pt x="438135" y="373439"/>
                  </a:lnTo>
                  <a:lnTo>
                    <a:pt x="460218" y="332753"/>
                  </a:lnTo>
                  <a:lnTo>
                    <a:pt x="474175" y="287792"/>
                  </a:lnTo>
                  <a:lnTo>
                    <a:pt x="479041" y="239520"/>
                  </a:lnTo>
                  <a:lnTo>
                    <a:pt x="474175" y="191249"/>
                  </a:lnTo>
                  <a:lnTo>
                    <a:pt x="460218" y="146288"/>
                  </a:lnTo>
                  <a:lnTo>
                    <a:pt x="438135" y="105602"/>
                  </a:lnTo>
                  <a:lnTo>
                    <a:pt x="408887" y="70154"/>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2" name="object 31"/>
            <p:cNvSpPr/>
            <p:nvPr/>
          </p:nvSpPr>
          <p:spPr>
            <a:xfrm>
              <a:off x="2511747" y="4768850"/>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1"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3" name="object 32"/>
            <p:cNvSpPr txBox="1"/>
            <p:nvPr/>
          </p:nvSpPr>
          <p:spPr>
            <a:xfrm>
              <a:off x="2678103" y="48432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7</a:t>
              </a:r>
              <a:endParaRPr sz="2000">
                <a:latin typeface="Times New Roman" panose="02020603050405020304"/>
                <a:cs typeface="Times New Roman" panose="02020603050405020304"/>
              </a:endParaRPr>
            </a:p>
          </p:txBody>
        </p:sp>
        <p:sp>
          <p:nvSpPr>
            <p:cNvPr id="34" name="object 33"/>
            <p:cNvSpPr/>
            <p:nvPr/>
          </p:nvSpPr>
          <p:spPr>
            <a:xfrm>
              <a:off x="4169079" y="4757949"/>
              <a:ext cx="479425" cy="479425"/>
            </a:xfrm>
            <a:custGeom>
              <a:avLst/>
              <a:gdLst/>
              <a:ahLst/>
              <a:cxnLst/>
              <a:rect l="l" t="t" r="r" b="b"/>
              <a:pathLst>
                <a:path w="479425" h="479425">
                  <a:moveTo>
                    <a:pt x="239520" y="0"/>
                  </a:moveTo>
                  <a:lnTo>
                    <a:pt x="191249" y="4866"/>
                  </a:lnTo>
                  <a:lnTo>
                    <a:pt x="146288" y="18822"/>
                  </a:lnTo>
                  <a:lnTo>
                    <a:pt x="105602" y="40906"/>
                  </a:lnTo>
                  <a:lnTo>
                    <a:pt x="70154" y="70153"/>
                  </a:lnTo>
                  <a:lnTo>
                    <a:pt x="40906" y="105602"/>
                  </a:lnTo>
                  <a:lnTo>
                    <a:pt x="18822" y="146288"/>
                  </a:lnTo>
                  <a:lnTo>
                    <a:pt x="4866" y="191248"/>
                  </a:lnTo>
                  <a:lnTo>
                    <a:pt x="0" y="239520"/>
                  </a:lnTo>
                  <a:lnTo>
                    <a:pt x="4866" y="287792"/>
                  </a:lnTo>
                  <a:lnTo>
                    <a:pt x="18822" y="332752"/>
                  </a:lnTo>
                  <a:lnTo>
                    <a:pt x="40906" y="373438"/>
                  </a:lnTo>
                  <a:lnTo>
                    <a:pt x="70154" y="408887"/>
                  </a:lnTo>
                  <a:lnTo>
                    <a:pt x="105602" y="438134"/>
                  </a:lnTo>
                  <a:lnTo>
                    <a:pt x="146288" y="460218"/>
                  </a:lnTo>
                  <a:lnTo>
                    <a:pt x="191249" y="474175"/>
                  </a:lnTo>
                  <a:lnTo>
                    <a:pt x="239520" y="479041"/>
                  </a:lnTo>
                  <a:lnTo>
                    <a:pt x="287792" y="474175"/>
                  </a:lnTo>
                  <a:lnTo>
                    <a:pt x="332753" y="460218"/>
                  </a:lnTo>
                  <a:lnTo>
                    <a:pt x="373439" y="438134"/>
                  </a:lnTo>
                  <a:lnTo>
                    <a:pt x="408887" y="408887"/>
                  </a:lnTo>
                  <a:lnTo>
                    <a:pt x="438135" y="373438"/>
                  </a:lnTo>
                  <a:lnTo>
                    <a:pt x="460218" y="332752"/>
                  </a:lnTo>
                  <a:lnTo>
                    <a:pt x="474175" y="287792"/>
                  </a:lnTo>
                  <a:lnTo>
                    <a:pt x="479041" y="239520"/>
                  </a:lnTo>
                  <a:lnTo>
                    <a:pt x="474175" y="191248"/>
                  </a:lnTo>
                  <a:lnTo>
                    <a:pt x="460218" y="146288"/>
                  </a:lnTo>
                  <a:lnTo>
                    <a:pt x="438135" y="105602"/>
                  </a:lnTo>
                  <a:lnTo>
                    <a:pt x="408887" y="70153"/>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5" name="object 34"/>
            <p:cNvSpPr/>
            <p:nvPr/>
          </p:nvSpPr>
          <p:spPr>
            <a:xfrm>
              <a:off x="4169079" y="4757949"/>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6" name="object 35"/>
            <p:cNvSpPr txBox="1"/>
            <p:nvPr/>
          </p:nvSpPr>
          <p:spPr>
            <a:xfrm>
              <a:off x="4335435" y="48323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8</a:t>
              </a:r>
              <a:endParaRPr sz="2000">
                <a:latin typeface="Times New Roman" panose="02020603050405020304"/>
                <a:cs typeface="Times New Roman" panose="02020603050405020304"/>
              </a:endParaRPr>
            </a:p>
          </p:txBody>
        </p:sp>
        <p:sp>
          <p:nvSpPr>
            <p:cNvPr id="37" name="object 36"/>
            <p:cNvSpPr/>
            <p:nvPr/>
          </p:nvSpPr>
          <p:spPr>
            <a:xfrm>
              <a:off x="3538718" y="1750235"/>
              <a:ext cx="1314450" cy="2490470"/>
            </a:xfrm>
            <a:custGeom>
              <a:avLst/>
              <a:gdLst/>
              <a:ahLst/>
              <a:cxnLst/>
              <a:rect l="l" t="t" r="r" b="b"/>
              <a:pathLst>
                <a:path w="1314450" h="2490470">
                  <a:moveTo>
                    <a:pt x="1314308" y="0"/>
                  </a:moveTo>
                  <a:lnTo>
                    <a:pt x="0" y="0"/>
                  </a:lnTo>
                  <a:lnTo>
                    <a:pt x="0" y="2489880"/>
                  </a:lnTo>
                </a:path>
              </a:pathLst>
            </a:custGeom>
            <a:ln w="9524">
              <a:solidFill>
                <a:srgbClr val="000000"/>
              </a:solidFill>
            </a:ln>
          </p:spPr>
          <p:txBody>
            <a:bodyPr wrap="square" lIns="0" tIns="0" rIns="0" bIns="0" rtlCol="0"/>
            <a:lstStyle/>
            <a:p>
              <a:endParaRPr/>
            </a:p>
          </p:txBody>
        </p:sp>
        <p:sp>
          <p:nvSpPr>
            <p:cNvPr id="38" name="object 37"/>
            <p:cNvSpPr/>
            <p:nvPr/>
          </p:nvSpPr>
          <p:spPr>
            <a:xfrm>
              <a:off x="3479764" y="4149412"/>
              <a:ext cx="117908" cy="115909"/>
            </a:xfrm>
            <a:prstGeom prst="rect">
              <a:avLst/>
            </a:prstGeom>
            <a:blipFill>
              <a:blip r:embed="rId8" cstate="print"/>
              <a:stretch>
                <a:fillRect/>
              </a:stretch>
            </a:blipFill>
          </p:spPr>
          <p:txBody>
            <a:bodyPr wrap="square" lIns="0" tIns="0" rIns="0" bIns="0" rtlCol="0"/>
            <a:lstStyle/>
            <a:p>
              <a:endParaRPr/>
            </a:p>
          </p:txBody>
        </p:sp>
        <p:sp>
          <p:nvSpPr>
            <p:cNvPr id="39" name="object 38"/>
            <p:cNvSpPr/>
            <p:nvPr/>
          </p:nvSpPr>
          <p:spPr>
            <a:xfrm>
              <a:off x="5376038" y="1750235"/>
              <a:ext cx="2875915" cy="2520315"/>
            </a:xfrm>
            <a:custGeom>
              <a:avLst/>
              <a:gdLst/>
              <a:ahLst/>
              <a:cxnLst/>
              <a:rect l="l" t="t" r="r" b="b"/>
              <a:pathLst>
                <a:path w="2875915" h="2520315">
                  <a:moveTo>
                    <a:pt x="0" y="2232634"/>
                  </a:moveTo>
                  <a:lnTo>
                    <a:pt x="0" y="2519907"/>
                  </a:lnTo>
                  <a:lnTo>
                    <a:pt x="2875479" y="2519907"/>
                  </a:lnTo>
                  <a:lnTo>
                    <a:pt x="2875479" y="0"/>
                  </a:lnTo>
                  <a:lnTo>
                    <a:pt x="467151" y="0"/>
                  </a:lnTo>
                </a:path>
              </a:pathLst>
            </a:custGeom>
            <a:ln w="9524">
              <a:solidFill>
                <a:srgbClr val="000000"/>
              </a:solidFill>
            </a:ln>
          </p:spPr>
          <p:txBody>
            <a:bodyPr wrap="square" lIns="0" tIns="0" rIns="0" bIns="0" rtlCol="0"/>
            <a:lstStyle/>
            <a:p>
              <a:endParaRPr/>
            </a:p>
          </p:txBody>
        </p:sp>
        <p:sp>
          <p:nvSpPr>
            <p:cNvPr id="40" name="object 39"/>
            <p:cNvSpPr/>
            <p:nvPr/>
          </p:nvSpPr>
          <p:spPr>
            <a:xfrm>
              <a:off x="5817985" y="1691281"/>
              <a:ext cx="115909" cy="117908"/>
            </a:xfrm>
            <a:prstGeom prst="rect">
              <a:avLst/>
            </a:prstGeom>
            <a:blipFill>
              <a:blip r:embed="rId9" cstate="print"/>
              <a:stretch>
                <a:fillRect/>
              </a:stretch>
            </a:blipFill>
          </p:spPr>
          <p:txBody>
            <a:bodyPr wrap="square" lIns="0" tIns="0" rIns="0" bIns="0" rtlCol="0"/>
            <a:lstStyle/>
            <a:p>
              <a:endParaRPr/>
            </a:p>
          </p:txBody>
        </p:sp>
        <p:sp>
          <p:nvSpPr>
            <p:cNvPr id="41" name="object 40"/>
            <p:cNvSpPr/>
            <p:nvPr/>
          </p:nvSpPr>
          <p:spPr>
            <a:xfrm>
              <a:off x="2751269" y="4518790"/>
              <a:ext cx="305435" cy="225425"/>
            </a:xfrm>
            <a:custGeom>
              <a:avLst/>
              <a:gdLst/>
              <a:ahLst/>
              <a:cxnLst/>
              <a:rect l="l" t="t" r="r" b="b"/>
              <a:pathLst>
                <a:path w="305435" h="225425">
                  <a:moveTo>
                    <a:pt x="304967" y="0"/>
                  </a:moveTo>
                  <a:lnTo>
                    <a:pt x="0" y="0"/>
                  </a:lnTo>
                  <a:lnTo>
                    <a:pt x="0" y="224855"/>
                  </a:lnTo>
                </a:path>
              </a:pathLst>
            </a:custGeom>
            <a:ln w="9524">
              <a:solidFill>
                <a:srgbClr val="000000"/>
              </a:solidFill>
            </a:ln>
          </p:spPr>
          <p:txBody>
            <a:bodyPr wrap="square" lIns="0" tIns="0" rIns="0" bIns="0" rtlCol="0"/>
            <a:lstStyle/>
            <a:p>
              <a:endParaRPr/>
            </a:p>
          </p:txBody>
        </p:sp>
        <p:sp>
          <p:nvSpPr>
            <p:cNvPr id="42" name="object 41"/>
            <p:cNvSpPr/>
            <p:nvPr/>
          </p:nvSpPr>
          <p:spPr>
            <a:xfrm>
              <a:off x="2692314" y="4652940"/>
              <a:ext cx="117908" cy="115909"/>
            </a:xfrm>
            <a:prstGeom prst="rect">
              <a:avLst/>
            </a:prstGeom>
            <a:blipFill>
              <a:blip r:embed="rId5" cstate="print"/>
              <a:stretch>
                <a:fillRect/>
              </a:stretch>
            </a:blipFill>
          </p:spPr>
          <p:txBody>
            <a:bodyPr wrap="square" lIns="0" tIns="0" rIns="0" bIns="0" rtlCol="0"/>
            <a:lstStyle/>
            <a:p>
              <a:endParaRPr/>
            </a:p>
          </p:txBody>
        </p:sp>
        <p:sp>
          <p:nvSpPr>
            <p:cNvPr id="43" name="object 42"/>
            <p:cNvSpPr/>
            <p:nvPr/>
          </p:nvSpPr>
          <p:spPr>
            <a:xfrm>
              <a:off x="4021197" y="4518790"/>
              <a:ext cx="387350" cy="213995"/>
            </a:xfrm>
            <a:custGeom>
              <a:avLst/>
              <a:gdLst/>
              <a:ahLst/>
              <a:cxnLst/>
              <a:rect l="l" t="t" r="r" b="b"/>
              <a:pathLst>
                <a:path w="387350" h="213995">
                  <a:moveTo>
                    <a:pt x="0" y="0"/>
                  </a:moveTo>
                  <a:lnTo>
                    <a:pt x="387349" y="0"/>
                  </a:lnTo>
                  <a:lnTo>
                    <a:pt x="387349" y="213713"/>
                  </a:lnTo>
                </a:path>
              </a:pathLst>
            </a:custGeom>
            <a:ln w="9524">
              <a:solidFill>
                <a:srgbClr val="000000"/>
              </a:solidFill>
            </a:ln>
          </p:spPr>
          <p:txBody>
            <a:bodyPr wrap="square" lIns="0" tIns="0" rIns="0" bIns="0" rtlCol="0"/>
            <a:lstStyle/>
            <a:p>
              <a:endParaRPr/>
            </a:p>
          </p:txBody>
        </p:sp>
        <p:sp>
          <p:nvSpPr>
            <p:cNvPr id="44" name="object 43"/>
            <p:cNvSpPr/>
            <p:nvPr/>
          </p:nvSpPr>
          <p:spPr>
            <a:xfrm>
              <a:off x="4349593" y="4641800"/>
              <a:ext cx="117908" cy="115909"/>
            </a:xfrm>
            <a:prstGeom prst="rect">
              <a:avLst/>
            </a:prstGeom>
            <a:blipFill>
              <a:blip r:embed="rId10" cstate="print"/>
              <a:stretch>
                <a:fillRect/>
              </a:stretch>
            </a:blipFill>
          </p:spPr>
          <p:txBody>
            <a:bodyPr wrap="square" lIns="0" tIns="0" rIns="0" bIns="0" rtlCol="0"/>
            <a:lstStyle/>
            <a:p>
              <a:endParaRPr/>
            </a:p>
          </p:txBody>
        </p:sp>
        <p:sp>
          <p:nvSpPr>
            <p:cNvPr id="45" name="object 44"/>
            <p:cNvSpPr txBox="1"/>
            <p:nvPr/>
          </p:nvSpPr>
          <p:spPr>
            <a:xfrm>
              <a:off x="5076906" y="2067286"/>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6" name="object 45"/>
            <p:cNvSpPr txBox="1"/>
            <p:nvPr/>
          </p:nvSpPr>
          <p:spPr>
            <a:xfrm>
              <a:off x="4656034" y="1430605"/>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7" name="object 46"/>
            <p:cNvSpPr txBox="1"/>
            <p:nvPr/>
          </p:nvSpPr>
          <p:spPr>
            <a:xfrm>
              <a:off x="4591156" y="2748124"/>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8" name="object 47"/>
            <p:cNvSpPr txBox="1"/>
            <p:nvPr/>
          </p:nvSpPr>
          <p:spPr>
            <a:xfrm>
              <a:off x="5867955" y="2747578"/>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9" name="object 48"/>
            <p:cNvSpPr txBox="1"/>
            <p:nvPr/>
          </p:nvSpPr>
          <p:spPr>
            <a:xfrm>
              <a:off x="2898480" y="4271123"/>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50" name="object 49"/>
            <p:cNvSpPr txBox="1"/>
            <p:nvPr/>
          </p:nvSpPr>
          <p:spPr>
            <a:xfrm>
              <a:off x="4010639" y="4271123"/>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51" name="object 51"/>
            <p:cNvSpPr txBox="1"/>
            <p:nvPr/>
          </p:nvSpPr>
          <p:spPr>
            <a:xfrm>
              <a:off x="949546" y="1781985"/>
              <a:ext cx="240982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a:t>
              </a:r>
              <a:r>
                <a:rPr sz="2000" dirty="0">
                  <a:latin typeface="Times New Roman" panose="02020603050405020304"/>
                  <a:cs typeface="Times New Roman" panose="02020603050405020304"/>
                </a:rPr>
                <a:t>be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empty</a:t>
              </a:r>
              <a:endParaRPr sz="2000">
                <a:latin typeface="Times New Roman" panose="02020603050405020304"/>
                <a:cs typeface="Times New Roman" panose="02020603050405020304"/>
              </a:endParaRPr>
            </a:p>
          </p:txBody>
        </p:sp>
        <p:sp>
          <p:nvSpPr>
            <p:cNvPr id="52" name="object 52"/>
            <p:cNvSpPr txBox="1"/>
            <p:nvPr/>
          </p:nvSpPr>
          <p:spPr>
            <a:xfrm>
              <a:off x="5434238" y="2035073"/>
              <a:ext cx="40386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contain at least </a:t>
              </a:r>
              <a:r>
                <a:rPr sz="2000" dirty="0">
                  <a:latin typeface="Times New Roman" panose="02020603050405020304"/>
                  <a:cs typeface="Times New Roman" panose="02020603050405020304"/>
                </a:rPr>
                <a:t>one</a:t>
              </a:r>
              <a:r>
                <a:rPr sz="2000" spc="-2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value</a:t>
              </a:r>
              <a:endParaRPr sz="2000">
                <a:latin typeface="Times New Roman" panose="02020603050405020304"/>
                <a:cs typeface="Times New Roman" panose="02020603050405020304"/>
              </a:endParaRPr>
            </a:p>
          </p:txBody>
        </p:sp>
        <p:sp>
          <p:nvSpPr>
            <p:cNvPr id="53" name="object 53"/>
            <p:cNvSpPr txBox="1"/>
            <p:nvPr/>
          </p:nvSpPr>
          <p:spPr>
            <a:xfrm>
              <a:off x="2740874" y="2658597"/>
              <a:ext cx="144335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Positive</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4" name="object 54"/>
            <p:cNvSpPr txBox="1"/>
            <p:nvPr/>
          </p:nvSpPr>
          <p:spPr>
            <a:xfrm>
              <a:off x="6480600" y="2674439"/>
              <a:ext cx="15417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Negative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5" name="object 55"/>
            <p:cNvSpPr txBox="1"/>
            <p:nvPr/>
          </p:nvSpPr>
          <p:spPr>
            <a:xfrm>
              <a:off x="907522" y="4466846"/>
              <a:ext cx="173101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&gt;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6" name="object 56"/>
            <p:cNvSpPr txBox="1"/>
            <p:nvPr/>
          </p:nvSpPr>
          <p:spPr>
            <a:xfrm>
              <a:off x="4495515" y="4454173"/>
              <a:ext cx="187452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&lt;=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7" name="object 57"/>
            <p:cNvSpPr/>
            <p:nvPr/>
          </p:nvSpPr>
          <p:spPr>
            <a:xfrm>
              <a:off x="3290275" y="5803386"/>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8"/>
                  </a:lnTo>
                  <a:lnTo>
                    <a:pt x="4866" y="191249"/>
                  </a:lnTo>
                  <a:lnTo>
                    <a:pt x="0" y="239520"/>
                  </a:lnTo>
                  <a:lnTo>
                    <a:pt x="4866" y="287792"/>
                  </a:lnTo>
                  <a:lnTo>
                    <a:pt x="18822" y="332753"/>
                  </a:lnTo>
                  <a:lnTo>
                    <a:pt x="40906" y="373439"/>
                  </a:lnTo>
                  <a:lnTo>
                    <a:pt x="70153" y="408887"/>
                  </a:lnTo>
                  <a:lnTo>
                    <a:pt x="105602" y="438135"/>
                  </a:lnTo>
                  <a:lnTo>
                    <a:pt x="146288" y="460219"/>
                  </a:lnTo>
                  <a:lnTo>
                    <a:pt x="191248" y="474175"/>
                  </a:lnTo>
                  <a:lnTo>
                    <a:pt x="239520" y="479041"/>
                  </a:lnTo>
                  <a:lnTo>
                    <a:pt x="287792" y="474175"/>
                  </a:lnTo>
                  <a:lnTo>
                    <a:pt x="332752" y="460219"/>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58" name="object 58"/>
            <p:cNvSpPr/>
            <p:nvPr/>
          </p:nvSpPr>
          <p:spPr>
            <a:xfrm>
              <a:off x="3290275" y="5803386"/>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59" name="object 59"/>
            <p:cNvSpPr txBox="1"/>
            <p:nvPr/>
          </p:nvSpPr>
          <p:spPr>
            <a:xfrm>
              <a:off x="3456472" y="5877806"/>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9</a:t>
              </a:r>
              <a:endParaRPr sz="2000">
                <a:latin typeface="Times New Roman" panose="02020603050405020304"/>
                <a:cs typeface="Times New Roman" panose="02020603050405020304"/>
              </a:endParaRPr>
            </a:p>
          </p:txBody>
        </p:sp>
        <p:sp>
          <p:nvSpPr>
            <p:cNvPr id="60" name="object 60"/>
            <p:cNvSpPr txBox="1"/>
            <p:nvPr/>
          </p:nvSpPr>
          <p:spPr>
            <a:xfrm>
              <a:off x="7664870" y="4964808"/>
              <a:ext cx="3480435" cy="1244600"/>
            </a:xfrm>
            <a:prstGeom prst="rect">
              <a:avLst/>
            </a:prstGeom>
          </p:spPr>
          <p:txBody>
            <a:bodyPr vert="horz" wrap="square" lIns="0" tIns="12700" rIns="0" bIns="0" rtlCol="0">
              <a:spAutoFit/>
            </a:bodyPr>
            <a:lstStyle/>
            <a:p>
              <a:pPr marL="12700" marR="5080">
                <a:lnSpc>
                  <a:spcPct val="100000"/>
                </a:lnSpc>
                <a:spcBef>
                  <a:spcPts val="100"/>
                </a:spcBef>
              </a:pPr>
              <a:r>
                <a:rPr sz="2000" b="1" dirty="0">
                  <a:latin typeface="Courier New" panose="02070309020205020404"/>
                  <a:cs typeface="Courier New" panose="02070309020205020404"/>
                </a:rPr>
                <a:t>P1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3</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4</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5</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spc="-5" dirty="0">
                  <a:latin typeface="Courier New" panose="02070309020205020404"/>
                  <a:cs typeface="Courier New" panose="02070309020205020404"/>
                </a:rPr>
                <a:t>•••  </a:t>
              </a:r>
              <a:r>
                <a:rPr sz="2000" b="1" dirty="0">
                  <a:latin typeface="Courier New" panose="02070309020205020404"/>
                  <a:cs typeface="Courier New" panose="02070309020205020404"/>
                </a:rPr>
                <a:t>P2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3</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5</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dirty="0">
                  <a:latin typeface="Courier New" panose="02070309020205020404"/>
                  <a:cs typeface="Courier New" panose="02070309020205020404"/>
                </a:rPr>
                <a:t>•••  </a:t>
              </a:r>
              <a:r>
                <a:rPr sz="2000" b="1" dirty="0">
                  <a:latin typeface="Courier New" panose="02070309020205020404"/>
                  <a:cs typeface="Courier New" panose="02070309020205020404"/>
                </a:rPr>
                <a:t>P3</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6</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7</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9  </a:t>
              </a:r>
              <a:endParaRPr lang="en-US" altLang="zh-CN" sz="2000" b="1" dirty="0">
                <a:latin typeface="Courier New" panose="02070309020205020404"/>
                <a:cs typeface="Courier New" panose="02070309020205020404"/>
              </a:endParaRPr>
            </a:p>
            <a:p>
              <a:pPr marL="12700" marR="5080">
                <a:lnSpc>
                  <a:spcPct val="100000"/>
                </a:lnSpc>
                <a:spcBef>
                  <a:spcPts val="100"/>
                </a:spcBef>
              </a:pPr>
              <a:r>
                <a:rPr sz="2000" b="1" dirty="0">
                  <a:latin typeface="Courier New" panose="02070309020205020404"/>
                  <a:cs typeface="Courier New" panose="02070309020205020404"/>
                </a:rPr>
                <a:t>P4</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6</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8</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9</a:t>
              </a:r>
              <a:endParaRPr sz="2000" dirty="0">
                <a:latin typeface="Courier New" panose="02070309020205020404"/>
                <a:cs typeface="Courier New" panose="02070309020205020404"/>
              </a:endParaRPr>
            </a:p>
          </p:txBody>
        </p:sp>
        <p:sp>
          <p:nvSpPr>
            <p:cNvPr id="61" name="object 61"/>
            <p:cNvSpPr/>
            <p:nvPr/>
          </p:nvSpPr>
          <p:spPr>
            <a:xfrm>
              <a:off x="2751268" y="5247891"/>
              <a:ext cx="779145" cy="530860"/>
            </a:xfrm>
            <a:custGeom>
              <a:avLst/>
              <a:gdLst/>
              <a:ahLst/>
              <a:cxnLst/>
              <a:rect l="l" t="t" r="r" b="b"/>
              <a:pathLst>
                <a:path w="779145" h="530860">
                  <a:moveTo>
                    <a:pt x="0" y="0"/>
                  </a:moveTo>
                  <a:lnTo>
                    <a:pt x="0" y="277746"/>
                  </a:lnTo>
                  <a:lnTo>
                    <a:pt x="778526" y="277746"/>
                  </a:lnTo>
                  <a:lnTo>
                    <a:pt x="778526" y="530288"/>
                  </a:lnTo>
                </a:path>
              </a:pathLst>
            </a:custGeom>
            <a:ln w="12699">
              <a:solidFill>
                <a:srgbClr val="000000"/>
              </a:solidFill>
            </a:ln>
          </p:spPr>
          <p:txBody>
            <a:bodyPr wrap="square" lIns="0" tIns="0" rIns="0" bIns="0" rtlCol="0"/>
            <a:lstStyle/>
            <a:p>
              <a:endParaRPr/>
            </a:p>
          </p:txBody>
        </p:sp>
        <p:sp>
          <p:nvSpPr>
            <p:cNvPr id="62" name="object 62"/>
            <p:cNvSpPr/>
            <p:nvPr/>
          </p:nvSpPr>
          <p:spPr>
            <a:xfrm>
              <a:off x="3470841" y="5687476"/>
              <a:ext cx="117908" cy="115909"/>
            </a:xfrm>
            <a:prstGeom prst="rect">
              <a:avLst/>
            </a:prstGeom>
            <a:blipFill>
              <a:blip r:embed="rId11" cstate="print"/>
              <a:stretch>
                <a:fillRect/>
              </a:stretch>
            </a:blipFill>
          </p:spPr>
          <p:txBody>
            <a:bodyPr wrap="square" lIns="0" tIns="0" rIns="0" bIns="0" rtlCol="0"/>
            <a:lstStyle/>
            <a:p>
              <a:endParaRPr/>
            </a:p>
          </p:txBody>
        </p:sp>
        <p:sp>
          <p:nvSpPr>
            <p:cNvPr id="63" name="object 63"/>
            <p:cNvSpPr/>
            <p:nvPr/>
          </p:nvSpPr>
          <p:spPr>
            <a:xfrm>
              <a:off x="3529796" y="5236991"/>
              <a:ext cx="878840" cy="541655"/>
            </a:xfrm>
            <a:custGeom>
              <a:avLst/>
              <a:gdLst/>
              <a:ahLst/>
              <a:cxnLst/>
              <a:rect l="l" t="t" r="r" b="b"/>
              <a:pathLst>
                <a:path w="878839" h="541654">
                  <a:moveTo>
                    <a:pt x="878804" y="0"/>
                  </a:moveTo>
                  <a:lnTo>
                    <a:pt x="878804" y="283197"/>
                  </a:lnTo>
                  <a:lnTo>
                    <a:pt x="0" y="283197"/>
                  </a:lnTo>
                  <a:lnTo>
                    <a:pt x="0" y="541189"/>
                  </a:lnTo>
                </a:path>
              </a:pathLst>
            </a:custGeom>
            <a:ln w="12699">
              <a:solidFill>
                <a:srgbClr val="000000"/>
              </a:solidFill>
            </a:ln>
          </p:spPr>
          <p:txBody>
            <a:bodyPr wrap="square" lIns="0" tIns="0" rIns="0" bIns="0" rtlCol="0"/>
            <a:lstStyle/>
            <a:p>
              <a:endParaRPr/>
            </a:p>
          </p:txBody>
        </p:sp>
        <p:sp>
          <p:nvSpPr>
            <p:cNvPr id="64" name="object 64"/>
            <p:cNvSpPr/>
            <p:nvPr/>
          </p:nvSpPr>
          <p:spPr>
            <a:xfrm>
              <a:off x="3470842" y="5687476"/>
              <a:ext cx="117908" cy="115908"/>
            </a:xfrm>
            <a:prstGeom prst="rect">
              <a:avLst/>
            </a:prstGeom>
            <a:blipFill>
              <a:blip r:embed="rId11" cstate="print"/>
              <a:stretch>
                <a:fillRect/>
              </a:stretch>
            </a:blipFill>
          </p:spPr>
          <p:txBody>
            <a:bodyPr wrap="square" lIns="0" tIns="0" rIns="0" bIns="0" rtlCol="0"/>
            <a:lstStyle/>
            <a:p>
              <a:endParaRPr/>
            </a:p>
          </p:txBody>
        </p:sp>
        <p:sp>
          <p:nvSpPr>
            <p:cNvPr id="65" name="object 65"/>
            <p:cNvSpPr txBox="1"/>
            <p:nvPr/>
          </p:nvSpPr>
          <p:spPr>
            <a:xfrm>
              <a:off x="8771466" y="3472162"/>
              <a:ext cx="2421890" cy="626110"/>
            </a:xfrm>
            <a:prstGeom prst="rect">
              <a:avLst/>
            </a:prstGeom>
            <a:solidFill>
              <a:srgbClr val="797BA9"/>
            </a:solidFill>
          </p:spPr>
          <p:txBody>
            <a:bodyPr vert="horz" wrap="square" lIns="0" tIns="144780" rIns="0" bIns="0" rtlCol="0">
              <a:spAutoFit/>
            </a:bodyPr>
            <a:lstStyle/>
            <a:p>
              <a:pPr marL="294640">
                <a:lnSpc>
                  <a:spcPct val="100000"/>
                </a:lnSpc>
                <a:spcBef>
                  <a:spcPts val="1140"/>
                </a:spcBef>
              </a:pPr>
              <a:r>
                <a:rPr sz="2200" dirty="0">
                  <a:solidFill>
                    <a:srgbClr val="FFFFFF"/>
                  </a:solidFill>
                  <a:latin typeface="微软雅黑" panose="020B0503020204020204" pitchFamily="34" charset="-122"/>
                  <a:cs typeface="微软雅黑" panose="020B0503020204020204" pitchFamily="34" charset="-122"/>
                </a:rPr>
                <a:t>环路复杂性：</a:t>
              </a:r>
              <a:r>
                <a:rPr sz="2200" dirty="0">
                  <a:solidFill>
                    <a:srgbClr val="FFFFFF"/>
                  </a:solidFill>
                  <a:latin typeface="Arial" panose="020B0604020202020204"/>
                  <a:cs typeface="Arial" panose="020B0604020202020204"/>
                </a:rPr>
                <a:t>4</a:t>
              </a:r>
              <a:endParaRPr sz="2200">
                <a:latin typeface="Arial" panose="020B0604020202020204"/>
                <a:cs typeface="Arial" panose="020B0604020202020204"/>
              </a:endParaRPr>
            </a:p>
          </p:txBody>
        </p:sp>
      </p:grpSp>
      <p:sp>
        <p:nvSpPr>
          <p:cNvPr id="67" name="矩形 66">
            <a:extLst>
              <a:ext uri="{FF2B5EF4-FFF2-40B4-BE49-F238E27FC236}">
                <a16:creationId xmlns:a16="http://schemas.microsoft.com/office/drawing/2014/main" id="{15658062-C326-461D-9E1B-656F79E473A7}"/>
              </a:ext>
            </a:extLst>
          </p:cNvPr>
          <p:cNvSpPr/>
          <p:nvPr/>
        </p:nvSpPr>
        <p:spPr>
          <a:xfrm>
            <a:off x="421942" y="-28857"/>
            <a:ext cx="11282868" cy="646331"/>
          </a:xfrm>
          <a:prstGeom prst="rect">
            <a:avLst/>
          </a:prstGeom>
        </p:spPr>
        <p:txBody>
          <a:bodyPr wrap="square">
            <a:spAutoFit/>
          </a:bodyPr>
          <a:lstStyle/>
          <a:p>
            <a:pPr algn="ctr"/>
            <a:r>
              <a:rPr lang="zh-CN" altLang="en-US" dirty="0">
                <a:latin typeface="华文楷体" panose="02010600040101010101" pitchFamily="2" charset="-122"/>
                <a:ea typeface="华文楷体" panose="02010600040101010101" pitchFamily="2" charset="-122"/>
              </a:rPr>
              <a:t>基本独立路径集：一条独立路径和其他独立路径相比，至少要包含一条新的边</a:t>
            </a:r>
            <a:endParaRPr lang="en-US" altLang="zh-CN" dirty="0">
              <a:latin typeface="华文楷体" panose="02010600040101010101" pitchFamily="2" charset="-122"/>
              <a:ea typeface="华文楷体" panose="02010600040101010101" pitchFamily="2" charset="-122"/>
            </a:endParaRPr>
          </a:p>
          <a:p>
            <a:pPr algn="ctr"/>
            <a:r>
              <a:rPr lang="zh-CN" altLang="en-US" dirty="0">
                <a:latin typeface="华文楷体" panose="02010600040101010101" pitchFamily="2" charset="-122"/>
                <a:ea typeface="华文楷体" panose="02010600040101010101" pitchFamily="2" charset="-122"/>
              </a:rPr>
              <a:t>环路复杂度等于程序的独立路径数</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2338" y="1526483"/>
            <a:ext cx="9002395" cy="3911600"/>
          </a:xfrm>
          <a:prstGeom prst="rect">
            <a:avLst/>
          </a:prstGeom>
        </p:spPr>
        <p:txBody>
          <a:bodyPr vert="horz" wrap="square" lIns="0" tIns="12700" rIns="0" bIns="0" rtlCol="0">
            <a:spAutoFit/>
          </a:bodyPr>
          <a:lstStyle/>
          <a:p>
            <a:pPr marL="545465" marR="5080" indent="-533400">
              <a:lnSpc>
                <a:spcPct val="150000"/>
              </a:lnSpc>
              <a:spcBef>
                <a:spcPts val="100"/>
              </a:spcBef>
              <a:tabLst>
                <a:tab pos="554990" algn="l"/>
              </a:tabLst>
            </a:pPr>
            <a:r>
              <a:rPr sz="2000" dirty="0">
                <a:latin typeface="微软雅黑" panose="020B0503020204020204" pitchFamily="34" charset="-122"/>
                <a:cs typeface="微软雅黑" panose="020B0503020204020204" pitchFamily="34" charset="-122"/>
              </a:rPr>
              <a:t>①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，文件有数据</a:t>
            </a:r>
            <a:r>
              <a:rPr sz="2000" b="1" spc="-5" dirty="0">
                <a:latin typeface="Courier New" panose="02070309020205020404"/>
                <a:cs typeface="Courier New" panose="02070309020205020404"/>
              </a:rPr>
              <a:t>{60.0,100.0,-1.0,110.0}</a:t>
            </a:r>
            <a:r>
              <a:rPr sz="2000" spc="-5" dirty="0">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覆盖路径</a:t>
            </a:r>
            <a:r>
              <a:rPr sz="2000" b="1" spc="-5" dirty="0">
                <a:latin typeface="Courier New" panose="02070309020205020404"/>
                <a:cs typeface="Courier New" panose="02070309020205020404"/>
              </a:rPr>
              <a:t>P1  </a:t>
            </a:r>
            <a:r>
              <a:rPr sz="2000" dirty="0">
                <a:latin typeface="微软雅黑" panose="020B0503020204020204" pitchFamily="34" charset="-122"/>
                <a:cs typeface="微软雅黑" panose="020B0503020204020204" pitchFamily="34" charset="-122"/>
              </a:rPr>
              <a:t>输出：打印信息</a:t>
            </a:r>
            <a:r>
              <a:rPr sz="2000" spc="-5" dirty="0">
                <a:latin typeface="微软雅黑" panose="020B0503020204020204" pitchFamily="34" charset="-122"/>
                <a:cs typeface="微软雅黑" panose="020B0503020204020204" pitchFamily="34" charset="-122"/>
              </a:rPr>
              <a:t>“</a:t>
            </a:r>
            <a:r>
              <a:rPr sz="2000" b="1" spc="-5" dirty="0">
                <a:latin typeface="Courier New" panose="02070309020205020404"/>
                <a:cs typeface="Courier New" panose="02070309020205020404"/>
              </a:rPr>
              <a:t>The</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score is</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90.0</a:t>
            </a:r>
            <a:r>
              <a:rPr sz="2000" dirty="0">
                <a:latin typeface="微软雅黑" panose="020B0503020204020204" pitchFamily="34" charset="-122"/>
                <a:cs typeface="微软雅黑" panose="020B0503020204020204" pitchFamily="34" charset="-122"/>
              </a:rPr>
              <a:t>”</a:t>
            </a:r>
          </a:p>
          <a:p>
            <a:pPr marL="545465" marR="1224280" indent="-533400">
              <a:lnSpc>
                <a:spcPct val="150000"/>
              </a:lnSpc>
              <a:spcBef>
                <a:spcPts val="600"/>
              </a:spcBef>
              <a:tabLst>
                <a:tab pos="554990" algn="l"/>
              </a:tabLst>
            </a:pPr>
            <a:r>
              <a:rPr sz="2000" dirty="0">
                <a:latin typeface="微软雅黑" panose="020B0503020204020204" pitchFamily="34" charset="-122"/>
                <a:cs typeface="微软雅黑" panose="020B0503020204020204" pitchFamily="34" charset="-122"/>
              </a:rPr>
              <a:t>②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，文件有数据</a:t>
            </a:r>
            <a:r>
              <a:rPr sz="2000" b="1" dirty="0">
                <a:latin typeface="Courier New" panose="02070309020205020404"/>
                <a:cs typeface="Courier New" panose="02070309020205020404"/>
              </a:rPr>
              <a:t>{0.0,-1.0,75.0</a:t>
            </a:r>
            <a:r>
              <a:rPr sz="2000" b="1" spc="-5" dirty="0">
                <a:latin typeface="Courier New" panose="02070309020205020404"/>
                <a:cs typeface="Courier New" panose="02070309020205020404"/>
              </a:rPr>
              <a:t>}</a:t>
            </a:r>
            <a:r>
              <a:rPr sz="2000" dirty="0">
                <a:latin typeface="微软雅黑" panose="020B0503020204020204" pitchFamily="34" charset="-122"/>
                <a:cs typeface="微软雅黑" panose="020B0503020204020204" pitchFamily="34" charset="-122"/>
              </a:rPr>
              <a:t>，覆盖路径</a:t>
            </a:r>
            <a:r>
              <a:rPr sz="2000" b="1" dirty="0">
                <a:latin typeface="Courier New" panose="02070309020205020404"/>
                <a:cs typeface="Courier New" panose="02070309020205020404"/>
              </a:rPr>
              <a:t>P2 </a:t>
            </a:r>
            <a:r>
              <a:rPr sz="2000" dirty="0">
                <a:latin typeface="微软雅黑" panose="020B0503020204020204" pitchFamily="34" charset="-122"/>
                <a:cs typeface="微软雅黑" panose="020B0503020204020204" pitchFamily="34" charset="-122"/>
              </a:rPr>
              <a:t>输出：打印信息</a:t>
            </a:r>
            <a:r>
              <a:rPr sz="2000" spc="-5" dirty="0">
                <a:latin typeface="微软雅黑" panose="020B0503020204020204" pitchFamily="34" charset="-122"/>
                <a:cs typeface="微软雅黑" panose="020B0503020204020204" pitchFamily="34" charset="-122"/>
              </a:rPr>
              <a:t>“</a:t>
            </a:r>
            <a:r>
              <a:rPr sz="2000" b="1" spc="-5" dirty="0">
                <a:latin typeface="Courier New" panose="02070309020205020404"/>
                <a:cs typeface="Courier New" panose="02070309020205020404"/>
              </a:rPr>
              <a:t>The</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score</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is</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75.0</a:t>
            </a:r>
            <a:r>
              <a:rPr sz="2000" dirty="0">
                <a:latin typeface="微软雅黑" panose="020B0503020204020204" pitchFamily="34" charset="-122"/>
                <a:cs typeface="微软雅黑" panose="020B0503020204020204" pitchFamily="34" charset="-122"/>
              </a:rPr>
              <a:t>”</a:t>
            </a:r>
          </a:p>
          <a:p>
            <a:pPr marL="545465" marR="3002280" indent="-533400">
              <a:lnSpc>
                <a:spcPct val="150000"/>
              </a:lnSpc>
              <a:spcBef>
                <a:spcPts val="600"/>
              </a:spcBef>
              <a:tabLst>
                <a:tab pos="554990" algn="l"/>
              </a:tabLst>
            </a:pPr>
            <a:r>
              <a:rPr sz="2000" dirty="0">
                <a:latin typeface="微软雅黑" panose="020B0503020204020204" pitchFamily="34" charset="-122"/>
                <a:cs typeface="微软雅黑" panose="020B0503020204020204" pitchFamily="34" charset="-122"/>
              </a:rPr>
              <a:t>③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，文件无任何数据，覆盖路径</a:t>
            </a:r>
            <a:r>
              <a:rPr sz="2000" b="1" dirty="0">
                <a:latin typeface="Courier New" panose="02070309020205020404"/>
                <a:cs typeface="Courier New" panose="02070309020205020404"/>
              </a:rPr>
              <a:t>P3 </a:t>
            </a:r>
            <a:r>
              <a:rPr sz="2000" dirty="0">
                <a:latin typeface="微软雅黑" panose="020B0503020204020204" pitchFamily="34" charset="-122"/>
                <a:cs typeface="微软雅黑" panose="020B0503020204020204" pitchFamily="34" charset="-122"/>
              </a:rPr>
              <a:t>输出：</a:t>
            </a:r>
            <a:r>
              <a:rPr sz="2000" dirty="0">
                <a:highlight>
                  <a:srgbClr val="00FFFF"/>
                </a:highlight>
                <a:latin typeface="微软雅黑" panose="020B0503020204020204" pitchFamily="34" charset="-122"/>
                <a:cs typeface="微软雅黑" panose="020B0503020204020204" pitchFamily="34" charset="-122"/>
              </a:rPr>
              <a:t>该路径不可达</a:t>
            </a:r>
          </a:p>
          <a:p>
            <a:pPr marL="545465" marR="2656205" indent="-533400">
              <a:lnSpc>
                <a:spcPct val="150000"/>
              </a:lnSpc>
              <a:spcBef>
                <a:spcPts val="600"/>
              </a:spcBef>
              <a:tabLst>
                <a:tab pos="554990" algn="l"/>
              </a:tabLst>
            </a:pPr>
            <a:r>
              <a:rPr sz="2000" dirty="0">
                <a:latin typeface="微软雅黑" panose="020B0503020204020204" pitchFamily="34" charset="-122"/>
                <a:cs typeface="微软雅黑" panose="020B0503020204020204" pitchFamily="34" charset="-122"/>
              </a:rPr>
              <a:t>④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，文件无任何数据，覆盖路径</a:t>
            </a:r>
            <a:r>
              <a:rPr sz="2000" b="1" spc="-5" dirty="0">
                <a:latin typeface="Courier New" panose="02070309020205020404"/>
                <a:cs typeface="Courier New" panose="02070309020205020404"/>
              </a:rPr>
              <a:t>P4  </a:t>
            </a:r>
            <a:r>
              <a:rPr sz="2000" dirty="0">
                <a:latin typeface="微软雅黑" panose="020B0503020204020204" pitchFamily="34" charset="-122"/>
                <a:cs typeface="微软雅黑" panose="020B0503020204020204" pitchFamily="34" charset="-122"/>
              </a:rPr>
              <a:t>输出：打印信息</a:t>
            </a:r>
            <a:r>
              <a:rPr sz="2000" spc="-5" dirty="0">
                <a:latin typeface="微软雅黑" panose="020B0503020204020204" pitchFamily="34" charset="-122"/>
                <a:cs typeface="微软雅黑" panose="020B0503020204020204" pitchFamily="34" charset="-122"/>
              </a:rPr>
              <a:t>“</a:t>
            </a:r>
            <a:r>
              <a:rPr sz="2000" b="1" spc="-5" dirty="0">
                <a:latin typeface="Courier New" panose="02070309020205020404"/>
                <a:cs typeface="Courier New" panose="02070309020205020404"/>
              </a:rPr>
              <a:t>No</a:t>
            </a:r>
            <a:r>
              <a:rPr sz="2000" b="1" spc="-25" dirty="0">
                <a:latin typeface="Courier New" panose="02070309020205020404"/>
                <a:cs typeface="Courier New" panose="02070309020205020404"/>
              </a:rPr>
              <a:t> </a:t>
            </a:r>
            <a:r>
              <a:rPr sz="2000" b="1" spc="-5" dirty="0">
                <a:latin typeface="Courier New" panose="02070309020205020404"/>
                <a:cs typeface="Courier New" panose="02070309020205020404"/>
              </a:rPr>
              <a:t>scores</a:t>
            </a:r>
            <a:r>
              <a:rPr sz="2000" b="1" spc="-25" dirty="0">
                <a:latin typeface="Courier New" panose="02070309020205020404"/>
                <a:cs typeface="Courier New" panose="02070309020205020404"/>
              </a:rPr>
              <a:t> </a:t>
            </a:r>
            <a:r>
              <a:rPr sz="2000" b="1" spc="-5" dirty="0">
                <a:latin typeface="Courier New" panose="02070309020205020404"/>
                <a:cs typeface="Courier New" panose="02070309020205020404"/>
              </a:rPr>
              <a:t>found</a:t>
            </a:r>
            <a:r>
              <a:rPr sz="2000" b="1" spc="-25" dirty="0">
                <a:latin typeface="Courier New" panose="02070309020205020404"/>
                <a:cs typeface="Courier New" panose="02070309020205020404"/>
              </a:rPr>
              <a:t> </a:t>
            </a:r>
            <a:r>
              <a:rPr sz="2000" b="1" spc="-5" dirty="0">
                <a:latin typeface="Courier New" panose="02070309020205020404"/>
                <a:cs typeface="Courier New" panose="02070309020205020404"/>
              </a:rPr>
              <a:t>in</a:t>
            </a:r>
            <a:r>
              <a:rPr sz="2000" b="1" spc="-20" dirty="0">
                <a:latin typeface="Courier New" panose="02070309020205020404"/>
                <a:cs typeface="Courier New" panose="02070309020205020404"/>
              </a:rPr>
              <a:t> </a:t>
            </a:r>
            <a:r>
              <a:rPr sz="2000" b="1" dirty="0">
                <a:latin typeface="Courier New" panose="02070309020205020404"/>
                <a:cs typeface="Courier New" panose="02070309020205020404"/>
              </a:rPr>
              <a:t>file</a:t>
            </a:r>
            <a:r>
              <a:rPr sz="2000" dirty="0">
                <a:latin typeface="微软雅黑" panose="020B0503020204020204" pitchFamily="34" charset="-122"/>
                <a:cs typeface="微软雅黑" panose="020B0503020204020204" pitchFamily="34" charset="-122"/>
              </a:rPr>
              <a:t>”</a:t>
            </a:r>
          </a:p>
        </p:txBody>
      </p:sp>
      <p:sp>
        <p:nvSpPr>
          <p:cNvPr id="4" name="object 4"/>
          <p:cNvSpPr/>
          <p:nvPr/>
        </p:nvSpPr>
        <p:spPr>
          <a:xfrm>
            <a:off x="795866" y="3972204"/>
            <a:ext cx="6400800" cy="0"/>
          </a:xfrm>
          <a:custGeom>
            <a:avLst/>
            <a:gdLst/>
            <a:ahLst/>
            <a:cxnLst/>
            <a:rect l="l" t="t" r="r" b="b"/>
            <a:pathLst>
              <a:path w="6400800">
                <a:moveTo>
                  <a:pt x="0" y="0"/>
                </a:moveTo>
                <a:lnTo>
                  <a:pt x="6400798" y="0"/>
                </a:lnTo>
              </a:path>
            </a:pathLst>
          </a:custGeom>
          <a:ln w="28574">
            <a:solidFill>
              <a:srgbClr val="D81E00"/>
            </a:solidFill>
          </a:ln>
        </p:spPr>
        <p:txBody>
          <a:bodyPr wrap="square" lIns="0" tIns="0" rIns="0" bIns="0" rtlCol="0"/>
          <a:lstStyle/>
          <a:p>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107</a:t>
            </a:fld>
            <a:endParaRPr lang="zh-CN" altLang="en-US"/>
          </a:p>
        </p:txBody>
      </p:sp>
      <p:sp>
        <p:nvSpPr>
          <p:cNvPr id="7" name="标题 6"/>
          <p:cNvSpPr>
            <a:spLocks noGrp="1"/>
          </p:cNvSpPr>
          <p:nvPr>
            <p:ph type="title"/>
          </p:nvPr>
        </p:nvSpPr>
        <p:spPr/>
        <p:txBody>
          <a:bodyPr/>
          <a:lstStyle/>
          <a:p>
            <a:r>
              <a:rPr lang="zh-CN" altLang="en-US" dirty="0"/>
              <a:t>示例：基本路径测试</a:t>
            </a:r>
          </a:p>
        </p:txBody>
      </p:sp>
      <p:sp>
        <p:nvSpPr>
          <p:cNvPr id="6" name="矩形 5">
            <a:extLst>
              <a:ext uri="{FF2B5EF4-FFF2-40B4-BE49-F238E27FC236}">
                <a16:creationId xmlns:a16="http://schemas.microsoft.com/office/drawing/2014/main" id="{A8EE0B6E-BFF8-40A4-BAA9-02234C70B171}"/>
              </a:ext>
            </a:extLst>
          </p:cNvPr>
          <p:cNvSpPr/>
          <p:nvPr/>
        </p:nvSpPr>
        <p:spPr>
          <a:xfrm>
            <a:off x="6297800" y="761138"/>
            <a:ext cx="4108817" cy="369332"/>
          </a:xfrm>
          <a:prstGeom prst="rect">
            <a:avLst/>
          </a:prstGeom>
        </p:spPr>
        <p:txBody>
          <a:bodyPr wrap="none">
            <a:spAutoFit/>
          </a:bodyPr>
          <a:lstStyle/>
          <a:p>
            <a:r>
              <a:rPr lang="zh-CN" altLang="en-US" dirty="0">
                <a:solidFill>
                  <a:srgbClr val="FF0000"/>
                </a:solidFill>
                <a:latin typeface="华文楷体" panose="02010600040101010101" pitchFamily="2" charset="-122"/>
                <a:ea typeface="华文楷体" panose="02010600040101010101" pitchFamily="2" charset="-122"/>
              </a:rPr>
              <a:t>选择合适的输入数据，形成测试用例集</a:t>
            </a:r>
          </a:p>
        </p:txBody>
      </p:sp>
      <p:sp>
        <p:nvSpPr>
          <p:cNvPr id="8" name="矩形 7">
            <a:extLst>
              <a:ext uri="{FF2B5EF4-FFF2-40B4-BE49-F238E27FC236}">
                <a16:creationId xmlns:a16="http://schemas.microsoft.com/office/drawing/2014/main" id="{FCE808C7-DC5F-4089-A1A4-AAC7950E42FB}"/>
              </a:ext>
            </a:extLst>
          </p:cNvPr>
          <p:cNvSpPr/>
          <p:nvPr/>
        </p:nvSpPr>
        <p:spPr>
          <a:xfrm>
            <a:off x="891538" y="5617024"/>
            <a:ext cx="10705376" cy="369332"/>
          </a:xfrm>
          <a:prstGeom prst="rect">
            <a:avLst/>
          </a:prstGeom>
        </p:spPr>
        <p:txBody>
          <a:bodyPr wrap="square">
            <a:spAutoFit/>
          </a:bodyPr>
          <a:lstStyle/>
          <a:p>
            <a:pPr algn="ctr"/>
            <a:r>
              <a:rPr lang="zh-CN" altLang="en-US" dirty="0">
                <a:solidFill>
                  <a:srgbClr val="FF0000"/>
                </a:solidFill>
                <a:latin typeface="华文楷体" panose="02010600040101010101" pitchFamily="2" charset="-122"/>
                <a:ea typeface="华文楷体" panose="02010600040101010101" pitchFamily="2" charset="-122"/>
              </a:rPr>
              <a:t>有一些独立路径往往不是孤立的，它是正常控制流的一部分，比如</a:t>
            </a:r>
            <a:r>
              <a:rPr lang="en-US" altLang="zh-CN" dirty="0">
                <a:solidFill>
                  <a:srgbClr val="FF0000"/>
                </a:solidFill>
                <a:latin typeface="华文楷体" panose="02010600040101010101" pitchFamily="2" charset="-122"/>
                <a:ea typeface="华文楷体" panose="02010600040101010101" pitchFamily="2" charset="-122"/>
              </a:rPr>
              <a:t>P3</a:t>
            </a:r>
            <a:r>
              <a:rPr lang="zh-CN" altLang="en-US" dirty="0">
                <a:solidFill>
                  <a:srgbClr val="FF0000"/>
                </a:solidFill>
                <a:latin typeface="华文楷体" panose="02010600040101010101" pitchFamily="2" charset="-122"/>
                <a:ea typeface="华文楷体" panose="02010600040101010101" pitchFamily="2" charset="-122"/>
              </a:rPr>
              <a:t>就是</a:t>
            </a:r>
            <a:r>
              <a:rPr lang="en-US" altLang="zh-CN" dirty="0">
                <a:solidFill>
                  <a:srgbClr val="FF0000"/>
                </a:solidFill>
                <a:latin typeface="华文楷体" panose="02010600040101010101" pitchFamily="2" charset="-122"/>
                <a:ea typeface="华文楷体" panose="02010600040101010101" pitchFamily="2" charset="-122"/>
              </a:rPr>
              <a:t>p1</a:t>
            </a:r>
            <a:r>
              <a:rPr lang="zh-CN" altLang="en-US" dirty="0">
                <a:solidFill>
                  <a:srgbClr val="FF0000"/>
                </a:solidFill>
                <a:latin typeface="华文楷体" panose="02010600040101010101" pitchFamily="2" charset="-122"/>
                <a:ea typeface="华文楷体" panose="02010600040101010101" pitchFamily="2" charset="-122"/>
              </a:rPr>
              <a:t>和</a:t>
            </a:r>
            <a:r>
              <a:rPr lang="en-US" altLang="zh-CN" dirty="0">
                <a:solidFill>
                  <a:srgbClr val="FF0000"/>
                </a:solidFill>
                <a:latin typeface="华文楷体" panose="02010600040101010101" pitchFamily="2" charset="-122"/>
                <a:ea typeface="华文楷体" panose="02010600040101010101" pitchFamily="2" charset="-122"/>
              </a:rPr>
              <a:t>2</a:t>
            </a:r>
            <a:r>
              <a:rPr lang="zh-CN" altLang="en-US" dirty="0">
                <a:solidFill>
                  <a:srgbClr val="FF0000"/>
                </a:solidFill>
                <a:latin typeface="华文楷体" panose="02010600040101010101" pitchFamily="2" charset="-122"/>
                <a:ea typeface="华文楷体" panose="02010600040101010101" pitchFamily="2" charset="-122"/>
              </a:rPr>
              <a:t>的一部分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06648" y="1444166"/>
            <a:ext cx="6896100" cy="4542155"/>
          </a:xfrm>
          <a:prstGeom prst="rect">
            <a:avLst/>
          </a:prstGeom>
        </p:spPr>
        <p:txBody>
          <a:bodyPr vert="horz" wrap="square" lIns="0" tIns="198120" rIns="0" bIns="0" rtlCol="0">
            <a:spAutoFit/>
          </a:bodyPr>
          <a:lstStyle/>
          <a:p>
            <a:pPr marL="12700">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循环测试</a:t>
            </a:r>
            <a:endParaRPr sz="2200">
              <a:latin typeface="微软雅黑" panose="020B0503020204020204" pitchFamily="34" charset="-122"/>
              <a:cs typeface="微软雅黑" panose="020B0503020204020204" pitchFamily="34" charset="-122"/>
            </a:endParaRPr>
          </a:p>
          <a:p>
            <a:pPr marL="457200" indent="-355600">
              <a:lnSpc>
                <a:spcPct val="100000"/>
              </a:lnSpc>
              <a:spcBef>
                <a:spcPts val="1460"/>
              </a:spcBef>
              <a:buFont typeface="Arial" panose="020B0604020202020204"/>
              <a:buChar char="•"/>
              <a:tabLst>
                <a:tab pos="456565" algn="l"/>
                <a:tab pos="457200" algn="l"/>
              </a:tabLst>
            </a:pPr>
            <a:r>
              <a:rPr sz="2200" dirty="0">
                <a:latin typeface="微软雅黑" panose="020B0503020204020204" pitchFamily="34" charset="-122"/>
                <a:cs typeface="微软雅黑" panose="020B0503020204020204" pitchFamily="34" charset="-122"/>
              </a:rPr>
              <a:t>目的：检查循环结构的有效性</a:t>
            </a:r>
            <a:endParaRPr sz="2200">
              <a:latin typeface="微软雅黑" panose="020B0503020204020204" pitchFamily="34" charset="-122"/>
              <a:cs typeface="微软雅黑" panose="020B0503020204020204" pitchFamily="34" charset="-122"/>
            </a:endParaRPr>
          </a:p>
          <a:p>
            <a:pPr marL="457200" indent="-355600">
              <a:lnSpc>
                <a:spcPct val="100000"/>
              </a:lnSpc>
              <a:spcBef>
                <a:spcPts val="860"/>
              </a:spcBef>
              <a:buFont typeface="Arial" panose="020B0604020202020204"/>
              <a:buChar char="•"/>
              <a:tabLst>
                <a:tab pos="456565" algn="l"/>
                <a:tab pos="457200" algn="l"/>
              </a:tabLst>
            </a:pPr>
            <a:r>
              <a:rPr sz="2200" dirty="0">
                <a:latin typeface="微软雅黑" panose="020B0503020204020204" pitchFamily="34" charset="-122"/>
                <a:cs typeface="微软雅黑" panose="020B0503020204020204" pitchFamily="34" charset="-122"/>
              </a:rPr>
              <a:t>类型：简单循环、嵌套循环、串接循环和非结构循环</a:t>
            </a:r>
            <a:endParaRPr sz="2200">
              <a:latin typeface="微软雅黑" panose="020B0503020204020204" pitchFamily="34" charset="-122"/>
              <a:cs typeface="微软雅黑" panose="020B0503020204020204" pitchFamily="34" charset="-122"/>
            </a:endParaRPr>
          </a:p>
          <a:p>
            <a:pPr>
              <a:lnSpc>
                <a:spcPct val="100000"/>
              </a:lnSpc>
              <a:spcBef>
                <a:spcPts val="15"/>
              </a:spcBef>
              <a:buFont typeface="Arial" panose="020B0604020202020204"/>
              <a:buChar char="•"/>
            </a:pPr>
            <a:endParaRPr sz="2700">
              <a:latin typeface="Times New Roman" panose="02020603050405020304"/>
              <a:cs typeface="Times New Roman" panose="02020603050405020304"/>
            </a:endParaRPr>
          </a:p>
          <a:p>
            <a:pPr marL="12700">
              <a:lnSpc>
                <a:spcPct val="100000"/>
              </a:lnSpc>
            </a:pPr>
            <a:r>
              <a:rPr sz="2200" dirty="0">
                <a:solidFill>
                  <a:srgbClr val="0033CC"/>
                </a:solidFill>
                <a:latin typeface="微软雅黑" panose="020B0503020204020204" pitchFamily="34" charset="-122"/>
                <a:cs typeface="微软雅黑" panose="020B0503020204020204" pitchFamily="34" charset="-122"/>
              </a:rPr>
              <a:t>简单循环（次数为</a:t>
            </a:r>
            <a:r>
              <a:rPr sz="2200" spc="-5" dirty="0">
                <a:solidFill>
                  <a:srgbClr val="0033CC"/>
                </a:solidFill>
                <a:latin typeface="微软雅黑" panose="020B0503020204020204" pitchFamily="34" charset="-122"/>
                <a:cs typeface="微软雅黑" panose="020B0503020204020204" pitchFamily="34" charset="-122"/>
              </a:rPr>
              <a:t> </a:t>
            </a:r>
            <a:r>
              <a:rPr sz="2200" dirty="0">
                <a:solidFill>
                  <a:srgbClr val="0033CC"/>
                </a:solidFill>
                <a:latin typeface="Arial" panose="020B0604020202020204"/>
                <a:cs typeface="Arial" panose="020B0604020202020204"/>
              </a:rPr>
              <a:t>n</a:t>
            </a:r>
            <a:r>
              <a:rPr sz="2200" dirty="0">
                <a:solidFill>
                  <a:srgbClr val="0033CC"/>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464820" indent="-363855">
              <a:lnSpc>
                <a:spcPct val="100000"/>
              </a:lnSpc>
              <a:spcBef>
                <a:spcPts val="14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完全跳过循环</a:t>
            </a:r>
            <a:endParaRPr sz="2200">
              <a:latin typeface="微软雅黑" panose="020B0503020204020204" pitchFamily="34" charset="-122"/>
              <a:cs typeface="微软雅黑" panose="020B0503020204020204" pitchFamily="34" charset="-122"/>
            </a:endParaRP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只循环</a:t>
            </a:r>
            <a:r>
              <a:rPr sz="2200" spc="-5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1</a:t>
            </a:r>
            <a:r>
              <a:rPr sz="2200" spc="-4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次</a:t>
            </a:r>
            <a:endParaRPr sz="2200">
              <a:latin typeface="微软雅黑" panose="020B0503020204020204" pitchFamily="34" charset="-122"/>
              <a:cs typeface="微软雅黑" panose="020B0503020204020204" pitchFamily="34" charset="-122"/>
            </a:endParaRP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只循环</a:t>
            </a:r>
            <a:r>
              <a:rPr sz="2200" spc="-5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2</a:t>
            </a:r>
            <a:r>
              <a:rPr sz="2200" spc="-4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次</a:t>
            </a:r>
            <a:endParaRPr sz="2200">
              <a:latin typeface="微软雅黑" panose="020B0503020204020204" pitchFamily="34" charset="-122"/>
              <a:cs typeface="微软雅黑" panose="020B0503020204020204" pitchFamily="34" charset="-122"/>
            </a:endParaRP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循环</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m</a:t>
            </a:r>
            <a:r>
              <a:rPr sz="2200" dirty="0">
                <a:latin typeface="微软雅黑" panose="020B0503020204020204" pitchFamily="34" charset="-122"/>
                <a:cs typeface="微软雅黑" panose="020B0503020204020204" pitchFamily="34" charset="-122"/>
              </a:rPr>
              <a:t>（</a:t>
            </a:r>
            <a:r>
              <a:rPr sz="2200" spc="-40"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m</a:t>
            </a:r>
            <a:r>
              <a:rPr sz="2200" spc="-10" dirty="0">
                <a:latin typeface="Arial" panose="020B0604020202020204"/>
                <a:cs typeface="Arial" panose="020B0604020202020204"/>
              </a:rPr>
              <a:t> </a:t>
            </a:r>
            <a:r>
              <a:rPr sz="2200" dirty="0">
                <a:latin typeface="Arial" panose="020B0604020202020204"/>
                <a:cs typeface="Arial" panose="020B0604020202020204"/>
              </a:rPr>
              <a:t>&lt; n </a:t>
            </a:r>
            <a:r>
              <a:rPr sz="2200" dirty="0">
                <a:latin typeface="微软雅黑" panose="020B0503020204020204" pitchFamily="34" charset="-122"/>
                <a:cs typeface="微软雅黑" panose="020B0503020204020204" pitchFamily="34" charset="-122"/>
              </a:rPr>
              <a:t>）次</a:t>
            </a:r>
            <a:endParaRPr sz="2200">
              <a:latin typeface="微软雅黑" panose="020B0503020204020204" pitchFamily="34" charset="-122"/>
              <a:cs typeface="微软雅黑" panose="020B0503020204020204" pitchFamily="34" charset="-122"/>
            </a:endParaRP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分别循环</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n-1,</a:t>
            </a:r>
            <a:r>
              <a:rPr sz="2200" spc="-5" dirty="0">
                <a:latin typeface="Arial" panose="020B0604020202020204"/>
                <a:cs typeface="Arial" panose="020B0604020202020204"/>
              </a:rPr>
              <a:t> </a:t>
            </a:r>
            <a:r>
              <a:rPr sz="2200" dirty="0">
                <a:latin typeface="Arial" panose="020B0604020202020204"/>
                <a:cs typeface="Arial" panose="020B0604020202020204"/>
              </a:rPr>
              <a:t>n,</a:t>
            </a:r>
            <a:r>
              <a:rPr sz="2200" spc="-10" dirty="0">
                <a:latin typeface="Arial" panose="020B0604020202020204"/>
                <a:cs typeface="Arial" panose="020B0604020202020204"/>
              </a:rPr>
              <a:t> </a:t>
            </a:r>
            <a:r>
              <a:rPr sz="2200" dirty="0">
                <a:latin typeface="Arial" panose="020B0604020202020204"/>
                <a:cs typeface="Arial" panose="020B0604020202020204"/>
              </a:rPr>
              <a:t>n+1</a:t>
            </a:r>
            <a:r>
              <a:rPr sz="2200" spc="-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次</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7065031" y="4131144"/>
            <a:ext cx="1499235" cy="479425"/>
          </a:xfrm>
          <a:custGeom>
            <a:avLst/>
            <a:gdLst/>
            <a:ahLst/>
            <a:cxnLst/>
            <a:rect l="l" t="t" r="r" b="b"/>
            <a:pathLst>
              <a:path w="1499234" h="479425">
                <a:moveTo>
                  <a:pt x="0" y="239472"/>
                </a:moveTo>
                <a:lnTo>
                  <a:pt x="749342" y="0"/>
                </a:lnTo>
                <a:lnTo>
                  <a:pt x="1498684" y="239472"/>
                </a:lnTo>
                <a:lnTo>
                  <a:pt x="749342" y="478944"/>
                </a:lnTo>
                <a:lnTo>
                  <a:pt x="0" y="239472"/>
                </a:lnTo>
                <a:close/>
              </a:path>
            </a:pathLst>
          </a:custGeom>
          <a:ln w="19049">
            <a:solidFill>
              <a:srgbClr val="000000"/>
            </a:solidFill>
          </a:ln>
        </p:spPr>
        <p:txBody>
          <a:bodyPr wrap="square" lIns="0" tIns="0" rIns="0" bIns="0" rtlCol="0"/>
          <a:lstStyle/>
          <a:p>
            <a:endParaRPr/>
          </a:p>
        </p:txBody>
      </p:sp>
      <p:sp>
        <p:nvSpPr>
          <p:cNvPr id="5" name="object 5"/>
          <p:cNvSpPr/>
          <p:nvPr/>
        </p:nvSpPr>
        <p:spPr>
          <a:xfrm>
            <a:off x="7223642" y="5049920"/>
            <a:ext cx="1177925" cy="399415"/>
          </a:xfrm>
          <a:custGeom>
            <a:avLst/>
            <a:gdLst/>
            <a:ahLst/>
            <a:cxnLst/>
            <a:rect l="l" t="t" r="r" b="b"/>
            <a:pathLst>
              <a:path w="1177925" h="399414">
                <a:moveTo>
                  <a:pt x="0" y="0"/>
                </a:moveTo>
                <a:lnTo>
                  <a:pt x="1177536" y="0"/>
                </a:lnTo>
                <a:lnTo>
                  <a:pt x="1177536" y="399120"/>
                </a:lnTo>
                <a:lnTo>
                  <a:pt x="0" y="399120"/>
                </a:lnTo>
                <a:lnTo>
                  <a:pt x="0" y="0"/>
                </a:lnTo>
                <a:close/>
              </a:path>
            </a:pathLst>
          </a:custGeom>
          <a:ln w="19049">
            <a:solidFill>
              <a:srgbClr val="000000"/>
            </a:solidFill>
          </a:ln>
        </p:spPr>
        <p:txBody>
          <a:bodyPr wrap="square" lIns="0" tIns="0" rIns="0" bIns="0" rtlCol="0"/>
          <a:lstStyle/>
          <a:p>
            <a:endParaRPr/>
          </a:p>
        </p:txBody>
      </p:sp>
      <p:sp>
        <p:nvSpPr>
          <p:cNvPr id="6" name="object 6"/>
          <p:cNvSpPr/>
          <p:nvPr/>
        </p:nvSpPr>
        <p:spPr>
          <a:xfrm>
            <a:off x="7812525" y="4610089"/>
            <a:ext cx="1905" cy="414655"/>
          </a:xfrm>
          <a:custGeom>
            <a:avLst/>
            <a:gdLst/>
            <a:ahLst/>
            <a:cxnLst/>
            <a:rect l="l" t="t" r="r" b="b"/>
            <a:pathLst>
              <a:path w="1904" h="414654">
                <a:moveTo>
                  <a:pt x="1850" y="0"/>
                </a:moveTo>
                <a:lnTo>
                  <a:pt x="0" y="414626"/>
                </a:lnTo>
              </a:path>
            </a:pathLst>
          </a:custGeom>
          <a:ln w="19049">
            <a:solidFill>
              <a:srgbClr val="000000"/>
            </a:solidFill>
          </a:ln>
        </p:spPr>
        <p:txBody>
          <a:bodyPr wrap="square" lIns="0" tIns="0" rIns="0" bIns="0" rtlCol="0"/>
          <a:lstStyle/>
          <a:p>
            <a:endParaRPr/>
          </a:p>
        </p:txBody>
      </p:sp>
      <p:sp>
        <p:nvSpPr>
          <p:cNvPr id="7" name="object 7"/>
          <p:cNvSpPr/>
          <p:nvPr/>
        </p:nvSpPr>
        <p:spPr>
          <a:xfrm>
            <a:off x="7753909" y="4933812"/>
            <a:ext cx="117906" cy="116108"/>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7810553" y="3657520"/>
            <a:ext cx="1905" cy="448945"/>
          </a:xfrm>
          <a:custGeom>
            <a:avLst/>
            <a:gdLst/>
            <a:ahLst/>
            <a:cxnLst/>
            <a:rect l="l" t="t" r="r" b="b"/>
            <a:pathLst>
              <a:path w="1904" h="448945">
                <a:moveTo>
                  <a:pt x="1858" y="0"/>
                </a:moveTo>
                <a:lnTo>
                  <a:pt x="0" y="448419"/>
                </a:lnTo>
              </a:path>
            </a:pathLst>
          </a:custGeom>
          <a:ln w="19049">
            <a:solidFill>
              <a:srgbClr val="000000"/>
            </a:solidFill>
          </a:ln>
        </p:spPr>
        <p:txBody>
          <a:bodyPr wrap="square" lIns="0" tIns="0" rIns="0" bIns="0" rtlCol="0"/>
          <a:lstStyle/>
          <a:p>
            <a:endParaRPr/>
          </a:p>
        </p:txBody>
      </p:sp>
      <p:sp>
        <p:nvSpPr>
          <p:cNvPr id="9" name="object 9"/>
          <p:cNvSpPr/>
          <p:nvPr/>
        </p:nvSpPr>
        <p:spPr>
          <a:xfrm>
            <a:off x="7751913" y="4015050"/>
            <a:ext cx="117906" cy="116093"/>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6711233" y="3901372"/>
            <a:ext cx="1110615" cy="1859280"/>
          </a:xfrm>
          <a:custGeom>
            <a:avLst/>
            <a:gdLst/>
            <a:ahLst/>
            <a:cxnLst/>
            <a:rect l="l" t="t" r="r" b="b"/>
            <a:pathLst>
              <a:path w="1110615" h="1859279">
                <a:moveTo>
                  <a:pt x="1110618" y="1554708"/>
                </a:moveTo>
                <a:lnTo>
                  <a:pt x="1110618" y="1858840"/>
                </a:lnTo>
                <a:lnTo>
                  <a:pt x="0" y="1858840"/>
                </a:lnTo>
                <a:lnTo>
                  <a:pt x="0" y="0"/>
                </a:lnTo>
                <a:lnTo>
                  <a:pt x="1066531" y="0"/>
                </a:lnTo>
              </a:path>
            </a:pathLst>
          </a:custGeom>
          <a:ln w="19049">
            <a:solidFill>
              <a:srgbClr val="000000"/>
            </a:solidFill>
          </a:ln>
        </p:spPr>
        <p:txBody>
          <a:bodyPr wrap="square" lIns="0" tIns="0" rIns="0" bIns="0" rtlCol="0"/>
          <a:lstStyle/>
          <a:p>
            <a:endParaRPr/>
          </a:p>
        </p:txBody>
      </p:sp>
      <p:sp>
        <p:nvSpPr>
          <p:cNvPr id="11" name="object 11"/>
          <p:cNvSpPr/>
          <p:nvPr/>
        </p:nvSpPr>
        <p:spPr>
          <a:xfrm>
            <a:off x="7687061" y="3842417"/>
            <a:ext cx="115907" cy="117908"/>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9399589" y="4131144"/>
            <a:ext cx="1177925" cy="399415"/>
          </a:xfrm>
          <a:custGeom>
            <a:avLst/>
            <a:gdLst/>
            <a:ahLst/>
            <a:cxnLst/>
            <a:rect l="l" t="t" r="r" b="b"/>
            <a:pathLst>
              <a:path w="1177925" h="399414">
                <a:moveTo>
                  <a:pt x="0" y="0"/>
                </a:moveTo>
                <a:lnTo>
                  <a:pt x="1177537" y="0"/>
                </a:lnTo>
                <a:lnTo>
                  <a:pt x="1177537" y="399120"/>
                </a:lnTo>
                <a:lnTo>
                  <a:pt x="0" y="399120"/>
                </a:lnTo>
                <a:lnTo>
                  <a:pt x="0" y="0"/>
                </a:lnTo>
                <a:close/>
              </a:path>
            </a:pathLst>
          </a:custGeom>
          <a:ln w="19049">
            <a:solidFill>
              <a:srgbClr val="000000"/>
            </a:solidFill>
          </a:ln>
        </p:spPr>
        <p:txBody>
          <a:bodyPr wrap="square" lIns="0" tIns="0" rIns="0" bIns="0" rtlCol="0"/>
          <a:lstStyle/>
          <a:p>
            <a:endParaRPr/>
          </a:p>
        </p:txBody>
      </p:sp>
      <p:sp>
        <p:nvSpPr>
          <p:cNvPr id="13" name="object 13"/>
          <p:cNvSpPr/>
          <p:nvPr/>
        </p:nvSpPr>
        <p:spPr>
          <a:xfrm>
            <a:off x="9238466" y="5016128"/>
            <a:ext cx="1499235" cy="479425"/>
          </a:xfrm>
          <a:custGeom>
            <a:avLst/>
            <a:gdLst/>
            <a:ahLst/>
            <a:cxnLst/>
            <a:rect l="l" t="t" r="r" b="b"/>
            <a:pathLst>
              <a:path w="1499234" h="479425">
                <a:moveTo>
                  <a:pt x="0" y="239472"/>
                </a:moveTo>
                <a:lnTo>
                  <a:pt x="749342" y="0"/>
                </a:lnTo>
                <a:lnTo>
                  <a:pt x="1498684" y="239472"/>
                </a:lnTo>
                <a:lnTo>
                  <a:pt x="749342" y="478944"/>
                </a:lnTo>
                <a:lnTo>
                  <a:pt x="0" y="239472"/>
                </a:lnTo>
                <a:close/>
              </a:path>
            </a:pathLst>
          </a:custGeom>
          <a:ln w="19049">
            <a:solidFill>
              <a:srgbClr val="000000"/>
            </a:solidFill>
          </a:ln>
        </p:spPr>
        <p:txBody>
          <a:bodyPr wrap="square" lIns="0" tIns="0" rIns="0" bIns="0" rtlCol="0"/>
          <a:lstStyle/>
          <a:p>
            <a:endParaRPr/>
          </a:p>
        </p:txBody>
      </p:sp>
      <p:sp>
        <p:nvSpPr>
          <p:cNvPr id="14" name="object 14"/>
          <p:cNvSpPr/>
          <p:nvPr/>
        </p:nvSpPr>
        <p:spPr>
          <a:xfrm>
            <a:off x="9987839" y="4530265"/>
            <a:ext cx="635" cy="461009"/>
          </a:xfrm>
          <a:custGeom>
            <a:avLst/>
            <a:gdLst/>
            <a:ahLst/>
            <a:cxnLst/>
            <a:rect l="l" t="t" r="r" b="b"/>
            <a:pathLst>
              <a:path w="634" h="461010">
                <a:moveTo>
                  <a:pt x="520" y="0"/>
                </a:moveTo>
                <a:lnTo>
                  <a:pt x="0" y="460658"/>
                </a:lnTo>
              </a:path>
            </a:pathLst>
          </a:custGeom>
          <a:ln w="19049">
            <a:solidFill>
              <a:srgbClr val="000000"/>
            </a:solidFill>
          </a:ln>
        </p:spPr>
        <p:txBody>
          <a:bodyPr wrap="square" lIns="0" tIns="0" rIns="0" bIns="0" rtlCol="0"/>
          <a:lstStyle/>
          <a:p>
            <a:endParaRPr/>
          </a:p>
        </p:txBody>
      </p:sp>
      <p:sp>
        <p:nvSpPr>
          <p:cNvPr id="15" name="object 15"/>
          <p:cNvSpPr/>
          <p:nvPr/>
        </p:nvSpPr>
        <p:spPr>
          <a:xfrm>
            <a:off x="9928969" y="4900168"/>
            <a:ext cx="117909" cy="115959"/>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9985950" y="3664560"/>
            <a:ext cx="1905" cy="448945"/>
          </a:xfrm>
          <a:custGeom>
            <a:avLst/>
            <a:gdLst/>
            <a:ahLst/>
            <a:cxnLst/>
            <a:rect l="l" t="t" r="r" b="b"/>
            <a:pathLst>
              <a:path w="1904" h="448945">
                <a:moveTo>
                  <a:pt x="1858" y="0"/>
                </a:moveTo>
                <a:lnTo>
                  <a:pt x="0" y="448419"/>
                </a:lnTo>
              </a:path>
            </a:pathLst>
          </a:custGeom>
          <a:ln w="19049">
            <a:solidFill>
              <a:srgbClr val="000000"/>
            </a:solidFill>
          </a:ln>
        </p:spPr>
        <p:txBody>
          <a:bodyPr wrap="square" lIns="0" tIns="0" rIns="0" bIns="0" rtlCol="0"/>
          <a:lstStyle/>
          <a:p>
            <a:endParaRPr/>
          </a:p>
        </p:txBody>
      </p:sp>
      <p:sp>
        <p:nvSpPr>
          <p:cNvPr id="17" name="object 17"/>
          <p:cNvSpPr/>
          <p:nvPr/>
        </p:nvSpPr>
        <p:spPr>
          <a:xfrm>
            <a:off x="9927312" y="4022090"/>
            <a:ext cx="117906" cy="116093"/>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8897843" y="3901372"/>
            <a:ext cx="1090295" cy="1847214"/>
          </a:xfrm>
          <a:custGeom>
            <a:avLst/>
            <a:gdLst/>
            <a:ahLst/>
            <a:cxnLst/>
            <a:rect l="l" t="t" r="r" b="b"/>
            <a:pathLst>
              <a:path w="1090295" h="1847214">
                <a:moveTo>
                  <a:pt x="1089965" y="1593700"/>
                </a:moveTo>
                <a:lnTo>
                  <a:pt x="1089965" y="1847146"/>
                </a:lnTo>
                <a:lnTo>
                  <a:pt x="0" y="1847146"/>
                </a:lnTo>
                <a:lnTo>
                  <a:pt x="0" y="0"/>
                </a:lnTo>
                <a:lnTo>
                  <a:pt x="1065309" y="0"/>
                </a:lnTo>
              </a:path>
            </a:pathLst>
          </a:custGeom>
          <a:ln w="19049">
            <a:solidFill>
              <a:srgbClr val="000000"/>
            </a:solidFill>
          </a:ln>
        </p:spPr>
        <p:txBody>
          <a:bodyPr wrap="square" lIns="0" tIns="0" rIns="0" bIns="0" rtlCol="0"/>
          <a:lstStyle/>
          <a:p>
            <a:endParaRPr/>
          </a:p>
        </p:txBody>
      </p:sp>
      <p:sp>
        <p:nvSpPr>
          <p:cNvPr id="19" name="object 19"/>
          <p:cNvSpPr/>
          <p:nvPr/>
        </p:nvSpPr>
        <p:spPr>
          <a:xfrm>
            <a:off x="9872448" y="3842418"/>
            <a:ext cx="115909" cy="117908"/>
          </a:xfrm>
          <a:prstGeom prst="rect">
            <a:avLst/>
          </a:prstGeom>
          <a:blipFill>
            <a:blip r:embed="rId8" cstate="print"/>
            <a:stretch>
              <a:fillRect/>
            </a:stretch>
          </a:blipFill>
        </p:spPr>
        <p:txBody>
          <a:bodyPr wrap="square" lIns="0" tIns="0" rIns="0" bIns="0" rtlCol="0"/>
          <a:lstStyle/>
          <a:p>
            <a:endParaRPr/>
          </a:p>
        </p:txBody>
      </p:sp>
      <p:sp>
        <p:nvSpPr>
          <p:cNvPr id="20" name="灯片编号占位符 19"/>
          <p:cNvSpPr>
            <a:spLocks noGrp="1"/>
          </p:cNvSpPr>
          <p:nvPr>
            <p:ph type="sldNum" sz="quarter" idx="12"/>
          </p:nvPr>
        </p:nvSpPr>
        <p:spPr/>
        <p:txBody>
          <a:bodyPr/>
          <a:lstStyle/>
          <a:p>
            <a:fld id="{74D2AB8B-5816-41F2-8B4B-CA5C3E4E6A65}" type="slidenum">
              <a:rPr lang="zh-CN" altLang="en-US" smtClean="0"/>
              <a:t>108</a:t>
            </a:fld>
            <a:endParaRPr lang="zh-CN" altLang="en-US"/>
          </a:p>
        </p:txBody>
      </p:sp>
      <p:sp>
        <p:nvSpPr>
          <p:cNvPr id="23" name="标题 22"/>
          <p:cNvSpPr>
            <a:spLocks noGrp="1"/>
          </p:cNvSpPr>
          <p:nvPr>
            <p:ph type="title"/>
          </p:nvPr>
        </p:nvSpPr>
        <p:spPr/>
        <p:txBody>
          <a:bodyPr/>
          <a:lstStyle/>
          <a:p>
            <a:r>
              <a:rPr lang="zh-CN" altLang="en-US" dirty="0"/>
              <a:t>循环测试</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42019" y="1434198"/>
            <a:ext cx="7054850" cy="4638040"/>
          </a:xfrm>
          <a:prstGeom prst="rect">
            <a:avLst/>
          </a:prstGeom>
        </p:spPr>
        <p:txBody>
          <a:bodyPr vert="horz" wrap="square" lIns="0" tIns="187960" rIns="0" bIns="0" rtlCol="0">
            <a:spAutoFit/>
          </a:bodyPr>
          <a:lstStyle/>
          <a:p>
            <a:pPr marL="12700">
              <a:lnSpc>
                <a:spcPct val="100000"/>
              </a:lnSpc>
              <a:spcBef>
                <a:spcPts val="1480"/>
              </a:spcBef>
            </a:pPr>
            <a:r>
              <a:rPr sz="2200" dirty="0">
                <a:solidFill>
                  <a:srgbClr val="0033CC"/>
                </a:solidFill>
                <a:latin typeface="微软雅黑" panose="020B0503020204020204" pitchFamily="34" charset="-122"/>
                <a:cs typeface="微软雅黑" panose="020B0503020204020204" pitchFamily="34" charset="-122"/>
              </a:rPr>
              <a:t>嵌套循环</a:t>
            </a:r>
            <a:endParaRPr sz="2200" dirty="0">
              <a:latin typeface="微软雅黑" panose="020B0503020204020204" pitchFamily="34" charset="-122"/>
              <a:cs typeface="微软雅黑" panose="020B0503020204020204" pitchFamily="34" charset="-122"/>
            </a:endParaRPr>
          </a:p>
          <a:p>
            <a:pPr marL="457200" indent="-356235" algn="just">
              <a:lnSpc>
                <a:spcPct val="100000"/>
              </a:lnSpc>
              <a:spcBef>
                <a:spcPts val="1380"/>
              </a:spcBef>
              <a:buFont typeface="Arial" panose="020B0604020202020204"/>
              <a:buChar char="•"/>
              <a:tabLst>
                <a:tab pos="457200" algn="l"/>
              </a:tabLst>
            </a:pPr>
            <a:r>
              <a:rPr sz="2200" dirty="0">
                <a:latin typeface="微软雅黑" panose="020B0503020204020204" pitchFamily="34" charset="-122"/>
                <a:cs typeface="微软雅黑" panose="020B0503020204020204" pitchFamily="34" charset="-122"/>
              </a:rPr>
              <a:t>从最内层循环开始，所有外层循环次数设为最小值；</a:t>
            </a:r>
          </a:p>
          <a:p>
            <a:pPr marL="464820" indent="-364490" algn="just">
              <a:lnSpc>
                <a:spcPct val="100000"/>
              </a:lnSpc>
              <a:spcBef>
                <a:spcPts val="8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对最内层循环按照简单循环方法进行测试；</a:t>
            </a:r>
          </a:p>
          <a:p>
            <a:pPr marL="469265" marR="5080" indent="-368300" algn="just">
              <a:lnSpc>
                <a:spcPct val="110000"/>
              </a:lnSpc>
              <a:spcBef>
                <a:spcPts val="600"/>
              </a:spcBef>
              <a:buFont typeface="Arial" panose="020B0604020202020204"/>
              <a:buChar char="•"/>
              <a:tabLst>
                <a:tab pos="468630" algn="l"/>
              </a:tabLst>
            </a:pPr>
            <a:r>
              <a:rPr sz="2200" spc="45" dirty="0">
                <a:latin typeface="微软雅黑" panose="020B0503020204020204" pitchFamily="34" charset="-122"/>
                <a:cs typeface="微软雅黑" panose="020B0503020204020204" pitchFamily="34" charset="-122"/>
              </a:rPr>
              <a:t>由内向外进行下一个循环的测试，本层循环的所有外 层循环仍取最小</a:t>
            </a:r>
            <a:r>
              <a:rPr sz="2200" spc="50" dirty="0">
                <a:latin typeface="微软雅黑" panose="020B0503020204020204" pitchFamily="34" charset="-122"/>
                <a:cs typeface="微软雅黑" panose="020B0503020204020204" pitchFamily="34" charset="-122"/>
              </a:rPr>
              <a:t>值，</a:t>
            </a:r>
            <a:r>
              <a:rPr sz="2200" spc="45" dirty="0">
                <a:latin typeface="微软雅黑" panose="020B0503020204020204" pitchFamily="34" charset="-122"/>
                <a:cs typeface="微软雅黑" panose="020B0503020204020204" pitchFamily="34" charset="-122"/>
              </a:rPr>
              <a:t>而由本层循环嵌套的循环取某些  </a:t>
            </a:r>
            <a:r>
              <a:rPr sz="2200" dirty="0">
                <a:latin typeface="微软雅黑" panose="020B0503020204020204" pitchFamily="34" charset="-122"/>
                <a:cs typeface="微软雅黑" panose="020B0503020204020204" pitchFamily="34" charset="-122"/>
              </a:rPr>
              <a:t>“典型”值；</a:t>
            </a:r>
          </a:p>
          <a:p>
            <a:pPr marL="464820" indent="-364490" algn="just">
              <a:lnSpc>
                <a:spcPct val="100000"/>
              </a:lnSpc>
              <a:spcBef>
                <a:spcPts val="8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重复上一步的过程，直到测试完所有循环。</a:t>
            </a:r>
          </a:p>
          <a:p>
            <a:pPr marL="12700">
              <a:lnSpc>
                <a:spcPct val="100000"/>
              </a:lnSpc>
              <a:spcBef>
                <a:spcPts val="1740"/>
              </a:spcBef>
            </a:pPr>
            <a:r>
              <a:rPr sz="2200" dirty="0">
                <a:solidFill>
                  <a:srgbClr val="0033CC"/>
                </a:solidFill>
                <a:latin typeface="微软雅黑" panose="020B0503020204020204" pitchFamily="34" charset="-122"/>
                <a:cs typeface="微软雅黑" panose="020B0503020204020204" pitchFamily="34" charset="-122"/>
              </a:rPr>
              <a:t>串接循环</a:t>
            </a:r>
            <a:endParaRPr sz="2200" dirty="0">
              <a:latin typeface="微软雅黑" panose="020B0503020204020204" pitchFamily="34" charset="-122"/>
              <a:cs typeface="微软雅黑" panose="020B0503020204020204" pitchFamily="34" charset="-122"/>
            </a:endParaRPr>
          </a:p>
          <a:p>
            <a:pPr marL="464820" indent="-364490" algn="just">
              <a:lnSpc>
                <a:spcPct val="100000"/>
              </a:lnSpc>
              <a:spcBef>
                <a:spcPts val="14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独立循环：分别采用简单循环的测试方法；</a:t>
            </a:r>
          </a:p>
          <a:p>
            <a:pPr marL="464820" indent="-364490" algn="just">
              <a:lnSpc>
                <a:spcPct val="100000"/>
              </a:lnSpc>
              <a:spcBef>
                <a:spcPts val="8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依赖性循环：采用嵌套循环的测试方法。</a:t>
            </a:r>
          </a:p>
        </p:txBody>
      </p:sp>
      <p:sp>
        <p:nvSpPr>
          <p:cNvPr id="4" name="object 4"/>
          <p:cNvSpPr/>
          <p:nvPr/>
        </p:nvSpPr>
        <p:spPr>
          <a:xfrm>
            <a:off x="9710079" y="3056982"/>
            <a:ext cx="935990" cy="425450"/>
          </a:xfrm>
          <a:custGeom>
            <a:avLst/>
            <a:gdLst/>
            <a:ahLst/>
            <a:cxnLst/>
            <a:rect l="l" t="t" r="r" b="b"/>
            <a:pathLst>
              <a:path w="935990" h="425450">
                <a:moveTo>
                  <a:pt x="0" y="0"/>
                </a:moveTo>
                <a:lnTo>
                  <a:pt x="935641" y="0"/>
                </a:lnTo>
                <a:lnTo>
                  <a:pt x="935641" y="425291"/>
                </a:lnTo>
                <a:lnTo>
                  <a:pt x="0" y="425291"/>
                </a:lnTo>
                <a:lnTo>
                  <a:pt x="0" y="0"/>
                </a:lnTo>
                <a:close/>
              </a:path>
            </a:pathLst>
          </a:custGeom>
          <a:ln w="19049">
            <a:solidFill>
              <a:srgbClr val="000000"/>
            </a:solidFill>
          </a:ln>
        </p:spPr>
        <p:txBody>
          <a:bodyPr wrap="square" lIns="0" tIns="0" rIns="0" bIns="0" rtlCol="0"/>
          <a:lstStyle/>
          <a:p>
            <a:endParaRPr/>
          </a:p>
        </p:txBody>
      </p:sp>
      <p:sp>
        <p:nvSpPr>
          <p:cNvPr id="5" name="object 5"/>
          <p:cNvSpPr/>
          <p:nvPr/>
        </p:nvSpPr>
        <p:spPr>
          <a:xfrm>
            <a:off x="9582055" y="3945985"/>
            <a:ext cx="1191260" cy="510540"/>
          </a:xfrm>
          <a:custGeom>
            <a:avLst/>
            <a:gdLst/>
            <a:ahLst/>
            <a:cxnLst/>
            <a:rect l="l" t="t" r="r" b="b"/>
            <a:pathLst>
              <a:path w="1191259" h="510539">
                <a:moveTo>
                  <a:pt x="0" y="255174"/>
                </a:moveTo>
                <a:lnTo>
                  <a:pt x="595408" y="0"/>
                </a:lnTo>
                <a:lnTo>
                  <a:pt x="1190818" y="255174"/>
                </a:lnTo>
                <a:lnTo>
                  <a:pt x="595408" y="510349"/>
                </a:lnTo>
                <a:lnTo>
                  <a:pt x="0" y="255174"/>
                </a:lnTo>
                <a:close/>
              </a:path>
            </a:pathLst>
          </a:custGeom>
          <a:ln w="19049">
            <a:solidFill>
              <a:srgbClr val="000000"/>
            </a:solidFill>
          </a:ln>
        </p:spPr>
        <p:txBody>
          <a:bodyPr wrap="square" lIns="0" tIns="0" rIns="0" bIns="0" rtlCol="0"/>
          <a:lstStyle/>
          <a:p>
            <a:endParaRPr/>
          </a:p>
        </p:txBody>
      </p:sp>
      <p:sp>
        <p:nvSpPr>
          <p:cNvPr id="6" name="object 6"/>
          <p:cNvSpPr/>
          <p:nvPr/>
        </p:nvSpPr>
        <p:spPr>
          <a:xfrm>
            <a:off x="10177487" y="3482275"/>
            <a:ext cx="635" cy="438784"/>
          </a:xfrm>
          <a:custGeom>
            <a:avLst/>
            <a:gdLst/>
            <a:ahLst/>
            <a:cxnLst/>
            <a:rect l="l" t="t" r="r" b="b"/>
            <a:pathLst>
              <a:path w="634" h="438785">
                <a:moveTo>
                  <a:pt x="412" y="0"/>
                </a:moveTo>
                <a:lnTo>
                  <a:pt x="0" y="438505"/>
                </a:lnTo>
              </a:path>
            </a:pathLst>
          </a:custGeom>
          <a:ln w="19049">
            <a:solidFill>
              <a:srgbClr val="000000"/>
            </a:solidFill>
          </a:ln>
        </p:spPr>
        <p:txBody>
          <a:bodyPr wrap="square" lIns="0" tIns="0" rIns="0" bIns="0" rtlCol="0"/>
          <a:lstStyle/>
          <a:p>
            <a:endParaRPr/>
          </a:p>
        </p:txBody>
      </p:sp>
      <p:sp>
        <p:nvSpPr>
          <p:cNvPr id="7" name="object 7"/>
          <p:cNvSpPr/>
          <p:nvPr/>
        </p:nvSpPr>
        <p:spPr>
          <a:xfrm>
            <a:off x="10118605" y="3830034"/>
            <a:ext cx="117908" cy="11595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0175905" y="2332839"/>
            <a:ext cx="0" cy="706755"/>
          </a:xfrm>
          <a:custGeom>
            <a:avLst/>
            <a:gdLst/>
            <a:ahLst/>
            <a:cxnLst/>
            <a:rect l="l" t="t" r="r" b="b"/>
            <a:pathLst>
              <a:path h="706755">
                <a:moveTo>
                  <a:pt x="0" y="0"/>
                </a:moveTo>
                <a:lnTo>
                  <a:pt x="0" y="706632"/>
                </a:lnTo>
              </a:path>
            </a:pathLst>
          </a:custGeom>
          <a:ln w="19049">
            <a:solidFill>
              <a:srgbClr val="000000"/>
            </a:solidFill>
          </a:ln>
        </p:spPr>
        <p:txBody>
          <a:bodyPr wrap="square" lIns="0" tIns="0" rIns="0" bIns="0" rtlCol="0"/>
          <a:lstStyle/>
          <a:p>
            <a:endParaRPr/>
          </a:p>
        </p:txBody>
      </p:sp>
      <p:sp>
        <p:nvSpPr>
          <p:cNvPr id="9" name="object 9"/>
          <p:cNvSpPr/>
          <p:nvPr/>
        </p:nvSpPr>
        <p:spPr>
          <a:xfrm>
            <a:off x="10116950" y="2948767"/>
            <a:ext cx="117908" cy="115909"/>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9311843" y="2758132"/>
            <a:ext cx="866140" cy="1968500"/>
          </a:xfrm>
          <a:custGeom>
            <a:avLst/>
            <a:gdLst/>
            <a:ahLst/>
            <a:cxnLst/>
            <a:rect l="l" t="t" r="r" b="b"/>
            <a:pathLst>
              <a:path w="866140" h="1968500">
                <a:moveTo>
                  <a:pt x="865619" y="1698202"/>
                </a:moveTo>
                <a:lnTo>
                  <a:pt x="865619" y="1968267"/>
                </a:lnTo>
                <a:lnTo>
                  <a:pt x="0" y="1968267"/>
                </a:lnTo>
                <a:lnTo>
                  <a:pt x="0" y="0"/>
                </a:lnTo>
                <a:lnTo>
                  <a:pt x="840850" y="0"/>
                </a:lnTo>
              </a:path>
            </a:pathLst>
          </a:custGeom>
          <a:ln w="19049">
            <a:solidFill>
              <a:srgbClr val="000000"/>
            </a:solidFill>
          </a:ln>
        </p:spPr>
        <p:txBody>
          <a:bodyPr wrap="square" lIns="0" tIns="0" rIns="0" bIns="0" rtlCol="0"/>
          <a:lstStyle/>
          <a:p>
            <a:endParaRPr/>
          </a:p>
        </p:txBody>
      </p:sp>
      <p:sp>
        <p:nvSpPr>
          <p:cNvPr id="11" name="object 11"/>
          <p:cNvSpPr/>
          <p:nvPr/>
        </p:nvSpPr>
        <p:spPr>
          <a:xfrm>
            <a:off x="10061991" y="2699178"/>
            <a:ext cx="115907" cy="117908"/>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9580497" y="4920044"/>
            <a:ext cx="1191260" cy="510540"/>
          </a:xfrm>
          <a:custGeom>
            <a:avLst/>
            <a:gdLst/>
            <a:ahLst/>
            <a:cxnLst/>
            <a:rect l="l" t="t" r="r" b="b"/>
            <a:pathLst>
              <a:path w="1191259" h="510539">
                <a:moveTo>
                  <a:pt x="0" y="255174"/>
                </a:moveTo>
                <a:lnTo>
                  <a:pt x="595408" y="0"/>
                </a:lnTo>
                <a:lnTo>
                  <a:pt x="1190817" y="255174"/>
                </a:lnTo>
                <a:lnTo>
                  <a:pt x="595408" y="510349"/>
                </a:lnTo>
                <a:lnTo>
                  <a:pt x="0" y="255174"/>
                </a:lnTo>
                <a:close/>
              </a:path>
            </a:pathLst>
          </a:custGeom>
          <a:ln w="19049">
            <a:solidFill>
              <a:srgbClr val="000000"/>
            </a:solidFill>
          </a:ln>
        </p:spPr>
        <p:txBody>
          <a:bodyPr wrap="square" lIns="0" tIns="0" rIns="0" bIns="0" rtlCol="0"/>
          <a:lstStyle/>
          <a:p>
            <a:endParaRPr/>
          </a:p>
        </p:txBody>
      </p:sp>
      <p:sp>
        <p:nvSpPr>
          <p:cNvPr id="13" name="object 13"/>
          <p:cNvSpPr/>
          <p:nvPr/>
        </p:nvSpPr>
        <p:spPr>
          <a:xfrm>
            <a:off x="10175929" y="4456334"/>
            <a:ext cx="635" cy="438784"/>
          </a:xfrm>
          <a:custGeom>
            <a:avLst/>
            <a:gdLst/>
            <a:ahLst/>
            <a:cxnLst/>
            <a:rect l="l" t="t" r="r" b="b"/>
            <a:pathLst>
              <a:path w="634" h="438785">
                <a:moveTo>
                  <a:pt x="412" y="0"/>
                </a:moveTo>
                <a:lnTo>
                  <a:pt x="0" y="438504"/>
                </a:lnTo>
              </a:path>
            </a:pathLst>
          </a:custGeom>
          <a:ln w="19049">
            <a:solidFill>
              <a:srgbClr val="000000"/>
            </a:solidFill>
          </a:ln>
        </p:spPr>
        <p:txBody>
          <a:bodyPr wrap="square" lIns="0" tIns="0" rIns="0" bIns="0" rtlCol="0"/>
          <a:lstStyle/>
          <a:p>
            <a:endParaRPr/>
          </a:p>
        </p:txBody>
      </p:sp>
      <p:sp>
        <p:nvSpPr>
          <p:cNvPr id="14" name="object 14"/>
          <p:cNvSpPr/>
          <p:nvPr/>
        </p:nvSpPr>
        <p:spPr>
          <a:xfrm>
            <a:off x="10117047" y="4804093"/>
            <a:ext cx="117906" cy="115950"/>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9112206" y="2545486"/>
            <a:ext cx="1064260" cy="3155315"/>
          </a:xfrm>
          <a:custGeom>
            <a:avLst/>
            <a:gdLst/>
            <a:ahLst/>
            <a:cxnLst/>
            <a:rect l="l" t="t" r="r" b="b"/>
            <a:pathLst>
              <a:path w="1064259" h="3155315">
                <a:moveTo>
                  <a:pt x="1063698" y="2884910"/>
                </a:moveTo>
                <a:lnTo>
                  <a:pt x="1063698" y="3154967"/>
                </a:lnTo>
                <a:lnTo>
                  <a:pt x="0" y="3154967"/>
                </a:lnTo>
                <a:lnTo>
                  <a:pt x="0" y="0"/>
                </a:lnTo>
                <a:lnTo>
                  <a:pt x="1038057" y="0"/>
                </a:lnTo>
              </a:path>
            </a:pathLst>
          </a:custGeom>
          <a:ln w="19049">
            <a:solidFill>
              <a:srgbClr val="000000"/>
            </a:solidFill>
          </a:ln>
        </p:spPr>
        <p:txBody>
          <a:bodyPr wrap="square" lIns="0" tIns="0" rIns="0" bIns="0" rtlCol="0"/>
          <a:lstStyle/>
          <a:p>
            <a:endParaRPr/>
          </a:p>
        </p:txBody>
      </p:sp>
      <p:sp>
        <p:nvSpPr>
          <p:cNvPr id="16" name="object 16"/>
          <p:cNvSpPr/>
          <p:nvPr/>
        </p:nvSpPr>
        <p:spPr>
          <a:xfrm>
            <a:off x="10059561" y="2486533"/>
            <a:ext cx="115907" cy="117908"/>
          </a:xfrm>
          <a:prstGeom prst="rect">
            <a:avLst/>
          </a:prstGeom>
          <a:blipFill>
            <a:blip r:embed="rId7" cstate="print"/>
            <a:stretch>
              <a:fillRect/>
            </a:stretch>
          </a:blipFill>
        </p:spPr>
        <p:txBody>
          <a:bodyPr wrap="square" lIns="0" tIns="0" rIns="0" bIns="0" rtlCol="0"/>
          <a:lstStyle/>
          <a:p>
            <a:endParaRPr/>
          </a:p>
        </p:txBody>
      </p:sp>
      <p:sp>
        <p:nvSpPr>
          <p:cNvPr id="17" name="灯片编号占位符 16"/>
          <p:cNvSpPr>
            <a:spLocks noGrp="1"/>
          </p:cNvSpPr>
          <p:nvPr>
            <p:ph type="sldNum" sz="quarter" idx="12"/>
          </p:nvPr>
        </p:nvSpPr>
        <p:spPr/>
        <p:txBody>
          <a:bodyPr/>
          <a:lstStyle/>
          <a:p>
            <a:fld id="{74D2AB8B-5816-41F2-8B4B-CA5C3E4E6A65}" type="slidenum">
              <a:rPr lang="zh-CN" altLang="en-US" smtClean="0"/>
              <a:t>109</a:t>
            </a:fld>
            <a:endParaRPr lang="zh-CN" altLang="en-US"/>
          </a:p>
        </p:txBody>
      </p:sp>
      <p:sp>
        <p:nvSpPr>
          <p:cNvPr id="19" name="标题 18"/>
          <p:cNvSpPr>
            <a:spLocks noGrp="1"/>
          </p:cNvSpPr>
          <p:nvPr>
            <p:ph type="title"/>
          </p:nvPr>
        </p:nvSpPr>
        <p:spPr/>
        <p:txBody>
          <a:bodyPr/>
          <a:lstStyle/>
          <a:p>
            <a:r>
              <a:rPr lang="zh-CN" altLang="en-US" dirty="0"/>
              <a:t>循环测试</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42519" y="1573821"/>
            <a:ext cx="10561955" cy="182245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Arial" panose="020B0604020202020204"/>
                <a:cs typeface="Arial" panose="020B0604020202020204"/>
              </a:rPr>
              <a:t>Z</a:t>
            </a:r>
            <a:r>
              <a:rPr sz="2200" dirty="0">
                <a:solidFill>
                  <a:srgbClr val="0033CC"/>
                </a:solidFill>
                <a:latin typeface="微软雅黑" panose="020B0503020204020204" pitchFamily="34" charset="-122"/>
                <a:cs typeface="微软雅黑" panose="020B0503020204020204" pitchFamily="34" charset="-122"/>
              </a:rPr>
              <a:t>路径覆盖下的循环测试</a:t>
            </a:r>
            <a:endParaRPr sz="2200" dirty="0">
              <a:latin typeface="微软雅黑" panose="020B0503020204020204" pitchFamily="34" charset="-122"/>
              <a:cs typeface="微软雅黑" panose="020B0503020204020204" pitchFamily="34" charset="-122"/>
            </a:endParaRPr>
          </a:p>
          <a:p>
            <a:pPr marL="457200" indent="-355600">
              <a:lnSpc>
                <a:spcPct val="100000"/>
              </a:lnSpc>
              <a:spcBef>
                <a:spcPts val="1660"/>
              </a:spcBef>
              <a:buFont typeface="Arial" panose="020B0604020202020204"/>
              <a:buChar char="•"/>
              <a:tabLst>
                <a:tab pos="456565" algn="l"/>
                <a:tab pos="457200" algn="l"/>
              </a:tabLst>
            </a:pPr>
            <a:r>
              <a:rPr sz="2200" dirty="0">
                <a:latin typeface="微软雅黑" panose="020B0503020204020204" pitchFamily="34" charset="-122"/>
                <a:cs typeface="微软雅黑" panose="020B0503020204020204" pitchFamily="34" charset="-122"/>
              </a:rPr>
              <a:t>这是路径覆盖的一种变体，将程序中的</a:t>
            </a:r>
            <a:r>
              <a:rPr sz="2200" dirty="0">
                <a:solidFill>
                  <a:srgbClr val="FF0000"/>
                </a:solidFill>
                <a:latin typeface="微软雅黑" panose="020B0503020204020204" pitchFamily="34" charset="-122"/>
                <a:cs typeface="微软雅黑" panose="020B0503020204020204" pitchFamily="34" charset="-122"/>
              </a:rPr>
              <a:t>循环结构简化为选择结构</a:t>
            </a:r>
            <a:r>
              <a:rPr sz="2200" dirty="0">
                <a:latin typeface="微软雅黑" panose="020B0503020204020204" pitchFamily="34" charset="-122"/>
                <a:cs typeface="微软雅黑" panose="020B0503020204020204" pitchFamily="34" charset="-122"/>
              </a:rPr>
              <a:t>的一种路径覆盖。</a:t>
            </a:r>
          </a:p>
          <a:p>
            <a:pPr marL="469265" marR="5080" indent="-368300">
              <a:lnSpc>
                <a:spcPct val="125000"/>
              </a:lnSpc>
              <a:spcBef>
                <a:spcPts val="610"/>
              </a:spcBef>
              <a:buFont typeface="Arial" panose="020B0604020202020204"/>
              <a:buChar char="•"/>
              <a:tabLst>
                <a:tab pos="469265" algn="l"/>
                <a:tab pos="469900" algn="l"/>
              </a:tabLst>
            </a:pPr>
            <a:r>
              <a:rPr sz="2200" spc="70" dirty="0">
                <a:latin typeface="微软雅黑" panose="020B0503020204020204" pitchFamily="34" charset="-122"/>
                <a:cs typeface="微软雅黑" panose="020B0503020204020204" pitchFamily="34" charset="-122"/>
              </a:rPr>
              <a:t>循环简化的目的是限制循环的次数，无论循环的形式和循环体实际执行的次</a:t>
            </a:r>
            <a:r>
              <a:rPr sz="2200" spc="-5" dirty="0">
                <a:latin typeface="微软雅黑" panose="020B0503020204020204" pitchFamily="34" charset="-122"/>
                <a:cs typeface="微软雅黑" panose="020B0503020204020204" pitchFamily="34" charset="-122"/>
              </a:rPr>
              <a:t>数</a:t>
            </a:r>
            <a:r>
              <a:rPr sz="2200" dirty="0">
                <a:latin typeface="微软雅黑" panose="020B0503020204020204" pitchFamily="34" charset="-122"/>
                <a:cs typeface="微软雅黑" panose="020B0503020204020204" pitchFamily="34" charset="-122"/>
              </a:rPr>
              <a:t>， 简化后的循环测试</a:t>
            </a:r>
            <a:r>
              <a:rPr sz="2200" dirty="0">
                <a:solidFill>
                  <a:srgbClr val="FF0000"/>
                </a:solidFill>
                <a:latin typeface="微软雅黑" panose="020B0503020204020204" pitchFamily="34" charset="-122"/>
                <a:cs typeface="微软雅黑" panose="020B0503020204020204" pitchFamily="34" charset="-122"/>
              </a:rPr>
              <a:t>只考虑执行循环体一次和零次（不执行）</a:t>
            </a:r>
            <a:r>
              <a:rPr sz="2200" dirty="0">
                <a:latin typeface="微软雅黑" panose="020B0503020204020204" pitchFamily="34" charset="-122"/>
                <a:cs typeface="微软雅黑" panose="020B0503020204020204" pitchFamily="34" charset="-122"/>
              </a:rPr>
              <a:t>两种情况。</a:t>
            </a:r>
          </a:p>
        </p:txBody>
      </p:sp>
      <p:sp>
        <p:nvSpPr>
          <p:cNvPr id="4" name="object 4"/>
          <p:cNvSpPr/>
          <p:nvPr/>
        </p:nvSpPr>
        <p:spPr>
          <a:xfrm>
            <a:off x="7545909" y="4382339"/>
            <a:ext cx="3338195" cy="1016000"/>
          </a:xfrm>
          <a:custGeom>
            <a:avLst/>
            <a:gdLst/>
            <a:ahLst/>
            <a:cxnLst/>
            <a:rect l="l" t="t" r="r" b="b"/>
            <a:pathLst>
              <a:path w="3338195" h="1016000">
                <a:moveTo>
                  <a:pt x="0" y="0"/>
                </a:moveTo>
                <a:lnTo>
                  <a:pt x="3337737" y="0"/>
                </a:lnTo>
                <a:lnTo>
                  <a:pt x="3337737" y="1015662"/>
                </a:lnTo>
                <a:lnTo>
                  <a:pt x="0" y="1015662"/>
                </a:lnTo>
                <a:lnTo>
                  <a:pt x="0" y="0"/>
                </a:lnTo>
                <a:close/>
              </a:path>
            </a:pathLst>
          </a:custGeom>
          <a:ln w="19049">
            <a:solidFill>
              <a:srgbClr val="919191"/>
            </a:solidFill>
          </a:ln>
        </p:spPr>
        <p:txBody>
          <a:bodyPr wrap="square" lIns="0" tIns="0" rIns="0" bIns="0" rtlCol="0"/>
          <a:lstStyle/>
          <a:p>
            <a:endParaRPr/>
          </a:p>
        </p:txBody>
      </p:sp>
      <p:sp>
        <p:nvSpPr>
          <p:cNvPr id="5" name="object 5"/>
          <p:cNvSpPr txBox="1"/>
          <p:nvPr/>
        </p:nvSpPr>
        <p:spPr>
          <a:xfrm>
            <a:off x="7624649" y="4415359"/>
            <a:ext cx="3327400" cy="93980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微软雅黑" panose="020B0503020204020204" pitchFamily="34" charset="-122"/>
                <a:cs typeface="微软雅黑" panose="020B0503020204020204" pitchFamily="34" charset="-122"/>
              </a:rPr>
              <a:t>在循环简化的思路下，循环 与判定分支的效果是一样的， 即循环要么执行、要么跳过。</a:t>
            </a:r>
            <a:endParaRPr sz="2000">
              <a:latin typeface="微软雅黑" panose="020B0503020204020204" pitchFamily="34" charset="-122"/>
              <a:cs typeface="微软雅黑" panose="020B0503020204020204" pitchFamily="34" charset="-122"/>
            </a:endParaRPr>
          </a:p>
        </p:txBody>
      </p:sp>
      <p:sp>
        <p:nvSpPr>
          <p:cNvPr id="6" name="object 6"/>
          <p:cNvSpPr/>
          <p:nvPr/>
        </p:nvSpPr>
        <p:spPr>
          <a:xfrm>
            <a:off x="4073492" y="4571742"/>
            <a:ext cx="648335" cy="602615"/>
          </a:xfrm>
          <a:custGeom>
            <a:avLst/>
            <a:gdLst/>
            <a:ahLst/>
            <a:cxnLst/>
            <a:rect l="l" t="t" r="r" b="b"/>
            <a:pathLst>
              <a:path w="648335" h="602614">
                <a:moveTo>
                  <a:pt x="456131" y="0"/>
                </a:moveTo>
                <a:lnTo>
                  <a:pt x="456131" y="150649"/>
                </a:lnTo>
                <a:lnTo>
                  <a:pt x="0" y="150649"/>
                </a:lnTo>
                <a:lnTo>
                  <a:pt x="0" y="451949"/>
                </a:lnTo>
                <a:lnTo>
                  <a:pt x="456131" y="451949"/>
                </a:lnTo>
                <a:lnTo>
                  <a:pt x="456131" y="602599"/>
                </a:lnTo>
                <a:lnTo>
                  <a:pt x="648187" y="301299"/>
                </a:lnTo>
                <a:lnTo>
                  <a:pt x="456131" y="0"/>
                </a:lnTo>
                <a:close/>
              </a:path>
            </a:pathLst>
          </a:custGeom>
          <a:solidFill>
            <a:srgbClr val="CBCBCB"/>
          </a:solidFill>
        </p:spPr>
        <p:txBody>
          <a:bodyPr wrap="square" lIns="0" tIns="0" rIns="0" bIns="0" rtlCol="0"/>
          <a:lstStyle/>
          <a:p>
            <a:endParaRPr/>
          </a:p>
        </p:txBody>
      </p:sp>
      <p:sp>
        <p:nvSpPr>
          <p:cNvPr id="7" name="object 7"/>
          <p:cNvSpPr/>
          <p:nvPr/>
        </p:nvSpPr>
        <p:spPr>
          <a:xfrm>
            <a:off x="4025478" y="4722392"/>
            <a:ext cx="0" cy="301625"/>
          </a:xfrm>
          <a:custGeom>
            <a:avLst/>
            <a:gdLst/>
            <a:ahLst/>
            <a:cxnLst/>
            <a:rect l="l" t="t" r="r" b="b"/>
            <a:pathLst>
              <a:path h="301625">
                <a:moveTo>
                  <a:pt x="0" y="0"/>
                </a:moveTo>
                <a:lnTo>
                  <a:pt x="0" y="301299"/>
                </a:lnTo>
              </a:path>
            </a:pathLst>
          </a:custGeom>
          <a:ln w="48013">
            <a:solidFill>
              <a:srgbClr val="CBCBCB"/>
            </a:solidFill>
          </a:ln>
        </p:spPr>
        <p:txBody>
          <a:bodyPr wrap="square" lIns="0" tIns="0" rIns="0" bIns="0" rtlCol="0"/>
          <a:lstStyle/>
          <a:p>
            <a:endParaRPr/>
          </a:p>
        </p:txBody>
      </p:sp>
      <p:sp>
        <p:nvSpPr>
          <p:cNvPr id="8" name="object 8"/>
          <p:cNvSpPr/>
          <p:nvPr/>
        </p:nvSpPr>
        <p:spPr>
          <a:xfrm>
            <a:off x="3965461" y="4722392"/>
            <a:ext cx="0" cy="301625"/>
          </a:xfrm>
          <a:custGeom>
            <a:avLst/>
            <a:gdLst/>
            <a:ahLst/>
            <a:cxnLst/>
            <a:rect l="l" t="t" r="r" b="b"/>
            <a:pathLst>
              <a:path h="301625">
                <a:moveTo>
                  <a:pt x="0" y="0"/>
                </a:moveTo>
                <a:lnTo>
                  <a:pt x="0" y="301299"/>
                </a:lnTo>
              </a:path>
            </a:pathLst>
          </a:custGeom>
          <a:ln w="24008">
            <a:solidFill>
              <a:srgbClr val="CBCBCB"/>
            </a:solidFill>
          </a:ln>
        </p:spPr>
        <p:txBody>
          <a:bodyPr wrap="square" lIns="0" tIns="0" rIns="0" bIns="0" rtlCol="0"/>
          <a:lstStyle/>
          <a:p>
            <a:endParaRPr/>
          </a:p>
        </p:txBody>
      </p:sp>
      <p:sp>
        <p:nvSpPr>
          <p:cNvPr id="9" name="object 9"/>
          <p:cNvSpPr/>
          <p:nvPr/>
        </p:nvSpPr>
        <p:spPr>
          <a:xfrm>
            <a:off x="1486201" y="4227289"/>
            <a:ext cx="955675" cy="413384"/>
          </a:xfrm>
          <a:custGeom>
            <a:avLst/>
            <a:gdLst/>
            <a:ahLst/>
            <a:cxnLst/>
            <a:rect l="l" t="t" r="r" b="b"/>
            <a:pathLst>
              <a:path w="955675" h="413385">
                <a:moveTo>
                  <a:pt x="0" y="206671"/>
                </a:moveTo>
                <a:lnTo>
                  <a:pt x="477654" y="0"/>
                </a:lnTo>
                <a:lnTo>
                  <a:pt x="955308" y="206671"/>
                </a:lnTo>
                <a:lnTo>
                  <a:pt x="477654" y="413342"/>
                </a:lnTo>
                <a:lnTo>
                  <a:pt x="0" y="206671"/>
                </a:lnTo>
                <a:close/>
              </a:path>
            </a:pathLst>
          </a:custGeom>
          <a:ln w="19049">
            <a:solidFill>
              <a:srgbClr val="000000"/>
            </a:solidFill>
          </a:ln>
        </p:spPr>
        <p:txBody>
          <a:bodyPr wrap="square" lIns="0" tIns="0" rIns="0" bIns="0" rtlCol="0"/>
          <a:lstStyle/>
          <a:p>
            <a:endParaRPr/>
          </a:p>
        </p:txBody>
      </p:sp>
      <p:sp>
        <p:nvSpPr>
          <p:cNvPr id="10" name="object 10"/>
          <p:cNvSpPr/>
          <p:nvPr/>
        </p:nvSpPr>
        <p:spPr>
          <a:xfrm>
            <a:off x="1587304" y="5020218"/>
            <a:ext cx="751205" cy="344805"/>
          </a:xfrm>
          <a:custGeom>
            <a:avLst/>
            <a:gdLst/>
            <a:ahLst/>
            <a:cxnLst/>
            <a:rect l="l" t="t" r="r" b="b"/>
            <a:pathLst>
              <a:path w="751205" h="344804">
                <a:moveTo>
                  <a:pt x="0" y="0"/>
                </a:moveTo>
                <a:lnTo>
                  <a:pt x="750599" y="0"/>
                </a:lnTo>
                <a:lnTo>
                  <a:pt x="750599" y="344451"/>
                </a:lnTo>
                <a:lnTo>
                  <a:pt x="0" y="344451"/>
                </a:lnTo>
                <a:lnTo>
                  <a:pt x="0" y="0"/>
                </a:lnTo>
                <a:close/>
              </a:path>
            </a:pathLst>
          </a:custGeom>
          <a:ln w="19049">
            <a:solidFill>
              <a:srgbClr val="000000"/>
            </a:solidFill>
          </a:ln>
        </p:spPr>
        <p:txBody>
          <a:bodyPr wrap="square" lIns="0" tIns="0" rIns="0" bIns="0" rtlCol="0"/>
          <a:lstStyle/>
          <a:p>
            <a:endParaRPr/>
          </a:p>
        </p:txBody>
      </p:sp>
      <p:sp>
        <p:nvSpPr>
          <p:cNvPr id="11" name="object 11"/>
          <p:cNvSpPr/>
          <p:nvPr/>
        </p:nvSpPr>
        <p:spPr>
          <a:xfrm>
            <a:off x="1962687" y="4640632"/>
            <a:ext cx="1270" cy="354965"/>
          </a:xfrm>
          <a:custGeom>
            <a:avLst/>
            <a:gdLst/>
            <a:ahLst/>
            <a:cxnLst/>
            <a:rect l="l" t="t" r="r" b="b"/>
            <a:pathLst>
              <a:path w="1269" h="354964">
                <a:moveTo>
                  <a:pt x="1167" y="0"/>
                </a:moveTo>
                <a:lnTo>
                  <a:pt x="0" y="354382"/>
                </a:lnTo>
              </a:path>
            </a:pathLst>
          </a:custGeom>
          <a:ln w="19049">
            <a:solidFill>
              <a:srgbClr val="000000"/>
            </a:solidFill>
          </a:ln>
        </p:spPr>
        <p:txBody>
          <a:bodyPr wrap="square" lIns="0" tIns="0" rIns="0" bIns="0" rtlCol="0"/>
          <a:lstStyle/>
          <a:p>
            <a:endParaRPr/>
          </a:p>
        </p:txBody>
      </p:sp>
      <p:sp>
        <p:nvSpPr>
          <p:cNvPr id="12" name="object 12"/>
          <p:cNvSpPr/>
          <p:nvPr/>
        </p:nvSpPr>
        <p:spPr>
          <a:xfrm>
            <a:off x="1903984" y="4904162"/>
            <a:ext cx="117906" cy="116056"/>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1961431" y="3818538"/>
            <a:ext cx="1270" cy="383540"/>
          </a:xfrm>
          <a:custGeom>
            <a:avLst/>
            <a:gdLst/>
            <a:ahLst/>
            <a:cxnLst/>
            <a:rect l="l" t="t" r="r" b="b"/>
            <a:pathLst>
              <a:path w="1269" h="383539">
                <a:moveTo>
                  <a:pt x="1173" y="0"/>
                </a:moveTo>
                <a:lnTo>
                  <a:pt x="0" y="383545"/>
                </a:lnTo>
              </a:path>
            </a:pathLst>
          </a:custGeom>
          <a:ln w="19049">
            <a:solidFill>
              <a:srgbClr val="000000"/>
            </a:solidFill>
          </a:ln>
        </p:spPr>
        <p:txBody>
          <a:bodyPr wrap="square" lIns="0" tIns="0" rIns="0" bIns="0" rtlCol="0"/>
          <a:lstStyle/>
          <a:p>
            <a:endParaRPr/>
          </a:p>
        </p:txBody>
      </p:sp>
      <p:sp>
        <p:nvSpPr>
          <p:cNvPr id="14" name="object 14"/>
          <p:cNvSpPr/>
          <p:nvPr/>
        </p:nvSpPr>
        <p:spPr>
          <a:xfrm>
            <a:off x="1902709" y="4111242"/>
            <a:ext cx="117908" cy="116046"/>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1260677" y="4028989"/>
            <a:ext cx="708025" cy="1604645"/>
          </a:xfrm>
          <a:custGeom>
            <a:avLst/>
            <a:gdLst/>
            <a:ahLst/>
            <a:cxnLst/>
            <a:rect l="l" t="t" r="r" b="b"/>
            <a:pathLst>
              <a:path w="708025" h="1604645">
                <a:moveTo>
                  <a:pt x="707944" y="1341756"/>
                </a:moveTo>
                <a:lnTo>
                  <a:pt x="707944" y="1604231"/>
                </a:lnTo>
                <a:lnTo>
                  <a:pt x="0" y="1604231"/>
                </a:lnTo>
                <a:lnTo>
                  <a:pt x="0" y="0"/>
                </a:lnTo>
                <a:lnTo>
                  <a:pt x="670703" y="0"/>
                </a:lnTo>
              </a:path>
            </a:pathLst>
          </a:custGeom>
          <a:ln w="19049">
            <a:solidFill>
              <a:srgbClr val="000000"/>
            </a:solidFill>
          </a:ln>
        </p:spPr>
        <p:txBody>
          <a:bodyPr wrap="square" lIns="0" tIns="0" rIns="0" bIns="0" rtlCol="0"/>
          <a:lstStyle/>
          <a:p>
            <a:endParaRPr/>
          </a:p>
        </p:txBody>
      </p:sp>
      <p:sp>
        <p:nvSpPr>
          <p:cNvPr id="16" name="object 16"/>
          <p:cNvSpPr/>
          <p:nvPr/>
        </p:nvSpPr>
        <p:spPr>
          <a:xfrm>
            <a:off x="1840677" y="3970035"/>
            <a:ext cx="115909" cy="117908"/>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974321" y="4227289"/>
            <a:ext cx="751205" cy="344805"/>
          </a:xfrm>
          <a:custGeom>
            <a:avLst/>
            <a:gdLst/>
            <a:ahLst/>
            <a:cxnLst/>
            <a:rect l="l" t="t" r="r" b="b"/>
            <a:pathLst>
              <a:path w="751204" h="344804">
                <a:moveTo>
                  <a:pt x="0" y="0"/>
                </a:moveTo>
                <a:lnTo>
                  <a:pt x="750599" y="0"/>
                </a:lnTo>
                <a:lnTo>
                  <a:pt x="750599" y="344452"/>
                </a:lnTo>
                <a:lnTo>
                  <a:pt x="0" y="344452"/>
                </a:lnTo>
                <a:lnTo>
                  <a:pt x="0" y="0"/>
                </a:lnTo>
                <a:close/>
              </a:path>
            </a:pathLst>
          </a:custGeom>
          <a:ln w="19049">
            <a:solidFill>
              <a:srgbClr val="000000"/>
            </a:solidFill>
          </a:ln>
        </p:spPr>
        <p:txBody>
          <a:bodyPr wrap="square" lIns="0" tIns="0" rIns="0" bIns="0" rtlCol="0"/>
          <a:lstStyle/>
          <a:p>
            <a:endParaRPr/>
          </a:p>
        </p:txBody>
      </p:sp>
      <p:sp>
        <p:nvSpPr>
          <p:cNvPr id="18" name="object 18"/>
          <p:cNvSpPr/>
          <p:nvPr/>
        </p:nvSpPr>
        <p:spPr>
          <a:xfrm>
            <a:off x="2871617" y="4991054"/>
            <a:ext cx="955675" cy="413384"/>
          </a:xfrm>
          <a:custGeom>
            <a:avLst/>
            <a:gdLst/>
            <a:ahLst/>
            <a:cxnLst/>
            <a:rect l="l" t="t" r="r" b="b"/>
            <a:pathLst>
              <a:path w="955675" h="413385">
                <a:moveTo>
                  <a:pt x="0" y="206671"/>
                </a:moveTo>
                <a:lnTo>
                  <a:pt x="477654" y="0"/>
                </a:lnTo>
                <a:lnTo>
                  <a:pt x="955308" y="206671"/>
                </a:lnTo>
                <a:lnTo>
                  <a:pt x="477654" y="413342"/>
                </a:lnTo>
                <a:lnTo>
                  <a:pt x="0" y="206671"/>
                </a:lnTo>
                <a:close/>
              </a:path>
            </a:pathLst>
          </a:custGeom>
          <a:ln w="19049">
            <a:solidFill>
              <a:srgbClr val="000000"/>
            </a:solidFill>
          </a:ln>
        </p:spPr>
        <p:txBody>
          <a:bodyPr wrap="square" lIns="0" tIns="0" rIns="0" bIns="0" rtlCol="0"/>
          <a:lstStyle/>
          <a:p>
            <a:endParaRPr/>
          </a:p>
        </p:txBody>
      </p:sp>
      <p:sp>
        <p:nvSpPr>
          <p:cNvPr id="19" name="object 19"/>
          <p:cNvSpPr/>
          <p:nvPr/>
        </p:nvSpPr>
        <p:spPr>
          <a:xfrm>
            <a:off x="3349293" y="4571742"/>
            <a:ext cx="635" cy="394335"/>
          </a:xfrm>
          <a:custGeom>
            <a:avLst/>
            <a:gdLst/>
            <a:ahLst/>
            <a:cxnLst/>
            <a:rect l="l" t="t" r="r" b="b"/>
            <a:pathLst>
              <a:path w="635" h="394335">
                <a:moveTo>
                  <a:pt x="329" y="0"/>
                </a:moveTo>
                <a:lnTo>
                  <a:pt x="0" y="394108"/>
                </a:lnTo>
              </a:path>
            </a:pathLst>
          </a:custGeom>
          <a:ln w="19049">
            <a:solidFill>
              <a:srgbClr val="000000"/>
            </a:solidFill>
          </a:ln>
        </p:spPr>
        <p:txBody>
          <a:bodyPr wrap="square" lIns="0" tIns="0" rIns="0" bIns="0" rtlCol="0"/>
          <a:lstStyle/>
          <a:p>
            <a:endParaRPr/>
          </a:p>
        </p:txBody>
      </p:sp>
      <p:sp>
        <p:nvSpPr>
          <p:cNvPr id="20" name="object 20"/>
          <p:cNvSpPr/>
          <p:nvPr/>
        </p:nvSpPr>
        <p:spPr>
          <a:xfrm>
            <a:off x="3290402" y="4875108"/>
            <a:ext cx="117908" cy="115945"/>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3348098" y="3824615"/>
            <a:ext cx="1270" cy="383540"/>
          </a:xfrm>
          <a:custGeom>
            <a:avLst/>
            <a:gdLst/>
            <a:ahLst/>
            <a:cxnLst/>
            <a:rect l="l" t="t" r="r" b="b"/>
            <a:pathLst>
              <a:path w="1270" h="383539">
                <a:moveTo>
                  <a:pt x="1173" y="0"/>
                </a:moveTo>
                <a:lnTo>
                  <a:pt x="0" y="383545"/>
                </a:lnTo>
              </a:path>
            </a:pathLst>
          </a:custGeom>
          <a:ln w="19049">
            <a:solidFill>
              <a:srgbClr val="000000"/>
            </a:solidFill>
          </a:ln>
        </p:spPr>
        <p:txBody>
          <a:bodyPr wrap="square" lIns="0" tIns="0" rIns="0" bIns="0" rtlCol="0"/>
          <a:lstStyle/>
          <a:p>
            <a:endParaRPr/>
          </a:p>
        </p:txBody>
      </p:sp>
      <p:sp>
        <p:nvSpPr>
          <p:cNvPr id="22" name="object 22"/>
          <p:cNvSpPr/>
          <p:nvPr/>
        </p:nvSpPr>
        <p:spPr>
          <a:xfrm>
            <a:off x="3289376" y="4117320"/>
            <a:ext cx="117908" cy="116044"/>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654393" y="4028990"/>
            <a:ext cx="695325" cy="1594485"/>
          </a:xfrm>
          <a:custGeom>
            <a:avLst/>
            <a:gdLst/>
            <a:ahLst/>
            <a:cxnLst/>
            <a:rect l="l" t="t" r="r" b="b"/>
            <a:pathLst>
              <a:path w="695325" h="1594485">
                <a:moveTo>
                  <a:pt x="694877" y="1375407"/>
                </a:moveTo>
                <a:lnTo>
                  <a:pt x="694877" y="1594138"/>
                </a:lnTo>
                <a:lnTo>
                  <a:pt x="0" y="1594138"/>
                </a:lnTo>
                <a:lnTo>
                  <a:pt x="0" y="0"/>
                </a:lnTo>
                <a:lnTo>
                  <a:pt x="670023" y="0"/>
                </a:lnTo>
              </a:path>
            </a:pathLst>
          </a:custGeom>
          <a:ln w="19049">
            <a:solidFill>
              <a:srgbClr val="000000"/>
            </a:solidFill>
          </a:ln>
        </p:spPr>
        <p:txBody>
          <a:bodyPr wrap="square" lIns="0" tIns="0" rIns="0" bIns="0" rtlCol="0"/>
          <a:lstStyle/>
          <a:p>
            <a:endParaRPr/>
          </a:p>
        </p:txBody>
      </p:sp>
      <p:sp>
        <p:nvSpPr>
          <p:cNvPr id="24" name="object 24"/>
          <p:cNvSpPr/>
          <p:nvPr/>
        </p:nvSpPr>
        <p:spPr>
          <a:xfrm>
            <a:off x="3233712" y="3970036"/>
            <a:ext cx="115909" cy="117908"/>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5236704" y="4166466"/>
            <a:ext cx="955675" cy="413384"/>
          </a:xfrm>
          <a:custGeom>
            <a:avLst/>
            <a:gdLst/>
            <a:ahLst/>
            <a:cxnLst/>
            <a:rect l="l" t="t" r="r" b="b"/>
            <a:pathLst>
              <a:path w="955675" h="413385">
                <a:moveTo>
                  <a:pt x="0" y="206671"/>
                </a:moveTo>
                <a:lnTo>
                  <a:pt x="477654" y="0"/>
                </a:lnTo>
                <a:lnTo>
                  <a:pt x="955308" y="206671"/>
                </a:lnTo>
                <a:lnTo>
                  <a:pt x="477654" y="413342"/>
                </a:lnTo>
                <a:lnTo>
                  <a:pt x="0" y="206671"/>
                </a:lnTo>
                <a:close/>
              </a:path>
            </a:pathLst>
          </a:custGeom>
          <a:ln w="19049">
            <a:solidFill>
              <a:srgbClr val="000000"/>
            </a:solidFill>
          </a:ln>
        </p:spPr>
        <p:txBody>
          <a:bodyPr wrap="square" lIns="0" tIns="0" rIns="0" bIns="0" rtlCol="0"/>
          <a:lstStyle/>
          <a:p>
            <a:endParaRPr/>
          </a:p>
        </p:txBody>
      </p:sp>
      <p:sp>
        <p:nvSpPr>
          <p:cNvPr id="26" name="object 26"/>
          <p:cNvSpPr/>
          <p:nvPr/>
        </p:nvSpPr>
        <p:spPr>
          <a:xfrm>
            <a:off x="6192013" y="4774995"/>
            <a:ext cx="751205" cy="344805"/>
          </a:xfrm>
          <a:custGeom>
            <a:avLst/>
            <a:gdLst/>
            <a:ahLst/>
            <a:cxnLst/>
            <a:rect l="l" t="t" r="r" b="b"/>
            <a:pathLst>
              <a:path w="751204" h="344804">
                <a:moveTo>
                  <a:pt x="0" y="0"/>
                </a:moveTo>
                <a:lnTo>
                  <a:pt x="750599" y="0"/>
                </a:lnTo>
                <a:lnTo>
                  <a:pt x="750599" y="344453"/>
                </a:lnTo>
                <a:lnTo>
                  <a:pt x="0" y="344453"/>
                </a:lnTo>
                <a:lnTo>
                  <a:pt x="0" y="0"/>
                </a:lnTo>
                <a:close/>
              </a:path>
            </a:pathLst>
          </a:custGeom>
          <a:ln w="19049">
            <a:solidFill>
              <a:srgbClr val="000000"/>
            </a:solidFill>
          </a:ln>
        </p:spPr>
        <p:txBody>
          <a:bodyPr wrap="square" lIns="0" tIns="0" rIns="0" bIns="0" rtlCol="0"/>
          <a:lstStyle/>
          <a:p>
            <a:endParaRPr/>
          </a:p>
        </p:txBody>
      </p:sp>
      <p:sp>
        <p:nvSpPr>
          <p:cNvPr id="27" name="object 27"/>
          <p:cNvSpPr/>
          <p:nvPr/>
        </p:nvSpPr>
        <p:spPr>
          <a:xfrm>
            <a:off x="5711932" y="3757715"/>
            <a:ext cx="1270" cy="383540"/>
          </a:xfrm>
          <a:custGeom>
            <a:avLst/>
            <a:gdLst/>
            <a:ahLst/>
            <a:cxnLst/>
            <a:rect l="l" t="t" r="r" b="b"/>
            <a:pathLst>
              <a:path w="1270" h="383539">
                <a:moveTo>
                  <a:pt x="1173" y="0"/>
                </a:moveTo>
                <a:lnTo>
                  <a:pt x="0" y="383545"/>
                </a:lnTo>
              </a:path>
            </a:pathLst>
          </a:custGeom>
          <a:ln w="19049">
            <a:solidFill>
              <a:srgbClr val="000000"/>
            </a:solidFill>
          </a:ln>
        </p:spPr>
        <p:txBody>
          <a:bodyPr wrap="square" lIns="0" tIns="0" rIns="0" bIns="0" rtlCol="0"/>
          <a:lstStyle/>
          <a:p>
            <a:endParaRPr/>
          </a:p>
        </p:txBody>
      </p:sp>
      <p:sp>
        <p:nvSpPr>
          <p:cNvPr id="28" name="object 28"/>
          <p:cNvSpPr/>
          <p:nvPr/>
        </p:nvSpPr>
        <p:spPr>
          <a:xfrm>
            <a:off x="5653211" y="4050420"/>
            <a:ext cx="117908" cy="116046"/>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5695108" y="5404397"/>
            <a:ext cx="1270" cy="383540"/>
          </a:xfrm>
          <a:custGeom>
            <a:avLst/>
            <a:gdLst/>
            <a:ahLst/>
            <a:cxnLst/>
            <a:rect l="l" t="t" r="r" b="b"/>
            <a:pathLst>
              <a:path w="1270" h="383539">
                <a:moveTo>
                  <a:pt x="1173" y="0"/>
                </a:moveTo>
                <a:lnTo>
                  <a:pt x="0" y="383545"/>
                </a:lnTo>
              </a:path>
            </a:pathLst>
          </a:custGeom>
          <a:ln w="19049">
            <a:solidFill>
              <a:srgbClr val="000000"/>
            </a:solidFill>
          </a:ln>
        </p:spPr>
        <p:txBody>
          <a:bodyPr wrap="square" lIns="0" tIns="0" rIns="0" bIns="0" rtlCol="0"/>
          <a:lstStyle/>
          <a:p>
            <a:endParaRPr/>
          </a:p>
        </p:txBody>
      </p:sp>
      <p:sp>
        <p:nvSpPr>
          <p:cNvPr id="30" name="object 30"/>
          <p:cNvSpPr/>
          <p:nvPr/>
        </p:nvSpPr>
        <p:spPr>
          <a:xfrm>
            <a:off x="5636387" y="5697102"/>
            <a:ext cx="117908" cy="116045"/>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6192013" y="4373138"/>
            <a:ext cx="375920" cy="401955"/>
          </a:xfrm>
          <a:custGeom>
            <a:avLst/>
            <a:gdLst/>
            <a:ahLst/>
            <a:cxnLst/>
            <a:rect l="l" t="t" r="r" b="b"/>
            <a:pathLst>
              <a:path w="375920" h="401954">
                <a:moveTo>
                  <a:pt x="0" y="0"/>
                </a:moveTo>
                <a:lnTo>
                  <a:pt x="375299" y="0"/>
                </a:lnTo>
                <a:lnTo>
                  <a:pt x="375299" y="401856"/>
                </a:lnTo>
              </a:path>
            </a:pathLst>
          </a:custGeom>
          <a:ln w="19049">
            <a:solidFill>
              <a:srgbClr val="000000"/>
            </a:solidFill>
          </a:ln>
        </p:spPr>
        <p:txBody>
          <a:bodyPr wrap="square" lIns="0" tIns="0" rIns="0" bIns="0" rtlCol="0"/>
          <a:lstStyle/>
          <a:p>
            <a:endParaRPr/>
          </a:p>
        </p:txBody>
      </p:sp>
      <p:sp>
        <p:nvSpPr>
          <p:cNvPr id="32" name="object 32"/>
          <p:cNvSpPr/>
          <p:nvPr/>
        </p:nvSpPr>
        <p:spPr>
          <a:xfrm>
            <a:off x="4965566" y="4373137"/>
            <a:ext cx="1602105" cy="1020444"/>
          </a:xfrm>
          <a:custGeom>
            <a:avLst/>
            <a:gdLst/>
            <a:ahLst/>
            <a:cxnLst/>
            <a:rect l="l" t="t" r="r" b="b"/>
            <a:pathLst>
              <a:path w="1602104" h="1020445">
                <a:moveTo>
                  <a:pt x="271138" y="0"/>
                </a:moveTo>
                <a:lnTo>
                  <a:pt x="0" y="0"/>
                </a:lnTo>
                <a:lnTo>
                  <a:pt x="0" y="1020048"/>
                </a:lnTo>
                <a:lnTo>
                  <a:pt x="1601746" y="1020048"/>
                </a:lnTo>
                <a:lnTo>
                  <a:pt x="1601746" y="746309"/>
                </a:lnTo>
              </a:path>
            </a:pathLst>
          </a:custGeom>
          <a:ln w="19049">
            <a:solidFill>
              <a:srgbClr val="000000"/>
            </a:solidFill>
          </a:ln>
        </p:spPr>
        <p:txBody>
          <a:bodyPr wrap="square" lIns="0" tIns="0" rIns="0" bIns="0" rtlCol="0"/>
          <a:lstStyle/>
          <a:p>
            <a:endParaRPr/>
          </a:p>
        </p:txBody>
      </p:sp>
      <p:sp>
        <p:nvSpPr>
          <p:cNvPr id="33" name="灯片编号占位符 32"/>
          <p:cNvSpPr>
            <a:spLocks noGrp="1"/>
          </p:cNvSpPr>
          <p:nvPr>
            <p:ph type="sldNum" sz="quarter" idx="12"/>
          </p:nvPr>
        </p:nvSpPr>
        <p:spPr/>
        <p:txBody>
          <a:bodyPr/>
          <a:lstStyle/>
          <a:p>
            <a:fld id="{74D2AB8B-5816-41F2-8B4B-CA5C3E4E6A65}" type="slidenum">
              <a:rPr lang="zh-CN" altLang="en-US" smtClean="0"/>
              <a:t>110</a:t>
            </a:fld>
            <a:endParaRPr lang="zh-CN" altLang="en-US"/>
          </a:p>
        </p:txBody>
      </p:sp>
      <p:sp>
        <p:nvSpPr>
          <p:cNvPr id="35" name="标题 34"/>
          <p:cNvSpPr>
            <a:spLocks noGrp="1"/>
          </p:cNvSpPr>
          <p:nvPr>
            <p:ph type="title"/>
          </p:nvPr>
        </p:nvSpPr>
        <p:spPr/>
        <p:txBody>
          <a:bodyPr/>
          <a:lstStyle/>
          <a:p>
            <a:r>
              <a:rPr lang="zh-CN" altLang="en-US" dirty="0"/>
              <a:t>循环测试</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白盒测试是根据程序的（ ）来设计测试用例。</a:t>
            </a:r>
          </a:p>
        </p:txBody>
      </p:sp>
      <p:sp>
        <p:nvSpPr>
          <p:cNvPr id="5" name="文本框 4"/>
          <p:cNvSpPr txBox="1"/>
          <p:nvPr>
            <p:custDataLst>
              <p:tags r:id="rId3"/>
            </p:custDataLst>
          </p:nvPr>
        </p:nvSpPr>
        <p:spPr>
          <a:xfrm>
            <a:off x="2713821" y="23123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功能</a:t>
            </a:r>
          </a:p>
        </p:txBody>
      </p:sp>
      <p:sp>
        <p:nvSpPr>
          <p:cNvPr id="6" name="文本框 5"/>
          <p:cNvSpPr txBox="1"/>
          <p:nvPr>
            <p:custDataLst>
              <p:tags r:id="rId4"/>
            </p:custDataLst>
          </p:nvPr>
        </p:nvSpPr>
        <p:spPr>
          <a:xfrm>
            <a:off x="2713821" y="31695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性能</a:t>
            </a:r>
          </a:p>
        </p:txBody>
      </p:sp>
      <p:sp>
        <p:nvSpPr>
          <p:cNvPr id="7" name="文本框 6"/>
          <p:cNvSpPr txBox="1"/>
          <p:nvPr>
            <p:custDataLst>
              <p:tags r:id="rId5"/>
            </p:custDataLst>
          </p:nvPr>
        </p:nvSpPr>
        <p:spPr>
          <a:xfrm>
            <a:off x="2713821" y="40268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内部逻辑 </a:t>
            </a:r>
          </a:p>
        </p:txBody>
      </p:sp>
      <p:sp>
        <p:nvSpPr>
          <p:cNvPr id="8" name="文本框 7"/>
          <p:cNvSpPr txBox="1"/>
          <p:nvPr>
            <p:custDataLst>
              <p:tags r:id="rId6"/>
            </p:custDataLst>
          </p:nvPr>
        </p:nvSpPr>
        <p:spPr>
          <a:xfrm>
            <a:off x="2713821" y="48840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内部数据</a:t>
            </a:r>
          </a:p>
        </p:txBody>
      </p:sp>
      <p:sp>
        <p:nvSpPr>
          <p:cNvPr id="13" name="矩形: 圆角 12"/>
          <p:cNvSpPr/>
          <p:nvPr>
            <p:custDataLst>
              <p:tags r:id="rId7"/>
            </p:custDataLst>
          </p:nvPr>
        </p:nvSpPr>
        <p:spPr>
          <a:xfrm>
            <a:off x="8100152" y="148224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E238F031-BB4C-A245-94F1-C1EDA68CDB76}"/>
              </a:ext>
            </a:extLst>
          </p:cNvPr>
          <p:cNvSpPr txBox="1"/>
          <p:nvPr/>
        </p:nvSpPr>
        <p:spPr>
          <a:xfrm>
            <a:off x="1589258" y="2431326"/>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404158616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关于测试覆盖率，下面的（ ）说法是错误的。</a:t>
            </a:r>
          </a:p>
        </p:txBody>
      </p:sp>
      <p:sp>
        <p:nvSpPr>
          <p:cNvPr id="5" name="文本框 4"/>
          <p:cNvSpPr txBox="1"/>
          <p:nvPr>
            <p:custDataLst>
              <p:tags r:id="rId3"/>
            </p:custDataLst>
          </p:nvPr>
        </p:nvSpPr>
        <p:spPr>
          <a:xfrm>
            <a:off x="2392680" y="23123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测试覆盖率是度量代码质量的一种手段</a:t>
            </a:r>
          </a:p>
        </p:txBody>
      </p:sp>
      <p:sp>
        <p:nvSpPr>
          <p:cNvPr id="6" name="文本框 5"/>
          <p:cNvSpPr txBox="1"/>
          <p:nvPr>
            <p:custDataLst>
              <p:tags r:id="rId4"/>
            </p:custDataLst>
          </p:nvPr>
        </p:nvSpPr>
        <p:spPr>
          <a:xfrm>
            <a:off x="2392680" y="31695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测试覆盖率是度量测试完整性的一种手段</a:t>
            </a:r>
          </a:p>
        </p:txBody>
      </p:sp>
      <p:sp>
        <p:nvSpPr>
          <p:cNvPr id="7" name="文本框 6"/>
          <p:cNvSpPr txBox="1"/>
          <p:nvPr>
            <p:custDataLst>
              <p:tags r:id="rId5"/>
            </p:custDataLst>
          </p:nvPr>
        </p:nvSpPr>
        <p:spPr>
          <a:xfrm>
            <a:off x="2392680" y="40268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测试覆盖率意味着有多少代码经过测试</a:t>
            </a:r>
          </a:p>
        </p:txBody>
      </p:sp>
      <p:sp>
        <p:nvSpPr>
          <p:cNvPr id="8" name="文本框 7"/>
          <p:cNvSpPr txBox="1"/>
          <p:nvPr>
            <p:custDataLst>
              <p:tags r:id="rId6"/>
            </p:custDataLst>
          </p:nvPr>
        </p:nvSpPr>
        <p:spPr>
          <a:xfrm>
            <a:off x="2392680" y="48840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不要盲目地追求</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a:t>
            </a:r>
          </a:p>
        </p:txBody>
      </p:sp>
      <p:sp>
        <p:nvSpPr>
          <p:cNvPr id="13" name="矩形: 圆角 12"/>
          <p:cNvSpPr/>
          <p:nvPr>
            <p:custDataLst>
              <p:tags r:id="rId7"/>
            </p:custDataLst>
          </p:nvPr>
        </p:nvSpPr>
        <p:spPr>
          <a:xfrm>
            <a:off x="8144219" y="148224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D26F17D0-C0FF-5A45-9FBF-2C12E2816EF0}"/>
              </a:ext>
            </a:extLst>
          </p:cNvPr>
          <p:cNvSpPr txBox="1"/>
          <p:nvPr/>
        </p:nvSpPr>
        <p:spPr>
          <a:xfrm>
            <a:off x="1410356" y="2431326"/>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16891285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在下面列举的测试覆盖中，（ ）是最强的逻辑覆盖准则。</a:t>
            </a:r>
          </a:p>
        </p:txBody>
      </p:sp>
      <p:sp>
        <p:nvSpPr>
          <p:cNvPr id="5" name="文本框 4"/>
          <p:cNvSpPr txBox="1"/>
          <p:nvPr>
            <p:custDataLst>
              <p:tags r:id="rId3"/>
            </p:custDataLst>
          </p:nvPr>
        </p:nvSpPr>
        <p:spPr>
          <a:xfrm>
            <a:off x="2614613" y="225725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语句覆盖</a:t>
            </a:r>
          </a:p>
        </p:txBody>
      </p:sp>
      <p:sp>
        <p:nvSpPr>
          <p:cNvPr id="6" name="文本框 5"/>
          <p:cNvSpPr txBox="1"/>
          <p:nvPr>
            <p:custDataLst>
              <p:tags r:id="rId4"/>
            </p:custDataLst>
          </p:nvPr>
        </p:nvSpPr>
        <p:spPr>
          <a:xfrm>
            <a:off x="2614613" y="311450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a:t>
            </a:r>
          </a:p>
        </p:txBody>
      </p:sp>
      <p:sp>
        <p:nvSpPr>
          <p:cNvPr id="7" name="文本框 6"/>
          <p:cNvSpPr txBox="1"/>
          <p:nvPr>
            <p:custDataLst>
              <p:tags r:id="rId5"/>
            </p:custDataLst>
          </p:nvPr>
        </p:nvSpPr>
        <p:spPr>
          <a:xfrm>
            <a:off x="2614613" y="397175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判定覆盖</a:t>
            </a:r>
          </a:p>
        </p:txBody>
      </p:sp>
      <p:sp>
        <p:nvSpPr>
          <p:cNvPr id="8" name="文本框 7"/>
          <p:cNvSpPr txBox="1"/>
          <p:nvPr>
            <p:custDataLst>
              <p:tags r:id="rId6"/>
            </p:custDataLst>
          </p:nvPr>
        </p:nvSpPr>
        <p:spPr>
          <a:xfrm>
            <a:off x="2614613" y="482900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条件组合覆盖</a:t>
            </a:r>
          </a:p>
        </p:txBody>
      </p:sp>
      <p:sp>
        <p:nvSpPr>
          <p:cNvPr id="13" name="矩形: 圆角 12"/>
          <p:cNvSpPr/>
          <p:nvPr>
            <p:custDataLst>
              <p:tags r:id="rId7"/>
            </p:custDataLst>
          </p:nvPr>
        </p:nvSpPr>
        <p:spPr>
          <a:xfrm>
            <a:off x="8287439" y="218979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69C6F11E-8CF7-C947-9265-4CC101133F7A}"/>
              </a:ext>
            </a:extLst>
          </p:cNvPr>
          <p:cNvSpPr txBox="1"/>
          <p:nvPr/>
        </p:nvSpPr>
        <p:spPr>
          <a:xfrm>
            <a:off x="1509751" y="2391570"/>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236262337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条件覆盖要求（ ）。</a:t>
            </a:r>
          </a:p>
        </p:txBody>
      </p:sp>
      <p:sp>
        <p:nvSpPr>
          <p:cNvPr id="5" name="文本框 4"/>
          <p:cNvSpPr txBox="1"/>
          <p:nvPr>
            <p:custDataLst>
              <p:tags r:id="rId3"/>
            </p:custDataLst>
          </p:nvPr>
        </p:nvSpPr>
        <p:spPr>
          <a:xfrm>
            <a:off x="2108200" y="22792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每个判定中每个条件的所有取值至少满足一次</a:t>
            </a:r>
          </a:p>
        </p:txBody>
      </p:sp>
      <p:sp>
        <p:nvSpPr>
          <p:cNvPr id="6" name="文本框 5"/>
          <p:cNvSpPr txBox="1"/>
          <p:nvPr>
            <p:custDataLst>
              <p:tags r:id="rId4"/>
            </p:custDataLst>
          </p:nvPr>
        </p:nvSpPr>
        <p:spPr>
          <a:xfrm>
            <a:off x="2108200" y="31365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每个判定至少取得一次“真”值和一次“假”值</a:t>
            </a:r>
          </a:p>
        </p:txBody>
      </p:sp>
      <p:sp>
        <p:nvSpPr>
          <p:cNvPr id="7" name="文本框 6"/>
          <p:cNvSpPr txBox="1"/>
          <p:nvPr>
            <p:custDataLst>
              <p:tags r:id="rId5"/>
            </p:custDataLst>
          </p:nvPr>
        </p:nvSpPr>
        <p:spPr>
          <a:xfrm>
            <a:off x="2108200" y="39937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每个判定中每个条件的所有可能取值组合至少满足一次</a:t>
            </a:r>
          </a:p>
        </p:txBody>
      </p:sp>
      <p:sp>
        <p:nvSpPr>
          <p:cNvPr id="8" name="文本框 7"/>
          <p:cNvSpPr txBox="1"/>
          <p:nvPr>
            <p:custDataLst>
              <p:tags r:id="rId6"/>
            </p:custDataLst>
          </p:nvPr>
        </p:nvSpPr>
        <p:spPr>
          <a:xfrm>
            <a:off x="2108200" y="48510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每个可执行语句至少执行一次</a:t>
            </a:r>
          </a:p>
        </p:txBody>
      </p:sp>
      <p:sp>
        <p:nvSpPr>
          <p:cNvPr id="13" name="矩形: 圆角 12"/>
          <p:cNvSpPr/>
          <p:nvPr>
            <p:custDataLst>
              <p:tags r:id="rId7"/>
            </p:custDataLst>
          </p:nvPr>
        </p:nvSpPr>
        <p:spPr>
          <a:xfrm>
            <a:off x="6375400" y="157406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D75B5677-E957-DC40-A95E-8B40FF706D3B}"/>
              </a:ext>
            </a:extLst>
          </p:cNvPr>
          <p:cNvSpPr txBox="1"/>
          <p:nvPr/>
        </p:nvSpPr>
        <p:spPr>
          <a:xfrm>
            <a:off x="1450112" y="2371692"/>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369865573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一个判定中的复合条件表达式为（</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A&gt;2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or</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），为了达到</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条件覆盖率，至少需要设计（ ）测试用例。</a:t>
            </a:r>
          </a:p>
        </p:txBody>
      </p:sp>
      <p:sp>
        <p:nvSpPr>
          <p:cNvPr id="5" name="文本框 4"/>
          <p:cNvSpPr txBox="1"/>
          <p:nvPr>
            <p:custDataLst>
              <p:tags r:id="rId3"/>
            </p:custDataLst>
          </p:nvPr>
        </p:nvSpPr>
        <p:spPr>
          <a:xfrm>
            <a:off x="2823990" y="257674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823990" y="343399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823990" y="429124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823990" y="514849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8639979" y="199374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C4F49B10-1926-3E44-9E54-933882F432A7}"/>
              </a:ext>
            </a:extLst>
          </p:cNvPr>
          <p:cNvSpPr txBox="1"/>
          <p:nvPr/>
        </p:nvSpPr>
        <p:spPr>
          <a:xfrm>
            <a:off x="1688654" y="2630111"/>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38455990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）要求每个判定中所有条件的可能取值至少执行一次，而且每个判定的可能结果也至少执行一次。</a:t>
            </a:r>
          </a:p>
        </p:txBody>
      </p:sp>
      <p:sp>
        <p:nvSpPr>
          <p:cNvPr id="5" name="文本框 4"/>
          <p:cNvSpPr txBox="1"/>
          <p:nvPr>
            <p:custDataLst>
              <p:tags r:id="rId3"/>
            </p:custDataLst>
          </p:nvPr>
        </p:nvSpPr>
        <p:spPr>
          <a:xfrm>
            <a:off x="2614613" y="244454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判定覆盖</a:t>
            </a:r>
          </a:p>
        </p:txBody>
      </p:sp>
      <p:sp>
        <p:nvSpPr>
          <p:cNvPr id="6" name="文本框 5"/>
          <p:cNvSpPr txBox="1"/>
          <p:nvPr>
            <p:custDataLst>
              <p:tags r:id="rId4"/>
            </p:custDataLst>
          </p:nvPr>
        </p:nvSpPr>
        <p:spPr>
          <a:xfrm>
            <a:off x="2614613" y="330179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a:t>
            </a:r>
          </a:p>
        </p:txBody>
      </p:sp>
      <p:sp>
        <p:nvSpPr>
          <p:cNvPr id="7" name="文本框 6"/>
          <p:cNvSpPr txBox="1"/>
          <p:nvPr>
            <p:custDataLst>
              <p:tags r:id="rId5"/>
            </p:custDataLst>
          </p:nvPr>
        </p:nvSpPr>
        <p:spPr>
          <a:xfrm>
            <a:off x="2614613" y="415904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判定条件覆盖</a:t>
            </a:r>
          </a:p>
        </p:txBody>
      </p:sp>
      <p:sp>
        <p:nvSpPr>
          <p:cNvPr id="8" name="文本框 7"/>
          <p:cNvSpPr txBox="1"/>
          <p:nvPr>
            <p:custDataLst>
              <p:tags r:id="rId6"/>
            </p:custDataLst>
          </p:nvPr>
        </p:nvSpPr>
        <p:spPr>
          <a:xfrm>
            <a:off x="2614613" y="501629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条件组合覆盖</a:t>
            </a:r>
          </a:p>
        </p:txBody>
      </p:sp>
      <p:sp>
        <p:nvSpPr>
          <p:cNvPr id="13" name="矩形: 圆角 12"/>
          <p:cNvSpPr/>
          <p:nvPr>
            <p:custDataLst>
              <p:tags r:id="rId7"/>
            </p:custDataLst>
          </p:nvPr>
        </p:nvSpPr>
        <p:spPr>
          <a:xfrm>
            <a:off x="7218802" y="192590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2A07F331-EC75-0446-9C4F-2C9CE59EECE7}"/>
              </a:ext>
            </a:extLst>
          </p:cNvPr>
          <p:cNvSpPr txBox="1"/>
          <p:nvPr/>
        </p:nvSpPr>
        <p:spPr>
          <a:xfrm>
            <a:off x="1668775" y="2510838"/>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p>
        </p:txBody>
      </p:sp>
    </p:spTree>
    <p:custDataLst>
      <p:tags r:id="rId1"/>
    </p:custDataLst>
    <p:extLst>
      <p:ext uri="{BB962C8B-B14F-4D97-AF65-F5344CB8AC3E}">
        <p14:creationId xmlns:p14="http://schemas.microsoft.com/office/powerpoint/2010/main" val="250241797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en-US" altLang="zh-CN" dirty="0"/>
              <a:t>Python</a:t>
            </a:r>
            <a:r>
              <a:rPr lang="zh-CN" altLang="en-US" dirty="0"/>
              <a:t>单元测试工具</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117</a:t>
            </a:fld>
            <a:endParaRPr lang="zh-CN"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4292600" cy="452120"/>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Arial" panose="020B0604020202020204"/>
                <a:cs typeface="Arial" panose="020B0604020202020204"/>
              </a:rPr>
              <a:t>Python</a:t>
            </a:r>
            <a:r>
              <a:rPr sz="2800" b="1" dirty="0">
                <a:latin typeface="微软雅黑" panose="020B0503020204020204" pitchFamily="34" charset="-122"/>
                <a:cs typeface="微软雅黑" panose="020B0503020204020204" pitchFamily="34" charset="-122"/>
              </a:rPr>
              <a:t>单元测试之</a:t>
            </a:r>
            <a:r>
              <a:rPr sz="2800" b="1" spc="-5" dirty="0">
                <a:latin typeface="Arial" panose="020B0604020202020204"/>
                <a:cs typeface="Arial" panose="020B0604020202020204"/>
              </a:rPr>
              <a:t>unittest</a:t>
            </a:r>
            <a:endParaRPr sz="2800">
              <a:latin typeface="Arial" panose="020B0604020202020204"/>
              <a:cs typeface="Arial" panose="020B0604020202020204"/>
            </a:endParaRPr>
          </a:p>
        </p:txBody>
      </p:sp>
      <p:sp>
        <p:nvSpPr>
          <p:cNvPr id="3" name="object 3"/>
          <p:cNvSpPr/>
          <p:nvPr/>
        </p:nvSpPr>
        <p:spPr>
          <a:xfrm>
            <a:off x="3513785" y="1195153"/>
            <a:ext cx="5882563" cy="495329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567928" y="5082170"/>
            <a:ext cx="3526154" cy="914400"/>
          </a:xfrm>
          <a:prstGeom prst="rect">
            <a:avLst/>
          </a:prstGeom>
        </p:spPr>
        <p:txBody>
          <a:bodyPr vert="horz" wrap="square" lIns="0" tIns="6350" rIns="0" bIns="0" rtlCol="0">
            <a:spAutoFit/>
          </a:bodyPr>
          <a:lstStyle/>
          <a:p>
            <a:pPr marL="12700" marR="5080" algn="just">
              <a:lnSpc>
                <a:spcPct val="109000"/>
              </a:lnSpc>
              <a:spcBef>
                <a:spcPts val="50"/>
              </a:spcBef>
            </a:pPr>
            <a:r>
              <a:rPr sz="1800" spc="-190" dirty="0">
                <a:solidFill>
                  <a:srgbClr val="CC0000"/>
                </a:solidFill>
                <a:latin typeface="Arial" panose="020B0604020202020204"/>
                <a:cs typeface="Arial" panose="020B0604020202020204"/>
              </a:rPr>
              <a:t>T</a:t>
            </a:r>
            <a:r>
              <a:rPr sz="1800" spc="10" dirty="0">
                <a:solidFill>
                  <a:srgbClr val="CC0000"/>
                </a:solidFill>
                <a:latin typeface="Arial" panose="020B0604020202020204"/>
                <a:cs typeface="Arial" panose="020B0604020202020204"/>
              </a:rPr>
              <a:t>estCase</a:t>
            </a:r>
            <a:r>
              <a:rPr sz="1800" spc="10" dirty="0">
                <a:solidFill>
                  <a:srgbClr val="CC0000"/>
                </a:solidFill>
                <a:latin typeface="微软雅黑" panose="020B0503020204020204" pitchFamily="34" charset="-122"/>
                <a:cs typeface="微软雅黑" panose="020B0503020204020204" pitchFamily="34" charset="-122"/>
              </a:rPr>
              <a:t>类：</a:t>
            </a:r>
            <a:r>
              <a:rPr sz="1800" spc="10" dirty="0">
                <a:latin typeface="微软雅黑" panose="020B0503020204020204" pitchFamily="34" charset="-122"/>
                <a:cs typeface="微软雅黑" panose="020B0503020204020204" pitchFamily="34" charset="-122"/>
              </a:rPr>
              <a:t>测试用例类，最小的 </a:t>
            </a:r>
            <a:r>
              <a:rPr sz="1800" spc="35" dirty="0">
                <a:latin typeface="微软雅黑" panose="020B0503020204020204" pitchFamily="34" charset="-122"/>
                <a:cs typeface="微软雅黑" panose="020B0503020204020204" pitchFamily="34" charset="-122"/>
              </a:rPr>
              <a:t>完整测试单元，编写测试用例时需 </a:t>
            </a:r>
            <a:r>
              <a:rPr sz="1800" dirty="0">
                <a:latin typeface="微软雅黑" panose="020B0503020204020204" pitchFamily="34" charset="-122"/>
                <a:cs typeface="微软雅黑" panose="020B0503020204020204" pitchFamily="34" charset="-122"/>
              </a:rPr>
              <a:t>要继承该类来编写测试用例。</a:t>
            </a:r>
          </a:p>
        </p:txBody>
      </p:sp>
      <p:sp>
        <p:nvSpPr>
          <p:cNvPr id="5" name="object 5"/>
          <p:cNvSpPr txBox="1"/>
          <p:nvPr/>
        </p:nvSpPr>
        <p:spPr>
          <a:xfrm>
            <a:off x="8020463" y="3753535"/>
            <a:ext cx="3521710" cy="914400"/>
          </a:xfrm>
          <a:prstGeom prst="rect">
            <a:avLst/>
          </a:prstGeom>
        </p:spPr>
        <p:txBody>
          <a:bodyPr vert="horz" wrap="square" lIns="0" tIns="6350" rIns="0" bIns="0" rtlCol="0">
            <a:spAutoFit/>
          </a:bodyPr>
          <a:lstStyle/>
          <a:p>
            <a:pPr marL="12700" marR="5080" algn="just">
              <a:lnSpc>
                <a:spcPct val="109000"/>
              </a:lnSpc>
              <a:spcBef>
                <a:spcPts val="50"/>
              </a:spcBef>
            </a:pPr>
            <a:r>
              <a:rPr sz="1800" spc="-185" dirty="0">
                <a:solidFill>
                  <a:srgbClr val="CC0000"/>
                </a:solidFill>
                <a:latin typeface="Arial" panose="020B0604020202020204"/>
                <a:cs typeface="Arial" panose="020B0604020202020204"/>
              </a:rPr>
              <a:t>T</a:t>
            </a:r>
            <a:r>
              <a:rPr sz="1800" spc="15" dirty="0">
                <a:solidFill>
                  <a:srgbClr val="CC0000"/>
                </a:solidFill>
                <a:latin typeface="Arial" panose="020B0604020202020204"/>
                <a:cs typeface="Arial" panose="020B0604020202020204"/>
              </a:rPr>
              <a:t>estSuite</a:t>
            </a:r>
            <a:r>
              <a:rPr sz="1800" spc="15" dirty="0">
                <a:solidFill>
                  <a:srgbClr val="CC0000"/>
                </a:solidFill>
                <a:latin typeface="微软雅黑" panose="020B0503020204020204" pitchFamily="34" charset="-122"/>
                <a:cs typeface="微软雅黑" panose="020B0503020204020204" pitchFamily="34" charset="-122"/>
              </a:rPr>
              <a:t>类：</a:t>
            </a:r>
            <a:r>
              <a:rPr sz="1800" spc="15" dirty="0">
                <a:latin typeface="微软雅黑" panose="020B0503020204020204" pitchFamily="34" charset="-122"/>
                <a:cs typeface="微软雅黑" panose="020B0503020204020204" pitchFamily="34" charset="-122"/>
              </a:rPr>
              <a:t>测试套件类，可以将  </a:t>
            </a:r>
            <a:r>
              <a:rPr sz="1800" spc="-200" dirty="0">
                <a:latin typeface="Arial" panose="020B0604020202020204"/>
                <a:cs typeface="Arial" panose="020B0604020202020204"/>
              </a:rPr>
              <a:t>T</a:t>
            </a:r>
            <a:r>
              <a:rPr sz="1800" dirty="0">
                <a:latin typeface="Arial" panose="020B0604020202020204"/>
                <a:cs typeface="Arial" panose="020B0604020202020204"/>
              </a:rPr>
              <a:t>estCas</a:t>
            </a:r>
            <a:r>
              <a:rPr sz="1800" spc="-5" dirty="0">
                <a:latin typeface="Arial" panose="020B0604020202020204"/>
                <a:cs typeface="Arial" panose="020B0604020202020204"/>
              </a:rPr>
              <a:t>e</a:t>
            </a:r>
            <a:r>
              <a:rPr sz="1800" dirty="0">
                <a:latin typeface="微软雅黑" panose="020B0503020204020204" pitchFamily="34" charset="-122"/>
                <a:cs typeface="微软雅黑" panose="020B0503020204020204" pitchFamily="34" charset="-122"/>
              </a:rPr>
              <a:t>加入到</a:t>
            </a:r>
            <a:r>
              <a:rPr sz="1800" spc="-200" dirty="0">
                <a:latin typeface="Arial" panose="020B0604020202020204"/>
                <a:cs typeface="Arial" panose="020B0604020202020204"/>
              </a:rPr>
              <a:t>T</a:t>
            </a:r>
            <a:r>
              <a:rPr sz="1800" dirty="0">
                <a:latin typeface="Arial" panose="020B0604020202020204"/>
                <a:cs typeface="Arial" panose="020B0604020202020204"/>
              </a:rPr>
              <a:t>estSuit</a:t>
            </a:r>
            <a:r>
              <a:rPr sz="1800" spc="-5" dirty="0">
                <a:latin typeface="Arial" panose="020B0604020202020204"/>
                <a:cs typeface="Arial" panose="020B0604020202020204"/>
              </a:rPr>
              <a:t>e</a:t>
            </a:r>
            <a:r>
              <a:rPr sz="1800" dirty="0">
                <a:latin typeface="微软雅黑" panose="020B0503020204020204" pitchFamily="34" charset="-122"/>
                <a:cs typeface="微软雅黑" panose="020B0503020204020204" pitchFamily="34" charset="-122"/>
              </a:rPr>
              <a:t>中进行分 组，方便对测试进行管理。</a:t>
            </a:r>
            <a:endParaRPr sz="1800">
              <a:latin typeface="微软雅黑" panose="020B0503020204020204" pitchFamily="34" charset="-122"/>
              <a:cs typeface="微软雅黑" panose="020B0503020204020204" pitchFamily="34" charset="-122"/>
            </a:endParaRPr>
          </a:p>
        </p:txBody>
      </p:sp>
      <p:sp>
        <p:nvSpPr>
          <p:cNvPr id="6" name="object 6"/>
          <p:cNvSpPr txBox="1"/>
          <p:nvPr/>
        </p:nvSpPr>
        <p:spPr>
          <a:xfrm>
            <a:off x="7958668" y="5137835"/>
            <a:ext cx="3564254" cy="745490"/>
          </a:xfrm>
          <a:prstGeom prst="rect">
            <a:avLst/>
          </a:prstGeom>
          <a:solidFill>
            <a:srgbClr val="ECEBEB"/>
          </a:solidFill>
        </p:spPr>
        <p:txBody>
          <a:bodyPr vert="horz" wrap="square" lIns="0" tIns="50800" rIns="0" bIns="0" rtlCol="0">
            <a:spAutoFit/>
          </a:bodyPr>
          <a:lstStyle/>
          <a:p>
            <a:pPr marL="179705" marR="160655">
              <a:lnSpc>
                <a:spcPct val="107000"/>
              </a:lnSpc>
              <a:spcBef>
                <a:spcPts val="400"/>
              </a:spcBef>
            </a:pPr>
            <a:r>
              <a:rPr sz="1800" spc="40" dirty="0">
                <a:latin typeface="Arial" panose="020B0604020202020204"/>
                <a:cs typeface="Arial" panose="020B0604020202020204"/>
              </a:rPr>
              <a:t>main</a:t>
            </a:r>
            <a:r>
              <a:rPr sz="1800" spc="40" dirty="0">
                <a:latin typeface="微软雅黑" panose="020B0503020204020204" pitchFamily="34" charset="-122"/>
                <a:cs typeface="微软雅黑" panose="020B0503020204020204" pitchFamily="34" charset="-122"/>
              </a:rPr>
              <a:t>方法：</a:t>
            </a:r>
            <a:r>
              <a:rPr sz="1800" spc="40" dirty="0">
                <a:latin typeface="Arial" panose="020B0604020202020204"/>
                <a:cs typeface="Arial" panose="020B0604020202020204"/>
              </a:rPr>
              <a:t>unittest.main()</a:t>
            </a:r>
            <a:r>
              <a:rPr sz="1800" spc="40" dirty="0">
                <a:latin typeface="微软雅黑" panose="020B0503020204020204" pitchFamily="34" charset="-122"/>
                <a:cs typeface="微软雅黑" panose="020B0503020204020204" pitchFamily="34" charset="-122"/>
              </a:rPr>
              <a:t>可以 </a:t>
            </a:r>
            <a:r>
              <a:rPr sz="1800" dirty="0">
                <a:latin typeface="微软雅黑" panose="020B0503020204020204" pitchFamily="34" charset="-122"/>
                <a:cs typeface="微软雅黑" panose="020B0503020204020204" pitchFamily="34" charset="-122"/>
              </a:rPr>
              <a:t>自动运行当前文件中的所有测试</a:t>
            </a:r>
            <a:endParaRPr sz="1800">
              <a:latin typeface="微软雅黑" panose="020B0503020204020204" pitchFamily="34" charset="-122"/>
              <a:cs typeface="微软雅黑" panose="020B0503020204020204" pitchFamily="34" charset="-122"/>
            </a:endParaRPr>
          </a:p>
        </p:txBody>
      </p:sp>
      <p:sp>
        <p:nvSpPr>
          <p:cNvPr id="7" name="object 7"/>
          <p:cNvSpPr txBox="1"/>
          <p:nvPr/>
        </p:nvSpPr>
        <p:spPr>
          <a:xfrm>
            <a:off x="722203" y="2655900"/>
            <a:ext cx="2768600" cy="609600"/>
          </a:xfrm>
          <a:prstGeom prst="rect">
            <a:avLst/>
          </a:prstGeom>
        </p:spPr>
        <p:txBody>
          <a:bodyPr vert="horz" wrap="square" lIns="0" tIns="12700" rIns="0" bIns="0" rtlCol="0">
            <a:spAutoFit/>
          </a:bodyPr>
          <a:lstStyle/>
          <a:p>
            <a:pPr marL="12700" marR="5080">
              <a:lnSpc>
                <a:spcPct val="107000"/>
              </a:lnSpc>
              <a:spcBef>
                <a:spcPts val="100"/>
              </a:spcBef>
            </a:pPr>
            <a:r>
              <a:rPr sz="1800" spc="-10" dirty="0">
                <a:solidFill>
                  <a:srgbClr val="CC0000"/>
                </a:solidFill>
                <a:latin typeface="Arial" panose="020B0604020202020204"/>
                <a:cs typeface="Arial" panose="020B0604020202020204"/>
              </a:rPr>
              <a:t>TestLoader</a:t>
            </a:r>
            <a:r>
              <a:rPr sz="1800" spc="10" dirty="0">
                <a:solidFill>
                  <a:srgbClr val="CC0000"/>
                </a:solidFill>
                <a:latin typeface="微软雅黑" panose="020B0503020204020204" pitchFamily="34" charset="-122"/>
                <a:cs typeface="微软雅黑" panose="020B0503020204020204" pitchFamily="34" charset="-122"/>
              </a:rPr>
              <a:t>类：</a:t>
            </a:r>
            <a:r>
              <a:rPr sz="1800" spc="10" dirty="0">
                <a:latin typeface="微软雅黑" panose="020B0503020204020204" pitchFamily="34" charset="-122"/>
                <a:cs typeface="微软雅黑" panose="020B0503020204020204" pitchFamily="34" charset="-122"/>
              </a:rPr>
              <a:t>加载测试 </a:t>
            </a:r>
            <a:r>
              <a:rPr sz="1800" dirty="0">
                <a:latin typeface="微软雅黑" panose="020B0503020204020204" pitchFamily="34" charset="-122"/>
                <a:cs typeface="微软雅黑" panose="020B0503020204020204" pitchFamily="34" charset="-122"/>
              </a:rPr>
              <a:t>的类，通常无需手动创建。</a:t>
            </a:r>
            <a:endParaRPr sz="1800">
              <a:latin typeface="微软雅黑" panose="020B0503020204020204" pitchFamily="34" charset="-122"/>
              <a:cs typeface="微软雅黑" panose="020B0503020204020204" pitchFamily="34" charset="-122"/>
            </a:endParaRPr>
          </a:p>
        </p:txBody>
      </p:sp>
      <p:sp>
        <p:nvSpPr>
          <p:cNvPr id="8" name="object 8"/>
          <p:cNvSpPr txBox="1"/>
          <p:nvPr/>
        </p:nvSpPr>
        <p:spPr>
          <a:xfrm>
            <a:off x="3051221" y="1533220"/>
            <a:ext cx="337883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CC0000"/>
                </a:solidFill>
                <a:latin typeface="Arial" panose="020B0604020202020204"/>
                <a:cs typeface="Arial" panose="020B0604020202020204"/>
              </a:rPr>
              <a:t>TestResult</a:t>
            </a:r>
            <a:r>
              <a:rPr sz="1800" dirty="0">
                <a:solidFill>
                  <a:srgbClr val="CC0000"/>
                </a:solidFill>
                <a:latin typeface="微软雅黑" panose="020B0503020204020204" pitchFamily="34" charset="-122"/>
                <a:cs typeface="微软雅黑" panose="020B0503020204020204" pitchFamily="34" charset="-122"/>
              </a:rPr>
              <a:t>类</a:t>
            </a:r>
            <a:r>
              <a:rPr sz="1800" dirty="0">
                <a:solidFill>
                  <a:srgbClr val="D81E00"/>
                </a:solidFill>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记录测试结果的类</a:t>
            </a:r>
            <a:endParaRPr sz="1800">
              <a:latin typeface="微软雅黑" panose="020B0503020204020204" pitchFamily="34" charset="-122"/>
              <a:cs typeface="微软雅黑" panose="020B0503020204020204" pitchFamily="34" charset="-122"/>
            </a:endParaRPr>
          </a:p>
        </p:txBody>
      </p:sp>
      <p:sp>
        <p:nvSpPr>
          <p:cNvPr id="9" name="object 9"/>
          <p:cNvSpPr txBox="1"/>
          <p:nvPr/>
        </p:nvSpPr>
        <p:spPr>
          <a:xfrm>
            <a:off x="8026958" y="2125890"/>
            <a:ext cx="3442970" cy="299720"/>
          </a:xfrm>
          <a:prstGeom prst="rect">
            <a:avLst/>
          </a:prstGeom>
        </p:spPr>
        <p:txBody>
          <a:bodyPr vert="horz" wrap="square" lIns="0" tIns="12700" rIns="0" bIns="0" rtlCol="0">
            <a:spAutoFit/>
          </a:bodyPr>
          <a:lstStyle/>
          <a:p>
            <a:pPr marL="12700">
              <a:lnSpc>
                <a:spcPct val="100000"/>
              </a:lnSpc>
              <a:spcBef>
                <a:spcPts val="100"/>
              </a:spcBef>
            </a:pPr>
            <a:r>
              <a:rPr sz="1800" spc="-200" dirty="0">
                <a:solidFill>
                  <a:srgbClr val="CC0000"/>
                </a:solidFill>
                <a:latin typeface="Arial" panose="020B0604020202020204"/>
                <a:cs typeface="Arial" panose="020B0604020202020204"/>
              </a:rPr>
              <a:t>T</a:t>
            </a:r>
            <a:r>
              <a:rPr sz="1800" dirty="0">
                <a:solidFill>
                  <a:srgbClr val="CC0000"/>
                </a:solidFill>
                <a:latin typeface="Arial" panose="020B0604020202020204"/>
                <a:cs typeface="Arial" panose="020B0604020202020204"/>
              </a:rPr>
              <a:t>ex</a:t>
            </a:r>
            <a:r>
              <a:rPr sz="1800" spc="-5" dirty="0">
                <a:solidFill>
                  <a:srgbClr val="CC0000"/>
                </a:solidFill>
                <a:latin typeface="Arial" panose="020B0604020202020204"/>
                <a:cs typeface="Arial" panose="020B0604020202020204"/>
              </a:rPr>
              <a:t>t</a:t>
            </a:r>
            <a:r>
              <a:rPr sz="1800" spc="-200" dirty="0">
                <a:solidFill>
                  <a:srgbClr val="CC0000"/>
                </a:solidFill>
                <a:latin typeface="Arial" panose="020B0604020202020204"/>
                <a:cs typeface="Arial" panose="020B0604020202020204"/>
              </a:rPr>
              <a:t>T</a:t>
            </a:r>
            <a:r>
              <a:rPr sz="1800" dirty="0">
                <a:solidFill>
                  <a:srgbClr val="CC0000"/>
                </a:solidFill>
                <a:latin typeface="Arial" panose="020B0604020202020204"/>
                <a:cs typeface="Arial" panose="020B0604020202020204"/>
              </a:rPr>
              <a:t>es</a:t>
            </a:r>
            <a:r>
              <a:rPr sz="1800" spc="-5" dirty="0">
                <a:solidFill>
                  <a:srgbClr val="CC0000"/>
                </a:solidFill>
                <a:latin typeface="Arial" panose="020B0604020202020204"/>
                <a:cs typeface="Arial" panose="020B0604020202020204"/>
              </a:rPr>
              <a:t>t</a:t>
            </a:r>
            <a:r>
              <a:rPr sz="1800" dirty="0">
                <a:solidFill>
                  <a:srgbClr val="CC0000"/>
                </a:solidFill>
                <a:latin typeface="Arial" panose="020B0604020202020204"/>
                <a:cs typeface="Arial" panose="020B0604020202020204"/>
              </a:rPr>
              <a:t>Runner</a:t>
            </a:r>
            <a:r>
              <a:rPr sz="1800" dirty="0">
                <a:solidFill>
                  <a:srgbClr val="CC0000"/>
                </a:solidFill>
                <a:latin typeface="微软雅黑" panose="020B0503020204020204" pitchFamily="34" charset="-122"/>
                <a:cs typeface="微软雅黑" panose="020B0503020204020204" pitchFamily="34" charset="-122"/>
              </a:rPr>
              <a:t>类</a:t>
            </a:r>
            <a:r>
              <a:rPr sz="1800" dirty="0">
                <a:solidFill>
                  <a:srgbClr val="D81E00"/>
                </a:solidFill>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执行测试用例</a:t>
            </a:r>
            <a:endParaRPr sz="1800">
              <a:latin typeface="微软雅黑" panose="020B0503020204020204" pitchFamily="34" charset="-122"/>
              <a:cs typeface="微软雅黑" panose="020B0503020204020204" pitchFamily="34"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40932" y="1683465"/>
            <a:ext cx="9720580" cy="735965"/>
          </a:xfrm>
          <a:prstGeom prst="rect">
            <a:avLst/>
          </a:prstGeom>
          <a:solidFill>
            <a:srgbClr val="797BA9"/>
          </a:solidFill>
        </p:spPr>
        <p:txBody>
          <a:bodyPr vert="horz" wrap="square" lIns="0" tIns="191770" rIns="0" bIns="0" rtlCol="0">
            <a:spAutoFit/>
          </a:bodyPr>
          <a:lstStyle/>
          <a:p>
            <a:pPr marL="391795">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测试过程中需要通过属性断言对结果进行判断，以验证结果是否满足需求。</a:t>
            </a:r>
            <a:endParaRPr sz="2200" dirty="0">
              <a:latin typeface="微软雅黑" panose="020B0503020204020204" pitchFamily="34" charset="-122"/>
              <a:cs typeface="微软雅黑" panose="020B0503020204020204" pitchFamily="34" charset="-122"/>
            </a:endParaRPr>
          </a:p>
        </p:txBody>
      </p:sp>
      <p:sp>
        <p:nvSpPr>
          <p:cNvPr id="4" name="object 4"/>
          <p:cNvSpPr txBox="1"/>
          <p:nvPr/>
        </p:nvSpPr>
        <p:spPr>
          <a:xfrm>
            <a:off x="1365677" y="2693723"/>
            <a:ext cx="9388475" cy="2895600"/>
          </a:xfrm>
          <a:prstGeom prst="rect">
            <a:avLst/>
          </a:prstGeom>
        </p:spPr>
        <p:txBody>
          <a:bodyPr vert="horz" wrap="square" lIns="0" tIns="12700" rIns="0" bIns="0" rtlCol="0">
            <a:spAutoFit/>
          </a:bodyPr>
          <a:lstStyle/>
          <a:p>
            <a:pPr marL="355600" marR="5080" indent="-342900">
              <a:lnSpc>
                <a:spcPct val="129000"/>
              </a:lnSpc>
              <a:spcBef>
                <a:spcPts val="100"/>
              </a:spcBef>
              <a:buChar char="•"/>
              <a:tabLst>
                <a:tab pos="354965" algn="l"/>
                <a:tab pos="355600" algn="l"/>
              </a:tabLst>
            </a:pPr>
            <a:r>
              <a:rPr sz="2000" spc="-30" dirty="0">
                <a:latin typeface="Arial" panose="020B0604020202020204"/>
                <a:cs typeface="Arial" panose="020B0604020202020204"/>
              </a:rPr>
              <a:t>TestCase</a:t>
            </a:r>
            <a:r>
              <a:rPr sz="2000" dirty="0">
                <a:latin typeface="微软雅黑" panose="020B0503020204020204" pitchFamily="34" charset="-122"/>
                <a:cs typeface="微软雅黑" panose="020B0503020204020204" pitchFamily="34" charset="-122"/>
              </a:rPr>
              <a:t>类提供了多种强大的断言方法，如</a:t>
            </a:r>
            <a:r>
              <a:rPr sz="2000" spc="-10" dirty="0">
                <a:latin typeface="Arial" panose="020B0604020202020204"/>
                <a:cs typeface="Arial" panose="020B0604020202020204"/>
              </a:rPr>
              <a:t>asserTrue,</a:t>
            </a:r>
            <a:r>
              <a:rPr sz="2000" spc="50" dirty="0">
                <a:latin typeface="Arial" panose="020B0604020202020204"/>
                <a:cs typeface="Arial" panose="020B0604020202020204"/>
              </a:rPr>
              <a:t> </a:t>
            </a:r>
            <a:r>
              <a:rPr sz="2000" spc="-5" dirty="0">
                <a:latin typeface="Arial" panose="020B0604020202020204"/>
                <a:cs typeface="Arial" panose="020B0604020202020204"/>
              </a:rPr>
              <a:t>assertFalse,</a:t>
            </a:r>
            <a:r>
              <a:rPr sz="2000" spc="50" dirty="0">
                <a:latin typeface="Arial" panose="020B0604020202020204"/>
                <a:cs typeface="Arial" panose="020B0604020202020204"/>
              </a:rPr>
              <a:t> </a:t>
            </a:r>
            <a:r>
              <a:rPr sz="2000" spc="-5" dirty="0">
                <a:latin typeface="Arial" panose="020B0604020202020204"/>
                <a:cs typeface="Arial" panose="020B0604020202020204"/>
              </a:rPr>
              <a:t>assertEqual,  assertNotEqual, assertIs</a:t>
            </a:r>
            <a:r>
              <a:rPr sz="2000" dirty="0">
                <a:latin typeface="微软雅黑" panose="020B0503020204020204" pitchFamily="34" charset="-122"/>
                <a:cs typeface="微软雅黑" panose="020B0503020204020204" pitchFamily="34" charset="-122"/>
              </a:rPr>
              <a:t>等。</a:t>
            </a:r>
            <a:endParaRPr sz="2000">
              <a:latin typeface="微软雅黑" panose="020B0503020204020204" pitchFamily="34" charset="-122"/>
              <a:cs typeface="微软雅黑" panose="020B0503020204020204" pitchFamily="34" charset="-122"/>
            </a:endParaRPr>
          </a:p>
          <a:p>
            <a:pPr>
              <a:lnSpc>
                <a:spcPct val="100000"/>
              </a:lnSpc>
              <a:spcBef>
                <a:spcPts val="20"/>
              </a:spcBef>
              <a:buFont typeface="Arial" panose="020B0604020202020204"/>
              <a:buChar char="•"/>
            </a:pPr>
            <a:endParaRPr sz="2500">
              <a:latin typeface="Times New Roman" panose="02020603050405020304"/>
              <a:cs typeface="Times New Roman" panose="02020603050405020304"/>
            </a:endParaRPr>
          </a:p>
          <a:p>
            <a:pPr marL="365125">
              <a:lnSpc>
                <a:spcPct val="100000"/>
              </a:lnSpc>
              <a:spcBef>
                <a:spcPts val="5"/>
              </a:spcBef>
            </a:pPr>
            <a:r>
              <a:rPr sz="2000" dirty="0">
                <a:latin typeface="微软雅黑" panose="020B0503020204020204" pitchFamily="34" charset="-122"/>
                <a:cs typeface="微软雅黑" panose="020B0503020204020204" pitchFamily="34" charset="-122"/>
              </a:rPr>
              <a:t>参考文档见 </a:t>
            </a:r>
            <a:r>
              <a:rPr sz="2000" u="sng" spc="-5" dirty="0">
                <a:solidFill>
                  <a:srgbClr val="0563C1"/>
                </a:solidFill>
                <a:uFill>
                  <a:solidFill>
                    <a:srgbClr val="0079CD"/>
                  </a:solidFill>
                </a:uFill>
                <a:latin typeface="Arial" panose="020B0604020202020204"/>
                <a:cs typeface="Arial" panose="020B0604020202020204"/>
              </a:rPr>
              <a:t>https://docs.python.org/3/library/unittest.html</a:t>
            </a:r>
            <a:endParaRPr sz="2000">
              <a:latin typeface="Arial" panose="020B0604020202020204"/>
              <a:cs typeface="Arial" panose="020B0604020202020204"/>
            </a:endParaRPr>
          </a:p>
          <a:p>
            <a:pPr marL="355600" marR="2399030" indent="-342900">
              <a:lnSpc>
                <a:spcPct val="129000"/>
              </a:lnSpc>
              <a:spcBef>
                <a:spcPts val="1795"/>
              </a:spcBef>
              <a:buFont typeface="Arial" panose="020B0604020202020204"/>
              <a:buChar char="•"/>
              <a:tabLst>
                <a:tab pos="360045" algn="l"/>
                <a:tab pos="360680" algn="l"/>
              </a:tabLst>
            </a:pPr>
            <a:r>
              <a:rPr sz="2000" spc="75" dirty="0">
                <a:latin typeface="微软雅黑" panose="020B0503020204020204" pitchFamily="34" charset="-122"/>
                <a:cs typeface="微软雅黑" panose="020B0503020204020204" pitchFamily="34" charset="-122"/>
              </a:rPr>
              <a:t>这些断言方法可以在断言的同时加上一个</a:t>
            </a:r>
            <a:r>
              <a:rPr sz="2000" spc="75" dirty="0">
                <a:latin typeface="Arial" panose="020B0604020202020204"/>
                <a:cs typeface="Arial" panose="020B0604020202020204"/>
              </a:rPr>
              <a:t>message</a:t>
            </a:r>
            <a:r>
              <a:rPr sz="2000" spc="75" dirty="0">
                <a:latin typeface="微软雅黑" panose="020B0503020204020204" pitchFamily="34" charset="-122"/>
                <a:cs typeface="微软雅黑" panose="020B0503020204020204" pitchFamily="34" charset="-122"/>
              </a:rPr>
              <a:t>参</a:t>
            </a:r>
            <a:r>
              <a:rPr sz="2000" spc="-5" dirty="0">
                <a:latin typeface="微软雅黑" panose="020B0503020204020204" pitchFamily="34" charset="-122"/>
                <a:cs typeface="微软雅黑" panose="020B0503020204020204" pitchFamily="34" charset="-122"/>
              </a:rPr>
              <a:t>数</a:t>
            </a:r>
            <a:r>
              <a:rPr sz="2000" dirty="0">
                <a:latin typeface="微软雅黑" panose="020B0503020204020204" pitchFamily="34" charset="-122"/>
                <a:cs typeface="微软雅黑" panose="020B0503020204020204" pitchFamily="34" charset="-122"/>
              </a:rPr>
              <a:t>， </a:t>
            </a:r>
            <a:r>
              <a:rPr sz="2000" spc="5" dirty="0">
                <a:latin typeface="微软雅黑" panose="020B0503020204020204" pitchFamily="34" charset="-122"/>
                <a:cs typeface="微软雅黑" panose="020B0503020204020204" pitchFamily="34" charset="-122"/>
              </a:rPr>
              <a:t>这样可以使断言的意义明确而且方便维护，在测试失败时 </a:t>
            </a:r>
            <a:r>
              <a:rPr sz="2000" dirty="0">
                <a:latin typeface="微软雅黑" panose="020B0503020204020204" pitchFamily="34" charset="-122"/>
                <a:cs typeface="微软雅黑" panose="020B0503020204020204" pitchFamily="34" charset="-122"/>
              </a:rPr>
              <a:t>抛出可读的信息。</a:t>
            </a:r>
            <a:endParaRPr sz="2000">
              <a:latin typeface="微软雅黑" panose="020B0503020204020204" pitchFamily="34" charset="-122"/>
              <a:cs typeface="微软雅黑" panose="020B0503020204020204" pitchFamily="34" charset="-122"/>
            </a:endParaRPr>
          </a:p>
        </p:txBody>
      </p:sp>
      <p:sp>
        <p:nvSpPr>
          <p:cNvPr id="5" name="object 5"/>
          <p:cNvSpPr/>
          <p:nvPr/>
        </p:nvSpPr>
        <p:spPr>
          <a:xfrm>
            <a:off x="8616850" y="3564464"/>
            <a:ext cx="2135813" cy="2125134"/>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en-US" altLang="zh-CN" dirty="0"/>
              <a:t>Python</a:t>
            </a:r>
            <a:r>
              <a:rPr lang="zh-CN" altLang="en-US" dirty="0"/>
              <a:t>单元测试之</a:t>
            </a:r>
            <a:r>
              <a:rPr lang="en-US" altLang="zh-CN" dirty="0" err="1"/>
              <a:t>unittest</a:t>
            </a:r>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76204" y="1278531"/>
            <a:ext cx="10384790" cy="4470400"/>
          </a:xfrm>
          <a:prstGeom prst="rect">
            <a:avLst/>
          </a:prstGeom>
        </p:spPr>
        <p:txBody>
          <a:bodyPr vert="horz" wrap="square" lIns="0" tIns="185420" rIns="0" bIns="0" rtlCol="0">
            <a:spAutoFit/>
          </a:bodyPr>
          <a:lstStyle/>
          <a:p>
            <a:pPr marL="12700">
              <a:lnSpc>
                <a:spcPct val="100000"/>
              </a:lnSpc>
              <a:spcBef>
                <a:spcPts val="1460"/>
              </a:spcBef>
              <a:tabLst>
                <a:tab pos="469265" algn="l"/>
              </a:tabLst>
            </a:pPr>
            <a:r>
              <a:rPr sz="2200" dirty="0">
                <a:latin typeface="微软雅黑" panose="020B0503020204020204" pitchFamily="34" charset="-122"/>
                <a:cs typeface="微软雅黑" panose="020B0503020204020204" pitchFamily="34" charset="-122"/>
              </a:rPr>
              <a:t>①	</a:t>
            </a:r>
            <a:r>
              <a:rPr sz="2200" dirty="0">
                <a:latin typeface="Arial" panose="020B0604020202020204"/>
                <a:cs typeface="Arial" panose="020B0604020202020204"/>
              </a:rPr>
              <a:t>import</a:t>
            </a:r>
            <a:r>
              <a:rPr sz="2200" spc="-10" dirty="0">
                <a:latin typeface="Arial" panose="020B0604020202020204"/>
                <a:cs typeface="Arial" panose="020B0604020202020204"/>
              </a:rPr>
              <a:t> </a:t>
            </a:r>
            <a:r>
              <a:rPr sz="2200" spc="-5" dirty="0">
                <a:latin typeface="Arial" panose="020B0604020202020204"/>
                <a:cs typeface="Arial" panose="020B0604020202020204"/>
              </a:rPr>
              <a:t>unittest</a:t>
            </a:r>
            <a:endParaRPr sz="2200">
              <a:latin typeface="Arial" panose="020B0604020202020204"/>
              <a:cs typeface="Arial" panose="020B0604020202020204"/>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②	定义一个继承自</a:t>
            </a:r>
            <a:r>
              <a:rPr sz="2200" spc="-20" dirty="0">
                <a:latin typeface="Arial" panose="020B0604020202020204"/>
                <a:cs typeface="Arial" panose="020B0604020202020204"/>
              </a:rPr>
              <a:t>unittest.TestCase</a:t>
            </a:r>
            <a:r>
              <a:rPr sz="2200" dirty="0">
                <a:latin typeface="微软雅黑" panose="020B0503020204020204" pitchFamily="34" charset="-122"/>
                <a:cs typeface="微软雅黑" panose="020B0503020204020204" pitchFamily="34" charset="-122"/>
              </a:rPr>
              <a:t>的测试用例类</a:t>
            </a:r>
            <a:endParaRPr sz="2200">
              <a:latin typeface="微软雅黑" panose="020B0503020204020204" pitchFamily="34" charset="-122"/>
              <a:cs typeface="微软雅黑" panose="020B0503020204020204" pitchFamily="34" charset="-122"/>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③	定义</a:t>
            </a:r>
            <a:r>
              <a:rPr sz="2200" spc="-5" dirty="0">
                <a:latin typeface="Arial" panose="020B0604020202020204"/>
                <a:cs typeface="Arial" panose="020B0604020202020204"/>
              </a:rPr>
              <a:t>setUp</a:t>
            </a:r>
            <a:r>
              <a:rPr sz="2200" dirty="0">
                <a:latin typeface="微软雅黑" panose="020B0503020204020204" pitchFamily="34" charset="-122"/>
                <a:cs typeface="微软雅黑" panose="020B0503020204020204" pitchFamily="34" charset="-122"/>
              </a:rPr>
              <a:t>和</a:t>
            </a:r>
            <a:r>
              <a:rPr sz="2200" spc="-5" dirty="0">
                <a:latin typeface="Arial" panose="020B0604020202020204"/>
                <a:cs typeface="Arial" panose="020B0604020202020204"/>
              </a:rPr>
              <a:t>tearDown</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在每个测试用例前后做一些辅助工作</a:t>
            </a:r>
            <a:endParaRPr sz="2200">
              <a:latin typeface="微软雅黑" panose="020B0503020204020204" pitchFamily="34" charset="-122"/>
              <a:cs typeface="微软雅黑" panose="020B0503020204020204" pitchFamily="34" charset="-122"/>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④	定义测试用例，名字以</a:t>
            </a:r>
            <a:r>
              <a:rPr sz="2200" spc="-5" dirty="0">
                <a:latin typeface="Arial" panose="020B0604020202020204"/>
                <a:cs typeface="Arial" panose="020B0604020202020204"/>
              </a:rPr>
              <a:t>test</a:t>
            </a:r>
            <a:r>
              <a:rPr sz="2200" dirty="0">
                <a:latin typeface="微软雅黑" panose="020B0503020204020204" pitchFamily="34" charset="-122"/>
                <a:cs typeface="微软雅黑" panose="020B0503020204020204" pitchFamily="34" charset="-122"/>
              </a:rPr>
              <a:t>开头</a:t>
            </a:r>
            <a:endParaRPr sz="2200">
              <a:latin typeface="微软雅黑" panose="020B0503020204020204" pitchFamily="34" charset="-122"/>
              <a:cs typeface="微软雅黑" panose="020B0503020204020204" pitchFamily="34" charset="-122"/>
            </a:endParaRPr>
          </a:p>
          <a:p>
            <a:pPr marL="12700">
              <a:lnSpc>
                <a:spcPct val="100000"/>
              </a:lnSpc>
              <a:spcBef>
                <a:spcPts val="1460"/>
              </a:spcBef>
              <a:tabLst>
                <a:tab pos="471170" algn="l"/>
              </a:tabLst>
            </a:pPr>
            <a:r>
              <a:rPr sz="2200" dirty="0">
                <a:latin typeface="微软雅黑" panose="020B0503020204020204" pitchFamily="34" charset="-122"/>
                <a:cs typeface="微软雅黑" panose="020B0503020204020204" pitchFamily="34" charset="-122"/>
              </a:rPr>
              <a:t>⑤	</a:t>
            </a:r>
            <a:r>
              <a:rPr sz="2200" spc="25" dirty="0">
                <a:latin typeface="微软雅黑" panose="020B0503020204020204" pitchFamily="34" charset="-122"/>
                <a:cs typeface="微软雅黑" panose="020B0503020204020204" pitchFamily="34" charset="-122"/>
              </a:rPr>
              <a:t>一个测试用例应该只测试一个方面，测试目的和测试内容应很明确。主要是调用</a:t>
            </a:r>
            <a:endParaRPr sz="2200">
              <a:latin typeface="微软雅黑" panose="020B0503020204020204" pitchFamily="34" charset="-122"/>
              <a:cs typeface="微软雅黑" panose="020B0503020204020204" pitchFamily="34" charset="-122"/>
            </a:endParaRPr>
          </a:p>
          <a:p>
            <a:pPr marL="469265">
              <a:lnSpc>
                <a:spcPct val="100000"/>
              </a:lnSpc>
              <a:spcBef>
                <a:spcPts val="760"/>
              </a:spcBef>
            </a:pPr>
            <a:r>
              <a:rPr sz="2200" spc="-5" dirty="0">
                <a:latin typeface="Arial" panose="020B0604020202020204"/>
                <a:cs typeface="Arial" panose="020B0604020202020204"/>
              </a:rPr>
              <a:t>assertEqual</a:t>
            </a:r>
            <a:r>
              <a:rPr sz="2200"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assertRaises</a:t>
            </a:r>
            <a:r>
              <a:rPr sz="2200" dirty="0">
                <a:latin typeface="微软雅黑" panose="020B0503020204020204" pitchFamily="34" charset="-122"/>
                <a:cs typeface="微软雅黑" panose="020B0503020204020204" pitchFamily="34" charset="-122"/>
              </a:rPr>
              <a:t>等断言方法判断程序执行结果和预期值是否相符</a:t>
            </a:r>
            <a:endParaRPr sz="2200">
              <a:latin typeface="微软雅黑" panose="020B0503020204020204" pitchFamily="34" charset="-122"/>
              <a:cs typeface="微软雅黑" panose="020B0503020204020204" pitchFamily="34" charset="-122"/>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⑥	调用</a:t>
            </a:r>
            <a:r>
              <a:rPr sz="2200" spc="-5" dirty="0">
                <a:latin typeface="Arial" panose="020B0604020202020204"/>
                <a:cs typeface="Arial" panose="020B0604020202020204"/>
              </a:rPr>
              <a:t>unittest.main()</a:t>
            </a:r>
            <a:r>
              <a:rPr sz="2200" dirty="0">
                <a:latin typeface="微软雅黑" panose="020B0503020204020204" pitchFamily="34" charset="-122"/>
                <a:cs typeface="微软雅黑" panose="020B0503020204020204" pitchFamily="34" charset="-122"/>
              </a:rPr>
              <a:t>启动测试</a:t>
            </a:r>
            <a:endParaRPr sz="2200">
              <a:latin typeface="微软雅黑" panose="020B0503020204020204" pitchFamily="34" charset="-122"/>
              <a:cs typeface="微软雅黑" panose="020B0503020204020204" pitchFamily="34" charset="-122"/>
            </a:endParaRPr>
          </a:p>
          <a:p>
            <a:pPr marL="469265" marR="5080" indent="-457200">
              <a:lnSpc>
                <a:spcPct val="129000"/>
              </a:lnSpc>
              <a:spcBef>
                <a:spcPts val="700"/>
              </a:spcBef>
              <a:tabLst>
                <a:tab pos="471805" algn="l"/>
              </a:tabLst>
            </a:pPr>
            <a:r>
              <a:rPr sz="2200" dirty="0">
                <a:latin typeface="微软雅黑" panose="020B0503020204020204" pitchFamily="34" charset="-122"/>
                <a:cs typeface="微软雅黑" panose="020B0503020204020204" pitchFamily="34" charset="-122"/>
              </a:rPr>
              <a:t>⑦		</a:t>
            </a:r>
            <a:r>
              <a:rPr sz="2200" spc="30" dirty="0">
                <a:latin typeface="微软雅黑" panose="020B0503020204020204" pitchFamily="34" charset="-122"/>
                <a:cs typeface="微软雅黑" panose="020B0503020204020204" pitchFamily="34" charset="-122"/>
              </a:rPr>
              <a:t>如果测试未通过，会输出相应的错误提示；如果测试全部通过则显示</a:t>
            </a:r>
            <a:r>
              <a:rPr sz="2200" spc="30" dirty="0">
                <a:latin typeface="Arial" panose="020B0604020202020204"/>
                <a:cs typeface="Arial" panose="020B0604020202020204"/>
              </a:rPr>
              <a:t>ok</a:t>
            </a:r>
            <a:r>
              <a:rPr sz="2200" spc="30" dirty="0">
                <a:latin typeface="微软雅黑" panose="020B0503020204020204" pitchFamily="34" charset="-122"/>
                <a:cs typeface="微软雅黑" panose="020B0503020204020204" pitchFamily="34" charset="-122"/>
              </a:rPr>
              <a:t>，添加</a:t>
            </a:r>
            <a:r>
              <a:rPr sz="2200" spc="30" dirty="0">
                <a:latin typeface="Arial" panose="020B0604020202020204"/>
                <a:cs typeface="Arial" panose="020B0604020202020204"/>
              </a:rPr>
              <a:t>-v </a:t>
            </a:r>
            <a:r>
              <a:rPr sz="2200" dirty="0">
                <a:latin typeface="微软雅黑" panose="020B0503020204020204" pitchFamily="34" charset="-122"/>
                <a:cs typeface="微软雅黑" panose="020B0503020204020204" pitchFamily="34" charset="-122"/>
              </a:rPr>
              <a:t>参数显示详细信息。</a:t>
            </a:r>
            <a:endParaRPr sz="2200">
              <a:latin typeface="微软雅黑" panose="020B0503020204020204" pitchFamily="34" charset="-122"/>
              <a:cs typeface="微软雅黑" panose="020B0503020204020204" pitchFamily="34" charset="-122"/>
            </a:endParaRPr>
          </a:p>
        </p:txBody>
      </p:sp>
      <p:sp>
        <p:nvSpPr>
          <p:cNvPr id="5" name="标题 4"/>
          <p:cNvSpPr>
            <a:spLocks noGrp="1"/>
          </p:cNvSpPr>
          <p:nvPr>
            <p:ph type="title"/>
          </p:nvPr>
        </p:nvSpPr>
        <p:spPr/>
        <p:txBody>
          <a:bodyPr/>
          <a:lstStyle/>
          <a:p>
            <a:r>
              <a:rPr lang="en-US" altLang="zh-CN" dirty="0"/>
              <a:t>Python</a:t>
            </a:r>
            <a:r>
              <a:rPr lang="zh-CN" altLang="en-US" dirty="0"/>
              <a:t>单元测试之</a:t>
            </a:r>
            <a:r>
              <a:rPr lang="en-US" altLang="zh-CN" dirty="0" err="1"/>
              <a:t>unittest</a:t>
            </a:r>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219199" y="2895598"/>
            <a:ext cx="3689207" cy="257386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094742" y="1654014"/>
            <a:ext cx="10337800" cy="3801745"/>
          </a:xfrm>
          <a:prstGeom prst="rect">
            <a:avLst/>
          </a:prstGeom>
        </p:spPr>
        <p:txBody>
          <a:bodyPr vert="horz" wrap="square" lIns="0" tIns="12700" rIns="0" bIns="0" rtlCol="0">
            <a:spAutoFit/>
          </a:bodyPr>
          <a:lstStyle/>
          <a:p>
            <a:pPr marL="12700" marR="5080">
              <a:lnSpc>
                <a:spcPct val="117000"/>
              </a:lnSpc>
              <a:spcBef>
                <a:spcPts val="100"/>
              </a:spcBef>
              <a:tabLst>
                <a:tab pos="1025525" algn="l"/>
              </a:tabLst>
            </a:pPr>
            <a:r>
              <a:rPr sz="2200" dirty="0">
                <a:latin typeface="Arial" panose="020B0604020202020204"/>
                <a:cs typeface="Arial" panose="020B0604020202020204"/>
              </a:rPr>
              <a:t>Py</a:t>
            </a:r>
            <a:r>
              <a:rPr sz="2200" spc="-5" dirty="0">
                <a:latin typeface="Arial" panose="020B0604020202020204"/>
                <a:cs typeface="Arial" panose="020B0604020202020204"/>
              </a:rPr>
              <a:t>t</a:t>
            </a:r>
            <a:r>
              <a:rPr sz="2200" dirty="0">
                <a:latin typeface="Arial" panose="020B0604020202020204"/>
                <a:cs typeface="Arial" panose="020B0604020202020204"/>
              </a:rPr>
              <a:t>hon	3.</a:t>
            </a:r>
            <a:r>
              <a:rPr sz="2200" spc="-5" dirty="0">
                <a:latin typeface="Arial" panose="020B0604020202020204"/>
                <a:cs typeface="Arial" panose="020B0604020202020204"/>
              </a:rPr>
              <a:t>3</a:t>
            </a:r>
            <a:r>
              <a:rPr sz="2200" dirty="0">
                <a:latin typeface="微软雅黑" panose="020B0503020204020204" pitchFamily="34" charset="-122"/>
                <a:cs typeface="微软雅黑" panose="020B0503020204020204" pitchFamily="34" charset="-122"/>
              </a:rPr>
              <a:t>开始内置了</a:t>
            </a:r>
            <a:r>
              <a:rPr sz="2200" dirty="0">
                <a:latin typeface="Arial" panose="020B0604020202020204"/>
                <a:cs typeface="Arial" panose="020B0604020202020204"/>
              </a:rPr>
              <a:t>Moc</a:t>
            </a:r>
            <a:r>
              <a:rPr sz="2200" spc="-5" dirty="0">
                <a:latin typeface="Arial" panose="020B0604020202020204"/>
                <a:cs typeface="Arial" panose="020B0604020202020204"/>
              </a:rPr>
              <a:t>k</a:t>
            </a:r>
            <a:r>
              <a:rPr sz="2200" dirty="0">
                <a:latin typeface="微软雅黑" panose="020B0503020204020204" pitchFamily="34" charset="-122"/>
                <a:cs typeface="微软雅黑" panose="020B0503020204020204" pitchFamily="34" charset="-122"/>
              </a:rPr>
              <a:t>工具包，可以使用</a:t>
            </a:r>
            <a:r>
              <a:rPr sz="2200" dirty="0">
                <a:latin typeface="Arial" panose="020B0604020202020204"/>
                <a:cs typeface="Arial" panose="020B0604020202020204"/>
              </a:rPr>
              <a:t>moc</a:t>
            </a:r>
            <a:r>
              <a:rPr sz="2200" spc="-5" dirty="0">
                <a:latin typeface="Arial" panose="020B0604020202020204"/>
                <a:cs typeface="Arial" panose="020B0604020202020204"/>
              </a:rPr>
              <a:t>k</a:t>
            </a:r>
            <a:r>
              <a:rPr sz="2200" dirty="0">
                <a:latin typeface="微软雅黑" panose="020B0503020204020204" pitchFamily="34" charset="-122"/>
                <a:cs typeface="微软雅黑" panose="020B0503020204020204" pitchFamily="34" charset="-122"/>
              </a:rPr>
              <a:t>对象替代掉指定的</a:t>
            </a:r>
            <a:r>
              <a:rPr sz="2200" dirty="0">
                <a:latin typeface="Arial" panose="020B0604020202020204"/>
                <a:cs typeface="Arial" panose="020B0604020202020204"/>
              </a:rPr>
              <a:t>Py</a:t>
            </a:r>
            <a:r>
              <a:rPr sz="2200" spc="-5" dirty="0">
                <a:latin typeface="Arial" panose="020B0604020202020204"/>
                <a:cs typeface="Arial" panose="020B0604020202020204"/>
              </a:rPr>
              <a:t>t</a:t>
            </a:r>
            <a:r>
              <a:rPr sz="2200" dirty="0">
                <a:latin typeface="Arial" panose="020B0604020202020204"/>
                <a:cs typeface="Arial" panose="020B0604020202020204"/>
              </a:rPr>
              <a:t>hon</a:t>
            </a:r>
            <a:r>
              <a:rPr sz="2200" dirty="0">
                <a:latin typeface="微软雅黑" panose="020B0503020204020204" pitchFamily="34" charset="-122"/>
                <a:cs typeface="微软雅黑" panose="020B0503020204020204" pitchFamily="34" charset="-122"/>
              </a:rPr>
              <a:t>对象， 以达到模拟对象的行为。</a:t>
            </a:r>
            <a:endParaRPr sz="2200">
              <a:latin typeface="微软雅黑" panose="020B0503020204020204" pitchFamily="34" charset="-122"/>
              <a:cs typeface="微软雅黑" panose="020B0503020204020204" pitchFamily="34" charset="-122"/>
            </a:endParaRPr>
          </a:p>
          <a:p>
            <a:pPr marL="4588510" marR="351155" indent="-342900">
              <a:lnSpc>
                <a:spcPct val="129000"/>
              </a:lnSpc>
              <a:spcBef>
                <a:spcPts val="2435"/>
              </a:spcBef>
              <a:buChar char="•"/>
              <a:tabLst>
                <a:tab pos="4588510" algn="l"/>
                <a:tab pos="4589780" algn="l"/>
              </a:tabLst>
            </a:pPr>
            <a:r>
              <a:rPr sz="2000" dirty="0">
                <a:solidFill>
                  <a:srgbClr val="CC0000"/>
                </a:solidFill>
                <a:latin typeface="Arial" panose="020B0604020202020204"/>
                <a:cs typeface="Arial" panose="020B0604020202020204"/>
              </a:rPr>
              <a:t>Mock</a:t>
            </a:r>
            <a:r>
              <a:rPr sz="2000" dirty="0">
                <a:solidFill>
                  <a:srgbClr val="CC0000"/>
                </a:solidFill>
                <a:latin typeface="微软雅黑" panose="020B0503020204020204" pitchFamily="34" charset="-122"/>
                <a:cs typeface="微软雅黑" panose="020B0503020204020204" pitchFamily="34" charset="-122"/>
              </a:rPr>
              <a:t>类</a:t>
            </a:r>
            <a:r>
              <a:rPr sz="2000" dirty="0">
                <a:solidFill>
                  <a:srgbClr val="D81E00"/>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用于创建</a:t>
            </a:r>
            <a:r>
              <a:rPr sz="2000" dirty="0">
                <a:latin typeface="Arial" panose="020B0604020202020204"/>
                <a:cs typeface="Arial" panose="020B0604020202020204"/>
              </a:rPr>
              <a:t>mock</a:t>
            </a:r>
            <a:r>
              <a:rPr sz="2000" dirty="0">
                <a:latin typeface="微软雅黑" panose="020B0503020204020204" pitchFamily="34" charset="-122"/>
                <a:cs typeface="微软雅黑" panose="020B0503020204020204" pitchFamily="34" charset="-122"/>
              </a:rPr>
              <a:t>对象，当访问</a:t>
            </a:r>
            <a:r>
              <a:rPr sz="2000" dirty="0">
                <a:latin typeface="Arial" panose="020B0604020202020204"/>
                <a:cs typeface="Arial" panose="020B0604020202020204"/>
              </a:rPr>
              <a:t>mock</a:t>
            </a:r>
            <a:r>
              <a:rPr sz="2000" dirty="0">
                <a:latin typeface="微软雅黑" panose="020B0503020204020204" pitchFamily="34" charset="-122"/>
                <a:cs typeface="微软雅黑" panose="020B0503020204020204" pitchFamily="34" charset="-122"/>
              </a:rPr>
              <a:t>对象 的某个属性时</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mock</a:t>
            </a:r>
            <a:r>
              <a:rPr sz="2000" dirty="0">
                <a:latin typeface="微软雅黑" panose="020B0503020204020204" pitchFamily="34" charset="-122"/>
                <a:cs typeface="微软雅黑" panose="020B0503020204020204" pitchFamily="34" charset="-122"/>
              </a:rPr>
              <a:t>对象会自动创建该属性。</a:t>
            </a:r>
            <a:endParaRPr sz="2000">
              <a:latin typeface="微软雅黑" panose="020B0503020204020204" pitchFamily="34" charset="-122"/>
              <a:cs typeface="微软雅黑" panose="020B0503020204020204" pitchFamily="34" charset="-122"/>
            </a:endParaRPr>
          </a:p>
          <a:p>
            <a:pPr marL="4588510" marR="343535" indent="-342900">
              <a:lnSpc>
                <a:spcPct val="129000"/>
              </a:lnSpc>
              <a:spcBef>
                <a:spcPts val="1195"/>
              </a:spcBef>
              <a:buChar char="•"/>
              <a:tabLst>
                <a:tab pos="4592320" algn="l"/>
                <a:tab pos="4592955" algn="l"/>
                <a:tab pos="6111240" algn="l"/>
                <a:tab pos="6508115" algn="l"/>
                <a:tab pos="6881495" algn="l"/>
                <a:tab pos="7452995" algn="l"/>
              </a:tabLst>
            </a:pPr>
            <a:r>
              <a:rPr sz="2000" spc="60" dirty="0">
                <a:solidFill>
                  <a:srgbClr val="CC0000"/>
                </a:solidFill>
                <a:latin typeface="Arial" panose="020B0604020202020204"/>
                <a:cs typeface="Arial" panose="020B0604020202020204"/>
              </a:rPr>
              <a:t>MagicMock</a:t>
            </a:r>
            <a:r>
              <a:rPr sz="2000" spc="60" dirty="0">
                <a:solidFill>
                  <a:srgbClr val="CC0000"/>
                </a:solidFill>
                <a:latin typeface="微软雅黑" panose="020B0503020204020204" pitchFamily="34" charset="-122"/>
                <a:cs typeface="微软雅黑" panose="020B0503020204020204" pitchFamily="34" charset="-122"/>
              </a:rPr>
              <a:t>类</a:t>
            </a:r>
            <a:r>
              <a:rPr sz="2000" spc="60" dirty="0">
                <a:solidFill>
                  <a:srgbClr val="D81E00"/>
                </a:solidFill>
                <a:latin typeface="微软雅黑" panose="020B0503020204020204" pitchFamily="34" charset="-122"/>
                <a:cs typeface="微软雅黑" panose="020B0503020204020204" pitchFamily="34" charset="-122"/>
              </a:rPr>
              <a:t>：</a:t>
            </a:r>
            <a:r>
              <a:rPr sz="2000" spc="60" dirty="0">
                <a:latin typeface="Arial" panose="020B0604020202020204"/>
                <a:cs typeface="Arial" panose="020B0604020202020204"/>
              </a:rPr>
              <a:t>Mock</a:t>
            </a:r>
            <a:r>
              <a:rPr sz="2000" spc="60" dirty="0">
                <a:latin typeface="微软雅黑" panose="020B0503020204020204" pitchFamily="34" charset="-122"/>
                <a:cs typeface="微软雅黑" panose="020B0503020204020204" pitchFamily="34" charset="-122"/>
              </a:rPr>
              <a:t>对象的子类，预先定义了 </a:t>
            </a:r>
            <a:r>
              <a:rPr sz="2000" dirty="0">
                <a:latin typeface="微软雅黑" panose="020B0503020204020204" pitchFamily="34" charset="-122"/>
                <a:cs typeface="微软雅黑" panose="020B0503020204020204" pitchFamily="34" charset="-122"/>
              </a:rPr>
              <a:t>操作符（如</a:t>
            </a:r>
            <a:r>
              <a:rPr sz="2000" u="heavy" dirty="0">
                <a:uFill>
                  <a:solidFill>
                    <a:srgbClr val="000000"/>
                  </a:solidFill>
                </a:uFill>
                <a:latin typeface="微软雅黑" panose="020B0503020204020204" pitchFamily="34" charset="-122"/>
                <a:cs typeface="微软雅黑" panose="020B0503020204020204" pitchFamily="34" charset="-122"/>
              </a:rPr>
              <a:t> 	</a:t>
            </a:r>
            <a:r>
              <a:rPr sz="2000" dirty="0">
                <a:latin typeface="Calibri" panose="020F0502020204030204"/>
                <a:cs typeface="Calibri" panose="020F0502020204030204"/>
              </a:rPr>
              <a:t>lt</a:t>
            </a:r>
            <a:r>
              <a:rPr sz="2000" u="heavy" dirty="0">
                <a:uFill>
                  <a:solidFill>
                    <a:srgbClr val="000000"/>
                  </a:solidFill>
                </a:uFill>
                <a:latin typeface="Calibri" panose="020F0502020204030204"/>
                <a:cs typeface="Calibri" panose="020F0502020204030204"/>
              </a:rPr>
              <a:t> 	</a:t>
            </a:r>
            <a:r>
              <a:rPr sz="2000" dirty="0">
                <a:latin typeface="Calibri" panose="020F0502020204030204"/>
                <a:cs typeface="Calibri" panose="020F0502020204030204"/>
              </a:rPr>
              <a:t>,</a:t>
            </a:r>
            <a:r>
              <a:rPr sz="2000" u="heavy" dirty="0">
                <a:uFill>
                  <a:solidFill>
                    <a:srgbClr val="000000"/>
                  </a:solidFill>
                </a:uFill>
                <a:latin typeface="Calibri" panose="020F0502020204030204"/>
                <a:cs typeface="Calibri" panose="020F0502020204030204"/>
              </a:rPr>
              <a:t> 	</a:t>
            </a:r>
            <a:r>
              <a:rPr sz="2000" spc="-5" dirty="0">
                <a:latin typeface="Calibri" panose="020F0502020204030204"/>
                <a:cs typeface="Calibri" panose="020F0502020204030204"/>
              </a:rPr>
              <a:t>len</a:t>
            </a:r>
            <a:r>
              <a:rPr sz="2000" u="heavy" spc="-5" dirty="0">
                <a:uFill>
                  <a:solidFill>
                    <a:srgbClr val="000000"/>
                  </a:solidFill>
                </a:uFill>
                <a:latin typeface="Calibri" panose="020F0502020204030204"/>
                <a:cs typeface="Calibri" panose="020F0502020204030204"/>
              </a:rPr>
              <a:t> 	</a:t>
            </a:r>
            <a:r>
              <a:rPr sz="2000" dirty="0">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a:p>
            <a:pPr marL="4588510" marR="307975" indent="-342900">
              <a:lnSpc>
                <a:spcPct val="133000"/>
              </a:lnSpc>
              <a:spcBef>
                <a:spcPts val="1105"/>
              </a:spcBef>
              <a:buChar char="•"/>
              <a:tabLst>
                <a:tab pos="4592955" algn="l"/>
                <a:tab pos="4593590" algn="l"/>
              </a:tabLst>
            </a:pPr>
            <a:r>
              <a:rPr sz="2000" spc="65" dirty="0">
                <a:solidFill>
                  <a:srgbClr val="CC0000"/>
                </a:solidFill>
                <a:latin typeface="Arial" panose="020B0604020202020204"/>
                <a:cs typeface="Arial" panose="020B0604020202020204"/>
              </a:rPr>
              <a:t>patch</a:t>
            </a:r>
            <a:r>
              <a:rPr sz="2000" spc="65" dirty="0">
                <a:solidFill>
                  <a:srgbClr val="CC0000"/>
                </a:solidFill>
                <a:latin typeface="微软雅黑" panose="020B0503020204020204" pitchFamily="34" charset="-122"/>
                <a:cs typeface="微软雅黑" panose="020B0503020204020204" pitchFamily="34" charset="-122"/>
              </a:rPr>
              <a:t>装饰器</a:t>
            </a:r>
            <a:r>
              <a:rPr sz="2000" spc="65" dirty="0">
                <a:solidFill>
                  <a:srgbClr val="D81E00"/>
                </a:solidFill>
                <a:latin typeface="微软雅黑" panose="020B0503020204020204" pitchFamily="34" charset="-122"/>
                <a:cs typeface="微软雅黑" panose="020B0503020204020204" pitchFamily="34" charset="-122"/>
              </a:rPr>
              <a:t>：</a:t>
            </a:r>
            <a:r>
              <a:rPr sz="2000" spc="65" dirty="0">
                <a:latin typeface="微软雅黑" panose="020B0503020204020204" pitchFamily="34" charset="-122"/>
                <a:cs typeface="微软雅黑" panose="020B0503020204020204" pitchFamily="34" charset="-122"/>
              </a:rPr>
              <a:t>可以将其作用在测试方法上，</a:t>
            </a:r>
            <a:r>
              <a:rPr sz="2000" dirty="0">
                <a:latin typeface="微软雅黑" panose="020B0503020204020204" pitchFamily="34" charset="-122"/>
                <a:cs typeface="微软雅黑" panose="020B0503020204020204" pitchFamily="34" charset="-122"/>
              </a:rPr>
              <a:t>限 定在当前测试方法中使用</a:t>
            </a:r>
            <a:r>
              <a:rPr sz="2000" dirty="0">
                <a:latin typeface="Arial" panose="020B0604020202020204"/>
                <a:cs typeface="Arial" panose="020B0604020202020204"/>
              </a:rPr>
              <a:t>moc</a:t>
            </a:r>
            <a:r>
              <a:rPr sz="2000" spc="-5" dirty="0">
                <a:latin typeface="Arial" panose="020B0604020202020204"/>
                <a:cs typeface="Arial" panose="020B0604020202020204"/>
              </a:rPr>
              <a:t>k</a:t>
            </a:r>
            <a:r>
              <a:rPr sz="2000" dirty="0">
                <a:latin typeface="微软雅黑" panose="020B0503020204020204" pitchFamily="34" charset="-122"/>
                <a:cs typeface="微软雅黑" panose="020B0503020204020204" pitchFamily="34" charset="-122"/>
              </a:rPr>
              <a:t>来替换真实对象。</a:t>
            </a:r>
            <a:endParaRPr sz="2000">
              <a:latin typeface="微软雅黑" panose="020B0503020204020204" pitchFamily="34" charset="-122"/>
              <a:cs typeface="微软雅黑" panose="020B0503020204020204" pitchFamily="34" charset="-122"/>
            </a:endParaRPr>
          </a:p>
        </p:txBody>
      </p:sp>
      <p:sp>
        <p:nvSpPr>
          <p:cNvPr id="6" name="标题 5"/>
          <p:cNvSpPr>
            <a:spLocks noGrp="1"/>
          </p:cNvSpPr>
          <p:nvPr>
            <p:ph type="title"/>
          </p:nvPr>
        </p:nvSpPr>
        <p:spPr/>
        <p:txBody>
          <a:bodyPr/>
          <a:lstStyle/>
          <a:p>
            <a:r>
              <a:rPr lang="en-US" altLang="zh-CN" dirty="0"/>
              <a:t>Python</a:t>
            </a:r>
            <a:r>
              <a:rPr lang="zh-CN" altLang="en-US" dirty="0"/>
              <a:t>单元测试之</a:t>
            </a:r>
            <a:r>
              <a:rPr lang="en-US" altLang="zh-CN" dirty="0"/>
              <a:t>mock</a:t>
            </a:r>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4742" y="1654014"/>
            <a:ext cx="10064115" cy="3818890"/>
          </a:xfrm>
          <a:prstGeom prst="rect">
            <a:avLst/>
          </a:prstGeom>
        </p:spPr>
        <p:txBody>
          <a:bodyPr vert="horz" wrap="square" lIns="0" tIns="71120" rIns="0" bIns="0" rtlCol="0">
            <a:spAutoFit/>
          </a:bodyPr>
          <a:lstStyle/>
          <a:p>
            <a:pPr marL="12700">
              <a:lnSpc>
                <a:spcPct val="100000"/>
              </a:lnSpc>
              <a:spcBef>
                <a:spcPts val="560"/>
              </a:spcBef>
            </a:pPr>
            <a:r>
              <a:rPr sz="2200" spc="40" dirty="0">
                <a:solidFill>
                  <a:srgbClr val="CC0000"/>
                </a:solidFill>
                <a:latin typeface="微软雅黑" panose="020B0503020204020204" pitchFamily="34" charset="-122"/>
                <a:cs typeface="微软雅黑" panose="020B0503020204020204" pitchFamily="34" charset="-122"/>
              </a:rPr>
              <a:t>属性断言</a:t>
            </a:r>
            <a:r>
              <a:rPr sz="2200" spc="40" dirty="0">
                <a:solidFill>
                  <a:srgbClr val="D81E00"/>
                </a:solidFill>
                <a:latin typeface="微软雅黑" panose="020B0503020204020204" pitchFamily="34" charset="-122"/>
                <a:cs typeface="微软雅黑" panose="020B0503020204020204" pitchFamily="34" charset="-122"/>
              </a:rPr>
              <a:t>：</a:t>
            </a:r>
            <a:r>
              <a:rPr sz="2200" spc="40" dirty="0">
                <a:latin typeface="Calibri" panose="020F0502020204030204"/>
                <a:cs typeface="Calibri" panose="020F0502020204030204"/>
              </a:rPr>
              <a:t>mock</a:t>
            </a:r>
            <a:r>
              <a:rPr sz="2200" spc="40" dirty="0">
                <a:latin typeface="微软雅黑" panose="020B0503020204020204" pitchFamily="34" charset="-122"/>
                <a:cs typeface="微软雅黑" panose="020B0503020204020204" pitchFamily="34" charset="-122"/>
              </a:rPr>
              <a:t>对象提供了一系列断言方法，可以在使用属性断言时判断程序对</a:t>
            </a:r>
            <a:endParaRPr sz="2200">
              <a:latin typeface="微软雅黑" panose="020B0503020204020204" pitchFamily="34" charset="-122"/>
              <a:cs typeface="微软雅黑" panose="020B0503020204020204" pitchFamily="34" charset="-122"/>
            </a:endParaRPr>
          </a:p>
          <a:p>
            <a:pPr marL="12700">
              <a:lnSpc>
                <a:spcPct val="100000"/>
              </a:lnSpc>
              <a:spcBef>
                <a:spcPts val="460"/>
              </a:spcBef>
            </a:pPr>
            <a:r>
              <a:rPr sz="2200" spc="-5" dirty="0">
                <a:latin typeface="Calibri" panose="020F0502020204030204"/>
                <a:cs typeface="Calibri" panose="020F0502020204030204"/>
              </a:rPr>
              <a:t>mock</a:t>
            </a:r>
            <a:r>
              <a:rPr sz="2200" dirty="0">
                <a:latin typeface="微软雅黑" panose="020B0503020204020204" pitchFamily="34" charset="-122"/>
                <a:cs typeface="微软雅黑" panose="020B0503020204020204" pitchFamily="34" charset="-122"/>
              </a:rPr>
              <a:t>对象的调用是否符合预期。</a:t>
            </a:r>
            <a:endParaRPr sz="2200">
              <a:latin typeface="微软雅黑" panose="020B0503020204020204" pitchFamily="34" charset="-122"/>
              <a:cs typeface="微软雅黑" panose="020B0503020204020204" pitchFamily="34" charset="-122"/>
            </a:endParaRPr>
          </a:p>
          <a:p>
            <a:pPr marL="447675" indent="-372110">
              <a:lnSpc>
                <a:spcPct val="100000"/>
              </a:lnSpc>
              <a:spcBef>
                <a:spcPts val="1120"/>
              </a:spcBef>
              <a:buChar char="•"/>
              <a:tabLst>
                <a:tab pos="447040" algn="l"/>
                <a:tab pos="447675" algn="l"/>
              </a:tabLst>
            </a:pPr>
            <a:r>
              <a:rPr sz="2000" spc="-5" dirty="0">
                <a:latin typeface="Arial" panose="020B0604020202020204"/>
                <a:cs typeface="Arial" panose="020B0604020202020204"/>
              </a:rPr>
              <a:t>assert_called_with</a:t>
            </a:r>
            <a:r>
              <a:rPr sz="2000" spc="-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assert_called_once_with</a:t>
            </a:r>
            <a:r>
              <a:rPr sz="2000" spc="-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assert_any_call</a:t>
            </a:r>
            <a:r>
              <a:rPr sz="2000" spc="-5" dirty="0">
                <a:latin typeface="微软雅黑" panose="020B0503020204020204" pitchFamily="34" charset="-122"/>
                <a:cs typeface="微软雅黑" panose="020B0503020204020204" pitchFamily="34" charset="-122"/>
              </a:rPr>
              <a:t>，</a:t>
            </a:r>
            <a:r>
              <a:rPr sz="2000" spc="16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assert_has_calls</a:t>
            </a:r>
            <a:endParaRPr sz="2000">
              <a:latin typeface="Arial" panose="020B0604020202020204"/>
              <a:cs typeface="Arial" panose="020B0604020202020204"/>
            </a:endParaRPr>
          </a:p>
          <a:p>
            <a:pPr marL="447675" indent="-372110">
              <a:lnSpc>
                <a:spcPct val="100000"/>
              </a:lnSpc>
              <a:spcBef>
                <a:spcPts val="500"/>
              </a:spcBef>
              <a:buClr>
                <a:srgbClr val="000000"/>
              </a:buClr>
              <a:buChar char="•"/>
              <a:tabLst>
                <a:tab pos="447040" algn="l"/>
                <a:tab pos="447675" algn="l"/>
              </a:tabLst>
            </a:pPr>
            <a:r>
              <a:rPr sz="2000" u="sng" spc="-5" dirty="0">
                <a:solidFill>
                  <a:srgbClr val="0563C1"/>
                </a:solidFill>
                <a:uFill>
                  <a:solidFill>
                    <a:srgbClr val="0079CD"/>
                  </a:solidFill>
                </a:uFill>
                <a:latin typeface="Arial" panose="020B0604020202020204"/>
                <a:cs typeface="Arial" panose="020B0604020202020204"/>
              </a:rPr>
              <a:t>https://docs.python.org/3/library/unittest.mock.html#the-mock-class</a:t>
            </a:r>
            <a:endParaRPr sz="2000">
              <a:latin typeface="Arial" panose="020B0604020202020204"/>
              <a:cs typeface="Arial" panose="020B0604020202020204"/>
            </a:endParaRPr>
          </a:p>
          <a:p>
            <a:pPr>
              <a:lnSpc>
                <a:spcPct val="100000"/>
              </a:lnSpc>
              <a:buChar char="•"/>
            </a:pPr>
            <a:endParaRPr sz="2200">
              <a:latin typeface="Times New Roman" panose="02020603050405020304"/>
              <a:cs typeface="Times New Roman" panose="02020603050405020304"/>
            </a:endParaRPr>
          </a:p>
          <a:p>
            <a:pPr marL="12700" marR="5080">
              <a:lnSpc>
                <a:spcPct val="117000"/>
              </a:lnSpc>
              <a:spcBef>
                <a:spcPts val="1515"/>
              </a:spcBef>
            </a:pPr>
            <a:r>
              <a:rPr sz="2200" spc="40" dirty="0">
                <a:solidFill>
                  <a:srgbClr val="CC0000"/>
                </a:solidFill>
                <a:latin typeface="微软雅黑" panose="020B0503020204020204" pitchFamily="34" charset="-122"/>
                <a:cs typeface="微软雅黑" panose="020B0503020204020204" pitchFamily="34" charset="-122"/>
              </a:rPr>
              <a:t>行为控制</a:t>
            </a:r>
            <a:r>
              <a:rPr sz="2200" spc="40" dirty="0">
                <a:solidFill>
                  <a:srgbClr val="0033CC"/>
                </a:solidFill>
                <a:latin typeface="微软雅黑" panose="020B0503020204020204" pitchFamily="34" charset="-122"/>
                <a:cs typeface="微软雅黑" panose="020B0503020204020204" pitchFamily="34" charset="-122"/>
              </a:rPr>
              <a:t>：</a:t>
            </a:r>
            <a:r>
              <a:rPr sz="2200" spc="40" dirty="0">
                <a:latin typeface="微软雅黑" panose="020B0503020204020204" pitchFamily="34" charset="-122"/>
                <a:cs typeface="微软雅黑" panose="020B0503020204020204" pitchFamily="34" charset="-122"/>
              </a:rPr>
              <a:t>通常程序需要从依赖对象的方法上取得返回值，</a:t>
            </a:r>
            <a:r>
              <a:rPr sz="2200" spc="40" dirty="0">
                <a:latin typeface="Calibri" panose="020F0502020204030204"/>
                <a:cs typeface="Calibri" panose="020F0502020204030204"/>
              </a:rPr>
              <a:t>m</a:t>
            </a:r>
            <a:r>
              <a:rPr sz="2200" spc="45" dirty="0">
                <a:latin typeface="Calibri" panose="020F0502020204030204"/>
                <a:cs typeface="Calibri" panose="020F0502020204030204"/>
              </a:rPr>
              <a:t>o</a:t>
            </a:r>
            <a:r>
              <a:rPr sz="2200" spc="40" dirty="0">
                <a:latin typeface="Calibri" panose="020F0502020204030204"/>
                <a:cs typeface="Calibri" panose="020F0502020204030204"/>
              </a:rPr>
              <a:t>ck</a:t>
            </a:r>
            <a:r>
              <a:rPr sz="2200" spc="40" dirty="0">
                <a:latin typeface="微软雅黑" panose="020B0503020204020204" pitchFamily="34" charset="-122"/>
                <a:cs typeface="微软雅黑" panose="020B0503020204020204" pitchFamily="34" charset="-122"/>
              </a:rPr>
              <a:t>对象也提供了一 </a:t>
            </a:r>
            <a:r>
              <a:rPr sz="2200" dirty="0">
                <a:latin typeface="微软雅黑" panose="020B0503020204020204" pitchFamily="34" charset="-122"/>
                <a:cs typeface="微软雅黑" panose="020B0503020204020204" pitchFamily="34" charset="-122"/>
              </a:rPr>
              <a:t>些途径对返回值进行控制。</a:t>
            </a:r>
            <a:endParaRPr sz="2200">
              <a:latin typeface="微软雅黑" panose="020B0503020204020204" pitchFamily="34" charset="-122"/>
              <a:cs typeface="微软雅黑" panose="020B0503020204020204" pitchFamily="34" charset="-122"/>
            </a:endParaRPr>
          </a:p>
          <a:p>
            <a:pPr marL="447675" indent="-372110">
              <a:lnSpc>
                <a:spcPct val="100000"/>
              </a:lnSpc>
              <a:spcBef>
                <a:spcPts val="1160"/>
              </a:spcBef>
              <a:buChar char="•"/>
              <a:tabLst>
                <a:tab pos="447040" algn="l"/>
                <a:tab pos="447675" algn="l"/>
              </a:tabLst>
            </a:pPr>
            <a:r>
              <a:rPr sz="2200" spc="-5" dirty="0">
                <a:latin typeface="Arial" panose="020B0604020202020204"/>
                <a:cs typeface="Arial" panose="020B0604020202020204"/>
              </a:rPr>
              <a:t>return_value: </a:t>
            </a:r>
            <a:r>
              <a:rPr sz="2200" dirty="0">
                <a:latin typeface="微软雅黑" panose="020B0503020204020204" pitchFamily="34" charset="-122"/>
                <a:cs typeface="微软雅黑" panose="020B0503020204020204" pitchFamily="34" charset="-122"/>
              </a:rPr>
              <a:t>固定返回值</a:t>
            </a:r>
            <a:endParaRPr sz="2200">
              <a:latin typeface="微软雅黑" panose="020B0503020204020204" pitchFamily="34" charset="-122"/>
              <a:cs typeface="微软雅黑" panose="020B0503020204020204" pitchFamily="34" charset="-122"/>
            </a:endParaRPr>
          </a:p>
          <a:p>
            <a:pPr marL="447675" indent="-372110">
              <a:lnSpc>
                <a:spcPct val="100000"/>
              </a:lnSpc>
              <a:spcBef>
                <a:spcPts val="560"/>
              </a:spcBef>
              <a:buChar char="•"/>
              <a:tabLst>
                <a:tab pos="447040" algn="l"/>
                <a:tab pos="447675" algn="l"/>
              </a:tabLst>
            </a:pPr>
            <a:r>
              <a:rPr sz="2200" spc="-5" dirty="0">
                <a:latin typeface="Arial" panose="020B0604020202020204"/>
                <a:cs typeface="Arial" panose="020B0604020202020204"/>
              </a:rPr>
              <a:t>side_effects:</a:t>
            </a:r>
            <a:r>
              <a:rPr sz="2200" spc="3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返回值的序列或自定义方法</a:t>
            </a:r>
            <a:endParaRPr sz="2200">
              <a:latin typeface="微软雅黑" panose="020B0503020204020204" pitchFamily="34" charset="-122"/>
              <a:cs typeface="微软雅黑" panose="020B0503020204020204" pitchFamily="34" charset="-122"/>
            </a:endParaRPr>
          </a:p>
        </p:txBody>
      </p:sp>
      <p:sp>
        <p:nvSpPr>
          <p:cNvPr id="5" name="标题 4"/>
          <p:cNvSpPr>
            <a:spLocks noGrp="1"/>
          </p:cNvSpPr>
          <p:nvPr>
            <p:ph type="title"/>
          </p:nvPr>
        </p:nvSpPr>
        <p:spPr/>
        <p:txBody>
          <a:bodyPr/>
          <a:lstStyle/>
          <a:p>
            <a:r>
              <a:rPr lang="en-US" altLang="zh-CN" dirty="0"/>
              <a:t>Python</a:t>
            </a:r>
            <a:r>
              <a:rPr lang="zh-CN" altLang="en-US" dirty="0"/>
              <a:t>单元测试之</a:t>
            </a:r>
            <a:r>
              <a:rPr lang="en-US" altLang="zh-CN" dirty="0"/>
              <a:t>mock</a:t>
            </a: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439335" y="2336808"/>
            <a:ext cx="1236345" cy="593090"/>
          </a:xfrm>
          <a:custGeom>
            <a:avLst/>
            <a:gdLst/>
            <a:ahLst/>
            <a:cxnLst/>
            <a:rect l="l" t="t" r="r" b="b"/>
            <a:pathLst>
              <a:path w="1236345" h="593089">
                <a:moveTo>
                  <a:pt x="1137352" y="0"/>
                </a:moveTo>
                <a:lnTo>
                  <a:pt x="98779" y="0"/>
                </a:lnTo>
                <a:lnTo>
                  <a:pt x="60330" y="7762"/>
                </a:lnTo>
                <a:lnTo>
                  <a:pt x="28931" y="28932"/>
                </a:lnTo>
                <a:lnTo>
                  <a:pt x="7762" y="60330"/>
                </a:lnTo>
                <a:lnTo>
                  <a:pt x="0" y="98780"/>
                </a:lnTo>
                <a:lnTo>
                  <a:pt x="0" y="493887"/>
                </a:lnTo>
                <a:lnTo>
                  <a:pt x="7762" y="532337"/>
                </a:lnTo>
                <a:lnTo>
                  <a:pt x="28931" y="563735"/>
                </a:lnTo>
                <a:lnTo>
                  <a:pt x="60330" y="584904"/>
                </a:lnTo>
                <a:lnTo>
                  <a:pt x="98779" y="592667"/>
                </a:lnTo>
                <a:lnTo>
                  <a:pt x="1137352" y="592667"/>
                </a:lnTo>
                <a:lnTo>
                  <a:pt x="1175801" y="584904"/>
                </a:lnTo>
                <a:lnTo>
                  <a:pt x="1207199" y="563735"/>
                </a:lnTo>
                <a:lnTo>
                  <a:pt x="1228369" y="532337"/>
                </a:lnTo>
                <a:lnTo>
                  <a:pt x="1236131" y="493887"/>
                </a:lnTo>
                <a:lnTo>
                  <a:pt x="1236131" y="98780"/>
                </a:lnTo>
                <a:lnTo>
                  <a:pt x="1228369" y="60330"/>
                </a:lnTo>
                <a:lnTo>
                  <a:pt x="1207199" y="28932"/>
                </a:lnTo>
                <a:lnTo>
                  <a:pt x="1175801" y="7762"/>
                </a:lnTo>
                <a:lnTo>
                  <a:pt x="1137352" y="0"/>
                </a:lnTo>
                <a:close/>
              </a:path>
            </a:pathLst>
          </a:custGeom>
          <a:solidFill>
            <a:srgbClr val="919191"/>
          </a:solidFill>
        </p:spPr>
        <p:txBody>
          <a:bodyPr wrap="square" lIns="0" tIns="0" rIns="0" bIns="0" rtlCol="0"/>
          <a:lstStyle/>
          <a:p>
            <a:endParaRPr/>
          </a:p>
        </p:txBody>
      </p:sp>
      <p:sp>
        <p:nvSpPr>
          <p:cNvPr id="4" name="object 4"/>
          <p:cNvSpPr/>
          <p:nvPr/>
        </p:nvSpPr>
        <p:spPr>
          <a:xfrm>
            <a:off x="2795289" y="2528644"/>
            <a:ext cx="236537" cy="193675"/>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439335" y="2997211"/>
            <a:ext cx="1236345" cy="593090"/>
          </a:xfrm>
          <a:custGeom>
            <a:avLst/>
            <a:gdLst/>
            <a:ahLst/>
            <a:cxnLst/>
            <a:rect l="l" t="t" r="r" b="b"/>
            <a:pathLst>
              <a:path w="1236345" h="593089">
                <a:moveTo>
                  <a:pt x="1137352" y="0"/>
                </a:moveTo>
                <a:lnTo>
                  <a:pt x="98779" y="0"/>
                </a:lnTo>
                <a:lnTo>
                  <a:pt x="60330" y="7762"/>
                </a:lnTo>
                <a:lnTo>
                  <a:pt x="28931" y="28931"/>
                </a:lnTo>
                <a:lnTo>
                  <a:pt x="7762" y="60330"/>
                </a:lnTo>
                <a:lnTo>
                  <a:pt x="0" y="98779"/>
                </a:lnTo>
                <a:lnTo>
                  <a:pt x="0" y="493886"/>
                </a:lnTo>
                <a:lnTo>
                  <a:pt x="7762" y="532336"/>
                </a:lnTo>
                <a:lnTo>
                  <a:pt x="28931" y="563735"/>
                </a:lnTo>
                <a:lnTo>
                  <a:pt x="60330" y="584904"/>
                </a:lnTo>
                <a:lnTo>
                  <a:pt x="98779" y="592667"/>
                </a:lnTo>
                <a:lnTo>
                  <a:pt x="1137352" y="592667"/>
                </a:lnTo>
                <a:lnTo>
                  <a:pt x="1175801" y="584904"/>
                </a:lnTo>
                <a:lnTo>
                  <a:pt x="1207199" y="563735"/>
                </a:lnTo>
                <a:lnTo>
                  <a:pt x="1228369" y="532336"/>
                </a:lnTo>
                <a:lnTo>
                  <a:pt x="1236131" y="493886"/>
                </a:lnTo>
                <a:lnTo>
                  <a:pt x="1236131" y="98779"/>
                </a:lnTo>
                <a:lnTo>
                  <a:pt x="1228369" y="60330"/>
                </a:lnTo>
                <a:lnTo>
                  <a:pt x="1207199" y="28931"/>
                </a:lnTo>
                <a:lnTo>
                  <a:pt x="1175801" y="7762"/>
                </a:lnTo>
                <a:lnTo>
                  <a:pt x="1137352" y="0"/>
                </a:lnTo>
                <a:close/>
              </a:path>
            </a:pathLst>
          </a:custGeom>
          <a:solidFill>
            <a:srgbClr val="919191"/>
          </a:solidFill>
        </p:spPr>
        <p:txBody>
          <a:bodyPr wrap="square" lIns="0" tIns="0" rIns="0" bIns="0" rtlCol="0"/>
          <a:lstStyle/>
          <a:p>
            <a:endParaRPr/>
          </a:p>
        </p:txBody>
      </p:sp>
      <p:sp>
        <p:nvSpPr>
          <p:cNvPr id="6" name="object 6"/>
          <p:cNvSpPr txBox="1"/>
          <p:nvPr/>
        </p:nvSpPr>
        <p:spPr>
          <a:xfrm>
            <a:off x="1077804" y="1287552"/>
            <a:ext cx="10271125" cy="2162810"/>
          </a:xfrm>
          <a:prstGeom prst="rect">
            <a:avLst/>
          </a:prstGeom>
        </p:spPr>
        <p:txBody>
          <a:bodyPr vert="horz" wrap="square" lIns="0" tIns="12700" rIns="0" bIns="0" rtlCol="0">
            <a:spAutoFit/>
          </a:bodyPr>
          <a:lstStyle/>
          <a:p>
            <a:pPr marL="12700" marR="5080">
              <a:lnSpc>
                <a:spcPct val="117000"/>
              </a:lnSpc>
              <a:spcBef>
                <a:spcPts val="100"/>
              </a:spcBef>
            </a:pPr>
            <a:r>
              <a:rPr sz="2200" spc="10" dirty="0">
                <a:latin typeface="Arial" panose="020B0604020202020204"/>
                <a:cs typeface="Arial" panose="020B0604020202020204"/>
              </a:rPr>
              <a:t>coverage.py</a:t>
            </a:r>
            <a:r>
              <a:rPr sz="2200" spc="10" dirty="0">
                <a:latin typeface="微软雅黑" panose="020B0503020204020204" pitchFamily="34" charset="-122"/>
                <a:cs typeface="微软雅黑" panose="020B0503020204020204" pitchFamily="34" charset="-122"/>
              </a:rPr>
              <a:t>是一个用来统计</a:t>
            </a:r>
            <a:r>
              <a:rPr sz="2200" spc="10" dirty="0">
                <a:latin typeface="Arial" panose="020B0604020202020204"/>
                <a:cs typeface="Arial" panose="020B0604020202020204"/>
              </a:rPr>
              <a:t>python</a:t>
            </a:r>
            <a:r>
              <a:rPr sz="2200" spc="10" dirty="0">
                <a:latin typeface="微软雅黑" panose="020B0503020204020204" pitchFamily="34" charset="-122"/>
                <a:cs typeface="微软雅黑" panose="020B0503020204020204" pitchFamily="34" charset="-122"/>
              </a:rPr>
              <a:t>程序代码覆盖率的工具，它使用起来非常简</a:t>
            </a:r>
            <a:r>
              <a:rPr sz="2200" dirty="0">
                <a:latin typeface="微软雅黑" panose="020B0503020204020204" pitchFamily="34" charset="-122"/>
                <a:cs typeface="微软雅黑" panose="020B0503020204020204" pitchFamily="34" charset="-122"/>
              </a:rPr>
              <a:t>单， 并且支持最终生成界面友好的</a:t>
            </a:r>
            <a:r>
              <a:rPr sz="2200" spc="-5" dirty="0">
                <a:latin typeface="Arial" panose="020B0604020202020204"/>
                <a:cs typeface="Arial" panose="020B0604020202020204"/>
              </a:rPr>
              <a:t>html</a:t>
            </a:r>
            <a:r>
              <a:rPr sz="2200" dirty="0">
                <a:latin typeface="微软雅黑" panose="020B0503020204020204" pitchFamily="34" charset="-122"/>
                <a:cs typeface="微软雅黑" panose="020B0503020204020204" pitchFamily="34" charset="-122"/>
              </a:rPr>
              <a:t>报告。</a:t>
            </a:r>
            <a:endParaRPr sz="2200">
              <a:latin typeface="微软雅黑" panose="020B0503020204020204" pitchFamily="34" charset="-122"/>
              <a:cs typeface="微软雅黑" panose="020B0503020204020204" pitchFamily="34" charset="-122"/>
            </a:endParaRPr>
          </a:p>
          <a:p>
            <a:pPr>
              <a:lnSpc>
                <a:spcPct val="100000"/>
              </a:lnSpc>
              <a:spcBef>
                <a:spcPts val="25"/>
              </a:spcBef>
            </a:pPr>
            <a:endParaRPr sz="2400">
              <a:latin typeface="Times New Roman" panose="02020603050405020304"/>
              <a:cs typeface="Times New Roman" panose="02020603050405020304"/>
            </a:endParaRPr>
          </a:p>
          <a:p>
            <a:pPr marL="702945">
              <a:lnSpc>
                <a:spcPct val="100000"/>
              </a:lnSpc>
              <a:tabLst>
                <a:tab pos="2398395" algn="l"/>
              </a:tabLst>
            </a:pPr>
            <a:r>
              <a:rPr sz="2200" dirty="0">
                <a:solidFill>
                  <a:srgbClr val="FFFFFF"/>
                </a:solidFill>
                <a:latin typeface="微软雅黑" panose="020B0503020204020204" pitchFamily="34" charset="-122"/>
                <a:cs typeface="微软雅黑" panose="020B0503020204020204" pitchFamily="34" charset="-122"/>
              </a:rPr>
              <a:t>安装	</a:t>
            </a:r>
            <a:r>
              <a:rPr sz="2200" dirty="0">
                <a:latin typeface="Arial" panose="020B0604020202020204"/>
                <a:cs typeface="Arial" panose="020B0604020202020204"/>
              </a:rPr>
              <a:t>pip </a:t>
            </a:r>
            <a:r>
              <a:rPr sz="2200" spc="-5" dirty="0">
                <a:latin typeface="Arial" panose="020B0604020202020204"/>
                <a:cs typeface="Arial" panose="020B0604020202020204"/>
              </a:rPr>
              <a:t>install </a:t>
            </a:r>
            <a:r>
              <a:rPr sz="2200" dirty="0">
                <a:latin typeface="Arial" panose="020B0604020202020204"/>
                <a:cs typeface="Arial" panose="020B0604020202020204"/>
              </a:rPr>
              <a:t>-U</a:t>
            </a:r>
            <a:r>
              <a:rPr sz="2200" spc="-5" dirty="0">
                <a:latin typeface="Arial" panose="020B0604020202020204"/>
                <a:cs typeface="Arial" panose="020B0604020202020204"/>
              </a:rPr>
              <a:t> coverage.py</a:t>
            </a:r>
            <a:endParaRPr sz="2200">
              <a:latin typeface="Arial" panose="020B0604020202020204"/>
              <a:cs typeface="Arial" panose="020B0604020202020204"/>
            </a:endParaRPr>
          </a:p>
          <a:p>
            <a:pPr marL="702945">
              <a:lnSpc>
                <a:spcPct val="100000"/>
              </a:lnSpc>
              <a:spcBef>
                <a:spcPts val="2560"/>
              </a:spcBef>
            </a:pPr>
            <a:r>
              <a:rPr sz="2200" dirty="0">
                <a:solidFill>
                  <a:srgbClr val="FFFFFF"/>
                </a:solidFill>
                <a:latin typeface="微软雅黑" panose="020B0503020204020204" pitchFamily="34" charset="-122"/>
                <a:cs typeface="微软雅黑" panose="020B0503020204020204" pitchFamily="34" charset="-122"/>
              </a:rPr>
              <a:t>使用</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3301996" y="2982741"/>
            <a:ext cx="4758267" cy="844203"/>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795289" y="3205980"/>
            <a:ext cx="236537" cy="19367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3318927" y="3838836"/>
            <a:ext cx="7315200" cy="2438401"/>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314165" y="3834074"/>
            <a:ext cx="7324725" cy="2447925"/>
          </a:xfrm>
          <a:custGeom>
            <a:avLst/>
            <a:gdLst/>
            <a:ahLst/>
            <a:cxnLst/>
            <a:rect l="l" t="t" r="r" b="b"/>
            <a:pathLst>
              <a:path w="7324725" h="2447925">
                <a:moveTo>
                  <a:pt x="0" y="0"/>
                </a:moveTo>
                <a:lnTo>
                  <a:pt x="7324722" y="0"/>
                </a:lnTo>
                <a:lnTo>
                  <a:pt x="7324722" y="2447923"/>
                </a:lnTo>
                <a:lnTo>
                  <a:pt x="0" y="2447923"/>
                </a:lnTo>
                <a:lnTo>
                  <a:pt x="0" y="0"/>
                </a:lnTo>
                <a:close/>
              </a:path>
            </a:pathLst>
          </a:custGeom>
          <a:ln w="9524">
            <a:solidFill>
              <a:srgbClr val="919191"/>
            </a:solidFill>
          </a:ln>
        </p:spPr>
        <p:txBody>
          <a:bodyPr wrap="square" lIns="0" tIns="0" rIns="0" bIns="0" rtlCol="0"/>
          <a:lstStyle/>
          <a:p>
            <a:endParaRPr/>
          </a:p>
        </p:txBody>
      </p:sp>
      <p:sp>
        <p:nvSpPr>
          <p:cNvPr id="11" name="object 11"/>
          <p:cNvSpPr/>
          <p:nvPr/>
        </p:nvSpPr>
        <p:spPr>
          <a:xfrm>
            <a:off x="8077197" y="3124200"/>
            <a:ext cx="2573865" cy="651715"/>
          </a:xfrm>
          <a:prstGeom prst="rect">
            <a:avLst/>
          </a:prstGeom>
          <a:blipFill>
            <a:blip r:embed="rId6" cstate="print"/>
            <a:stretch>
              <a:fillRect/>
            </a:stretch>
          </a:blipFill>
        </p:spPr>
        <p:txBody>
          <a:bodyPr wrap="square" lIns="0" tIns="0" rIns="0" bIns="0" rtlCol="0"/>
          <a:lstStyle/>
          <a:p>
            <a:endParaRPr/>
          </a:p>
        </p:txBody>
      </p:sp>
      <p:sp>
        <p:nvSpPr>
          <p:cNvPr id="13" name="标题 12"/>
          <p:cNvSpPr>
            <a:spLocks noGrp="1"/>
          </p:cNvSpPr>
          <p:nvPr>
            <p:ph type="title"/>
          </p:nvPr>
        </p:nvSpPr>
        <p:spPr/>
        <p:txBody>
          <a:bodyPr/>
          <a:lstStyle/>
          <a:p>
            <a:r>
              <a:rPr lang="en-US" altLang="zh-CN" dirty="0"/>
              <a:t>Python</a:t>
            </a:r>
            <a:r>
              <a:rPr lang="zh-CN" altLang="en-US" dirty="0"/>
              <a:t>单元测试之覆盖分析</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33581" y="1341968"/>
            <a:ext cx="7092540" cy="360256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636933" y="2099733"/>
            <a:ext cx="3082290" cy="2946400"/>
          </a:xfrm>
          <a:prstGeom prst="rect">
            <a:avLst/>
          </a:prstGeom>
          <a:solidFill>
            <a:srgbClr val="D9D7D7"/>
          </a:solidFill>
          <a:ln w="6349">
            <a:solidFill>
              <a:srgbClr val="6C6C6C"/>
            </a:solidFill>
          </a:ln>
        </p:spPr>
        <p:txBody>
          <a:bodyPr vert="horz" wrap="square" lIns="0" tIns="0" rIns="0" bIns="0" rtlCol="0">
            <a:spAutoFit/>
          </a:bodyPr>
          <a:lstStyle/>
          <a:p>
            <a:pPr>
              <a:lnSpc>
                <a:spcPct val="100000"/>
              </a:lnSpc>
            </a:pPr>
            <a:endParaRPr sz="3650">
              <a:latin typeface="Times New Roman" panose="02020603050405020304"/>
              <a:cs typeface="Times New Roman" panose="02020603050405020304"/>
            </a:endParaRPr>
          </a:p>
          <a:p>
            <a:pPr marL="481965">
              <a:lnSpc>
                <a:spcPct val="100000"/>
              </a:lnSpc>
            </a:pPr>
            <a:r>
              <a:rPr sz="2400" dirty="0">
                <a:latin typeface="Arial" panose="020B0604020202020204"/>
                <a:cs typeface="Arial" panose="020B0604020202020204"/>
              </a:rPr>
              <a:t>Py</a:t>
            </a:r>
            <a:r>
              <a:rPr sz="2400" spc="-5" dirty="0">
                <a:latin typeface="Arial" panose="020B0604020202020204"/>
                <a:cs typeface="Arial" panose="020B0604020202020204"/>
              </a:rPr>
              <a:t>t</a:t>
            </a:r>
            <a:r>
              <a:rPr sz="2400" dirty="0">
                <a:latin typeface="Arial" panose="020B0604020202020204"/>
                <a:cs typeface="Arial" panose="020B0604020202020204"/>
              </a:rPr>
              <a:t>hon</a:t>
            </a:r>
            <a:r>
              <a:rPr sz="2400" dirty="0">
                <a:latin typeface="微软雅黑" panose="020B0503020204020204" pitchFamily="34" charset="-122"/>
                <a:cs typeface="微软雅黑" panose="020B0503020204020204" pitchFamily="34" charset="-122"/>
              </a:rPr>
              <a:t>单元测试</a:t>
            </a:r>
            <a:endParaRPr sz="2400">
              <a:latin typeface="微软雅黑" panose="020B0503020204020204" pitchFamily="34" charset="-122"/>
              <a:cs typeface="微软雅黑" panose="020B0503020204020204" pitchFamily="34" charset="-122"/>
            </a:endParaRPr>
          </a:p>
          <a:p>
            <a:pPr marL="824865" indent="-343535">
              <a:lnSpc>
                <a:spcPct val="100000"/>
              </a:lnSpc>
              <a:spcBef>
                <a:spcPts val="1120"/>
              </a:spcBef>
              <a:buChar char="•"/>
              <a:tabLst>
                <a:tab pos="824230" algn="l"/>
                <a:tab pos="825500" algn="l"/>
              </a:tabLst>
            </a:pPr>
            <a:r>
              <a:rPr sz="2400" spc="-5" dirty="0">
                <a:latin typeface="Arial" panose="020B0604020202020204"/>
                <a:cs typeface="Arial" panose="020B0604020202020204"/>
              </a:rPr>
              <a:t>unittest</a:t>
            </a:r>
            <a:endParaRPr sz="2400">
              <a:latin typeface="Arial" panose="020B0604020202020204"/>
              <a:cs typeface="Arial" panose="020B0604020202020204"/>
            </a:endParaRPr>
          </a:p>
          <a:p>
            <a:pPr marL="824865" indent="-343535">
              <a:lnSpc>
                <a:spcPct val="100000"/>
              </a:lnSpc>
              <a:spcBef>
                <a:spcPts val="1120"/>
              </a:spcBef>
              <a:buChar char="•"/>
              <a:tabLst>
                <a:tab pos="824230" algn="l"/>
                <a:tab pos="825500" algn="l"/>
              </a:tabLst>
            </a:pPr>
            <a:r>
              <a:rPr sz="2400" dirty="0">
                <a:latin typeface="Arial" panose="020B0604020202020204"/>
                <a:cs typeface="Arial" panose="020B0604020202020204"/>
              </a:rPr>
              <a:t>mock</a:t>
            </a:r>
            <a:endParaRPr sz="2400">
              <a:latin typeface="Arial" panose="020B0604020202020204"/>
              <a:cs typeface="Arial" panose="020B0604020202020204"/>
            </a:endParaRPr>
          </a:p>
          <a:p>
            <a:pPr marL="824865" indent="-343535">
              <a:lnSpc>
                <a:spcPct val="100000"/>
              </a:lnSpc>
              <a:spcBef>
                <a:spcPts val="1120"/>
              </a:spcBef>
              <a:buChar char="•"/>
              <a:tabLst>
                <a:tab pos="824230" algn="l"/>
                <a:tab pos="825500" algn="l"/>
              </a:tabLst>
            </a:pPr>
            <a:r>
              <a:rPr sz="2400" spc="-5" dirty="0">
                <a:latin typeface="Arial" panose="020B0604020202020204"/>
                <a:cs typeface="Arial" panose="020B0604020202020204"/>
              </a:rPr>
              <a:t>coverage.py</a:t>
            </a:r>
            <a:endParaRPr sz="2400">
              <a:latin typeface="Arial" panose="020B0604020202020204"/>
              <a:cs typeface="Arial" panose="020B0604020202020204"/>
            </a:endParaRPr>
          </a:p>
        </p:txBody>
      </p:sp>
      <p:sp>
        <p:nvSpPr>
          <p:cNvPr id="6" name="标题 5"/>
          <p:cNvSpPr>
            <a:spLocks noGrp="1"/>
          </p:cNvSpPr>
          <p:nvPr>
            <p:ph type="title"/>
          </p:nvPr>
        </p:nvSpPr>
        <p:spPr/>
        <p:txBody>
          <a:bodyPr/>
          <a:lstStyle/>
          <a:p>
            <a:r>
              <a:rPr lang="zh-CN" altLang="en-US" dirty="0"/>
              <a:t>案例：生命游戏</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35594" y="2015067"/>
            <a:ext cx="2066289" cy="643890"/>
          </a:xfrm>
          <a:prstGeom prst="rect">
            <a:avLst/>
          </a:prstGeom>
          <a:solidFill>
            <a:srgbClr val="6C6C6C"/>
          </a:solidFill>
        </p:spPr>
        <p:txBody>
          <a:bodyPr vert="horz" wrap="square" lIns="0" tIns="114935" rIns="0" bIns="0" rtlCol="0">
            <a:spAutoFit/>
          </a:bodyPr>
          <a:lstStyle/>
          <a:p>
            <a:pPr marL="5715" algn="ctr">
              <a:lnSpc>
                <a:spcPct val="100000"/>
              </a:lnSpc>
              <a:spcBef>
                <a:spcPts val="905"/>
              </a:spcBef>
            </a:pPr>
            <a:r>
              <a:rPr sz="2400" spc="-5" dirty="0">
                <a:solidFill>
                  <a:srgbClr val="FFFFFF"/>
                </a:solidFill>
                <a:latin typeface="Calibri" panose="020F0502020204030204"/>
                <a:cs typeface="Calibri" panose="020F0502020204030204"/>
              </a:rPr>
              <a:t>main</a:t>
            </a:r>
            <a:endParaRPr sz="2400">
              <a:latin typeface="Calibri" panose="020F0502020204030204"/>
              <a:cs typeface="Calibri" panose="020F0502020204030204"/>
            </a:endParaRPr>
          </a:p>
        </p:txBody>
      </p:sp>
      <p:sp>
        <p:nvSpPr>
          <p:cNvPr id="4" name="object 4"/>
          <p:cNvSpPr txBox="1"/>
          <p:nvPr/>
        </p:nvSpPr>
        <p:spPr>
          <a:xfrm>
            <a:off x="7281330" y="3335866"/>
            <a:ext cx="2066289" cy="643890"/>
          </a:xfrm>
          <a:prstGeom prst="rect">
            <a:avLst/>
          </a:prstGeom>
          <a:solidFill>
            <a:srgbClr val="6C6C6C"/>
          </a:solidFill>
        </p:spPr>
        <p:txBody>
          <a:bodyPr vert="horz" wrap="square" lIns="0" tIns="114935" rIns="0" bIns="0" rtlCol="0">
            <a:spAutoFit/>
          </a:bodyPr>
          <a:lstStyle/>
          <a:p>
            <a:pPr marL="281940">
              <a:lnSpc>
                <a:spcPct val="100000"/>
              </a:lnSpc>
              <a:spcBef>
                <a:spcPts val="905"/>
              </a:spcBef>
            </a:pPr>
            <a:r>
              <a:rPr sz="2400" spc="-5" dirty="0">
                <a:solidFill>
                  <a:srgbClr val="FFFFFF"/>
                </a:solidFill>
                <a:latin typeface="Calibri" panose="020F0502020204030204"/>
                <a:cs typeface="Calibri" panose="020F0502020204030204"/>
              </a:rPr>
              <a:t>game_timer</a:t>
            </a:r>
            <a:endParaRPr sz="2400">
              <a:latin typeface="Calibri" panose="020F0502020204030204"/>
              <a:cs typeface="Calibri" panose="020F0502020204030204"/>
            </a:endParaRPr>
          </a:p>
        </p:txBody>
      </p:sp>
      <p:sp>
        <p:nvSpPr>
          <p:cNvPr id="5" name="object 5"/>
          <p:cNvSpPr/>
          <p:nvPr/>
        </p:nvSpPr>
        <p:spPr>
          <a:xfrm>
            <a:off x="4750266" y="2675465"/>
            <a:ext cx="1447800" cy="648970"/>
          </a:xfrm>
          <a:custGeom>
            <a:avLst/>
            <a:gdLst/>
            <a:ahLst/>
            <a:cxnLst/>
            <a:rect l="l" t="t" r="r" b="b"/>
            <a:pathLst>
              <a:path w="1447800" h="648970">
                <a:moveTo>
                  <a:pt x="1447333" y="0"/>
                </a:moveTo>
                <a:lnTo>
                  <a:pt x="0" y="648802"/>
                </a:lnTo>
              </a:path>
            </a:pathLst>
          </a:custGeom>
          <a:ln w="28574">
            <a:solidFill>
              <a:srgbClr val="919191"/>
            </a:solidFill>
          </a:ln>
        </p:spPr>
        <p:txBody>
          <a:bodyPr wrap="square" lIns="0" tIns="0" rIns="0" bIns="0" rtlCol="0"/>
          <a:lstStyle/>
          <a:p>
            <a:endParaRPr/>
          </a:p>
        </p:txBody>
      </p:sp>
      <p:sp>
        <p:nvSpPr>
          <p:cNvPr id="6" name="object 6"/>
          <p:cNvSpPr/>
          <p:nvPr/>
        </p:nvSpPr>
        <p:spPr>
          <a:xfrm>
            <a:off x="4724391" y="3227360"/>
            <a:ext cx="139600" cy="12251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6773329" y="2658532"/>
            <a:ext cx="1515110" cy="666115"/>
          </a:xfrm>
          <a:custGeom>
            <a:avLst/>
            <a:gdLst/>
            <a:ahLst/>
            <a:cxnLst/>
            <a:rect l="l" t="t" r="r" b="b"/>
            <a:pathLst>
              <a:path w="1515109" h="666114">
                <a:moveTo>
                  <a:pt x="0" y="0"/>
                </a:moveTo>
                <a:lnTo>
                  <a:pt x="1514708" y="665660"/>
                </a:lnTo>
              </a:path>
            </a:pathLst>
          </a:custGeom>
          <a:ln w="28574">
            <a:solidFill>
              <a:srgbClr val="919191"/>
            </a:solidFill>
          </a:ln>
        </p:spPr>
        <p:txBody>
          <a:bodyPr wrap="square" lIns="0" tIns="0" rIns="0" bIns="0" rtlCol="0"/>
          <a:lstStyle/>
          <a:p>
            <a:endParaRPr/>
          </a:p>
        </p:txBody>
      </p:sp>
      <p:sp>
        <p:nvSpPr>
          <p:cNvPr id="8" name="object 8"/>
          <p:cNvSpPr/>
          <p:nvPr/>
        </p:nvSpPr>
        <p:spPr>
          <a:xfrm>
            <a:off x="8174347" y="3227726"/>
            <a:ext cx="139651" cy="122849"/>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658068" y="4458533"/>
            <a:ext cx="132646" cy="130398"/>
          </a:xfrm>
          <a:prstGeom prst="rect">
            <a:avLst/>
          </a:prstGeom>
          <a:blipFill>
            <a:blip r:embed="rId5" cstate="print"/>
            <a:stretch>
              <a:fillRect/>
            </a:stretch>
          </a:blipFill>
        </p:spPr>
        <p:txBody>
          <a:bodyPr wrap="square" lIns="0" tIns="0" rIns="0" bIns="0" rtlCol="0"/>
          <a:lstStyle/>
          <a:p>
            <a:endParaRPr/>
          </a:p>
        </p:txBody>
      </p:sp>
      <p:graphicFrame>
        <p:nvGraphicFramePr>
          <p:cNvPr id="10" name="object 10"/>
          <p:cNvGraphicFramePr>
            <a:graphicFrameLocks noGrp="1"/>
          </p:cNvGraphicFramePr>
          <p:nvPr/>
        </p:nvGraphicFramePr>
        <p:xfrm>
          <a:off x="3691458" y="3335866"/>
          <a:ext cx="2066288" cy="1896529"/>
        </p:xfrm>
        <a:graphic>
          <a:graphicData uri="http://schemas.openxmlformats.org/drawingml/2006/table">
            <a:tbl>
              <a:tblPr firstRow="1" bandRow="1">
                <a:tableStyleId>{2D5ABB26-0587-4C30-8999-92F81FD0307C}</a:tableStyleId>
              </a:tblPr>
              <a:tblGrid>
                <a:gridCol w="1033144">
                  <a:extLst>
                    <a:ext uri="{9D8B030D-6E8A-4147-A177-3AD203B41FA5}">
                      <a16:colId xmlns:a16="http://schemas.microsoft.com/office/drawing/2014/main" val="20000"/>
                    </a:ext>
                  </a:extLst>
                </a:gridCol>
                <a:gridCol w="1033144">
                  <a:extLst>
                    <a:ext uri="{9D8B030D-6E8A-4147-A177-3AD203B41FA5}">
                      <a16:colId xmlns:a16="http://schemas.microsoft.com/office/drawing/2014/main" val="20001"/>
                    </a:ext>
                  </a:extLst>
                </a:gridCol>
              </a:tblGrid>
              <a:tr h="643464">
                <a:tc gridSpan="2">
                  <a:txBody>
                    <a:bodyPr/>
                    <a:lstStyle/>
                    <a:p>
                      <a:pPr marL="425450">
                        <a:lnSpc>
                          <a:spcPct val="100000"/>
                        </a:lnSpc>
                        <a:spcBef>
                          <a:spcPts val="905"/>
                        </a:spcBef>
                      </a:pPr>
                      <a:r>
                        <a:rPr sz="2400" spc="-5" dirty="0">
                          <a:solidFill>
                            <a:srgbClr val="FFFFFF"/>
                          </a:solidFill>
                          <a:latin typeface="Calibri" panose="020F0502020204030204"/>
                          <a:cs typeface="Calibri" panose="020F0502020204030204"/>
                        </a:rPr>
                        <a:t>life_game</a:t>
                      </a:r>
                      <a:endParaRPr sz="2400">
                        <a:latin typeface="Calibri" panose="020F0502020204030204"/>
                        <a:cs typeface="Calibri" panose="020F0502020204030204"/>
                      </a:endParaRPr>
                    </a:p>
                  </a:txBody>
                  <a:tcPr marL="0" marR="0" marT="114935" marB="0">
                    <a:solidFill>
                      <a:srgbClr val="6C6C6C"/>
                    </a:solidFill>
                  </a:tcPr>
                </a:tc>
                <a:tc hMerge="1">
                  <a:txBody>
                    <a:bodyPr/>
                    <a:lstStyle/>
                    <a:p>
                      <a:endParaRPr lang="zh-CN"/>
                    </a:p>
                  </a:txBody>
                  <a:tcPr marL="0" marR="0" marT="0" marB="0"/>
                </a:tc>
                <a:extLst>
                  <a:ext uri="{0D108BD9-81ED-4DB2-BD59-A6C34878D82A}">
                    <a16:rowId xmlns:a16="http://schemas.microsoft.com/office/drawing/2014/main" val="10000"/>
                  </a:ext>
                </a:extLst>
              </a:tr>
              <a:tr h="609602">
                <a:tc>
                  <a:txBody>
                    <a:bodyPr/>
                    <a:lstStyle/>
                    <a:p>
                      <a:pPr>
                        <a:lnSpc>
                          <a:spcPct val="100000"/>
                        </a:lnSpc>
                        <a:spcBef>
                          <a:spcPts val="1170"/>
                        </a:spcBef>
                      </a:pPr>
                      <a:r>
                        <a:rPr sz="2000" dirty="0">
                          <a:latin typeface="微软雅黑" panose="020B0503020204020204" pitchFamily="34" charset="-122"/>
                          <a:cs typeface="微软雅黑" panose="020B0503020204020204" pitchFamily="34" charset="-122"/>
                        </a:rPr>
                        <a:t>执行输出</a:t>
                      </a:r>
                      <a:endParaRPr sz="2000">
                        <a:latin typeface="微软雅黑" panose="020B0503020204020204" pitchFamily="34" charset="-122"/>
                        <a:cs typeface="微软雅黑" panose="020B0503020204020204" pitchFamily="34" charset="-122"/>
                      </a:endParaRPr>
                    </a:p>
                  </a:txBody>
                  <a:tcPr marL="0" marR="0" marT="148590" marB="0">
                    <a:lnR w="28575">
                      <a:solidFill>
                        <a:srgbClr val="919191"/>
                      </a:solidFill>
                      <a:prstDash val="solid"/>
                    </a:lnR>
                  </a:tcPr>
                </a:tc>
                <a:tc>
                  <a:txBody>
                    <a:bodyPr/>
                    <a:lstStyle/>
                    <a:p>
                      <a:pPr>
                        <a:lnSpc>
                          <a:spcPct val="100000"/>
                        </a:lnSpc>
                      </a:pPr>
                      <a:endParaRPr sz="2100">
                        <a:latin typeface="Times New Roman" panose="02020603050405020304"/>
                        <a:cs typeface="Times New Roman" panose="02020603050405020304"/>
                      </a:endParaRPr>
                    </a:p>
                  </a:txBody>
                  <a:tcPr marL="0" marR="0" marT="0" marB="0">
                    <a:lnL w="28575">
                      <a:solidFill>
                        <a:srgbClr val="919191"/>
                      </a:solidFill>
                      <a:prstDash val="solid"/>
                    </a:lnL>
                  </a:tcPr>
                </a:tc>
                <a:extLst>
                  <a:ext uri="{0D108BD9-81ED-4DB2-BD59-A6C34878D82A}">
                    <a16:rowId xmlns:a16="http://schemas.microsoft.com/office/drawing/2014/main" val="10001"/>
                  </a:ext>
                </a:extLst>
              </a:tr>
              <a:tr h="643463">
                <a:tc gridSpan="2">
                  <a:txBody>
                    <a:bodyPr/>
                    <a:lstStyle/>
                    <a:p>
                      <a:pPr marL="342900">
                        <a:lnSpc>
                          <a:spcPct val="100000"/>
                        </a:lnSpc>
                        <a:spcBef>
                          <a:spcPts val="905"/>
                        </a:spcBef>
                      </a:pPr>
                      <a:r>
                        <a:rPr sz="2400" spc="-5" dirty="0">
                          <a:solidFill>
                            <a:srgbClr val="FFFFFF"/>
                          </a:solidFill>
                          <a:latin typeface="Calibri" panose="020F0502020204030204"/>
                          <a:cs typeface="Calibri" panose="020F0502020204030204"/>
                        </a:rPr>
                        <a:t>game_map</a:t>
                      </a:r>
                      <a:endParaRPr sz="2400">
                        <a:latin typeface="Calibri" panose="020F0502020204030204"/>
                        <a:cs typeface="Calibri" panose="020F0502020204030204"/>
                      </a:endParaRPr>
                    </a:p>
                  </a:txBody>
                  <a:tcPr marL="0" marR="0" marT="114935" marB="0">
                    <a:solidFill>
                      <a:srgbClr val="6C6C6C"/>
                    </a:solidFill>
                  </a:tcPr>
                </a:tc>
                <a:tc hMerge="1">
                  <a:txBody>
                    <a:bodyPr/>
                    <a:lstStyle/>
                    <a:p>
                      <a:endParaRPr lang="zh-CN"/>
                    </a:p>
                  </a:txBody>
                  <a:tcPr marL="0" marR="0" marT="0" marB="0"/>
                </a:tc>
                <a:extLst>
                  <a:ext uri="{0D108BD9-81ED-4DB2-BD59-A6C34878D82A}">
                    <a16:rowId xmlns:a16="http://schemas.microsoft.com/office/drawing/2014/main" val="10002"/>
                  </a:ext>
                </a:extLst>
              </a:tr>
            </a:tbl>
          </a:graphicData>
        </a:graphic>
      </p:graphicFrame>
      <p:sp>
        <p:nvSpPr>
          <p:cNvPr id="11" name="object 11"/>
          <p:cNvSpPr txBox="1"/>
          <p:nvPr/>
        </p:nvSpPr>
        <p:spPr>
          <a:xfrm>
            <a:off x="3726348" y="1507820"/>
            <a:ext cx="5233035"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3300CC"/>
                </a:solidFill>
                <a:latin typeface="Arial" panose="020B0604020202020204"/>
                <a:cs typeface="Arial" panose="020B0604020202020204"/>
              </a:rPr>
              <a:t>main.py</a:t>
            </a:r>
            <a:r>
              <a:rPr sz="2000" spc="-5" dirty="0">
                <a:solidFill>
                  <a:srgbClr val="3300CC"/>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生命游戏的主程序，用户使用的入口</a:t>
            </a:r>
            <a:endParaRPr sz="2000">
              <a:latin typeface="微软雅黑" panose="020B0503020204020204" pitchFamily="34" charset="-122"/>
              <a:cs typeface="微软雅黑" panose="020B0503020204020204" pitchFamily="34" charset="-122"/>
            </a:endParaRPr>
          </a:p>
        </p:txBody>
      </p:sp>
      <p:sp>
        <p:nvSpPr>
          <p:cNvPr id="12" name="object 12"/>
          <p:cNvSpPr txBox="1"/>
          <p:nvPr/>
        </p:nvSpPr>
        <p:spPr>
          <a:xfrm>
            <a:off x="896691" y="4115550"/>
            <a:ext cx="2565400"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3300CC"/>
                </a:solidFill>
                <a:latin typeface="微软雅黑" panose="020B0503020204020204" pitchFamily="34" charset="-122"/>
                <a:cs typeface="微软雅黑" panose="020B0503020204020204" pitchFamily="34" charset="-122"/>
              </a:rPr>
              <a:t>life_game.py：</a:t>
            </a:r>
            <a:r>
              <a:rPr sz="2000" dirty="0">
                <a:latin typeface="微软雅黑" panose="020B0503020204020204" pitchFamily="34" charset="-122"/>
                <a:cs typeface="微软雅黑" panose="020B0503020204020204" pitchFamily="34" charset="-122"/>
              </a:rPr>
              <a:t>游戏的</a:t>
            </a:r>
            <a:endParaRPr sz="2000">
              <a:latin typeface="微软雅黑" panose="020B0503020204020204" pitchFamily="34" charset="-122"/>
              <a:cs typeface="微软雅黑" panose="020B0503020204020204" pitchFamily="34" charset="-122"/>
            </a:endParaRPr>
          </a:p>
        </p:txBody>
      </p:sp>
      <p:sp>
        <p:nvSpPr>
          <p:cNvPr id="13" name="object 13"/>
          <p:cNvSpPr txBox="1"/>
          <p:nvPr/>
        </p:nvSpPr>
        <p:spPr>
          <a:xfrm>
            <a:off x="7361414" y="4090154"/>
            <a:ext cx="397764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3300CC"/>
                </a:solidFill>
                <a:latin typeface="Arial" panose="020B0604020202020204"/>
                <a:cs typeface="Arial" panose="020B0604020202020204"/>
              </a:rPr>
              <a:t>game_</a:t>
            </a:r>
            <a:r>
              <a:rPr sz="2000" spc="-5" dirty="0">
                <a:solidFill>
                  <a:srgbClr val="3300CC"/>
                </a:solidFill>
                <a:latin typeface="Arial" panose="020B0604020202020204"/>
                <a:cs typeface="Arial" panose="020B0604020202020204"/>
              </a:rPr>
              <a:t>t</a:t>
            </a:r>
            <a:r>
              <a:rPr sz="2000" dirty="0">
                <a:solidFill>
                  <a:srgbClr val="3300CC"/>
                </a:solidFill>
                <a:latin typeface="Arial" panose="020B0604020202020204"/>
                <a:cs typeface="Arial" panose="020B0604020202020204"/>
              </a:rPr>
              <a:t>ime</a:t>
            </a:r>
            <a:r>
              <a:rPr sz="2000" spc="-114" dirty="0">
                <a:solidFill>
                  <a:srgbClr val="3300CC"/>
                </a:solidFill>
                <a:latin typeface="Arial" panose="020B0604020202020204"/>
                <a:cs typeface="Arial" panose="020B0604020202020204"/>
              </a:rPr>
              <a:t>r</a:t>
            </a:r>
            <a:r>
              <a:rPr sz="2000" spc="-5" dirty="0">
                <a:solidFill>
                  <a:srgbClr val="3300CC"/>
                </a:solidFill>
                <a:latin typeface="Arial" panose="020B0604020202020204"/>
                <a:cs typeface="Arial" panose="020B0604020202020204"/>
              </a:rPr>
              <a:t>.</a:t>
            </a:r>
            <a:r>
              <a:rPr sz="2000" dirty="0">
                <a:solidFill>
                  <a:srgbClr val="3300CC"/>
                </a:solidFill>
                <a:latin typeface="Arial" panose="020B0604020202020204"/>
                <a:cs typeface="Arial" panose="020B0604020202020204"/>
              </a:rPr>
              <a:t>p</a:t>
            </a:r>
            <a:r>
              <a:rPr sz="2000" spc="-5" dirty="0">
                <a:solidFill>
                  <a:srgbClr val="3300CC"/>
                </a:solidFill>
                <a:latin typeface="Arial" panose="020B0604020202020204"/>
                <a:cs typeface="Arial" panose="020B0604020202020204"/>
              </a:rPr>
              <a:t>y</a:t>
            </a:r>
            <a:r>
              <a:rPr sz="2000" dirty="0">
                <a:solidFill>
                  <a:srgbClr val="3300CC"/>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定时器，定时触发</a:t>
            </a:r>
            <a:endParaRPr sz="2000">
              <a:latin typeface="微软雅黑" panose="020B0503020204020204" pitchFamily="34" charset="-122"/>
              <a:cs typeface="微软雅黑" panose="020B0503020204020204" pitchFamily="34" charset="-122"/>
            </a:endParaRPr>
          </a:p>
        </p:txBody>
      </p:sp>
      <p:sp>
        <p:nvSpPr>
          <p:cNvPr id="14" name="object 14"/>
          <p:cNvSpPr txBox="1"/>
          <p:nvPr/>
        </p:nvSpPr>
        <p:spPr>
          <a:xfrm>
            <a:off x="3744036" y="5368618"/>
            <a:ext cx="6207125"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3300CC"/>
                </a:solidFill>
                <a:latin typeface="Arial" panose="020B0604020202020204"/>
                <a:cs typeface="Arial" panose="020B0604020202020204"/>
              </a:rPr>
              <a:t>game_map.py</a:t>
            </a:r>
            <a:r>
              <a:rPr sz="2000" spc="-5" dirty="0">
                <a:solidFill>
                  <a:srgbClr val="3300CC"/>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生命游戏地图，包含了所需的底层操作</a:t>
            </a:r>
            <a:endParaRPr sz="2000">
              <a:latin typeface="微软雅黑" panose="020B0503020204020204" pitchFamily="34" charset="-122"/>
              <a:cs typeface="微软雅黑" panose="020B0503020204020204" pitchFamily="34" charset="-122"/>
            </a:endParaRPr>
          </a:p>
        </p:txBody>
      </p:sp>
      <p:sp>
        <p:nvSpPr>
          <p:cNvPr id="16" name="标题 15"/>
          <p:cNvSpPr>
            <a:spLocks noGrp="1"/>
          </p:cNvSpPr>
          <p:nvPr>
            <p:ph type="title"/>
          </p:nvPr>
        </p:nvSpPr>
        <p:spPr/>
        <p:txBody>
          <a:bodyPr/>
          <a:lstStyle/>
          <a:p>
            <a:r>
              <a:rPr lang="zh-CN" altLang="en-US" dirty="0"/>
              <a:t>案例：生命游戏</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652997" y="1820637"/>
            <a:ext cx="7467596" cy="4327244"/>
          </a:xfrm>
          <a:custGeom>
            <a:avLst/>
            <a:gdLst/>
            <a:ahLst/>
            <a:cxnLst/>
            <a:rect l="l" t="t" r="r" b="b"/>
            <a:pathLst>
              <a:path w="7349490" h="3589654">
                <a:moveTo>
                  <a:pt x="0" y="0"/>
                </a:moveTo>
                <a:lnTo>
                  <a:pt x="7349051" y="0"/>
                </a:lnTo>
                <a:lnTo>
                  <a:pt x="7349051" y="3589316"/>
                </a:lnTo>
                <a:lnTo>
                  <a:pt x="0" y="3589316"/>
                </a:lnTo>
                <a:lnTo>
                  <a:pt x="0" y="0"/>
                </a:lnTo>
                <a:close/>
              </a:path>
            </a:pathLst>
          </a:custGeom>
          <a:ln w="19049">
            <a:solidFill>
              <a:srgbClr val="919191"/>
            </a:solidFill>
          </a:ln>
        </p:spPr>
        <p:txBody>
          <a:bodyPr wrap="square" lIns="0" tIns="0" rIns="0" bIns="0" rtlCol="0"/>
          <a:lstStyle/>
          <a:p>
            <a:endParaRPr/>
          </a:p>
        </p:txBody>
      </p:sp>
      <p:sp>
        <p:nvSpPr>
          <p:cNvPr id="4" name="object 4"/>
          <p:cNvSpPr txBox="1">
            <a:spLocks noGrp="1"/>
          </p:cNvSpPr>
          <p:nvPr>
            <p:ph type="body" idx="1"/>
          </p:nvPr>
        </p:nvSpPr>
        <p:spPr>
          <a:xfrm>
            <a:off x="838200" y="1825625"/>
            <a:ext cx="10515600" cy="4142160"/>
          </a:xfrm>
          <a:prstGeom prst="rect">
            <a:avLst/>
          </a:prstGeom>
        </p:spPr>
        <p:txBody>
          <a:bodyPr vert="horz" wrap="square" lIns="0" tIns="172720" rIns="0" bIns="0" rtlCol="0">
            <a:spAutoFit/>
          </a:bodyPr>
          <a:lstStyle/>
          <a:p>
            <a:pPr marL="3212465" indent="-355600">
              <a:lnSpc>
                <a:spcPct val="100000"/>
              </a:lnSpc>
              <a:spcBef>
                <a:spcPts val="1360"/>
              </a:spcBef>
              <a:buChar char="•"/>
              <a:tabLst>
                <a:tab pos="3211830" algn="l"/>
                <a:tab pos="3212465" algn="l"/>
              </a:tabLst>
            </a:pPr>
            <a:r>
              <a:rPr sz="2400" spc="-5" dirty="0">
                <a:cs typeface="Arial" panose="020B0604020202020204"/>
              </a:rPr>
              <a:t>rows</a:t>
            </a:r>
            <a:r>
              <a:rPr sz="2400" spc="-5" dirty="0"/>
              <a:t>，</a:t>
            </a:r>
            <a:r>
              <a:rPr sz="2400" spc="-5" dirty="0">
                <a:cs typeface="Arial" panose="020B0604020202020204"/>
              </a:rPr>
              <a:t>cols</a:t>
            </a:r>
            <a:r>
              <a:rPr sz="2400" spc="-5" dirty="0"/>
              <a:t>：</a:t>
            </a:r>
            <a:r>
              <a:rPr sz="2400" dirty="0"/>
              <a:t>表示地图的行数和列数</a:t>
            </a:r>
          </a:p>
          <a:p>
            <a:pPr marL="3212465" indent="-355600">
              <a:lnSpc>
                <a:spcPct val="100000"/>
              </a:lnSpc>
              <a:spcBef>
                <a:spcPts val="1260"/>
              </a:spcBef>
              <a:buChar char="•"/>
              <a:tabLst>
                <a:tab pos="3211830" algn="l"/>
                <a:tab pos="3212465" algn="l"/>
              </a:tabLst>
            </a:pPr>
            <a:r>
              <a:rPr sz="2400" spc="-5" dirty="0">
                <a:cs typeface="Arial" panose="020B0604020202020204"/>
              </a:rPr>
              <a:t>reset</a:t>
            </a:r>
            <a:r>
              <a:rPr sz="2400" spc="-5" dirty="0"/>
              <a:t>：</a:t>
            </a:r>
            <a:r>
              <a:rPr sz="2400" dirty="0"/>
              <a:t>以一定的概率设置地图的每个格子的状态</a:t>
            </a:r>
          </a:p>
          <a:p>
            <a:pPr marL="3212465" indent="-355600">
              <a:lnSpc>
                <a:spcPct val="100000"/>
              </a:lnSpc>
              <a:spcBef>
                <a:spcPts val="1260"/>
              </a:spcBef>
              <a:buChar char="•"/>
              <a:tabLst>
                <a:tab pos="3211830" algn="l"/>
                <a:tab pos="3212465" algn="l"/>
              </a:tabLst>
            </a:pPr>
            <a:r>
              <a:rPr sz="2400" spc="-5" dirty="0">
                <a:cs typeface="Arial" panose="020B0604020202020204"/>
              </a:rPr>
              <a:t>get/set</a:t>
            </a:r>
            <a:r>
              <a:rPr sz="2400" spc="-5" dirty="0"/>
              <a:t>：</a:t>
            </a:r>
            <a:r>
              <a:rPr sz="2400" dirty="0"/>
              <a:t>获取、设置地图的某个格子的状态</a:t>
            </a:r>
          </a:p>
          <a:p>
            <a:pPr marL="3212465" indent="-355600">
              <a:lnSpc>
                <a:spcPct val="100000"/>
              </a:lnSpc>
              <a:spcBef>
                <a:spcPts val="1260"/>
              </a:spcBef>
              <a:buChar char="•"/>
              <a:tabLst>
                <a:tab pos="3211830" algn="l"/>
                <a:tab pos="3212465" algn="l"/>
              </a:tabLst>
            </a:pPr>
            <a:r>
              <a:rPr sz="2400" spc="-5" dirty="0">
                <a:cs typeface="Arial" panose="020B0604020202020204"/>
              </a:rPr>
              <a:t>get_neighbor_count</a:t>
            </a:r>
            <a:r>
              <a:rPr sz="2400" spc="-5" dirty="0"/>
              <a:t>：</a:t>
            </a:r>
            <a:r>
              <a:rPr sz="2400" dirty="0"/>
              <a:t>获取一个格子的邻居数量</a:t>
            </a:r>
          </a:p>
          <a:p>
            <a:pPr marL="3212465" indent="-355600">
              <a:lnSpc>
                <a:spcPct val="100000"/>
              </a:lnSpc>
              <a:spcBef>
                <a:spcPts val="1360"/>
              </a:spcBef>
              <a:buChar char="•"/>
              <a:tabLst>
                <a:tab pos="3211830" algn="l"/>
                <a:tab pos="3212465" algn="l"/>
              </a:tabLst>
            </a:pPr>
            <a:r>
              <a:rPr sz="2400" spc="-5" dirty="0">
                <a:cs typeface="Arial" panose="020B0604020202020204"/>
              </a:rPr>
              <a:t>get_neighbor_count_map</a:t>
            </a:r>
            <a:r>
              <a:rPr sz="2400" spc="-5" dirty="0"/>
              <a:t>：</a:t>
            </a:r>
            <a:r>
              <a:rPr sz="2400" dirty="0"/>
              <a:t>获取每个格子的邻居数量</a:t>
            </a:r>
          </a:p>
          <a:p>
            <a:pPr marL="3212465" indent="-355600">
              <a:lnSpc>
                <a:spcPct val="100000"/>
              </a:lnSpc>
              <a:spcBef>
                <a:spcPts val="1260"/>
              </a:spcBef>
              <a:buChar char="•"/>
              <a:tabLst>
                <a:tab pos="3211830" algn="l"/>
                <a:tab pos="3212465" algn="l"/>
              </a:tabLst>
            </a:pPr>
            <a:r>
              <a:rPr sz="2400" spc="-5" dirty="0">
                <a:cs typeface="Arial" panose="020B0604020202020204"/>
              </a:rPr>
              <a:t>set_map</a:t>
            </a:r>
            <a:r>
              <a:rPr sz="2400" spc="-5" dirty="0"/>
              <a:t>：</a:t>
            </a:r>
            <a:r>
              <a:rPr sz="2400" dirty="0"/>
              <a:t>设置地图</a:t>
            </a:r>
          </a:p>
          <a:p>
            <a:pPr marL="3212465" indent="-355600">
              <a:lnSpc>
                <a:spcPct val="100000"/>
              </a:lnSpc>
              <a:spcBef>
                <a:spcPts val="1260"/>
              </a:spcBef>
              <a:buChar char="•"/>
              <a:tabLst>
                <a:tab pos="3211830" algn="l"/>
                <a:tab pos="3212465" algn="l"/>
              </a:tabLst>
            </a:pPr>
            <a:r>
              <a:rPr sz="2400" spc="-5" dirty="0">
                <a:cs typeface="Arial" panose="020B0604020202020204"/>
              </a:rPr>
              <a:t>print_map</a:t>
            </a:r>
            <a:r>
              <a:rPr sz="2400" spc="-5" dirty="0"/>
              <a:t>：</a:t>
            </a:r>
            <a:r>
              <a:rPr sz="2400" dirty="0"/>
              <a:t>打印地图</a:t>
            </a:r>
          </a:p>
        </p:txBody>
      </p:sp>
      <p:sp>
        <p:nvSpPr>
          <p:cNvPr id="5" name="object 5"/>
          <p:cNvSpPr txBox="1"/>
          <p:nvPr/>
        </p:nvSpPr>
        <p:spPr>
          <a:xfrm>
            <a:off x="1066809" y="3301997"/>
            <a:ext cx="2066289" cy="643890"/>
          </a:xfrm>
          <a:prstGeom prst="rect">
            <a:avLst/>
          </a:prstGeom>
          <a:solidFill>
            <a:srgbClr val="6C6C6C"/>
          </a:solidFill>
        </p:spPr>
        <p:txBody>
          <a:bodyPr vert="horz" wrap="square" lIns="0" tIns="114935" rIns="0" bIns="0" rtlCol="0">
            <a:spAutoFit/>
          </a:bodyPr>
          <a:lstStyle/>
          <a:p>
            <a:pPr marL="342900">
              <a:lnSpc>
                <a:spcPct val="100000"/>
              </a:lnSpc>
              <a:spcBef>
                <a:spcPts val="905"/>
              </a:spcBef>
            </a:pPr>
            <a:r>
              <a:rPr sz="2400" spc="-5" dirty="0">
                <a:solidFill>
                  <a:srgbClr val="FFFFFF"/>
                </a:solidFill>
                <a:latin typeface="Calibri" panose="020F0502020204030204"/>
                <a:cs typeface="Calibri" panose="020F0502020204030204"/>
              </a:rPr>
              <a:t>game_map</a:t>
            </a:r>
            <a:endParaRPr sz="2400">
              <a:latin typeface="Calibri" panose="020F0502020204030204"/>
              <a:cs typeface="Calibri" panose="020F0502020204030204"/>
            </a:endParaRPr>
          </a:p>
        </p:txBody>
      </p:sp>
      <p:sp>
        <p:nvSpPr>
          <p:cNvPr id="6" name="object 6"/>
          <p:cNvSpPr/>
          <p:nvPr/>
        </p:nvSpPr>
        <p:spPr>
          <a:xfrm>
            <a:off x="3302017" y="3437463"/>
            <a:ext cx="389890" cy="339090"/>
          </a:xfrm>
          <a:custGeom>
            <a:avLst/>
            <a:gdLst/>
            <a:ahLst/>
            <a:cxnLst/>
            <a:rect l="l" t="t" r="r" b="b"/>
            <a:pathLst>
              <a:path w="389889" h="339089">
                <a:moveTo>
                  <a:pt x="220132" y="0"/>
                </a:moveTo>
                <a:lnTo>
                  <a:pt x="220132" y="84667"/>
                </a:lnTo>
                <a:lnTo>
                  <a:pt x="0" y="84667"/>
                </a:lnTo>
                <a:lnTo>
                  <a:pt x="0" y="254000"/>
                </a:lnTo>
                <a:lnTo>
                  <a:pt x="220132" y="254000"/>
                </a:lnTo>
                <a:lnTo>
                  <a:pt x="220132" y="338665"/>
                </a:lnTo>
                <a:lnTo>
                  <a:pt x="389467" y="169332"/>
                </a:lnTo>
                <a:lnTo>
                  <a:pt x="220132" y="0"/>
                </a:lnTo>
                <a:close/>
              </a:path>
            </a:pathLst>
          </a:custGeom>
          <a:solidFill>
            <a:srgbClr val="919191"/>
          </a:solidFill>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t>案例：生命游戏</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56002" y="804340"/>
            <a:ext cx="7840130" cy="5150115"/>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3551239" y="799577"/>
            <a:ext cx="7849870" cy="5160010"/>
          </a:xfrm>
          <a:custGeom>
            <a:avLst/>
            <a:gdLst/>
            <a:ahLst/>
            <a:cxnLst/>
            <a:rect l="l" t="t" r="r" b="b"/>
            <a:pathLst>
              <a:path w="7849870" h="5160010">
                <a:moveTo>
                  <a:pt x="0" y="0"/>
                </a:moveTo>
                <a:lnTo>
                  <a:pt x="7849788" y="0"/>
                </a:lnTo>
                <a:lnTo>
                  <a:pt x="7849788" y="5159771"/>
                </a:lnTo>
                <a:lnTo>
                  <a:pt x="0" y="5159771"/>
                </a:lnTo>
                <a:lnTo>
                  <a:pt x="0" y="0"/>
                </a:lnTo>
                <a:close/>
              </a:path>
            </a:pathLst>
          </a:custGeom>
          <a:ln w="9524">
            <a:solidFill>
              <a:srgbClr val="919191"/>
            </a:solidFill>
          </a:ln>
        </p:spPr>
        <p:txBody>
          <a:bodyPr wrap="square" lIns="0" tIns="0" rIns="0" bIns="0" rtlCol="0"/>
          <a:lstStyle/>
          <a:p>
            <a:endParaRPr/>
          </a:p>
        </p:txBody>
      </p:sp>
      <p:sp>
        <p:nvSpPr>
          <p:cNvPr id="4" name="object 4"/>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5" name="object 5"/>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6" name="object 6"/>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721102" y="1341963"/>
            <a:ext cx="6948924" cy="405976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16339" y="1337200"/>
            <a:ext cx="6958965" cy="4069715"/>
          </a:xfrm>
          <a:custGeom>
            <a:avLst/>
            <a:gdLst/>
            <a:ahLst/>
            <a:cxnLst/>
            <a:rect l="l" t="t" r="r" b="b"/>
            <a:pathLst>
              <a:path w="6958965" h="4069715">
                <a:moveTo>
                  <a:pt x="0" y="0"/>
                </a:moveTo>
                <a:lnTo>
                  <a:pt x="6958407" y="0"/>
                </a:lnTo>
                <a:lnTo>
                  <a:pt x="6958407" y="4069158"/>
                </a:lnTo>
                <a:lnTo>
                  <a:pt x="0" y="4069158"/>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630228" y="254002"/>
            <a:ext cx="5073507" cy="630816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625466" y="249240"/>
            <a:ext cx="5083175" cy="6318250"/>
          </a:xfrm>
          <a:custGeom>
            <a:avLst/>
            <a:gdLst/>
            <a:ahLst/>
            <a:cxnLst/>
            <a:rect l="l" t="t" r="r" b="b"/>
            <a:pathLst>
              <a:path w="5083175" h="6318250">
                <a:moveTo>
                  <a:pt x="0" y="0"/>
                </a:moveTo>
                <a:lnTo>
                  <a:pt x="5083173" y="0"/>
                </a:lnTo>
                <a:lnTo>
                  <a:pt x="5083173" y="6317850"/>
                </a:lnTo>
                <a:lnTo>
                  <a:pt x="0" y="6317850"/>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627966" y="255600"/>
            <a:ext cx="5068295" cy="633599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623204" y="250837"/>
            <a:ext cx="5078095" cy="6346190"/>
          </a:xfrm>
          <a:custGeom>
            <a:avLst/>
            <a:gdLst/>
            <a:ahLst/>
            <a:cxnLst/>
            <a:rect l="l" t="t" r="r" b="b"/>
            <a:pathLst>
              <a:path w="5078095" h="6346190">
                <a:moveTo>
                  <a:pt x="0" y="0"/>
                </a:moveTo>
                <a:lnTo>
                  <a:pt x="5078013" y="0"/>
                </a:lnTo>
                <a:lnTo>
                  <a:pt x="5078013" y="6345632"/>
                </a:lnTo>
                <a:lnTo>
                  <a:pt x="0" y="6345632"/>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793066" y="406400"/>
            <a:ext cx="5093394" cy="607544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88304" y="401637"/>
            <a:ext cx="5103495" cy="6085205"/>
          </a:xfrm>
          <a:custGeom>
            <a:avLst/>
            <a:gdLst/>
            <a:ahLst/>
            <a:cxnLst/>
            <a:rect l="l" t="t" r="r" b="b"/>
            <a:pathLst>
              <a:path w="5103495" h="6085205">
                <a:moveTo>
                  <a:pt x="0" y="0"/>
                </a:moveTo>
                <a:lnTo>
                  <a:pt x="5103017" y="0"/>
                </a:lnTo>
                <a:lnTo>
                  <a:pt x="5103017" y="6084885"/>
                </a:lnTo>
                <a:lnTo>
                  <a:pt x="0" y="6084885"/>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运行测试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683472" y="247651"/>
            <a:ext cx="6547888" cy="637328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678709" y="242889"/>
            <a:ext cx="6557645" cy="6383020"/>
          </a:xfrm>
          <a:custGeom>
            <a:avLst/>
            <a:gdLst/>
            <a:ahLst/>
            <a:cxnLst/>
            <a:rect l="l" t="t" r="r" b="b"/>
            <a:pathLst>
              <a:path w="6557645" h="6383020">
                <a:moveTo>
                  <a:pt x="0" y="0"/>
                </a:moveTo>
                <a:lnTo>
                  <a:pt x="6557563" y="0"/>
                </a:lnTo>
                <a:lnTo>
                  <a:pt x="6557563" y="6382938"/>
                </a:lnTo>
                <a:lnTo>
                  <a:pt x="0" y="6382938"/>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92405" y="4621955"/>
            <a:ext cx="5111750" cy="391160"/>
          </a:xfrm>
          <a:prstGeom prst="rect">
            <a:avLst/>
          </a:prstGeom>
        </p:spPr>
        <p:txBody>
          <a:bodyPr vert="horz" wrap="square" lIns="0" tIns="12700" rIns="0" bIns="0" rtlCol="0">
            <a:spAutoFit/>
          </a:bodyPr>
          <a:lstStyle/>
          <a:p>
            <a:pPr marL="12700">
              <a:lnSpc>
                <a:spcPct val="100000"/>
              </a:lnSpc>
              <a:spcBef>
                <a:spcPts val="100"/>
              </a:spcBef>
            </a:pPr>
            <a:r>
              <a:rPr sz="2400" spc="-20" dirty="0">
                <a:latin typeface="Arial" panose="020B0604020202020204"/>
                <a:cs typeface="Arial" panose="020B0604020202020204"/>
              </a:rPr>
              <a:t>TestCase.fail()</a:t>
            </a:r>
            <a:r>
              <a:rPr sz="2400" spc="-4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无条件使当前测试失败</a:t>
            </a:r>
            <a:endParaRPr sz="2400">
              <a:latin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90965"/>
            <a:ext cx="12065527" cy="313099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793066" y="406400"/>
            <a:ext cx="5093394" cy="607544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88304" y="401637"/>
            <a:ext cx="5103495" cy="6085205"/>
          </a:xfrm>
          <a:custGeom>
            <a:avLst/>
            <a:gdLst/>
            <a:ahLst/>
            <a:cxnLst/>
            <a:rect l="l" t="t" r="r" b="b"/>
            <a:pathLst>
              <a:path w="5103495" h="6085205">
                <a:moveTo>
                  <a:pt x="0" y="0"/>
                </a:moveTo>
                <a:lnTo>
                  <a:pt x="5103017" y="0"/>
                </a:lnTo>
                <a:lnTo>
                  <a:pt x="5103017" y="6084885"/>
                </a:lnTo>
                <a:lnTo>
                  <a:pt x="0" y="6084885"/>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723104" y="1978802"/>
            <a:ext cx="11468896" cy="4071802"/>
            <a:chOff x="1047352" y="2017713"/>
            <a:chExt cx="10149621" cy="3235967"/>
          </a:xfrm>
        </p:grpSpPr>
        <p:sp>
          <p:nvSpPr>
            <p:cNvPr id="3" name="object 3"/>
            <p:cNvSpPr txBox="1"/>
            <p:nvPr/>
          </p:nvSpPr>
          <p:spPr>
            <a:xfrm>
              <a:off x="1047352" y="3516006"/>
              <a:ext cx="2455545" cy="643890"/>
            </a:xfrm>
            <a:prstGeom prst="rect">
              <a:avLst/>
            </a:prstGeom>
            <a:solidFill>
              <a:srgbClr val="6C6C6C"/>
            </a:solidFill>
          </p:spPr>
          <p:txBody>
            <a:bodyPr vert="horz" wrap="square" lIns="0" tIns="130175" rIns="0" bIns="0" rtlCol="0">
              <a:spAutoFit/>
            </a:bodyPr>
            <a:lstStyle/>
            <a:p>
              <a:pPr marL="290830">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创建测试</a:t>
              </a:r>
              <a:r>
                <a:rPr sz="2200" spc="-5" dirty="0">
                  <a:solidFill>
                    <a:srgbClr val="FFFFFF"/>
                  </a:solidFill>
                  <a:latin typeface="Arial" panose="020B0604020202020204"/>
                  <a:cs typeface="Arial" panose="020B0604020202020204"/>
                </a:rPr>
                <a:t>fixture</a:t>
              </a:r>
              <a:endParaRPr sz="2200">
                <a:latin typeface="Arial" panose="020B0604020202020204"/>
                <a:cs typeface="Arial" panose="020B0604020202020204"/>
              </a:endParaRPr>
            </a:p>
          </p:txBody>
        </p:sp>
        <p:sp>
          <p:nvSpPr>
            <p:cNvPr id="4" name="object 4"/>
            <p:cNvSpPr/>
            <p:nvPr/>
          </p:nvSpPr>
          <p:spPr>
            <a:xfrm>
              <a:off x="3672019" y="3651472"/>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64691" y="2017713"/>
              <a:ext cx="6316345" cy="1390015"/>
            </a:xfrm>
            <a:prstGeom prst="rect">
              <a:avLst/>
            </a:prstGeom>
            <a:ln w="19049">
              <a:solidFill>
                <a:srgbClr val="919191"/>
              </a:solidFill>
            </a:ln>
          </p:spPr>
          <p:txBody>
            <a:bodyPr vert="horz" wrap="square" lIns="0" tIns="121920" rIns="0" bIns="0" rtlCol="0">
              <a:spAutoFit/>
            </a:bodyPr>
            <a:lstStyle/>
            <a:p>
              <a:pPr marL="624840" indent="-355600">
                <a:lnSpc>
                  <a:spcPct val="100000"/>
                </a:lnSpc>
                <a:spcBef>
                  <a:spcPts val="960"/>
                </a:spcBef>
                <a:buChar char="•"/>
                <a:tabLst>
                  <a:tab pos="624205" algn="l"/>
                  <a:tab pos="624840" algn="l"/>
                </a:tabLst>
              </a:pPr>
              <a:r>
                <a:rPr sz="2000" spc="-5" dirty="0">
                  <a:latin typeface="Arial" panose="020B0604020202020204"/>
                  <a:cs typeface="Arial" panose="020B0604020202020204"/>
                </a:rPr>
                <a:t>setUp</a:t>
              </a:r>
              <a:r>
                <a:rPr sz="2000" dirty="0">
                  <a:latin typeface="微软雅黑" panose="020B0503020204020204" pitchFamily="34" charset="-122"/>
                  <a:cs typeface="微软雅黑" panose="020B0503020204020204" pitchFamily="34" charset="-122"/>
                </a:rPr>
                <a:t>方法：创建每个测试方法都需要的公共对象</a:t>
              </a:r>
              <a:endParaRPr sz="2000">
                <a:latin typeface="微软雅黑" panose="020B0503020204020204" pitchFamily="34" charset="-122"/>
                <a:cs typeface="微软雅黑" panose="020B0503020204020204" pitchFamily="34" charset="-122"/>
              </a:endParaRPr>
            </a:p>
            <a:p>
              <a:pPr marL="624840" marR="24130" indent="-355600">
                <a:lnSpc>
                  <a:spcPct val="129000"/>
                </a:lnSpc>
                <a:spcBef>
                  <a:spcPts val="500"/>
                </a:spcBef>
                <a:buChar char="•"/>
                <a:tabLst>
                  <a:tab pos="624205" algn="l"/>
                  <a:tab pos="624840" algn="l"/>
                </a:tabLst>
              </a:pPr>
              <a:r>
                <a:rPr sz="2000" spc="-5" dirty="0">
                  <a:latin typeface="Arial" panose="020B0604020202020204"/>
                  <a:cs typeface="Arial" panose="020B0604020202020204"/>
                </a:rPr>
                <a:t>t</a:t>
              </a:r>
              <a:r>
                <a:rPr sz="2000" dirty="0">
                  <a:latin typeface="Arial" panose="020B0604020202020204"/>
                  <a:cs typeface="Arial" panose="020B0604020202020204"/>
                </a:rPr>
                <a:t>earDow</a:t>
              </a:r>
              <a:r>
                <a:rPr sz="2000" spc="-5" dirty="0">
                  <a:latin typeface="Arial" panose="020B0604020202020204"/>
                  <a:cs typeface="Arial" panose="020B0604020202020204"/>
                </a:rPr>
                <a:t>n</a:t>
              </a:r>
              <a:r>
                <a:rPr sz="2000" dirty="0">
                  <a:latin typeface="微软雅黑" panose="020B0503020204020204" pitchFamily="34" charset="-122"/>
                  <a:cs typeface="微软雅黑" panose="020B0503020204020204" pitchFamily="34" charset="-122"/>
                </a:rPr>
                <a:t>方法：销毁公共对象（如果需要的话）， 如数据库断开连接等</a:t>
              </a:r>
              <a:endParaRPr sz="2000">
                <a:latin typeface="微软雅黑" panose="020B0503020204020204" pitchFamily="34" charset="-122"/>
                <a:cs typeface="微软雅黑" panose="020B0503020204020204" pitchFamily="34" charset="-122"/>
              </a:endParaRPr>
            </a:p>
          </p:txBody>
        </p:sp>
        <p:sp>
          <p:nvSpPr>
            <p:cNvPr id="6" name="object 6"/>
            <p:cNvSpPr txBox="1"/>
            <p:nvPr/>
          </p:nvSpPr>
          <p:spPr>
            <a:xfrm>
              <a:off x="4241818" y="3623798"/>
              <a:ext cx="695515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这里只需要</a:t>
              </a:r>
              <a:r>
                <a:rPr sz="2000" spc="-5" dirty="0">
                  <a:latin typeface="Arial" panose="020B0604020202020204"/>
                  <a:cs typeface="Arial" panose="020B0604020202020204"/>
                </a:rPr>
                <a:t>setUp</a:t>
              </a:r>
              <a:r>
                <a:rPr sz="2000" dirty="0">
                  <a:latin typeface="微软雅黑" panose="020B0503020204020204" pitchFamily="34" charset="-122"/>
                  <a:cs typeface="微软雅黑" panose="020B0503020204020204" pitchFamily="34" charset="-122"/>
                </a:rPr>
                <a:t>方法，并在其中创建一个</a:t>
              </a:r>
              <a:r>
                <a:rPr sz="2000" spc="-5" dirty="0">
                  <a:latin typeface="Arial" panose="020B0604020202020204"/>
                  <a:cs typeface="Arial" panose="020B0604020202020204"/>
                </a:rPr>
                <a:t>GameMap</a:t>
              </a:r>
              <a:r>
                <a:rPr sz="2000" dirty="0">
                  <a:latin typeface="微软雅黑" panose="020B0503020204020204" pitchFamily="34" charset="-122"/>
                  <a:cs typeface="微软雅黑" panose="020B0503020204020204" pitchFamily="34" charset="-122"/>
                </a:rPr>
                <a:t>待测对象</a:t>
              </a:r>
              <a:endParaRPr sz="2000">
                <a:latin typeface="微软雅黑" panose="020B0503020204020204" pitchFamily="34" charset="-122"/>
                <a:cs typeface="微软雅黑" panose="020B0503020204020204" pitchFamily="34" charset="-122"/>
              </a:endParaRPr>
            </a:p>
          </p:txBody>
        </p:sp>
        <p:sp>
          <p:nvSpPr>
            <p:cNvPr id="7" name="object 7"/>
            <p:cNvSpPr/>
            <p:nvPr/>
          </p:nvSpPr>
          <p:spPr>
            <a:xfrm>
              <a:off x="4266797" y="4229742"/>
              <a:ext cx="5131566" cy="101882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262035" y="4224980"/>
              <a:ext cx="5358765" cy="1028700"/>
            </a:xfrm>
            <a:custGeom>
              <a:avLst/>
              <a:gdLst/>
              <a:ahLst/>
              <a:cxnLst/>
              <a:rect l="l" t="t" r="r" b="b"/>
              <a:pathLst>
                <a:path w="5358765" h="1028700">
                  <a:moveTo>
                    <a:pt x="0" y="0"/>
                  </a:moveTo>
                  <a:lnTo>
                    <a:pt x="5358206" y="0"/>
                  </a:lnTo>
                  <a:lnTo>
                    <a:pt x="5358206" y="1028303"/>
                  </a:lnTo>
                  <a:lnTo>
                    <a:pt x="0" y="1028303"/>
                  </a:lnTo>
                  <a:lnTo>
                    <a:pt x="0" y="0"/>
                  </a:lnTo>
                  <a:close/>
                </a:path>
              </a:pathLst>
            </a:custGeom>
            <a:ln w="9524">
              <a:solidFill>
                <a:srgbClr val="919191"/>
              </a:solidFill>
            </a:ln>
          </p:spPr>
          <p:txBody>
            <a:bodyPr wrap="square" lIns="0" tIns="0" rIns="0" bIns="0" rtlCol="0"/>
            <a:lstStyle/>
            <a:p>
              <a:endParaRPr/>
            </a:p>
          </p:txBody>
        </p:sp>
      </p:grpSp>
      <p:sp>
        <p:nvSpPr>
          <p:cNvPr id="10" name="标题 9"/>
          <p:cNvSpPr>
            <a:spLocks noGrp="1"/>
          </p:cNvSpPr>
          <p:nvPr>
            <p:ph type="title"/>
          </p:nvPr>
        </p:nvSpPr>
        <p:spPr/>
        <p:txBody>
          <a:bodyPr/>
          <a:lstStyle/>
          <a:p>
            <a:r>
              <a:rPr lang="zh-CN" altLang="en-US" dirty="0"/>
              <a:t>案例：生命游戏</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49694" y="2425390"/>
            <a:ext cx="2199005"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微软雅黑" panose="020B0503020204020204" pitchFamily="34" charset="-122"/>
                <a:cs typeface="微软雅黑" panose="020B0503020204020204" pitchFamily="34" charset="-122"/>
              </a:rPr>
              <a:t>测试</a:t>
            </a:r>
            <a:r>
              <a:rPr sz="2200" spc="-35"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rows</a:t>
            </a:r>
            <a:r>
              <a:rPr sz="2200" spc="5" dirty="0">
                <a:solidFill>
                  <a:srgbClr val="CC0000"/>
                </a:solidFill>
                <a:latin typeface="Arial" panose="020B0604020202020204"/>
                <a:cs typeface="Arial" panose="020B0604020202020204"/>
              </a:rPr>
              <a:t> </a:t>
            </a:r>
            <a:r>
              <a:rPr sz="2200" dirty="0">
                <a:solidFill>
                  <a:srgbClr val="CC0000"/>
                </a:solidFill>
                <a:latin typeface="微软雅黑" panose="020B0503020204020204" pitchFamily="34" charset="-122"/>
                <a:cs typeface="微软雅黑" panose="020B0503020204020204" pitchFamily="34" charset="-122"/>
              </a:rPr>
              <a:t>和</a:t>
            </a:r>
            <a:r>
              <a:rPr sz="2200" spc="-30"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cols</a:t>
            </a:r>
            <a:endParaRPr sz="2200">
              <a:latin typeface="Arial" panose="020B0604020202020204"/>
              <a:cs typeface="Arial" panose="020B0604020202020204"/>
            </a:endParaRPr>
          </a:p>
        </p:txBody>
      </p:sp>
      <p:sp>
        <p:nvSpPr>
          <p:cNvPr id="4" name="object 4"/>
          <p:cNvSpPr/>
          <p:nvPr/>
        </p:nvSpPr>
        <p:spPr>
          <a:xfrm>
            <a:off x="1645219" y="3261176"/>
            <a:ext cx="8128316" cy="115933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485015" y="3146309"/>
            <a:ext cx="8662670" cy="1499235"/>
          </a:xfrm>
          <a:custGeom>
            <a:avLst/>
            <a:gdLst/>
            <a:ahLst/>
            <a:cxnLst/>
            <a:rect l="l" t="t" r="r" b="b"/>
            <a:pathLst>
              <a:path w="8662670" h="1499235">
                <a:moveTo>
                  <a:pt x="0" y="0"/>
                </a:moveTo>
                <a:lnTo>
                  <a:pt x="8662588" y="0"/>
                </a:lnTo>
                <a:lnTo>
                  <a:pt x="8662588" y="1498996"/>
                </a:lnTo>
                <a:lnTo>
                  <a:pt x="0" y="1498996"/>
                </a:lnTo>
                <a:lnTo>
                  <a:pt x="0" y="0"/>
                </a:lnTo>
                <a:close/>
              </a:path>
            </a:pathLst>
          </a:custGeom>
          <a:ln w="9524">
            <a:solidFill>
              <a:srgbClr val="919191"/>
            </a:solidFill>
          </a:ln>
        </p:spPr>
        <p:txBody>
          <a:bodyPr wrap="square" lIns="0" tIns="0" rIns="0" bIns="0" rtlCol="0"/>
          <a:lstStyle/>
          <a:p>
            <a:endParaRPr/>
          </a:p>
        </p:txBody>
      </p:sp>
      <p:sp>
        <p:nvSpPr>
          <p:cNvPr id="6" name="object 6"/>
          <p:cNvSpPr txBox="1"/>
          <p:nvPr/>
        </p:nvSpPr>
        <p:spPr>
          <a:xfrm>
            <a:off x="1455914" y="2314564"/>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属性测试</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4080581" y="2450030"/>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9" name="标题 8"/>
          <p:cNvSpPr>
            <a:spLocks noGrp="1"/>
          </p:cNvSpPr>
          <p:nvPr>
            <p:ph type="title"/>
          </p:nvPr>
        </p:nvSpPr>
        <p:spPr/>
        <p:txBody>
          <a:bodyPr/>
          <a:lstStyle/>
          <a:p>
            <a:r>
              <a:rPr lang="zh-CN" altLang="en-US" dirty="0"/>
              <a:t>案例：生命游戏</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63742" y="1801514"/>
            <a:ext cx="18415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微软雅黑" panose="020B0503020204020204" pitchFamily="34" charset="-122"/>
                <a:cs typeface="微软雅黑" panose="020B0503020204020204" pitchFamily="34" charset="-122"/>
              </a:rPr>
              <a:t>测试</a:t>
            </a:r>
            <a:r>
              <a:rPr sz="2200" spc="-35"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rows</a:t>
            </a:r>
            <a:r>
              <a:rPr sz="2200" spc="5" dirty="0">
                <a:solidFill>
                  <a:srgbClr val="CC0000"/>
                </a:solidFill>
                <a:latin typeface="Arial" panose="020B0604020202020204"/>
                <a:cs typeface="Arial" panose="020B0604020202020204"/>
              </a:rPr>
              <a:t> </a:t>
            </a:r>
            <a:r>
              <a:rPr sz="2200" dirty="0">
                <a:solidFill>
                  <a:srgbClr val="CC0000"/>
                </a:solidFill>
                <a:latin typeface="微软雅黑" panose="020B0503020204020204" pitchFamily="34" charset="-122"/>
                <a:cs typeface="微软雅黑" panose="020B0503020204020204" pitchFamily="34" charset="-122"/>
              </a:rPr>
              <a:t>和</a:t>
            </a:r>
            <a:r>
              <a:rPr sz="2200" spc="-30"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c</a:t>
            </a:r>
            <a:endParaRPr sz="2200">
              <a:latin typeface="Arial" panose="020B0604020202020204"/>
              <a:cs typeface="Arial" panose="020B0604020202020204"/>
            </a:endParaRPr>
          </a:p>
        </p:txBody>
      </p:sp>
      <p:sp>
        <p:nvSpPr>
          <p:cNvPr id="4" name="object 4"/>
          <p:cNvSpPr txBox="1"/>
          <p:nvPr/>
        </p:nvSpPr>
        <p:spPr>
          <a:xfrm>
            <a:off x="6092269" y="1840681"/>
            <a:ext cx="357505" cy="312420"/>
          </a:xfrm>
          <a:prstGeom prst="rect">
            <a:avLst/>
          </a:prstGeom>
        </p:spPr>
        <p:txBody>
          <a:bodyPr vert="horz" wrap="square" lIns="0" tIns="0" rIns="0" bIns="0" rtlCol="0">
            <a:spAutoFit/>
          </a:bodyPr>
          <a:lstStyle/>
          <a:p>
            <a:pPr>
              <a:lnSpc>
                <a:spcPts val="2430"/>
              </a:lnSpc>
            </a:pPr>
            <a:r>
              <a:rPr sz="2200" dirty="0">
                <a:solidFill>
                  <a:srgbClr val="CC0000"/>
                </a:solidFill>
                <a:latin typeface="Arial" panose="020B0604020202020204"/>
                <a:cs typeface="Arial" panose="020B0604020202020204"/>
              </a:rPr>
              <a:t>ols</a:t>
            </a:r>
            <a:endParaRPr sz="2200">
              <a:latin typeface="Arial" panose="020B0604020202020204"/>
              <a:cs typeface="Arial" panose="020B0604020202020204"/>
            </a:endParaRPr>
          </a:p>
        </p:txBody>
      </p:sp>
      <p:sp>
        <p:nvSpPr>
          <p:cNvPr id="5" name="object 5"/>
          <p:cNvSpPr/>
          <p:nvPr/>
        </p:nvSpPr>
        <p:spPr>
          <a:xfrm>
            <a:off x="1159267" y="2637300"/>
            <a:ext cx="8128316" cy="115933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99063" y="2522433"/>
            <a:ext cx="8662670" cy="1499235"/>
          </a:xfrm>
          <a:custGeom>
            <a:avLst/>
            <a:gdLst/>
            <a:ahLst/>
            <a:cxnLst/>
            <a:rect l="l" t="t" r="r" b="b"/>
            <a:pathLst>
              <a:path w="8662670" h="1499235">
                <a:moveTo>
                  <a:pt x="0" y="0"/>
                </a:moveTo>
                <a:lnTo>
                  <a:pt x="8662588" y="0"/>
                </a:lnTo>
                <a:lnTo>
                  <a:pt x="8662588" y="1498996"/>
                </a:lnTo>
                <a:lnTo>
                  <a:pt x="0" y="1498996"/>
                </a:lnTo>
                <a:lnTo>
                  <a:pt x="0" y="0"/>
                </a:lnTo>
                <a:close/>
              </a:path>
            </a:pathLst>
          </a:custGeom>
          <a:ln w="9524">
            <a:solidFill>
              <a:srgbClr val="919191"/>
            </a:solidFill>
          </a:ln>
        </p:spPr>
        <p:txBody>
          <a:bodyPr wrap="square" lIns="0" tIns="0" rIns="0" bIns="0" rtlCol="0"/>
          <a:lstStyle/>
          <a:p>
            <a:endParaRPr/>
          </a:p>
        </p:txBody>
      </p:sp>
      <p:sp>
        <p:nvSpPr>
          <p:cNvPr id="7" name="object 7"/>
          <p:cNvSpPr txBox="1"/>
          <p:nvPr/>
        </p:nvSpPr>
        <p:spPr>
          <a:xfrm>
            <a:off x="969962" y="1690688"/>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属性测试</a:t>
            </a:r>
            <a:endParaRPr sz="2200">
              <a:latin typeface="微软雅黑" panose="020B0503020204020204" pitchFamily="34" charset="-122"/>
              <a:cs typeface="微软雅黑" panose="020B0503020204020204" pitchFamily="34" charset="-122"/>
            </a:endParaRPr>
          </a:p>
        </p:txBody>
      </p:sp>
      <p:sp>
        <p:nvSpPr>
          <p:cNvPr id="8" name="object 8"/>
          <p:cNvSpPr/>
          <p:nvPr/>
        </p:nvSpPr>
        <p:spPr>
          <a:xfrm>
            <a:off x="3594629" y="182615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9" name="object 9"/>
          <p:cNvSpPr/>
          <p:nvPr/>
        </p:nvSpPr>
        <p:spPr>
          <a:xfrm>
            <a:off x="6100764" y="1716204"/>
            <a:ext cx="4758264" cy="400696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6096000" y="1711441"/>
            <a:ext cx="4768215" cy="4016375"/>
          </a:xfrm>
          <a:custGeom>
            <a:avLst/>
            <a:gdLst/>
            <a:ahLst/>
            <a:cxnLst/>
            <a:rect l="l" t="t" r="r" b="b"/>
            <a:pathLst>
              <a:path w="4768215" h="4016375">
                <a:moveTo>
                  <a:pt x="0" y="0"/>
                </a:moveTo>
                <a:lnTo>
                  <a:pt x="4767657" y="0"/>
                </a:lnTo>
                <a:lnTo>
                  <a:pt x="4767657" y="4016374"/>
                </a:lnTo>
                <a:lnTo>
                  <a:pt x="0" y="4016374"/>
                </a:lnTo>
                <a:lnTo>
                  <a:pt x="0" y="0"/>
                </a:lnTo>
                <a:close/>
              </a:path>
            </a:pathLst>
          </a:custGeom>
          <a:ln w="9524">
            <a:solidFill>
              <a:srgbClr val="919191"/>
            </a:solidFill>
          </a:ln>
        </p:spPr>
        <p:txBody>
          <a:bodyPr wrap="square" lIns="0" tIns="0" rIns="0" bIns="0" rtlCol="0"/>
          <a:lstStyle/>
          <a:p>
            <a:endParaRPr/>
          </a:p>
        </p:txBody>
      </p:sp>
      <p:sp>
        <p:nvSpPr>
          <p:cNvPr id="12" name="标题 11"/>
          <p:cNvSpPr>
            <a:spLocks noGrp="1"/>
          </p:cNvSpPr>
          <p:nvPr>
            <p:ph type="title"/>
          </p:nvPr>
        </p:nvSpPr>
        <p:spPr/>
        <p:txBody>
          <a:bodyPr/>
          <a:lstStyle/>
          <a:p>
            <a:r>
              <a:rPr lang="zh-CN" altLang="en-US" dirty="0"/>
              <a:t>案例：生命游戏</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7244" y="1690688"/>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711911" y="182615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96357" y="1801514"/>
            <a:ext cx="5614035"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get/set</a:t>
            </a:r>
            <a:r>
              <a:rPr sz="2200" spc="-5" dirty="0">
                <a:solidFill>
                  <a:srgbClr val="CC00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两个方法相互联系，合并为一个测试</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1346795" y="2583297"/>
            <a:ext cx="9691024" cy="978866"/>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116342" y="2557999"/>
            <a:ext cx="10220325" cy="1091565"/>
          </a:xfrm>
          <a:custGeom>
            <a:avLst/>
            <a:gdLst/>
            <a:ahLst/>
            <a:cxnLst/>
            <a:rect l="l" t="t" r="r" b="b"/>
            <a:pathLst>
              <a:path w="10220325" h="1091564">
                <a:moveTo>
                  <a:pt x="0" y="0"/>
                </a:moveTo>
                <a:lnTo>
                  <a:pt x="10220321" y="0"/>
                </a:lnTo>
                <a:lnTo>
                  <a:pt x="10220321" y="1091008"/>
                </a:lnTo>
                <a:lnTo>
                  <a:pt x="0" y="1091008"/>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6762434" y="2812527"/>
            <a:ext cx="4586395" cy="3196165"/>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6757670" y="2807765"/>
            <a:ext cx="4596130" cy="3206115"/>
          </a:xfrm>
          <a:custGeom>
            <a:avLst/>
            <a:gdLst/>
            <a:ahLst/>
            <a:cxnLst/>
            <a:rect l="l" t="t" r="r" b="b"/>
            <a:pathLst>
              <a:path w="4596130" h="3206115">
                <a:moveTo>
                  <a:pt x="0" y="0"/>
                </a:moveTo>
                <a:lnTo>
                  <a:pt x="4595811" y="0"/>
                </a:lnTo>
                <a:lnTo>
                  <a:pt x="4595811" y="3205558"/>
                </a:lnTo>
                <a:lnTo>
                  <a:pt x="0" y="3205558"/>
                </a:lnTo>
                <a:lnTo>
                  <a:pt x="0" y="0"/>
                </a:lnTo>
                <a:close/>
              </a:path>
            </a:pathLst>
          </a:custGeom>
          <a:ln w="9524">
            <a:solidFill>
              <a:srgbClr val="919191"/>
            </a:solidFill>
          </a:ln>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t>案例：生命游戏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61361" y="199849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886028" y="2133957"/>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470474" y="2109317"/>
            <a:ext cx="410845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Arial" panose="020B0604020202020204"/>
                <a:cs typeface="Arial" panose="020B0604020202020204"/>
              </a:rPr>
              <a:t>rese</a:t>
            </a:r>
            <a:r>
              <a:rPr sz="2200" spc="-5" dirty="0">
                <a:solidFill>
                  <a:srgbClr val="CC0000"/>
                </a:solidFill>
                <a:latin typeface="Arial" panose="020B0604020202020204"/>
                <a:cs typeface="Arial" panose="020B0604020202020204"/>
              </a:rPr>
              <a:t>t</a:t>
            </a:r>
            <a:r>
              <a:rPr sz="2200" dirty="0">
                <a:solidFill>
                  <a:srgbClr val="CC00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依赖概率，需要进行</a:t>
            </a:r>
            <a:r>
              <a:rPr sz="2200" dirty="0">
                <a:latin typeface="Arial" panose="020B0604020202020204"/>
                <a:cs typeface="Arial" panose="020B0604020202020204"/>
              </a:rPr>
              <a:t>mock</a:t>
            </a:r>
            <a:endParaRPr sz="2200">
              <a:latin typeface="Arial" panose="020B0604020202020204"/>
              <a:cs typeface="Arial" panose="020B0604020202020204"/>
            </a:endParaRPr>
          </a:p>
        </p:txBody>
      </p:sp>
      <p:sp>
        <p:nvSpPr>
          <p:cNvPr id="6" name="object 6"/>
          <p:cNvSpPr/>
          <p:nvPr/>
        </p:nvSpPr>
        <p:spPr>
          <a:xfrm>
            <a:off x="1436089" y="2892801"/>
            <a:ext cx="8225853" cy="168821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296807" y="2800601"/>
            <a:ext cx="8605520" cy="1839595"/>
          </a:xfrm>
          <a:custGeom>
            <a:avLst/>
            <a:gdLst/>
            <a:ahLst/>
            <a:cxnLst/>
            <a:rect l="l" t="t" r="r" b="b"/>
            <a:pathLst>
              <a:path w="8605520" h="1839595">
                <a:moveTo>
                  <a:pt x="0" y="0"/>
                </a:moveTo>
                <a:lnTo>
                  <a:pt x="8605438" y="0"/>
                </a:lnTo>
                <a:lnTo>
                  <a:pt x="8605438" y="1839117"/>
                </a:lnTo>
                <a:lnTo>
                  <a:pt x="0" y="1839117"/>
                </a:lnTo>
                <a:lnTo>
                  <a:pt x="0" y="0"/>
                </a:lnTo>
                <a:close/>
              </a:path>
            </a:pathLst>
          </a:custGeom>
          <a:ln w="9524">
            <a:solidFill>
              <a:srgbClr val="919191"/>
            </a:solidFill>
          </a:ln>
        </p:spPr>
        <p:txBody>
          <a:bodyPr wrap="square" lIns="0" tIns="0" rIns="0" bIns="0" rtlCol="0"/>
          <a:lstStyle/>
          <a:p>
            <a:endParaRPr/>
          </a:p>
        </p:txBody>
      </p:sp>
      <p:sp>
        <p:nvSpPr>
          <p:cNvPr id="9" name="标题 8"/>
          <p:cNvSpPr>
            <a:spLocks noGrp="1"/>
          </p:cNvSpPr>
          <p:nvPr>
            <p:ph type="title"/>
          </p:nvPr>
        </p:nvSpPr>
        <p:spPr/>
        <p:txBody>
          <a:bodyPr/>
          <a:lstStyle/>
          <a:p>
            <a:r>
              <a:rPr lang="zh-CN" altLang="en-US" dirty="0"/>
              <a:t>案例：生命游戏</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1" y="1584023"/>
            <a:ext cx="410845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Arial" panose="020B0604020202020204"/>
                <a:cs typeface="Arial" panose="020B0604020202020204"/>
              </a:rPr>
              <a:t>rese</a:t>
            </a:r>
            <a:r>
              <a:rPr sz="2200" spc="-5" dirty="0">
                <a:solidFill>
                  <a:srgbClr val="CC0000"/>
                </a:solidFill>
                <a:latin typeface="Arial" panose="020B0604020202020204"/>
                <a:cs typeface="Arial" panose="020B0604020202020204"/>
              </a:rPr>
              <a:t>t</a:t>
            </a:r>
            <a:r>
              <a:rPr sz="2200" dirty="0">
                <a:solidFill>
                  <a:srgbClr val="CC00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依赖概率，需要进行</a:t>
            </a:r>
            <a:r>
              <a:rPr sz="2200" dirty="0">
                <a:latin typeface="Arial" panose="020B0604020202020204"/>
                <a:cs typeface="Arial" panose="020B0604020202020204"/>
              </a:rPr>
              <a:t>mock</a:t>
            </a:r>
            <a:endParaRPr sz="2200">
              <a:latin typeface="Arial" panose="020B0604020202020204"/>
              <a:cs typeface="Arial" panose="020B0604020202020204"/>
            </a:endParaRPr>
          </a:p>
        </p:txBody>
      </p:sp>
      <p:sp>
        <p:nvSpPr>
          <p:cNvPr id="6" name="object 6"/>
          <p:cNvSpPr/>
          <p:nvPr/>
        </p:nvSpPr>
        <p:spPr>
          <a:xfrm>
            <a:off x="1241536" y="2367507"/>
            <a:ext cx="8225853" cy="1688216"/>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102254" y="2275307"/>
            <a:ext cx="8605520" cy="1839595"/>
          </a:xfrm>
          <a:custGeom>
            <a:avLst/>
            <a:gdLst/>
            <a:ahLst/>
            <a:cxnLst/>
            <a:rect l="l" t="t" r="r" b="b"/>
            <a:pathLst>
              <a:path w="8605520" h="1839595">
                <a:moveTo>
                  <a:pt x="0" y="0"/>
                </a:moveTo>
                <a:lnTo>
                  <a:pt x="8605438" y="0"/>
                </a:lnTo>
                <a:lnTo>
                  <a:pt x="8605438" y="1839117"/>
                </a:lnTo>
                <a:lnTo>
                  <a:pt x="0" y="1839117"/>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1117599" y="4249717"/>
            <a:ext cx="9448798" cy="1712511"/>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112837" y="4211637"/>
            <a:ext cx="9458325" cy="1755775"/>
          </a:xfrm>
          <a:custGeom>
            <a:avLst/>
            <a:gdLst/>
            <a:ahLst/>
            <a:cxnLst/>
            <a:rect l="l" t="t" r="r" b="b"/>
            <a:pathLst>
              <a:path w="9458325" h="1755775">
                <a:moveTo>
                  <a:pt x="0" y="0"/>
                </a:moveTo>
                <a:lnTo>
                  <a:pt x="9458322" y="0"/>
                </a:lnTo>
                <a:lnTo>
                  <a:pt x="9458322" y="1755378"/>
                </a:lnTo>
                <a:lnTo>
                  <a:pt x="0" y="1755378"/>
                </a:lnTo>
                <a:lnTo>
                  <a:pt x="0" y="0"/>
                </a:lnTo>
                <a:close/>
              </a:path>
            </a:pathLst>
          </a:custGeom>
          <a:ln w="9524">
            <a:solidFill>
              <a:srgbClr val="919191"/>
            </a:solidFill>
          </a:ln>
        </p:spPr>
        <p:txBody>
          <a:bodyPr wrap="square" lIns="0" tIns="0" rIns="0" bIns="0" rtlCol="0"/>
          <a:lstStyle/>
          <a:p>
            <a:endParaRPr/>
          </a:p>
        </p:txBody>
      </p:sp>
      <p:sp>
        <p:nvSpPr>
          <p:cNvPr id="10" name="object 10"/>
          <p:cNvSpPr/>
          <p:nvPr/>
        </p:nvSpPr>
        <p:spPr>
          <a:xfrm>
            <a:off x="6318248" y="2963333"/>
            <a:ext cx="4624913" cy="3064933"/>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6313485" y="2958570"/>
            <a:ext cx="4634865" cy="3074670"/>
          </a:xfrm>
          <a:custGeom>
            <a:avLst/>
            <a:gdLst/>
            <a:ahLst/>
            <a:cxnLst/>
            <a:rect l="l" t="t" r="r" b="b"/>
            <a:pathLst>
              <a:path w="4634865" h="3074670">
                <a:moveTo>
                  <a:pt x="0" y="0"/>
                </a:moveTo>
                <a:lnTo>
                  <a:pt x="4634308" y="0"/>
                </a:lnTo>
                <a:lnTo>
                  <a:pt x="4634308" y="3074589"/>
                </a:lnTo>
                <a:lnTo>
                  <a:pt x="0" y="3074589"/>
                </a:lnTo>
                <a:lnTo>
                  <a:pt x="0" y="0"/>
                </a:lnTo>
                <a:close/>
              </a:path>
            </a:pathLst>
          </a:custGeom>
          <a:ln w="9524">
            <a:solidFill>
              <a:srgbClr val="919191"/>
            </a:solidFill>
          </a:ln>
        </p:spPr>
        <p:txBody>
          <a:bodyPr wrap="square" lIns="0" tIns="0" rIns="0" bIns="0" rtlCol="0"/>
          <a:lstStyle/>
          <a:p>
            <a:endParaRPr/>
          </a:p>
        </p:txBody>
      </p:sp>
      <p:sp>
        <p:nvSpPr>
          <p:cNvPr id="13" name="标题 12"/>
          <p:cNvSpPr>
            <a:spLocks noGrp="1"/>
          </p:cNvSpPr>
          <p:nvPr>
            <p:ph type="title"/>
          </p:nvPr>
        </p:nvSpPr>
        <p:spPr/>
        <p:txBody>
          <a:bodyPr/>
          <a:lstStyle/>
          <a:p>
            <a:r>
              <a:rPr lang="zh-CN" altLang="en-US" dirty="0"/>
              <a:t>案例：生命游戏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2942" y="47413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3" name="object 3"/>
          <p:cNvSpPr/>
          <p:nvPr/>
        </p:nvSpPr>
        <p:spPr>
          <a:xfrm>
            <a:off x="3691475" y="609597"/>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4" name="object 4"/>
          <p:cNvSpPr txBox="1">
            <a:spLocks noGrp="1"/>
          </p:cNvSpPr>
          <p:nvPr>
            <p:ph type="title"/>
          </p:nvPr>
        </p:nvSpPr>
        <p:spPr>
          <a:xfrm>
            <a:off x="4275921" y="584958"/>
            <a:ext cx="2496185" cy="36068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CC0000"/>
                </a:solidFill>
              </a:rPr>
              <a:t>get_neighbor_count</a:t>
            </a:r>
          </a:p>
        </p:txBody>
      </p:sp>
      <p:sp>
        <p:nvSpPr>
          <p:cNvPr id="5" name="object 5"/>
          <p:cNvSpPr/>
          <p:nvPr/>
        </p:nvSpPr>
        <p:spPr>
          <a:xfrm>
            <a:off x="4491842" y="1246613"/>
            <a:ext cx="4540510" cy="5054021"/>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346540" y="1095905"/>
            <a:ext cx="4950460" cy="5241925"/>
          </a:xfrm>
          <a:custGeom>
            <a:avLst/>
            <a:gdLst/>
            <a:ahLst/>
            <a:cxnLst/>
            <a:rect l="l" t="t" r="r" b="b"/>
            <a:pathLst>
              <a:path w="4950459" h="5241925">
                <a:moveTo>
                  <a:pt x="0" y="0"/>
                </a:moveTo>
                <a:lnTo>
                  <a:pt x="4950221" y="0"/>
                </a:lnTo>
                <a:lnTo>
                  <a:pt x="4950221" y="5241923"/>
                </a:lnTo>
                <a:lnTo>
                  <a:pt x="0" y="5241923"/>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2942" y="47413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3" name="object 3"/>
          <p:cNvSpPr/>
          <p:nvPr/>
        </p:nvSpPr>
        <p:spPr>
          <a:xfrm>
            <a:off x="3691475" y="609597"/>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4" name="object 4"/>
          <p:cNvSpPr txBox="1">
            <a:spLocks noGrp="1"/>
          </p:cNvSpPr>
          <p:nvPr>
            <p:ph type="title"/>
          </p:nvPr>
        </p:nvSpPr>
        <p:spPr>
          <a:xfrm>
            <a:off x="4275921" y="584958"/>
            <a:ext cx="2496185" cy="36068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CC0000"/>
                </a:solidFill>
              </a:rPr>
              <a:t>get_neighbor_count</a:t>
            </a:r>
          </a:p>
        </p:txBody>
      </p:sp>
      <p:sp>
        <p:nvSpPr>
          <p:cNvPr id="5" name="object 5"/>
          <p:cNvSpPr/>
          <p:nvPr/>
        </p:nvSpPr>
        <p:spPr>
          <a:xfrm>
            <a:off x="1170213" y="1377617"/>
            <a:ext cx="9991808" cy="10595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062036" y="1308791"/>
            <a:ext cx="10248265" cy="1202690"/>
          </a:xfrm>
          <a:custGeom>
            <a:avLst/>
            <a:gdLst/>
            <a:ahLst/>
            <a:cxnLst/>
            <a:rect l="l" t="t" r="r" b="b"/>
            <a:pathLst>
              <a:path w="10248265" h="1202689">
                <a:moveTo>
                  <a:pt x="0" y="0"/>
                </a:moveTo>
                <a:lnTo>
                  <a:pt x="10247705" y="0"/>
                </a:lnTo>
                <a:lnTo>
                  <a:pt x="10247705" y="1202133"/>
                </a:lnTo>
                <a:lnTo>
                  <a:pt x="0" y="1202133"/>
                </a:lnTo>
                <a:lnTo>
                  <a:pt x="0" y="0"/>
                </a:lnTo>
                <a:close/>
              </a:path>
            </a:pathLst>
          </a:custGeom>
          <a:ln w="9524">
            <a:solidFill>
              <a:srgbClr val="919191"/>
            </a:solidFill>
          </a:ln>
        </p:spPr>
        <p:txBody>
          <a:bodyPr wrap="square" lIns="0" tIns="0" rIns="0" bIns="0" rtlCol="0"/>
          <a:lstStyle/>
          <a:p>
            <a:endParaRPr/>
          </a:p>
        </p:txBody>
      </p:sp>
      <p:sp>
        <p:nvSpPr>
          <p:cNvPr id="7" name="object 7"/>
          <p:cNvSpPr/>
          <p:nvPr/>
        </p:nvSpPr>
        <p:spPr>
          <a:xfrm>
            <a:off x="1077382" y="2698750"/>
            <a:ext cx="10216236" cy="338031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072620" y="2693987"/>
            <a:ext cx="10226040" cy="3390265"/>
          </a:xfrm>
          <a:custGeom>
            <a:avLst/>
            <a:gdLst/>
            <a:ahLst/>
            <a:cxnLst/>
            <a:rect l="l" t="t" r="r" b="b"/>
            <a:pathLst>
              <a:path w="10226040" h="3390265">
                <a:moveTo>
                  <a:pt x="0" y="0"/>
                </a:moveTo>
                <a:lnTo>
                  <a:pt x="10225877" y="0"/>
                </a:lnTo>
                <a:lnTo>
                  <a:pt x="10225877" y="3389708"/>
                </a:lnTo>
                <a:lnTo>
                  <a:pt x="0" y="3389708"/>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2942" y="47413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3" name="object 3"/>
          <p:cNvSpPr/>
          <p:nvPr/>
        </p:nvSpPr>
        <p:spPr>
          <a:xfrm>
            <a:off x="3691475" y="609597"/>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4" name="object 4"/>
          <p:cNvSpPr txBox="1">
            <a:spLocks noGrp="1"/>
          </p:cNvSpPr>
          <p:nvPr>
            <p:ph type="title"/>
          </p:nvPr>
        </p:nvSpPr>
        <p:spPr>
          <a:xfrm>
            <a:off x="4275921" y="584958"/>
            <a:ext cx="2496185" cy="36068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CC0000"/>
                </a:solidFill>
              </a:rPr>
              <a:t>get_neighbor_count</a:t>
            </a:r>
          </a:p>
        </p:txBody>
      </p:sp>
      <p:sp>
        <p:nvSpPr>
          <p:cNvPr id="5" name="object 5"/>
          <p:cNvSpPr/>
          <p:nvPr/>
        </p:nvSpPr>
        <p:spPr>
          <a:xfrm>
            <a:off x="1308590" y="1354420"/>
            <a:ext cx="4321261" cy="228194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087437" y="1290642"/>
            <a:ext cx="5098415" cy="2514600"/>
          </a:xfrm>
          <a:custGeom>
            <a:avLst/>
            <a:gdLst/>
            <a:ahLst/>
            <a:cxnLst/>
            <a:rect l="l" t="t" r="r" b="b"/>
            <a:pathLst>
              <a:path w="5098415" h="2514600">
                <a:moveTo>
                  <a:pt x="0" y="0"/>
                </a:moveTo>
                <a:lnTo>
                  <a:pt x="5097858" y="0"/>
                </a:lnTo>
                <a:lnTo>
                  <a:pt x="5097858" y="2514599"/>
                </a:lnTo>
                <a:lnTo>
                  <a:pt x="0" y="2514599"/>
                </a:lnTo>
                <a:lnTo>
                  <a:pt x="0" y="0"/>
                </a:lnTo>
                <a:close/>
              </a:path>
            </a:pathLst>
          </a:custGeom>
          <a:ln w="9524">
            <a:solidFill>
              <a:srgbClr val="919191"/>
            </a:solidFill>
          </a:ln>
        </p:spPr>
        <p:txBody>
          <a:bodyPr wrap="square" lIns="0" tIns="0" rIns="0" bIns="0" rtlCol="0"/>
          <a:lstStyle/>
          <a:p>
            <a:endParaRPr/>
          </a:p>
        </p:txBody>
      </p:sp>
      <p:sp>
        <p:nvSpPr>
          <p:cNvPr id="7" name="object 7"/>
          <p:cNvSpPr/>
          <p:nvPr/>
        </p:nvSpPr>
        <p:spPr>
          <a:xfrm>
            <a:off x="1092192" y="4055457"/>
            <a:ext cx="2600765" cy="133194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087430" y="4038070"/>
            <a:ext cx="2610485" cy="1436370"/>
          </a:xfrm>
          <a:custGeom>
            <a:avLst/>
            <a:gdLst/>
            <a:ahLst/>
            <a:cxnLst/>
            <a:rect l="l" t="t" r="r" b="b"/>
            <a:pathLst>
              <a:path w="2610485" h="1436370">
                <a:moveTo>
                  <a:pt x="0" y="0"/>
                </a:moveTo>
                <a:lnTo>
                  <a:pt x="2610245" y="0"/>
                </a:lnTo>
                <a:lnTo>
                  <a:pt x="2610245" y="1436290"/>
                </a:lnTo>
                <a:lnTo>
                  <a:pt x="0" y="1436290"/>
                </a:lnTo>
                <a:lnTo>
                  <a:pt x="0" y="0"/>
                </a:lnTo>
                <a:close/>
              </a:path>
            </a:pathLst>
          </a:custGeom>
          <a:ln w="9524">
            <a:solidFill>
              <a:srgbClr val="919191"/>
            </a:solidFill>
          </a:ln>
        </p:spPr>
        <p:txBody>
          <a:bodyPr wrap="square" lIns="0" tIns="0" rIns="0" bIns="0" rtlCol="0"/>
          <a:lstStyle/>
          <a:p>
            <a:endParaRPr/>
          </a:p>
        </p:txBody>
      </p:sp>
      <p:sp>
        <p:nvSpPr>
          <p:cNvPr id="9" name="object 9"/>
          <p:cNvSpPr/>
          <p:nvPr/>
        </p:nvSpPr>
        <p:spPr>
          <a:xfrm>
            <a:off x="3912887" y="4568044"/>
            <a:ext cx="242570" cy="325755"/>
          </a:xfrm>
          <a:custGeom>
            <a:avLst/>
            <a:gdLst/>
            <a:ahLst/>
            <a:cxnLst/>
            <a:rect l="l" t="t" r="r" b="b"/>
            <a:pathLst>
              <a:path w="242570" h="325754">
                <a:moveTo>
                  <a:pt x="0" y="0"/>
                </a:moveTo>
                <a:lnTo>
                  <a:pt x="0" y="325690"/>
                </a:lnTo>
                <a:lnTo>
                  <a:pt x="241966" y="162844"/>
                </a:lnTo>
                <a:lnTo>
                  <a:pt x="0" y="0"/>
                </a:lnTo>
                <a:close/>
              </a:path>
            </a:pathLst>
          </a:custGeom>
          <a:solidFill>
            <a:srgbClr val="919191"/>
          </a:solidFill>
        </p:spPr>
        <p:txBody>
          <a:bodyPr wrap="square" lIns="0" tIns="0" rIns="0" bIns="0" rtlCol="0"/>
          <a:lstStyle/>
          <a:p>
            <a:endParaRPr/>
          </a:p>
        </p:txBody>
      </p:sp>
      <p:sp>
        <p:nvSpPr>
          <p:cNvPr id="10" name="object 10"/>
          <p:cNvSpPr/>
          <p:nvPr/>
        </p:nvSpPr>
        <p:spPr>
          <a:xfrm>
            <a:off x="4025228" y="4560642"/>
            <a:ext cx="242570" cy="325755"/>
          </a:xfrm>
          <a:custGeom>
            <a:avLst/>
            <a:gdLst/>
            <a:ahLst/>
            <a:cxnLst/>
            <a:rect l="l" t="t" r="r" b="b"/>
            <a:pathLst>
              <a:path w="242570" h="325754">
                <a:moveTo>
                  <a:pt x="0" y="0"/>
                </a:moveTo>
                <a:lnTo>
                  <a:pt x="0" y="325688"/>
                </a:lnTo>
                <a:lnTo>
                  <a:pt x="241968" y="162844"/>
                </a:lnTo>
                <a:lnTo>
                  <a:pt x="0" y="0"/>
                </a:lnTo>
                <a:close/>
              </a:path>
            </a:pathLst>
          </a:custGeom>
          <a:solidFill>
            <a:srgbClr val="919191"/>
          </a:solidFill>
        </p:spPr>
        <p:txBody>
          <a:bodyPr wrap="square" lIns="0" tIns="0" rIns="0" bIns="0" rtlCol="0"/>
          <a:lstStyle/>
          <a:p>
            <a:endParaRPr/>
          </a:p>
        </p:txBody>
      </p:sp>
      <p:sp>
        <p:nvSpPr>
          <p:cNvPr id="11" name="object 11"/>
          <p:cNvSpPr/>
          <p:nvPr/>
        </p:nvSpPr>
        <p:spPr>
          <a:xfrm>
            <a:off x="4970352" y="4051302"/>
            <a:ext cx="1563338" cy="2279649"/>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4438121" y="4046540"/>
            <a:ext cx="2679065" cy="2320925"/>
          </a:xfrm>
          <a:custGeom>
            <a:avLst/>
            <a:gdLst/>
            <a:ahLst/>
            <a:cxnLst/>
            <a:rect l="l" t="t" r="r" b="b"/>
            <a:pathLst>
              <a:path w="2679065" h="2320925">
                <a:moveTo>
                  <a:pt x="0" y="0"/>
                </a:moveTo>
                <a:lnTo>
                  <a:pt x="2678508" y="0"/>
                </a:lnTo>
                <a:lnTo>
                  <a:pt x="2678508" y="2320923"/>
                </a:lnTo>
                <a:lnTo>
                  <a:pt x="0" y="2320923"/>
                </a:lnTo>
                <a:lnTo>
                  <a:pt x="0" y="0"/>
                </a:lnTo>
                <a:close/>
              </a:path>
            </a:pathLst>
          </a:custGeom>
          <a:ln w="9524">
            <a:solidFill>
              <a:srgbClr val="919191"/>
            </a:solidFill>
          </a:ln>
        </p:spPr>
        <p:txBody>
          <a:bodyPr wrap="square" lIns="0" tIns="0" rIns="0" bIns="0" rtlCol="0"/>
          <a:lstStyle/>
          <a:p>
            <a:endParaRPr/>
          </a:p>
        </p:txBody>
      </p:sp>
      <p:sp>
        <p:nvSpPr>
          <p:cNvPr id="13" name="object 13"/>
          <p:cNvSpPr/>
          <p:nvPr/>
        </p:nvSpPr>
        <p:spPr>
          <a:xfrm>
            <a:off x="7287697" y="3333751"/>
            <a:ext cx="3853788" cy="3033183"/>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7282934" y="3328989"/>
            <a:ext cx="3863340" cy="3042920"/>
          </a:xfrm>
          <a:custGeom>
            <a:avLst/>
            <a:gdLst/>
            <a:ahLst/>
            <a:cxnLst/>
            <a:rect l="l" t="t" r="r" b="b"/>
            <a:pathLst>
              <a:path w="3863340" h="3042920">
                <a:moveTo>
                  <a:pt x="0" y="0"/>
                </a:moveTo>
                <a:lnTo>
                  <a:pt x="3863179" y="0"/>
                </a:lnTo>
                <a:lnTo>
                  <a:pt x="3863179" y="3042839"/>
                </a:lnTo>
                <a:lnTo>
                  <a:pt x="0" y="3042839"/>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20747"/>
            <a:ext cx="10515600" cy="1325563"/>
          </a:xfrm>
          <a:prstGeom prst="rect">
            <a:avLst/>
          </a:prstGeom>
        </p:spPr>
        <p:txBody>
          <a:bodyPr vert="horz" wrap="square" lIns="0" tIns="12700" rIns="0" bIns="0" rtlCol="0">
            <a:spAutoFit/>
          </a:bodyPr>
          <a:lstStyle/>
          <a:p>
            <a:pPr marL="3101975" marR="5080">
              <a:lnSpc>
                <a:spcPct val="110000"/>
              </a:lnSpc>
              <a:spcBef>
                <a:spcPts val="100"/>
              </a:spcBef>
            </a:pPr>
            <a:r>
              <a:rPr spc="-5" dirty="0">
                <a:solidFill>
                  <a:srgbClr val="CC0000"/>
                </a:solidFill>
              </a:rPr>
              <a:t>get_neighbor_count_map</a:t>
            </a:r>
            <a:r>
              <a:rPr spc="-5" dirty="0">
                <a:solidFill>
                  <a:srgbClr val="CC0000"/>
                </a:solidFill>
                <a:latin typeface="微软雅黑" panose="020B0503020204020204" pitchFamily="34" charset="-122"/>
                <a:cs typeface="微软雅黑" panose="020B0503020204020204" pitchFamily="34" charset="-122"/>
              </a:rPr>
              <a:t>：</a:t>
            </a:r>
            <a:r>
              <a:rPr dirty="0">
                <a:latin typeface="微软雅黑" panose="020B0503020204020204" pitchFamily="34" charset="-122"/>
                <a:cs typeface="微软雅黑" panose="020B0503020204020204" pitchFamily="34" charset="-122"/>
              </a:rPr>
              <a:t>依赖</a:t>
            </a:r>
            <a:r>
              <a:rPr spc="80" dirty="0">
                <a:latin typeface="微软雅黑" panose="020B0503020204020204" pitchFamily="34" charset="-122"/>
                <a:cs typeface="微软雅黑" panose="020B0503020204020204" pitchFamily="34" charset="-122"/>
              </a:rPr>
              <a:t> </a:t>
            </a:r>
            <a:r>
              <a:rPr spc="-5" dirty="0"/>
              <a:t>get_neighbor_count</a:t>
            </a:r>
            <a:r>
              <a:rPr spc="-5" dirty="0">
                <a:latin typeface="微软雅黑" panose="020B0503020204020204" pitchFamily="34" charset="-122"/>
                <a:cs typeface="微软雅黑" panose="020B0503020204020204" pitchFamily="34" charset="-122"/>
              </a:rPr>
              <a:t>，  </a:t>
            </a:r>
            <a:r>
              <a:rPr dirty="0">
                <a:latin typeface="微软雅黑" panose="020B0503020204020204" pitchFamily="34" charset="-122"/>
                <a:cs typeface="微软雅黑" panose="020B0503020204020204" pitchFamily="34" charset="-122"/>
              </a:rPr>
              <a:t>测试时对依赖方法进行</a:t>
            </a:r>
            <a:r>
              <a:rPr spc="-5" dirty="0"/>
              <a:t>mock</a:t>
            </a:r>
            <a:r>
              <a:rPr spc="-5" dirty="0">
                <a:latin typeface="微软雅黑" panose="020B0503020204020204" pitchFamily="34" charset="-122"/>
                <a:cs typeface="微软雅黑" panose="020B0503020204020204" pitchFamily="34" charset="-122"/>
              </a:rPr>
              <a:t>，</a:t>
            </a:r>
            <a:r>
              <a:rPr dirty="0">
                <a:latin typeface="微软雅黑" panose="020B0503020204020204" pitchFamily="34" charset="-122"/>
                <a:cs typeface="微软雅黑" panose="020B0503020204020204" pitchFamily="34" charset="-122"/>
              </a:rPr>
              <a:t>保持测试的独立性。</a:t>
            </a:r>
          </a:p>
        </p:txBody>
      </p:sp>
      <p:sp>
        <p:nvSpPr>
          <p:cNvPr id="3" name="object 3"/>
          <p:cNvSpPr/>
          <p:nvPr/>
        </p:nvSpPr>
        <p:spPr>
          <a:xfrm>
            <a:off x="1068914" y="1577730"/>
            <a:ext cx="10005483" cy="105135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64152" y="1495351"/>
            <a:ext cx="10015220" cy="1139190"/>
          </a:xfrm>
          <a:custGeom>
            <a:avLst/>
            <a:gdLst/>
            <a:ahLst/>
            <a:cxnLst/>
            <a:rect l="l" t="t" r="r" b="b"/>
            <a:pathLst>
              <a:path w="10015220" h="1139189">
                <a:moveTo>
                  <a:pt x="0" y="0"/>
                </a:moveTo>
                <a:lnTo>
                  <a:pt x="10015137" y="0"/>
                </a:lnTo>
                <a:lnTo>
                  <a:pt x="10015137" y="1138634"/>
                </a:lnTo>
                <a:lnTo>
                  <a:pt x="0" y="1138634"/>
                </a:lnTo>
                <a:lnTo>
                  <a:pt x="0" y="0"/>
                </a:lnTo>
                <a:close/>
              </a:path>
            </a:pathLst>
          </a:custGeom>
          <a:ln w="9524">
            <a:solidFill>
              <a:srgbClr val="919191"/>
            </a:solidFill>
          </a:ln>
        </p:spPr>
        <p:txBody>
          <a:bodyPr wrap="square" lIns="0" tIns="0" rIns="0" bIns="0" rtlCol="0"/>
          <a:lstStyle/>
          <a:p>
            <a:endParaRPr/>
          </a:p>
        </p:txBody>
      </p:sp>
      <p:sp>
        <p:nvSpPr>
          <p:cNvPr id="5" name="object 5"/>
          <p:cNvSpPr/>
          <p:nvPr/>
        </p:nvSpPr>
        <p:spPr>
          <a:xfrm>
            <a:off x="3793958" y="2979726"/>
            <a:ext cx="4797590" cy="346919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789195" y="2974963"/>
            <a:ext cx="4806950" cy="3479165"/>
          </a:xfrm>
          <a:custGeom>
            <a:avLst/>
            <a:gdLst/>
            <a:ahLst/>
            <a:cxnLst/>
            <a:rect l="l" t="t" r="r" b="b"/>
            <a:pathLst>
              <a:path w="4806950" h="3479165">
                <a:moveTo>
                  <a:pt x="0" y="0"/>
                </a:moveTo>
                <a:lnTo>
                  <a:pt x="4806948" y="0"/>
                </a:lnTo>
                <a:lnTo>
                  <a:pt x="4806948" y="3478608"/>
                </a:lnTo>
                <a:lnTo>
                  <a:pt x="0" y="3478608"/>
                </a:lnTo>
                <a:lnTo>
                  <a:pt x="0" y="0"/>
                </a:lnTo>
                <a:close/>
              </a:path>
            </a:pathLst>
          </a:custGeom>
          <a:ln w="9524">
            <a:solidFill>
              <a:srgbClr val="919191"/>
            </a:solidFill>
          </a:ln>
        </p:spPr>
        <p:txBody>
          <a:bodyPr wrap="square" lIns="0" tIns="0" rIns="0" bIns="0" rtlCol="0"/>
          <a:lstStyle/>
          <a:p>
            <a:endParaRPr/>
          </a:p>
        </p:txBody>
      </p:sp>
      <p:sp>
        <p:nvSpPr>
          <p:cNvPr id="7" name="object 7"/>
          <p:cNvSpPr txBox="1"/>
          <p:nvPr/>
        </p:nvSpPr>
        <p:spPr>
          <a:xfrm>
            <a:off x="728144" y="490173"/>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8" name="object 8"/>
          <p:cNvSpPr/>
          <p:nvPr/>
        </p:nvSpPr>
        <p:spPr>
          <a:xfrm>
            <a:off x="3386677" y="625639"/>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dirty="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097280"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set_map</a:t>
            </a:r>
            <a:endParaRPr sz="2200">
              <a:latin typeface="Arial" panose="020B0604020202020204"/>
              <a:cs typeface="Arial" panose="020B0604020202020204"/>
            </a:endParaRPr>
          </a:p>
        </p:txBody>
      </p:sp>
      <p:sp>
        <p:nvSpPr>
          <p:cNvPr id="6" name="object 6"/>
          <p:cNvSpPr/>
          <p:nvPr/>
        </p:nvSpPr>
        <p:spPr>
          <a:xfrm>
            <a:off x="1109129" y="2392787"/>
            <a:ext cx="9118601" cy="338178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104367" y="2251604"/>
            <a:ext cx="9128125" cy="3528060"/>
          </a:xfrm>
          <a:custGeom>
            <a:avLst/>
            <a:gdLst/>
            <a:ahLst/>
            <a:cxnLst/>
            <a:rect l="l" t="t" r="r" b="b"/>
            <a:pathLst>
              <a:path w="9128125" h="3528060">
                <a:moveTo>
                  <a:pt x="0" y="0"/>
                </a:moveTo>
                <a:lnTo>
                  <a:pt x="9128122" y="0"/>
                </a:lnTo>
                <a:lnTo>
                  <a:pt x="9128122" y="3527821"/>
                </a:lnTo>
                <a:lnTo>
                  <a:pt x="0" y="3527821"/>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097280"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set_map</a:t>
            </a:r>
            <a:endParaRPr sz="2200">
              <a:latin typeface="Arial" panose="020B0604020202020204"/>
              <a:cs typeface="Arial" panose="020B0604020202020204"/>
            </a:endParaRPr>
          </a:p>
        </p:txBody>
      </p:sp>
      <p:sp>
        <p:nvSpPr>
          <p:cNvPr id="6" name="object 6"/>
          <p:cNvSpPr/>
          <p:nvPr/>
        </p:nvSpPr>
        <p:spPr>
          <a:xfrm>
            <a:off x="1096432" y="2369186"/>
            <a:ext cx="10045698" cy="199945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091669" y="2232972"/>
            <a:ext cx="10055225" cy="2140585"/>
          </a:xfrm>
          <a:custGeom>
            <a:avLst/>
            <a:gdLst/>
            <a:ahLst/>
            <a:cxnLst/>
            <a:rect l="l" t="t" r="r" b="b"/>
            <a:pathLst>
              <a:path w="10055225" h="2140585">
                <a:moveTo>
                  <a:pt x="0" y="0"/>
                </a:moveTo>
                <a:lnTo>
                  <a:pt x="10055221" y="0"/>
                </a:lnTo>
                <a:lnTo>
                  <a:pt x="10055221" y="2140346"/>
                </a:lnTo>
                <a:lnTo>
                  <a:pt x="0" y="2140346"/>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4963583" y="2229265"/>
            <a:ext cx="4878915" cy="359939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958820" y="2224502"/>
            <a:ext cx="4888865" cy="3609340"/>
          </a:xfrm>
          <a:custGeom>
            <a:avLst/>
            <a:gdLst/>
            <a:ahLst/>
            <a:cxnLst/>
            <a:rect l="l" t="t" r="r" b="b"/>
            <a:pathLst>
              <a:path w="4888865" h="3609340">
                <a:moveTo>
                  <a:pt x="0" y="0"/>
                </a:moveTo>
                <a:lnTo>
                  <a:pt x="4888308" y="0"/>
                </a:lnTo>
                <a:lnTo>
                  <a:pt x="4888308" y="3608783"/>
                </a:lnTo>
                <a:lnTo>
                  <a:pt x="0" y="3608783"/>
                </a:lnTo>
                <a:lnTo>
                  <a:pt x="0" y="0"/>
                </a:lnTo>
                <a:close/>
              </a:path>
            </a:pathLst>
          </a:custGeom>
          <a:ln w="9524">
            <a:solidFill>
              <a:srgbClr val="919191"/>
            </a:solidFill>
          </a:ln>
        </p:spPr>
        <p:txBody>
          <a:bodyPr wrap="square" lIns="0" tIns="0" rIns="0" bIns="0" rtlCol="0"/>
          <a:lstStyle/>
          <a:p>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268095"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print_map</a:t>
            </a:r>
            <a:endParaRPr sz="2200">
              <a:latin typeface="Arial" panose="020B0604020202020204"/>
              <a:cs typeface="Arial" panose="020B0604020202020204"/>
            </a:endParaRPr>
          </a:p>
        </p:txBody>
      </p:sp>
      <p:sp>
        <p:nvSpPr>
          <p:cNvPr id="6" name="object 6"/>
          <p:cNvSpPr/>
          <p:nvPr/>
        </p:nvSpPr>
        <p:spPr>
          <a:xfrm>
            <a:off x="1100664" y="2286000"/>
            <a:ext cx="9736665" cy="24615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95902" y="2281237"/>
            <a:ext cx="9746615" cy="2471420"/>
          </a:xfrm>
          <a:custGeom>
            <a:avLst/>
            <a:gdLst/>
            <a:ahLst/>
            <a:cxnLst/>
            <a:rect l="l" t="t" r="r" b="b"/>
            <a:pathLst>
              <a:path w="9746615" h="2471420">
                <a:moveTo>
                  <a:pt x="0" y="0"/>
                </a:moveTo>
                <a:lnTo>
                  <a:pt x="9746056" y="0"/>
                </a:lnTo>
                <a:lnTo>
                  <a:pt x="9746056" y="2470942"/>
                </a:lnTo>
                <a:lnTo>
                  <a:pt x="0" y="2470942"/>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268095"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print_map</a:t>
            </a:r>
            <a:endParaRPr sz="2200">
              <a:latin typeface="Arial" panose="020B0604020202020204"/>
              <a:cs typeface="Arial" panose="020B0604020202020204"/>
            </a:endParaRPr>
          </a:p>
        </p:txBody>
      </p:sp>
      <p:sp>
        <p:nvSpPr>
          <p:cNvPr id="6" name="object 6"/>
          <p:cNvSpPr/>
          <p:nvPr/>
        </p:nvSpPr>
        <p:spPr>
          <a:xfrm>
            <a:off x="1092196" y="2212332"/>
            <a:ext cx="5257801" cy="3640017"/>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87434" y="2207570"/>
            <a:ext cx="5267325" cy="3649979"/>
          </a:xfrm>
          <a:custGeom>
            <a:avLst/>
            <a:gdLst/>
            <a:ahLst/>
            <a:cxnLst/>
            <a:rect l="l" t="t" r="r" b="b"/>
            <a:pathLst>
              <a:path w="5267325" h="3649979">
                <a:moveTo>
                  <a:pt x="0" y="0"/>
                </a:moveTo>
                <a:lnTo>
                  <a:pt x="5267323" y="0"/>
                </a:lnTo>
                <a:lnTo>
                  <a:pt x="5267323" y="3649661"/>
                </a:lnTo>
                <a:lnTo>
                  <a:pt x="0" y="3649661"/>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6477006" y="2622543"/>
            <a:ext cx="4626957" cy="3219449"/>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6472243" y="2617781"/>
            <a:ext cx="4636770" cy="3228975"/>
          </a:xfrm>
          <a:custGeom>
            <a:avLst/>
            <a:gdLst/>
            <a:ahLst/>
            <a:cxnLst/>
            <a:rect l="l" t="t" r="r" b="b"/>
            <a:pathLst>
              <a:path w="4636770" h="3228975">
                <a:moveTo>
                  <a:pt x="0" y="0"/>
                </a:moveTo>
                <a:lnTo>
                  <a:pt x="4636293" y="0"/>
                </a:lnTo>
                <a:lnTo>
                  <a:pt x="4636293" y="3228974"/>
                </a:lnTo>
                <a:lnTo>
                  <a:pt x="0" y="3228974"/>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66808" y="558797"/>
            <a:ext cx="2455545" cy="643890"/>
          </a:xfrm>
          <a:custGeom>
            <a:avLst/>
            <a:gdLst/>
            <a:ahLst/>
            <a:cxnLst/>
            <a:rect l="l" t="t" r="r" b="b"/>
            <a:pathLst>
              <a:path w="2455545" h="643890">
                <a:moveTo>
                  <a:pt x="0" y="0"/>
                </a:moveTo>
                <a:lnTo>
                  <a:pt x="2455322" y="0"/>
                </a:lnTo>
                <a:lnTo>
                  <a:pt x="2455322"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586079" y="676249"/>
            <a:ext cx="14224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覆盖率分析</a:t>
            </a:r>
          </a:p>
        </p:txBody>
      </p:sp>
      <p:sp>
        <p:nvSpPr>
          <p:cNvPr id="4" name="object 4"/>
          <p:cNvSpPr/>
          <p:nvPr/>
        </p:nvSpPr>
        <p:spPr>
          <a:xfrm>
            <a:off x="3691475" y="694263"/>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4"/>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4205819" y="660400"/>
            <a:ext cx="6663376" cy="38946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100667" y="1303872"/>
            <a:ext cx="7007262" cy="1183568"/>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095905" y="1299109"/>
            <a:ext cx="8829675" cy="1193165"/>
          </a:xfrm>
          <a:custGeom>
            <a:avLst/>
            <a:gdLst/>
            <a:ahLst/>
            <a:cxnLst/>
            <a:rect l="l" t="t" r="r" b="b"/>
            <a:pathLst>
              <a:path w="8829675" h="1193164">
                <a:moveTo>
                  <a:pt x="0" y="0"/>
                </a:moveTo>
                <a:lnTo>
                  <a:pt x="8829672" y="0"/>
                </a:lnTo>
                <a:lnTo>
                  <a:pt x="8829672" y="1193005"/>
                </a:lnTo>
                <a:lnTo>
                  <a:pt x="0" y="1193005"/>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1104903" y="2576404"/>
            <a:ext cx="8303414" cy="694564"/>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100140" y="2571642"/>
            <a:ext cx="8829675" cy="704215"/>
          </a:xfrm>
          <a:custGeom>
            <a:avLst/>
            <a:gdLst/>
            <a:ahLst/>
            <a:cxnLst/>
            <a:rect l="l" t="t" r="r" b="b"/>
            <a:pathLst>
              <a:path w="8829675" h="704214">
                <a:moveTo>
                  <a:pt x="0" y="0"/>
                </a:moveTo>
                <a:lnTo>
                  <a:pt x="8829672" y="0"/>
                </a:lnTo>
                <a:lnTo>
                  <a:pt x="8829672" y="704056"/>
                </a:lnTo>
                <a:lnTo>
                  <a:pt x="0" y="704056"/>
                </a:lnTo>
                <a:lnTo>
                  <a:pt x="0" y="0"/>
                </a:lnTo>
                <a:close/>
              </a:path>
            </a:pathLst>
          </a:custGeom>
          <a:ln w="9524">
            <a:solidFill>
              <a:srgbClr val="919191"/>
            </a:solidFill>
          </a:ln>
        </p:spPr>
        <p:txBody>
          <a:bodyPr wrap="square" lIns="0" tIns="0" rIns="0" bIns="0" rtlCol="0"/>
          <a:lstStyle/>
          <a:p>
            <a:endParaRPr/>
          </a:p>
        </p:txBody>
      </p:sp>
      <p:sp>
        <p:nvSpPr>
          <p:cNvPr id="10" name="object 10"/>
          <p:cNvSpPr/>
          <p:nvPr/>
        </p:nvSpPr>
        <p:spPr>
          <a:xfrm>
            <a:off x="1100668" y="3364735"/>
            <a:ext cx="7018616" cy="1230772"/>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1095906" y="3359972"/>
            <a:ext cx="8829675" cy="1240790"/>
          </a:xfrm>
          <a:custGeom>
            <a:avLst/>
            <a:gdLst/>
            <a:ahLst/>
            <a:cxnLst/>
            <a:rect l="l" t="t" r="r" b="b"/>
            <a:pathLst>
              <a:path w="8829675" h="1240789">
                <a:moveTo>
                  <a:pt x="0" y="0"/>
                </a:moveTo>
                <a:lnTo>
                  <a:pt x="8829672" y="0"/>
                </a:lnTo>
                <a:lnTo>
                  <a:pt x="8829672" y="1240234"/>
                </a:lnTo>
                <a:lnTo>
                  <a:pt x="0" y="1240234"/>
                </a:lnTo>
                <a:lnTo>
                  <a:pt x="0" y="0"/>
                </a:lnTo>
                <a:close/>
              </a:path>
            </a:pathLst>
          </a:custGeom>
          <a:ln w="9524">
            <a:solidFill>
              <a:srgbClr val="919191"/>
            </a:solidFill>
          </a:ln>
        </p:spPr>
        <p:txBody>
          <a:bodyPr wrap="square" lIns="0" tIns="0" rIns="0" bIns="0" rtlCol="0"/>
          <a:lstStyle/>
          <a:p>
            <a:endParaRPr/>
          </a:p>
        </p:txBody>
      </p:sp>
      <p:sp>
        <p:nvSpPr>
          <p:cNvPr id="12" name="object 12"/>
          <p:cNvSpPr/>
          <p:nvPr/>
        </p:nvSpPr>
        <p:spPr>
          <a:xfrm>
            <a:off x="1100665" y="4690534"/>
            <a:ext cx="7110478" cy="1589694"/>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095903" y="4685771"/>
            <a:ext cx="8832215" cy="1599565"/>
          </a:xfrm>
          <a:custGeom>
            <a:avLst/>
            <a:gdLst/>
            <a:ahLst/>
            <a:cxnLst/>
            <a:rect l="l" t="t" r="r" b="b"/>
            <a:pathLst>
              <a:path w="8832215" h="1599564">
                <a:moveTo>
                  <a:pt x="0" y="0"/>
                </a:moveTo>
                <a:lnTo>
                  <a:pt x="8831656" y="0"/>
                </a:lnTo>
                <a:lnTo>
                  <a:pt x="8831656" y="1599406"/>
                </a:lnTo>
                <a:lnTo>
                  <a:pt x="0" y="1599406"/>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14478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其他工具</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916939" y="1340272"/>
            <a:ext cx="8355330" cy="4279900"/>
          </a:xfrm>
          <a:prstGeom prst="rect">
            <a:avLst/>
          </a:prstGeom>
        </p:spPr>
        <p:txBody>
          <a:bodyPr vert="horz" wrap="square" lIns="0" tIns="172720" rIns="0" bIns="0" rtlCol="0">
            <a:spAutoFit/>
          </a:bodyPr>
          <a:lstStyle/>
          <a:p>
            <a:pPr marL="368300" indent="-355600">
              <a:lnSpc>
                <a:spcPct val="100000"/>
              </a:lnSpc>
              <a:spcBef>
                <a:spcPts val="1360"/>
              </a:spcBef>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其他测试框架</a:t>
            </a:r>
          </a:p>
          <a:p>
            <a:pPr marL="825500" marR="1090930">
              <a:lnSpc>
                <a:spcPct val="133000"/>
              </a:lnSpc>
              <a:spcBef>
                <a:spcPts val="400"/>
              </a:spcBef>
            </a:pPr>
            <a:r>
              <a:rPr sz="2200" spc="-5" dirty="0">
                <a:latin typeface="Arial" panose="020B0604020202020204"/>
                <a:cs typeface="Arial" panose="020B0604020202020204"/>
              </a:rPr>
              <a:t>python </a:t>
            </a:r>
            <a:r>
              <a:rPr sz="2200" dirty="0">
                <a:latin typeface="Arial" panose="020B0604020202020204"/>
                <a:cs typeface="Arial" panose="020B0604020202020204"/>
              </a:rPr>
              <a:t>nose: </a:t>
            </a:r>
            <a:r>
              <a:rPr sz="2200" u="sng" spc="-5" dirty="0">
                <a:solidFill>
                  <a:srgbClr val="0563C1"/>
                </a:solidFill>
                <a:uFill>
                  <a:solidFill>
                    <a:srgbClr val="0079CD"/>
                  </a:solidFill>
                </a:uFill>
                <a:latin typeface="Arial" panose="020B0604020202020204"/>
                <a:cs typeface="Arial" panose="020B0604020202020204"/>
              </a:rPr>
              <a:t>https://nose.readthedocs.org/en/latest/ </a:t>
            </a:r>
            <a:r>
              <a:rPr sz="2200" spc="-5" dirty="0">
                <a:solidFill>
                  <a:srgbClr val="0563C1"/>
                </a:solidFill>
                <a:latin typeface="Arial" panose="020B0604020202020204"/>
                <a:cs typeface="Arial" panose="020B0604020202020204"/>
              </a:rPr>
              <a:t> </a:t>
            </a:r>
            <a:r>
              <a:rPr sz="2200" spc="-5" dirty="0">
                <a:latin typeface="Arial" panose="020B0604020202020204"/>
                <a:cs typeface="Arial" panose="020B0604020202020204"/>
              </a:rPr>
              <a:t>pytest:</a:t>
            </a:r>
            <a:r>
              <a:rPr sz="2200" dirty="0">
                <a:latin typeface="Arial" panose="020B0604020202020204"/>
                <a:cs typeface="Arial" panose="020B0604020202020204"/>
              </a:rPr>
              <a:t> </a:t>
            </a:r>
            <a:r>
              <a:rPr sz="2200" u="sng" spc="-5" dirty="0">
                <a:solidFill>
                  <a:srgbClr val="0563C1"/>
                </a:solidFill>
                <a:uFill>
                  <a:solidFill>
                    <a:srgbClr val="0079CD"/>
                  </a:solidFill>
                </a:uFill>
                <a:latin typeface="Arial" panose="020B0604020202020204"/>
                <a:cs typeface="Arial" panose="020B0604020202020204"/>
                <a:hlinkClick r:id="rId3"/>
              </a:rPr>
              <a:t>http://pytest.org/latest/</a:t>
            </a:r>
            <a:endParaRPr sz="2200" dirty="0">
              <a:latin typeface="Arial" panose="020B0604020202020204"/>
              <a:cs typeface="Arial" panose="020B0604020202020204"/>
            </a:endParaRPr>
          </a:p>
          <a:p>
            <a:pPr>
              <a:lnSpc>
                <a:spcPct val="100000"/>
              </a:lnSpc>
            </a:pPr>
            <a:endParaRPr sz="2400" dirty="0">
              <a:latin typeface="Times New Roman" panose="02020603050405020304"/>
              <a:cs typeface="Times New Roman" panose="02020603050405020304"/>
            </a:endParaRPr>
          </a:p>
          <a:p>
            <a:pPr>
              <a:lnSpc>
                <a:spcPct val="100000"/>
              </a:lnSpc>
              <a:spcBef>
                <a:spcPts val="40"/>
              </a:spcBef>
            </a:pPr>
            <a:endParaRPr sz="2050" dirty="0">
              <a:latin typeface="Times New Roman" panose="02020603050405020304"/>
              <a:cs typeface="Times New Roman" panose="02020603050405020304"/>
            </a:endParaRPr>
          </a:p>
          <a:p>
            <a:pPr marL="368300" indent="-355600">
              <a:lnSpc>
                <a:spcPct val="100000"/>
              </a:lnSpc>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其他</a:t>
            </a:r>
            <a:r>
              <a:rPr sz="2200" spc="-5" dirty="0">
                <a:latin typeface="Arial" panose="020B0604020202020204"/>
                <a:cs typeface="Arial" panose="020B0604020202020204"/>
              </a:rPr>
              <a:t>Mock</a:t>
            </a:r>
            <a:r>
              <a:rPr sz="2200" dirty="0">
                <a:latin typeface="微软雅黑" panose="020B0503020204020204" pitchFamily="34" charset="-122"/>
                <a:cs typeface="微软雅黑" panose="020B0503020204020204" pitchFamily="34" charset="-122"/>
              </a:rPr>
              <a:t>框架</a:t>
            </a:r>
          </a:p>
          <a:p>
            <a:pPr marL="825500">
              <a:lnSpc>
                <a:spcPct val="100000"/>
              </a:lnSpc>
              <a:spcBef>
                <a:spcPts val="860"/>
              </a:spcBef>
            </a:pPr>
            <a:r>
              <a:rPr sz="2200" u="sng" spc="-5" dirty="0">
                <a:solidFill>
                  <a:srgbClr val="0563C1"/>
                </a:solidFill>
                <a:uFill>
                  <a:solidFill>
                    <a:srgbClr val="0079CD"/>
                  </a:solidFill>
                </a:uFill>
                <a:latin typeface="Arial" panose="020B0604020202020204"/>
                <a:cs typeface="Arial" panose="020B0604020202020204"/>
                <a:hlinkClick r:id="rId4"/>
              </a:rPr>
              <a:t>http://garybernhardt.github.io/python-mock-comparison/</a:t>
            </a:r>
            <a:endParaRPr sz="2200" dirty="0">
              <a:latin typeface="Arial" panose="020B0604020202020204"/>
              <a:cs typeface="Arial" panose="020B0604020202020204"/>
            </a:endParaRPr>
          </a:p>
          <a:p>
            <a:pPr>
              <a:lnSpc>
                <a:spcPct val="100000"/>
              </a:lnSpc>
              <a:spcBef>
                <a:spcPts val="45"/>
              </a:spcBef>
            </a:pPr>
            <a:endParaRPr sz="3350" dirty="0">
              <a:latin typeface="Times New Roman" panose="02020603050405020304"/>
              <a:cs typeface="Times New Roman" panose="02020603050405020304"/>
            </a:endParaRPr>
          </a:p>
          <a:p>
            <a:pPr marL="367665" marR="5080" indent="-367665">
              <a:lnSpc>
                <a:spcPct val="133000"/>
              </a:lnSpc>
              <a:spcBef>
                <a:spcPts val="5"/>
              </a:spcBef>
              <a:buChar char="•"/>
              <a:tabLst>
                <a:tab pos="367665" algn="l"/>
                <a:tab pos="368300" algn="l"/>
              </a:tabLst>
            </a:pPr>
            <a:r>
              <a:rPr sz="2200" dirty="0">
                <a:latin typeface="Arial" panose="020B0604020202020204"/>
                <a:cs typeface="Arial" panose="020B0604020202020204"/>
              </a:rPr>
              <a:t>Py</a:t>
            </a:r>
            <a:r>
              <a:rPr sz="2200" spc="-5" dirty="0">
                <a:latin typeface="Arial" panose="020B0604020202020204"/>
                <a:cs typeface="Arial" panose="020B0604020202020204"/>
              </a:rPr>
              <a:t>t</a:t>
            </a:r>
            <a:r>
              <a:rPr sz="2200" dirty="0">
                <a:latin typeface="Arial" panose="020B0604020202020204"/>
                <a:cs typeface="Arial" panose="020B0604020202020204"/>
              </a:rPr>
              <a:t>hon</a:t>
            </a:r>
            <a:r>
              <a:rPr sz="2200" dirty="0">
                <a:latin typeface="微软雅黑" panose="020B0503020204020204" pitchFamily="34" charset="-122"/>
                <a:cs typeface="微软雅黑" panose="020B0503020204020204" pitchFamily="34" charset="-122"/>
              </a:rPr>
              <a:t>测试工具大全（测试框架、</a:t>
            </a:r>
            <a:r>
              <a:rPr sz="2200" dirty="0">
                <a:latin typeface="Arial" panose="020B0604020202020204"/>
                <a:cs typeface="Arial" panose="020B0604020202020204"/>
              </a:rPr>
              <a:t>Moc</a:t>
            </a:r>
            <a:r>
              <a:rPr sz="2200" spc="-5" dirty="0">
                <a:latin typeface="Arial" panose="020B0604020202020204"/>
                <a:cs typeface="Arial" panose="020B0604020202020204"/>
              </a:rPr>
              <a:t>k</a:t>
            </a:r>
            <a:r>
              <a:rPr sz="2200" dirty="0">
                <a:latin typeface="微软雅黑" panose="020B0503020204020204" pitchFamily="34" charset="-122"/>
                <a:cs typeface="微软雅黑" panose="020B0503020204020204" pitchFamily="34" charset="-122"/>
              </a:rPr>
              <a:t>框架、</a:t>
            </a:r>
            <a:r>
              <a:rPr sz="2200" spc="-40" dirty="0">
                <a:latin typeface="Arial" panose="020B0604020202020204"/>
                <a:cs typeface="Arial" panose="020B0604020202020204"/>
              </a:rPr>
              <a:t>W</a:t>
            </a:r>
            <a:r>
              <a:rPr sz="2200" spc="-5" dirty="0">
                <a:latin typeface="Arial" panose="020B0604020202020204"/>
                <a:cs typeface="Arial" panose="020B0604020202020204"/>
              </a:rPr>
              <a:t>e</a:t>
            </a:r>
            <a:r>
              <a:rPr sz="2200" dirty="0">
                <a:latin typeface="Arial" panose="020B0604020202020204"/>
                <a:cs typeface="Arial" panose="020B0604020202020204"/>
              </a:rPr>
              <a:t>b</a:t>
            </a:r>
            <a:r>
              <a:rPr sz="2200" dirty="0">
                <a:latin typeface="微软雅黑" panose="020B0503020204020204" pitchFamily="34" charset="-122"/>
                <a:cs typeface="微软雅黑" panose="020B0503020204020204" pitchFamily="34" charset="-122"/>
              </a:rPr>
              <a:t>测试工具等）  </a:t>
            </a:r>
            <a:r>
              <a:rPr sz="2200" u="heavy" spc="-15" dirty="0">
                <a:solidFill>
                  <a:srgbClr val="0563C1"/>
                </a:solidFill>
                <a:uFill>
                  <a:solidFill>
                    <a:srgbClr val="0079CD"/>
                  </a:solidFill>
                </a:uFill>
                <a:latin typeface="Arial" panose="020B0604020202020204"/>
                <a:cs typeface="Arial" panose="020B0604020202020204"/>
              </a:rPr>
              <a:t>https://wiki.python.org/moin/PythonTestingToolsTaxonomy</a:t>
            </a:r>
            <a:endParaRPr sz="2200" dirty="0">
              <a:latin typeface="Arial" panose="020B0604020202020204"/>
              <a:cs typeface="Arial" panose="020B0604020202020204"/>
            </a:endParaRPr>
          </a:p>
        </p:txBody>
      </p:sp>
      <p:sp>
        <p:nvSpPr>
          <p:cNvPr id="4" name="object 4"/>
          <p:cNvSpPr/>
          <p:nvPr/>
        </p:nvSpPr>
        <p:spPr>
          <a:xfrm>
            <a:off x="9032973" y="1574797"/>
            <a:ext cx="1783076" cy="1842330"/>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谢谢大家！</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151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优先改进能够最大幅度提高效率的部分；优先改进最符合改进成本低，提高幅度大的高“性价比”部分"/>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0.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TIMING" val="|31.3"/>
</p:tagLst>
</file>

<file path=ppt/tags/tag160.xml><?xml version="1.0" encoding="utf-8"?>
<p:tagLst xmlns:a="http://schemas.openxmlformats.org/drawingml/2006/main" xmlns:r="http://schemas.openxmlformats.org/officeDocument/2006/relationships" xmlns:p="http://schemas.openxmlformats.org/presentationml/2006/main">
  <p:tag name="TIMING" val="|49.1"/>
</p:tagLst>
</file>

<file path=ppt/tags/tag161.xml><?xml version="1.0" encoding="utf-8"?>
<p:tagLst xmlns:a="http://schemas.openxmlformats.org/drawingml/2006/main" xmlns:r="http://schemas.openxmlformats.org/officeDocument/2006/relationships" xmlns:p="http://schemas.openxmlformats.org/presentationml/2006/main">
  <p:tag name="TIMING" val="|10.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2615</TotalTime>
  <Words>18511</Words>
  <Application>Microsoft Macintosh PowerPoint</Application>
  <PresentationFormat>宽屏</PresentationFormat>
  <Paragraphs>1847</Paragraphs>
  <Slides>151</Slides>
  <Notes>132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151</vt:i4>
      </vt:variant>
    </vt:vector>
  </HeadingPairs>
  <TitlesOfParts>
    <vt:vector size="166" baseType="lpstr">
      <vt:lpstr>等线</vt:lpstr>
      <vt:lpstr>华文楷体</vt:lpstr>
      <vt:lpstr>华文行楷</vt:lpstr>
      <vt:lpstr>微软雅黑</vt:lpstr>
      <vt:lpstr>微软雅黑</vt:lpstr>
      <vt:lpstr>Arial</vt:lpstr>
      <vt:lpstr>Calibri</vt:lpstr>
      <vt:lpstr>Calibri Light</vt:lpstr>
      <vt:lpstr>Consolas</vt:lpstr>
      <vt:lpstr>Courier New</vt:lpstr>
      <vt:lpstr>Times New Roman</vt:lpstr>
      <vt:lpstr>Wingdings</vt:lpstr>
      <vt:lpstr>Wingdings 3</vt:lpstr>
      <vt:lpstr>Office 主题</vt:lpstr>
      <vt:lpstr>Document</vt:lpstr>
      <vt:lpstr>软件开发的工程思维</vt:lpstr>
      <vt:lpstr>代码性能分析</vt:lpstr>
      <vt:lpstr>PowerPoint 演示文稿</vt:lpstr>
      <vt:lpstr>代码性能优化</vt:lpstr>
      <vt:lpstr>代码性能优化</vt:lpstr>
      <vt:lpstr>代码性能优化</vt:lpstr>
      <vt:lpstr>案例分析</vt:lpstr>
      <vt:lpstr>案例分析</vt:lpstr>
      <vt:lpstr>PowerPoint 演示文稿</vt:lpstr>
      <vt:lpstr>PowerPoint 演示文稿</vt:lpstr>
      <vt:lpstr>性能测试工具</vt:lpstr>
      <vt:lpstr>PowerPoint 演示文稿</vt:lpstr>
      <vt:lpstr>程序总耗时 4.562s</vt:lpstr>
      <vt:lpstr>案例：原因分析</vt:lpstr>
      <vt:lpstr>PowerPoint 演示文稿</vt:lpstr>
      <vt:lpstr>案例：优化结果</vt:lpstr>
      <vt:lpstr>Python 代码性能优化</vt:lpstr>
      <vt:lpstr>Python 代码性能优化</vt:lpstr>
      <vt:lpstr>PowerPoint 演示文稿</vt:lpstr>
      <vt:lpstr>PowerPoint 演示文稿</vt:lpstr>
      <vt:lpstr>单元测试 Unit Testing</vt:lpstr>
      <vt:lpstr>数组中最大的子数组之和</vt:lpstr>
      <vt:lpstr>用类/函数来实现</vt:lpstr>
      <vt:lpstr>单元测试—示例1</vt:lpstr>
      <vt:lpstr>单元测试—示例2</vt:lpstr>
      <vt:lpstr>PowerPoint 演示文稿</vt:lpstr>
      <vt:lpstr>现实的开发问题</vt:lpstr>
      <vt:lpstr>现实的开发问题</vt:lpstr>
      <vt:lpstr>单元测试</vt:lpstr>
      <vt:lpstr>单元测试</vt:lpstr>
      <vt:lpstr>单元测试</vt:lpstr>
      <vt:lpstr>好的单元测试</vt:lpstr>
      <vt:lpstr>简单版单元测试</vt:lpstr>
      <vt:lpstr>完整版单元测试</vt:lpstr>
      <vt:lpstr>单元测试内容</vt:lpstr>
      <vt:lpstr>单元测试原则</vt:lpstr>
      <vt:lpstr>单元测试质量</vt:lpstr>
      <vt:lpstr>单元测试方法</vt:lpstr>
      <vt:lpstr>单元测试方法</vt:lpstr>
      <vt:lpstr>单元测试方法</vt:lpstr>
      <vt:lpstr>单元测试方法</vt:lpstr>
      <vt:lpstr>单元测试方法</vt:lpstr>
      <vt:lpstr>单元测试之Mock</vt:lpstr>
      <vt:lpstr>单元测试之Mock</vt:lpstr>
      <vt:lpstr>单元测试之Mock</vt:lpstr>
      <vt:lpstr>单元测试之xUnit</vt:lpstr>
      <vt:lpstr>单元测试之xUnit</vt:lpstr>
      <vt:lpstr>单元测试实践—C++</vt:lpstr>
      <vt:lpstr>PowerPoint 演示文稿</vt:lpstr>
      <vt:lpstr>测试用例</vt:lpstr>
      <vt:lpstr>测试用例的重要性</vt:lpstr>
      <vt:lpstr>测试用例的概念</vt:lpstr>
      <vt:lpstr>测试用例的概念</vt:lpstr>
      <vt:lpstr>测试用例设计的要求</vt:lpstr>
      <vt:lpstr>不同类型的测试</vt:lpstr>
      <vt:lpstr>黑盒测试方法</vt:lpstr>
      <vt:lpstr>黑盒测试技术</vt:lpstr>
      <vt:lpstr>等价类划分</vt:lpstr>
      <vt:lpstr>等价类类型</vt:lpstr>
      <vt:lpstr>变量的等价类</vt:lpstr>
      <vt:lpstr>变量的等价类</vt:lpstr>
      <vt:lpstr>变量的等价类</vt:lpstr>
      <vt:lpstr>变量的等价类</vt:lpstr>
      <vt:lpstr>变量的等价类</vt:lpstr>
      <vt:lpstr>等价类组合</vt:lpstr>
      <vt:lpstr>举例：判断三角形类型</vt:lpstr>
      <vt:lpstr>举例：判断三角形类型</vt:lpstr>
      <vt:lpstr>举例：判断三角形类型</vt:lpstr>
      <vt:lpstr>边界值分析</vt:lpstr>
      <vt:lpstr>边界值分析</vt:lpstr>
      <vt:lpstr>健壮性测试</vt:lpstr>
      <vt:lpstr>健壮性测试</vt:lpstr>
      <vt:lpstr>举例：判断三角形类型 边界值分析？</vt:lpstr>
      <vt:lpstr>举例：判断三角形类型</vt:lpstr>
      <vt:lpstr>举例：判断三角形类型</vt:lpstr>
      <vt:lpstr>举例：判断三角形类型</vt:lpstr>
      <vt:lpstr>错误推测法</vt:lpstr>
      <vt:lpstr>PowerPoint 演示文稿</vt:lpstr>
      <vt:lpstr>PowerPoint 演示文稿</vt:lpstr>
      <vt:lpstr>测试覆盖标准</vt:lpstr>
      <vt:lpstr>测试覆盖标准</vt:lpstr>
      <vt:lpstr>白盒测试方法</vt:lpstr>
      <vt:lpstr>白盒测试技术</vt:lpstr>
      <vt:lpstr>控制流图</vt:lpstr>
      <vt:lpstr>PowerPoint 演示文稿</vt:lpstr>
      <vt:lpstr>FindMean(float *mean, FILE *fp)</vt:lpstr>
      <vt:lpstr>PowerPoint 演示文稿</vt:lpstr>
      <vt:lpstr>基于控制流的测试</vt:lpstr>
      <vt:lpstr>代码覆盖标准</vt:lpstr>
      <vt:lpstr>示例描述</vt:lpstr>
      <vt:lpstr>语句覆盖</vt:lpstr>
      <vt:lpstr>语句覆盖</vt:lpstr>
      <vt:lpstr>判定覆盖（分支覆盖）</vt:lpstr>
      <vt:lpstr>判定覆盖（分支覆盖）</vt:lpstr>
      <vt:lpstr>条件覆盖</vt:lpstr>
      <vt:lpstr>条件覆盖</vt:lpstr>
      <vt:lpstr>判定条件覆盖</vt:lpstr>
      <vt:lpstr>条件组合覆盖</vt:lpstr>
      <vt:lpstr>条件组合覆盖</vt:lpstr>
      <vt:lpstr>路径覆盖</vt:lpstr>
      <vt:lpstr>路径覆盖</vt:lpstr>
      <vt:lpstr>如何看待测试覆盖率</vt:lpstr>
      <vt:lpstr>基本路径测试</vt:lpstr>
      <vt:lpstr>PowerPoint 演示文稿</vt:lpstr>
      <vt:lpstr>PowerPoint 演示文稿</vt:lpstr>
      <vt:lpstr>PowerPoint 演示文稿</vt:lpstr>
      <vt:lpstr>示例：基本路径测试</vt:lpstr>
      <vt:lpstr>循环测试</vt:lpstr>
      <vt:lpstr>循环测试</vt:lpstr>
      <vt:lpstr>循环测试</vt:lpstr>
      <vt:lpstr>PowerPoint 演示文稿</vt:lpstr>
      <vt:lpstr>PowerPoint 演示文稿</vt:lpstr>
      <vt:lpstr>PowerPoint 演示文稿</vt:lpstr>
      <vt:lpstr>PowerPoint 演示文稿</vt:lpstr>
      <vt:lpstr>PowerPoint 演示文稿</vt:lpstr>
      <vt:lpstr>PowerPoint 演示文稿</vt:lpstr>
      <vt:lpstr>Python单元测试工具</vt:lpstr>
      <vt:lpstr>Python单元测试之unittest</vt:lpstr>
      <vt:lpstr>Python单元测试之unittest</vt:lpstr>
      <vt:lpstr>Python单元测试之unittest</vt:lpstr>
      <vt:lpstr>Python单元测试之mock</vt:lpstr>
      <vt:lpstr>Python单元测试之mock</vt:lpstr>
      <vt:lpstr>Python单元测试之覆盖分析</vt:lpstr>
      <vt:lpstr>案例：生命游戏</vt:lpstr>
      <vt:lpstr>案例：生命游戏</vt:lpstr>
      <vt:lpstr>案例：生命游戏</vt:lpstr>
      <vt:lpstr>创建测试</vt:lpstr>
      <vt:lpstr>创建测试</vt:lpstr>
      <vt:lpstr>创建测试</vt:lpstr>
      <vt:lpstr>创建测试</vt:lpstr>
      <vt:lpstr>创建测试</vt:lpstr>
      <vt:lpstr>运行测试</vt:lpstr>
      <vt:lpstr>PowerPoint 演示文稿</vt:lpstr>
      <vt:lpstr>创建测试</vt:lpstr>
      <vt:lpstr>案例：生命游戏</vt:lpstr>
      <vt:lpstr>案例：生命游戏</vt:lpstr>
      <vt:lpstr>案例：生命游戏</vt:lpstr>
      <vt:lpstr>案例：生命游戏</vt:lpstr>
      <vt:lpstr>案例：生命游戏</vt:lpstr>
      <vt:lpstr>案例：生命游戏</vt:lpstr>
      <vt:lpstr>get_neighbor_count</vt:lpstr>
      <vt:lpstr>get_neighbor_count</vt:lpstr>
      <vt:lpstr>get_neighbor_count</vt:lpstr>
      <vt:lpstr>get_neighbor_count_map：依赖 get_neighbor_count，  测试时对依赖方法进行mock，保持测试的独立性。</vt:lpstr>
      <vt:lpstr>案例：生命游戏</vt:lpstr>
      <vt:lpstr>案例：生命游戏</vt:lpstr>
      <vt:lpstr>案例：生命游戏</vt:lpstr>
      <vt:lpstr>案例：生命游戏</vt:lpstr>
      <vt:lpstr>覆盖率分析</vt:lpstr>
      <vt:lpstr>其他工具</vt:lpstr>
      <vt:lpstr>谢谢大家！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Microsoft Office User</cp:lastModifiedBy>
  <cp:revision>2314</cp:revision>
  <dcterms:created xsi:type="dcterms:W3CDTF">2020-02-05T07:10:00Z</dcterms:created>
  <dcterms:modified xsi:type="dcterms:W3CDTF">2025-04-28T09:27:19Z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2052-11.1.0.9914</vt:lpwstr>
  </property>
</Properties>
</file>