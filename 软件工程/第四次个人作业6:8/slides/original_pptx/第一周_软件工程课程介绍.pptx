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xml" ContentType="application/vnd.openxmlformats-officedocument.presentationml.tags+xml"/>
  <Override PartName="/ppt/notesSlides/notesSlide23.xml" ContentType="application/vnd.openxmlformats-officedocument.presentationml.notesSlide+xml"/>
  <Override PartName="/ppt/tags/tag4.xml" ContentType="application/vnd.openxmlformats-officedocument.presentationml.tags+xml"/>
  <Override PartName="/ppt/notesSlides/notesSlide24.xml" ContentType="application/vnd.openxmlformats-officedocument.presentationml.notesSlide+xml"/>
  <Override PartName="/ppt/tags/tag5.xml" ContentType="application/vnd.openxmlformats-officedocument.presentationml.tags+xml"/>
  <Override PartName="/ppt/notesSlides/notesSlide25.xml" ContentType="application/vnd.openxmlformats-officedocument.presentationml.notesSlide+xml"/>
  <Override PartName="/ppt/tags/tag6.xml" ContentType="application/vnd.openxmlformats-officedocument.presentationml.tags+xml"/>
  <Override PartName="/ppt/notesSlides/notesSlide26.xml" ContentType="application/vnd.openxmlformats-officedocument.presentationml.notesSlide+xml"/>
  <Override PartName="/ppt/tags/tag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26.xml" ContentType="application/vnd.openxmlformats-officedocument.presentationml.tags+xml"/>
  <Override PartName="/ppt/notesSlides/notesSlide33.xml" ContentType="application/vnd.openxmlformats-officedocument.presentationml.notesSlide+xml"/>
  <Override PartName="/ppt/tags/tag27.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28.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256" r:id="rId2"/>
    <p:sldId id="539" r:id="rId3"/>
    <p:sldId id="543" r:id="rId4"/>
    <p:sldId id="540" r:id="rId5"/>
    <p:sldId id="541" r:id="rId6"/>
    <p:sldId id="542" r:id="rId7"/>
    <p:sldId id="313" r:id="rId8"/>
    <p:sldId id="319" r:id="rId9"/>
    <p:sldId id="320" r:id="rId10"/>
    <p:sldId id="321" r:id="rId11"/>
    <p:sldId id="322" r:id="rId12"/>
    <p:sldId id="316" r:id="rId13"/>
    <p:sldId id="317" r:id="rId14"/>
    <p:sldId id="318" r:id="rId15"/>
    <p:sldId id="323" r:id="rId16"/>
    <p:sldId id="324" r:id="rId17"/>
    <p:sldId id="325" r:id="rId18"/>
    <p:sldId id="549" r:id="rId19"/>
    <p:sldId id="548" r:id="rId20"/>
    <p:sldId id="326" r:id="rId21"/>
    <p:sldId id="327" r:id="rId22"/>
    <p:sldId id="328" r:id="rId23"/>
    <p:sldId id="329" r:id="rId24"/>
    <p:sldId id="330" r:id="rId25"/>
    <p:sldId id="273" r:id="rId26"/>
    <p:sldId id="314" r:id="rId27"/>
    <p:sldId id="274" r:id="rId28"/>
    <p:sldId id="310" r:id="rId29"/>
    <p:sldId id="348" r:id="rId30"/>
    <p:sldId id="544" r:id="rId31"/>
    <p:sldId id="262" r:id="rId32"/>
    <p:sldId id="275" r:id="rId33"/>
    <p:sldId id="266" r:id="rId34"/>
    <p:sldId id="372" r:id="rId35"/>
    <p:sldId id="373" r:id="rId36"/>
    <p:sldId id="374" r:id="rId37"/>
    <p:sldId id="375" r:id="rId38"/>
    <p:sldId id="376" r:id="rId39"/>
    <p:sldId id="377" r:id="rId40"/>
    <p:sldId id="378" r:id="rId41"/>
    <p:sldId id="380" r:id="rId42"/>
    <p:sldId id="381" r:id="rId43"/>
    <p:sldId id="547" r:id="rId44"/>
    <p:sldId id="291" r:id="rId45"/>
    <p:sldId id="292" r:id="rId46"/>
    <p:sldId id="293" r:id="rId47"/>
    <p:sldId id="294" r:id="rId48"/>
    <p:sldId id="295" r:id="rId49"/>
    <p:sldId id="296" r:id="rId50"/>
    <p:sldId id="297" r:id="rId51"/>
    <p:sldId id="298" r:id="rId52"/>
    <p:sldId id="269" r:id="rId53"/>
    <p:sldId id="285" r:id="rId54"/>
    <p:sldId id="279" r:id="rId55"/>
    <p:sldId id="281" r:id="rId56"/>
    <p:sldId id="282" r:id="rId57"/>
    <p:sldId id="284" r:id="rId58"/>
    <p:sldId id="286" r:id="rId59"/>
    <p:sldId id="304" r:id="rId60"/>
    <p:sldId id="454" r:id="rId61"/>
    <p:sldId id="306" r:id="rId62"/>
    <p:sldId id="312" r:id="rId63"/>
    <p:sldId id="546"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3534" autoAdjust="0"/>
  </p:normalViewPr>
  <p:slideViewPr>
    <p:cSldViewPr snapToGrid="0">
      <p:cViewPr varScale="1">
        <p:scale>
          <a:sx n="76" d="100"/>
          <a:sy n="76" d="100"/>
        </p:scale>
        <p:origin x="1456" y="1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F512EB-98A4-4BE7-BD65-71E5CEC2079E}" type="datetimeFigureOut">
              <a:rPr lang="zh-CN" altLang="en-US" smtClean="0"/>
              <a:t>2026/3/2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08F8E-A66F-462A-B457-A69A741C093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zhihu.com/search?q=%E8%AE%A1%E7%AE%97%E6%9C%BA%E4%B8%8E%E8%BD%AF%E4%BB%B6&amp;search_source=Entity&amp;hybrid_search_source=Entity&amp;hybrid_search_extra=%7B%22sourceType%22%3A%22answer%22%2C%22sourceId%22%3A2022904727%7D"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www.zhihu.com/search?q=%E8%81%8C%E4%B8%9A%E8%B5%84%E6%A0%BC%E8%80%83%E8%AF%95&amp;search_source=Entity&amp;hybrid_search_source=Entity&amp;hybrid_search_extra=%7B%22sourceType%22%3A%22answer%22%2C%22sourceId%22%3A978898656%7D" TargetMode="External"/><Relationship Id="rId4" Type="http://schemas.openxmlformats.org/officeDocument/2006/relationships/hyperlink" Target="https://www.zhihu.com/search?q=%E8%B5%84%E6%A0%BC%E8%AF%81%E4%B9%A6&amp;search_source=Entity&amp;hybrid_search_source=Entity&amp;hybrid_search_extra=%7B%22sourceType%22%3A%22answer%22%2C%22sourceId%22%3A978898656%7D"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4308F8E-A66F-462A-B457-A69A741C09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a:t>
            </a:r>
            <a:r>
              <a:rPr kumimoji="1" lang="en-US" altLang="zh-CN" dirty="0"/>
              <a:t>IBM</a:t>
            </a:r>
            <a:r>
              <a:rPr kumimoji="1" lang="zh-CN" altLang="en-US" dirty="0"/>
              <a:t>从事过很多研究方向，比如虚拟现实、物联网、智慧医疗等。跟软件工程相关的主要是运维阶段的</a:t>
            </a:r>
            <a:r>
              <a:rPr kumimoji="1" lang="en-US" altLang="zh-CN" dirty="0"/>
              <a:t>AIOps</a:t>
            </a:r>
            <a:r>
              <a:rPr kumimoji="1" lang="zh-CN" altLang="en-US" dirty="0"/>
              <a:t>。</a:t>
            </a:r>
            <a:r>
              <a:rPr kumimoji="1" lang="en-US" altLang="zh-CN" dirty="0"/>
              <a:t>Ppt</a:t>
            </a:r>
            <a:r>
              <a:rPr kumimoji="1" lang="zh-CN" altLang="en-US" dirty="0"/>
              <a:t>上列出来的</a:t>
            </a:r>
            <a:r>
              <a:rPr kumimoji="1" lang="en-US" altLang="zh-CN" dirty="0"/>
              <a:t>…</a:t>
            </a:r>
            <a:r>
              <a:rPr kumimoji="1" lang="zh-CN" altLang="en-US" dirty="0"/>
              <a:t>， </a:t>
            </a:r>
            <a:r>
              <a:rPr kumimoji="1" lang="en-US" altLang="zh-CN" dirty="0"/>
              <a:t>IBM</a:t>
            </a:r>
            <a:r>
              <a:rPr kumimoji="1" lang="zh-CN" altLang="en-US" dirty="0"/>
              <a:t>给企业客户提供解决方法</a:t>
            </a:r>
            <a:endParaRPr kumimoji="1" lang="en-US" altLang="zh-CN" dirty="0"/>
          </a:p>
          <a:p>
            <a:endParaRPr kumimoji="1" lang="en-US" altLang="zh-CN" dirty="0"/>
          </a:p>
          <a:p>
            <a:r>
              <a:rPr kumimoji="1" lang="zh-CN" altLang="en-US" dirty="0"/>
              <a:t>获取客户需求，联系后台的软件部、硬件部门、开发部门进行系统设计。</a:t>
            </a:r>
            <a:endParaRPr kumimoji="1" lang="en-US" altLang="zh-CN" dirty="0"/>
          </a:p>
          <a:p>
            <a:endParaRPr kumimoji="1" lang="en-US" altLang="zh-CN" dirty="0"/>
          </a:p>
          <a:p>
            <a:r>
              <a:rPr kumimoji="1" lang="zh-CN" altLang="en-US" dirty="0"/>
              <a:t>还是喜欢科研、怀念校园生活</a:t>
            </a:r>
            <a:endParaRPr kumimoji="1" lang="en-US" altLang="zh-CN" dirty="0"/>
          </a:p>
          <a:p>
            <a:endParaRPr kumimoji="1" lang="en-US" altLang="zh-CN" dirty="0"/>
          </a:p>
          <a:p>
            <a:r>
              <a:rPr kumimoji="1" lang="zh-CN" altLang="en-US" dirty="0"/>
              <a:t>故障单、客服对话</a:t>
            </a:r>
            <a:endParaRPr kumimoji="1" lang="en-US" altLang="zh-CN" dirty="0"/>
          </a:p>
          <a:p>
            <a:endParaRPr kumimoji="1" lang="en-US" altLang="zh-CN" dirty="0"/>
          </a:p>
          <a:p>
            <a:r>
              <a:rPr kumimoji="1" lang="zh-CN" altLang="en-US" dirty="0"/>
              <a:t>总结一下 有一些研究热情、懂一些企业经验。</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a:t>
            </a:fld>
            <a:endParaRPr lang="zh-CN" altLang="en-US"/>
          </a:p>
        </p:txBody>
      </p:sp>
    </p:spTree>
    <p:extLst>
      <p:ext uri="{BB962C8B-B14F-4D97-AF65-F5344CB8AC3E}">
        <p14:creationId xmlns:p14="http://schemas.microsoft.com/office/powerpoint/2010/main" val="3313324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121212"/>
                </a:solidFill>
                <a:effectLst/>
                <a:latin typeface="inherit"/>
              </a:rPr>
              <a:t>软考是什么？</a:t>
            </a:r>
          </a:p>
          <a:p>
            <a:pPr algn="l"/>
            <a:r>
              <a:rPr lang="zh-CN" altLang="en-US" b="0" i="0" dirty="0">
                <a:solidFill>
                  <a:srgbClr val="121212"/>
                </a:solidFill>
                <a:effectLst/>
                <a:latin typeface="-apple-system"/>
              </a:rPr>
              <a:t>软考就是</a:t>
            </a:r>
            <a:r>
              <a:rPr lang="zh-CN" altLang="en-US" b="0" i="0" u="none" strike="noStrike" dirty="0">
                <a:solidFill>
                  <a:srgbClr val="175199"/>
                </a:solidFill>
                <a:effectLst/>
                <a:latin typeface="-apple-system"/>
                <a:hlinkClick r:id="rId3"/>
              </a:rPr>
              <a:t>计算机与软件</a:t>
            </a:r>
            <a:r>
              <a:rPr lang="zh-CN" altLang="en-US" b="0" i="0" dirty="0">
                <a:solidFill>
                  <a:srgbClr val="121212"/>
                </a:solidFill>
                <a:effectLst/>
                <a:latin typeface="-apple-system"/>
              </a:rPr>
              <a:t>专业技术资格水平考试，是由人社部和工信部领导的国家级考试。</a:t>
            </a:r>
          </a:p>
          <a:p>
            <a:r>
              <a:rPr lang="zh-CN" altLang="en-US" b="0" i="0" dirty="0">
                <a:solidFill>
                  <a:srgbClr val="121212"/>
                </a:solidFill>
                <a:effectLst/>
                <a:latin typeface="-apple-system"/>
              </a:rPr>
              <a:t>是</a:t>
            </a:r>
            <a:r>
              <a:rPr lang="en" altLang="zh-CN" b="0" i="0" dirty="0">
                <a:solidFill>
                  <a:srgbClr val="121212"/>
                </a:solidFill>
                <a:effectLst/>
                <a:latin typeface="-apple-system"/>
              </a:rPr>
              <a:t>IT</a:t>
            </a:r>
            <a:r>
              <a:rPr lang="zh-CN" altLang="en-US" b="0" i="0" dirty="0">
                <a:solidFill>
                  <a:srgbClr val="121212"/>
                </a:solidFill>
                <a:effectLst/>
                <a:latin typeface="-apple-system"/>
              </a:rPr>
              <a:t>行业唯一的</a:t>
            </a:r>
            <a:r>
              <a:rPr lang="zh-CN" altLang="en-US" b="0" i="0" u="none" strike="noStrike" dirty="0">
                <a:solidFill>
                  <a:srgbClr val="175199"/>
                </a:solidFill>
                <a:effectLst/>
                <a:latin typeface="-apple-system"/>
                <a:hlinkClick r:id="rId4"/>
              </a:rPr>
              <a:t>资格证书</a:t>
            </a:r>
            <a:r>
              <a:rPr lang="zh-CN" altLang="en-US" b="0" i="0" dirty="0">
                <a:solidFill>
                  <a:srgbClr val="121212"/>
                </a:solidFill>
                <a:effectLst/>
                <a:latin typeface="-apple-system"/>
              </a:rPr>
              <a:t>。软考既是</a:t>
            </a:r>
            <a:r>
              <a:rPr lang="zh-CN" altLang="en-US" b="0" i="0" u="none" strike="noStrike" dirty="0">
                <a:solidFill>
                  <a:srgbClr val="175199"/>
                </a:solidFill>
                <a:effectLst/>
                <a:latin typeface="-apple-system"/>
                <a:hlinkClick r:id="rId5"/>
              </a:rPr>
              <a:t>职业资格考试</a:t>
            </a:r>
            <a:r>
              <a:rPr lang="zh-CN" altLang="en-US" b="0" i="0" dirty="0">
                <a:solidFill>
                  <a:srgbClr val="121212"/>
                </a:solidFill>
                <a:effectLst/>
                <a:latin typeface="-apple-system"/>
              </a:rPr>
              <a:t>又是职称资格考试</a:t>
            </a:r>
            <a:endParaRPr kumimoji="1"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extLst>
      <p:ext uri="{BB962C8B-B14F-4D97-AF65-F5344CB8AC3E}">
        <p14:creationId xmlns:p14="http://schemas.microsoft.com/office/powerpoint/2010/main" val="229110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r>
              <a:rPr kumimoji="1" lang="zh-CN" altLang="en-US" dirty="0"/>
              <a:t>研究员也会用到</a:t>
            </a:r>
            <a:r>
              <a:rPr kumimoji="1" lang="en-US" altLang="zh-CN" dirty="0"/>
              <a:t>Agile</a:t>
            </a:r>
            <a:r>
              <a:rPr kumimoji="1" lang="zh-CN" altLang="en-US" dirty="0"/>
              <a:t> 敏捷 周期短、速度快、需求可变</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a:t>
            </a:fld>
            <a:endParaRPr lang="zh-CN" altLang="en-US"/>
          </a:p>
        </p:txBody>
      </p:sp>
    </p:spTree>
    <p:extLst>
      <p:ext uri="{BB962C8B-B14F-4D97-AF65-F5344CB8AC3E}">
        <p14:creationId xmlns:p14="http://schemas.microsoft.com/office/powerpoint/2010/main" val="698400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r>
              <a:rPr lang="zh-CN" altLang="en-US" sz="1200" dirty="0"/>
              <a:t>软件工程：</a:t>
            </a:r>
            <a:endParaRPr lang="en-US" altLang="zh-CN" sz="1200" dirty="0"/>
          </a:p>
          <a:p>
            <a:r>
              <a:rPr lang="zh-CN" altLang="en-US" sz="1200" dirty="0"/>
              <a:t>定义，什么是软件，软件工程，软件生命周期</a:t>
            </a:r>
            <a:endParaRPr lang="en-US" altLang="zh-CN" sz="1200" dirty="0"/>
          </a:p>
          <a:p>
            <a:r>
              <a:rPr lang="zh-CN" altLang="zh-CN" sz="1200" dirty="0"/>
              <a:t>软件</a:t>
            </a:r>
            <a:r>
              <a:rPr lang="zh-CN" altLang="en-US" sz="1200" dirty="0"/>
              <a:t>开发</a:t>
            </a:r>
            <a:r>
              <a:rPr lang="zh-CN" altLang="zh-CN" sz="1200" dirty="0"/>
              <a:t>过程</a:t>
            </a:r>
            <a:r>
              <a:rPr lang="zh-CN" altLang="en-US" sz="1200" dirty="0"/>
              <a:t>：</a:t>
            </a:r>
            <a:endParaRPr lang="en-US" altLang="zh-CN" sz="1200" dirty="0"/>
          </a:p>
          <a:p>
            <a:r>
              <a:rPr kumimoji="1" lang="zh-CN" altLang="en-US" dirty="0"/>
              <a:t>软件质量保障，管理 </a:t>
            </a:r>
            <a:endParaRPr kumimoji="1" lang="en-US" altLang="zh-CN" dirty="0"/>
          </a:p>
          <a:p>
            <a:r>
              <a:rPr kumimoji="1" lang="zh-CN" altLang="en-US" dirty="0"/>
              <a:t>软件流程介绍一些方法论：</a:t>
            </a:r>
            <a:endParaRPr kumimoji="1" lang="en-US" altLang="zh-CN" dirty="0"/>
          </a:p>
          <a:p>
            <a:r>
              <a:rPr kumimoji="1" lang="zh-CN" altLang="en-US" dirty="0"/>
              <a:t>需求工程、 面向对象的设计方法、极限编程、单元测试、黑盒测试、白盒测试 </a:t>
            </a:r>
            <a:endParaRPr kumimoji="1" lang="en-US" altLang="zh-CN" dirty="0"/>
          </a:p>
          <a:p>
            <a:endParaRPr kumimoji="1" lang="en-US" altLang="zh-CN" dirty="0"/>
          </a:p>
          <a:p>
            <a:pPr algn="l">
              <a:buFont typeface="+mj-lt"/>
              <a:buAutoNum type="arabicPeriod"/>
            </a:pPr>
            <a:endParaRPr lang="zh-CN" altLang="en-US" b="0" i="0" u="none" strike="noStrike" dirty="0">
              <a:solidFill>
                <a:srgbClr val="333333"/>
              </a:solidFill>
              <a:effectLst/>
              <a:latin typeface="PingFang SC" panose="020B0400000000000000" pitchFamily="34" charset="-122"/>
              <a:ea typeface="PingFang SC" panose="020B0400000000000000" pitchFamily="34" charset="-122"/>
            </a:endParaRPr>
          </a:p>
          <a:p>
            <a:pPr algn="l">
              <a:buFont typeface="+mj-lt"/>
              <a:buAutoNum type="arabicPeriod"/>
            </a:pPr>
            <a:r>
              <a:rPr lang="zh-CN" altLang="en-US" b="1" i="0" u="none" strike="noStrike" dirty="0">
                <a:solidFill>
                  <a:srgbClr val="333333"/>
                </a:solidFill>
                <a:effectLst/>
                <a:latin typeface="PingFang SC" panose="020B0400000000000000" pitchFamily="34" charset="-122"/>
                <a:ea typeface="PingFang SC" panose="020B0400000000000000" pitchFamily="34" charset="-122"/>
              </a:rPr>
              <a:t>软件开发过程</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是指在软件开发的整个过程以及开发完成后的维护中的所有活动工作。它涵盖了软件开发的各个阶段和活动，包括需求分析、设计、编码、测试、部署和维护等。软件开发过程强调对软件开发活动的全面把握和关键点的监督，具有灵活性，适应于柔性管理的需要‌</a:t>
            </a:r>
            <a:r>
              <a:rPr lang="en-US" altLang="zh-CN" b="0" i="0" u="none" strike="noStrike" dirty="0">
                <a:solidFill>
                  <a:srgbClr val="333333"/>
                </a:solidFill>
                <a:effectLst/>
                <a:latin typeface="PingFang SC" panose="020B0400000000000000" pitchFamily="34" charset="-122"/>
                <a:ea typeface="PingFang SC" panose="020B0400000000000000" pitchFamily="34" charset="-122"/>
              </a:rPr>
              <a:t>12</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a:t>
            </a:r>
          </a:p>
          <a:p>
            <a:pPr algn="l">
              <a:buFont typeface="+mj-lt"/>
              <a:buAutoNum type="arabicPeriod"/>
            </a:pPr>
            <a:r>
              <a:rPr lang="zh-CN" altLang="en-US" b="0" i="0" u="none" strike="noStrike" dirty="0">
                <a:solidFill>
                  <a:srgbClr val="333333"/>
                </a:solidFill>
                <a:effectLst/>
                <a:latin typeface="PingFang SC" panose="020B0400000000000000" pitchFamily="34" charset="-122"/>
                <a:ea typeface="PingFang SC" panose="020B0400000000000000" pitchFamily="34" charset="-122"/>
              </a:rPr>
              <a:t>‌</a:t>
            </a:r>
            <a:r>
              <a:rPr lang="zh-CN" altLang="en-US" b="1" i="0" u="none" strike="noStrike" dirty="0">
                <a:solidFill>
                  <a:srgbClr val="333333"/>
                </a:solidFill>
                <a:effectLst/>
                <a:latin typeface="PingFang SC" panose="020B0400000000000000" pitchFamily="34" charset="-122"/>
                <a:ea typeface="PingFang SC" panose="020B0400000000000000" pitchFamily="34" charset="-122"/>
              </a:rPr>
              <a:t>软件流程</a:t>
            </a:r>
            <a:r>
              <a:rPr lang="zh-CN" altLang="en-US" b="0" i="0" u="none" strike="noStrike" dirty="0">
                <a:solidFill>
                  <a:srgbClr val="333333"/>
                </a:solidFill>
                <a:effectLst/>
                <a:latin typeface="PingFang SC" panose="020B0400000000000000" pitchFamily="34" charset="-122"/>
                <a:ea typeface="PingFang SC" panose="020B0400000000000000" pitchFamily="34" charset="-122"/>
              </a:rPr>
              <a:t>‌：更具体地指通过执行一系列顺序任务以线性方式引导软件开发的过程。每个任务都有明确的输入、转换和输出，侧重于对每一个环节进行程序化的处理，确保每一步都按照预定的步骤和规范进行‌</a:t>
            </a:r>
          </a:p>
          <a:p>
            <a:br>
              <a:rPr lang="zh-CN" altLang="en-US" dirty="0"/>
            </a:br>
            <a:endParaRPr kumimoji="1" lang="en-US" altLang="zh-CN" dirty="0"/>
          </a:p>
          <a:p>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6</a:t>
            </a:fld>
            <a:endParaRPr lang="zh-CN" altLang="en-US"/>
          </a:p>
        </p:txBody>
      </p:sp>
    </p:spTree>
    <p:extLst>
      <p:ext uri="{BB962C8B-B14F-4D97-AF65-F5344CB8AC3E}">
        <p14:creationId xmlns:p14="http://schemas.microsoft.com/office/powerpoint/2010/main" val="3587744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7</a:t>
            </a:fld>
            <a:endParaRPr lang="zh-CN" altLang="en-US"/>
          </a:p>
        </p:txBody>
      </p:sp>
    </p:spTree>
    <p:extLst>
      <p:ext uri="{BB962C8B-B14F-4D97-AF65-F5344CB8AC3E}">
        <p14:creationId xmlns:p14="http://schemas.microsoft.com/office/powerpoint/2010/main" val="241994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 </a:t>
            </a:r>
            <a:r>
              <a:rPr kumimoji="1" lang="en-US" altLang="zh-CN" dirty="0"/>
              <a:t>2</a:t>
            </a:r>
            <a:r>
              <a:rPr kumimoji="1" lang="zh-CN" altLang="en-US" dirty="0"/>
              <a:t>， </a:t>
            </a:r>
            <a:r>
              <a:rPr kumimoji="1" lang="en-US" altLang="zh-CN" dirty="0"/>
              <a:t>3</a:t>
            </a:r>
            <a:r>
              <a:rPr kumimoji="1" lang="zh-CN" altLang="en-US" dirty="0"/>
              <a:t> 可以按上、中、下三类层次 </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a:t>
            </a:fld>
            <a:endParaRPr lang="zh-CN" altLang="en-US"/>
          </a:p>
        </p:txBody>
      </p:sp>
    </p:spTree>
    <p:extLst>
      <p:ext uri="{BB962C8B-B14F-4D97-AF65-F5344CB8AC3E}">
        <p14:creationId xmlns:p14="http://schemas.microsoft.com/office/powerpoint/2010/main" val="564368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11</a:t>
            </a:fld>
            <a:endParaRPr lang="zh-CN" altLang="en-US"/>
          </a:p>
        </p:txBody>
      </p:sp>
    </p:spTree>
    <p:extLst>
      <p:ext uri="{BB962C8B-B14F-4D97-AF65-F5344CB8AC3E}">
        <p14:creationId xmlns:p14="http://schemas.microsoft.com/office/powerpoint/2010/main" val="4091935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还是会用瀑布模式授课，可能还有这样的问题。但是我们稍作修改。软件工程的教学应该考虑让学生一直能保持有具体的事情做, 而且做了之后能看到效果</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还是会用瀑布模式授课，可能还</a:t>
            </a:r>
            <a:endParaRPr lang="en-US" altLang="zh-CN" dirty="0"/>
          </a:p>
          <a:p>
            <a:r>
              <a:rPr lang="zh-CN" altLang="en-US" dirty="0"/>
              <a:t>有这样的问题。但是我们稍作修改。一、软件工程的教学应该考虑让学生一直能保持有具体的事情做, 而且做了之后能看到效果</a:t>
            </a:r>
            <a:br>
              <a:rPr lang="en-US" altLang="zh-CN" dirty="0"/>
            </a:br>
            <a:r>
              <a:rPr lang="zh-CN" altLang="en-US" dirty="0"/>
              <a:t>必须有效果。</a:t>
            </a:r>
            <a:br>
              <a:rPr lang="en-US" altLang="zh-CN" dirty="0"/>
            </a:br>
            <a:r>
              <a:rPr lang="zh-CN" altLang="en-US" dirty="0"/>
              <a:t>设计效果： </a:t>
            </a:r>
            <a:r>
              <a:rPr lang="en-US" altLang="zh-CN" dirty="0"/>
              <a:t>MVP</a:t>
            </a:r>
            <a:r>
              <a:rPr lang="zh-CN" altLang="en-US" dirty="0"/>
              <a:t>，美国的初创公司</a:t>
            </a:r>
            <a:endParaRPr lang="en-US" altLang="zh-CN" dirty="0"/>
          </a:p>
          <a:p>
            <a:r>
              <a:rPr lang="zh-CN" altLang="en-US" dirty="0"/>
              <a:t>实现阶段：代码量，功能点覆盖，代码风格，</a:t>
            </a:r>
            <a:r>
              <a:rPr lang="en-US" altLang="zh-CN" dirty="0"/>
              <a:t>Code Review</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18</a:t>
            </a:fld>
            <a:endParaRPr lang="zh-CN" altLang="en-US"/>
          </a:p>
        </p:txBody>
      </p:sp>
    </p:spTree>
    <p:extLst>
      <p:ext uri="{BB962C8B-B14F-4D97-AF65-F5344CB8AC3E}">
        <p14:creationId xmlns:p14="http://schemas.microsoft.com/office/powerpoint/2010/main" val="2714248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C2F4-B997-3E3A-22EA-4EB911ECF1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671DF7-0279-5DCB-00D9-5D96D4D52D1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7D5F7A5-3F4A-91A1-7773-2646B10207C6}"/>
              </a:ext>
            </a:extLst>
          </p:cNvPr>
          <p:cNvSpPr>
            <a:spLocks noGrp="1"/>
          </p:cNvSpPr>
          <p:nvPr>
            <p:ph type="body" idx="3"/>
          </p:nvPr>
        </p:nvSpPr>
        <p:spPr/>
        <p:txBody>
          <a:bodyPr/>
          <a:lstStyle/>
          <a:p>
            <a:r>
              <a:rPr lang="zh-CN" altLang="en-US" dirty="0">
                <a:sym typeface="+mn-ea"/>
              </a:rPr>
              <a:t>在我们写论文的时候， 凡是引用别人的文献的地方，要明确地标注出来，要符合各种规定。 在写作业文档的时候，要求没有那么严格，但至少要写上原来文章的地址。 这样的要求太难么？</a:t>
            </a:r>
          </a:p>
          <a:p>
            <a:endParaRPr lang="zh-CN" altLang="en-US" dirty="0"/>
          </a:p>
          <a:p>
            <a:r>
              <a:rPr lang="zh-CN" altLang="en-US" dirty="0"/>
              <a:t>随机点名</a:t>
            </a:r>
          </a:p>
          <a:p>
            <a:endParaRPr lang="zh-CN" altLang="en-US" dirty="0"/>
          </a:p>
          <a:p>
            <a:r>
              <a:rPr lang="zh-CN" altLang="en-US" dirty="0"/>
              <a:t>如果要做一个软件，不可避免地会用到别人的代码，有些是在别人代码的基础上改进，或者使用了别人的模块，或者克隆 （clone）了别人的代码仓库... 那怎么鉴别合理的使用和不合理的使用呢？ </a:t>
            </a:r>
          </a:p>
          <a:p>
            <a:endParaRPr lang="zh-CN" altLang="en-US" dirty="0"/>
          </a:p>
          <a:p>
            <a:r>
              <a:rPr lang="zh-CN" altLang="en-US" dirty="0"/>
              <a:t>随机点名</a:t>
            </a:r>
          </a:p>
        </p:txBody>
      </p:sp>
    </p:spTree>
    <p:extLst>
      <p:ext uri="{BB962C8B-B14F-4D97-AF65-F5344CB8AC3E}">
        <p14:creationId xmlns:p14="http://schemas.microsoft.com/office/powerpoint/2010/main" val="1225773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在我们写论文的时候， 凡是引用别人的文献的地方，要明确地标注出来，要符合各种规定。 在写作业文档的时候，要求没有那么严格，但至少要写上原来文章的地址。 这样的要求太难么？</a:t>
            </a:r>
          </a:p>
          <a:p>
            <a:endParaRPr lang="zh-CN" altLang="en-US" dirty="0"/>
          </a:p>
          <a:p>
            <a:r>
              <a:rPr lang="zh-CN" altLang="en-US" dirty="0"/>
              <a:t>随机点名</a:t>
            </a:r>
          </a:p>
          <a:p>
            <a:endParaRPr lang="zh-CN" altLang="en-US" dirty="0"/>
          </a:p>
          <a:p>
            <a:r>
              <a:rPr lang="zh-CN" altLang="en-US" dirty="0"/>
              <a:t>如果要做一个软件，不可避免地会用到别人的代码，有些是在别人代码的基础上改进，或者使用了别人的模块，或者克隆 （clone）了别人的代码仓库... 那怎么鉴别合理的使用和不合理的使用呢？ </a:t>
            </a:r>
          </a:p>
          <a:p>
            <a:endParaRPr lang="zh-CN" altLang="en-US" dirty="0"/>
          </a:p>
          <a:p>
            <a:r>
              <a:rPr lang="zh-CN" altLang="en-US" dirty="0"/>
              <a:t>随机点名</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我们使用的教材是由机械工业出版社出版的软件工程第</a:t>
            </a:r>
            <a:r>
              <a:rPr lang="en-US" altLang="zh-CN" dirty="0"/>
              <a:t>9</a:t>
            </a:r>
            <a:r>
              <a:rPr lang="zh-CN" altLang="en-US" dirty="0"/>
              <a:t>版。</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我们的参考资料主要包括。。。两本书。</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我们的参考资料主要包括。。。两本书。</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28</a:t>
            </a:fld>
            <a:endParaRPr lang="zh-CN" altLang="en-US"/>
          </a:p>
        </p:txBody>
      </p:sp>
    </p:spTree>
    <p:extLst>
      <p:ext uri="{BB962C8B-B14F-4D97-AF65-F5344CB8AC3E}">
        <p14:creationId xmlns:p14="http://schemas.microsoft.com/office/powerpoint/2010/main" val="2129921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好，我是徐老师，本学期由我为大家讲授软件工程这门课程，本节课所讲授的内容主要包括软件工程的课程介绍、主要学习目标、使用的教材和参考资料、课程的作业和考核要求以及软件工程的产生与发展和基本概念等。</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29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近由于新冠肺炎疫情，老师和同学们不得不宅在家里，减少外出传染的概率。大家宅在家中的一天都是怎么度过的呢。首先，清晨闹钟软件将部分同学唤醒，老师的习惯是打开新闻软件，看最近新增确诊人数，以及医护人员的感人事迹。然后，忙碌的一天开始了，为了延期不停学，同学们使用在线课堂，老师们准备网络直播授课，无论是自学还是上课，最后都需要编程实践，于是同学们打开集成开发环境或者喜欢的编辑器也好，进行实践。晚饭的时候小伙伴们还可以通过视频软件远程聚餐，以及</a:t>
            </a:r>
            <a:r>
              <a:rPr lang="en-US" altLang="zh-CN" dirty="0"/>
              <a:t>VR</a:t>
            </a:r>
            <a:r>
              <a:rPr lang="zh-CN" altLang="en-US" dirty="0"/>
              <a:t>，手游，端游等游戏。大家会发现，即使足不出户，我们的生活也可以忙碌而充实，因为软件与我们的生活息息相关，它早已无处不在。</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31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到底什么是软件呢？举个例子，比如我们可以使用雨课堂进行直播授课，打开雨课堂小程序，我可以看到我教的课以及我听的课，进入软件工程这门课，我可以进行发布课件，试卷或者公告等操作，我也可以看到选这门课的学生有哪些。同时，如果老师或同学对雨课堂的操作不熟悉的话，还可以查看帮助文档。</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举例说明，所以，软件到底包括什么呢。软件实际上由三个部分组成，分别是程序，数据和文档。其中，程序 用雨课堂软件来举例说明 </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33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我们学习生活中其实由多种多样的软件，按软件的功能来划分，软件可以分为系统软件，支撑软件和应用软件等等。</a:t>
            </a:r>
            <a:endParaRPr lang="zh-CN" altLang="en-US" sz="1200" dirty="0">
              <a:latin typeface="+mn-ea"/>
            </a:endParaRPr>
          </a:p>
        </p:txBody>
      </p:sp>
      <p:sp>
        <p:nvSpPr>
          <p:cNvPr id="4" name="灯片编号占位符 3"/>
          <p:cNvSpPr>
            <a:spLocks noGrp="1"/>
          </p:cNvSpPr>
          <p:nvPr>
            <p:ph type="sldNum" sz="quarter" idx="10"/>
          </p:nvPr>
        </p:nvSpPr>
        <p:spPr/>
        <p:txBody>
          <a:bodyPr/>
          <a:lstStyle/>
          <a:p>
            <a:fld id="{64308F8E-A66F-462A-B457-A69A741C0933}" type="slidenum">
              <a:rPr lang="zh-CN" altLang="en-US" smtClean="0"/>
              <a:t>34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按照软件的工作方式划分，软件又可以分为实时处理软件，分时软件，交互式软件和批处理软件等。</a:t>
            </a:r>
            <a:endParaRPr lang="en-US" altLang="zh-CN" dirty="0"/>
          </a:p>
          <a:p>
            <a:r>
              <a:rPr lang="zh-CN" altLang="en-US" dirty="0"/>
              <a:t>当然还有其它不同的划分，比如按照软件规模和生命周期划分，按照软件所处系统环境划分等等。</a:t>
            </a:r>
            <a:endParaRPr lang="en-US" altLang="zh-CN" dirty="0"/>
          </a:p>
          <a:p>
            <a:r>
              <a:rPr lang="zh-CN" altLang="en-US" dirty="0"/>
              <a:t>实际上，不同软件类型之间的边界是模糊的，例如一个公司的差旅费报销申请，可能是通过</a:t>
            </a:r>
            <a:r>
              <a:rPr lang="en-US" altLang="zh-CN" dirty="0"/>
              <a:t>Web</a:t>
            </a:r>
            <a:r>
              <a:rPr lang="zh-CN" altLang="en-US" dirty="0"/>
              <a:t>应用提交，但需要批处理应用来处理，以实现按月支付。此时它既是实时处理软件，又是批处理软件。</a:t>
            </a:r>
            <a:endParaRPr lang="en-US" altLang="zh-CN" dirty="0"/>
          </a:p>
          <a:p>
            <a:r>
              <a:rPr lang="zh-CN" altLang="en-US" b="1" i="0" u="none" strike="noStrike" dirty="0">
                <a:solidFill>
                  <a:srgbClr val="333333"/>
                </a:solidFill>
                <a:effectLst/>
                <a:latin typeface="-apple-system"/>
              </a:rPr>
              <a:t>分时软件是一种允许多个用户同时使用一台计算机的应用程序或系统。</a:t>
            </a:r>
            <a:endParaRPr lang="zh-CN" altLang="en-US" dirty="0"/>
          </a:p>
        </p:txBody>
      </p:sp>
      <p:sp>
        <p:nvSpPr>
          <p:cNvPr id="4" name="灯片编号占位符 3"/>
          <p:cNvSpPr>
            <a:spLocks noGrp="1"/>
          </p:cNvSpPr>
          <p:nvPr>
            <p:ph type="sldNum" sz="quarter" idx="10"/>
          </p:nvPr>
        </p:nvSpPr>
        <p:spPr/>
        <p:txBody>
          <a:bodyPr/>
          <a:lstStyle/>
          <a:p>
            <a:fld id="{64308F8E-A66F-462A-B457-A69A741C0933}" type="slidenum">
              <a:rPr lang="zh-CN" altLang="en-US" smtClean="0"/>
              <a:t>35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除了多样性以外，软件还具有相当的复杂性，例如</a:t>
            </a:r>
            <a:r>
              <a:rPr lang="en-US" altLang="zh-CN" dirty="0"/>
              <a:t>Linux</a:t>
            </a:r>
            <a:r>
              <a:rPr lang="zh-CN" altLang="en-US" dirty="0"/>
              <a:t>，。。。，这幅图还仅仅是静态调用。</a:t>
            </a:r>
            <a:r>
              <a:rPr lang="zh-CN" altLang="en-US" dirty="0">
                <a:sym typeface="+mn-ea"/>
              </a:rPr>
              <a:t>软件工程师通常一次只能看到</a:t>
            </a:r>
            <a:r>
              <a:rPr lang="en-US" altLang="zh-CN" dirty="0">
                <a:sym typeface="+mn-ea"/>
              </a:rPr>
              <a:t>30—80</a:t>
            </a:r>
            <a:r>
              <a:rPr lang="zh-CN" altLang="en-US" dirty="0">
                <a:sym typeface="+mn-ea"/>
              </a:rPr>
              <a:t>行源代码（相当于显示器的一屏）， 他们的智力、记忆力和常人差不多。软件的各个模块之间有各种显性或 隐性的依赖关系，随着系统的成长和模块的增多，这些关系的数量往往以几何级数的速度增长。</a:t>
            </a:r>
            <a:endParaRPr lang="en-US" altLang="zh-CN" dirty="0"/>
          </a:p>
          <a:p>
            <a:r>
              <a:rPr lang="en-US" altLang="zh-CN" dirty="0"/>
              <a:t>Google</a:t>
            </a:r>
            <a:r>
              <a:rPr lang="zh-CN" altLang="en-US" dirty="0"/>
              <a:t>。。。</a:t>
            </a:r>
            <a:endParaRPr lang="en-US" altLang="zh-CN" dirty="0"/>
          </a:p>
          <a:p>
            <a:r>
              <a:rPr lang="zh-CN" altLang="en-US" dirty="0"/>
              <a:t>当然，并不是所有软件都一定是复杂的，但在实际应用中，复杂的软件系统很难避免。</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36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除此以外，软件的复杂性还体现在软件不能。。。</a:t>
            </a:r>
            <a:endParaRPr lang="en-US" altLang="zh-CN" dirty="0"/>
          </a:p>
          <a:p>
            <a:r>
              <a:rPr lang="zh-CN" altLang="en-US" dirty="0"/>
              <a:t>例如</a:t>
            </a:r>
            <a:endParaRPr lang="en-US" altLang="zh-CN" dirty="0"/>
          </a:p>
          <a:p>
            <a:r>
              <a:rPr lang="zh-CN" altLang="en-US" dirty="0"/>
              <a:t>一个接口的错误会导致整个软件功能发生改变</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37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最后，软件的复杂性还体现在软件和其环境随着时间的推移而不断变化。例如于</a:t>
            </a:r>
            <a:r>
              <a:rPr lang="en-US" altLang="zh-CN" dirty="0"/>
              <a:t>2010</a:t>
            </a:r>
            <a:r>
              <a:rPr lang="zh-CN" altLang="en-US" dirty="0"/>
              <a:t>年</a:t>
            </a:r>
            <a:r>
              <a:rPr lang="en-US" altLang="zh-CN" dirty="0"/>
              <a:t>11</a:t>
            </a:r>
            <a:r>
              <a:rPr lang="zh-CN" altLang="en-US" dirty="0"/>
              <a:t>月</a:t>
            </a:r>
            <a:r>
              <a:rPr lang="en-US" altLang="zh-CN" dirty="0"/>
              <a:t>20</a:t>
            </a:r>
            <a:r>
              <a:rPr lang="zh-CN" altLang="en-US" dirty="0"/>
              <a:t>日正式立项的微信，再</a:t>
            </a:r>
            <a:r>
              <a:rPr lang="en-US" altLang="zh-CN" dirty="0"/>
              <a:t>2011</a:t>
            </a:r>
            <a:r>
              <a:rPr lang="zh-CN" altLang="en-US" dirty="0"/>
              <a:t>年初，发布第一个版本时，仅支持文字短信、</a:t>
            </a:r>
            <a:r>
              <a:rPr lang="en-US" altLang="zh-CN" dirty="0"/>
              <a:t>QQ</a:t>
            </a:r>
            <a:r>
              <a:rPr lang="zh-CN" altLang="en-US" dirty="0"/>
              <a:t>好友和头像等功能；随后，在其发布的</a:t>
            </a:r>
            <a:r>
              <a:rPr lang="en-US" altLang="zh-CN" dirty="0"/>
              <a:t>2.0</a:t>
            </a:r>
            <a:r>
              <a:rPr lang="zh-CN" altLang="en-US" dirty="0"/>
              <a:t>版本中扩展了现在被频繁使用的语音对讲功能；</a:t>
            </a:r>
            <a:endParaRPr lang="en-US" altLang="zh-CN" dirty="0"/>
          </a:p>
          <a:p>
            <a:r>
              <a:rPr lang="zh-CN" altLang="en-US" dirty="0"/>
              <a:t>在</a:t>
            </a:r>
            <a:r>
              <a:rPr lang="en-US" altLang="zh-CN" dirty="0"/>
              <a:t>2011</a:t>
            </a:r>
            <a:r>
              <a:rPr lang="zh-CN" altLang="en-US" dirty="0"/>
              <a:t>年</a:t>
            </a:r>
            <a:r>
              <a:rPr lang="en-US" altLang="zh-CN" dirty="0"/>
              <a:t>8</a:t>
            </a:r>
            <a:r>
              <a:rPr lang="zh-CN" altLang="en-US" dirty="0"/>
              <a:t>月至</a:t>
            </a:r>
            <a:r>
              <a:rPr lang="en-US" altLang="zh-CN" dirty="0"/>
              <a:t>12</a:t>
            </a:r>
            <a:r>
              <a:rPr lang="zh-CN" altLang="en-US" dirty="0"/>
              <a:t>月期间，微信相继发布了</a:t>
            </a:r>
            <a:r>
              <a:rPr lang="en-US" altLang="zh-CN" dirty="0"/>
              <a:t>2.5</a:t>
            </a:r>
            <a:r>
              <a:rPr lang="zh-CN" altLang="en-US" dirty="0"/>
              <a:t>，</a:t>
            </a:r>
            <a:r>
              <a:rPr lang="en-US" altLang="zh-CN" dirty="0"/>
              <a:t>3.0</a:t>
            </a:r>
            <a:r>
              <a:rPr lang="zh-CN" altLang="en-US" dirty="0"/>
              <a:t>和</a:t>
            </a:r>
            <a:r>
              <a:rPr lang="en-US" altLang="zh-CN" dirty="0"/>
              <a:t>3.5</a:t>
            </a:r>
            <a:r>
              <a:rPr lang="zh-CN" altLang="en-US" dirty="0"/>
              <a:t>三个重要版本，其中微信</a:t>
            </a:r>
            <a:r>
              <a:rPr lang="en-US" altLang="zh-CN" dirty="0"/>
              <a:t>2.5</a:t>
            </a:r>
            <a:r>
              <a:rPr lang="zh-CN" altLang="en-US" dirty="0"/>
              <a:t>所支持的查看附近的人这一功能，使得微信用户人数暴涨。在</a:t>
            </a:r>
            <a:r>
              <a:rPr lang="en-US" altLang="zh-CN" dirty="0"/>
              <a:t>2012</a:t>
            </a:r>
            <a:r>
              <a:rPr lang="zh-CN" altLang="en-US" dirty="0"/>
              <a:t>年，微信又相继发布了</a:t>
            </a:r>
            <a:r>
              <a:rPr lang="en-US" altLang="zh-CN" dirty="0"/>
              <a:t>4.0</a:t>
            </a:r>
            <a:r>
              <a:rPr lang="zh-CN" altLang="en-US" dirty="0"/>
              <a:t>，</a:t>
            </a:r>
            <a:r>
              <a:rPr lang="en-US" altLang="zh-CN" dirty="0"/>
              <a:t>4.2</a:t>
            </a:r>
            <a:r>
              <a:rPr lang="zh-CN" altLang="en-US" dirty="0"/>
              <a:t>和</a:t>
            </a:r>
            <a:r>
              <a:rPr lang="en-US" altLang="zh-CN" dirty="0"/>
              <a:t>4.3</a:t>
            </a:r>
            <a:r>
              <a:rPr lang="zh-CN" altLang="en-US" dirty="0"/>
              <a:t>三个版本，支持了现在广受欢迎的朋友圈相关功能，并增加了微信扫一扫功能；</a:t>
            </a:r>
            <a:r>
              <a:rPr lang="en-US" altLang="zh-CN" dirty="0"/>
              <a:t>2013</a:t>
            </a:r>
            <a:r>
              <a:rPr lang="zh-CN" altLang="en-US" dirty="0"/>
              <a:t>年，在微信推出了新版扫一扫功能，并在此基础上，正式推出了微信在线支付功能。随后，近几年来，微信又陆续推出了</a:t>
            </a:r>
            <a:r>
              <a:rPr lang="en-US" altLang="zh-CN" dirty="0"/>
              <a:t>@</a:t>
            </a:r>
            <a:r>
              <a:rPr lang="zh-CN" altLang="en-US" dirty="0"/>
              <a:t>提醒，面对面建群，收藏等重要功能，逐渐成长为现在大家所使用的微信。通过微信项目的发展，我们不难发现，这种迭代开发和快速交付的开发过程，要求软件的可扩展性和可复用性较高，而不断丰富的软件功能和不断变化的环境，也使得软件具有较高的复杂性，为软件开发带来不小的挑战。</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39</a:t>
            </a:fld>
            <a:endParaRPr lang="zh-CN" altLang="en-US"/>
          </a:p>
        </p:txBody>
      </p:sp>
    </p:spTree>
    <p:extLst>
      <p:ext uri="{BB962C8B-B14F-4D97-AF65-F5344CB8AC3E}">
        <p14:creationId xmlns:p14="http://schemas.microsoft.com/office/powerpoint/2010/main" val="4714347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43</a:t>
            </a:fld>
            <a:endParaRPr lang="zh-CN" altLang="en-US"/>
          </a:p>
        </p:txBody>
      </p:sp>
    </p:spTree>
    <p:extLst>
      <p:ext uri="{BB962C8B-B14F-4D97-AF65-F5344CB8AC3E}">
        <p14:creationId xmlns:p14="http://schemas.microsoft.com/office/powerpoint/2010/main" val="25900741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标准化、流程化</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正是由于软件的这些特性，使得软件开发及其管理变得很难控制，软件的质量难以保证。美国</a:t>
            </a:r>
            <a:r>
              <a:rPr lang="en-US" altLang="zh-CN" dirty="0"/>
              <a:t>Standish</a:t>
            </a:r>
            <a:r>
              <a:rPr lang="zh-CN" altLang="en-US" dirty="0"/>
              <a:t>集团，是一个专门跟踪调查软件项目的研究机构，这幅图，显示了该机构在</a:t>
            </a:r>
            <a:r>
              <a:rPr lang="en-US" altLang="zh-CN" dirty="0"/>
              <a:t>1994</a:t>
            </a:r>
            <a:r>
              <a:rPr lang="zh-CN" altLang="en-US" dirty="0"/>
              <a:t>年至</a:t>
            </a:r>
            <a:r>
              <a:rPr lang="en-US" altLang="zh-CN" dirty="0"/>
              <a:t>2010</a:t>
            </a:r>
            <a:r>
              <a:rPr lang="zh-CN" altLang="en-US" dirty="0"/>
              <a:t>年期间，对软件开发项目的调查统计结果。调查结果表明，软件项目的平均成功率大概在</a:t>
            </a:r>
            <a:r>
              <a:rPr lang="en-US" altLang="zh-CN" dirty="0"/>
              <a:t>30%</a:t>
            </a:r>
            <a:r>
              <a:rPr lang="zh-CN" altLang="en-US" dirty="0"/>
              <a:t>左右，这里成功的含义，是指在计划的时间和预算内，实现了项目的目标。大约</a:t>
            </a:r>
            <a:r>
              <a:rPr lang="en-US" altLang="zh-CN" dirty="0"/>
              <a:t>50%</a:t>
            </a:r>
            <a:r>
              <a:rPr lang="zh-CN" altLang="en-US" dirty="0"/>
              <a:t>的项目超出预算和交付时间，或者存在一些缺陷；另外还有</a:t>
            </a:r>
            <a:r>
              <a:rPr lang="en-US" altLang="zh-CN" dirty="0"/>
              <a:t>20%</a:t>
            </a:r>
            <a:r>
              <a:rPr lang="zh-CN" altLang="en-US" dirty="0"/>
              <a:t>的项目彻底失败。</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52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一方面，正式由于软件的复杂性，导致所编写的代码庞杂，不注重软件质量的结果就是软件如温水煮青蛙般，逐渐变得晦涩难懂，最终难以扩展和维护。</a:t>
            </a:r>
          </a:p>
          <a:p>
            <a:r>
              <a:rPr lang="zh-CN" altLang="en-US" dirty="0"/>
              <a:t>用一些临时变量，改得随意一些</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53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另一方面，</a:t>
            </a:r>
            <a:r>
              <a:rPr lang="zh-CN" altLang="en-US" sz="1200" dirty="0">
                <a:latin typeface="微软雅黑" panose="020B0503020204020204" pitchFamily="34" charset="-122"/>
                <a:cs typeface="微软雅黑" panose="020B0503020204020204" pitchFamily="34" charset="-122"/>
              </a:rPr>
              <a:t>人们总是认为软件是容易修改的，但忽视了修改所带来的副作用，事实上，</a:t>
            </a:r>
            <a:endParaRPr lang="en-US" altLang="zh-CN" sz="1200" dirty="0">
              <a:latin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rPr>
              <a:t>例如下面这幅图，横坐标表示时间，纵坐标表示失效率，也就是平时所说的故障率。理想的情况下，随着时间的推移，软件失效的概率越来越低，正如蓝色的曲线。而事实上，为了增加新的功能，或修复已有</a:t>
            </a:r>
            <a:r>
              <a:rPr lang="en-US" altLang="zh-CN" sz="1200" dirty="0">
                <a:latin typeface="微软雅黑" panose="020B0503020204020204" pitchFamily="34" charset="-122"/>
              </a:rPr>
              <a:t>bug</a:t>
            </a:r>
            <a:r>
              <a:rPr lang="zh-CN" altLang="en-US" sz="1200" dirty="0">
                <a:latin typeface="微软雅黑" panose="020B0503020204020204" pitchFamily="34" charset="-122"/>
              </a:rPr>
              <a:t>，开发者需要不断地修改软件代码，在修改代码地同时引入新的</a:t>
            </a:r>
            <a:r>
              <a:rPr lang="en-US" altLang="zh-CN" sz="1200" dirty="0">
                <a:latin typeface="微软雅黑" panose="020B0503020204020204" pitchFamily="34" charset="-122"/>
              </a:rPr>
              <a:t>bug</a:t>
            </a:r>
            <a:r>
              <a:rPr lang="zh-CN" altLang="en-US" sz="1200" dirty="0">
                <a:latin typeface="微软雅黑" panose="020B0503020204020204" pitchFamily="34" charset="-122"/>
              </a:rPr>
              <a:t>，从而导致失效率不断提高，最终不得不提前结束生命周期。由此可以看出，即使在软件开发过程中投入很大的努力，开发出来的软件经常存在。。。</a:t>
            </a:r>
            <a:r>
              <a:rPr lang="zh-CN" altLang="en-US" dirty="0"/>
              <a:t>有的甚至造成了严重的后果。下面我们看几个软件失败的典型事例。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欧洲航天局，事后调查显示，导致事故的原因是程序中试图。。。而系统中缺少对数据溢出的错误处理程序。那么，爱莉安娜</a:t>
            </a:r>
            <a:r>
              <a:rPr lang="en-US" altLang="zh-CN" dirty="0"/>
              <a:t>4</a:t>
            </a:r>
            <a:r>
              <a:rPr lang="zh-CN" altLang="en-US" dirty="0"/>
              <a:t>火箭为什么没有出现问题呢，主要原因在于，速度高出了近</a:t>
            </a:r>
            <a:r>
              <a:rPr lang="en-US" altLang="zh-CN" dirty="0"/>
              <a:t>5</a:t>
            </a:r>
            <a:r>
              <a:rPr lang="zh-CN" altLang="en-US" dirty="0"/>
              <a:t>倍，这样在计算时超出了</a:t>
            </a:r>
            <a:r>
              <a:rPr lang="en-US" altLang="zh-CN" dirty="0"/>
              <a:t>16</a:t>
            </a:r>
            <a:r>
              <a:rPr lang="zh-CN" altLang="en-US" dirty="0"/>
              <a:t>位整数，发生了溢出，导致软件错误。显然，程序员在复用这段程序时，只是简单地将代码复制过来，并没有检查它所基于地假设。</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55</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是曾经被微软寄予厚望地系统，也是微软历史上最艰难，最曲折，开发时间最长的系统。这个系统</a:t>
            </a:r>
            <a:endParaRPr lang="en-US" altLang="zh-CN" dirty="0"/>
          </a:p>
          <a:p>
            <a:r>
              <a:rPr lang="zh-CN" altLang="en-US" dirty="0"/>
              <a:t>即使这样，</a:t>
            </a:r>
            <a:r>
              <a:rPr lang="en-US" altLang="zh-CN" dirty="0"/>
              <a:t>vista</a:t>
            </a:r>
            <a:r>
              <a:rPr lang="zh-CN" altLang="en-US" dirty="0"/>
              <a:t>系统在面世后，依然爆出运行效率低，兼容性差，频繁死机等严重缺陷，可以说，这是一款失败的软件产品。那么国内开发的软件系统，情况又如何呢</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56</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我们大家可能都在</a:t>
            </a:r>
            <a:r>
              <a:rPr lang="en-US" altLang="zh-CN" dirty="0"/>
              <a:t>12306</a:t>
            </a:r>
            <a:r>
              <a:rPr lang="zh-CN" altLang="en-US" dirty="0"/>
              <a:t>上买过票。</a:t>
            </a:r>
            <a:endParaRPr lang="en-US" altLang="zh-CN" dirty="0"/>
          </a:p>
          <a:p>
            <a:r>
              <a:rPr lang="zh-CN" altLang="en-US" dirty="0"/>
              <a:t>另外，在</a:t>
            </a:r>
            <a:r>
              <a:rPr lang="en-US" altLang="zh-CN" dirty="0"/>
              <a:t>2014</a:t>
            </a:r>
            <a:r>
              <a:rPr lang="zh-CN" altLang="en-US" dirty="0"/>
              <a:t>年春运期间，由于网站对身份证信息缺乏审核，出现了用虚假身份证可以直接购票的现象，同时网站还爆出了大规模串号，购票信息穿越等漏洞，</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57</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显然软件开发一直面临着诸多的挑战，主要表现在以下方面，软件产品的交付质量难以保证，许多功能。。。</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5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分钟， </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3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个同学来说明</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9677398" y="6538912"/>
            <a:ext cx="910773" cy="365125"/>
          </a:xfrm>
        </p:spPr>
        <p:txBody>
          <a:bodyPr/>
          <a:lstStyle>
            <a:lvl1pPr>
              <a:defRPr>
                <a:solidFill>
                  <a:schemeClr val="tx1"/>
                </a:solidFill>
              </a:defRPr>
            </a:lvl1pPr>
          </a:lstStyle>
          <a:p>
            <a:fld id="{815C263E-FB2E-47C1-BE5A-A67873DBD190}" type="datetime1">
              <a:rPr lang="zh-CN" altLang="en-US" smtClean="0"/>
              <a:t>2026/3/2</a:t>
            </a:fld>
            <a:endParaRPr lang="zh-CN" altLang="en-US"/>
          </a:p>
        </p:txBody>
      </p:sp>
      <p:sp>
        <p:nvSpPr>
          <p:cNvPr id="6" name="灯片编号占位符 5"/>
          <p:cNvSpPr>
            <a:spLocks noGrp="1"/>
          </p:cNvSpPr>
          <p:nvPr>
            <p:ph type="sldNum" sz="quarter" idx="12"/>
          </p:nvPr>
        </p:nvSpPr>
        <p:spPr>
          <a:xfrm>
            <a:off x="10588171" y="6538912"/>
            <a:ext cx="809172" cy="365125"/>
          </a:xfrm>
        </p:spPr>
        <p:txBody>
          <a:bodyPr/>
          <a:lstStyle>
            <a:lvl1pPr>
              <a:defRPr>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11"/>
          </p:nvPr>
        </p:nvSpPr>
        <p:spPr>
          <a:xfrm>
            <a:off x="4038600" y="6538911"/>
            <a:ext cx="4114800" cy="365125"/>
          </a:xfrm>
        </p:spPr>
        <p:txBody>
          <a:bodyPr/>
          <a:lstStyle>
            <a:lvl1pPr>
              <a:defRPr>
                <a:solidFill>
                  <a:schemeClr val="tx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F3E966-B363-4404-87B9-2F69F6CCBF50}" type="datetime1">
              <a:rPr lang="zh-CN" altLang="en-US" smtClean="0"/>
              <a:t>2026/3/2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cxnSp>
        <p:nvCxnSpPr>
          <p:cNvPr id="13" name="直接连接符 12"/>
          <p:cNvCxnSpPr/>
          <p:nvPr userDrawn="1"/>
        </p:nvCxnSpPr>
        <p:spPr>
          <a:xfrm>
            <a:off x="0" y="1379220"/>
            <a:ext cx="771906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D651ECA-87B5-4A99-B010-D94610F61FA7}" type="datetime1">
              <a:rPr lang="zh-CN" altLang="en-US" smtClean="0"/>
              <a:t>2026/3/2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836BDA7-882D-4D2D-82FA-E8D956813EAD}" type="datetime1">
              <a:rPr lang="zh-CN" altLang="en-US" smtClean="0"/>
              <a:t>2026/3/2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A1C36F5-D9DB-458D-A293-C14773A2CB5E}" type="datetime1">
              <a:rPr lang="zh-CN" altLang="en-US" smtClean="0"/>
              <a:t>2026/3/2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321C2E6-6372-4B88-B68A-E8EAEBCDF526}" type="datetime1">
              <a:rPr lang="zh-CN" altLang="en-US" smtClean="0"/>
              <a:t>2026/3/2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0C6BA1-8DBA-4B74-96C9-1EA9542A9C22}" type="datetime1">
              <a:rPr lang="zh-CN" altLang="en-US" smtClean="0"/>
              <a:t>2026/3/2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C4CF274-C88B-49EF-8669-1CA7671B6CA9}" type="datetime1">
              <a:rPr lang="zh-CN" altLang="en-US" smtClean="0"/>
              <a:t>2026/3/2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7CE9D2C-C2B5-4754-A62D-5D151A44C348}" type="datetime1">
              <a:rPr lang="zh-CN" altLang="en-US" smtClean="0"/>
              <a:t>2026/3/2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05149DC-561E-4AE0-8DEA-56968E10F859}" type="datetime1">
              <a:rPr lang="zh-CN" altLang="en-US" smtClean="0"/>
              <a:t>2026/3/2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3FB2868-DC89-4075-9DC7-72E40EC95AFE}" type="datetime1">
              <a:rPr lang="zh-CN" altLang="en-US" smtClean="0"/>
              <a:t>2026/3/2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13676" y="6248725"/>
            <a:ext cx="1060619" cy="365125"/>
          </a:xfrm>
          <a:prstGeom prst="rect">
            <a:avLst/>
          </a:prstGeom>
        </p:spPr>
        <p:txBody>
          <a:bodyPr vert="horz" lIns="91440" tIns="45720" rIns="91440" bIns="45720" rtlCol="0" anchor="ctr"/>
          <a:lstStyle>
            <a:lvl1pPr algn="l">
              <a:defRPr sz="1200">
                <a:solidFill>
                  <a:schemeClr val="tx1"/>
                </a:solidFill>
              </a:defRPr>
            </a:lvl1pPr>
          </a:lstStyle>
          <a:p>
            <a:fld id="{CDEE5230-1D4E-4934-94ED-B33C7384144A}" type="datetime1">
              <a:rPr lang="zh-CN" altLang="en-US" smtClean="0"/>
              <a:t>2026/3/2</a:t>
            </a:fld>
            <a:endParaRPr lang="zh-CN" altLang="en-US"/>
          </a:p>
        </p:txBody>
      </p:sp>
      <p:sp>
        <p:nvSpPr>
          <p:cNvPr id="6" name="灯片编号占位符 5"/>
          <p:cNvSpPr>
            <a:spLocks noGrp="1"/>
          </p:cNvSpPr>
          <p:nvPr>
            <p:ph type="sldNum" sz="quarter" idx="4"/>
          </p:nvPr>
        </p:nvSpPr>
        <p:spPr>
          <a:xfrm>
            <a:off x="10406617" y="6382978"/>
            <a:ext cx="997857" cy="365125"/>
          </a:xfrm>
          <a:prstGeom prst="rect">
            <a:avLst/>
          </a:prstGeom>
        </p:spPr>
        <p:txBody>
          <a:bodyPr vert="horz" lIns="91440" tIns="45720" rIns="91440" bIns="45720" rtlCol="0" anchor="ctr"/>
          <a:lstStyle>
            <a:lvl1pPr algn="r">
              <a:defRPr sz="1200">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3"/>
          </p:nvPr>
        </p:nvSpPr>
        <p:spPr>
          <a:xfrm>
            <a:off x="4038600" y="6248725"/>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zh-CN" altLang="en-US" dirty="0"/>
          </a:p>
        </p:txBody>
      </p:sp>
      <p:cxnSp>
        <p:nvCxnSpPr>
          <p:cNvPr id="13" name="直接连接符 12"/>
          <p:cNvCxnSpPr/>
          <p:nvPr userDrawn="1"/>
        </p:nvCxnSpPr>
        <p:spPr>
          <a:xfrm>
            <a:off x="2" y="6649001"/>
            <a:ext cx="10925173" cy="0"/>
          </a:xfrm>
          <a:prstGeom prst="line">
            <a:avLst/>
          </a:prstGeom>
          <a:ln w="19050">
            <a:solidFill>
              <a:srgbClr val="7030A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6512379"/>
            <a:ext cx="10925174" cy="79698"/>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68965" y="6321759"/>
            <a:ext cx="1600200" cy="48756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www.cnblogs.co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cnblogs.com/xinz/p/4470424.ht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notesSlide" Target="../notesSlides/notesSlide20.xml"/><Relationship Id="rId7" Type="http://schemas.openxmlformats.org/officeDocument/2006/relationships/image" Target="../media/image11.jpeg"/><Relationship Id="rId12"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0.jpeg"/><Relationship Id="rId11" Type="http://schemas.openxmlformats.org/officeDocument/2006/relationships/image" Target="../media/image15.png"/><Relationship Id="rId5" Type="http://schemas.openxmlformats.org/officeDocument/2006/relationships/image" Target="../media/image9.jpe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23.jpeg"/><Relationship Id="rId4" Type="http://schemas.openxmlformats.org/officeDocument/2006/relationships/image" Target="../media/image22.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25.xml"/><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2.jpe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37.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notesSlide" Target="../notesSlides/notesSlide26.xml"/><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slideLayout" Target="../slideLayouts/slideLayout2.xml"/><Relationship Id="rId16" Type="http://schemas.openxmlformats.org/officeDocument/2006/relationships/image" Target="../media/image49.png"/><Relationship Id="rId1" Type="http://schemas.openxmlformats.org/officeDocument/2006/relationships/tags" Target="../tags/tag6.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19" Type="http://schemas.openxmlformats.org/officeDocument/2006/relationships/image" Target="../media/image52.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18" Type="http://schemas.openxmlformats.org/officeDocument/2006/relationships/image" Target="../media/image67.jpeg"/><Relationship Id="rId3" Type="http://schemas.openxmlformats.org/officeDocument/2006/relationships/notesSlide" Target="../notesSlides/notesSlide27.xml"/><Relationship Id="rId7" Type="http://schemas.openxmlformats.org/officeDocument/2006/relationships/image" Target="../media/image56.png"/><Relationship Id="rId12" Type="http://schemas.openxmlformats.org/officeDocument/2006/relationships/image" Target="../media/image61.png"/><Relationship Id="rId17" Type="http://schemas.openxmlformats.org/officeDocument/2006/relationships/image" Target="../media/image66.png"/><Relationship Id="rId2" Type="http://schemas.openxmlformats.org/officeDocument/2006/relationships/slideLayout" Target="../slideLayouts/slideLayout2.xml"/><Relationship Id="rId16" Type="http://schemas.openxmlformats.org/officeDocument/2006/relationships/image" Target="../media/image65.png"/><Relationship Id="rId1" Type="http://schemas.openxmlformats.org/officeDocument/2006/relationships/tags" Target="../tags/tag7.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4.png"/><Relationship Id="rId10" Type="http://schemas.openxmlformats.org/officeDocument/2006/relationships/image" Target="../media/image59.png"/><Relationship Id="rId19" Type="http://schemas.openxmlformats.org/officeDocument/2006/relationships/image" Target="../media/image68.jpe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tags" Target="../tags/tag25.xml"/><Relationship Id="rId3" Type="http://schemas.openxmlformats.org/officeDocument/2006/relationships/tags" Target="../tags/tag10.xml"/><Relationship Id="rId21" Type="http://schemas.openxmlformats.org/officeDocument/2006/relationships/image" Target="../media/image69.png"/><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 Type="http://schemas.openxmlformats.org/officeDocument/2006/relationships/tags" Target="../tags/tag9.xml"/><Relationship Id="rId16" Type="http://schemas.openxmlformats.org/officeDocument/2006/relationships/tags" Target="../tags/tag23.xml"/><Relationship Id="rId20" Type="http://schemas.openxmlformats.org/officeDocument/2006/relationships/notesSlide" Target="../notesSlides/notesSlide2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tags" Target="../tags/tag22.xml"/><Relationship Id="rId10" Type="http://schemas.openxmlformats.org/officeDocument/2006/relationships/tags" Target="../tags/tag17.xml"/><Relationship Id="rId19" Type="http://schemas.openxmlformats.org/officeDocument/2006/relationships/slideLayout" Target="../slideLayouts/slideLayout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26.xml"/><Relationship Id="rId4" Type="http://schemas.openxmlformats.org/officeDocument/2006/relationships/image" Target="../media/image7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27.xml"/><Relationship Id="rId5" Type="http://schemas.openxmlformats.org/officeDocument/2006/relationships/image" Target="../media/image73.jpeg"/><Relationship Id="rId4" Type="http://schemas.openxmlformats.org/officeDocument/2006/relationships/image" Target="../media/image72.png"/></Relationships>
</file>

<file path=ppt/slides/_rels/slide56.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80.png"/><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59.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27339"/>
            <a:ext cx="9144000" cy="2130577"/>
          </a:xfrm>
        </p:spPr>
        <p:txBody>
          <a:bodyPr/>
          <a:lstStyle/>
          <a:p>
            <a:r>
              <a:rPr lang="zh-CN" altLang="en-US" dirty="0"/>
              <a:t>软件工程课程介绍</a:t>
            </a:r>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en-US" altLang="zh-CN" dirty="0"/>
              <a:t>(Li </a:t>
            </a:r>
            <a:r>
              <a:rPr lang="en-US" altLang="zh-CN" dirty="0" err="1"/>
              <a:t>Qicheng</a:t>
            </a:r>
            <a:r>
              <a:rPr lang="en-US" altLang="zh-CN" dirty="0"/>
              <a:t>)</a:t>
            </a:r>
            <a:r>
              <a:rPr lang="zh-CN" altLang="en-US" dirty="0"/>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Xin Zou (BeiHang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2A4D1-6022-044E-AD8B-20396729DF54}"/>
              </a:ext>
            </a:extLst>
          </p:cNvPr>
          <p:cNvSpPr>
            <a:spLocks noGrp="1"/>
          </p:cNvSpPr>
          <p:nvPr>
            <p:ph type="title"/>
          </p:nvPr>
        </p:nvSpPr>
        <p:spPr>
          <a:xfrm>
            <a:off x="838200" y="365126"/>
            <a:ext cx="10515600" cy="971306"/>
          </a:xfrm>
        </p:spPr>
        <p:txBody>
          <a:bodyPr/>
          <a:lstStyle/>
          <a:p>
            <a:r>
              <a:rPr kumimoji="1" lang="zh-CN" altLang="en-US" dirty="0"/>
              <a:t>自我简介</a:t>
            </a:r>
          </a:p>
        </p:txBody>
      </p:sp>
      <p:sp>
        <p:nvSpPr>
          <p:cNvPr id="3" name="内容占位符 2">
            <a:extLst>
              <a:ext uri="{FF2B5EF4-FFF2-40B4-BE49-F238E27FC236}">
                <a16:creationId xmlns:a16="http://schemas.microsoft.com/office/drawing/2014/main" id="{E4FE2E4D-8D29-6643-8119-9E28EB595473}"/>
              </a:ext>
            </a:extLst>
          </p:cNvPr>
          <p:cNvSpPr>
            <a:spLocks noGrp="1"/>
          </p:cNvSpPr>
          <p:nvPr>
            <p:ph idx="1"/>
          </p:nvPr>
        </p:nvSpPr>
        <p:spPr>
          <a:xfrm>
            <a:off x="838200" y="1667363"/>
            <a:ext cx="10515600" cy="4351338"/>
          </a:xfrm>
        </p:spPr>
        <p:txBody>
          <a:bodyPr>
            <a:normAutofit/>
          </a:bodyPr>
          <a:lstStyle/>
          <a:p>
            <a:r>
              <a:rPr kumimoji="1" lang="en-US" altLang="zh-CN" sz="3200" dirty="0"/>
              <a:t>2007</a:t>
            </a:r>
            <a:r>
              <a:rPr kumimoji="1" lang="zh-CN" altLang="en-US" sz="3200" dirty="0"/>
              <a:t>年～</a:t>
            </a:r>
            <a:r>
              <a:rPr kumimoji="1" lang="en-US" altLang="zh-CN" sz="3200" dirty="0"/>
              <a:t>2020</a:t>
            </a:r>
            <a:r>
              <a:rPr kumimoji="1" lang="zh-CN" altLang="en-US" sz="3200" dirty="0"/>
              <a:t>年，</a:t>
            </a:r>
            <a:r>
              <a:rPr kumimoji="1" lang="en-US" altLang="zh-CN" sz="3200" dirty="0"/>
              <a:t>IBM</a:t>
            </a:r>
            <a:r>
              <a:rPr kumimoji="1" lang="zh-CN" altLang="en-US" sz="3200" dirty="0"/>
              <a:t>研究院，研究问题域的人工智能诊断方法</a:t>
            </a:r>
            <a:endParaRPr kumimoji="1" lang="en-US" altLang="zh-CN" sz="3200" dirty="0"/>
          </a:p>
          <a:p>
            <a:r>
              <a:rPr kumimoji="1" lang="en-US" altLang="zh-CN" sz="3200" dirty="0"/>
              <a:t>2020</a:t>
            </a:r>
            <a:r>
              <a:rPr kumimoji="1" lang="zh-CN" altLang="en-US" sz="3200" dirty="0"/>
              <a:t>年～</a:t>
            </a:r>
            <a:r>
              <a:rPr kumimoji="1" lang="en-US" altLang="zh-CN" sz="3200" dirty="0"/>
              <a:t>2022</a:t>
            </a:r>
            <a:r>
              <a:rPr kumimoji="1" lang="zh-CN" altLang="en-US" sz="3200" dirty="0"/>
              <a:t>年，</a:t>
            </a:r>
            <a:r>
              <a:rPr kumimoji="1" lang="en-US" altLang="zh-CN" sz="3200" dirty="0"/>
              <a:t>IBM</a:t>
            </a:r>
            <a:r>
              <a:rPr kumimoji="1" lang="zh-CN" altLang="en-US" sz="3200" dirty="0"/>
              <a:t>架构部，设计金融行业的人工智能架构方案</a:t>
            </a:r>
            <a:endParaRPr kumimoji="1" lang="en-US" altLang="zh-CN" sz="3200" dirty="0"/>
          </a:p>
          <a:p>
            <a:r>
              <a:rPr kumimoji="1" lang="en-US" altLang="zh-CN" sz="3200" dirty="0"/>
              <a:t>2022</a:t>
            </a:r>
            <a:r>
              <a:rPr kumimoji="1" lang="zh-CN" altLang="en-US" sz="3200" dirty="0"/>
              <a:t>年，加入南开大学计算机学院，</a:t>
            </a:r>
            <a:r>
              <a:rPr kumimoji="1" lang="en-US" altLang="zh-CN" sz="3200" dirty="0"/>
              <a:t>HLT</a:t>
            </a:r>
            <a:r>
              <a:rPr kumimoji="1" lang="zh-CN" altLang="en-US" sz="3200" dirty="0"/>
              <a:t>实验室，研究自然语言处理和人机交互</a:t>
            </a:r>
          </a:p>
        </p:txBody>
      </p:sp>
      <p:sp>
        <p:nvSpPr>
          <p:cNvPr id="4" name="灯片编号占位符 3">
            <a:extLst>
              <a:ext uri="{FF2B5EF4-FFF2-40B4-BE49-F238E27FC236}">
                <a16:creationId xmlns:a16="http://schemas.microsoft.com/office/drawing/2014/main" id="{38277506-6978-C149-BA3A-301A7D55485F}"/>
              </a:ext>
            </a:extLst>
          </p:cNvPr>
          <p:cNvSpPr>
            <a:spLocks noGrp="1"/>
          </p:cNvSpPr>
          <p:nvPr>
            <p:ph type="sldNum" sz="quarter" idx="12"/>
          </p:nvPr>
        </p:nvSpPr>
        <p:spPr/>
        <p:txBody>
          <a:bodyPr/>
          <a:lstStyle/>
          <a:p>
            <a:fld id="{74D2AB8B-5816-41F2-8B4B-CA5C3E4E6A65}" type="slidenum">
              <a:rPr lang="zh-CN" altLang="en-US" smtClean="0"/>
              <a:t>2</a:t>
            </a:fld>
            <a:endParaRPr lang="zh-CN" altLang="en-US"/>
          </a:p>
        </p:txBody>
      </p:sp>
    </p:spTree>
    <p:extLst>
      <p:ext uri="{BB962C8B-B14F-4D97-AF65-F5344CB8AC3E}">
        <p14:creationId xmlns:p14="http://schemas.microsoft.com/office/powerpoint/2010/main" val="2176491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630C8D-53E3-4945-94B9-E4C013B3505B}"/>
              </a:ext>
            </a:extLst>
          </p:cNvPr>
          <p:cNvSpPr>
            <a:spLocks noGrp="1"/>
          </p:cNvSpPr>
          <p:nvPr>
            <p:ph type="title"/>
          </p:nvPr>
        </p:nvSpPr>
        <p:spPr/>
        <p:txBody>
          <a:bodyPr/>
          <a:lstStyle/>
          <a:p>
            <a:r>
              <a:rPr kumimoji="1" lang="zh-CN" altLang="en-US" dirty="0"/>
              <a:t>课堂要求</a:t>
            </a:r>
          </a:p>
        </p:txBody>
      </p:sp>
      <p:sp>
        <p:nvSpPr>
          <p:cNvPr id="4" name="灯片编号占位符 3">
            <a:extLst>
              <a:ext uri="{FF2B5EF4-FFF2-40B4-BE49-F238E27FC236}">
                <a16:creationId xmlns:a16="http://schemas.microsoft.com/office/drawing/2014/main" id="{C567F891-8D0D-904C-BAD5-213CC50067F8}"/>
              </a:ext>
            </a:extLst>
          </p:cNvPr>
          <p:cNvSpPr>
            <a:spLocks noGrp="1"/>
          </p:cNvSpPr>
          <p:nvPr>
            <p:ph type="sldNum" sz="quarter" idx="12"/>
          </p:nvPr>
        </p:nvSpPr>
        <p:spPr/>
        <p:txBody>
          <a:bodyPr/>
          <a:lstStyle/>
          <a:p>
            <a:fld id="{74D2AB8B-5816-41F2-8B4B-CA5C3E4E6A65}" type="slidenum">
              <a:rPr lang="zh-CN" altLang="en-US" smtClean="0"/>
              <a:t>3</a:t>
            </a:fld>
            <a:endParaRPr lang="zh-CN" altLang="en-US"/>
          </a:p>
        </p:txBody>
      </p:sp>
      <p:sp>
        <p:nvSpPr>
          <p:cNvPr id="5" name="Rectangle 3">
            <a:extLst>
              <a:ext uri="{FF2B5EF4-FFF2-40B4-BE49-F238E27FC236}">
                <a16:creationId xmlns:a16="http://schemas.microsoft.com/office/drawing/2014/main" id="{E27382FA-654E-294C-9C1B-C62478EC14A3}"/>
              </a:ext>
            </a:extLst>
          </p:cNvPr>
          <p:cNvSpPr>
            <a:spLocks noGrp="1" noChangeArrowheads="1"/>
          </p:cNvSpPr>
          <p:nvPr>
            <p:ph idx="1"/>
          </p:nvPr>
        </p:nvSpPr>
        <p:spPr bwMode="auto">
          <a:xfrm>
            <a:off x="679938" y="1690688"/>
            <a:ext cx="10515600" cy="4351338"/>
          </a:xfrm>
          <a:ln>
            <a:miter lim="800000"/>
            <a:headEnd/>
            <a:tailEnd/>
          </a:ln>
        </p:spPr>
        <p:txBody>
          <a:bodyPr vert="horz" wrap="square" lIns="91440" tIns="45720" rIns="91440" bIns="45720" numCol="1" anchor="t" anchorCtr="0" compatLnSpc="1">
            <a:prstTxWarp prst="textNoShape">
              <a:avLst/>
            </a:prstTxWarp>
            <a:normAutofit/>
          </a:bodyPr>
          <a:lstStyle/>
          <a:p>
            <a:r>
              <a:rPr lang="zh-CN" altLang="en-US" sz="3200" dirty="0"/>
              <a:t>电子设备处于静音状态</a:t>
            </a:r>
          </a:p>
          <a:p>
            <a:r>
              <a:rPr lang="zh-CN" altLang="en-US" sz="3200" dirty="0"/>
              <a:t>积极参与讨论，随时可以发言</a:t>
            </a:r>
          </a:p>
        </p:txBody>
      </p:sp>
    </p:spTree>
    <p:extLst>
      <p:ext uri="{BB962C8B-B14F-4D97-AF65-F5344CB8AC3E}">
        <p14:creationId xmlns:p14="http://schemas.microsoft.com/office/powerpoint/2010/main" val="1188892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6FEB19-FF23-1F4A-96E5-6AE7D63D77F5}"/>
              </a:ext>
            </a:extLst>
          </p:cNvPr>
          <p:cNvSpPr>
            <a:spLocks noGrp="1"/>
          </p:cNvSpPr>
          <p:nvPr>
            <p:ph type="title"/>
          </p:nvPr>
        </p:nvSpPr>
        <p:spPr/>
        <p:txBody>
          <a:bodyPr/>
          <a:lstStyle/>
          <a:p>
            <a:r>
              <a:rPr kumimoji="1" lang="zh-CN" altLang="en-US" dirty="0"/>
              <a:t>软考中的软件工程</a:t>
            </a:r>
          </a:p>
        </p:txBody>
      </p:sp>
      <p:sp>
        <p:nvSpPr>
          <p:cNvPr id="4" name="灯片编号占位符 3">
            <a:extLst>
              <a:ext uri="{FF2B5EF4-FFF2-40B4-BE49-F238E27FC236}">
                <a16:creationId xmlns:a16="http://schemas.microsoft.com/office/drawing/2014/main" id="{96D54A5A-705F-604F-818B-F9B653E9D1D6}"/>
              </a:ext>
            </a:extLst>
          </p:cNvPr>
          <p:cNvSpPr>
            <a:spLocks noGrp="1"/>
          </p:cNvSpPr>
          <p:nvPr>
            <p:ph type="sldNum" sz="quarter" idx="12"/>
          </p:nvPr>
        </p:nvSpPr>
        <p:spPr/>
        <p:txBody>
          <a:bodyPr/>
          <a:lstStyle/>
          <a:p>
            <a:fld id="{74D2AB8B-5816-41F2-8B4B-CA5C3E4E6A65}" type="slidenum">
              <a:rPr lang="zh-CN" altLang="en-US" smtClean="0"/>
              <a:t>4</a:t>
            </a:fld>
            <a:endParaRPr lang="zh-CN" altLang="en-US"/>
          </a:p>
        </p:txBody>
      </p:sp>
      <p:pic>
        <p:nvPicPr>
          <p:cNvPr id="1026" name="Picture 2">
            <a:extLst>
              <a:ext uri="{FF2B5EF4-FFF2-40B4-BE49-F238E27FC236}">
                <a16:creationId xmlns:a16="http://schemas.microsoft.com/office/drawing/2014/main" id="{CABFB537-9DDB-4344-AA6D-010DFC8DA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04833"/>
            <a:ext cx="12192000" cy="40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178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DD36E9-7182-DD42-96CF-FB6ADC2E1D17}"/>
              </a:ext>
            </a:extLst>
          </p:cNvPr>
          <p:cNvSpPr>
            <a:spLocks noGrp="1"/>
          </p:cNvSpPr>
          <p:nvPr>
            <p:ph type="title"/>
          </p:nvPr>
        </p:nvSpPr>
        <p:spPr/>
        <p:txBody>
          <a:bodyPr/>
          <a:lstStyle/>
          <a:p>
            <a:r>
              <a:rPr kumimoji="1" lang="zh-CN" altLang="en-US" dirty="0"/>
              <a:t>企业中的软件工程</a:t>
            </a:r>
          </a:p>
        </p:txBody>
      </p:sp>
      <p:sp>
        <p:nvSpPr>
          <p:cNvPr id="3" name="内容占位符 2">
            <a:extLst>
              <a:ext uri="{FF2B5EF4-FFF2-40B4-BE49-F238E27FC236}">
                <a16:creationId xmlns:a16="http://schemas.microsoft.com/office/drawing/2014/main" id="{0288B0F8-28B2-C44A-8514-B0FBDFD6F29E}"/>
              </a:ext>
            </a:extLst>
          </p:cNvPr>
          <p:cNvSpPr>
            <a:spLocks noGrp="1"/>
          </p:cNvSpPr>
          <p:nvPr>
            <p:ph idx="1"/>
          </p:nvPr>
        </p:nvSpPr>
        <p:spPr>
          <a:xfrm>
            <a:off x="838200" y="1690688"/>
            <a:ext cx="10515600" cy="4351338"/>
          </a:xfrm>
        </p:spPr>
        <p:txBody>
          <a:bodyPr>
            <a:normAutofit lnSpcReduction="10000"/>
          </a:bodyPr>
          <a:lstStyle/>
          <a:p>
            <a:r>
              <a:rPr kumimoji="1" lang="zh-CN" altLang="en-US" dirty="0"/>
              <a:t>软件开发工程师</a:t>
            </a:r>
            <a:endParaRPr kumimoji="1" lang="en-US" altLang="zh-CN" dirty="0"/>
          </a:p>
          <a:p>
            <a:r>
              <a:rPr kumimoji="1" lang="zh-CN" altLang="en-US" dirty="0"/>
              <a:t>软件测试工程师</a:t>
            </a:r>
            <a:endParaRPr kumimoji="1" lang="en-US" altLang="zh-CN" dirty="0"/>
          </a:p>
          <a:p>
            <a:r>
              <a:rPr kumimoji="1" lang="zh-CN" altLang="en-US" dirty="0"/>
              <a:t>项目经理</a:t>
            </a:r>
            <a:endParaRPr kumimoji="1" lang="en-US" altLang="zh-CN" dirty="0"/>
          </a:p>
          <a:p>
            <a:r>
              <a:rPr kumimoji="1" lang="zh-CN" altLang="en-US" dirty="0"/>
              <a:t>产品经理</a:t>
            </a:r>
            <a:endParaRPr kumimoji="1" lang="en-US" altLang="zh-CN" dirty="0"/>
          </a:p>
          <a:p>
            <a:r>
              <a:rPr kumimoji="1" lang="zh-CN" altLang="en-US" dirty="0"/>
              <a:t>软件架构师</a:t>
            </a:r>
            <a:endParaRPr kumimoji="1" lang="en-US" altLang="zh-CN" dirty="0"/>
          </a:p>
          <a:p>
            <a:r>
              <a:rPr kumimoji="1" lang="zh-CN" altLang="en-US" dirty="0"/>
              <a:t>数据工程师</a:t>
            </a:r>
            <a:endParaRPr kumimoji="1" lang="en-US" altLang="zh-CN" dirty="0"/>
          </a:p>
          <a:p>
            <a:r>
              <a:rPr kumimoji="1" lang="zh-CN" altLang="en-US" dirty="0"/>
              <a:t>算法工程师</a:t>
            </a:r>
            <a:endParaRPr kumimoji="1" lang="en-US" altLang="zh-CN" dirty="0"/>
          </a:p>
          <a:p>
            <a:r>
              <a:rPr kumimoji="1" lang="zh-CN" altLang="en-US" dirty="0"/>
              <a:t>研究员</a:t>
            </a:r>
            <a:endParaRPr kumimoji="1" lang="en-US" altLang="zh-CN" dirty="0"/>
          </a:p>
          <a:p>
            <a:r>
              <a:rPr kumimoji="1" lang="en-US" altLang="zh-CN" dirty="0"/>
              <a:t>…....</a:t>
            </a:r>
          </a:p>
          <a:p>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72C9BB91-25D3-1541-9129-0FA1810D8D9D}"/>
              </a:ext>
            </a:extLst>
          </p:cNvPr>
          <p:cNvSpPr>
            <a:spLocks noGrp="1"/>
          </p:cNvSpPr>
          <p:nvPr>
            <p:ph type="sldNum" sz="quarter" idx="12"/>
          </p:nvPr>
        </p:nvSpPr>
        <p:spPr/>
        <p:txBody>
          <a:bodyPr/>
          <a:lstStyle/>
          <a:p>
            <a:fld id="{74D2AB8B-5816-41F2-8B4B-CA5C3E4E6A65}" type="slidenum">
              <a:rPr lang="zh-CN" altLang="en-US" smtClean="0"/>
              <a:t>5</a:t>
            </a:fld>
            <a:endParaRPr lang="zh-CN" altLang="en-US"/>
          </a:p>
        </p:txBody>
      </p:sp>
    </p:spTree>
    <p:extLst>
      <p:ext uri="{BB962C8B-B14F-4D97-AF65-F5344CB8AC3E}">
        <p14:creationId xmlns:p14="http://schemas.microsoft.com/office/powerpoint/2010/main" val="1147719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FC4AD0-7B44-514A-9276-B9A21285F627}"/>
              </a:ext>
            </a:extLst>
          </p:cNvPr>
          <p:cNvSpPr>
            <a:spLocks noGrp="1"/>
          </p:cNvSpPr>
          <p:nvPr>
            <p:ph type="title"/>
          </p:nvPr>
        </p:nvSpPr>
        <p:spPr>
          <a:xfrm>
            <a:off x="838200" y="365125"/>
            <a:ext cx="10515600" cy="1006475"/>
          </a:xfrm>
        </p:spPr>
        <p:txBody>
          <a:bodyPr/>
          <a:lstStyle/>
          <a:p>
            <a:r>
              <a:rPr kumimoji="1" lang="zh-CN" altLang="en-US" dirty="0"/>
              <a:t>课程内容</a:t>
            </a:r>
          </a:p>
        </p:txBody>
      </p:sp>
      <p:sp>
        <p:nvSpPr>
          <p:cNvPr id="4" name="灯片编号占位符 3">
            <a:extLst>
              <a:ext uri="{FF2B5EF4-FFF2-40B4-BE49-F238E27FC236}">
                <a16:creationId xmlns:a16="http://schemas.microsoft.com/office/drawing/2014/main" id="{FB63BCDD-5A2A-9F43-B6F3-993AF16C1E76}"/>
              </a:ext>
            </a:extLst>
          </p:cNvPr>
          <p:cNvSpPr>
            <a:spLocks noGrp="1"/>
          </p:cNvSpPr>
          <p:nvPr>
            <p:ph type="sldNum" sz="quarter" idx="12"/>
          </p:nvPr>
        </p:nvSpPr>
        <p:spPr/>
        <p:txBody>
          <a:bodyPr/>
          <a:lstStyle/>
          <a:p>
            <a:fld id="{74D2AB8B-5816-41F2-8B4B-CA5C3E4E6A65}" type="slidenum">
              <a:rPr lang="zh-CN" altLang="en-US" smtClean="0"/>
              <a:t>6</a:t>
            </a:fld>
            <a:endParaRPr lang="zh-CN" altLang="en-US"/>
          </a:p>
        </p:txBody>
      </p:sp>
      <p:sp>
        <p:nvSpPr>
          <p:cNvPr id="5" name="Rectangle 6">
            <a:extLst>
              <a:ext uri="{FF2B5EF4-FFF2-40B4-BE49-F238E27FC236}">
                <a16:creationId xmlns:a16="http://schemas.microsoft.com/office/drawing/2014/main" id="{9DEB8D84-EEBE-5449-839C-F6ECF464F0DD}"/>
              </a:ext>
            </a:extLst>
          </p:cNvPr>
          <p:cNvSpPr txBox="1">
            <a:spLocks noChangeArrowheads="1"/>
          </p:cNvSpPr>
          <p:nvPr/>
        </p:nvSpPr>
        <p:spPr bwMode="auto">
          <a:xfrm>
            <a:off x="323850" y="1600200"/>
            <a:ext cx="11029950" cy="4495800"/>
          </a:xfrm>
          <a:prstGeom prst="rect">
            <a:avLst/>
          </a:prstGeom>
          <a:ln>
            <a:miter lim="800000"/>
            <a:headEnd/>
            <a:tailEnd/>
          </a:ln>
        </p:spPr>
        <p:txBody>
          <a:bodyPr vert="horz" wrap="square" lIns="91440" tIns="45720" rIns="91440" bIns="45720" numCol="1" rtlCol="0" anchor="t"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sz="3600" dirty="0"/>
              <a:t>软件工程学概述</a:t>
            </a:r>
            <a:r>
              <a:rPr lang="en-US" altLang="zh-CN" sz="3600" dirty="0"/>
              <a:t>-</a:t>
            </a:r>
            <a:r>
              <a:rPr lang="zh-CN" altLang="en-US" sz="3600" dirty="0"/>
              <a:t>概念定义</a:t>
            </a:r>
            <a:endParaRPr lang="en-US" altLang="zh-CN" sz="3600" dirty="0"/>
          </a:p>
          <a:p>
            <a:pPr lvl="1"/>
            <a:r>
              <a:rPr lang="zh-CN" altLang="zh-CN" sz="3200" dirty="0"/>
              <a:t>软件工程介绍、软件生命周期、软件</a:t>
            </a:r>
            <a:r>
              <a:rPr lang="zh-CN" altLang="en-US" sz="3200" dirty="0"/>
              <a:t>开发</a:t>
            </a:r>
            <a:r>
              <a:rPr lang="zh-CN" altLang="zh-CN" sz="3200" dirty="0"/>
              <a:t>过程；</a:t>
            </a:r>
          </a:p>
          <a:p>
            <a:r>
              <a:rPr lang="zh-CN" altLang="zh-CN" sz="3600" dirty="0"/>
              <a:t>软件</a:t>
            </a:r>
            <a:r>
              <a:rPr lang="zh-CN" altLang="en-US" sz="3600" dirty="0"/>
              <a:t>流程</a:t>
            </a:r>
            <a:r>
              <a:rPr lang="en-US" altLang="zh-CN" sz="3600" dirty="0"/>
              <a:t>-</a:t>
            </a:r>
            <a:r>
              <a:rPr lang="zh-CN" altLang="en-US" sz="3600" dirty="0"/>
              <a:t>具体怎么做</a:t>
            </a:r>
            <a:endParaRPr lang="en-US" altLang="zh-CN" sz="3600" dirty="0"/>
          </a:p>
          <a:p>
            <a:pPr lvl="1"/>
            <a:r>
              <a:rPr lang="zh-CN" altLang="zh-CN" sz="3200" dirty="0"/>
              <a:t>需求分析、</a:t>
            </a:r>
            <a:r>
              <a:rPr lang="zh-CN" altLang="en-US" sz="3200" dirty="0"/>
              <a:t>系统</a:t>
            </a:r>
            <a:r>
              <a:rPr lang="zh-CN" altLang="zh-CN" sz="3200" dirty="0"/>
              <a:t>设计、编码、测试和软件维护；</a:t>
            </a:r>
          </a:p>
          <a:p>
            <a:r>
              <a:rPr lang="zh-CN" altLang="en-US" sz="3600" dirty="0"/>
              <a:t>软件开发模型</a:t>
            </a:r>
            <a:r>
              <a:rPr lang="en-US" altLang="zh-CN" sz="3600" dirty="0"/>
              <a:t>-</a:t>
            </a:r>
            <a:r>
              <a:rPr lang="zh-CN" altLang="en-US" sz="3600" dirty="0"/>
              <a:t>方法论</a:t>
            </a:r>
            <a:endParaRPr lang="en-US" altLang="zh-CN" sz="3600" dirty="0"/>
          </a:p>
          <a:p>
            <a:pPr lvl="1"/>
            <a:r>
              <a:rPr lang="zh-CN" altLang="en-US" sz="3200" dirty="0"/>
              <a:t>瀑布开发模型、敏捷开发模型</a:t>
            </a:r>
            <a:r>
              <a:rPr lang="zh-CN" altLang="zh-CN" sz="3200" dirty="0"/>
              <a:t>；</a:t>
            </a:r>
          </a:p>
        </p:txBody>
      </p:sp>
    </p:spTree>
    <p:extLst>
      <p:ext uri="{BB962C8B-B14F-4D97-AF65-F5344CB8AC3E}">
        <p14:creationId xmlns:p14="http://schemas.microsoft.com/office/powerpoint/2010/main" val="187478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软件工程课程介绍</a:t>
            </a:r>
          </a:p>
        </p:txBody>
      </p:sp>
      <p:sp>
        <p:nvSpPr>
          <p:cNvPr id="3" name="内容占位符 2"/>
          <p:cNvSpPr>
            <a:spLocks noGrp="1"/>
          </p:cNvSpPr>
          <p:nvPr>
            <p:ph idx="1"/>
          </p:nvPr>
        </p:nvSpPr>
        <p:spPr>
          <a:xfrm>
            <a:off x="644769" y="1561856"/>
            <a:ext cx="10515600" cy="4351338"/>
          </a:xfrm>
        </p:spPr>
        <p:txBody>
          <a:bodyPr>
            <a:normAutofit lnSpcReduction="10000"/>
          </a:bodyPr>
          <a:lstStyle/>
          <a:p>
            <a:pPr>
              <a:lnSpc>
                <a:spcPct val="120000"/>
              </a:lnSpc>
            </a:pPr>
            <a:r>
              <a:rPr lang="zh-CN" altLang="en-US" sz="2400" dirty="0">
                <a:latin typeface="Microsoft YaHei UI" panose="020B0503020204020204" pitchFamily="34" charset="-122"/>
                <a:ea typeface="Microsoft YaHei UI" panose="020B0503020204020204" pitchFamily="34" charset="-122"/>
                <a:sym typeface="+mn-ea"/>
              </a:rPr>
              <a:t>理论和实践相结合，讲现代理论的同时讲体现理论的工具，结构紧凑，个人项目</a:t>
            </a:r>
            <a:r>
              <a:rPr lang="en-US" altLang="zh-CN" sz="2400" dirty="0">
                <a:latin typeface="Microsoft YaHei UI" panose="020B0503020204020204" pitchFamily="34" charset="-122"/>
                <a:ea typeface="Microsoft YaHei UI" panose="020B0503020204020204" pitchFamily="34" charset="-122"/>
                <a:sym typeface="+mn-ea"/>
              </a:rPr>
              <a:t>/</a:t>
            </a:r>
            <a:r>
              <a:rPr lang="zh-CN" altLang="en-US" sz="2400" dirty="0">
                <a:latin typeface="Microsoft YaHei UI" panose="020B0503020204020204" pitchFamily="34" charset="-122"/>
                <a:ea typeface="Microsoft YaHei UI" panose="020B0503020204020204" pitchFamily="34" charset="-122"/>
                <a:sym typeface="+mn-ea"/>
              </a:rPr>
              <a:t>团队项目。</a:t>
            </a:r>
            <a:endParaRPr lang="zh-CN" altLang="en-US" sz="2400" dirty="0">
              <a:latin typeface="Microsoft YaHei UI" panose="020B0503020204020204" pitchFamily="34" charset="-122"/>
              <a:ea typeface="Microsoft YaHei UI" panose="020B0503020204020204" pitchFamily="34" charset="-122"/>
            </a:endParaRPr>
          </a:p>
          <a:p>
            <a:pPr>
              <a:lnSpc>
                <a:spcPct val="120000"/>
              </a:lnSpc>
            </a:pPr>
            <a:r>
              <a:rPr lang="zh-CN" altLang="en-US" sz="2400" dirty="0">
                <a:latin typeface="Microsoft YaHei UI" panose="020B0503020204020204" pitchFamily="34" charset="-122"/>
                <a:ea typeface="Microsoft YaHei UI" panose="020B0503020204020204" pitchFamily="34" charset="-122"/>
                <a:sym typeface="+mn-ea"/>
              </a:rPr>
              <a:t>面向实战，强调做中学 </a:t>
            </a:r>
            <a:r>
              <a:rPr lang="en-US" altLang="zh-CN" sz="2400" dirty="0">
                <a:latin typeface="Microsoft YaHei UI" panose="020B0503020204020204" pitchFamily="34" charset="-122"/>
                <a:ea typeface="Microsoft YaHei UI" panose="020B0503020204020204" pitchFamily="34" charset="-122"/>
                <a:sym typeface="+mn-ea"/>
              </a:rPr>
              <a:t>(learning by doing), </a:t>
            </a:r>
            <a:r>
              <a:rPr lang="zh-CN" altLang="en-US" sz="2400" dirty="0">
                <a:latin typeface="Microsoft YaHei UI" panose="020B0503020204020204" pitchFamily="34" charset="-122"/>
                <a:ea typeface="Microsoft YaHei UI" panose="020B0503020204020204" pitchFamily="34" charset="-122"/>
                <a:sym typeface="+mn-ea"/>
              </a:rPr>
              <a:t>项目都公开发布，社区反馈是评价项目质量的重要因素。 </a:t>
            </a:r>
            <a:endParaRPr lang="zh-CN" altLang="en-US" sz="2400" dirty="0">
              <a:latin typeface="Microsoft YaHei UI" panose="020B0503020204020204" pitchFamily="34" charset="-122"/>
              <a:ea typeface="Microsoft YaHei UI" panose="020B0503020204020204" pitchFamily="34" charset="-122"/>
            </a:endParaRPr>
          </a:p>
          <a:p>
            <a:pPr>
              <a:lnSpc>
                <a:spcPct val="120000"/>
              </a:lnSpc>
            </a:pPr>
            <a:r>
              <a:rPr lang="zh-CN" altLang="en-US" sz="2400" dirty="0">
                <a:latin typeface="Microsoft YaHei UI" panose="020B0503020204020204" pitchFamily="34" charset="-122"/>
                <a:ea typeface="Microsoft YaHei UI" panose="020B0503020204020204" pitchFamily="34" charset="-122"/>
                <a:sym typeface="+mn-ea"/>
              </a:rPr>
              <a:t>结合实际，讲人在软件工程中的不同角色和作用，如：软件过程</a:t>
            </a:r>
            <a:r>
              <a:rPr lang="en-US" altLang="zh-CN" sz="2400" dirty="0">
                <a:latin typeface="Microsoft YaHei UI" panose="020B0503020204020204" pitchFamily="34" charset="-122"/>
                <a:ea typeface="Microsoft YaHei UI" panose="020B0503020204020204" pitchFamily="34" charset="-122"/>
                <a:sym typeface="+mn-ea"/>
              </a:rPr>
              <a:t>, </a:t>
            </a:r>
            <a:r>
              <a:rPr lang="zh-CN" altLang="en-US" sz="2400" dirty="0">
                <a:latin typeface="Microsoft YaHei UI" panose="020B0503020204020204" pitchFamily="34" charset="-122"/>
                <a:ea typeface="Microsoft YaHei UI" panose="020B0503020204020204" pitchFamily="34" charset="-122"/>
                <a:sym typeface="+mn-ea"/>
              </a:rPr>
              <a:t>软件工具</a:t>
            </a:r>
            <a:r>
              <a:rPr lang="en-US" altLang="zh-CN" sz="2400" dirty="0">
                <a:latin typeface="Microsoft YaHei UI" panose="020B0503020204020204" pitchFamily="34" charset="-122"/>
                <a:ea typeface="Microsoft YaHei UI" panose="020B0503020204020204" pitchFamily="34" charset="-122"/>
                <a:sym typeface="+mn-ea"/>
              </a:rPr>
              <a:t>, </a:t>
            </a:r>
            <a:r>
              <a:rPr lang="zh-CN" altLang="en-US" sz="2400" dirty="0">
                <a:latin typeface="Microsoft YaHei UI" panose="020B0503020204020204" pitchFamily="34" charset="-122"/>
                <a:ea typeface="Microsoft YaHei UI" panose="020B0503020204020204" pitchFamily="34" charset="-122"/>
                <a:sym typeface="+mn-ea"/>
              </a:rPr>
              <a:t>软件人员的技术能力和职业能力。</a:t>
            </a:r>
            <a:endParaRPr lang="zh-CN" altLang="en-US" sz="2400" dirty="0">
              <a:latin typeface="Microsoft YaHei UI" panose="020B0503020204020204" pitchFamily="34" charset="-122"/>
              <a:ea typeface="Microsoft YaHei UI" panose="020B0503020204020204" pitchFamily="34" charset="-122"/>
            </a:endParaRPr>
          </a:p>
          <a:p>
            <a:pPr>
              <a:lnSpc>
                <a:spcPct val="120000"/>
              </a:lnSpc>
            </a:pPr>
            <a:r>
              <a:rPr lang="zh-CN" altLang="en-US" sz="2400" dirty="0">
                <a:latin typeface="Microsoft YaHei UI" panose="020B0503020204020204" pitchFamily="34" charset="-122"/>
                <a:ea typeface="Microsoft YaHei UI" panose="020B0503020204020204" pitchFamily="34" charset="-122"/>
                <a:sym typeface="+mn-ea"/>
              </a:rPr>
              <a:t>学生作业涵盖了阅读，分析，编程，团队合作，技能评估，作业联系实际，覆盖全面。 </a:t>
            </a:r>
            <a:endParaRPr lang="zh-CN" altLang="en-US" sz="2400" dirty="0">
              <a:latin typeface="Microsoft YaHei UI" panose="020B0503020204020204" pitchFamily="34" charset="-122"/>
              <a:ea typeface="Microsoft YaHei UI" panose="020B0503020204020204" pitchFamily="34" charset="-122"/>
            </a:endParaRPr>
          </a:p>
          <a:p>
            <a:pPr>
              <a:lnSpc>
                <a:spcPct val="120000"/>
              </a:lnSpc>
            </a:pPr>
            <a:r>
              <a:rPr lang="zh-CN" altLang="en-US" sz="2400" dirty="0">
                <a:latin typeface="Microsoft YaHei UI" panose="020B0503020204020204" pitchFamily="34" charset="-122"/>
                <a:ea typeface="Microsoft YaHei UI" panose="020B0503020204020204" pitchFamily="34" charset="-122"/>
                <a:sym typeface="+mn-ea"/>
              </a:rPr>
              <a:t>吸收了多个高校师生在实际教学中的经验。</a:t>
            </a:r>
            <a:endParaRPr lang="zh-CN" altLang="en-US" sz="2400" dirty="0">
              <a:latin typeface="Microsoft YaHei UI" panose="020B0503020204020204" pitchFamily="34" charset="-122"/>
              <a:ea typeface="Microsoft YaHei UI" panose="020B0503020204020204" pitchFamily="34" charset="-122"/>
            </a:endParaRPr>
          </a:p>
          <a:p>
            <a:endParaRPr lang="zh-CN" altLang="en-US" sz="24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7</a:t>
            </a:fld>
            <a:endParaRPr lang="zh-CN"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怎么算学会了软件工程</a:t>
            </a:r>
          </a:p>
        </p:txBody>
      </p:sp>
      <p:sp>
        <p:nvSpPr>
          <p:cNvPr id="3" name="内容占位符 2"/>
          <p:cNvSpPr>
            <a:spLocks noGrp="1"/>
          </p:cNvSpPr>
          <p:nvPr>
            <p:ph idx="1"/>
          </p:nvPr>
        </p:nvSpPr>
        <p:spPr>
          <a:xfrm>
            <a:off x="838200" y="1825625"/>
            <a:ext cx="10515600" cy="4351338"/>
          </a:xfrm>
        </p:spPr>
        <p:txBody>
          <a:bodyPr>
            <a:normAutofit fontScale="92500" lnSpcReduction="10000"/>
          </a:bodyPr>
          <a:lstStyle/>
          <a:p>
            <a:pPr marL="342900" indent="-342900">
              <a:buFont typeface="+mj-lt"/>
              <a:buAutoNum type="arabicPeriod"/>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研发出符合用户需求的软件</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最好公开发布，有实际的用户，一定的用户量和持续使用量</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可以是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PC/Web/</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手机应用</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而不是</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trike="sngStrike" dirty="0">
                <a:latin typeface="微软雅黑" panose="020B0503020204020204" pitchFamily="34" charset="-122"/>
                <a:ea typeface="微软雅黑" panose="020B0503020204020204" pitchFamily="34" charset="-122"/>
                <a:cs typeface="微软雅黑" panose="020B0503020204020204" pitchFamily="34" charset="-122"/>
                <a:sym typeface="+mn-ea"/>
              </a:rPr>
              <a:t>做没有用户使用的软件</a:t>
            </a:r>
            <a:endParaRPr lang="en-US" altLang="zh-CN" strike="sngStrike"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AutoNum type="arabicPeriod"/>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通过一系列工具，流程，团队合作，能够在预计的时间内发布 </a:t>
            </a:r>
            <a:r>
              <a:rPr 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足够好</a:t>
            </a:r>
            <a:r>
              <a:rPr 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的软件</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有项目规划</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需求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设计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实现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发布</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维护</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有定时的进度发布</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而不是</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trike="sngStrike" dirty="0">
                <a:latin typeface="微软雅黑" panose="020B0503020204020204" pitchFamily="34" charset="-122"/>
                <a:ea typeface="微软雅黑" panose="020B0503020204020204" pitchFamily="34" charset="-122"/>
                <a:cs typeface="微软雅黑" panose="020B0503020204020204" pitchFamily="34" charset="-122"/>
                <a:sym typeface="+mn-ea"/>
              </a:rPr>
              <a:t>通过临时熬夜，胡乱拼凑，大牛一人代劳，延迟交付等方式糊弄</a:t>
            </a:r>
            <a:endParaRPr lang="en-US" altLang="zh-CN" strike="sngStrike"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AutoNum type="arabicPeriod"/>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并且通过数据展现软件是可以维护和继续发展的。</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而不是</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trike="sngStrike" dirty="0">
                <a:latin typeface="微软雅黑" panose="020B0503020204020204" pitchFamily="34" charset="-122"/>
                <a:ea typeface="微软雅黑" panose="020B0503020204020204" pitchFamily="34" charset="-122"/>
                <a:cs typeface="微软雅黑" panose="020B0503020204020204" pitchFamily="34" charset="-122"/>
                <a:sym typeface="+mn-ea"/>
              </a:rPr>
              <a:t>找不到源代码，无文档，无项目发展的资料</a:t>
            </a:r>
            <a:endParaRPr lang="en-US" altLang="zh-CN" strike="sngStrike"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sz="2800" dirty="0"/>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8</a:t>
            </a:fld>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如何学习软件工程</a:t>
            </a:r>
          </a:p>
        </p:txBody>
      </p:sp>
      <p:sp>
        <p:nvSpPr>
          <p:cNvPr id="3" name="内容占位符 2"/>
          <p:cNvSpPr>
            <a:spLocks noGrp="1"/>
          </p:cNvSpPr>
          <p:nvPr>
            <p:ph idx="1"/>
          </p:nvPr>
        </p:nvSpPr>
        <p:spPr>
          <a:xfrm>
            <a:off x="389945" y="1336233"/>
            <a:ext cx="10515600" cy="4906067"/>
          </a:xfrm>
        </p:spPr>
        <p:txBody>
          <a:bodyPr>
            <a:noAutofit/>
          </a:bodyPr>
          <a:lstStyle/>
          <a:p>
            <a:pPr>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从切身经历学</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开发一个实用的（小）产品，解决实际问题</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体会软件开发过程的各个阶段</a:t>
            </a:r>
            <a:endParaRPr 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学习并运用编程语言，工具，理论，合作技巧来解决问题</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能总结自己和团队在各个阶段的得失</a:t>
            </a:r>
            <a:endParaRPr 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从间接经验学</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分析已有项目的得失</a:t>
            </a:r>
            <a:endParaRPr 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从同学那里学</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三人行，必有我师焉。择其善者而从之，其不善者而改之。</a:t>
            </a:r>
            <a:endParaRPr 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通过结对编程和代码复审，学习别人的长处</a:t>
            </a:r>
            <a:endParaRPr 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从团队中不同角色那里学习</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从别的团队那儿学习</a:t>
            </a:r>
            <a:endParaRPr 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从老师，社区，用户那里学</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9</a:t>
            </a:fld>
            <a:endParaRPr lang="zh-CN" altLang="en-US">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9945" y="229754"/>
            <a:ext cx="10515600" cy="1325563"/>
          </a:xfrm>
        </p:spPr>
        <p:txBody>
          <a:bodyPr/>
          <a:lstStyle/>
          <a:p>
            <a:r>
              <a:rPr lang="zh-CN" altLang="en-US" dirty="0">
                <a:latin typeface="微软雅黑" panose="020B0503020204020204" pitchFamily="34" charset="-122"/>
                <a:ea typeface="微软雅黑" panose="020B0503020204020204" pitchFamily="34" charset="-122"/>
              </a:rPr>
              <a:t>你会学到什么</a:t>
            </a:r>
          </a:p>
        </p:txBody>
      </p:sp>
      <p:sp>
        <p:nvSpPr>
          <p:cNvPr id="3" name="内容占位符 2"/>
          <p:cNvSpPr>
            <a:spLocks noGrp="1"/>
          </p:cNvSpPr>
          <p:nvPr>
            <p:ph idx="1"/>
          </p:nvPr>
        </p:nvSpPr>
        <p:spPr>
          <a:xfrm>
            <a:off x="592015" y="1462088"/>
            <a:ext cx="10515600" cy="4351338"/>
          </a:xfrm>
        </p:spPr>
        <p:txBody>
          <a:bodyPr>
            <a:noAutofit/>
          </a:bodyPr>
          <a:lstStyle/>
          <a:p>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理论</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各种软件工程的方法论和名词</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方法论的优缺点</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软件开发生命周期的各种概念和工具</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最佳实践</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技能</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掌握某种编程语言、工具在实战中的应用</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效能分析、单元测试、原型设计</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项目管理</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经验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洞察力</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了解自己，我在别人眼里是什么形象？如何管理自己</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与人合作，给人提意见，影响别人</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怎么开会，怎么做领导</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怎么分析案例，看行业发展趋势和创新</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其他</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 </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10</a:t>
            </a:fld>
            <a:endParaRPr lang="zh-CN" altLang="en-US">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latin typeface="微软雅黑" panose="020B0503020204020204" pitchFamily="34" charset="-122"/>
                <a:ea typeface="微软雅黑" panose="020B0503020204020204" pitchFamily="34" charset="-122"/>
                <a:sym typeface="+mn-ea"/>
              </a:rPr>
              <a:t>各种层次的收获(认知层次)</a:t>
            </a:r>
            <a:endParaRPr lang="zh-CN" altLang="en-US">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11</a:t>
            </a:fld>
            <a:endParaRPr lang="zh-CN" altLang="en-US"/>
          </a:p>
        </p:txBody>
      </p:sp>
      <p:sp>
        <p:nvSpPr>
          <p:cNvPr id="73" name="Rounded Rectangle 17"/>
          <p:cNvSpPr>
            <a:spLocks noGrp="1" noRot="1" noChangeAspect="1" noMove="1" noResize="1" noEditPoints="1" noAdjustHandles="1" noChangeArrowheads="1" noChangeShapeType="1" noTextEdit="1"/>
          </p:cNvSpPr>
          <p:nvPr/>
        </p:nvSpPr>
        <p:spPr>
          <a:xfrm>
            <a:off x="838200" y="1948070"/>
            <a:ext cx="3429886" cy="3896139"/>
          </a:xfrm>
          <a:prstGeom prst="roundRect">
            <a:avLst>
              <a:gd name="adj" fmla="val 2028"/>
            </a:avLst>
          </a:prstGeom>
          <a:solidFill>
            <a:schemeClr val="bg1"/>
          </a:solidFill>
          <a:ln>
            <a:noFill/>
          </a:ln>
          <a:effectLst>
            <a:innerShdw blurRad="127000" dist="12700">
              <a:prstClr val="black"/>
            </a:innerShdw>
            <a:reflection blurRad="6350" stA="52000" endA="300" endPos="20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âå¸é²å§ è®¤ç¥å±æ¬¡âçå¾çæç´¢ç»æ"/>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1172" y="2726568"/>
            <a:ext cx="2843942" cy="2339142"/>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p:cNvSpPr>
            <a:spLocks noGrp="1"/>
          </p:cNvSpPr>
          <p:nvPr>
            <p:ph idx="1"/>
          </p:nvPr>
        </p:nvSpPr>
        <p:spPr>
          <a:xfrm>
            <a:off x="4692015" y="1492885"/>
            <a:ext cx="7179945" cy="4351655"/>
          </a:xfrm>
        </p:spPr>
        <p:txBody>
          <a:bodyPr>
            <a:noAutofit/>
          </a:bodyPr>
          <a:lstStyle/>
          <a:p>
            <a:pPr algn="just"/>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知识：就是记忆、认识，能回忆重要名词、事实、方法、规准、原理原则等；</a:t>
            </a:r>
            <a:r>
              <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p>
          <a:p>
            <a:pPr lvl="1" algn="just"/>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软件工程的名词，原理，能回忆编程语言的某种知识</a:t>
            </a:r>
            <a:endPar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理解：是要能对重要名词、概念之意义有所掌握，能转译、解释；　</a:t>
            </a:r>
            <a:endPar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lvl="1" algn="just"/>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名词、原理的解释， 能理解单元测试、效能分析工具是怎么帮助</a:t>
            </a:r>
            <a:endPar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应用：是要能将所学到的知识概念、方法、步骤、原则通则等等应用到不同的情境中；</a:t>
            </a:r>
            <a:endPar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把原则应用到各种情境场景中，能开发各种类型的应用程序，和不同类型的人合作</a:t>
            </a:r>
            <a:b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br>
            <a:endPar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分析：是要将知识的某些讯息，所包含的成分、元素、关系、组织原理等等分解出来，重新加以组合，并理清之间的关系；</a:t>
            </a:r>
            <a:r>
              <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p>
          <a:p>
            <a:pPr lvl="1"/>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能将用户需求分解为不同优先级，理清功能之间的依赖关系 </a:t>
            </a:r>
            <a:b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br>
            <a:endPar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综合：是能将知识讯息的某些要素重新安排或合并为有组织的整体，或呈现其间的关系； </a:t>
            </a:r>
            <a:r>
              <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p>
          <a:p>
            <a:pPr lvl="1"/>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用</a:t>
            </a:r>
            <a:r>
              <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WBS </a:t>
            </a:r>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等方法把项目的目标细化，分配到人，能用燃尽图展现项目进度</a:t>
            </a:r>
            <a:b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br>
            <a:endPar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评价：是要依照某规准对知识讯息做评价或比较</a:t>
            </a:r>
            <a:r>
              <a:rPr lang="en-US" altLang="zh-CN"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(Evaluation)  </a:t>
            </a:r>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p>
          <a:p>
            <a:pPr lvl="1" algn="just"/>
            <a:r>
              <a:rPr lang="zh-CN" altLang="en-US" sz="13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能够评价别的软件工程的质量，能分析市面上流行软件的优劣并探究深层原因，能对自己项目进行回顾分析，并提出改进</a:t>
            </a:r>
          </a:p>
        </p:txBody>
      </p:sp>
    </p:spTree>
  </p:cSld>
  <p:clrMapOvr>
    <a:overrideClrMapping bg1="lt1" tx1="dk1" bg2="lt2" tx2="dk2" accent1="accent1" accent2="accent2" accent3="accent3" accent4="accent4" accent5="accent5" accent6="accent6" hlink="hlink" folHlink="folHlink"/>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课程期望</a:t>
            </a:r>
            <a:endParaRPr lang="zh-CN" altLang="en-US"/>
          </a:p>
        </p:txBody>
      </p:sp>
      <p:sp>
        <p:nvSpPr>
          <p:cNvPr id="3" name="内容占位符 2"/>
          <p:cNvSpPr>
            <a:spLocks noGrp="1"/>
          </p:cNvSpPr>
          <p:nvPr>
            <p:ph idx="1"/>
          </p:nvPr>
        </p:nvSpPr>
        <p:spPr>
          <a:xfrm>
            <a:off x="838200" y="1587745"/>
            <a:ext cx="10515600" cy="4351338"/>
          </a:xfrm>
        </p:spPr>
        <p:txBody>
          <a:bodyPr>
            <a:normAutofit fontScale="90000" lnSpcReduction="10000"/>
          </a:bodyPr>
          <a:lstStyle/>
          <a:p>
            <a:pPr>
              <a:lnSpc>
                <a:spcPct val="150000"/>
              </a:lnSpc>
            </a:pPr>
            <a:r>
              <a:rPr lang="zh-CN" altLang="en-US" sz="2400" dirty="0">
                <a:latin typeface="Microsoft YaHei UI" panose="020B0503020204020204" pitchFamily="34" charset="-122"/>
                <a:ea typeface="Microsoft YaHei UI" panose="020B0503020204020204" pitchFamily="34" charset="-122"/>
              </a:rPr>
              <a:t>每一个来学习的学生,  都是想学好才来的。各人兴趣不同, 学好的目标也未必相同。</a:t>
            </a:r>
          </a:p>
          <a:p>
            <a:pPr>
              <a:lnSpc>
                <a:spcPct val="150000"/>
              </a:lnSpc>
            </a:pPr>
            <a:endParaRPr lang="zh-CN" altLang="en-US" sz="2400" dirty="0">
              <a:latin typeface="Microsoft YaHei UI" panose="020B0503020204020204" pitchFamily="34" charset="-122"/>
              <a:ea typeface="Microsoft YaHei UI" panose="020B0503020204020204" pitchFamily="34" charset="-122"/>
            </a:endParaRPr>
          </a:p>
          <a:p>
            <a:pPr>
              <a:lnSpc>
                <a:spcPct val="150000"/>
              </a:lnSpc>
            </a:pPr>
            <a:r>
              <a:rPr lang="zh-CN" altLang="en-US" sz="2400" dirty="0">
                <a:latin typeface="Microsoft YaHei UI" panose="020B0503020204020204" pitchFamily="34" charset="-122"/>
                <a:ea typeface="Microsoft YaHei UI" panose="020B0503020204020204" pitchFamily="34" charset="-122"/>
              </a:rPr>
              <a:t>有些同学想成为一流/较好的软件工程师,  那老师就会以一流/较高的标准来要求学生；有些同学只想拿一个及格的分数，那老师也会告诉他如何才能及格，并严格执行评分标准；有些同学想在某个领域深造，老师也会尽可能提供相应的教学。 </a:t>
            </a:r>
          </a:p>
          <a:p>
            <a:pPr>
              <a:lnSpc>
                <a:spcPct val="150000"/>
              </a:lnSpc>
            </a:pPr>
            <a:endParaRPr lang="zh-CN" altLang="en-US" sz="2400" dirty="0">
              <a:latin typeface="Microsoft YaHei UI" panose="020B0503020204020204" pitchFamily="34" charset="-122"/>
              <a:ea typeface="Microsoft YaHei UI" panose="020B0503020204020204" pitchFamily="34" charset="-122"/>
            </a:endParaRPr>
          </a:p>
          <a:p>
            <a:pPr>
              <a:lnSpc>
                <a:spcPct val="150000"/>
              </a:lnSpc>
            </a:pPr>
            <a:r>
              <a:rPr lang="zh-CN" altLang="en-US" sz="2400" dirty="0">
                <a:latin typeface="Microsoft YaHei UI" panose="020B0503020204020204" pitchFamily="34" charset="-122"/>
                <a:ea typeface="Microsoft YaHei UI" panose="020B0503020204020204" pitchFamily="34" charset="-122"/>
              </a:rPr>
              <a:t>但是，不能只付出 "及格" 的努力，却期望收获“优秀” 的结果，或者没有付出足够的努力，却期望老师最后放水让自己及格。</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12</a:t>
            </a:fld>
            <a:endParaRPr lang="zh-CN" alt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失败的瀑布模式授课</a:t>
            </a:r>
            <a:endParaRPr lang="zh-CN" altLang="en-US" dirty="0"/>
          </a:p>
        </p:txBody>
      </p:sp>
      <p:sp>
        <p:nvSpPr>
          <p:cNvPr id="3" name="内容占位符 2"/>
          <p:cNvSpPr>
            <a:spLocks noGrp="1"/>
          </p:cNvSpPr>
          <p:nvPr>
            <p:ph idx="1"/>
          </p:nvPr>
        </p:nvSpPr>
        <p:spPr>
          <a:xfrm>
            <a:off x="838200" y="1498210"/>
            <a:ext cx="10515600" cy="4485640"/>
          </a:xfrm>
        </p:spPr>
        <p:txBody>
          <a:bodyPr>
            <a:normAutofit fontScale="87500" lnSpcReduction="10000"/>
          </a:bodyPr>
          <a:lstStyle/>
          <a:p>
            <a:pPr>
              <a:lnSpc>
                <a:spcPct val="150000"/>
              </a:lnSpc>
            </a:pPr>
            <a:r>
              <a:rPr lang="zh-CN" altLang="en-US" dirty="0"/>
              <a:t>    </a:t>
            </a:r>
            <a:r>
              <a:rPr lang="zh-CN" altLang="en-US" sz="2400" dirty="0">
                <a:latin typeface="Microsoft YaHei UI" panose="020B0503020204020204" pitchFamily="34" charset="-122"/>
                <a:ea typeface="Microsoft YaHei UI" panose="020B0503020204020204" pitchFamily="34" charset="-122"/>
              </a:rPr>
              <a:t>需求分析：学生们都不懂企业的需求是什么，上课睡觉。</a:t>
            </a:r>
          </a:p>
          <a:p>
            <a:pPr>
              <a:lnSpc>
                <a:spcPct val="150000"/>
              </a:lnSpc>
            </a:pPr>
            <a:r>
              <a:rPr lang="zh-CN" altLang="en-US" sz="2400" dirty="0">
                <a:latin typeface="Microsoft YaHei UI" panose="020B0503020204020204" pitchFamily="34" charset="-122"/>
                <a:ea typeface="Microsoft YaHei UI" panose="020B0503020204020204" pitchFamily="34" charset="-122"/>
              </a:rPr>
              <a:t>   设计阶段：学生们画了许多 UML 图，用设计工具画了不少矩形框，菱形框，如此而已</a:t>
            </a:r>
          </a:p>
          <a:p>
            <a:pPr>
              <a:lnSpc>
                <a:spcPct val="150000"/>
              </a:lnSpc>
            </a:pPr>
            <a:r>
              <a:rPr lang="zh-CN" altLang="en-US" sz="2400" dirty="0">
                <a:latin typeface="Microsoft YaHei UI" panose="020B0503020204020204" pitchFamily="34" charset="-122"/>
                <a:ea typeface="Microsoft YaHei UI" panose="020B0503020204020204" pitchFamily="34" charset="-122"/>
              </a:rPr>
              <a:t>   实现阶段：学生们开始讨论非常细节的问题，UML 图早已经扔到一边。</a:t>
            </a:r>
          </a:p>
          <a:p>
            <a:pPr>
              <a:lnSpc>
                <a:spcPct val="150000"/>
              </a:lnSpc>
            </a:pPr>
            <a:r>
              <a:rPr lang="zh-CN" altLang="en-US" sz="2400" dirty="0">
                <a:latin typeface="Microsoft YaHei UI" panose="020B0503020204020204" pitchFamily="34" charset="-122"/>
                <a:ea typeface="Microsoft YaHei UI" panose="020B0503020204020204" pitchFamily="34" charset="-122"/>
              </a:rPr>
              <a:t>   稳定阶段：学生们中十分之一的人开始写代码，其他人不知道在干什么．代码大部分情况下都不能工作，所有设计好的种种黑箱和白箱测试都无从开始。</a:t>
            </a:r>
          </a:p>
          <a:p>
            <a:pPr>
              <a:lnSpc>
                <a:spcPct val="150000"/>
              </a:lnSpc>
            </a:pPr>
            <a:r>
              <a:rPr lang="zh-CN" altLang="en-US" sz="2400" dirty="0">
                <a:latin typeface="Microsoft YaHei UI" panose="020B0503020204020204" pitchFamily="34" charset="-122"/>
                <a:ea typeface="Microsoft YaHei UI" panose="020B0503020204020204" pitchFamily="34" charset="-122"/>
              </a:rPr>
              <a:t>   发布阶段：这个只有一天时间，就是最后检查的那一天，同时还有人在调试程序．</a:t>
            </a:r>
          </a:p>
          <a:p>
            <a:pPr>
              <a:lnSpc>
                <a:spcPct val="150000"/>
              </a:lnSpc>
            </a:pPr>
            <a:r>
              <a:rPr lang="zh-CN" altLang="en-US" sz="2400" dirty="0">
                <a:latin typeface="Microsoft YaHei UI" panose="020B0503020204020204" pitchFamily="34" charset="-122"/>
                <a:ea typeface="Microsoft YaHei UI" panose="020B0503020204020204" pitchFamily="34" charset="-122"/>
              </a:rPr>
              <a:t>   维护阶段：课程结束了，同学们对自己的产品没有任何维护，放假了！</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13</a:t>
            </a:fld>
            <a:endParaRPr lang="zh-CN" alt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稍作修改</a:t>
            </a:r>
            <a:endParaRPr lang="zh-CN" altLang="en-US"/>
          </a:p>
        </p:txBody>
      </p:sp>
      <p:sp>
        <p:nvSpPr>
          <p:cNvPr id="3" name="内容占位符 2"/>
          <p:cNvSpPr>
            <a:spLocks noGrp="1"/>
          </p:cNvSpPr>
          <p:nvPr>
            <p:ph idx="1"/>
          </p:nvPr>
        </p:nvSpPr>
        <p:spPr/>
        <p:txBody>
          <a:bodyPr/>
          <a:lstStyle/>
          <a:p>
            <a:pPr algn="l">
              <a:lnSpc>
                <a:spcPct val="150000"/>
              </a:lnSpc>
              <a:buClrTx/>
              <a:buSzTx/>
            </a:pPr>
            <a:r>
              <a:rPr lang="zh-CN" altLang="en-US" sz="2400" dirty="0">
                <a:latin typeface="Microsoft YaHei UI" panose="020B0503020204020204" pitchFamily="34" charset="-122"/>
                <a:ea typeface="Microsoft YaHei UI" panose="020B0503020204020204" pitchFamily="34" charset="-122"/>
                <a:sym typeface="+mn-ea"/>
              </a:rPr>
              <a:t>一直保持有具体的事情做, 而且做了之后能看到效果</a:t>
            </a:r>
          </a:p>
          <a:p>
            <a:pPr algn="l">
              <a:lnSpc>
                <a:spcPct val="150000"/>
              </a:lnSpc>
              <a:buClrTx/>
              <a:buSzTx/>
            </a:pPr>
            <a:r>
              <a:rPr lang="zh-CN" altLang="en-US" sz="2400" dirty="0">
                <a:latin typeface="Microsoft YaHei UI" panose="020B0503020204020204" pitchFamily="34" charset="-122"/>
                <a:ea typeface="Microsoft YaHei UI" panose="020B0503020204020204" pitchFamily="34" charset="-122"/>
              </a:rPr>
              <a:t>先把个人技术做好, 然后再开始团队项目</a:t>
            </a:r>
          </a:p>
          <a:p>
            <a:pPr marL="514350" indent="-514350"/>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14</a:t>
            </a:fld>
            <a:endParaRPr lang="zh-CN"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教课过程</a:t>
            </a:r>
          </a:p>
        </p:txBody>
      </p:sp>
      <p:sp>
        <p:nvSpPr>
          <p:cNvPr id="3" name="内容占位符 2"/>
          <p:cNvSpPr>
            <a:spLocks noGrp="1"/>
          </p:cNvSpPr>
          <p:nvPr>
            <p:ph idx="1"/>
          </p:nvPr>
        </p:nvSpPr>
        <p:spPr>
          <a:xfrm>
            <a:off x="838200" y="1691640"/>
            <a:ext cx="10515600" cy="4485640"/>
          </a:xfrm>
        </p:spPr>
        <p:txBody>
          <a:bodyPr>
            <a:normAutofit fontScale="90000" lnSpcReduction="10000"/>
          </a:bodyPr>
          <a:lstStyle/>
          <a:p>
            <a:pPr marL="514350" indent="-514350"/>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需求分析：分析现有软件</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用你们写的软件的用户量来证明你了解用户的需求</a:t>
            </a:r>
          </a:p>
          <a:p>
            <a:pPr marL="514350" indent="-514350"/>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设计阶段：用快速发布来证明设计是有效的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能适应变化的。</a:t>
            </a:r>
          </a:p>
          <a:p>
            <a:pPr marL="514350" indent="-514350"/>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实现阶段：用各种软件工程的衡量手段来证明大家实现的能力。</a:t>
            </a:r>
          </a:p>
          <a:p>
            <a:pPr marL="514350" indent="-514350"/>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稳定阶段：证明测试能否覆盖代码的大部分。 </a:t>
            </a:r>
          </a:p>
          <a:p>
            <a:pPr marL="514350" indent="-514350"/>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发布阶段： 如期发布</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用户量</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用户评价。 </a:t>
            </a:r>
          </a:p>
          <a:p>
            <a:pPr marL="514350" indent="-514350"/>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维护阶段：网上的观众或下一个年级的同学能很愿意接手你们的软件。</a:t>
            </a:r>
            <a:r>
              <a:rPr lang="zh-CN" altLang="en-US" sz="2400" dirty="0">
                <a:sym typeface="+mn-ea"/>
              </a:rPr>
              <a:t> </a:t>
            </a:r>
            <a:r>
              <a:rPr lang="en-US" altLang="zh-CN" sz="2400" dirty="0">
                <a:sym typeface="+mn-ea"/>
              </a:rPr>
              <a:t> </a:t>
            </a:r>
            <a:endParaRPr lang="en-US" altLang="zh-CN" sz="2400" dirty="0"/>
          </a:p>
          <a:p>
            <a:pPr>
              <a:lnSpc>
                <a:spcPct val="150000"/>
              </a:lnSpc>
            </a:pPr>
            <a:endParaRPr lang="zh-CN" altLang="en-US" sz="2400"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15</a:t>
            </a:fld>
            <a:endParaRPr lang="zh-CN" alt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教课特点 – 自己动手去做</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690688"/>
            <a:ext cx="10515600" cy="4351338"/>
          </a:xfrm>
        </p:spPr>
        <p:txBody>
          <a:bodyPr>
            <a:normAutofit fontScale="87500" lnSpcReduction="10000"/>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Learning by doing</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在工作中学习 – 做中学</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None/>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教育是令人羡慕的东西，但是要记住: 凡是值得知道的，没有一个是能够教会的。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	——奥斯卡•王尔德（Oscar Wilder）</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None/>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从错误中学习</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不断改进，先有量变，再有质变</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和别人合作</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2"/>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1:1 结对编程</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2"/>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1:many  团队作业</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16</a:t>
            </a:fld>
            <a:endParaRPr lang="zh-C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大学教育 vs. IT行业培训</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328245" y="1482237"/>
            <a:ext cx="10515600" cy="4351338"/>
          </a:xfrm>
        </p:spPr>
        <p:txBody>
          <a:bodyPr>
            <a:noAutofit/>
          </a:bodyPr>
          <a:lstStyle/>
          <a:p>
            <a:pPr>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大学：</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reparing students for jobs that do not exist, using technologies that have not been invented, in order to solve problems we do not even know are problems. (K</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arl</a:t>
            </a: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 Fish) </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sym typeface="+mn-ea"/>
              </a:rPr>
              <a:t>课堂练习：请翻译上面这句话</a:t>
            </a:r>
            <a:endParaRPr lang="en-US" sz="1800" b="1"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目的：打下基础，培养自我学习、探索的技能，为将来的未知挑战做准备。</a:t>
            </a:r>
            <a:endParaRPr 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IT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行业培训</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用已有的技术解决现有的问题，获得实用技能</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目的：人才马上能用</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大学当然可以讲目前流行的技术，解决目前的问题</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目的是要知其然，并知其所以然，在其中锻炼自我学习， 探索的能力。</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要不断提问， 不断深入探索</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17</a:t>
            </a:fld>
            <a:endParaRPr lang="zh-CN" alt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B1A0B3-3B37-CEB6-5131-C27AB3EA5963}"/>
              </a:ext>
            </a:extLst>
          </p:cNvPr>
          <p:cNvSpPr>
            <a:spLocks noGrp="1"/>
          </p:cNvSpPr>
          <p:nvPr>
            <p:ph type="title"/>
          </p:nvPr>
        </p:nvSpPr>
        <p:spPr/>
        <p:txBody>
          <a:bodyPr/>
          <a:lstStyle/>
          <a:p>
            <a:r>
              <a:rPr lang="zh-CN" altLang="en-US" dirty="0"/>
              <a:t>考勤</a:t>
            </a:r>
          </a:p>
        </p:txBody>
      </p:sp>
      <p:sp>
        <p:nvSpPr>
          <p:cNvPr id="3" name="内容占位符 2">
            <a:extLst>
              <a:ext uri="{FF2B5EF4-FFF2-40B4-BE49-F238E27FC236}">
                <a16:creationId xmlns:a16="http://schemas.microsoft.com/office/drawing/2014/main" id="{2B61B845-7AB7-75BA-EA21-BB0851B73E40}"/>
              </a:ext>
            </a:extLst>
          </p:cNvPr>
          <p:cNvSpPr>
            <a:spLocks noGrp="1"/>
          </p:cNvSpPr>
          <p:nvPr>
            <p:ph idx="1"/>
          </p:nvPr>
        </p:nvSpPr>
        <p:spPr/>
        <p:txBody>
          <a:bodyPr/>
          <a:lstStyle/>
          <a:p>
            <a:r>
              <a:rPr lang="zh-CN" altLang="en-US" b="1" dirty="0">
                <a:solidFill>
                  <a:srgbClr val="FF0000"/>
                </a:solidFill>
              </a:rPr>
              <a:t>考勤占总分 </a:t>
            </a:r>
            <a:r>
              <a:rPr lang="en-US" altLang="zh-CN" b="1" dirty="0">
                <a:solidFill>
                  <a:srgbClr val="FF0000"/>
                </a:solidFill>
              </a:rPr>
              <a:t>15</a:t>
            </a:r>
            <a:r>
              <a:rPr lang="zh-CN" altLang="en-US" b="1" dirty="0">
                <a:solidFill>
                  <a:srgbClr val="FF0000"/>
                </a:solidFill>
              </a:rPr>
              <a:t>分</a:t>
            </a:r>
            <a:endParaRPr lang="en-US" altLang="zh-CN" b="1" dirty="0">
              <a:solidFill>
                <a:srgbClr val="FF0000"/>
              </a:solidFill>
            </a:endParaRPr>
          </a:p>
          <a:p>
            <a:r>
              <a:rPr lang="en-US" altLang="zh-CN" b="1" dirty="0">
                <a:solidFill>
                  <a:srgbClr val="FF0000"/>
                </a:solidFill>
              </a:rPr>
              <a:t>3</a:t>
            </a:r>
            <a:r>
              <a:rPr lang="zh-CN" altLang="en-US" b="1" dirty="0">
                <a:solidFill>
                  <a:srgbClr val="FF0000"/>
                </a:solidFill>
              </a:rPr>
              <a:t>次不到扣除全部考勤分</a:t>
            </a:r>
            <a:endParaRPr lang="en-US" altLang="zh-CN" b="1" dirty="0">
              <a:solidFill>
                <a:srgbClr val="FF0000"/>
              </a:solidFill>
            </a:endParaRPr>
          </a:p>
          <a:p>
            <a:r>
              <a:rPr lang="zh-CN" altLang="en-US" b="1" dirty="0">
                <a:solidFill>
                  <a:srgbClr val="FF0000"/>
                </a:solidFill>
              </a:rPr>
              <a:t>注意签到，还有课程上回答问题</a:t>
            </a:r>
          </a:p>
        </p:txBody>
      </p:sp>
      <p:sp>
        <p:nvSpPr>
          <p:cNvPr id="4" name="灯片编号占位符 3">
            <a:extLst>
              <a:ext uri="{FF2B5EF4-FFF2-40B4-BE49-F238E27FC236}">
                <a16:creationId xmlns:a16="http://schemas.microsoft.com/office/drawing/2014/main" id="{47C8FE6D-CC97-0757-D849-358513D694E1}"/>
              </a:ext>
            </a:extLst>
          </p:cNvPr>
          <p:cNvSpPr>
            <a:spLocks noGrp="1"/>
          </p:cNvSpPr>
          <p:nvPr>
            <p:ph type="sldNum" sz="quarter" idx="12"/>
          </p:nvPr>
        </p:nvSpPr>
        <p:spPr/>
        <p:txBody>
          <a:bodyPr/>
          <a:lstStyle/>
          <a:p>
            <a:fld id="{74D2AB8B-5816-41F2-8B4B-CA5C3E4E6A65}" type="slidenum">
              <a:rPr lang="zh-CN" altLang="en-US" smtClean="0"/>
              <a:t>18</a:t>
            </a:fld>
            <a:endParaRPr lang="zh-CN" altLang="en-US"/>
          </a:p>
        </p:txBody>
      </p:sp>
    </p:spTree>
    <p:extLst>
      <p:ext uri="{BB962C8B-B14F-4D97-AF65-F5344CB8AC3E}">
        <p14:creationId xmlns:p14="http://schemas.microsoft.com/office/powerpoint/2010/main" val="1552196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E733D-C11C-F291-5E80-49F02C1539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BA1D886-A9C6-13A6-4FB3-FDF5BF110C84}"/>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作业类型</a:t>
            </a:r>
          </a:p>
        </p:txBody>
      </p:sp>
      <p:sp>
        <p:nvSpPr>
          <p:cNvPr id="3" name="内容占位符 2">
            <a:extLst>
              <a:ext uri="{FF2B5EF4-FFF2-40B4-BE49-F238E27FC236}">
                <a16:creationId xmlns:a16="http://schemas.microsoft.com/office/drawing/2014/main" id="{38A558CF-65C9-8FC0-5329-C169697698AC}"/>
              </a:ext>
            </a:extLst>
          </p:cNvPr>
          <p:cNvSpPr>
            <a:spLocks noGrp="1"/>
          </p:cNvSpPr>
          <p:nvPr>
            <p:ph idx="1"/>
          </p:nvPr>
        </p:nvSpPr>
        <p:spPr/>
        <p:txBody>
          <a:bodyPr/>
          <a:lstStyle/>
          <a:p>
            <a:r>
              <a:rPr lang="zh-CN" altLang="en-US" sz="2400" dirty="0">
                <a:latin typeface="Microsoft YaHei UI" panose="020B0503020204020204" pitchFamily="34" charset="-122"/>
                <a:ea typeface="Microsoft YaHei UI" panose="020B0503020204020204" pitchFamily="34" charset="-122"/>
              </a:rPr>
              <a:t>文档类（项目过程中的文档、分析总结文章、学术论文等）</a:t>
            </a:r>
          </a:p>
          <a:p>
            <a:r>
              <a:rPr lang="zh-CN" altLang="en-US" sz="2400" dirty="0">
                <a:latin typeface="Microsoft YaHei UI" panose="020B0503020204020204" pitchFamily="34" charset="-122"/>
                <a:ea typeface="Microsoft YaHei UI" panose="020B0503020204020204" pitchFamily="34" charset="-122"/>
              </a:rPr>
              <a:t>代码</a:t>
            </a:r>
          </a:p>
          <a:p>
            <a:endParaRPr lang="zh-CN" altLang="en-US" sz="2400" dirty="0">
              <a:latin typeface="Microsoft YaHei UI" panose="020B0503020204020204" pitchFamily="34" charset="-122"/>
              <a:ea typeface="Microsoft YaHei UI" panose="020B0503020204020204" pitchFamily="34" charset="-122"/>
            </a:endParaRPr>
          </a:p>
          <a:p>
            <a:r>
              <a:rPr lang="zh-CN" altLang="en-US" sz="2400" dirty="0">
                <a:latin typeface="Microsoft YaHei UI" panose="020B0503020204020204" pitchFamily="34" charset="-122"/>
                <a:ea typeface="Microsoft YaHei UI" panose="020B0503020204020204" pitchFamily="34" charset="-122"/>
              </a:rPr>
              <a:t>个人项目： 调研、需求、设计、编程、测试</a:t>
            </a:r>
          </a:p>
          <a:p>
            <a:r>
              <a:rPr lang="zh-CN" altLang="en-US" sz="2400" dirty="0">
                <a:latin typeface="Microsoft YaHei UI" panose="020B0503020204020204" pitchFamily="34" charset="-122"/>
                <a:ea typeface="Microsoft YaHei UI" panose="020B0503020204020204" pitchFamily="34" charset="-122"/>
              </a:rPr>
              <a:t>团队项目：系统集成，项目管理</a:t>
            </a:r>
            <a:r>
              <a:rPr lang="en-US" altLang="zh-CN" sz="2400" dirty="0">
                <a:latin typeface="Microsoft YaHei UI" panose="020B0503020204020204" pitchFamily="34" charset="-122"/>
                <a:ea typeface="Microsoft YaHei UI" panose="020B0503020204020204" pitchFamily="34" charset="-122"/>
              </a:rPr>
              <a:t>…….   </a:t>
            </a:r>
            <a:endParaRPr lang="zh-CN" altLang="en-US" sz="2400" dirty="0">
              <a:latin typeface="Microsoft YaHei UI" panose="020B0503020204020204" pitchFamily="34" charset="-122"/>
              <a:ea typeface="Microsoft YaHei UI" panose="020B0503020204020204" pitchFamily="34" charset="-122"/>
            </a:endParaRPr>
          </a:p>
          <a:p>
            <a:r>
              <a:rPr lang="zh-CN" altLang="en-US" sz="4000" dirty="0">
                <a:solidFill>
                  <a:srgbClr val="FF0000"/>
                </a:solidFill>
                <a:latin typeface="Microsoft YaHei UI" panose="020B0503020204020204" pitchFamily="34" charset="-122"/>
                <a:ea typeface="Microsoft YaHei UI" panose="020B0503020204020204" pitchFamily="34" charset="-122"/>
              </a:rPr>
              <a:t>不能跨班分组</a:t>
            </a:r>
            <a:endParaRPr lang="zh-CN" altLang="en-US" sz="2400" dirty="0">
              <a:solidFill>
                <a:srgbClr val="FF0000"/>
              </a:solidFill>
              <a:latin typeface="Microsoft YaHei UI" panose="020B0503020204020204" pitchFamily="34" charset="-122"/>
              <a:ea typeface="Microsoft YaHei UI" panose="020B0503020204020204" pitchFamily="34" charset="-122"/>
            </a:endParaRPr>
          </a:p>
          <a:p>
            <a:endParaRPr lang="zh-CN" altLang="en-US" dirty="0"/>
          </a:p>
        </p:txBody>
      </p:sp>
      <p:sp>
        <p:nvSpPr>
          <p:cNvPr id="4" name="灯片编号占位符 3">
            <a:extLst>
              <a:ext uri="{FF2B5EF4-FFF2-40B4-BE49-F238E27FC236}">
                <a16:creationId xmlns:a16="http://schemas.microsoft.com/office/drawing/2014/main" id="{65DDD2D6-4577-1FCD-5A6A-2C053DAD6AF1}"/>
              </a:ext>
            </a:extLst>
          </p:cNvPr>
          <p:cNvSpPr>
            <a:spLocks noGrp="1"/>
          </p:cNvSpPr>
          <p:nvPr>
            <p:ph type="sldNum" sz="quarter" idx="12"/>
          </p:nvPr>
        </p:nvSpPr>
        <p:spPr/>
        <p:txBody>
          <a:bodyPr/>
          <a:lstStyle/>
          <a:p>
            <a:fld id="{74D2AB8B-5816-41F2-8B4B-CA5C3E4E6A65}" type="slidenum">
              <a:rPr lang="zh-CN" altLang="en-US" smtClean="0"/>
              <a:t>19</a:t>
            </a:fld>
            <a:endParaRPr lang="zh-CN" altLang="en-US"/>
          </a:p>
        </p:txBody>
      </p:sp>
    </p:spTree>
    <p:extLst>
      <p:ext uri="{BB962C8B-B14F-4D97-AF65-F5344CB8AC3E}">
        <p14:creationId xmlns:p14="http://schemas.microsoft.com/office/powerpoint/2010/main" val="348225051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怎样得高分</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538795" y="1550496"/>
            <a:ext cx="10515600" cy="4351338"/>
          </a:xfrm>
        </p:spPr>
        <p:txBody>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按时交作业，迟交最高一半分，不交作业得</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分</a:t>
            </a:r>
          </a:p>
          <a:p>
            <a:endParaRPr 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做高质量的工作，取得预期的效果</a:t>
            </a:r>
            <a:endParaRPr 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或者，做得不好，但是认真总结了教训，学到了软件工程的知识。</a:t>
            </a:r>
          </a:p>
          <a:p>
            <a:pPr lvl="1"/>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bonus</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：公开发布，有真实用户或良好社区反馈</a:t>
            </a:r>
          </a:p>
          <a:p>
            <a:pPr lvl="1"/>
            <a:endParaRPr 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为团队做贡献</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在团队项目中有 “个人贡献分”</a:t>
            </a:r>
          </a:p>
          <a:p>
            <a:pPr lvl="1"/>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做更多额外的工作</a:t>
            </a:r>
            <a:r>
              <a:rPr 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dirty="0">
              <a:latin typeface="Microsoft YaHei UI" panose="020B0503020204020204" pitchFamily="34" charset="-122"/>
              <a:ea typeface="Microsoft YaHei UI"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20</a:t>
            </a:fld>
            <a:endParaRPr lang="zh-CN"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怎样得高分</a:t>
            </a:r>
            <a:endParaRPr lang="zh-CN" altLang="en-US"/>
          </a:p>
        </p:txBody>
      </p:sp>
      <p:sp>
        <p:nvSpPr>
          <p:cNvPr id="3" name="内容占位符 2"/>
          <p:cNvSpPr>
            <a:spLocks noGrp="1"/>
          </p:cNvSpPr>
          <p:nvPr>
            <p:ph idx="1"/>
          </p:nvPr>
        </p:nvSpPr>
        <p:spPr/>
        <p:txBody>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作业一般满分10分</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同样类型的作业</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一等的质量： 100% of  score</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二等的质量： ½ of full score</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三等的质量：1/3 of full score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迟交作业最多得一半分. </a:t>
            </a:r>
          </a:p>
          <a:p>
            <a:r>
              <a:rPr lang="zh-CN" altLang="en-US" sz="2400" dirty="0">
                <a:latin typeface="微软雅黑" panose="020B0503020204020204" pitchFamily="34" charset="-122"/>
                <a:ea typeface="微软雅黑" panose="020B0503020204020204" pitchFamily="34" charset="-122"/>
                <a:sym typeface="+mn-ea"/>
              </a:rPr>
              <a:t>有可能很多同学表现都是一等</a:t>
            </a:r>
            <a:endParaRPr lang="en-US"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sym typeface="+mn-ea"/>
              </a:rPr>
              <a:t>那他们就得到最佳分数</a:t>
            </a:r>
            <a:endParaRPr lang="en-US" altLang="zh-CN"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21</a:t>
            </a:fld>
            <a:endParaRPr lang="zh-CN" alt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用结果说话</a:t>
            </a:r>
          </a:p>
        </p:txBody>
      </p:sp>
      <p:sp>
        <p:nvSpPr>
          <p:cNvPr id="3" name="内容占位符 2"/>
          <p:cNvSpPr>
            <a:spLocks noGrp="1"/>
          </p:cNvSpPr>
          <p:nvPr>
            <p:ph idx="1"/>
          </p:nvPr>
        </p:nvSpPr>
        <p:spPr/>
        <p:txBody>
          <a:bodyPr/>
          <a:lstStyle/>
          <a:p>
            <a:pPr lvl="1" algn="l">
              <a:lnSpc>
                <a:spcPct val="90000"/>
              </a:lnSpc>
              <a:spcBef>
                <a:spcPts val="1000"/>
              </a:spcBef>
              <a:buClrTx/>
              <a:buSzTx/>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写了多少行代码，多少博客</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algn="l">
              <a:lnSpc>
                <a:spcPct val="90000"/>
              </a:lnSpc>
              <a:spcBef>
                <a:spcPts val="1000"/>
              </a:spcBef>
              <a:buClrTx/>
              <a:buSzTx/>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做的项目有多少用户，多少好评</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22</a:t>
            </a:fld>
            <a:endParaRPr lang="zh-CN" alt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如何看待作业中的各种失败？</a:t>
            </a:r>
            <a:endParaRPr lang="zh-CN" altLang="en-US">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pPr marL="285750" indent="-285750">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很多同学害怕失败，纠结于某个作业的分数</a:t>
            </a:r>
          </a:p>
          <a:p>
            <a:pPr marL="285750" indent="-285750">
              <a:buFont typeface="Arial" panose="020B0604020202020204" pitchFamily="34" charset="0"/>
              <a:buChar char="•"/>
            </a:pP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请把这门课看作是去游乐场玩耍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 </a:t>
            </a:r>
          </a:p>
          <a:p>
            <a:pPr marL="742950" lvl="1" indent="-285750">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不要纠结于一时的失误</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marL="742950" lvl="1" indent="-285750">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玩尽可能多的游戏</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希望最后还能学到点东西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 </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23</a:t>
            </a:fld>
            <a:endParaRPr lang="zh-CN"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课程管理</a:t>
            </a:r>
          </a:p>
        </p:txBody>
      </p:sp>
      <p:sp>
        <p:nvSpPr>
          <p:cNvPr id="3" name="内容占位符 2"/>
          <p:cNvSpPr>
            <a:spLocks noGrp="1"/>
          </p:cNvSpPr>
          <p:nvPr>
            <p:ph idx="1"/>
          </p:nvPr>
        </p:nvSpPr>
        <p:spPr>
          <a:xfrm>
            <a:off x="838200" y="1561856"/>
            <a:ext cx="10515600" cy="4351338"/>
          </a:xfrm>
        </p:spPr>
        <p:txBody>
          <a:bodyPr>
            <a:normAutofit fontScale="97500"/>
          </a:bodyPr>
          <a:lstStyle/>
          <a:p>
            <a:pPr>
              <a:lnSpc>
                <a:spcPct val="12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源代码管理</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GitHub</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Jira, coding.net, </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sym typeface="+mn-ea"/>
              </a:rPr>
              <a:t>Gitee</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结对和团队</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每个团队不超过</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人，不少于</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人</a:t>
            </a:r>
          </a:p>
          <a:p>
            <a:pPr>
              <a:lnSpc>
                <a:spcPct val="12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个人和团队博客（课程中随时发给老师）</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2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默认选择（</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hlinkClick r:id="rId2"/>
              </a:rPr>
              <a:t>www.cnblogs.com</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24</a:t>
            </a:fld>
            <a:endParaRPr lang="zh-CN"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课程资源（一）</a:t>
            </a:r>
          </a:p>
        </p:txBody>
      </p:sp>
      <p:sp>
        <p:nvSpPr>
          <p:cNvPr id="3" name="内容占位符 2"/>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教材</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软件工程</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第</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版，机械工业出版社 </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Ian </a:t>
            </a:r>
            <a:r>
              <a:rPr lang="en-US" altLang="zh-CN" dirty="0" err="1">
                <a:latin typeface="微软雅黑" panose="020B0503020204020204" pitchFamily="34" charset="-122"/>
                <a:ea typeface="微软雅黑" panose="020B0503020204020204" pitchFamily="34" charset="-122"/>
              </a:rPr>
              <a:t>Sommerville</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著，彭鑫、赵文耘等译</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0658" y="3159799"/>
            <a:ext cx="2190684" cy="3075721"/>
          </a:xfrm>
          <a:prstGeom prst="rect">
            <a:avLst/>
          </a:prstGeom>
        </p:spPr>
      </p:pic>
      <p:sp>
        <p:nvSpPr>
          <p:cNvPr id="6" name="灯片编号占位符 5"/>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25</a:t>
            </a:fld>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课程资源（二）</a:t>
            </a:r>
          </a:p>
        </p:txBody>
      </p:sp>
      <p:sp>
        <p:nvSpPr>
          <p:cNvPr id="3" name="内容占位符 2"/>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重要参考书</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构建之法</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，人民邮电出版社 ，邹欣著</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26</a:t>
            </a:fld>
            <a:endParaRPr lang="zh-CN" altLang="en-US">
              <a:latin typeface="微软雅黑" panose="020B0503020204020204" pitchFamily="34" charset="-122"/>
              <a:ea typeface="微软雅黑" panose="020B0503020204020204" pitchFamily="34" charset="-122"/>
            </a:endParaRPr>
          </a:p>
        </p:txBody>
      </p:sp>
      <p:pic>
        <p:nvPicPr>
          <p:cNvPr id="8" name="图片 7" descr="构建之法"/>
          <p:cNvPicPr>
            <a:picLocks noChangeAspect="1"/>
          </p:cNvPicPr>
          <p:nvPr/>
        </p:nvPicPr>
        <p:blipFill>
          <a:blip r:embed="rId3"/>
          <a:stretch>
            <a:fillRect/>
          </a:stretch>
        </p:blipFill>
        <p:spPr>
          <a:xfrm>
            <a:off x="4114165" y="3141980"/>
            <a:ext cx="2474595" cy="30937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课程资源（三）</a:t>
            </a:r>
          </a:p>
        </p:txBody>
      </p:sp>
      <p:sp>
        <p:nvSpPr>
          <p:cNvPr id="3" name="内容占位符 2"/>
          <p:cNvSpPr>
            <a:spLocks noGrp="1"/>
          </p:cNvSpPr>
          <p:nvPr>
            <p:ph idx="1"/>
          </p:nvPr>
        </p:nvSpPr>
        <p:spPr/>
        <p:txBody>
          <a:bodyPr/>
          <a:lstStyle/>
          <a:p>
            <a:pPr marL="0" indent="0">
              <a:buNone/>
            </a:pPr>
            <a:r>
              <a:rPr lang="zh-CN" altLang="en-US" dirty="0">
                <a:latin typeface="微软雅黑" panose="020B0503020204020204" pitchFamily="34" charset="-122"/>
                <a:ea typeface="微软雅黑" panose="020B0503020204020204" pitchFamily="34" charset="-122"/>
              </a:rPr>
              <a:t>众多参考资料，参见邹欣老师博客汇总：</a:t>
            </a:r>
          </a:p>
          <a:p>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hlinkClick r:id="rId3"/>
              </a:rPr>
              <a:t>https://www.cnblogs.com/xinz/p/4470424.html</a:t>
            </a:r>
            <a:endParaRPr lang="zh-CN" altLang="en-US"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27</a:t>
            </a:fld>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3448592"/>
          </a:xfrm>
        </p:spPr>
        <p:txBody>
          <a:bodyPr>
            <a:normAutofit/>
          </a:bodyPr>
          <a:lstStyle/>
          <a:p>
            <a:r>
              <a:rPr lang="zh-CN" altLang="en-US" dirty="0">
                <a:latin typeface="微软雅黑" panose="020B0503020204020204" pitchFamily="34" charset="-122"/>
                <a:ea typeface="微软雅黑" panose="020B0503020204020204" pitchFamily="34" charset="-122"/>
              </a:rPr>
              <a:t>谢谢！</a:t>
            </a:r>
            <a:br>
              <a:rPr lang="en-US" altLang="zh-CN" dirty="0">
                <a:latin typeface="微软雅黑" panose="020B0503020204020204" pitchFamily="34" charset="-122"/>
                <a:ea typeface="微软雅黑" panose="020B0503020204020204" pitchFamily="34" charset="-122"/>
              </a:rPr>
            </a:br>
            <a:br>
              <a:rPr lang="en-US" altLang="zh-CN"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飞书、邮箱</a:t>
            </a:r>
            <a:r>
              <a:rPr lang="en-US" altLang="zh-CN" dirty="0">
                <a:latin typeface="微软雅黑" panose="020B0503020204020204" pitchFamily="34" charset="-122"/>
                <a:ea typeface="微软雅黑" panose="020B0503020204020204" pitchFamily="34" charset="-122"/>
              </a:rPr>
              <a:t>…</a:t>
            </a:r>
            <a:br>
              <a:rPr lang="en-US" altLang="zh-CN" dirty="0">
                <a:latin typeface="微软雅黑" panose="020B0503020204020204" pitchFamily="34" charset="-122"/>
                <a:ea typeface="微软雅黑" panose="020B0503020204020204" pitchFamily="34" charset="-122"/>
              </a:rPr>
            </a:br>
            <a:endParaRPr lang="zh-CN" altLang="en-US"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74D2AB8B-5816-41F2-8B4B-CA5C3E4E6A65}" type="slidenum">
              <a:rPr lang="zh-CN" altLang="en-US" smtClean="0"/>
              <a:t>28</a:t>
            </a:fld>
            <a:endParaRPr lang="zh-CN" altLang="en-US"/>
          </a:p>
        </p:txBody>
      </p:sp>
      <p:pic>
        <p:nvPicPr>
          <p:cNvPr id="5" name="图片 4" descr="QR 代码&#10;&#10;AI 生成的内容可能不正确。">
            <a:extLst>
              <a:ext uri="{FF2B5EF4-FFF2-40B4-BE49-F238E27FC236}">
                <a16:creationId xmlns:a16="http://schemas.microsoft.com/office/drawing/2014/main" id="{61E7DD1F-13B3-3FC9-0E91-BA59F477511C}"/>
              </a:ext>
            </a:extLst>
          </p:cNvPr>
          <p:cNvPicPr>
            <a:picLocks noChangeAspect="1"/>
          </p:cNvPicPr>
          <p:nvPr/>
        </p:nvPicPr>
        <p:blipFill>
          <a:blip r:embed="rId3"/>
          <a:stretch>
            <a:fillRect/>
          </a:stretch>
        </p:blipFill>
        <p:spPr>
          <a:xfrm>
            <a:off x="6191616" y="941560"/>
            <a:ext cx="4587052" cy="497487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27339"/>
            <a:ext cx="9144000" cy="2387600"/>
          </a:xfrm>
        </p:spPr>
        <p:txBody>
          <a:bodyPr/>
          <a:lstStyle/>
          <a:p>
            <a:r>
              <a:rPr lang="zh-CN" altLang="en-US" dirty="0"/>
              <a:t>第</a:t>
            </a:r>
            <a:r>
              <a:rPr lang="en-US" altLang="zh-CN" dirty="0"/>
              <a:t>1</a:t>
            </a:r>
            <a:r>
              <a:rPr lang="zh-CN" altLang="en-US" dirty="0"/>
              <a:t>章 软件工程概论</a:t>
            </a:r>
            <a:br>
              <a:rPr lang="en-US" altLang="zh-CN" dirty="0"/>
            </a:br>
            <a:r>
              <a:rPr lang="en-US" altLang="zh-CN" dirty="0" err="1"/>
              <a:t>Chpt</a:t>
            </a:r>
            <a:r>
              <a:rPr lang="en-US" altLang="zh-CN" dirty="0"/>
              <a:t>. 1 Course Introduction</a:t>
            </a:r>
            <a:endParaRPr lang="zh-CN" altLang="en-US" dirty="0"/>
          </a:p>
        </p:txBody>
      </p:sp>
      <p:sp>
        <p:nvSpPr>
          <p:cNvPr id="3" name="副标题 2"/>
          <p:cNvSpPr>
            <a:spLocks noGrp="1"/>
          </p:cNvSpPr>
          <p:nvPr>
            <p:ph type="subTitle" idx="1"/>
          </p:nvPr>
        </p:nvSpPr>
        <p:spPr>
          <a:xfrm>
            <a:off x="1524000" y="4211637"/>
            <a:ext cx="9144000" cy="2130577"/>
          </a:xfrm>
        </p:spPr>
        <p:txBody>
          <a:bodyPr anchor="ctr">
            <a:normAutofit fontScale="92500" lnSpcReduction="20000"/>
          </a:bodyPr>
          <a:lstStyle/>
          <a:p>
            <a:r>
              <a:rPr lang="en-US" altLang="zh-CN" dirty="0"/>
              <a:t>Li</a:t>
            </a:r>
            <a:r>
              <a:rPr lang="zh-CN" altLang="en-US" dirty="0"/>
              <a:t> </a:t>
            </a:r>
            <a:r>
              <a:rPr lang="en-US" altLang="zh-CN" dirty="0" err="1"/>
              <a:t>Qicheng</a:t>
            </a:r>
            <a:r>
              <a:rPr lang="en-US" altLang="zh-CN" dirty="0"/>
              <a:t>(</a:t>
            </a:r>
            <a:r>
              <a:rPr lang="zh-CN" altLang="en-US" dirty="0"/>
              <a:t>李起成</a:t>
            </a:r>
            <a:r>
              <a:rPr lang="en-US" altLang="zh-CN" dirty="0"/>
              <a:t>)</a:t>
            </a:r>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Xin Zou (Biehang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225854"/>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39B29A-8BAD-EE48-865F-394974F2D0F7}"/>
              </a:ext>
            </a:extLst>
          </p:cNvPr>
          <p:cNvSpPr>
            <a:spLocks noGrp="1"/>
          </p:cNvSpPr>
          <p:nvPr>
            <p:ph type="title"/>
          </p:nvPr>
        </p:nvSpPr>
        <p:spPr>
          <a:xfrm>
            <a:off x="838200" y="365126"/>
            <a:ext cx="10515600" cy="988890"/>
          </a:xfrm>
        </p:spPr>
        <p:txBody>
          <a:bodyPr/>
          <a:lstStyle/>
          <a:p>
            <a:r>
              <a:rPr kumimoji="1" lang="zh-CN" altLang="en-US" dirty="0"/>
              <a:t>本节内容</a:t>
            </a:r>
          </a:p>
        </p:txBody>
      </p:sp>
      <p:sp>
        <p:nvSpPr>
          <p:cNvPr id="3" name="内容占位符 2">
            <a:extLst>
              <a:ext uri="{FF2B5EF4-FFF2-40B4-BE49-F238E27FC236}">
                <a16:creationId xmlns:a16="http://schemas.microsoft.com/office/drawing/2014/main" id="{54740B38-8267-7345-85AD-9BBEF03AB38A}"/>
              </a:ext>
            </a:extLst>
          </p:cNvPr>
          <p:cNvSpPr>
            <a:spLocks noGrp="1"/>
          </p:cNvSpPr>
          <p:nvPr>
            <p:ph idx="1"/>
          </p:nvPr>
        </p:nvSpPr>
        <p:spPr>
          <a:xfrm>
            <a:off x="644770" y="1464229"/>
            <a:ext cx="10515600" cy="4351338"/>
          </a:xfrm>
        </p:spPr>
        <p:txBody>
          <a:bodyPr/>
          <a:lstStyle/>
          <a:p>
            <a:r>
              <a:rPr kumimoji="1" lang="zh-CN" altLang="en-US" dirty="0"/>
              <a:t>什么是软件</a:t>
            </a:r>
            <a:endParaRPr kumimoji="1" lang="en-US" altLang="zh-CN" dirty="0"/>
          </a:p>
          <a:p>
            <a:r>
              <a:rPr kumimoji="1" lang="zh-CN" altLang="en-US" dirty="0"/>
              <a:t>软件的特性</a:t>
            </a:r>
            <a:endParaRPr kumimoji="1" lang="en-US" altLang="zh-CN" dirty="0"/>
          </a:p>
          <a:p>
            <a:r>
              <a:rPr kumimoji="1" lang="zh-CN" altLang="en-US" dirty="0"/>
              <a:t>什么是软件工程</a:t>
            </a:r>
            <a:endParaRPr kumimoji="1" lang="en-US" altLang="zh-CN" dirty="0"/>
          </a:p>
          <a:p>
            <a:r>
              <a:rPr kumimoji="1" lang="zh-CN" altLang="en-US" dirty="0"/>
              <a:t>软件工程和软件开发流程</a:t>
            </a:r>
            <a:endParaRPr kumimoji="1" lang="en-US" altLang="zh-CN" dirty="0"/>
          </a:p>
          <a:p>
            <a:r>
              <a:rPr kumimoji="1" lang="zh-CN" altLang="en-US" dirty="0"/>
              <a:t>软件与服务</a:t>
            </a:r>
            <a:endParaRPr kumimoji="1" lang="en-US" altLang="zh-CN" dirty="0"/>
          </a:p>
          <a:p>
            <a:r>
              <a:rPr kumimoji="1" lang="zh-CN" altLang="en-US" dirty="0"/>
              <a:t>软件与程序</a:t>
            </a:r>
            <a:endParaRPr kumimoji="1" lang="en-US" altLang="zh-CN" dirty="0"/>
          </a:p>
          <a:p>
            <a:r>
              <a:rPr kumimoji="1" lang="zh-CN" altLang="en-US" dirty="0"/>
              <a:t>软件的挑战</a:t>
            </a:r>
          </a:p>
        </p:txBody>
      </p:sp>
      <p:sp>
        <p:nvSpPr>
          <p:cNvPr id="4" name="灯片编号占位符 3">
            <a:extLst>
              <a:ext uri="{FF2B5EF4-FFF2-40B4-BE49-F238E27FC236}">
                <a16:creationId xmlns:a16="http://schemas.microsoft.com/office/drawing/2014/main" id="{DA3259F4-B03D-2544-A487-208ED0E37AF1}"/>
              </a:ext>
            </a:extLst>
          </p:cNvPr>
          <p:cNvSpPr>
            <a:spLocks noGrp="1"/>
          </p:cNvSpPr>
          <p:nvPr>
            <p:ph type="sldNum" sz="quarter" idx="12"/>
          </p:nvPr>
        </p:nvSpPr>
        <p:spPr/>
        <p:txBody>
          <a:bodyPr/>
          <a:lstStyle/>
          <a:p>
            <a:fld id="{74D2AB8B-5816-41F2-8B4B-CA5C3E4E6A65}" type="slidenum">
              <a:rPr lang="zh-CN" altLang="en-US" smtClean="0"/>
              <a:t>30</a:t>
            </a:fld>
            <a:endParaRPr lang="zh-CN" altLang="en-US"/>
          </a:p>
        </p:txBody>
      </p:sp>
    </p:spTree>
    <p:extLst>
      <p:ext uri="{BB962C8B-B14F-4D97-AF65-F5344CB8AC3E}">
        <p14:creationId xmlns:p14="http://schemas.microsoft.com/office/powerpoint/2010/main" val="382312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软件无处不在</a:t>
            </a:r>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4712" y="4154137"/>
            <a:ext cx="1270796" cy="1947309"/>
          </a:xfrm>
          <a:prstGeom prst="rect">
            <a:avLst/>
          </a:prstGeom>
        </p:spPr>
      </p:pic>
      <p:pic>
        <p:nvPicPr>
          <p:cNvPr id="1026" name="Picture 2" descr="https://timgsa.baidu.com/timg?image&amp;quality=80&amp;size=b9999_10000&amp;sec=1581091953713&amp;di=fdc5a6ba6dd49e4f55cfaf4da85a122a&amp;imgtype=jpg&amp;src=http%3A%2F%2Fhiphotos.baidu.com%2Fdoc%2Fpic%2Fitem%2F2934349b033b5bb54e43d3773fd3d539b700bca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2075" y="1907605"/>
            <a:ext cx="2369791" cy="1641053"/>
          </a:xfrm>
          <a:prstGeom prst="rect">
            <a:avLst/>
          </a:prstGeom>
          <a:noFill/>
          <a:extLst>
            <a:ext uri="{909E8E84-426E-40DD-AFC4-6F175D3DCCD1}">
              <a14:hiddenFill xmlns:a14="http://schemas.microsoft.com/office/drawing/2010/main">
                <a:solidFill>
                  <a:srgbClr val="FFFFFF"/>
                </a:solidFill>
              </a14:hiddenFill>
            </a:ext>
          </a:extLst>
        </p:spPr>
      </p:pic>
      <p:grpSp>
        <p:nvGrpSpPr>
          <p:cNvPr id="5" name="组合 4"/>
          <p:cNvGrpSpPr/>
          <p:nvPr/>
        </p:nvGrpSpPr>
        <p:grpSpPr>
          <a:xfrm>
            <a:off x="2753567" y="1639165"/>
            <a:ext cx="1972985" cy="2196261"/>
            <a:chOff x="3303602" y="1915493"/>
            <a:chExt cx="1972985" cy="2196261"/>
          </a:xfrm>
        </p:grpSpPr>
        <p:pic>
          <p:nvPicPr>
            <p:cNvPr id="12" name="图片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90094" y="1915493"/>
              <a:ext cx="986493" cy="2177935"/>
            </a:xfrm>
            <a:prstGeom prst="rect">
              <a:avLst/>
            </a:prstGeom>
          </p:spPr>
        </p:pic>
        <p:pic>
          <p:nvPicPr>
            <p:cNvPr id="15" name="图片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03602" y="1933819"/>
              <a:ext cx="986492" cy="2177935"/>
            </a:xfrm>
            <a:prstGeom prst="rect">
              <a:avLst/>
            </a:prstGeom>
          </p:spPr>
        </p:pic>
      </p:grpSp>
      <p:pic>
        <p:nvPicPr>
          <p:cNvPr id="1028" name="Picture 4" descr="https://timgsa.baidu.com/timg?image&amp;quality=80&amp;size=b9999_10000&amp;sec=1581092266831&amp;di=dd2a10776ffe2c7c17e76ee31fdf2af2&amp;imgtype=0&amp;src=http%3A%2F%2Fimage20.it168.com%2F201504_800x800%2F2163%2F4123358a87a1d5fd.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0554" y="4154136"/>
            <a:ext cx="2180428" cy="1947309"/>
          </a:xfrm>
          <a:prstGeom prst="rect">
            <a:avLst/>
          </a:prstGeom>
          <a:noFill/>
          <a:extLst>
            <a:ext uri="{909E8E84-426E-40DD-AFC4-6F175D3DCCD1}">
              <a14:hiddenFill xmlns:a14="http://schemas.microsoft.com/office/drawing/2010/main">
                <a:solidFill>
                  <a:srgbClr val="FFFFFF"/>
                </a:solidFill>
              </a14:hiddenFill>
            </a:ext>
          </a:extLst>
        </p:spPr>
      </p:pic>
      <p:pic>
        <p:nvPicPr>
          <p:cNvPr id="14" name="图片 13"/>
          <p:cNvPicPr>
            <a:picLocks noChangeAspect="1"/>
          </p:cNvPicPr>
          <p:nvPr/>
        </p:nvPicPr>
        <p:blipFill>
          <a:blip r:embed="rId9"/>
          <a:stretch>
            <a:fillRect/>
          </a:stretch>
        </p:blipFill>
        <p:spPr>
          <a:xfrm>
            <a:off x="1378641" y="2083178"/>
            <a:ext cx="874188" cy="1010826"/>
          </a:xfrm>
          <a:prstGeom prst="rect">
            <a:avLst/>
          </a:prstGeom>
        </p:spPr>
      </p:pic>
      <p:pic>
        <p:nvPicPr>
          <p:cNvPr id="18" name="图片 17"/>
          <p:cNvPicPr>
            <a:picLocks noChangeAspect="1"/>
          </p:cNvPicPr>
          <p:nvPr/>
        </p:nvPicPr>
        <p:blipFill>
          <a:blip r:embed="rId10"/>
          <a:stretch>
            <a:fillRect/>
          </a:stretch>
        </p:blipFill>
        <p:spPr>
          <a:xfrm>
            <a:off x="5215508" y="1949724"/>
            <a:ext cx="3057611" cy="1641053"/>
          </a:xfrm>
          <a:prstGeom prst="rect">
            <a:avLst/>
          </a:prstGeom>
        </p:spPr>
      </p:pic>
      <p:pic>
        <p:nvPicPr>
          <p:cNvPr id="19" name="图片 1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842158" y="4157385"/>
            <a:ext cx="2836040" cy="1947309"/>
          </a:xfrm>
          <a:prstGeom prst="rect">
            <a:avLst/>
          </a:prstGeom>
        </p:spPr>
      </p:pic>
      <p:sp>
        <p:nvSpPr>
          <p:cNvPr id="3" name="灯片编号占位符 2"/>
          <p:cNvSpPr>
            <a:spLocks noGrp="1"/>
          </p:cNvSpPr>
          <p:nvPr>
            <p:ph type="sldNum" sz="quarter" idx="12"/>
          </p:nvPr>
        </p:nvSpPr>
        <p:spPr/>
        <p:txBody>
          <a:bodyPr/>
          <a:lstStyle/>
          <a:p>
            <a:fld id="{74D2AB8B-5816-41F2-8B4B-CA5C3E4E6A65}" type="slidenum">
              <a:rPr lang="zh-CN" altLang="en-US" smtClean="0"/>
              <a:t>31</a:t>
            </a:fld>
            <a:endParaRPr lang="zh-CN" altLang="en-US"/>
          </a:p>
        </p:txBody>
      </p:sp>
      <p:pic>
        <p:nvPicPr>
          <p:cNvPr id="6" name="Picture 2" descr="https://timgsa.baidu.com/timg?image&amp;quality=80&amp;size=b9999_10000&amp;sec=1582192888619&amp;di=07159c7c04ab23bc44a73cda8d7a63fd&amp;imgtype=0&amp;src=http%3A%2F%2Fshihuo.hupucdn.com%2Fucditor%2F20160909%2F564x393_3bd5fa6e2314dc53bc9836b82a43fbfd.jpeg%3FimageView2%2F2%2Fw%2F700%2Finterlace%2F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1804" y="4154137"/>
            <a:ext cx="2727862" cy="194730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什么是软件？</a:t>
            </a:r>
          </a:p>
        </p:txBody>
      </p:sp>
      <p:pic>
        <p:nvPicPr>
          <p:cNvPr id="4" name="内容占位符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924363" y="1759724"/>
            <a:ext cx="2008309" cy="4004378"/>
          </a:xfr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72008" y="1861164"/>
            <a:ext cx="1879177" cy="4004378"/>
          </a:xfrm>
          <a:prstGeom prst="rect">
            <a:avLst/>
          </a:prstGeom>
        </p:spPr>
      </p:pic>
      <p:pic>
        <p:nvPicPr>
          <p:cNvPr id="6" name="图片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48185" y="1759724"/>
            <a:ext cx="2008310" cy="4004378"/>
          </a:xfrm>
          <a:prstGeom prst="rect">
            <a:avLst/>
          </a:prstGeom>
        </p:spPr>
      </p:pic>
      <p:sp>
        <p:nvSpPr>
          <p:cNvPr id="8" name="灯片编号占位符 7"/>
          <p:cNvSpPr>
            <a:spLocks noGrp="1"/>
          </p:cNvSpPr>
          <p:nvPr>
            <p:ph type="sldNum" sz="quarter" idx="12"/>
          </p:nvPr>
        </p:nvSpPr>
        <p:spPr/>
        <p:txBody>
          <a:bodyPr/>
          <a:lstStyle/>
          <a:p>
            <a:fld id="{74D2AB8B-5816-41F2-8B4B-CA5C3E4E6A65}" type="slidenum">
              <a:rPr lang="zh-CN" altLang="en-US" smtClean="0"/>
              <a:t>32</a:t>
            </a:fld>
            <a:endParaRPr lang="zh-CN" altLang="en-US"/>
          </a:p>
        </p:txBody>
      </p:sp>
      <p:pic>
        <p:nvPicPr>
          <p:cNvPr id="9" name="图片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77627" y="1861164"/>
            <a:ext cx="2257979" cy="3902938"/>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什么是软件？</a:t>
            </a:r>
          </a:p>
        </p:txBody>
      </p:sp>
      <p:sp>
        <p:nvSpPr>
          <p:cNvPr id="7" name="object 3"/>
          <p:cNvSpPr txBox="1">
            <a:spLocks noGrp="1"/>
          </p:cNvSpPr>
          <p:nvPr>
            <p:ph idx="1"/>
          </p:nvPr>
        </p:nvSpPr>
        <p:spPr>
          <a:xfrm>
            <a:off x="838200" y="1825625"/>
            <a:ext cx="10515600" cy="1800225"/>
          </a:xfrm>
          <a:prstGeom prst="rect">
            <a:avLst/>
          </a:prstGeom>
        </p:spPr>
        <p:txBody>
          <a:bodyPr vert="horz" wrap="square" lIns="0" tIns="12700" rIns="0" bIns="0" rtlCol="0">
            <a:spAutoFit/>
          </a:bodyPr>
          <a:lstStyle/>
          <a:p>
            <a:pPr marL="12700" algn="just">
              <a:lnSpc>
                <a:spcPct val="100000"/>
              </a:lnSpc>
              <a:spcBef>
                <a:spcPts val="100"/>
              </a:spcBef>
            </a:pPr>
            <a:r>
              <a:rPr sz="2400" dirty="0">
                <a:solidFill>
                  <a:srgbClr val="0033CC"/>
                </a:solidFill>
                <a:latin typeface="微软雅黑" panose="020B0503020204020204" pitchFamily="34" charset="-122"/>
                <a:ea typeface="微软雅黑" panose="020B0503020204020204" pitchFamily="34" charset="-122"/>
                <a:cs typeface="微软雅黑" panose="020B0503020204020204" pitchFamily="34" charset="-122"/>
              </a:rPr>
              <a:t>软件</a:t>
            </a:r>
            <a:r>
              <a:rPr sz="2400" spc="-5" dirty="0">
                <a:solidFill>
                  <a:srgbClr val="0033CC"/>
                </a:solidFill>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程序 </a:t>
            </a:r>
            <a:r>
              <a:rPr sz="2400" dirty="0">
                <a:latin typeface="微软雅黑" panose="020B0503020204020204" pitchFamily="34" charset="-122"/>
                <a:ea typeface="微软雅黑" panose="020B0503020204020204" pitchFamily="34" charset="-122"/>
                <a:cs typeface="微软雅黑" panose="020B0503020204020204" pitchFamily="34" charset="-122"/>
              </a:rPr>
              <a:t>+</a:t>
            </a:r>
            <a:r>
              <a:rPr sz="2400" spc="-5" dirty="0">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数据 </a:t>
            </a:r>
            <a:r>
              <a:rPr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文档</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528955" indent="-343535" algn="just">
              <a:lnSpc>
                <a:spcPct val="100000"/>
              </a:lnSpc>
              <a:spcBef>
                <a:spcPts val="1760"/>
              </a:spcBef>
              <a:buFont typeface="Arial" panose="020B0604020202020204"/>
              <a:buChar char="•"/>
              <a:tabLst>
                <a:tab pos="528955" algn="l"/>
                <a:tab pos="529590"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程序：计算机可以接受的一系列指令，运行时可以提供所要求的功能和性能。</a:t>
            </a:r>
          </a:p>
          <a:p>
            <a:pPr marL="528955" indent="-343535" algn="just">
              <a:lnSpc>
                <a:spcPct val="100000"/>
              </a:lnSpc>
              <a:spcBef>
                <a:spcPts val="1000"/>
              </a:spcBef>
              <a:buFont typeface="Arial" panose="020B0604020202020204"/>
              <a:buChar char="•"/>
              <a:tabLst>
                <a:tab pos="528955" algn="l"/>
                <a:tab pos="529590"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数据：使得程序能够适当地操作信息的数据结构。</a:t>
            </a:r>
          </a:p>
          <a:p>
            <a:pPr marL="528955" indent="-343535" algn="just">
              <a:lnSpc>
                <a:spcPct val="100000"/>
              </a:lnSpc>
              <a:spcBef>
                <a:spcPts val="1100"/>
              </a:spcBef>
              <a:buFont typeface="Arial" panose="020B0604020202020204"/>
              <a:buChar char="•"/>
              <a:tabLst>
                <a:tab pos="528955" algn="l"/>
                <a:tab pos="529590" algn="l"/>
              </a:tabLst>
            </a:pPr>
            <a:r>
              <a:rPr sz="2000" b="1" dirty="0">
                <a:latin typeface="微软雅黑" panose="020B0503020204020204" pitchFamily="34" charset="-122"/>
                <a:ea typeface="微软雅黑" panose="020B0503020204020204" pitchFamily="34" charset="-122"/>
                <a:cs typeface="微软雅黑" panose="020B0503020204020204" pitchFamily="34" charset="-122"/>
              </a:rPr>
              <a:t>文档：描述程序的研制过程、方法和使用的图文资料</a:t>
            </a:r>
            <a:r>
              <a:rPr sz="20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8" name="object 4"/>
          <p:cNvSpPr/>
          <p:nvPr/>
        </p:nvSpPr>
        <p:spPr>
          <a:xfrm>
            <a:off x="3928367" y="4838534"/>
            <a:ext cx="673735" cy="539115"/>
          </a:xfrm>
          <a:custGeom>
            <a:avLst/>
            <a:gdLst/>
            <a:ahLst/>
            <a:cxnLst/>
            <a:rect l="l" t="t" r="r" b="b"/>
            <a:pathLst>
              <a:path w="673735" h="539114">
                <a:moveTo>
                  <a:pt x="404044" y="0"/>
                </a:moveTo>
                <a:lnTo>
                  <a:pt x="404044" y="134707"/>
                </a:lnTo>
                <a:lnTo>
                  <a:pt x="0" y="134707"/>
                </a:lnTo>
                <a:lnTo>
                  <a:pt x="0" y="404120"/>
                </a:lnTo>
                <a:lnTo>
                  <a:pt x="404044" y="404120"/>
                </a:lnTo>
                <a:lnTo>
                  <a:pt x="404044" y="538826"/>
                </a:lnTo>
                <a:lnTo>
                  <a:pt x="673456" y="269413"/>
                </a:lnTo>
                <a:lnTo>
                  <a:pt x="404044" y="0"/>
                </a:lnTo>
                <a:close/>
              </a:path>
            </a:pathLst>
          </a:custGeom>
          <a:solidFill>
            <a:srgbClr val="919191"/>
          </a:solid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9" name="object 5"/>
          <p:cNvSpPr/>
          <p:nvPr/>
        </p:nvSpPr>
        <p:spPr>
          <a:xfrm>
            <a:off x="4917495" y="4256602"/>
            <a:ext cx="2548263" cy="1596503"/>
          </a:xfrm>
          <a:prstGeom prst="rect">
            <a:avLst/>
          </a:prstGeom>
          <a:blipFill>
            <a:blip r:embed="rId3"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10" name="object 6"/>
          <p:cNvSpPr/>
          <p:nvPr/>
        </p:nvSpPr>
        <p:spPr>
          <a:xfrm>
            <a:off x="4912657" y="4251764"/>
            <a:ext cx="2599055" cy="1631950"/>
          </a:xfrm>
          <a:custGeom>
            <a:avLst/>
            <a:gdLst/>
            <a:ahLst/>
            <a:cxnLst/>
            <a:rect l="l" t="t" r="r" b="b"/>
            <a:pathLst>
              <a:path w="2599054" h="1631950">
                <a:moveTo>
                  <a:pt x="0" y="0"/>
                </a:moveTo>
                <a:lnTo>
                  <a:pt x="2598785" y="0"/>
                </a:lnTo>
                <a:lnTo>
                  <a:pt x="2598785" y="1631851"/>
                </a:lnTo>
                <a:lnTo>
                  <a:pt x="0" y="1631851"/>
                </a:lnTo>
                <a:lnTo>
                  <a:pt x="0" y="0"/>
                </a:lnTo>
                <a:close/>
              </a:path>
            </a:pathLst>
          </a:custGeom>
          <a:ln w="9677">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13" name="object 9"/>
          <p:cNvSpPr/>
          <p:nvPr/>
        </p:nvSpPr>
        <p:spPr>
          <a:xfrm>
            <a:off x="1231294" y="3905625"/>
            <a:ext cx="1163320" cy="2057400"/>
          </a:xfrm>
          <a:custGeom>
            <a:avLst/>
            <a:gdLst/>
            <a:ahLst/>
            <a:cxnLst/>
            <a:rect l="l" t="t" r="r" b="b"/>
            <a:pathLst>
              <a:path w="1163320" h="2057400">
                <a:moveTo>
                  <a:pt x="0" y="0"/>
                </a:moveTo>
                <a:lnTo>
                  <a:pt x="1162900" y="0"/>
                </a:lnTo>
                <a:lnTo>
                  <a:pt x="1162900" y="2056850"/>
                </a:lnTo>
                <a:lnTo>
                  <a:pt x="0" y="2056850"/>
                </a:lnTo>
                <a:lnTo>
                  <a:pt x="0" y="0"/>
                </a:lnTo>
                <a:close/>
              </a:path>
            </a:pathLst>
          </a:custGeom>
          <a:ln w="9677">
            <a:solidFill>
              <a:srgbClr val="BDB9B9"/>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15" name="object 11"/>
          <p:cNvSpPr/>
          <p:nvPr/>
        </p:nvSpPr>
        <p:spPr>
          <a:xfrm>
            <a:off x="7902288" y="4469907"/>
            <a:ext cx="1732914" cy="1383198"/>
          </a:xfrm>
          <a:custGeom>
            <a:avLst/>
            <a:gdLst/>
            <a:ahLst/>
            <a:cxnLst/>
            <a:rect l="l" t="t" r="r" b="b"/>
            <a:pathLst>
              <a:path w="1732915" h="1333500">
                <a:moveTo>
                  <a:pt x="1732315" y="0"/>
                </a:moveTo>
                <a:lnTo>
                  <a:pt x="1704481" y="48089"/>
                </a:lnTo>
                <a:lnTo>
                  <a:pt x="1657165" y="77730"/>
                </a:lnTo>
                <a:lnTo>
                  <a:pt x="1589268" y="104904"/>
                </a:lnTo>
                <a:lnTo>
                  <a:pt x="1548251" y="117422"/>
                </a:lnTo>
                <a:lnTo>
                  <a:pt x="1502870" y="129152"/>
                </a:lnTo>
                <a:lnTo>
                  <a:pt x="1453382" y="140036"/>
                </a:lnTo>
                <a:lnTo>
                  <a:pt x="1400050" y="150017"/>
                </a:lnTo>
                <a:lnTo>
                  <a:pt x="1343132" y="159038"/>
                </a:lnTo>
                <a:lnTo>
                  <a:pt x="1282889" y="167042"/>
                </a:lnTo>
                <a:lnTo>
                  <a:pt x="1219580" y="173971"/>
                </a:lnTo>
                <a:lnTo>
                  <a:pt x="1153466" y="179769"/>
                </a:lnTo>
                <a:lnTo>
                  <a:pt x="1084807" y="184378"/>
                </a:lnTo>
                <a:lnTo>
                  <a:pt x="1013862" y="187741"/>
                </a:lnTo>
                <a:lnTo>
                  <a:pt x="940893" y="189800"/>
                </a:lnTo>
                <a:lnTo>
                  <a:pt x="866157" y="190500"/>
                </a:lnTo>
                <a:lnTo>
                  <a:pt x="791422" y="189800"/>
                </a:lnTo>
                <a:lnTo>
                  <a:pt x="718451" y="187741"/>
                </a:lnTo>
                <a:lnTo>
                  <a:pt x="647507" y="184378"/>
                </a:lnTo>
                <a:lnTo>
                  <a:pt x="578847" y="179769"/>
                </a:lnTo>
                <a:lnTo>
                  <a:pt x="512733" y="173971"/>
                </a:lnTo>
                <a:lnTo>
                  <a:pt x="449425" y="167042"/>
                </a:lnTo>
                <a:lnTo>
                  <a:pt x="389182" y="159038"/>
                </a:lnTo>
                <a:lnTo>
                  <a:pt x="332264" y="150017"/>
                </a:lnTo>
                <a:lnTo>
                  <a:pt x="278931" y="140036"/>
                </a:lnTo>
                <a:lnTo>
                  <a:pt x="229444" y="129152"/>
                </a:lnTo>
                <a:lnTo>
                  <a:pt x="184062" y="117422"/>
                </a:lnTo>
                <a:lnTo>
                  <a:pt x="143046" y="104904"/>
                </a:lnTo>
                <a:lnTo>
                  <a:pt x="106655" y="91654"/>
                </a:lnTo>
                <a:lnTo>
                  <a:pt x="48788" y="63190"/>
                </a:lnTo>
                <a:lnTo>
                  <a:pt x="12543" y="32485"/>
                </a:lnTo>
                <a:lnTo>
                  <a:pt x="0" y="0"/>
                </a:lnTo>
                <a:lnTo>
                  <a:pt x="0" y="1142998"/>
                </a:lnTo>
                <a:lnTo>
                  <a:pt x="27833" y="1191088"/>
                </a:lnTo>
                <a:lnTo>
                  <a:pt x="75149" y="1220729"/>
                </a:lnTo>
                <a:lnTo>
                  <a:pt x="143046" y="1247903"/>
                </a:lnTo>
                <a:lnTo>
                  <a:pt x="184062" y="1260421"/>
                </a:lnTo>
                <a:lnTo>
                  <a:pt x="229444" y="1272151"/>
                </a:lnTo>
                <a:lnTo>
                  <a:pt x="278931" y="1283035"/>
                </a:lnTo>
                <a:lnTo>
                  <a:pt x="332264" y="1293016"/>
                </a:lnTo>
                <a:lnTo>
                  <a:pt x="389182" y="1302037"/>
                </a:lnTo>
                <a:lnTo>
                  <a:pt x="449425" y="1310041"/>
                </a:lnTo>
                <a:lnTo>
                  <a:pt x="512733" y="1316970"/>
                </a:lnTo>
                <a:lnTo>
                  <a:pt x="578847" y="1322768"/>
                </a:lnTo>
                <a:lnTo>
                  <a:pt x="647507" y="1327377"/>
                </a:lnTo>
                <a:lnTo>
                  <a:pt x="718451" y="1330739"/>
                </a:lnTo>
                <a:lnTo>
                  <a:pt x="791422" y="1332799"/>
                </a:lnTo>
                <a:lnTo>
                  <a:pt x="866157" y="1333498"/>
                </a:lnTo>
                <a:lnTo>
                  <a:pt x="940893" y="1332799"/>
                </a:lnTo>
                <a:lnTo>
                  <a:pt x="1013862" y="1330739"/>
                </a:lnTo>
                <a:lnTo>
                  <a:pt x="1084807" y="1327377"/>
                </a:lnTo>
                <a:lnTo>
                  <a:pt x="1153466" y="1322768"/>
                </a:lnTo>
                <a:lnTo>
                  <a:pt x="1219580" y="1316970"/>
                </a:lnTo>
                <a:lnTo>
                  <a:pt x="1282889" y="1310041"/>
                </a:lnTo>
                <a:lnTo>
                  <a:pt x="1343132" y="1302037"/>
                </a:lnTo>
                <a:lnTo>
                  <a:pt x="1400050" y="1293016"/>
                </a:lnTo>
                <a:lnTo>
                  <a:pt x="1453382" y="1283035"/>
                </a:lnTo>
                <a:lnTo>
                  <a:pt x="1502870" y="1272151"/>
                </a:lnTo>
                <a:lnTo>
                  <a:pt x="1548251" y="1260421"/>
                </a:lnTo>
                <a:lnTo>
                  <a:pt x="1589268" y="1247903"/>
                </a:lnTo>
                <a:lnTo>
                  <a:pt x="1625659" y="1234653"/>
                </a:lnTo>
                <a:lnTo>
                  <a:pt x="1683526" y="1206188"/>
                </a:lnTo>
                <a:lnTo>
                  <a:pt x="1719771" y="1175484"/>
                </a:lnTo>
                <a:lnTo>
                  <a:pt x="1732315" y="1142998"/>
                </a:lnTo>
                <a:lnTo>
                  <a:pt x="1732315" y="0"/>
                </a:lnTo>
                <a:close/>
              </a:path>
            </a:pathLst>
          </a:custGeom>
          <a:solidFill>
            <a:srgbClr val="27628C"/>
          </a:solid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16" name="object 12"/>
          <p:cNvSpPr/>
          <p:nvPr/>
        </p:nvSpPr>
        <p:spPr>
          <a:xfrm>
            <a:off x="7902288" y="4279407"/>
            <a:ext cx="1732914" cy="381000"/>
          </a:xfrm>
          <a:custGeom>
            <a:avLst/>
            <a:gdLst/>
            <a:ahLst/>
            <a:cxnLst/>
            <a:rect l="l" t="t" r="r" b="b"/>
            <a:pathLst>
              <a:path w="1732915" h="381000">
                <a:moveTo>
                  <a:pt x="866157" y="0"/>
                </a:moveTo>
                <a:lnTo>
                  <a:pt x="791422" y="699"/>
                </a:lnTo>
                <a:lnTo>
                  <a:pt x="718451" y="2758"/>
                </a:lnTo>
                <a:lnTo>
                  <a:pt x="647507" y="6121"/>
                </a:lnTo>
                <a:lnTo>
                  <a:pt x="578847" y="10730"/>
                </a:lnTo>
                <a:lnTo>
                  <a:pt x="512733" y="16528"/>
                </a:lnTo>
                <a:lnTo>
                  <a:pt x="449425" y="23457"/>
                </a:lnTo>
                <a:lnTo>
                  <a:pt x="389182" y="31461"/>
                </a:lnTo>
                <a:lnTo>
                  <a:pt x="332264" y="40482"/>
                </a:lnTo>
                <a:lnTo>
                  <a:pt x="278931" y="50463"/>
                </a:lnTo>
                <a:lnTo>
                  <a:pt x="229444" y="61347"/>
                </a:lnTo>
                <a:lnTo>
                  <a:pt x="184062" y="73077"/>
                </a:lnTo>
                <a:lnTo>
                  <a:pt x="143046" y="85595"/>
                </a:lnTo>
                <a:lnTo>
                  <a:pt x="106655" y="98845"/>
                </a:lnTo>
                <a:lnTo>
                  <a:pt x="48788" y="127309"/>
                </a:lnTo>
                <a:lnTo>
                  <a:pt x="12543" y="158014"/>
                </a:lnTo>
                <a:lnTo>
                  <a:pt x="0" y="190500"/>
                </a:lnTo>
                <a:lnTo>
                  <a:pt x="3179" y="206937"/>
                </a:lnTo>
                <a:lnTo>
                  <a:pt x="27833" y="238589"/>
                </a:lnTo>
                <a:lnTo>
                  <a:pt x="75149" y="268230"/>
                </a:lnTo>
                <a:lnTo>
                  <a:pt x="143046" y="295404"/>
                </a:lnTo>
                <a:lnTo>
                  <a:pt x="184062" y="307922"/>
                </a:lnTo>
                <a:lnTo>
                  <a:pt x="229444" y="319652"/>
                </a:lnTo>
                <a:lnTo>
                  <a:pt x="278931" y="330536"/>
                </a:lnTo>
                <a:lnTo>
                  <a:pt x="332264" y="340517"/>
                </a:lnTo>
                <a:lnTo>
                  <a:pt x="389182" y="349538"/>
                </a:lnTo>
                <a:lnTo>
                  <a:pt x="449425" y="357542"/>
                </a:lnTo>
                <a:lnTo>
                  <a:pt x="512733" y="364471"/>
                </a:lnTo>
                <a:lnTo>
                  <a:pt x="578847" y="370269"/>
                </a:lnTo>
                <a:lnTo>
                  <a:pt x="647507" y="374878"/>
                </a:lnTo>
                <a:lnTo>
                  <a:pt x="718451" y="378241"/>
                </a:lnTo>
                <a:lnTo>
                  <a:pt x="791422" y="380300"/>
                </a:lnTo>
                <a:lnTo>
                  <a:pt x="866157" y="381000"/>
                </a:lnTo>
                <a:lnTo>
                  <a:pt x="940893" y="380300"/>
                </a:lnTo>
                <a:lnTo>
                  <a:pt x="1013862" y="378241"/>
                </a:lnTo>
                <a:lnTo>
                  <a:pt x="1084807" y="374878"/>
                </a:lnTo>
                <a:lnTo>
                  <a:pt x="1153466" y="370269"/>
                </a:lnTo>
                <a:lnTo>
                  <a:pt x="1219580" y="364471"/>
                </a:lnTo>
                <a:lnTo>
                  <a:pt x="1282889" y="357542"/>
                </a:lnTo>
                <a:lnTo>
                  <a:pt x="1343132" y="349538"/>
                </a:lnTo>
                <a:lnTo>
                  <a:pt x="1400050" y="340517"/>
                </a:lnTo>
                <a:lnTo>
                  <a:pt x="1453382" y="330536"/>
                </a:lnTo>
                <a:lnTo>
                  <a:pt x="1502870" y="319652"/>
                </a:lnTo>
                <a:lnTo>
                  <a:pt x="1548251" y="307922"/>
                </a:lnTo>
                <a:lnTo>
                  <a:pt x="1589268" y="295404"/>
                </a:lnTo>
                <a:lnTo>
                  <a:pt x="1625659" y="282154"/>
                </a:lnTo>
                <a:lnTo>
                  <a:pt x="1683526" y="253690"/>
                </a:lnTo>
                <a:lnTo>
                  <a:pt x="1719771" y="222985"/>
                </a:lnTo>
                <a:lnTo>
                  <a:pt x="1732315" y="190500"/>
                </a:lnTo>
                <a:lnTo>
                  <a:pt x="1729136" y="174062"/>
                </a:lnTo>
                <a:lnTo>
                  <a:pt x="1704481" y="142410"/>
                </a:lnTo>
                <a:lnTo>
                  <a:pt x="1657165" y="112769"/>
                </a:lnTo>
                <a:lnTo>
                  <a:pt x="1589268" y="85595"/>
                </a:lnTo>
                <a:lnTo>
                  <a:pt x="1548251" y="73077"/>
                </a:lnTo>
                <a:lnTo>
                  <a:pt x="1502870" y="61347"/>
                </a:lnTo>
                <a:lnTo>
                  <a:pt x="1453382" y="50463"/>
                </a:lnTo>
                <a:lnTo>
                  <a:pt x="1400050" y="40482"/>
                </a:lnTo>
                <a:lnTo>
                  <a:pt x="1343132" y="31461"/>
                </a:lnTo>
                <a:lnTo>
                  <a:pt x="1282889" y="23457"/>
                </a:lnTo>
                <a:lnTo>
                  <a:pt x="1219580" y="16528"/>
                </a:lnTo>
                <a:lnTo>
                  <a:pt x="1153466" y="10730"/>
                </a:lnTo>
                <a:lnTo>
                  <a:pt x="1084807" y="6121"/>
                </a:lnTo>
                <a:lnTo>
                  <a:pt x="1013862" y="2758"/>
                </a:lnTo>
                <a:lnTo>
                  <a:pt x="940893" y="699"/>
                </a:lnTo>
                <a:lnTo>
                  <a:pt x="866157" y="0"/>
                </a:lnTo>
                <a:close/>
              </a:path>
            </a:pathLst>
          </a:custGeom>
          <a:solidFill>
            <a:srgbClr val="8BA6BD"/>
          </a:solid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17" name="object 13"/>
          <p:cNvSpPr/>
          <p:nvPr/>
        </p:nvSpPr>
        <p:spPr>
          <a:xfrm>
            <a:off x="7902288" y="4279407"/>
            <a:ext cx="1732914" cy="387350"/>
          </a:xfrm>
          <a:custGeom>
            <a:avLst/>
            <a:gdLst/>
            <a:ahLst/>
            <a:cxnLst/>
            <a:rect l="l" t="t" r="r" b="b"/>
            <a:pathLst>
              <a:path w="1760220" h="387350">
                <a:moveTo>
                  <a:pt x="1760032" y="193548"/>
                </a:moveTo>
                <a:lnTo>
                  <a:pt x="1734457" y="240059"/>
                </a:lnTo>
                <a:lnTo>
                  <a:pt x="1690876" y="268885"/>
                </a:lnTo>
                <a:lnTo>
                  <a:pt x="1628186" y="295500"/>
                </a:lnTo>
                <a:lnTo>
                  <a:pt x="1590240" y="307854"/>
                </a:lnTo>
                <a:lnTo>
                  <a:pt x="1548197" y="319506"/>
                </a:lnTo>
                <a:lnTo>
                  <a:pt x="1502282" y="330407"/>
                </a:lnTo>
                <a:lnTo>
                  <a:pt x="1452721" y="340505"/>
                </a:lnTo>
                <a:lnTo>
                  <a:pt x="1399742" y="349752"/>
                </a:lnTo>
                <a:lnTo>
                  <a:pt x="1343571" y="358098"/>
                </a:lnTo>
                <a:lnTo>
                  <a:pt x="1284434" y="365492"/>
                </a:lnTo>
                <a:lnTo>
                  <a:pt x="1222558" y="371886"/>
                </a:lnTo>
                <a:lnTo>
                  <a:pt x="1158169" y="377228"/>
                </a:lnTo>
                <a:lnTo>
                  <a:pt x="1091494" y="381471"/>
                </a:lnTo>
                <a:lnTo>
                  <a:pt x="1022759" y="384562"/>
                </a:lnTo>
                <a:lnTo>
                  <a:pt x="952191" y="386454"/>
                </a:lnTo>
                <a:lnTo>
                  <a:pt x="880016" y="387096"/>
                </a:lnTo>
                <a:lnTo>
                  <a:pt x="807841" y="386454"/>
                </a:lnTo>
                <a:lnTo>
                  <a:pt x="737273" y="384562"/>
                </a:lnTo>
                <a:lnTo>
                  <a:pt x="668538" y="381471"/>
                </a:lnTo>
                <a:lnTo>
                  <a:pt x="601863" y="377228"/>
                </a:lnTo>
                <a:lnTo>
                  <a:pt x="537474" y="371886"/>
                </a:lnTo>
                <a:lnTo>
                  <a:pt x="475598" y="365492"/>
                </a:lnTo>
                <a:lnTo>
                  <a:pt x="416461" y="358098"/>
                </a:lnTo>
                <a:lnTo>
                  <a:pt x="360290" y="349752"/>
                </a:lnTo>
                <a:lnTo>
                  <a:pt x="307311" y="340505"/>
                </a:lnTo>
                <a:lnTo>
                  <a:pt x="257750" y="330407"/>
                </a:lnTo>
                <a:lnTo>
                  <a:pt x="211835" y="319506"/>
                </a:lnTo>
                <a:lnTo>
                  <a:pt x="169792" y="307854"/>
                </a:lnTo>
                <a:lnTo>
                  <a:pt x="131846" y="295500"/>
                </a:lnTo>
                <a:lnTo>
                  <a:pt x="69156" y="268885"/>
                </a:lnTo>
                <a:lnTo>
                  <a:pt x="25575" y="240059"/>
                </a:lnTo>
                <a:lnTo>
                  <a:pt x="2917" y="209421"/>
                </a:lnTo>
                <a:lnTo>
                  <a:pt x="0" y="193548"/>
                </a:lnTo>
                <a:lnTo>
                  <a:pt x="2917" y="177674"/>
                </a:lnTo>
                <a:lnTo>
                  <a:pt x="25575" y="147036"/>
                </a:lnTo>
                <a:lnTo>
                  <a:pt x="69156" y="118210"/>
                </a:lnTo>
                <a:lnTo>
                  <a:pt x="131846" y="91595"/>
                </a:lnTo>
                <a:lnTo>
                  <a:pt x="169792" y="79241"/>
                </a:lnTo>
                <a:lnTo>
                  <a:pt x="211835" y="67589"/>
                </a:lnTo>
                <a:lnTo>
                  <a:pt x="257750" y="56688"/>
                </a:lnTo>
                <a:lnTo>
                  <a:pt x="307311" y="46590"/>
                </a:lnTo>
                <a:lnTo>
                  <a:pt x="360290" y="37343"/>
                </a:lnTo>
                <a:lnTo>
                  <a:pt x="416461" y="28997"/>
                </a:lnTo>
                <a:lnTo>
                  <a:pt x="475598" y="21603"/>
                </a:lnTo>
                <a:lnTo>
                  <a:pt x="537474" y="15209"/>
                </a:lnTo>
                <a:lnTo>
                  <a:pt x="601863" y="9867"/>
                </a:lnTo>
                <a:lnTo>
                  <a:pt x="668538" y="5625"/>
                </a:lnTo>
                <a:lnTo>
                  <a:pt x="737273" y="2533"/>
                </a:lnTo>
                <a:lnTo>
                  <a:pt x="807841" y="641"/>
                </a:lnTo>
                <a:lnTo>
                  <a:pt x="880016" y="0"/>
                </a:lnTo>
                <a:lnTo>
                  <a:pt x="952191" y="641"/>
                </a:lnTo>
                <a:lnTo>
                  <a:pt x="1022759" y="2533"/>
                </a:lnTo>
                <a:lnTo>
                  <a:pt x="1091494" y="5625"/>
                </a:lnTo>
                <a:lnTo>
                  <a:pt x="1158169" y="9867"/>
                </a:lnTo>
                <a:lnTo>
                  <a:pt x="1222558" y="15209"/>
                </a:lnTo>
                <a:lnTo>
                  <a:pt x="1284434" y="21603"/>
                </a:lnTo>
                <a:lnTo>
                  <a:pt x="1343571" y="28997"/>
                </a:lnTo>
                <a:lnTo>
                  <a:pt x="1399742" y="37343"/>
                </a:lnTo>
                <a:lnTo>
                  <a:pt x="1452721" y="46590"/>
                </a:lnTo>
                <a:lnTo>
                  <a:pt x="1502282" y="56688"/>
                </a:lnTo>
                <a:lnTo>
                  <a:pt x="1548197" y="67589"/>
                </a:lnTo>
                <a:lnTo>
                  <a:pt x="1590240" y="79241"/>
                </a:lnTo>
                <a:lnTo>
                  <a:pt x="1628186" y="91595"/>
                </a:lnTo>
                <a:lnTo>
                  <a:pt x="1690876" y="118210"/>
                </a:lnTo>
                <a:lnTo>
                  <a:pt x="1734457" y="147036"/>
                </a:lnTo>
                <a:lnTo>
                  <a:pt x="1757115" y="177674"/>
                </a:lnTo>
                <a:lnTo>
                  <a:pt x="1760032" y="193548"/>
                </a:lnTo>
                <a:close/>
              </a:path>
            </a:pathLst>
          </a:custGeom>
          <a:ln w="6451">
            <a:solidFill>
              <a:srgbClr val="6CACDD"/>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18" name="object 14"/>
          <p:cNvSpPr/>
          <p:nvPr/>
        </p:nvSpPr>
        <p:spPr>
          <a:xfrm>
            <a:off x="7902288" y="4472954"/>
            <a:ext cx="1760220" cy="1355090"/>
          </a:xfrm>
          <a:custGeom>
            <a:avLst/>
            <a:gdLst/>
            <a:ahLst/>
            <a:cxnLst/>
            <a:rect l="l" t="t" r="r" b="b"/>
            <a:pathLst>
              <a:path w="1760220" h="1355089">
                <a:moveTo>
                  <a:pt x="1760032" y="1161286"/>
                </a:moveTo>
                <a:lnTo>
                  <a:pt x="1734457" y="1207798"/>
                </a:lnTo>
                <a:lnTo>
                  <a:pt x="1690876" y="1236624"/>
                </a:lnTo>
                <a:lnTo>
                  <a:pt x="1628186" y="1263239"/>
                </a:lnTo>
                <a:lnTo>
                  <a:pt x="1590240" y="1275593"/>
                </a:lnTo>
                <a:lnTo>
                  <a:pt x="1548197" y="1287245"/>
                </a:lnTo>
                <a:lnTo>
                  <a:pt x="1502282" y="1298145"/>
                </a:lnTo>
                <a:lnTo>
                  <a:pt x="1452721" y="1308244"/>
                </a:lnTo>
                <a:lnTo>
                  <a:pt x="1399742" y="1317491"/>
                </a:lnTo>
                <a:lnTo>
                  <a:pt x="1343571" y="1325836"/>
                </a:lnTo>
                <a:lnTo>
                  <a:pt x="1284434" y="1333231"/>
                </a:lnTo>
                <a:lnTo>
                  <a:pt x="1222558" y="1339624"/>
                </a:lnTo>
                <a:lnTo>
                  <a:pt x="1158169" y="1344967"/>
                </a:lnTo>
                <a:lnTo>
                  <a:pt x="1091494" y="1349209"/>
                </a:lnTo>
                <a:lnTo>
                  <a:pt x="1022759" y="1352301"/>
                </a:lnTo>
                <a:lnTo>
                  <a:pt x="952191" y="1354193"/>
                </a:lnTo>
                <a:lnTo>
                  <a:pt x="880016" y="1354834"/>
                </a:lnTo>
                <a:lnTo>
                  <a:pt x="807841" y="1354193"/>
                </a:lnTo>
                <a:lnTo>
                  <a:pt x="737273" y="1352301"/>
                </a:lnTo>
                <a:lnTo>
                  <a:pt x="668538" y="1349209"/>
                </a:lnTo>
                <a:lnTo>
                  <a:pt x="601863" y="1344967"/>
                </a:lnTo>
                <a:lnTo>
                  <a:pt x="537474" y="1339624"/>
                </a:lnTo>
                <a:lnTo>
                  <a:pt x="475598" y="1333231"/>
                </a:lnTo>
                <a:lnTo>
                  <a:pt x="416461" y="1325836"/>
                </a:lnTo>
                <a:lnTo>
                  <a:pt x="360290" y="1317491"/>
                </a:lnTo>
                <a:lnTo>
                  <a:pt x="307311" y="1308244"/>
                </a:lnTo>
                <a:lnTo>
                  <a:pt x="257750" y="1298145"/>
                </a:lnTo>
                <a:lnTo>
                  <a:pt x="211835" y="1287245"/>
                </a:lnTo>
                <a:lnTo>
                  <a:pt x="169792" y="1275593"/>
                </a:lnTo>
                <a:lnTo>
                  <a:pt x="131846" y="1263239"/>
                </a:lnTo>
                <a:lnTo>
                  <a:pt x="69156" y="1236624"/>
                </a:lnTo>
                <a:lnTo>
                  <a:pt x="25575" y="1207798"/>
                </a:lnTo>
                <a:lnTo>
                  <a:pt x="2917" y="1177160"/>
                </a:lnTo>
                <a:lnTo>
                  <a:pt x="0" y="1161286"/>
                </a:lnTo>
                <a:lnTo>
                  <a:pt x="0" y="0"/>
                </a:lnTo>
              </a:path>
            </a:pathLst>
          </a:custGeom>
          <a:ln w="6451">
            <a:solidFill>
              <a:srgbClr val="6CACDD"/>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19" name="object 15"/>
          <p:cNvSpPr txBox="1"/>
          <p:nvPr/>
        </p:nvSpPr>
        <p:spPr>
          <a:xfrm>
            <a:off x="8454101" y="4941076"/>
            <a:ext cx="635000" cy="391160"/>
          </a:xfrm>
          <a:prstGeom prst="rect">
            <a:avLst/>
          </a:prstGeom>
        </p:spPr>
        <p:txBody>
          <a:bodyPr vert="horz" wrap="square" lIns="0" tIns="12700" rIns="0" bIns="0" rtlCol="0">
            <a:spAutoFit/>
          </a:bodyPr>
          <a:lstStyle/>
          <a:p>
            <a:pPr marL="12700" algn="just">
              <a:lnSpc>
                <a:spcPct val="100000"/>
              </a:lnSpc>
              <a:spcBef>
                <a:spcPts val="100"/>
              </a:spcBef>
            </a:pPr>
            <a:r>
              <a:rPr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数据</a:t>
            </a:r>
            <a:endParaRPr sz="2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0" name="内容占位符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8255" y="3857533"/>
            <a:ext cx="1189397" cy="2364846"/>
          </a:xfrm>
          <a:prstGeom prst="rect">
            <a:avLst/>
          </a:prstGeom>
        </p:spPr>
      </p:pic>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97890" y="3857531"/>
            <a:ext cx="1108090" cy="2364846"/>
          </a:xfrm>
          <a:prstGeom prst="rect">
            <a:avLst/>
          </a:prstGeom>
        </p:spPr>
      </p:pic>
      <p:pic>
        <p:nvPicPr>
          <p:cNvPr id="4" name="图片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025090" y="4259048"/>
            <a:ext cx="1110397" cy="1594057"/>
          </a:xfrm>
          <a:prstGeom prst="rect">
            <a:avLst/>
          </a:prstGeom>
        </p:spPr>
      </p:pic>
      <p:sp>
        <p:nvSpPr>
          <p:cNvPr id="5" name="灯片编号占位符 4"/>
          <p:cNvSpPr>
            <a:spLocks noGrp="1"/>
          </p:cNvSpPr>
          <p:nvPr>
            <p:ph type="sldNum" sz="quarter" idx="12"/>
          </p:nvPr>
        </p:nvSpPr>
        <p:spPr/>
        <p:txBody>
          <a:bodyPr/>
          <a:lstStyle/>
          <a:p>
            <a:fld id="{74D2AB8B-5816-41F2-8B4B-CA5C3E4E6A65}" type="slidenum">
              <a:rPr lang="zh-CN" altLang="en-US" smtClean="0"/>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软件的多样性（一）</a:t>
            </a:r>
          </a:p>
        </p:txBody>
      </p:sp>
      <p:sp>
        <p:nvSpPr>
          <p:cNvPr id="3" name="内容占位符 2"/>
          <p:cNvSpPr>
            <a:spLocks noGrp="1"/>
          </p:cNvSpPr>
          <p:nvPr>
            <p:ph idx="1"/>
          </p:nvPr>
        </p:nvSpPr>
        <p:spPr/>
        <p:txBody>
          <a:bodyPr/>
          <a:lstStyle/>
          <a:p>
            <a:pPr marL="0" indent="0" algn="just">
              <a:buNone/>
            </a:pPr>
            <a:r>
              <a:rPr lang="zh-CN" altLang="en-US" dirty="0">
                <a:latin typeface="微软雅黑" panose="020B0503020204020204" pitchFamily="34" charset="-122"/>
                <a:ea typeface="微软雅黑" panose="020B0503020204020204" pitchFamily="34" charset="-122"/>
              </a:rPr>
              <a:t>按软件的功能划分：</a:t>
            </a:r>
            <a:endParaRPr lang="en-US" altLang="zh-CN" dirty="0">
              <a:latin typeface="微软雅黑" panose="020B0503020204020204" pitchFamily="34" charset="-122"/>
              <a:ea typeface="微软雅黑" panose="020B0503020204020204" pitchFamily="34" charset="-122"/>
            </a:endParaRPr>
          </a:p>
          <a:p>
            <a:pPr lvl="1" algn="just"/>
            <a:endParaRPr lang="en-US" altLang="zh-CN" sz="2800" dirty="0">
              <a:latin typeface="微软雅黑" panose="020B0503020204020204" pitchFamily="34" charset="-122"/>
              <a:ea typeface="微软雅黑" panose="020B0503020204020204" pitchFamily="34" charset="-122"/>
            </a:endParaRPr>
          </a:p>
          <a:p>
            <a:pPr lvl="1" algn="just"/>
            <a:endParaRPr lang="en-US" altLang="zh-CN" sz="2800" dirty="0">
              <a:latin typeface="微软雅黑" panose="020B0503020204020204" pitchFamily="34" charset="-122"/>
              <a:ea typeface="微软雅黑" panose="020B0503020204020204" pitchFamily="34" charset="-122"/>
            </a:endParaRPr>
          </a:p>
          <a:p>
            <a:pPr lvl="1" algn="just"/>
            <a:endParaRPr lang="en-US" altLang="zh-CN" sz="2800" dirty="0">
              <a:latin typeface="微软雅黑" panose="020B0503020204020204" pitchFamily="34" charset="-122"/>
              <a:ea typeface="微软雅黑" panose="020B0503020204020204" pitchFamily="34" charset="-122"/>
            </a:endParaRPr>
          </a:p>
          <a:p>
            <a:pPr lvl="1" algn="just"/>
            <a:endParaRPr lang="zh-CN" altLang="en-US" sz="2800" dirty="0">
              <a:latin typeface="微软雅黑" panose="020B0503020204020204" pitchFamily="34" charset="-122"/>
              <a:ea typeface="微软雅黑" panose="020B0503020204020204" pitchFamily="34" charset="-122"/>
            </a:endParaRPr>
          </a:p>
        </p:txBody>
      </p:sp>
      <p:sp>
        <p:nvSpPr>
          <p:cNvPr id="4" name="矩形 3"/>
          <p:cNvSpPr/>
          <p:nvPr/>
        </p:nvSpPr>
        <p:spPr>
          <a:xfrm>
            <a:off x="354419" y="2559598"/>
            <a:ext cx="4002522" cy="2308324"/>
          </a:xfrm>
          <a:prstGeom prst="rect">
            <a:avLst/>
          </a:prstGeom>
        </p:spPr>
        <p:txBody>
          <a:bodyPr wrap="square">
            <a:spAutoFit/>
          </a:bodyPr>
          <a:lstStyle/>
          <a:p>
            <a:pPr lvl="1" algn="just">
              <a:buClr>
                <a:srgbClr val="00CC00"/>
              </a:buClr>
              <a:buSzPct val="60000"/>
            </a:pPr>
            <a:r>
              <a:rPr lang="zh-CN" altLang="en-US" sz="2400" b="1" dirty="0">
                <a:latin typeface="微软雅黑" panose="020B0503020204020204" pitchFamily="34" charset="-122"/>
                <a:ea typeface="微软雅黑" panose="020B0503020204020204" pitchFamily="34" charset="-122"/>
              </a:rPr>
              <a:t>系统软件</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 操作系统</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 数据库管理系统</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 设备驱动程序</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 通信处理程序等</a:t>
            </a:r>
            <a:endParaRPr lang="en-US" altLang="zh-CN" sz="2400" dirty="0">
              <a:latin typeface="微软雅黑" panose="020B0503020204020204" pitchFamily="34" charset="-122"/>
              <a:ea typeface="微软雅黑" panose="020B0503020204020204" pitchFamily="34" charset="-122"/>
            </a:endParaRPr>
          </a:p>
          <a:p>
            <a:pPr marL="1257300" lvl="2" indent="-342900" algn="just">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
        <p:nvSpPr>
          <p:cNvPr id="5" name="矩形 4"/>
          <p:cNvSpPr/>
          <p:nvPr/>
        </p:nvSpPr>
        <p:spPr>
          <a:xfrm>
            <a:off x="3836898" y="2656512"/>
            <a:ext cx="4002522" cy="2308324"/>
          </a:xfrm>
          <a:prstGeom prst="rect">
            <a:avLst/>
          </a:prstGeom>
        </p:spPr>
        <p:txBody>
          <a:bodyPr wrap="square">
            <a:spAutoFit/>
          </a:bodyPr>
          <a:lstStyle/>
          <a:p>
            <a:pPr lvl="1" algn="just">
              <a:buClr>
                <a:srgbClr val="00CC00"/>
              </a:buClr>
              <a:buSzPct val="60000"/>
            </a:pPr>
            <a:r>
              <a:rPr lang="zh-CN" altLang="en-US" sz="2400" b="1" dirty="0">
                <a:latin typeface="微软雅黑" panose="020B0503020204020204" pitchFamily="34" charset="-122"/>
                <a:ea typeface="微软雅黑" panose="020B0503020204020204" pitchFamily="34" charset="-122"/>
              </a:rPr>
              <a:t>支撑软件</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文本编辑程序</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文件格式化程序</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磁盘向磁带向数据传输的程序</a:t>
            </a:r>
            <a:endParaRPr lang="en-US" altLang="zh-CN" sz="2400" dirty="0">
              <a:latin typeface="微软雅黑" panose="020B0503020204020204" pitchFamily="34" charset="-122"/>
              <a:ea typeface="微软雅黑" panose="020B0503020204020204" pitchFamily="34" charset="-122"/>
            </a:endParaRPr>
          </a:p>
          <a:p>
            <a:pPr marL="1257300" lvl="2" indent="-342900" algn="just">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6" name="Rectangle 3"/>
          <p:cNvSpPr txBox="1">
            <a:spLocks noChangeArrowheads="1"/>
          </p:cNvSpPr>
          <p:nvPr/>
        </p:nvSpPr>
        <p:spPr>
          <a:xfrm>
            <a:off x="6868632" y="2552381"/>
            <a:ext cx="5323368" cy="2308324"/>
          </a:xfrm>
          <a:prstGeom prst="rect">
            <a:avLst/>
          </a:prstGeom>
        </p:spPr>
        <p:txBody>
          <a:bodyPr wrap="square">
            <a:spAutoFit/>
          </a:bodyPr>
          <a:lstStyle>
            <a:defPPr>
              <a:defRPr lang="zh-CN"/>
            </a:defPPr>
            <a:lvl2pPr lvl="1">
              <a:buClr>
                <a:srgbClr val="00CC00"/>
              </a:buClr>
              <a:buSzPct val="60000"/>
              <a:defRPr sz="2800">
                <a:latin typeface="+mn-ea"/>
              </a:defRPr>
            </a:lvl2pPr>
            <a:lvl3pPr lvl="2">
              <a:defRPr sz="2800">
                <a:latin typeface="+mn-ea"/>
              </a:defRPr>
            </a:lvl3pPr>
          </a:lstStyle>
          <a:p>
            <a:pPr lvl="1" algn="just"/>
            <a:r>
              <a:rPr lang="en-US" altLang="zh-CN" sz="2400"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应用软件</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 商业数据处理软件</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 系统仿真软件</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 嵌入式控制系统</a:t>
            </a:r>
          </a:p>
          <a:p>
            <a:pPr marL="1257300" lvl="2" indent="-342900" algn="just">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 事务管理、办公软件</a:t>
            </a:r>
          </a:p>
          <a:p>
            <a:pPr marL="1257300" lvl="2" indent="-342900" algn="just">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
        <p:nvSpPr>
          <p:cNvPr id="10" name="object 4"/>
          <p:cNvSpPr/>
          <p:nvPr/>
        </p:nvSpPr>
        <p:spPr>
          <a:xfrm>
            <a:off x="1298085" y="4803226"/>
            <a:ext cx="2538813" cy="1586759"/>
          </a:xfrm>
          <a:prstGeom prst="rect">
            <a:avLst/>
          </a:prstGeom>
          <a:blipFill>
            <a:blip r:embed="rId4"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5"/>
          <a:stretch>
            <a:fillRect/>
          </a:stretch>
        </p:blipFill>
        <p:spPr>
          <a:xfrm>
            <a:off x="4858285" y="4860705"/>
            <a:ext cx="2511692" cy="1578475"/>
          </a:xfrm>
          <a:prstGeom prst="rect">
            <a:avLst/>
          </a:prstGeom>
        </p:spPr>
      </p:pic>
      <p:sp>
        <p:nvSpPr>
          <p:cNvPr id="12" name="object 5"/>
          <p:cNvSpPr/>
          <p:nvPr/>
        </p:nvSpPr>
        <p:spPr>
          <a:xfrm>
            <a:off x="8355102" y="4805568"/>
            <a:ext cx="2454665" cy="1584417"/>
          </a:xfrm>
          <a:prstGeom prst="rect">
            <a:avLst/>
          </a:prstGeom>
          <a:blipFill>
            <a:blip r:embed="rId6"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nvPr>
        </p:nvSpPr>
        <p:spPr/>
        <p:txBody>
          <a:bodyPr/>
          <a:lstStyle/>
          <a:p>
            <a:fld id="{74D2AB8B-5816-41F2-8B4B-CA5C3E4E6A65}" type="slidenum">
              <a:rPr lang="zh-CN" altLang="en-US" smtClean="0"/>
              <a:t>34</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0" grpId="0" bldLvl="0" animBg="1"/>
      <p:bldP spid="12"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软件的多样性（二）</a:t>
            </a:r>
          </a:p>
        </p:txBody>
      </p:sp>
      <p:sp>
        <p:nvSpPr>
          <p:cNvPr id="3" name="内容占位符 2"/>
          <p:cNvSpPr>
            <a:spLocks noGrp="1"/>
          </p:cNvSpPr>
          <p:nvPr>
            <p:ph idx="1"/>
          </p:nvPr>
        </p:nvSpPr>
        <p:spPr/>
        <p:txBody>
          <a:bodyPr/>
          <a:lstStyle/>
          <a:p>
            <a:pPr marL="0" indent="0" algn="just">
              <a:buNone/>
            </a:pPr>
            <a:endParaRPr lang="en-US" altLang="zh-CN" dirty="0">
              <a:latin typeface="微软雅黑" panose="020B0503020204020204" pitchFamily="34" charset="-122"/>
              <a:ea typeface="微软雅黑" panose="020B0503020204020204" pitchFamily="34" charset="-122"/>
            </a:endParaRPr>
          </a:p>
          <a:p>
            <a:pPr marL="0" indent="0" algn="just">
              <a:buNone/>
            </a:pPr>
            <a:r>
              <a:rPr lang="zh-CN" altLang="en-US" dirty="0">
                <a:latin typeface="微软雅黑" panose="020B0503020204020204" pitchFamily="34" charset="-122"/>
                <a:ea typeface="微软雅黑" panose="020B0503020204020204" pitchFamily="34" charset="-122"/>
              </a:rPr>
              <a:t>按软件的工作方式划分：</a:t>
            </a:r>
            <a:endParaRPr lang="en-US" altLang="zh-CN" dirty="0">
              <a:latin typeface="微软雅黑" panose="020B0503020204020204" pitchFamily="34" charset="-122"/>
              <a:ea typeface="微软雅黑" panose="020B0503020204020204" pitchFamily="34" charset="-122"/>
            </a:endParaRPr>
          </a:p>
          <a:p>
            <a:pPr lvl="1" algn="just"/>
            <a:r>
              <a:rPr lang="zh-CN" altLang="en-US" dirty="0">
                <a:latin typeface="微软雅黑" panose="020B0503020204020204" pitchFamily="34" charset="-122"/>
                <a:ea typeface="微软雅黑" panose="020B0503020204020204" pitchFamily="34" charset="-122"/>
              </a:rPr>
              <a:t>实时处理软件</a:t>
            </a:r>
            <a:endParaRPr lang="en-US" altLang="zh-CN" dirty="0">
              <a:latin typeface="微软雅黑" panose="020B0503020204020204" pitchFamily="34" charset="-122"/>
              <a:ea typeface="微软雅黑" panose="020B0503020204020204" pitchFamily="34" charset="-122"/>
            </a:endParaRPr>
          </a:p>
          <a:p>
            <a:pPr lvl="1" algn="just"/>
            <a:r>
              <a:rPr lang="zh-CN" altLang="en-US" dirty="0">
                <a:latin typeface="微软雅黑" panose="020B0503020204020204" pitchFamily="34" charset="-122"/>
                <a:ea typeface="微软雅黑" panose="020B0503020204020204" pitchFamily="34" charset="-122"/>
              </a:rPr>
              <a:t>分时软件</a:t>
            </a:r>
            <a:endParaRPr lang="en-US" altLang="zh-CN" dirty="0">
              <a:latin typeface="微软雅黑" panose="020B0503020204020204" pitchFamily="34" charset="-122"/>
              <a:ea typeface="微软雅黑" panose="020B0503020204020204" pitchFamily="34" charset="-122"/>
            </a:endParaRPr>
          </a:p>
          <a:p>
            <a:pPr lvl="1" algn="just"/>
            <a:r>
              <a:rPr lang="zh-CN" altLang="en-US" dirty="0">
                <a:latin typeface="微软雅黑" panose="020B0503020204020204" pitchFamily="34" charset="-122"/>
                <a:ea typeface="微软雅黑" panose="020B0503020204020204" pitchFamily="34" charset="-122"/>
              </a:rPr>
              <a:t>交互式软件</a:t>
            </a:r>
            <a:endParaRPr lang="en-US" altLang="zh-CN" dirty="0">
              <a:latin typeface="微软雅黑" panose="020B0503020204020204" pitchFamily="34" charset="-122"/>
              <a:ea typeface="微软雅黑" panose="020B0503020204020204" pitchFamily="34" charset="-122"/>
            </a:endParaRPr>
          </a:p>
          <a:p>
            <a:pPr lvl="1" algn="just"/>
            <a:r>
              <a:rPr lang="zh-CN" altLang="en-US" dirty="0">
                <a:latin typeface="微软雅黑" panose="020B0503020204020204" pitchFamily="34" charset="-122"/>
                <a:ea typeface="微软雅黑" panose="020B0503020204020204" pitchFamily="34" charset="-122"/>
              </a:rPr>
              <a:t>批处理软件</a:t>
            </a:r>
            <a:endParaRPr lang="en-US" altLang="zh-CN" dirty="0">
              <a:latin typeface="微软雅黑" panose="020B0503020204020204" pitchFamily="34" charset="-122"/>
              <a:ea typeface="微软雅黑" panose="020B0503020204020204" pitchFamily="34" charset="-122"/>
            </a:endParaRPr>
          </a:p>
          <a:p>
            <a:pPr lvl="1" algn="just"/>
            <a:r>
              <a:rPr lang="en-US" altLang="zh-CN" dirty="0">
                <a:latin typeface="微软雅黑" panose="020B0503020204020204" pitchFamily="34" charset="-122"/>
                <a:ea typeface="微软雅黑" panose="020B0503020204020204" pitchFamily="34" charset="-122"/>
              </a:rPr>
              <a:t>…</a:t>
            </a:r>
          </a:p>
        </p:txBody>
      </p:sp>
      <p:pic>
        <p:nvPicPr>
          <p:cNvPr id="4" name="图片 3"/>
          <p:cNvPicPr>
            <a:picLocks noChangeAspect="1"/>
          </p:cNvPicPr>
          <p:nvPr/>
        </p:nvPicPr>
        <p:blipFill>
          <a:blip r:embed="rId4"/>
          <a:stretch>
            <a:fillRect/>
          </a:stretch>
        </p:blipFill>
        <p:spPr>
          <a:xfrm>
            <a:off x="6895071" y="1690688"/>
            <a:ext cx="4281229" cy="2531577"/>
          </a:xfrm>
          <a:prstGeom prst="rect">
            <a:avLst/>
          </a:prstGeom>
        </p:spPr>
      </p:pic>
      <p:pic>
        <p:nvPicPr>
          <p:cNvPr id="5" name="图片 4"/>
          <p:cNvPicPr>
            <a:picLocks noChangeAspect="1"/>
          </p:cNvPicPr>
          <p:nvPr/>
        </p:nvPicPr>
        <p:blipFill>
          <a:blip r:embed="rId5"/>
          <a:stretch>
            <a:fillRect/>
          </a:stretch>
        </p:blipFill>
        <p:spPr>
          <a:xfrm>
            <a:off x="6209588" y="3490281"/>
            <a:ext cx="2905125" cy="2352675"/>
          </a:xfrm>
          <a:prstGeom prst="rect">
            <a:avLst/>
          </a:prstGeom>
        </p:spPr>
      </p:pic>
      <p:pic>
        <p:nvPicPr>
          <p:cNvPr id="1026" name="Picture 2" descr="https://timgsa.baidu.com/timg?image&amp;quality=80&amp;size=b9999_10000&amp;sec=1581849950094&amp;di=d116fa288df438c5151ffaa8497df657&amp;imgtype=0&amp;src=http%3A%2F%2Fimage.thethirdmedia.com%2FArticle%2Fupload%2F201011%2F101116172411221.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4429" y="3490281"/>
            <a:ext cx="2908543" cy="2352675"/>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p:cNvSpPr>
            <a:spLocks noGrp="1"/>
          </p:cNvSpPr>
          <p:nvPr>
            <p:ph type="sldNum" sz="quarter" idx="12"/>
          </p:nvPr>
        </p:nvSpPr>
        <p:spPr/>
        <p:txBody>
          <a:bodyPr/>
          <a:lstStyle/>
          <a:p>
            <a:fld id="{74D2AB8B-5816-41F2-8B4B-CA5C3E4E6A65}" type="slidenum">
              <a:rPr lang="zh-CN" altLang="en-US" smtClean="0"/>
              <a:t>35</a:t>
            </a:fld>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软件的复杂性（一）</a:t>
            </a:r>
          </a:p>
        </p:txBody>
      </p:sp>
      <p:sp>
        <p:nvSpPr>
          <p:cNvPr id="4" name="object 3"/>
          <p:cNvSpPr/>
          <p:nvPr/>
        </p:nvSpPr>
        <p:spPr>
          <a:xfrm>
            <a:off x="1151587" y="1535694"/>
            <a:ext cx="3435835" cy="2220286"/>
          </a:xfrm>
          <a:prstGeom prst="rect">
            <a:avLst/>
          </a:prstGeom>
          <a:blipFill>
            <a:blip r:embed="rId4"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 name="object 4"/>
          <p:cNvSpPr txBox="1"/>
          <p:nvPr/>
        </p:nvSpPr>
        <p:spPr>
          <a:xfrm>
            <a:off x="5296288" y="1629130"/>
            <a:ext cx="6227118" cy="981487"/>
          </a:xfrm>
          <a:prstGeom prst="rect">
            <a:avLst/>
          </a:prstGeom>
        </p:spPr>
        <p:txBody>
          <a:bodyPr vert="horz" wrap="square" lIns="0" tIns="12700" rIns="0" bIns="0" rtlCol="0">
            <a:spAutoFit/>
          </a:bodyPr>
          <a:lstStyle/>
          <a:p>
            <a:pPr marL="12700" marR="5080" algn="just">
              <a:lnSpc>
                <a:spcPct val="150000"/>
              </a:lnSpc>
              <a:spcBef>
                <a:spcPts val="100"/>
              </a:spcBef>
            </a:pPr>
            <a:r>
              <a:rPr lang="en-US" altLang="zh-CN" sz="2200" dirty="0">
                <a:latin typeface="微软雅黑" panose="020B0503020204020204" pitchFamily="34" charset="-122"/>
                <a:ea typeface="微软雅黑" panose="020B0503020204020204" pitchFamily="34" charset="-122"/>
              </a:rPr>
              <a:t>Linux</a:t>
            </a:r>
            <a:r>
              <a:rPr lang="zh-CN" altLang="en-US" sz="2200" dirty="0">
                <a:latin typeface="微软雅黑" panose="020B0503020204020204" pitchFamily="34" charset="-122"/>
                <a:ea typeface="微软雅黑" panose="020B0503020204020204" pitchFamily="34" charset="-122"/>
              </a:rPr>
              <a:t>内核有</a:t>
            </a:r>
            <a:r>
              <a:rPr lang="en-US" altLang="zh-CN" sz="2200" dirty="0">
                <a:latin typeface="微软雅黑" panose="020B0503020204020204" pitchFamily="34" charset="-122"/>
                <a:ea typeface="微软雅黑" panose="020B0503020204020204" pitchFamily="34" charset="-122"/>
              </a:rPr>
              <a:t>630</a:t>
            </a:r>
            <a:r>
              <a:rPr lang="zh-CN" altLang="en-US" sz="2200" dirty="0">
                <a:latin typeface="微软雅黑" panose="020B0503020204020204" pitchFamily="34" charset="-122"/>
                <a:ea typeface="微软雅黑" panose="020B0503020204020204" pitchFamily="34" charset="-122"/>
              </a:rPr>
              <a:t>个函数，存在</a:t>
            </a:r>
            <a:r>
              <a:rPr lang="en-US" altLang="zh-CN" sz="2200" dirty="0">
                <a:latin typeface="微软雅黑" panose="020B0503020204020204" pitchFamily="34" charset="-122"/>
                <a:ea typeface="微软雅黑" panose="020B0503020204020204" pitchFamily="34" charset="-122"/>
              </a:rPr>
              <a:t>1814</a:t>
            </a:r>
            <a:r>
              <a:rPr lang="zh-CN" altLang="en-US" sz="2200" dirty="0">
                <a:latin typeface="微软雅黑" panose="020B0503020204020204" pitchFamily="34" charset="-122"/>
                <a:ea typeface="微软雅黑" panose="020B0503020204020204" pitchFamily="34" charset="-122"/>
              </a:rPr>
              <a:t>个函数调用。</a:t>
            </a:r>
            <a:endParaRPr lang="en-US" altLang="zh-CN" sz="2200" dirty="0">
              <a:latin typeface="微软雅黑" panose="020B0503020204020204" pitchFamily="34" charset="-122"/>
              <a:ea typeface="微软雅黑" panose="020B0503020204020204" pitchFamily="34" charset="-122"/>
            </a:endParaRPr>
          </a:p>
          <a:p>
            <a:pPr marL="12700" marR="5080" algn="just">
              <a:lnSpc>
                <a:spcPct val="150000"/>
              </a:lnSpc>
              <a:spcBef>
                <a:spcPts val="100"/>
              </a:spcBef>
            </a:pPr>
            <a:r>
              <a:rPr lang="zh-CN" altLang="en-US" sz="2200" dirty="0">
                <a:latin typeface="微软雅黑" panose="020B0503020204020204" pitchFamily="34" charset="-122"/>
                <a:ea typeface="微软雅黑" panose="020B0503020204020204" pitchFamily="34" charset="-122"/>
              </a:rPr>
              <a:t>注：左图中将函数表述为节点，调用关系表示为边。</a:t>
            </a:r>
            <a:endParaRPr sz="2200" dirty="0">
              <a:latin typeface="微软雅黑" panose="020B0503020204020204" pitchFamily="34" charset="-122"/>
              <a:ea typeface="微软雅黑" panose="020B0503020204020204" pitchFamily="34" charset="-122"/>
            </a:endParaRPr>
          </a:p>
        </p:txBody>
      </p:sp>
      <p:grpSp>
        <p:nvGrpSpPr>
          <p:cNvPr id="80" name="组合 79"/>
          <p:cNvGrpSpPr/>
          <p:nvPr/>
        </p:nvGrpSpPr>
        <p:grpSpPr>
          <a:xfrm>
            <a:off x="1307406" y="4017924"/>
            <a:ext cx="3124195" cy="2261062"/>
            <a:chOff x="959421" y="1501895"/>
            <a:chExt cx="5763380" cy="4259451"/>
          </a:xfrm>
        </p:grpSpPr>
        <p:sp>
          <p:nvSpPr>
            <p:cNvPr id="34" name="object 3"/>
            <p:cNvSpPr/>
            <p:nvPr/>
          </p:nvSpPr>
          <p:spPr>
            <a:xfrm>
              <a:off x="1259966" y="1501895"/>
              <a:ext cx="5215031" cy="1275581"/>
            </a:xfrm>
            <a:prstGeom prst="rect">
              <a:avLst/>
            </a:prstGeom>
            <a:blipFill>
              <a:blip r:embed="rId5"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35" name="object 4"/>
            <p:cNvSpPr/>
            <p:nvPr/>
          </p:nvSpPr>
          <p:spPr>
            <a:xfrm>
              <a:off x="5410336" y="3513058"/>
              <a:ext cx="936321" cy="754113"/>
            </a:xfrm>
            <a:prstGeom prst="rect">
              <a:avLst/>
            </a:prstGeom>
            <a:blipFill>
              <a:blip r:embed="rId6"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36" name="object 5"/>
            <p:cNvSpPr/>
            <p:nvPr/>
          </p:nvSpPr>
          <p:spPr>
            <a:xfrm>
              <a:off x="5246056" y="4470643"/>
              <a:ext cx="936320" cy="754113"/>
            </a:xfrm>
            <a:prstGeom prst="rect">
              <a:avLst/>
            </a:prstGeom>
            <a:blipFill>
              <a:blip r:embed="rId6"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37" name="object 6"/>
            <p:cNvSpPr/>
            <p:nvPr/>
          </p:nvSpPr>
          <p:spPr>
            <a:xfrm>
              <a:off x="4198016" y="3436302"/>
              <a:ext cx="444644" cy="449499"/>
            </a:xfrm>
            <a:prstGeom prst="rect">
              <a:avLst/>
            </a:prstGeom>
            <a:blipFill>
              <a:blip r:embed="rId7"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38" name="object 7"/>
            <p:cNvSpPr/>
            <p:nvPr/>
          </p:nvSpPr>
          <p:spPr>
            <a:xfrm>
              <a:off x="4896202" y="3110589"/>
              <a:ext cx="488277" cy="487773"/>
            </a:xfrm>
            <a:prstGeom prst="rect">
              <a:avLst/>
            </a:prstGeom>
            <a:blipFill>
              <a:blip r:embed="rId8"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39" name="object 8"/>
            <p:cNvSpPr/>
            <p:nvPr/>
          </p:nvSpPr>
          <p:spPr>
            <a:xfrm>
              <a:off x="4525218" y="4974385"/>
              <a:ext cx="450885" cy="464847"/>
            </a:xfrm>
            <a:prstGeom prst="rect">
              <a:avLst/>
            </a:prstGeom>
            <a:blipFill>
              <a:blip r:embed="rId9"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40" name="object 9"/>
            <p:cNvSpPr/>
            <p:nvPr/>
          </p:nvSpPr>
          <p:spPr>
            <a:xfrm>
              <a:off x="4433313" y="4448171"/>
              <a:ext cx="450885" cy="464847"/>
            </a:xfrm>
            <a:prstGeom prst="rect">
              <a:avLst/>
            </a:prstGeom>
            <a:blipFill>
              <a:blip r:embed="rId9"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41" name="object 10"/>
            <p:cNvSpPr/>
            <p:nvPr/>
          </p:nvSpPr>
          <p:spPr>
            <a:xfrm>
              <a:off x="4822386" y="3851032"/>
              <a:ext cx="488277" cy="487772"/>
            </a:xfrm>
            <a:prstGeom prst="rect">
              <a:avLst/>
            </a:prstGeom>
            <a:blipFill>
              <a:blip r:embed="rId8"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42" name="object 11"/>
            <p:cNvSpPr/>
            <p:nvPr/>
          </p:nvSpPr>
          <p:spPr>
            <a:xfrm>
              <a:off x="3819581" y="2858126"/>
              <a:ext cx="2903220" cy="2903220"/>
            </a:xfrm>
            <a:custGeom>
              <a:avLst/>
              <a:gdLst/>
              <a:ahLst/>
              <a:cxnLst/>
              <a:rect l="l" t="t" r="r" b="b"/>
              <a:pathLst>
                <a:path w="2903220" h="2903220">
                  <a:moveTo>
                    <a:pt x="0" y="1451497"/>
                  </a:moveTo>
                  <a:lnTo>
                    <a:pt x="775" y="1403584"/>
                  </a:lnTo>
                  <a:lnTo>
                    <a:pt x="3087" y="1356060"/>
                  </a:lnTo>
                  <a:lnTo>
                    <a:pt x="6910" y="1308948"/>
                  </a:lnTo>
                  <a:lnTo>
                    <a:pt x="12222" y="1262272"/>
                  </a:lnTo>
                  <a:lnTo>
                    <a:pt x="18997" y="1216056"/>
                  </a:lnTo>
                  <a:lnTo>
                    <a:pt x="27213" y="1170324"/>
                  </a:lnTo>
                  <a:lnTo>
                    <a:pt x="36844" y="1125100"/>
                  </a:lnTo>
                  <a:lnTo>
                    <a:pt x="47868" y="1080407"/>
                  </a:lnTo>
                  <a:lnTo>
                    <a:pt x="60261" y="1036269"/>
                  </a:lnTo>
                  <a:lnTo>
                    <a:pt x="73998" y="992711"/>
                  </a:lnTo>
                  <a:lnTo>
                    <a:pt x="89055" y="949757"/>
                  </a:lnTo>
                  <a:lnTo>
                    <a:pt x="105409" y="907429"/>
                  </a:lnTo>
                  <a:lnTo>
                    <a:pt x="123036" y="865753"/>
                  </a:lnTo>
                  <a:lnTo>
                    <a:pt x="141912" y="824752"/>
                  </a:lnTo>
                  <a:lnTo>
                    <a:pt x="162013" y="784450"/>
                  </a:lnTo>
                  <a:lnTo>
                    <a:pt x="183315" y="744871"/>
                  </a:lnTo>
                  <a:lnTo>
                    <a:pt x="205794" y="706039"/>
                  </a:lnTo>
                  <a:lnTo>
                    <a:pt x="229426" y="667977"/>
                  </a:lnTo>
                  <a:lnTo>
                    <a:pt x="254187" y="630710"/>
                  </a:lnTo>
                  <a:lnTo>
                    <a:pt x="280054" y="594261"/>
                  </a:lnTo>
                  <a:lnTo>
                    <a:pt x="307003" y="558655"/>
                  </a:lnTo>
                  <a:lnTo>
                    <a:pt x="335009" y="523915"/>
                  </a:lnTo>
                  <a:lnTo>
                    <a:pt x="364048" y="490066"/>
                  </a:lnTo>
                  <a:lnTo>
                    <a:pt x="394098" y="457131"/>
                  </a:lnTo>
                  <a:lnTo>
                    <a:pt x="425133" y="425133"/>
                  </a:lnTo>
                  <a:lnTo>
                    <a:pt x="457131" y="394098"/>
                  </a:lnTo>
                  <a:lnTo>
                    <a:pt x="490066" y="364048"/>
                  </a:lnTo>
                  <a:lnTo>
                    <a:pt x="523915" y="335009"/>
                  </a:lnTo>
                  <a:lnTo>
                    <a:pt x="558655" y="307003"/>
                  </a:lnTo>
                  <a:lnTo>
                    <a:pt x="594261" y="280054"/>
                  </a:lnTo>
                  <a:lnTo>
                    <a:pt x="630710" y="254187"/>
                  </a:lnTo>
                  <a:lnTo>
                    <a:pt x="667977" y="229426"/>
                  </a:lnTo>
                  <a:lnTo>
                    <a:pt x="706039" y="205794"/>
                  </a:lnTo>
                  <a:lnTo>
                    <a:pt x="744871" y="183315"/>
                  </a:lnTo>
                  <a:lnTo>
                    <a:pt x="784450" y="162013"/>
                  </a:lnTo>
                  <a:lnTo>
                    <a:pt x="824752" y="141912"/>
                  </a:lnTo>
                  <a:lnTo>
                    <a:pt x="865753" y="123036"/>
                  </a:lnTo>
                  <a:lnTo>
                    <a:pt x="907429" y="105409"/>
                  </a:lnTo>
                  <a:lnTo>
                    <a:pt x="949757" y="89055"/>
                  </a:lnTo>
                  <a:lnTo>
                    <a:pt x="992711" y="73998"/>
                  </a:lnTo>
                  <a:lnTo>
                    <a:pt x="1036269" y="60261"/>
                  </a:lnTo>
                  <a:lnTo>
                    <a:pt x="1080407" y="47868"/>
                  </a:lnTo>
                  <a:lnTo>
                    <a:pt x="1125100" y="36844"/>
                  </a:lnTo>
                  <a:lnTo>
                    <a:pt x="1170324" y="27213"/>
                  </a:lnTo>
                  <a:lnTo>
                    <a:pt x="1216056" y="18997"/>
                  </a:lnTo>
                  <a:lnTo>
                    <a:pt x="1262272" y="12222"/>
                  </a:lnTo>
                  <a:lnTo>
                    <a:pt x="1308948" y="6910"/>
                  </a:lnTo>
                  <a:lnTo>
                    <a:pt x="1356060" y="3087"/>
                  </a:lnTo>
                  <a:lnTo>
                    <a:pt x="1403584" y="775"/>
                  </a:lnTo>
                  <a:lnTo>
                    <a:pt x="1451497" y="0"/>
                  </a:lnTo>
                  <a:lnTo>
                    <a:pt x="1499409" y="775"/>
                  </a:lnTo>
                  <a:lnTo>
                    <a:pt x="1546933" y="3087"/>
                  </a:lnTo>
                  <a:lnTo>
                    <a:pt x="1594045" y="6910"/>
                  </a:lnTo>
                  <a:lnTo>
                    <a:pt x="1640721" y="12222"/>
                  </a:lnTo>
                  <a:lnTo>
                    <a:pt x="1686937" y="18997"/>
                  </a:lnTo>
                  <a:lnTo>
                    <a:pt x="1732669" y="27213"/>
                  </a:lnTo>
                  <a:lnTo>
                    <a:pt x="1777894" y="36844"/>
                  </a:lnTo>
                  <a:lnTo>
                    <a:pt x="1822587" y="47868"/>
                  </a:lnTo>
                  <a:lnTo>
                    <a:pt x="1866724" y="60261"/>
                  </a:lnTo>
                  <a:lnTo>
                    <a:pt x="1910282" y="73998"/>
                  </a:lnTo>
                  <a:lnTo>
                    <a:pt x="1953236" y="89055"/>
                  </a:lnTo>
                  <a:lnTo>
                    <a:pt x="1995564" y="105409"/>
                  </a:lnTo>
                  <a:lnTo>
                    <a:pt x="2037240" y="123036"/>
                  </a:lnTo>
                  <a:lnTo>
                    <a:pt x="2078241" y="141912"/>
                  </a:lnTo>
                  <a:lnTo>
                    <a:pt x="2118543" y="162013"/>
                  </a:lnTo>
                  <a:lnTo>
                    <a:pt x="2158122" y="183315"/>
                  </a:lnTo>
                  <a:lnTo>
                    <a:pt x="2196955" y="205794"/>
                  </a:lnTo>
                  <a:lnTo>
                    <a:pt x="2235016" y="229426"/>
                  </a:lnTo>
                  <a:lnTo>
                    <a:pt x="2272283" y="254187"/>
                  </a:lnTo>
                  <a:lnTo>
                    <a:pt x="2308732" y="280054"/>
                  </a:lnTo>
                  <a:lnTo>
                    <a:pt x="2344338" y="307003"/>
                  </a:lnTo>
                  <a:lnTo>
                    <a:pt x="2379078" y="335009"/>
                  </a:lnTo>
                  <a:lnTo>
                    <a:pt x="2412927" y="364048"/>
                  </a:lnTo>
                  <a:lnTo>
                    <a:pt x="2445863" y="394098"/>
                  </a:lnTo>
                  <a:lnTo>
                    <a:pt x="2477860" y="425133"/>
                  </a:lnTo>
                  <a:lnTo>
                    <a:pt x="2508895" y="457131"/>
                  </a:lnTo>
                  <a:lnTo>
                    <a:pt x="2538945" y="490066"/>
                  </a:lnTo>
                  <a:lnTo>
                    <a:pt x="2567985" y="523915"/>
                  </a:lnTo>
                  <a:lnTo>
                    <a:pt x="2595991" y="558655"/>
                  </a:lnTo>
                  <a:lnTo>
                    <a:pt x="2622939" y="594261"/>
                  </a:lnTo>
                  <a:lnTo>
                    <a:pt x="2648806" y="630710"/>
                  </a:lnTo>
                  <a:lnTo>
                    <a:pt x="2673567" y="667977"/>
                  </a:lnTo>
                  <a:lnTo>
                    <a:pt x="2697200" y="706039"/>
                  </a:lnTo>
                  <a:lnTo>
                    <a:pt x="2719679" y="744871"/>
                  </a:lnTo>
                  <a:lnTo>
                    <a:pt x="2740980" y="784450"/>
                  </a:lnTo>
                  <a:lnTo>
                    <a:pt x="2761081" y="824752"/>
                  </a:lnTo>
                  <a:lnTo>
                    <a:pt x="2779957" y="865753"/>
                  </a:lnTo>
                  <a:lnTo>
                    <a:pt x="2797584" y="907429"/>
                  </a:lnTo>
                  <a:lnTo>
                    <a:pt x="2813938" y="949757"/>
                  </a:lnTo>
                  <a:lnTo>
                    <a:pt x="2828996" y="992711"/>
                  </a:lnTo>
                  <a:lnTo>
                    <a:pt x="2842733" y="1036269"/>
                  </a:lnTo>
                  <a:lnTo>
                    <a:pt x="2855125" y="1080407"/>
                  </a:lnTo>
                  <a:lnTo>
                    <a:pt x="2866149" y="1125100"/>
                  </a:lnTo>
                  <a:lnTo>
                    <a:pt x="2875781" y="1170324"/>
                  </a:lnTo>
                  <a:lnTo>
                    <a:pt x="2883996" y="1216056"/>
                  </a:lnTo>
                  <a:lnTo>
                    <a:pt x="2890772" y="1262272"/>
                  </a:lnTo>
                  <a:lnTo>
                    <a:pt x="2896083" y="1308948"/>
                  </a:lnTo>
                  <a:lnTo>
                    <a:pt x="2899906" y="1356060"/>
                  </a:lnTo>
                  <a:lnTo>
                    <a:pt x="2902218" y="1403584"/>
                  </a:lnTo>
                  <a:lnTo>
                    <a:pt x="2902994" y="1451497"/>
                  </a:lnTo>
                  <a:lnTo>
                    <a:pt x="2902218" y="1499409"/>
                  </a:lnTo>
                  <a:lnTo>
                    <a:pt x="2899906" y="1546933"/>
                  </a:lnTo>
                  <a:lnTo>
                    <a:pt x="2896083" y="1594045"/>
                  </a:lnTo>
                  <a:lnTo>
                    <a:pt x="2890772" y="1640721"/>
                  </a:lnTo>
                  <a:lnTo>
                    <a:pt x="2883996" y="1686937"/>
                  </a:lnTo>
                  <a:lnTo>
                    <a:pt x="2875781" y="1732669"/>
                  </a:lnTo>
                  <a:lnTo>
                    <a:pt x="2866149" y="1777894"/>
                  </a:lnTo>
                  <a:lnTo>
                    <a:pt x="2855125" y="1822587"/>
                  </a:lnTo>
                  <a:lnTo>
                    <a:pt x="2842733" y="1866724"/>
                  </a:lnTo>
                  <a:lnTo>
                    <a:pt x="2828996" y="1910282"/>
                  </a:lnTo>
                  <a:lnTo>
                    <a:pt x="2813938" y="1953236"/>
                  </a:lnTo>
                  <a:lnTo>
                    <a:pt x="2797584" y="1995564"/>
                  </a:lnTo>
                  <a:lnTo>
                    <a:pt x="2779957" y="2037240"/>
                  </a:lnTo>
                  <a:lnTo>
                    <a:pt x="2761081" y="2078241"/>
                  </a:lnTo>
                  <a:lnTo>
                    <a:pt x="2740980" y="2118543"/>
                  </a:lnTo>
                  <a:lnTo>
                    <a:pt x="2719679" y="2158122"/>
                  </a:lnTo>
                  <a:lnTo>
                    <a:pt x="2697200" y="2196955"/>
                  </a:lnTo>
                  <a:lnTo>
                    <a:pt x="2673567" y="2235016"/>
                  </a:lnTo>
                  <a:lnTo>
                    <a:pt x="2648806" y="2272283"/>
                  </a:lnTo>
                  <a:lnTo>
                    <a:pt x="2622939" y="2308732"/>
                  </a:lnTo>
                  <a:lnTo>
                    <a:pt x="2595991" y="2344338"/>
                  </a:lnTo>
                  <a:lnTo>
                    <a:pt x="2567985" y="2379078"/>
                  </a:lnTo>
                  <a:lnTo>
                    <a:pt x="2538945" y="2412927"/>
                  </a:lnTo>
                  <a:lnTo>
                    <a:pt x="2508895" y="2445863"/>
                  </a:lnTo>
                  <a:lnTo>
                    <a:pt x="2477860" y="2477860"/>
                  </a:lnTo>
                  <a:lnTo>
                    <a:pt x="2445863" y="2508895"/>
                  </a:lnTo>
                  <a:lnTo>
                    <a:pt x="2412927" y="2538945"/>
                  </a:lnTo>
                  <a:lnTo>
                    <a:pt x="2379078" y="2567985"/>
                  </a:lnTo>
                  <a:lnTo>
                    <a:pt x="2344338" y="2595991"/>
                  </a:lnTo>
                  <a:lnTo>
                    <a:pt x="2308732" y="2622939"/>
                  </a:lnTo>
                  <a:lnTo>
                    <a:pt x="2272283" y="2648806"/>
                  </a:lnTo>
                  <a:lnTo>
                    <a:pt x="2235016" y="2673567"/>
                  </a:lnTo>
                  <a:lnTo>
                    <a:pt x="2196955" y="2697200"/>
                  </a:lnTo>
                  <a:lnTo>
                    <a:pt x="2158122" y="2719679"/>
                  </a:lnTo>
                  <a:lnTo>
                    <a:pt x="2118543" y="2740980"/>
                  </a:lnTo>
                  <a:lnTo>
                    <a:pt x="2078241" y="2761081"/>
                  </a:lnTo>
                  <a:lnTo>
                    <a:pt x="2037240" y="2779957"/>
                  </a:lnTo>
                  <a:lnTo>
                    <a:pt x="1995564" y="2797584"/>
                  </a:lnTo>
                  <a:lnTo>
                    <a:pt x="1953236" y="2813938"/>
                  </a:lnTo>
                  <a:lnTo>
                    <a:pt x="1910282" y="2828996"/>
                  </a:lnTo>
                  <a:lnTo>
                    <a:pt x="1866724" y="2842733"/>
                  </a:lnTo>
                  <a:lnTo>
                    <a:pt x="1822587" y="2855125"/>
                  </a:lnTo>
                  <a:lnTo>
                    <a:pt x="1777894" y="2866149"/>
                  </a:lnTo>
                  <a:lnTo>
                    <a:pt x="1732669" y="2875781"/>
                  </a:lnTo>
                  <a:lnTo>
                    <a:pt x="1686937" y="2883996"/>
                  </a:lnTo>
                  <a:lnTo>
                    <a:pt x="1640721" y="2890772"/>
                  </a:lnTo>
                  <a:lnTo>
                    <a:pt x="1594045" y="2896083"/>
                  </a:lnTo>
                  <a:lnTo>
                    <a:pt x="1546933" y="2899906"/>
                  </a:lnTo>
                  <a:lnTo>
                    <a:pt x="1499409" y="2902218"/>
                  </a:lnTo>
                  <a:lnTo>
                    <a:pt x="1451497" y="2902994"/>
                  </a:lnTo>
                  <a:lnTo>
                    <a:pt x="1403584" y="2902218"/>
                  </a:lnTo>
                  <a:lnTo>
                    <a:pt x="1356060" y="2899906"/>
                  </a:lnTo>
                  <a:lnTo>
                    <a:pt x="1308948" y="2896083"/>
                  </a:lnTo>
                  <a:lnTo>
                    <a:pt x="1262272" y="2890772"/>
                  </a:lnTo>
                  <a:lnTo>
                    <a:pt x="1216056" y="2883996"/>
                  </a:lnTo>
                  <a:lnTo>
                    <a:pt x="1170324" y="2875781"/>
                  </a:lnTo>
                  <a:lnTo>
                    <a:pt x="1125100" y="2866149"/>
                  </a:lnTo>
                  <a:lnTo>
                    <a:pt x="1080407" y="2855125"/>
                  </a:lnTo>
                  <a:lnTo>
                    <a:pt x="1036269" y="2842733"/>
                  </a:lnTo>
                  <a:lnTo>
                    <a:pt x="992711" y="2828996"/>
                  </a:lnTo>
                  <a:lnTo>
                    <a:pt x="949757" y="2813938"/>
                  </a:lnTo>
                  <a:lnTo>
                    <a:pt x="907429" y="2797584"/>
                  </a:lnTo>
                  <a:lnTo>
                    <a:pt x="865753" y="2779957"/>
                  </a:lnTo>
                  <a:lnTo>
                    <a:pt x="824752" y="2761081"/>
                  </a:lnTo>
                  <a:lnTo>
                    <a:pt x="784450" y="2740980"/>
                  </a:lnTo>
                  <a:lnTo>
                    <a:pt x="744871" y="2719679"/>
                  </a:lnTo>
                  <a:lnTo>
                    <a:pt x="706039" y="2697200"/>
                  </a:lnTo>
                  <a:lnTo>
                    <a:pt x="667977" y="2673567"/>
                  </a:lnTo>
                  <a:lnTo>
                    <a:pt x="630710" y="2648806"/>
                  </a:lnTo>
                  <a:lnTo>
                    <a:pt x="594261" y="2622939"/>
                  </a:lnTo>
                  <a:lnTo>
                    <a:pt x="558655" y="2595991"/>
                  </a:lnTo>
                  <a:lnTo>
                    <a:pt x="523915" y="2567985"/>
                  </a:lnTo>
                  <a:lnTo>
                    <a:pt x="490066" y="2538945"/>
                  </a:lnTo>
                  <a:lnTo>
                    <a:pt x="457131" y="2508895"/>
                  </a:lnTo>
                  <a:lnTo>
                    <a:pt x="425133" y="2477860"/>
                  </a:lnTo>
                  <a:lnTo>
                    <a:pt x="394098" y="2445863"/>
                  </a:lnTo>
                  <a:lnTo>
                    <a:pt x="364048" y="2412927"/>
                  </a:lnTo>
                  <a:lnTo>
                    <a:pt x="335009" y="2379078"/>
                  </a:lnTo>
                  <a:lnTo>
                    <a:pt x="307003" y="2344338"/>
                  </a:lnTo>
                  <a:lnTo>
                    <a:pt x="280054" y="2308732"/>
                  </a:lnTo>
                  <a:lnTo>
                    <a:pt x="254187" y="2272283"/>
                  </a:lnTo>
                  <a:lnTo>
                    <a:pt x="229426" y="2235016"/>
                  </a:lnTo>
                  <a:lnTo>
                    <a:pt x="205794" y="2196955"/>
                  </a:lnTo>
                  <a:lnTo>
                    <a:pt x="183315" y="2158122"/>
                  </a:lnTo>
                  <a:lnTo>
                    <a:pt x="162013" y="2118543"/>
                  </a:lnTo>
                  <a:lnTo>
                    <a:pt x="141912" y="2078241"/>
                  </a:lnTo>
                  <a:lnTo>
                    <a:pt x="123036" y="2037240"/>
                  </a:lnTo>
                  <a:lnTo>
                    <a:pt x="105409" y="1995564"/>
                  </a:lnTo>
                  <a:lnTo>
                    <a:pt x="89055" y="1953236"/>
                  </a:lnTo>
                  <a:lnTo>
                    <a:pt x="73998" y="1910282"/>
                  </a:lnTo>
                  <a:lnTo>
                    <a:pt x="60261" y="1866724"/>
                  </a:lnTo>
                  <a:lnTo>
                    <a:pt x="47868" y="1822587"/>
                  </a:lnTo>
                  <a:lnTo>
                    <a:pt x="36844" y="1777894"/>
                  </a:lnTo>
                  <a:lnTo>
                    <a:pt x="27213" y="1732669"/>
                  </a:lnTo>
                  <a:lnTo>
                    <a:pt x="18997" y="1686937"/>
                  </a:lnTo>
                  <a:lnTo>
                    <a:pt x="12222" y="1640721"/>
                  </a:lnTo>
                  <a:lnTo>
                    <a:pt x="6910" y="1594045"/>
                  </a:lnTo>
                  <a:lnTo>
                    <a:pt x="3087" y="1546933"/>
                  </a:lnTo>
                  <a:lnTo>
                    <a:pt x="775" y="1499409"/>
                  </a:lnTo>
                  <a:lnTo>
                    <a:pt x="0" y="1451497"/>
                  </a:lnTo>
                  <a:close/>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43" name="object 12"/>
            <p:cNvSpPr/>
            <p:nvPr/>
          </p:nvSpPr>
          <p:spPr>
            <a:xfrm>
              <a:off x="959421" y="2856668"/>
              <a:ext cx="2903220" cy="2903220"/>
            </a:xfrm>
            <a:custGeom>
              <a:avLst/>
              <a:gdLst/>
              <a:ahLst/>
              <a:cxnLst/>
              <a:rect l="l" t="t" r="r" b="b"/>
              <a:pathLst>
                <a:path w="2903220" h="2903220">
                  <a:moveTo>
                    <a:pt x="0" y="1451497"/>
                  </a:moveTo>
                  <a:lnTo>
                    <a:pt x="775" y="1403584"/>
                  </a:lnTo>
                  <a:lnTo>
                    <a:pt x="3087" y="1356060"/>
                  </a:lnTo>
                  <a:lnTo>
                    <a:pt x="6910" y="1308948"/>
                  </a:lnTo>
                  <a:lnTo>
                    <a:pt x="12222" y="1262272"/>
                  </a:lnTo>
                  <a:lnTo>
                    <a:pt x="18997" y="1216056"/>
                  </a:lnTo>
                  <a:lnTo>
                    <a:pt x="27213" y="1170324"/>
                  </a:lnTo>
                  <a:lnTo>
                    <a:pt x="36844" y="1125099"/>
                  </a:lnTo>
                  <a:lnTo>
                    <a:pt x="47868" y="1080407"/>
                  </a:lnTo>
                  <a:lnTo>
                    <a:pt x="60261" y="1036269"/>
                  </a:lnTo>
                  <a:lnTo>
                    <a:pt x="73998" y="992711"/>
                  </a:lnTo>
                  <a:lnTo>
                    <a:pt x="89055" y="949757"/>
                  </a:lnTo>
                  <a:lnTo>
                    <a:pt x="105409" y="907429"/>
                  </a:lnTo>
                  <a:lnTo>
                    <a:pt x="123036" y="865753"/>
                  </a:lnTo>
                  <a:lnTo>
                    <a:pt x="141912" y="824752"/>
                  </a:lnTo>
                  <a:lnTo>
                    <a:pt x="162013" y="784450"/>
                  </a:lnTo>
                  <a:lnTo>
                    <a:pt x="183315" y="744871"/>
                  </a:lnTo>
                  <a:lnTo>
                    <a:pt x="205794" y="706039"/>
                  </a:lnTo>
                  <a:lnTo>
                    <a:pt x="229426" y="667977"/>
                  </a:lnTo>
                  <a:lnTo>
                    <a:pt x="254187" y="630710"/>
                  </a:lnTo>
                  <a:lnTo>
                    <a:pt x="280054" y="594261"/>
                  </a:lnTo>
                  <a:lnTo>
                    <a:pt x="307003" y="558655"/>
                  </a:lnTo>
                  <a:lnTo>
                    <a:pt x="335009" y="523915"/>
                  </a:lnTo>
                  <a:lnTo>
                    <a:pt x="364048" y="490066"/>
                  </a:lnTo>
                  <a:lnTo>
                    <a:pt x="394098" y="457130"/>
                  </a:lnTo>
                  <a:lnTo>
                    <a:pt x="425133" y="425133"/>
                  </a:lnTo>
                  <a:lnTo>
                    <a:pt x="457131" y="394098"/>
                  </a:lnTo>
                  <a:lnTo>
                    <a:pt x="490066" y="364048"/>
                  </a:lnTo>
                  <a:lnTo>
                    <a:pt x="523915" y="335009"/>
                  </a:lnTo>
                  <a:lnTo>
                    <a:pt x="558655" y="307003"/>
                  </a:lnTo>
                  <a:lnTo>
                    <a:pt x="594261" y="280054"/>
                  </a:lnTo>
                  <a:lnTo>
                    <a:pt x="630710" y="254187"/>
                  </a:lnTo>
                  <a:lnTo>
                    <a:pt x="667977" y="229426"/>
                  </a:lnTo>
                  <a:lnTo>
                    <a:pt x="706039" y="205794"/>
                  </a:lnTo>
                  <a:lnTo>
                    <a:pt x="744871" y="183315"/>
                  </a:lnTo>
                  <a:lnTo>
                    <a:pt x="784450" y="162013"/>
                  </a:lnTo>
                  <a:lnTo>
                    <a:pt x="824752" y="141912"/>
                  </a:lnTo>
                  <a:lnTo>
                    <a:pt x="865753" y="123036"/>
                  </a:lnTo>
                  <a:lnTo>
                    <a:pt x="907429" y="105409"/>
                  </a:lnTo>
                  <a:lnTo>
                    <a:pt x="949757" y="89055"/>
                  </a:lnTo>
                  <a:lnTo>
                    <a:pt x="992711" y="73998"/>
                  </a:lnTo>
                  <a:lnTo>
                    <a:pt x="1036269" y="60261"/>
                  </a:lnTo>
                  <a:lnTo>
                    <a:pt x="1080407" y="47868"/>
                  </a:lnTo>
                  <a:lnTo>
                    <a:pt x="1125100" y="36844"/>
                  </a:lnTo>
                  <a:lnTo>
                    <a:pt x="1170324" y="27213"/>
                  </a:lnTo>
                  <a:lnTo>
                    <a:pt x="1216056" y="18997"/>
                  </a:lnTo>
                  <a:lnTo>
                    <a:pt x="1262272" y="12222"/>
                  </a:lnTo>
                  <a:lnTo>
                    <a:pt x="1308948" y="6910"/>
                  </a:lnTo>
                  <a:lnTo>
                    <a:pt x="1356060" y="3087"/>
                  </a:lnTo>
                  <a:lnTo>
                    <a:pt x="1403584" y="775"/>
                  </a:lnTo>
                  <a:lnTo>
                    <a:pt x="1451497" y="0"/>
                  </a:lnTo>
                  <a:lnTo>
                    <a:pt x="1499409" y="775"/>
                  </a:lnTo>
                  <a:lnTo>
                    <a:pt x="1546933" y="3087"/>
                  </a:lnTo>
                  <a:lnTo>
                    <a:pt x="1594045" y="6910"/>
                  </a:lnTo>
                  <a:lnTo>
                    <a:pt x="1640721" y="12222"/>
                  </a:lnTo>
                  <a:lnTo>
                    <a:pt x="1686937" y="18997"/>
                  </a:lnTo>
                  <a:lnTo>
                    <a:pt x="1732669" y="27213"/>
                  </a:lnTo>
                  <a:lnTo>
                    <a:pt x="1777894" y="36844"/>
                  </a:lnTo>
                  <a:lnTo>
                    <a:pt x="1822587" y="47868"/>
                  </a:lnTo>
                  <a:lnTo>
                    <a:pt x="1866724" y="60261"/>
                  </a:lnTo>
                  <a:lnTo>
                    <a:pt x="1910282" y="73998"/>
                  </a:lnTo>
                  <a:lnTo>
                    <a:pt x="1953236" y="89055"/>
                  </a:lnTo>
                  <a:lnTo>
                    <a:pt x="1995564" y="105409"/>
                  </a:lnTo>
                  <a:lnTo>
                    <a:pt x="2037240" y="123036"/>
                  </a:lnTo>
                  <a:lnTo>
                    <a:pt x="2078241" y="141912"/>
                  </a:lnTo>
                  <a:lnTo>
                    <a:pt x="2118543" y="162013"/>
                  </a:lnTo>
                  <a:lnTo>
                    <a:pt x="2158122" y="183315"/>
                  </a:lnTo>
                  <a:lnTo>
                    <a:pt x="2196955" y="205794"/>
                  </a:lnTo>
                  <a:lnTo>
                    <a:pt x="2235016" y="229426"/>
                  </a:lnTo>
                  <a:lnTo>
                    <a:pt x="2272283" y="254187"/>
                  </a:lnTo>
                  <a:lnTo>
                    <a:pt x="2308732" y="280054"/>
                  </a:lnTo>
                  <a:lnTo>
                    <a:pt x="2344338" y="307003"/>
                  </a:lnTo>
                  <a:lnTo>
                    <a:pt x="2379078" y="335009"/>
                  </a:lnTo>
                  <a:lnTo>
                    <a:pt x="2412927" y="364048"/>
                  </a:lnTo>
                  <a:lnTo>
                    <a:pt x="2445863" y="394098"/>
                  </a:lnTo>
                  <a:lnTo>
                    <a:pt x="2477860" y="425133"/>
                  </a:lnTo>
                  <a:lnTo>
                    <a:pt x="2508895" y="457130"/>
                  </a:lnTo>
                  <a:lnTo>
                    <a:pt x="2538945" y="490066"/>
                  </a:lnTo>
                  <a:lnTo>
                    <a:pt x="2567985" y="523915"/>
                  </a:lnTo>
                  <a:lnTo>
                    <a:pt x="2595991" y="558655"/>
                  </a:lnTo>
                  <a:lnTo>
                    <a:pt x="2622939" y="594261"/>
                  </a:lnTo>
                  <a:lnTo>
                    <a:pt x="2648806" y="630710"/>
                  </a:lnTo>
                  <a:lnTo>
                    <a:pt x="2673567" y="667977"/>
                  </a:lnTo>
                  <a:lnTo>
                    <a:pt x="2697200" y="706039"/>
                  </a:lnTo>
                  <a:lnTo>
                    <a:pt x="2719678" y="744871"/>
                  </a:lnTo>
                  <a:lnTo>
                    <a:pt x="2740980" y="784450"/>
                  </a:lnTo>
                  <a:lnTo>
                    <a:pt x="2761081" y="824752"/>
                  </a:lnTo>
                  <a:lnTo>
                    <a:pt x="2779957" y="865753"/>
                  </a:lnTo>
                  <a:lnTo>
                    <a:pt x="2797584" y="907429"/>
                  </a:lnTo>
                  <a:lnTo>
                    <a:pt x="2813938" y="949757"/>
                  </a:lnTo>
                  <a:lnTo>
                    <a:pt x="2828996" y="992711"/>
                  </a:lnTo>
                  <a:lnTo>
                    <a:pt x="2842732" y="1036269"/>
                  </a:lnTo>
                  <a:lnTo>
                    <a:pt x="2855125" y="1080407"/>
                  </a:lnTo>
                  <a:lnTo>
                    <a:pt x="2866149" y="1125099"/>
                  </a:lnTo>
                  <a:lnTo>
                    <a:pt x="2875781" y="1170324"/>
                  </a:lnTo>
                  <a:lnTo>
                    <a:pt x="2883996" y="1216056"/>
                  </a:lnTo>
                  <a:lnTo>
                    <a:pt x="2890772" y="1262272"/>
                  </a:lnTo>
                  <a:lnTo>
                    <a:pt x="2896083" y="1308948"/>
                  </a:lnTo>
                  <a:lnTo>
                    <a:pt x="2899906" y="1356060"/>
                  </a:lnTo>
                  <a:lnTo>
                    <a:pt x="2902218" y="1403584"/>
                  </a:lnTo>
                  <a:lnTo>
                    <a:pt x="2902994" y="1451497"/>
                  </a:lnTo>
                  <a:lnTo>
                    <a:pt x="2902218" y="1499409"/>
                  </a:lnTo>
                  <a:lnTo>
                    <a:pt x="2899906" y="1546933"/>
                  </a:lnTo>
                  <a:lnTo>
                    <a:pt x="2896083" y="1594045"/>
                  </a:lnTo>
                  <a:lnTo>
                    <a:pt x="2890772" y="1640721"/>
                  </a:lnTo>
                  <a:lnTo>
                    <a:pt x="2883996" y="1686937"/>
                  </a:lnTo>
                  <a:lnTo>
                    <a:pt x="2875781" y="1732669"/>
                  </a:lnTo>
                  <a:lnTo>
                    <a:pt x="2866149" y="1777894"/>
                  </a:lnTo>
                  <a:lnTo>
                    <a:pt x="2855125" y="1822587"/>
                  </a:lnTo>
                  <a:lnTo>
                    <a:pt x="2842732" y="1866724"/>
                  </a:lnTo>
                  <a:lnTo>
                    <a:pt x="2828996" y="1910282"/>
                  </a:lnTo>
                  <a:lnTo>
                    <a:pt x="2813938" y="1953237"/>
                  </a:lnTo>
                  <a:lnTo>
                    <a:pt x="2797584" y="1995564"/>
                  </a:lnTo>
                  <a:lnTo>
                    <a:pt x="2779957" y="2037240"/>
                  </a:lnTo>
                  <a:lnTo>
                    <a:pt x="2761081" y="2078241"/>
                  </a:lnTo>
                  <a:lnTo>
                    <a:pt x="2740980" y="2118543"/>
                  </a:lnTo>
                  <a:lnTo>
                    <a:pt x="2719678" y="2158122"/>
                  </a:lnTo>
                  <a:lnTo>
                    <a:pt x="2697200" y="2196955"/>
                  </a:lnTo>
                  <a:lnTo>
                    <a:pt x="2673567" y="2235017"/>
                  </a:lnTo>
                  <a:lnTo>
                    <a:pt x="2648806" y="2272284"/>
                  </a:lnTo>
                  <a:lnTo>
                    <a:pt x="2622939" y="2308732"/>
                  </a:lnTo>
                  <a:lnTo>
                    <a:pt x="2595991" y="2344338"/>
                  </a:lnTo>
                  <a:lnTo>
                    <a:pt x="2567985" y="2379078"/>
                  </a:lnTo>
                  <a:lnTo>
                    <a:pt x="2538945" y="2412928"/>
                  </a:lnTo>
                  <a:lnTo>
                    <a:pt x="2508895" y="2445863"/>
                  </a:lnTo>
                  <a:lnTo>
                    <a:pt x="2477860" y="2477860"/>
                  </a:lnTo>
                  <a:lnTo>
                    <a:pt x="2445863" y="2508896"/>
                  </a:lnTo>
                  <a:lnTo>
                    <a:pt x="2412927" y="2538945"/>
                  </a:lnTo>
                  <a:lnTo>
                    <a:pt x="2379078" y="2567985"/>
                  </a:lnTo>
                  <a:lnTo>
                    <a:pt x="2344338" y="2595991"/>
                  </a:lnTo>
                  <a:lnTo>
                    <a:pt x="2308732" y="2622939"/>
                  </a:lnTo>
                  <a:lnTo>
                    <a:pt x="2272283" y="2648806"/>
                  </a:lnTo>
                  <a:lnTo>
                    <a:pt x="2235016" y="2673567"/>
                  </a:lnTo>
                  <a:lnTo>
                    <a:pt x="2196955" y="2697200"/>
                  </a:lnTo>
                  <a:lnTo>
                    <a:pt x="2158122" y="2719679"/>
                  </a:lnTo>
                  <a:lnTo>
                    <a:pt x="2118543" y="2740980"/>
                  </a:lnTo>
                  <a:lnTo>
                    <a:pt x="2078241" y="2761081"/>
                  </a:lnTo>
                  <a:lnTo>
                    <a:pt x="2037240" y="2779957"/>
                  </a:lnTo>
                  <a:lnTo>
                    <a:pt x="1995564" y="2797584"/>
                  </a:lnTo>
                  <a:lnTo>
                    <a:pt x="1953236" y="2813938"/>
                  </a:lnTo>
                  <a:lnTo>
                    <a:pt x="1910282" y="2828995"/>
                  </a:lnTo>
                  <a:lnTo>
                    <a:pt x="1866724" y="2842732"/>
                  </a:lnTo>
                  <a:lnTo>
                    <a:pt x="1822587" y="2855125"/>
                  </a:lnTo>
                  <a:lnTo>
                    <a:pt x="1777894" y="2866149"/>
                  </a:lnTo>
                  <a:lnTo>
                    <a:pt x="1732669" y="2875781"/>
                  </a:lnTo>
                  <a:lnTo>
                    <a:pt x="1686937" y="2883996"/>
                  </a:lnTo>
                  <a:lnTo>
                    <a:pt x="1640721" y="2890771"/>
                  </a:lnTo>
                  <a:lnTo>
                    <a:pt x="1594045" y="2896083"/>
                  </a:lnTo>
                  <a:lnTo>
                    <a:pt x="1546933" y="2899906"/>
                  </a:lnTo>
                  <a:lnTo>
                    <a:pt x="1499409" y="2902218"/>
                  </a:lnTo>
                  <a:lnTo>
                    <a:pt x="1451497" y="2902994"/>
                  </a:lnTo>
                  <a:lnTo>
                    <a:pt x="1403584" y="2902218"/>
                  </a:lnTo>
                  <a:lnTo>
                    <a:pt x="1356060" y="2899906"/>
                  </a:lnTo>
                  <a:lnTo>
                    <a:pt x="1308948" y="2896083"/>
                  </a:lnTo>
                  <a:lnTo>
                    <a:pt x="1262272" y="2890771"/>
                  </a:lnTo>
                  <a:lnTo>
                    <a:pt x="1216056" y="2883996"/>
                  </a:lnTo>
                  <a:lnTo>
                    <a:pt x="1170324" y="2875781"/>
                  </a:lnTo>
                  <a:lnTo>
                    <a:pt x="1125100" y="2866149"/>
                  </a:lnTo>
                  <a:lnTo>
                    <a:pt x="1080407" y="2855125"/>
                  </a:lnTo>
                  <a:lnTo>
                    <a:pt x="1036269" y="2842732"/>
                  </a:lnTo>
                  <a:lnTo>
                    <a:pt x="992711" y="2828995"/>
                  </a:lnTo>
                  <a:lnTo>
                    <a:pt x="949757" y="2813938"/>
                  </a:lnTo>
                  <a:lnTo>
                    <a:pt x="907429" y="2797584"/>
                  </a:lnTo>
                  <a:lnTo>
                    <a:pt x="865753" y="2779957"/>
                  </a:lnTo>
                  <a:lnTo>
                    <a:pt x="824752" y="2761081"/>
                  </a:lnTo>
                  <a:lnTo>
                    <a:pt x="784450" y="2740980"/>
                  </a:lnTo>
                  <a:lnTo>
                    <a:pt x="744871" y="2719679"/>
                  </a:lnTo>
                  <a:lnTo>
                    <a:pt x="706039" y="2697200"/>
                  </a:lnTo>
                  <a:lnTo>
                    <a:pt x="667977" y="2673567"/>
                  </a:lnTo>
                  <a:lnTo>
                    <a:pt x="630710" y="2648806"/>
                  </a:lnTo>
                  <a:lnTo>
                    <a:pt x="594261" y="2622939"/>
                  </a:lnTo>
                  <a:lnTo>
                    <a:pt x="558655" y="2595991"/>
                  </a:lnTo>
                  <a:lnTo>
                    <a:pt x="523915" y="2567985"/>
                  </a:lnTo>
                  <a:lnTo>
                    <a:pt x="490066" y="2538945"/>
                  </a:lnTo>
                  <a:lnTo>
                    <a:pt x="457131" y="2508896"/>
                  </a:lnTo>
                  <a:lnTo>
                    <a:pt x="425133" y="2477860"/>
                  </a:lnTo>
                  <a:lnTo>
                    <a:pt x="394098" y="2445863"/>
                  </a:lnTo>
                  <a:lnTo>
                    <a:pt x="364048" y="2412928"/>
                  </a:lnTo>
                  <a:lnTo>
                    <a:pt x="335009" y="2379078"/>
                  </a:lnTo>
                  <a:lnTo>
                    <a:pt x="307003" y="2344338"/>
                  </a:lnTo>
                  <a:lnTo>
                    <a:pt x="280054" y="2308732"/>
                  </a:lnTo>
                  <a:lnTo>
                    <a:pt x="254187" y="2272284"/>
                  </a:lnTo>
                  <a:lnTo>
                    <a:pt x="229426" y="2235017"/>
                  </a:lnTo>
                  <a:lnTo>
                    <a:pt x="205794" y="2196955"/>
                  </a:lnTo>
                  <a:lnTo>
                    <a:pt x="183315" y="2158122"/>
                  </a:lnTo>
                  <a:lnTo>
                    <a:pt x="162013" y="2118543"/>
                  </a:lnTo>
                  <a:lnTo>
                    <a:pt x="141912" y="2078241"/>
                  </a:lnTo>
                  <a:lnTo>
                    <a:pt x="123036" y="2037240"/>
                  </a:lnTo>
                  <a:lnTo>
                    <a:pt x="105409" y="1995564"/>
                  </a:lnTo>
                  <a:lnTo>
                    <a:pt x="89055" y="1953237"/>
                  </a:lnTo>
                  <a:lnTo>
                    <a:pt x="73998" y="1910282"/>
                  </a:lnTo>
                  <a:lnTo>
                    <a:pt x="60261" y="1866724"/>
                  </a:lnTo>
                  <a:lnTo>
                    <a:pt x="47868" y="1822587"/>
                  </a:lnTo>
                  <a:lnTo>
                    <a:pt x="36844" y="1777894"/>
                  </a:lnTo>
                  <a:lnTo>
                    <a:pt x="27213" y="1732669"/>
                  </a:lnTo>
                  <a:lnTo>
                    <a:pt x="18997" y="1686937"/>
                  </a:lnTo>
                  <a:lnTo>
                    <a:pt x="12222" y="1640721"/>
                  </a:lnTo>
                  <a:lnTo>
                    <a:pt x="6910" y="1594045"/>
                  </a:lnTo>
                  <a:lnTo>
                    <a:pt x="3087" y="1546933"/>
                  </a:lnTo>
                  <a:lnTo>
                    <a:pt x="775" y="1499409"/>
                  </a:lnTo>
                  <a:lnTo>
                    <a:pt x="0" y="1451497"/>
                  </a:lnTo>
                  <a:close/>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44" name="object 13"/>
            <p:cNvSpPr/>
            <p:nvPr/>
          </p:nvSpPr>
          <p:spPr>
            <a:xfrm>
              <a:off x="2983670" y="4676318"/>
              <a:ext cx="464935" cy="381392"/>
            </a:xfrm>
            <a:prstGeom prst="rect">
              <a:avLst/>
            </a:prstGeom>
            <a:blipFill>
              <a:blip r:embed="rId10"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45" name="object 14"/>
            <p:cNvSpPr/>
            <p:nvPr/>
          </p:nvSpPr>
          <p:spPr>
            <a:xfrm>
              <a:off x="2276599" y="5127236"/>
              <a:ext cx="464935" cy="381392"/>
            </a:xfrm>
            <a:prstGeom prst="rect">
              <a:avLst/>
            </a:prstGeom>
            <a:blipFill>
              <a:blip r:embed="rId10"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46" name="object 15"/>
            <p:cNvSpPr/>
            <p:nvPr/>
          </p:nvSpPr>
          <p:spPr>
            <a:xfrm>
              <a:off x="1460963" y="4872449"/>
              <a:ext cx="464935" cy="381392"/>
            </a:xfrm>
            <a:prstGeom prst="rect">
              <a:avLst/>
            </a:prstGeom>
            <a:blipFill>
              <a:blip r:embed="rId10"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47" name="object 16"/>
            <p:cNvSpPr/>
            <p:nvPr/>
          </p:nvSpPr>
          <p:spPr>
            <a:xfrm>
              <a:off x="2443624" y="4023398"/>
              <a:ext cx="455297" cy="373486"/>
            </a:xfrm>
            <a:prstGeom prst="rect">
              <a:avLst/>
            </a:prstGeom>
            <a:blipFill>
              <a:blip r:embed="rId10"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48" name="object 17"/>
            <p:cNvSpPr/>
            <p:nvPr/>
          </p:nvSpPr>
          <p:spPr>
            <a:xfrm>
              <a:off x="1810053" y="4105959"/>
              <a:ext cx="455297" cy="373486"/>
            </a:xfrm>
            <a:prstGeom prst="rect">
              <a:avLst/>
            </a:prstGeom>
            <a:blipFill>
              <a:blip r:embed="rId10"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49" name="object 18"/>
            <p:cNvSpPr/>
            <p:nvPr/>
          </p:nvSpPr>
          <p:spPr>
            <a:xfrm>
              <a:off x="1492426" y="3682956"/>
              <a:ext cx="455297" cy="373486"/>
            </a:xfrm>
            <a:prstGeom prst="rect">
              <a:avLst/>
            </a:prstGeom>
            <a:blipFill>
              <a:blip r:embed="rId10"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0" name="object 19"/>
            <p:cNvSpPr/>
            <p:nvPr/>
          </p:nvSpPr>
          <p:spPr>
            <a:xfrm>
              <a:off x="2059451" y="3344214"/>
              <a:ext cx="455297" cy="373486"/>
            </a:xfrm>
            <a:prstGeom prst="rect">
              <a:avLst/>
            </a:prstGeom>
            <a:blipFill>
              <a:blip r:embed="rId10"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1" name="object 20"/>
            <p:cNvSpPr/>
            <p:nvPr/>
          </p:nvSpPr>
          <p:spPr>
            <a:xfrm>
              <a:off x="2647539" y="3384645"/>
              <a:ext cx="455297" cy="373486"/>
            </a:xfrm>
            <a:prstGeom prst="rect">
              <a:avLst/>
            </a:prstGeom>
            <a:blipFill>
              <a:blip r:embed="rId10"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2" name="object 21"/>
            <p:cNvSpPr/>
            <p:nvPr/>
          </p:nvSpPr>
          <p:spPr>
            <a:xfrm>
              <a:off x="1211329" y="3113361"/>
              <a:ext cx="2208530" cy="1714500"/>
            </a:xfrm>
            <a:custGeom>
              <a:avLst/>
              <a:gdLst/>
              <a:ahLst/>
              <a:cxnLst/>
              <a:rect l="l" t="t" r="r" b="b"/>
              <a:pathLst>
                <a:path w="2208529" h="1714500">
                  <a:moveTo>
                    <a:pt x="200545" y="564161"/>
                  </a:moveTo>
                  <a:lnTo>
                    <a:pt x="197358" y="514690"/>
                  </a:lnTo>
                  <a:lnTo>
                    <a:pt x="200395" y="466364"/>
                  </a:lnTo>
                  <a:lnTo>
                    <a:pt x="209305" y="419674"/>
                  </a:lnTo>
                  <a:lnTo>
                    <a:pt x="223737" y="375109"/>
                  </a:lnTo>
                  <a:lnTo>
                    <a:pt x="243338" y="333156"/>
                  </a:lnTo>
                  <a:lnTo>
                    <a:pt x="267757" y="294306"/>
                  </a:lnTo>
                  <a:lnTo>
                    <a:pt x="296642" y="259048"/>
                  </a:lnTo>
                  <a:lnTo>
                    <a:pt x="329642" y="227870"/>
                  </a:lnTo>
                  <a:lnTo>
                    <a:pt x="366404" y="201261"/>
                  </a:lnTo>
                  <a:lnTo>
                    <a:pt x="406577" y="179711"/>
                  </a:lnTo>
                  <a:lnTo>
                    <a:pt x="449810" y="163708"/>
                  </a:lnTo>
                  <a:lnTo>
                    <a:pt x="495750" y="153742"/>
                  </a:lnTo>
                  <a:lnTo>
                    <a:pt x="541683" y="150415"/>
                  </a:lnTo>
                  <a:lnTo>
                    <a:pt x="587326" y="153546"/>
                  </a:lnTo>
                  <a:lnTo>
                    <a:pt x="632082" y="163011"/>
                  </a:lnTo>
                  <a:lnTo>
                    <a:pt x="675353" y="178682"/>
                  </a:lnTo>
                  <a:lnTo>
                    <a:pt x="716543" y="200432"/>
                  </a:lnTo>
                  <a:lnTo>
                    <a:pt x="740412" y="160902"/>
                  </a:lnTo>
                  <a:lnTo>
                    <a:pt x="769181" y="126848"/>
                  </a:lnTo>
                  <a:lnTo>
                    <a:pt x="802094" y="98516"/>
                  </a:lnTo>
                  <a:lnTo>
                    <a:pt x="838390" y="76153"/>
                  </a:lnTo>
                  <a:lnTo>
                    <a:pt x="877313" y="60003"/>
                  </a:lnTo>
                  <a:lnTo>
                    <a:pt x="918104" y="50313"/>
                  </a:lnTo>
                  <a:lnTo>
                    <a:pt x="960005" y="47328"/>
                  </a:lnTo>
                  <a:lnTo>
                    <a:pt x="1002258" y="51294"/>
                  </a:lnTo>
                  <a:lnTo>
                    <a:pt x="1044104" y="62457"/>
                  </a:lnTo>
                  <a:lnTo>
                    <a:pt x="1084785" y="81063"/>
                  </a:lnTo>
                  <a:lnTo>
                    <a:pt x="1118109" y="103210"/>
                  </a:lnTo>
                  <a:lnTo>
                    <a:pt x="1148069" y="130211"/>
                  </a:lnTo>
                  <a:lnTo>
                    <a:pt x="1172172" y="89814"/>
                  </a:lnTo>
                  <a:lnTo>
                    <a:pt x="1202470" y="56330"/>
                  </a:lnTo>
                  <a:lnTo>
                    <a:pt x="1237760" y="30186"/>
                  </a:lnTo>
                  <a:lnTo>
                    <a:pt x="1276839" y="11806"/>
                  </a:lnTo>
                  <a:lnTo>
                    <a:pt x="1318507" y="1615"/>
                  </a:lnTo>
                  <a:lnTo>
                    <a:pt x="1361560" y="40"/>
                  </a:lnTo>
                  <a:lnTo>
                    <a:pt x="1404796" y="7504"/>
                  </a:lnTo>
                  <a:lnTo>
                    <a:pt x="1447014" y="24435"/>
                  </a:lnTo>
                  <a:lnTo>
                    <a:pt x="1489571" y="53738"/>
                  </a:lnTo>
                  <a:lnTo>
                    <a:pt x="1524757" y="92472"/>
                  </a:lnTo>
                  <a:lnTo>
                    <a:pt x="1556631" y="59321"/>
                  </a:lnTo>
                  <a:lnTo>
                    <a:pt x="1592549" y="33412"/>
                  </a:lnTo>
                  <a:lnTo>
                    <a:pt x="1631526" y="14831"/>
                  </a:lnTo>
                  <a:lnTo>
                    <a:pt x="1672573" y="3665"/>
                  </a:lnTo>
                  <a:lnTo>
                    <a:pt x="1714703" y="0"/>
                  </a:lnTo>
                  <a:lnTo>
                    <a:pt x="1756930" y="3920"/>
                  </a:lnTo>
                  <a:lnTo>
                    <a:pt x="1798265" y="15513"/>
                  </a:lnTo>
                  <a:lnTo>
                    <a:pt x="1837722" y="34864"/>
                  </a:lnTo>
                  <a:lnTo>
                    <a:pt x="1874313" y="62059"/>
                  </a:lnTo>
                  <a:lnTo>
                    <a:pt x="1904486" y="94160"/>
                  </a:lnTo>
                  <a:lnTo>
                    <a:pt x="1928814" y="130975"/>
                  </a:lnTo>
                  <a:lnTo>
                    <a:pt x="1946822" y="171635"/>
                  </a:lnTo>
                  <a:lnTo>
                    <a:pt x="1958033" y="215268"/>
                  </a:lnTo>
                  <a:lnTo>
                    <a:pt x="1999716" y="231209"/>
                  </a:lnTo>
                  <a:lnTo>
                    <a:pt x="2037436" y="253423"/>
                  </a:lnTo>
                  <a:lnTo>
                    <a:pt x="2070797" y="281183"/>
                  </a:lnTo>
                  <a:lnTo>
                    <a:pt x="2099407" y="313757"/>
                  </a:lnTo>
                  <a:lnTo>
                    <a:pt x="2122872" y="350418"/>
                  </a:lnTo>
                  <a:lnTo>
                    <a:pt x="2140798" y="390436"/>
                  </a:lnTo>
                  <a:lnTo>
                    <a:pt x="2152791" y="433081"/>
                  </a:lnTo>
                  <a:lnTo>
                    <a:pt x="2158459" y="477625"/>
                  </a:lnTo>
                  <a:lnTo>
                    <a:pt x="2157406" y="523337"/>
                  </a:lnTo>
                  <a:lnTo>
                    <a:pt x="2149240" y="569490"/>
                  </a:lnTo>
                  <a:lnTo>
                    <a:pt x="2136769" y="607395"/>
                  </a:lnTo>
                  <a:lnTo>
                    <a:pt x="2162859" y="648794"/>
                  </a:lnTo>
                  <a:lnTo>
                    <a:pt x="2182988" y="692475"/>
                  </a:lnTo>
                  <a:lnTo>
                    <a:pt x="2197233" y="737826"/>
                  </a:lnTo>
                  <a:lnTo>
                    <a:pt x="2205669" y="784236"/>
                  </a:lnTo>
                  <a:lnTo>
                    <a:pt x="2208371" y="831094"/>
                  </a:lnTo>
                  <a:lnTo>
                    <a:pt x="2205417" y="877789"/>
                  </a:lnTo>
                  <a:lnTo>
                    <a:pt x="2196881" y="923710"/>
                  </a:lnTo>
                  <a:lnTo>
                    <a:pt x="2182839" y="968246"/>
                  </a:lnTo>
                  <a:lnTo>
                    <a:pt x="2163368" y="1010785"/>
                  </a:lnTo>
                  <a:lnTo>
                    <a:pt x="2138542" y="1050716"/>
                  </a:lnTo>
                  <a:lnTo>
                    <a:pt x="2108439" y="1087429"/>
                  </a:lnTo>
                  <a:lnTo>
                    <a:pt x="2073133" y="1120312"/>
                  </a:lnTo>
                  <a:lnTo>
                    <a:pt x="2036238" y="1146473"/>
                  </a:lnTo>
                  <a:lnTo>
                    <a:pt x="1996644" y="1167344"/>
                  </a:lnTo>
                  <a:lnTo>
                    <a:pt x="1954855" y="1182702"/>
                  </a:lnTo>
                  <a:lnTo>
                    <a:pt x="1911374" y="1192321"/>
                  </a:lnTo>
                  <a:lnTo>
                    <a:pt x="1907124" y="1242914"/>
                  </a:lnTo>
                  <a:lnTo>
                    <a:pt x="1895566" y="1290843"/>
                  </a:lnTo>
                  <a:lnTo>
                    <a:pt x="1877315" y="1335473"/>
                  </a:lnTo>
                  <a:lnTo>
                    <a:pt x="1852982" y="1376164"/>
                  </a:lnTo>
                  <a:lnTo>
                    <a:pt x="1823181" y="1412280"/>
                  </a:lnTo>
                  <a:lnTo>
                    <a:pt x="1788526" y="1443184"/>
                  </a:lnTo>
                  <a:lnTo>
                    <a:pt x="1749628" y="1468237"/>
                  </a:lnTo>
                  <a:lnTo>
                    <a:pt x="1707102" y="1486803"/>
                  </a:lnTo>
                  <a:lnTo>
                    <a:pt x="1661560" y="1498244"/>
                  </a:lnTo>
                  <a:lnTo>
                    <a:pt x="1613615" y="1501923"/>
                  </a:lnTo>
                  <a:lnTo>
                    <a:pt x="1573051" y="1498619"/>
                  </a:lnTo>
                  <a:lnTo>
                    <a:pt x="1533484" y="1489514"/>
                  </a:lnTo>
                  <a:lnTo>
                    <a:pt x="1495467" y="1474776"/>
                  </a:lnTo>
                  <a:lnTo>
                    <a:pt x="1459553" y="1454576"/>
                  </a:lnTo>
                  <a:lnTo>
                    <a:pt x="1442983" y="1501090"/>
                  </a:lnTo>
                  <a:lnTo>
                    <a:pt x="1421205" y="1543812"/>
                  </a:lnTo>
                  <a:lnTo>
                    <a:pt x="1394731" y="1582451"/>
                  </a:lnTo>
                  <a:lnTo>
                    <a:pt x="1364073" y="1616718"/>
                  </a:lnTo>
                  <a:lnTo>
                    <a:pt x="1329744" y="1646320"/>
                  </a:lnTo>
                  <a:lnTo>
                    <a:pt x="1292255" y="1670969"/>
                  </a:lnTo>
                  <a:lnTo>
                    <a:pt x="1252119" y="1690372"/>
                  </a:lnTo>
                  <a:lnTo>
                    <a:pt x="1209848" y="1704240"/>
                  </a:lnTo>
                  <a:lnTo>
                    <a:pt x="1165955" y="1712281"/>
                  </a:lnTo>
                  <a:lnTo>
                    <a:pt x="1120950" y="1714206"/>
                  </a:lnTo>
                  <a:lnTo>
                    <a:pt x="1075348" y="1709722"/>
                  </a:lnTo>
                  <a:lnTo>
                    <a:pt x="1029659" y="1698540"/>
                  </a:lnTo>
                  <a:lnTo>
                    <a:pt x="985169" y="1680618"/>
                  </a:lnTo>
                  <a:lnTo>
                    <a:pt x="943712" y="1656560"/>
                  </a:lnTo>
                  <a:lnTo>
                    <a:pt x="905828" y="1626790"/>
                  </a:lnTo>
                  <a:lnTo>
                    <a:pt x="872058" y="1591732"/>
                  </a:lnTo>
                  <a:lnTo>
                    <a:pt x="842941" y="1551813"/>
                  </a:lnTo>
                  <a:lnTo>
                    <a:pt x="802173" y="1574533"/>
                  </a:lnTo>
                  <a:lnTo>
                    <a:pt x="760109" y="1591757"/>
                  </a:lnTo>
                  <a:lnTo>
                    <a:pt x="717154" y="1603592"/>
                  </a:lnTo>
                  <a:lnTo>
                    <a:pt x="673715" y="1610146"/>
                  </a:lnTo>
                  <a:lnTo>
                    <a:pt x="630198" y="1611526"/>
                  </a:lnTo>
                  <a:lnTo>
                    <a:pt x="587008" y="1607839"/>
                  </a:lnTo>
                  <a:lnTo>
                    <a:pt x="544552" y="1599193"/>
                  </a:lnTo>
                  <a:lnTo>
                    <a:pt x="503234" y="1585694"/>
                  </a:lnTo>
                  <a:lnTo>
                    <a:pt x="463462" y="1567451"/>
                  </a:lnTo>
                  <a:lnTo>
                    <a:pt x="425641" y="1544570"/>
                  </a:lnTo>
                  <a:lnTo>
                    <a:pt x="390177" y="1517159"/>
                  </a:lnTo>
                  <a:lnTo>
                    <a:pt x="357475" y="1485324"/>
                  </a:lnTo>
                  <a:lnTo>
                    <a:pt x="327942" y="1449174"/>
                  </a:lnTo>
                  <a:lnTo>
                    <a:pt x="301984" y="1408816"/>
                  </a:lnTo>
                  <a:lnTo>
                    <a:pt x="297817" y="1401283"/>
                  </a:lnTo>
                  <a:lnTo>
                    <a:pt x="252727" y="1402062"/>
                  </a:lnTo>
                  <a:lnTo>
                    <a:pt x="209709" y="1393612"/>
                  </a:lnTo>
                  <a:lnTo>
                    <a:pt x="169757" y="1376761"/>
                  </a:lnTo>
                  <a:lnTo>
                    <a:pt x="133863" y="1352337"/>
                  </a:lnTo>
                  <a:lnTo>
                    <a:pt x="103022" y="1321167"/>
                  </a:lnTo>
                  <a:lnTo>
                    <a:pt x="78227" y="1284080"/>
                  </a:lnTo>
                  <a:lnTo>
                    <a:pt x="60471" y="1241903"/>
                  </a:lnTo>
                  <a:lnTo>
                    <a:pt x="50748" y="1195463"/>
                  </a:lnTo>
                  <a:lnTo>
                    <a:pt x="50380" y="1144253"/>
                  </a:lnTo>
                  <a:lnTo>
                    <a:pt x="60376" y="1094736"/>
                  </a:lnTo>
                  <a:lnTo>
                    <a:pt x="80203" y="1048628"/>
                  </a:lnTo>
                  <a:lnTo>
                    <a:pt x="109324" y="1007647"/>
                  </a:lnTo>
                  <a:lnTo>
                    <a:pt x="73017" y="979491"/>
                  </a:lnTo>
                  <a:lnTo>
                    <a:pt x="43612" y="945258"/>
                  </a:lnTo>
                  <a:lnTo>
                    <a:pt x="21428" y="906246"/>
                  </a:lnTo>
                  <a:lnTo>
                    <a:pt x="6784" y="863754"/>
                  </a:lnTo>
                  <a:lnTo>
                    <a:pt x="0" y="819077"/>
                  </a:lnTo>
                  <a:lnTo>
                    <a:pt x="1393" y="773516"/>
                  </a:lnTo>
                  <a:lnTo>
                    <a:pt x="11283" y="728366"/>
                  </a:lnTo>
                  <a:lnTo>
                    <a:pt x="29989" y="684926"/>
                  </a:lnTo>
                  <a:lnTo>
                    <a:pt x="61531" y="640616"/>
                  </a:lnTo>
                  <a:lnTo>
                    <a:pt x="101365" y="605785"/>
                  </a:lnTo>
                  <a:lnTo>
                    <a:pt x="147686" y="581667"/>
                  </a:lnTo>
                  <a:lnTo>
                    <a:pt x="198687" y="569500"/>
                  </a:lnTo>
                  <a:lnTo>
                    <a:pt x="200545" y="564161"/>
                  </a:lnTo>
                  <a:close/>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3" name="object 22"/>
            <p:cNvSpPr/>
            <p:nvPr/>
          </p:nvSpPr>
          <p:spPr>
            <a:xfrm>
              <a:off x="1323019" y="4114334"/>
              <a:ext cx="129539" cy="31750"/>
            </a:xfrm>
            <a:custGeom>
              <a:avLst/>
              <a:gdLst/>
              <a:ahLst/>
              <a:cxnLst/>
              <a:rect l="l" t="t" r="r" b="b"/>
              <a:pathLst>
                <a:path w="129540" h="31750">
                  <a:moveTo>
                    <a:pt x="129348" y="31619"/>
                  </a:moveTo>
                  <a:lnTo>
                    <a:pt x="95587" y="31676"/>
                  </a:lnTo>
                  <a:lnTo>
                    <a:pt x="62397" y="26333"/>
                  </a:lnTo>
                  <a:lnTo>
                    <a:pt x="30345" y="15727"/>
                  </a:lnTo>
                  <a:lnTo>
                    <a:pt x="0" y="0"/>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4" name="object 23"/>
            <p:cNvSpPr/>
            <p:nvPr/>
          </p:nvSpPr>
          <p:spPr>
            <a:xfrm>
              <a:off x="1509900" y="4491990"/>
              <a:ext cx="57150" cy="15240"/>
            </a:xfrm>
            <a:custGeom>
              <a:avLst/>
              <a:gdLst/>
              <a:ahLst/>
              <a:cxnLst/>
              <a:rect l="l" t="t" r="r" b="b"/>
              <a:pathLst>
                <a:path w="57150" h="15239">
                  <a:moveTo>
                    <a:pt x="56592" y="0"/>
                  </a:moveTo>
                  <a:lnTo>
                    <a:pt x="42821" y="5251"/>
                  </a:lnTo>
                  <a:lnTo>
                    <a:pt x="28768" y="9532"/>
                  </a:lnTo>
                  <a:lnTo>
                    <a:pt x="14479" y="12830"/>
                  </a:lnTo>
                  <a:lnTo>
                    <a:pt x="0" y="15134"/>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5" name="object 24"/>
            <p:cNvSpPr/>
            <p:nvPr/>
          </p:nvSpPr>
          <p:spPr>
            <a:xfrm>
              <a:off x="2020045" y="4589230"/>
              <a:ext cx="34290" cy="69215"/>
            </a:xfrm>
            <a:custGeom>
              <a:avLst/>
              <a:gdLst/>
              <a:ahLst/>
              <a:cxnLst/>
              <a:rect l="l" t="t" r="r" b="b"/>
              <a:pathLst>
                <a:path w="34289" h="69214">
                  <a:moveTo>
                    <a:pt x="34098" y="69034"/>
                  </a:moveTo>
                  <a:lnTo>
                    <a:pt x="24278" y="52518"/>
                  </a:lnTo>
                  <a:lnTo>
                    <a:pt x="15309" y="35483"/>
                  </a:lnTo>
                  <a:lnTo>
                    <a:pt x="7210" y="17965"/>
                  </a:lnTo>
                  <a:lnTo>
                    <a:pt x="0" y="0"/>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6" name="object 25"/>
            <p:cNvSpPr/>
            <p:nvPr/>
          </p:nvSpPr>
          <p:spPr>
            <a:xfrm>
              <a:off x="2671104" y="4486119"/>
              <a:ext cx="13970" cy="76200"/>
            </a:xfrm>
            <a:custGeom>
              <a:avLst/>
              <a:gdLst/>
              <a:ahLst/>
              <a:cxnLst/>
              <a:rect l="l" t="t" r="r" b="b"/>
              <a:pathLst>
                <a:path w="13969" h="76200">
                  <a:moveTo>
                    <a:pt x="13616" y="0"/>
                  </a:moveTo>
                  <a:lnTo>
                    <a:pt x="11632" y="19203"/>
                  </a:lnTo>
                  <a:lnTo>
                    <a:pt x="8697" y="38256"/>
                  </a:lnTo>
                  <a:lnTo>
                    <a:pt x="4817" y="57117"/>
                  </a:lnTo>
                  <a:lnTo>
                    <a:pt x="0" y="75748"/>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7" name="object 26"/>
            <p:cNvSpPr/>
            <p:nvPr/>
          </p:nvSpPr>
          <p:spPr>
            <a:xfrm>
              <a:off x="2955456" y="4018084"/>
              <a:ext cx="166370" cy="283210"/>
            </a:xfrm>
            <a:custGeom>
              <a:avLst/>
              <a:gdLst/>
              <a:ahLst/>
              <a:cxnLst/>
              <a:rect l="l" t="t" r="r" b="b"/>
              <a:pathLst>
                <a:path w="166369" h="283210">
                  <a:moveTo>
                    <a:pt x="0" y="0"/>
                  </a:moveTo>
                  <a:lnTo>
                    <a:pt x="41471" y="25956"/>
                  </a:lnTo>
                  <a:lnTo>
                    <a:pt x="77834" y="58120"/>
                  </a:lnTo>
                  <a:lnTo>
                    <a:pt x="108602" y="95665"/>
                  </a:lnTo>
                  <a:lnTo>
                    <a:pt x="133291" y="137762"/>
                  </a:lnTo>
                  <a:lnTo>
                    <a:pt x="151414" y="183586"/>
                  </a:lnTo>
                  <a:lnTo>
                    <a:pt x="162488" y="232307"/>
                  </a:lnTo>
                  <a:lnTo>
                    <a:pt x="166026" y="283098"/>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8" name="object 27"/>
            <p:cNvSpPr/>
            <p:nvPr/>
          </p:nvSpPr>
          <p:spPr>
            <a:xfrm>
              <a:off x="3273128" y="3716562"/>
              <a:ext cx="74295" cy="106680"/>
            </a:xfrm>
            <a:custGeom>
              <a:avLst/>
              <a:gdLst/>
              <a:ahLst/>
              <a:cxnLst/>
              <a:rect l="l" t="t" r="r" b="b"/>
              <a:pathLst>
                <a:path w="74295" h="106679">
                  <a:moveTo>
                    <a:pt x="73928" y="0"/>
                  </a:moveTo>
                  <a:lnTo>
                    <a:pt x="59891" y="29808"/>
                  </a:lnTo>
                  <a:lnTo>
                    <a:pt x="42766" y="57614"/>
                  </a:lnTo>
                  <a:lnTo>
                    <a:pt x="22740" y="83152"/>
                  </a:lnTo>
                  <a:lnTo>
                    <a:pt x="0" y="106155"/>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9" name="object 28"/>
            <p:cNvSpPr/>
            <p:nvPr/>
          </p:nvSpPr>
          <p:spPr>
            <a:xfrm>
              <a:off x="3169664" y="3322678"/>
              <a:ext cx="4445" cy="50165"/>
            </a:xfrm>
            <a:custGeom>
              <a:avLst/>
              <a:gdLst/>
              <a:ahLst/>
              <a:cxnLst/>
              <a:rect l="l" t="t" r="r" b="b"/>
              <a:pathLst>
                <a:path w="4444" h="50164">
                  <a:moveTo>
                    <a:pt x="0" y="0"/>
                  </a:moveTo>
                  <a:lnTo>
                    <a:pt x="1833" y="12448"/>
                  </a:lnTo>
                  <a:lnTo>
                    <a:pt x="3096" y="24968"/>
                  </a:lnTo>
                  <a:lnTo>
                    <a:pt x="3787" y="37537"/>
                  </a:lnTo>
                  <a:lnTo>
                    <a:pt x="3903" y="50134"/>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0" name="object 29"/>
            <p:cNvSpPr/>
            <p:nvPr/>
          </p:nvSpPr>
          <p:spPr>
            <a:xfrm>
              <a:off x="2697537" y="3200263"/>
              <a:ext cx="38100" cy="64135"/>
            </a:xfrm>
            <a:custGeom>
              <a:avLst/>
              <a:gdLst/>
              <a:ahLst/>
              <a:cxnLst/>
              <a:rect l="l" t="t" r="r" b="b"/>
              <a:pathLst>
                <a:path w="38100" h="64135">
                  <a:moveTo>
                    <a:pt x="0" y="63936"/>
                  </a:moveTo>
                  <a:lnTo>
                    <a:pt x="7803" y="46898"/>
                  </a:lnTo>
                  <a:lnTo>
                    <a:pt x="16741" y="30521"/>
                  </a:lnTo>
                  <a:lnTo>
                    <a:pt x="26776" y="14867"/>
                  </a:lnTo>
                  <a:lnTo>
                    <a:pt x="37871" y="0"/>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1" name="object 30"/>
            <p:cNvSpPr/>
            <p:nvPr/>
          </p:nvSpPr>
          <p:spPr>
            <a:xfrm>
              <a:off x="2343313" y="3239528"/>
              <a:ext cx="18415" cy="55244"/>
            </a:xfrm>
            <a:custGeom>
              <a:avLst/>
              <a:gdLst/>
              <a:ahLst/>
              <a:cxnLst/>
              <a:rect l="l" t="t" r="r" b="b"/>
              <a:pathLst>
                <a:path w="18414" h="55245">
                  <a:moveTo>
                    <a:pt x="0" y="55140"/>
                  </a:moveTo>
                  <a:lnTo>
                    <a:pt x="3363" y="40922"/>
                  </a:lnTo>
                  <a:lnTo>
                    <a:pt x="7551" y="26966"/>
                  </a:lnTo>
                  <a:lnTo>
                    <a:pt x="12548" y="13312"/>
                  </a:lnTo>
                  <a:lnTo>
                    <a:pt x="18343" y="0"/>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2" name="object 31"/>
            <p:cNvSpPr/>
            <p:nvPr/>
          </p:nvSpPr>
          <p:spPr>
            <a:xfrm>
              <a:off x="1927610" y="3313395"/>
              <a:ext cx="66675" cy="53975"/>
            </a:xfrm>
            <a:custGeom>
              <a:avLst/>
              <a:gdLst/>
              <a:ahLst/>
              <a:cxnLst/>
              <a:rect l="l" t="t" r="r" b="b"/>
              <a:pathLst>
                <a:path w="66675" h="53975">
                  <a:moveTo>
                    <a:pt x="0" y="0"/>
                  </a:moveTo>
                  <a:lnTo>
                    <a:pt x="17723" y="11757"/>
                  </a:lnTo>
                  <a:lnTo>
                    <a:pt x="34723" y="24616"/>
                  </a:lnTo>
                  <a:lnTo>
                    <a:pt x="50956" y="38542"/>
                  </a:lnTo>
                  <a:lnTo>
                    <a:pt x="66375" y="53495"/>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3" name="object 32"/>
            <p:cNvSpPr/>
            <p:nvPr/>
          </p:nvSpPr>
          <p:spPr>
            <a:xfrm>
              <a:off x="1411882" y="3677537"/>
              <a:ext cx="12065" cy="56515"/>
            </a:xfrm>
            <a:custGeom>
              <a:avLst/>
              <a:gdLst/>
              <a:ahLst/>
              <a:cxnLst/>
              <a:rect l="l" t="t" r="r" b="b"/>
              <a:pathLst>
                <a:path w="12065" h="56514">
                  <a:moveTo>
                    <a:pt x="11583" y="56283"/>
                  </a:moveTo>
                  <a:lnTo>
                    <a:pt x="7899" y="42402"/>
                  </a:lnTo>
                  <a:lnTo>
                    <a:pt x="4738" y="28384"/>
                  </a:lnTo>
                  <a:lnTo>
                    <a:pt x="2104" y="14244"/>
                  </a:lnTo>
                  <a:lnTo>
                    <a:pt x="0" y="0"/>
                  </a:lnTo>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4" name="object 33"/>
            <p:cNvSpPr/>
            <p:nvPr/>
          </p:nvSpPr>
          <p:spPr>
            <a:xfrm>
              <a:off x="3382098" y="3656414"/>
              <a:ext cx="829310" cy="294640"/>
            </a:xfrm>
            <a:custGeom>
              <a:avLst/>
              <a:gdLst/>
              <a:ahLst/>
              <a:cxnLst/>
              <a:rect l="l" t="t" r="r" b="b"/>
              <a:pathLst>
                <a:path w="829310" h="294639">
                  <a:moveTo>
                    <a:pt x="0" y="294456"/>
                  </a:moveTo>
                  <a:lnTo>
                    <a:pt x="61965" y="292321"/>
                  </a:lnTo>
                  <a:lnTo>
                    <a:pt x="122688" y="286211"/>
                  </a:lnTo>
                  <a:lnTo>
                    <a:pt x="180923" y="276567"/>
                  </a:lnTo>
                  <a:lnTo>
                    <a:pt x="235428" y="263832"/>
                  </a:lnTo>
                  <a:lnTo>
                    <a:pt x="284959" y="248447"/>
                  </a:lnTo>
                  <a:lnTo>
                    <a:pt x="328273" y="230853"/>
                  </a:lnTo>
                  <a:lnTo>
                    <a:pt x="364126" y="211492"/>
                  </a:lnTo>
                  <a:lnTo>
                    <a:pt x="408476" y="169238"/>
                  </a:lnTo>
                  <a:lnTo>
                    <a:pt x="414486" y="147227"/>
                  </a:lnTo>
                  <a:lnTo>
                    <a:pt x="420496" y="125217"/>
                  </a:lnTo>
                  <a:lnTo>
                    <a:pt x="464846" y="82962"/>
                  </a:lnTo>
                  <a:lnTo>
                    <a:pt x="500699" y="63602"/>
                  </a:lnTo>
                  <a:lnTo>
                    <a:pt x="544013" y="46008"/>
                  </a:lnTo>
                  <a:lnTo>
                    <a:pt x="593544" y="30623"/>
                  </a:lnTo>
                  <a:lnTo>
                    <a:pt x="648049" y="17888"/>
                  </a:lnTo>
                  <a:lnTo>
                    <a:pt x="706284" y="8244"/>
                  </a:lnTo>
                  <a:lnTo>
                    <a:pt x="767007" y="2134"/>
                  </a:lnTo>
                  <a:lnTo>
                    <a:pt x="828972" y="0"/>
                  </a:lnTo>
                </a:path>
              </a:pathLst>
            </a:custGeom>
            <a:ln w="12903">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5" name="object 34"/>
            <p:cNvSpPr/>
            <p:nvPr/>
          </p:nvSpPr>
          <p:spPr>
            <a:xfrm>
              <a:off x="4642661" y="3349570"/>
              <a:ext cx="257810" cy="311785"/>
            </a:xfrm>
            <a:custGeom>
              <a:avLst/>
              <a:gdLst/>
              <a:ahLst/>
              <a:cxnLst/>
              <a:rect l="l" t="t" r="r" b="b"/>
              <a:pathLst>
                <a:path w="257810" h="311785">
                  <a:moveTo>
                    <a:pt x="0" y="311481"/>
                  </a:moveTo>
                  <a:lnTo>
                    <a:pt x="38124" y="302759"/>
                  </a:lnTo>
                  <a:lnTo>
                    <a:pt x="73157" y="279087"/>
                  </a:lnTo>
                  <a:lnTo>
                    <a:pt x="102008" y="244201"/>
                  </a:lnTo>
                  <a:lnTo>
                    <a:pt x="121585" y="201839"/>
                  </a:lnTo>
                  <a:lnTo>
                    <a:pt x="128798" y="155740"/>
                  </a:lnTo>
                  <a:lnTo>
                    <a:pt x="136011" y="109641"/>
                  </a:lnTo>
                  <a:lnTo>
                    <a:pt x="155588" y="67279"/>
                  </a:lnTo>
                  <a:lnTo>
                    <a:pt x="184439" y="32393"/>
                  </a:lnTo>
                  <a:lnTo>
                    <a:pt x="219472" y="8721"/>
                  </a:lnTo>
                  <a:lnTo>
                    <a:pt x="257596" y="0"/>
                  </a:lnTo>
                </a:path>
              </a:pathLst>
            </a:custGeom>
            <a:ln w="12903">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6" name="object 35"/>
            <p:cNvSpPr/>
            <p:nvPr/>
          </p:nvSpPr>
          <p:spPr>
            <a:xfrm>
              <a:off x="4884198" y="4680595"/>
              <a:ext cx="367665" cy="170180"/>
            </a:xfrm>
            <a:custGeom>
              <a:avLst/>
              <a:gdLst/>
              <a:ahLst/>
              <a:cxnLst/>
              <a:rect l="l" t="t" r="r" b="b"/>
              <a:pathLst>
                <a:path w="367664" h="170179">
                  <a:moveTo>
                    <a:pt x="0" y="0"/>
                  </a:moveTo>
                  <a:lnTo>
                    <a:pt x="54411" y="4753"/>
                  </a:lnTo>
                  <a:lnTo>
                    <a:pt x="104411" y="17656"/>
                  </a:lnTo>
                  <a:lnTo>
                    <a:pt x="145587" y="36672"/>
                  </a:lnTo>
                  <a:lnTo>
                    <a:pt x="183822" y="84889"/>
                  </a:lnTo>
                  <a:lnTo>
                    <a:pt x="194117" y="110016"/>
                  </a:lnTo>
                  <a:lnTo>
                    <a:pt x="222058" y="133106"/>
                  </a:lnTo>
                  <a:lnTo>
                    <a:pt x="263234" y="152121"/>
                  </a:lnTo>
                  <a:lnTo>
                    <a:pt x="313234" y="165024"/>
                  </a:lnTo>
                  <a:lnTo>
                    <a:pt x="367645" y="169778"/>
                  </a:lnTo>
                </a:path>
              </a:pathLst>
            </a:custGeom>
            <a:ln w="12903">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7" name="object 36"/>
            <p:cNvSpPr/>
            <p:nvPr/>
          </p:nvSpPr>
          <p:spPr>
            <a:xfrm>
              <a:off x="4976104" y="4841954"/>
              <a:ext cx="274320" cy="365125"/>
            </a:xfrm>
            <a:custGeom>
              <a:avLst/>
              <a:gdLst/>
              <a:ahLst/>
              <a:cxnLst/>
              <a:rect l="l" t="t" r="r" b="b"/>
              <a:pathLst>
                <a:path w="274320" h="365125">
                  <a:moveTo>
                    <a:pt x="0" y="364855"/>
                  </a:moveTo>
                  <a:lnTo>
                    <a:pt x="40592" y="354639"/>
                  </a:lnTo>
                  <a:lnTo>
                    <a:pt x="77893" y="326910"/>
                  </a:lnTo>
                  <a:lnTo>
                    <a:pt x="108611" y="286046"/>
                  </a:lnTo>
                  <a:lnTo>
                    <a:pt x="129455" y="236426"/>
                  </a:lnTo>
                  <a:lnTo>
                    <a:pt x="137135" y="182427"/>
                  </a:lnTo>
                  <a:lnTo>
                    <a:pt x="144815" y="128428"/>
                  </a:lnTo>
                  <a:lnTo>
                    <a:pt x="165659" y="78808"/>
                  </a:lnTo>
                  <a:lnTo>
                    <a:pt x="196377" y="37944"/>
                  </a:lnTo>
                  <a:lnTo>
                    <a:pt x="233678" y="10215"/>
                  </a:lnTo>
                  <a:lnTo>
                    <a:pt x="274270" y="0"/>
                  </a:lnTo>
                </a:path>
              </a:pathLst>
            </a:custGeom>
            <a:ln w="12903">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8" name="object 37"/>
            <p:cNvSpPr/>
            <p:nvPr/>
          </p:nvSpPr>
          <p:spPr>
            <a:xfrm>
              <a:off x="3293432" y="4197192"/>
              <a:ext cx="1158240" cy="491490"/>
            </a:xfrm>
            <a:custGeom>
              <a:avLst/>
              <a:gdLst/>
              <a:ahLst/>
              <a:cxnLst/>
              <a:rect l="l" t="t" r="r" b="b"/>
              <a:pathLst>
                <a:path w="1158239" h="491489">
                  <a:moveTo>
                    <a:pt x="0" y="0"/>
                  </a:moveTo>
                  <a:lnTo>
                    <a:pt x="61936" y="1834"/>
                  </a:lnTo>
                  <a:lnTo>
                    <a:pt x="123239" y="7159"/>
                  </a:lnTo>
                  <a:lnTo>
                    <a:pt x="183277" y="15706"/>
                  </a:lnTo>
                  <a:lnTo>
                    <a:pt x="241415" y="27205"/>
                  </a:lnTo>
                  <a:lnTo>
                    <a:pt x="297020" y="41390"/>
                  </a:lnTo>
                  <a:lnTo>
                    <a:pt x="349461" y="57991"/>
                  </a:lnTo>
                  <a:lnTo>
                    <a:pt x="398103" y="76740"/>
                  </a:lnTo>
                  <a:lnTo>
                    <a:pt x="442313" y="97368"/>
                  </a:lnTo>
                  <a:lnTo>
                    <a:pt x="481458" y="119607"/>
                  </a:lnTo>
                  <a:lnTo>
                    <a:pt x="514906" y="143189"/>
                  </a:lnTo>
                  <a:lnTo>
                    <a:pt x="562176" y="193305"/>
                  </a:lnTo>
                  <a:lnTo>
                    <a:pt x="579059" y="245569"/>
                  </a:lnTo>
                  <a:lnTo>
                    <a:pt x="583385" y="271835"/>
                  </a:lnTo>
                  <a:lnTo>
                    <a:pt x="616094" y="323293"/>
                  </a:lnTo>
                  <a:lnTo>
                    <a:pt x="676659" y="371530"/>
                  </a:lnTo>
                  <a:lnTo>
                    <a:pt x="715804" y="393769"/>
                  </a:lnTo>
                  <a:lnTo>
                    <a:pt x="760015" y="414397"/>
                  </a:lnTo>
                  <a:lnTo>
                    <a:pt x="808656" y="433145"/>
                  </a:lnTo>
                  <a:lnTo>
                    <a:pt x="861097" y="449746"/>
                  </a:lnTo>
                  <a:lnTo>
                    <a:pt x="916702" y="463931"/>
                  </a:lnTo>
                  <a:lnTo>
                    <a:pt x="974840" y="475431"/>
                  </a:lnTo>
                  <a:lnTo>
                    <a:pt x="1034878" y="483977"/>
                  </a:lnTo>
                  <a:lnTo>
                    <a:pt x="1096181" y="489302"/>
                  </a:lnTo>
                  <a:lnTo>
                    <a:pt x="1158117" y="491137"/>
                  </a:lnTo>
                </a:path>
              </a:pathLst>
            </a:custGeom>
            <a:ln w="12903">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9" name="object 38"/>
            <p:cNvSpPr/>
            <p:nvPr/>
          </p:nvSpPr>
          <p:spPr>
            <a:xfrm>
              <a:off x="2781822" y="5206809"/>
              <a:ext cx="1743710" cy="438784"/>
            </a:xfrm>
            <a:custGeom>
              <a:avLst/>
              <a:gdLst/>
              <a:ahLst/>
              <a:cxnLst/>
              <a:rect l="l" t="t" r="r" b="b"/>
              <a:pathLst>
                <a:path w="1743710" h="438785">
                  <a:moveTo>
                    <a:pt x="1743394" y="0"/>
                  </a:moveTo>
                  <a:lnTo>
                    <a:pt x="1678071" y="808"/>
                  </a:lnTo>
                  <a:lnTo>
                    <a:pt x="1613075" y="3179"/>
                  </a:lnTo>
                  <a:lnTo>
                    <a:pt x="1548733" y="7030"/>
                  </a:lnTo>
                  <a:lnTo>
                    <a:pt x="1485372" y="12278"/>
                  </a:lnTo>
                  <a:lnTo>
                    <a:pt x="1423318" y="18842"/>
                  </a:lnTo>
                  <a:lnTo>
                    <a:pt x="1362898" y="26640"/>
                  </a:lnTo>
                  <a:lnTo>
                    <a:pt x="1304440" y="35588"/>
                  </a:lnTo>
                  <a:lnTo>
                    <a:pt x="1248270" y="45606"/>
                  </a:lnTo>
                  <a:lnTo>
                    <a:pt x="1194715" y="56610"/>
                  </a:lnTo>
                  <a:lnTo>
                    <a:pt x="1144102" y="68519"/>
                  </a:lnTo>
                  <a:lnTo>
                    <a:pt x="1096758" y="81250"/>
                  </a:lnTo>
                  <a:lnTo>
                    <a:pt x="1053010" y="94720"/>
                  </a:lnTo>
                  <a:lnTo>
                    <a:pt x="1013184" y="108849"/>
                  </a:lnTo>
                  <a:lnTo>
                    <a:pt x="977608" y="123553"/>
                  </a:lnTo>
                  <a:lnTo>
                    <a:pt x="920512" y="154360"/>
                  </a:lnTo>
                  <a:lnTo>
                    <a:pt x="884337" y="186482"/>
                  </a:lnTo>
                  <a:lnTo>
                    <a:pt x="871697" y="219261"/>
                  </a:lnTo>
                  <a:lnTo>
                    <a:pt x="868483" y="235692"/>
                  </a:lnTo>
                  <a:lnTo>
                    <a:pt x="843748" y="268225"/>
                  </a:lnTo>
                  <a:lnTo>
                    <a:pt x="796785" y="299771"/>
                  </a:lnTo>
                  <a:lnTo>
                    <a:pt x="730210" y="329673"/>
                  </a:lnTo>
                  <a:lnTo>
                    <a:pt x="690384" y="343802"/>
                  </a:lnTo>
                  <a:lnTo>
                    <a:pt x="646636" y="357272"/>
                  </a:lnTo>
                  <a:lnTo>
                    <a:pt x="599291" y="370003"/>
                  </a:lnTo>
                  <a:lnTo>
                    <a:pt x="548679" y="381912"/>
                  </a:lnTo>
                  <a:lnTo>
                    <a:pt x="495124" y="392916"/>
                  </a:lnTo>
                  <a:lnTo>
                    <a:pt x="438954" y="402934"/>
                  </a:lnTo>
                  <a:lnTo>
                    <a:pt x="380495" y="411882"/>
                  </a:lnTo>
                  <a:lnTo>
                    <a:pt x="320076" y="419680"/>
                  </a:lnTo>
                  <a:lnTo>
                    <a:pt x="258022" y="426244"/>
                  </a:lnTo>
                  <a:lnTo>
                    <a:pt x="194660" y="431492"/>
                  </a:lnTo>
                  <a:lnTo>
                    <a:pt x="130318" y="435343"/>
                  </a:lnTo>
                  <a:lnTo>
                    <a:pt x="65322" y="437714"/>
                  </a:lnTo>
                  <a:lnTo>
                    <a:pt x="0" y="438522"/>
                  </a:lnTo>
                </a:path>
              </a:pathLst>
            </a:custGeom>
            <a:ln w="12903">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0" name="object 39"/>
            <p:cNvSpPr/>
            <p:nvPr/>
          </p:nvSpPr>
          <p:spPr>
            <a:xfrm>
              <a:off x="2193458" y="2034825"/>
              <a:ext cx="2063114" cy="1132840"/>
            </a:xfrm>
            <a:custGeom>
              <a:avLst/>
              <a:gdLst/>
              <a:ahLst/>
              <a:cxnLst/>
              <a:rect l="l" t="t" r="r" b="b"/>
              <a:pathLst>
                <a:path w="2063114" h="1132839">
                  <a:moveTo>
                    <a:pt x="2062896" y="0"/>
                  </a:moveTo>
                  <a:lnTo>
                    <a:pt x="2006641" y="558"/>
                  </a:lnTo>
                  <a:lnTo>
                    <a:pt x="1950424" y="2219"/>
                  </a:lnTo>
                  <a:lnTo>
                    <a:pt x="1894281" y="4962"/>
                  </a:lnTo>
                  <a:lnTo>
                    <a:pt x="1838249" y="8767"/>
                  </a:lnTo>
                  <a:lnTo>
                    <a:pt x="1782367" y="13614"/>
                  </a:lnTo>
                  <a:lnTo>
                    <a:pt x="1726670" y="19482"/>
                  </a:lnTo>
                  <a:lnTo>
                    <a:pt x="1671197" y="26351"/>
                  </a:lnTo>
                  <a:lnTo>
                    <a:pt x="1615984" y="34200"/>
                  </a:lnTo>
                  <a:lnTo>
                    <a:pt x="1561068" y="43009"/>
                  </a:lnTo>
                  <a:lnTo>
                    <a:pt x="1506487" y="52757"/>
                  </a:lnTo>
                  <a:lnTo>
                    <a:pt x="1452279" y="63424"/>
                  </a:lnTo>
                  <a:lnTo>
                    <a:pt x="1398479" y="74990"/>
                  </a:lnTo>
                  <a:lnTo>
                    <a:pt x="1345126" y="87434"/>
                  </a:lnTo>
                  <a:lnTo>
                    <a:pt x="1292256" y="100736"/>
                  </a:lnTo>
                  <a:lnTo>
                    <a:pt x="1239907" y="114875"/>
                  </a:lnTo>
                  <a:lnTo>
                    <a:pt x="1188116" y="129831"/>
                  </a:lnTo>
                  <a:lnTo>
                    <a:pt x="1136920" y="145583"/>
                  </a:lnTo>
                  <a:lnTo>
                    <a:pt x="1086357" y="162111"/>
                  </a:lnTo>
                  <a:lnTo>
                    <a:pt x="1036463" y="179395"/>
                  </a:lnTo>
                  <a:lnTo>
                    <a:pt x="987276" y="197415"/>
                  </a:lnTo>
                  <a:lnTo>
                    <a:pt x="938833" y="216149"/>
                  </a:lnTo>
                  <a:lnTo>
                    <a:pt x="891171" y="235577"/>
                  </a:lnTo>
                  <a:lnTo>
                    <a:pt x="844327" y="255679"/>
                  </a:lnTo>
                  <a:lnTo>
                    <a:pt x="798339" y="276435"/>
                  </a:lnTo>
                  <a:lnTo>
                    <a:pt x="753243" y="297824"/>
                  </a:lnTo>
                  <a:lnTo>
                    <a:pt x="709078" y="319825"/>
                  </a:lnTo>
                  <a:lnTo>
                    <a:pt x="665880" y="342419"/>
                  </a:lnTo>
                  <a:lnTo>
                    <a:pt x="623685" y="365585"/>
                  </a:lnTo>
                  <a:lnTo>
                    <a:pt x="582533" y="389302"/>
                  </a:lnTo>
                  <a:lnTo>
                    <a:pt x="542459" y="413550"/>
                  </a:lnTo>
                  <a:lnTo>
                    <a:pt x="503501" y="438309"/>
                  </a:lnTo>
                  <a:lnTo>
                    <a:pt x="465696" y="463557"/>
                  </a:lnTo>
                  <a:lnTo>
                    <a:pt x="429082" y="489276"/>
                  </a:lnTo>
                  <a:lnTo>
                    <a:pt x="393695" y="515443"/>
                  </a:lnTo>
                  <a:lnTo>
                    <a:pt x="359573" y="542040"/>
                  </a:lnTo>
                  <a:lnTo>
                    <a:pt x="326752" y="569045"/>
                  </a:lnTo>
                  <a:lnTo>
                    <a:pt x="295271" y="596438"/>
                  </a:lnTo>
                  <a:lnTo>
                    <a:pt x="265166" y="624199"/>
                  </a:lnTo>
                  <a:lnTo>
                    <a:pt x="236475" y="652306"/>
                  </a:lnTo>
                  <a:lnTo>
                    <a:pt x="209234" y="680741"/>
                  </a:lnTo>
                  <a:lnTo>
                    <a:pt x="183481" y="709482"/>
                  </a:lnTo>
                  <a:lnTo>
                    <a:pt x="136588" y="767801"/>
                  </a:lnTo>
                  <a:lnTo>
                    <a:pt x="96092" y="827100"/>
                  </a:lnTo>
                  <a:lnTo>
                    <a:pt x="62292" y="887217"/>
                  </a:lnTo>
                  <a:lnTo>
                    <a:pt x="35486" y="947987"/>
                  </a:lnTo>
                  <a:lnTo>
                    <a:pt x="15970" y="1009246"/>
                  </a:lnTo>
                  <a:lnTo>
                    <a:pt x="4042" y="1070833"/>
                  </a:lnTo>
                  <a:lnTo>
                    <a:pt x="1016" y="1101698"/>
                  </a:lnTo>
                  <a:lnTo>
                    <a:pt x="0" y="1132583"/>
                  </a:lnTo>
                </a:path>
              </a:pathLst>
            </a:custGeom>
            <a:ln w="12903">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1" name="object 40"/>
            <p:cNvSpPr/>
            <p:nvPr/>
          </p:nvSpPr>
          <p:spPr>
            <a:xfrm>
              <a:off x="5837905" y="2426366"/>
              <a:ext cx="200660" cy="895985"/>
            </a:xfrm>
            <a:custGeom>
              <a:avLst/>
              <a:gdLst/>
              <a:ahLst/>
              <a:cxnLst/>
              <a:rect l="l" t="t" r="r" b="b"/>
              <a:pathLst>
                <a:path w="200660" h="895985">
                  <a:moveTo>
                    <a:pt x="0" y="0"/>
                  </a:moveTo>
                  <a:lnTo>
                    <a:pt x="26848" y="28806"/>
                  </a:lnTo>
                  <a:lnTo>
                    <a:pt x="51916" y="60563"/>
                  </a:lnTo>
                  <a:lnTo>
                    <a:pt x="75166" y="95060"/>
                  </a:lnTo>
                  <a:lnTo>
                    <a:pt x="96561" y="132083"/>
                  </a:lnTo>
                  <a:lnTo>
                    <a:pt x="116065" y="171422"/>
                  </a:lnTo>
                  <a:lnTo>
                    <a:pt x="133641" y="212864"/>
                  </a:lnTo>
                  <a:lnTo>
                    <a:pt x="149250" y="256198"/>
                  </a:lnTo>
                  <a:lnTo>
                    <a:pt x="162857" y="301213"/>
                  </a:lnTo>
                  <a:lnTo>
                    <a:pt x="174424" y="347696"/>
                  </a:lnTo>
                  <a:lnTo>
                    <a:pt x="183915" y="395436"/>
                  </a:lnTo>
                  <a:lnTo>
                    <a:pt x="191292" y="444220"/>
                  </a:lnTo>
                  <a:lnTo>
                    <a:pt x="196518" y="493838"/>
                  </a:lnTo>
                  <a:lnTo>
                    <a:pt x="199557" y="544077"/>
                  </a:lnTo>
                  <a:lnTo>
                    <a:pt x="200371" y="594726"/>
                  </a:lnTo>
                  <a:lnTo>
                    <a:pt x="198923" y="645574"/>
                  </a:lnTo>
                  <a:lnTo>
                    <a:pt x="195177" y="696407"/>
                  </a:lnTo>
                  <a:lnTo>
                    <a:pt x="189094" y="747015"/>
                  </a:lnTo>
                  <a:lnTo>
                    <a:pt x="180640" y="797185"/>
                  </a:lnTo>
                  <a:lnTo>
                    <a:pt x="169775" y="846707"/>
                  </a:lnTo>
                  <a:lnTo>
                    <a:pt x="156464" y="895367"/>
                  </a:lnTo>
                </a:path>
              </a:pathLst>
            </a:custGeom>
            <a:ln w="12903">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2" name="object 41"/>
            <p:cNvSpPr/>
            <p:nvPr/>
          </p:nvSpPr>
          <p:spPr>
            <a:xfrm>
              <a:off x="2099288" y="2061965"/>
              <a:ext cx="760095" cy="361950"/>
            </a:xfrm>
            <a:custGeom>
              <a:avLst/>
              <a:gdLst/>
              <a:ahLst/>
              <a:cxnLst/>
              <a:rect l="l" t="t" r="r" b="b"/>
              <a:pathLst>
                <a:path w="760094" h="361950">
                  <a:moveTo>
                    <a:pt x="379956" y="0"/>
                  </a:moveTo>
                  <a:lnTo>
                    <a:pt x="318325" y="2368"/>
                  </a:lnTo>
                  <a:lnTo>
                    <a:pt x="259860" y="9225"/>
                  </a:lnTo>
                  <a:lnTo>
                    <a:pt x="205344" y="20197"/>
                  </a:lnTo>
                  <a:lnTo>
                    <a:pt x="155559" y="34913"/>
                  </a:lnTo>
                  <a:lnTo>
                    <a:pt x="111286" y="52999"/>
                  </a:lnTo>
                  <a:lnTo>
                    <a:pt x="73309" y="74083"/>
                  </a:lnTo>
                  <a:lnTo>
                    <a:pt x="42410" y="97793"/>
                  </a:lnTo>
                  <a:lnTo>
                    <a:pt x="4972" y="151599"/>
                  </a:lnTo>
                  <a:lnTo>
                    <a:pt x="0" y="180950"/>
                  </a:lnTo>
                  <a:lnTo>
                    <a:pt x="4972" y="210302"/>
                  </a:lnTo>
                  <a:lnTo>
                    <a:pt x="42410" y="264108"/>
                  </a:lnTo>
                  <a:lnTo>
                    <a:pt x="73309" y="287818"/>
                  </a:lnTo>
                  <a:lnTo>
                    <a:pt x="111286" y="308902"/>
                  </a:lnTo>
                  <a:lnTo>
                    <a:pt x="155559" y="326988"/>
                  </a:lnTo>
                  <a:lnTo>
                    <a:pt x="205344" y="341704"/>
                  </a:lnTo>
                  <a:lnTo>
                    <a:pt x="259860" y="352676"/>
                  </a:lnTo>
                  <a:lnTo>
                    <a:pt x="318325" y="359533"/>
                  </a:lnTo>
                  <a:lnTo>
                    <a:pt x="379956" y="361901"/>
                  </a:lnTo>
                  <a:lnTo>
                    <a:pt x="441587" y="359533"/>
                  </a:lnTo>
                  <a:lnTo>
                    <a:pt x="500051" y="352676"/>
                  </a:lnTo>
                  <a:lnTo>
                    <a:pt x="554568" y="341704"/>
                  </a:lnTo>
                  <a:lnTo>
                    <a:pt x="604353" y="326988"/>
                  </a:lnTo>
                  <a:lnTo>
                    <a:pt x="648625" y="308902"/>
                  </a:lnTo>
                  <a:lnTo>
                    <a:pt x="686602" y="287818"/>
                  </a:lnTo>
                  <a:lnTo>
                    <a:pt x="717502" y="264108"/>
                  </a:lnTo>
                  <a:lnTo>
                    <a:pt x="754939" y="210302"/>
                  </a:lnTo>
                  <a:lnTo>
                    <a:pt x="759912" y="180950"/>
                  </a:lnTo>
                  <a:lnTo>
                    <a:pt x="754939" y="151599"/>
                  </a:lnTo>
                  <a:lnTo>
                    <a:pt x="717502" y="97793"/>
                  </a:lnTo>
                  <a:lnTo>
                    <a:pt x="686602" y="74083"/>
                  </a:lnTo>
                  <a:lnTo>
                    <a:pt x="648625" y="52999"/>
                  </a:lnTo>
                  <a:lnTo>
                    <a:pt x="604353" y="34913"/>
                  </a:lnTo>
                  <a:lnTo>
                    <a:pt x="554568" y="20197"/>
                  </a:lnTo>
                  <a:lnTo>
                    <a:pt x="500051" y="9225"/>
                  </a:lnTo>
                  <a:lnTo>
                    <a:pt x="441587" y="2368"/>
                  </a:lnTo>
                  <a:lnTo>
                    <a:pt x="379956" y="0"/>
                  </a:lnTo>
                  <a:close/>
                </a:path>
              </a:pathLst>
            </a:custGeom>
            <a:solidFill>
              <a:srgbClr val="E4EFF9"/>
            </a:solid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3" name="object 42"/>
            <p:cNvSpPr/>
            <p:nvPr/>
          </p:nvSpPr>
          <p:spPr>
            <a:xfrm>
              <a:off x="2099288" y="2061965"/>
              <a:ext cx="772160" cy="368300"/>
            </a:xfrm>
            <a:custGeom>
              <a:avLst/>
              <a:gdLst/>
              <a:ahLst/>
              <a:cxnLst/>
              <a:rect l="l" t="t" r="r" b="b"/>
              <a:pathLst>
                <a:path w="772160" h="368300">
                  <a:moveTo>
                    <a:pt x="0" y="183846"/>
                  </a:moveTo>
                  <a:lnTo>
                    <a:pt x="19680" y="125736"/>
                  </a:lnTo>
                  <a:lnTo>
                    <a:pt x="74482" y="75268"/>
                  </a:lnTo>
                  <a:lnTo>
                    <a:pt x="113067" y="53847"/>
                  </a:lnTo>
                  <a:lnTo>
                    <a:pt x="158047" y="35471"/>
                  </a:lnTo>
                  <a:lnTo>
                    <a:pt x="208629" y="20520"/>
                  </a:lnTo>
                  <a:lnTo>
                    <a:pt x="264018" y="9372"/>
                  </a:lnTo>
                  <a:lnTo>
                    <a:pt x="323418" y="2406"/>
                  </a:lnTo>
                  <a:lnTo>
                    <a:pt x="386035" y="0"/>
                  </a:lnTo>
                  <a:lnTo>
                    <a:pt x="448652" y="2406"/>
                  </a:lnTo>
                  <a:lnTo>
                    <a:pt x="508052" y="9372"/>
                  </a:lnTo>
                  <a:lnTo>
                    <a:pt x="563440" y="20520"/>
                  </a:lnTo>
                  <a:lnTo>
                    <a:pt x="614022" y="35471"/>
                  </a:lnTo>
                  <a:lnTo>
                    <a:pt x="659003" y="53847"/>
                  </a:lnTo>
                  <a:lnTo>
                    <a:pt x="697588" y="75268"/>
                  </a:lnTo>
                  <a:lnTo>
                    <a:pt x="728982" y="99358"/>
                  </a:lnTo>
                  <a:lnTo>
                    <a:pt x="767018" y="154025"/>
                  </a:lnTo>
                  <a:lnTo>
                    <a:pt x="772070" y="183846"/>
                  </a:lnTo>
                  <a:lnTo>
                    <a:pt x="767018" y="213667"/>
                  </a:lnTo>
                  <a:lnTo>
                    <a:pt x="728982" y="268334"/>
                  </a:lnTo>
                  <a:lnTo>
                    <a:pt x="697588" y="292423"/>
                  </a:lnTo>
                  <a:lnTo>
                    <a:pt x="659003" y="313845"/>
                  </a:lnTo>
                  <a:lnTo>
                    <a:pt x="614022" y="332220"/>
                  </a:lnTo>
                  <a:lnTo>
                    <a:pt x="563440" y="347171"/>
                  </a:lnTo>
                  <a:lnTo>
                    <a:pt x="508052" y="358319"/>
                  </a:lnTo>
                  <a:lnTo>
                    <a:pt x="448652" y="365286"/>
                  </a:lnTo>
                  <a:lnTo>
                    <a:pt x="386035" y="367692"/>
                  </a:lnTo>
                  <a:lnTo>
                    <a:pt x="323418" y="365286"/>
                  </a:lnTo>
                  <a:lnTo>
                    <a:pt x="264018" y="358319"/>
                  </a:lnTo>
                  <a:lnTo>
                    <a:pt x="208629" y="347171"/>
                  </a:lnTo>
                  <a:lnTo>
                    <a:pt x="158047" y="332220"/>
                  </a:lnTo>
                  <a:lnTo>
                    <a:pt x="113067" y="313845"/>
                  </a:lnTo>
                  <a:lnTo>
                    <a:pt x="74482" y="292423"/>
                  </a:lnTo>
                  <a:lnTo>
                    <a:pt x="43088" y="268334"/>
                  </a:lnTo>
                  <a:lnTo>
                    <a:pt x="5052" y="213667"/>
                  </a:lnTo>
                  <a:lnTo>
                    <a:pt x="0" y="183846"/>
                  </a:lnTo>
                  <a:close/>
                </a:path>
              </a:pathLst>
            </a:custGeom>
            <a:ln w="6451">
              <a:solidFill>
                <a:srgbClr val="6CACDD"/>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4" name="object 43"/>
            <p:cNvSpPr/>
            <p:nvPr/>
          </p:nvSpPr>
          <p:spPr>
            <a:xfrm>
              <a:off x="2694923" y="2060508"/>
              <a:ext cx="760095" cy="361950"/>
            </a:xfrm>
            <a:custGeom>
              <a:avLst/>
              <a:gdLst/>
              <a:ahLst/>
              <a:cxnLst/>
              <a:rect l="l" t="t" r="r" b="b"/>
              <a:pathLst>
                <a:path w="760095" h="361950">
                  <a:moveTo>
                    <a:pt x="379956" y="0"/>
                  </a:moveTo>
                  <a:lnTo>
                    <a:pt x="318325" y="2368"/>
                  </a:lnTo>
                  <a:lnTo>
                    <a:pt x="259860" y="9224"/>
                  </a:lnTo>
                  <a:lnTo>
                    <a:pt x="205344" y="20197"/>
                  </a:lnTo>
                  <a:lnTo>
                    <a:pt x="155559" y="34912"/>
                  </a:lnTo>
                  <a:lnTo>
                    <a:pt x="111286" y="52998"/>
                  </a:lnTo>
                  <a:lnTo>
                    <a:pt x="73309" y="74083"/>
                  </a:lnTo>
                  <a:lnTo>
                    <a:pt x="42410" y="97793"/>
                  </a:lnTo>
                  <a:lnTo>
                    <a:pt x="4972" y="151599"/>
                  </a:lnTo>
                  <a:lnTo>
                    <a:pt x="0" y="180950"/>
                  </a:lnTo>
                  <a:lnTo>
                    <a:pt x="4972" y="210302"/>
                  </a:lnTo>
                  <a:lnTo>
                    <a:pt x="42410" y="264108"/>
                  </a:lnTo>
                  <a:lnTo>
                    <a:pt x="73309" y="287818"/>
                  </a:lnTo>
                  <a:lnTo>
                    <a:pt x="111286" y="308902"/>
                  </a:lnTo>
                  <a:lnTo>
                    <a:pt x="155559" y="326988"/>
                  </a:lnTo>
                  <a:lnTo>
                    <a:pt x="205344" y="341704"/>
                  </a:lnTo>
                  <a:lnTo>
                    <a:pt x="259860" y="352676"/>
                  </a:lnTo>
                  <a:lnTo>
                    <a:pt x="318325" y="359533"/>
                  </a:lnTo>
                  <a:lnTo>
                    <a:pt x="379956" y="361901"/>
                  </a:lnTo>
                  <a:lnTo>
                    <a:pt x="441586" y="359533"/>
                  </a:lnTo>
                  <a:lnTo>
                    <a:pt x="500051" y="352676"/>
                  </a:lnTo>
                  <a:lnTo>
                    <a:pt x="554567" y="341704"/>
                  </a:lnTo>
                  <a:lnTo>
                    <a:pt x="604352" y="326988"/>
                  </a:lnTo>
                  <a:lnTo>
                    <a:pt x="648625" y="308902"/>
                  </a:lnTo>
                  <a:lnTo>
                    <a:pt x="686602" y="287818"/>
                  </a:lnTo>
                  <a:lnTo>
                    <a:pt x="717502" y="264108"/>
                  </a:lnTo>
                  <a:lnTo>
                    <a:pt x="754939" y="210302"/>
                  </a:lnTo>
                  <a:lnTo>
                    <a:pt x="759912" y="180950"/>
                  </a:lnTo>
                  <a:lnTo>
                    <a:pt x="754939" y="151599"/>
                  </a:lnTo>
                  <a:lnTo>
                    <a:pt x="717502" y="97793"/>
                  </a:lnTo>
                  <a:lnTo>
                    <a:pt x="686602" y="74083"/>
                  </a:lnTo>
                  <a:lnTo>
                    <a:pt x="648625" y="52998"/>
                  </a:lnTo>
                  <a:lnTo>
                    <a:pt x="604352" y="34912"/>
                  </a:lnTo>
                  <a:lnTo>
                    <a:pt x="554567" y="20197"/>
                  </a:lnTo>
                  <a:lnTo>
                    <a:pt x="500051" y="9224"/>
                  </a:lnTo>
                  <a:lnTo>
                    <a:pt x="441586" y="2368"/>
                  </a:lnTo>
                  <a:lnTo>
                    <a:pt x="379956" y="0"/>
                  </a:lnTo>
                  <a:close/>
                </a:path>
              </a:pathLst>
            </a:custGeom>
            <a:solidFill>
              <a:srgbClr val="E4EFF9"/>
            </a:solid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5" name="object 44"/>
            <p:cNvSpPr/>
            <p:nvPr/>
          </p:nvSpPr>
          <p:spPr>
            <a:xfrm>
              <a:off x="2694923" y="2060509"/>
              <a:ext cx="772160" cy="368300"/>
            </a:xfrm>
            <a:custGeom>
              <a:avLst/>
              <a:gdLst/>
              <a:ahLst/>
              <a:cxnLst/>
              <a:rect l="l" t="t" r="r" b="b"/>
              <a:pathLst>
                <a:path w="772160" h="368300">
                  <a:moveTo>
                    <a:pt x="0" y="183846"/>
                  </a:moveTo>
                  <a:lnTo>
                    <a:pt x="19680" y="125736"/>
                  </a:lnTo>
                  <a:lnTo>
                    <a:pt x="74482" y="75268"/>
                  </a:lnTo>
                  <a:lnTo>
                    <a:pt x="113067" y="53847"/>
                  </a:lnTo>
                  <a:lnTo>
                    <a:pt x="158047" y="35471"/>
                  </a:lnTo>
                  <a:lnTo>
                    <a:pt x="208629" y="20520"/>
                  </a:lnTo>
                  <a:lnTo>
                    <a:pt x="264018" y="9372"/>
                  </a:lnTo>
                  <a:lnTo>
                    <a:pt x="323418" y="2406"/>
                  </a:lnTo>
                  <a:lnTo>
                    <a:pt x="386035" y="0"/>
                  </a:lnTo>
                  <a:lnTo>
                    <a:pt x="448652" y="2406"/>
                  </a:lnTo>
                  <a:lnTo>
                    <a:pt x="508052" y="9372"/>
                  </a:lnTo>
                  <a:lnTo>
                    <a:pt x="563440" y="20520"/>
                  </a:lnTo>
                  <a:lnTo>
                    <a:pt x="614022" y="35471"/>
                  </a:lnTo>
                  <a:lnTo>
                    <a:pt x="659003" y="53847"/>
                  </a:lnTo>
                  <a:lnTo>
                    <a:pt x="697588" y="75268"/>
                  </a:lnTo>
                  <a:lnTo>
                    <a:pt x="728981" y="99358"/>
                  </a:lnTo>
                  <a:lnTo>
                    <a:pt x="767017" y="154025"/>
                  </a:lnTo>
                  <a:lnTo>
                    <a:pt x="772070" y="183846"/>
                  </a:lnTo>
                  <a:lnTo>
                    <a:pt x="767017" y="213667"/>
                  </a:lnTo>
                  <a:lnTo>
                    <a:pt x="728981" y="268334"/>
                  </a:lnTo>
                  <a:lnTo>
                    <a:pt x="697588" y="292423"/>
                  </a:lnTo>
                  <a:lnTo>
                    <a:pt x="659003" y="313845"/>
                  </a:lnTo>
                  <a:lnTo>
                    <a:pt x="614022" y="332220"/>
                  </a:lnTo>
                  <a:lnTo>
                    <a:pt x="563440" y="347171"/>
                  </a:lnTo>
                  <a:lnTo>
                    <a:pt x="508052" y="358319"/>
                  </a:lnTo>
                  <a:lnTo>
                    <a:pt x="448652" y="365286"/>
                  </a:lnTo>
                  <a:lnTo>
                    <a:pt x="386035" y="367692"/>
                  </a:lnTo>
                  <a:lnTo>
                    <a:pt x="323418" y="365286"/>
                  </a:lnTo>
                  <a:lnTo>
                    <a:pt x="264018" y="358319"/>
                  </a:lnTo>
                  <a:lnTo>
                    <a:pt x="208629" y="347171"/>
                  </a:lnTo>
                  <a:lnTo>
                    <a:pt x="158047" y="332220"/>
                  </a:lnTo>
                  <a:lnTo>
                    <a:pt x="113067" y="313845"/>
                  </a:lnTo>
                  <a:lnTo>
                    <a:pt x="74482" y="292423"/>
                  </a:lnTo>
                  <a:lnTo>
                    <a:pt x="43088" y="268334"/>
                  </a:lnTo>
                  <a:lnTo>
                    <a:pt x="5052" y="213667"/>
                  </a:lnTo>
                  <a:lnTo>
                    <a:pt x="0" y="183846"/>
                  </a:lnTo>
                  <a:close/>
                </a:path>
              </a:pathLst>
            </a:custGeom>
            <a:ln w="6451">
              <a:solidFill>
                <a:srgbClr val="6CACDD"/>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6" name="object 45"/>
            <p:cNvSpPr/>
            <p:nvPr/>
          </p:nvSpPr>
          <p:spPr>
            <a:xfrm>
              <a:off x="3328187" y="2060508"/>
              <a:ext cx="760095" cy="361950"/>
            </a:xfrm>
            <a:custGeom>
              <a:avLst/>
              <a:gdLst/>
              <a:ahLst/>
              <a:cxnLst/>
              <a:rect l="l" t="t" r="r" b="b"/>
              <a:pathLst>
                <a:path w="760095" h="361950">
                  <a:moveTo>
                    <a:pt x="379954" y="0"/>
                  </a:moveTo>
                  <a:lnTo>
                    <a:pt x="318324" y="2368"/>
                  </a:lnTo>
                  <a:lnTo>
                    <a:pt x="259859" y="9224"/>
                  </a:lnTo>
                  <a:lnTo>
                    <a:pt x="205343" y="20197"/>
                  </a:lnTo>
                  <a:lnTo>
                    <a:pt x="155558" y="34912"/>
                  </a:lnTo>
                  <a:lnTo>
                    <a:pt x="111286" y="52998"/>
                  </a:lnTo>
                  <a:lnTo>
                    <a:pt x="73309" y="74083"/>
                  </a:lnTo>
                  <a:lnTo>
                    <a:pt x="42409" y="97793"/>
                  </a:lnTo>
                  <a:lnTo>
                    <a:pt x="4972" y="151599"/>
                  </a:lnTo>
                  <a:lnTo>
                    <a:pt x="0" y="180950"/>
                  </a:lnTo>
                  <a:lnTo>
                    <a:pt x="4972" y="210302"/>
                  </a:lnTo>
                  <a:lnTo>
                    <a:pt x="42409" y="264108"/>
                  </a:lnTo>
                  <a:lnTo>
                    <a:pt x="73309" y="287818"/>
                  </a:lnTo>
                  <a:lnTo>
                    <a:pt x="111286" y="308902"/>
                  </a:lnTo>
                  <a:lnTo>
                    <a:pt x="155558" y="326988"/>
                  </a:lnTo>
                  <a:lnTo>
                    <a:pt x="205343" y="341704"/>
                  </a:lnTo>
                  <a:lnTo>
                    <a:pt x="259859" y="352676"/>
                  </a:lnTo>
                  <a:lnTo>
                    <a:pt x="318324" y="359533"/>
                  </a:lnTo>
                  <a:lnTo>
                    <a:pt x="379954" y="361901"/>
                  </a:lnTo>
                  <a:lnTo>
                    <a:pt x="441585" y="359533"/>
                  </a:lnTo>
                  <a:lnTo>
                    <a:pt x="500050" y="352676"/>
                  </a:lnTo>
                  <a:lnTo>
                    <a:pt x="554566" y="341704"/>
                  </a:lnTo>
                  <a:lnTo>
                    <a:pt x="604352" y="326988"/>
                  </a:lnTo>
                  <a:lnTo>
                    <a:pt x="648624" y="308902"/>
                  </a:lnTo>
                  <a:lnTo>
                    <a:pt x="686601" y="287818"/>
                  </a:lnTo>
                  <a:lnTo>
                    <a:pt x="717500" y="264108"/>
                  </a:lnTo>
                  <a:lnTo>
                    <a:pt x="754937" y="210302"/>
                  </a:lnTo>
                  <a:lnTo>
                    <a:pt x="759910" y="180950"/>
                  </a:lnTo>
                  <a:lnTo>
                    <a:pt x="754937" y="151599"/>
                  </a:lnTo>
                  <a:lnTo>
                    <a:pt x="717500" y="97793"/>
                  </a:lnTo>
                  <a:lnTo>
                    <a:pt x="686601" y="74083"/>
                  </a:lnTo>
                  <a:lnTo>
                    <a:pt x="648624" y="52998"/>
                  </a:lnTo>
                  <a:lnTo>
                    <a:pt x="604352" y="34912"/>
                  </a:lnTo>
                  <a:lnTo>
                    <a:pt x="554566" y="20197"/>
                  </a:lnTo>
                  <a:lnTo>
                    <a:pt x="500050" y="9224"/>
                  </a:lnTo>
                  <a:lnTo>
                    <a:pt x="441585" y="2368"/>
                  </a:lnTo>
                  <a:lnTo>
                    <a:pt x="379954" y="0"/>
                  </a:lnTo>
                  <a:close/>
                </a:path>
              </a:pathLst>
            </a:custGeom>
            <a:solidFill>
              <a:srgbClr val="E4EFF9"/>
            </a:solid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7" name="object 46"/>
            <p:cNvSpPr/>
            <p:nvPr/>
          </p:nvSpPr>
          <p:spPr>
            <a:xfrm>
              <a:off x="3328187" y="2060509"/>
              <a:ext cx="772160" cy="368300"/>
            </a:xfrm>
            <a:custGeom>
              <a:avLst/>
              <a:gdLst/>
              <a:ahLst/>
              <a:cxnLst/>
              <a:rect l="l" t="t" r="r" b="b"/>
              <a:pathLst>
                <a:path w="772160" h="368300">
                  <a:moveTo>
                    <a:pt x="0" y="183846"/>
                  </a:moveTo>
                  <a:lnTo>
                    <a:pt x="19680" y="125736"/>
                  </a:lnTo>
                  <a:lnTo>
                    <a:pt x="74482" y="75268"/>
                  </a:lnTo>
                  <a:lnTo>
                    <a:pt x="113067" y="53847"/>
                  </a:lnTo>
                  <a:lnTo>
                    <a:pt x="158047" y="35471"/>
                  </a:lnTo>
                  <a:lnTo>
                    <a:pt x="208629" y="20520"/>
                  </a:lnTo>
                  <a:lnTo>
                    <a:pt x="264018" y="9372"/>
                  </a:lnTo>
                  <a:lnTo>
                    <a:pt x="323418" y="2406"/>
                  </a:lnTo>
                  <a:lnTo>
                    <a:pt x="386035" y="0"/>
                  </a:lnTo>
                  <a:lnTo>
                    <a:pt x="448652" y="2406"/>
                  </a:lnTo>
                  <a:lnTo>
                    <a:pt x="508052" y="9372"/>
                  </a:lnTo>
                  <a:lnTo>
                    <a:pt x="563440" y="20520"/>
                  </a:lnTo>
                  <a:lnTo>
                    <a:pt x="614022" y="35471"/>
                  </a:lnTo>
                  <a:lnTo>
                    <a:pt x="659003" y="53847"/>
                  </a:lnTo>
                  <a:lnTo>
                    <a:pt x="697588" y="75268"/>
                  </a:lnTo>
                  <a:lnTo>
                    <a:pt x="728981" y="99358"/>
                  </a:lnTo>
                  <a:lnTo>
                    <a:pt x="767017" y="154025"/>
                  </a:lnTo>
                  <a:lnTo>
                    <a:pt x="772070" y="183846"/>
                  </a:lnTo>
                  <a:lnTo>
                    <a:pt x="767017" y="213667"/>
                  </a:lnTo>
                  <a:lnTo>
                    <a:pt x="728981" y="268334"/>
                  </a:lnTo>
                  <a:lnTo>
                    <a:pt x="697588" y="292423"/>
                  </a:lnTo>
                  <a:lnTo>
                    <a:pt x="659003" y="313845"/>
                  </a:lnTo>
                  <a:lnTo>
                    <a:pt x="614022" y="332220"/>
                  </a:lnTo>
                  <a:lnTo>
                    <a:pt x="563440" y="347171"/>
                  </a:lnTo>
                  <a:lnTo>
                    <a:pt x="508052" y="358319"/>
                  </a:lnTo>
                  <a:lnTo>
                    <a:pt x="448652" y="365286"/>
                  </a:lnTo>
                  <a:lnTo>
                    <a:pt x="386035" y="367692"/>
                  </a:lnTo>
                  <a:lnTo>
                    <a:pt x="323418" y="365286"/>
                  </a:lnTo>
                  <a:lnTo>
                    <a:pt x="264018" y="358319"/>
                  </a:lnTo>
                  <a:lnTo>
                    <a:pt x="208629" y="347171"/>
                  </a:lnTo>
                  <a:lnTo>
                    <a:pt x="158047" y="332220"/>
                  </a:lnTo>
                  <a:lnTo>
                    <a:pt x="113067" y="313845"/>
                  </a:lnTo>
                  <a:lnTo>
                    <a:pt x="74482" y="292423"/>
                  </a:lnTo>
                  <a:lnTo>
                    <a:pt x="43088" y="268334"/>
                  </a:lnTo>
                  <a:lnTo>
                    <a:pt x="5052" y="213667"/>
                  </a:lnTo>
                  <a:lnTo>
                    <a:pt x="0" y="183846"/>
                  </a:lnTo>
                  <a:close/>
                </a:path>
              </a:pathLst>
            </a:custGeom>
            <a:ln w="6451">
              <a:solidFill>
                <a:srgbClr val="6CACDD"/>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8" name="object 47"/>
            <p:cNvSpPr/>
            <p:nvPr/>
          </p:nvSpPr>
          <p:spPr>
            <a:xfrm>
              <a:off x="2280216" y="2496249"/>
              <a:ext cx="325755" cy="525145"/>
            </a:xfrm>
            <a:custGeom>
              <a:avLst/>
              <a:gdLst/>
              <a:ahLst/>
              <a:cxnLst/>
              <a:rect l="l" t="t" r="r" b="b"/>
              <a:pathLst>
                <a:path w="325755" h="525144">
                  <a:moveTo>
                    <a:pt x="244257" y="0"/>
                  </a:moveTo>
                  <a:lnTo>
                    <a:pt x="81419" y="0"/>
                  </a:lnTo>
                  <a:lnTo>
                    <a:pt x="81419" y="361919"/>
                  </a:lnTo>
                  <a:lnTo>
                    <a:pt x="0" y="361919"/>
                  </a:lnTo>
                  <a:lnTo>
                    <a:pt x="162839" y="524757"/>
                  </a:lnTo>
                  <a:lnTo>
                    <a:pt x="325677" y="361919"/>
                  </a:lnTo>
                  <a:lnTo>
                    <a:pt x="244257" y="361919"/>
                  </a:lnTo>
                  <a:lnTo>
                    <a:pt x="244257" y="0"/>
                  </a:lnTo>
                  <a:close/>
                </a:path>
              </a:pathLst>
            </a:custGeom>
            <a:solidFill>
              <a:srgbClr val="ECEBEB"/>
            </a:solid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79" name="object 48"/>
            <p:cNvSpPr/>
            <p:nvPr/>
          </p:nvSpPr>
          <p:spPr>
            <a:xfrm>
              <a:off x="2280216" y="2496249"/>
              <a:ext cx="331470" cy="533400"/>
            </a:xfrm>
            <a:custGeom>
              <a:avLst/>
              <a:gdLst/>
              <a:ahLst/>
              <a:cxnLst/>
              <a:rect l="l" t="t" r="r" b="b"/>
              <a:pathLst>
                <a:path w="331469" h="533400">
                  <a:moveTo>
                    <a:pt x="0" y="367710"/>
                  </a:moveTo>
                  <a:lnTo>
                    <a:pt x="82721" y="367710"/>
                  </a:lnTo>
                  <a:lnTo>
                    <a:pt x="82721" y="0"/>
                  </a:lnTo>
                  <a:lnTo>
                    <a:pt x="248166" y="0"/>
                  </a:lnTo>
                  <a:lnTo>
                    <a:pt x="248166" y="367710"/>
                  </a:lnTo>
                  <a:lnTo>
                    <a:pt x="330887" y="367710"/>
                  </a:lnTo>
                  <a:lnTo>
                    <a:pt x="165444" y="533154"/>
                  </a:lnTo>
                  <a:lnTo>
                    <a:pt x="0" y="367710"/>
                  </a:lnTo>
                  <a:close/>
                </a:path>
              </a:pathLst>
            </a:custGeom>
            <a:ln w="6451">
              <a:solidFill>
                <a:srgbClr val="919191"/>
              </a:solidFill>
            </a:ln>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grpSp>
      <p:sp>
        <p:nvSpPr>
          <p:cNvPr id="82" name="object 4"/>
          <p:cNvSpPr txBox="1"/>
          <p:nvPr/>
        </p:nvSpPr>
        <p:spPr>
          <a:xfrm>
            <a:off x="5144721" y="3787600"/>
            <a:ext cx="6227118" cy="2564805"/>
          </a:xfrm>
          <a:prstGeom prst="rect">
            <a:avLst/>
          </a:prstGeom>
        </p:spPr>
        <p:txBody>
          <a:bodyPr vert="horz" wrap="square" lIns="0" tIns="12700" rIns="0" bIns="0" rtlCol="0">
            <a:spAutoFit/>
          </a:bodyPr>
          <a:lstStyle/>
          <a:p>
            <a:pPr marL="355600" marR="5080" indent="-342900" algn="just">
              <a:lnSpc>
                <a:spcPct val="150000"/>
              </a:lnSpc>
              <a:spcBef>
                <a:spcPts val="100"/>
              </a:spcBef>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Google</a:t>
            </a:r>
            <a:r>
              <a:rPr lang="zh-CN" altLang="en-US" sz="2200" dirty="0">
                <a:latin typeface="微软雅黑" panose="020B0503020204020204" pitchFamily="34" charset="-122"/>
                <a:ea typeface="微软雅黑" panose="020B0503020204020204" pitchFamily="34" charset="-122"/>
              </a:rPr>
              <a:t>搜索引擎建立在遍布全球</a:t>
            </a:r>
            <a:r>
              <a:rPr lang="en-US" altLang="zh-CN" sz="2200" dirty="0">
                <a:latin typeface="微软雅黑" panose="020B0503020204020204" pitchFamily="34" charset="-122"/>
                <a:ea typeface="微软雅黑" panose="020B0503020204020204" pitchFamily="34" charset="-122"/>
              </a:rPr>
              <a:t>30</a:t>
            </a:r>
            <a:r>
              <a:rPr lang="zh-CN" altLang="en-US" sz="2200" dirty="0">
                <a:latin typeface="微软雅黑" panose="020B0503020204020204" pitchFamily="34" charset="-122"/>
                <a:ea typeface="微软雅黑" panose="020B0503020204020204" pitchFamily="34" charset="-122"/>
              </a:rPr>
              <a:t>多个站点、超过</a:t>
            </a:r>
            <a:r>
              <a:rPr lang="en-US" altLang="zh-CN" sz="2200" dirty="0">
                <a:latin typeface="微软雅黑" panose="020B0503020204020204" pitchFamily="34" charset="-122"/>
                <a:ea typeface="微软雅黑" panose="020B0503020204020204" pitchFamily="34" charset="-122"/>
              </a:rPr>
              <a:t>100</a:t>
            </a:r>
            <a:r>
              <a:rPr lang="zh-CN" altLang="en-US" sz="2200" dirty="0">
                <a:latin typeface="微软雅黑" panose="020B0503020204020204" pitchFamily="34" charset="-122"/>
                <a:ea typeface="微软雅黑" panose="020B0503020204020204" pitchFamily="34" charset="-122"/>
              </a:rPr>
              <a:t>万台服务器的云计算设备上。</a:t>
            </a:r>
            <a:endParaRPr lang="en-US" altLang="zh-CN" sz="2200" dirty="0">
              <a:latin typeface="微软雅黑" panose="020B0503020204020204" pitchFamily="34" charset="-122"/>
              <a:ea typeface="微软雅黑" panose="020B0503020204020204" pitchFamily="34" charset="-122"/>
            </a:endParaRPr>
          </a:p>
          <a:p>
            <a:pPr marL="355600" marR="5080" indent="-342900" algn="just">
              <a:lnSpc>
                <a:spcPct val="150000"/>
              </a:lnSpc>
              <a:spcBef>
                <a:spcPts val="100"/>
              </a:spcBef>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阿里云是国内最大的云计算平台，拥有近百万台服务器，分布在北京、上海、深圳、香港和美国等地。</a:t>
            </a:r>
            <a:endParaRPr sz="2200" dirty="0">
              <a:latin typeface="微软雅黑" panose="020B0503020204020204" pitchFamily="34" charset="-122"/>
              <a:ea typeface="微软雅黑" panose="020B0503020204020204" pitchFamily="34" charset="-122"/>
            </a:endParaRPr>
          </a:p>
        </p:txBody>
      </p:sp>
      <p:sp>
        <p:nvSpPr>
          <p:cNvPr id="83" name="灯片编号占位符 82"/>
          <p:cNvSpPr>
            <a:spLocks noGrp="1"/>
          </p:cNvSpPr>
          <p:nvPr>
            <p:ph type="sldNum" sz="quarter" idx="12"/>
          </p:nvPr>
        </p:nvSpPr>
        <p:spPr>
          <a:xfrm>
            <a:off x="10406617" y="6104203"/>
            <a:ext cx="997857" cy="365125"/>
          </a:xfrm>
        </p:spPr>
        <p:txBody>
          <a:bodyPr/>
          <a:lstStyle/>
          <a:p>
            <a:fld id="{74D2AB8B-5816-41F2-8B4B-CA5C3E4E6A65}" type="slidenum">
              <a:rPr lang="zh-CN" altLang="en-US" smtClean="0"/>
              <a:t>36</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软件的复杂性（二）</a:t>
            </a:r>
          </a:p>
        </p:txBody>
      </p:sp>
      <p:sp>
        <p:nvSpPr>
          <p:cNvPr id="3" name="内容占位符 2"/>
          <p:cNvSpPr>
            <a:spLocks noGrp="1"/>
          </p:cNvSpPr>
          <p:nvPr>
            <p:ph idx="1"/>
          </p:nvPr>
        </p:nvSpPr>
        <p:spPr/>
        <p:txBody>
          <a:bodyPr>
            <a:normAutofit/>
          </a:bodyPr>
          <a:lstStyle/>
          <a:p>
            <a:pPr algn="just"/>
            <a:r>
              <a:rPr lang="zh-CN" altLang="en-US" sz="2400" dirty="0">
                <a:latin typeface="微软雅黑" panose="020B0503020204020204" pitchFamily="34" charset="-122"/>
                <a:ea typeface="微软雅黑" panose="020B0503020204020204" pitchFamily="34" charset="-122"/>
              </a:rPr>
              <a:t>软件不能独立存在，需要依附于一定的环境（如硬件、网络以及其它软件）</a:t>
            </a:r>
            <a:endParaRPr lang="en-US" altLang="zh-CN" sz="2400" dirty="0">
              <a:latin typeface="微软雅黑" panose="020B0503020204020204" pitchFamily="34" charset="-122"/>
              <a:ea typeface="微软雅黑" panose="020B0503020204020204" pitchFamily="34" charset="-122"/>
            </a:endParaRPr>
          </a:p>
          <a:p>
            <a:pPr algn="just"/>
            <a:r>
              <a:rPr lang="zh-CN" altLang="en-US" sz="2400" dirty="0">
                <a:latin typeface="微软雅黑" panose="020B0503020204020204" pitchFamily="34" charset="-122"/>
                <a:ea typeface="微软雅黑" panose="020B0503020204020204" pitchFamily="34" charset="-122"/>
              </a:rPr>
              <a:t>软件必须适应已有的技术和系统，与环境中的接口保持一致性。</a:t>
            </a:r>
            <a:endParaRPr lang="en-US" altLang="zh-CN" sz="2400" dirty="0">
              <a:latin typeface="微软雅黑" panose="020B0503020204020204" pitchFamily="34" charset="-122"/>
              <a:ea typeface="微软雅黑" panose="020B0503020204020204" pitchFamily="34" charset="-122"/>
            </a:endParaRPr>
          </a:p>
        </p:txBody>
      </p:sp>
      <p:sp>
        <p:nvSpPr>
          <p:cNvPr id="4" name="object 4"/>
          <p:cNvSpPr txBox="1"/>
          <p:nvPr/>
        </p:nvSpPr>
        <p:spPr>
          <a:xfrm>
            <a:off x="3232151" y="4369648"/>
            <a:ext cx="838200" cy="269240"/>
          </a:xfrm>
          <a:prstGeom prst="rect">
            <a:avLst/>
          </a:prstGeom>
        </p:spPr>
        <p:txBody>
          <a:bodyPr vert="horz" wrap="square" lIns="0" tIns="12700" rIns="0" bIns="0" rtlCol="0">
            <a:spAutoFit/>
          </a:bodyPr>
          <a:lstStyle/>
          <a:p>
            <a:pPr marL="12700" algn="just">
              <a:lnSpc>
                <a:spcPct val="100000"/>
              </a:lnSpc>
              <a:spcBef>
                <a:spcPts val="100"/>
              </a:spcBef>
            </a:pPr>
            <a:r>
              <a:rPr sz="1600" dirty="0">
                <a:latin typeface="微软雅黑" panose="020B0503020204020204" pitchFamily="34" charset="-122"/>
                <a:cs typeface="微软雅黑" panose="020B0503020204020204" pitchFamily="34" charset="-122"/>
              </a:rPr>
              <a:t>发送请求</a:t>
            </a:r>
          </a:p>
        </p:txBody>
      </p:sp>
      <p:sp>
        <p:nvSpPr>
          <p:cNvPr id="5" name="object 5"/>
          <p:cNvSpPr/>
          <p:nvPr/>
        </p:nvSpPr>
        <p:spPr>
          <a:xfrm>
            <a:off x="3103362" y="4699088"/>
            <a:ext cx="1092835" cy="635"/>
          </a:xfrm>
          <a:custGeom>
            <a:avLst/>
            <a:gdLst/>
            <a:ahLst/>
            <a:cxnLst/>
            <a:rect l="l" t="t" r="r" b="b"/>
            <a:pathLst>
              <a:path w="1092835" h="635">
                <a:moveTo>
                  <a:pt x="1092679" y="12"/>
                </a:moveTo>
                <a:lnTo>
                  <a:pt x="0" y="0"/>
                </a:lnTo>
              </a:path>
            </a:pathLst>
          </a:custGeom>
          <a:ln w="19354">
            <a:solidFill>
              <a:srgbClr val="4C4848"/>
            </a:solidFill>
          </a:ln>
        </p:spPr>
        <p:txBody>
          <a:bodyPr wrap="square" lIns="0" tIns="0" rIns="0" bIns="0" rtlCol="0"/>
          <a:lstStyle/>
          <a:p>
            <a:pPr algn="just"/>
            <a:endParaRPr/>
          </a:p>
        </p:txBody>
      </p:sp>
      <p:sp>
        <p:nvSpPr>
          <p:cNvPr id="6" name="object 6"/>
          <p:cNvSpPr/>
          <p:nvPr/>
        </p:nvSpPr>
        <p:spPr>
          <a:xfrm>
            <a:off x="4105740" y="4640146"/>
            <a:ext cx="115910" cy="117908"/>
          </a:xfrm>
          <a:prstGeom prst="rect">
            <a:avLst/>
          </a:prstGeom>
          <a:blipFill>
            <a:blip r:embed="rId4" cstate="print"/>
            <a:stretch>
              <a:fillRect/>
            </a:stretch>
          </a:blipFill>
        </p:spPr>
        <p:txBody>
          <a:bodyPr wrap="square" lIns="0" tIns="0" rIns="0" bIns="0" rtlCol="0"/>
          <a:lstStyle/>
          <a:p>
            <a:pPr algn="just"/>
            <a:endParaRPr/>
          </a:p>
        </p:txBody>
      </p:sp>
      <p:sp>
        <p:nvSpPr>
          <p:cNvPr id="7" name="object 7"/>
          <p:cNvSpPr txBox="1"/>
          <p:nvPr/>
        </p:nvSpPr>
        <p:spPr>
          <a:xfrm>
            <a:off x="5652842" y="4386582"/>
            <a:ext cx="838200" cy="269240"/>
          </a:xfrm>
          <a:prstGeom prst="rect">
            <a:avLst/>
          </a:prstGeom>
        </p:spPr>
        <p:txBody>
          <a:bodyPr vert="horz" wrap="square" lIns="0" tIns="12700" rIns="0" bIns="0" rtlCol="0">
            <a:spAutoFit/>
          </a:bodyPr>
          <a:lstStyle/>
          <a:p>
            <a:pPr marL="12700" algn="just">
              <a:lnSpc>
                <a:spcPct val="100000"/>
              </a:lnSpc>
              <a:spcBef>
                <a:spcPts val="100"/>
              </a:spcBef>
            </a:pPr>
            <a:r>
              <a:rPr sz="1600" dirty="0">
                <a:latin typeface="微软雅黑" panose="020B0503020204020204" pitchFamily="34" charset="-122"/>
                <a:cs typeface="微软雅黑" panose="020B0503020204020204" pitchFamily="34" charset="-122"/>
              </a:rPr>
              <a:t>用户请求</a:t>
            </a:r>
            <a:endParaRPr sz="1600">
              <a:latin typeface="微软雅黑" panose="020B0503020204020204" pitchFamily="34" charset="-122"/>
              <a:cs typeface="微软雅黑" panose="020B0503020204020204" pitchFamily="34" charset="-122"/>
            </a:endParaRPr>
          </a:p>
        </p:txBody>
      </p:sp>
      <p:sp>
        <p:nvSpPr>
          <p:cNvPr id="8" name="object 8"/>
          <p:cNvSpPr/>
          <p:nvPr/>
        </p:nvSpPr>
        <p:spPr>
          <a:xfrm>
            <a:off x="5463009" y="4699100"/>
            <a:ext cx="1254760" cy="0"/>
          </a:xfrm>
          <a:custGeom>
            <a:avLst/>
            <a:gdLst/>
            <a:ahLst/>
            <a:cxnLst/>
            <a:rect l="l" t="t" r="r" b="b"/>
            <a:pathLst>
              <a:path w="1254759">
                <a:moveTo>
                  <a:pt x="1254552" y="0"/>
                </a:moveTo>
                <a:lnTo>
                  <a:pt x="0" y="4"/>
                </a:lnTo>
              </a:path>
            </a:pathLst>
          </a:custGeom>
          <a:ln w="19354">
            <a:solidFill>
              <a:srgbClr val="4C4848"/>
            </a:solidFill>
          </a:ln>
        </p:spPr>
        <p:txBody>
          <a:bodyPr wrap="square" lIns="0" tIns="0" rIns="0" bIns="0" rtlCol="0"/>
          <a:lstStyle/>
          <a:p>
            <a:pPr algn="just"/>
            <a:endParaRPr/>
          </a:p>
        </p:txBody>
      </p:sp>
      <p:sp>
        <p:nvSpPr>
          <p:cNvPr id="9" name="object 9"/>
          <p:cNvSpPr/>
          <p:nvPr/>
        </p:nvSpPr>
        <p:spPr>
          <a:xfrm>
            <a:off x="6627260" y="4640147"/>
            <a:ext cx="115909" cy="117908"/>
          </a:xfrm>
          <a:prstGeom prst="rect">
            <a:avLst/>
          </a:prstGeom>
          <a:blipFill>
            <a:blip r:embed="rId5" cstate="print"/>
            <a:stretch>
              <a:fillRect/>
            </a:stretch>
          </a:blipFill>
        </p:spPr>
        <p:txBody>
          <a:bodyPr wrap="square" lIns="0" tIns="0" rIns="0" bIns="0" rtlCol="0"/>
          <a:lstStyle/>
          <a:p>
            <a:pPr algn="just"/>
            <a:endParaRPr/>
          </a:p>
        </p:txBody>
      </p:sp>
      <p:sp>
        <p:nvSpPr>
          <p:cNvPr id="10" name="object 10"/>
          <p:cNvSpPr txBox="1"/>
          <p:nvPr/>
        </p:nvSpPr>
        <p:spPr>
          <a:xfrm>
            <a:off x="8294442" y="4386582"/>
            <a:ext cx="838200" cy="269240"/>
          </a:xfrm>
          <a:prstGeom prst="rect">
            <a:avLst/>
          </a:prstGeom>
        </p:spPr>
        <p:txBody>
          <a:bodyPr vert="horz" wrap="square" lIns="0" tIns="12700" rIns="0" bIns="0" rtlCol="0">
            <a:spAutoFit/>
          </a:bodyPr>
          <a:lstStyle/>
          <a:p>
            <a:pPr marL="12700" algn="just">
              <a:lnSpc>
                <a:spcPct val="100000"/>
              </a:lnSpc>
              <a:spcBef>
                <a:spcPts val="100"/>
              </a:spcBef>
            </a:pPr>
            <a:r>
              <a:rPr sz="1600" dirty="0">
                <a:latin typeface="微软雅黑" panose="020B0503020204020204" pitchFamily="34" charset="-122"/>
                <a:cs typeface="微软雅黑" panose="020B0503020204020204" pitchFamily="34" charset="-122"/>
              </a:rPr>
              <a:t>转发请求</a:t>
            </a:r>
            <a:endParaRPr sz="1600">
              <a:latin typeface="微软雅黑" panose="020B0503020204020204" pitchFamily="34" charset="-122"/>
              <a:cs typeface="微软雅黑" panose="020B0503020204020204" pitchFamily="34" charset="-122"/>
            </a:endParaRPr>
          </a:p>
        </p:txBody>
      </p:sp>
      <p:sp>
        <p:nvSpPr>
          <p:cNvPr id="11" name="object 11"/>
          <p:cNvSpPr/>
          <p:nvPr/>
        </p:nvSpPr>
        <p:spPr>
          <a:xfrm>
            <a:off x="8083058" y="4699098"/>
            <a:ext cx="1254760" cy="0"/>
          </a:xfrm>
          <a:custGeom>
            <a:avLst/>
            <a:gdLst/>
            <a:ahLst/>
            <a:cxnLst/>
            <a:rect l="l" t="t" r="r" b="b"/>
            <a:pathLst>
              <a:path w="1254759">
                <a:moveTo>
                  <a:pt x="1254551" y="0"/>
                </a:moveTo>
                <a:lnTo>
                  <a:pt x="0" y="4"/>
                </a:lnTo>
              </a:path>
            </a:pathLst>
          </a:custGeom>
          <a:ln w="19354">
            <a:solidFill>
              <a:srgbClr val="4C4848"/>
            </a:solidFill>
          </a:ln>
        </p:spPr>
        <p:txBody>
          <a:bodyPr wrap="square" lIns="0" tIns="0" rIns="0" bIns="0" rtlCol="0"/>
          <a:lstStyle/>
          <a:p>
            <a:pPr algn="just"/>
            <a:endParaRPr/>
          </a:p>
        </p:txBody>
      </p:sp>
      <p:sp>
        <p:nvSpPr>
          <p:cNvPr id="12" name="object 12"/>
          <p:cNvSpPr/>
          <p:nvPr/>
        </p:nvSpPr>
        <p:spPr>
          <a:xfrm>
            <a:off x="9247308" y="4640143"/>
            <a:ext cx="115909" cy="117909"/>
          </a:xfrm>
          <a:prstGeom prst="rect">
            <a:avLst/>
          </a:prstGeom>
          <a:blipFill>
            <a:blip r:embed="rId5" cstate="print"/>
            <a:stretch>
              <a:fillRect/>
            </a:stretch>
          </a:blipFill>
        </p:spPr>
        <p:txBody>
          <a:bodyPr wrap="square" lIns="0" tIns="0" rIns="0" bIns="0" rtlCol="0"/>
          <a:lstStyle/>
          <a:p>
            <a:pPr algn="just"/>
            <a:endParaRPr/>
          </a:p>
        </p:txBody>
      </p:sp>
      <p:sp>
        <p:nvSpPr>
          <p:cNvPr id="13" name="object 13"/>
          <p:cNvSpPr/>
          <p:nvPr/>
        </p:nvSpPr>
        <p:spPr>
          <a:xfrm>
            <a:off x="8108665" y="4902304"/>
            <a:ext cx="1254760" cy="0"/>
          </a:xfrm>
          <a:custGeom>
            <a:avLst/>
            <a:gdLst/>
            <a:ahLst/>
            <a:cxnLst/>
            <a:rect l="l" t="t" r="r" b="b"/>
            <a:pathLst>
              <a:path w="1254759">
                <a:moveTo>
                  <a:pt x="1254552" y="0"/>
                </a:moveTo>
                <a:lnTo>
                  <a:pt x="0" y="3"/>
                </a:lnTo>
              </a:path>
            </a:pathLst>
          </a:custGeom>
          <a:ln w="19354">
            <a:solidFill>
              <a:srgbClr val="4C4848"/>
            </a:solidFill>
          </a:ln>
        </p:spPr>
        <p:txBody>
          <a:bodyPr wrap="square" lIns="0" tIns="0" rIns="0" bIns="0" rtlCol="0"/>
          <a:lstStyle/>
          <a:p>
            <a:pPr algn="just"/>
            <a:endParaRPr/>
          </a:p>
        </p:txBody>
      </p:sp>
      <p:sp>
        <p:nvSpPr>
          <p:cNvPr id="14" name="object 14"/>
          <p:cNvSpPr/>
          <p:nvPr/>
        </p:nvSpPr>
        <p:spPr>
          <a:xfrm>
            <a:off x="8103217" y="4843355"/>
            <a:ext cx="115909" cy="117908"/>
          </a:xfrm>
          <a:prstGeom prst="rect">
            <a:avLst/>
          </a:prstGeom>
          <a:blipFill>
            <a:blip r:embed="rId6" cstate="print"/>
            <a:stretch>
              <a:fillRect/>
            </a:stretch>
          </a:blipFill>
        </p:spPr>
        <p:txBody>
          <a:bodyPr wrap="square" lIns="0" tIns="0" rIns="0" bIns="0" rtlCol="0"/>
          <a:lstStyle/>
          <a:p>
            <a:pPr algn="just"/>
            <a:endParaRPr/>
          </a:p>
        </p:txBody>
      </p:sp>
      <p:sp>
        <p:nvSpPr>
          <p:cNvPr id="15" name="object 15"/>
          <p:cNvSpPr txBox="1"/>
          <p:nvPr/>
        </p:nvSpPr>
        <p:spPr>
          <a:xfrm>
            <a:off x="8285210" y="4945394"/>
            <a:ext cx="838200" cy="269240"/>
          </a:xfrm>
          <a:prstGeom prst="rect">
            <a:avLst/>
          </a:prstGeom>
        </p:spPr>
        <p:txBody>
          <a:bodyPr vert="horz" wrap="square" lIns="0" tIns="12700" rIns="0" bIns="0" rtlCol="0">
            <a:spAutoFit/>
          </a:bodyPr>
          <a:lstStyle/>
          <a:p>
            <a:pPr marL="12700" algn="just">
              <a:lnSpc>
                <a:spcPct val="100000"/>
              </a:lnSpc>
              <a:spcBef>
                <a:spcPts val="100"/>
              </a:spcBef>
            </a:pPr>
            <a:r>
              <a:rPr sz="1600" dirty="0">
                <a:latin typeface="微软雅黑" panose="020B0503020204020204" pitchFamily="34" charset="-122"/>
                <a:cs typeface="微软雅黑" panose="020B0503020204020204" pitchFamily="34" charset="-122"/>
              </a:rPr>
              <a:t>返回数据</a:t>
            </a:r>
            <a:endParaRPr sz="1600">
              <a:latin typeface="微软雅黑" panose="020B0503020204020204" pitchFamily="34" charset="-122"/>
              <a:cs typeface="微软雅黑" panose="020B0503020204020204" pitchFamily="34" charset="-122"/>
            </a:endParaRPr>
          </a:p>
        </p:txBody>
      </p:sp>
      <p:sp>
        <p:nvSpPr>
          <p:cNvPr id="16" name="object 16"/>
          <p:cNvSpPr/>
          <p:nvPr/>
        </p:nvSpPr>
        <p:spPr>
          <a:xfrm>
            <a:off x="5471685" y="4902301"/>
            <a:ext cx="1254760" cy="0"/>
          </a:xfrm>
          <a:custGeom>
            <a:avLst/>
            <a:gdLst/>
            <a:ahLst/>
            <a:cxnLst/>
            <a:rect l="l" t="t" r="r" b="b"/>
            <a:pathLst>
              <a:path w="1254759">
                <a:moveTo>
                  <a:pt x="1254551" y="0"/>
                </a:moveTo>
                <a:lnTo>
                  <a:pt x="0" y="3"/>
                </a:lnTo>
              </a:path>
            </a:pathLst>
          </a:custGeom>
          <a:ln w="19354">
            <a:solidFill>
              <a:srgbClr val="4C4848"/>
            </a:solidFill>
          </a:ln>
        </p:spPr>
        <p:txBody>
          <a:bodyPr wrap="square" lIns="0" tIns="0" rIns="0" bIns="0" rtlCol="0"/>
          <a:lstStyle/>
          <a:p>
            <a:pPr algn="just"/>
            <a:endParaRPr/>
          </a:p>
        </p:txBody>
      </p:sp>
      <p:sp>
        <p:nvSpPr>
          <p:cNvPr id="17" name="object 17"/>
          <p:cNvSpPr/>
          <p:nvPr/>
        </p:nvSpPr>
        <p:spPr>
          <a:xfrm>
            <a:off x="5466236" y="4843351"/>
            <a:ext cx="115909" cy="117909"/>
          </a:xfrm>
          <a:prstGeom prst="rect">
            <a:avLst/>
          </a:prstGeom>
          <a:blipFill>
            <a:blip r:embed="rId7" cstate="print"/>
            <a:stretch>
              <a:fillRect/>
            </a:stretch>
          </a:blipFill>
        </p:spPr>
        <p:txBody>
          <a:bodyPr wrap="square" lIns="0" tIns="0" rIns="0" bIns="0" rtlCol="0"/>
          <a:lstStyle/>
          <a:p>
            <a:pPr algn="just"/>
            <a:endParaRPr/>
          </a:p>
        </p:txBody>
      </p:sp>
      <p:sp>
        <p:nvSpPr>
          <p:cNvPr id="18" name="object 18"/>
          <p:cNvSpPr txBox="1"/>
          <p:nvPr/>
        </p:nvSpPr>
        <p:spPr>
          <a:xfrm>
            <a:off x="5645917" y="4962327"/>
            <a:ext cx="838200" cy="269240"/>
          </a:xfrm>
          <a:prstGeom prst="rect">
            <a:avLst/>
          </a:prstGeom>
        </p:spPr>
        <p:txBody>
          <a:bodyPr vert="horz" wrap="square" lIns="0" tIns="12700" rIns="0" bIns="0" rtlCol="0">
            <a:spAutoFit/>
          </a:bodyPr>
          <a:lstStyle/>
          <a:p>
            <a:pPr marL="12700" algn="just">
              <a:lnSpc>
                <a:spcPct val="100000"/>
              </a:lnSpc>
              <a:spcBef>
                <a:spcPts val="100"/>
              </a:spcBef>
            </a:pPr>
            <a:r>
              <a:rPr sz="1600" dirty="0">
                <a:latin typeface="微软雅黑" panose="020B0503020204020204" pitchFamily="34" charset="-122"/>
                <a:cs typeface="微软雅黑" panose="020B0503020204020204" pitchFamily="34" charset="-122"/>
              </a:rPr>
              <a:t>返回数据</a:t>
            </a:r>
            <a:endParaRPr sz="1600">
              <a:latin typeface="微软雅黑" panose="020B0503020204020204" pitchFamily="34" charset="-122"/>
              <a:cs typeface="微软雅黑" panose="020B0503020204020204" pitchFamily="34" charset="-122"/>
            </a:endParaRPr>
          </a:p>
        </p:txBody>
      </p:sp>
      <p:sp>
        <p:nvSpPr>
          <p:cNvPr id="19" name="object 19"/>
          <p:cNvSpPr txBox="1"/>
          <p:nvPr/>
        </p:nvSpPr>
        <p:spPr>
          <a:xfrm>
            <a:off x="3232150" y="4962326"/>
            <a:ext cx="838200" cy="269240"/>
          </a:xfrm>
          <a:prstGeom prst="rect">
            <a:avLst/>
          </a:prstGeom>
        </p:spPr>
        <p:txBody>
          <a:bodyPr vert="horz" wrap="square" lIns="0" tIns="12700" rIns="0" bIns="0" rtlCol="0">
            <a:spAutoFit/>
          </a:bodyPr>
          <a:lstStyle/>
          <a:p>
            <a:pPr marL="12700" algn="just">
              <a:lnSpc>
                <a:spcPct val="100000"/>
              </a:lnSpc>
              <a:spcBef>
                <a:spcPts val="100"/>
              </a:spcBef>
            </a:pPr>
            <a:r>
              <a:rPr sz="1600" dirty="0">
                <a:latin typeface="微软雅黑" panose="020B0503020204020204" pitchFamily="34" charset="-122"/>
                <a:cs typeface="微软雅黑" panose="020B0503020204020204" pitchFamily="34" charset="-122"/>
              </a:rPr>
              <a:t>回复消息</a:t>
            </a:r>
          </a:p>
        </p:txBody>
      </p:sp>
      <p:sp>
        <p:nvSpPr>
          <p:cNvPr id="20" name="object 20"/>
          <p:cNvSpPr/>
          <p:nvPr/>
        </p:nvSpPr>
        <p:spPr>
          <a:xfrm>
            <a:off x="3128971" y="4902288"/>
            <a:ext cx="1092835" cy="635"/>
          </a:xfrm>
          <a:custGeom>
            <a:avLst/>
            <a:gdLst/>
            <a:ahLst/>
            <a:cxnLst/>
            <a:rect l="l" t="t" r="r" b="b"/>
            <a:pathLst>
              <a:path w="1092835" h="635">
                <a:moveTo>
                  <a:pt x="1092679" y="12"/>
                </a:moveTo>
                <a:lnTo>
                  <a:pt x="0" y="0"/>
                </a:lnTo>
              </a:path>
            </a:pathLst>
          </a:custGeom>
          <a:ln w="19354">
            <a:solidFill>
              <a:srgbClr val="4C4848"/>
            </a:solidFill>
          </a:ln>
        </p:spPr>
        <p:txBody>
          <a:bodyPr wrap="square" lIns="0" tIns="0" rIns="0" bIns="0" rtlCol="0"/>
          <a:lstStyle/>
          <a:p>
            <a:pPr algn="just"/>
            <a:endParaRPr/>
          </a:p>
        </p:txBody>
      </p:sp>
      <p:sp>
        <p:nvSpPr>
          <p:cNvPr id="22" name="object 22"/>
          <p:cNvSpPr/>
          <p:nvPr/>
        </p:nvSpPr>
        <p:spPr>
          <a:xfrm>
            <a:off x="9421514" y="4162660"/>
            <a:ext cx="1282866" cy="1278152"/>
          </a:xfrm>
          <a:prstGeom prst="rect">
            <a:avLst/>
          </a:prstGeom>
          <a:blipFill>
            <a:blip r:embed="rId8" cstate="print"/>
            <a:stretch>
              <a:fillRect/>
            </a:stretch>
          </a:blipFill>
        </p:spPr>
        <p:txBody>
          <a:bodyPr wrap="square" lIns="0" tIns="0" rIns="0" bIns="0" rtlCol="0"/>
          <a:lstStyle/>
          <a:p>
            <a:pPr algn="just"/>
            <a:endParaRPr/>
          </a:p>
        </p:txBody>
      </p:sp>
      <p:sp>
        <p:nvSpPr>
          <p:cNvPr id="23" name="object 23"/>
          <p:cNvSpPr txBox="1"/>
          <p:nvPr/>
        </p:nvSpPr>
        <p:spPr>
          <a:xfrm>
            <a:off x="9454316" y="5659027"/>
            <a:ext cx="1165194" cy="299720"/>
          </a:xfrm>
          <a:prstGeom prst="rect">
            <a:avLst/>
          </a:prstGeom>
        </p:spPr>
        <p:txBody>
          <a:bodyPr vert="horz" wrap="square" lIns="0" tIns="12700" rIns="0" bIns="0" rtlCol="0">
            <a:spAutoFit/>
          </a:bodyPr>
          <a:lstStyle/>
          <a:p>
            <a:pPr marL="12700" algn="just">
              <a:lnSpc>
                <a:spcPct val="100000"/>
              </a:lnSpc>
              <a:spcBef>
                <a:spcPts val="100"/>
              </a:spcBef>
            </a:pPr>
            <a:r>
              <a:rPr sz="1800" dirty="0" err="1">
                <a:solidFill>
                  <a:srgbClr val="0033CC"/>
                </a:solidFill>
                <a:latin typeface="微软雅黑" panose="020B0503020204020204" pitchFamily="34" charset="-122"/>
                <a:cs typeface="微软雅黑" panose="020B0503020204020204" pitchFamily="34" charset="-122"/>
              </a:rPr>
              <a:t>辅助服务器</a:t>
            </a:r>
            <a:endParaRPr sz="1800" dirty="0">
              <a:latin typeface="微软雅黑" panose="020B0503020204020204" pitchFamily="34" charset="-122"/>
              <a:cs typeface="微软雅黑" panose="020B0503020204020204" pitchFamily="34" charset="-122"/>
            </a:endParaRPr>
          </a:p>
        </p:txBody>
      </p:sp>
      <p:sp>
        <p:nvSpPr>
          <p:cNvPr id="24" name="object 24"/>
          <p:cNvSpPr txBox="1"/>
          <p:nvPr/>
        </p:nvSpPr>
        <p:spPr>
          <a:xfrm>
            <a:off x="4278733" y="5664944"/>
            <a:ext cx="1439477" cy="289823"/>
          </a:xfrm>
          <a:prstGeom prst="rect">
            <a:avLst/>
          </a:prstGeom>
        </p:spPr>
        <p:txBody>
          <a:bodyPr vert="horz" wrap="square" lIns="0" tIns="12700" rIns="0" bIns="0" rtlCol="0">
            <a:spAutoFit/>
          </a:bodyPr>
          <a:lstStyle/>
          <a:p>
            <a:pPr marL="12700" algn="just">
              <a:lnSpc>
                <a:spcPct val="100000"/>
              </a:lnSpc>
              <a:spcBef>
                <a:spcPts val="100"/>
              </a:spcBef>
            </a:pPr>
            <a:r>
              <a:rPr lang="zh-CN" altLang="en-US" dirty="0">
                <a:solidFill>
                  <a:srgbClr val="0033CC"/>
                </a:solidFill>
                <a:latin typeface="微软雅黑" panose="020B0503020204020204" pitchFamily="34" charset="-122"/>
                <a:ea typeface="微软雅黑" panose="020B0503020204020204" pitchFamily="34" charset="-122"/>
                <a:cs typeface="微软雅黑" panose="020B0503020204020204" pitchFamily="34" charset="-122"/>
              </a:rPr>
              <a:t>微信服务器</a:t>
            </a:r>
            <a:endParaRPr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object 25"/>
          <p:cNvSpPr/>
          <p:nvPr/>
        </p:nvSpPr>
        <p:spPr>
          <a:xfrm>
            <a:off x="4176809" y="4162661"/>
            <a:ext cx="1274598" cy="1280087"/>
          </a:xfrm>
          <a:prstGeom prst="rect">
            <a:avLst/>
          </a:prstGeom>
          <a:blipFill>
            <a:blip r:embed="rId9" cstate="print"/>
            <a:stretch>
              <a:fillRect/>
            </a:stretch>
          </a:blipFill>
        </p:spPr>
        <p:txBody>
          <a:bodyPr wrap="square" lIns="0" tIns="0" rIns="0" bIns="0" rtlCol="0"/>
          <a:lstStyle/>
          <a:p>
            <a:pPr algn="just"/>
            <a:endParaRPr/>
          </a:p>
        </p:txBody>
      </p:sp>
      <p:sp>
        <p:nvSpPr>
          <p:cNvPr id="26" name="object 26"/>
          <p:cNvSpPr txBox="1"/>
          <p:nvPr/>
        </p:nvSpPr>
        <p:spPr>
          <a:xfrm>
            <a:off x="6735505" y="5679857"/>
            <a:ext cx="1658908" cy="289823"/>
          </a:xfrm>
          <a:prstGeom prst="rect">
            <a:avLst/>
          </a:prstGeom>
        </p:spPr>
        <p:txBody>
          <a:bodyPr vert="horz" wrap="square" lIns="0" tIns="12700" rIns="0" bIns="0" rtlCol="0">
            <a:spAutoFit/>
          </a:bodyPr>
          <a:lstStyle/>
          <a:p>
            <a:pPr marL="12700" algn="just">
              <a:lnSpc>
                <a:spcPct val="100000"/>
              </a:lnSpc>
              <a:spcBef>
                <a:spcPts val="100"/>
              </a:spcBef>
            </a:pPr>
            <a:r>
              <a:rPr lang="zh-CN" altLang="en-US" dirty="0">
                <a:solidFill>
                  <a:srgbClr val="0033CC"/>
                </a:solidFill>
                <a:latin typeface="微软雅黑" panose="020B0503020204020204" pitchFamily="34" charset="-122"/>
                <a:ea typeface="微软雅黑" panose="020B0503020204020204" pitchFamily="34" charset="-122"/>
                <a:cs typeface="微软雅黑" panose="020B0503020204020204" pitchFamily="34" charset="-122"/>
              </a:rPr>
              <a:t>智慧</a:t>
            </a:r>
            <a:r>
              <a:rPr lang="zh-CN" altLang="en-US" sz="1800" dirty="0">
                <a:solidFill>
                  <a:srgbClr val="0033CC"/>
                </a:solidFill>
                <a:latin typeface="微软雅黑" panose="020B0503020204020204" pitchFamily="34" charset="-122"/>
                <a:ea typeface="微软雅黑" panose="020B0503020204020204" pitchFamily="34" charset="-122"/>
                <a:cs typeface="微软雅黑" panose="020B0503020204020204" pitchFamily="34" charset="-122"/>
              </a:rPr>
              <a:t>课堂服务器</a:t>
            </a:r>
            <a:endParaRPr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object 27"/>
          <p:cNvSpPr/>
          <p:nvPr/>
        </p:nvSpPr>
        <p:spPr>
          <a:xfrm>
            <a:off x="6764642" y="4161109"/>
            <a:ext cx="1282866" cy="1278153"/>
          </a:xfrm>
          <a:prstGeom prst="rect">
            <a:avLst/>
          </a:prstGeom>
          <a:blipFill>
            <a:blip r:embed="rId8" cstate="print"/>
            <a:stretch>
              <a:fillRect/>
            </a:stretch>
          </a:blipFill>
        </p:spPr>
        <p:txBody>
          <a:bodyPr wrap="square" lIns="0" tIns="0" rIns="0" bIns="0" rtlCol="0"/>
          <a:lstStyle/>
          <a:p>
            <a:pPr algn="just"/>
            <a:endParaRPr/>
          </a:p>
        </p:txBody>
      </p:sp>
      <p:sp>
        <p:nvSpPr>
          <p:cNvPr id="32" name="object 32"/>
          <p:cNvSpPr/>
          <p:nvPr/>
        </p:nvSpPr>
        <p:spPr>
          <a:xfrm>
            <a:off x="7991299" y="2935347"/>
            <a:ext cx="1463017" cy="865475"/>
          </a:xfrm>
          <a:prstGeom prst="rect">
            <a:avLst/>
          </a:prstGeom>
          <a:blipFill>
            <a:blip r:embed="rId10" cstate="print"/>
            <a:stretch>
              <a:fillRect/>
            </a:stretch>
          </a:blipFill>
        </p:spPr>
        <p:txBody>
          <a:bodyPr wrap="square" lIns="0" tIns="0" rIns="0" bIns="0" rtlCol="0"/>
          <a:lstStyle/>
          <a:p>
            <a:pPr algn="just"/>
            <a:endParaRPr/>
          </a:p>
        </p:txBody>
      </p:sp>
      <p:sp>
        <p:nvSpPr>
          <p:cNvPr id="33" name="object 33"/>
          <p:cNvSpPr/>
          <p:nvPr/>
        </p:nvSpPr>
        <p:spPr>
          <a:xfrm>
            <a:off x="7991300" y="2935399"/>
            <a:ext cx="1486535" cy="879475"/>
          </a:xfrm>
          <a:custGeom>
            <a:avLst/>
            <a:gdLst/>
            <a:ahLst/>
            <a:cxnLst/>
            <a:rect l="l" t="t" r="r" b="b"/>
            <a:pathLst>
              <a:path w="1486534" h="879475">
                <a:moveTo>
                  <a:pt x="134136" y="289272"/>
                </a:moveTo>
                <a:lnTo>
                  <a:pt x="133036" y="246082"/>
                </a:lnTo>
                <a:lnTo>
                  <a:pt x="143761" y="205148"/>
                </a:lnTo>
                <a:lnTo>
                  <a:pt x="165115" y="167735"/>
                </a:lnTo>
                <a:lnTo>
                  <a:pt x="195906" y="135108"/>
                </a:lnTo>
                <a:lnTo>
                  <a:pt x="234941" y="108531"/>
                </a:lnTo>
                <a:lnTo>
                  <a:pt x="281026" y="89269"/>
                </a:lnTo>
                <a:lnTo>
                  <a:pt x="332967" y="78587"/>
                </a:lnTo>
                <a:lnTo>
                  <a:pt x="371624" y="76972"/>
                </a:lnTo>
                <a:lnTo>
                  <a:pt x="409819" y="80513"/>
                </a:lnTo>
                <a:lnTo>
                  <a:pt x="446766" y="89083"/>
                </a:lnTo>
                <a:lnTo>
                  <a:pt x="481679" y="102555"/>
                </a:lnTo>
                <a:lnTo>
                  <a:pt x="510338" y="70288"/>
                </a:lnTo>
                <a:lnTo>
                  <a:pt x="547221" y="46064"/>
                </a:lnTo>
                <a:lnTo>
                  <a:pt x="589963" y="30467"/>
                </a:lnTo>
                <a:lnTo>
                  <a:pt x="636200" y="24080"/>
                </a:lnTo>
                <a:lnTo>
                  <a:pt x="683568" y="27489"/>
                </a:lnTo>
                <a:lnTo>
                  <a:pt x="729703" y="41278"/>
                </a:lnTo>
                <a:lnTo>
                  <a:pt x="772327" y="66507"/>
                </a:lnTo>
                <a:lnTo>
                  <a:pt x="800357" y="35017"/>
                </a:lnTo>
                <a:lnTo>
                  <a:pt x="837823" y="12947"/>
                </a:lnTo>
                <a:lnTo>
                  <a:pt x="881409" y="1193"/>
                </a:lnTo>
                <a:lnTo>
                  <a:pt x="927799" y="649"/>
                </a:lnTo>
                <a:lnTo>
                  <a:pt x="973677" y="12208"/>
                </a:lnTo>
                <a:lnTo>
                  <a:pt x="988564" y="19081"/>
                </a:lnTo>
                <a:lnTo>
                  <a:pt x="1002340" y="27250"/>
                </a:lnTo>
                <a:lnTo>
                  <a:pt x="1014875" y="36630"/>
                </a:lnTo>
                <a:lnTo>
                  <a:pt x="1026039" y="47135"/>
                </a:lnTo>
                <a:lnTo>
                  <a:pt x="1066675" y="19177"/>
                </a:lnTo>
                <a:lnTo>
                  <a:pt x="1114415" y="3379"/>
                </a:lnTo>
                <a:lnTo>
                  <a:pt x="1165381" y="0"/>
                </a:lnTo>
                <a:lnTo>
                  <a:pt x="1215695" y="9295"/>
                </a:lnTo>
                <a:lnTo>
                  <a:pt x="1261478" y="31522"/>
                </a:lnTo>
                <a:lnTo>
                  <a:pt x="1298186" y="66900"/>
                </a:lnTo>
                <a:lnTo>
                  <a:pt x="1317866" y="110171"/>
                </a:lnTo>
                <a:lnTo>
                  <a:pt x="1363191" y="125621"/>
                </a:lnTo>
                <a:lnTo>
                  <a:pt x="1400609" y="149325"/>
                </a:lnTo>
                <a:lnTo>
                  <a:pt x="1428891" y="179549"/>
                </a:lnTo>
                <a:lnTo>
                  <a:pt x="1446810" y="214559"/>
                </a:lnTo>
                <a:lnTo>
                  <a:pt x="1453140" y="252623"/>
                </a:lnTo>
                <a:lnTo>
                  <a:pt x="1446651" y="292008"/>
                </a:lnTo>
                <a:lnTo>
                  <a:pt x="1444414" y="298643"/>
                </a:lnTo>
                <a:lnTo>
                  <a:pt x="1441607" y="305145"/>
                </a:lnTo>
                <a:lnTo>
                  <a:pt x="1438251" y="311466"/>
                </a:lnTo>
                <a:lnTo>
                  <a:pt x="1465914" y="348633"/>
                </a:lnTo>
                <a:lnTo>
                  <a:pt x="1481887" y="388584"/>
                </a:lnTo>
                <a:lnTo>
                  <a:pt x="1486426" y="429737"/>
                </a:lnTo>
                <a:lnTo>
                  <a:pt x="1479788" y="470512"/>
                </a:lnTo>
                <a:lnTo>
                  <a:pt x="1462232" y="509330"/>
                </a:lnTo>
                <a:lnTo>
                  <a:pt x="1434013" y="544608"/>
                </a:lnTo>
                <a:lnTo>
                  <a:pt x="1395390" y="574768"/>
                </a:lnTo>
                <a:lnTo>
                  <a:pt x="1343872" y="598911"/>
                </a:lnTo>
                <a:lnTo>
                  <a:pt x="1286440" y="611734"/>
                </a:lnTo>
                <a:lnTo>
                  <a:pt x="1278909" y="654280"/>
                </a:lnTo>
                <a:lnTo>
                  <a:pt x="1258471" y="692423"/>
                </a:lnTo>
                <a:lnTo>
                  <a:pt x="1227039" y="724647"/>
                </a:lnTo>
                <a:lnTo>
                  <a:pt x="1186523" y="749439"/>
                </a:lnTo>
                <a:lnTo>
                  <a:pt x="1138836" y="765284"/>
                </a:lnTo>
                <a:lnTo>
                  <a:pt x="1085889" y="770665"/>
                </a:lnTo>
                <a:lnTo>
                  <a:pt x="1058567" y="768969"/>
                </a:lnTo>
                <a:lnTo>
                  <a:pt x="1031917" y="764294"/>
                </a:lnTo>
                <a:lnTo>
                  <a:pt x="1006311" y="756729"/>
                </a:lnTo>
                <a:lnTo>
                  <a:pt x="982122" y="746360"/>
                </a:lnTo>
                <a:lnTo>
                  <a:pt x="960822" y="786109"/>
                </a:lnTo>
                <a:lnTo>
                  <a:pt x="929938" y="819826"/>
                </a:lnTo>
                <a:lnTo>
                  <a:pt x="891207" y="846757"/>
                </a:lnTo>
                <a:lnTo>
                  <a:pt x="846366" y="866151"/>
                </a:lnTo>
                <a:lnTo>
                  <a:pt x="797155" y="877257"/>
                </a:lnTo>
                <a:lnTo>
                  <a:pt x="745312" y="879323"/>
                </a:lnTo>
                <a:lnTo>
                  <a:pt x="692574" y="871597"/>
                </a:lnTo>
                <a:lnTo>
                  <a:pt x="655421" y="859596"/>
                </a:lnTo>
                <a:lnTo>
                  <a:pt x="621603" y="842758"/>
                </a:lnTo>
                <a:lnTo>
                  <a:pt x="591830" y="821509"/>
                </a:lnTo>
                <a:lnTo>
                  <a:pt x="566812" y="796275"/>
                </a:lnTo>
                <a:lnTo>
                  <a:pt x="523704" y="813196"/>
                </a:lnTo>
                <a:lnTo>
                  <a:pt x="478851" y="823363"/>
                </a:lnTo>
                <a:lnTo>
                  <a:pt x="433281" y="826984"/>
                </a:lnTo>
                <a:lnTo>
                  <a:pt x="388025" y="824268"/>
                </a:lnTo>
                <a:lnTo>
                  <a:pt x="344112" y="815421"/>
                </a:lnTo>
                <a:lnTo>
                  <a:pt x="302569" y="800650"/>
                </a:lnTo>
                <a:lnTo>
                  <a:pt x="264426" y="780163"/>
                </a:lnTo>
                <a:lnTo>
                  <a:pt x="230713" y="754166"/>
                </a:lnTo>
                <a:lnTo>
                  <a:pt x="202458" y="722869"/>
                </a:lnTo>
                <a:lnTo>
                  <a:pt x="199652" y="719002"/>
                </a:lnTo>
                <a:lnTo>
                  <a:pt x="151688" y="717341"/>
                </a:lnTo>
                <a:lnTo>
                  <a:pt x="108323" y="704204"/>
                </a:lnTo>
                <a:lnTo>
                  <a:pt x="72300" y="681332"/>
                </a:lnTo>
                <a:lnTo>
                  <a:pt x="46360" y="650466"/>
                </a:lnTo>
                <a:lnTo>
                  <a:pt x="33242" y="613346"/>
                </a:lnTo>
                <a:lnTo>
                  <a:pt x="32994" y="587058"/>
                </a:lnTo>
                <a:lnTo>
                  <a:pt x="39727" y="561638"/>
                </a:lnTo>
                <a:lnTo>
                  <a:pt x="53081" y="537970"/>
                </a:lnTo>
                <a:lnTo>
                  <a:pt x="72695" y="516932"/>
                </a:lnTo>
                <a:lnTo>
                  <a:pt x="28436" y="484905"/>
                </a:lnTo>
                <a:lnTo>
                  <a:pt x="3631" y="443066"/>
                </a:lnTo>
                <a:lnTo>
                  <a:pt x="0" y="396743"/>
                </a:lnTo>
                <a:lnTo>
                  <a:pt x="19260" y="351266"/>
                </a:lnTo>
                <a:lnTo>
                  <a:pt x="40505" y="328520"/>
                </a:lnTo>
                <a:lnTo>
                  <a:pt x="67335" y="310639"/>
                </a:lnTo>
                <a:lnTo>
                  <a:pt x="98533" y="298259"/>
                </a:lnTo>
                <a:lnTo>
                  <a:pt x="132885" y="292013"/>
                </a:lnTo>
                <a:lnTo>
                  <a:pt x="134136" y="289272"/>
                </a:lnTo>
                <a:close/>
              </a:path>
            </a:pathLst>
          </a:custGeom>
          <a:ln w="6451">
            <a:solidFill>
              <a:srgbClr val="6CACDD"/>
            </a:solidFill>
          </a:ln>
        </p:spPr>
        <p:txBody>
          <a:bodyPr wrap="square" lIns="0" tIns="0" rIns="0" bIns="0" rtlCol="0"/>
          <a:lstStyle/>
          <a:p>
            <a:pPr algn="just"/>
            <a:endParaRPr/>
          </a:p>
        </p:txBody>
      </p:sp>
      <p:sp>
        <p:nvSpPr>
          <p:cNvPr id="34" name="object 34"/>
          <p:cNvSpPr/>
          <p:nvPr/>
        </p:nvSpPr>
        <p:spPr>
          <a:xfrm>
            <a:off x="8065589" y="3448906"/>
            <a:ext cx="87630" cy="16510"/>
          </a:xfrm>
          <a:custGeom>
            <a:avLst/>
            <a:gdLst/>
            <a:ahLst/>
            <a:cxnLst/>
            <a:rect l="l" t="t" r="r" b="b"/>
            <a:pathLst>
              <a:path w="87629" h="16510">
                <a:moveTo>
                  <a:pt x="87121" y="16231"/>
                </a:moveTo>
                <a:lnTo>
                  <a:pt x="64382" y="16261"/>
                </a:lnTo>
                <a:lnTo>
                  <a:pt x="42027" y="13517"/>
                </a:lnTo>
                <a:lnTo>
                  <a:pt x="20439" y="8073"/>
                </a:lnTo>
                <a:lnTo>
                  <a:pt x="0" y="0"/>
                </a:lnTo>
              </a:path>
            </a:pathLst>
          </a:custGeom>
          <a:ln w="6451">
            <a:solidFill>
              <a:srgbClr val="6CACDD"/>
            </a:solidFill>
          </a:ln>
        </p:spPr>
        <p:txBody>
          <a:bodyPr wrap="square" lIns="0" tIns="0" rIns="0" bIns="0" rtlCol="0"/>
          <a:lstStyle/>
          <a:p>
            <a:pPr algn="just"/>
            <a:endParaRPr/>
          </a:p>
        </p:txBody>
      </p:sp>
      <p:sp>
        <p:nvSpPr>
          <p:cNvPr id="35" name="object 35"/>
          <p:cNvSpPr/>
          <p:nvPr/>
        </p:nvSpPr>
        <p:spPr>
          <a:xfrm>
            <a:off x="8191460" y="3642773"/>
            <a:ext cx="38735" cy="8255"/>
          </a:xfrm>
          <a:custGeom>
            <a:avLst/>
            <a:gdLst/>
            <a:ahLst/>
            <a:cxnLst/>
            <a:rect l="l" t="t" r="r" b="b"/>
            <a:pathLst>
              <a:path w="38734" h="8254">
                <a:moveTo>
                  <a:pt x="38116" y="0"/>
                </a:moveTo>
                <a:lnTo>
                  <a:pt x="28841" y="2695"/>
                </a:lnTo>
                <a:lnTo>
                  <a:pt x="19376" y="4892"/>
                </a:lnTo>
                <a:lnTo>
                  <a:pt x="9752" y="6586"/>
                </a:lnTo>
                <a:lnTo>
                  <a:pt x="0" y="7768"/>
                </a:lnTo>
              </a:path>
            </a:pathLst>
          </a:custGeom>
          <a:ln w="6451">
            <a:solidFill>
              <a:srgbClr val="6CACDD"/>
            </a:solidFill>
          </a:ln>
        </p:spPr>
        <p:txBody>
          <a:bodyPr wrap="square" lIns="0" tIns="0" rIns="0" bIns="0" rtlCol="0"/>
          <a:lstStyle/>
          <a:p>
            <a:pPr algn="just"/>
            <a:endParaRPr/>
          </a:p>
        </p:txBody>
      </p:sp>
      <p:sp>
        <p:nvSpPr>
          <p:cNvPr id="36" name="object 36"/>
          <p:cNvSpPr/>
          <p:nvPr/>
        </p:nvSpPr>
        <p:spPr>
          <a:xfrm>
            <a:off x="8535061" y="3692690"/>
            <a:ext cx="23495" cy="35560"/>
          </a:xfrm>
          <a:custGeom>
            <a:avLst/>
            <a:gdLst/>
            <a:ahLst/>
            <a:cxnLst/>
            <a:rect l="l" t="t" r="r" b="b"/>
            <a:pathLst>
              <a:path w="23495" h="35560">
                <a:moveTo>
                  <a:pt x="22966" y="35437"/>
                </a:moveTo>
                <a:lnTo>
                  <a:pt x="16352" y="26959"/>
                </a:lnTo>
                <a:lnTo>
                  <a:pt x="10311" y="18214"/>
                </a:lnTo>
                <a:lnTo>
                  <a:pt x="4856" y="9221"/>
                </a:lnTo>
                <a:lnTo>
                  <a:pt x="0" y="0"/>
                </a:lnTo>
              </a:path>
            </a:pathLst>
          </a:custGeom>
          <a:ln w="6451">
            <a:solidFill>
              <a:srgbClr val="6CACDD"/>
            </a:solidFill>
          </a:ln>
        </p:spPr>
        <p:txBody>
          <a:bodyPr wrap="square" lIns="0" tIns="0" rIns="0" bIns="0" rtlCol="0"/>
          <a:lstStyle/>
          <a:p>
            <a:pPr algn="just"/>
            <a:endParaRPr/>
          </a:p>
        </p:txBody>
      </p:sp>
      <p:sp>
        <p:nvSpPr>
          <p:cNvPr id="37" name="object 37"/>
          <p:cNvSpPr/>
          <p:nvPr/>
        </p:nvSpPr>
        <p:spPr>
          <a:xfrm>
            <a:off x="8973572" y="3639759"/>
            <a:ext cx="9525" cy="39370"/>
          </a:xfrm>
          <a:custGeom>
            <a:avLst/>
            <a:gdLst/>
            <a:ahLst/>
            <a:cxnLst/>
            <a:rect l="l" t="t" r="r" b="b"/>
            <a:pathLst>
              <a:path w="9525" h="39370">
                <a:moveTo>
                  <a:pt x="9170" y="0"/>
                </a:moveTo>
                <a:lnTo>
                  <a:pt x="7834" y="9858"/>
                </a:lnTo>
                <a:lnTo>
                  <a:pt x="5857" y="19638"/>
                </a:lnTo>
                <a:lnTo>
                  <a:pt x="3244" y="29320"/>
                </a:lnTo>
                <a:lnTo>
                  <a:pt x="0" y="38884"/>
                </a:lnTo>
              </a:path>
            </a:pathLst>
          </a:custGeom>
          <a:ln w="6451">
            <a:solidFill>
              <a:srgbClr val="6CACDD"/>
            </a:solidFill>
          </a:ln>
        </p:spPr>
        <p:txBody>
          <a:bodyPr wrap="square" lIns="0" tIns="0" rIns="0" bIns="0" rtlCol="0"/>
          <a:lstStyle/>
          <a:p>
            <a:pPr algn="just"/>
            <a:endParaRPr/>
          </a:p>
        </p:txBody>
      </p:sp>
      <p:sp>
        <p:nvSpPr>
          <p:cNvPr id="38" name="object 38"/>
          <p:cNvSpPr/>
          <p:nvPr/>
        </p:nvSpPr>
        <p:spPr>
          <a:xfrm>
            <a:off x="9165092" y="3399497"/>
            <a:ext cx="112395" cy="145415"/>
          </a:xfrm>
          <a:custGeom>
            <a:avLst/>
            <a:gdLst/>
            <a:ahLst/>
            <a:cxnLst/>
            <a:rect l="l" t="t" r="r" b="b"/>
            <a:pathLst>
              <a:path w="112395" h="145414">
                <a:moveTo>
                  <a:pt x="0" y="0"/>
                </a:moveTo>
                <a:lnTo>
                  <a:pt x="46641" y="25432"/>
                </a:lnTo>
                <a:lnTo>
                  <a:pt x="81994" y="59648"/>
                </a:lnTo>
                <a:lnTo>
                  <a:pt x="104306" y="100372"/>
                </a:lnTo>
                <a:lnTo>
                  <a:pt x="111825" y="145326"/>
                </a:lnTo>
              </a:path>
            </a:pathLst>
          </a:custGeom>
          <a:ln w="6451">
            <a:solidFill>
              <a:srgbClr val="6CACDD"/>
            </a:solidFill>
          </a:ln>
        </p:spPr>
        <p:txBody>
          <a:bodyPr wrap="square" lIns="0" tIns="0" rIns="0" bIns="0" rtlCol="0"/>
          <a:lstStyle/>
          <a:p>
            <a:pPr algn="just"/>
            <a:endParaRPr/>
          </a:p>
        </p:txBody>
      </p:sp>
      <p:sp>
        <p:nvSpPr>
          <p:cNvPr id="39" name="object 39"/>
          <p:cNvSpPr/>
          <p:nvPr/>
        </p:nvSpPr>
        <p:spPr>
          <a:xfrm>
            <a:off x="9379057" y="3244713"/>
            <a:ext cx="50165" cy="54610"/>
          </a:xfrm>
          <a:custGeom>
            <a:avLst/>
            <a:gdLst/>
            <a:ahLst/>
            <a:cxnLst/>
            <a:rect l="l" t="t" r="r" b="b"/>
            <a:pathLst>
              <a:path w="50165" h="54610">
                <a:moveTo>
                  <a:pt x="49793" y="0"/>
                </a:moveTo>
                <a:lnTo>
                  <a:pt x="40338" y="15301"/>
                </a:lnTo>
                <a:lnTo>
                  <a:pt x="28804" y="29576"/>
                </a:lnTo>
                <a:lnTo>
                  <a:pt x="15316" y="42685"/>
                </a:lnTo>
                <a:lnTo>
                  <a:pt x="0" y="54493"/>
                </a:lnTo>
              </a:path>
            </a:pathLst>
          </a:custGeom>
          <a:ln w="6451">
            <a:solidFill>
              <a:srgbClr val="6CACDD"/>
            </a:solidFill>
          </a:ln>
        </p:spPr>
        <p:txBody>
          <a:bodyPr wrap="square" lIns="0" tIns="0" rIns="0" bIns="0" rtlCol="0"/>
          <a:lstStyle/>
          <a:p>
            <a:pPr algn="just"/>
            <a:endParaRPr/>
          </a:p>
        </p:txBody>
      </p:sp>
      <p:sp>
        <p:nvSpPr>
          <p:cNvPr id="40" name="object 40"/>
          <p:cNvSpPr/>
          <p:nvPr/>
        </p:nvSpPr>
        <p:spPr>
          <a:xfrm>
            <a:off x="9309370" y="3042516"/>
            <a:ext cx="3175" cy="26034"/>
          </a:xfrm>
          <a:custGeom>
            <a:avLst/>
            <a:gdLst/>
            <a:ahLst/>
            <a:cxnLst/>
            <a:rect l="l" t="t" r="r" b="b"/>
            <a:pathLst>
              <a:path w="3175" h="26035">
                <a:moveTo>
                  <a:pt x="0" y="0"/>
                </a:moveTo>
                <a:lnTo>
                  <a:pt x="1234" y="6390"/>
                </a:lnTo>
                <a:lnTo>
                  <a:pt x="2084" y="12817"/>
                </a:lnTo>
                <a:lnTo>
                  <a:pt x="2549" y="19269"/>
                </a:lnTo>
                <a:lnTo>
                  <a:pt x="2628" y="25736"/>
                </a:lnTo>
              </a:path>
            </a:pathLst>
          </a:custGeom>
          <a:ln w="6451">
            <a:solidFill>
              <a:srgbClr val="6CACDD"/>
            </a:solidFill>
          </a:ln>
        </p:spPr>
        <p:txBody>
          <a:bodyPr wrap="square" lIns="0" tIns="0" rIns="0" bIns="0" rtlCol="0"/>
          <a:lstStyle/>
          <a:p>
            <a:pPr algn="just"/>
            <a:endParaRPr/>
          </a:p>
        </p:txBody>
      </p:sp>
      <p:sp>
        <p:nvSpPr>
          <p:cNvPr id="41" name="object 41"/>
          <p:cNvSpPr/>
          <p:nvPr/>
        </p:nvSpPr>
        <p:spPr>
          <a:xfrm>
            <a:off x="8991376" y="2979674"/>
            <a:ext cx="26034" cy="33020"/>
          </a:xfrm>
          <a:custGeom>
            <a:avLst/>
            <a:gdLst/>
            <a:ahLst/>
            <a:cxnLst/>
            <a:rect l="l" t="t" r="r" b="b"/>
            <a:pathLst>
              <a:path w="26034" h="33019">
                <a:moveTo>
                  <a:pt x="0" y="32821"/>
                </a:moveTo>
                <a:lnTo>
                  <a:pt x="5255" y="24075"/>
                </a:lnTo>
                <a:lnTo>
                  <a:pt x="11275" y="15667"/>
                </a:lnTo>
                <a:lnTo>
                  <a:pt x="18034" y="7632"/>
                </a:lnTo>
                <a:lnTo>
                  <a:pt x="25508" y="0"/>
                </a:lnTo>
              </a:path>
            </a:pathLst>
          </a:custGeom>
          <a:ln w="6451">
            <a:solidFill>
              <a:srgbClr val="6CACDD"/>
            </a:solidFill>
          </a:ln>
        </p:spPr>
        <p:txBody>
          <a:bodyPr wrap="square" lIns="0" tIns="0" rIns="0" bIns="0" rtlCol="0"/>
          <a:lstStyle/>
          <a:p>
            <a:pPr algn="just"/>
            <a:endParaRPr/>
          </a:p>
        </p:txBody>
      </p:sp>
      <p:sp>
        <p:nvSpPr>
          <p:cNvPr id="42" name="object 42"/>
          <p:cNvSpPr/>
          <p:nvPr/>
        </p:nvSpPr>
        <p:spPr>
          <a:xfrm>
            <a:off x="8752793" y="2999831"/>
            <a:ext cx="12700" cy="28575"/>
          </a:xfrm>
          <a:custGeom>
            <a:avLst/>
            <a:gdLst/>
            <a:ahLst/>
            <a:cxnLst/>
            <a:rect l="l" t="t" r="r" b="b"/>
            <a:pathLst>
              <a:path w="12700" h="28575">
                <a:moveTo>
                  <a:pt x="0" y="28306"/>
                </a:moveTo>
                <a:lnTo>
                  <a:pt x="2265" y="21007"/>
                </a:lnTo>
                <a:lnTo>
                  <a:pt x="5086" y="13843"/>
                </a:lnTo>
                <a:lnTo>
                  <a:pt x="8452" y="6833"/>
                </a:lnTo>
                <a:lnTo>
                  <a:pt x="12355" y="0"/>
                </a:lnTo>
              </a:path>
            </a:pathLst>
          </a:custGeom>
          <a:ln w="6451">
            <a:solidFill>
              <a:srgbClr val="6CACDD"/>
            </a:solidFill>
          </a:ln>
        </p:spPr>
        <p:txBody>
          <a:bodyPr wrap="square" lIns="0" tIns="0" rIns="0" bIns="0" rtlCol="0"/>
          <a:lstStyle/>
          <a:p>
            <a:pPr algn="just"/>
            <a:endParaRPr/>
          </a:p>
        </p:txBody>
      </p:sp>
      <p:sp>
        <p:nvSpPr>
          <p:cNvPr id="43" name="object 43"/>
          <p:cNvSpPr/>
          <p:nvPr/>
        </p:nvSpPr>
        <p:spPr>
          <a:xfrm>
            <a:off x="8472802" y="3037750"/>
            <a:ext cx="45085" cy="27940"/>
          </a:xfrm>
          <a:custGeom>
            <a:avLst/>
            <a:gdLst/>
            <a:ahLst/>
            <a:cxnLst/>
            <a:rect l="l" t="t" r="r" b="b"/>
            <a:pathLst>
              <a:path w="45084" h="27939">
                <a:moveTo>
                  <a:pt x="0" y="0"/>
                </a:moveTo>
                <a:lnTo>
                  <a:pt x="11937" y="6035"/>
                </a:lnTo>
                <a:lnTo>
                  <a:pt x="23388" y="12636"/>
                </a:lnTo>
                <a:lnTo>
                  <a:pt x="34321" y="19785"/>
                </a:lnTo>
                <a:lnTo>
                  <a:pt x="44705" y="27461"/>
                </a:lnTo>
              </a:path>
            </a:pathLst>
          </a:custGeom>
          <a:ln w="6451">
            <a:solidFill>
              <a:srgbClr val="6CACDD"/>
            </a:solidFill>
          </a:ln>
        </p:spPr>
        <p:txBody>
          <a:bodyPr wrap="square" lIns="0" tIns="0" rIns="0" bIns="0" rtlCol="0"/>
          <a:lstStyle/>
          <a:p>
            <a:pPr algn="just"/>
            <a:endParaRPr/>
          </a:p>
        </p:txBody>
      </p:sp>
      <p:sp>
        <p:nvSpPr>
          <p:cNvPr id="44" name="object 44"/>
          <p:cNvSpPr/>
          <p:nvPr/>
        </p:nvSpPr>
        <p:spPr>
          <a:xfrm>
            <a:off x="8125442" y="3224679"/>
            <a:ext cx="8255" cy="29209"/>
          </a:xfrm>
          <a:custGeom>
            <a:avLst/>
            <a:gdLst/>
            <a:ahLst/>
            <a:cxnLst/>
            <a:rect l="l" t="t" r="r" b="b"/>
            <a:pathLst>
              <a:path w="8254" h="29210">
                <a:moveTo>
                  <a:pt x="7801" y="28892"/>
                </a:moveTo>
                <a:lnTo>
                  <a:pt x="5320" y="21767"/>
                </a:lnTo>
                <a:lnTo>
                  <a:pt x="3191" y="14570"/>
                </a:lnTo>
                <a:lnTo>
                  <a:pt x="1417" y="7312"/>
                </a:lnTo>
                <a:lnTo>
                  <a:pt x="0" y="0"/>
                </a:lnTo>
              </a:path>
            </a:pathLst>
          </a:custGeom>
          <a:ln w="6451">
            <a:solidFill>
              <a:srgbClr val="6CACDD"/>
            </a:solidFill>
          </a:ln>
        </p:spPr>
        <p:txBody>
          <a:bodyPr wrap="square" lIns="0" tIns="0" rIns="0" bIns="0" rtlCol="0"/>
          <a:lstStyle/>
          <a:p>
            <a:pPr algn="just"/>
            <a:endParaRPr/>
          </a:p>
        </p:txBody>
      </p:sp>
      <p:sp>
        <p:nvSpPr>
          <p:cNvPr id="45" name="object 45"/>
          <p:cNvSpPr txBox="1"/>
          <p:nvPr/>
        </p:nvSpPr>
        <p:spPr>
          <a:xfrm>
            <a:off x="8239910" y="3213724"/>
            <a:ext cx="939800" cy="289823"/>
          </a:xfrm>
          <a:prstGeom prst="rect">
            <a:avLst/>
          </a:prstGeom>
        </p:spPr>
        <p:txBody>
          <a:bodyPr vert="horz" wrap="square" lIns="0" tIns="12700" rIns="0" bIns="0" rtlCol="0">
            <a:spAutoFit/>
          </a:bodyPr>
          <a:lstStyle/>
          <a:p>
            <a:pPr marL="12700" algn="just">
              <a:lnSpc>
                <a:spcPct val="100000"/>
              </a:lnSpc>
              <a:spcBef>
                <a:spcPts val="100"/>
              </a:spcBef>
            </a:pPr>
            <a:r>
              <a:rPr lang="zh-CN" altLang="en-US" sz="18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教务系统</a:t>
            </a:r>
            <a:endParaRPr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object 46"/>
          <p:cNvSpPr/>
          <p:nvPr/>
        </p:nvSpPr>
        <p:spPr>
          <a:xfrm>
            <a:off x="9475903" y="3601875"/>
            <a:ext cx="407670" cy="434975"/>
          </a:xfrm>
          <a:custGeom>
            <a:avLst/>
            <a:gdLst/>
            <a:ahLst/>
            <a:cxnLst/>
            <a:rect l="l" t="t" r="r" b="b"/>
            <a:pathLst>
              <a:path w="407670" h="434975">
                <a:moveTo>
                  <a:pt x="0" y="0"/>
                </a:moveTo>
                <a:lnTo>
                  <a:pt x="407482" y="434544"/>
                </a:lnTo>
              </a:path>
            </a:pathLst>
          </a:custGeom>
          <a:ln w="19354">
            <a:solidFill>
              <a:srgbClr val="4C4848"/>
            </a:solidFill>
          </a:ln>
        </p:spPr>
        <p:txBody>
          <a:bodyPr wrap="square" lIns="0" tIns="0" rIns="0" bIns="0" rtlCol="0"/>
          <a:lstStyle/>
          <a:p>
            <a:pPr algn="just"/>
            <a:endParaRPr/>
          </a:p>
        </p:txBody>
      </p:sp>
      <p:sp>
        <p:nvSpPr>
          <p:cNvPr id="47" name="object 47"/>
          <p:cNvSpPr/>
          <p:nvPr/>
        </p:nvSpPr>
        <p:spPr>
          <a:xfrm>
            <a:off x="9458386" y="3583194"/>
            <a:ext cx="115962" cy="118320"/>
          </a:xfrm>
          <a:prstGeom prst="rect">
            <a:avLst/>
          </a:prstGeom>
          <a:blipFill>
            <a:blip r:embed="rId11" cstate="print"/>
            <a:stretch>
              <a:fillRect/>
            </a:stretch>
          </a:blipFill>
        </p:spPr>
        <p:txBody>
          <a:bodyPr wrap="square" lIns="0" tIns="0" rIns="0" bIns="0" rtlCol="0"/>
          <a:lstStyle/>
          <a:p>
            <a:pPr algn="just"/>
            <a:endParaRPr/>
          </a:p>
        </p:txBody>
      </p:sp>
      <p:sp>
        <p:nvSpPr>
          <p:cNvPr id="48" name="object 48"/>
          <p:cNvSpPr/>
          <p:nvPr/>
        </p:nvSpPr>
        <p:spPr>
          <a:xfrm>
            <a:off x="9360645" y="3677863"/>
            <a:ext cx="407670" cy="434975"/>
          </a:xfrm>
          <a:custGeom>
            <a:avLst/>
            <a:gdLst/>
            <a:ahLst/>
            <a:cxnLst/>
            <a:rect l="l" t="t" r="r" b="b"/>
            <a:pathLst>
              <a:path w="407670" h="434975">
                <a:moveTo>
                  <a:pt x="0" y="0"/>
                </a:moveTo>
                <a:lnTo>
                  <a:pt x="407482" y="434544"/>
                </a:lnTo>
              </a:path>
            </a:pathLst>
          </a:custGeom>
          <a:ln w="19354">
            <a:solidFill>
              <a:srgbClr val="4C4848"/>
            </a:solidFill>
          </a:ln>
        </p:spPr>
        <p:txBody>
          <a:bodyPr wrap="square" lIns="0" tIns="0" rIns="0" bIns="0" rtlCol="0"/>
          <a:lstStyle/>
          <a:p>
            <a:pPr algn="just"/>
            <a:endParaRPr/>
          </a:p>
        </p:txBody>
      </p:sp>
      <p:sp>
        <p:nvSpPr>
          <p:cNvPr id="49" name="object 49"/>
          <p:cNvSpPr/>
          <p:nvPr/>
        </p:nvSpPr>
        <p:spPr>
          <a:xfrm>
            <a:off x="9662989" y="4005629"/>
            <a:ext cx="115962" cy="118320"/>
          </a:xfrm>
          <a:prstGeom prst="rect">
            <a:avLst/>
          </a:prstGeom>
          <a:blipFill>
            <a:blip r:embed="rId12" cstate="print"/>
            <a:stretch>
              <a:fillRect/>
            </a:stretch>
          </a:blipFill>
        </p:spPr>
        <p:txBody>
          <a:bodyPr wrap="square" lIns="0" tIns="0" rIns="0" bIns="0" rtlCol="0"/>
          <a:lstStyle/>
          <a:p>
            <a:pPr algn="just"/>
            <a:endParaRPr/>
          </a:p>
        </p:txBody>
      </p:sp>
      <p:sp>
        <p:nvSpPr>
          <p:cNvPr id="50" name="object 50"/>
          <p:cNvSpPr/>
          <p:nvPr/>
        </p:nvSpPr>
        <p:spPr>
          <a:xfrm>
            <a:off x="7506747" y="3581068"/>
            <a:ext cx="408305" cy="434340"/>
          </a:xfrm>
          <a:custGeom>
            <a:avLst/>
            <a:gdLst/>
            <a:ahLst/>
            <a:cxnLst/>
            <a:rect l="l" t="t" r="r" b="b"/>
            <a:pathLst>
              <a:path w="408304" h="434339">
                <a:moveTo>
                  <a:pt x="407770" y="0"/>
                </a:moveTo>
                <a:lnTo>
                  <a:pt x="0" y="434173"/>
                </a:lnTo>
              </a:path>
            </a:pathLst>
          </a:custGeom>
          <a:ln w="19354">
            <a:solidFill>
              <a:srgbClr val="4C4848"/>
            </a:solidFill>
          </a:ln>
        </p:spPr>
        <p:txBody>
          <a:bodyPr wrap="square" lIns="0" tIns="0" rIns="0" bIns="0" rtlCol="0"/>
          <a:lstStyle/>
          <a:p>
            <a:pPr algn="just"/>
            <a:endParaRPr/>
          </a:p>
        </p:txBody>
      </p:sp>
      <p:sp>
        <p:nvSpPr>
          <p:cNvPr id="51" name="object 51"/>
          <p:cNvSpPr/>
          <p:nvPr/>
        </p:nvSpPr>
        <p:spPr>
          <a:xfrm>
            <a:off x="7816056" y="3562402"/>
            <a:ext cx="115992" cy="118295"/>
          </a:xfrm>
          <a:prstGeom prst="rect">
            <a:avLst/>
          </a:prstGeom>
          <a:blipFill>
            <a:blip r:embed="rId13" cstate="print"/>
            <a:stretch>
              <a:fillRect/>
            </a:stretch>
          </a:blipFill>
        </p:spPr>
        <p:txBody>
          <a:bodyPr wrap="square" lIns="0" tIns="0" rIns="0" bIns="0" rtlCol="0"/>
          <a:lstStyle/>
          <a:p>
            <a:pPr algn="just"/>
            <a:endParaRPr/>
          </a:p>
        </p:txBody>
      </p:sp>
      <p:sp>
        <p:nvSpPr>
          <p:cNvPr id="52" name="object 52"/>
          <p:cNvSpPr/>
          <p:nvPr/>
        </p:nvSpPr>
        <p:spPr>
          <a:xfrm>
            <a:off x="7618958" y="3657070"/>
            <a:ext cx="408305" cy="434340"/>
          </a:xfrm>
          <a:custGeom>
            <a:avLst/>
            <a:gdLst/>
            <a:ahLst/>
            <a:cxnLst/>
            <a:rect l="l" t="t" r="r" b="b"/>
            <a:pathLst>
              <a:path w="408304" h="434339">
                <a:moveTo>
                  <a:pt x="407770" y="0"/>
                </a:moveTo>
                <a:lnTo>
                  <a:pt x="0" y="434173"/>
                </a:lnTo>
              </a:path>
            </a:pathLst>
          </a:custGeom>
          <a:ln w="19354">
            <a:solidFill>
              <a:srgbClr val="4C4848"/>
            </a:solidFill>
          </a:ln>
        </p:spPr>
        <p:txBody>
          <a:bodyPr wrap="square" lIns="0" tIns="0" rIns="0" bIns="0" rtlCol="0"/>
          <a:lstStyle/>
          <a:p>
            <a:pPr algn="just"/>
            <a:endParaRPr/>
          </a:p>
        </p:txBody>
      </p:sp>
      <p:sp>
        <p:nvSpPr>
          <p:cNvPr id="53" name="object 53"/>
          <p:cNvSpPr/>
          <p:nvPr/>
        </p:nvSpPr>
        <p:spPr>
          <a:xfrm>
            <a:off x="7608124" y="3984484"/>
            <a:ext cx="115992" cy="118294"/>
          </a:xfrm>
          <a:prstGeom prst="rect">
            <a:avLst/>
          </a:prstGeom>
          <a:blipFill>
            <a:blip r:embed="rId14" cstate="print"/>
            <a:stretch>
              <a:fillRect/>
            </a:stretch>
          </a:blipFill>
        </p:spPr>
        <p:txBody>
          <a:bodyPr wrap="square" lIns="0" tIns="0" rIns="0" bIns="0" rtlCol="0"/>
          <a:lstStyle/>
          <a:p>
            <a:pPr algn="just"/>
            <a:endParaRPr/>
          </a:p>
        </p:txBody>
      </p:sp>
      <p:sp>
        <p:nvSpPr>
          <p:cNvPr id="54" name="灯片编号占位符 53"/>
          <p:cNvSpPr>
            <a:spLocks noGrp="1"/>
          </p:cNvSpPr>
          <p:nvPr>
            <p:ph type="sldNum" sz="quarter" idx="12"/>
          </p:nvPr>
        </p:nvSpPr>
        <p:spPr/>
        <p:txBody>
          <a:bodyPr/>
          <a:lstStyle/>
          <a:p>
            <a:fld id="{74D2AB8B-5816-41F2-8B4B-CA5C3E4E6A65}" type="slidenum">
              <a:rPr lang="zh-CN" altLang="en-US" smtClean="0"/>
              <a:t>37</a:t>
            </a:fld>
            <a:endParaRPr lang="zh-CN" altLang="en-US"/>
          </a:p>
        </p:txBody>
      </p:sp>
      <p:grpSp>
        <p:nvGrpSpPr>
          <p:cNvPr id="57" name="组合 56"/>
          <p:cNvGrpSpPr/>
          <p:nvPr/>
        </p:nvGrpSpPr>
        <p:grpSpPr>
          <a:xfrm>
            <a:off x="1298013" y="3778739"/>
            <a:ext cx="1938869" cy="2172277"/>
            <a:chOff x="1298013" y="3778739"/>
            <a:chExt cx="1938869" cy="2172277"/>
          </a:xfrm>
        </p:grpSpPr>
        <p:sp>
          <p:nvSpPr>
            <p:cNvPr id="21" name="object 21"/>
            <p:cNvSpPr/>
            <p:nvPr/>
          </p:nvSpPr>
          <p:spPr>
            <a:xfrm>
              <a:off x="3120973" y="4843336"/>
              <a:ext cx="115909" cy="117908"/>
            </a:xfrm>
            <a:prstGeom prst="rect">
              <a:avLst/>
            </a:prstGeom>
            <a:blipFill>
              <a:blip r:embed="rId15" cstate="print"/>
              <a:stretch>
                <a:fillRect/>
              </a:stretch>
            </a:blipFill>
          </p:spPr>
          <p:txBody>
            <a:bodyPr wrap="square" lIns="0" tIns="0" rIns="0" bIns="0" rtlCol="0"/>
            <a:lstStyle/>
            <a:p>
              <a:pPr algn="just"/>
              <a:endParaRPr/>
            </a:p>
          </p:txBody>
        </p:sp>
        <p:sp>
          <p:nvSpPr>
            <p:cNvPr id="28" name="object 28"/>
            <p:cNvSpPr/>
            <p:nvPr/>
          </p:nvSpPr>
          <p:spPr>
            <a:xfrm>
              <a:off x="1966440" y="3778739"/>
              <a:ext cx="513233" cy="513232"/>
            </a:xfrm>
            <a:prstGeom prst="rect">
              <a:avLst/>
            </a:prstGeom>
            <a:blipFill>
              <a:blip r:embed="rId16" cstate="print"/>
              <a:stretch>
                <a:fillRect/>
              </a:stretch>
            </a:blipFill>
          </p:spPr>
          <p:txBody>
            <a:bodyPr wrap="square" lIns="0" tIns="0" rIns="0" bIns="0" rtlCol="0"/>
            <a:lstStyle/>
            <a:p>
              <a:pPr algn="just"/>
              <a:endParaRPr/>
            </a:p>
          </p:txBody>
        </p:sp>
        <p:sp>
          <p:nvSpPr>
            <p:cNvPr id="29" name="object 29"/>
            <p:cNvSpPr/>
            <p:nvPr/>
          </p:nvSpPr>
          <p:spPr>
            <a:xfrm>
              <a:off x="1487620" y="4055775"/>
              <a:ext cx="646729" cy="646729"/>
            </a:xfrm>
            <a:prstGeom prst="rect">
              <a:avLst/>
            </a:prstGeom>
            <a:blipFill>
              <a:blip r:embed="rId17" cstate="print"/>
              <a:stretch>
                <a:fillRect/>
              </a:stretch>
            </a:blipFill>
          </p:spPr>
          <p:txBody>
            <a:bodyPr wrap="square" lIns="0" tIns="0" rIns="0" bIns="0" rtlCol="0"/>
            <a:lstStyle/>
            <a:p>
              <a:pPr algn="just"/>
              <a:endParaRPr/>
            </a:p>
          </p:txBody>
        </p:sp>
        <p:sp>
          <p:nvSpPr>
            <p:cNvPr id="30" name="object 30"/>
            <p:cNvSpPr/>
            <p:nvPr/>
          </p:nvSpPr>
          <p:spPr>
            <a:xfrm>
              <a:off x="1505537" y="4650337"/>
              <a:ext cx="956946" cy="993008"/>
            </a:xfrm>
            <a:prstGeom prst="rect">
              <a:avLst/>
            </a:prstGeom>
            <a:blipFill>
              <a:blip r:embed="rId18" cstate="print"/>
              <a:stretch>
                <a:fillRect/>
              </a:stretch>
            </a:blipFill>
          </p:spPr>
          <p:txBody>
            <a:bodyPr wrap="square" lIns="0" tIns="0" rIns="0" bIns="0" rtlCol="0"/>
            <a:lstStyle/>
            <a:p>
              <a:pPr algn="just"/>
              <a:endParaRPr/>
            </a:p>
          </p:txBody>
        </p:sp>
        <p:sp>
          <p:nvSpPr>
            <p:cNvPr id="31" name="object 31"/>
            <p:cNvSpPr/>
            <p:nvPr/>
          </p:nvSpPr>
          <p:spPr>
            <a:xfrm>
              <a:off x="2017752" y="4102916"/>
              <a:ext cx="1163132" cy="1163132"/>
            </a:xfrm>
            <a:prstGeom prst="rect">
              <a:avLst/>
            </a:prstGeom>
            <a:blipFill>
              <a:blip r:embed="rId19" cstate="print"/>
              <a:stretch>
                <a:fillRect/>
              </a:stretch>
            </a:blipFill>
          </p:spPr>
          <p:txBody>
            <a:bodyPr wrap="square" lIns="0" tIns="0" rIns="0" bIns="0" rtlCol="0"/>
            <a:lstStyle/>
            <a:p>
              <a:pPr algn="just"/>
              <a:endParaRPr/>
            </a:p>
          </p:txBody>
        </p:sp>
        <p:sp>
          <p:nvSpPr>
            <p:cNvPr id="56" name="object 24"/>
            <p:cNvSpPr txBox="1"/>
            <p:nvPr/>
          </p:nvSpPr>
          <p:spPr>
            <a:xfrm>
              <a:off x="1298013" y="5661193"/>
              <a:ext cx="1658909" cy="289823"/>
            </a:xfrm>
            <a:prstGeom prst="rect">
              <a:avLst/>
            </a:prstGeom>
          </p:spPr>
          <p:txBody>
            <a:bodyPr vert="horz" wrap="square" lIns="0" tIns="12700" rIns="0" bIns="0" rtlCol="0">
              <a:spAutoFit/>
            </a:bodyPr>
            <a:lstStyle/>
            <a:p>
              <a:pPr marL="12700" algn="just">
                <a:lnSpc>
                  <a:spcPct val="100000"/>
                </a:lnSpc>
                <a:spcBef>
                  <a:spcPts val="100"/>
                </a:spcBef>
              </a:pPr>
              <a:r>
                <a:rPr lang="zh-CN" altLang="en-US" dirty="0">
                  <a:solidFill>
                    <a:srgbClr val="0033CC"/>
                  </a:solidFill>
                  <a:latin typeface="微软雅黑" panose="020B0503020204020204" pitchFamily="34" charset="-122"/>
                  <a:ea typeface="微软雅黑" panose="020B0503020204020204" pitchFamily="34" charset="-122"/>
                  <a:cs typeface="微软雅黑" panose="020B0503020204020204" pitchFamily="34" charset="-122"/>
                </a:rPr>
                <a:t>智慧课堂小程序</a:t>
              </a:r>
              <a:endParaRPr sz="18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P spid="6" grpId="0" bldLvl="0" animBg="1"/>
      <p:bldP spid="7" grpId="0"/>
      <p:bldP spid="8" grpId="0" bldLvl="0" animBg="1"/>
      <p:bldP spid="9" grpId="0" bldLvl="0" animBg="1"/>
      <p:bldP spid="10" grpId="0"/>
      <p:bldP spid="11" grpId="0" bldLvl="0" animBg="1"/>
      <p:bldP spid="12" grpId="0" bldLvl="0" animBg="1"/>
      <p:bldP spid="13" grpId="0" bldLvl="0" animBg="1"/>
      <p:bldP spid="14" grpId="0" bldLvl="0" animBg="1"/>
      <p:bldP spid="15" grpId="0"/>
      <p:bldP spid="16" grpId="0" bldLvl="0" animBg="1"/>
      <p:bldP spid="17" grpId="0" bldLvl="0" animBg="1"/>
      <p:bldP spid="18" grpId="0"/>
      <p:bldP spid="19" grpId="0"/>
      <p:bldP spid="20" grpId="0" bldLvl="0" animBg="1"/>
      <p:bldP spid="22" grpId="0" bldLvl="0" animBg="1"/>
      <p:bldP spid="23" grpId="0"/>
      <p:bldP spid="24" grpId="0"/>
      <p:bldP spid="25" grpId="0" bldLvl="0" animBg="1"/>
      <p:bldP spid="26" grpId="0"/>
      <p:bldP spid="27" grpId="0" bldLvl="0" animBg="1"/>
      <p:bldP spid="32" grpId="0" bldLvl="0" animBg="1"/>
      <p:bldP spid="33" grpId="0" bldLvl="0" animBg="1"/>
      <p:bldP spid="34" grpId="0" bldLvl="0" animBg="1"/>
      <p:bldP spid="35" grpId="0" bldLvl="0" animBg="1"/>
      <p:bldP spid="36" grpId="0" bldLvl="0" animBg="1"/>
      <p:bldP spid="37" grpId="0" bldLvl="0" animBg="1"/>
      <p:bldP spid="38" grpId="0" bldLvl="0" animBg="1"/>
      <p:bldP spid="39" grpId="0" bldLvl="0" animBg="1"/>
      <p:bldP spid="40" grpId="0" bldLvl="0" animBg="1"/>
      <p:bldP spid="41" grpId="0" bldLvl="0" animBg="1"/>
      <p:bldP spid="42" grpId="0" bldLvl="0" animBg="1"/>
      <p:bldP spid="43" grpId="0" bldLvl="0" animBg="1"/>
      <p:bldP spid="44" grpId="0" bldLvl="0" animBg="1"/>
      <p:bldP spid="45" grpId="0"/>
      <p:bldP spid="46" grpId="0" bldLvl="0" animBg="1"/>
      <p:bldP spid="47" grpId="0" bldLvl="0" animBg="1"/>
      <p:bldP spid="48" grpId="0" bldLvl="0" animBg="1"/>
      <p:bldP spid="49" grpId="0" bldLvl="0" animBg="1"/>
      <p:bldP spid="50" grpId="0" bldLvl="0" animBg="1"/>
      <p:bldP spid="51" grpId="0" bldLvl="0" animBg="1"/>
      <p:bldP spid="52" grpId="0" bldLvl="0" animBg="1"/>
      <p:bldP spid="53"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软件的复杂性（三）</a:t>
            </a:r>
          </a:p>
        </p:txBody>
      </p:sp>
      <p:sp>
        <p:nvSpPr>
          <p:cNvPr id="3" name="内容占位符 2"/>
          <p:cNvSpPr>
            <a:spLocks noGrp="1"/>
          </p:cNvSpPr>
          <p:nvPr>
            <p:ph idx="1"/>
          </p:nvPr>
        </p:nvSpPr>
        <p:spPr/>
        <p:txBody>
          <a:bodyPr>
            <a:normAutofit/>
          </a:bodyPr>
          <a:lstStyle/>
          <a:p>
            <a:pPr algn="just"/>
            <a:r>
              <a:rPr lang="zh-CN" altLang="en-US" sz="2400" dirty="0">
                <a:latin typeface="微软雅黑" panose="020B0503020204020204" pitchFamily="34" charset="-122"/>
                <a:ea typeface="微软雅黑" panose="020B0503020204020204" pitchFamily="34" charset="-122"/>
              </a:rPr>
              <a:t>软件和软硬环境随着时间推移而变化。</a:t>
            </a:r>
          </a:p>
        </p:txBody>
      </p:sp>
      <p:sp>
        <p:nvSpPr>
          <p:cNvPr id="55" name="object 3"/>
          <p:cNvSpPr/>
          <p:nvPr/>
        </p:nvSpPr>
        <p:spPr>
          <a:xfrm>
            <a:off x="1459239" y="4238920"/>
            <a:ext cx="2424540" cy="691458"/>
          </a:xfrm>
          <a:prstGeom prst="rect">
            <a:avLst/>
          </a:prstGeom>
          <a:blipFill>
            <a:blip r:embed="rId4" cstate="print"/>
            <a:stretch>
              <a:fillRect/>
            </a:stretch>
          </a:blipFill>
        </p:spPr>
        <p:txBody>
          <a:bodyPr wrap="square" lIns="0" tIns="0" rIns="0" bIns="0" rtlCol="0"/>
          <a:lstStyle/>
          <a:p>
            <a:pPr algn="just"/>
            <a:endParaRPr sz="1200"/>
          </a:p>
        </p:txBody>
      </p:sp>
      <p:sp>
        <p:nvSpPr>
          <p:cNvPr id="56" name="object 4"/>
          <p:cNvSpPr/>
          <p:nvPr/>
        </p:nvSpPr>
        <p:spPr>
          <a:xfrm>
            <a:off x="2260569" y="4299463"/>
            <a:ext cx="815029" cy="579933"/>
          </a:xfrm>
          <a:prstGeom prst="rect">
            <a:avLst/>
          </a:prstGeom>
          <a:blipFill>
            <a:blip r:embed="rId5" cstate="print"/>
            <a:stretch>
              <a:fillRect/>
            </a:stretch>
          </a:blipFill>
        </p:spPr>
        <p:txBody>
          <a:bodyPr wrap="square" lIns="0" tIns="0" rIns="0" bIns="0" rtlCol="0"/>
          <a:lstStyle/>
          <a:p>
            <a:pPr algn="just"/>
            <a:endParaRPr sz="1200"/>
          </a:p>
        </p:txBody>
      </p:sp>
      <p:sp>
        <p:nvSpPr>
          <p:cNvPr id="57" name="object 5"/>
          <p:cNvSpPr/>
          <p:nvPr/>
        </p:nvSpPr>
        <p:spPr>
          <a:xfrm>
            <a:off x="1625488" y="4198335"/>
            <a:ext cx="2092662" cy="383372"/>
          </a:xfrm>
          <a:prstGeom prst="rect">
            <a:avLst/>
          </a:prstGeom>
          <a:blipFill>
            <a:blip r:embed="rId6" cstate="print"/>
            <a:stretch>
              <a:fillRect/>
            </a:stretch>
          </a:blipFill>
        </p:spPr>
        <p:txBody>
          <a:bodyPr wrap="square" lIns="0" tIns="0" rIns="0" bIns="0" rtlCol="0"/>
          <a:lstStyle/>
          <a:p>
            <a:pPr algn="just"/>
            <a:endParaRPr sz="1200"/>
          </a:p>
        </p:txBody>
      </p:sp>
      <p:sp>
        <p:nvSpPr>
          <p:cNvPr id="58" name="object 6"/>
          <p:cNvSpPr/>
          <p:nvPr/>
        </p:nvSpPr>
        <p:spPr>
          <a:xfrm>
            <a:off x="1625488" y="4198335"/>
            <a:ext cx="2126229" cy="389940"/>
          </a:xfrm>
          <a:custGeom>
            <a:avLst/>
            <a:gdLst/>
            <a:ahLst/>
            <a:cxnLst/>
            <a:rect l="l" t="t" r="r" b="b"/>
            <a:pathLst>
              <a:path w="2580640" h="508635">
                <a:moveTo>
                  <a:pt x="0" y="0"/>
                </a:moveTo>
                <a:lnTo>
                  <a:pt x="2580538" y="0"/>
                </a:lnTo>
                <a:lnTo>
                  <a:pt x="2580538" y="508067"/>
                </a:lnTo>
                <a:lnTo>
                  <a:pt x="0" y="508067"/>
                </a:lnTo>
                <a:lnTo>
                  <a:pt x="0" y="0"/>
                </a:lnTo>
                <a:close/>
              </a:path>
            </a:pathLst>
          </a:custGeom>
          <a:ln w="12903">
            <a:solidFill>
              <a:srgbClr val="FFFFFF"/>
            </a:solidFill>
          </a:ln>
        </p:spPr>
        <p:txBody>
          <a:bodyPr wrap="square" lIns="0" tIns="0" rIns="0" bIns="0" rtlCol="0"/>
          <a:lstStyle/>
          <a:p>
            <a:pPr algn="just"/>
            <a:endParaRPr sz="1200"/>
          </a:p>
        </p:txBody>
      </p:sp>
      <p:sp>
        <p:nvSpPr>
          <p:cNvPr id="59" name="object 7"/>
          <p:cNvSpPr txBox="1"/>
          <p:nvPr/>
        </p:nvSpPr>
        <p:spPr>
          <a:xfrm>
            <a:off x="2438479" y="4263449"/>
            <a:ext cx="471391" cy="197490"/>
          </a:xfrm>
          <a:prstGeom prst="rect">
            <a:avLst/>
          </a:prstGeom>
        </p:spPr>
        <p:txBody>
          <a:bodyPr vert="horz" wrap="square" lIns="0" tIns="12700" rIns="0" bIns="0" rtlCol="0">
            <a:spAutoFit/>
          </a:bodyPr>
          <a:lstStyle/>
          <a:p>
            <a:pPr marL="12700" algn="just">
              <a:lnSpc>
                <a:spcPct val="100000"/>
              </a:lnSpc>
              <a:spcBef>
                <a:spcPts val="100"/>
              </a:spcBef>
            </a:pPr>
            <a:r>
              <a:rPr sz="1200" dirty="0">
                <a:solidFill>
                  <a:srgbClr val="FFFFFF"/>
                </a:solidFill>
                <a:latin typeface="Arial" panose="020B0604020202020204"/>
                <a:cs typeface="Arial" panose="020B0604020202020204"/>
              </a:rPr>
              <a:t>20</a:t>
            </a:r>
            <a:r>
              <a:rPr sz="1200" spc="-150" dirty="0">
                <a:solidFill>
                  <a:srgbClr val="FFFFFF"/>
                </a:solidFill>
                <a:latin typeface="Arial" panose="020B0604020202020204"/>
                <a:cs typeface="Arial" panose="020B0604020202020204"/>
              </a:rPr>
              <a:t>1</a:t>
            </a:r>
            <a:r>
              <a:rPr sz="1200" dirty="0">
                <a:solidFill>
                  <a:srgbClr val="FFFFFF"/>
                </a:solidFill>
                <a:latin typeface="Arial" panose="020B0604020202020204"/>
                <a:cs typeface="Arial" panose="020B0604020202020204"/>
              </a:rPr>
              <a:t>1</a:t>
            </a:r>
            <a:endParaRPr sz="1200" dirty="0">
              <a:latin typeface="Arial" panose="020B0604020202020204"/>
              <a:cs typeface="Arial" panose="020B0604020202020204"/>
            </a:endParaRPr>
          </a:p>
        </p:txBody>
      </p:sp>
      <p:sp>
        <p:nvSpPr>
          <p:cNvPr id="60" name="object 8"/>
          <p:cNvSpPr/>
          <p:nvPr/>
        </p:nvSpPr>
        <p:spPr>
          <a:xfrm>
            <a:off x="3551602" y="4238920"/>
            <a:ext cx="2424540" cy="691458"/>
          </a:xfrm>
          <a:prstGeom prst="rect">
            <a:avLst/>
          </a:prstGeom>
          <a:blipFill>
            <a:blip r:embed="rId7" cstate="print"/>
            <a:stretch>
              <a:fillRect/>
            </a:stretch>
          </a:blipFill>
        </p:spPr>
        <p:txBody>
          <a:bodyPr wrap="square" lIns="0" tIns="0" rIns="0" bIns="0" rtlCol="0"/>
          <a:lstStyle/>
          <a:p>
            <a:pPr algn="just"/>
            <a:endParaRPr sz="1200"/>
          </a:p>
        </p:txBody>
      </p:sp>
      <p:sp>
        <p:nvSpPr>
          <p:cNvPr id="61" name="object 9"/>
          <p:cNvSpPr/>
          <p:nvPr/>
        </p:nvSpPr>
        <p:spPr>
          <a:xfrm>
            <a:off x="4342660" y="4299463"/>
            <a:ext cx="835575" cy="579933"/>
          </a:xfrm>
          <a:prstGeom prst="rect">
            <a:avLst/>
          </a:prstGeom>
          <a:blipFill>
            <a:blip r:embed="rId8" cstate="print"/>
            <a:stretch>
              <a:fillRect/>
            </a:stretch>
          </a:blipFill>
        </p:spPr>
        <p:txBody>
          <a:bodyPr wrap="square" lIns="0" tIns="0" rIns="0" bIns="0" rtlCol="0"/>
          <a:lstStyle/>
          <a:p>
            <a:pPr algn="just"/>
            <a:endParaRPr sz="1200"/>
          </a:p>
        </p:txBody>
      </p:sp>
      <p:sp>
        <p:nvSpPr>
          <p:cNvPr id="62" name="object 10"/>
          <p:cNvSpPr/>
          <p:nvPr/>
        </p:nvSpPr>
        <p:spPr>
          <a:xfrm>
            <a:off x="3718150" y="4198335"/>
            <a:ext cx="2092662" cy="383372"/>
          </a:xfrm>
          <a:prstGeom prst="rect">
            <a:avLst/>
          </a:prstGeom>
          <a:blipFill>
            <a:blip r:embed="rId6" cstate="print"/>
            <a:stretch>
              <a:fillRect/>
            </a:stretch>
          </a:blipFill>
        </p:spPr>
        <p:txBody>
          <a:bodyPr wrap="square" lIns="0" tIns="0" rIns="0" bIns="0" rtlCol="0"/>
          <a:lstStyle/>
          <a:p>
            <a:pPr algn="just"/>
            <a:endParaRPr sz="1200"/>
          </a:p>
        </p:txBody>
      </p:sp>
      <p:sp>
        <p:nvSpPr>
          <p:cNvPr id="63" name="object 11"/>
          <p:cNvSpPr/>
          <p:nvPr/>
        </p:nvSpPr>
        <p:spPr>
          <a:xfrm>
            <a:off x="3718150" y="4198335"/>
            <a:ext cx="2126229" cy="389940"/>
          </a:xfrm>
          <a:custGeom>
            <a:avLst/>
            <a:gdLst/>
            <a:ahLst/>
            <a:cxnLst/>
            <a:rect l="l" t="t" r="r" b="b"/>
            <a:pathLst>
              <a:path w="2580640" h="508635">
                <a:moveTo>
                  <a:pt x="0" y="0"/>
                </a:moveTo>
                <a:lnTo>
                  <a:pt x="2580538" y="0"/>
                </a:lnTo>
                <a:lnTo>
                  <a:pt x="2580538" y="508067"/>
                </a:lnTo>
                <a:lnTo>
                  <a:pt x="0" y="508067"/>
                </a:lnTo>
                <a:lnTo>
                  <a:pt x="0" y="0"/>
                </a:lnTo>
                <a:close/>
              </a:path>
            </a:pathLst>
          </a:custGeom>
          <a:ln w="12903">
            <a:solidFill>
              <a:srgbClr val="FFFFFF"/>
            </a:solidFill>
          </a:ln>
        </p:spPr>
        <p:txBody>
          <a:bodyPr wrap="square" lIns="0" tIns="0" rIns="0" bIns="0" rtlCol="0"/>
          <a:lstStyle/>
          <a:p>
            <a:pPr algn="just"/>
            <a:endParaRPr sz="1200"/>
          </a:p>
        </p:txBody>
      </p:sp>
      <p:sp>
        <p:nvSpPr>
          <p:cNvPr id="64" name="object 12"/>
          <p:cNvSpPr/>
          <p:nvPr/>
        </p:nvSpPr>
        <p:spPr>
          <a:xfrm>
            <a:off x="5643968" y="4238920"/>
            <a:ext cx="2424540" cy="691458"/>
          </a:xfrm>
          <a:prstGeom prst="rect">
            <a:avLst/>
          </a:prstGeom>
          <a:blipFill>
            <a:blip r:embed="rId9" cstate="print"/>
            <a:stretch>
              <a:fillRect/>
            </a:stretch>
          </a:blipFill>
        </p:spPr>
        <p:txBody>
          <a:bodyPr wrap="square" lIns="0" tIns="0" rIns="0" bIns="0" rtlCol="0"/>
          <a:lstStyle/>
          <a:p>
            <a:pPr algn="just"/>
            <a:endParaRPr sz="1200"/>
          </a:p>
        </p:txBody>
      </p:sp>
      <p:sp>
        <p:nvSpPr>
          <p:cNvPr id="65" name="object 13"/>
          <p:cNvSpPr/>
          <p:nvPr/>
        </p:nvSpPr>
        <p:spPr>
          <a:xfrm>
            <a:off x="6435024" y="4299463"/>
            <a:ext cx="835575" cy="579933"/>
          </a:xfrm>
          <a:prstGeom prst="rect">
            <a:avLst/>
          </a:prstGeom>
          <a:blipFill>
            <a:blip r:embed="rId10" cstate="print"/>
            <a:stretch>
              <a:fillRect/>
            </a:stretch>
          </a:blipFill>
        </p:spPr>
        <p:txBody>
          <a:bodyPr wrap="square" lIns="0" tIns="0" rIns="0" bIns="0" rtlCol="0"/>
          <a:lstStyle/>
          <a:p>
            <a:pPr algn="just"/>
            <a:endParaRPr sz="1200"/>
          </a:p>
        </p:txBody>
      </p:sp>
      <p:sp>
        <p:nvSpPr>
          <p:cNvPr id="66" name="object 14"/>
          <p:cNvSpPr/>
          <p:nvPr/>
        </p:nvSpPr>
        <p:spPr>
          <a:xfrm>
            <a:off x="5810812" y="4198335"/>
            <a:ext cx="2092662" cy="383372"/>
          </a:xfrm>
          <a:prstGeom prst="rect">
            <a:avLst/>
          </a:prstGeom>
          <a:blipFill>
            <a:blip r:embed="rId11" cstate="print"/>
            <a:stretch>
              <a:fillRect/>
            </a:stretch>
          </a:blipFill>
        </p:spPr>
        <p:txBody>
          <a:bodyPr wrap="square" lIns="0" tIns="0" rIns="0" bIns="0" rtlCol="0"/>
          <a:lstStyle/>
          <a:p>
            <a:pPr algn="just"/>
            <a:endParaRPr sz="1200"/>
          </a:p>
        </p:txBody>
      </p:sp>
      <p:sp>
        <p:nvSpPr>
          <p:cNvPr id="67" name="object 15"/>
          <p:cNvSpPr/>
          <p:nvPr/>
        </p:nvSpPr>
        <p:spPr>
          <a:xfrm>
            <a:off x="5810812" y="4198335"/>
            <a:ext cx="2126229" cy="389940"/>
          </a:xfrm>
          <a:custGeom>
            <a:avLst/>
            <a:gdLst/>
            <a:ahLst/>
            <a:cxnLst/>
            <a:rect l="l" t="t" r="r" b="b"/>
            <a:pathLst>
              <a:path w="2580640" h="508635">
                <a:moveTo>
                  <a:pt x="0" y="0"/>
                </a:moveTo>
                <a:lnTo>
                  <a:pt x="2580538" y="0"/>
                </a:lnTo>
                <a:lnTo>
                  <a:pt x="2580538" y="508067"/>
                </a:lnTo>
                <a:lnTo>
                  <a:pt x="0" y="508067"/>
                </a:lnTo>
                <a:lnTo>
                  <a:pt x="0" y="0"/>
                </a:lnTo>
                <a:close/>
              </a:path>
            </a:pathLst>
          </a:custGeom>
          <a:ln w="12903">
            <a:solidFill>
              <a:srgbClr val="FFFFFF"/>
            </a:solidFill>
          </a:ln>
        </p:spPr>
        <p:txBody>
          <a:bodyPr wrap="square" lIns="0" tIns="0" rIns="0" bIns="0" rtlCol="0"/>
          <a:lstStyle/>
          <a:p>
            <a:pPr algn="just"/>
            <a:endParaRPr sz="1200"/>
          </a:p>
        </p:txBody>
      </p:sp>
      <p:sp>
        <p:nvSpPr>
          <p:cNvPr id="68" name="object 16"/>
          <p:cNvSpPr/>
          <p:nvPr/>
        </p:nvSpPr>
        <p:spPr>
          <a:xfrm>
            <a:off x="7736332" y="4238920"/>
            <a:ext cx="2996429" cy="691458"/>
          </a:xfrm>
          <a:prstGeom prst="rect">
            <a:avLst/>
          </a:prstGeom>
          <a:blipFill>
            <a:blip r:embed="rId12" cstate="print"/>
            <a:stretch>
              <a:fillRect/>
            </a:stretch>
          </a:blipFill>
        </p:spPr>
        <p:txBody>
          <a:bodyPr wrap="square" lIns="0" tIns="0" rIns="0" bIns="0" rtlCol="0"/>
          <a:lstStyle/>
          <a:p>
            <a:pPr algn="just"/>
            <a:endParaRPr sz="1200"/>
          </a:p>
        </p:txBody>
      </p:sp>
      <p:sp>
        <p:nvSpPr>
          <p:cNvPr id="69" name="object 17"/>
          <p:cNvSpPr/>
          <p:nvPr/>
        </p:nvSpPr>
        <p:spPr>
          <a:xfrm>
            <a:off x="8821896" y="4299463"/>
            <a:ext cx="825302" cy="579933"/>
          </a:xfrm>
          <a:prstGeom prst="rect">
            <a:avLst/>
          </a:prstGeom>
          <a:blipFill>
            <a:blip r:embed="rId13" cstate="print"/>
            <a:stretch>
              <a:fillRect/>
            </a:stretch>
          </a:blipFill>
        </p:spPr>
        <p:txBody>
          <a:bodyPr wrap="square" lIns="0" tIns="0" rIns="0" bIns="0" rtlCol="0"/>
          <a:lstStyle/>
          <a:p>
            <a:pPr algn="just"/>
            <a:endParaRPr sz="1200"/>
          </a:p>
        </p:txBody>
      </p:sp>
      <p:sp>
        <p:nvSpPr>
          <p:cNvPr id="70" name="object 18"/>
          <p:cNvSpPr/>
          <p:nvPr/>
        </p:nvSpPr>
        <p:spPr>
          <a:xfrm>
            <a:off x="7903474" y="4198335"/>
            <a:ext cx="2663392" cy="383372"/>
          </a:xfrm>
          <a:prstGeom prst="rect">
            <a:avLst/>
          </a:prstGeom>
          <a:blipFill>
            <a:blip r:embed="rId14" cstate="print"/>
            <a:stretch>
              <a:fillRect/>
            </a:stretch>
          </a:blipFill>
        </p:spPr>
        <p:txBody>
          <a:bodyPr wrap="square" lIns="0" tIns="0" rIns="0" bIns="0" rtlCol="0"/>
          <a:lstStyle/>
          <a:p>
            <a:pPr algn="just"/>
            <a:endParaRPr sz="1200"/>
          </a:p>
        </p:txBody>
      </p:sp>
      <p:sp>
        <p:nvSpPr>
          <p:cNvPr id="71" name="object 19"/>
          <p:cNvSpPr/>
          <p:nvPr/>
        </p:nvSpPr>
        <p:spPr>
          <a:xfrm>
            <a:off x="7903473" y="4198335"/>
            <a:ext cx="2706442" cy="389940"/>
          </a:xfrm>
          <a:custGeom>
            <a:avLst/>
            <a:gdLst/>
            <a:ahLst/>
            <a:cxnLst/>
            <a:rect l="l" t="t" r="r" b="b"/>
            <a:pathLst>
              <a:path w="3284854" h="508635">
                <a:moveTo>
                  <a:pt x="0" y="0"/>
                </a:moveTo>
                <a:lnTo>
                  <a:pt x="3284325" y="0"/>
                </a:lnTo>
                <a:lnTo>
                  <a:pt x="3284325" y="508067"/>
                </a:lnTo>
                <a:lnTo>
                  <a:pt x="0" y="508067"/>
                </a:lnTo>
                <a:lnTo>
                  <a:pt x="0" y="0"/>
                </a:lnTo>
                <a:close/>
              </a:path>
            </a:pathLst>
          </a:custGeom>
          <a:ln w="12903">
            <a:solidFill>
              <a:srgbClr val="FFFFFF"/>
            </a:solidFill>
          </a:ln>
        </p:spPr>
        <p:txBody>
          <a:bodyPr wrap="square" lIns="0" tIns="0" rIns="0" bIns="0" rtlCol="0"/>
          <a:lstStyle/>
          <a:p>
            <a:pPr algn="just"/>
            <a:endParaRPr sz="1200"/>
          </a:p>
        </p:txBody>
      </p:sp>
      <p:sp>
        <p:nvSpPr>
          <p:cNvPr id="72" name="object 20"/>
          <p:cNvSpPr txBox="1"/>
          <p:nvPr/>
        </p:nvSpPr>
        <p:spPr>
          <a:xfrm>
            <a:off x="8994488" y="4263449"/>
            <a:ext cx="486563" cy="197490"/>
          </a:xfrm>
          <a:prstGeom prst="rect">
            <a:avLst/>
          </a:prstGeom>
        </p:spPr>
        <p:txBody>
          <a:bodyPr vert="horz" wrap="square" lIns="0" tIns="12700" rIns="0" bIns="0" rtlCol="0">
            <a:spAutoFit/>
          </a:bodyPr>
          <a:lstStyle/>
          <a:p>
            <a:pPr marL="12700" algn="just">
              <a:lnSpc>
                <a:spcPct val="100000"/>
              </a:lnSpc>
              <a:spcBef>
                <a:spcPts val="100"/>
              </a:spcBef>
            </a:pPr>
            <a:r>
              <a:rPr sz="1200" dirty="0">
                <a:solidFill>
                  <a:srgbClr val="FFFFFF"/>
                </a:solidFill>
                <a:latin typeface="Arial" panose="020B0604020202020204"/>
                <a:cs typeface="Arial" panose="020B0604020202020204"/>
              </a:rPr>
              <a:t>2014</a:t>
            </a:r>
            <a:endParaRPr sz="1200">
              <a:latin typeface="Arial" panose="020B0604020202020204"/>
              <a:cs typeface="Arial" panose="020B0604020202020204"/>
            </a:endParaRPr>
          </a:p>
        </p:txBody>
      </p:sp>
      <p:sp>
        <p:nvSpPr>
          <p:cNvPr id="73" name="object 21"/>
          <p:cNvSpPr/>
          <p:nvPr/>
        </p:nvSpPr>
        <p:spPr>
          <a:xfrm>
            <a:off x="1804221" y="4143569"/>
            <a:ext cx="117718" cy="109535"/>
          </a:xfrm>
          <a:prstGeom prst="rect">
            <a:avLst/>
          </a:prstGeom>
          <a:blipFill>
            <a:blip r:embed="rId15" cstate="print"/>
            <a:stretch>
              <a:fillRect/>
            </a:stretch>
          </a:blipFill>
        </p:spPr>
        <p:txBody>
          <a:bodyPr wrap="square" lIns="0" tIns="0" rIns="0" bIns="0" rtlCol="0"/>
          <a:lstStyle/>
          <a:p>
            <a:pPr algn="just"/>
            <a:endParaRPr sz="1200"/>
          </a:p>
        </p:txBody>
      </p:sp>
      <p:sp>
        <p:nvSpPr>
          <p:cNvPr id="74" name="object 22"/>
          <p:cNvSpPr/>
          <p:nvPr/>
        </p:nvSpPr>
        <p:spPr>
          <a:xfrm>
            <a:off x="1862425" y="2474259"/>
            <a:ext cx="1570" cy="1669785"/>
          </a:xfrm>
          <a:custGeom>
            <a:avLst/>
            <a:gdLst/>
            <a:ahLst/>
            <a:cxnLst/>
            <a:rect l="l" t="t" r="r" b="b"/>
            <a:pathLst>
              <a:path w="1905" h="2178050">
                <a:moveTo>
                  <a:pt x="0" y="2177430"/>
                </a:moveTo>
                <a:lnTo>
                  <a:pt x="1613" y="0"/>
                </a:lnTo>
              </a:path>
            </a:pathLst>
          </a:custGeom>
          <a:ln w="19354">
            <a:solidFill>
              <a:srgbClr val="B5B5B5"/>
            </a:solidFill>
          </a:ln>
        </p:spPr>
        <p:txBody>
          <a:bodyPr wrap="square" lIns="0" tIns="0" rIns="0" bIns="0" rtlCol="0"/>
          <a:lstStyle/>
          <a:p>
            <a:pPr algn="just"/>
            <a:endParaRPr sz="1200"/>
          </a:p>
        </p:txBody>
      </p:sp>
      <p:sp>
        <p:nvSpPr>
          <p:cNvPr id="75" name="object 23"/>
          <p:cNvSpPr/>
          <p:nvPr/>
        </p:nvSpPr>
        <p:spPr>
          <a:xfrm>
            <a:off x="3359518" y="4526940"/>
            <a:ext cx="117716" cy="109535"/>
          </a:xfrm>
          <a:prstGeom prst="rect">
            <a:avLst/>
          </a:prstGeom>
          <a:blipFill>
            <a:blip r:embed="rId16" cstate="print"/>
            <a:stretch>
              <a:fillRect/>
            </a:stretch>
          </a:blipFill>
        </p:spPr>
        <p:txBody>
          <a:bodyPr wrap="square" lIns="0" tIns="0" rIns="0" bIns="0" rtlCol="0"/>
          <a:lstStyle/>
          <a:p>
            <a:pPr algn="just"/>
            <a:endParaRPr sz="1200"/>
          </a:p>
        </p:txBody>
      </p:sp>
      <p:sp>
        <p:nvSpPr>
          <p:cNvPr id="76" name="object 24"/>
          <p:cNvSpPr/>
          <p:nvPr/>
        </p:nvSpPr>
        <p:spPr>
          <a:xfrm>
            <a:off x="3418376" y="4610186"/>
            <a:ext cx="1570" cy="1669785"/>
          </a:xfrm>
          <a:custGeom>
            <a:avLst/>
            <a:gdLst/>
            <a:ahLst/>
            <a:cxnLst/>
            <a:rect l="l" t="t" r="r" b="b"/>
            <a:pathLst>
              <a:path w="1905" h="2178050">
                <a:moveTo>
                  <a:pt x="0" y="2177430"/>
                </a:moveTo>
                <a:lnTo>
                  <a:pt x="1613" y="0"/>
                </a:lnTo>
              </a:path>
            </a:pathLst>
          </a:custGeom>
          <a:ln w="19354">
            <a:solidFill>
              <a:srgbClr val="B5B5B5"/>
            </a:solidFill>
          </a:ln>
        </p:spPr>
        <p:txBody>
          <a:bodyPr wrap="square" lIns="0" tIns="0" rIns="0" bIns="0" rtlCol="0"/>
          <a:lstStyle/>
          <a:p>
            <a:pPr algn="just"/>
            <a:endParaRPr sz="1200"/>
          </a:p>
        </p:txBody>
      </p:sp>
      <p:sp>
        <p:nvSpPr>
          <p:cNvPr id="77" name="object 25"/>
          <p:cNvSpPr/>
          <p:nvPr/>
        </p:nvSpPr>
        <p:spPr>
          <a:xfrm>
            <a:off x="4305629" y="4143569"/>
            <a:ext cx="117718" cy="109535"/>
          </a:xfrm>
          <a:prstGeom prst="rect">
            <a:avLst/>
          </a:prstGeom>
          <a:blipFill>
            <a:blip r:embed="rId15" cstate="print"/>
            <a:stretch>
              <a:fillRect/>
            </a:stretch>
          </a:blipFill>
        </p:spPr>
        <p:txBody>
          <a:bodyPr wrap="square" lIns="0" tIns="0" rIns="0" bIns="0" rtlCol="0"/>
          <a:lstStyle/>
          <a:p>
            <a:pPr algn="just"/>
            <a:endParaRPr sz="1200"/>
          </a:p>
        </p:txBody>
      </p:sp>
      <p:sp>
        <p:nvSpPr>
          <p:cNvPr id="78" name="object 26"/>
          <p:cNvSpPr/>
          <p:nvPr/>
        </p:nvSpPr>
        <p:spPr>
          <a:xfrm>
            <a:off x="4364488" y="2474259"/>
            <a:ext cx="1570" cy="1669785"/>
          </a:xfrm>
          <a:custGeom>
            <a:avLst/>
            <a:gdLst/>
            <a:ahLst/>
            <a:cxnLst/>
            <a:rect l="l" t="t" r="r" b="b"/>
            <a:pathLst>
              <a:path w="1904" h="2178050">
                <a:moveTo>
                  <a:pt x="0" y="2177430"/>
                </a:moveTo>
                <a:lnTo>
                  <a:pt x="1613" y="0"/>
                </a:lnTo>
              </a:path>
            </a:pathLst>
          </a:custGeom>
          <a:ln w="19354">
            <a:solidFill>
              <a:srgbClr val="B5B5B5"/>
            </a:solidFill>
          </a:ln>
        </p:spPr>
        <p:txBody>
          <a:bodyPr wrap="square" lIns="0" tIns="0" rIns="0" bIns="0" rtlCol="0"/>
          <a:lstStyle/>
          <a:p>
            <a:pPr algn="just"/>
            <a:endParaRPr sz="1200"/>
          </a:p>
        </p:txBody>
      </p:sp>
      <p:sp>
        <p:nvSpPr>
          <p:cNvPr id="79" name="object 27"/>
          <p:cNvSpPr/>
          <p:nvPr/>
        </p:nvSpPr>
        <p:spPr>
          <a:xfrm>
            <a:off x="6182558" y="4526940"/>
            <a:ext cx="117718" cy="109535"/>
          </a:xfrm>
          <a:prstGeom prst="rect">
            <a:avLst/>
          </a:prstGeom>
          <a:blipFill>
            <a:blip r:embed="rId17" cstate="print"/>
            <a:stretch>
              <a:fillRect/>
            </a:stretch>
          </a:blipFill>
        </p:spPr>
        <p:txBody>
          <a:bodyPr wrap="square" lIns="0" tIns="0" rIns="0" bIns="0" rtlCol="0"/>
          <a:lstStyle/>
          <a:p>
            <a:pPr algn="just"/>
            <a:endParaRPr sz="1200"/>
          </a:p>
        </p:txBody>
      </p:sp>
      <p:sp>
        <p:nvSpPr>
          <p:cNvPr id="80" name="object 28"/>
          <p:cNvSpPr/>
          <p:nvPr/>
        </p:nvSpPr>
        <p:spPr>
          <a:xfrm>
            <a:off x="6241416" y="4610186"/>
            <a:ext cx="1570" cy="1669785"/>
          </a:xfrm>
          <a:custGeom>
            <a:avLst/>
            <a:gdLst/>
            <a:ahLst/>
            <a:cxnLst/>
            <a:rect l="l" t="t" r="r" b="b"/>
            <a:pathLst>
              <a:path w="1904" h="2178050">
                <a:moveTo>
                  <a:pt x="0" y="2177430"/>
                </a:moveTo>
                <a:lnTo>
                  <a:pt x="1613" y="0"/>
                </a:lnTo>
              </a:path>
            </a:pathLst>
          </a:custGeom>
          <a:ln w="19354">
            <a:solidFill>
              <a:srgbClr val="B5B5B5"/>
            </a:solidFill>
          </a:ln>
        </p:spPr>
        <p:txBody>
          <a:bodyPr wrap="square" lIns="0" tIns="0" rIns="0" bIns="0" rtlCol="0"/>
          <a:lstStyle/>
          <a:p>
            <a:pPr algn="just"/>
            <a:endParaRPr sz="1200"/>
          </a:p>
        </p:txBody>
      </p:sp>
      <p:sp>
        <p:nvSpPr>
          <p:cNvPr id="81" name="object 29"/>
          <p:cNvSpPr/>
          <p:nvPr/>
        </p:nvSpPr>
        <p:spPr>
          <a:xfrm>
            <a:off x="8020478" y="4143569"/>
            <a:ext cx="117716" cy="109535"/>
          </a:xfrm>
          <a:prstGeom prst="rect">
            <a:avLst/>
          </a:prstGeom>
          <a:blipFill>
            <a:blip r:embed="rId15" cstate="print"/>
            <a:stretch>
              <a:fillRect/>
            </a:stretch>
          </a:blipFill>
        </p:spPr>
        <p:txBody>
          <a:bodyPr wrap="square" lIns="0" tIns="0" rIns="0" bIns="0" rtlCol="0"/>
          <a:lstStyle/>
          <a:p>
            <a:pPr algn="just"/>
            <a:endParaRPr sz="1200"/>
          </a:p>
        </p:txBody>
      </p:sp>
      <p:sp>
        <p:nvSpPr>
          <p:cNvPr id="82" name="object 30"/>
          <p:cNvSpPr/>
          <p:nvPr/>
        </p:nvSpPr>
        <p:spPr>
          <a:xfrm>
            <a:off x="8079337" y="2474259"/>
            <a:ext cx="1570" cy="1669785"/>
          </a:xfrm>
          <a:custGeom>
            <a:avLst/>
            <a:gdLst/>
            <a:ahLst/>
            <a:cxnLst/>
            <a:rect l="l" t="t" r="r" b="b"/>
            <a:pathLst>
              <a:path w="1904" h="2178050">
                <a:moveTo>
                  <a:pt x="0" y="2177430"/>
                </a:moveTo>
                <a:lnTo>
                  <a:pt x="1613" y="0"/>
                </a:lnTo>
              </a:path>
            </a:pathLst>
          </a:custGeom>
          <a:ln w="19354">
            <a:solidFill>
              <a:srgbClr val="B5B5B5"/>
            </a:solidFill>
          </a:ln>
        </p:spPr>
        <p:txBody>
          <a:bodyPr wrap="square" lIns="0" tIns="0" rIns="0" bIns="0" rtlCol="0"/>
          <a:lstStyle/>
          <a:p>
            <a:pPr algn="just"/>
            <a:endParaRPr sz="1200"/>
          </a:p>
        </p:txBody>
      </p:sp>
      <p:sp>
        <p:nvSpPr>
          <p:cNvPr id="83" name="object 31"/>
          <p:cNvSpPr txBox="1"/>
          <p:nvPr/>
        </p:nvSpPr>
        <p:spPr>
          <a:xfrm>
            <a:off x="1991581" y="2647057"/>
            <a:ext cx="2290509" cy="1258570"/>
          </a:xfrm>
          <a:prstGeom prst="rect">
            <a:avLst/>
          </a:prstGeom>
        </p:spPr>
        <p:txBody>
          <a:bodyPr vert="horz" wrap="square" lIns="0" tIns="35560" rIns="0" bIns="0" rtlCol="0">
            <a:spAutoFit/>
          </a:bodyPr>
          <a:lstStyle/>
          <a:p>
            <a:pPr marL="185420" indent="-173355" algn="just">
              <a:lnSpc>
                <a:spcPct val="100000"/>
              </a:lnSpc>
              <a:spcBef>
                <a:spcPts val="280"/>
              </a:spcBef>
              <a:buClr>
                <a:srgbClr val="080808"/>
              </a:buClr>
              <a:buChar char="•"/>
              <a:tabLst>
                <a:tab pos="186055" algn="l"/>
              </a:tabLst>
            </a:pPr>
            <a:r>
              <a:rPr sz="1200" spc="-15" dirty="0">
                <a:solidFill>
                  <a:srgbClr val="060606"/>
                </a:solidFill>
                <a:latin typeface="Arial" panose="020B0604020202020204"/>
                <a:cs typeface="Arial" panose="020B0604020202020204"/>
              </a:rPr>
              <a:t>2011.1.21</a:t>
            </a:r>
            <a:r>
              <a:rPr sz="1200" spc="-15"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60606"/>
                </a:solidFill>
                <a:latin typeface="Arial" panose="020B0604020202020204"/>
                <a:cs typeface="Arial" panose="020B0604020202020204"/>
              </a:rPr>
              <a:t>1.0</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12700" algn="just">
              <a:lnSpc>
                <a:spcPct val="100000"/>
              </a:lnSpc>
              <a:spcBef>
                <a:spcPts val="180"/>
              </a:spcBef>
            </a:pPr>
            <a:r>
              <a:rPr sz="1200" dirty="0">
                <a:solidFill>
                  <a:srgbClr val="080808"/>
                </a:solidFill>
                <a:latin typeface="微软雅黑" panose="020B0503020204020204" pitchFamily="34" charset="-122"/>
                <a:cs typeface="微软雅黑" panose="020B0503020204020204" pitchFamily="34" charset="-122"/>
              </a:rPr>
              <a:t>（</a:t>
            </a:r>
            <a:r>
              <a:rPr sz="1200" b="1" dirty="0">
                <a:solidFill>
                  <a:srgbClr val="080808"/>
                </a:solidFill>
                <a:latin typeface="微软雅黑" panose="020B0503020204020204" pitchFamily="34" charset="-122"/>
                <a:cs typeface="微软雅黑" panose="020B0503020204020204" pitchFamily="34" charset="-122"/>
              </a:rPr>
              <a:t>文字短信</a:t>
            </a:r>
            <a:r>
              <a:rPr sz="1200" b="1" dirty="0">
                <a:solidFill>
                  <a:srgbClr val="060606"/>
                </a:solidFill>
                <a:latin typeface="微软雅黑" panose="020B0503020204020204" pitchFamily="34" charset="-122"/>
                <a:cs typeface="微软雅黑" panose="020B0503020204020204" pitchFamily="34" charset="-122"/>
              </a:rPr>
              <a:t>、</a:t>
            </a:r>
            <a:r>
              <a:rPr sz="1200" b="1" spc="-5" dirty="0">
                <a:solidFill>
                  <a:srgbClr val="060606"/>
                </a:solidFill>
                <a:latin typeface="Arial" panose="020B0604020202020204"/>
                <a:cs typeface="Arial" panose="020B0604020202020204"/>
              </a:rPr>
              <a:t>Q</a:t>
            </a:r>
            <a:r>
              <a:rPr sz="1200" b="1" dirty="0">
                <a:solidFill>
                  <a:srgbClr val="060606"/>
                </a:solidFill>
                <a:latin typeface="Arial" panose="020B0604020202020204"/>
                <a:cs typeface="Arial" panose="020B0604020202020204"/>
              </a:rPr>
              <a:t>Q</a:t>
            </a:r>
            <a:r>
              <a:rPr sz="1200" b="1" dirty="0">
                <a:solidFill>
                  <a:srgbClr val="080808"/>
                </a:solidFill>
                <a:latin typeface="微软雅黑" panose="020B0503020204020204" pitchFamily="34" charset="-122"/>
                <a:cs typeface="微软雅黑" panose="020B0503020204020204" pitchFamily="34" charset="-122"/>
              </a:rPr>
              <a:t>好友</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头像</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a:p>
            <a:pPr marL="185420" indent="-173355" algn="just">
              <a:lnSpc>
                <a:spcPct val="100000"/>
              </a:lnSpc>
              <a:spcBef>
                <a:spcPts val="180"/>
              </a:spcBef>
              <a:buClr>
                <a:srgbClr val="080808"/>
              </a:buClr>
              <a:buChar char="•"/>
              <a:tabLst>
                <a:tab pos="186055" algn="l"/>
              </a:tabLst>
            </a:pPr>
            <a:r>
              <a:rPr sz="1200" dirty="0">
                <a:solidFill>
                  <a:srgbClr val="060606"/>
                </a:solidFill>
                <a:latin typeface="Arial" panose="020B0604020202020204"/>
                <a:cs typeface="Arial" panose="020B0604020202020204"/>
              </a:rPr>
              <a:t>20</a:t>
            </a:r>
            <a:r>
              <a:rPr sz="1200" spc="-120" dirty="0">
                <a:solidFill>
                  <a:srgbClr val="060606"/>
                </a:solidFill>
                <a:latin typeface="Arial" panose="020B0604020202020204"/>
                <a:cs typeface="Arial" panose="020B0604020202020204"/>
              </a:rPr>
              <a:t>1</a:t>
            </a:r>
            <a:r>
              <a:rPr sz="1200" spc="-5" dirty="0">
                <a:solidFill>
                  <a:srgbClr val="060606"/>
                </a:solidFill>
                <a:latin typeface="Arial" panose="020B0604020202020204"/>
                <a:cs typeface="Arial" panose="020B0604020202020204"/>
              </a:rPr>
              <a:t>1</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60606"/>
                </a:solidFill>
                <a:latin typeface="Arial" panose="020B0604020202020204"/>
                <a:cs typeface="Arial" panose="020B0604020202020204"/>
              </a:rPr>
              <a:t>2</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支持多人会话</a:t>
            </a:r>
            <a:endParaRPr sz="1200" dirty="0">
              <a:latin typeface="微软雅黑" panose="020B0503020204020204" pitchFamily="34" charset="-122"/>
              <a:cs typeface="微软雅黑" panose="020B0503020204020204" pitchFamily="34" charset="-122"/>
            </a:endParaRPr>
          </a:p>
          <a:p>
            <a:pPr marL="185420" indent="-173355" algn="just">
              <a:lnSpc>
                <a:spcPct val="100000"/>
              </a:lnSpc>
              <a:spcBef>
                <a:spcPts val="180"/>
              </a:spcBef>
              <a:buClr>
                <a:srgbClr val="080808"/>
              </a:buClr>
              <a:buChar char="•"/>
              <a:tabLst>
                <a:tab pos="186055" algn="l"/>
              </a:tabLst>
            </a:pPr>
            <a:r>
              <a:rPr sz="1200" dirty="0">
                <a:solidFill>
                  <a:srgbClr val="060606"/>
                </a:solidFill>
                <a:latin typeface="Arial" panose="020B0604020202020204"/>
                <a:cs typeface="Arial" panose="020B0604020202020204"/>
              </a:rPr>
              <a:t>20</a:t>
            </a:r>
            <a:r>
              <a:rPr sz="1200" spc="-120" dirty="0">
                <a:solidFill>
                  <a:srgbClr val="060606"/>
                </a:solidFill>
                <a:latin typeface="Arial" panose="020B0604020202020204"/>
                <a:cs typeface="Arial" panose="020B0604020202020204"/>
              </a:rPr>
              <a:t>1</a:t>
            </a:r>
            <a:r>
              <a:rPr sz="1200" spc="-5" dirty="0">
                <a:solidFill>
                  <a:srgbClr val="060606"/>
                </a:solidFill>
                <a:latin typeface="Arial" panose="020B0604020202020204"/>
                <a:cs typeface="Arial" panose="020B0604020202020204"/>
              </a:rPr>
              <a:t>1</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60606"/>
                </a:solidFill>
                <a:latin typeface="Arial" panose="020B0604020202020204"/>
                <a:cs typeface="Arial" panose="020B0604020202020204"/>
              </a:rPr>
              <a:t>3</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增加图片功能</a:t>
            </a:r>
            <a:endParaRPr sz="1200" dirty="0">
              <a:latin typeface="微软雅黑" panose="020B0503020204020204" pitchFamily="34" charset="-122"/>
              <a:cs typeface="微软雅黑" panose="020B0503020204020204" pitchFamily="34" charset="-122"/>
            </a:endParaRPr>
          </a:p>
          <a:p>
            <a:pPr marL="185420" indent="-173355" algn="just">
              <a:lnSpc>
                <a:spcPct val="100000"/>
              </a:lnSpc>
              <a:spcBef>
                <a:spcPts val="180"/>
              </a:spcBef>
              <a:buFont typeface="Arial" panose="020B0604020202020204"/>
              <a:buChar char="•"/>
              <a:tabLst>
                <a:tab pos="186055" algn="l"/>
              </a:tabLst>
            </a:pPr>
            <a:r>
              <a:rPr sz="1200" dirty="0">
                <a:solidFill>
                  <a:srgbClr val="080808"/>
                </a:solidFill>
                <a:latin typeface="微软雅黑" panose="020B0503020204020204" pitchFamily="34" charset="-122"/>
                <a:cs typeface="微软雅黑" panose="020B0503020204020204" pitchFamily="34" charset="-122"/>
              </a:rPr>
              <a:t>2</a:t>
            </a:r>
            <a:r>
              <a:rPr sz="1200" dirty="0">
                <a:solidFill>
                  <a:srgbClr val="060606"/>
                </a:solidFill>
                <a:latin typeface="Arial" panose="020B0604020202020204"/>
                <a:cs typeface="Arial" panose="020B0604020202020204"/>
              </a:rPr>
              <a:t>0</a:t>
            </a:r>
            <a:r>
              <a:rPr sz="1200" spc="-120" dirty="0">
                <a:solidFill>
                  <a:srgbClr val="060606"/>
                </a:solidFill>
                <a:latin typeface="Arial" panose="020B0604020202020204"/>
                <a:cs typeface="Arial" panose="020B0604020202020204"/>
              </a:rPr>
              <a:t>1</a:t>
            </a:r>
            <a:r>
              <a:rPr sz="1200" dirty="0">
                <a:solidFill>
                  <a:srgbClr val="060606"/>
                </a:solidFill>
                <a:latin typeface="Arial" panose="020B0604020202020204"/>
                <a:cs typeface="Arial" panose="020B0604020202020204"/>
              </a:rPr>
              <a:t>1.5.1</a:t>
            </a:r>
            <a:r>
              <a:rPr sz="1200" spc="-5" dirty="0">
                <a:solidFill>
                  <a:srgbClr val="060606"/>
                </a:solidFill>
                <a:latin typeface="Arial" panose="020B0604020202020204"/>
                <a:cs typeface="Arial" panose="020B0604020202020204"/>
              </a:rPr>
              <a:t>0</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dirty="0">
                <a:solidFill>
                  <a:srgbClr val="060606"/>
                </a:solidFill>
                <a:latin typeface="Arial" panose="020B0604020202020204"/>
                <a:cs typeface="Arial" panose="020B0604020202020204"/>
              </a:rPr>
              <a:t>2.</a:t>
            </a:r>
            <a:r>
              <a:rPr sz="1200" spc="-5" dirty="0">
                <a:solidFill>
                  <a:srgbClr val="060606"/>
                </a:solidFill>
                <a:latin typeface="Arial" panose="020B0604020202020204"/>
                <a:cs typeface="Arial" panose="020B0604020202020204"/>
              </a:rPr>
              <a:t>0</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12700" algn="just">
              <a:lnSpc>
                <a:spcPct val="100000"/>
              </a:lnSpc>
              <a:spcBef>
                <a:spcPts val="180"/>
              </a:spcBef>
            </a:pPr>
            <a:r>
              <a:rPr sz="1200" dirty="0">
                <a:solidFill>
                  <a:srgbClr val="080808"/>
                </a:solidFill>
                <a:latin typeface="微软雅黑" panose="020B0503020204020204" pitchFamily="34" charset="-122"/>
                <a:cs typeface="微软雅黑" panose="020B0503020204020204" pitchFamily="34" charset="-122"/>
              </a:rPr>
              <a:t>（</a:t>
            </a:r>
            <a:r>
              <a:rPr sz="1200" b="1" dirty="0">
                <a:solidFill>
                  <a:srgbClr val="080808"/>
                </a:solidFill>
                <a:latin typeface="微软雅黑" panose="020B0503020204020204" pitchFamily="34" charset="-122"/>
                <a:cs typeface="微软雅黑" panose="020B0503020204020204" pitchFamily="34" charset="-122"/>
              </a:rPr>
              <a:t>语音对讲</a:t>
            </a:r>
            <a:r>
              <a:rPr sz="1200" dirty="0">
                <a:solidFill>
                  <a:srgbClr val="060606"/>
                </a:solidFill>
                <a:latin typeface="微软雅黑" panose="020B0503020204020204" pitchFamily="34" charset="-122"/>
                <a:cs typeface="微软雅黑" panose="020B0503020204020204" pitchFamily="34" charset="-122"/>
              </a:rPr>
              <a:t>、</a:t>
            </a:r>
            <a:r>
              <a:rPr sz="1200" spc="-5" dirty="0">
                <a:solidFill>
                  <a:srgbClr val="060606"/>
                </a:solidFill>
                <a:latin typeface="Arial" panose="020B0604020202020204"/>
                <a:cs typeface="Arial" panose="020B0604020202020204"/>
              </a:rPr>
              <a:t>Q</a:t>
            </a:r>
            <a:r>
              <a:rPr sz="1200" dirty="0">
                <a:solidFill>
                  <a:srgbClr val="060606"/>
                </a:solidFill>
                <a:latin typeface="Arial" panose="020B0604020202020204"/>
                <a:cs typeface="Arial" panose="020B0604020202020204"/>
              </a:rPr>
              <a:t>Q</a:t>
            </a:r>
            <a:r>
              <a:rPr sz="1200" dirty="0">
                <a:solidFill>
                  <a:srgbClr val="080808"/>
                </a:solidFill>
                <a:latin typeface="微软雅黑" panose="020B0503020204020204" pitchFamily="34" charset="-122"/>
                <a:cs typeface="微软雅黑" panose="020B0503020204020204" pitchFamily="34" charset="-122"/>
              </a:rPr>
              <a:t>邮箱提醒</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p:txBody>
      </p:sp>
      <p:sp>
        <p:nvSpPr>
          <p:cNvPr id="84" name="object 32"/>
          <p:cNvSpPr txBox="1"/>
          <p:nvPr/>
        </p:nvSpPr>
        <p:spPr>
          <a:xfrm>
            <a:off x="3623227" y="4829325"/>
            <a:ext cx="2364802" cy="1258570"/>
          </a:xfrm>
          <a:prstGeom prst="rect">
            <a:avLst/>
          </a:prstGeom>
        </p:spPr>
        <p:txBody>
          <a:bodyPr vert="horz" wrap="square" lIns="0" tIns="35560" rIns="0" bIns="0" rtlCol="0">
            <a:spAutoFit/>
          </a:bodyPr>
          <a:lstStyle/>
          <a:p>
            <a:pPr marL="185420" indent="-173355" algn="just">
              <a:lnSpc>
                <a:spcPct val="100000"/>
              </a:lnSpc>
              <a:spcBef>
                <a:spcPts val="280"/>
              </a:spcBef>
              <a:buClr>
                <a:srgbClr val="080808"/>
              </a:buClr>
              <a:buChar char="•"/>
              <a:tabLst>
                <a:tab pos="186055" algn="l"/>
              </a:tabLst>
            </a:pPr>
            <a:r>
              <a:rPr sz="1200" spc="-20" dirty="0">
                <a:solidFill>
                  <a:srgbClr val="060606"/>
                </a:solidFill>
                <a:latin typeface="Arial" panose="020B0604020202020204"/>
                <a:cs typeface="Arial" panose="020B0604020202020204"/>
              </a:rPr>
              <a:t>2011.8</a:t>
            </a:r>
            <a:r>
              <a:rPr sz="1200" spc="-2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60606"/>
                </a:solidFill>
                <a:latin typeface="Arial" panose="020B0604020202020204"/>
                <a:cs typeface="Arial" panose="020B0604020202020204"/>
              </a:rPr>
              <a:t>2.5</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12700" algn="just">
              <a:lnSpc>
                <a:spcPct val="100000"/>
              </a:lnSpc>
              <a:spcBef>
                <a:spcPts val="180"/>
              </a:spcBef>
            </a:pPr>
            <a:r>
              <a:rPr sz="1200" dirty="0">
                <a:solidFill>
                  <a:srgbClr val="080808"/>
                </a:solidFill>
                <a:latin typeface="微软雅黑" panose="020B0503020204020204" pitchFamily="34" charset="-122"/>
                <a:cs typeface="微软雅黑" panose="020B0503020204020204" pitchFamily="34" charset="-122"/>
              </a:rPr>
              <a:t>（</a:t>
            </a:r>
            <a:r>
              <a:rPr sz="1200" b="1" dirty="0">
                <a:solidFill>
                  <a:srgbClr val="080808"/>
                </a:solidFill>
                <a:latin typeface="微软雅黑" panose="020B0503020204020204" pitchFamily="34" charset="-122"/>
                <a:cs typeface="微软雅黑" panose="020B0503020204020204" pitchFamily="34" charset="-122"/>
              </a:rPr>
              <a:t>查看附近的人</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语音记事本</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a:p>
            <a:pPr marL="185420" indent="-173355" algn="just">
              <a:lnSpc>
                <a:spcPct val="100000"/>
              </a:lnSpc>
              <a:spcBef>
                <a:spcPts val="180"/>
              </a:spcBef>
              <a:buClr>
                <a:srgbClr val="080808"/>
              </a:buClr>
              <a:buChar char="•"/>
              <a:tabLst>
                <a:tab pos="186055" algn="l"/>
              </a:tabLst>
            </a:pPr>
            <a:r>
              <a:rPr sz="1200" spc="-15" dirty="0">
                <a:solidFill>
                  <a:srgbClr val="060606"/>
                </a:solidFill>
                <a:latin typeface="Arial" panose="020B0604020202020204"/>
                <a:cs typeface="Arial" panose="020B0604020202020204"/>
              </a:rPr>
              <a:t>2011</a:t>
            </a:r>
            <a:r>
              <a:rPr sz="1200" spc="-15" dirty="0">
                <a:solidFill>
                  <a:srgbClr val="060606"/>
                </a:solidFill>
                <a:latin typeface="微软雅黑" panose="020B0503020204020204" pitchFamily="34" charset="-122"/>
                <a:cs typeface="微软雅黑" panose="020B0503020204020204" pitchFamily="34" charset="-122"/>
              </a:rPr>
              <a:t>.</a:t>
            </a:r>
            <a:r>
              <a:rPr sz="1200" spc="-15" dirty="0">
                <a:solidFill>
                  <a:srgbClr val="080808"/>
                </a:solidFill>
                <a:latin typeface="微软雅黑" panose="020B0503020204020204" pitchFamily="34" charset="-122"/>
                <a:cs typeface="微软雅黑" panose="020B0503020204020204" pitchFamily="34" charset="-122"/>
              </a:rPr>
              <a:t>1</a:t>
            </a:r>
            <a:r>
              <a:rPr sz="1200" spc="-15" dirty="0">
                <a:solidFill>
                  <a:srgbClr val="060606"/>
                </a:solidFill>
                <a:latin typeface="Arial" panose="020B0604020202020204"/>
                <a:cs typeface="Arial" panose="020B0604020202020204"/>
              </a:rPr>
              <a:t>0.1</a:t>
            </a:r>
            <a:r>
              <a:rPr sz="1200" spc="-15"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60606"/>
                </a:solidFill>
                <a:latin typeface="Arial" panose="020B0604020202020204"/>
                <a:cs typeface="Arial" panose="020B0604020202020204"/>
              </a:rPr>
              <a:t>3.0</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12700" algn="just">
              <a:lnSpc>
                <a:spcPct val="100000"/>
              </a:lnSpc>
              <a:spcBef>
                <a:spcPts val="180"/>
              </a:spcBef>
            </a:pPr>
            <a:r>
              <a:rPr sz="1200" dirty="0">
                <a:solidFill>
                  <a:srgbClr val="080808"/>
                </a:solidFill>
                <a:latin typeface="微软雅黑" panose="020B0503020204020204" pitchFamily="34" charset="-122"/>
                <a:cs typeface="微软雅黑" panose="020B0503020204020204" pitchFamily="34" charset="-122"/>
              </a:rPr>
              <a:t>（摇一摇</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漂流瓶</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a:p>
            <a:pPr marL="185420" indent="-173355" algn="just">
              <a:lnSpc>
                <a:spcPct val="100000"/>
              </a:lnSpc>
              <a:spcBef>
                <a:spcPts val="180"/>
              </a:spcBef>
              <a:buFont typeface="Arial" panose="020B0604020202020204"/>
              <a:buChar char="•"/>
              <a:tabLst>
                <a:tab pos="186055" algn="l"/>
              </a:tabLst>
            </a:pPr>
            <a:r>
              <a:rPr sz="1200" spc="-20" dirty="0">
                <a:solidFill>
                  <a:srgbClr val="080808"/>
                </a:solidFill>
                <a:latin typeface="微软雅黑" panose="020B0503020204020204" pitchFamily="34" charset="-122"/>
                <a:cs typeface="微软雅黑" panose="020B0503020204020204" pitchFamily="34" charset="-122"/>
              </a:rPr>
              <a:t>2</a:t>
            </a:r>
            <a:r>
              <a:rPr sz="1200" spc="-20" dirty="0">
                <a:solidFill>
                  <a:srgbClr val="060606"/>
                </a:solidFill>
                <a:latin typeface="Arial" panose="020B0604020202020204"/>
                <a:cs typeface="Arial" panose="020B0604020202020204"/>
              </a:rPr>
              <a:t>011.12</a:t>
            </a:r>
            <a:r>
              <a:rPr sz="1200" spc="-2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60606"/>
                </a:solidFill>
                <a:latin typeface="Arial" panose="020B0604020202020204"/>
                <a:cs typeface="Arial" panose="020B0604020202020204"/>
              </a:rPr>
              <a:t>3.5</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12700" algn="just">
              <a:lnSpc>
                <a:spcPct val="100000"/>
              </a:lnSpc>
              <a:spcBef>
                <a:spcPts val="180"/>
              </a:spcBef>
            </a:pPr>
            <a:r>
              <a:rPr sz="1200" dirty="0">
                <a:solidFill>
                  <a:srgbClr val="080808"/>
                </a:solidFill>
                <a:latin typeface="微软雅黑" panose="020B0503020204020204" pitchFamily="34" charset="-122"/>
                <a:cs typeface="微软雅黑" panose="020B0503020204020204" pitchFamily="34" charset="-122"/>
              </a:rPr>
              <a:t>（二维码扫描</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自定义表情</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p:txBody>
      </p:sp>
      <p:sp>
        <p:nvSpPr>
          <p:cNvPr id="85" name="object 33"/>
          <p:cNvSpPr txBox="1"/>
          <p:nvPr/>
        </p:nvSpPr>
        <p:spPr>
          <a:xfrm>
            <a:off x="4523375" y="2645869"/>
            <a:ext cx="2579308" cy="1844675"/>
          </a:xfrm>
          <a:prstGeom prst="rect">
            <a:avLst/>
          </a:prstGeom>
        </p:spPr>
        <p:txBody>
          <a:bodyPr vert="horz" wrap="square" lIns="0" tIns="35560" rIns="0" bIns="0" rtlCol="0">
            <a:spAutoFit/>
          </a:bodyPr>
          <a:lstStyle/>
          <a:p>
            <a:pPr marL="247650" indent="-173990" algn="just">
              <a:lnSpc>
                <a:spcPct val="100000"/>
              </a:lnSpc>
              <a:spcBef>
                <a:spcPts val="280"/>
              </a:spcBef>
              <a:buClr>
                <a:srgbClr val="080808"/>
              </a:buClr>
              <a:buChar char="•"/>
              <a:tabLst>
                <a:tab pos="248285" algn="l"/>
              </a:tabLst>
            </a:pPr>
            <a:r>
              <a:rPr sz="1200" spc="-5" dirty="0">
                <a:solidFill>
                  <a:srgbClr val="060606"/>
                </a:solidFill>
                <a:latin typeface="Arial" panose="020B0604020202020204"/>
                <a:cs typeface="Arial" panose="020B0604020202020204"/>
              </a:rPr>
              <a:t>2012.4.19</a:t>
            </a:r>
            <a:r>
              <a:rPr sz="1200" spc="-5"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60606"/>
                </a:solidFill>
                <a:latin typeface="Arial" panose="020B0604020202020204"/>
                <a:cs typeface="Arial" panose="020B0604020202020204"/>
              </a:rPr>
              <a:t>4.0</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74295" algn="just">
              <a:lnSpc>
                <a:spcPct val="100000"/>
              </a:lnSpc>
              <a:spcBef>
                <a:spcPts val="180"/>
              </a:spcBef>
            </a:pPr>
            <a:r>
              <a:rPr sz="1200" dirty="0">
                <a:solidFill>
                  <a:srgbClr val="080808"/>
                </a:solidFill>
                <a:latin typeface="微软雅黑" panose="020B0503020204020204" pitchFamily="34" charset="-122"/>
                <a:cs typeface="微软雅黑" panose="020B0503020204020204" pitchFamily="34" charset="-122"/>
              </a:rPr>
              <a:t>（</a:t>
            </a:r>
            <a:r>
              <a:rPr sz="1200" b="1" dirty="0">
                <a:solidFill>
                  <a:srgbClr val="080808"/>
                </a:solidFill>
                <a:latin typeface="微软雅黑" panose="020B0503020204020204" pitchFamily="34" charset="-122"/>
                <a:cs typeface="微软雅黑" panose="020B0503020204020204" pitchFamily="34" charset="-122"/>
              </a:rPr>
              <a:t>朋友圈</a:t>
            </a:r>
            <a:r>
              <a:rPr sz="1200" dirty="0">
                <a:solidFill>
                  <a:srgbClr val="060606"/>
                </a:solidFill>
                <a:latin typeface="微软雅黑" panose="020B0503020204020204" pitchFamily="34" charset="-122"/>
                <a:cs typeface="微软雅黑" panose="020B0503020204020204" pitchFamily="34" charset="-122"/>
              </a:rPr>
              <a:t>、</a:t>
            </a:r>
            <a:r>
              <a:rPr sz="1200" b="1" dirty="0">
                <a:solidFill>
                  <a:srgbClr val="080808"/>
                </a:solidFill>
                <a:latin typeface="微软雅黑" panose="020B0503020204020204" pitchFamily="34" charset="-122"/>
                <a:cs typeface="微软雅黑" panose="020B0503020204020204" pitchFamily="34" charset="-122"/>
              </a:rPr>
              <a:t>开放</a:t>
            </a:r>
            <a:r>
              <a:rPr sz="1200" b="1" dirty="0">
                <a:solidFill>
                  <a:srgbClr val="060606"/>
                </a:solidFill>
                <a:latin typeface="Arial" panose="020B0604020202020204"/>
                <a:cs typeface="Arial" panose="020B0604020202020204"/>
              </a:rPr>
              <a:t>API</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地理位置</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a:p>
            <a:pPr marL="247650" indent="-173990" algn="just">
              <a:lnSpc>
                <a:spcPct val="100000"/>
              </a:lnSpc>
              <a:spcBef>
                <a:spcPts val="180"/>
              </a:spcBef>
              <a:buClr>
                <a:srgbClr val="080808"/>
              </a:buClr>
              <a:buChar char="•"/>
              <a:tabLst>
                <a:tab pos="248285" algn="l"/>
              </a:tabLst>
            </a:pPr>
            <a:r>
              <a:rPr sz="1200" spc="-5" dirty="0">
                <a:solidFill>
                  <a:srgbClr val="060606"/>
                </a:solidFill>
                <a:latin typeface="Arial" panose="020B0604020202020204"/>
                <a:cs typeface="Arial" panose="020B0604020202020204"/>
              </a:rPr>
              <a:t>2012</a:t>
            </a:r>
            <a:r>
              <a:rPr sz="1200" spc="-5" dirty="0">
                <a:solidFill>
                  <a:srgbClr val="060606"/>
                </a:solidFill>
                <a:latin typeface="微软雅黑" panose="020B0503020204020204" pitchFamily="34" charset="-122"/>
                <a:cs typeface="微软雅黑" panose="020B0503020204020204" pitchFamily="34" charset="-122"/>
              </a:rPr>
              <a:t>.</a:t>
            </a:r>
            <a:r>
              <a:rPr sz="1200" spc="-5" dirty="0">
                <a:solidFill>
                  <a:srgbClr val="080808"/>
                </a:solidFill>
                <a:latin typeface="微软雅黑" panose="020B0503020204020204" pitchFamily="34" charset="-122"/>
                <a:cs typeface="微软雅黑" panose="020B0503020204020204" pitchFamily="34" charset="-122"/>
              </a:rPr>
              <a:t>7</a:t>
            </a:r>
            <a:r>
              <a:rPr sz="1200" spc="-5" dirty="0">
                <a:solidFill>
                  <a:srgbClr val="060606"/>
                </a:solidFill>
                <a:latin typeface="Arial" panose="020B0604020202020204"/>
                <a:cs typeface="Arial" panose="020B0604020202020204"/>
              </a:rPr>
              <a:t>.19</a:t>
            </a:r>
            <a:r>
              <a:rPr sz="1200" spc="-5"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60606"/>
                </a:solidFill>
                <a:latin typeface="Arial" panose="020B0604020202020204"/>
                <a:cs typeface="Arial" panose="020B0604020202020204"/>
              </a:rPr>
              <a:t>4.2</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74295" algn="just">
              <a:lnSpc>
                <a:spcPct val="100000"/>
              </a:lnSpc>
              <a:spcBef>
                <a:spcPts val="180"/>
              </a:spcBef>
            </a:pPr>
            <a:r>
              <a:rPr sz="1200" dirty="0">
                <a:solidFill>
                  <a:srgbClr val="080808"/>
                </a:solidFill>
                <a:latin typeface="微软雅黑" panose="020B0503020204020204" pitchFamily="34" charset="-122"/>
                <a:cs typeface="微软雅黑" panose="020B0503020204020204" pitchFamily="34" charset="-122"/>
              </a:rPr>
              <a:t>（视频</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网页版</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朋友圈回复</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a:p>
            <a:pPr marL="247650" indent="-173990" algn="just">
              <a:lnSpc>
                <a:spcPct val="100000"/>
              </a:lnSpc>
              <a:spcBef>
                <a:spcPts val="180"/>
              </a:spcBef>
              <a:buClr>
                <a:srgbClr val="080808"/>
              </a:buClr>
              <a:buChar char="•"/>
              <a:tabLst>
                <a:tab pos="248285" algn="l"/>
              </a:tabLst>
            </a:pPr>
            <a:r>
              <a:rPr sz="1200" spc="-5" dirty="0">
                <a:solidFill>
                  <a:srgbClr val="060606"/>
                </a:solidFill>
                <a:latin typeface="Arial" panose="020B0604020202020204"/>
                <a:cs typeface="Arial" panose="020B0604020202020204"/>
              </a:rPr>
              <a:t>2012.8.18</a:t>
            </a:r>
            <a:r>
              <a:rPr sz="1200" spc="-5"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微信公众平台开放</a:t>
            </a:r>
            <a:endParaRPr sz="1200" dirty="0">
              <a:latin typeface="微软雅黑" panose="020B0503020204020204" pitchFamily="34" charset="-122"/>
              <a:cs typeface="微软雅黑" panose="020B0503020204020204" pitchFamily="34" charset="-122"/>
            </a:endParaRPr>
          </a:p>
          <a:p>
            <a:pPr marL="247650" indent="-173990" algn="just">
              <a:lnSpc>
                <a:spcPct val="100000"/>
              </a:lnSpc>
              <a:spcBef>
                <a:spcPts val="180"/>
              </a:spcBef>
              <a:buClr>
                <a:srgbClr val="080808"/>
              </a:buClr>
              <a:buChar char="•"/>
              <a:tabLst>
                <a:tab pos="248285" algn="l"/>
              </a:tabLst>
            </a:pPr>
            <a:r>
              <a:rPr sz="1200" spc="-5" dirty="0">
                <a:solidFill>
                  <a:srgbClr val="060606"/>
                </a:solidFill>
                <a:latin typeface="Arial" panose="020B0604020202020204"/>
                <a:cs typeface="Arial" panose="020B0604020202020204"/>
              </a:rPr>
              <a:t>2012.9.25</a:t>
            </a:r>
            <a:r>
              <a:rPr sz="1200" spc="-5"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60606"/>
                </a:solidFill>
                <a:latin typeface="Arial" panose="020B0604020202020204"/>
                <a:cs typeface="Arial" panose="020B0604020202020204"/>
              </a:rPr>
              <a:t>4.3</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74295" algn="just">
              <a:lnSpc>
                <a:spcPct val="100000"/>
              </a:lnSpc>
              <a:spcBef>
                <a:spcPts val="180"/>
              </a:spcBef>
            </a:pPr>
            <a:r>
              <a:rPr sz="1200" dirty="0">
                <a:solidFill>
                  <a:srgbClr val="080808"/>
                </a:solidFill>
                <a:latin typeface="微软雅黑" panose="020B0503020204020204" pitchFamily="34" charset="-122"/>
                <a:cs typeface="微软雅黑" panose="020B0503020204020204" pitchFamily="34" charset="-122"/>
              </a:rPr>
              <a:t>（摇一摇传图</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解绑</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扫一扫</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a:p>
            <a:pPr algn="just">
              <a:lnSpc>
                <a:spcPct val="100000"/>
              </a:lnSpc>
              <a:spcBef>
                <a:spcPts val="70"/>
              </a:spcBef>
            </a:pPr>
            <a:endParaRPr sz="1200" dirty="0">
              <a:latin typeface="微软雅黑" panose="020B0503020204020204" pitchFamily="34" charset="-122"/>
              <a:cs typeface="微软雅黑" panose="020B0503020204020204" pitchFamily="34" charset="-122"/>
            </a:endParaRPr>
          </a:p>
          <a:p>
            <a:pPr marL="12700" algn="just">
              <a:lnSpc>
                <a:spcPct val="100000"/>
              </a:lnSpc>
              <a:tabLst>
                <a:tab pos="2552065" algn="l"/>
              </a:tabLst>
            </a:pPr>
            <a:endParaRPr sz="1200" dirty="0">
              <a:latin typeface="Arial" panose="020B0604020202020204"/>
              <a:cs typeface="Arial" panose="020B0604020202020204"/>
            </a:endParaRPr>
          </a:p>
        </p:txBody>
      </p:sp>
      <p:sp>
        <p:nvSpPr>
          <p:cNvPr id="86" name="object 34"/>
          <p:cNvSpPr txBox="1"/>
          <p:nvPr/>
        </p:nvSpPr>
        <p:spPr>
          <a:xfrm>
            <a:off x="6459739" y="4842888"/>
            <a:ext cx="2382067" cy="1235979"/>
          </a:xfrm>
          <a:prstGeom prst="rect">
            <a:avLst/>
          </a:prstGeom>
        </p:spPr>
        <p:txBody>
          <a:bodyPr vert="horz" wrap="square" lIns="0" tIns="35560" rIns="0" bIns="0" rtlCol="0">
            <a:spAutoFit/>
          </a:bodyPr>
          <a:lstStyle/>
          <a:p>
            <a:pPr marL="185420" indent="-173355" algn="just">
              <a:lnSpc>
                <a:spcPct val="100000"/>
              </a:lnSpc>
              <a:spcBef>
                <a:spcPts val="280"/>
              </a:spcBef>
              <a:buClr>
                <a:srgbClr val="080808"/>
              </a:buClr>
              <a:buChar char="•"/>
              <a:tabLst>
                <a:tab pos="186055" algn="l"/>
              </a:tabLst>
            </a:pPr>
            <a:r>
              <a:rPr sz="1200" spc="-5" dirty="0">
                <a:solidFill>
                  <a:srgbClr val="060606"/>
                </a:solidFill>
                <a:latin typeface="Arial" panose="020B0604020202020204"/>
                <a:cs typeface="Arial" panose="020B0604020202020204"/>
              </a:rPr>
              <a:t>2013.1.21</a:t>
            </a:r>
            <a:r>
              <a:rPr sz="1200" spc="-5"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80808"/>
                </a:solidFill>
                <a:latin typeface="微软雅黑" panose="020B0503020204020204" pitchFamily="34" charset="-122"/>
                <a:cs typeface="微软雅黑" panose="020B0503020204020204" pitchFamily="34" charset="-122"/>
              </a:rPr>
              <a:t>4</a:t>
            </a:r>
            <a:r>
              <a:rPr sz="1200" spc="-5" dirty="0">
                <a:solidFill>
                  <a:srgbClr val="060606"/>
                </a:solidFill>
                <a:latin typeface="Arial" panose="020B0604020202020204"/>
                <a:cs typeface="Arial" panose="020B0604020202020204"/>
              </a:rPr>
              <a:t>.5</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12700" marR="5080" algn="just">
              <a:lnSpc>
                <a:spcPct val="109000"/>
              </a:lnSpc>
            </a:pPr>
            <a:r>
              <a:rPr sz="1200" spc="145" dirty="0">
                <a:solidFill>
                  <a:srgbClr val="080808"/>
                </a:solidFill>
                <a:latin typeface="微软雅黑" panose="020B0503020204020204" pitchFamily="34" charset="-122"/>
                <a:cs typeface="微软雅黑" panose="020B0503020204020204" pitchFamily="34" charset="-122"/>
              </a:rPr>
              <a:t>（语音聊天室</a:t>
            </a:r>
            <a:r>
              <a:rPr sz="1200" spc="145" dirty="0">
                <a:solidFill>
                  <a:srgbClr val="060606"/>
                </a:solidFill>
                <a:latin typeface="微软雅黑" panose="020B0503020204020204" pitchFamily="34" charset="-122"/>
                <a:cs typeface="微软雅黑" panose="020B0503020204020204" pitchFamily="34" charset="-122"/>
              </a:rPr>
              <a:t>、</a:t>
            </a:r>
            <a:r>
              <a:rPr sz="1200" spc="145" dirty="0">
                <a:solidFill>
                  <a:srgbClr val="080808"/>
                </a:solidFill>
                <a:latin typeface="微软雅黑" panose="020B0503020204020204" pitchFamily="34" charset="-122"/>
                <a:cs typeface="微软雅黑" panose="020B0503020204020204" pitchFamily="34" charset="-122"/>
              </a:rPr>
              <a:t>摇一摇搜歌</a:t>
            </a:r>
            <a:r>
              <a:rPr sz="1200" dirty="0">
                <a:solidFill>
                  <a:srgbClr val="060606"/>
                </a:solidFill>
                <a:latin typeface="微软雅黑" panose="020B0503020204020204" pitchFamily="34" charset="-122"/>
                <a:cs typeface="微软雅黑" panose="020B0503020204020204" pitchFamily="34" charset="-122"/>
              </a:rPr>
              <a:t>、 </a:t>
            </a:r>
            <a:r>
              <a:rPr sz="1200" dirty="0">
                <a:solidFill>
                  <a:srgbClr val="080808"/>
                </a:solidFill>
                <a:latin typeface="微软雅黑" panose="020B0503020204020204" pitchFamily="34" charset="-122"/>
                <a:cs typeface="微软雅黑" panose="020B0503020204020204" pitchFamily="34" charset="-122"/>
              </a:rPr>
              <a:t>语音提醒</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位置导航</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a:p>
            <a:pPr marL="185420" indent="-173355" algn="just">
              <a:lnSpc>
                <a:spcPct val="100000"/>
              </a:lnSpc>
              <a:spcBef>
                <a:spcPts val="180"/>
              </a:spcBef>
              <a:buFont typeface="Arial" panose="020B0604020202020204"/>
              <a:buChar char="•"/>
              <a:tabLst>
                <a:tab pos="186055" algn="l"/>
              </a:tabLst>
            </a:pPr>
            <a:r>
              <a:rPr sz="1200" spc="-5" dirty="0">
                <a:solidFill>
                  <a:srgbClr val="080808"/>
                </a:solidFill>
                <a:latin typeface="微软雅黑" panose="020B0503020204020204" pitchFamily="34" charset="-122"/>
                <a:cs typeface="微软雅黑" panose="020B0503020204020204" pitchFamily="34" charset="-122"/>
              </a:rPr>
              <a:t>2</a:t>
            </a:r>
            <a:r>
              <a:rPr sz="1200" spc="-5" dirty="0">
                <a:solidFill>
                  <a:srgbClr val="060606"/>
                </a:solidFill>
                <a:latin typeface="Arial" panose="020B0604020202020204"/>
                <a:cs typeface="Arial" panose="020B0604020202020204"/>
              </a:rPr>
              <a:t>013.8.5</a:t>
            </a:r>
            <a:r>
              <a:rPr sz="1200" spc="-5"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60606"/>
                </a:solidFill>
                <a:latin typeface="Arial" panose="020B0604020202020204"/>
                <a:cs typeface="Arial" panose="020B0604020202020204"/>
              </a:rPr>
              <a:t>5.0</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12700" marR="5080" algn="just">
              <a:lnSpc>
                <a:spcPct val="109000"/>
              </a:lnSpc>
            </a:pPr>
            <a:r>
              <a:rPr sz="1200" spc="145" dirty="0">
                <a:solidFill>
                  <a:srgbClr val="080808"/>
                </a:solidFill>
                <a:latin typeface="微软雅黑" panose="020B0503020204020204" pitchFamily="34" charset="-122"/>
                <a:cs typeface="微软雅黑" panose="020B0503020204020204" pitchFamily="34" charset="-122"/>
              </a:rPr>
              <a:t>（折叠公众账号</a:t>
            </a:r>
            <a:r>
              <a:rPr sz="1200" spc="145" dirty="0">
                <a:solidFill>
                  <a:srgbClr val="060606"/>
                </a:solidFill>
                <a:latin typeface="微软雅黑" panose="020B0503020204020204" pitchFamily="34" charset="-122"/>
                <a:cs typeface="微软雅黑" panose="020B0503020204020204" pitchFamily="34" charset="-122"/>
              </a:rPr>
              <a:t>、</a:t>
            </a:r>
            <a:r>
              <a:rPr sz="1200" spc="145" dirty="0">
                <a:solidFill>
                  <a:srgbClr val="080808"/>
                </a:solidFill>
                <a:latin typeface="微软雅黑" panose="020B0503020204020204" pitchFamily="34" charset="-122"/>
                <a:cs typeface="微软雅黑" panose="020B0503020204020204" pitchFamily="34" charset="-122"/>
              </a:rPr>
              <a:t>游戏中心</a:t>
            </a:r>
            <a:r>
              <a:rPr sz="1200" dirty="0">
                <a:solidFill>
                  <a:srgbClr val="060606"/>
                </a:solidFill>
                <a:latin typeface="微软雅黑" panose="020B0503020204020204" pitchFamily="34" charset="-122"/>
                <a:cs typeface="微软雅黑" panose="020B0503020204020204" pitchFamily="34" charset="-122"/>
              </a:rPr>
              <a:t>、 </a:t>
            </a:r>
            <a:r>
              <a:rPr sz="1200" dirty="0">
                <a:solidFill>
                  <a:srgbClr val="080808"/>
                </a:solidFill>
                <a:latin typeface="微软雅黑" panose="020B0503020204020204" pitchFamily="34" charset="-122"/>
                <a:cs typeface="微软雅黑" panose="020B0503020204020204" pitchFamily="34" charset="-122"/>
              </a:rPr>
              <a:t>新版扫一扫</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微信支付</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p:txBody>
      </p:sp>
      <p:sp>
        <p:nvSpPr>
          <p:cNvPr id="87" name="object 35"/>
          <p:cNvSpPr txBox="1"/>
          <p:nvPr/>
        </p:nvSpPr>
        <p:spPr>
          <a:xfrm>
            <a:off x="8251183" y="2629928"/>
            <a:ext cx="2241330" cy="1438275"/>
          </a:xfrm>
          <a:prstGeom prst="rect">
            <a:avLst/>
          </a:prstGeom>
        </p:spPr>
        <p:txBody>
          <a:bodyPr vert="horz" wrap="square" lIns="0" tIns="35560" rIns="0" bIns="0" rtlCol="0">
            <a:spAutoFit/>
          </a:bodyPr>
          <a:lstStyle/>
          <a:p>
            <a:pPr marL="185420" indent="-173355" algn="just">
              <a:lnSpc>
                <a:spcPct val="100000"/>
              </a:lnSpc>
              <a:spcBef>
                <a:spcPts val="280"/>
              </a:spcBef>
              <a:buClr>
                <a:srgbClr val="080808"/>
              </a:buClr>
              <a:buChar char="•"/>
              <a:tabLst>
                <a:tab pos="186055" algn="l"/>
              </a:tabLst>
            </a:pPr>
            <a:r>
              <a:rPr sz="1200" spc="-5" dirty="0">
                <a:solidFill>
                  <a:srgbClr val="060606"/>
                </a:solidFill>
                <a:latin typeface="Arial" panose="020B0604020202020204"/>
                <a:cs typeface="Arial" panose="020B0604020202020204"/>
              </a:rPr>
              <a:t>2014.1.26</a:t>
            </a:r>
            <a:r>
              <a:rPr sz="1200" spc="-5"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60606"/>
                </a:solidFill>
                <a:latin typeface="Arial" panose="020B0604020202020204"/>
                <a:cs typeface="Arial" panose="020B0604020202020204"/>
              </a:rPr>
              <a:t>5.2</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12700" marR="5080" algn="just">
              <a:lnSpc>
                <a:spcPct val="109000"/>
              </a:lnSpc>
            </a:pPr>
            <a:r>
              <a:rPr sz="1200" spc="165" dirty="0">
                <a:solidFill>
                  <a:srgbClr val="080808"/>
                </a:solidFill>
                <a:latin typeface="微软雅黑" panose="020B0503020204020204" pitchFamily="34" charset="-122"/>
                <a:cs typeface="微软雅黑" panose="020B0503020204020204" pitchFamily="34" charset="-122"/>
              </a:rPr>
              <a:t>（聊天记录搜索</a:t>
            </a:r>
            <a:r>
              <a:rPr sz="1200" spc="165" dirty="0">
                <a:solidFill>
                  <a:srgbClr val="060606"/>
                </a:solidFill>
                <a:latin typeface="微软雅黑" panose="020B0503020204020204" pitchFamily="34" charset="-122"/>
                <a:cs typeface="微软雅黑" panose="020B0503020204020204" pitchFamily="34" charset="-122"/>
              </a:rPr>
              <a:t>、</a:t>
            </a:r>
            <a:r>
              <a:rPr sz="1200" b="1" spc="165" dirty="0">
                <a:solidFill>
                  <a:srgbClr val="080808"/>
                </a:solidFill>
                <a:latin typeface="微软雅黑" panose="020B0503020204020204" pitchFamily="34" charset="-122"/>
                <a:cs typeface="微软雅黑" panose="020B0503020204020204" pitchFamily="34" charset="-122"/>
              </a:rPr>
              <a:t>银行卡</a:t>
            </a:r>
            <a:r>
              <a:rPr sz="1200" spc="165" dirty="0">
                <a:solidFill>
                  <a:srgbClr val="080808"/>
                </a:solidFill>
                <a:latin typeface="微软雅黑" panose="020B0503020204020204" pitchFamily="34" charset="-122"/>
                <a:cs typeface="微软雅黑" panose="020B0503020204020204" pitchFamily="34" charset="-122"/>
              </a:rPr>
              <a:t>新 </a:t>
            </a:r>
            <a:r>
              <a:rPr sz="1200" dirty="0">
                <a:solidFill>
                  <a:srgbClr val="080808"/>
                </a:solidFill>
                <a:latin typeface="微软雅黑" panose="020B0503020204020204" pitchFamily="34" charset="-122"/>
                <a:cs typeface="微软雅黑" panose="020B0503020204020204" pitchFamily="34" charset="-122"/>
              </a:rPr>
              <a:t>增服务</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图片墙</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60606"/>
                </a:solidFill>
                <a:latin typeface="Arial" panose="020B0604020202020204"/>
                <a:cs typeface="Arial" panose="020B0604020202020204"/>
              </a:rPr>
              <a:t>@</a:t>
            </a:r>
            <a:r>
              <a:rPr sz="1200" dirty="0">
                <a:solidFill>
                  <a:srgbClr val="080808"/>
                </a:solidFill>
                <a:latin typeface="微软雅黑" panose="020B0503020204020204" pitchFamily="34" charset="-122"/>
                <a:cs typeface="微软雅黑" panose="020B0503020204020204" pitchFamily="34" charset="-122"/>
              </a:rPr>
              <a:t>提醒</a:t>
            </a:r>
            <a:r>
              <a:rPr sz="1200" dirty="0">
                <a:solidFill>
                  <a:srgbClr val="060606"/>
                </a:solidFill>
                <a:latin typeface="微软雅黑" panose="020B0503020204020204" pitchFamily="34" charset="-122"/>
                <a:cs typeface="微软雅黑" panose="020B0503020204020204" pitchFamily="34" charset="-122"/>
              </a:rPr>
              <a:t>）</a:t>
            </a:r>
            <a:endParaRPr sz="1200" dirty="0">
              <a:latin typeface="微软雅黑" panose="020B0503020204020204" pitchFamily="34" charset="-122"/>
              <a:cs typeface="微软雅黑" panose="020B0503020204020204" pitchFamily="34" charset="-122"/>
            </a:endParaRPr>
          </a:p>
          <a:p>
            <a:pPr marL="185420" indent="-173355" algn="just">
              <a:lnSpc>
                <a:spcPct val="100000"/>
              </a:lnSpc>
              <a:spcBef>
                <a:spcPts val="180"/>
              </a:spcBef>
              <a:buClr>
                <a:srgbClr val="080808"/>
              </a:buClr>
              <a:buChar char="•"/>
              <a:tabLst>
                <a:tab pos="186055" algn="l"/>
              </a:tabLst>
            </a:pPr>
            <a:r>
              <a:rPr sz="1200" dirty="0">
                <a:solidFill>
                  <a:srgbClr val="060606"/>
                </a:solidFill>
                <a:latin typeface="Arial" panose="020B0604020202020204"/>
                <a:cs typeface="Arial" panose="020B0604020202020204"/>
              </a:rPr>
              <a:t>2014.5.</a:t>
            </a:r>
            <a:r>
              <a:rPr sz="1200" spc="-5" dirty="0">
                <a:solidFill>
                  <a:srgbClr val="060606"/>
                </a:solidFill>
                <a:latin typeface="Arial" panose="020B0604020202020204"/>
                <a:cs typeface="Arial" panose="020B0604020202020204"/>
              </a:rPr>
              <a:t>8</a:t>
            </a:r>
            <a:r>
              <a:rPr sz="1200"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dirty="0">
                <a:solidFill>
                  <a:srgbClr val="060606"/>
                </a:solidFill>
                <a:latin typeface="Arial" panose="020B0604020202020204"/>
                <a:cs typeface="Arial" panose="020B0604020202020204"/>
              </a:rPr>
              <a:t>5.</a:t>
            </a:r>
            <a:r>
              <a:rPr sz="1200" spc="-5" dirty="0">
                <a:solidFill>
                  <a:srgbClr val="060606"/>
                </a:solidFill>
                <a:latin typeface="Arial" panose="020B0604020202020204"/>
                <a:cs typeface="Arial" panose="020B0604020202020204"/>
              </a:rPr>
              <a:t>3</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a:p>
            <a:pPr marL="12700" marR="5080" algn="just">
              <a:lnSpc>
                <a:spcPct val="109000"/>
              </a:lnSpc>
            </a:pPr>
            <a:r>
              <a:rPr sz="1200" dirty="0">
                <a:solidFill>
                  <a:srgbClr val="080808"/>
                </a:solidFill>
                <a:latin typeface="微软雅黑" panose="020B0503020204020204" pitchFamily="34" charset="-122"/>
                <a:cs typeface="微软雅黑" panose="020B0503020204020204" pitchFamily="34" charset="-122"/>
              </a:rPr>
              <a:t>（</a:t>
            </a:r>
            <a:r>
              <a:rPr sz="1200" spc="-390" dirty="0">
                <a:solidFill>
                  <a:srgbClr val="080808"/>
                </a:solidFill>
                <a:latin typeface="微软雅黑" panose="020B0503020204020204" pitchFamily="34" charset="-122"/>
                <a:cs typeface="微软雅黑" panose="020B0503020204020204" pitchFamily="34" charset="-122"/>
              </a:rPr>
              <a:t> </a:t>
            </a:r>
            <a:r>
              <a:rPr sz="1200" b="1" spc="165" dirty="0">
                <a:latin typeface="微软雅黑" panose="020B0503020204020204" pitchFamily="34" charset="-122"/>
                <a:cs typeface="微软雅黑" panose="020B0503020204020204" pitchFamily="34" charset="-122"/>
              </a:rPr>
              <a:t>面对面建群</a:t>
            </a:r>
            <a:r>
              <a:rPr sz="1200" spc="165" dirty="0">
                <a:latin typeface="微软雅黑" panose="020B0503020204020204" pitchFamily="34" charset="-122"/>
                <a:cs typeface="微软雅黑" panose="020B0503020204020204" pitchFamily="34" charset="-122"/>
              </a:rPr>
              <a:t>、收藏内容添 </a:t>
            </a:r>
            <a:r>
              <a:rPr sz="1200" dirty="0">
                <a:latin typeface="微软雅黑" panose="020B0503020204020204" pitchFamily="34" charset="-122"/>
                <a:cs typeface="微软雅黑" panose="020B0503020204020204" pitchFamily="34" charset="-122"/>
              </a:rPr>
              <a:t>加标签、外文翻译）</a:t>
            </a:r>
          </a:p>
          <a:p>
            <a:pPr marL="185420" indent="-173355" algn="just">
              <a:lnSpc>
                <a:spcPct val="100000"/>
              </a:lnSpc>
              <a:spcBef>
                <a:spcPts val="180"/>
              </a:spcBef>
              <a:buClr>
                <a:srgbClr val="080808"/>
              </a:buClr>
              <a:buChar char="•"/>
              <a:tabLst>
                <a:tab pos="186055" algn="l"/>
              </a:tabLst>
            </a:pPr>
            <a:r>
              <a:rPr sz="1200" spc="-5" dirty="0">
                <a:solidFill>
                  <a:srgbClr val="060606"/>
                </a:solidFill>
                <a:latin typeface="Arial" panose="020B0604020202020204"/>
                <a:cs typeface="Arial" panose="020B0604020202020204"/>
              </a:rPr>
              <a:t>2014.8.14</a:t>
            </a:r>
            <a:r>
              <a:rPr sz="1200" spc="-5" dirty="0">
                <a:solidFill>
                  <a:srgbClr val="060606"/>
                </a:solidFill>
                <a:latin typeface="微软雅黑" panose="020B0503020204020204" pitchFamily="34" charset="-122"/>
                <a:cs typeface="微软雅黑" panose="020B0503020204020204" pitchFamily="34" charset="-122"/>
              </a:rPr>
              <a:t>，</a:t>
            </a:r>
            <a:r>
              <a:rPr sz="1200" dirty="0">
                <a:solidFill>
                  <a:srgbClr val="080808"/>
                </a:solidFill>
                <a:latin typeface="微软雅黑" panose="020B0503020204020204" pitchFamily="34" charset="-122"/>
                <a:cs typeface="微软雅黑" panose="020B0503020204020204" pitchFamily="34" charset="-122"/>
              </a:rPr>
              <a:t>微信</a:t>
            </a:r>
            <a:r>
              <a:rPr sz="1200" spc="-5" dirty="0">
                <a:solidFill>
                  <a:srgbClr val="060606"/>
                </a:solidFill>
                <a:latin typeface="Arial" panose="020B0604020202020204"/>
                <a:cs typeface="Arial" panose="020B0604020202020204"/>
              </a:rPr>
              <a:t>5.4</a:t>
            </a:r>
            <a:r>
              <a:rPr sz="1200" dirty="0">
                <a:solidFill>
                  <a:srgbClr val="080808"/>
                </a:solidFill>
                <a:latin typeface="微软雅黑" panose="020B0503020204020204" pitchFamily="34" charset="-122"/>
                <a:cs typeface="微软雅黑" panose="020B0503020204020204" pitchFamily="34" charset="-122"/>
              </a:rPr>
              <a:t>发布</a:t>
            </a:r>
            <a:endParaRPr sz="1200" dirty="0">
              <a:latin typeface="微软雅黑" panose="020B0503020204020204" pitchFamily="34" charset="-122"/>
              <a:cs typeface="微软雅黑" panose="020B0503020204020204" pitchFamily="34" charset="-122"/>
            </a:endParaRPr>
          </a:p>
        </p:txBody>
      </p:sp>
      <p:sp>
        <p:nvSpPr>
          <p:cNvPr id="88" name="object 36"/>
          <p:cNvSpPr/>
          <p:nvPr/>
        </p:nvSpPr>
        <p:spPr>
          <a:xfrm>
            <a:off x="9215043" y="5007281"/>
            <a:ext cx="1111121" cy="1031198"/>
          </a:xfrm>
          <a:prstGeom prst="rect">
            <a:avLst/>
          </a:prstGeom>
          <a:blipFill>
            <a:blip r:embed="rId18" cstate="print"/>
            <a:stretch>
              <a:fillRect/>
            </a:stretch>
          </a:blipFill>
        </p:spPr>
        <p:txBody>
          <a:bodyPr wrap="square" lIns="0" tIns="0" rIns="0" bIns="0" rtlCol="0"/>
          <a:lstStyle/>
          <a:p>
            <a:pPr algn="just"/>
            <a:endParaRPr sz="1200"/>
          </a:p>
        </p:txBody>
      </p:sp>
      <p:sp>
        <p:nvSpPr>
          <p:cNvPr id="89" name="object 37"/>
          <p:cNvSpPr txBox="1"/>
          <p:nvPr/>
        </p:nvSpPr>
        <p:spPr>
          <a:xfrm>
            <a:off x="1812079" y="5761912"/>
            <a:ext cx="1025445" cy="500137"/>
          </a:xfrm>
          <a:prstGeom prst="rect">
            <a:avLst/>
          </a:prstGeom>
        </p:spPr>
        <p:txBody>
          <a:bodyPr vert="horz" wrap="square" lIns="0" tIns="12700" rIns="0" bIns="0" rtlCol="0">
            <a:spAutoFit/>
          </a:bodyPr>
          <a:lstStyle/>
          <a:p>
            <a:pPr marL="114300" algn="just">
              <a:lnSpc>
                <a:spcPts val="1910"/>
              </a:lnSpc>
              <a:spcBef>
                <a:spcPts val="100"/>
              </a:spcBef>
            </a:pPr>
            <a:r>
              <a:rPr sz="1200" spc="-15" dirty="0">
                <a:solidFill>
                  <a:srgbClr val="0000FF"/>
                </a:solidFill>
                <a:latin typeface="Arial" panose="020B0604020202020204"/>
                <a:cs typeface="Arial" panose="020B0604020202020204"/>
              </a:rPr>
              <a:t>2010.11.20</a:t>
            </a:r>
            <a:endParaRPr sz="1200">
              <a:latin typeface="Arial" panose="020B0604020202020204"/>
              <a:cs typeface="Arial" panose="020B0604020202020204"/>
            </a:endParaRPr>
          </a:p>
          <a:p>
            <a:pPr marL="12700" algn="just">
              <a:lnSpc>
                <a:spcPts val="1910"/>
              </a:lnSpc>
            </a:pPr>
            <a:r>
              <a:rPr sz="1200" dirty="0">
                <a:solidFill>
                  <a:srgbClr val="0000FF"/>
                </a:solidFill>
                <a:latin typeface="微软雅黑" panose="020B0503020204020204" pitchFamily="34" charset="-122"/>
                <a:cs typeface="微软雅黑" panose="020B0503020204020204" pitchFamily="34" charset="-122"/>
              </a:rPr>
              <a:t>微信正式立项</a:t>
            </a:r>
            <a:endParaRPr sz="1200">
              <a:latin typeface="微软雅黑" panose="020B0503020204020204" pitchFamily="34" charset="-122"/>
              <a:cs typeface="微软雅黑" panose="020B0503020204020204" pitchFamily="34" charset="-122"/>
            </a:endParaRPr>
          </a:p>
        </p:txBody>
      </p:sp>
      <p:sp>
        <p:nvSpPr>
          <p:cNvPr id="90" name="object 38"/>
          <p:cNvSpPr/>
          <p:nvPr/>
        </p:nvSpPr>
        <p:spPr>
          <a:xfrm>
            <a:off x="1958415" y="4857440"/>
            <a:ext cx="729261" cy="892775"/>
          </a:xfrm>
          <a:prstGeom prst="rect">
            <a:avLst/>
          </a:prstGeom>
          <a:blipFill>
            <a:blip r:embed="rId19" cstate="print"/>
            <a:stretch>
              <a:fillRect/>
            </a:stretch>
          </a:blipFill>
        </p:spPr>
        <p:txBody>
          <a:bodyPr wrap="square" lIns="0" tIns="0" rIns="0" bIns="0" rtlCol="0"/>
          <a:lstStyle/>
          <a:p>
            <a:pPr algn="just"/>
            <a:endParaRPr sz="1200"/>
          </a:p>
        </p:txBody>
      </p:sp>
      <p:sp>
        <p:nvSpPr>
          <p:cNvPr id="91" name="灯片编号占位符 90"/>
          <p:cNvSpPr>
            <a:spLocks noGrp="1"/>
          </p:cNvSpPr>
          <p:nvPr>
            <p:ph type="sldNum" sz="quarter" idx="12"/>
          </p:nvPr>
        </p:nvSpPr>
        <p:spPr/>
        <p:txBody>
          <a:bodyPr/>
          <a:lstStyle/>
          <a:p>
            <a:fld id="{74D2AB8B-5816-41F2-8B4B-CA5C3E4E6A65}" type="slidenum">
              <a:rPr lang="zh-CN" altLang="en-US" smtClean="0"/>
              <a:t>38</a:t>
            </a:fld>
            <a:endParaRPr lang="zh-CN" altLang="en-US"/>
          </a:p>
        </p:txBody>
      </p:sp>
      <p:sp>
        <p:nvSpPr>
          <p:cNvPr id="7" name="矩形 6"/>
          <p:cNvSpPr/>
          <p:nvPr/>
        </p:nvSpPr>
        <p:spPr>
          <a:xfrm>
            <a:off x="4486207" y="4223694"/>
            <a:ext cx="537327" cy="276999"/>
          </a:xfrm>
          <a:prstGeom prst="rect">
            <a:avLst/>
          </a:prstGeom>
        </p:spPr>
        <p:txBody>
          <a:bodyPr wrap="none">
            <a:spAutoFit/>
          </a:bodyPr>
          <a:lstStyle/>
          <a:p>
            <a:pPr marL="12700" algn="just">
              <a:spcBef>
                <a:spcPts val="100"/>
              </a:spcBef>
            </a:pPr>
            <a:r>
              <a:rPr lang="en-US" altLang="zh-CN" sz="1200" dirty="0">
                <a:solidFill>
                  <a:srgbClr val="FFFFFF"/>
                </a:solidFill>
                <a:latin typeface="Arial" panose="020B0604020202020204"/>
                <a:cs typeface="Arial" panose="020B0604020202020204"/>
              </a:rPr>
              <a:t>2012</a:t>
            </a:r>
            <a:endParaRPr lang="zh-CN" altLang="en-US" sz="1200" dirty="0">
              <a:solidFill>
                <a:srgbClr val="FFFFFF"/>
              </a:solidFill>
              <a:latin typeface="Arial" panose="020B0604020202020204"/>
              <a:cs typeface="Arial" panose="020B0604020202020204"/>
            </a:endParaRPr>
          </a:p>
        </p:txBody>
      </p:sp>
      <p:sp>
        <p:nvSpPr>
          <p:cNvPr id="8" name="矩形 7"/>
          <p:cNvSpPr/>
          <p:nvPr/>
        </p:nvSpPr>
        <p:spPr>
          <a:xfrm>
            <a:off x="6612624" y="4231511"/>
            <a:ext cx="537327" cy="276999"/>
          </a:xfrm>
          <a:prstGeom prst="rect">
            <a:avLst/>
          </a:prstGeom>
        </p:spPr>
        <p:txBody>
          <a:bodyPr wrap="none">
            <a:spAutoFit/>
          </a:bodyPr>
          <a:lstStyle/>
          <a:p>
            <a:pPr marL="12700" algn="just">
              <a:tabLst>
                <a:tab pos="2552065" algn="l"/>
              </a:tabLst>
            </a:pPr>
            <a:r>
              <a:rPr lang="en-US" altLang="zh-CN" sz="1200" dirty="0">
                <a:solidFill>
                  <a:srgbClr val="FFFFFF"/>
                </a:solidFill>
                <a:latin typeface="Arial" panose="020B0604020202020204"/>
                <a:cs typeface="Arial" panose="020B0604020202020204"/>
              </a:rPr>
              <a:t>2013</a:t>
            </a:r>
            <a:endParaRPr lang="zh-CN" altLang="en-US" sz="1200" dirty="0">
              <a:solidFill>
                <a:srgbClr val="FFFFFF"/>
              </a:solidFill>
              <a:latin typeface="Arial" panose="020B0604020202020204"/>
              <a:cs typeface="Arial" panose="020B0604020202020204"/>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bldLvl="0" animBg="1"/>
      <p:bldP spid="76" grpId="0" bldLvl="0" animBg="1"/>
      <p:bldP spid="78" grpId="0" bldLvl="0" animBg="1"/>
      <p:bldP spid="80" grpId="0" bldLvl="0" animBg="1"/>
      <p:bldP spid="82" grpId="0" bldLvl="0" animBg="1"/>
      <p:bldP spid="83" grpId="0"/>
      <p:bldP spid="84" grpId="0"/>
      <p:bldP spid="85" grpId="0"/>
      <p:bldP spid="86" grpId="0"/>
      <p:bldP spid="87" grpId="0"/>
      <p:bldP spid="88" grpId="0" bldLvl="0" animBg="1"/>
      <p:bldP spid="89" grpId="0"/>
      <p:bldP spid="90"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panose="020B0503020204020204" pitchFamily="34" charset="-122"/>
                <a:ea typeface="微软雅黑" panose="020B0503020204020204" pitchFamily="34" charset="-122"/>
              </a:rPr>
              <a:t>软件的不可见性</a:t>
            </a:r>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软件工程师能直接看见源代码，但是源代码不是软件本身。软件以机器 码的形式高速运行，还可能在几个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CPU</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核上同时运行，工程师是“看” 不到自己的源代码如何具体地在用户的机器上被执行的。</a:t>
            </a:r>
          </a:p>
          <a:p>
            <a:pPr>
              <a:lnSpc>
                <a:spcPct val="150000"/>
              </a:lnSpc>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商用软件出现了错误，工程师可以看到程序在出错的一瞬间留下的一些痕迹（错误代号、 大致的目标代码位置、错误信息），但是几乎无法完整重现到底程序出现了什么问题。</a:t>
            </a:r>
          </a:p>
          <a:p>
            <a:pPr>
              <a:lnSpc>
                <a:spcPct val="150000"/>
              </a:lnSpc>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39</a:t>
            </a:fld>
            <a:endParaRPr lang="zh-CN" alt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panose="020B0503020204020204" pitchFamily="34" charset="-122"/>
                <a:ea typeface="微软雅黑" panose="020B0503020204020204" pitchFamily="34" charset="-122"/>
              </a:rPr>
              <a:t>软件的易变性</a:t>
            </a:r>
          </a:p>
        </p:txBody>
      </p:sp>
      <p:sp>
        <p:nvSpPr>
          <p:cNvPr id="3" name="内容占位符 2"/>
          <p:cNvSpPr>
            <a:spLocks noGrp="1"/>
          </p:cNvSpPr>
          <p:nvPr>
            <p:ph idx="1"/>
          </p:nvPr>
        </p:nvSpPr>
        <p:spPr/>
        <p:txBody>
          <a:bodyPr>
            <a:normAutofit/>
          </a:bodyPr>
          <a:lstStyle/>
          <a:p>
            <a:pPr marL="0" indent="0">
              <a:lnSpc>
                <a:spcPct val="15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软件看上去很容易修改，修改软件比修改硬件容易多了。人们自然地期待软件能在下面两种情况下“改变”：</a:t>
            </a:r>
          </a:p>
          <a:p>
            <a:pPr marL="457200" lvl="1" indent="0">
              <a:lnSpc>
                <a:spcPct val="150000"/>
              </a:lnSpc>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让软件做新的事情；</a:t>
            </a:r>
          </a:p>
          <a:p>
            <a:pPr marL="457200" lvl="1" indent="0">
              <a:lnSpc>
                <a:spcPct val="15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b)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让软件适应新的硬件。但是与此同时，正确地修改软件是一件很困难的事情</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40</a:t>
            </a:fld>
            <a:endParaRPr lang="zh-CN" alt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软件的非连续性</a:t>
            </a:r>
            <a:endParaRPr lang="zh-CN" altLang="en-US">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人们比较容易理解连续的系统：增加输入，就能看到相应输出的增加。</a:t>
            </a: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但是许多软件系统却没有这样的特性，有时输入上很小的变化，会引起输出上极大的变化。</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41</a:t>
            </a:fld>
            <a:endParaRPr lang="zh-CN" alt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panose="020B0503020204020204" pitchFamily="34" charset="-122"/>
                <a:ea typeface="微软雅黑" panose="020B0503020204020204" pitchFamily="34" charset="-122"/>
              </a:rPr>
              <a:t>软件的其它特性</a:t>
            </a:r>
          </a:p>
        </p:txBody>
      </p:sp>
      <p:sp>
        <p:nvSpPr>
          <p:cNvPr id="3" name="内容占位符 2"/>
          <p:cNvSpPr>
            <a:spLocks noGrp="1"/>
          </p:cNvSpPr>
          <p:nvPr>
            <p:ph idx="1"/>
          </p:nvPr>
        </p:nvSpPr>
        <p:spPr>
          <a:xfrm>
            <a:off x="838200" y="1483360"/>
            <a:ext cx="10515600" cy="4693920"/>
          </a:xfrm>
        </p:spPr>
        <p:txBody>
          <a:bodyPr>
            <a:noAutofit/>
          </a:bodyPr>
          <a:lstStyle/>
          <a:p>
            <a:pPr marL="118745" indent="0">
              <a:lnSpc>
                <a:spcPct val="120000"/>
              </a:lnSpc>
              <a:buNone/>
            </a:pP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新特性：</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有许多不同的程序设计语言</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软件工具和软件开发平台</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存在许多不同的软件开发流程</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软件团队中存在许多不同的角色</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AI </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可以写程序， </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GitHub </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社区</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marL="118745" indent="0">
              <a:lnSpc>
                <a:spcPct val="120000"/>
              </a:lnSpc>
              <a:buNone/>
            </a:pP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marL="118745" indent="0">
              <a:lnSpc>
                <a:spcPct val="120000"/>
              </a:lnSpc>
              <a:buNone/>
            </a:pP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但是这些非本质、临时的特性并不能决定软件工程的本质问题。例如，有人发明 了一种新的程序设计语言，或者又出现了一个新的软件开发流程，或者网上出现 了又一个程序员技术社区</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这些事并不能改变软件工程的根本难度，这也是著 名的“没有银弹（</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No Silver Bullet</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）”论断所阐述的道理。</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42</a:t>
            </a:fld>
            <a:endParaRPr lang="zh-CN" alt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以下哪个部分不属于软件？</a:t>
            </a:r>
          </a:p>
        </p:txBody>
      </p:sp>
      <p:sp>
        <p:nvSpPr>
          <p:cNvPr id="5" name="文本框 4"/>
          <p:cNvSpPr txBox="1"/>
          <p:nvPr>
            <p:custDataLst>
              <p:tags r:id="rId3"/>
            </p:custDataLst>
          </p:nvPr>
        </p:nvSpPr>
        <p:spPr>
          <a:xfrm>
            <a:off x="2614613" y="216137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程序</a:t>
            </a:r>
          </a:p>
        </p:txBody>
      </p:sp>
      <p:sp>
        <p:nvSpPr>
          <p:cNvPr id="6" name="文本框 5"/>
          <p:cNvSpPr txBox="1"/>
          <p:nvPr>
            <p:custDataLst>
              <p:tags r:id="rId4"/>
            </p:custDataLst>
          </p:nvPr>
        </p:nvSpPr>
        <p:spPr>
          <a:xfrm>
            <a:off x="2614613" y="301862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设备</a:t>
            </a:r>
          </a:p>
        </p:txBody>
      </p:sp>
      <p:sp>
        <p:nvSpPr>
          <p:cNvPr id="7" name="文本框 6"/>
          <p:cNvSpPr txBox="1"/>
          <p:nvPr>
            <p:custDataLst>
              <p:tags r:id="rId5"/>
            </p:custDataLst>
          </p:nvPr>
        </p:nvSpPr>
        <p:spPr>
          <a:xfrm>
            <a:off x="2614613" y="387587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数据</a:t>
            </a:r>
          </a:p>
        </p:txBody>
      </p:sp>
      <p:sp>
        <p:nvSpPr>
          <p:cNvPr id="8" name="文本框 7"/>
          <p:cNvSpPr txBox="1"/>
          <p:nvPr>
            <p:custDataLst>
              <p:tags r:id="rId6"/>
            </p:custDataLst>
          </p:nvPr>
        </p:nvSpPr>
        <p:spPr>
          <a:xfrm>
            <a:off x="2614613" y="473312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文档</a:t>
            </a:r>
          </a:p>
        </p:txBody>
      </p:sp>
      <p:sp>
        <p:nvSpPr>
          <p:cNvPr id="9" name="椭圆 8"/>
          <p:cNvSpPr>
            <a:spLocks noChangeAspect="1"/>
          </p:cNvSpPr>
          <p:nvPr>
            <p:custDataLst>
              <p:tags r:id="rId7"/>
            </p:custDataLst>
          </p:nvPr>
        </p:nvSpPr>
        <p:spPr>
          <a:xfrm>
            <a:off x="1747838" y="222566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8"/>
            </p:custDataLst>
          </p:nvPr>
        </p:nvSpPr>
        <p:spPr>
          <a:xfrm>
            <a:off x="1747838" y="394016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9"/>
            </p:custDataLst>
          </p:nvPr>
        </p:nvSpPr>
        <p:spPr>
          <a:xfrm>
            <a:off x="1747838" y="4797417"/>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10"/>
            </p:custDataLst>
          </p:nvPr>
        </p:nvSpPr>
        <p:spPr>
          <a:xfrm>
            <a:off x="6000185" y="1609546"/>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椭圆 19">
            <a:extLst>
              <a:ext uri="{FF2B5EF4-FFF2-40B4-BE49-F238E27FC236}">
                <a16:creationId xmlns:a16="http://schemas.microsoft.com/office/drawing/2014/main" id="{4B72EF2C-E093-BBFA-9944-241AF4B8DC90}"/>
              </a:ext>
            </a:extLst>
          </p:cNvPr>
          <p:cNvSpPr>
            <a:spLocks noChangeAspect="1"/>
          </p:cNvSpPr>
          <p:nvPr>
            <p:custDataLst>
              <p:tags r:id="rId11"/>
            </p:custDataLst>
          </p:nvPr>
        </p:nvSpPr>
        <p:spPr>
          <a:xfrm>
            <a:off x="1747838" y="3157509"/>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custDataLst>
              <p:tags r:id="rId12"/>
            </p:custDataLst>
          </p:nvPr>
        </p:nvGrpSpPr>
        <p:grpSpPr>
          <a:xfrm>
            <a:off x="0" y="0"/>
            <a:ext cx="12192000" cy="635000"/>
            <a:chOff x="0" y="0"/>
            <a:chExt cx="12192000" cy="635000"/>
          </a:xfrm>
        </p:grpSpPr>
        <p:sp>
          <p:nvSpPr>
            <p:cNvPr id="14" name="TitleBackground"/>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sp>
        <p:nvSpPr>
          <p:cNvPr id="21" name="文本框 20">
            <a:extLst>
              <a:ext uri="{FF2B5EF4-FFF2-40B4-BE49-F238E27FC236}">
                <a16:creationId xmlns:a16="http://schemas.microsoft.com/office/drawing/2014/main" id="{6074A29B-4B08-A6C4-2658-17F6366E4257}"/>
              </a:ext>
            </a:extLst>
          </p:cNvPr>
          <p:cNvSpPr txBox="1"/>
          <p:nvPr>
            <p:custDataLst>
              <p:tags r:id="rId13"/>
            </p:custDataLst>
          </p:nvPr>
        </p:nvSpPr>
        <p:spPr>
          <a:xfrm>
            <a:off x="1219200" y="635000"/>
            <a:ext cx="9753600" cy="487680"/>
          </a:xfrm>
          <a:prstGeom prst="rect">
            <a:avLst/>
          </a:prstGeom>
          <a:solidFill>
            <a:srgbClr val="FBFAEF">
              <a:alpha val="90000"/>
            </a:srgbClr>
          </a:solidFill>
        </p:spPr>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pic>
        <p:nvPicPr>
          <p:cNvPr id="3" name="图片 2"/>
          <p:cNvPicPr/>
          <p:nvPr>
            <p:custDataLst>
              <p:tags r:id="rId14"/>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panose="020B0503020204020204" pitchFamily="34" charset="-122"/>
                <a:ea typeface="微软雅黑" panose="020B0503020204020204" pitchFamily="34" charset="-122"/>
              </a:rPr>
              <a:t>什么是软件工程？</a:t>
            </a:r>
          </a:p>
        </p:txBody>
      </p:sp>
      <p:sp>
        <p:nvSpPr>
          <p:cNvPr id="3" name="内容占位符 2"/>
          <p:cNvSpPr>
            <a:spLocks noGrp="1"/>
          </p:cNvSpPr>
          <p:nvPr>
            <p:ph idx="1"/>
          </p:nvPr>
        </p:nvSpPr>
        <p:spPr>
          <a:xfrm>
            <a:off x="838200" y="1569720"/>
            <a:ext cx="10515600" cy="4607560"/>
          </a:xfrm>
        </p:spPr>
        <p:txBody>
          <a:bodyPr>
            <a:noAutofit/>
          </a:bodyPr>
          <a:lstStyle/>
          <a:p>
            <a:pPr>
              <a:lnSpc>
                <a:spcPct val="100000"/>
              </a:lnSpc>
              <a:buClr>
                <a:schemeClr val="accent3"/>
              </a:buClr>
              <a:defRPr/>
            </a:pPr>
            <a:r>
              <a:rPr lang="zh-CN" altLang="en-US" sz="2400" dirty="0">
                <a:latin typeface="微软雅黑" panose="020B0503020204020204" pitchFamily="34" charset="-122"/>
                <a:ea typeface="微软雅黑" panose="020B0503020204020204" pitchFamily="34" charset="-122"/>
                <a:sym typeface="+mn-ea"/>
              </a:rPr>
              <a:t>软件工程：</a:t>
            </a:r>
          </a:p>
          <a:p>
            <a:pPr marL="5080" indent="-5080">
              <a:lnSpc>
                <a:spcPct val="100000"/>
              </a:lnSpc>
              <a:buClr>
                <a:schemeClr val="accent3"/>
              </a:buClr>
              <a:buNone/>
              <a:defRPr/>
            </a:pPr>
            <a:r>
              <a:rPr lang="zh-CN" altLang="en-US" sz="2400" dirty="0">
                <a:latin typeface="微软雅黑" panose="020B0503020204020204" pitchFamily="34" charset="-122"/>
                <a:ea typeface="微软雅黑" panose="020B0503020204020204" pitchFamily="34" charset="-122"/>
                <a:sym typeface="+mn-ea"/>
              </a:rPr>
              <a:t>    是把系统的、有序的、可量化的方法应用到软件的开发、运营和维护上的过程。</a:t>
            </a:r>
          </a:p>
          <a:p>
            <a:pPr marL="342900" indent="-342900">
              <a:lnSpc>
                <a:spcPct val="100000"/>
              </a:lnSpc>
              <a:buClr>
                <a:schemeClr val="accent3"/>
              </a:buClr>
              <a:defRPr/>
            </a:pPr>
            <a:endParaRPr lang="zh-CN" altLang="en-US" sz="2400" dirty="0">
              <a:latin typeface="微软雅黑" panose="020B0503020204020204" pitchFamily="34" charset="-122"/>
              <a:ea typeface="微软雅黑" panose="020B0503020204020204" pitchFamily="34" charset="-122"/>
            </a:endParaRPr>
          </a:p>
          <a:p>
            <a:pPr>
              <a:lnSpc>
                <a:spcPct val="100000"/>
              </a:lnSpc>
              <a:buClr>
                <a:schemeClr val="accent3"/>
              </a:buClr>
              <a:defRPr/>
            </a:pPr>
            <a:r>
              <a:rPr lang="zh-CN" altLang="en-US" sz="2400" dirty="0">
                <a:latin typeface="微软雅黑" panose="020B0503020204020204" pitchFamily="34" charset="-122"/>
                <a:ea typeface="微软雅黑" panose="020B0503020204020204" pitchFamily="34" charset="-122"/>
                <a:sym typeface="+mn-ea"/>
              </a:rPr>
              <a:t>软件工程包括下列领域：</a:t>
            </a:r>
          </a:p>
          <a:p>
            <a:pPr marL="5080" indent="-5080">
              <a:lnSpc>
                <a:spcPct val="100000"/>
              </a:lnSpc>
              <a:buClr>
                <a:schemeClr val="accent3"/>
              </a:buClr>
              <a:buNone/>
              <a:defRPr/>
            </a:pPr>
            <a:r>
              <a:rPr lang="zh-CN" altLang="en-US" sz="2400" dirty="0">
                <a:latin typeface="微软雅黑" panose="020B0503020204020204" pitchFamily="34" charset="-122"/>
                <a:ea typeface="微软雅黑" panose="020B0503020204020204" pitchFamily="34" charset="-122"/>
                <a:sym typeface="+mn-ea"/>
              </a:rPr>
              <a:t>    软件需求分析、软件设计、软件构建、软件测试和软件维护。</a:t>
            </a:r>
          </a:p>
          <a:p>
            <a:pPr marL="342900" indent="-342900">
              <a:lnSpc>
                <a:spcPct val="100000"/>
              </a:lnSpc>
              <a:buClr>
                <a:schemeClr val="accent3"/>
              </a:buClr>
              <a:defRPr/>
            </a:pPr>
            <a:endParaRPr lang="zh-CN" altLang="en-US" sz="2400" dirty="0">
              <a:latin typeface="微软雅黑" panose="020B0503020204020204" pitchFamily="34" charset="-122"/>
              <a:ea typeface="微软雅黑" panose="020B0503020204020204" pitchFamily="34" charset="-122"/>
            </a:endParaRPr>
          </a:p>
          <a:p>
            <a:pPr>
              <a:lnSpc>
                <a:spcPct val="100000"/>
              </a:lnSpc>
              <a:buClr>
                <a:schemeClr val="accent3"/>
              </a:buClr>
              <a:defRPr/>
            </a:pPr>
            <a:r>
              <a:rPr lang="zh-CN" altLang="en-US" sz="2400" dirty="0">
                <a:latin typeface="微软雅黑" panose="020B0503020204020204" pitchFamily="34" charset="-122"/>
                <a:ea typeface="微软雅黑" panose="020B0503020204020204" pitchFamily="34" charset="-122"/>
                <a:sym typeface="+mn-ea"/>
              </a:rPr>
              <a:t>软件工程和下列的学科相关：</a:t>
            </a:r>
          </a:p>
          <a:p>
            <a:pPr marL="5080" indent="-5080">
              <a:lnSpc>
                <a:spcPct val="100000"/>
              </a:lnSpc>
              <a:buClr>
                <a:schemeClr val="accent3"/>
              </a:buClr>
              <a:buNone/>
              <a:defRPr/>
            </a:pPr>
            <a:r>
              <a:rPr lang="zh-CN" altLang="en-US" sz="2400" dirty="0">
                <a:latin typeface="微软雅黑" panose="020B0503020204020204" pitchFamily="34" charset="-122"/>
                <a:ea typeface="微软雅黑" panose="020B0503020204020204" pitchFamily="34" charset="-122"/>
                <a:sym typeface="+mn-ea"/>
              </a:rPr>
              <a:t>    计算机科学、计算机工程、管理学、数学、项目管理学、质量管理、软件人体工学、系统工程、工业设计和用户界面设计。</a:t>
            </a:r>
            <a:endParaRPr lang="zh-CN" altLang="en-US" sz="2400" dirty="0">
              <a:latin typeface="微软雅黑" panose="020B0503020204020204" pitchFamily="34" charset="-122"/>
              <a:ea typeface="微软雅黑" panose="020B0503020204020204" pitchFamily="34" charset="-122"/>
            </a:endParaRPr>
          </a:p>
          <a:p>
            <a:pPr>
              <a:lnSpc>
                <a:spcPct val="100000"/>
              </a:lnSpc>
            </a:pPr>
            <a:endParaRPr lang="zh-CN" altLang="en-US" sz="16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44</a:t>
            </a:fld>
            <a:endParaRPr lang="zh-CN" alt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软件工程和软件开发流程</a:t>
            </a:r>
            <a:endParaRPr lang="zh-CN" altLang="en-US">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人们在开发、运营、维护软件的过程中有很多技术、做法、习惯和思想体系。软件工程把这些相关的技术和过程统一到一个体系中，叫“软件开发流程”。</a:t>
            </a: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软件开发流程的目的是为了提高 软件开发、运营、维护的效率，并提高软件的质量、用户满意度、可靠性和软件的可维护性。</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45</a:t>
            </a:fld>
            <a:endParaRPr lang="zh-CN" altLang="en-US"/>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为何要搞工程</a:t>
            </a: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内容占位符 2"/>
          <p:cNvSpPr>
            <a:spLocks noGrp="1"/>
          </p:cNvSpPr>
          <p:nvPr>
            <p:ph idx="1"/>
          </p:nvPr>
        </p:nvSpPr>
        <p:spPr/>
        <p:txBody>
          <a:bodyPr>
            <a:normAutofit lnSpcReduction="10000"/>
          </a:bodyPr>
          <a:lstStyle/>
          <a:p>
            <a:pPr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因为需求复杂</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要满足不同类型用户的多种需求，并且能长时间提供服务</a:t>
            </a:r>
          </a:p>
          <a:p>
            <a:pPr lvl="1"/>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因为系统太复杂</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The effort is necessitated by the potential complexity of those systems, which may contain millions of lines of code.</a:t>
            </a:r>
          </a:p>
          <a:p>
            <a:pPr lvl="1"/>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因为人们的生命，财产依赖于软件</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Millions of dollars, people's life, business depends on it. </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46</a:t>
            </a:fld>
            <a:endParaRPr lang="zh-CN" alt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panose="020B0503020204020204" pitchFamily="34" charset="-122"/>
                <a:ea typeface="微软雅黑" panose="020B0503020204020204" pitchFamily="34" charset="-122"/>
              </a:rPr>
              <a:t>软件与服务</a:t>
            </a:r>
          </a:p>
        </p:txBody>
      </p:sp>
      <p:sp>
        <p:nvSpPr>
          <p:cNvPr id="3" name="内容占位符 2"/>
          <p:cNvSpPr>
            <a:spLocks noGrp="1"/>
          </p:cNvSpPr>
          <p:nvPr>
            <p:ph idx="1"/>
          </p:nvPr>
        </p:nvSpPr>
        <p:spPr>
          <a:xfrm>
            <a:off x="838200" y="1612265"/>
            <a:ext cx="10515600" cy="4565015"/>
          </a:xfrm>
        </p:spPr>
        <p:txBody>
          <a:bodyPr>
            <a:noAutofit/>
          </a:bodyPr>
          <a:lstStyle/>
          <a:p>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小学老师要每周给同学出</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300</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道四则运算练习题。</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这个程序有很多种实现方式</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C/C++</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C#/VB.net/Java</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Excel</a:t>
            </a:r>
            <a:endParaRPr 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Unix Shell</a:t>
            </a:r>
            <a:endParaRPr 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1700" dirty="0" err="1">
                <a:latin typeface="微软雅黑" panose="020B0503020204020204" pitchFamily="34" charset="-122"/>
                <a:ea typeface="微软雅黑" panose="020B0503020204020204" pitchFamily="34" charset="-122"/>
                <a:cs typeface="微软雅黑" panose="020B0503020204020204" pitchFamily="34" charset="-122"/>
                <a:sym typeface="+mn-ea"/>
              </a:rPr>
              <a:t>Emacs</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1700" dirty="0" err="1">
                <a:latin typeface="微软雅黑" panose="020B0503020204020204" pitchFamily="34" charset="-122"/>
                <a:ea typeface="微软雅黑" panose="020B0503020204020204" pitchFamily="34" charset="-122"/>
                <a:cs typeface="微软雅黑" panose="020B0503020204020204" pitchFamily="34" charset="-122"/>
                <a:sym typeface="+mn-ea"/>
              </a:rPr>
              <a:t>Powershell</a:t>
            </a:r>
            <a:r>
              <a:rPr 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1700" dirty="0" err="1">
                <a:latin typeface="微软雅黑" panose="020B0503020204020204" pitchFamily="34" charset="-122"/>
                <a:ea typeface="微软雅黑" panose="020B0503020204020204" pitchFamily="34" charset="-122"/>
                <a:cs typeface="微软雅黑" panose="020B0503020204020204" pitchFamily="34" charset="-122"/>
                <a:sym typeface="+mn-ea"/>
              </a:rPr>
              <a:t>Vbscript</a:t>
            </a:r>
            <a:endParaRPr 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Perl</a:t>
            </a:r>
            <a:endParaRPr 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Python</a:t>
            </a:r>
            <a:endParaRPr lang="en-US" sz="17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两个运算符，</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100 </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以内的数字，不需要写答案。</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估计时间</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现在估计写这个程序需要的时间</a:t>
            </a:r>
            <a:endParaRPr lang="en-US" altLang="zh-CN" sz="17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需要写答案，并且保证答案在 </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0..100</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 之间 </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rPr>
              <a:t>估计时间</a:t>
            </a:r>
            <a:r>
              <a:rPr lang="en-US" altLang="zh-CN" sz="1700" dirty="0">
                <a:latin typeface="微软雅黑" panose="020B0503020204020204" pitchFamily="34" charset="-122"/>
                <a:ea typeface="微软雅黑" panose="020B0503020204020204" pitchFamily="34" charset="-122"/>
                <a:cs typeface="微软雅黑" panose="020B0503020204020204" pitchFamily="34" charset="-122"/>
                <a:sym typeface="+mn-ea"/>
              </a:rPr>
              <a:t>2】</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47</a:t>
            </a:fld>
            <a:endParaRPr lang="zh-CN" alt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软件：很多细节</a:t>
            </a:r>
          </a:p>
        </p:txBody>
      </p:sp>
      <p:sp>
        <p:nvSpPr>
          <p:cNvPr id="3" name="内容占位符 2"/>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这个老师发现你的程序很好用，其他老师都想要一份，有些新的要求：</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题目避免重复</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可扩展性</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可定制（数量</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打印方式）</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具体定制</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2"/>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是否有乘除法，是否有括号，数值范围，加减有无负数</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2"/>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除法有无余数，是否支持分数，打印中每行的间隔可调整</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现在估计做好这个</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软件</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需要多长时间。</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48</a:t>
            </a:fld>
            <a:endParaRPr lang="zh-CN" alt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更多需求</a:t>
            </a:r>
            <a:endParaRPr lang="zh-CN" altLang="en-US">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sym typeface="+mn-ea"/>
              </a:rPr>
              <a:t>然后你发现全国的老师都有这个需求</a:t>
            </a:r>
            <a:endParaRPr lang="en-US" altLang="zh-CN" sz="2800" dirty="0">
              <a:latin typeface="微软雅黑" panose="020B0503020204020204" pitchFamily="34" charset="-122"/>
              <a:ea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sym typeface="+mn-ea"/>
              </a:rPr>
              <a:t>甚至有好些家长都想要这个。。。</a:t>
            </a:r>
            <a:endParaRPr lang="en-US" altLang="zh-CN" sz="2800" dirty="0">
              <a:latin typeface="微软雅黑" panose="020B0503020204020204" pitchFamily="34" charset="-122"/>
              <a:ea typeface="微软雅黑" panose="020B0503020204020204" pitchFamily="34" charset="-122"/>
            </a:endParaRPr>
          </a:p>
          <a:p>
            <a:pPr lvl="1"/>
            <a:endParaRPr lang="en-US" altLang="zh-CN" sz="2800" dirty="0">
              <a:latin typeface="微软雅黑" panose="020B0503020204020204" pitchFamily="34" charset="-122"/>
              <a:ea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sym typeface="+mn-ea"/>
              </a:rPr>
              <a:t>校长希望你写一个网站满足大家的需求，希望能接受上万个用户同时访问</a:t>
            </a:r>
            <a:endParaRPr lang="en-US" altLang="zh-CN" sz="2800" dirty="0">
              <a:latin typeface="微软雅黑" panose="020B0503020204020204" pitchFamily="34" charset="-122"/>
              <a:ea typeface="微软雅黑" panose="020B0503020204020204" pitchFamily="34" charset="-122"/>
            </a:endParaRPr>
          </a:p>
          <a:p>
            <a:endParaRPr lang="en-US" sz="2800" dirty="0">
              <a:latin typeface="微软雅黑" panose="020B0503020204020204" pitchFamily="34" charset="-122"/>
              <a:ea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sym typeface="+mn-ea"/>
              </a:rPr>
              <a:t>现在估计完成这一</a:t>
            </a:r>
            <a:r>
              <a:rPr lang="zh-CN" altLang="en-US" sz="2800" b="1" dirty="0">
                <a:latin typeface="微软雅黑" panose="020B0503020204020204" pitchFamily="34" charset="-122"/>
                <a:ea typeface="微软雅黑" panose="020B0503020204020204" pitchFamily="34" charset="-122"/>
                <a:sym typeface="+mn-ea"/>
              </a:rPr>
              <a:t>软件服务</a:t>
            </a:r>
            <a:r>
              <a:rPr lang="zh-CN" altLang="en-US" sz="2800" dirty="0">
                <a:latin typeface="微软雅黑" panose="020B0503020204020204" pitchFamily="34" charset="-122"/>
                <a:ea typeface="微软雅黑" panose="020B0503020204020204" pitchFamily="34" charset="-122"/>
                <a:sym typeface="+mn-ea"/>
              </a:rPr>
              <a:t>需要的时间</a:t>
            </a:r>
            <a:endParaRPr lang="en-US" sz="2800" dirty="0">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49</a:t>
            </a:fld>
            <a:endParaRPr lang="zh-CN" alt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panose="020B0503020204020204" pitchFamily="34" charset="-122"/>
                <a:ea typeface="微软雅黑" panose="020B0503020204020204" pitchFamily="34" charset="-122"/>
              </a:rPr>
              <a:t>软件与程序</a:t>
            </a:r>
          </a:p>
        </p:txBody>
      </p:sp>
      <p:sp>
        <p:nvSpPr>
          <p:cNvPr id="3" name="内容占位符 2"/>
          <p:cNvSpPr>
            <a:spLocks noGrp="1"/>
          </p:cNvSpPr>
          <p:nvPr>
            <p:ph idx="1"/>
          </p:nvPr>
        </p:nvSpPr>
        <p:spPr/>
        <p:txBody>
          <a:bodyPr/>
          <a:lstStyle/>
          <a:p>
            <a:r>
              <a:rPr lang="zh-CN" altLang="en-US">
                <a:latin typeface="微软雅黑" panose="020B0503020204020204" pitchFamily="34" charset="-122"/>
                <a:ea typeface="微软雅黑" panose="020B0503020204020204" pitchFamily="34" charset="-122"/>
                <a:cs typeface="微软雅黑" panose="020B0503020204020204" pitchFamily="34" charset="-122"/>
              </a:rPr>
              <a:t>程序 </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数据结构 </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算法</a:t>
            </a:r>
          </a:p>
          <a:p>
            <a:r>
              <a:rPr lang="zh-CN" altLang="en-US">
                <a:latin typeface="微软雅黑" panose="020B0503020204020204" pitchFamily="34" charset="-122"/>
                <a:ea typeface="微软雅黑" panose="020B0503020204020204" pitchFamily="34" charset="-122"/>
                <a:cs typeface="微软雅黑" panose="020B0503020204020204" pitchFamily="34" charset="-122"/>
              </a:rPr>
              <a:t>软件 </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程序 </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软件工程</a:t>
            </a: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程序有道德么？软件公司是否有道德？</a:t>
            </a:r>
            <a:endParaRPr lang="en-US"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50</a:t>
            </a:fld>
            <a:endParaRPr lang="zh-CN" altLang="en-US">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当出问题的时候</a:t>
            </a: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内容占位符 2"/>
          <p:cNvSpPr>
            <a:spLocks noGrp="1"/>
          </p:cNvSpPr>
          <p:nvPr>
            <p:ph idx="1"/>
          </p:nvPr>
        </p:nvSpPr>
        <p:spPr>
          <a:xfrm>
            <a:off x="838200" y="1691005"/>
            <a:ext cx="10515600" cy="4692015"/>
          </a:xfrm>
        </p:spPr>
        <p:txBody>
          <a:bodyPr>
            <a:normAutofit fontScale="85000" lnSpcReduction="20000"/>
          </a:bodyPr>
          <a:lstStyle/>
          <a:p>
            <a:pPr eaLnBrk="1" hangingPunct="1"/>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Kid</a:t>
            </a:r>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’s toy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（小孩玩具坏了）</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get a new one</a:t>
            </a:r>
          </a:p>
          <a:p>
            <a:pPr lvl="1" eaLnBrk="1" hangingPunct="1"/>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Hobbyist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（业余时间搞的程序崩溃了）</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we had fun, move on… </a:t>
            </a:r>
          </a:p>
          <a:p>
            <a:pPr lvl="1" eaLnBrk="1" hangingPunct="1"/>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Early prototype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（创业的软件失败了）</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learn the lesson, find another way, and keep going…</a:t>
            </a:r>
          </a:p>
          <a:p>
            <a:pPr lvl="1" eaLnBrk="1" hangingPunct="1"/>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Professionals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（专业软件崩溃了）</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股票交易软件，火车票购票网站，</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四则运算练习网站（有一万个学生每天要在这里做作业）</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people's life, money</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51</a:t>
            </a:fld>
            <a:endParaRPr lang="zh-CN" alt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软件开发面临的挑战（一）</a:t>
            </a:r>
          </a:p>
        </p:txBody>
      </p:sp>
      <p:sp>
        <p:nvSpPr>
          <p:cNvPr id="3" name="内容占位符 2"/>
          <p:cNvSpPr>
            <a:spLocks noGrp="1"/>
          </p:cNvSpPr>
          <p:nvPr>
            <p:ph idx="1"/>
          </p:nvPr>
        </p:nvSpPr>
        <p:spPr/>
        <p:txBody>
          <a:bodyPr>
            <a:normAutofit/>
          </a:bodyPr>
          <a:lstStyle/>
          <a:p>
            <a:pPr marL="0" indent="0" algn="just">
              <a:buNone/>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美国</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Standish</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集团的调查报告</a:t>
            </a: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p:txBody>
      </p:sp>
      <p:grpSp>
        <p:nvGrpSpPr>
          <p:cNvPr id="6" name="组合 5"/>
          <p:cNvGrpSpPr/>
          <p:nvPr/>
        </p:nvGrpSpPr>
        <p:grpSpPr>
          <a:xfrm>
            <a:off x="1126319" y="2429323"/>
            <a:ext cx="9939362" cy="3456886"/>
            <a:chOff x="675271" y="2273839"/>
            <a:chExt cx="10345639" cy="3895472"/>
          </a:xfrm>
        </p:grpSpPr>
        <p:sp>
          <p:nvSpPr>
            <p:cNvPr id="8" name="object 3"/>
            <p:cNvSpPr/>
            <p:nvPr/>
          </p:nvSpPr>
          <p:spPr>
            <a:xfrm>
              <a:off x="10841608" y="4907102"/>
              <a:ext cx="179070" cy="0"/>
            </a:xfrm>
            <a:custGeom>
              <a:avLst/>
              <a:gdLst/>
              <a:ahLst/>
              <a:cxnLst/>
              <a:rect l="l" t="t" r="r" b="b"/>
              <a:pathLst>
                <a:path w="179070">
                  <a:moveTo>
                    <a:pt x="0" y="0"/>
                  </a:moveTo>
                  <a:lnTo>
                    <a:pt x="178723" y="0"/>
                  </a:lnTo>
                </a:path>
              </a:pathLst>
            </a:custGeom>
            <a:ln w="6349">
              <a:solidFill>
                <a:srgbClr val="9B9B9B"/>
              </a:solidFill>
            </a:ln>
          </p:spPr>
          <p:txBody>
            <a:bodyPr wrap="square" lIns="0" tIns="0" rIns="0" bIns="0" rtlCol="0"/>
            <a:lstStyle/>
            <a:p>
              <a:pPr algn="just"/>
              <a:endParaRPr sz="1200"/>
            </a:p>
          </p:txBody>
        </p:sp>
        <p:sp>
          <p:nvSpPr>
            <p:cNvPr id="9" name="object 4"/>
            <p:cNvSpPr/>
            <p:nvPr/>
          </p:nvSpPr>
          <p:spPr>
            <a:xfrm>
              <a:off x="9765111" y="4907102"/>
              <a:ext cx="357505" cy="0"/>
            </a:xfrm>
            <a:custGeom>
              <a:avLst/>
              <a:gdLst/>
              <a:ahLst/>
              <a:cxnLst/>
              <a:rect l="l" t="t" r="r" b="b"/>
              <a:pathLst>
                <a:path w="357504">
                  <a:moveTo>
                    <a:pt x="0" y="0"/>
                  </a:moveTo>
                  <a:lnTo>
                    <a:pt x="357446" y="0"/>
                  </a:lnTo>
                </a:path>
              </a:pathLst>
            </a:custGeom>
            <a:ln w="6349">
              <a:solidFill>
                <a:srgbClr val="9B9B9B"/>
              </a:solidFill>
            </a:ln>
          </p:spPr>
          <p:txBody>
            <a:bodyPr wrap="square" lIns="0" tIns="0" rIns="0" bIns="0" rtlCol="0"/>
            <a:lstStyle/>
            <a:p>
              <a:pPr algn="just"/>
              <a:endParaRPr sz="1200"/>
            </a:p>
          </p:txBody>
        </p:sp>
        <p:sp>
          <p:nvSpPr>
            <p:cNvPr id="10" name="object 5"/>
            <p:cNvSpPr/>
            <p:nvPr/>
          </p:nvSpPr>
          <p:spPr>
            <a:xfrm>
              <a:off x="8692768" y="4907102"/>
              <a:ext cx="357505" cy="0"/>
            </a:xfrm>
            <a:custGeom>
              <a:avLst/>
              <a:gdLst/>
              <a:ahLst/>
              <a:cxnLst/>
              <a:rect l="l" t="t" r="r" b="b"/>
              <a:pathLst>
                <a:path w="357504">
                  <a:moveTo>
                    <a:pt x="0" y="0"/>
                  </a:moveTo>
                  <a:lnTo>
                    <a:pt x="357446" y="0"/>
                  </a:lnTo>
                </a:path>
              </a:pathLst>
            </a:custGeom>
            <a:ln w="6349">
              <a:solidFill>
                <a:srgbClr val="9B9B9B"/>
              </a:solidFill>
            </a:ln>
          </p:spPr>
          <p:txBody>
            <a:bodyPr wrap="square" lIns="0" tIns="0" rIns="0" bIns="0" rtlCol="0"/>
            <a:lstStyle/>
            <a:p>
              <a:pPr algn="just"/>
              <a:endParaRPr sz="1200"/>
            </a:p>
          </p:txBody>
        </p:sp>
        <p:sp>
          <p:nvSpPr>
            <p:cNvPr id="11" name="object 6"/>
            <p:cNvSpPr/>
            <p:nvPr/>
          </p:nvSpPr>
          <p:spPr>
            <a:xfrm>
              <a:off x="7616271" y="4907102"/>
              <a:ext cx="357505" cy="0"/>
            </a:xfrm>
            <a:custGeom>
              <a:avLst/>
              <a:gdLst/>
              <a:ahLst/>
              <a:cxnLst/>
              <a:rect l="l" t="t" r="r" b="b"/>
              <a:pathLst>
                <a:path w="357504">
                  <a:moveTo>
                    <a:pt x="0" y="0"/>
                  </a:moveTo>
                  <a:lnTo>
                    <a:pt x="357446" y="0"/>
                  </a:lnTo>
                </a:path>
              </a:pathLst>
            </a:custGeom>
            <a:ln w="6349">
              <a:solidFill>
                <a:srgbClr val="9B9B9B"/>
              </a:solidFill>
            </a:ln>
          </p:spPr>
          <p:txBody>
            <a:bodyPr wrap="square" lIns="0" tIns="0" rIns="0" bIns="0" rtlCol="0"/>
            <a:lstStyle/>
            <a:p>
              <a:pPr algn="just"/>
              <a:endParaRPr sz="1200"/>
            </a:p>
          </p:txBody>
        </p:sp>
        <p:sp>
          <p:nvSpPr>
            <p:cNvPr id="12" name="object 7"/>
            <p:cNvSpPr/>
            <p:nvPr/>
          </p:nvSpPr>
          <p:spPr>
            <a:xfrm>
              <a:off x="6539771" y="4907102"/>
              <a:ext cx="357505" cy="0"/>
            </a:xfrm>
            <a:custGeom>
              <a:avLst/>
              <a:gdLst/>
              <a:ahLst/>
              <a:cxnLst/>
              <a:rect l="l" t="t" r="r" b="b"/>
              <a:pathLst>
                <a:path w="357504">
                  <a:moveTo>
                    <a:pt x="0" y="0"/>
                  </a:moveTo>
                  <a:lnTo>
                    <a:pt x="357447" y="0"/>
                  </a:lnTo>
                </a:path>
              </a:pathLst>
            </a:custGeom>
            <a:ln w="6349">
              <a:solidFill>
                <a:srgbClr val="9B9B9B"/>
              </a:solidFill>
            </a:ln>
          </p:spPr>
          <p:txBody>
            <a:bodyPr wrap="square" lIns="0" tIns="0" rIns="0" bIns="0" rtlCol="0"/>
            <a:lstStyle/>
            <a:p>
              <a:pPr algn="just"/>
              <a:endParaRPr sz="1200"/>
            </a:p>
          </p:txBody>
        </p:sp>
        <p:sp>
          <p:nvSpPr>
            <p:cNvPr id="13" name="object 8"/>
            <p:cNvSpPr/>
            <p:nvPr/>
          </p:nvSpPr>
          <p:spPr>
            <a:xfrm>
              <a:off x="5463273" y="4907102"/>
              <a:ext cx="361950" cy="0"/>
            </a:xfrm>
            <a:custGeom>
              <a:avLst/>
              <a:gdLst/>
              <a:ahLst/>
              <a:cxnLst/>
              <a:rect l="l" t="t" r="r" b="b"/>
              <a:pathLst>
                <a:path w="361950">
                  <a:moveTo>
                    <a:pt x="0" y="0"/>
                  </a:moveTo>
                  <a:lnTo>
                    <a:pt x="361604" y="0"/>
                  </a:lnTo>
                </a:path>
              </a:pathLst>
            </a:custGeom>
            <a:ln w="6349">
              <a:solidFill>
                <a:srgbClr val="9B9B9B"/>
              </a:solidFill>
            </a:ln>
          </p:spPr>
          <p:txBody>
            <a:bodyPr wrap="square" lIns="0" tIns="0" rIns="0" bIns="0" rtlCol="0"/>
            <a:lstStyle/>
            <a:p>
              <a:pPr algn="just"/>
              <a:endParaRPr sz="1200"/>
            </a:p>
          </p:txBody>
        </p:sp>
        <p:sp>
          <p:nvSpPr>
            <p:cNvPr id="14" name="object 9"/>
            <p:cNvSpPr/>
            <p:nvPr/>
          </p:nvSpPr>
          <p:spPr>
            <a:xfrm>
              <a:off x="4390933" y="4907102"/>
              <a:ext cx="357505" cy="0"/>
            </a:xfrm>
            <a:custGeom>
              <a:avLst/>
              <a:gdLst/>
              <a:ahLst/>
              <a:cxnLst/>
              <a:rect l="l" t="t" r="r" b="b"/>
              <a:pathLst>
                <a:path w="357504">
                  <a:moveTo>
                    <a:pt x="0" y="0"/>
                  </a:moveTo>
                  <a:lnTo>
                    <a:pt x="357446" y="0"/>
                  </a:lnTo>
                </a:path>
              </a:pathLst>
            </a:custGeom>
            <a:ln w="6349">
              <a:solidFill>
                <a:srgbClr val="9B9B9B"/>
              </a:solidFill>
            </a:ln>
          </p:spPr>
          <p:txBody>
            <a:bodyPr wrap="square" lIns="0" tIns="0" rIns="0" bIns="0" rtlCol="0"/>
            <a:lstStyle/>
            <a:p>
              <a:pPr algn="just"/>
              <a:endParaRPr sz="1200"/>
            </a:p>
          </p:txBody>
        </p:sp>
        <p:sp>
          <p:nvSpPr>
            <p:cNvPr id="15" name="object 10"/>
            <p:cNvSpPr/>
            <p:nvPr/>
          </p:nvSpPr>
          <p:spPr>
            <a:xfrm>
              <a:off x="3314434" y="4907102"/>
              <a:ext cx="357505" cy="0"/>
            </a:xfrm>
            <a:custGeom>
              <a:avLst/>
              <a:gdLst/>
              <a:ahLst/>
              <a:cxnLst/>
              <a:rect l="l" t="t" r="r" b="b"/>
              <a:pathLst>
                <a:path w="357504">
                  <a:moveTo>
                    <a:pt x="0" y="0"/>
                  </a:moveTo>
                  <a:lnTo>
                    <a:pt x="357447" y="0"/>
                  </a:lnTo>
                </a:path>
              </a:pathLst>
            </a:custGeom>
            <a:ln w="6349">
              <a:solidFill>
                <a:srgbClr val="9B9B9B"/>
              </a:solidFill>
            </a:ln>
          </p:spPr>
          <p:txBody>
            <a:bodyPr wrap="square" lIns="0" tIns="0" rIns="0" bIns="0" rtlCol="0"/>
            <a:lstStyle/>
            <a:p>
              <a:pPr algn="just"/>
              <a:endParaRPr sz="1200"/>
            </a:p>
          </p:txBody>
        </p:sp>
        <p:sp>
          <p:nvSpPr>
            <p:cNvPr id="16" name="object 11"/>
            <p:cNvSpPr/>
            <p:nvPr/>
          </p:nvSpPr>
          <p:spPr>
            <a:xfrm>
              <a:off x="2237935" y="4907102"/>
              <a:ext cx="357505" cy="0"/>
            </a:xfrm>
            <a:custGeom>
              <a:avLst/>
              <a:gdLst/>
              <a:ahLst/>
              <a:cxnLst/>
              <a:rect l="l" t="t" r="r" b="b"/>
              <a:pathLst>
                <a:path w="357505">
                  <a:moveTo>
                    <a:pt x="0" y="0"/>
                  </a:moveTo>
                  <a:lnTo>
                    <a:pt x="357449" y="0"/>
                  </a:lnTo>
                </a:path>
              </a:pathLst>
            </a:custGeom>
            <a:ln w="6349">
              <a:solidFill>
                <a:srgbClr val="9B9B9B"/>
              </a:solidFill>
            </a:ln>
          </p:spPr>
          <p:txBody>
            <a:bodyPr wrap="square" lIns="0" tIns="0" rIns="0" bIns="0" rtlCol="0"/>
            <a:lstStyle/>
            <a:p>
              <a:pPr algn="just"/>
              <a:endParaRPr sz="1200"/>
            </a:p>
          </p:txBody>
        </p:sp>
        <p:sp>
          <p:nvSpPr>
            <p:cNvPr id="17" name="object 12"/>
            <p:cNvSpPr/>
            <p:nvPr/>
          </p:nvSpPr>
          <p:spPr>
            <a:xfrm>
              <a:off x="1340161" y="4907102"/>
              <a:ext cx="181610" cy="0"/>
            </a:xfrm>
            <a:custGeom>
              <a:avLst/>
              <a:gdLst/>
              <a:ahLst/>
              <a:cxnLst/>
              <a:rect l="l" t="t" r="r" b="b"/>
              <a:pathLst>
                <a:path w="181610">
                  <a:moveTo>
                    <a:pt x="0" y="0"/>
                  </a:moveTo>
                  <a:lnTo>
                    <a:pt x="181176" y="0"/>
                  </a:lnTo>
                </a:path>
              </a:pathLst>
            </a:custGeom>
            <a:ln w="6349">
              <a:solidFill>
                <a:srgbClr val="9B9B9B"/>
              </a:solidFill>
            </a:ln>
          </p:spPr>
          <p:txBody>
            <a:bodyPr wrap="square" lIns="0" tIns="0" rIns="0" bIns="0" rtlCol="0"/>
            <a:lstStyle/>
            <a:p>
              <a:pPr algn="just"/>
              <a:endParaRPr sz="1200"/>
            </a:p>
          </p:txBody>
        </p:sp>
        <p:sp>
          <p:nvSpPr>
            <p:cNvPr id="18" name="object 13"/>
            <p:cNvSpPr/>
            <p:nvPr/>
          </p:nvSpPr>
          <p:spPr>
            <a:xfrm>
              <a:off x="10841608" y="4412495"/>
              <a:ext cx="179070" cy="0"/>
            </a:xfrm>
            <a:custGeom>
              <a:avLst/>
              <a:gdLst/>
              <a:ahLst/>
              <a:cxnLst/>
              <a:rect l="l" t="t" r="r" b="b"/>
              <a:pathLst>
                <a:path w="179070">
                  <a:moveTo>
                    <a:pt x="0" y="0"/>
                  </a:moveTo>
                  <a:lnTo>
                    <a:pt x="178723" y="0"/>
                  </a:lnTo>
                </a:path>
              </a:pathLst>
            </a:custGeom>
            <a:ln w="6349">
              <a:solidFill>
                <a:srgbClr val="9B9B9B"/>
              </a:solidFill>
            </a:ln>
          </p:spPr>
          <p:txBody>
            <a:bodyPr wrap="square" lIns="0" tIns="0" rIns="0" bIns="0" rtlCol="0"/>
            <a:lstStyle/>
            <a:p>
              <a:pPr algn="just"/>
              <a:endParaRPr sz="1200"/>
            </a:p>
          </p:txBody>
        </p:sp>
        <p:sp>
          <p:nvSpPr>
            <p:cNvPr id="19" name="object 14"/>
            <p:cNvSpPr/>
            <p:nvPr/>
          </p:nvSpPr>
          <p:spPr>
            <a:xfrm>
              <a:off x="9765111" y="4412495"/>
              <a:ext cx="357505" cy="0"/>
            </a:xfrm>
            <a:custGeom>
              <a:avLst/>
              <a:gdLst/>
              <a:ahLst/>
              <a:cxnLst/>
              <a:rect l="l" t="t" r="r" b="b"/>
              <a:pathLst>
                <a:path w="357504">
                  <a:moveTo>
                    <a:pt x="0" y="0"/>
                  </a:moveTo>
                  <a:lnTo>
                    <a:pt x="357446" y="0"/>
                  </a:lnTo>
                </a:path>
              </a:pathLst>
            </a:custGeom>
            <a:ln w="6349">
              <a:solidFill>
                <a:srgbClr val="9B9B9B"/>
              </a:solidFill>
            </a:ln>
          </p:spPr>
          <p:txBody>
            <a:bodyPr wrap="square" lIns="0" tIns="0" rIns="0" bIns="0" rtlCol="0"/>
            <a:lstStyle/>
            <a:p>
              <a:pPr algn="just"/>
              <a:endParaRPr sz="1200"/>
            </a:p>
          </p:txBody>
        </p:sp>
        <p:sp>
          <p:nvSpPr>
            <p:cNvPr id="20" name="object 15"/>
            <p:cNvSpPr/>
            <p:nvPr/>
          </p:nvSpPr>
          <p:spPr>
            <a:xfrm>
              <a:off x="8451699" y="4412495"/>
              <a:ext cx="598805" cy="0"/>
            </a:xfrm>
            <a:custGeom>
              <a:avLst/>
              <a:gdLst/>
              <a:ahLst/>
              <a:cxnLst/>
              <a:rect l="l" t="t" r="r" b="b"/>
              <a:pathLst>
                <a:path w="598804">
                  <a:moveTo>
                    <a:pt x="0" y="0"/>
                  </a:moveTo>
                  <a:lnTo>
                    <a:pt x="598515" y="0"/>
                  </a:lnTo>
                </a:path>
              </a:pathLst>
            </a:custGeom>
            <a:ln w="6349">
              <a:solidFill>
                <a:srgbClr val="9B9B9B"/>
              </a:solidFill>
            </a:ln>
          </p:spPr>
          <p:txBody>
            <a:bodyPr wrap="square" lIns="0" tIns="0" rIns="0" bIns="0" rtlCol="0"/>
            <a:lstStyle/>
            <a:p>
              <a:pPr algn="just"/>
              <a:endParaRPr sz="1200"/>
            </a:p>
          </p:txBody>
        </p:sp>
        <p:sp>
          <p:nvSpPr>
            <p:cNvPr id="21" name="object 16"/>
            <p:cNvSpPr/>
            <p:nvPr/>
          </p:nvSpPr>
          <p:spPr>
            <a:xfrm>
              <a:off x="7375200" y="4412495"/>
              <a:ext cx="598805" cy="0"/>
            </a:xfrm>
            <a:custGeom>
              <a:avLst/>
              <a:gdLst/>
              <a:ahLst/>
              <a:cxnLst/>
              <a:rect l="l" t="t" r="r" b="b"/>
              <a:pathLst>
                <a:path w="598804">
                  <a:moveTo>
                    <a:pt x="0" y="0"/>
                  </a:moveTo>
                  <a:lnTo>
                    <a:pt x="598516" y="0"/>
                  </a:lnTo>
                </a:path>
              </a:pathLst>
            </a:custGeom>
            <a:ln w="6349">
              <a:solidFill>
                <a:srgbClr val="9B9B9B"/>
              </a:solidFill>
            </a:ln>
          </p:spPr>
          <p:txBody>
            <a:bodyPr wrap="square" lIns="0" tIns="0" rIns="0" bIns="0" rtlCol="0"/>
            <a:lstStyle/>
            <a:p>
              <a:pPr algn="just"/>
              <a:endParaRPr sz="1200"/>
            </a:p>
          </p:txBody>
        </p:sp>
        <p:sp>
          <p:nvSpPr>
            <p:cNvPr id="22" name="object 17"/>
            <p:cNvSpPr/>
            <p:nvPr/>
          </p:nvSpPr>
          <p:spPr>
            <a:xfrm>
              <a:off x="6302859" y="4412495"/>
              <a:ext cx="594360" cy="0"/>
            </a:xfrm>
            <a:custGeom>
              <a:avLst/>
              <a:gdLst/>
              <a:ahLst/>
              <a:cxnLst/>
              <a:rect l="l" t="t" r="r" b="b"/>
              <a:pathLst>
                <a:path w="594359">
                  <a:moveTo>
                    <a:pt x="0" y="0"/>
                  </a:moveTo>
                  <a:lnTo>
                    <a:pt x="594359" y="0"/>
                  </a:lnTo>
                </a:path>
              </a:pathLst>
            </a:custGeom>
            <a:ln w="6349">
              <a:solidFill>
                <a:srgbClr val="9B9B9B"/>
              </a:solidFill>
            </a:ln>
          </p:spPr>
          <p:txBody>
            <a:bodyPr wrap="square" lIns="0" tIns="0" rIns="0" bIns="0" rtlCol="0"/>
            <a:lstStyle/>
            <a:p>
              <a:pPr algn="just"/>
              <a:endParaRPr sz="1200"/>
            </a:p>
          </p:txBody>
        </p:sp>
        <p:sp>
          <p:nvSpPr>
            <p:cNvPr id="23" name="object 18"/>
            <p:cNvSpPr/>
            <p:nvPr/>
          </p:nvSpPr>
          <p:spPr>
            <a:xfrm>
              <a:off x="5463273" y="4412495"/>
              <a:ext cx="361950" cy="0"/>
            </a:xfrm>
            <a:custGeom>
              <a:avLst/>
              <a:gdLst/>
              <a:ahLst/>
              <a:cxnLst/>
              <a:rect l="l" t="t" r="r" b="b"/>
              <a:pathLst>
                <a:path w="361950">
                  <a:moveTo>
                    <a:pt x="0" y="0"/>
                  </a:moveTo>
                  <a:lnTo>
                    <a:pt x="361604" y="0"/>
                  </a:lnTo>
                </a:path>
              </a:pathLst>
            </a:custGeom>
            <a:ln w="6349">
              <a:solidFill>
                <a:srgbClr val="9B9B9B"/>
              </a:solidFill>
            </a:ln>
          </p:spPr>
          <p:txBody>
            <a:bodyPr wrap="square" lIns="0" tIns="0" rIns="0" bIns="0" rtlCol="0"/>
            <a:lstStyle/>
            <a:p>
              <a:pPr algn="just"/>
              <a:endParaRPr sz="1200"/>
            </a:p>
          </p:txBody>
        </p:sp>
        <p:sp>
          <p:nvSpPr>
            <p:cNvPr id="24" name="object 19"/>
            <p:cNvSpPr/>
            <p:nvPr/>
          </p:nvSpPr>
          <p:spPr>
            <a:xfrm>
              <a:off x="4390933" y="4412495"/>
              <a:ext cx="357505" cy="0"/>
            </a:xfrm>
            <a:custGeom>
              <a:avLst/>
              <a:gdLst/>
              <a:ahLst/>
              <a:cxnLst/>
              <a:rect l="l" t="t" r="r" b="b"/>
              <a:pathLst>
                <a:path w="357504">
                  <a:moveTo>
                    <a:pt x="0" y="0"/>
                  </a:moveTo>
                  <a:lnTo>
                    <a:pt x="357446" y="0"/>
                  </a:lnTo>
                </a:path>
              </a:pathLst>
            </a:custGeom>
            <a:ln w="6349">
              <a:solidFill>
                <a:srgbClr val="9B9B9B"/>
              </a:solidFill>
            </a:ln>
          </p:spPr>
          <p:txBody>
            <a:bodyPr wrap="square" lIns="0" tIns="0" rIns="0" bIns="0" rtlCol="0"/>
            <a:lstStyle/>
            <a:p>
              <a:pPr algn="just"/>
              <a:endParaRPr sz="1200"/>
            </a:p>
          </p:txBody>
        </p:sp>
        <p:sp>
          <p:nvSpPr>
            <p:cNvPr id="25" name="object 20"/>
            <p:cNvSpPr/>
            <p:nvPr/>
          </p:nvSpPr>
          <p:spPr>
            <a:xfrm>
              <a:off x="3314434" y="4412495"/>
              <a:ext cx="357505" cy="0"/>
            </a:xfrm>
            <a:custGeom>
              <a:avLst/>
              <a:gdLst/>
              <a:ahLst/>
              <a:cxnLst/>
              <a:rect l="l" t="t" r="r" b="b"/>
              <a:pathLst>
                <a:path w="357504">
                  <a:moveTo>
                    <a:pt x="0" y="0"/>
                  </a:moveTo>
                  <a:lnTo>
                    <a:pt x="357447" y="0"/>
                  </a:lnTo>
                </a:path>
              </a:pathLst>
            </a:custGeom>
            <a:ln w="6349">
              <a:solidFill>
                <a:srgbClr val="9B9B9B"/>
              </a:solidFill>
            </a:ln>
          </p:spPr>
          <p:txBody>
            <a:bodyPr wrap="square" lIns="0" tIns="0" rIns="0" bIns="0" rtlCol="0"/>
            <a:lstStyle/>
            <a:p>
              <a:pPr algn="just"/>
              <a:endParaRPr sz="1200"/>
            </a:p>
          </p:txBody>
        </p:sp>
        <p:sp>
          <p:nvSpPr>
            <p:cNvPr id="26" name="object 21"/>
            <p:cNvSpPr/>
            <p:nvPr/>
          </p:nvSpPr>
          <p:spPr>
            <a:xfrm>
              <a:off x="2237935" y="4412495"/>
              <a:ext cx="357505" cy="0"/>
            </a:xfrm>
            <a:custGeom>
              <a:avLst/>
              <a:gdLst/>
              <a:ahLst/>
              <a:cxnLst/>
              <a:rect l="l" t="t" r="r" b="b"/>
              <a:pathLst>
                <a:path w="357505">
                  <a:moveTo>
                    <a:pt x="0" y="0"/>
                  </a:moveTo>
                  <a:lnTo>
                    <a:pt x="357449" y="0"/>
                  </a:lnTo>
                </a:path>
              </a:pathLst>
            </a:custGeom>
            <a:ln w="6349">
              <a:solidFill>
                <a:srgbClr val="9B9B9B"/>
              </a:solidFill>
            </a:ln>
          </p:spPr>
          <p:txBody>
            <a:bodyPr wrap="square" lIns="0" tIns="0" rIns="0" bIns="0" rtlCol="0"/>
            <a:lstStyle/>
            <a:p>
              <a:pPr algn="just"/>
              <a:endParaRPr sz="1200"/>
            </a:p>
          </p:txBody>
        </p:sp>
        <p:sp>
          <p:nvSpPr>
            <p:cNvPr id="27" name="object 22"/>
            <p:cNvSpPr/>
            <p:nvPr/>
          </p:nvSpPr>
          <p:spPr>
            <a:xfrm>
              <a:off x="1340161" y="4412495"/>
              <a:ext cx="420370" cy="0"/>
            </a:xfrm>
            <a:custGeom>
              <a:avLst/>
              <a:gdLst/>
              <a:ahLst/>
              <a:cxnLst/>
              <a:rect l="l" t="t" r="r" b="b"/>
              <a:pathLst>
                <a:path w="420369">
                  <a:moveTo>
                    <a:pt x="0" y="0"/>
                  </a:moveTo>
                  <a:lnTo>
                    <a:pt x="419792" y="0"/>
                  </a:lnTo>
                </a:path>
              </a:pathLst>
            </a:custGeom>
            <a:ln w="6349">
              <a:solidFill>
                <a:srgbClr val="9B9B9B"/>
              </a:solidFill>
            </a:ln>
          </p:spPr>
          <p:txBody>
            <a:bodyPr wrap="square" lIns="0" tIns="0" rIns="0" bIns="0" rtlCol="0"/>
            <a:lstStyle/>
            <a:p>
              <a:pPr algn="just"/>
              <a:endParaRPr sz="1200"/>
            </a:p>
          </p:txBody>
        </p:sp>
        <p:sp>
          <p:nvSpPr>
            <p:cNvPr id="28" name="object 23"/>
            <p:cNvSpPr/>
            <p:nvPr/>
          </p:nvSpPr>
          <p:spPr>
            <a:xfrm>
              <a:off x="10600540" y="3913731"/>
              <a:ext cx="420370" cy="0"/>
            </a:xfrm>
            <a:custGeom>
              <a:avLst/>
              <a:gdLst/>
              <a:ahLst/>
              <a:cxnLst/>
              <a:rect l="l" t="t" r="r" b="b"/>
              <a:pathLst>
                <a:path w="420370">
                  <a:moveTo>
                    <a:pt x="0" y="0"/>
                  </a:moveTo>
                  <a:lnTo>
                    <a:pt x="419792" y="0"/>
                  </a:lnTo>
                </a:path>
              </a:pathLst>
            </a:custGeom>
            <a:ln w="6349">
              <a:solidFill>
                <a:srgbClr val="9B9B9B"/>
              </a:solidFill>
            </a:ln>
          </p:spPr>
          <p:txBody>
            <a:bodyPr wrap="square" lIns="0" tIns="0" rIns="0" bIns="0" rtlCol="0"/>
            <a:lstStyle/>
            <a:p>
              <a:pPr algn="just"/>
              <a:endParaRPr sz="1200"/>
            </a:p>
          </p:txBody>
        </p:sp>
        <p:sp>
          <p:nvSpPr>
            <p:cNvPr id="29" name="object 24"/>
            <p:cNvSpPr/>
            <p:nvPr/>
          </p:nvSpPr>
          <p:spPr>
            <a:xfrm>
              <a:off x="9528197" y="3913731"/>
              <a:ext cx="594360" cy="0"/>
            </a:xfrm>
            <a:custGeom>
              <a:avLst/>
              <a:gdLst/>
              <a:ahLst/>
              <a:cxnLst/>
              <a:rect l="l" t="t" r="r" b="b"/>
              <a:pathLst>
                <a:path w="594359">
                  <a:moveTo>
                    <a:pt x="0" y="0"/>
                  </a:moveTo>
                  <a:lnTo>
                    <a:pt x="594359" y="0"/>
                  </a:lnTo>
                </a:path>
              </a:pathLst>
            </a:custGeom>
            <a:ln w="6349">
              <a:solidFill>
                <a:srgbClr val="9B9B9B"/>
              </a:solidFill>
            </a:ln>
          </p:spPr>
          <p:txBody>
            <a:bodyPr wrap="square" lIns="0" tIns="0" rIns="0" bIns="0" rtlCol="0"/>
            <a:lstStyle/>
            <a:p>
              <a:pPr algn="just"/>
              <a:endParaRPr sz="1200"/>
            </a:p>
          </p:txBody>
        </p:sp>
        <p:sp>
          <p:nvSpPr>
            <p:cNvPr id="30" name="object 25"/>
            <p:cNvSpPr/>
            <p:nvPr/>
          </p:nvSpPr>
          <p:spPr>
            <a:xfrm>
              <a:off x="8451699" y="3913731"/>
              <a:ext cx="598805" cy="0"/>
            </a:xfrm>
            <a:custGeom>
              <a:avLst/>
              <a:gdLst/>
              <a:ahLst/>
              <a:cxnLst/>
              <a:rect l="l" t="t" r="r" b="b"/>
              <a:pathLst>
                <a:path w="598804">
                  <a:moveTo>
                    <a:pt x="0" y="0"/>
                  </a:moveTo>
                  <a:lnTo>
                    <a:pt x="598515" y="0"/>
                  </a:lnTo>
                </a:path>
              </a:pathLst>
            </a:custGeom>
            <a:ln w="6349">
              <a:solidFill>
                <a:srgbClr val="9B9B9B"/>
              </a:solidFill>
            </a:ln>
          </p:spPr>
          <p:txBody>
            <a:bodyPr wrap="square" lIns="0" tIns="0" rIns="0" bIns="0" rtlCol="0"/>
            <a:lstStyle/>
            <a:p>
              <a:pPr algn="just"/>
              <a:endParaRPr sz="1200"/>
            </a:p>
          </p:txBody>
        </p:sp>
        <p:sp>
          <p:nvSpPr>
            <p:cNvPr id="31" name="object 26"/>
            <p:cNvSpPr/>
            <p:nvPr/>
          </p:nvSpPr>
          <p:spPr>
            <a:xfrm>
              <a:off x="7375200" y="3913731"/>
              <a:ext cx="598805" cy="0"/>
            </a:xfrm>
            <a:custGeom>
              <a:avLst/>
              <a:gdLst/>
              <a:ahLst/>
              <a:cxnLst/>
              <a:rect l="l" t="t" r="r" b="b"/>
              <a:pathLst>
                <a:path w="598804">
                  <a:moveTo>
                    <a:pt x="0" y="0"/>
                  </a:moveTo>
                  <a:lnTo>
                    <a:pt x="598516" y="0"/>
                  </a:lnTo>
                </a:path>
              </a:pathLst>
            </a:custGeom>
            <a:ln w="6349">
              <a:solidFill>
                <a:srgbClr val="9B9B9B"/>
              </a:solidFill>
            </a:ln>
          </p:spPr>
          <p:txBody>
            <a:bodyPr wrap="square" lIns="0" tIns="0" rIns="0" bIns="0" rtlCol="0"/>
            <a:lstStyle/>
            <a:p>
              <a:pPr algn="just"/>
              <a:endParaRPr sz="1200"/>
            </a:p>
          </p:txBody>
        </p:sp>
        <p:sp>
          <p:nvSpPr>
            <p:cNvPr id="32" name="object 27"/>
            <p:cNvSpPr/>
            <p:nvPr/>
          </p:nvSpPr>
          <p:spPr>
            <a:xfrm>
              <a:off x="6302859" y="3913731"/>
              <a:ext cx="835660" cy="0"/>
            </a:xfrm>
            <a:custGeom>
              <a:avLst/>
              <a:gdLst/>
              <a:ahLst/>
              <a:cxnLst/>
              <a:rect l="l" t="t" r="r" b="b"/>
              <a:pathLst>
                <a:path w="835659">
                  <a:moveTo>
                    <a:pt x="0" y="0"/>
                  </a:moveTo>
                  <a:lnTo>
                    <a:pt x="835428" y="0"/>
                  </a:lnTo>
                </a:path>
              </a:pathLst>
            </a:custGeom>
            <a:ln w="6349">
              <a:solidFill>
                <a:srgbClr val="9B9B9B"/>
              </a:solidFill>
            </a:ln>
          </p:spPr>
          <p:txBody>
            <a:bodyPr wrap="square" lIns="0" tIns="0" rIns="0" bIns="0" rtlCol="0"/>
            <a:lstStyle/>
            <a:p>
              <a:pPr algn="just"/>
              <a:endParaRPr sz="1200"/>
            </a:p>
          </p:txBody>
        </p:sp>
        <p:sp>
          <p:nvSpPr>
            <p:cNvPr id="33" name="object 28"/>
            <p:cNvSpPr/>
            <p:nvPr/>
          </p:nvSpPr>
          <p:spPr>
            <a:xfrm>
              <a:off x="5226361" y="3913731"/>
              <a:ext cx="598805" cy="0"/>
            </a:xfrm>
            <a:custGeom>
              <a:avLst/>
              <a:gdLst/>
              <a:ahLst/>
              <a:cxnLst/>
              <a:rect l="l" t="t" r="r" b="b"/>
              <a:pathLst>
                <a:path w="598804">
                  <a:moveTo>
                    <a:pt x="0" y="0"/>
                  </a:moveTo>
                  <a:lnTo>
                    <a:pt x="598515" y="0"/>
                  </a:lnTo>
                </a:path>
              </a:pathLst>
            </a:custGeom>
            <a:ln w="6349">
              <a:solidFill>
                <a:srgbClr val="9B9B9B"/>
              </a:solidFill>
            </a:ln>
          </p:spPr>
          <p:txBody>
            <a:bodyPr wrap="square" lIns="0" tIns="0" rIns="0" bIns="0" rtlCol="0"/>
            <a:lstStyle/>
            <a:p>
              <a:pPr algn="just"/>
              <a:endParaRPr sz="1200"/>
            </a:p>
          </p:txBody>
        </p:sp>
        <p:sp>
          <p:nvSpPr>
            <p:cNvPr id="34" name="object 29"/>
            <p:cNvSpPr/>
            <p:nvPr/>
          </p:nvSpPr>
          <p:spPr>
            <a:xfrm>
              <a:off x="4149864" y="3913731"/>
              <a:ext cx="835660" cy="0"/>
            </a:xfrm>
            <a:custGeom>
              <a:avLst/>
              <a:gdLst/>
              <a:ahLst/>
              <a:cxnLst/>
              <a:rect l="l" t="t" r="r" b="b"/>
              <a:pathLst>
                <a:path w="835660">
                  <a:moveTo>
                    <a:pt x="0" y="0"/>
                  </a:moveTo>
                  <a:lnTo>
                    <a:pt x="835428" y="0"/>
                  </a:lnTo>
                </a:path>
              </a:pathLst>
            </a:custGeom>
            <a:ln w="6349">
              <a:solidFill>
                <a:srgbClr val="9B9B9B"/>
              </a:solidFill>
            </a:ln>
          </p:spPr>
          <p:txBody>
            <a:bodyPr wrap="square" lIns="0" tIns="0" rIns="0" bIns="0" rtlCol="0"/>
            <a:lstStyle/>
            <a:p>
              <a:pPr algn="just"/>
              <a:endParaRPr sz="1200"/>
            </a:p>
          </p:txBody>
        </p:sp>
        <p:sp>
          <p:nvSpPr>
            <p:cNvPr id="35" name="object 30"/>
            <p:cNvSpPr/>
            <p:nvPr/>
          </p:nvSpPr>
          <p:spPr>
            <a:xfrm>
              <a:off x="3314434" y="3913731"/>
              <a:ext cx="598805" cy="0"/>
            </a:xfrm>
            <a:custGeom>
              <a:avLst/>
              <a:gdLst/>
              <a:ahLst/>
              <a:cxnLst/>
              <a:rect l="l" t="t" r="r" b="b"/>
              <a:pathLst>
                <a:path w="598804">
                  <a:moveTo>
                    <a:pt x="0" y="0"/>
                  </a:moveTo>
                  <a:lnTo>
                    <a:pt x="598516" y="0"/>
                  </a:lnTo>
                </a:path>
              </a:pathLst>
            </a:custGeom>
            <a:ln w="6349">
              <a:solidFill>
                <a:srgbClr val="9B9B9B"/>
              </a:solidFill>
            </a:ln>
          </p:spPr>
          <p:txBody>
            <a:bodyPr wrap="square" lIns="0" tIns="0" rIns="0" bIns="0" rtlCol="0"/>
            <a:lstStyle/>
            <a:p>
              <a:pPr algn="just"/>
              <a:endParaRPr sz="1200"/>
            </a:p>
          </p:txBody>
        </p:sp>
        <p:sp>
          <p:nvSpPr>
            <p:cNvPr id="36" name="object 31"/>
            <p:cNvSpPr/>
            <p:nvPr/>
          </p:nvSpPr>
          <p:spPr>
            <a:xfrm>
              <a:off x="2237935" y="3913731"/>
              <a:ext cx="598805" cy="0"/>
            </a:xfrm>
            <a:custGeom>
              <a:avLst/>
              <a:gdLst/>
              <a:ahLst/>
              <a:cxnLst/>
              <a:rect l="l" t="t" r="r" b="b"/>
              <a:pathLst>
                <a:path w="598805">
                  <a:moveTo>
                    <a:pt x="0" y="0"/>
                  </a:moveTo>
                  <a:lnTo>
                    <a:pt x="598517" y="0"/>
                  </a:lnTo>
                </a:path>
              </a:pathLst>
            </a:custGeom>
            <a:ln w="6349">
              <a:solidFill>
                <a:srgbClr val="9B9B9B"/>
              </a:solidFill>
            </a:ln>
          </p:spPr>
          <p:txBody>
            <a:bodyPr wrap="square" lIns="0" tIns="0" rIns="0" bIns="0" rtlCol="0"/>
            <a:lstStyle/>
            <a:p>
              <a:pPr algn="just"/>
              <a:endParaRPr sz="1200"/>
            </a:p>
          </p:txBody>
        </p:sp>
        <p:sp>
          <p:nvSpPr>
            <p:cNvPr id="37" name="object 32"/>
            <p:cNvSpPr/>
            <p:nvPr/>
          </p:nvSpPr>
          <p:spPr>
            <a:xfrm>
              <a:off x="1340161" y="3913731"/>
              <a:ext cx="420370" cy="0"/>
            </a:xfrm>
            <a:custGeom>
              <a:avLst/>
              <a:gdLst/>
              <a:ahLst/>
              <a:cxnLst/>
              <a:rect l="l" t="t" r="r" b="b"/>
              <a:pathLst>
                <a:path w="420369">
                  <a:moveTo>
                    <a:pt x="0" y="0"/>
                  </a:moveTo>
                  <a:lnTo>
                    <a:pt x="419792" y="0"/>
                  </a:lnTo>
                </a:path>
              </a:pathLst>
            </a:custGeom>
            <a:ln w="6349">
              <a:solidFill>
                <a:srgbClr val="9B9B9B"/>
              </a:solidFill>
            </a:ln>
          </p:spPr>
          <p:txBody>
            <a:bodyPr wrap="square" lIns="0" tIns="0" rIns="0" bIns="0" rtlCol="0"/>
            <a:lstStyle/>
            <a:p>
              <a:pPr algn="just"/>
              <a:endParaRPr sz="1200"/>
            </a:p>
          </p:txBody>
        </p:sp>
        <p:sp>
          <p:nvSpPr>
            <p:cNvPr id="38" name="object 33"/>
            <p:cNvSpPr/>
            <p:nvPr/>
          </p:nvSpPr>
          <p:spPr>
            <a:xfrm>
              <a:off x="10600540" y="3419124"/>
              <a:ext cx="420370" cy="0"/>
            </a:xfrm>
            <a:custGeom>
              <a:avLst/>
              <a:gdLst/>
              <a:ahLst/>
              <a:cxnLst/>
              <a:rect l="l" t="t" r="r" b="b"/>
              <a:pathLst>
                <a:path w="420370">
                  <a:moveTo>
                    <a:pt x="0" y="0"/>
                  </a:moveTo>
                  <a:lnTo>
                    <a:pt x="419792" y="0"/>
                  </a:lnTo>
                </a:path>
              </a:pathLst>
            </a:custGeom>
            <a:ln w="6349">
              <a:solidFill>
                <a:srgbClr val="9B9B9B"/>
              </a:solidFill>
            </a:ln>
          </p:spPr>
          <p:txBody>
            <a:bodyPr wrap="square" lIns="0" tIns="0" rIns="0" bIns="0" rtlCol="0"/>
            <a:lstStyle/>
            <a:p>
              <a:pPr algn="just"/>
              <a:endParaRPr sz="1200"/>
            </a:p>
          </p:txBody>
        </p:sp>
        <p:sp>
          <p:nvSpPr>
            <p:cNvPr id="39" name="object 34"/>
            <p:cNvSpPr/>
            <p:nvPr/>
          </p:nvSpPr>
          <p:spPr>
            <a:xfrm>
              <a:off x="9528197" y="3419124"/>
              <a:ext cx="835660" cy="0"/>
            </a:xfrm>
            <a:custGeom>
              <a:avLst/>
              <a:gdLst/>
              <a:ahLst/>
              <a:cxnLst/>
              <a:rect l="l" t="t" r="r" b="b"/>
              <a:pathLst>
                <a:path w="835659">
                  <a:moveTo>
                    <a:pt x="0" y="0"/>
                  </a:moveTo>
                  <a:lnTo>
                    <a:pt x="835428" y="0"/>
                  </a:lnTo>
                </a:path>
              </a:pathLst>
            </a:custGeom>
            <a:ln w="6349">
              <a:solidFill>
                <a:srgbClr val="9B9B9B"/>
              </a:solidFill>
            </a:ln>
          </p:spPr>
          <p:txBody>
            <a:bodyPr wrap="square" lIns="0" tIns="0" rIns="0" bIns="0" rtlCol="0"/>
            <a:lstStyle/>
            <a:p>
              <a:pPr algn="just"/>
              <a:endParaRPr sz="1200"/>
            </a:p>
          </p:txBody>
        </p:sp>
        <p:sp>
          <p:nvSpPr>
            <p:cNvPr id="40" name="object 35"/>
            <p:cNvSpPr/>
            <p:nvPr/>
          </p:nvSpPr>
          <p:spPr>
            <a:xfrm>
              <a:off x="8451699" y="3419124"/>
              <a:ext cx="835660" cy="0"/>
            </a:xfrm>
            <a:custGeom>
              <a:avLst/>
              <a:gdLst/>
              <a:ahLst/>
              <a:cxnLst/>
              <a:rect l="l" t="t" r="r" b="b"/>
              <a:pathLst>
                <a:path w="835659">
                  <a:moveTo>
                    <a:pt x="0" y="0"/>
                  </a:moveTo>
                  <a:lnTo>
                    <a:pt x="835428" y="0"/>
                  </a:lnTo>
                </a:path>
              </a:pathLst>
            </a:custGeom>
            <a:ln w="6349">
              <a:solidFill>
                <a:srgbClr val="9B9B9B"/>
              </a:solidFill>
            </a:ln>
          </p:spPr>
          <p:txBody>
            <a:bodyPr wrap="square" lIns="0" tIns="0" rIns="0" bIns="0" rtlCol="0"/>
            <a:lstStyle/>
            <a:p>
              <a:pPr algn="just"/>
              <a:endParaRPr sz="1200"/>
            </a:p>
          </p:txBody>
        </p:sp>
        <p:sp>
          <p:nvSpPr>
            <p:cNvPr id="41" name="object 36"/>
            <p:cNvSpPr/>
            <p:nvPr/>
          </p:nvSpPr>
          <p:spPr>
            <a:xfrm>
              <a:off x="7375200" y="3419124"/>
              <a:ext cx="840105" cy="0"/>
            </a:xfrm>
            <a:custGeom>
              <a:avLst/>
              <a:gdLst/>
              <a:ahLst/>
              <a:cxnLst/>
              <a:rect l="l" t="t" r="r" b="b"/>
              <a:pathLst>
                <a:path w="840104">
                  <a:moveTo>
                    <a:pt x="0" y="0"/>
                  </a:moveTo>
                  <a:lnTo>
                    <a:pt x="839585" y="0"/>
                  </a:lnTo>
                </a:path>
              </a:pathLst>
            </a:custGeom>
            <a:ln w="6349">
              <a:solidFill>
                <a:srgbClr val="9B9B9B"/>
              </a:solidFill>
            </a:ln>
          </p:spPr>
          <p:txBody>
            <a:bodyPr wrap="square" lIns="0" tIns="0" rIns="0" bIns="0" rtlCol="0"/>
            <a:lstStyle/>
            <a:p>
              <a:pPr algn="just"/>
              <a:endParaRPr sz="1200"/>
            </a:p>
          </p:txBody>
        </p:sp>
        <p:sp>
          <p:nvSpPr>
            <p:cNvPr id="42" name="object 37"/>
            <p:cNvSpPr/>
            <p:nvPr/>
          </p:nvSpPr>
          <p:spPr>
            <a:xfrm>
              <a:off x="6302859" y="3419124"/>
              <a:ext cx="835660" cy="0"/>
            </a:xfrm>
            <a:custGeom>
              <a:avLst/>
              <a:gdLst/>
              <a:ahLst/>
              <a:cxnLst/>
              <a:rect l="l" t="t" r="r" b="b"/>
              <a:pathLst>
                <a:path w="835659">
                  <a:moveTo>
                    <a:pt x="0" y="0"/>
                  </a:moveTo>
                  <a:lnTo>
                    <a:pt x="835428" y="0"/>
                  </a:lnTo>
                </a:path>
              </a:pathLst>
            </a:custGeom>
            <a:ln w="6349">
              <a:solidFill>
                <a:srgbClr val="9B9B9B"/>
              </a:solidFill>
            </a:ln>
          </p:spPr>
          <p:txBody>
            <a:bodyPr wrap="square" lIns="0" tIns="0" rIns="0" bIns="0" rtlCol="0"/>
            <a:lstStyle/>
            <a:p>
              <a:pPr algn="just"/>
              <a:endParaRPr sz="1200"/>
            </a:p>
          </p:txBody>
        </p:sp>
        <p:sp>
          <p:nvSpPr>
            <p:cNvPr id="43" name="object 38"/>
            <p:cNvSpPr/>
            <p:nvPr/>
          </p:nvSpPr>
          <p:spPr>
            <a:xfrm>
              <a:off x="5226361" y="3419124"/>
              <a:ext cx="835660" cy="0"/>
            </a:xfrm>
            <a:custGeom>
              <a:avLst/>
              <a:gdLst/>
              <a:ahLst/>
              <a:cxnLst/>
              <a:rect l="l" t="t" r="r" b="b"/>
              <a:pathLst>
                <a:path w="835660">
                  <a:moveTo>
                    <a:pt x="0" y="0"/>
                  </a:moveTo>
                  <a:lnTo>
                    <a:pt x="835428" y="0"/>
                  </a:lnTo>
                </a:path>
              </a:pathLst>
            </a:custGeom>
            <a:ln w="6349">
              <a:solidFill>
                <a:srgbClr val="9B9B9B"/>
              </a:solidFill>
            </a:ln>
          </p:spPr>
          <p:txBody>
            <a:bodyPr wrap="square" lIns="0" tIns="0" rIns="0" bIns="0" rtlCol="0"/>
            <a:lstStyle/>
            <a:p>
              <a:pPr algn="just"/>
              <a:endParaRPr sz="1200"/>
            </a:p>
          </p:txBody>
        </p:sp>
        <p:sp>
          <p:nvSpPr>
            <p:cNvPr id="44" name="object 39"/>
            <p:cNvSpPr/>
            <p:nvPr/>
          </p:nvSpPr>
          <p:spPr>
            <a:xfrm>
              <a:off x="4149864" y="3419124"/>
              <a:ext cx="835660" cy="0"/>
            </a:xfrm>
            <a:custGeom>
              <a:avLst/>
              <a:gdLst/>
              <a:ahLst/>
              <a:cxnLst/>
              <a:rect l="l" t="t" r="r" b="b"/>
              <a:pathLst>
                <a:path w="835660">
                  <a:moveTo>
                    <a:pt x="0" y="0"/>
                  </a:moveTo>
                  <a:lnTo>
                    <a:pt x="835428" y="0"/>
                  </a:lnTo>
                </a:path>
              </a:pathLst>
            </a:custGeom>
            <a:ln w="6349">
              <a:solidFill>
                <a:srgbClr val="9B9B9B"/>
              </a:solidFill>
            </a:ln>
          </p:spPr>
          <p:txBody>
            <a:bodyPr wrap="square" lIns="0" tIns="0" rIns="0" bIns="0" rtlCol="0"/>
            <a:lstStyle/>
            <a:p>
              <a:pPr algn="just"/>
              <a:endParaRPr sz="1200"/>
            </a:p>
          </p:txBody>
        </p:sp>
        <p:sp>
          <p:nvSpPr>
            <p:cNvPr id="45" name="object 40"/>
            <p:cNvSpPr/>
            <p:nvPr/>
          </p:nvSpPr>
          <p:spPr>
            <a:xfrm>
              <a:off x="2001024" y="3419124"/>
              <a:ext cx="1911985" cy="0"/>
            </a:xfrm>
            <a:custGeom>
              <a:avLst/>
              <a:gdLst/>
              <a:ahLst/>
              <a:cxnLst/>
              <a:rect l="l" t="t" r="r" b="b"/>
              <a:pathLst>
                <a:path w="1911985">
                  <a:moveTo>
                    <a:pt x="0" y="0"/>
                  </a:moveTo>
                  <a:lnTo>
                    <a:pt x="1911926" y="0"/>
                  </a:lnTo>
                </a:path>
              </a:pathLst>
            </a:custGeom>
            <a:ln w="6349">
              <a:solidFill>
                <a:srgbClr val="9B9B9B"/>
              </a:solidFill>
            </a:ln>
          </p:spPr>
          <p:txBody>
            <a:bodyPr wrap="square" lIns="0" tIns="0" rIns="0" bIns="0" rtlCol="0"/>
            <a:lstStyle/>
            <a:p>
              <a:pPr algn="just"/>
              <a:endParaRPr sz="1200"/>
            </a:p>
          </p:txBody>
        </p:sp>
        <p:sp>
          <p:nvSpPr>
            <p:cNvPr id="46" name="object 41"/>
            <p:cNvSpPr/>
            <p:nvPr/>
          </p:nvSpPr>
          <p:spPr>
            <a:xfrm>
              <a:off x="1340161" y="3419124"/>
              <a:ext cx="420370" cy="0"/>
            </a:xfrm>
            <a:custGeom>
              <a:avLst/>
              <a:gdLst/>
              <a:ahLst/>
              <a:cxnLst/>
              <a:rect l="l" t="t" r="r" b="b"/>
              <a:pathLst>
                <a:path w="420369">
                  <a:moveTo>
                    <a:pt x="0" y="0"/>
                  </a:moveTo>
                  <a:lnTo>
                    <a:pt x="419792" y="0"/>
                  </a:lnTo>
                </a:path>
              </a:pathLst>
            </a:custGeom>
            <a:ln w="6349">
              <a:solidFill>
                <a:srgbClr val="9B9B9B"/>
              </a:solidFill>
            </a:ln>
          </p:spPr>
          <p:txBody>
            <a:bodyPr wrap="square" lIns="0" tIns="0" rIns="0" bIns="0" rtlCol="0"/>
            <a:lstStyle/>
            <a:p>
              <a:pPr algn="just"/>
              <a:endParaRPr sz="1200"/>
            </a:p>
          </p:txBody>
        </p:sp>
        <p:sp>
          <p:nvSpPr>
            <p:cNvPr id="47" name="object 42"/>
            <p:cNvSpPr/>
            <p:nvPr/>
          </p:nvSpPr>
          <p:spPr>
            <a:xfrm>
              <a:off x="7375200" y="2920360"/>
              <a:ext cx="3645535" cy="0"/>
            </a:xfrm>
            <a:custGeom>
              <a:avLst/>
              <a:gdLst/>
              <a:ahLst/>
              <a:cxnLst/>
              <a:rect l="l" t="t" r="r" b="b"/>
              <a:pathLst>
                <a:path w="3645534">
                  <a:moveTo>
                    <a:pt x="0" y="0"/>
                  </a:moveTo>
                  <a:lnTo>
                    <a:pt x="3645131" y="0"/>
                  </a:lnTo>
                </a:path>
              </a:pathLst>
            </a:custGeom>
            <a:ln w="6349">
              <a:solidFill>
                <a:srgbClr val="9B9B9B"/>
              </a:solidFill>
            </a:ln>
          </p:spPr>
          <p:txBody>
            <a:bodyPr wrap="square" lIns="0" tIns="0" rIns="0" bIns="0" rtlCol="0"/>
            <a:lstStyle/>
            <a:p>
              <a:pPr algn="just"/>
              <a:endParaRPr sz="1200"/>
            </a:p>
          </p:txBody>
        </p:sp>
        <p:sp>
          <p:nvSpPr>
            <p:cNvPr id="48" name="object 43"/>
            <p:cNvSpPr/>
            <p:nvPr/>
          </p:nvSpPr>
          <p:spPr>
            <a:xfrm>
              <a:off x="6302859" y="2920360"/>
              <a:ext cx="835660" cy="0"/>
            </a:xfrm>
            <a:custGeom>
              <a:avLst/>
              <a:gdLst/>
              <a:ahLst/>
              <a:cxnLst/>
              <a:rect l="l" t="t" r="r" b="b"/>
              <a:pathLst>
                <a:path w="835659">
                  <a:moveTo>
                    <a:pt x="0" y="0"/>
                  </a:moveTo>
                  <a:lnTo>
                    <a:pt x="835428" y="0"/>
                  </a:lnTo>
                </a:path>
              </a:pathLst>
            </a:custGeom>
            <a:ln w="6349">
              <a:solidFill>
                <a:srgbClr val="9B9B9B"/>
              </a:solidFill>
            </a:ln>
          </p:spPr>
          <p:txBody>
            <a:bodyPr wrap="square" lIns="0" tIns="0" rIns="0" bIns="0" rtlCol="0"/>
            <a:lstStyle/>
            <a:p>
              <a:pPr algn="just"/>
              <a:endParaRPr sz="1200"/>
            </a:p>
          </p:txBody>
        </p:sp>
        <p:sp>
          <p:nvSpPr>
            <p:cNvPr id="49" name="object 44"/>
            <p:cNvSpPr/>
            <p:nvPr/>
          </p:nvSpPr>
          <p:spPr>
            <a:xfrm>
              <a:off x="2001024" y="2920360"/>
              <a:ext cx="4060825" cy="0"/>
            </a:xfrm>
            <a:custGeom>
              <a:avLst/>
              <a:gdLst/>
              <a:ahLst/>
              <a:cxnLst/>
              <a:rect l="l" t="t" r="r" b="b"/>
              <a:pathLst>
                <a:path w="4060825">
                  <a:moveTo>
                    <a:pt x="0" y="0"/>
                  </a:moveTo>
                  <a:lnTo>
                    <a:pt x="4060766" y="0"/>
                  </a:lnTo>
                </a:path>
              </a:pathLst>
            </a:custGeom>
            <a:ln w="6349">
              <a:solidFill>
                <a:srgbClr val="9B9B9B"/>
              </a:solidFill>
            </a:ln>
          </p:spPr>
          <p:txBody>
            <a:bodyPr wrap="square" lIns="0" tIns="0" rIns="0" bIns="0" rtlCol="0"/>
            <a:lstStyle/>
            <a:p>
              <a:pPr algn="just"/>
              <a:endParaRPr sz="1200"/>
            </a:p>
          </p:txBody>
        </p:sp>
        <p:sp>
          <p:nvSpPr>
            <p:cNvPr id="50" name="object 45"/>
            <p:cNvSpPr/>
            <p:nvPr/>
          </p:nvSpPr>
          <p:spPr>
            <a:xfrm>
              <a:off x="1340161" y="2920360"/>
              <a:ext cx="420370" cy="0"/>
            </a:xfrm>
            <a:custGeom>
              <a:avLst/>
              <a:gdLst/>
              <a:ahLst/>
              <a:cxnLst/>
              <a:rect l="l" t="t" r="r" b="b"/>
              <a:pathLst>
                <a:path w="420369">
                  <a:moveTo>
                    <a:pt x="0" y="0"/>
                  </a:moveTo>
                  <a:lnTo>
                    <a:pt x="419792" y="0"/>
                  </a:lnTo>
                </a:path>
              </a:pathLst>
            </a:custGeom>
            <a:ln w="6349">
              <a:solidFill>
                <a:srgbClr val="9B9B9B"/>
              </a:solidFill>
            </a:ln>
          </p:spPr>
          <p:txBody>
            <a:bodyPr wrap="square" lIns="0" tIns="0" rIns="0" bIns="0" rtlCol="0"/>
            <a:lstStyle/>
            <a:p>
              <a:pPr algn="just"/>
              <a:endParaRPr sz="1200"/>
            </a:p>
          </p:txBody>
        </p:sp>
        <p:sp>
          <p:nvSpPr>
            <p:cNvPr id="51" name="object 46"/>
            <p:cNvSpPr/>
            <p:nvPr/>
          </p:nvSpPr>
          <p:spPr>
            <a:xfrm>
              <a:off x="1340161" y="2425753"/>
              <a:ext cx="9680575" cy="0"/>
            </a:xfrm>
            <a:custGeom>
              <a:avLst/>
              <a:gdLst/>
              <a:ahLst/>
              <a:cxnLst/>
              <a:rect l="l" t="t" r="r" b="b"/>
              <a:pathLst>
                <a:path w="9680575">
                  <a:moveTo>
                    <a:pt x="0" y="0"/>
                  </a:moveTo>
                  <a:lnTo>
                    <a:pt x="9680170" y="0"/>
                  </a:lnTo>
                </a:path>
              </a:pathLst>
            </a:custGeom>
            <a:ln w="6349">
              <a:solidFill>
                <a:srgbClr val="9B9B9B"/>
              </a:solidFill>
            </a:ln>
          </p:spPr>
          <p:txBody>
            <a:bodyPr wrap="square" lIns="0" tIns="0" rIns="0" bIns="0" rtlCol="0"/>
            <a:lstStyle/>
            <a:p>
              <a:pPr algn="just"/>
              <a:endParaRPr sz="1200"/>
            </a:p>
          </p:txBody>
        </p:sp>
        <p:sp>
          <p:nvSpPr>
            <p:cNvPr id="52" name="object 47"/>
            <p:cNvSpPr/>
            <p:nvPr/>
          </p:nvSpPr>
          <p:spPr>
            <a:xfrm>
              <a:off x="1521337" y="4610244"/>
              <a:ext cx="239395" cy="795655"/>
            </a:xfrm>
            <a:custGeom>
              <a:avLst/>
              <a:gdLst/>
              <a:ahLst/>
              <a:cxnLst/>
              <a:rect l="l" t="t" r="r" b="b"/>
              <a:pathLst>
                <a:path w="239394" h="795654">
                  <a:moveTo>
                    <a:pt x="0" y="0"/>
                  </a:moveTo>
                  <a:lnTo>
                    <a:pt x="238979" y="0"/>
                  </a:lnTo>
                  <a:lnTo>
                    <a:pt x="238979" y="795107"/>
                  </a:lnTo>
                  <a:lnTo>
                    <a:pt x="0" y="795107"/>
                  </a:lnTo>
                  <a:lnTo>
                    <a:pt x="0" y="0"/>
                  </a:lnTo>
                  <a:close/>
                </a:path>
              </a:pathLst>
            </a:custGeom>
            <a:solidFill>
              <a:srgbClr val="B7D89F"/>
            </a:solidFill>
          </p:spPr>
          <p:txBody>
            <a:bodyPr wrap="square" lIns="0" tIns="0" rIns="0" bIns="0" rtlCol="0"/>
            <a:lstStyle/>
            <a:p>
              <a:pPr algn="just"/>
              <a:endParaRPr sz="1200"/>
            </a:p>
          </p:txBody>
        </p:sp>
        <p:sp>
          <p:nvSpPr>
            <p:cNvPr id="53" name="object 48"/>
            <p:cNvSpPr/>
            <p:nvPr/>
          </p:nvSpPr>
          <p:spPr>
            <a:xfrm>
              <a:off x="2595384" y="4063361"/>
              <a:ext cx="241300" cy="1342390"/>
            </a:xfrm>
            <a:custGeom>
              <a:avLst/>
              <a:gdLst/>
              <a:ahLst/>
              <a:cxnLst/>
              <a:rect l="l" t="t" r="r" b="b"/>
              <a:pathLst>
                <a:path w="241300" h="1342389">
                  <a:moveTo>
                    <a:pt x="241068" y="0"/>
                  </a:moveTo>
                  <a:lnTo>
                    <a:pt x="0" y="0"/>
                  </a:lnTo>
                  <a:lnTo>
                    <a:pt x="0" y="1341991"/>
                  </a:lnTo>
                  <a:lnTo>
                    <a:pt x="241068" y="1341991"/>
                  </a:lnTo>
                  <a:lnTo>
                    <a:pt x="241068" y="0"/>
                  </a:lnTo>
                  <a:close/>
                </a:path>
              </a:pathLst>
            </a:custGeom>
            <a:solidFill>
              <a:srgbClr val="B7D89F"/>
            </a:solidFill>
          </p:spPr>
          <p:txBody>
            <a:bodyPr wrap="square" lIns="0" tIns="0" rIns="0" bIns="0" rtlCol="0"/>
            <a:lstStyle/>
            <a:p>
              <a:pPr algn="just"/>
              <a:endParaRPr sz="1200"/>
            </a:p>
          </p:txBody>
        </p:sp>
        <p:sp>
          <p:nvSpPr>
            <p:cNvPr id="54" name="object 49"/>
            <p:cNvSpPr/>
            <p:nvPr/>
          </p:nvSpPr>
          <p:spPr>
            <a:xfrm>
              <a:off x="3671882" y="4113236"/>
              <a:ext cx="241300" cy="1292225"/>
            </a:xfrm>
            <a:custGeom>
              <a:avLst/>
              <a:gdLst/>
              <a:ahLst/>
              <a:cxnLst/>
              <a:rect l="l" t="t" r="r" b="b"/>
              <a:pathLst>
                <a:path w="241300" h="1292225">
                  <a:moveTo>
                    <a:pt x="241068" y="0"/>
                  </a:moveTo>
                  <a:lnTo>
                    <a:pt x="0" y="0"/>
                  </a:lnTo>
                  <a:lnTo>
                    <a:pt x="0" y="1292115"/>
                  </a:lnTo>
                  <a:lnTo>
                    <a:pt x="241068" y="1292115"/>
                  </a:lnTo>
                  <a:lnTo>
                    <a:pt x="241068" y="0"/>
                  </a:lnTo>
                  <a:close/>
                </a:path>
              </a:pathLst>
            </a:custGeom>
            <a:solidFill>
              <a:srgbClr val="B7D89F"/>
            </a:solidFill>
          </p:spPr>
          <p:txBody>
            <a:bodyPr wrap="square" lIns="0" tIns="0" rIns="0" bIns="0" rtlCol="0"/>
            <a:lstStyle/>
            <a:p>
              <a:pPr algn="just"/>
              <a:endParaRPr sz="1200"/>
            </a:p>
          </p:txBody>
        </p:sp>
        <p:sp>
          <p:nvSpPr>
            <p:cNvPr id="55" name="object 50"/>
            <p:cNvSpPr/>
            <p:nvPr/>
          </p:nvSpPr>
          <p:spPr>
            <a:xfrm>
              <a:off x="4748379" y="4013484"/>
              <a:ext cx="237490" cy="1391920"/>
            </a:xfrm>
            <a:custGeom>
              <a:avLst/>
              <a:gdLst/>
              <a:ahLst/>
              <a:cxnLst/>
              <a:rect l="l" t="t" r="r" b="b"/>
              <a:pathLst>
                <a:path w="237489" h="1391920">
                  <a:moveTo>
                    <a:pt x="236913" y="0"/>
                  </a:moveTo>
                  <a:lnTo>
                    <a:pt x="0" y="0"/>
                  </a:lnTo>
                  <a:lnTo>
                    <a:pt x="0" y="1391867"/>
                  </a:lnTo>
                  <a:lnTo>
                    <a:pt x="236913" y="1391867"/>
                  </a:lnTo>
                  <a:lnTo>
                    <a:pt x="236913" y="0"/>
                  </a:lnTo>
                  <a:close/>
                </a:path>
              </a:pathLst>
            </a:custGeom>
            <a:solidFill>
              <a:srgbClr val="B7D89F"/>
            </a:solidFill>
          </p:spPr>
          <p:txBody>
            <a:bodyPr wrap="square" lIns="0" tIns="0" rIns="0" bIns="0" rtlCol="0"/>
            <a:lstStyle/>
            <a:p>
              <a:pPr algn="just"/>
              <a:endParaRPr sz="1200"/>
            </a:p>
          </p:txBody>
        </p:sp>
        <p:sp>
          <p:nvSpPr>
            <p:cNvPr id="56" name="object 51"/>
            <p:cNvSpPr/>
            <p:nvPr/>
          </p:nvSpPr>
          <p:spPr>
            <a:xfrm>
              <a:off x="5824877" y="3714226"/>
              <a:ext cx="237490" cy="1691639"/>
            </a:xfrm>
            <a:custGeom>
              <a:avLst/>
              <a:gdLst/>
              <a:ahLst/>
              <a:cxnLst/>
              <a:rect l="l" t="t" r="r" b="b"/>
              <a:pathLst>
                <a:path w="237489" h="1691639">
                  <a:moveTo>
                    <a:pt x="236913" y="0"/>
                  </a:moveTo>
                  <a:lnTo>
                    <a:pt x="0" y="0"/>
                  </a:lnTo>
                  <a:lnTo>
                    <a:pt x="0" y="1691125"/>
                  </a:lnTo>
                  <a:lnTo>
                    <a:pt x="236913" y="1691125"/>
                  </a:lnTo>
                  <a:lnTo>
                    <a:pt x="236913" y="0"/>
                  </a:lnTo>
                  <a:close/>
                </a:path>
              </a:pathLst>
            </a:custGeom>
            <a:solidFill>
              <a:srgbClr val="B7D89F"/>
            </a:solidFill>
          </p:spPr>
          <p:txBody>
            <a:bodyPr wrap="square" lIns="0" tIns="0" rIns="0" bIns="0" rtlCol="0"/>
            <a:lstStyle/>
            <a:p>
              <a:pPr algn="just"/>
              <a:endParaRPr sz="1200"/>
            </a:p>
          </p:txBody>
        </p:sp>
        <p:sp>
          <p:nvSpPr>
            <p:cNvPr id="57" name="object 52"/>
            <p:cNvSpPr/>
            <p:nvPr/>
          </p:nvSpPr>
          <p:spPr>
            <a:xfrm>
              <a:off x="6897219" y="3963607"/>
              <a:ext cx="241300" cy="1442085"/>
            </a:xfrm>
            <a:custGeom>
              <a:avLst/>
              <a:gdLst/>
              <a:ahLst/>
              <a:cxnLst/>
              <a:rect l="l" t="t" r="r" b="b"/>
              <a:pathLst>
                <a:path w="241300" h="1442085">
                  <a:moveTo>
                    <a:pt x="241068" y="0"/>
                  </a:moveTo>
                  <a:lnTo>
                    <a:pt x="0" y="0"/>
                  </a:lnTo>
                  <a:lnTo>
                    <a:pt x="0" y="1441744"/>
                  </a:lnTo>
                  <a:lnTo>
                    <a:pt x="241068" y="1441744"/>
                  </a:lnTo>
                  <a:lnTo>
                    <a:pt x="241068" y="0"/>
                  </a:lnTo>
                  <a:close/>
                </a:path>
              </a:pathLst>
            </a:custGeom>
            <a:solidFill>
              <a:srgbClr val="B7D89F"/>
            </a:solidFill>
          </p:spPr>
          <p:txBody>
            <a:bodyPr wrap="square" lIns="0" tIns="0" rIns="0" bIns="0" rtlCol="0"/>
            <a:lstStyle/>
            <a:p>
              <a:pPr algn="just"/>
              <a:endParaRPr sz="1200"/>
            </a:p>
          </p:txBody>
        </p:sp>
        <p:sp>
          <p:nvSpPr>
            <p:cNvPr id="58" name="object 53"/>
            <p:cNvSpPr/>
            <p:nvPr/>
          </p:nvSpPr>
          <p:spPr>
            <a:xfrm>
              <a:off x="7973717" y="3664350"/>
              <a:ext cx="241300" cy="1741170"/>
            </a:xfrm>
            <a:custGeom>
              <a:avLst/>
              <a:gdLst/>
              <a:ahLst/>
              <a:cxnLst/>
              <a:rect l="l" t="t" r="r" b="b"/>
              <a:pathLst>
                <a:path w="241300" h="1741170">
                  <a:moveTo>
                    <a:pt x="241068" y="0"/>
                  </a:moveTo>
                  <a:lnTo>
                    <a:pt x="0" y="0"/>
                  </a:lnTo>
                  <a:lnTo>
                    <a:pt x="0" y="1741002"/>
                  </a:lnTo>
                  <a:lnTo>
                    <a:pt x="241068" y="1741002"/>
                  </a:lnTo>
                  <a:lnTo>
                    <a:pt x="241068" y="0"/>
                  </a:lnTo>
                  <a:close/>
                </a:path>
              </a:pathLst>
            </a:custGeom>
            <a:solidFill>
              <a:srgbClr val="B7D89F"/>
            </a:solidFill>
          </p:spPr>
          <p:txBody>
            <a:bodyPr wrap="square" lIns="0" tIns="0" rIns="0" bIns="0" rtlCol="0"/>
            <a:lstStyle/>
            <a:p>
              <a:pPr algn="just"/>
              <a:endParaRPr sz="1200"/>
            </a:p>
          </p:txBody>
        </p:sp>
        <p:sp>
          <p:nvSpPr>
            <p:cNvPr id="59" name="object 54"/>
            <p:cNvSpPr/>
            <p:nvPr/>
          </p:nvSpPr>
          <p:spPr>
            <a:xfrm>
              <a:off x="9050215" y="3813979"/>
              <a:ext cx="237490" cy="1591945"/>
            </a:xfrm>
            <a:custGeom>
              <a:avLst/>
              <a:gdLst/>
              <a:ahLst/>
              <a:cxnLst/>
              <a:rect l="l" t="t" r="r" b="b"/>
              <a:pathLst>
                <a:path w="237490" h="1591945">
                  <a:moveTo>
                    <a:pt x="236913" y="0"/>
                  </a:moveTo>
                  <a:lnTo>
                    <a:pt x="0" y="0"/>
                  </a:lnTo>
                  <a:lnTo>
                    <a:pt x="0" y="1591373"/>
                  </a:lnTo>
                  <a:lnTo>
                    <a:pt x="236913" y="1591373"/>
                  </a:lnTo>
                  <a:lnTo>
                    <a:pt x="236913" y="0"/>
                  </a:lnTo>
                  <a:close/>
                </a:path>
              </a:pathLst>
            </a:custGeom>
            <a:solidFill>
              <a:srgbClr val="B7D89F"/>
            </a:solidFill>
          </p:spPr>
          <p:txBody>
            <a:bodyPr wrap="square" lIns="0" tIns="0" rIns="0" bIns="0" rtlCol="0"/>
            <a:lstStyle/>
            <a:p>
              <a:pPr algn="just"/>
              <a:endParaRPr sz="1200"/>
            </a:p>
          </p:txBody>
        </p:sp>
        <p:sp>
          <p:nvSpPr>
            <p:cNvPr id="60" name="object 55"/>
            <p:cNvSpPr/>
            <p:nvPr/>
          </p:nvSpPr>
          <p:spPr>
            <a:xfrm>
              <a:off x="10122557" y="3564596"/>
              <a:ext cx="241300" cy="1840864"/>
            </a:xfrm>
            <a:custGeom>
              <a:avLst/>
              <a:gdLst/>
              <a:ahLst/>
              <a:cxnLst/>
              <a:rect l="l" t="t" r="r" b="b"/>
              <a:pathLst>
                <a:path w="241300" h="1840864">
                  <a:moveTo>
                    <a:pt x="241068" y="0"/>
                  </a:moveTo>
                  <a:lnTo>
                    <a:pt x="0" y="0"/>
                  </a:lnTo>
                  <a:lnTo>
                    <a:pt x="0" y="1840755"/>
                  </a:lnTo>
                  <a:lnTo>
                    <a:pt x="241068" y="1840755"/>
                  </a:lnTo>
                  <a:lnTo>
                    <a:pt x="241068" y="0"/>
                  </a:lnTo>
                  <a:close/>
                </a:path>
              </a:pathLst>
            </a:custGeom>
            <a:solidFill>
              <a:srgbClr val="B7D89F"/>
            </a:solidFill>
          </p:spPr>
          <p:txBody>
            <a:bodyPr wrap="square" lIns="0" tIns="0" rIns="0" bIns="0" rtlCol="0"/>
            <a:lstStyle/>
            <a:p>
              <a:pPr algn="just"/>
              <a:endParaRPr sz="1200"/>
            </a:p>
          </p:txBody>
        </p:sp>
        <p:sp>
          <p:nvSpPr>
            <p:cNvPr id="61" name="object 56"/>
            <p:cNvSpPr/>
            <p:nvPr/>
          </p:nvSpPr>
          <p:spPr>
            <a:xfrm>
              <a:off x="1759954" y="2770732"/>
              <a:ext cx="241300" cy="2634615"/>
            </a:xfrm>
            <a:custGeom>
              <a:avLst/>
              <a:gdLst/>
              <a:ahLst/>
              <a:cxnLst/>
              <a:rect l="l" t="t" r="r" b="b"/>
              <a:pathLst>
                <a:path w="241300" h="2634615">
                  <a:moveTo>
                    <a:pt x="241070" y="0"/>
                  </a:moveTo>
                  <a:lnTo>
                    <a:pt x="0" y="0"/>
                  </a:lnTo>
                  <a:lnTo>
                    <a:pt x="0" y="2634620"/>
                  </a:lnTo>
                  <a:lnTo>
                    <a:pt x="241070" y="2634620"/>
                  </a:lnTo>
                  <a:lnTo>
                    <a:pt x="241070" y="0"/>
                  </a:lnTo>
                  <a:close/>
                </a:path>
              </a:pathLst>
            </a:custGeom>
            <a:solidFill>
              <a:srgbClr val="6CACDD"/>
            </a:solidFill>
          </p:spPr>
          <p:txBody>
            <a:bodyPr wrap="square" lIns="0" tIns="0" rIns="0" bIns="0" rtlCol="0"/>
            <a:lstStyle/>
            <a:p>
              <a:pPr algn="just"/>
              <a:endParaRPr sz="1200"/>
            </a:p>
          </p:txBody>
        </p:sp>
        <p:sp>
          <p:nvSpPr>
            <p:cNvPr id="62" name="object 57"/>
            <p:cNvSpPr/>
            <p:nvPr/>
          </p:nvSpPr>
          <p:spPr>
            <a:xfrm>
              <a:off x="2836453" y="3764102"/>
              <a:ext cx="237490" cy="1641475"/>
            </a:xfrm>
            <a:custGeom>
              <a:avLst/>
              <a:gdLst/>
              <a:ahLst/>
              <a:cxnLst/>
              <a:rect l="l" t="t" r="r" b="b"/>
              <a:pathLst>
                <a:path w="237489" h="1641475">
                  <a:moveTo>
                    <a:pt x="236910" y="0"/>
                  </a:moveTo>
                  <a:lnTo>
                    <a:pt x="0" y="0"/>
                  </a:lnTo>
                  <a:lnTo>
                    <a:pt x="0" y="1641250"/>
                  </a:lnTo>
                  <a:lnTo>
                    <a:pt x="236910" y="1641250"/>
                  </a:lnTo>
                  <a:lnTo>
                    <a:pt x="236910" y="0"/>
                  </a:lnTo>
                  <a:close/>
                </a:path>
              </a:pathLst>
            </a:custGeom>
            <a:solidFill>
              <a:srgbClr val="6CACDD"/>
            </a:solidFill>
          </p:spPr>
          <p:txBody>
            <a:bodyPr wrap="square" lIns="0" tIns="0" rIns="0" bIns="0" rtlCol="0"/>
            <a:lstStyle/>
            <a:p>
              <a:pPr algn="just"/>
              <a:endParaRPr sz="1200"/>
            </a:p>
          </p:txBody>
        </p:sp>
        <p:sp>
          <p:nvSpPr>
            <p:cNvPr id="63" name="object 58"/>
            <p:cNvSpPr/>
            <p:nvPr/>
          </p:nvSpPr>
          <p:spPr>
            <a:xfrm>
              <a:off x="3912951" y="3119866"/>
              <a:ext cx="237490" cy="2286000"/>
            </a:xfrm>
            <a:custGeom>
              <a:avLst/>
              <a:gdLst/>
              <a:ahLst/>
              <a:cxnLst/>
              <a:rect l="l" t="t" r="r" b="b"/>
              <a:pathLst>
                <a:path w="237489" h="2286000">
                  <a:moveTo>
                    <a:pt x="236913" y="0"/>
                  </a:moveTo>
                  <a:lnTo>
                    <a:pt x="0" y="0"/>
                  </a:lnTo>
                  <a:lnTo>
                    <a:pt x="0" y="2285485"/>
                  </a:lnTo>
                  <a:lnTo>
                    <a:pt x="236913" y="2285485"/>
                  </a:lnTo>
                  <a:lnTo>
                    <a:pt x="236913" y="0"/>
                  </a:lnTo>
                  <a:close/>
                </a:path>
              </a:pathLst>
            </a:custGeom>
            <a:solidFill>
              <a:srgbClr val="6CACDD"/>
            </a:solidFill>
          </p:spPr>
          <p:txBody>
            <a:bodyPr wrap="square" lIns="0" tIns="0" rIns="0" bIns="0" rtlCol="0"/>
            <a:lstStyle/>
            <a:p>
              <a:pPr algn="just"/>
              <a:endParaRPr sz="1200"/>
            </a:p>
          </p:txBody>
        </p:sp>
        <p:sp>
          <p:nvSpPr>
            <p:cNvPr id="64" name="object 59"/>
            <p:cNvSpPr/>
            <p:nvPr/>
          </p:nvSpPr>
          <p:spPr>
            <a:xfrm>
              <a:off x="4985293" y="2970236"/>
              <a:ext cx="241300" cy="2435225"/>
            </a:xfrm>
            <a:custGeom>
              <a:avLst/>
              <a:gdLst/>
              <a:ahLst/>
              <a:cxnLst/>
              <a:rect l="l" t="t" r="r" b="b"/>
              <a:pathLst>
                <a:path w="241300" h="2435225">
                  <a:moveTo>
                    <a:pt x="241068" y="0"/>
                  </a:moveTo>
                  <a:lnTo>
                    <a:pt x="0" y="0"/>
                  </a:lnTo>
                  <a:lnTo>
                    <a:pt x="0" y="2435115"/>
                  </a:lnTo>
                  <a:lnTo>
                    <a:pt x="241068" y="2435115"/>
                  </a:lnTo>
                  <a:lnTo>
                    <a:pt x="241068" y="0"/>
                  </a:lnTo>
                  <a:close/>
                </a:path>
              </a:pathLst>
            </a:custGeom>
            <a:solidFill>
              <a:srgbClr val="6CACDD"/>
            </a:solidFill>
          </p:spPr>
          <p:txBody>
            <a:bodyPr wrap="square" lIns="0" tIns="0" rIns="0" bIns="0" rtlCol="0"/>
            <a:lstStyle/>
            <a:p>
              <a:pPr algn="just"/>
              <a:endParaRPr sz="1200"/>
            </a:p>
          </p:txBody>
        </p:sp>
        <p:sp>
          <p:nvSpPr>
            <p:cNvPr id="65" name="object 60"/>
            <p:cNvSpPr/>
            <p:nvPr/>
          </p:nvSpPr>
          <p:spPr>
            <a:xfrm>
              <a:off x="6061790" y="2870484"/>
              <a:ext cx="241300" cy="2534920"/>
            </a:xfrm>
            <a:custGeom>
              <a:avLst/>
              <a:gdLst/>
              <a:ahLst/>
              <a:cxnLst/>
              <a:rect l="l" t="t" r="r" b="b"/>
              <a:pathLst>
                <a:path w="241300" h="2534920">
                  <a:moveTo>
                    <a:pt x="241068" y="0"/>
                  </a:moveTo>
                  <a:lnTo>
                    <a:pt x="0" y="0"/>
                  </a:lnTo>
                  <a:lnTo>
                    <a:pt x="0" y="2534867"/>
                  </a:lnTo>
                  <a:lnTo>
                    <a:pt x="241068" y="2534867"/>
                  </a:lnTo>
                  <a:lnTo>
                    <a:pt x="241068" y="0"/>
                  </a:lnTo>
                  <a:close/>
                </a:path>
              </a:pathLst>
            </a:custGeom>
            <a:solidFill>
              <a:srgbClr val="6CACDD"/>
            </a:solidFill>
          </p:spPr>
          <p:txBody>
            <a:bodyPr wrap="square" lIns="0" tIns="0" rIns="0" bIns="0" rtlCol="0"/>
            <a:lstStyle/>
            <a:p>
              <a:pPr algn="just"/>
              <a:endParaRPr sz="1200"/>
            </a:p>
          </p:txBody>
        </p:sp>
        <p:sp>
          <p:nvSpPr>
            <p:cNvPr id="66" name="object 61"/>
            <p:cNvSpPr/>
            <p:nvPr/>
          </p:nvSpPr>
          <p:spPr>
            <a:xfrm>
              <a:off x="7138288" y="2770732"/>
              <a:ext cx="237490" cy="2634615"/>
            </a:xfrm>
            <a:custGeom>
              <a:avLst/>
              <a:gdLst/>
              <a:ahLst/>
              <a:cxnLst/>
              <a:rect l="l" t="t" r="r" b="b"/>
              <a:pathLst>
                <a:path w="237490" h="2634615">
                  <a:moveTo>
                    <a:pt x="236912" y="0"/>
                  </a:moveTo>
                  <a:lnTo>
                    <a:pt x="0" y="0"/>
                  </a:lnTo>
                  <a:lnTo>
                    <a:pt x="0" y="2634620"/>
                  </a:lnTo>
                  <a:lnTo>
                    <a:pt x="236912" y="2634620"/>
                  </a:lnTo>
                  <a:lnTo>
                    <a:pt x="236912" y="0"/>
                  </a:lnTo>
                  <a:close/>
                </a:path>
              </a:pathLst>
            </a:custGeom>
            <a:solidFill>
              <a:srgbClr val="6CACDD"/>
            </a:solidFill>
          </p:spPr>
          <p:txBody>
            <a:bodyPr wrap="square" lIns="0" tIns="0" rIns="0" bIns="0" rtlCol="0"/>
            <a:lstStyle/>
            <a:p>
              <a:pPr algn="just"/>
              <a:endParaRPr sz="1200"/>
            </a:p>
          </p:txBody>
        </p:sp>
        <p:sp>
          <p:nvSpPr>
            <p:cNvPr id="67" name="object 62"/>
            <p:cNvSpPr/>
            <p:nvPr/>
          </p:nvSpPr>
          <p:spPr>
            <a:xfrm>
              <a:off x="8214786" y="3119866"/>
              <a:ext cx="237490" cy="2286000"/>
            </a:xfrm>
            <a:custGeom>
              <a:avLst/>
              <a:gdLst/>
              <a:ahLst/>
              <a:cxnLst/>
              <a:rect l="l" t="t" r="r" b="b"/>
              <a:pathLst>
                <a:path w="237490" h="2286000">
                  <a:moveTo>
                    <a:pt x="236913" y="0"/>
                  </a:moveTo>
                  <a:lnTo>
                    <a:pt x="0" y="0"/>
                  </a:lnTo>
                  <a:lnTo>
                    <a:pt x="0" y="2285485"/>
                  </a:lnTo>
                  <a:lnTo>
                    <a:pt x="236913" y="2285485"/>
                  </a:lnTo>
                  <a:lnTo>
                    <a:pt x="236913" y="0"/>
                  </a:lnTo>
                  <a:close/>
                </a:path>
              </a:pathLst>
            </a:custGeom>
            <a:solidFill>
              <a:srgbClr val="6CACDD"/>
            </a:solidFill>
          </p:spPr>
          <p:txBody>
            <a:bodyPr wrap="square" lIns="0" tIns="0" rIns="0" bIns="0" rtlCol="0"/>
            <a:lstStyle/>
            <a:p>
              <a:pPr algn="just"/>
              <a:endParaRPr sz="1200"/>
            </a:p>
          </p:txBody>
        </p:sp>
        <p:sp>
          <p:nvSpPr>
            <p:cNvPr id="68" name="object 63"/>
            <p:cNvSpPr/>
            <p:nvPr/>
          </p:nvSpPr>
          <p:spPr>
            <a:xfrm>
              <a:off x="9287128" y="3219618"/>
              <a:ext cx="241300" cy="2186305"/>
            </a:xfrm>
            <a:custGeom>
              <a:avLst/>
              <a:gdLst/>
              <a:ahLst/>
              <a:cxnLst/>
              <a:rect l="l" t="t" r="r" b="b"/>
              <a:pathLst>
                <a:path w="241300" h="2186304">
                  <a:moveTo>
                    <a:pt x="241068" y="0"/>
                  </a:moveTo>
                  <a:lnTo>
                    <a:pt x="0" y="0"/>
                  </a:lnTo>
                  <a:lnTo>
                    <a:pt x="0" y="2185733"/>
                  </a:lnTo>
                  <a:lnTo>
                    <a:pt x="241068" y="2185733"/>
                  </a:lnTo>
                  <a:lnTo>
                    <a:pt x="241068" y="0"/>
                  </a:lnTo>
                  <a:close/>
                </a:path>
              </a:pathLst>
            </a:custGeom>
            <a:solidFill>
              <a:srgbClr val="6CACDD"/>
            </a:solidFill>
          </p:spPr>
          <p:txBody>
            <a:bodyPr wrap="square" lIns="0" tIns="0" rIns="0" bIns="0" rtlCol="0"/>
            <a:lstStyle/>
            <a:p>
              <a:pPr algn="just"/>
              <a:endParaRPr sz="1200"/>
            </a:p>
          </p:txBody>
        </p:sp>
        <p:sp>
          <p:nvSpPr>
            <p:cNvPr id="69" name="object 64"/>
            <p:cNvSpPr/>
            <p:nvPr/>
          </p:nvSpPr>
          <p:spPr>
            <a:xfrm>
              <a:off x="10363626" y="3319371"/>
              <a:ext cx="237490" cy="2085975"/>
            </a:xfrm>
            <a:custGeom>
              <a:avLst/>
              <a:gdLst/>
              <a:ahLst/>
              <a:cxnLst/>
              <a:rect l="l" t="t" r="r" b="b"/>
              <a:pathLst>
                <a:path w="237490" h="2085975">
                  <a:moveTo>
                    <a:pt x="236913" y="0"/>
                  </a:moveTo>
                  <a:lnTo>
                    <a:pt x="0" y="0"/>
                  </a:lnTo>
                  <a:lnTo>
                    <a:pt x="0" y="2085981"/>
                  </a:lnTo>
                  <a:lnTo>
                    <a:pt x="236913" y="2085981"/>
                  </a:lnTo>
                  <a:lnTo>
                    <a:pt x="236913" y="0"/>
                  </a:lnTo>
                  <a:close/>
                </a:path>
              </a:pathLst>
            </a:custGeom>
            <a:solidFill>
              <a:srgbClr val="6CACDD"/>
            </a:solidFill>
          </p:spPr>
          <p:txBody>
            <a:bodyPr wrap="square" lIns="0" tIns="0" rIns="0" bIns="0" rtlCol="0"/>
            <a:lstStyle/>
            <a:p>
              <a:pPr algn="just"/>
              <a:endParaRPr sz="1200"/>
            </a:p>
          </p:txBody>
        </p:sp>
        <p:sp>
          <p:nvSpPr>
            <p:cNvPr id="70" name="object 65"/>
            <p:cNvSpPr/>
            <p:nvPr/>
          </p:nvSpPr>
          <p:spPr>
            <a:xfrm>
              <a:off x="2001024" y="3863855"/>
              <a:ext cx="237490" cy="1541780"/>
            </a:xfrm>
            <a:custGeom>
              <a:avLst/>
              <a:gdLst/>
              <a:ahLst/>
              <a:cxnLst/>
              <a:rect l="l" t="t" r="r" b="b"/>
              <a:pathLst>
                <a:path w="237489" h="1541779">
                  <a:moveTo>
                    <a:pt x="236910" y="0"/>
                  </a:moveTo>
                  <a:lnTo>
                    <a:pt x="0" y="0"/>
                  </a:lnTo>
                  <a:lnTo>
                    <a:pt x="0" y="1541496"/>
                  </a:lnTo>
                  <a:lnTo>
                    <a:pt x="236910" y="1541496"/>
                  </a:lnTo>
                  <a:lnTo>
                    <a:pt x="236910" y="0"/>
                  </a:lnTo>
                  <a:close/>
                </a:path>
              </a:pathLst>
            </a:custGeom>
            <a:solidFill>
              <a:srgbClr val="D84942"/>
            </a:solidFill>
          </p:spPr>
          <p:txBody>
            <a:bodyPr wrap="square" lIns="0" tIns="0" rIns="0" bIns="0" rtlCol="0"/>
            <a:lstStyle/>
            <a:p>
              <a:pPr algn="just"/>
              <a:endParaRPr sz="1200"/>
            </a:p>
          </p:txBody>
        </p:sp>
        <p:sp>
          <p:nvSpPr>
            <p:cNvPr id="71" name="object 66"/>
            <p:cNvSpPr/>
            <p:nvPr/>
          </p:nvSpPr>
          <p:spPr>
            <a:xfrm>
              <a:off x="3073363" y="3419124"/>
              <a:ext cx="241300" cy="1986280"/>
            </a:xfrm>
            <a:custGeom>
              <a:avLst/>
              <a:gdLst/>
              <a:ahLst/>
              <a:cxnLst/>
              <a:rect l="l" t="t" r="r" b="b"/>
              <a:pathLst>
                <a:path w="241300" h="1986279">
                  <a:moveTo>
                    <a:pt x="241070" y="0"/>
                  </a:moveTo>
                  <a:lnTo>
                    <a:pt x="0" y="0"/>
                  </a:lnTo>
                  <a:lnTo>
                    <a:pt x="0" y="1986227"/>
                  </a:lnTo>
                  <a:lnTo>
                    <a:pt x="241070" y="1986227"/>
                  </a:lnTo>
                  <a:lnTo>
                    <a:pt x="241070" y="0"/>
                  </a:lnTo>
                  <a:close/>
                </a:path>
              </a:pathLst>
            </a:custGeom>
            <a:solidFill>
              <a:srgbClr val="D84942"/>
            </a:solidFill>
          </p:spPr>
          <p:txBody>
            <a:bodyPr wrap="square" lIns="0" tIns="0" rIns="0" bIns="0" rtlCol="0"/>
            <a:lstStyle/>
            <a:p>
              <a:pPr algn="just"/>
              <a:endParaRPr sz="1200"/>
            </a:p>
          </p:txBody>
        </p:sp>
        <p:sp>
          <p:nvSpPr>
            <p:cNvPr id="72" name="object 67"/>
            <p:cNvSpPr/>
            <p:nvPr/>
          </p:nvSpPr>
          <p:spPr>
            <a:xfrm>
              <a:off x="4149864" y="4013484"/>
              <a:ext cx="241300" cy="1391920"/>
            </a:xfrm>
            <a:custGeom>
              <a:avLst/>
              <a:gdLst/>
              <a:ahLst/>
              <a:cxnLst/>
              <a:rect l="l" t="t" r="r" b="b"/>
              <a:pathLst>
                <a:path w="241300" h="1391920">
                  <a:moveTo>
                    <a:pt x="241068" y="0"/>
                  </a:moveTo>
                  <a:lnTo>
                    <a:pt x="0" y="0"/>
                  </a:lnTo>
                  <a:lnTo>
                    <a:pt x="0" y="1391867"/>
                  </a:lnTo>
                  <a:lnTo>
                    <a:pt x="241068" y="1391867"/>
                  </a:lnTo>
                  <a:lnTo>
                    <a:pt x="241068" y="0"/>
                  </a:lnTo>
                  <a:close/>
                </a:path>
              </a:pathLst>
            </a:custGeom>
            <a:solidFill>
              <a:srgbClr val="D84942"/>
            </a:solidFill>
          </p:spPr>
          <p:txBody>
            <a:bodyPr wrap="square" lIns="0" tIns="0" rIns="0" bIns="0" rtlCol="0"/>
            <a:lstStyle/>
            <a:p>
              <a:pPr algn="just"/>
              <a:endParaRPr sz="1200"/>
            </a:p>
          </p:txBody>
        </p:sp>
        <p:sp>
          <p:nvSpPr>
            <p:cNvPr id="73" name="object 68"/>
            <p:cNvSpPr/>
            <p:nvPr/>
          </p:nvSpPr>
          <p:spPr>
            <a:xfrm>
              <a:off x="5226361" y="4262866"/>
              <a:ext cx="237490" cy="1143000"/>
            </a:xfrm>
            <a:custGeom>
              <a:avLst/>
              <a:gdLst/>
              <a:ahLst/>
              <a:cxnLst/>
              <a:rect l="l" t="t" r="r" b="b"/>
              <a:pathLst>
                <a:path w="237489" h="1143000">
                  <a:moveTo>
                    <a:pt x="236910" y="0"/>
                  </a:moveTo>
                  <a:lnTo>
                    <a:pt x="0" y="0"/>
                  </a:lnTo>
                  <a:lnTo>
                    <a:pt x="0" y="1142485"/>
                  </a:lnTo>
                  <a:lnTo>
                    <a:pt x="236910" y="1142485"/>
                  </a:lnTo>
                  <a:lnTo>
                    <a:pt x="236910" y="0"/>
                  </a:lnTo>
                  <a:close/>
                </a:path>
              </a:pathLst>
            </a:custGeom>
            <a:solidFill>
              <a:srgbClr val="D84942"/>
            </a:solidFill>
          </p:spPr>
          <p:txBody>
            <a:bodyPr wrap="square" lIns="0" tIns="0" rIns="0" bIns="0" rtlCol="0"/>
            <a:lstStyle/>
            <a:p>
              <a:pPr algn="just"/>
              <a:endParaRPr sz="1200"/>
            </a:p>
          </p:txBody>
        </p:sp>
        <p:sp>
          <p:nvSpPr>
            <p:cNvPr id="74" name="object 69"/>
            <p:cNvSpPr/>
            <p:nvPr/>
          </p:nvSpPr>
          <p:spPr>
            <a:xfrm>
              <a:off x="6302859" y="4661876"/>
              <a:ext cx="237490" cy="743585"/>
            </a:xfrm>
            <a:custGeom>
              <a:avLst/>
              <a:gdLst/>
              <a:ahLst/>
              <a:cxnLst/>
              <a:rect l="l" t="t" r="r" b="b"/>
              <a:pathLst>
                <a:path w="237490" h="743585">
                  <a:moveTo>
                    <a:pt x="236912" y="0"/>
                  </a:moveTo>
                  <a:lnTo>
                    <a:pt x="0" y="0"/>
                  </a:lnTo>
                  <a:lnTo>
                    <a:pt x="0" y="743475"/>
                  </a:lnTo>
                  <a:lnTo>
                    <a:pt x="236912" y="743475"/>
                  </a:lnTo>
                  <a:lnTo>
                    <a:pt x="236912" y="0"/>
                  </a:lnTo>
                  <a:close/>
                </a:path>
              </a:pathLst>
            </a:custGeom>
            <a:solidFill>
              <a:srgbClr val="D84942"/>
            </a:solidFill>
          </p:spPr>
          <p:txBody>
            <a:bodyPr wrap="square" lIns="0" tIns="0" rIns="0" bIns="0" rtlCol="0"/>
            <a:lstStyle/>
            <a:p>
              <a:pPr algn="just"/>
              <a:endParaRPr sz="1200"/>
            </a:p>
          </p:txBody>
        </p:sp>
        <p:sp>
          <p:nvSpPr>
            <p:cNvPr id="75" name="object 70"/>
            <p:cNvSpPr/>
            <p:nvPr/>
          </p:nvSpPr>
          <p:spPr>
            <a:xfrm>
              <a:off x="7375200" y="4512247"/>
              <a:ext cx="241300" cy="893444"/>
            </a:xfrm>
            <a:custGeom>
              <a:avLst/>
              <a:gdLst/>
              <a:ahLst/>
              <a:cxnLst/>
              <a:rect l="l" t="t" r="r" b="b"/>
              <a:pathLst>
                <a:path w="241300" h="893445">
                  <a:moveTo>
                    <a:pt x="241070" y="0"/>
                  </a:moveTo>
                  <a:lnTo>
                    <a:pt x="0" y="0"/>
                  </a:lnTo>
                  <a:lnTo>
                    <a:pt x="0" y="893104"/>
                  </a:lnTo>
                  <a:lnTo>
                    <a:pt x="241070" y="893104"/>
                  </a:lnTo>
                  <a:lnTo>
                    <a:pt x="241070" y="0"/>
                  </a:lnTo>
                  <a:close/>
                </a:path>
              </a:pathLst>
            </a:custGeom>
            <a:solidFill>
              <a:srgbClr val="D84942"/>
            </a:solidFill>
          </p:spPr>
          <p:txBody>
            <a:bodyPr wrap="square" lIns="0" tIns="0" rIns="0" bIns="0" rtlCol="0"/>
            <a:lstStyle/>
            <a:p>
              <a:pPr algn="just"/>
              <a:endParaRPr sz="1200"/>
            </a:p>
          </p:txBody>
        </p:sp>
        <p:sp>
          <p:nvSpPr>
            <p:cNvPr id="76" name="object 71"/>
            <p:cNvSpPr/>
            <p:nvPr/>
          </p:nvSpPr>
          <p:spPr>
            <a:xfrm>
              <a:off x="8451699" y="4462371"/>
              <a:ext cx="241300" cy="942975"/>
            </a:xfrm>
            <a:custGeom>
              <a:avLst/>
              <a:gdLst/>
              <a:ahLst/>
              <a:cxnLst/>
              <a:rect l="l" t="t" r="r" b="b"/>
              <a:pathLst>
                <a:path w="241300" h="942975">
                  <a:moveTo>
                    <a:pt x="241068" y="0"/>
                  </a:moveTo>
                  <a:lnTo>
                    <a:pt x="0" y="0"/>
                  </a:lnTo>
                  <a:lnTo>
                    <a:pt x="0" y="942981"/>
                  </a:lnTo>
                  <a:lnTo>
                    <a:pt x="241068" y="942981"/>
                  </a:lnTo>
                  <a:lnTo>
                    <a:pt x="241068" y="0"/>
                  </a:lnTo>
                  <a:close/>
                </a:path>
              </a:pathLst>
            </a:custGeom>
            <a:solidFill>
              <a:srgbClr val="D84942"/>
            </a:solidFill>
          </p:spPr>
          <p:txBody>
            <a:bodyPr wrap="square" lIns="0" tIns="0" rIns="0" bIns="0" rtlCol="0"/>
            <a:lstStyle/>
            <a:p>
              <a:pPr algn="just"/>
              <a:endParaRPr sz="1200"/>
            </a:p>
          </p:txBody>
        </p:sp>
        <p:sp>
          <p:nvSpPr>
            <p:cNvPr id="77" name="object 72"/>
            <p:cNvSpPr/>
            <p:nvPr/>
          </p:nvSpPr>
          <p:spPr>
            <a:xfrm>
              <a:off x="9528197" y="4212990"/>
              <a:ext cx="237490" cy="1192530"/>
            </a:xfrm>
            <a:custGeom>
              <a:avLst/>
              <a:gdLst/>
              <a:ahLst/>
              <a:cxnLst/>
              <a:rect l="l" t="t" r="r" b="b"/>
              <a:pathLst>
                <a:path w="237490" h="1192529">
                  <a:moveTo>
                    <a:pt x="236913" y="0"/>
                  </a:moveTo>
                  <a:lnTo>
                    <a:pt x="0" y="0"/>
                  </a:lnTo>
                  <a:lnTo>
                    <a:pt x="0" y="1192362"/>
                  </a:lnTo>
                  <a:lnTo>
                    <a:pt x="236913" y="1192362"/>
                  </a:lnTo>
                  <a:lnTo>
                    <a:pt x="236913" y="0"/>
                  </a:lnTo>
                  <a:close/>
                </a:path>
              </a:pathLst>
            </a:custGeom>
            <a:solidFill>
              <a:srgbClr val="D84942"/>
            </a:solidFill>
          </p:spPr>
          <p:txBody>
            <a:bodyPr wrap="square" lIns="0" tIns="0" rIns="0" bIns="0" rtlCol="0"/>
            <a:lstStyle/>
            <a:p>
              <a:pPr algn="just"/>
              <a:endParaRPr sz="1200"/>
            </a:p>
          </p:txBody>
        </p:sp>
        <p:sp>
          <p:nvSpPr>
            <p:cNvPr id="78" name="object 73"/>
            <p:cNvSpPr/>
            <p:nvPr/>
          </p:nvSpPr>
          <p:spPr>
            <a:xfrm>
              <a:off x="10600540" y="4362618"/>
              <a:ext cx="241300" cy="1043305"/>
            </a:xfrm>
            <a:custGeom>
              <a:avLst/>
              <a:gdLst/>
              <a:ahLst/>
              <a:cxnLst/>
              <a:rect l="l" t="t" r="r" b="b"/>
              <a:pathLst>
                <a:path w="241300" h="1043304">
                  <a:moveTo>
                    <a:pt x="241068" y="0"/>
                  </a:moveTo>
                  <a:lnTo>
                    <a:pt x="0" y="0"/>
                  </a:lnTo>
                  <a:lnTo>
                    <a:pt x="0" y="1042733"/>
                  </a:lnTo>
                  <a:lnTo>
                    <a:pt x="241068" y="1042733"/>
                  </a:lnTo>
                  <a:lnTo>
                    <a:pt x="241068" y="0"/>
                  </a:lnTo>
                  <a:close/>
                </a:path>
              </a:pathLst>
            </a:custGeom>
            <a:solidFill>
              <a:srgbClr val="D84942"/>
            </a:solidFill>
          </p:spPr>
          <p:txBody>
            <a:bodyPr wrap="square" lIns="0" tIns="0" rIns="0" bIns="0" rtlCol="0"/>
            <a:lstStyle/>
            <a:p>
              <a:pPr algn="just"/>
              <a:endParaRPr sz="1200"/>
            </a:p>
          </p:txBody>
        </p:sp>
        <p:sp>
          <p:nvSpPr>
            <p:cNvPr id="79" name="object 74"/>
            <p:cNvSpPr/>
            <p:nvPr/>
          </p:nvSpPr>
          <p:spPr>
            <a:xfrm>
              <a:off x="1342102" y="2423698"/>
              <a:ext cx="0" cy="2981960"/>
            </a:xfrm>
            <a:custGeom>
              <a:avLst/>
              <a:gdLst/>
              <a:ahLst/>
              <a:cxnLst/>
              <a:rect l="l" t="t" r="r" b="b"/>
              <a:pathLst>
                <a:path h="2981960">
                  <a:moveTo>
                    <a:pt x="0" y="2981653"/>
                  </a:moveTo>
                  <a:lnTo>
                    <a:pt x="0" y="0"/>
                  </a:lnTo>
                </a:path>
              </a:pathLst>
            </a:custGeom>
            <a:ln w="6349">
              <a:solidFill>
                <a:srgbClr val="9B9B9B"/>
              </a:solidFill>
            </a:ln>
          </p:spPr>
          <p:txBody>
            <a:bodyPr wrap="square" lIns="0" tIns="0" rIns="0" bIns="0" rtlCol="0"/>
            <a:lstStyle/>
            <a:p>
              <a:pPr algn="just"/>
              <a:endParaRPr sz="1200"/>
            </a:p>
          </p:txBody>
        </p:sp>
        <p:sp>
          <p:nvSpPr>
            <p:cNvPr id="80" name="object 75"/>
            <p:cNvSpPr/>
            <p:nvPr/>
          </p:nvSpPr>
          <p:spPr>
            <a:xfrm>
              <a:off x="1273659" y="5405352"/>
              <a:ext cx="66675" cy="0"/>
            </a:xfrm>
            <a:custGeom>
              <a:avLst/>
              <a:gdLst/>
              <a:ahLst/>
              <a:cxnLst/>
              <a:rect l="l" t="t" r="r" b="b"/>
              <a:pathLst>
                <a:path w="66675">
                  <a:moveTo>
                    <a:pt x="0" y="0"/>
                  </a:moveTo>
                  <a:lnTo>
                    <a:pt x="66502" y="0"/>
                  </a:lnTo>
                </a:path>
              </a:pathLst>
            </a:custGeom>
            <a:ln w="6349">
              <a:solidFill>
                <a:srgbClr val="9B9B9B"/>
              </a:solidFill>
            </a:ln>
          </p:spPr>
          <p:txBody>
            <a:bodyPr wrap="square" lIns="0" tIns="0" rIns="0" bIns="0" rtlCol="0"/>
            <a:lstStyle/>
            <a:p>
              <a:pPr algn="just"/>
              <a:endParaRPr sz="1200"/>
            </a:p>
          </p:txBody>
        </p:sp>
        <p:sp>
          <p:nvSpPr>
            <p:cNvPr id="81" name="object 76"/>
            <p:cNvSpPr/>
            <p:nvPr/>
          </p:nvSpPr>
          <p:spPr>
            <a:xfrm>
              <a:off x="1273659" y="4907102"/>
              <a:ext cx="66675" cy="0"/>
            </a:xfrm>
            <a:custGeom>
              <a:avLst/>
              <a:gdLst/>
              <a:ahLst/>
              <a:cxnLst/>
              <a:rect l="l" t="t" r="r" b="b"/>
              <a:pathLst>
                <a:path w="66675">
                  <a:moveTo>
                    <a:pt x="0" y="0"/>
                  </a:moveTo>
                  <a:lnTo>
                    <a:pt x="66502" y="0"/>
                  </a:lnTo>
                </a:path>
              </a:pathLst>
            </a:custGeom>
            <a:ln w="6349">
              <a:solidFill>
                <a:srgbClr val="9B9B9B"/>
              </a:solidFill>
            </a:ln>
          </p:spPr>
          <p:txBody>
            <a:bodyPr wrap="square" lIns="0" tIns="0" rIns="0" bIns="0" rtlCol="0"/>
            <a:lstStyle/>
            <a:p>
              <a:pPr algn="just"/>
              <a:endParaRPr sz="1200"/>
            </a:p>
          </p:txBody>
        </p:sp>
        <p:sp>
          <p:nvSpPr>
            <p:cNvPr id="82" name="object 77"/>
            <p:cNvSpPr/>
            <p:nvPr/>
          </p:nvSpPr>
          <p:spPr>
            <a:xfrm>
              <a:off x="1273659" y="4412495"/>
              <a:ext cx="66675" cy="0"/>
            </a:xfrm>
            <a:custGeom>
              <a:avLst/>
              <a:gdLst/>
              <a:ahLst/>
              <a:cxnLst/>
              <a:rect l="l" t="t" r="r" b="b"/>
              <a:pathLst>
                <a:path w="66675">
                  <a:moveTo>
                    <a:pt x="0" y="0"/>
                  </a:moveTo>
                  <a:lnTo>
                    <a:pt x="66502" y="0"/>
                  </a:lnTo>
                </a:path>
              </a:pathLst>
            </a:custGeom>
            <a:ln w="6349">
              <a:solidFill>
                <a:srgbClr val="9B9B9B"/>
              </a:solidFill>
            </a:ln>
          </p:spPr>
          <p:txBody>
            <a:bodyPr wrap="square" lIns="0" tIns="0" rIns="0" bIns="0" rtlCol="0"/>
            <a:lstStyle/>
            <a:p>
              <a:pPr algn="just"/>
              <a:endParaRPr sz="1200"/>
            </a:p>
          </p:txBody>
        </p:sp>
        <p:sp>
          <p:nvSpPr>
            <p:cNvPr id="83" name="object 78"/>
            <p:cNvSpPr/>
            <p:nvPr/>
          </p:nvSpPr>
          <p:spPr>
            <a:xfrm>
              <a:off x="1273659" y="3913731"/>
              <a:ext cx="66675" cy="0"/>
            </a:xfrm>
            <a:custGeom>
              <a:avLst/>
              <a:gdLst/>
              <a:ahLst/>
              <a:cxnLst/>
              <a:rect l="l" t="t" r="r" b="b"/>
              <a:pathLst>
                <a:path w="66675">
                  <a:moveTo>
                    <a:pt x="0" y="0"/>
                  </a:moveTo>
                  <a:lnTo>
                    <a:pt x="66502" y="0"/>
                  </a:lnTo>
                </a:path>
              </a:pathLst>
            </a:custGeom>
            <a:ln w="6349">
              <a:solidFill>
                <a:srgbClr val="9B9B9B"/>
              </a:solidFill>
            </a:ln>
          </p:spPr>
          <p:txBody>
            <a:bodyPr wrap="square" lIns="0" tIns="0" rIns="0" bIns="0" rtlCol="0"/>
            <a:lstStyle/>
            <a:p>
              <a:pPr algn="just"/>
              <a:endParaRPr sz="1200"/>
            </a:p>
          </p:txBody>
        </p:sp>
        <p:sp>
          <p:nvSpPr>
            <p:cNvPr id="84" name="object 79"/>
            <p:cNvSpPr/>
            <p:nvPr/>
          </p:nvSpPr>
          <p:spPr>
            <a:xfrm>
              <a:off x="1273659" y="3419124"/>
              <a:ext cx="66675" cy="0"/>
            </a:xfrm>
            <a:custGeom>
              <a:avLst/>
              <a:gdLst/>
              <a:ahLst/>
              <a:cxnLst/>
              <a:rect l="l" t="t" r="r" b="b"/>
              <a:pathLst>
                <a:path w="66675">
                  <a:moveTo>
                    <a:pt x="0" y="0"/>
                  </a:moveTo>
                  <a:lnTo>
                    <a:pt x="66502" y="0"/>
                  </a:lnTo>
                </a:path>
              </a:pathLst>
            </a:custGeom>
            <a:ln w="6349">
              <a:solidFill>
                <a:srgbClr val="9B9B9B"/>
              </a:solidFill>
            </a:ln>
          </p:spPr>
          <p:txBody>
            <a:bodyPr wrap="square" lIns="0" tIns="0" rIns="0" bIns="0" rtlCol="0"/>
            <a:lstStyle/>
            <a:p>
              <a:pPr algn="just"/>
              <a:endParaRPr sz="1200"/>
            </a:p>
          </p:txBody>
        </p:sp>
        <p:sp>
          <p:nvSpPr>
            <p:cNvPr id="85" name="object 80"/>
            <p:cNvSpPr/>
            <p:nvPr/>
          </p:nvSpPr>
          <p:spPr>
            <a:xfrm>
              <a:off x="1273659" y="2920360"/>
              <a:ext cx="66675" cy="0"/>
            </a:xfrm>
            <a:custGeom>
              <a:avLst/>
              <a:gdLst/>
              <a:ahLst/>
              <a:cxnLst/>
              <a:rect l="l" t="t" r="r" b="b"/>
              <a:pathLst>
                <a:path w="66675">
                  <a:moveTo>
                    <a:pt x="0" y="0"/>
                  </a:moveTo>
                  <a:lnTo>
                    <a:pt x="66502" y="0"/>
                  </a:lnTo>
                </a:path>
              </a:pathLst>
            </a:custGeom>
            <a:ln w="6349">
              <a:solidFill>
                <a:srgbClr val="9B9B9B"/>
              </a:solidFill>
            </a:ln>
          </p:spPr>
          <p:txBody>
            <a:bodyPr wrap="square" lIns="0" tIns="0" rIns="0" bIns="0" rtlCol="0"/>
            <a:lstStyle/>
            <a:p>
              <a:pPr algn="just"/>
              <a:endParaRPr sz="1200"/>
            </a:p>
          </p:txBody>
        </p:sp>
        <p:sp>
          <p:nvSpPr>
            <p:cNvPr id="86" name="object 81"/>
            <p:cNvSpPr/>
            <p:nvPr/>
          </p:nvSpPr>
          <p:spPr>
            <a:xfrm>
              <a:off x="1273659" y="2425753"/>
              <a:ext cx="66675" cy="0"/>
            </a:xfrm>
            <a:custGeom>
              <a:avLst/>
              <a:gdLst/>
              <a:ahLst/>
              <a:cxnLst/>
              <a:rect l="l" t="t" r="r" b="b"/>
              <a:pathLst>
                <a:path w="66675">
                  <a:moveTo>
                    <a:pt x="0" y="0"/>
                  </a:moveTo>
                  <a:lnTo>
                    <a:pt x="66502" y="0"/>
                  </a:lnTo>
                </a:path>
              </a:pathLst>
            </a:custGeom>
            <a:ln w="6349">
              <a:solidFill>
                <a:srgbClr val="9B9B9B"/>
              </a:solidFill>
            </a:ln>
          </p:spPr>
          <p:txBody>
            <a:bodyPr wrap="square" lIns="0" tIns="0" rIns="0" bIns="0" rtlCol="0"/>
            <a:lstStyle/>
            <a:p>
              <a:pPr algn="just"/>
              <a:endParaRPr sz="1200"/>
            </a:p>
          </p:txBody>
        </p:sp>
        <p:sp>
          <p:nvSpPr>
            <p:cNvPr id="87" name="object 82"/>
            <p:cNvSpPr/>
            <p:nvPr/>
          </p:nvSpPr>
          <p:spPr>
            <a:xfrm>
              <a:off x="1342102" y="5405352"/>
              <a:ext cx="9678670" cy="0"/>
            </a:xfrm>
            <a:custGeom>
              <a:avLst/>
              <a:gdLst/>
              <a:ahLst/>
              <a:cxnLst/>
              <a:rect l="l" t="t" r="r" b="b"/>
              <a:pathLst>
                <a:path w="9678670">
                  <a:moveTo>
                    <a:pt x="0" y="0"/>
                  </a:moveTo>
                  <a:lnTo>
                    <a:pt x="9678670" y="0"/>
                  </a:lnTo>
                </a:path>
              </a:pathLst>
            </a:custGeom>
            <a:ln w="6349">
              <a:solidFill>
                <a:srgbClr val="9B9B9B"/>
              </a:solidFill>
            </a:ln>
          </p:spPr>
          <p:txBody>
            <a:bodyPr wrap="square" lIns="0" tIns="0" rIns="0" bIns="0" rtlCol="0"/>
            <a:lstStyle/>
            <a:p>
              <a:pPr algn="just"/>
              <a:endParaRPr sz="1200"/>
            </a:p>
          </p:txBody>
        </p:sp>
        <p:sp>
          <p:nvSpPr>
            <p:cNvPr id="88" name="object 83"/>
            <p:cNvSpPr/>
            <p:nvPr/>
          </p:nvSpPr>
          <p:spPr>
            <a:xfrm>
              <a:off x="1340161" y="5405866"/>
              <a:ext cx="0" cy="66675"/>
            </a:xfrm>
            <a:custGeom>
              <a:avLst/>
              <a:gdLst/>
              <a:ahLst/>
              <a:cxnLst/>
              <a:rect l="l" t="t" r="r" b="b"/>
              <a:pathLst>
                <a:path h="66675">
                  <a:moveTo>
                    <a:pt x="0" y="0"/>
                  </a:moveTo>
                  <a:lnTo>
                    <a:pt x="0" y="66500"/>
                  </a:lnTo>
                </a:path>
              </a:pathLst>
            </a:custGeom>
            <a:ln w="6349">
              <a:solidFill>
                <a:srgbClr val="9B9B9B"/>
              </a:solidFill>
            </a:ln>
          </p:spPr>
          <p:txBody>
            <a:bodyPr wrap="square" lIns="0" tIns="0" rIns="0" bIns="0" rtlCol="0"/>
            <a:lstStyle/>
            <a:p>
              <a:pPr algn="just"/>
              <a:endParaRPr sz="1200"/>
            </a:p>
          </p:txBody>
        </p:sp>
        <p:sp>
          <p:nvSpPr>
            <p:cNvPr id="89" name="object 84"/>
            <p:cNvSpPr/>
            <p:nvPr/>
          </p:nvSpPr>
          <p:spPr>
            <a:xfrm>
              <a:off x="2416659" y="5405866"/>
              <a:ext cx="0" cy="66675"/>
            </a:xfrm>
            <a:custGeom>
              <a:avLst/>
              <a:gdLst/>
              <a:ahLst/>
              <a:cxnLst/>
              <a:rect l="l" t="t" r="r" b="b"/>
              <a:pathLst>
                <a:path h="66675">
                  <a:moveTo>
                    <a:pt x="0" y="0"/>
                  </a:moveTo>
                  <a:lnTo>
                    <a:pt x="0" y="66500"/>
                  </a:lnTo>
                </a:path>
              </a:pathLst>
            </a:custGeom>
            <a:ln w="6349">
              <a:solidFill>
                <a:srgbClr val="9B9B9B"/>
              </a:solidFill>
            </a:ln>
          </p:spPr>
          <p:txBody>
            <a:bodyPr wrap="square" lIns="0" tIns="0" rIns="0" bIns="0" rtlCol="0"/>
            <a:lstStyle/>
            <a:p>
              <a:pPr algn="just"/>
              <a:endParaRPr sz="1200"/>
            </a:p>
          </p:txBody>
        </p:sp>
        <p:sp>
          <p:nvSpPr>
            <p:cNvPr id="90" name="object 85"/>
            <p:cNvSpPr/>
            <p:nvPr/>
          </p:nvSpPr>
          <p:spPr>
            <a:xfrm>
              <a:off x="3493157" y="5405866"/>
              <a:ext cx="0" cy="66675"/>
            </a:xfrm>
            <a:custGeom>
              <a:avLst/>
              <a:gdLst/>
              <a:ahLst/>
              <a:cxnLst/>
              <a:rect l="l" t="t" r="r" b="b"/>
              <a:pathLst>
                <a:path h="66675">
                  <a:moveTo>
                    <a:pt x="0" y="0"/>
                  </a:moveTo>
                  <a:lnTo>
                    <a:pt x="0" y="66500"/>
                  </a:lnTo>
                </a:path>
              </a:pathLst>
            </a:custGeom>
            <a:ln w="6349">
              <a:solidFill>
                <a:srgbClr val="9B9B9B"/>
              </a:solidFill>
            </a:ln>
          </p:spPr>
          <p:txBody>
            <a:bodyPr wrap="square" lIns="0" tIns="0" rIns="0" bIns="0" rtlCol="0"/>
            <a:lstStyle/>
            <a:p>
              <a:pPr algn="just"/>
              <a:endParaRPr sz="1200"/>
            </a:p>
          </p:txBody>
        </p:sp>
        <p:sp>
          <p:nvSpPr>
            <p:cNvPr id="91" name="object 86"/>
            <p:cNvSpPr/>
            <p:nvPr/>
          </p:nvSpPr>
          <p:spPr>
            <a:xfrm>
              <a:off x="4569655" y="5405866"/>
              <a:ext cx="0" cy="66675"/>
            </a:xfrm>
            <a:custGeom>
              <a:avLst/>
              <a:gdLst/>
              <a:ahLst/>
              <a:cxnLst/>
              <a:rect l="l" t="t" r="r" b="b"/>
              <a:pathLst>
                <a:path h="66675">
                  <a:moveTo>
                    <a:pt x="0" y="0"/>
                  </a:moveTo>
                  <a:lnTo>
                    <a:pt x="0" y="66500"/>
                  </a:lnTo>
                </a:path>
              </a:pathLst>
            </a:custGeom>
            <a:ln w="6349">
              <a:solidFill>
                <a:srgbClr val="9B9B9B"/>
              </a:solidFill>
            </a:ln>
          </p:spPr>
          <p:txBody>
            <a:bodyPr wrap="square" lIns="0" tIns="0" rIns="0" bIns="0" rtlCol="0"/>
            <a:lstStyle/>
            <a:p>
              <a:pPr algn="just"/>
              <a:endParaRPr sz="1200"/>
            </a:p>
          </p:txBody>
        </p:sp>
        <p:sp>
          <p:nvSpPr>
            <p:cNvPr id="92" name="object 87"/>
            <p:cNvSpPr/>
            <p:nvPr/>
          </p:nvSpPr>
          <p:spPr>
            <a:xfrm>
              <a:off x="5641997" y="5405866"/>
              <a:ext cx="0" cy="66675"/>
            </a:xfrm>
            <a:custGeom>
              <a:avLst/>
              <a:gdLst/>
              <a:ahLst/>
              <a:cxnLst/>
              <a:rect l="l" t="t" r="r" b="b"/>
              <a:pathLst>
                <a:path h="66675">
                  <a:moveTo>
                    <a:pt x="0" y="0"/>
                  </a:moveTo>
                  <a:lnTo>
                    <a:pt x="0" y="66500"/>
                  </a:lnTo>
                </a:path>
              </a:pathLst>
            </a:custGeom>
            <a:ln w="6349">
              <a:solidFill>
                <a:srgbClr val="9B9B9B"/>
              </a:solidFill>
            </a:ln>
          </p:spPr>
          <p:txBody>
            <a:bodyPr wrap="square" lIns="0" tIns="0" rIns="0" bIns="0" rtlCol="0"/>
            <a:lstStyle/>
            <a:p>
              <a:pPr algn="just"/>
              <a:endParaRPr sz="1200"/>
            </a:p>
          </p:txBody>
        </p:sp>
        <p:sp>
          <p:nvSpPr>
            <p:cNvPr id="93" name="object 88"/>
            <p:cNvSpPr/>
            <p:nvPr/>
          </p:nvSpPr>
          <p:spPr>
            <a:xfrm>
              <a:off x="6718494" y="5405866"/>
              <a:ext cx="0" cy="66675"/>
            </a:xfrm>
            <a:custGeom>
              <a:avLst/>
              <a:gdLst/>
              <a:ahLst/>
              <a:cxnLst/>
              <a:rect l="l" t="t" r="r" b="b"/>
              <a:pathLst>
                <a:path h="66675">
                  <a:moveTo>
                    <a:pt x="0" y="0"/>
                  </a:moveTo>
                  <a:lnTo>
                    <a:pt x="0" y="66500"/>
                  </a:lnTo>
                </a:path>
              </a:pathLst>
            </a:custGeom>
            <a:ln w="6349">
              <a:solidFill>
                <a:srgbClr val="9B9B9B"/>
              </a:solidFill>
            </a:ln>
          </p:spPr>
          <p:txBody>
            <a:bodyPr wrap="square" lIns="0" tIns="0" rIns="0" bIns="0" rtlCol="0"/>
            <a:lstStyle/>
            <a:p>
              <a:pPr algn="just"/>
              <a:endParaRPr sz="1200"/>
            </a:p>
          </p:txBody>
        </p:sp>
        <p:sp>
          <p:nvSpPr>
            <p:cNvPr id="94" name="object 89"/>
            <p:cNvSpPr/>
            <p:nvPr/>
          </p:nvSpPr>
          <p:spPr>
            <a:xfrm>
              <a:off x="7794992" y="5405866"/>
              <a:ext cx="0" cy="66675"/>
            </a:xfrm>
            <a:custGeom>
              <a:avLst/>
              <a:gdLst/>
              <a:ahLst/>
              <a:cxnLst/>
              <a:rect l="l" t="t" r="r" b="b"/>
              <a:pathLst>
                <a:path h="66675">
                  <a:moveTo>
                    <a:pt x="0" y="0"/>
                  </a:moveTo>
                  <a:lnTo>
                    <a:pt x="0" y="66500"/>
                  </a:lnTo>
                </a:path>
              </a:pathLst>
            </a:custGeom>
            <a:ln w="6349">
              <a:solidFill>
                <a:srgbClr val="9B9B9B"/>
              </a:solidFill>
            </a:ln>
          </p:spPr>
          <p:txBody>
            <a:bodyPr wrap="square" lIns="0" tIns="0" rIns="0" bIns="0" rtlCol="0"/>
            <a:lstStyle/>
            <a:p>
              <a:pPr algn="just"/>
              <a:endParaRPr sz="1200"/>
            </a:p>
          </p:txBody>
        </p:sp>
        <p:sp>
          <p:nvSpPr>
            <p:cNvPr id="95" name="object 90"/>
            <p:cNvSpPr/>
            <p:nvPr/>
          </p:nvSpPr>
          <p:spPr>
            <a:xfrm>
              <a:off x="8871492" y="5405866"/>
              <a:ext cx="0" cy="66675"/>
            </a:xfrm>
            <a:custGeom>
              <a:avLst/>
              <a:gdLst/>
              <a:ahLst/>
              <a:cxnLst/>
              <a:rect l="l" t="t" r="r" b="b"/>
              <a:pathLst>
                <a:path h="66675">
                  <a:moveTo>
                    <a:pt x="0" y="0"/>
                  </a:moveTo>
                  <a:lnTo>
                    <a:pt x="0" y="66500"/>
                  </a:lnTo>
                </a:path>
              </a:pathLst>
            </a:custGeom>
            <a:ln w="6349">
              <a:solidFill>
                <a:srgbClr val="9B9B9B"/>
              </a:solidFill>
            </a:ln>
          </p:spPr>
          <p:txBody>
            <a:bodyPr wrap="square" lIns="0" tIns="0" rIns="0" bIns="0" rtlCol="0"/>
            <a:lstStyle/>
            <a:p>
              <a:pPr algn="just"/>
              <a:endParaRPr sz="1200"/>
            </a:p>
          </p:txBody>
        </p:sp>
        <p:sp>
          <p:nvSpPr>
            <p:cNvPr id="96" name="object 91"/>
            <p:cNvSpPr/>
            <p:nvPr/>
          </p:nvSpPr>
          <p:spPr>
            <a:xfrm>
              <a:off x="9943832" y="5405866"/>
              <a:ext cx="0" cy="66675"/>
            </a:xfrm>
            <a:custGeom>
              <a:avLst/>
              <a:gdLst/>
              <a:ahLst/>
              <a:cxnLst/>
              <a:rect l="l" t="t" r="r" b="b"/>
              <a:pathLst>
                <a:path h="66675">
                  <a:moveTo>
                    <a:pt x="0" y="0"/>
                  </a:moveTo>
                  <a:lnTo>
                    <a:pt x="0" y="66500"/>
                  </a:lnTo>
                </a:path>
              </a:pathLst>
            </a:custGeom>
            <a:ln w="6349">
              <a:solidFill>
                <a:srgbClr val="9B9B9B"/>
              </a:solidFill>
            </a:ln>
          </p:spPr>
          <p:txBody>
            <a:bodyPr wrap="square" lIns="0" tIns="0" rIns="0" bIns="0" rtlCol="0"/>
            <a:lstStyle/>
            <a:p>
              <a:pPr algn="just"/>
              <a:endParaRPr sz="1200"/>
            </a:p>
          </p:txBody>
        </p:sp>
        <p:sp>
          <p:nvSpPr>
            <p:cNvPr id="97" name="object 92"/>
            <p:cNvSpPr/>
            <p:nvPr/>
          </p:nvSpPr>
          <p:spPr>
            <a:xfrm>
              <a:off x="11020331" y="5405866"/>
              <a:ext cx="0" cy="66675"/>
            </a:xfrm>
            <a:custGeom>
              <a:avLst/>
              <a:gdLst/>
              <a:ahLst/>
              <a:cxnLst/>
              <a:rect l="l" t="t" r="r" b="b"/>
              <a:pathLst>
                <a:path h="66675">
                  <a:moveTo>
                    <a:pt x="0" y="0"/>
                  </a:moveTo>
                  <a:lnTo>
                    <a:pt x="0" y="66500"/>
                  </a:lnTo>
                </a:path>
              </a:pathLst>
            </a:custGeom>
            <a:ln w="6349">
              <a:solidFill>
                <a:srgbClr val="9B9B9B"/>
              </a:solidFill>
            </a:ln>
          </p:spPr>
          <p:txBody>
            <a:bodyPr wrap="square" lIns="0" tIns="0" rIns="0" bIns="0" rtlCol="0"/>
            <a:lstStyle/>
            <a:p>
              <a:pPr algn="just"/>
              <a:endParaRPr sz="1200"/>
            </a:p>
          </p:txBody>
        </p:sp>
        <p:sp>
          <p:nvSpPr>
            <p:cNvPr id="98" name="object 93"/>
            <p:cNvSpPr txBox="1"/>
            <p:nvPr/>
          </p:nvSpPr>
          <p:spPr>
            <a:xfrm>
              <a:off x="675271" y="2273839"/>
              <a:ext cx="483234" cy="3031830"/>
            </a:xfrm>
            <a:prstGeom prst="rect">
              <a:avLst/>
            </a:prstGeom>
          </p:spPr>
          <p:txBody>
            <a:bodyPr vert="horz" wrap="square" lIns="0" tIns="12700" rIns="0" bIns="0" rtlCol="0">
              <a:spAutoFit/>
            </a:bodyPr>
            <a:lstStyle/>
            <a:p>
              <a:pPr marL="12700" algn="just">
                <a:lnSpc>
                  <a:spcPct val="100000"/>
                </a:lnSpc>
                <a:spcBef>
                  <a:spcPts val="100"/>
                </a:spcBef>
              </a:pPr>
              <a:r>
                <a:rPr sz="1200" spc="-5" dirty="0">
                  <a:latin typeface="Arial" panose="020B0604020202020204"/>
                  <a:cs typeface="Arial" panose="020B0604020202020204"/>
                </a:rPr>
                <a:t>60%</a:t>
              </a:r>
              <a:endParaRPr sz="1200">
                <a:latin typeface="Arial" panose="020B0604020202020204"/>
                <a:cs typeface="Arial" panose="020B0604020202020204"/>
              </a:endParaRPr>
            </a:p>
            <a:p>
              <a:pPr marL="12700" algn="just">
                <a:lnSpc>
                  <a:spcPct val="100000"/>
                </a:lnSpc>
                <a:spcBef>
                  <a:spcPts val="1750"/>
                </a:spcBef>
              </a:pPr>
              <a:r>
                <a:rPr sz="1200" spc="-5" dirty="0">
                  <a:latin typeface="Arial" panose="020B0604020202020204"/>
                  <a:cs typeface="Arial" panose="020B0604020202020204"/>
                </a:rPr>
                <a:t>50%</a:t>
              </a:r>
              <a:endParaRPr sz="1200">
                <a:latin typeface="Arial" panose="020B0604020202020204"/>
                <a:cs typeface="Arial" panose="020B0604020202020204"/>
              </a:endParaRPr>
            </a:p>
            <a:p>
              <a:pPr marL="12700" algn="just">
                <a:lnSpc>
                  <a:spcPct val="100000"/>
                </a:lnSpc>
                <a:spcBef>
                  <a:spcPts val="1755"/>
                </a:spcBef>
              </a:pPr>
              <a:r>
                <a:rPr sz="1200" spc="-5" dirty="0">
                  <a:latin typeface="Arial" panose="020B0604020202020204"/>
                  <a:cs typeface="Arial" panose="020B0604020202020204"/>
                </a:rPr>
                <a:t>40%</a:t>
              </a:r>
              <a:endParaRPr sz="1200">
                <a:latin typeface="Arial" panose="020B0604020202020204"/>
                <a:cs typeface="Arial" panose="020B0604020202020204"/>
              </a:endParaRPr>
            </a:p>
            <a:p>
              <a:pPr marL="12700" algn="just">
                <a:lnSpc>
                  <a:spcPct val="100000"/>
                </a:lnSpc>
                <a:spcBef>
                  <a:spcPts val="1750"/>
                </a:spcBef>
              </a:pPr>
              <a:r>
                <a:rPr sz="1200" spc="-5" dirty="0">
                  <a:latin typeface="Arial" panose="020B0604020202020204"/>
                  <a:cs typeface="Arial" panose="020B0604020202020204"/>
                </a:rPr>
                <a:t>30%</a:t>
              </a:r>
              <a:endParaRPr sz="1200">
                <a:latin typeface="Arial" panose="020B0604020202020204"/>
                <a:cs typeface="Arial" panose="020B0604020202020204"/>
              </a:endParaRPr>
            </a:p>
            <a:p>
              <a:pPr marL="12700" algn="just">
                <a:lnSpc>
                  <a:spcPct val="100000"/>
                </a:lnSpc>
                <a:spcBef>
                  <a:spcPts val="1755"/>
                </a:spcBef>
              </a:pPr>
              <a:r>
                <a:rPr sz="1200" spc="-5" dirty="0">
                  <a:latin typeface="Arial" panose="020B0604020202020204"/>
                  <a:cs typeface="Arial" panose="020B0604020202020204"/>
                </a:rPr>
                <a:t>20%</a:t>
              </a:r>
              <a:endParaRPr sz="1200">
                <a:latin typeface="Arial" panose="020B0604020202020204"/>
                <a:cs typeface="Arial" panose="020B0604020202020204"/>
              </a:endParaRPr>
            </a:p>
            <a:p>
              <a:pPr marL="12700" algn="just">
                <a:lnSpc>
                  <a:spcPct val="100000"/>
                </a:lnSpc>
                <a:spcBef>
                  <a:spcPts val="1755"/>
                </a:spcBef>
              </a:pPr>
              <a:r>
                <a:rPr sz="1200" spc="-5" dirty="0">
                  <a:latin typeface="Arial" panose="020B0604020202020204"/>
                  <a:cs typeface="Arial" panose="020B0604020202020204"/>
                </a:rPr>
                <a:t>10%</a:t>
              </a:r>
              <a:endParaRPr sz="1200">
                <a:latin typeface="Arial" panose="020B0604020202020204"/>
                <a:cs typeface="Arial" panose="020B0604020202020204"/>
              </a:endParaRPr>
            </a:p>
            <a:p>
              <a:pPr marL="139700" algn="just">
                <a:lnSpc>
                  <a:spcPct val="100000"/>
                </a:lnSpc>
                <a:spcBef>
                  <a:spcPts val="1750"/>
                </a:spcBef>
              </a:pPr>
              <a:r>
                <a:rPr sz="1200" spc="-5" dirty="0">
                  <a:latin typeface="Arial" panose="020B0604020202020204"/>
                  <a:cs typeface="Arial" panose="020B0604020202020204"/>
                </a:rPr>
                <a:t>0%</a:t>
              </a:r>
              <a:endParaRPr sz="1200">
                <a:latin typeface="Arial" panose="020B0604020202020204"/>
                <a:cs typeface="Arial" panose="020B0604020202020204"/>
              </a:endParaRPr>
            </a:p>
          </p:txBody>
        </p:sp>
        <p:sp>
          <p:nvSpPr>
            <p:cNvPr id="99" name="object 94"/>
            <p:cNvSpPr/>
            <p:nvPr/>
          </p:nvSpPr>
          <p:spPr>
            <a:xfrm>
              <a:off x="1395607" y="5996522"/>
              <a:ext cx="125730" cy="125730"/>
            </a:xfrm>
            <a:custGeom>
              <a:avLst/>
              <a:gdLst/>
              <a:ahLst/>
              <a:cxnLst/>
              <a:rect l="l" t="t" r="r" b="b"/>
              <a:pathLst>
                <a:path w="125730" h="125729">
                  <a:moveTo>
                    <a:pt x="0" y="0"/>
                  </a:moveTo>
                  <a:lnTo>
                    <a:pt x="125530" y="0"/>
                  </a:lnTo>
                  <a:lnTo>
                    <a:pt x="125530" y="125530"/>
                  </a:lnTo>
                  <a:lnTo>
                    <a:pt x="0" y="125530"/>
                  </a:lnTo>
                  <a:lnTo>
                    <a:pt x="0" y="0"/>
                  </a:lnTo>
                  <a:close/>
                </a:path>
              </a:pathLst>
            </a:custGeom>
            <a:solidFill>
              <a:srgbClr val="B7D89F"/>
            </a:solidFill>
          </p:spPr>
          <p:txBody>
            <a:bodyPr wrap="square" lIns="0" tIns="0" rIns="0" bIns="0" rtlCol="0"/>
            <a:lstStyle/>
            <a:p>
              <a:pPr algn="just"/>
              <a:endParaRPr sz="1200"/>
            </a:p>
          </p:txBody>
        </p:sp>
        <p:sp>
          <p:nvSpPr>
            <p:cNvPr id="100" name="object 95"/>
            <p:cNvSpPr txBox="1"/>
            <p:nvPr/>
          </p:nvSpPr>
          <p:spPr>
            <a:xfrm>
              <a:off x="1576361" y="5530574"/>
              <a:ext cx="2768600" cy="638737"/>
            </a:xfrm>
            <a:prstGeom prst="rect">
              <a:avLst/>
            </a:prstGeom>
          </p:spPr>
          <p:txBody>
            <a:bodyPr vert="horz" wrap="square" lIns="0" tIns="12700" rIns="0" bIns="0" rtlCol="0">
              <a:spAutoFit/>
            </a:bodyPr>
            <a:lstStyle/>
            <a:p>
              <a:pPr marL="48895" algn="just">
                <a:lnSpc>
                  <a:spcPct val="100000"/>
                </a:lnSpc>
                <a:spcBef>
                  <a:spcPts val="100"/>
                </a:spcBef>
                <a:tabLst>
                  <a:tab pos="1123950" algn="l"/>
                  <a:tab pos="2199640" algn="l"/>
                </a:tabLst>
              </a:pPr>
              <a:r>
                <a:rPr sz="1200" spc="-5" dirty="0">
                  <a:latin typeface="Arial" panose="020B0604020202020204"/>
                  <a:cs typeface="Arial" panose="020B0604020202020204"/>
                </a:rPr>
                <a:t>1994	1996	1998</a:t>
              </a:r>
              <a:endParaRPr sz="1200">
                <a:latin typeface="Arial" panose="020B0604020202020204"/>
                <a:cs typeface="Arial" panose="020B0604020202020204"/>
              </a:endParaRPr>
            </a:p>
            <a:p>
              <a:pPr algn="just">
                <a:lnSpc>
                  <a:spcPct val="100000"/>
                </a:lnSpc>
                <a:spcBef>
                  <a:spcPts val="10"/>
                </a:spcBef>
              </a:pPr>
              <a:endParaRPr sz="1200">
                <a:latin typeface="Times New Roman" panose="02020603050405020304"/>
                <a:cs typeface="Times New Roman" panose="02020603050405020304"/>
              </a:endParaRPr>
            </a:p>
            <a:p>
              <a:pPr marL="12700" algn="just">
                <a:lnSpc>
                  <a:spcPct val="100000"/>
                </a:lnSpc>
              </a:pPr>
              <a:r>
                <a:rPr sz="1200" dirty="0">
                  <a:latin typeface="微软雅黑" panose="020B0503020204020204" pitchFamily="34" charset="-122"/>
                  <a:cs typeface="微软雅黑" panose="020B0503020204020204" pitchFamily="34" charset="-122"/>
                </a:rPr>
                <a:t>按时完成并在预算内的项目</a:t>
              </a:r>
              <a:endParaRPr sz="1200">
                <a:latin typeface="微软雅黑" panose="020B0503020204020204" pitchFamily="34" charset="-122"/>
                <a:cs typeface="微软雅黑" panose="020B0503020204020204" pitchFamily="34" charset="-122"/>
              </a:endParaRPr>
            </a:p>
          </p:txBody>
        </p:sp>
        <p:sp>
          <p:nvSpPr>
            <p:cNvPr id="101" name="object 96"/>
            <p:cNvSpPr/>
            <p:nvPr/>
          </p:nvSpPr>
          <p:spPr>
            <a:xfrm>
              <a:off x="4521328" y="5996522"/>
              <a:ext cx="125730" cy="125730"/>
            </a:xfrm>
            <a:custGeom>
              <a:avLst/>
              <a:gdLst/>
              <a:ahLst/>
              <a:cxnLst/>
              <a:rect l="l" t="t" r="r" b="b"/>
              <a:pathLst>
                <a:path w="125729" h="125729">
                  <a:moveTo>
                    <a:pt x="0" y="0"/>
                  </a:moveTo>
                  <a:lnTo>
                    <a:pt x="125529" y="0"/>
                  </a:lnTo>
                  <a:lnTo>
                    <a:pt x="125529" y="125530"/>
                  </a:lnTo>
                  <a:lnTo>
                    <a:pt x="0" y="125530"/>
                  </a:lnTo>
                  <a:lnTo>
                    <a:pt x="0" y="0"/>
                  </a:lnTo>
                  <a:close/>
                </a:path>
              </a:pathLst>
            </a:custGeom>
            <a:solidFill>
              <a:srgbClr val="6CACDD"/>
            </a:solidFill>
          </p:spPr>
          <p:txBody>
            <a:bodyPr wrap="square" lIns="0" tIns="0" rIns="0" bIns="0" rtlCol="0"/>
            <a:lstStyle/>
            <a:p>
              <a:pPr algn="just"/>
              <a:endParaRPr sz="1200"/>
            </a:p>
          </p:txBody>
        </p:sp>
        <p:sp>
          <p:nvSpPr>
            <p:cNvPr id="102" name="object 97"/>
            <p:cNvSpPr txBox="1"/>
            <p:nvPr/>
          </p:nvSpPr>
          <p:spPr>
            <a:xfrm>
              <a:off x="4712869" y="5530575"/>
              <a:ext cx="3886835" cy="638736"/>
            </a:xfrm>
            <a:prstGeom prst="rect">
              <a:avLst/>
            </a:prstGeom>
          </p:spPr>
          <p:txBody>
            <a:bodyPr vert="horz" wrap="square" lIns="0" tIns="12700" rIns="0" bIns="0" rtlCol="0">
              <a:spAutoFit/>
            </a:bodyPr>
            <a:lstStyle/>
            <a:p>
              <a:pPr marL="138430" algn="just">
                <a:lnSpc>
                  <a:spcPct val="100000"/>
                </a:lnSpc>
                <a:spcBef>
                  <a:spcPts val="100"/>
                </a:spcBef>
                <a:tabLst>
                  <a:tab pos="1214120" algn="l"/>
                  <a:tab pos="2289175" algn="l"/>
                  <a:tab pos="3364865" algn="l"/>
                </a:tabLst>
              </a:pPr>
              <a:r>
                <a:rPr sz="1200" spc="-5" dirty="0">
                  <a:latin typeface="Arial" panose="020B0604020202020204"/>
                  <a:cs typeface="Arial" panose="020B0604020202020204"/>
                </a:rPr>
                <a:t>200</a:t>
              </a:r>
              <a:r>
                <a:rPr sz="1200" dirty="0">
                  <a:latin typeface="Arial" panose="020B0604020202020204"/>
                  <a:cs typeface="Arial" panose="020B0604020202020204"/>
                </a:rPr>
                <a:t>0	</a:t>
              </a:r>
              <a:r>
                <a:rPr sz="1200" spc="-5" dirty="0">
                  <a:latin typeface="Arial" panose="020B0604020202020204"/>
                  <a:cs typeface="Arial" panose="020B0604020202020204"/>
                </a:rPr>
                <a:t>200</a:t>
              </a:r>
              <a:r>
                <a:rPr sz="1200" dirty="0">
                  <a:latin typeface="Arial" panose="020B0604020202020204"/>
                  <a:cs typeface="Arial" panose="020B0604020202020204"/>
                </a:rPr>
                <a:t>2	</a:t>
              </a:r>
              <a:r>
                <a:rPr sz="1200" spc="-5" dirty="0">
                  <a:latin typeface="Arial" panose="020B0604020202020204"/>
                  <a:cs typeface="Arial" panose="020B0604020202020204"/>
                </a:rPr>
                <a:t>200</a:t>
              </a:r>
              <a:r>
                <a:rPr sz="1200" dirty="0">
                  <a:latin typeface="Arial" panose="020B0604020202020204"/>
                  <a:cs typeface="Arial" panose="020B0604020202020204"/>
                </a:rPr>
                <a:t>4	</a:t>
              </a:r>
              <a:r>
                <a:rPr sz="1200" spc="-5" dirty="0">
                  <a:latin typeface="Arial" panose="020B0604020202020204"/>
                  <a:cs typeface="Arial" panose="020B0604020202020204"/>
                </a:rPr>
                <a:t>2006</a:t>
              </a:r>
              <a:endParaRPr sz="1200">
                <a:latin typeface="Arial" panose="020B0604020202020204"/>
                <a:cs typeface="Arial" panose="020B0604020202020204"/>
              </a:endParaRPr>
            </a:p>
            <a:p>
              <a:pPr algn="just">
                <a:lnSpc>
                  <a:spcPct val="100000"/>
                </a:lnSpc>
                <a:spcBef>
                  <a:spcPts val="10"/>
                </a:spcBef>
              </a:pPr>
              <a:endParaRPr sz="1200">
                <a:latin typeface="Times New Roman" panose="02020603050405020304"/>
                <a:cs typeface="Times New Roman" panose="02020603050405020304"/>
              </a:endParaRPr>
            </a:p>
            <a:p>
              <a:pPr marL="12700" algn="just">
                <a:lnSpc>
                  <a:spcPct val="100000"/>
                </a:lnSpc>
              </a:pPr>
              <a:r>
                <a:rPr sz="1200" dirty="0">
                  <a:latin typeface="微软雅黑" panose="020B0503020204020204" pitchFamily="34" charset="-122"/>
                  <a:cs typeface="微软雅黑" panose="020B0503020204020204" pitchFamily="34" charset="-122"/>
                </a:rPr>
                <a:t>推迟、超过预算或特性有缺陷的项目</a:t>
              </a:r>
              <a:endParaRPr sz="1200">
                <a:latin typeface="微软雅黑" panose="020B0503020204020204" pitchFamily="34" charset="-122"/>
                <a:cs typeface="微软雅黑" panose="020B0503020204020204" pitchFamily="34" charset="-122"/>
              </a:endParaRPr>
            </a:p>
          </p:txBody>
        </p:sp>
        <p:sp>
          <p:nvSpPr>
            <p:cNvPr id="103" name="object 98"/>
            <p:cNvSpPr/>
            <p:nvPr/>
          </p:nvSpPr>
          <p:spPr>
            <a:xfrm>
              <a:off x="8588954" y="5996522"/>
              <a:ext cx="125730" cy="125730"/>
            </a:xfrm>
            <a:custGeom>
              <a:avLst/>
              <a:gdLst/>
              <a:ahLst/>
              <a:cxnLst/>
              <a:rect l="l" t="t" r="r" b="b"/>
              <a:pathLst>
                <a:path w="125729" h="125729">
                  <a:moveTo>
                    <a:pt x="0" y="0"/>
                  </a:moveTo>
                  <a:lnTo>
                    <a:pt x="125529" y="0"/>
                  </a:lnTo>
                  <a:lnTo>
                    <a:pt x="125529" y="125530"/>
                  </a:lnTo>
                  <a:lnTo>
                    <a:pt x="0" y="125530"/>
                  </a:lnTo>
                  <a:lnTo>
                    <a:pt x="0" y="0"/>
                  </a:lnTo>
                  <a:close/>
                </a:path>
              </a:pathLst>
            </a:custGeom>
            <a:solidFill>
              <a:srgbClr val="D84942"/>
            </a:solidFill>
          </p:spPr>
          <p:txBody>
            <a:bodyPr wrap="square" lIns="0" tIns="0" rIns="0" bIns="0" rtlCol="0"/>
            <a:lstStyle/>
            <a:p>
              <a:pPr algn="just"/>
              <a:endParaRPr sz="1200"/>
            </a:p>
          </p:txBody>
        </p:sp>
        <p:sp>
          <p:nvSpPr>
            <p:cNvPr id="104" name="object 99"/>
            <p:cNvSpPr txBox="1"/>
            <p:nvPr/>
          </p:nvSpPr>
          <p:spPr>
            <a:xfrm>
              <a:off x="8763777" y="5530575"/>
              <a:ext cx="1986280" cy="638736"/>
            </a:xfrm>
            <a:prstGeom prst="rect">
              <a:avLst/>
            </a:prstGeom>
          </p:spPr>
          <p:txBody>
            <a:bodyPr vert="horz" wrap="square" lIns="0" tIns="12700" rIns="0" bIns="0" rtlCol="0">
              <a:spAutoFit/>
            </a:bodyPr>
            <a:lstStyle/>
            <a:p>
              <a:pPr marL="389255" algn="just">
                <a:lnSpc>
                  <a:spcPct val="100000"/>
                </a:lnSpc>
                <a:spcBef>
                  <a:spcPts val="100"/>
                </a:spcBef>
                <a:tabLst>
                  <a:tab pos="1464945" algn="l"/>
                </a:tabLst>
              </a:pPr>
              <a:r>
                <a:rPr sz="1200" spc="-5" dirty="0">
                  <a:latin typeface="Arial" panose="020B0604020202020204"/>
                  <a:cs typeface="Arial" panose="020B0604020202020204"/>
                </a:rPr>
                <a:t>200</a:t>
              </a:r>
              <a:r>
                <a:rPr sz="1200" dirty="0">
                  <a:latin typeface="Arial" panose="020B0604020202020204"/>
                  <a:cs typeface="Arial" panose="020B0604020202020204"/>
                </a:rPr>
                <a:t>8	</a:t>
              </a:r>
              <a:r>
                <a:rPr sz="1200" spc="-5" dirty="0">
                  <a:latin typeface="Arial" panose="020B0604020202020204"/>
                  <a:cs typeface="Arial" panose="020B0604020202020204"/>
                </a:rPr>
                <a:t>2010</a:t>
              </a:r>
              <a:endParaRPr sz="1200">
                <a:latin typeface="Arial" panose="020B0604020202020204"/>
                <a:cs typeface="Arial" panose="020B0604020202020204"/>
              </a:endParaRPr>
            </a:p>
            <a:p>
              <a:pPr algn="just">
                <a:lnSpc>
                  <a:spcPct val="100000"/>
                </a:lnSpc>
                <a:spcBef>
                  <a:spcPts val="10"/>
                </a:spcBef>
              </a:pPr>
              <a:endParaRPr sz="1200">
                <a:latin typeface="Times New Roman" panose="02020603050405020304"/>
                <a:cs typeface="Times New Roman" panose="02020603050405020304"/>
              </a:endParaRPr>
            </a:p>
            <a:p>
              <a:pPr marL="12700" algn="just">
                <a:lnSpc>
                  <a:spcPct val="100000"/>
                </a:lnSpc>
              </a:pPr>
              <a:r>
                <a:rPr sz="1200" dirty="0">
                  <a:latin typeface="微软雅黑" panose="020B0503020204020204" pitchFamily="34" charset="-122"/>
                  <a:cs typeface="微软雅黑" panose="020B0503020204020204" pitchFamily="34" charset="-122"/>
                </a:rPr>
                <a:t>完成前取消的项目</a:t>
              </a:r>
              <a:endParaRPr sz="1200">
                <a:latin typeface="微软雅黑" panose="020B0503020204020204" pitchFamily="34" charset="-122"/>
                <a:cs typeface="微软雅黑" panose="020B0503020204020204" pitchFamily="34" charset="-122"/>
              </a:endParaRPr>
            </a:p>
          </p:txBody>
        </p:sp>
      </p:grpSp>
      <p:sp>
        <p:nvSpPr>
          <p:cNvPr id="105" name="灯片编号占位符 104"/>
          <p:cNvSpPr>
            <a:spLocks noGrp="1"/>
          </p:cNvSpPr>
          <p:nvPr>
            <p:ph type="sldNum" sz="quarter" idx="12"/>
          </p:nvPr>
        </p:nvSpPr>
        <p:spPr/>
        <p:txBody>
          <a:bodyPr/>
          <a:lstStyle/>
          <a:p>
            <a:fld id="{74D2AB8B-5816-41F2-8B4B-CA5C3E4E6A65}" type="slidenum">
              <a:rPr lang="zh-CN" altLang="en-US" smtClean="0"/>
              <a:t>52</a:t>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软件开发面临的挑战（二）</a:t>
            </a:r>
          </a:p>
        </p:txBody>
      </p:sp>
      <p:sp>
        <p:nvSpPr>
          <p:cNvPr id="3" name="内容占位符 2"/>
          <p:cNvSpPr>
            <a:spLocks noGrp="1"/>
          </p:cNvSpPr>
          <p:nvPr>
            <p:ph idx="1"/>
          </p:nvPr>
        </p:nvSpPr>
        <p:spPr/>
        <p:txBody>
          <a:bodyPr>
            <a:normAutofit lnSpcReduction="10000"/>
          </a:bodyPr>
          <a:lstStyle/>
          <a:p>
            <a:pPr marL="0" indent="0" algn="just">
              <a:buNone/>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0" indent="0" algn="just">
              <a:buNone/>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0" indent="0" algn="just">
              <a:buNone/>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0" indent="0" algn="just">
              <a:buNone/>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0" indent="0" algn="just">
              <a:buNone/>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0" indent="0" algn="just">
              <a:buNone/>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0" indent="0" algn="just">
              <a:buNone/>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0" indent="0" algn="just">
              <a:buNone/>
            </a:pP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0" indent="0" algn="ctr">
              <a:buNone/>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复杂性导致软件系统逐渐变得晦涩难懂、难以维护。</a:t>
            </a: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0" indent="0" algn="ctr">
              <a:buNone/>
            </a:pPr>
            <a:r>
              <a:rPr lang="en-US" altLang="zh-CN" sz="24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Complex =&gt; Complicated?</a:t>
            </a:r>
          </a:p>
        </p:txBody>
      </p:sp>
      <p:pic>
        <p:nvPicPr>
          <p:cNvPr id="105"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03310" y="1819676"/>
            <a:ext cx="4585380" cy="321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p:cNvSpPr>
            <a:spLocks noGrp="1"/>
          </p:cNvSpPr>
          <p:nvPr>
            <p:ph type="sldNum" sz="quarter" idx="12"/>
          </p:nvPr>
        </p:nvSpPr>
        <p:spPr/>
        <p:txBody>
          <a:bodyPr/>
          <a:lstStyle/>
          <a:p>
            <a:fld id="{74D2AB8B-5816-41F2-8B4B-CA5C3E4E6A65}" type="slidenum">
              <a:rPr lang="zh-CN" altLang="en-US" smtClean="0"/>
              <a:t>53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软件开发面临的挑战（三）</a:t>
            </a:r>
            <a:endParaRPr lang="zh-CN" altLang="en-US" dirty="0"/>
          </a:p>
        </p:txBody>
      </p:sp>
      <p:sp>
        <p:nvSpPr>
          <p:cNvPr id="4" name="object 3"/>
          <p:cNvSpPr txBox="1"/>
          <p:nvPr/>
        </p:nvSpPr>
        <p:spPr>
          <a:xfrm>
            <a:off x="1489203" y="1412980"/>
            <a:ext cx="9003030" cy="965200"/>
          </a:xfrm>
          <a:prstGeom prst="rect">
            <a:avLst/>
          </a:prstGeom>
        </p:spPr>
        <p:txBody>
          <a:bodyPr vert="horz" wrap="square" lIns="0" tIns="116840" rIns="0" bIns="0" rtlCol="0">
            <a:spAutoFit/>
          </a:bodyPr>
          <a:lstStyle/>
          <a:p>
            <a:pPr marL="455295" indent="-443230" algn="just">
              <a:lnSpc>
                <a:spcPct val="100000"/>
              </a:lnSpc>
              <a:spcBef>
                <a:spcPts val="920"/>
              </a:spcBef>
              <a:buFont typeface="Arial" panose="020B0604020202020204"/>
              <a:buChar char="•"/>
              <a:tabLst>
                <a:tab pos="455295" algn="l"/>
                <a:tab pos="455930" algn="l"/>
              </a:tabLst>
            </a:pPr>
            <a:r>
              <a:rPr sz="2400" dirty="0">
                <a:latin typeface="微软雅黑" panose="020B0503020204020204" pitchFamily="34" charset="-122"/>
                <a:cs typeface="微软雅黑" panose="020B0503020204020204" pitchFamily="34" charset="-122"/>
              </a:rPr>
              <a:t>人们总是认为软件是容易修改的，但忽视了修改所带来的副作用</a:t>
            </a:r>
          </a:p>
          <a:p>
            <a:pPr marL="455295" indent="-443230" algn="just">
              <a:lnSpc>
                <a:spcPct val="100000"/>
              </a:lnSpc>
              <a:spcBef>
                <a:spcPts val="820"/>
              </a:spcBef>
              <a:buFont typeface="Arial" panose="020B0604020202020204"/>
              <a:buChar char="•"/>
              <a:tabLst>
                <a:tab pos="455295" algn="l"/>
                <a:tab pos="455930" algn="l"/>
              </a:tabLst>
            </a:pPr>
            <a:r>
              <a:rPr sz="2400" dirty="0" err="1">
                <a:latin typeface="微软雅黑" panose="020B0503020204020204" pitchFamily="34" charset="-122"/>
                <a:cs typeface="微软雅黑" panose="020B0503020204020204" pitchFamily="34" charset="-122"/>
              </a:rPr>
              <a:t>不断的修改</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可能</a:t>
            </a:r>
            <a:r>
              <a:rPr sz="2400" dirty="0" err="1">
                <a:latin typeface="微软雅黑" panose="020B0503020204020204" pitchFamily="34" charset="-122"/>
                <a:cs typeface="微软雅黑" panose="020B0503020204020204" pitchFamily="34" charset="-122"/>
              </a:rPr>
              <a:t>导致软件的退化，从而</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提前</a:t>
            </a:r>
            <a:r>
              <a:rPr sz="2400" dirty="0" err="1">
                <a:latin typeface="微软雅黑" panose="020B0503020204020204" pitchFamily="34" charset="-122"/>
                <a:cs typeface="微软雅黑" panose="020B0503020204020204" pitchFamily="34" charset="-122"/>
              </a:rPr>
              <a:t>结束其生命周期</a:t>
            </a:r>
            <a:endParaRPr sz="2400" dirty="0">
              <a:latin typeface="微软雅黑" panose="020B0503020204020204" pitchFamily="34" charset="-122"/>
              <a:cs typeface="微软雅黑" panose="020B0503020204020204" pitchFamily="34" charset="-122"/>
            </a:endParaRPr>
          </a:p>
        </p:txBody>
      </p:sp>
      <p:sp>
        <p:nvSpPr>
          <p:cNvPr id="5" name="object 4"/>
          <p:cNvSpPr/>
          <p:nvPr/>
        </p:nvSpPr>
        <p:spPr>
          <a:xfrm>
            <a:off x="2808158" y="2897513"/>
            <a:ext cx="2249170" cy="2491105"/>
          </a:xfrm>
          <a:custGeom>
            <a:avLst/>
            <a:gdLst/>
            <a:ahLst/>
            <a:cxnLst/>
            <a:rect l="l" t="t" r="r" b="b"/>
            <a:pathLst>
              <a:path w="2249170" h="2491104">
                <a:moveTo>
                  <a:pt x="2248651" y="2491090"/>
                </a:moveTo>
                <a:lnTo>
                  <a:pt x="2202762" y="2490582"/>
                </a:lnTo>
                <a:lnTo>
                  <a:pt x="2157096" y="2489063"/>
                </a:lnTo>
                <a:lnTo>
                  <a:pt x="2111663" y="2486544"/>
                </a:lnTo>
                <a:lnTo>
                  <a:pt x="2066471" y="2483033"/>
                </a:lnTo>
                <a:lnTo>
                  <a:pt x="2021529" y="2478542"/>
                </a:lnTo>
                <a:lnTo>
                  <a:pt x="1976846" y="2473078"/>
                </a:lnTo>
                <a:lnTo>
                  <a:pt x="1932430" y="2466653"/>
                </a:lnTo>
                <a:lnTo>
                  <a:pt x="1888290" y="2459275"/>
                </a:lnTo>
                <a:lnTo>
                  <a:pt x="1844435" y="2450954"/>
                </a:lnTo>
                <a:lnTo>
                  <a:pt x="1800874" y="2441700"/>
                </a:lnTo>
                <a:lnTo>
                  <a:pt x="1757615" y="2431523"/>
                </a:lnTo>
                <a:lnTo>
                  <a:pt x="1714667" y="2420432"/>
                </a:lnTo>
                <a:lnTo>
                  <a:pt x="1672039" y="2408437"/>
                </a:lnTo>
                <a:lnTo>
                  <a:pt x="1629739" y="2395547"/>
                </a:lnTo>
                <a:lnTo>
                  <a:pt x="1587776" y="2381773"/>
                </a:lnTo>
                <a:lnTo>
                  <a:pt x="1546159" y="2367123"/>
                </a:lnTo>
                <a:lnTo>
                  <a:pt x="1504896" y="2351608"/>
                </a:lnTo>
                <a:lnTo>
                  <a:pt x="1463997" y="2335237"/>
                </a:lnTo>
                <a:lnTo>
                  <a:pt x="1423469" y="2318019"/>
                </a:lnTo>
                <a:lnTo>
                  <a:pt x="1383322" y="2299965"/>
                </a:lnTo>
                <a:lnTo>
                  <a:pt x="1343565" y="2281084"/>
                </a:lnTo>
                <a:lnTo>
                  <a:pt x="1304205" y="2261386"/>
                </a:lnTo>
                <a:lnTo>
                  <a:pt x="1265253" y="2240881"/>
                </a:lnTo>
                <a:lnTo>
                  <a:pt x="1226715" y="2219577"/>
                </a:lnTo>
                <a:lnTo>
                  <a:pt x="1188602" y="2197485"/>
                </a:lnTo>
                <a:lnTo>
                  <a:pt x="1150922" y="2174614"/>
                </a:lnTo>
                <a:lnTo>
                  <a:pt x="1113684" y="2150974"/>
                </a:lnTo>
                <a:lnTo>
                  <a:pt x="1076895" y="2126575"/>
                </a:lnTo>
                <a:lnTo>
                  <a:pt x="1040566" y="2101426"/>
                </a:lnTo>
                <a:lnTo>
                  <a:pt x="1004705" y="2075538"/>
                </a:lnTo>
                <a:lnTo>
                  <a:pt x="969320" y="2048918"/>
                </a:lnTo>
                <a:lnTo>
                  <a:pt x="934420" y="2021578"/>
                </a:lnTo>
                <a:lnTo>
                  <a:pt x="900014" y="1993527"/>
                </a:lnTo>
                <a:lnTo>
                  <a:pt x="866110" y="1964775"/>
                </a:lnTo>
                <a:lnTo>
                  <a:pt x="832718" y="1935330"/>
                </a:lnTo>
                <a:lnTo>
                  <a:pt x="799846" y="1905204"/>
                </a:lnTo>
                <a:lnTo>
                  <a:pt x="767502" y="1874405"/>
                </a:lnTo>
                <a:lnTo>
                  <a:pt x="735696" y="1842943"/>
                </a:lnTo>
                <a:lnTo>
                  <a:pt x="704436" y="1810828"/>
                </a:lnTo>
                <a:lnTo>
                  <a:pt x="673731" y="1778069"/>
                </a:lnTo>
                <a:lnTo>
                  <a:pt x="643589" y="1744677"/>
                </a:lnTo>
                <a:lnTo>
                  <a:pt x="614020" y="1710660"/>
                </a:lnTo>
                <a:lnTo>
                  <a:pt x="585031" y="1676029"/>
                </a:lnTo>
                <a:lnTo>
                  <a:pt x="556632" y="1640793"/>
                </a:lnTo>
                <a:lnTo>
                  <a:pt x="528832" y="1604961"/>
                </a:lnTo>
                <a:lnTo>
                  <a:pt x="501639" y="1568544"/>
                </a:lnTo>
                <a:lnTo>
                  <a:pt x="475061" y="1531551"/>
                </a:lnTo>
                <a:lnTo>
                  <a:pt x="449108" y="1493991"/>
                </a:lnTo>
                <a:lnTo>
                  <a:pt x="423788" y="1455875"/>
                </a:lnTo>
                <a:lnTo>
                  <a:pt x="399110" y="1417212"/>
                </a:lnTo>
                <a:lnTo>
                  <a:pt x="375083" y="1378012"/>
                </a:lnTo>
                <a:lnTo>
                  <a:pt x="351715" y="1338284"/>
                </a:lnTo>
                <a:lnTo>
                  <a:pt x="329015" y="1298037"/>
                </a:lnTo>
                <a:lnTo>
                  <a:pt x="306991" y="1257283"/>
                </a:lnTo>
                <a:lnTo>
                  <a:pt x="285654" y="1216029"/>
                </a:lnTo>
                <a:lnTo>
                  <a:pt x="265010" y="1174287"/>
                </a:lnTo>
                <a:lnTo>
                  <a:pt x="245069" y="1132065"/>
                </a:lnTo>
                <a:lnTo>
                  <a:pt x="225840" y="1089373"/>
                </a:lnTo>
                <a:lnTo>
                  <a:pt x="207331" y="1046221"/>
                </a:lnTo>
                <a:lnTo>
                  <a:pt x="189551" y="1002619"/>
                </a:lnTo>
                <a:lnTo>
                  <a:pt x="172509" y="958576"/>
                </a:lnTo>
                <a:lnTo>
                  <a:pt x="156214" y="914101"/>
                </a:lnTo>
                <a:lnTo>
                  <a:pt x="140673" y="869206"/>
                </a:lnTo>
                <a:lnTo>
                  <a:pt x="125896" y="823898"/>
                </a:lnTo>
                <a:lnTo>
                  <a:pt x="111892" y="778188"/>
                </a:lnTo>
                <a:lnTo>
                  <a:pt x="98669" y="732085"/>
                </a:lnTo>
                <a:lnTo>
                  <a:pt x="86236" y="685600"/>
                </a:lnTo>
                <a:lnTo>
                  <a:pt x="74602" y="638741"/>
                </a:lnTo>
                <a:lnTo>
                  <a:pt x="63775" y="591518"/>
                </a:lnTo>
                <a:lnTo>
                  <a:pt x="53764" y="543942"/>
                </a:lnTo>
                <a:lnTo>
                  <a:pt x="44579" y="496021"/>
                </a:lnTo>
                <a:lnTo>
                  <a:pt x="36226" y="447766"/>
                </a:lnTo>
                <a:lnTo>
                  <a:pt x="28716" y="399185"/>
                </a:lnTo>
                <a:lnTo>
                  <a:pt x="22057" y="350289"/>
                </a:lnTo>
                <a:lnTo>
                  <a:pt x="16257" y="301088"/>
                </a:lnTo>
                <a:lnTo>
                  <a:pt x="11326" y="251590"/>
                </a:lnTo>
                <a:lnTo>
                  <a:pt x="7271" y="201806"/>
                </a:lnTo>
                <a:lnTo>
                  <a:pt x="4103" y="151746"/>
                </a:lnTo>
                <a:lnTo>
                  <a:pt x="1829" y="101418"/>
                </a:lnTo>
                <a:lnTo>
                  <a:pt x="458" y="50833"/>
                </a:lnTo>
                <a:lnTo>
                  <a:pt x="0" y="0"/>
                </a:lnTo>
              </a:path>
            </a:pathLst>
          </a:custGeom>
          <a:ln w="19354">
            <a:solidFill>
              <a:srgbClr val="004DD6"/>
            </a:solidFill>
          </a:ln>
        </p:spPr>
        <p:txBody>
          <a:bodyPr wrap="square" lIns="0" tIns="0" rIns="0" bIns="0" rtlCol="0"/>
          <a:lstStyle/>
          <a:p>
            <a:pPr algn="just"/>
            <a:endParaRPr/>
          </a:p>
        </p:txBody>
      </p:sp>
      <p:sp>
        <p:nvSpPr>
          <p:cNvPr id="6" name="object 5"/>
          <p:cNvSpPr/>
          <p:nvPr/>
        </p:nvSpPr>
        <p:spPr>
          <a:xfrm>
            <a:off x="3053296" y="2897513"/>
            <a:ext cx="2280920" cy="2165985"/>
          </a:xfrm>
          <a:custGeom>
            <a:avLst/>
            <a:gdLst/>
            <a:ahLst/>
            <a:cxnLst/>
            <a:rect l="l" t="t" r="r" b="b"/>
            <a:pathLst>
              <a:path w="2280920" h="2165985">
                <a:moveTo>
                  <a:pt x="2280673" y="2165849"/>
                </a:moveTo>
                <a:lnTo>
                  <a:pt x="2231075" y="2165347"/>
                </a:lnTo>
                <a:lnTo>
                  <a:pt x="2181737" y="2163848"/>
                </a:lnTo>
                <a:lnTo>
                  <a:pt x="2132667" y="2161362"/>
                </a:lnTo>
                <a:lnTo>
                  <a:pt x="2083878" y="2157899"/>
                </a:lnTo>
                <a:lnTo>
                  <a:pt x="2035379" y="2153469"/>
                </a:lnTo>
                <a:lnTo>
                  <a:pt x="1987181" y="2148083"/>
                </a:lnTo>
                <a:lnTo>
                  <a:pt x="1939296" y="2141751"/>
                </a:lnTo>
                <a:lnTo>
                  <a:pt x="1891733" y="2134482"/>
                </a:lnTo>
                <a:lnTo>
                  <a:pt x="1844504" y="2126287"/>
                </a:lnTo>
                <a:lnTo>
                  <a:pt x="1797619" y="2117176"/>
                </a:lnTo>
                <a:lnTo>
                  <a:pt x="1751088" y="2107160"/>
                </a:lnTo>
                <a:lnTo>
                  <a:pt x="1704924" y="2096248"/>
                </a:lnTo>
                <a:lnTo>
                  <a:pt x="1659135" y="2084450"/>
                </a:lnTo>
                <a:lnTo>
                  <a:pt x="1613733" y="2071778"/>
                </a:lnTo>
                <a:lnTo>
                  <a:pt x="1568729" y="2058240"/>
                </a:lnTo>
                <a:lnTo>
                  <a:pt x="1524133" y="2043847"/>
                </a:lnTo>
                <a:lnTo>
                  <a:pt x="1479956" y="2028610"/>
                </a:lnTo>
                <a:lnTo>
                  <a:pt x="1436209" y="2012538"/>
                </a:lnTo>
                <a:lnTo>
                  <a:pt x="1392903" y="1995641"/>
                </a:lnTo>
                <a:lnTo>
                  <a:pt x="1350047" y="1977930"/>
                </a:lnTo>
                <a:lnTo>
                  <a:pt x="1307653" y="1959415"/>
                </a:lnTo>
                <a:lnTo>
                  <a:pt x="1265731" y="1940106"/>
                </a:lnTo>
                <a:lnTo>
                  <a:pt x="1224293" y="1920014"/>
                </a:lnTo>
                <a:lnTo>
                  <a:pt x="1183349" y="1899147"/>
                </a:lnTo>
                <a:lnTo>
                  <a:pt x="1142909" y="1877517"/>
                </a:lnTo>
                <a:lnTo>
                  <a:pt x="1102984" y="1855134"/>
                </a:lnTo>
                <a:lnTo>
                  <a:pt x="1063585" y="1832008"/>
                </a:lnTo>
                <a:lnTo>
                  <a:pt x="1024723" y="1808148"/>
                </a:lnTo>
                <a:lnTo>
                  <a:pt x="986408" y="1783566"/>
                </a:lnTo>
                <a:lnTo>
                  <a:pt x="948651" y="1758271"/>
                </a:lnTo>
                <a:lnTo>
                  <a:pt x="911463" y="1732274"/>
                </a:lnTo>
                <a:lnTo>
                  <a:pt x="874854" y="1705584"/>
                </a:lnTo>
                <a:lnTo>
                  <a:pt x="838835" y="1678212"/>
                </a:lnTo>
                <a:lnTo>
                  <a:pt x="803417" y="1650167"/>
                </a:lnTo>
                <a:lnTo>
                  <a:pt x="768611" y="1621461"/>
                </a:lnTo>
                <a:lnTo>
                  <a:pt x="734427" y="1592104"/>
                </a:lnTo>
                <a:lnTo>
                  <a:pt x="700875" y="1562104"/>
                </a:lnTo>
                <a:lnTo>
                  <a:pt x="667967" y="1531473"/>
                </a:lnTo>
                <a:lnTo>
                  <a:pt x="635714" y="1500221"/>
                </a:lnTo>
                <a:lnTo>
                  <a:pt x="604125" y="1468358"/>
                </a:lnTo>
                <a:lnTo>
                  <a:pt x="573212" y="1435894"/>
                </a:lnTo>
                <a:lnTo>
                  <a:pt x="542985" y="1402839"/>
                </a:lnTo>
                <a:lnTo>
                  <a:pt x="513456" y="1369204"/>
                </a:lnTo>
                <a:lnTo>
                  <a:pt x="484634" y="1334998"/>
                </a:lnTo>
                <a:lnTo>
                  <a:pt x="456530" y="1300232"/>
                </a:lnTo>
                <a:lnTo>
                  <a:pt x="429156" y="1264915"/>
                </a:lnTo>
                <a:lnTo>
                  <a:pt x="402521" y="1229059"/>
                </a:lnTo>
                <a:lnTo>
                  <a:pt x="376637" y="1192673"/>
                </a:lnTo>
                <a:lnTo>
                  <a:pt x="351514" y="1155767"/>
                </a:lnTo>
                <a:lnTo>
                  <a:pt x="327163" y="1118351"/>
                </a:lnTo>
                <a:lnTo>
                  <a:pt x="303594" y="1080437"/>
                </a:lnTo>
                <a:lnTo>
                  <a:pt x="280819" y="1042033"/>
                </a:lnTo>
                <a:lnTo>
                  <a:pt x="258848" y="1003150"/>
                </a:lnTo>
                <a:lnTo>
                  <a:pt x="237691" y="963798"/>
                </a:lnTo>
                <a:lnTo>
                  <a:pt x="217360" y="923988"/>
                </a:lnTo>
                <a:lnTo>
                  <a:pt x="197865" y="883729"/>
                </a:lnTo>
                <a:lnTo>
                  <a:pt x="179216" y="843031"/>
                </a:lnTo>
                <a:lnTo>
                  <a:pt x="161425" y="801905"/>
                </a:lnTo>
                <a:lnTo>
                  <a:pt x="144502" y="760362"/>
                </a:lnTo>
                <a:lnTo>
                  <a:pt x="128458" y="718410"/>
                </a:lnTo>
                <a:lnTo>
                  <a:pt x="113304" y="676061"/>
                </a:lnTo>
                <a:lnTo>
                  <a:pt x="99050" y="633324"/>
                </a:lnTo>
                <a:lnTo>
                  <a:pt x="85706" y="590210"/>
                </a:lnTo>
                <a:lnTo>
                  <a:pt x="73284" y="546728"/>
                </a:lnTo>
                <a:lnTo>
                  <a:pt x="61795" y="502889"/>
                </a:lnTo>
                <a:lnTo>
                  <a:pt x="51248" y="458703"/>
                </a:lnTo>
                <a:lnTo>
                  <a:pt x="41655" y="414181"/>
                </a:lnTo>
                <a:lnTo>
                  <a:pt x="33027" y="369332"/>
                </a:lnTo>
                <a:lnTo>
                  <a:pt x="25373" y="324166"/>
                </a:lnTo>
                <a:lnTo>
                  <a:pt x="18706" y="278694"/>
                </a:lnTo>
                <a:lnTo>
                  <a:pt x="13034" y="232926"/>
                </a:lnTo>
                <a:lnTo>
                  <a:pt x="8370" y="186872"/>
                </a:lnTo>
                <a:lnTo>
                  <a:pt x="4724" y="140542"/>
                </a:lnTo>
                <a:lnTo>
                  <a:pt x="2106" y="93947"/>
                </a:lnTo>
                <a:lnTo>
                  <a:pt x="528" y="47096"/>
                </a:lnTo>
                <a:lnTo>
                  <a:pt x="0" y="0"/>
                </a:lnTo>
              </a:path>
            </a:pathLst>
          </a:custGeom>
          <a:ln w="19354">
            <a:solidFill>
              <a:srgbClr val="007600"/>
            </a:solidFill>
          </a:ln>
        </p:spPr>
        <p:txBody>
          <a:bodyPr wrap="square" lIns="0" tIns="0" rIns="0" bIns="0" rtlCol="0"/>
          <a:lstStyle/>
          <a:p>
            <a:pPr algn="just"/>
            <a:endParaRPr/>
          </a:p>
        </p:txBody>
      </p:sp>
      <p:sp>
        <p:nvSpPr>
          <p:cNvPr id="7" name="object 6"/>
          <p:cNvSpPr/>
          <p:nvPr/>
        </p:nvSpPr>
        <p:spPr>
          <a:xfrm>
            <a:off x="5354661" y="3307617"/>
            <a:ext cx="0" cy="1720850"/>
          </a:xfrm>
          <a:custGeom>
            <a:avLst/>
            <a:gdLst/>
            <a:ahLst/>
            <a:cxnLst/>
            <a:rect l="l" t="t" r="r" b="b"/>
            <a:pathLst>
              <a:path h="1720850">
                <a:moveTo>
                  <a:pt x="0" y="1720687"/>
                </a:moveTo>
                <a:lnTo>
                  <a:pt x="1" y="0"/>
                </a:lnTo>
              </a:path>
            </a:pathLst>
          </a:custGeom>
          <a:ln w="9677">
            <a:solidFill>
              <a:srgbClr val="000000"/>
            </a:solidFill>
          </a:ln>
        </p:spPr>
        <p:txBody>
          <a:bodyPr wrap="square" lIns="0" tIns="0" rIns="0" bIns="0" rtlCol="0"/>
          <a:lstStyle/>
          <a:p>
            <a:pPr algn="just"/>
            <a:endParaRPr/>
          </a:p>
        </p:txBody>
      </p:sp>
      <p:sp>
        <p:nvSpPr>
          <p:cNvPr id="8" name="object 7"/>
          <p:cNvSpPr/>
          <p:nvPr/>
        </p:nvSpPr>
        <p:spPr>
          <a:xfrm>
            <a:off x="5371593" y="3334714"/>
            <a:ext cx="1238250" cy="1535430"/>
          </a:xfrm>
          <a:custGeom>
            <a:avLst/>
            <a:gdLst/>
            <a:ahLst/>
            <a:cxnLst/>
            <a:rect l="l" t="t" r="r" b="b"/>
            <a:pathLst>
              <a:path w="1238250" h="1535429">
                <a:moveTo>
                  <a:pt x="1238181" y="1535354"/>
                </a:moveTo>
                <a:lnTo>
                  <a:pt x="1195612" y="1534464"/>
                </a:lnTo>
                <a:lnTo>
                  <a:pt x="1153404" y="1531812"/>
                </a:lnTo>
                <a:lnTo>
                  <a:pt x="1111578" y="1527427"/>
                </a:lnTo>
                <a:lnTo>
                  <a:pt x="1070160" y="1521338"/>
                </a:lnTo>
                <a:lnTo>
                  <a:pt x="1029170" y="1513573"/>
                </a:lnTo>
                <a:lnTo>
                  <a:pt x="988634" y="1504160"/>
                </a:lnTo>
                <a:lnTo>
                  <a:pt x="948573" y="1493129"/>
                </a:lnTo>
                <a:lnTo>
                  <a:pt x="909011" y="1480508"/>
                </a:lnTo>
                <a:lnTo>
                  <a:pt x="869970" y="1466326"/>
                </a:lnTo>
                <a:lnTo>
                  <a:pt x="831474" y="1450610"/>
                </a:lnTo>
                <a:lnTo>
                  <a:pt x="793546" y="1433390"/>
                </a:lnTo>
                <a:lnTo>
                  <a:pt x="756209" y="1414695"/>
                </a:lnTo>
                <a:lnTo>
                  <a:pt x="719486" y="1394552"/>
                </a:lnTo>
                <a:lnTo>
                  <a:pt x="683400" y="1372991"/>
                </a:lnTo>
                <a:lnTo>
                  <a:pt x="647974" y="1350040"/>
                </a:lnTo>
                <a:lnTo>
                  <a:pt x="613231" y="1325728"/>
                </a:lnTo>
                <a:lnTo>
                  <a:pt x="579194" y="1300083"/>
                </a:lnTo>
                <a:lnTo>
                  <a:pt x="545886" y="1273133"/>
                </a:lnTo>
                <a:lnTo>
                  <a:pt x="513330" y="1244908"/>
                </a:lnTo>
                <a:lnTo>
                  <a:pt x="481549" y="1215436"/>
                </a:lnTo>
                <a:lnTo>
                  <a:pt x="450567" y="1184746"/>
                </a:lnTo>
                <a:lnTo>
                  <a:pt x="420406" y="1152866"/>
                </a:lnTo>
                <a:lnTo>
                  <a:pt x="391090" y="1119824"/>
                </a:lnTo>
                <a:lnTo>
                  <a:pt x="362641" y="1085650"/>
                </a:lnTo>
                <a:lnTo>
                  <a:pt x="335082" y="1050372"/>
                </a:lnTo>
                <a:lnTo>
                  <a:pt x="308437" y="1014018"/>
                </a:lnTo>
                <a:lnTo>
                  <a:pt x="282728" y="976617"/>
                </a:lnTo>
                <a:lnTo>
                  <a:pt x="257979" y="938198"/>
                </a:lnTo>
                <a:lnTo>
                  <a:pt x="234212" y="898790"/>
                </a:lnTo>
                <a:lnTo>
                  <a:pt x="211452" y="858420"/>
                </a:lnTo>
                <a:lnTo>
                  <a:pt x="189720" y="817118"/>
                </a:lnTo>
                <a:lnTo>
                  <a:pt x="169039" y="774911"/>
                </a:lnTo>
                <a:lnTo>
                  <a:pt x="149434" y="731830"/>
                </a:lnTo>
                <a:lnTo>
                  <a:pt x="130926" y="687901"/>
                </a:lnTo>
                <a:lnTo>
                  <a:pt x="113539" y="643155"/>
                </a:lnTo>
                <a:lnTo>
                  <a:pt x="97297" y="597618"/>
                </a:lnTo>
                <a:lnTo>
                  <a:pt x="82221" y="551321"/>
                </a:lnTo>
                <a:lnTo>
                  <a:pt x="68335" y="504291"/>
                </a:lnTo>
                <a:lnTo>
                  <a:pt x="55663" y="456558"/>
                </a:lnTo>
                <a:lnTo>
                  <a:pt x="44226" y="408149"/>
                </a:lnTo>
                <a:lnTo>
                  <a:pt x="34049" y="359093"/>
                </a:lnTo>
                <a:lnTo>
                  <a:pt x="25153" y="309420"/>
                </a:lnTo>
                <a:lnTo>
                  <a:pt x="17564" y="259157"/>
                </a:lnTo>
                <a:lnTo>
                  <a:pt x="11302" y="208333"/>
                </a:lnTo>
                <a:lnTo>
                  <a:pt x="6392" y="156977"/>
                </a:lnTo>
                <a:lnTo>
                  <a:pt x="2856" y="105116"/>
                </a:lnTo>
                <a:lnTo>
                  <a:pt x="717" y="52781"/>
                </a:lnTo>
                <a:lnTo>
                  <a:pt x="0" y="0"/>
                </a:lnTo>
              </a:path>
            </a:pathLst>
          </a:custGeom>
          <a:ln w="9677">
            <a:solidFill>
              <a:srgbClr val="000000"/>
            </a:solidFill>
          </a:ln>
        </p:spPr>
        <p:txBody>
          <a:bodyPr wrap="square" lIns="0" tIns="0" rIns="0" bIns="0" rtlCol="0"/>
          <a:lstStyle/>
          <a:p>
            <a:pPr algn="just"/>
            <a:endParaRPr/>
          </a:p>
        </p:txBody>
      </p:sp>
      <p:sp>
        <p:nvSpPr>
          <p:cNvPr id="9" name="object 8"/>
          <p:cNvSpPr/>
          <p:nvPr/>
        </p:nvSpPr>
        <p:spPr>
          <a:xfrm>
            <a:off x="6590853" y="3235838"/>
            <a:ext cx="0" cy="1623060"/>
          </a:xfrm>
          <a:custGeom>
            <a:avLst/>
            <a:gdLst/>
            <a:ahLst/>
            <a:cxnLst/>
            <a:rect l="l" t="t" r="r" b="b"/>
            <a:pathLst>
              <a:path h="1623060">
                <a:moveTo>
                  <a:pt x="0" y="1622570"/>
                </a:moveTo>
                <a:lnTo>
                  <a:pt x="0" y="0"/>
                </a:lnTo>
              </a:path>
            </a:pathLst>
          </a:custGeom>
          <a:ln w="12903">
            <a:solidFill>
              <a:srgbClr val="000000"/>
            </a:solidFill>
          </a:ln>
        </p:spPr>
        <p:txBody>
          <a:bodyPr wrap="square" lIns="0" tIns="0" rIns="0" bIns="0" rtlCol="0"/>
          <a:lstStyle/>
          <a:p>
            <a:pPr algn="just"/>
            <a:endParaRPr/>
          </a:p>
        </p:txBody>
      </p:sp>
      <p:sp>
        <p:nvSpPr>
          <p:cNvPr id="10" name="object 9"/>
          <p:cNvSpPr/>
          <p:nvPr/>
        </p:nvSpPr>
        <p:spPr>
          <a:xfrm>
            <a:off x="6607728" y="3252449"/>
            <a:ext cx="1249045" cy="1377315"/>
          </a:xfrm>
          <a:custGeom>
            <a:avLst/>
            <a:gdLst/>
            <a:ahLst/>
            <a:cxnLst/>
            <a:rect l="l" t="t" r="r" b="b"/>
            <a:pathLst>
              <a:path w="1249045" h="1377314">
                <a:moveTo>
                  <a:pt x="1248912" y="1377277"/>
                </a:moveTo>
                <a:lnTo>
                  <a:pt x="1203126" y="1376369"/>
                </a:lnTo>
                <a:lnTo>
                  <a:pt x="1157756" y="1373667"/>
                </a:lnTo>
                <a:lnTo>
                  <a:pt x="1112829" y="1369202"/>
                </a:lnTo>
                <a:lnTo>
                  <a:pt x="1068374" y="1363004"/>
                </a:lnTo>
                <a:lnTo>
                  <a:pt x="1024419" y="1355105"/>
                </a:lnTo>
                <a:lnTo>
                  <a:pt x="980992" y="1345536"/>
                </a:lnTo>
                <a:lnTo>
                  <a:pt x="938122" y="1334328"/>
                </a:lnTo>
                <a:lnTo>
                  <a:pt x="895836" y="1321512"/>
                </a:lnTo>
                <a:lnTo>
                  <a:pt x="854163" y="1307119"/>
                </a:lnTo>
                <a:lnTo>
                  <a:pt x="813131" y="1291180"/>
                </a:lnTo>
                <a:lnTo>
                  <a:pt x="772768" y="1273727"/>
                </a:lnTo>
                <a:lnTo>
                  <a:pt x="733103" y="1254790"/>
                </a:lnTo>
                <a:lnTo>
                  <a:pt x="694163" y="1234401"/>
                </a:lnTo>
                <a:lnTo>
                  <a:pt x="655978" y="1212591"/>
                </a:lnTo>
                <a:lnTo>
                  <a:pt x="618574" y="1189390"/>
                </a:lnTo>
                <a:lnTo>
                  <a:pt x="581981" y="1164830"/>
                </a:lnTo>
                <a:lnTo>
                  <a:pt x="546226" y="1138942"/>
                </a:lnTo>
                <a:lnTo>
                  <a:pt x="511338" y="1111757"/>
                </a:lnTo>
                <a:lnTo>
                  <a:pt x="477345" y="1083306"/>
                </a:lnTo>
                <a:lnTo>
                  <a:pt x="444275" y="1053621"/>
                </a:lnTo>
                <a:lnTo>
                  <a:pt x="412156" y="1022732"/>
                </a:lnTo>
                <a:lnTo>
                  <a:pt x="381017" y="990670"/>
                </a:lnTo>
                <a:lnTo>
                  <a:pt x="350886" y="957467"/>
                </a:lnTo>
                <a:lnTo>
                  <a:pt x="321791" y="923153"/>
                </a:lnTo>
                <a:lnTo>
                  <a:pt x="293760" y="887761"/>
                </a:lnTo>
                <a:lnTo>
                  <a:pt x="266821" y="851320"/>
                </a:lnTo>
                <a:lnTo>
                  <a:pt x="241003" y="813861"/>
                </a:lnTo>
                <a:lnTo>
                  <a:pt x="216333" y="775417"/>
                </a:lnTo>
                <a:lnTo>
                  <a:pt x="192841" y="736019"/>
                </a:lnTo>
                <a:lnTo>
                  <a:pt x="170554" y="695696"/>
                </a:lnTo>
                <a:lnTo>
                  <a:pt x="149500" y="654480"/>
                </a:lnTo>
                <a:lnTo>
                  <a:pt x="129708" y="612403"/>
                </a:lnTo>
                <a:lnTo>
                  <a:pt x="111206" y="569496"/>
                </a:lnTo>
                <a:lnTo>
                  <a:pt x="94022" y="525789"/>
                </a:lnTo>
                <a:lnTo>
                  <a:pt x="78184" y="481314"/>
                </a:lnTo>
                <a:lnTo>
                  <a:pt x="63721" y="436101"/>
                </a:lnTo>
                <a:lnTo>
                  <a:pt x="50660" y="390183"/>
                </a:lnTo>
                <a:lnTo>
                  <a:pt x="39030" y="343589"/>
                </a:lnTo>
                <a:lnTo>
                  <a:pt x="28860" y="296352"/>
                </a:lnTo>
                <a:lnTo>
                  <a:pt x="20176" y="248502"/>
                </a:lnTo>
                <a:lnTo>
                  <a:pt x="13009" y="200070"/>
                </a:lnTo>
                <a:lnTo>
                  <a:pt x="7385" y="151087"/>
                </a:lnTo>
                <a:lnTo>
                  <a:pt x="3333" y="101585"/>
                </a:lnTo>
                <a:lnTo>
                  <a:pt x="881" y="51594"/>
                </a:lnTo>
                <a:lnTo>
                  <a:pt x="57" y="1146"/>
                </a:lnTo>
                <a:lnTo>
                  <a:pt x="0" y="764"/>
                </a:lnTo>
                <a:lnTo>
                  <a:pt x="57" y="382"/>
                </a:lnTo>
                <a:lnTo>
                  <a:pt x="57" y="0"/>
                </a:lnTo>
              </a:path>
            </a:pathLst>
          </a:custGeom>
          <a:ln w="9677">
            <a:solidFill>
              <a:srgbClr val="000000"/>
            </a:solidFill>
          </a:ln>
        </p:spPr>
        <p:txBody>
          <a:bodyPr wrap="square" lIns="0" tIns="0" rIns="0" bIns="0" rtlCol="0"/>
          <a:lstStyle/>
          <a:p>
            <a:pPr algn="just"/>
            <a:endParaRPr/>
          </a:p>
        </p:txBody>
      </p:sp>
      <p:sp>
        <p:nvSpPr>
          <p:cNvPr id="11" name="object 10"/>
          <p:cNvSpPr/>
          <p:nvPr/>
        </p:nvSpPr>
        <p:spPr>
          <a:xfrm>
            <a:off x="7823544" y="3149974"/>
            <a:ext cx="3810" cy="1457325"/>
          </a:xfrm>
          <a:custGeom>
            <a:avLst/>
            <a:gdLst/>
            <a:ahLst/>
            <a:cxnLst/>
            <a:rect l="l" t="t" r="r" b="b"/>
            <a:pathLst>
              <a:path w="3809" h="1457325">
                <a:moveTo>
                  <a:pt x="0" y="1457224"/>
                </a:moveTo>
                <a:lnTo>
                  <a:pt x="3558" y="0"/>
                </a:lnTo>
              </a:path>
            </a:pathLst>
          </a:custGeom>
          <a:ln w="9677">
            <a:solidFill>
              <a:srgbClr val="000000"/>
            </a:solidFill>
          </a:ln>
        </p:spPr>
        <p:txBody>
          <a:bodyPr wrap="square" lIns="0" tIns="0" rIns="0" bIns="0" rtlCol="0"/>
          <a:lstStyle/>
          <a:p>
            <a:pPr algn="just"/>
            <a:endParaRPr/>
          </a:p>
        </p:txBody>
      </p:sp>
      <p:sp>
        <p:nvSpPr>
          <p:cNvPr id="12" name="object 11"/>
          <p:cNvSpPr/>
          <p:nvPr/>
        </p:nvSpPr>
        <p:spPr>
          <a:xfrm>
            <a:off x="7840477" y="3156828"/>
            <a:ext cx="1179830" cy="1153795"/>
          </a:xfrm>
          <a:custGeom>
            <a:avLst/>
            <a:gdLst/>
            <a:ahLst/>
            <a:cxnLst/>
            <a:rect l="l" t="t" r="r" b="b"/>
            <a:pathLst>
              <a:path w="1179829" h="1153795">
                <a:moveTo>
                  <a:pt x="1179284" y="1153735"/>
                </a:moveTo>
                <a:lnTo>
                  <a:pt x="1130648" y="1152698"/>
                </a:lnTo>
                <a:lnTo>
                  <a:pt x="1082516" y="1149767"/>
                </a:lnTo>
                <a:lnTo>
                  <a:pt x="1034924" y="1144978"/>
                </a:lnTo>
                <a:lnTo>
                  <a:pt x="987911" y="1138367"/>
                </a:lnTo>
                <a:lnTo>
                  <a:pt x="941514" y="1129973"/>
                </a:lnTo>
                <a:lnTo>
                  <a:pt x="895772" y="1119831"/>
                </a:lnTo>
                <a:lnTo>
                  <a:pt x="850722" y="1107980"/>
                </a:lnTo>
                <a:lnTo>
                  <a:pt x="806402" y="1094455"/>
                </a:lnTo>
                <a:lnTo>
                  <a:pt x="762849" y="1079295"/>
                </a:lnTo>
                <a:lnTo>
                  <a:pt x="720102" y="1062536"/>
                </a:lnTo>
                <a:lnTo>
                  <a:pt x="678199" y="1044215"/>
                </a:lnTo>
                <a:lnTo>
                  <a:pt x="637177" y="1024369"/>
                </a:lnTo>
                <a:lnTo>
                  <a:pt x="597074" y="1003036"/>
                </a:lnTo>
                <a:lnTo>
                  <a:pt x="557929" y="980252"/>
                </a:lnTo>
                <a:lnTo>
                  <a:pt x="519778" y="956054"/>
                </a:lnTo>
                <a:lnTo>
                  <a:pt x="482659" y="930479"/>
                </a:lnTo>
                <a:lnTo>
                  <a:pt x="446612" y="903565"/>
                </a:lnTo>
                <a:lnTo>
                  <a:pt x="411672" y="875349"/>
                </a:lnTo>
                <a:lnTo>
                  <a:pt x="377879" y="845866"/>
                </a:lnTo>
                <a:lnTo>
                  <a:pt x="345270" y="815156"/>
                </a:lnTo>
                <a:lnTo>
                  <a:pt x="313883" y="783254"/>
                </a:lnTo>
                <a:lnTo>
                  <a:pt x="283755" y="750197"/>
                </a:lnTo>
                <a:lnTo>
                  <a:pt x="254925" y="716023"/>
                </a:lnTo>
                <a:lnTo>
                  <a:pt x="227430" y="680769"/>
                </a:lnTo>
                <a:lnTo>
                  <a:pt x="201309" y="644472"/>
                </a:lnTo>
                <a:lnTo>
                  <a:pt x="176598" y="607168"/>
                </a:lnTo>
                <a:lnTo>
                  <a:pt x="153336" y="568895"/>
                </a:lnTo>
                <a:lnTo>
                  <a:pt x="131562" y="529690"/>
                </a:lnTo>
                <a:lnTo>
                  <a:pt x="111311" y="489590"/>
                </a:lnTo>
                <a:lnTo>
                  <a:pt x="92623" y="448631"/>
                </a:lnTo>
                <a:lnTo>
                  <a:pt x="75536" y="406852"/>
                </a:lnTo>
                <a:lnTo>
                  <a:pt x="60086" y="364288"/>
                </a:lnTo>
                <a:lnTo>
                  <a:pt x="46312" y="320978"/>
                </a:lnTo>
                <a:lnTo>
                  <a:pt x="34252" y="276957"/>
                </a:lnTo>
                <a:lnTo>
                  <a:pt x="23944" y="232264"/>
                </a:lnTo>
                <a:lnTo>
                  <a:pt x="15425" y="186935"/>
                </a:lnTo>
                <a:lnTo>
                  <a:pt x="8733" y="141007"/>
                </a:lnTo>
                <a:lnTo>
                  <a:pt x="3906" y="94517"/>
                </a:lnTo>
                <a:lnTo>
                  <a:pt x="982" y="47502"/>
                </a:lnTo>
                <a:lnTo>
                  <a:pt x="0" y="0"/>
                </a:lnTo>
              </a:path>
            </a:pathLst>
          </a:custGeom>
          <a:ln w="9677">
            <a:solidFill>
              <a:srgbClr val="000000"/>
            </a:solidFill>
          </a:ln>
        </p:spPr>
        <p:txBody>
          <a:bodyPr wrap="square" lIns="0" tIns="0" rIns="0" bIns="0" rtlCol="0"/>
          <a:lstStyle/>
          <a:p>
            <a:pPr algn="just"/>
            <a:endParaRPr/>
          </a:p>
        </p:txBody>
      </p:sp>
      <p:sp>
        <p:nvSpPr>
          <p:cNvPr id="13" name="object 12"/>
          <p:cNvSpPr txBox="1"/>
          <p:nvPr/>
        </p:nvSpPr>
        <p:spPr>
          <a:xfrm>
            <a:off x="4342819" y="4098169"/>
            <a:ext cx="533400" cy="330200"/>
          </a:xfrm>
          <a:prstGeom prst="rect">
            <a:avLst/>
          </a:prstGeom>
        </p:spPr>
        <p:txBody>
          <a:bodyPr vert="horz" wrap="square" lIns="0" tIns="12700" rIns="0" bIns="0" rtlCol="0">
            <a:spAutoFit/>
          </a:bodyPr>
          <a:lstStyle/>
          <a:p>
            <a:pPr marL="12700" algn="just">
              <a:lnSpc>
                <a:spcPct val="100000"/>
              </a:lnSpc>
              <a:spcBef>
                <a:spcPts val="100"/>
              </a:spcBef>
            </a:pPr>
            <a:r>
              <a:rPr sz="2000" dirty="0">
                <a:solidFill>
                  <a:srgbClr val="CC3300"/>
                </a:solidFill>
                <a:latin typeface="微软雅黑" panose="020B0503020204020204" pitchFamily="34" charset="-122"/>
                <a:cs typeface="微软雅黑" panose="020B0503020204020204" pitchFamily="34" charset="-122"/>
              </a:rPr>
              <a:t>修改</a:t>
            </a:r>
            <a:endParaRPr sz="2000" dirty="0">
              <a:latin typeface="微软雅黑" panose="020B0503020204020204" pitchFamily="34" charset="-122"/>
              <a:cs typeface="微软雅黑" panose="020B0503020204020204" pitchFamily="34" charset="-122"/>
            </a:endParaRPr>
          </a:p>
        </p:txBody>
      </p:sp>
      <p:sp>
        <p:nvSpPr>
          <p:cNvPr id="14" name="object 13"/>
          <p:cNvSpPr/>
          <p:nvPr/>
        </p:nvSpPr>
        <p:spPr>
          <a:xfrm>
            <a:off x="4755826" y="4529347"/>
            <a:ext cx="569595" cy="507365"/>
          </a:xfrm>
          <a:custGeom>
            <a:avLst/>
            <a:gdLst/>
            <a:ahLst/>
            <a:cxnLst/>
            <a:rect l="l" t="t" r="r" b="b"/>
            <a:pathLst>
              <a:path w="569595" h="507364">
                <a:moveTo>
                  <a:pt x="0" y="0"/>
                </a:moveTo>
                <a:lnTo>
                  <a:pt x="569278" y="506939"/>
                </a:lnTo>
              </a:path>
            </a:pathLst>
          </a:custGeom>
          <a:ln w="9677">
            <a:solidFill>
              <a:srgbClr val="000000"/>
            </a:solidFill>
          </a:ln>
        </p:spPr>
        <p:txBody>
          <a:bodyPr wrap="square" lIns="0" tIns="0" rIns="0" bIns="0" rtlCol="0"/>
          <a:lstStyle/>
          <a:p>
            <a:pPr algn="just"/>
            <a:endParaRPr/>
          </a:p>
        </p:txBody>
      </p:sp>
      <p:sp>
        <p:nvSpPr>
          <p:cNvPr id="15" name="object 14"/>
          <p:cNvSpPr/>
          <p:nvPr/>
        </p:nvSpPr>
        <p:spPr>
          <a:xfrm>
            <a:off x="5290299" y="4113608"/>
            <a:ext cx="4199255" cy="930910"/>
          </a:xfrm>
          <a:custGeom>
            <a:avLst/>
            <a:gdLst/>
            <a:ahLst/>
            <a:cxnLst/>
            <a:rect l="l" t="t" r="r" b="b"/>
            <a:pathLst>
              <a:path w="4199255" h="930910">
                <a:moveTo>
                  <a:pt x="0" y="930298"/>
                </a:moveTo>
                <a:lnTo>
                  <a:pt x="89430" y="923524"/>
                </a:lnTo>
                <a:lnTo>
                  <a:pt x="174796" y="916750"/>
                </a:lnTo>
                <a:lnTo>
                  <a:pt x="252032" y="912234"/>
                </a:lnTo>
                <a:lnTo>
                  <a:pt x="325203" y="905460"/>
                </a:lnTo>
                <a:lnTo>
                  <a:pt x="394309" y="898686"/>
                </a:lnTo>
                <a:lnTo>
                  <a:pt x="459350" y="891912"/>
                </a:lnTo>
                <a:lnTo>
                  <a:pt x="516260" y="885138"/>
                </a:lnTo>
                <a:lnTo>
                  <a:pt x="573171" y="880622"/>
                </a:lnTo>
                <a:lnTo>
                  <a:pt x="626017" y="873848"/>
                </a:lnTo>
                <a:lnTo>
                  <a:pt x="682927" y="864816"/>
                </a:lnTo>
                <a:lnTo>
                  <a:pt x="743903" y="855784"/>
                </a:lnTo>
                <a:lnTo>
                  <a:pt x="813009" y="844494"/>
                </a:lnTo>
                <a:lnTo>
                  <a:pt x="880082" y="833204"/>
                </a:lnTo>
                <a:lnTo>
                  <a:pt x="957318" y="819655"/>
                </a:lnTo>
                <a:lnTo>
                  <a:pt x="1038619" y="806108"/>
                </a:lnTo>
                <a:lnTo>
                  <a:pt x="1119919" y="790301"/>
                </a:lnTo>
                <a:lnTo>
                  <a:pt x="1298781" y="758690"/>
                </a:lnTo>
                <a:lnTo>
                  <a:pt x="1477644" y="725948"/>
                </a:lnTo>
                <a:lnTo>
                  <a:pt x="1664635" y="689820"/>
                </a:lnTo>
                <a:lnTo>
                  <a:pt x="1853660" y="653692"/>
                </a:lnTo>
                <a:lnTo>
                  <a:pt x="1951222" y="635628"/>
                </a:lnTo>
                <a:lnTo>
                  <a:pt x="2044717" y="615306"/>
                </a:lnTo>
                <a:lnTo>
                  <a:pt x="2134148" y="599500"/>
                </a:lnTo>
                <a:lnTo>
                  <a:pt x="2223580" y="581436"/>
                </a:lnTo>
                <a:lnTo>
                  <a:pt x="2308945" y="563372"/>
                </a:lnTo>
                <a:lnTo>
                  <a:pt x="2390246" y="547566"/>
                </a:lnTo>
                <a:lnTo>
                  <a:pt x="2471548" y="529502"/>
                </a:lnTo>
                <a:lnTo>
                  <a:pt x="2548783" y="514825"/>
                </a:lnTo>
                <a:lnTo>
                  <a:pt x="2623986" y="499019"/>
                </a:lnTo>
                <a:lnTo>
                  <a:pt x="2705287" y="480955"/>
                </a:lnTo>
                <a:lnTo>
                  <a:pt x="2786588" y="462891"/>
                </a:lnTo>
                <a:lnTo>
                  <a:pt x="2867889" y="442569"/>
                </a:lnTo>
                <a:lnTo>
                  <a:pt x="2953255" y="422247"/>
                </a:lnTo>
                <a:lnTo>
                  <a:pt x="3042686" y="399666"/>
                </a:lnTo>
                <a:lnTo>
                  <a:pt x="3128052" y="377086"/>
                </a:lnTo>
                <a:lnTo>
                  <a:pt x="3221548" y="352248"/>
                </a:lnTo>
                <a:lnTo>
                  <a:pt x="3266263" y="338700"/>
                </a:lnTo>
                <a:lnTo>
                  <a:pt x="3315044" y="322894"/>
                </a:lnTo>
                <a:lnTo>
                  <a:pt x="3367889" y="310475"/>
                </a:lnTo>
                <a:lnTo>
                  <a:pt x="3420736" y="292411"/>
                </a:lnTo>
                <a:lnTo>
                  <a:pt x="3473581" y="274347"/>
                </a:lnTo>
                <a:lnTo>
                  <a:pt x="3528458" y="256283"/>
                </a:lnTo>
                <a:lnTo>
                  <a:pt x="3589434" y="235961"/>
                </a:lnTo>
                <a:lnTo>
                  <a:pt x="3646345" y="213381"/>
                </a:lnTo>
                <a:lnTo>
                  <a:pt x="3711386" y="190801"/>
                </a:lnTo>
                <a:lnTo>
                  <a:pt x="3772362" y="165963"/>
                </a:lnTo>
                <a:lnTo>
                  <a:pt x="3841467" y="141125"/>
                </a:lnTo>
                <a:lnTo>
                  <a:pt x="3906507" y="116287"/>
                </a:lnTo>
                <a:lnTo>
                  <a:pt x="3979679" y="90320"/>
                </a:lnTo>
                <a:lnTo>
                  <a:pt x="4048785" y="60966"/>
                </a:lnTo>
                <a:lnTo>
                  <a:pt x="4121955" y="31612"/>
                </a:lnTo>
                <a:lnTo>
                  <a:pt x="4199191" y="0"/>
                </a:lnTo>
              </a:path>
            </a:pathLst>
          </a:custGeom>
          <a:ln w="19354">
            <a:solidFill>
              <a:srgbClr val="007600"/>
            </a:solidFill>
          </a:ln>
        </p:spPr>
        <p:txBody>
          <a:bodyPr wrap="square" lIns="0" tIns="0" rIns="0" bIns="0" rtlCol="0"/>
          <a:lstStyle/>
          <a:p>
            <a:pPr algn="just"/>
            <a:endParaRPr/>
          </a:p>
        </p:txBody>
      </p:sp>
      <p:sp>
        <p:nvSpPr>
          <p:cNvPr id="16" name="object 15"/>
          <p:cNvSpPr/>
          <p:nvPr/>
        </p:nvSpPr>
        <p:spPr>
          <a:xfrm>
            <a:off x="5281672" y="4962000"/>
            <a:ext cx="144550" cy="136458"/>
          </a:xfrm>
          <a:prstGeom prst="rect">
            <a:avLst/>
          </a:prstGeom>
          <a:blipFill>
            <a:blip r:embed="rId4" cstate="print"/>
            <a:stretch>
              <a:fillRect/>
            </a:stretch>
          </a:blipFill>
        </p:spPr>
        <p:txBody>
          <a:bodyPr wrap="square" lIns="0" tIns="0" rIns="0" bIns="0" rtlCol="0"/>
          <a:lstStyle/>
          <a:p>
            <a:pPr algn="just"/>
            <a:endParaRPr/>
          </a:p>
        </p:txBody>
      </p:sp>
      <p:sp>
        <p:nvSpPr>
          <p:cNvPr id="17" name="object 16"/>
          <p:cNvSpPr/>
          <p:nvPr/>
        </p:nvSpPr>
        <p:spPr>
          <a:xfrm>
            <a:off x="2612047" y="2750231"/>
            <a:ext cx="0" cy="2835910"/>
          </a:xfrm>
          <a:custGeom>
            <a:avLst/>
            <a:gdLst/>
            <a:ahLst/>
            <a:cxnLst/>
            <a:rect l="l" t="t" r="r" b="b"/>
            <a:pathLst>
              <a:path h="2835910">
                <a:moveTo>
                  <a:pt x="0" y="0"/>
                </a:moveTo>
                <a:lnTo>
                  <a:pt x="0" y="2835765"/>
                </a:lnTo>
              </a:path>
            </a:pathLst>
          </a:custGeom>
          <a:ln w="9677">
            <a:solidFill>
              <a:srgbClr val="000000"/>
            </a:solidFill>
          </a:ln>
        </p:spPr>
        <p:txBody>
          <a:bodyPr wrap="square" lIns="0" tIns="0" rIns="0" bIns="0" rtlCol="0"/>
          <a:lstStyle/>
          <a:p>
            <a:pPr algn="just"/>
            <a:endParaRPr/>
          </a:p>
        </p:txBody>
      </p:sp>
      <p:sp>
        <p:nvSpPr>
          <p:cNvPr id="18" name="object 17"/>
          <p:cNvSpPr/>
          <p:nvPr/>
        </p:nvSpPr>
        <p:spPr>
          <a:xfrm>
            <a:off x="2586648" y="2711522"/>
            <a:ext cx="50800" cy="76200"/>
          </a:xfrm>
          <a:custGeom>
            <a:avLst/>
            <a:gdLst/>
            <a:ahLst/>
            <a:cxnLst/>
            <a:rect l="l" t="t" r="r" b="b"/>
            <a:pathLst>
              <a:path w="50800" h="76200">
                <a:moveTo>
                  <a:pt x="25400" y="0"/>
                </a:moveTo>
                <a:lnTo>
                  <a:pt x="0" y="76200"/>
                </a:lnTo>
                <a:lnTo>
                  <a:pt x="50800" y="76200"/>
                </a:lnTo>
                <a:lnTo>
                  <a:pt x="25400" y="0"/>
                </a:lnTo>
                <a:close/>
              </a:path>
            </a:pathLst>
          </a:custGeom>
          <a:solidFill>
            <a:srgbClr val="000000"/>
          </a:solidFill>
        </p:spPr>
        <p:txBody>
          <a:bodyPr wrap="square" lIns="0" tIns="0" rIns="0" bIns="0" rtlCol="0"/>
          <a:lstStyle/>
          <a:p>
            <a:pPr algn="just"/>
            <a:endParaRPr/>
          </a:p>
        </p:txBody>
      </p:sp>
      <p:sp>
        <p:nvSpPr>
          <p:cNvPr id="19" name="object 18"/>
          <p:cNvSpPr/>
          <p:nvPr/>
        </p:nvSpPr>
        <p:spPr>
          <a:xfrm>
            <a:off x="2608545" y="5526424"/>
            <a:ext cx="7529195" cy="0"/>
          </a:xfrm>
          <a:custGeom>
            <a:avLst/>
            <a:gdLst/>
            <a:ahLst/>
            <a:cxnLst/>
            <a:rect l="l" t="t" r="r" b="b"/>
            <a:pathLst>
              <a:path w="7529195">
                <a:moveTo>
                  <a:pt x="0" y="0"/>
                </a:moveTo>
                <a:lnTo>
                  <a:pt x="7529017" y="0"/>
                </a:lnTo>
              </a:path>
            </a:pathLst>
          </a:custGeom>
          <a:ln w="9677">
            <a:solidFill>
              <a:srgbClr val="000000"/>
            </a:solidFill>
          </a:ln>
        </p:spPr>
        <p:txBody>
          <a:bodyPr wrap="square" lIns="0" tIns="0" rIns="0" bIns="0" rtlCol="0"/>
          <a:lstStyle/>
          <a:p>
            <a:pPr algn="just"/>
            <a:endParaRPr/>
          </a:p>
        </p:txBody>
      </p:sp>
      <p:sp>
        <p:nvSpPr>
          <p:cNvPr id="20" name="object 19"/>
          <p:cNvSpPr/>
          <p:nvPr/>
        </p:nvSpPr>
        <p:spPr>
          <a:xfrm>
            <a:off x="9980896" y="5501024"/>
            <a:ext cx="76200" cy="50800"/>
          </a:xfrm>
          <a:custGeom>
            <a:avLst/>
            <a:gdLst/>
            <a:ahLst/>
            <a:cxnLst/>
            <a:rect l="l" t="t" r="r" b="b"/>
            <a:pathLst>
              <a:path w="76200" h="50800">
                <a:moveTo>
                  <a:pt x="0" y="0"/>
                </a:moveTo>
                <a:lnTo>
                  <a:pt x="0" y="50799"/>
                </a:lnTo>
                <a:lnTo>
                  <a:pt x="76200" y="25399"/>
                </a:lnTo>
                <a:lnTo>
                  <a:pt x="0" y="0"/>
                </a:lnTo>
                <a:close/>
              </a:path>
            </a:pathLst>
          </a:custGeom>
          <a:solidFill>
            <a:srgbClr val="000000"/>
          </a:solidFill>
        </p:spPr>
        <p:txBody>
          <a:bodyPr wrap="square" lIns="0" tIns="0" rIns="0" bIns="0" rtlCol="0"/>
          <a:lstStyle/>
          <a:p>
            <a:pPr algn="just"/>
            <a:endParaRPr/>
          </a:p>
        </p:txBody>
      </p:sp>
      <p:sp>
        <p:nvSpPr>
          <p:cNvPr id="21" name="object 20"/>
          <p:cNvSpPr txBox="1"/>
          <p:nvPr/>
        </p:nvSpPr>
        <p:spPr>
          <a:xfrm>
            <a:off x="1700693" y="2713129"/>
            <a:ext cx="787400" cy="330200"/>
          </a:xfrm>
          <a:prstGeom prst="rect">
            <a:avLst/>
          </a:prstGeom>
        </p:spPr>
        <p:txBody>
          <a:bodyPr vert="horz" wrap="square" lIns="0" tIns="12700" rIns="0" bIns="0" rtlCol="0">
            <a:spAutoFit/>
          </a:bodyPr>
          <a:lstStyle/>
          <a:p>
            <a:pPr marL="12700" algn="just">
              <a:lnSpc>
                <a:spcPct val="100000"/>
              </a:lnSpc>
              <a:spcBef>
                <a:spcPts val="100"/>
              </a:spcBef>
            </a:pPr>
            <a:r>
              <a:rPr sz="2000" dirty="0">
                <a:latin typeface="微软雅黑" panose="020B0503020204020204" pitchFamily="34" charset="-122"/>
                <a:cs typeface="微软雅黑" panose="020B0503020204020204" pitchFamily="34" charset="-122"/>
              </a:rPr>
              <a:t>失效率</a:t>
            </a:r>
          </a:p>
        </p:txBody>
      </p:sp>
      <p:sp>
        <p:nvSpPr>
          <p:cNvPr id="22" name="object 21"/>
          <p:cNvSpPr txBox="1"/>
          <p:nvPr/>
        </p:nvSpPr>
        <p:spPr>
          <a:xfrm>
            <a:off x="4964479" y="4585548"/>
            <a:ext cx="5731510" cy="842010"/>
          </a:xfrm>
          <a:prstGeom prst="rect">
            <a:avLst/>
          </a:prstGeom>
        </p:spPr>
        <p:txBody>
          <a:bodyPr vert="horz" wrap="square" lIns="0" tIns="12700" rIns="0" bIns="0" rtlCol="0">
            <a:spAutoFit/>
          </a:bodyPr>
          <a:lstStyle/>
          <a:p>
            <a:pPr marL="3194050" algn="just">
              <a:lnSpc>
                <a:spcPct val="100000"/>
              </a:lnSpc>
              <a:spcBef>
                <a:spcPts val="100"/>
              </a:spcBef>
            </a:pPr>
            <a:r>
              <a:rPr sz="2000" dirty="0">
                <a:solidFill>
                  <a:srgbClr val="006600"/>
                </a:solidFill>
                <a:latin typeface="微软雅黑" panose="020B0503020204020204" pitchFamily="34" charset="-122"/>
                <a:cs typeface="微软雅黑" panose="020B0503020204020204" pitchFamily="34" charset="-122"/>
              </a:rPr>
              <a:t>实际曲线</a:t>
            </a:r>
            <a:endParaRPr sz="2000" dirty="0">
              <a:latin typeface="微软雅黑" panose="020B0503020204020204" pitchFamily="34" charset="-122"/>
              <a:cs typeface="微软雅黑" panose="020B0503020204020204" pitchFamily="34" charset="-122"/>
            </a:endParaRPr>
          </a:p>
          <a:p>
            <a:pPr marL="25400" algn="just">
              <a:lnSpc>
                <a:spcPct val="100000"/>
              </a:lnSpc>
              <a:spcBef>
                <a:spcPts val="1625"/>
              </a:spcBef>
              <a:tabLst>
                <a:tab pos="2988945" algn="l"/>
                <a:tab pos="5197475" algn="l"/>
              </a:tabLst>
            </a:pPr>
            <a:r>
              <a:rPr sz="2000" u="heavy" dirty="0">
                <a:solidFill>
                  <a:srgbClr val="0033CC"/>
                </a:solidFill>
                <a:uFill>
                  <a:solidFill>
                    <a:srgbClr val="004DD6"/>
                  </a:solidFill>
                </a:uFill>
                <a:latin typeface="Times New Roman" panose="02020603050405020304"/>
                <a:cs typeface="Times New Roman" panose="02020603050405020304"/>
              </a:rPr>
              <a:t> 	</a:t>
            </a:r>
            <a:r>
              <a:rPr sz="2000" spc="-45" dirty="0">
                <a:solidFill>
                  <a:srgbClr val="0033CC"/>
                </a:solidFill>
                <a:latin typeface="Times New Roman" panose="02020603050405020304"/>
                <a:cs typeface="Times New Roman" panose="02020603050405020304"/>
              </a:rPr>
              <a:t> </a:t>
            </a:r>
            <a:r>
              <a:rPr sz="2000" dirty="0">
                <a:solidFill>
                  <a:srgbClr val="0033CC"/>
                </a:solidFill>
                <a:latin typeface="微软雅黑" panose="020B0503020204020204" pitchFamily="34" charset="-122"/>
                <a:cs typeface="微软雅黑" panose="020B0503020204020204" pitchFamily="34" charset="-122"/>
              </a:rPr>
              <a:t>理想曲线	</a:t>
            </a:r>
            <a:r>
              <a:rPr sz="3000" baseline="-49000" dirty="0">
                <a:latin typeface="微软雅黑" panose="020B0503020204020204" pitchFamily="34" charset="-122"/>
                <a:cs typeface="微软雅黑" panose="020B0503020204020204" pitchFamily="34" charset="-122"/>
              </a:rPr>
              <a:t>时间</a:t>
            </a:r>
          </a:p>
        </p:txBody>
      </p:sp>
      <p:sp>
        <p:nvSpPr>
          <p:cNvPr id="23" name="object 22"/>
          <p:cNvSpPr txBox="1"/>
          <p:nvPr/>
        </p:nvSpPr>
        <p:spPr>
          <a:xfrm>
            <a:off x="3191180" y="2691669"/>
            <a:ext cx="3073400" cy="330200"/>
          </a:xfrm>
          <a:prstGeom prst="rect">
            <a:avLst/>
          </a:prstGeom>
        </p:spPr>
        <p:txBody>
          <a:bodyPr vert="horz" wrap="square" lIns="0" tIns="12700" rIns="0" bIns="0" rtlCol="0">
            <a:spAutoFit/>
          </a:bodyPr>
          <a:lstStyle/>
          <a:p>
            <a:pPr marL="12700" algn="just">
              <a:lnSpc>
                <a:spcPct val="100000"/>
              </a:lnSpc>
              <a:spcBef>
                <a:spcPts val="100"/>
              </a:spcBef>
            </a:pPr>
            <a:r>
              <a:rPr sz="2000" dirty="0">
                <a:solidFill>
                  <a:srgbClr val="CC0000"/>
                </a:solidFill>
                <a:latin typeface="微软雅黑" panose="020B0503020204020204" pitchFamily="34" charset="-122"/>
                <a:cs typeface="微软雅黑" panose="020B0503020204020204" pitchFamily="34" charset="-122"/>
              </a:rPr>
              <a:t>由于修改造成失效率的提高</a:t>
            </a:r>
            <a:endParaRPr sz="2000">
              <a:latin typeface="微软雅黑" panose="020B0503020204020204" pitchFamily="34" charset="-122"/>
              <a:cs typeface="微软雅黑" panose="020B0503020204020204" pitchFamily="34" charset="-122"/>
            </a:endParaRPr>
          </a:p>
        </p:txBody>
      </p:sp>
      <p:sp>
        <p:nvSpPr>
          <p:cNvPr id="24" name="object 23"/>
          <p:cNvSpPr/>
          <p:nvPr/>
        </p:nvSpPr>
        <p:spPr>
          <a:xfrm>
            <a:off x="4841845" y="3132519"/>
            <a:ext cx="505459" cy="521970"/>
          </a:xfrm>
          <a:custGeom>
            <a:avLst/>
            <a:gdLst/>
            <a:ahLst/>
            <a:cxnLst/>
            <a:rect l="l" t="t" r="r" b="b"/>
            <a:pathLst>
              <a:path w="505460" h="521970">
                <a:moveTo>
                  <a:pt x="505235" y="521475"/>
                </a:moveTo>
                <a:lnTo>
                  <a:pt x="0" y="0"/>
                </a:lnTo>
              </a:path>
            </a:pathLst>
          </a:custGeom>
          <a:ln w="9677">
            <a:solidFill>
              <a:srgbClr val="000000"/>
            </a:solidFill>
          </a:ln>
        </p:spPr>
        <p:txBody>
          <a:bodyPr wrap="square" lIns="0" tIns="0" rIns="0" bIns="0" rtlCol="0"/>
          <a:lstStyle/>
          <a:p>
            <a:pPr algn="just"/>
            <a:endParaRPr/>
          </a:p>
        </p:txBody>
      </p:sp>
      <p:sp>
        <p:nvSpPr>
          <p:cNvPr id="25" name="文本框 24"/>
          <p:cNvSpPr txBox="1"/>
          <p:nvPr/>
        </p:nvSpPr>
        <p:spPr>
          <a:xfrm>
            <a:off x="875289" y="5745002"/>
            <a:ext cx="10995705" cy="400110"/>
          </a:xfrm>
          <a:prstGeom prst="rect">
            <a:avLst/>
          </a:prstGeom>
          <a:noFill/>
        </p:spPr>
        <p:txBody>
          <a:bodyPr wrap="square" rtlCol="0">
            <a:spAutoFit/>
          </a:bodyPr>
          <a:lstStyle/>
          <a:p>
            <a:pPr algn="just"/>
            <a:r>
              <a:rPr lang="zh-CN" altLang="en-US" sz="2000" dirty="0">
                <a:latin typeface="微软雅黑" panose="020B0503020204020204" pitchFamily="34" charset="-122"/>
                <a:ea typeface="微软雅黑" panose="020B0503020204020204" pitchFamily="34" charset="-122"/>
              </a:rPr>
              <a:t>即使投入很大的努力，开发出来的软件经常存在错误多、性能低、不可靠、不安全等质量问题！</a:t>
            </a:r>
          </a:p>
        </p:txBody>
      </p:sp>
      <p:sp>
        <p:nvSpPr>
          <p:cNvPr id="26" name="灯片编号占位符 25"/>
          <p:cNvSpPr>
            <a:spLocks noGrp="1"/>
          </p:cNvSpPr>
          <p:nvPr>
            <p:ph type="sldNum" sz="quarter" idx="12"/>
          </p:nvPr>
        </p:nvSpPr>
        <p:spPr/>
        <p:txBody>
          <a:bodyPr/>
          <a:lstStyle/>
          <a:p>
            <a:fld id="{74D2AB8B-5816-41F2-8B4B-CA5C3E4E6A65}" type="slidenum">
              <a:rPr lang="zh-CN" altLang="en-US" smtClean="0"/>
              <a:t>54</a:t>
            </a:fld>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p:bldP spid="14" grpId="0" animBg="1"/>
      <p:bldP spid="15" grpId="0" animBg="1"/>
      <p:bldP spid="16" grpId="0" animBg="1"/>
      <p:bldP spid="17" grpId="0" animBg="1"/>
      <p:bldP spid="18" grpId="0" animBg="1"/>
      <p:bldP spid="19" grpId="0" animBg="1"/>
      <p:bldP spid="20" grpId="0" animBg="1"/>
      <p:bldP spid="21" grpId="0"/>
      <p:bldP spid="22" grpId="0"/>
      <p:bldP spid="23" grpId="0"/>
      <p:bldP spid="24" grpId="0" animBg="1"/>
      <p:bldP spid="2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举例</a:t>
            </a:r>
            <a:r>
              <a:rPr lang="en-US" altLang="zh-CN" spc="-5" dirty="0">
                <a:latin typeface="微软雅黑" panose="020B0503020204020204" pitchFamily="34" charset="-122"/>
                <a:ea typeface="微软雅黑" panose="020B0503020204020204" pitchFamily="34" charset="-122"/>
                <a:cs typeface="Arial" panose="020B0604020202020204"/>
              </a:rPr>
              <a:t>1</a:t>
            </a:r>
            <a:r>
              <a:rPr lang="zh-CN" altLang="en-US" spc="-5" dirty="0">
                <a:latin typeface="微软雅黑" panose="020B0503020204020204" pitchFamily="34" charset="-122"/>
                <a:ea typeface="微软雅黑" panose="020B0503020204020204" pitchFamily="34" charset="-122"/>
              </a:rPr>
              <a:t>：</a:t>
            </a:r>
            <a:r>
              <a:rPr lang="en-US" altLang="zh-CN" spc="-5" dirty="0">
                <a:latin typeface="微软雅黑" panose="020B0503020204020204" pitchFamily="34" charset="-122"/>
                <a:ea typeface="微软雅黑" panose="020B0503020204020204" pitchFamily="34" charset="-122"/>
                <a:cs typeface="Arial" panose="020B0604020202020204"/>
              </a:rPr>
              <a:t>ARIANE</a:t>
            </a:r>
            <a:r>
              <a:rPr lang="en-US" altLang="zh-CN" spc="-35" dirty="0">
                <a:latin typeface="微软雅黑" panose="020B0503020204020204" pitchFamily="34" charset="-122"/>
                <a:ea typeface="微软雅黑" panose="020B0503020204020204" pitchFamily="34" charset="-122"/>
                <a:cs typeface="Arial" panose="020B0604020202020204"/>
              </a:rPr>
              <a:t> </a:t>
            </a:r>
            <a:r>
              <a:rPr lang="en-US" altLang="zh-CN" dirty="0">
                <a:latin typeface="微软雅黑" panose="020B0503020204020204" pitchFamily="34" charset="-122"/>
                <a:ea typeface="微软雅黑" panose="020B0503020204020204" pitchFamily="34" charset="-122"/>
                <a:cs typeface="Arial" panose="020B0604020202020204"/>
              </a:rPr>
              <a:t>5</a:t>
            </a:r>
            <a:r>
              <a:rPr lang="en-US" altLang="zh-CN" spc="-35" dirty="0">
                <a:latin typeface="微软雅黑" panose="020B0503020204020204" pitchFamily="34" charset="-122"/>
                <a:ea typeface="微软雅黑" panose="020B0503020204020204" pitchFamily="34" charset="-122"/>
                <a:cs typeface="Arial" panose="020B0604020202020204"/>
              </a:rPr>
              <a:t> </a:t>
            </a:r>
            <a:r>
              <a:rPr lang="zh-CN" altLang="en-US" dirty="0">
                <a:latin typeface="微软雅黑" panose="020B0503020204020204" pitchFamily="34" charset="-122"/>
                <a:ea typeface="微软雅黑" panose="020B0503020204020204" pitchFamily="34" charset="-122"/>
              </a:rPr>
              <a:t>火箭</a:t>
            </a:r>
          </a:p>
        </p:txBody>
      </p:sp>
      <p:sp>
        <p:nvSpPr>
          <p:cNvPr id="4" name="object 3"/>
          <p:cNvSpPr/>
          <p:nvPr/>
        </p:nvSpPr>
        <p:spPr>
          <a:xfrm>
            <a:off x="872836" y="1629294"/>
            <a:ext cx="2805545" cy="3765665"/>
          </a:xfrm>
          <a:prstGeom prst="rect">
            <a:avLst/>
          </a:prstGeom>
          <a:blipFill>
            <a:blip r:embed="rId4"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5" name="object 4"/>
          <p:cNvSpPr/>
          <p:nvPr/>
        </p:nvSpPr>
        <p:spPr>
          <a:xfrm>
            <a:off x="1066799" y="1824828"/>
            <a:ext cx="2418182" cy="3373704"/>
          </a:xfrm>
          <a:prstGeom prst="rect">
            <a:avLst/>
          </a:prstGeom>
          <a:blipFill>
            <a:blip r:embed="rId5"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 name="object 5"/>
          <p:cNvSpPr txBox="1"/>
          <p:nvPr/>
        </p:nvSpPr>
        <p:spPr>
          <a:xfrm>
            <a:off x="1034200" y="1838476"/>
            <a:ext cx="10243400" cy="3397340"/>
          </a:xfrm>
          <a:prstGeom prst="rect">
            <a:avLst/>
          </a:prstGeom>
        </p:spPr>
        <p:txBody>
          <a:bodyPr vert="horz" wrap="square" lIns="0" tIns="1270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1480" marR="5080" algn="just">
              <a:lnSpc>
                <a:spcPct val="129000"/>
              </a:lnSpc>
              <a:spcBef>
                <a:spcPts val="100"/>
              </a:spcBef>
              <a:tabLst>
                <a:tab pos="5807075" algn="l"/>
              </a:tabLst>
            </a:pPr>
            <a:r>
              <a:rPr lang="en-US" altLang="zh-CN" sz="2000" spc="30" dirty="0">
                <a:latin typeface="微软雅黑" panose="020B0503020204020204" pitchFamily="34" charset="-122"/>
                <a:ea typeface="微软雅黑" panose="020B0503020204020204" pitchFamily="34" charset="-122"/>
                <a:cs typeface="Arial" panose="020B0604020202020204"/>
              </a:rPr>
              <a:t>1996</a:t>
            </a:r>
            <a:r>
              <a:rPr lang="zh-CN" altLang="en-US" sz="2000" spc="30" dirty="0">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2000" spc="30" dirty="0">
                <a:latin typeface="微软雅黑" panose="020B0503020204020204" pitchFamily="34" charset="-122"/>
                <a:ea typeface="微软雅黑" panose="020B0503020204020204" pitchFamily="34" charset="-122"/>
                <a:cs typeface="Arial" panose="020B0604020202020204"/>
              </a:rPr>
              <a:t>6</a:t>
            </a:r>
            <a:r>
              <a:rPr lang="zh-CN" altLang="en-US" sz="2000" spc="30" dirty="0">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2000" spc="30" dirty="0">
                <a:latin typeface="微软雅黑" panose="020B0503020204020204" pitchFamily="34" charset="-122"/>
                <a:ea typeface="微软雅黑" panose="020B0503020204020204" pitchFamily="34" charset="-122"/>
                <a:cs typeface="Arial" panose="020B0604020202020204"/>
              </a:rPr>
              <a:t>4</a:t>
            </a:r>
            <a:r>
              <a:rPr lang="zh-CN" altLang="en-US" sz="2000" spc="30" dirty="0">
                <a:latin typeface="微软雅黑" panose="020B0503020204020204" pitchFamily="34" charset="-122"/>
                <a:ea typeface="微软雅黑" panose="020B0503020204020204" pitchFamily="34" charset="-122"/>
                <a:cs typeface="微软雅黑" panose="020B0503020204020204" pitchFamily="34" charset="-122"/>
              </a:rPr>
              <a:t>日，</a:t>
            </a:r>
            <a:r>
              <a:rPr lang="en-US" altLang="zh-CN" sz="2000" spc="30" dirty="0">
                <a:latin typeface="微软雅黑" panose="020B0503020204020204" pitchFamily="34" charset="-122"/>
                <a:ea typeface="微软雅黑" panose="020B0503020204020204" pitchFamily="34" charset="-122"/>
                <a:cs typeface="Arial" panose="020B0604020202020204"/>
              </a:rPr>
              <a:t>Arian</a:t>
            </a:r>
            <a:r>
              <a:rPr lang="en-US" altLang="zh-CN" sz="2000" dirty="0">
                <a:latin typeface="微软雅黑" panose="020B0503020204020204" pitchFamily="34" charset="-122"/>
                <a:ea typeface="微软雅黑" panose="020B0503020204020204" pitchFamily="34" charset="-122"/>
                <a:cs typeface="Arial" panose="020B0604020202020204"/>
              </a:rPr>
              <a:t>e	</a:t>
            </a:r>
            <a:r>
              <a:rPr lang="en-US" altLang="zh-CN" sz="2000" spc="30" dirty="0">
                <a:latin typeface="微软雅黑" panose="020B0503020204020204" pitchFamily="34" charset="-122"/>
                <a:ea typeface="微软雅黑" panose="020B0503020204020204" pitchFamily="34" charset="-122"/>
                <a:cs typeface="Arial" panose="020B0604020202020204"/>
              </a:rPr>
              <a:t>5</a:t>
            </a:r>
            <a:r>
              <a:rPr lang="zh-CN" altLang="en-US" sz="2000" spc="30" dirty="0">
                <a:latin typeface="微软雅黑" panose="020B0503020204020204" pitchFamily="34" charset="-122"/>
                <a:ea typeface="微软雅黑" panose="020B0503020204020204" pitchFamily="34" charset="-122"/>
                <a:cs typeface="微软雅黑" panose="020B0503020204020204" pitchFamily="34" charset="-122"/>
              </a:rPr>
              <a:t>火箭在发射</a:t>
            </a:r>
            <a:r>
              <a:rPr lang="en-US" altLang="zh-CN" sz="2000" spc="30" dirty="0">
                <a:latin typeface="微软雅黑" panose="020B0503020204020204" pitchFamily="34" charset="-122"/>
                <a:ea typeface="微软雅黑" panose="020B0503020204020204" pitchFamily="34" charset="-122"/>
                <a:cs typeface="Arial" panose="020B0604020202020204"/>
              </a:rPr>
              <a:t>37</a:t>
            </a:r>
            <a:r>
              <a:rPr lang="zh-CN" altLang="en-US" sz="2000" spc="30" dirty="0">
                <a:latin typeface="微软雅黑" panose="020B0503020204020204" pitchFamily="34" charset="-122"/>
                <a:ea typeface="微软雅黑" panose="020B0503020204020204" pitchFamily="34" charset="-122"/>
                <a:cs typeface="微软雅黑" panose="020B0503020204020204" pitchFamily="34" charset="-122"/>
              </a:rPr>
              <a:t>秒之后偏离其飞行路径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并突然发生爆炸，</a:t>
            </a:r>
            <a:r>
              <a:rPr lang="zh-CN" altLang="en-US" sz="2000" spc="-25"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当时火箭上载有价值数亿美元的通信卫星。</a:t>
            </a:r>
          </a:p>
          <a:p>
            <a:pPr marL="2938780" algn="just">
              <a:lnSpc>
                <a:spcPct val="100000"/>
              </a:lnSpc>
              <a:spcBef>
                <a:spcPts val="15"/>
              </a:spcBef>
            </a:pPr>
            <a:endParaRPr lang="zh-CN" altLang="en-US" sz="3850" dirty="0">
              <a:latin typeface="微软雅黑" panose="020B0503020204020204" pitchFamily="34" charset="-122"/>
              <a:ea typeface="微软雅黑" panose="020B0503020204020204" pitchFamily="34" charset="-122"/>
              <a:cs typeface="Times New Roman" panose="02020603050405020304"/>
            </a:endParaRPr>
          </a:p>
          <a:p>
            <a:pPr marL="3008630" algn="just">
              <a:lnSpc>
                <a:spcPct val="100000"/>
              </a:lnSpc>
            </a:pPr>
            <a:r>
              <a:rPr lang="zh-CN" altLang="en-US" sz="24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原因</a:t>
            </a:r>
            <a:r>
              <a:rPr lang="zh-CN" altLang="en-US" sz="2400" dirty="0">
                <a:solidFill>
                  <a:srgbClr val="D81E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3272155" indent="-264160" algn="just">
              <a:lnSpc>
                <a:spcPct val="100000"/>
              </a:lnSpc>
              <a:spcBef>
                <a:spcPts val="1900"/>
              </a:spcBef>
              <a:buFont typeface="Arial" panose="020B0604020202020204"/>
              <a:buChar char="•"/>
              <a:tabLst>
                <a:tab pos="3272790" algn="l"/>
                <a:tab pos="3273425" algn="l"/>
              </a:tabLst>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程序中试图将</a:t>
            </a:r>
            <a:r>
              <a:rPr lang="en-US" altLang="zh-CN" sz="2000" spc="-5" dirty="0">
                <a:latin typeface="微软雅黑" panose="020B0503020204020204" pitchFamily="34" charset="-122"/>
                <a:ea typeface="微软雅黑" panose="020B0503020204020204" pitchFamily="34" charset="-122"/>
                <a:cs typeface="Arial" panose="020B0604020202020204"/>
              </a:rPr>
              <a:t>64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位浮点数转换成</a:t>
            </a:r>
            <a:r>
              <a:rPr lang="en-US" altLang="zh-CN" sz="2000" spc="-5" dirty="0">
                <a:latin typeface="微软雅黑" panose="020B0503020204020204" pitchFamily="34" charset="-122"/>
                <a:ea typeface="微软雅黑" panose="020B0503020204020204" pitchFamily="34" charset="-122"/>
                <a:cs typeface="Arial" panose="020B0604020202020204"/>
              </a:rPr>
              <a:t>16</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位整数时产生溢出</a:t>
            </a:r>
          </a:p>
          <a:p>
            <a:pPr marL="3272155" indent="-264160" algn="just">
              <a:lnSpc>
                <a:spcPct val="100000"/>
              </a:lnSpc>
              <a:spcBef>
                <a:spcPts val="1300"/>
              </a:spcBef>
              <a:buFont typeface="Arial" panose="020B0604020202020204"/>
              <a:buChar char="•"/>
              <a:tabLst>
                <a:tab pos="3272790" algn="l"/>
                <a:tab pos="3273425" algn="l"/>
              </a:tabLst>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系统缺少对数据溢出的错误处理程序</a:t>
            </a:r>
          </a:p>
          <a:p>
            <a:pPr marL="3272155" indent="-264160" algn="just">
              <a:lnSpc>
                <a:spcPct val="100000"/>
              </a:lnSpc>
              <a:spcBef>
                <a:spcPts val="1300"/>
              </a:spcBef>
              <a:buFont typeface="Arial" panose="020B0604020202020204"/>
              <a:buChar char="•"/>
              <a:tabLst>
                <a:tab pos="3272790" algn="l"/>
                <a:tab pos="3273425" algn="l"/>
              </a:tabLst>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这段程序直接复制</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Ariane 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火箭的程序</a:t>
            </a:r>
          </a:p>
        </p:txBody>
      </p:sp>
      <p:sp>
        <p:nvSpPr>
          <p:cNvPr id="7" name="灯片编号占位符 6"/>
          <p:cNvSpPr>
            <a:spLocks noGrp="1"/>
          </p:cNvSpPr>
          <p:nvPr>
            <p:ph type="sldNum" sz="quarter" idx="12"/>
          </p:nvPr>
        </p:nvSpPr>
        <p:spPr/>
        <p:txBody>
          <a:bodyPr/>
          <a:lstStyle/>
          <a:p>
            <a:fld id="{74D2AB8B-5816-41F2-8B4B-CA5C3E4E6A65}" type="slidenum">
              <a:rPr lang="zh-CN" altLang="en-US" smtClean="0"/>
              <a:t>55</a:t>
            </a:fld>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举例</a:t>
            </a:r>
            <a:r>
              <a:rPr lang="en-US" altLang="zh-CN" spc="-10" dirty="0">
                <a:latin typeface="微软雅黑" panose="020B0503020204020204" pitchFamily="34" charset="-122"/>
                <a:ea typeface="微软雅黑" panose="020B0503020204020204" pitchFamily="34" charset="-122"/>
                <a:cs typeface="Arial" panose="020B0604020202020204"/>
              </a:rPr>
              <a:t>2</a:t>
            </a:r>
            <a:r>
              <a:rPr lang="zh-CN" altLang="en-US" spc="-10" dirty="0">
                <a:latin typeface="微软雅黑" panose="020B0503020204020204" pitchFamily="34" charset="-122"/>
                <a:ea typeface="微软雅黑" panose="020B0503020204020204" pitchFamily="34" charset="-122"/>
              </a:rPr>
              <a:t>：</a:t>
            </a:r>
            <a:r>
              <a:rPr lang="en-US" altLang="zh-CN" spc="-10" dirty="0">
                <a:latin typeface="微软雅黑" panose="020B0503020204020204" pitchFamily="34" charset="-122"/>
                <a:ea typeface="微软雅黑" panose="020B0503020204020204" pitchFamily="34" charset="-122"/>
                <a:cs typeface="Arial" panose="020B0604020202020204"/>
              </a:rPr>
              <a:t>Windows</a:t>
            </a:r>
            <a:r>
              <a:rPr lang="en-US" altLang="zh-CN" spc="-40" dirty="0">
                <a:latin typeface="微软雅黑" panose="020B0503020204020204" pitchFamily="34" charset="-122"/>
                <a:ea typeface="微软雅黑" panose="020B0503020204020204" pitchFamily="34" charset="-122"/>
                <a:cs typeface="Arial" panose="020B0604020202020204"/>
              </a:rPr>
              <a:t> </a:t>
            </a:r>
            <a:r>
              <a:rPr lang="en-US" altLang="zh-CN" spc="-15" dirty="0">
                <a:latin typeface="微软雅黑" panose="020B0503020204020204" pitchFamily="34" charset="-122"/>
                <a:ea typeface="微软雅黑" panose="020B0503020204020204" pitchFamily="34" charset="-122"/>
                <a:cs typeface="Arial" panose="020B0604020202020204"/>
              </a:rPr>
              <a:t>Vista</a:t>
            </a:r>
            <a:r>
              <a:rPr lang="zh-CN" altLang="en-US" dirty="0">
                <a:latin typeface="微软雅黑" panose="020B0503020204020204" pitchFamily="34" charset="-122"/>
                <a:ea typeface="微软雅黑" panose="020B0503020204020204" pitchFamily="34" charset="-122"/>
              </a:rPr>
              <a:t>系统</a:t>
            </a:r>
          </a:p>
        </p:txBody>
      </p:sp>
      <p:sp>
        <p:nvSpPr>
          <p:cNvPr id="4" name="object 3"/>
          <p:cNvSpPr txBox="1"/>
          <p:nvPr/>
        </p:nvSpPr>
        <p:spPr>
          <a:xfrm>
            <a:off x="3678985" y="2014223"/>
            <a:ext cx="7805092" cy="3789755"/>
          </a:xfrm>
          <a:prstGeom prst="rect">
            <a:avLst/>
          </a:prstGeom>
        </p:spPr>
        <p:txBody>
          <a:bodyPr vert="horz" wrap="square" lIns="0" tIns="12700" rIns="0" bIns="0" rtlCol="0">
            <a:spAutoFit/>
          </a:bodyPr>
          <a:lstStyle/>
          <a:p>
            <a:pPr marL="241300" marR="259080" indent="-228600" algn="just">
              <a:lnSpc>
                <a:spcPct val="117000"/>
              </a:lnSpc>
              <a:spcBef>
                <a:spcPts val="100"/>
              </a:spcBef>
              <a:buFont typeface="Arial" panose="020B0604020202020204"/>
              <a:buChar char="•"/>
              <a:tabLst>
                <a:tab pos="242570" algn="l"/>
              </a:tabLst>
            </a:pPr>
            <a:r>
              <a:rPr sz="2000" spc="25" dirty="0">
                <a:latin typeface="微软雅黑" panose="020B0503020204020204" pitchFamily="34" charset="-122"/>
                <a:ea typeface="微软雅黑" panose="020B0503020204020204" pitchFamily="34" charset="-122"/>
                <a:cs typeface="微软雅黑" panose="020B0503020204020204" pitchFamily="34" charset="-122"/>
              </a:rPr>
              <a:t>该系统从</a:t>
            </a:r>
            <a:r>
              <a:rPr sz="2000" spc="25" dirty="0">
                <a:latin typeface="微软雅黑" panose="020B0503020204020204" pitchFamily="34" charset="-122"/>
                <a:ea typeface="微软雅黑" panose="020B0503020204020204" pitchFamily="34" charset="-122"/>
                <a:cs typeface="Arial" panose="020B0604020202020204"/>
              </a:rPr>
              <a:t>200</a:t>
            </a:r>
            <a:r>
              <a:rPr sz="2000" spc="20" dirty="0">
                <a:latin typeface="微软雅黑" panose="020B0503020204020204" pitchFamily="34" charset="-122"/>
                <a:ea typeface="微软雅黑" panose="020B0503020204020204" pitchFamily="34" charset="-122"/>
                <a:cs typeface="Arial" panose="020B0604020202020204"/>
              </a:rPr>
              <a:t>1</a:t>
            </a:r>
            <a:r>
              <a:rPr sz="2000" spc="25" dirty="0">
                <a:latin typeface="微软雅黑" panose="020B0503020204020204" pitchFamily="34" charset="-122"/>
                <a:ea typeface="微软雅黑" panose="020B0503020204020204" pitchFamily="34" charset="-122"/>
                <a:cs typeface="微软雅黑" panose="020B0503020204020204" pitchFamily="34" charset="-122"/>
              </a:rPr>
              <a:t>年开始研发，整个过程历时</a:t>
            </a:r>
            <a:r>
              <a:rPr sz="2000" spc="25" dirty="0">
                <a:latin typeface="微软雅黑" panose="020B0503020204020204" pitchFamily="34" charset="-122"/>
                <a:ea typeface="微软雅黑" panose="020B0503020204020204" pitchFamily="34" charset="-122"/>
                <a:cs typeface="Arial" panose="020B0604020202020204"/>
              </a:rPr>
              <a:t>5</a:t>
            </a:r>
            <a:r>
              <a:rPr sz="2000" spc="25" dirty="0">
                <a:latin typeface="微软雅黑" panose="020B0503020204020204" pitchFamily="34" charset="-122"/>
                <a:ea typeface="微软雅黑" panose="020B0503020204020204" pitchFamily="34" charset="-122"/>
                <a:cs typeface="微软雅黑" panose="020B0503020204020204" pitchFamily="34" charset="-122"/>
              </a:rPr>
              <a:t>年半，先后有</a:t>
            </a:r>
            <a:r>
              <a:rPr sz="2000" spc="25" dirty="0">
                <a:latin typeface="微软雅黑" panose="020B0503020204020204" pitchFamily="34" charset="-122"/>
                <a:ea typeface="微软雅黑" panose="020B0503020204020204" pitchFamily="34" charset="-122"/>
                <a:cs typeface="Arial" panose="020B0604020202020204"/>
              </a:rPr>
              <a:t>900</a:t>
            </a:r>
            <a:r>
              <a:rPr sz="2000" spc="20" dirty="0">
                <a:latin typeface="微软雅黑" panose="020B0503020204020204" pitchFamily="34" charset="-122"/>
                <a:ea typeface="微软雅黑" panose="020B0503020204020204" pitchFamily="34" charset="-122"/>
                <a:cs typeface="Arial" panose="020B0604020202020204"/>
              </a:rPr>
              <a:t>0</a:t>
            </a:r>
            <a:r>
              <a:rPr sz="2000" dirty="0">
                <a:latin typeface="微软雅黑" panose="020B0503020204020204" pitchFamily="34" charset="-122"/>
                <a:ea typeface="微软雅黑" panose="020B0503020204020204" pitchFamily="34" charset="-122"/>
                <a:cs typeface="微软雅黑" panose="020B0503020204020204" pitchFamily="34" charset="-122"/>
              </a:rPr>
              <a:t>位 开发人员投入其中，耗资</a:t>
            </a:r>
            <a:r>
              <a:rPr sz="2000" spc="-5" dirty="0">
                <a:latin typeface="微软雅黑" panose="020B0503020204020204" pitchFamily="34" charset="-122"/>
                <a:ea typeface="微软雅黑" panose="020B0503020204020204" pitchFamily="34" charset="-122"/>
                <a:cs typeface="Arial" panose="020B0604020202020204"/>
              </a:rPr>
              <a:t>60</a:t>
            </a:r>
            <a:r>
              <a:rPr sz="2000" dirty="0">
                <a:latin typeface="微软雅黑" panose="020B0503020204020204" pitchFamily="34" charset="-122"/>
                <a:ea typeface="微软雅黑" panose="020B0503020204020204" pitchFamily="34" charset="-122"/>
                <a:cs typeface="微软雅黑" panose="020B0503020204020204" pitchFamily="34" charset="-122"/>
              </a:rPr>
              <a:t>亿美元，代码规模超过</a:t>
            </a:r>
            <a:r>
              <a:rPr sz="2000" spc="-5" dirty="0">
                <a:latin typeface="微软雅黑" panose="020B0503020204020204" pitchFamily="34" charset="-122"/>
                <a:ea typeface="微软雅黑" panose="020B0503020204020204" pitchFamily="34" charset="-122"/>
                <a:cs typeface="Arial" panose="020B0604020202020204"/>
              </a:rPr>
              <a:t>5000</a:t>
            </a:r>
            <a:r>
              <a:rPr sz="2000" dirty="0">
                <a:latin typeface="微软雅黑" panose="020B0503020204020204" pitchFamily="34" charset="-122"/>
                <a:ea typeface="微软雅黑" panose="020B0503020204020204" pitchFamily="34" charset="-122"/>
                <a:cs typeface="微软雅黑" panose="020B0503020204020204" pitchFamily="34" charset="-122"/>
              </a:rPr>
              <a:t>万行。</a:t>
            </a:r>
          </a:p>
          <a:p>
            <a:pPr marL="241300" marR="250825" indent="-228600" algn="just">
              <a:lnSpc>
                <a:spcPct val="121000"/>
              </a:lnSpc>
              <a:spcBef>
                <a:spcPts val="1200"/>
              </a:spcBef>
              <a:buFont typeface="Arial" panose="020B0604020202020204"/>
              <a:buChar char="•"/>
              <a:tabLst>
                <a:tab pos="242570" algn="l"/>
              </a:tabLst>
            </a:pPr>
            <a:r>
              <a:rPr sz="2000" spc="10" dirty="0">
                <a:latin typeface="微软雅黑" panose="020B0503020204020204" pitchFamily="34" charset="-122"/>
                <a:ea typeface="微软雅黑" panose="020B0503020204020204" pitchFamily="34" charset="-122"/>
                <a:cs typeface="微软雅黑" panose="020B0503020204020204" pitchFamily="34" charset="-122"/>
              </a:rPr>
              <a:t>按照微软公司最初的计划，该系统面世时间应该在</a:t>
            </a:r>
            <a:r>
              <a:rPr sz="2000" spc="10" dirty="0">
                <a:latin typeface="微软雅黑" panose="020B0503020204020204" pitchFamily="34" charset="-122"/>
                <a:ea typeface="微软雅黑" panose="020B0503020204020204" pitchFamily="34" charset="-122"/>
                <a:cs typeface="Arial" panose="020B0604020202020204"/>
              </a:rPr>
              <a:t>2003</a:t>
            </a:r>
            <a:r>
              <a:rPr sz="2000" spc="10" dirty="0">
                <a:latin typeface="微软雅黑" panose="020B0503020204020204" pitchFamily="34" charset="-122"/>
                <a:ea typeface="微软雅黑" panose="020B0503020204020204" pitchFamily="34" charset="-122"/>
                <a:cs typeface="微软雅黑" panose="020B0503020204020204" pitchFamily="34" charset="-122"/>
              </a:rPr>
              <a:t>年，之后 </a:t>
            </a:r>
            <a:r>
              <a:rPr sz="2000" spc="60" dirty="0">
                <a:latin typeface="微软雅黑" panose="020B0503020204020204" pitchFamily="34" charset="-122"/>
                <a:ea typeface="微软雅黑" panose="020B0503020204020204" pitchFamily="34" charset="-122"/>
                <a:cs typeface="微软雅黑" panose="020B0503020204020204" pitchFamily="34" charset="-122"/>
              </a:rPr>
              <a:t>推迟到</a:t>
            </a:r>
            <a:r>
              <a:rPr sz="2000" spc="60" dirty="0">
                <a:latin typeface="微软雅黑" panose="020B0503020204020204" pitchFamily="34" charset="-122"/>
                <a:ea typeface="微软雅黑" panose="020B0503020204020204" pitchFamily="34" charset="-122"/>
                <a:cs typeface="Arial" panose="020B0604020202020204"/>
              </a:rPr>
              <a:t>2004</a:t>
            </a:r>
            <a:r>
              <a:rPr sz="2000" spc="60" dirty="0">
                <a:latin typeface="微软雅黑" panose="020B0503020204020204" pitchFamily="34" charset="-122"/>
                <a:ea typeface="微软雅黑" panose="020B0503020204020204" pitchFamily="34" charset="-122"/>
                <a:cs typeface="微软雅黑" panose="020B0503020204020204" pitchFamily="34" charset="-122"/>
              </a:rPr>
              <a:t>年下半年再到</a:t>
            </a:r>
            <a:r>
              <a:rPr sz="2000" spc="60" dirty="0">
                <a:latin typeface="微软雅黑" panose="020B0503020204020204" pitchFamily="34" charset="-122"/>
                <a:ea typeface="微软雅黑" panose="020B0503020204020204" pitchFamily="34" charset="-122"/>
                <a:cs typeface="Arial" panose="020B0604020202020204"/>
              </a:rPr>
              <a:t>2005</a:t>
            </a:r>
            <a:r>
              <a:rPr sz="2000" spc="60" dirty="0">
                <a:latin typeface="微软雅黑" panose="020B0503020204020204" pitchFamily="34" charset="-122"/>
                <a:ea typeface="微软雅黑" panose="020B0503020204020204" pitchFamily="34" charset="-122"/>
                <a:cs typeface="微软雅黑" panose="020B0503020204020204" pitchFamily="34" charset="-122"/>
              </a:rPr>
              <a:t>年初，最终在取消一些高级功能 </a:t>
            </a:r>
            <a:r>
              <a:rPr sz="2000" dirty="0">
                <a:latin typeface="微软雅黑" panose="020B0503020204020204" pitchFamily="34" charset="-122"/>
                <a:ea typeface="微软雅黑" panose="020B0503020204020204" pitchFamily="34" charset="-122"/>
                <a:cs typeface="微软雅黑" panose="020B0503020204020204" pitchFamily="34" charset="-122"/>
              </a:rPr>
              <a:t>后于</a:t>
            </a:r>
            <a:r>
              <a:rPr sz="2000" spc="-5" dirty="0">
                <a:latin typeface="微软雅黑" panose="020B0503020204020204" pitchFamily="34" charset="-122"/>
                <a:ea typeface="微软雅黑" panose="020B0503020204020204" pitchFamily="34" charset="-122"/>
                <a:cs typeface="Arial" panose="020B0604020202020204"/>
              </a:rPr>
              <a:t>2006</a:t>
            </a:r>
            <a:r>
              <a:rPr sz="2000" dirty="0">
                <a:latin typeface="微软雅黑" panose="020B0503020204020204" pitchFamily="34" charset="-122"/>
                <a:ea typeface="微软雅黑" panose="020B0503020204020204" pitchFamily="34" charset="-122"/>
                <a:cs typeface="微软雅黑" panose="020B0503020204020204" pitchFamily="34" charset="-122"/>
              </a:rPr>
              <a:t>年</a:t>
            </a:r>
            <a:r>
              <a:rPr sz="2000" spc="-75" dirty="0">
                <a:latin typeface="微软雅黑" panose="020B0503020204020204" pitchFamily="34" charset="-122"/>
                <a:ea typeface="微软雅黑" panose="020B0503020204020204" pitchFamily="34" charset="-122"/>
                <a:cs typeface="Arial" panose="020B0604020202020204"/>
              </a:rPr>
              <a:t>11</a:t>
            </a:r>
            <a:r>
              <a:rPr sz="2000" dirty="0">
                <a:latin typeface="微软雅黑" panose="020B0503020204020204" pitchFamily="34" charset="-122"/>
                <a:ea typeface="微软雅黑" panose="020B0503020204020204" pitchFamily="34" charset="-122"/>
                <a:cs typeface="微软雅黑" panose="020B0503020204020204" pitchFamily="34" charset="-122"/>
              </a:rPr>
              <a:t>月正式发布。</a:t>
            </a:r>
          </a:p>
          <a:p>
            <a:pPr marL="241300" marR="255270" indent="-228600" algn="just">
              <a:lnSpc>
                <a:spcPct val="117000"/>
              </a:lnSpc>
              <a:spcBef>
                <a:spcPts val="1300"/>
              </a:spcBef>
              <a:buFont typeface="Arial" panose="020B0604020202020204"/>
              <a:buChar char="•"/>
              <a:tabLst>
                <a:tab pos="242570" algn="l"/>
              </a:tabLst>
            </a:pPr>
            <a:r>
              <a:rPr sz="2000" spc="25" dirty="0">
                <a:latin typeface="微软雅黑" panose="020B0503020204020204" pitchFamily="34" charset="-122"/>
                <a:ea typeface="微软雅黑" panose="020B0503020204020204" pitchFamily="34" charset="-122"/>
                <a:cs typeface="微软雅黑" panose="020B0503020204020204" pitchFamily="34" charset="-122"/>
              </a:rPr>
              <a:t>由于整个系统过于庞杂，其开发管理相当混乱，以致于很多时间 </a:t>
            </a:r>
            <a:r>
              <a:rPr sz="2000" dirty="0">
                <a:latin typeface="微软雅黑" panose="020B0503020204020204" pitchFamily="34" charset="-122"/>
                <a:ea typeface="微软雅黑" panose="020B0503020204020204" pitchFamily="34" charset="-122"/>
                <a:cs typeface="微软雅黑" panose="020B0503020204020204" pitchFamily="34" charset="-122"/>
              </a:rPr>
              <a:t>用在互相沟通和重新决定上。</a:t>
            </a:r>
          </a:p>
          <a:p>
            <a:pPr marL="241300" marR="5080" indent="-228600" algn="just">
              <a:lnSpc>
                <a:spcPct val="121000"/>
              </a:lnSpc>
              <a:spcBef>
                <a:spcPts val="1200"/>
              </a:spcBef>
              <a:buFont typeface="Arial" panose="020B0604020202020204"/>
              <a:buChar char="•"/>
              <a:tabLst>
                <a:tab pos="241300" algn="l"/>
              </a:tabLst>
            </a:pPr>
            <a:r>
              <a:rPr sz="2000" dirty="0">
                <a:latin typeface="微软雅黑" panose="020B0503020204020204" pitchFamily="34" charset="-122"/>
                <a:ea typeface="微软雅黑" panose="020B0503020204020204" pitchFamily="34" charset="-122"/>
                <a:cs typeface="微软雅黑" panose="020B0503020204020204" pitchFamily="34" charset="-122"/>
              </a:rPr>
              <a:t>从</a:t>
            </a:r>
            <a:r>
              <a:rPr sz="2000" spc="-10" dirty="0">
                <a:latin typeface="微软雅黑" panose="020B0503020204020204" pitchFamily="34" charset="-122"/>
                <a:ea typeface="微软雅黑" panose="020B0503020204020204" pitchFamily="34" charset="-122"/>
                <a:cs typeface="Arial" panose="020B0604020202020204"/>
              </a:rPr>
              <a:t>Vista</a:t>
            </a:r>
            <a:r>
              <a:rPr sz="2000" spc="425" dirty="0">
                <a:latin typeface="微软雅黑" panose="020B0503020204020204" pitchFamily="34" charset="-122"/>
                <a:ea typeface="微软雅黑" panose="020B0503020204020204" pitchFamily="34" charset="-122"/>
                <a:cs typeface="Arial" panose="020B0604020202020204"/>
              </a:rPr>
              <a:t> </a:t>
            </a:r>
            <a:r>
              <a:rPr sz="2000" spc="-5" dirty="0">
                <a:latin typeface="微软雅黑" panose="020B0503020204020204" pitchFamily="34" charset="-122"/>
                <a:ea typeface="微软雅黑" panose="020B0503020204020204" pitchFamily="34" charset="-122"/>
                <a:cs typeface="Arial" panose="020B0604020202020204"/>
              </a:rPr>
              <a:t>Beta</a:t>
            </a:r>
            <a:r>
              <a:rPr sz="2000" spc="425" dirty="0">
                <a:latin typeface="微软雅黑" panose="020B0503020204020204" pitchFamily="34" charset="-122"/>
                <a:ea typeface="微软雅黑" panose="020B0503020204020204" pitchFamily="34" charset="-122"/>
                <a:cs typeface="Arial" panose="020B0604020202020204"/>
              </a:rPr>
              <a:t> </a:t>
            </a:r>
            <a:r>
              <a:rPr sz="2000" dirty="0">
                <a:latin typeface="微软雅黑" panose="020B0503020204020204" pitchFamily="34" charset="-122"/>
                <a:ea typeface="微软雅黑" panose="020B0503020204020204" pitchFamily="34" charset="-122"/>
                <a:cs typeface="Arial" panose="020B0604020202020204"/>
              </a:rPr>
              <a:t>1</a:t>
            </a:r>
            <a:r>
              <a:rPr sz="2000" dirty="0">
                <a:latin typeface="微软雅黑" panose="020B0503020204020204" pitchFamily="34" charset="-122"/>
                <a:ea typeface="微软雅黑" panose="020B0503020204020204" pitchFamily="34" charset="-122"/>
                <a:cs typeface="微软雅黑" panose="020B0503020204020204" pitchFamily="34" charset="-122"/>
              </a:rPr>
              <a:t>进入公开测试以来，程序错误总数已经超过</a:t>
            </a:r>
            <a:r>
              <a:rPr sz="2000" dirty="0">
                <a:latin typeface="微软雅黑" panose="020B0503020204020204" pitchFamily="34" charset="-122"/>
                <a:ea typeface="微软雅黑" panose="020B0503020204020204" pitchFamily="34" charset="-122"/>
                <a:cs typeface="Arial" panose="020B0604020202020204"/>
              </a:rPr>
              <a:t>2</a:t>
            </a:r>
            <a:r>
              <a:rPr sz="2000" dirty="0">
                <a:latin typeface="微软雅黑" panose="020B0503020204020204" pitchFamily="34" charset="-122"/>
                <a:ea typeface="微软雅黑" panose="020B0503020204020204" pitchFamily="34" charset="-122"/>
                <a:cs typeface="微软雅黑" panose="020B0503020204020204" pitchFamily="34" charset="-122"/>
              </a:rPr>
              <a:t>万个，  这其中还不包括微软内部未公开的一些错误。</a:t>
            </a:r>
          </a:p>
        </p:txBody>
      </p:sp>
      <p:sp>
        <p:nvSpPr>
          <p:cNvPr id="5" name="object 4"/>
          <p:cNvSpPr/>
          <p:nvPr/>
        </p:nvSpPr>
        <p:spPr>
          <a:xfrm>
            <a:off x="917050" y="2562644"/>
            <a:ext cx="2677651" cy="1941622"/>
          </a:xfrm>
          <a:prstGeom prst="rect">
            <a:avLst/>
          </a:prstGeom>
          <a:blipFill>
            <a:blip r:embed="rId3"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56</a:t>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latin typeface="微软雅黑" panose="020B0503020204020204" pitchFamily="34" charset="-122"/>
                <a:ea typeface="微软雅黑" panose="020B0503020204020204" pitchFamily="34" charset="-122"/>
              </a:rPr>
              <a:t>举例</a:t>
            </a:r>
            <a:r>
              <a:rPr lang="en-US" altLang="zh-CN" spc="-5" dirty="0">
                <a:latin typeface="微软雅黑" panose="020B0503020204020204" pitchFamily="34" charset="-122"/>
                <a:ea typeface="微软雅黑" panose="020B0503020204020204" pitchFamily="34" charset="-122"/>
                <a:cs typeface="Arial" panose="020B0604020202020204"/>
              </a:rPr>
              <a:t>3</a:t>
            </a:r>
            <a:r>
              <a:rPr lang="zh-CN" altLang="en-US" spc="-5" dirty="0">
                <a:latin typeface="微软雅黑" panose="020B0503020204020204" pitchFamily="34" charset="-122"/>
                <a:ea typeface="微软雅黑" panose="020B0503020204020204" pitchFamily="34" charset="-122"/>
              </a:rPr>
              <a:t>：</a:t>
            </a:r>
            <a:r>
              <a:rPr lang="en-US" altLang="zh-CN" spc="-5" dirty="0">
                <a:latin typeface="微软雅黑" panose="020B0503020204020204" pitchFamily="34" charset="-122"/>
                <a:ea typeface="微软雅黑" panose="020B0503020204020204" pitchFamily="34" charset="-122"/>
                <a:cs typeface="Arial" panose="020B0604020202020204"/>
              </a:rPr>
              <a:t>12306</a:t>
            </a:r>
            <a:r>
              <a:rPr lang="zh-CN" altLang="en-US" spc="-75" dirty="0">
                <a:latin typeface="微软雅黑" panose="020B0503020204020204" pitchFamily="34" charset="-122"/>
                <a:ea typeface="微软雅黑" panose="020B0503020204020204" pitchFamily="34" charset="-122"/>
                <a:cs typeface="Arial" panose="020B0604020202020204"/>
              </a:rPr>
              <a:t> </a:t>
            </a:r>
            <a:r>
              <a:rPr lang="zh-CN" altLang="en-US" dirty="0">
                <a:latin typeface="微软雅黑" panose="020B0503020204020204" pitchFamily="34" charset="-122"/>
                <a:ea typeface="微软雅黑" panose="020B0503020204020204" pitchFamily="34" charset="-122"/>
              </a:rPr>
              <a:t>网络购票系统</a:t>
            </a:r>
          </a:p>
        </p:txBody>
      </p:sp>
      <p:sp>
        <p:nvSpPr>
          <p:cNvPr id="8" name="object 3"/>
          <p:cNvSpPr txBox="1"/>
          <p:nvPr/>
        </p:nvSpPr>
        <p:spPr>
          <a:xfrm>
            <a:off x="4988949" y="2250189"/>
            <a:ext cx="6445967" cy="3492500"/>
          </a:xfrm>
          <a:prstGeom prst="rect">
            <a:avLst/>
          </a:prstGeom>
        </p:spPr>
        <p:txBody>
          <a:bodyPr vert="horz" wrap="square" lIns="0" tIns="12700" rIns="0" bIns="0" rtlCol="0">
            <a:spAutoFit/>
          </a:bodyPr>
          <a:lstStyle/>
          <a:p>
            <a:pPr marL="241300" marR="254000" indent="-228600" algn="just">
              <a:lnSpc>
                <a:spcPct val="129000"/>
              </a:lnSpc>
              <a:spcBef>
                <a:spcPts val="100"/>
              </a:spcBef>
              <a:buChar char="•"/>
              <a:tabLst>
                <a:tab pos="243840" algn="l"/>
              </a:tabLst>
            </a:pPr>
            <a:r>
              <a:rPr sz="2000" spc="35" dirty="0">
                <a:latin typeface="微软雅黑" panose="020B0503020204020204" pitchFamily="34" charset="-122"/>
                <a:ea typeface="微软雅黑" panose="020B0503020204020204" pitchFamily="34" charset="-122"/>
                <a:cs typeface="Arial" panose="020B0604020202020204"/>
              </a:rPr>
              <a:t>12306</a:t>
            </a:r>
            <a:r>
              <a:rPr sz="2000" spc="35" dirty="0">
                <a:latin typeface="微软雅黑" panose="020B0503020204020204" pitchFamily="34" charset="-122"/>
                <a:ea typeface="微软雅黑" panose="020B0503020204020204" pitchFamily="34" charset="-122"/>
                <a:cs typeface="微软雅黑" panose="020B0503020204020204" pitchFamily="34" charset="-122"/>
              </a:rPr>
              <a:t>网络购票系统历时两年研发成功，耗资</a:t>
            </a:r>
            <a:r>
              <a:rPr sz="2000" spc="35" dirty="0">
                <a:latin typeface="微软雅黑" panose="020B0503020204020204" pitchFamily="34" charset="-122"/>
                <a:ea typeface="微软雅黑" panose="020B0503020204020204" pitchFamily="34" charset="-122"/>
                <a:cs typeface="Arial" panose="020B0604020202020204"/>
              </a:rPr>
              <a:t>3</a:t>
            </a:r>
            <a:r>
              <a:rPr sz="2000" spc="35" dirty="0">
                <a:latin typeface="微软雅黑" panose="020B0503020204020204" pitchFamily="34" charset="-122"/>
                <a:ea typeface="微软雅黑" panose="020B0503020204020204" pitchFamily="34" charset="-122"/>
                <a:cs typeface="微软雅黑" panose="020B0503020204020204" pitchFamily="34" charset="-122"/>
              </a:rPr>
              <a:t>亿元 </a:t>
            </a:r>
            <a:r>
              <a:rPr sz="2000" dirty="0">
                <a:latin typeface="微软雅黑" panose="020B0503020204020204" pitchFamily="34" charset="-122"/>
                <a:ea typeface="微软雅黑" panose="020B0503020204020204" pitchFamily="34" charset="-122"/>
                <a:cs typeface="微软雅黑" panose="020B0503020204020204" pitchFamily="34" charset="-122"/>
              </a:rPr>
              <a:t>人民币，于</a:t>
            </a:r>
            <a:r>
              <a:rPr sz="2000" spc="-40" dirty="0">
                <a:latin typeface="微软雅黑" panose="020B0503020204020204" pitchFamily="34" charset="-122"/>
                <a:ea typeface="微软雅黑" panose="020B0503020204020204" pitchFamily="34" charset="-122"/>
                <a:cs typeface="Arial" panose="020B0604020202020204"/>
              </a:rPr>
              <a:t>2011</a:t>
            </a:r>
            <a:r>
              <a:rPr sz="2000" dirty="0">
                <a:latin typeface="微软雅黑" panose="020B0503020204020204" pitchFamily="34" charset="-122"/>
                <a:ea typeface="微软雅黑" panose="020B0503020204020204" pitchFamily="34" charset="-122"/>
                <a:cs typeface="微软雅黑" panose="020B0503020204020204" pitchFamily="34" charset="-122"/>
              </a:rPr>
              <a:t>年</a:t>
            </a:r>
            <a:r>
              <a:rPr sz="2000" dirty="0">
                <a:latin typeface="微软雅黑" panose="020B0503020204020204" pitchFamily="34" charset="-122"/>
                <a:ea typeface="微软雅黑" panose="020B0503020204020204" pitchFamily="34" charset="-122"/>
                <a:cs typeface="Arial" panose="020B0604020202020204"/>
              </a:rPr>
              <a:t>6</a:t>
            </a:r>
            <a:r>
              <a:rPr sz="2000" dirty="0">
                <a:latin typeface="微软雅黑" panose="020B0503020204020204" pitchFamily="34" charset="-122"/>
                <a:ea typeface="微软雅黑" panose="020B0503020204020204" pitchFamily="34" charset="-122"/>
                <a:cs typeface="微软雅黑" panose="020B0503020204020204" pitchFamily="34" charset="-122"/>
              </a:rPr>
              <a:t>月</a:t>
            </a:r>
            <a:r>
              <a:rPr sz="2000" spc="-5" dirty="0">
                <a:latin typeface="微软雅黑" panose="020B0503020204020204" pitchFamily="34" charset="-122"/>
                <a:ea typeface="微软雅黑" panose="020B0503020204020204" pitchFamily="34" charset="-122"/>
                <a:cs typeface="Arial" panose="020B0604020202020204"/>
              </a:rPr>
              <a:t>12</a:t>
            </a:r>
            <a:r>
              <a:rPr sz="2000" dirty="0">
                <a:latin typeface="微软雅黑" panose="020B0503020204020204" pitchFamily="34" charset="-122"/>
                <a:ea typeface="微软雅黑" panose="020B0503020204020204" pitchFamily="34" charset="-122"/>
                <a:cs typeface="微软雅黑" panose="020B0503020204020204" pitchFamily="34" charset="-122"/>
              </a:rPr>
              <a:t>日投入运行。</a:t>
            </a:r>
          </a:p>
          <a:p>
            <a:pPr marL="241300" marR="250190" indent="-228600" algn="just">
              <a:lnSpc>
                <a:spcPct val="129000"/>
              </a:lnSpc>
              <a:spcBef>
                <a:spcPts val="1195"/>
              </a:spcBef>
              <a:buChar char="•"/>
              <a:tabLst>
                <a:tab pos="245745" algn="l"/>
              </a:tabLst>
            </a:pPr>
            <a:r>
              <a:rPr sz="2000" spc="60" dirty="0">
                <a:latin typeface="微软雅黑" panose="020B0503020204020204" pitchFamily="34" charset="-122"/>
                <a:ea typeface="微软雅黑" panose="020B0503020204020204" pitchFamily="34" charset="-122"/>
                <a:cs typeface="Arial" panose="020B0604020202020204"/>
              </a:rPr>
              <a:t>2012</a:t>
            </a:r>
            <a:r>
              <a:rPr sz="2000" spc="60" dirty="0">
                <a:latin typeface="微软雅黑" panose="020B0503020204020204" pitchFamily="34" charset="-122"/>
                <a:ea typeface="微软雅黑" panose="020B0503020204020204" pitchFamily="34" charset="-122"/>
                <a:cs typeface="微软雅黑" panose="020B0503020204020204" pitchFamily="34" charset="-122"/>
              </a:rPr>
              <a:t>年</a:t>
            </a:r>
            <a:r>
              <a:rPr sz="2000" spc="60" dirty="0">
                <a:latin typeface="微软雅黑" panose="020B0503020204020204" pitchFamily="34" charset="-122"/>
                <a:ea typeface="微软雅黑" panose="020B0503020204020204" pitchFamily="34" charset="-122"/>
                <a:cs typeface="Arial" panose="020B0604020202020204"/>
              </a:rPr>
              <a:t>1</a:t>
            </a:r>
            <a:r>
              <a:rPr sz="2000" spc="60" dirty="0">
                <a:latin typeface="微软雅黑" panose="020B0503020204020204" pitchFamily="34" charset="-122"/>
                <a:ea typeface="微软雅黑" panose="020B0503020204020204" pitchFamily="34" charset="-122"/>
                <a:cs typeface="微软雅黑" panose="020B0503020204020204" pitchFamily="34" charset="-122"/>
              </a:rPr>
              <a:t>月</a:t>
            </a:r>
            <a:r>
              <a:rPr sz="2000" spc="60" dirty="0">
                <a:latin typeface="微软雅黑" panose="020B0503020204020204" pitchFamily="34" charset="-122"/>
                <a:ea typeface="微软雅黑" panose="020B0503020204020204" pitchFamily="34" charset="-122"/>
                <a:cs typeface="Arial" panose="020B0604020202020204"/>
              </a:rPr>
              <a:t>8</a:t>
            </a:r>
            <a:r>
              <a:rPr sz="2000" spc="60" dirty="0">
                <a:latin typeface="微软雅黑" panose="020B0503020204020204" pitchFamily="34" charset="-122"/>
                <a:ea typeface="微软雅黑" panose="020B0503020204020204" pitchFamily="34" charset="-122"/>
                <a:cs typeface="微软雅黑" panose="020B0503020204020204" pitchFamily="34" charset="-122"/>
              </a:rPr>
              <a:t>日春运启动，</a:t>
            </a:r>
            <a:r>
              <a:rPr sz="2000" spc="60" dirty="0">
                <a:latin typeface="微软雅黑" panose="020B0503020204020204" pitchFamily="34" charset="-122"/>
                <a:ea typeface="微软雅黑" panose="020B0503020204020204" pitchFamily="34" charset="-122"/>
                <a:cs typeface="Arial" panose="020B0604020202020204"/>
              </a:rPr>
              <a:t>9</a:t>
            </a:r>
            <a:r>
              <a:rPr sz="2000" spc="60" dirty="0">
                <a:latin typeface="微软雅黑" panose="020B0503020204020204" pitchFamily="34" charset="-122"/>
                <a:ea typeface="微软雅黑" panose="020B0503020204020204" pitchFamily="34" charset="-122"/>
                <a:cs typeface="微软雅黑" panose="020B0503020204020204" pitchFamily="34" charset="-122"/>
              </a:rPr>
              <a:t>日网站点击量超过</a:t>
            </a:r>
            <a:r>
              <a:rPr sz="2000" spc="60" dirty="0">
                <a:latin typeface="微软雅黑" panose="020B0503020204020204" pitchFamily="34" charset="-122"/>
                <a:ea typeface="微软雅黑" panose="020B0503020204020204" pitchFamily="34" charset="-122"/>
                <a:cs typeface="Arial" panose="020B0604020202020204"/>
              </a:rPr>
              <a:t>14</a:t>
            </a:r>
            <a:r>
              <a:rPr sz="2000" dirty="0">
                <a:latin typeface="微软雅黑" panose="020B0503020204020204" pitchFamily="34" charset="-122"/>
                <a:ea typeface="微软雅黑" panose="020B0503020204020204" pitchFamily="34" charset="-122"/>
                <a:cs typeface="微软雅黑" panose="020B0503020204020204" pitchFamily="34" charset="-122"/>
              </a:rPr>
              <a:t>亿 </a:t>
            </a:r>
            <a:r>
              <a:rPr sz="2000" spc="75" dirty="0">
                <a:latin typeface="微软雅黑" panose="020B0503020204020204" pitchFamily="34" charset="-122"/>
                <a:ea typeface="微软雅黑" panose="020B0503020204020204" pitchFamily="34" charset="-122"/>
                <a:cs typeface="微软雅黑" panose="020B0503020204020204" pitchFamily="34" charset="-122"/>
              </a:rPr>
              <a:t>次，出现网站崩溃、登录缓慢、无法支付、扣钱不 </a:t>
            </a:r>
            <a:r>
              <a:rPr sz="2000" dirty="0">
                <a:latin typeface="微软雅黑" panose="020B0503020204020204" pitchFamily="34" charset="-122"/>
                <a:ea typeface="微软雅黑" panose="020B0503020204020204" pitchFamily="34" charset="-122"/>
                <a:cs typeface="微软雅黑" panose="020B0503020204020204" pitchFamily="34" charset="-122"/>
              </a:rPr>
              <a:t>出票等严重问题。</a:t>
            </a:r>
          </a:p>
          <a:p>
            <a:pPr marL="241300" marR="5080" indent="-228600" algn="just">
              <a:lnSpc>
                <a:spcPct val="129000"/>
              </a:lnSpc>
              <a:spcBef>
                <a:spcPts val="1300"/>
              </a:spcBef>
              <a:buChar char="•"/>
              <a:tabLst>
                <a:tab pos="245745" algn="l"/>
                <a:tab pos="245745" algn="l"/>
              </a:tabLst>
            </a:pPr>
            <a:r>
              <a:rPr sz="2000" spc="70" dirty="0">
                <a:latin typeface="微软雅黑" panose="020B0503020204020204" pitchFamily="34" charset="-122"/>
                <a:ea typeface="微软雅黑" panose="020B0503020204020204" pitchFamily="34" charset="-122"/>
                <a:cs typeface="Arial" panose="020B0604020202020204"/>
              </a:rPr>
              <a:t>2012</a:t>
            </a:r>
            <a:r>
              <a:rPr sz="2000" spc="70" dirty="0">
                <a:latin typeface="微软雅黑" panose="020B0503020204020204" pitchFamily="34" charset="-122"/>
                <a:ea typeface="微软雅黑" panose="020B0503020204020204" pitchFamily="34" charset="-122"/>
                <a:cs typeface="微软雅黑" panose="020B0503020204020204" pitchFamily="34" charset="-122"/>
              </a:rPr>
              <a:t>年</a:t>
            </a:r>
            <a:r>
              <a:rPr sz="2000" spc="70" dirty="0">
                <a:latin typeface="微软雅黑" panose="020B0503020204020204" pitchFamily="34" charset="-122"/>
                <a:ea typeface="微软雅黑" panose="020B0503020204020204" pitchFamily="34" charset="-122"/>
                <a:cs typeface="Arial" panose="020B0604020202020204"/>
              </a:rPr>
              <a:t>9</a:t>
            </a:r>
            <a:r>
              <a:rPr sz="2000" spc="70" dirty="0">
                <a:latin typeface="微软雅黑" panose="020B0503020204020204" pitchFamily="34" charset="-122"/>
                <a:ea typeface="微软雅黑" panose="020B0503020204020204" pitchFamily="34" charset="-122"/>
                <a:cs typeface="微软雅黑" panose="020B0503020204020204" pitchFamily="34" charset="-122"/>
              </a:rPr>
              <a:t>月</a:t>
            </a:r>
            <a:r>
              <a:rPr sz="2000" spc="70" dirty="0">
                <a:latin typeface="微软雅黑" panose="020B0503020204020204" pitchFamily="34" charset="-122"/>
                <a:ea typeface="微软雅黑" panose="020B0503020204020204" pitchFamily="34" charset="-122"/>
                <a:cs typeface="Arial" panose="020B0604020202020204"/>
              </a:rPr>
              <a:t>20</a:t>
            </a:r>
            <a:r>
              <a:rPr sz="2000" spc="70" dirty="0">
                <a:latin typeface="微软雅黑" panose="020B0503020204020204" pitchFamily="34" charset="-122"/>
                <a:ea typeface="微软雅黑" panose="020B0503020204020204" pitchFamily="34" charset="-122"/>
                <a:cs typeface="微软雅黑" panose="020B0503020204020204" pitchFamily="34" charset="-122"/>
              </a:rPr>
              <a:t>日，由于正处中秋和“十一”黄金</a:t>
            </a:r>
            <a:r>
              <a:rPr sz="2000" dirty="0">
                <a:latin typeface="微软雅黑" panose="020B0503020204020204" pitchFamily="34" charset="-122"/>
                <a:ea typeface="微软雅黑" panose="020B0503020204020204" pitchFamily="34" charset="-122"/>
                <a:cs typeface="微软雅黑" panose="020B0503020204020204" pitchFamily="34" charset="-122"/>
              </a:rPr>
              <a:t>周， </a:t>
            </a:r>
            <a:r>
              <a:rPr sz="2000" spc="70" dirty="0">
                <a:latin typeface="微软雅黑" panose="020B0503020204020204" pitchFamily="34" charset="-122"/>
                <a:ea typeface="微软雅黑" panose="020B0503020204020204" pitchFamily="34" charset="-122"/>
                <a:cs typeface="微软雅黑" panose="020B0503020204020204" pitchFamily="34" charset="-122"/>
              </a:rPr>
              <a:t>网站日点击量达到</a:t>
            </a:r>
            <a:r>
              <a:rPr sz="2000" spc="70" dirty="0">
                <a:latin typeface="微软雅黑" panose="020B0503020204020204" pitchFamily="34" charset="-122"/>
                <a:ea typeface="微软雅黑" panose="020B0503020204020204" pitchFamily="34" charset="-122"/>
                <a:cs typeface="Arial" panose="020B0604020202020204"/>
              </a:rPr>
              <a:t>14.9</a:t>
            </a:r>
            <a:r>
              <a:rPr sz="2000" spc="70" dirty="0">
                <a:latin typeface="微软雅黑" panose="020B0503020204020204" pitchFamily="34" charset="-122"/>
                <a:ea typeface="微软雅黑" panose="020B0503020204020204" pitchFamily="34" charset="-122"/>
                <a:cs typeface="微软雅黑" panose="020B0503020204020204" pitchFamily="34" charset="-122"/>
              </a:rPr>
              <a:t>亿次，发售客票超过当年春</a:t>
            </a:r>
            <a:r>
              <a:rPr sz="2000" dirty="0">
                <a:latin typeface="微软雅黑" panose="020B0503020204020204" pitchFamily="34" charset="-122"/>
                <a:ea typeface="微软雅黑" panose="020B0503020204020204" pitchFamily="34" charset="-122"/>
                <a:cs typeface="微软雅黑" panose="020B0503020204020204" pitchFamily="34" charset="-122"/>
              </a:rPr>
              <a:t>运最高值，出现网络拥堵、重复排队等现象。</a:t>
            </a:r>
          </a:p>
        </p:txBody>
      </p:sp>
      <p:sp>
        <p:nvSpPr>
          <p:cNvPr id="9" name="object 4"/>
          <p:cNvSpPr/>
          <p:nvPr/>
        </p:nvSpPr>
        <p:spPr>
          <a:xfrm>
            <a:off x="930997" y="2157512"/>
            <a:ext cx="3487188" cy="2443941"/>
          </a:xfrm>
          <a:prstGeom prst="rect">
            <a:avLst/>
          </a:prstGeom>
          <a:blipFill>
            <a:blip r:embed="rId3"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10" name="object 5"/>
          <p:cNvSpPr/>
          <p:nvPr/>
        </p:nvSpPr>
        <p:spPr>
          <a:xfrm>
            <a:off x="1936836" y="3799274"/>
            <a:ext cx="2747355" cy="1857894"/>
          </a:xfrm>
          <a:prstGeom prst="rect">
            <a:avLst/>
          </a:prstGeom>
          <a:blipFill>
            <a:blip r:embed="rId4" cstate="print"/>
            <a:stretch>
              <a:fillRect/>
            </a:stretch>
          </a:blipFill>
        </p:spPr>
        <p:txBody>
          <a:bodyPr wrap="square" lIns="0" tIns="0" rIns="0" bIns="0" rtlCol="0"/>
          <a:lstStyle/>
          <a:p>
            <a:pPr algn="just"/>
            <a:endParaRPr>
              <a:latin typeface="微软雅黑" panose="020B0503020204020204" pitchFamily="34" charset="-122"/>
              <a:ea typeface="微软雅黑" panose="020B0503020204020204" pitchFamily="34" charset="-122"/>
            </a:endParaRP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57</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软件开发面临以下挑战</a:t>
            </a:r>
          </a:p>
        </p:txBody>
      </p:sp>
      <p:sp>
        <p:nvSpPr>
          <p:cNvPr id="4" name="object 3"/>
          <p:cNvSpPr txBox="1"/>
          <p:nvPr/>
        </p:nvSpPr>
        <p:spPr>
          <a:xfrm>
            <a:off x="979233" y="2132818"/>
            <a:ext cx="3765550" cy="1054100"/>
          </a:xfrm>
          <a:prstGeom prst="rect">
            <a:avLst/>
          </a:prstGeom>
        </p:spPr>
        <p:txBody>
          <a:bodyPr vert="horz" wrap="square" lIns="0" tIns="50800" rIns="0" bIns="0" rtlCol="0">
            <a:spAutoFit/>
          </a:bodyPr>
          <a:lstStyle/>
          <a:p>
            <a:pPr marL="196850" indent="-184150">
              <a:lnSpc>
                <a:spcPct val="100000"/>
              </a:lnSpc>
              <a:spcBef>
                <a:spcPts val="400"/>
              </a:spcBef>
              <a:buClr>
                <a:srgbClr val="1C1C1C"/>
              </a:buClr>
              <a:buFont typeface="Arial" panose="020B0604020202020204"/>
              <a:buChar char="•"/>
              <a:tabLst>
                <a:tab pos="196850" algn="l"/>
              </a:tabLst>
            </a:pPr>
            <a:r>
              <a:rPr sz="2000" dirty="0">
                <a:solidFill>
                  <a:srgbClr val="252525"/>
                </a:solidFill>
                <a:latin typeface="微软雅黑" panose="020B0503020204020204" pitchFamily="34" charset="-122"/>
                <a:cs typeface="微软雅黑" panose="020B0503020204020204" pitchFamily="34" charset="-122"/>
              </a:rPr>
              <a:t>交付的许多功能不是客户需要的</a:t>
            </a:r>
            <a:endParaRPr sz="2000" dirty="0">
              <a:latin typeface="微软雅黑" panose="020B0503020204020204" pitchFamily="34" charset="-122"/>
              <a:cs typeface="微软雅黑" panose="020B0503020204020204" pitchFamily="34" charset="-122"/>
            </a:endParaRPr>
          </a:p>
          <a:p>
            <a:pPr marL="196850" indent="-184150">
              <a:lnSpc>
                <a:spcPct val="100000"/>
              </a:lnSpc>
              <a:spcBef>
                <a:spcPts val="300"/>
              </a:spcBef>
              <a:buClr>
                <a:srgbClr val="1C1C1C"/>
              </a:buClr>
              <a:buFont typeface="Arial" panose="020B0604020202020204"/>
              <a:buChar char="•"/>
              <a:tabLst>
                <a:tab pos="196850" algn="l"/>
              </a:tabLst>
            </a:pPr>
            <a:r>
              <a:rPr sz="2000" dirty="0">
                <a:solidFill>
                  <a:srgbClr val="252525"/>
                </a:solidFill>
                <a:latin typeface="微软雅黑" panose="020B0503020204020204" pitchFamily="34" charset="-122"/>
                <a:cs typeface="微软雅黑" panose="020B0503020204020204" pitchFamily="34" charset="-122"/>
              </a:rPr>
              <a:t>交付的日期没有保障</a:t>
            </a:r>
            <a:endParaRPr sz="2000" dirty="0">
              <a:latin typeface="微软雅黑" panose="020B0503020204020204" pitchFamily="34" charset="-122"/>
              <a:cs typeface="微软雅黑" panose="020B0503020204020204" pitchFamily="34" charset="-122"/>
            </a:endParaRPr>
          </a:p>
          <a:p>
            <a:pPr marL="196850" indent="-184150">
              <a:lnSpc>
                <a:spcPct val="100000"/>
              </a:lnSpc>
              <a:spcBef>
                <a:spcPts val="300"/>
              </a:spcBef>
              <a:buClr>
                <a:srgbClr val="1C1C1C"/>
              </a:buClr>
              <a:buFont typeface="Arial" panose="020B0604020202020204"/>
              <a:buChar char="•"/>
              <a:tabLst>
                <a:tab pos="196850" algn="l"/>
              </a:tabLst>
            </a:pPr>
            <a:r>
              <a:rPr sz="2000" dirty="0">
                <a:solidFill>
                  <a:srgbClr val="252525"/>
                </a:solidFill>
                <a:latin typeface="微软雅黑" panose="020B0503020204020204" pitchFamily="34" charset="-122"/>
                <a:cs typeface="微软雅黑" panose="020B0503020204020204" pitchFamily="34" charset="-122"/>
              </a:rPr>
              <a:t>客户使用时发现许多</a:t>
            </a:r>
            <a:r>
              <a:rPr sz="2000" dirty="0">
                <a:solidFill>
                  <a:srgbClr val="252525"/>
                </a:solidFill>
                <a:latin typeface="Arial" panose="020B0604020202020204"/>
                <a:cs typeface="Arial" panose="020B0604020202020204"/>
              </a:rPr>
              <a:t>Bug</a:t>
            </a:r>
            <a:endParaRPr sz="2000" dirty="0">
              <a:latin typeface="Arial" panose="020B0604020202020204"/>
              <a:cs typeface="Arial" panose="020B0604020202020204"/>
            </a:endParaRPr>
          </a:p>
        </p:txBody>
      </p:sp>
      <p:sp>
        <p:nvSpPr>
          <p:cNvPr id="5" name="object 4"/>
          <p:cNvSpPr/>
          <p:nvPr/>
        </p:nvSpPr>
        <p:spPr>
          <a:xfrm>
            <a:off x="6027635" y="2147836"/>
            <a:ext cx="2695158" cy="1873250"/>
          </a:xfrm>
          <a:prstGeom prst="rect">
            <a:avLst/>
          </a:prstGeom>
          <a:blipFill>
            <a:blip r:embed="rId4" cstate="print"/>
            <a:stretch>
              <a:fillRect/>
            </a:stretch>
          </a:blipFill>
        </p:spPr>
        <p:txBody>
          <a:bodyPr wrap="square" lIns="0" tIns="0" rIns="0" bIns="0" rtlCol="0"/>
          <a:lstStyle/>
          <a:p>
            <a:endParaRPr/>
          </a:p>
        </p:txBody>
      </p:sp>
      <p:sp>
        <p:nvSpPr>
          <p:cNvPr id="6" name="object 5"/>
          <p:cNvSpPr/>
          <p:nvPr/>
        </p:nvSpPr>
        <p:spPr>
          <a:xfrm>
            <a:off x="3265369" y="2147836"/>
            <a:ext cx="2695158" cy="1873250"/>
          </a:xfrm>
          <a:prstGeom prst="rect">
            <a:avLst/>
          </a:prstGeom>
          <a:blipFill>
            <a:blip r:embed="rId5" cstate="print"/>
            <a:stretch>
              <a:fillRect/>
            </a:stretch>
          </a:blipFill>
        </p:spPr>
        <p:txBody>
          <a:bodyPr wrap="square" lIns="0" tIns="0" rIns="0" bIns="0" rtlCol="0"/>
          <a:lstStyle/>
          <a:p>
            <a:endParaRPr/>
          </a:p>
        </p:txBody>
      </p:sp>
      <p:sp>
        <p:nvSpPr>
          <p:cNvPr id="7" name="object 6"/>
          <p:cNvSpPr/>
          <p:nvPr/>
        </p:nvSpPr>
        <p:spPr>
          <a:xfrm>
            <a:off x="6029921" y="4089350"/>
            <a:ext cx="2695158" cy="1873250"/>
          </a:xfrm>
          <a:prstGeom prst="rect">
            <a:avLst/>
          </a:prstGeom>
          <a:blipFill>
            <a:blip r:embed="rId6" cstate="print"/>
            <a:stretch>
              <a:fillRect/>
            </a:stretch>
          </a:blipFill>
        </p:spPr>
        <p:txBody>
          <a:bodyPr wrap="square" lIns="0" tIns="0" rIns="0" bIns="0" rtlCol="0"/>
          <a:lstStyle/>
          <a:p>
            <a:endParaRPr/>
          </a:p>
        </p:txBody>
      </p:sp>
      <p:sp>
        <p:nvSpPr>
          <p:cNvPr id="8" name="object 7"/>
          <p:cNvSpPr/>
          <p:nvPr/>
        </p:nvSpPr>
        <p:spPr>
          <a:xfrm>
            <a:off x="3267651" y="4089350"/>
            <a:ext cx="2695158" cy="1873250"/>
          </a:xfrm>
          <a:prstGeom prst="rect">
            <a:avLst/>
          </a:prstGeom>
          <a:blipFill>
            <a:blip r:embed="rId7" cstate="print"/>
            <a:stretch>
              <a:fillRect/>
            </a:stretch>
          </a:blipFill>
        </p:spPr>
        <p:txBody>
          <a:bodyPr wrap="square" lIns="0" tIns="0" rIns="0" bIns="0" rtlCol="0"/>
          <a:lstStyle/>
          <a:p>
            <a:endParaRPr/>
          </a:p>
        </p:txBody>
      </p:sp>
      <p:sp>
        <p:nvSpPr>
          <p:cNvPr id="9" name="object 8"/>
          <p:cNvSpPr txBox="1"/>
          <p:nvPr/>
        </p:nvSpPr>
        <p:spPr>
          <a:xfrm>
            <a:off x="4815489" y="3086485"/>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80808"/>
                </a:solidFill>
                <a:latin typeface="微软雅黑" panose="020B0503020204020204" pitchFamily="34" charset="-122"/>
                <a:cs typeface="微软雅黑" panose="020B0503020204020204" pitchFamily="34" charset="-122"/>
              </a:rPr>
              <a:t>客户</a:t>
            </a:r>
            <a:endParaRPr sz="2400">
              <a:latin typeface="微软雅黑" panose="020B0503020204020204" pitchFamily="34" charset="-122"/>
              <a:cs typeface="微软雅黑" panose="020B0503020204020204" pitchFamily="34" charset="-122"/>
            </a:endParaRPr>
          </a:p>
        </p:txBody>
      </p:sp>
      <p:sp>
        <p:nvSpPr>
          <p:cNvPr id="10" name="object 9"/>
          <p:cNvSpPr txBox="1"/>
          <p:nvPr/>
        </p:nvSpPr>
        <p:spPr>
          <a:xfrm>
            <a:off x="4663089" y="3442085"/>
            <a:ext cx="9398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80808"/>
                </a:solidFill>
                <a:latin typeface="微软雅黑" panose="020B0503020204020204" pitchFamily="34" charset="-122"/>
                <a:cs typeface="微软雅黑" panose="020B0503020204020204" pitchFamily="34" charset="-122"/>
              </a:rPr>
              <a:t>不满意</a:t>
            </a:r>
            <a:endParaRPr sz="2400">
              <a:latin typeface="微软雅黑" panose="020B0503020204020204" pitchFamily="34" charset="-122"/>
              <a:cs typeface="微软雅黑" panose="020B0503020204020204" pitchFamily="34" charset="-122"/>
            </a:endParaRPr>
          </a:p>
        </p:txBody>
      </p:sp>
      <p:sp>
        <p:nvSpPr>
          <p:cNvPr id="11" name="object 10"/>
          <p:cNvSpPr txBox="1"/>
          <p:nvPr/>
        </p:nvSpPr>
        <p:spPr>
          <a:xfrm>
            <a:off x="4572991" y="4303790"/>
            <a:ext cx="2872105" cy="746760"/>
          </a:xfrm>
          <a:prstGeom prst="rect">
            <a:avLst/>
          </a:prstGeom>
        </p:spPr>
        <p:txBody>
          <a:bodyPr vert="horz" wrap="square" lIns="0" tIns="33019" rIns="0" bIns="0" rtlCol="0">
            <a:spAutoFit/>
          </a:bodyPr>
          <a:lstStyle/>
          <a:p>
            <a:pPr marL="317500" marR="5080" indent="-304800">
              <a:lnSpc>
                <a:spcPts val="2800"/>
              </a:lnSpc>
              <a:spcBef>
                <a:spcPts val="260"/>
              </a:spcBef>
              <a:tabLst>
                <a:tab pos="1639570" algn="l"/>
                <a:tab pos="1944370" algn="l"/>
              </a:tabLst>
            </a:pPr>
            <a:r>
              <a:rPr sz="2400" dirty="0">
                <a:latin typeface="微软雅黑" panose="020B0503020204020204" pitchFamily="34" charset="-122"/>
                <a:cs typeface="微软雅黑" panose="020B0503020204020204" pitchFamily="34" charset="-122"/>
              </a:rPr>
              <a:t>项目过程	</a:t>
            </a:r>
            <a:r>
              <a:rPr sz="2400" dirty="0">
                <a:solidFill>
                  <a:srgbClr val="080808"/>
                </a:solidFill>
                <a:latin typeface="微软雅黑" panose="020B0503020204020204" pitchFamily="34" charset="-122"/>
                <a:cs typeface="微软雅黑" panose="020B0503020204020204" pitchFamily="34" charset="-122"/>
              </a:rPr>
              <a:t>无力管理 </a:t>
            </a:r>
            <a:r>
              <a:rPr sz="2400" dirty="0">
                <a:latin typeface="微软雅黑" panose="020B0503020204020204" pitchFamily="34" charset="-122"/>
                <a:cs typeface="微软雅黑" panose="020B0503020204020204" pitchFamily="34" charset="-122"/>
              </a:rPr>
              <a:t>失控		</a:t>
            </a:r>
            <a:r>
              <a:rPr sz="2400" dirty="0">
                <a:solidFill>
                  <a:srgbClr val="080808"/>
                </a:solidFill>
                <a:latin typeface="微软雅黑" panose="020B0503020204020204" pitchFamily="34" charset="-122"/>
                <a:cs typeface="微软雅黑" panose="020B0503020204020204" pitchFamily="34" charset="-122"/>
              </a:rPr>
              <a:t>团队</a:t>
            </a:r>
            <a:endParaRPr sz="2400" dirty="0">
              <a:latin typeface="微软雅黑" panose="020B0503020204020204" pitchFamily="34" charset="-122"/>
              <a:cs typeface="微软雅黑" panose="020B0503020204020204" pitchFamily="34" charset="-122"/>
            </a:endParaRPr>
          </a:p>
        </p:txBody>
      </p:sp>
      <p:sp>
        <p:nvSpPr>
          <p:cNvPr id="12" name="object 11"/>
          <p:cNvSpPr txBox="1"/>
          <p:nvPr/>
        </p:nvSpPr>
        <p:spPr>
          <a:xfrm>
            <a:off x="6203504" y="2132818"/>
            <a:ext cx="4832985" cy="1685289"/>
          </a:xfrm>
          <a:prstGeom prst="rect">
            <a:avLst/>
          </a:prstGeom>
        </p:spPr>
        <p:txBody>
          <a:bodyPr vert="horz" wrap="square" lIns="0" tIns="50800" rIns="0" bIns="0" rtlCol="0">
            <a:spAutoFit/>
          </a:bodyPr>
          <a:lstStyle/>
          <a:p>
            <a:pPr marL="1263650" indent="-186055">
              <a:lnSpc>
                <a:spcPct val="100000"/>
              </a:lnSpc>
              <a:spcBef>
                <a:spcPts val="400"/>
              </a:spcBef>
              <a:buClr>
                <a:srgbClr val="1C1C1C"/>
              </a:buClr>
              <a:buFont typeface="Arial" panose="020B0604020202020204"/>
              <a:buChar char="•"/>
              <a:tabLst>
                <a:tab pos="1264285" algn="l"/>
              </a:tabLst>
            </a:pPr>
            <a:r>
              <a:rPr sz="2000" dirty="0">
                <a:solidFill>
                  <a:srgbClr val="252525"/>
                </a:solidFill>
                <a:latin typeface="微软雅黑" panose="020B0503020204020204" pitchFamily="34" charset="-122"/>
                <a:cs typeface="微软雅黑" panose="020B0503020204020204" pitchFamily="34" charset="-122"/>
              </a:rPr>
              <a:t>开发团队专注技术，忽视风险</a:t>
            </a:r>
            <a:endParaRPr sz="2000" dirty="0">
              <a:latin typeface="微软雅黑" panose="020B0503020204020204" pitchFamily="34" charset="-122"/>
              <a:cs typeface="微软雅黑" panose="020B0503020204020204" pitchFamily="34" charset="-122"/>
            </a:endParaRPr>
          </a:p>
          <a:p>
            <a:pPr marL="1263650" indent="-186055">
              <a:lnSpc>
                <a:spcPct val="100000"/>
              </a:lnSpc>
              <a:spcBef>
                <a:spcPts val="300"/>
              </a:spcBef>
              <a:buClr>
                <a:srgbClr val="1C1C1C"/>
              </a:buClr>
              <a:buFont typeface="Arial" panose="020B0604020202020204"/>
              <a:buChar char="•"/>
              <a:tabLst>
                <a:tab pos="1264285" algn="l"/>
              </a:tabLst>
            </a:pPr>
            <a:r>
              <a:rPr sz="2000" dirty="0">
                <a:solidFill>
                  <a:srgbClr val="252525"/>
                </a:solidFill>
                <a:latin typeface="微软雅黑" panose="020B0503020204020204" pitchFamily="34" charset="-122"/>
                <a:cs typeface="微软雅黑" panose="020B0503020204020204" pitchFamily="34" charset="-122"/>
              </a:rPr>
              <a:t>无能力预测成本，导致预算超支</a:t>
            </a:r>
            <a:endParaRPr sz="2000" dirty="0">
              <a:latin typeface="微软雅黑" panose="020B0503020204020204" pitchFamily="34" charset="-122"/>
              <a:cs typeface="微软雅黑" panose="020B0503020204020204" pitchFamily="34" charset="-122"/>
            </a:endParaRPr>
          </a:p>
          <a:p>
            <a:pPr marL="12700" marR="3592830" indent="152400">
              <a:lnSpc>
                <a:spcPts val="2800"/>
              </a:lnSpc>
              <a:spcBef>
                <a:spcPts val="2145"/>
              </a:spcBef>
            </a:pPr>
            <a:r>
              <a:rPr sz="2400" dirty="0">
                <a:latin typeface="微软雅黑" panose="020B0503020204020204" pitchFamily="34" charset="-122"/>
                <a:cs typeface="微软雅黑" panose="020B0503020204020204" pitchFamily="34" charset="-122"/>
              </a:rPr>
              <a:t>风险与 成本问题</a:t>
            </a:r>
          </a:p>
        </p:txBody>
      </p:sp>
      <p:sp>
        <p:nvSpPr>
          <p:cNvPr id="13" name="object 12"/>
          <p:cNvSpPr txBox="1"/>
          <p:nvPr/>
        </p:nvSpPr>
        <p:spPr>
          <a:xfrm>
            <a:off x="939696" y="5093139"/>
            <a:ext cx="4275455" cy="1054100"/>
          </a:xfrm>
          <a:prstGeom prst="rect">
            <a:avLst/>
          </a:prstGeom>
        </p:spPr>
        <p:txBody>
          <a:bodyPr vert="horz" wrap="square" lIns="0" tIns="50800" rIns="0" bIns="0" rtlCol="0">
            <a:spAutoFit/>
          </a:bodyPr>
          <a:lstStyle/>
          <a:p>
            <a:pPr marL="198120" indent="-186055">
              <a:lnSpc>
                <a:spcPct val="100000"/>
              </a:lnSpc>
              <a:spcBef>
                <a:spcPts val="400"/>
              </a:spcBef>
              <a:buClr>
                <a:srgbClr val="1C1C1C"/>
              </a:buClr>
              <a:buFont typeface="Arial" panose="020B0604020202020204"/>
              <a:buChar char="•"/>
              <a:tabLst>
                <a:tab pos="198755" algn="l"/>
              </a:tabLst>
            </a:pPr>
            <a:r>
              <a:rPr sz="2000" dirty="0">
                <a:solidFill>
                  <a:srgbClr val="252525"/>
                </a:solidFill>
                <a:latin typeface="微软雅黑" panose="020B0503020204020204" pitchFamily="34" charset="-122"/>
                <a:cs typeface="微软雅黑" panose="020B0503020204020204" pitchFamily="34" charset="-122"/>
              </a:rPr>
              <a:t>客户需求变化频繁，无力应对</a:t>
            </a:r>
            <a:endParaRPr sz="2000" dirty="0">
              <a:latin typeface="微软雅黑" panose="020B0503020204020204" pitchFamily="34" charset="-122"/>
              <a:cs typeface="微软雅黑" panose="020B0503020204020204" pitchFamily="34" charset="-122"/>
            </a:endParaRPr>
          </a:p>
          <a:p>
            <a:pPr marL="198120" indent="-186055">
              <a:lnSpc>
                <a:spcPct val="100000"/>
              </a:lnSpc>
              <a:spcBef>
                <a:spcPts val="300"/>
              </a:spcBef>
              <a:buClr>
                <a:srgbClr val="1C1C1C"/>
              </a:buClr>
              <a:buFont typeface="Arial" panose="020B0604020202020204"/>
              <a:buChar char="•"/>
              <a:tabLst>
                <a:tab pos="198755" algn="l"/>
              </a:tabLst>
            </a:pPr>
            <a:r>
              <a:rPr sz="2000" dirty="0">
                <a:solidFill>
                  <a:srgbClr val="252525"/>
                </a:solidFill>
                <a:latin typeface="微软雅黑" panose="020B0503020204020204" pitchFamily="34" charset="-122"/>
                <a:cs typeface="微软雅黑" panose="020B0503020204020204" pitchFamily="34" charset="-122"/>
              </a:rPr>
              <a:t>无法预见软件的交付质量</a:t>
            </a:r>
            <a:endParaRPr sz="2000" dirty="0">
              <a:latin typeface="微软雅黑" panose="020B0503020204020204" pitchFamily="34" charset="-122"/>
              <a:cs typeface="微软雅黑" panose="020B0503020204020204" pitchFamily="34" charset="-122"/>
            </a:endParaRPr>
          </a:p>
          <a:p>
            <a:pPr marL="198120" indent="-186055">
              <a:lnSpc>
                <a:spcPct val="100000"/>
              </a:lnSpc>
              <a:spcBef>
                <a:spcPts val="300"/>
              </a:spcBef>
              <a:buClr>
                <a:srgbClr val="1C1C1C"/>
              </a:buClr>
              <a:buFont typeface="Arial" panose="020B0604020202020204"/>
              <a:buChar char="•"/>
              <a:tabLst>
                <a:tab pos="198755" algn="l"/>
              </a:tabLst>
            </a:pPr>
            <a:r>
              <a:rPr sz="2000" dirty="0">
                <a:solidFill>
                  <a:srgbClr val="252525"/>
                </a:solidFill>
                <a:latin typeface="微软雅黑" panose="020B0503020204020204" pitchFamily="34" charset="-122"/>
                <a:cs typeface="微软雅黑" panose="020B0503020204020204" pitchFamily="34" charset="-122"/>
              </a:rPr>
              <a:t>对流程盲目遵从，忽视客户业务价值</a:t>
            </a:r>
            <a:endParaRPr sz="2000" dirty="0">
              <a:latin typeface="微软雅黑" panose="020B0503020204020204" pitchFamily="34" charset="-122"/>
              <a:cs typeface="微软雅黑" panose="020B0503020204020204" pitchFamily="34" charset="-122"/>
            </a:endParaRPr>
          </a:p>
        </p:txBody>
      </p:sp>
      <p:sp>
        <p:nvSpPr>
          <p:cNvPr id="14" name="object 13"/>
          <p:cNvSpPr txBox="1"/>
          <p:nvPr/>
        </p:nvSpPr>
        <p:spPr>
          <a:xfrm>
            <a:off x="7230849" y="5396741"/>
            <a:ext cx="4021454" cy="711200"/>
          </a:xfrm>
          <a:prstGeom prst="rect">
            <a:avLst/>
          </a:prstGeom>
        </p:spPr>
        <p:txBody>
          <a:bodyPr vert="horz" wrap="square" lIns="0" tIns="50800" rIns="0" bIns="0" rtlCol="0">
            <a:spAutoFit/>
          </a:bodyPr>
          <a:lstStyle/>
          <a:p>
            <a:pPr marL="198120" indent="-186055">
              <a:lnSpc>
                <a:spcPct val="100000"/>
              </a:lnSpc>
              <a:spcBef>
                <a:spcPts val="400"/>
              </a:spcBef>
              <a:buClr>
                <a:srgbClr val="1C1C1C"/>
              </a:buClr>
              <a:buFont typeface="Arial" panose="020B0604020202020204"/>
              <a:buChar char="•"/>
              <a:tabLst>
                <a:tab pos="198755" algn="l"/>
              </a:tabLst>
            </a:pPr>
            <a:r>
              <a:rPr sz="2000" dirty="0">
                <a:solidFill>
                  <a:srgbClr val="252525"/>
                </a:solidFill>
                <a:latin typeface="微软雅黑" panose="020B0503020204020204" pitchFamily="34" charset="-122"/>
                <a:cs typeface="微软雅黑" panose="020B0503020204020204" pitchFamily="34" charset="-122"/>
              </a:rPr>
              <a:t>无法评估开发人员能力及工作进度</a:t>
            </a:r>
            <a:endParaRPr sz="2000" dirty="0">
              <a:latin typeface="微软雅黑" panose="020B0503020204020204" pitchFamily="34" charset="-122"/>
              <a:cs typeface="微软雅黑" panose="020B0503020204020204" pitchFamily="34" charset="-122"/>
            </a:endParaRPr>
          </a:p>
          <a:p>
            <a:pPr marL="198120" indent="-186055">
              <a:lnSpc>
                <a:spcPct val="100000"/>
              </a:lnSpc>
              <a:spcBef>
                <a:spcPts val="300"/>
              </a:spcBef>
              <a:buClr>
                <a:srgbClr val="1C1C1C"/>
              </a:buClr>
              <a:buFont typeface="Arial" panose="020B0604020202020204"/>
              <a:buChar char="•"/>
              <a:tabLst>
                <a:tab pos="198755" algn="l"/>
              </a:tabLst>
            </a:pPr>
            <a:r>
              <a:rPr sz="2000" dirty="0">
                <a:solidFill>
                  <a:srgbClr val="252525"/>
                </a:solidFill>
                <a:latin typeface="微软雅黑" panose="020B0503020204020204" pitchFamily="34" charset="-122"/>
                <a:cs typeface="微软雅黑" panose="020B0503020204020204" pitchFamily="34" charset="-122"/>
              </a:rPr>
              <a:t>困扰于如何提升团队的能力与效率</a:t>
            </a:r>
            <a:endParaRPr sz="2000" dirty="0">
              <a:latin typeface="微软雅黑" panose="020B0503020204020204" pitchFamily="34" charset="-122"/>
              <a:cs typeface="微软雅黑" panose="020B0503020204020204" pitchFamily="34" charset="-122"/>
            </a:endParaRPr>
          </a:p>
        </p:txBody>
      </p:sp>
      <p:sp>
        <p:nvSpPr>
          <p:cNvPr id="16" name="灯片编号占位符 15"/>
          <p:cNvSpPr>
            <a:spLocks noGrp="1"/>
          </p:cNvSpPr>
          <p:nvPr>
            <p:ph type="sldNum" sz="quarter" idx="12"/>
          </p:nvPr>
        </p:nvSpPr>
        <p:spPr/>
        <p:txBody>
          <a:bodyPr/>
          <a:lstStyle/>
          <a:p>
            <a:fld id="{74D2AB8B-5816-41F2-8B4B-CA5C3E4E6A65}" type="slidenum">
              <a:rPr lang="zh-CN" altLang="en-US" smtClean="0"/>
              <a:t>58</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panose="020B0503020204020204" pitchFamily="34" charset="-122"/>
                <a:ea typeface="微软雅黑" panose="020B0503020204020204" pitchFamily="34" charset="-122"/>
              </a:rPr>
              <a:t>软件质量</a:t>
            </a:r>
          </a:p>
        </p:txBody>
      </p:sp>
      <p:sp>
        <p:nvSpPr>
          <p:cNvPr id="3" name="内容占位符 2"/>
          <p:cNvSpPr>
            <a:spLocks noGrp="1"/>
          </p:cNvSpPr>
          <p:nvPr>
            <p:ph idx="1"/>
          </p:nvPr>
        </p:nvSpPr>
        <p:spPr/>
        <p:txBody>
          <a:bodyPr/>
          <a:lstStyle/>
          <a:p>
            <a:pPr marL="457200" indent="-457200">
              <a:buClr>
                <a:schemeClr val="accent3"/>
              </a:buClr>
              <a:defRP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缺乏质量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有缺陷</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749935" lvl="1" indent="-457200">
              <a:buClr>
                <a:schemeClr val="accent3"/>
              </a:buClr>
              <a:defRPr/>
            </a:pPr>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Lack of quality = defect (bug)</a:t>
            </a:r>
          </a:p>
          <a:p>
            <a:pPr marL="749935" lvl="1" indent="-457200">
              <a:buClr>
                <a:schemeClr val="accent3"/>
              </a:buClr>
              <a:defRPr/>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749935" lvl="1" indent="-457200">
              <a:buClr>
                <a:schemeClr val="accent3"/>
              </a:buClr>
              <a:defRPr/>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latin typeface="微软雅黑" panose="020B0503020204020204" pitchFamily="34" charset="-122"/>
                <a:ea typeface="微软雅黑" panose="020B0503020204020204" pitchFamily="34" charset="-122"/>
              </a:rPr>
              <a:t>59</a:t>
            </a:fld>
            <a:endParaRPr lang="zh-CN" altLang="en-US">
              <a:latin typeface="微软雅黑" panose="020B0503020204020204" pitchFamily="34" charset="-122"/>
              <a:ea typeface="微软雅黑" panose="020B0503020204020204" pitchFamily="34" charset="-122"/>
            </a:endParaRPr>
          </a:p>
        </p:txBody>
      </p:sp>
      <p:sp>
        <p:nvSpPr>
          <p:cNvPr id="5" name="Content Placeholder 2"/>
          <p:cNvSpPr>
            <a:spLocks noGrp="1"/>
          </p:cNvSpPr>
          <p:nvPr/>
        </p:nvSpPr>
        <p:spPr>
          <a:xfrm>
            <a:off x="6668770" y="3142615"/>
            <a:ext cx="4954905" cy="27273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8745" indent="0">
              <a:buNone/>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1999年“火星气候卫星” 事故</a:t>
            </a:r>
          </a:p>
          <a:p>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总成本是3亿2,760万美元</a:t>
            </a:r>
          </a:p>
          <a:p>
            <a:pPr lvl="1"/>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19,310万美元来研发</a:t>
            </a:r>
          </a:p>
          <a:p>
            <a:pPr lvl="1"/>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9,170万美元来发射</a:t>
            </a:r>
          </a:p>
          <a:p>
            <a:pPr lvl="1"/>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4,280万美元来进行探测任务</a:t>
            </a:r>
          </a:p>
          <a:p>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1998/12/12 发射  </a:t>
            </a:r>
          </a:p>
          <a:p>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十个月之后， 1999年9月23 日，卫星抵达火星大气层，错误的导航参数造成卫星坠入大气层烧毁</a:t>
            </a:r>
          </a:p>
        </p:txBody>
      </p:sp>
      <p:pic>
        <p:nvPicPr>
          <p:cNvPr id="3074" name="Picture 2" descr="Mars Climate Orbiter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2090" y="3249295"/>
            <a:ext cx="2762250" cy="2514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微软雅黑" panose="020B0503020204020204" pitchFamily="34" charset="-122"/>
                <a:ea typeface="微软雅黑" panose="020B0503020204020204" pitchFamily="34" charset="-122"/>
              </a:rPr>
              <a:t>错误的根源</a:t>
            </a:r>
          </a:p>
        </p:txBody>
      </p:sp>
      <p:sp>
        <p:nvSpPr>
          <p:cNvPr id="3" name="内容占位符 2"/>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错误</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1: </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一个模块从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non-mission-critical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变成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mission-critical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没有经历必要的复审和测试。</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错误</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2: </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这个问题从来没有收录到</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NASA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的错误跟踪系统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(Bug tracking system)</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，只是在</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email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中交流，导致最后没有人对这个问题负责。在错误跟踪系统中，总得有一个人“拥有”这一个</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bug</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，这样可以避免推诿责任。</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60</a:t>
            </a:fld>
            <a:endParaRPr lang="zh-CN" altLang="en-US"/>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我们碰到的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bug</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内容占位符 2"/>
          <p:cNvSpPr>
            <a:spLocks noGrp="1"/>
          </p:cNvSpPr>
          <p:nvPr>
            <p:ph idx="1"/>
          </p:nvPr>
        </p:nvSpPr>
        <p:spPr/>
        <p:txBody>
          <a:bodyPr/>
          <a:lstStyle/>
          <a:p>
            <a:pPr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请举例说明你碰到的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bug</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软件的行为和用户的期望值不一样</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崩溃</a:t>
            </a:r>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Crash,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死锁</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数据丢失，错误</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达不到预期功能</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难用</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期望值从哪里来？</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用户</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顾客</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产品</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文化</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61</a:t>
            </a:fld>
            <a:endParaRPr lang="zh-CN" alt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sym typeface="+mn-ea"/>
              </a:rPr>
              <a:t>软件工程的学术研究</a:t>
            </a:r>
            <a:endParaRPr lang="zh-CN" altLang="en-US">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lnSpcReduction="10000"/>
          </a:bodyPr>
          <a:lstStyle/>
          <a:p>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前沿会议</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ICSE </a:t>
            </a:r>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(Intl Conference on Software Engineering)</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ESEC/FSE</a:t>
            </a:r>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 (European Software Eng. Conf &amp; ACM SIGSOFT Symposium on Foundations of Software Eng</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ineering</a:t>
            </a:r>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ASE</a:t>
            </a:r>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 (Intl Conf on Automated Software Engineering)</a:t>
            </a:r>
          </a:p>
          <a:p>
            <a:pPr lvl="1"/>
            <a:r>
              <a:rPr 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ISSTA</a:t>
            </a:r>
          </a:p>
          <a:p>
            <a:pPr lvl="1"/>
            <a:r>
              <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lvl="1"/>
            <a:endParaRPr lang="en-US"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1" indent="0">
              <a:buNone/>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参见</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CCF</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推荐学术期刊</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会议目录</a:t>
            </a:r>
            <a:endParaRPr 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4D2AB8B-5816-41F2-8B4B-CA5C3E4E6A65}" type="slidenum">
              <a:rPr lang="zh-CN" altLang="en-US" smtClean="0"/>
              <a:t>62</a:t>
            </a:fld>
            <a:endParaRPr lang="zh-CN" altLang="en-US"/>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39B29A-8BAD-EE48-865F-394974F2D0F7}"/>
              </a:ext>
            </a:extLst>
          </p:cNvPr>
          <p:cNvSpPr>
            <a:spLocks noGrp="1"/>
          </p:cNvSpPr>
          <p:nvPr>
            <p:ph type="title"/>
          </p:nvPr>
        </p:nvSpPr>
        <p:spPr>
          <a:xfrm>
            <a:off x="838200" y="365126"/>
            <a:ext cx="10515600" cy="988890"/>
          </a:xfrm>
        </p:spPr>
        <p:txBody>
          <a:bodyPr/>
          <a:lstStyle/>
          <a:p>
            <a:r>
              <a:rPr kumimoji="1" lang="zh-CN" altLang="en-US" dirty="0"/>
              <a:t>总结</a:t>
            </a:r>
          </a:p>
        </p:txBody>
      </p:sp>
      <p:sp>
        <p:nvSpPr>
          <p:cNvPr id="3" name="内容占位符 2">
            <a:extLst>
              <a:ext uri="{FF2B5EF4-FFF2-40B4-BE49-F238E27FC236}">
                <a16:creationId xmlns:a16="http://schemas.microsoft.com/office/drawing/2014/main" id="{54740B38-8267-7345-85AD-9BBEF03AB38A}"/>
              </a:ext>
            </a:extLst>
          </p:cNvPr>
          <p:cNvSpPr>
            <a:spLocks noGrp="1"/>
          </p:cNvSpPr>
          <p:nvPr>
            <p:ph idx="1"/>
          </p:nvPr>
        </p:nvSpPr>
        <p:spPr>
          <a:xfrm>
            <a:off x="644770" y="1464229"/>
            <a:ext cx="10515600" cy="4351338"/>
          </a:xfrm>
        </p:spPr>
        <p:txBody>
          <a:bodyPr>
            <a:normAutofit fontScale="92500" lnSpcReduction="10000"/>
          </a:bodyPr>
          <a:lstStyle/>
          <a:p>
            <a:r>
              <a:rPr kumimoji="1" lang="zh-CN" altLang="en-US" b="1" dirty="0"/>
              <a:t>软件</a:t>
            </a:r>
            <a:r>
              <a:rPr kumimoji="1" lang="en-US" altLang="zh-CN" b="1" dirty="0"/>
              <a:t>=</a:t>
            </a:r>
            <a:r>
              <a:rPr kumimoji="1" lang="zh-CN" altLang="en-US" b="1" dirty="0"/>
              <a:t> 程序 </a:t>
            </a:r>
            <a:r>
              <a:rPr kumimoji="1" lang="en-US" altLang="zh-CN" b="1" dirty="0"/>
              <a:t>+</a:t>
            </a:r>
            <a:r>
              <a:rPr kumimoji="1" lang="zh-CN" altLang="en-US" b="1" dirty="0"/>
              <a:t> 数据 </a:t>
            </a:r>
            <a:r>
              <a:rPr kumimoji="1" lang="en-US" altLang="zh-CN" b="1" dirty="0"/>
              <a:t>+ </a:t>
            </a:r>
            <a:r>
              <a:rPr kumimoji="1" lang="zh-CN" altLang="en-US" b="1" dirty="0"/>
              <a:t>文档</a:t>
            </a:r>
            <a:endParaRPr kumimoji="1" lang="en-US" altLang="zh-CN" b="1" dirty="0"/>
          </a:p>
          <a:p>
            <a:endParaRPr kumimoji="1" lang="en-US" altLang="zh-CN" b="1" dirty="0"/>
          </a:p>
          <a:p>
            <a:r>
              <a:rPr kumimoji="1" lang="zh-CN" altLang="en-US" b="1" dirty="0"/>
              <a:t>软件的特性：复杂性、不可见性、易变性、非连续性等等</a:t>
            </a:r>
            <a:endParaRPr kumimoji="1" lang="en-US" altLang="zh-CN" b="1" dirty="0"/>
          </a:p>
          <a:p>
            <a:pPr marL="0" indent="0">
              <a:buNone/>
            </a:pPr>
            <a:endParaRPr kumimoji="1" lang="en-US" altLang="zh-CN" b="1" dirty="0"/>
          </a:p>
          <a:p>
            <a:r>
              <a:rPr kumimoji="1" lang="zh-CN" altLang="en-US" b="1" dirty="0"/>
              <a:t>什么是软件工程？是把系统的、有序的、可量化的方法应用到软件的开发、运营和维护上的过程。</a:t>
            </a:r>
            <a:endParaRPr kumimoji="1" lang="en-US" altLang="zh-CN" b="1" dirty="0"/>
          </a:p>
          <a:p>
            <a:endParaRPr kumimoji="1" lang="en-US" altLang="zh-CN" b="1" dirty="0"/>
          </a:p>
          <a:p>
            <a:r>
              <a:rPr kumimoji="1" lang="zh-CN" altLang="en-US" b="1" dirty="0"/>
              <a:t>软件工程与软件开发流程，软件与服务，软件与程序</a:t>
            </a:r>
            <a:endParaRPr kumimoji="1" lang="en-US" altLang="zh-CN" b="1" dirty="0"/>
          </a:p>
          <a:p>
            <a:endParaRPr kumimoji="1" lang="en-US" altLang="zh-CN" b="1" dirty="0"/>
          </a:p>
          <a:p>
            <a:r>
              <a:rPr kumimoji="1" lang="zh-CN" altLang="en-US" b="1" dirty="0"/>
              <a:t>软件挑战和软件质量的例子</a:t>
            </a:r>
          </a:p>
        </p:txBody>
      </p:sp>
      <p:sp>
        <p:nvSpPr>
          <p:cNvPr id="4" name="灯片编号占位符 3">
            <a:extLst>
              <a:ext uri="{FF2B5EF4-FFF2-40B4-BE49-F238E27FC236}">
                <a16:creationId xmlns:a16="http://schemas.microsoft.com/office/drawing/2014/main" id="{DA3259F4-B03D-2544-A487-208ED0E37AF1}"/>
              </a:ext>
            </a:extLst>
          </p:cNvPr>
          <p:cNvSpPr>
            <a:spLocks noGrp="1"/>
          </p:cNvSpPr>
          <p:nvPr>
            <p:ph type="sldNum" sz="quarter" idx="12"/>
          </p:nvPr>
        </p:nvSpPr>
        <p:spPr/>
        <p:txBody>
          <a:bodyPr/>
          <a:lstStyle/>
          <a:p>
            <a:fld id="{74D2AB8B-5816-41F2-8B4B-CA5C3E4E6A65}" type="slidenum">
              <a:rPr lang="zh-CN" altLang="en-US" smtClean="0"/>
              <a:t>63</a:t>
            </a:fld>
            <a:endParaRPr lang="zh-CN" altLang="en-US"/>
          </a:p>
        </p:txBody>
      </p:sp>
    </p:spTree>
    <p:extLst>
      <p:ext uri="{BB962C8B-B14F-4D97-AF65-F5344CB8AC3E}">
        <p14:creationId xmlns:p14="http://schemas.microsoft.com/office/powerpoint/2010/main" val="40338451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8.7|4.7|5.1|13.9|7.7|3.9|3.1|2.6|11.7"/>
</p:tagLst>
</file>

<file path=ppt/tags/tag2.xml><?xml version="1.0" encoding="utf-8"?>
<p:tagLst xmlns:a="http://schemas.openxmlformats.org/drawingml/2006/main" xmlns:r="http://schemas.openxmlformats.org/officeDocument/2006/relationships" xmlns:p="http://schemas.openxmlformats.org/presentationml/2006/main">
  <p:tag name="TIMING" val="|6.9|5.8|7.2|9.7"/>
</p:tagLst>
</file>

<file path=ppt/tags/tag3.xml><?xml version="1.0" encoding="utf-8"?>
<p:tagLst xmlns:a="http://schemas.openxmlformats.org/drawingml/2006/main" xmlns:r="http://schemas.openxmlformats.org/officeDocument/2006/relationships" xmlns:p="http://schemas.openxmlformats.org/presentationml/2006/main">
  <p:tag name="TIMING" val="|10.5|1.1|1.4"/>
</p:tagLst>
</file>

<file path=ppt/tags/tag4.xml><?xml version="1.0" encoding="utf-8"?>
<p:tagLst xmlns:a="http://schemas.openxmlformats.org/drawingml/2006/main" xmlns:r="http://schemas.openxmlformats.org/officeDocument/2006/relationships" xmlns:p="http://schemas.openxmlformats.org/presentationml/2006/main">
  <p:tag name="TIMING" val="|7.2|2.7|1.7"/>
</p:tagLst>
</file>

<file path=ppt/tags/tag5.xml><?xml version="1.0" encoding="utf-8"?>
<p:tagLst xmlns:a="http://schemas.openxmlformats.org/drawingml/2006/main" xmlns:r="http://schemas.openxmlformats.org/officeDocument/2006/relationships" xmlns:p="http://schemas.openxmlformats.org/presentationml/2006/main">
  <p:tag name="TIMING" val="|31.3"/>
</p:tagLst>
</file>

<file path=ppt/tags/tag6.xml><?xml version="1.0" encoding="utf-8"?>
<p:tagLst xmlns:a="http://schemas.openxmlformats.org/drawingml/2006/main" xmlns:r="http://schemas.openxmlformats.org/officeDocument/2006/relationships" xmlns:p="http://schemas.openxmlformats.org/presentationml/2006/main">
  <p:tag name="TIMING" val="|21.2"/>
</p:tagLst>
</file>

<file path=ppt/tags/tag7.xml><?xml version="1.0" encoding="utf-8"?>
<p:tagLst xmlns:a="http://schemas.openxmlformats.org/drawingml/2006/main" xmlns:r="http://schemas.openxmlformats.org/officeDocument/2006/relationships" xmlns:p="http://schemas.openxmlformats.org/presentationml/2006/main">
  <p:tag name="TIMING" val="|9.3|4.8|5|11|1|16.8|0.6|12.9|1|7.9|0.7|14.4"/>
</p:tagLst>
</file>

<file path=ppt/tags/tag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TIMING" val="|18.7|35.4"/>
</p:tagLst>
</file>

<file path=ppt/tags/tag27.xml><?xml version="1.0" encoding="utf-8"?>
<p:tagLst xmlns:a="http://schemas.openxmlformats.org/drawingml/2006/main" xmlns:r="http://schemas.openxmlformats.org/officeDocument/2006/relationships" xmlns:p="http://schemas.openxmlformats.org/presentationml/2006/main">
  <p:tag name="TIMING" val="|20.6"/>
</p:tagLst>
</file>

<file path=ppt/tags/tag28.xml><?xml version="1.0" encoding="utf-8"?>
<p:tagLst xmlns:a="http://schemas.openxmlformats.org/drawingml/2006/main" xmlns:r="http://schemas.openxmlformats.org/officeDocument/2006/relationships" xmlns:p="http://schemas.openxmlformats.org/presentationml/2006/main">
  <p:tag name="TIMING" val="|8.2|16.2|18.1|10.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6946</TotalTime>
  <Words>6664</Words>
  <Application>Microsoft Macintosh PowerPoint</Application>
  <PresentationFormat>宽屏</PresentationFormat>
  <Paragraphs>702</Paragraphs>
  <Slides>63</Slides>
  <Notes>38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63</vt:i4>
      </vt:variant>
    </vt:vector>
  </HeadingPairs>
  <TitlesOfParts>
    <vt:vector size="75" baseType="lpstr">
      <vt:lpstr>-apple-system</vt:lpstr>
      <vt:lpstr>宋体</vt:lpstr>
      <vt:lpstr>微软雅黑</vt:lpstr>
      <vt:lpstr>微软雅黑</vt:lpstr>
      <vt:lpstr>inherit</vt:lpstr>
      <vt:lpstr>Microsoft YaHei UI</vt:lpstr>
      <vt:lpstr>PingFang SC</vt:lpstr>
      <vt:lpstr>Arial</vt:lpstr>
      <vt:lpstr>Calibri</vt:lpstr>
      <vt:lpstr>Calibri Light</vt:lpstr>
      <vt:lpstr>Times New Roman</vt:lpstr>
      <vt:lpstr>Office 主题</vt:lpstr>
      <vt:lpstr>软件工程课程介绍</vt:lpstr>
      <vt:lpstr>自我简介</vt:lpstr>
      <vt:lpstr>课堂要求</vt:lpstr>
      <vt:lpstr>软考中的软件工程</vt:lpstr>
      <vt:lpstr>企业中的软件工程</vt:lpstr>
      <vt:lpstr>课程内容</vt:lpstr>
      <vt:lpstr>软件工程课程介绍</vt:lpstr>
      <vt:lpstr>怎么算学会了软件工程</vt:lpstr>
      <vt:lpstr>如何学习软件工程</vt:lpstr>
      <vt:lpstr>你会学到什么</vt:lpstr>
      <vt:lpstr>各种层次的收获(认知层次)</vt:lpstr>
      <vt:lpstr>课程期望</vt:lpstr>
      <vt:lpstr>失败的瀑布模式授课</vt:lpstr>
      <vt:lpstr>稍作修改</vt:lpstr>
      <vt:lpstr>教课过程</vt:lpstr>
      <vt:lpstr>教课特点 – 自己动手去做</vt:lpstr>
      <vt:lpstr>大学教育 vs. IT行业培训</vt:lpstr>
      <vt:lpstr>考勤</vt:lpstr>
      <vt:lpstr>作业类型</vt:lpstr>
      <vt:lpstr>怎样得高分</vt:lpstr>
      <vt:lpstr>怎样得高分</vt:lpstr>
      <vt:lpstr>用结果说话</vt:lpstr>
      <vt:lpstr>如何看待作业中的各种失败？</vt:lpstr>
      <vt:lpstr>课程管理</vt:lpstr>
      <vt:lpstr>课程资源（一）</vt:lpstr>
      <vt:lpstr>课程资源（二）</vt:lpstr>
      <vt:lpstr>课程资源（三）</vt:lpstr>
      <vt:lpstr>谢谢！  飞书、邮箱… </vt:lpstr>
      <vt:lpstr>第1章 软件工程概论 Chpt. 1 Course Introduction</vt:lpstr>
      <vt:lpstr>本节内容</vt:lpstr>
      <vt:lpstr>软件无处不在</vt:lpstr>
      <vt:lpstr>什么是软件？</vt:lpstr>
      <vt:lpstr>什么是软件？</vt:lpstr>
      <vt:lpstr>软件的多样性（一）</vt:lpstr>
      <vt:lpstr>软件的多样性（二）</vt:lpstr>
      <vt:lpstr>软件的复杂性（一）</vt:lpstr>
      <vt:lpstr>软件的复杂性（二）</vt:lpstr>
      <vt:lpstr>软件的复杂性（三）</vt:lpstr>
      <vt:lpstr>软件的不可见性</vt:lpstr>
      <vt:lpstr>软件的易变性</vt:lpstr>
      <vt:lpstr>软件的非连续性</vt:lpstr>
      <vt:lpstr>软件的其它特性</vt:lpstr>
      <vt:lpstr>PowerPoint 演示文稿</vt:lpstr>
      <vt:lpstr>什么是软件工程？</vt:lpstr>
      <vt:lpstr>软件工程和软件开发流程</vt:lpstr>
      <vt:lpstr>为何要搞工程?</vt:lpstr>
      <vt:lpstr>软件与服务</vt:lpstr>
      <vt:lpstr>软件：很多细节</vt:lpstr>
      <vt:lpstr>更多需求</vt:lpstr>
      <vt:lpstr>软件与程序</vt:lpstr>
      <vt:lpstr>当出问题的时候…</vt:lpstr>
      <vt:lpstr>软件开发面临的挑战（一）</vt:lpstr>
      <vt:lpstr>软件开发面临的挑战（二）</vt:lpstr>
      <vt:lpstr>软件开发面临的挑战（三）</vt:lpstr>
      <vt:lpstr>举例1：ARIANE 5 火箭</vt:lpstr>
      <vt:lpstr>举例2：Windows Vista系统</vt:lpstr>
      <vt:lpstr>举例3：12306 网络购票系统</vt:lpstr>
      <vt:lpstr>软件开发面临以下挑战</vt:lpstr>
      <vt:lpstr>软件质量</vt:lpstr>
      <vt:lpstr>错误的根源</vt:lpstr>
      <vt:lpstr>我们碰到的bug</vt:lpstr>
      <vt:lpstr>软件工程的学术研究</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dc:title>
  <dc:creator>CAI Xiangrui</dc:creator>
  <cp:lastModifiedBy>Microsoft Office User</cp:lastModifiedBy>
  <cp:revision>643</cp:revision>
  <dcterms:created xsi:type="dcterms:W3CDTF">2020-02-05T07:10:00Z</dcterms:created>
  <dcterms:modified xsi:type="dcterms:W3CDTF">2026-03-02T05:45:50Z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2052-11.1.0.10723</vt:lpwstr>
  </property>
  <property fmtid="{D5CDD505-2E9C-101B-9397-08002B2CF9AE}" pid="3" name="ICV">
    <vt:lpwstr>35EDBE2CDE064985B1C24E51A1BFA2F1</vt:lpwstr>
  </property>
</Properties>
</file>