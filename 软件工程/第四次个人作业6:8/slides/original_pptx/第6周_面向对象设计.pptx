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7"/>
  </p:notesMasterIdLst>
  <p:handoutMasterIdLst>
    <p:handoutMasterId r:id="rId83"/>
  </p:handoutMasterIdLst>
  <p:sldIdLst>
    <p:sldId id="637" r:id="rId3"/>
    <p:sldId id="675" r:id="rId4"/>
    <p:sldId id="638" r:id="rId5"/>
    <p:sldId id="639" r:id="rId6"/>
    <p:sldId id="640" r:id="rId8"/>
    <p:sldId id="406" r:id="rId9"/>
    <p:sldId id="256" r:id="rId10"/>
    <p:sldId id="257" r:id="rId11"/>
    <p:sldId id="258" r:id="rId12"/>
    <p:sldId id="260" r:id="rId13"/>
    <p:sldId id="278" r:id="rId14"/>
    <p:sldId id="274" r:id="rId15"/>
    <p:sldId id="275" r:id="rId16"/>
    <p:sldId id="276" r:id="rId17"/>
    <p:sldId id="264" r:id="rId18"/>
    <p:sldId id="277" r:id="rId19"/>
    <p:sldId id="280" r:id="rId20"/>
    <p:sldId id="282" r:id="rId21"/>
    <p:sldId id="283" r:id="rId22"/>
    <p:sldId id="281" r:id="rId23"/>
    <p:sldId id="405" r:id="rId24"/>
    <p:sldId id="407" r:id="rId25"/>
    <p:sldId id="408" r:id="rId26"/>
    <p:sldId id="305" r:id="rId27"/>
    <p:sldId id="310" r:id="rId28"/>
    <p:sldId id="306" r:id="rId29"/>
    <p:sldId id="307" r:id="rId30"/>
    <p:sldId id="308" r:id="rId31"/>
    <p:sldId id="309" r:id="rId32"/>
    <p:sldId id="311" r:id="rId33"/>
    <p:sldId id="313" r:id="rId34"/>
    <p:sldId id="314" r:id="rId35"/>
    <p:sldId id="315" r:id="rId36"/>
    <p:sldId id="316" r:id="rId37"/>
    <p:sldId id="317" r:id="rId38"/>
    <p:sldId id="318" r:id="rId39"/>
    <p:sldId id="319" r:id="rId40"/>
    <p:sldId id="320" r:id="rId41"/>
    <p:sldId id="321" r:id="rId42"/>
    <p:sldId id="322" r:id="rId43"/>
    <p:sldId id="323" r:id="rId44"/>
    <p:sldId id="324" r:id="rId45"/>
    <p:sldId id="325" r:id="rId46"/>
    <p:sldId id="326" r:id="rId47"/>
    <p:sldId id="296" r:id="rId48"/>
    <p:sldId id="297" r:id="rId49"/>
    <p:sldId id="327" r:id="rId50"/>
    <p:sldId id="328" r:id="rId51"/>
    <p:sldId id="329" r:id="rId52"/>
    <p:sldId id="330" r:id="rId53"/>
    <p:sldId id="331" r:id="rId54"/>
    <p:sldId id="304" r:id="rId55"/>
    <p:sldId id="649" r:id="rId56"/>
    <p:sldId id="650" r:id="rId57"/>
    <p:sldId id="651" r:id="rId58"/>
    <p:sldId id="409" r:id="rId59"/>
    <p:sldId id="349" r:id="rId60"/>
    <p:sldId id="350" r:id="rId61"/>
    <p:sldId id="351" r:id="rId62"/>
    <p:sldId id="352" r:id="rId63"/>
    <p:sldId id="353" r:id="rId64"/>
    <p:sldId id="354" r:id="rId65"/>
    <p:sldId id="263" r:id="rId66"/>
    <p:sldId id="338" r:id="rId67"/>
    <p:sldId id="356" r:id="rId68"/>
    <p:sldId id="361" r:id="rId69"/>
    <p:sldId id="358" r:id="rId70"/>
    <p:sldId id="362" r:id="rId71"/>
    <p:sldId id="363" r:id="rId72"/>
    <p:sldId id="364" r:id="rId73"/>
    <p:sldId id="365" r:id="rId74"/>
    <p:sldId id="366" r:id="rId75"/>
    <p:sldId id="367" r:id="rId76"/>
    <p:sldId id="368" r:id="rId77"/>
    <p:sldId id="369" r:id="rId78"/>
    <p:sldId id="371" r:id="rId79"/>
    <p:sldId id="370" r:id="rId80"/>
    <p:sldId id="372" r:id="rId81"/>
    <p:sldId id="347" r:id="rId82"/>
  </p:sldIdLst>
  <p:sldSz cx="12192000" cy="6858000"/>
  <p:notesSz cx="6858000" cy="9144000"/>
  <p:custDataLst>
    <p:tags r:id="rId8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1" autoAdjust="0"/>
    <p:restoredTop sz="83881" autoAdjust="0"/>
  </p:normalViewPr>
  <p:slideViewPr>
    <p:cSldViewPr snapToGrid="0">
      <p:cViewPr varScale="1">
        <p:scale>
          <a:sx n="59" d="100"/>
          <a:sy n="59" d="100"/>
        </p:scale>
        <p:origin x="663" y="45"/>
      </p:cViewPr>
      <p:guideLst/>
    </p:cSldViewPr>
  </p:slideViewPr>
  <p:notesTextViewPr>
    <p:cViewPr>
      <p:scale>
        <a:sx n="1" d="1"/>
        <a:sy n="1" d="1"/>
      </p:scale>
      <p:origin x="0" y="0"/>
    </p:cViewPr>
  </p:notesTextViewPr>
  <p:notesViewPr>
    <p:cSldViewPr snapToGrid="0">
      <p:cViewPr varScale="1">
        <p:scale>
          <a:sx n="91" d="100"/>
          <a:sy n="91" d="100"/>
        </p:scale>
        <p:origin x="3564" y="66"/>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7" Type="http://schemas.openxmlformats.org/officeDocument/2006/relationships/tags" Target="tags/tag53.xml"/><Relationship Id="rId86" Type="http://schemas.openxmlformats.org/officeDocument/2006/relationships/tableStyles" Target="tableStyles.xml"/><Relationship Id="rId85" Type="http://schemas.openxmlformats.org/officeDocument/2006/relationships/viewProps" Target="viewProps.xml"/><Relationship Id="rId84" Type="http://schemas.openxmlformats.org/officeDocument/2006/relationships/presProps" Target="presProps.xml"/><Relationship Id="rId83" Type="http://schemas.openxmlformats.org/officeDocument/2006/relationships/handoutMaster" Target="handoutMasters/handoutMaster1.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notesMaster" Target="notesMasters/notesMaster1.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DF93876-BC66-44D0-A782-3029BC273055}"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266AF24-79C7-4806-8694-F79DC346854C}"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F512EB-98A4-4BE7-BD65-71E5CEC2079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308F8E-A66F-462A-B457-A69A741C093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4</a:t>
            </a:r>
            <a:r>
              <a:rPr lang="zh-CN" altLang="en-US" dirty="0"/>
              <a:t>，</a:t>
            </a:r>
            <a:r>
              <a:rPr lang="en-US" altLang="zh-CN" dirty="0"/>
              <a:t>6</a:t>
            </a:r>
            <a:r>
              <a:rPr lang="zh-CN" altLang="en-US" dirty="0"/>
              <a:t>，</a:t>
            </a:r>
            <a:r>
              <a:rPr lang="en-US" altLang="zh-CN" dirty="0"/>
              <a:t>8</a:t>
            </a:r>
            <a:r>
              <a:rPr lang="zh-CN" altLang="en-US" dirty="0"/>
              <a:t>，</a:t>
            </a:r>
            <a:r>
              <a:rPr lang="en-US" altLang="zh-CN" dirty="0"/>
              <a:t>9</a:t>
            </a:r>
            <a:r>
              <a:rPr lang="zh-CN" altLang="en-US" dirty="0"/>
              <a:t>未</a:t>
            </a:r>
            <a:endParaRPr lang="zh-CN" altLang="en-US" dirty="0"/>
          </a:p>
        </p:txBody>
      </p:sp>
      <p:sp>
        <p:nvSpPr>
          <p:cNvPr id="4" name="灯片编号占位符 3"/>
          <p:cNvSpPr>
            <a:spLocks noGrp="1"/>
          </p:cNvSpPr>
          <p:nvPr>
            <p:ph type="sldNum" sz="quarter" idx="5"/>
          </p:nvPr>
        </p:nvSpPr>
        <p:spPr/>
        <p:txBody>
          <a:bodyPr/>
          <a:lstStyle/>
          <a:p>
            <a:fld id="{95AB3B52-065C-4D22-8A03-901766E7E43B}"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首先看这幅图，同学们看到了什么。这是一个城堡，在一个面向对象程序员里，它看到的是一个又一个对外提供服务的对象。例如水池可以是流体输入接口，门是室内活动触发器，窗子则成了访客监控接口，窗帘是隐私访问代理。</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走到室内，这个面向对象程序员看到的也是一个充满对象的世界。例如，墙上的装饰画是一个空间分割对象装饰器，果盘是一个食品暂存容器；火警监控器是一个安全服务监控代理，吊灯是一个提供照明服务的对象组合。通过这样一个比喻，大家应该可以看到，用面向对象的视角来看待世界，我们就把世界看成了一个一个个彼此独立又相互联系的对象实体。</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微软雅黑" panose="020B0503020204020204" pitchFamily="34" charset="-122"/>
                <a:ea typeface="微软雅黑" panose="020B0503020204020204" pitchFamily="34" charset="-122"/>
                <a:cs typeface="Arial Unicode MS"/>
              </a:rPr>
              <a:t>面向对象分析是一种软件系统的需求建模与分析技术，它是在上个世纪，八十年代末九十年代初被提出，它的基本观点是采用对象、类、方法等原子概念，在需求分析、设计与实现之间建立自然的映射关系。面向。的分析技术关注。。。对象。面向对象分析技术主要。。。。结构。而对象的行为就是。。，有时候也成为服务或者活动。对象通过。。。自身状态的迁移。</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在面向对象分析方法全盛的时代，曾经有过五十多种面向对象分析方法同时存在，这其中影响最深远的就是</a:t>
            </a:r>
            <a:r>
              <a:rPr lang="en-US" altLang="zh-CN" dirty="0"/>
              <a:t>peter </a:t>
            </a:r>
            <a:r>
              <a:rPr lang="en-US" altLang="zh-CN" dirty="0" err="1"/>
              <a:t>coad</a:t>
            </a:r>
            <a:r>
              <a:rPr lang="zh-CN" altLang="en-US" dirty="0"/>
              <a:t>的方法，在</a:t>
            </a:r>
            <a:r>
              <a:rPr lang="en-US" altLang="zh-CN" dirty="0"/>
              <a:t>peter </a:t>
            </a:r>
            <a:r>
              <a:rPr lang="en-US" altLang="zh-CN" dirty="0" err="1"/>
              <a:t>coad</a:t>
            </a:r>
            <a:r>
              <a:rPr lang="zh-CN" altLang="en-US" dirty="0"/>
              <a:t>的方法中，他提出对象是问题。。。，有着。。。边界。这是什么意思呢，这就是说一个给定的对象，类型的区分是很明显的，能够轻易判断是否属于某类对象。那要想做出这样明显的区分，我们主要靠什么呢，靠的就是对象中封装的属性和行为，因此面向对象分析的核心概念就是对象、属性和行为，其中行为我们用服务来定义，这个也和后来产生的面向服务的计算方法，实际上是同一个问题的不同角度，后者更强调服务的角度。除了对象、属性和服务这三个概念，还有两个概念就是结构和主题。</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面向对象的方法学中，它所倡导的是一种分而治之的世界观，就仿佛是把世界切碎了，每个碎片都是一个独立的对象。但是对象之间并非老死不相往来，每个对象它存在于这个环境中，就要为他周围的其他对象提供服务。例如医生对象。。在</a:t>
            </a:r>
            <a:r>
              <a:rPr lang="en-US" altLang="zh-CN" dirty="0"/>
              <a:t>Coad</a:t>
            </a:r>
            <a:r>
              <a:rPr lang="zh-CN" altLang="en-US" dirty="0"/>
              <a:t>的面向。。。他把对象的能够对外提供的服务抽象成了三种类型，而这三种服务仍然是目前软件系统最流行、最常用的服务。首先第一类是瞬时服务，这类服务是用事件发生的形式提供的，例如创建一个新对象，终止一个旧的对象修改某个对象的某些属性等等，他都是瞬时完成的，做完一个动作之后相应的服务就完成了。第二类服务是计算服务，这也是计算机软件能够对外提供的主要服务之一，这类服务主要是为其他对象完成一些复杂的科学计算任务，当然也包括很简单的数学计算。最后一类是持续性的服务，通常是监控类型的服务，这类服务需要对象持续的监控某些业务流程，检查。。当预设条件满足时，这些监控服务要完成一定的动作，比如报警或者发消息，或者切断某些服务等等。这类监控服务也是现在最常见的服务类型。我们在类图中，用带箭头的虚线来表示。。。的服务，这里我们可以看出，从面向。。。的切换，面向对象强调在对象内部所封装的一些信息，所以它采用的是一些信息建模的角度。而面向服务更强调的是服务过程本身，强调的是功能，因此我们可以看到在信息系统后者软件系统中，对象和服务是一个事物的两个方面，一个是静态的信息结构，一个是动态的操作流程。</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我们看一下面向对象分析中有哪些结构。首先就是用于表达继承关系的一般特殊结构，一般特殊结构。。将。。，一般的类也成为父类或者基类，特殊的类就是子类。我们现有抽象的、具有公共属性的类，然后再把它特化为更具体的，具有属性定义的，更具有特殊意义的类。如这幅图中我们可以看到，患者可以分为两个特殊的类，一类是住院患者，一类是门诊患者，住院患者和门诊患者有一个公共属性，就是都需要有一个医生为他负责，因此我们要在积累中添加患者和医生的姓名。而住院患者有个特殊的属性是它是由。。的而门诊患者，我们只需要记录它的上次。。和下次。。。所以通过类结构，我们就能吧类之间的公共属性提取出来，放到父类和基类中定义，而特属于某个类的属性和行为，我们则放到子类中定义。这样我们就可以更好地支持重用。</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除了一般</a:t>
            </a:r>
            <a:r>
              <a:rPr lang="en-US" altLang="zh-CN" dirty="0"/>
              <a:t>-</a:t>
            </a:r>
            <a:r>
              <a:rPr lang="zh-CN" altLang="en-US" dirty="0"/>
              <a:t>特殊结构，在面向对象的程序分析中，另一个主要的结构就是整体</a:t>
            </a:r>
            <a:r>
              <a:rPr lang="en-US" altLang="zh-CN" dirty="0"/>
              <a:t>-</a:t>
            </a:r>
            <a:r>
              <a:rPr lang="zh-CN" altLang="en-US" dirty="0"/>
              <a:t>部分结构，。。组合关系，比如。。。我们说这样的结构，就是一个整体</a:t>
            </a:r>
            <a:r>
              <a:rPr lang="en-US" altLang="zh-CN" dirty="0"/>
              <a:t>-</a:t>
            </a:r>
            <a:r>
              <a:rPr lang="zh-CN" altLang="en-US" dirty="0"/>
              <a:t>部分结构，它表明了一个整体的对象是由哪些更小的、部分的对象组合而成。</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上述的简单介绍，我们知道，面向对。。学，最主要的任务首先是识别。在领域中找出类和对象，给出他们的抽象定义；然后识别。。。建立。。。；之后就是定义主题，主题是用来将对象模型。。。视角的，主要是通过继承关系。。。我们用主题来划分领域中的关注点。接着我们需要识别。。。，这是我们建模的重点之一。在定义了属性之后，我们最后还要为每个对象类定义相应的公共服务，这样我们就完成了面向对象分析的主要步骤。</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面向对象分析方法的局限性在于，我们最初希望采用面向对象的思路能够更早进入分析和设计环节，这个目的，往往因为分析阶段的概念和设计阶段无法对齐而无法实现。我们在面向对象分析中所能够沉淀下来的最有用的对象，就是对领域实体对象的建模。在面对一个具体的现实世界的问题时，我们应该很好的评估对象关系服务等概念，是不是建模我们现实业务流程的最好元素，当判断为是时，我们就可以采用面向对象的分析方法。当感觉不适用时，我们就应该改变分析方法学，使用最适合的方法。</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上节课我们讲了。。。，并且在上节课的最后，我们给出了两个结构的</a:t>
            </a:r>
            <a:r>
              <a:rPr lang="en-US" altLang="zh-CN" dirty="0"/>
              <a:t>UML</a:t>
            </a:r>
            <a:r>
              <a:rPr lang="zh-CN" altLang="en-US" dirty="0"/>
              <a:t>类图示例，这个示例可以用上节课咱们演示的</a:t>
            </a:r>
            <a:r>
              <a:rPr lang="en-US" altLang="zh-CN" dirty="0"/>
              <a:t>EA</a:t>
            </a:r>
            <a:r>
              <a:rPr lang="zh-CN" altLang="en-US" dirty="0"/>
              <a:t>工具来画。</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我们今天首先介绍一种识别类的方法，</a:t>
            </a:r>
            <a:r>
              <a:rPr lang="en-US" altLang="zh-CN" dirty="0"/>
              <a:t>CRC</a:t>
            </a:r>
            <a:r>
              <a:rPr lang="zh-CN" altLang="en-US" dirty="0"/>
              <a:t>卡片分拣法。这个方法是从文档中提取类定义的常用方法之一。通过</a:t>
            </a:r>
            <a:r>
              <a:rPr lang="en-US" altLang="zh-CN" dirty="0"/>
              <a:t>CRC</a:t>
            </a:r>
            <a:r>
              <a:rPr lang="zh-CN" altLang="en-US" dirty="0"/>
              <a:t>卡片分拣过程，我们可以了解类的识别和定义过程。</a:t>
            </a:r>
            <a:endParaRPr lang="zh-CN" altLang="en-US" dirty="0"/>
          </a:p>
        </p:txBody>
      </p:sp>
      <p:sp>
        <p:nvSpPr>
          <p:cNvPr id="4" name="灯片编号占位符 3"/>
          <p:cNvSpPr>
            <a:spLocks noGrp="1"/>
          </p:cNvSpPr>
          <p:nvPr>
            <p:ph type="sldNum" sz="quarter" idx="10"/>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我们前面在讲用例建模时有提到用例描述，如图所示，就是用自然语言描述每个用例的名称、参与者、简要说明、前后置条件和事件流等。</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我们通过</a:t>
            </a:r>
            <a:r>
              <a:rPr lang="en-US" altLang="zh-CN" dirty="0"/>
              <a:t>CRC</a:t>
            </a:r>
            <a:r>
              <a:rPr lang="zh-CN" altLang="en-US" dirty="0"/>
              <a:t>卡片分拣法来识别类，可以在用例描述中找出相应的名词候选类，也可以根据后面我们在设计过程中的边界类。。。来帮助。。。，我们还可以利用领域分析来得到类。除此以外，设计和分析模式也可以帮我们补全遗漏掉的类。有很多方法可以帮我们来识别和定义类，在这些方法中，最主要的是我们要对充分分析待解决的问题后，将其中关键的信息实体寻找出来。</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CRC</a:t>
            </a:r>
            <a:r>
              <a:rPr lang="zh-CN" altLang="en-US" dirty="0"/>
              <a:t>卡片分拣法主要包括三个要素，第一个</a:t>
            </a:r>
            <a:r>
              <a:rPr lang="en-US" altLang="zh-CN" dirty="0"/>
              <a:t>C</a:t>
            </a:r>
            <a:r>
              <a:rPr lang="zh-CN" altLang="en-US" dirty="0"/>
              <a:t>指的是类</a:t>
            </a:r>
            <a:r>
              <a:rPr lang="en-US" altLang="zh-CN" dirty="0"/>
              <a:t>,class,</a:t>
            </a:r>
            <a:r>
              <a:rPr lang="zh-CN" altLang="en-US" dirty="0"/>
              <a:t>第二个</a:t>
            </a:r>
            <a:r>
              <a:rPr lang="en-US" altLang="zh-CN" dirty="0"/>
              <a:t>R</a:t>
            </a:r>
            <a:r>
              <a:rPr lang="zh-CN" altLang="en-US" dirty="0"/>
              <a:t>表示</a:t>
            </a:r>
            <a:r>
              <a:rPr lang="en-US" altLang="zh-CN" dirty="0"/>
              <a:t>Res..</a:t>
            </a:r>
            <a:r>
              <a:rPr lang="zh-CN" altLang="en-US" dirty="0"/>
              <a:t>，是对类职责的定义，第三个</a:t>
            </a:r>
            <a:r>
              <a:rPr lang="en-US" altLang="zh-CN" dirty="0"/>
              <a:t>C</a:t>
            </a:r>
            <a:r>
              <a:rPr lang="zh-CN" altLang="en-US" dirty="0"/>
              <a:t>是</a:t>
            </a:r>
            <a:r>
              <a:rPr lang="en-US" altLang="zh-CN" dirty="0"/>
              <a:t>Coll..</a:t>
            </a:r>
            <a:r>
              <a:rPr lang="zh-CN" altLang="en-US" dirty="0"/>
              <a:t>，表示类与类的交互关系。</a:t>
            </a:r>
            <a:r>
              <a:rPr lang="en-US" altLang="zh-CN" dirty="0"/>
              <a:t>CRC</a:t>
            </a:r>
            <a:r>
              <a:rPr lang="zh-CN" altLang="en-US" dirty="0"/>
              <a:t>卡片就是如图这样的一个卡片，它把三个部分分别列出来，首先我们要提取的是类的定义，然后再给当前定义的这个类，寻找它应该完成的职责，以及与他有交互关系的其他类。</a:t>
            </a:r>
            <a:r>
              <a:rPr lang="en-US" altLang="zh-CN" dirty="0"/>
              <a:t>CRC</a:t>
            </a:r>
            <a:r>
              <a:rPr lang="zh-CN" altLang="en-US" dirty="0"/>
              <a:t>卡片的目的是将问题描述中得到的相关类都寻找出来，并且定义它的职责和类与类之间的交互关系。我们下面就来看看</a:t>
            </a:r>
            <a:r>
              <a:rPr lang="en-US" altLang="zh-CN" dirty="0"/>
              <a:t>CRC</a:t>
            </a:r>
            <a:r>
              <a:rPr lang="zh-CN" altLang="en-US" dirty="0"/>
              <a:t>。。法的过程。</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我们先看这样一个例子。假设我们要编写一个</a:t>
            </a:r>
            <a:r>
              <a:rPr lang="en-US" altLang="zh-CN" dirty="0"/>
              <a:t>21</a:t>
            </a:r>
            <a:r>
              <a:rPr lang="zh-CN" altLang="en-US" dirty="0"/>
              <a:t>点游戏的程序，这个时候客户来交给我们一份详细的问题描述，也就是一份</a:t>
            </a:r>
            <a:r>
              <a:rPr lang="en-US" altLang="zh-CN" dirty="0"/>
              <a:t>21</a:t>
            </a:r>
            <a:r>
              <a:rPr lang="zh-CN" altLang="en-US" dirty="0"/>
              <a:t>点游戏的规则说明，那么在我们开始设计这个系统之前，我们先要看看，在这个游戏中有哪些关键的类，这些类的职责是什么，类与类之间的交互行为是什么。</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21</a:t>
            </a:r>
            <a:r>
              <a:rPr lang="zh-CN" altLang="en-US" dirty="0"/>
              <a:t>点游戏的目标是玩家要获得。。。，玩家需要赢过。。。，并且。。。才能取得胜利。无论桌上。。。，玩家都只和庄家。。在</a:t>
            </a:r>
            <a:r>
              <a:rPr lang="en-US" altLang="zh-CN" dirty="0"/>
              <a:t>21</a:t>
            </a:r>
            <a:r>
              <a:rPr lang="zh-CN" altLang="en-US" dirty="0"/>
              <a:t>点游戏中，。。。数字化，</a:t>
            </a:r>
            <a:r>
              <a:rPr lang="en-US" altLang="zh-CN" dirty="0"/>
              <a:t>A</a:t>
            </a:r>
            <a:r>
              <a:rPr lang="zh-CN" altLang="en-US" dirty="0"/>
              <a:t>的点数。。。</a:t>
            </a:r>
            <a:r>
              <a:rPr lang="en-US" altLang="zh-CN" dirty="0"/>
              <a:t>JQK</a:t>
            </a:r>
            <a:r>
              <a:rPr lang="zh-CN" altLang="en-US" dirty="0"/>
              <a:t>的点数都是</a:t>
            </a:r>
            <a:r>
              <a:rPr lang="en-US" altLang="zh-CN" dirty="0"/>
              <a:t>10.</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游戏的开始，玩家。。。有一个上限的。如果。。。</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发完。。</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由于类对象通常定义的是一个命名实体，是用名词表达的，因此我们在分析文档时就先从。。，在这个过程中我们要注意的是，我们不要想着一下子把所有的类都找对，而是要把所有可能的类都提取出来，再逐一筛选。</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下面我们就回到刚刚介绍的</a:t>
            </a:r>
            <a:r>
              <a:rPr lang="en-US" altLang="zh-CN" dirty="0"/>
              <a:t>21</a:t>
            </a:r>
            <a:r>
              <a:rPr lang="zh-CN" altLang="en-US" dirty="0"/>
              <a:t>点游戏的问题描述。我们先过滤出我们认为关键的名词或名词短语。例如这段描述，我们过滤出的名词包括手牌、庄家、玩家、数字牌、点数、</a:t>
            </a:r>
            <a:r>
              <a:rPr lang="en-US" altLang="zh-CN" dirty="0"/>
              <a:t>A,JQK</a:t>
            </a:r>
            <a:r>
              <a:rPr lang="zh-CN" altLang="en-US" dirty="0"/>
              <a:t>等。</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而从这页中我们可以过滤出来的关键词是赌注、上线、名牌、底牌</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而第三页游戏描述我们没有发现新的名词，因此我们直接跳过。</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用这样的名词扫描方式，我们能够得到这些对象类，游戏。。等等。</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我们就要采用一定的方法，从这些候选类中找出我们真正想要定义的那些实体类。那么类筛选的原则是什么呢？首先我们要在候选类中排除一下的类：第一个是超出。。第二个是指代。。第三个是。。。第四个是过于。。。在刚刚我们那个列表中，很明显，</a:t>
            </a:r>
            <a:r>
              <a:rPr lang="en-US" altLang="zh-CN" dirty="0"/>
              <a:t>21</a:t>
            </a:r>
            <a:r>
              <a:rPr lang="zh-CN" altLang="en-US" dirty="0"/>
              <a:t>点和游戏都是指代整个系统的类，过于庞大，符合第二条筛除原则，因此我们可以把这两个词排除掉。而</a:t>
            </a:r>
            <a:r>
              <a:rPr lang="en-US" altLang="zh-CN" dirty="0"/>
              <a:t>JQKA</a:t>
            </a:r>
            <a:r>
              <a:rPr lang="zh-CN" altLang="en-US" dirty="0"/>
              <a:t>这些都是属于过于具体的类，因此我们也可以把它筛掉。在初步筛掉一些无关的类之后，我们可以进一步问这些问题：首先，关于剩下的这些类，我们将要开发的系统有必要保存这些类的相关信息吗，它是不是在对外提供某些服务，他是不是具有多个属性，类的属性是不是由它所有的实例对象。。。它的操作是不是也是。。。他是一个外部实体吗，我们要不要用到它的信息？通过回答这些问题，我们就可以得到真正想要的那些系统类。</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经过刚刚的筛选过程，我们就得到了最后想要的这些类。我们排除掉代表整个系统的游戏和</a:t>
            </a:r>
            <a:r>
              <a:rPr lang="en-US" altLang="zh-CN" dirty="0"/>
              <a:t>21</a:t>
            </a:r>
            <a:r>
              <a:rPr lang="zh-CN" altLang="en-US" dirty="0"/>
              <a:t>点两个候选类，以及过于具体的</a:t>
            </a:r>
            <a:r>
              <a:rPr lang="en-US" altLang="zh-CN" dirty="0"/>
              <a:t>AJQK</a:t>
            </a:r>
            <a:r>
              <a:rPr lang="zh-CN" altLang="en-US" dirty="0"/>
              <a:t>，</a:t>
            </a:r>
            <a:r>
              <a:rPr lang="en-US" altLang="zh-CN" dirty="0"/>
              <a:t>2-10</a:t>
            </a:r>
            <a:r>
              <a:rPr lang="zh-CN" altLang="en-US" dirty="0"/>
              <a:t>数字牌等等，还有只有单个属性的类，如具体的点数、花色、赢家，其中因为在</a:t>
            </a:r>
            <a:r>
              <a:rPr lang="en-US" altLang="zh-CN" dirty="0"/>
              <a:t>21</a:t>
            </a:r>
            <a:r>
              <a:rPr lang="zh-CN" altLang="en-US" dirty="0"/>
              <a:t>点游戏中，我们并不十分关注花色，因此我们既可以对花色建模，也可以忽略花色。由此，我们得到了剩下的</a:t>
            </a:r>
            <a:r>
              <a:rPr lang="en-US" altLang="zh-CN" dirty="0"/>
              <a:t>6</a:t>
            </a:r>
            <a:r>
              <a:rPr lang="zh-CN" altLang="en-US" dirty="0"/>
              <a:t>个真正想要的而候选实体类。</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这样，我们筛选出来的就剩下这</a:t>
            </a:r>
            <a:r>
              <a:rPr lang="en-US" altLang="zh-CN" dirty="0"/>
              <a:t>6</a:t>
            </a:r>
            <a:r>
              <a:rPr lang="zh-CN" altLang="en-US" dirty="0"/>
              <a:t>个类，分别是牌、。。和赌注。</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从刚刚的过程我们可以看到，</a:t>
            </a:r>
            <a:r>
              <a:rPr lang="en-US" altLang="zh-CN" dirty="0"/>
              <a:t>CRC</a:t>
            </a:r>
            <a:r>
              <a:rPr lang="zh-CN" altLang="en-US" dirty="0"/>
              <a:t>卡片分拣法是从原始的文本资料中识别类，找出干系人提交我们的问题描述中的名词和名词短语，在名词和名词短语中找出它描述的应用领域中信息结构或者本质，把他加入到候选类中。除了这种方式，我们还可以通过其他的来源来识别出类的定义。比如相关的背景信息、由用户和干系人直接提供的类，又或者是适用于当前场景的设计分析模式中已有的类。在类识别过程中，我们要把我的原则是，要识别出尽可能多的类，之后我们再按照一定的标准，对候选类的价值和用途进行分析再筛选。我们先尽可能找全所有的类，再通过理性分析判断，排除价值不大的类，这种方式比一开始就完全没有考虑周全要更加合理。</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识别类以后，我们为每个类分别分配一张卡片，下一步就是针对每个类，来识别他的功能职责。由于功能职责总是关乎这个类的对象相关的行为和动作。因此下一步，我们就是要在问题描述中，扫描相关的动词短语。在这里需要注意的是，并不是每个动词都会成为类的职责，我们要找出与我们刚刚找出的那些候选类相关的动词，有时候多个具体的动作还可以合并为一个职责。随着我们对这个问题了解的深入，我们还会发现新的职责。因此无论是类还是功能职责的定义，都是不断修正的，当我们发现两个类合作完成同一个职责时，我们为这两个类同时添加该职责。</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从这页中我们，过滤出来的是。。。</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在这页中我们过滤出来的动词时。。</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问题描述进行扫描，可以获得比较精确的候选类，但是在识别类的功能职责时，我们会发现问题描述本身只能给我们一些重要的启示，很多过程也是需要我们透过字面来发现和抽取的。例如，对于牌这个类，我们会知道我们需要读取牌面的数字是什么，花色是什么，对应花色的点数是什么。而要知道点数，我们首先要知道它时数字牌还是</a:t>
            </a:r>
            <a:r>
              <a:rPr lang="en-US" altLang="zh-CN" dirty="0"/>
              <a:t>JQKA</a:t>
            </a:r>
            <a:r>
              <a:rPr lang="zh-CN" altLang="en-US" dirty="0"/>
              <a:t>，因此这里面包含的不仅仅是字面上的动词，还有我们对整个问题的深入理解。在识别出候选类对应的功能职责后，我们将进入下一步，就是在这些对应的功能职责中找出哪些候选类之间是存在交互协作关系，共同完成某些过程和功能的。</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我们前面已经学过</a:t>
            </a:r>
            <a:r>
              <a:rPr lang="en-US" altLang="zh-CN" dirty="0"/>
              <a:t>UML</a:t>
            </a:r>
            <a:r>
              <a:rPr lang="zh-CN" altLang="en-US" dirty="0"/>
              <a:t>用例图，在识别了候选类的功能职责后，我们就要识别类对象之间的交互协作关系。这里我们就可以采用类似</a:t>
            </a:r>
            <a:r>
              <a:rPr lang="en-US" altLang="zh-CN" dirty="0"/>
              <a:t>UML</a:t>
            </a:r>
            <a:r>
              <a:rPr lang="zh-CN" altLang="en-US" dirty="0"/>
              <a:t>用例图的方法，找出交互着的类。但是我们要知道，我们的目的并不是为了写出所有的应用场景，我们的目的是对类和。。</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这里我们给出的是一个</a:t>
            </a:r>
            <a:r>
              <a:rPr lang="en-US" altLang="zh-CN" dirty="0"/>
              <a:t>21</a:t>
            </a:r>
            <a:r>
              <a:rPr lang="zh-CN" altLang="en-US" dirty="0"/>
              <a:t>点游戏进行过程中，庄家和玩家交互情景的例子。通过这个例子，我们可以进一步分析庄家、玩家和手牌这几个类的功能职责定义。比如，庄家首先呀哦洗牌，然后玩家下注。庄家发第一张牌，玩家拿牌，手牌返回玩家手牌的点数。庄家给自己发牌，然后手牌返回庄家手牌的点数。然后庄家发第二轮牌后，庄家询问玩家是否继续要牌，玩家根据自己手中的点数决定是否继续要牌，并根据点数确定何时停止。当确定最终的手牌时，玩家确定是否要增加或减少赌注。最终庄家在自己要玩牌后，庄家和玩家分别亮牌，根据点数分配赌金。</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通过这个情景分析，我们识别出了以下交互关系：首先，应用、庄家、玩家、手牌他们各自向彼此发送了什么样的消息。通过对这个交互关系的识别，可以得到最终的</a:t>
            </a:r>
            <a:r>
              <a:rPr lang="en-US" altLang="zh-CN" dirty="0"/>
              <a:t>CRC</a:t>
            </a:r>
            <a:r>
              <a:rPr lang="zh-CN" altLang="en-US" dirty="0"/>
              <a:t>卡片，也就是如图中所示，</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首先我们分析发现纸牌这个类的功能职责是，既要知道自己的牌是什么，又要知道它的点数是什么。与纸牌交互的类包括牌堆</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而跟牌堆交互的类是庄家和手牌，而牌堆最主要的功能就是重新洗牌、数牌堆中牌的张数、拿取牌堆中的下一张牌，以及在屏幕上显示当前的牌堆。</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这是庄家的职责。首先庄家要决定何时开始一轮新的游戏，庄家还要从牌堆中取一张牌。和庄家交互的包括庄家自身的手牌、玩家和牌堆。</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玩家的功能职责包括：决定要牌、拿到下一张牌、亮牌、以及计算手牌的点数。和玩家交互的类有庄家和手牌。</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而手牌本身既和庄家交互，又和玩家交互。它的主要职责就是返回当前牌的点数、在手牌中增加一张牌以及亮牌。</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我们通过这样的初步分析，就得到我们第一个</a:t>
            </a:r>
            <a:r>
              <a:rPr lang="en-US" altLang="zh-CN" dirty="0"/>
              <a:t>UML</a:t>
            </a:r>
            <a:r>
              <a:rPr lang="zh-CN" altLang="en-US" dirty="0"/>
              <a:t>类图。这里我们既获得了类的定义，也得到了类的部分属性和相关活动的定义。它的相关操作主要来自于刚刚的交互过程，也就是所谓的功能职责，而它的属性则是在功能职责中要用到的那些属性。同学们可以仔细看一下这张</a:t>
            </a:r>
            <a:r>
              <a:rPr lang="en-US" altLang="zh-CN" dirty="0"/>
              <a:t>UML</a:t>
            </a:r>
            <a:r>
              <a:rPr lang="zh-CN" altLang="en-US" dirty="0"/>
              <a:t>类图。它主要包括四个类，每个类都有类名、属性和操作，直线表示类之间的交互关系。</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前面我们已经介绍了面向对象分析和</a:t>
            </a:r>
            <a:r>
              <a:rPr lang="en-US" altLang="zh-CN" dirty="0"/>
              <a:t>CRC</a:t>
            </a:r>
            <a:r>
              <a:rPr lang="zh-CN" altLang="en-US" dirty="0"/>
              <a:t>卡片分拣法来识别类和对象。下面我们来讲述有关面向对象设计的内容。</a:t>
            </a:r>
            <a:endParaRPr lang="zh-CN" altLang="en-US" dirty="0"/>
          </a:p>
        </p:txBody>
      </p:sp>
      <p:sp>
        <p:nvSpPr>
          <p:cNvPr id="4" name="灯片编号占位符 3"/>
          <p:cNvSpPr>
            <a:spLocks noGrp="1"/>
          </p:cNvSpPr>
          <p:nvPr>
            <p:ph type="sldNum" sz="quarter" idx="10"/>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然而，真相是，面向对象方法本身。。。你可以用非面向对象的方法建立一个非常好的设计，也可以用了面向对象的方法构建了一个不良的设计。虽然平庸的设计依然平庸，但是面向对象的方法最主要解决的问题是数据的封装，和减少模块间的依赖性，让我们有更好的、可以重用的设计单元。</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面向对象的设计过程中，我们首先进行适当的领域分析，撰写设计描述、确定系统的开发任务、基于。。同时开发。。。在抽取需求的过程中，对象类的识别是面向对象设计的基础，我们要定义。。。确定类与类之间的交互关系，从而建立。。在这个过程中，最主要的步骤就是识别对象类的过程。我们下面介绍一种识别对象类的方法。</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究其根本，面向对。。。思维方式最核心的理念主要包括要把接口和实现区分开来、要从具体到抽象以及定义最小的接口的原则。</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一个理念，区分接口与实现，其最主要的目的就是实现接口的标准化，使得我们能够在接口不变的情况下对实现的部分进行不断演化和修改。比如在下面的图中，我们如果要撰写一个数据库的访问类，其中最主要的功能就是打开数据库，我们如果定义了一个统一的接口</a:t>
            </a:r>
            <a:r>
              <a:rPr lang="en-US" altLang="zh-CN" dirty="0"/>
              <a:t>Open</a:t>
            </a:r>
            <a:r>
              <a:rPr lang="zh-CN" altLang="en-US" dirty="0"/>
              <a:t>，它的参数只有我们要打开的数据库的名字。而在内部的实现过程中，我们既可以打开一个</a:t>
            </a:r>
            <a:r>
              <a:rPr lang="en-US" altLang="zh-CN" dirty="0"/>
              <a:t>oracle</a:t>
            </a:r>
            <a:r>
              <a:rPr lang="zh-CN" altLang="en-US" dirty="0"/>
              <a:t>的数据库，也可以打开一个</a:t>
            </a:r>
            <a:r>
              <a:rPr lang="en-US" altLang="zh-CN" dirty="0" err="1"/>
              <a:t>sql</a:t>
            </a:r>
            <a:r>
              <a:rPr lang="zh-CN" altLang="en-US" dirty="0"/>
              <a:t>数据库，那么我们就可以保证无论底层实现采用的哪种数据库，我们都能够用统一的方法来访问数据库</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确保接口与实现的分离，定义标准的接口，保证了我们程序结构的稳定性，使得我们可以动态地替换用户的实现代码和底层的数据库实现，保证我们的程序在演化的过程中有相对稳定的结构。</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下面我们给出一个设计抽象接口的实例。</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以我们叫出租车这样一个服务为例。一个抽象的接口给用户最简单的访问功能的方式，比如如果我们在使用这个服务时，只需要告诉出租车司机，请司机送我们去机场，这样一个非常简单的信息，那么用户使用这个服务就会非常的简单。</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但是如果我们向用户暴露了过多的实现细节，那么接口就会显得非常复杂。比如，刚才同样的过程，我们需要不断和服务对象之间发生交互，告诉他向左向右转，而当我们的目的地发生变化时，接口的定义也会发生变化。因此，不够抽象的接口会增加系统访问和交互的复杂性。</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定义类的职责的过程中，我们一定要采用面向服务的原则，确定这个类对外提供服务的用户是谁。这个过程非常重要，因为只有这样，我们设计出来的系统才能够有明确的职责划分，谁是提供服务的一方，谁是使用服务的一方。服务的好坏与满足与否的标准是什么。比如在刚刚出租车的例子中，司机是提供服务的一方，客户是使用服务的一方。他们二者之间对服务是否合规和满足的条件不同。出租车司机是为了赚更多的钱，而用户则希望开销尽量小。因此我们在设计中要考虑二者之间的平衡。</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比如用户使用。。，他需要上车。。告知。。在到达之后要下车和付钱，这些是这个出租车的类对象要完成的公共行为，因此我们要将其定义在接口中。从用户的角度，他一定会有一个出行地点，他还要能够召唤出租车，并且能够付钱。通过对这些接口的识别，我们就得到了对于类的行为的定义。</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在确定类对象行为时，我们已经通过之前的用例建模和对类职责的分析，定义一部分类对象的行为作为设计细节。但是当我们对接口进行抽象时，这些对象的行为定义是有可能发生变化的。</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除了这些公共接口以外的内容，我们都。。。服务的用户无需。。。它只需要知道要完成用户预期功能，用户需要提供什么。因此用户只需要知道他需要用到哪些方法，以及这些方法的参数是什么。至于编码实现部分就跟用户无关。我们可以看出，通过分离接口和实现，当我们修改实现的时候，接口时无需修改的，我们可以通过不同的实现方式来实现用户的期望。接口是站在系统的外部，从用户的角度来看待对象的定义。而实现则是包含在对象内部的。如果我们将对象看作是一个水果，那么实现就是水果内部的果核 和果肉，而接口就是果皮。在实现中我们需要描述对象的内部状态，并编码实现这些状态的迁移。</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人们常常提到的四项面向对象设计的原则，包括开闭原则、里氏替换原则、依赖倒置原则和接口分离原则。其中开闭原则是最能反映面向对象设计的目的的。他主要的思想是软件实体要在扩展性方面保持开放，而在更改行方面应该是保持封闭的。也就是说应该尽量使得软件系统是可扩展的，而在扩展的过程中，不需要对源代码进行修改。为了实现开闭原则，我们就要尽可能多的使用接口进行封装，采用抽象机制，运用多态技术。比如在这两个类图里，设计</a:t>
            </a:r>
            <a:r>
              <a:rPr lang="en-US" altLang="zh-CN" dirty="0"/>
              <a:t>1</a:t>
            </a:r>
            <a:r>
              <a:rPr lang="zh-CN" altLang="en-US" dirty="0"/>
              <a:t>就是将输出操作直接定义为与具体的某种输出设备直接关联的形式，而设计</a:t>
            </a:r>
            <a:r>
              <a:rPr lang="en-US" altLang="zh-CN" dirty="0"/>
              <a:t>2</a:t>
            </a:r>
            <a:r>
              <a:rPr lang="zh-CN" altLang="en-US" dirty="0"/>
              <a:t>就在输出和具体的设备之间定义了一个抽象接口，叫</a:t>
            </a:r>
            <a:r>
              <a:rPr lang="en-US" altLang="zh-CN" dirty="0"/>
              <a:t>print</a:t>
            </a:r>
            <a:r>
              <a:rPr lang="zh-CN" altLang="en-US" dirty="0"/>
              <a:t>，通过在中间层次引入一个抽象接口，可以使得我们的软件实体中当出现新的设备类时，我们可以用新设备来实现这个接口，而不需要修改</a:t>
            </a:r>
            <a:r>
              <a:rPr lang="en-US" altLang="zh-CN" dirty="0"/>
              <a:t>Output</a:t>
            </a:r>
            <a:r>
              <a:rPr lang="zh-CN" altLang="en-US" dirty="0"/>
              <a:t>这个客户端的对象相关的源代码，从而实现在扩展性方面开放，而在更改性上封闭。因此设计</a:t>
            </a:r>
            <a:r>
              <a:rPr lang="en-US" altLang="zh-CN" dirty="0"/>
              <a:t>2</a:t>
            </a:r>
            <a:r>
              <a:rPr lang="zh-CN" altLang="en-US" dirty="0"/>
              <a:t>的接口更加符合我们倡导的满足开闭原则</a:t>
            </a:r>
            <a:r>
              <a:rPr lang="en-US" altLang="zh-CN" dirty="0"/>
              <a:t>.</a:t>
            </a:r>
            <a:endParaRPr lang="en-US" altLang="zh-CN"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第二个原则就是里氏替换原则，即</a:t>
            </a:r>
            <a:r>
              <a:rPr lang="zh-CN" altLang="en-US" sz="1200" b="0" i="0" kern="1200" dirty="0">
                <a:solidFill>
                  <a:schemeClr val="tx1"/>
                </a:solidFill>
                <a:effectLst/>
                <a:latin typeface="+mn-lt"/>
                <a:ea typeface="+mn-ea"/>
                <a:cs typeface="+mn-cs"/>
              </a:rPr>
              <a:t>任何基类出现的地方都应该可以无差别的使用子类替换。通俗地讲，就是子类型能够完全替换父类型，而不会让调用父类型的客户程序从行为上有任何改变。在面向对象设计中，我们有了继承和泛化的概念，继承的优点是大大提升了代码的复用度，但是它的缺点也同样明显：增加了对象的耦合程度，破坏了程序的封装性，导致程序的可移植性变差。这里耦合可以简单理解为相互影响、相互作用。继承容易破环程序的封装性，而使用里氏替换原则可以大大减少我们代码的出错概率。这么说可能比较抽象。</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下面我们来看一个违反里氏替换原则的例子。如果我们将正方形作为长方形类的一个子类，那么我们应该如何定义正方形类中设置边长的方法呢？</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我们看第一个解决方法，这里由于正方形继承了长方形类，我们将正方形中边长的设置定义为在设置长和设置宽的方法里，实际上都将正方形的长宽设置为跟参数一样。那么这个方法是否满足里氏替换原则呢？</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我们看这样一段测试代码。我们在主函数中分别创建了一个长方形对象</a:t>
            </a:r>
            <a:r>
              <a:rPr lang="en-US" altLang="zh-CN" dirty="0"/>
              <a:t>r</a:t>
            </a:r>
            <a:r>
              <a:rPr lang="zh-CN" altLang="en-US" dirty="0"/>
              <a:t>和一个正方形对象</a:t>
            </a:r>
            <a:r>
              <a:rPr lang="en-US" altLang="zh-CN" dirty="0"/>
              <a:t>s</a:t>
            </a:r>
            <a:r>
              <a:rPr lang="zh-CN" altLang="en-US" dirty="0"/>
              <a:t>，然后我们计算图形的面积。我们通过红色的代码将长方形的长和宽分别设置为</a:t>
            </a:r>
            <a:r>
              <a:rPr lang="en-US" altLang="zh-CN" dirty="0"/>
              <a:t>10</a:t>
            </a:r>
            <a:r>
              <a:rPr lang="zh-CN" altLang="en-US" dirty="0"/>
              <a:t>和</a:t>
            </a:r>
            <a:r>
              <a:rPr lang="en-US" altLang="zh-CN" dirty="0"/>
              <a:t>20</a:t>
            </a:r>
            <a:r>
              <a:rPr lang="zh-CN" altLang="en-US" dirty="0"/>
              <a:t>，那么此时可以确定长方形的面积是</a:t>
            </a:r>
            <a:r>
              <a:rPr lang="en-US" altLang="zh-CN" dirty="0"/>
              <a:t>200</a:t>
            </a:r>
            <a:r>
              <a:rPr lang="zh-CN" altLang="en-US" dirty="0"/>
              <a:t>。但是如果此时我们用绿色的代码来替代红色的代码，也就是用</a:t>
            </a:r>
            <a:r>
              <a:rPr lang="en-US" altLang="zh-CN" dirty="0"/>
              <a:t>s</a:t>
            </a:r>
            <a:r>
              <a:rPr lang="zh-CN" altLang="en-US" dirty="0"/>
              <a:t>这个正方形对象去替换它的父类对象时，还会得到一样的结果吗？很显然不是的，当传给方法</a:t>
            </a:r>
            <a:r>
              <a:rPr lang="en-US" altLang="zh-CN" dirty="0"/>
              <a:t>g</a:t>
            </a:r>
            <a:r>
              <a:rPr lang="zh-CN" altLang="en-US" dirty="0"/>
              <a:t>的参数时正方形类的对象时，此时正方形的长和宽最后都被设置成了</a:t>
            </a:r>
            <a:r>
              <a:rPr lang="en-US" altLang="zh-CN" dirty="0"/>
              <a:t>20</a:t>
            </a:r>
            <a:r>
              <a:rPr lang="zh-CN" altLang="en-US" dirty="0"/>
              <a:t>，面积就变成了</a:t>
            </a:r>
            <a:r>
              <a:rPr lang="en-US" altLang="zh-CN" dirty="0"/>
              <a:t>400</a:t>
            </a:r>
            <a:r>
              <a:rPr lang="zh-CN" altLang="en-US" dirty="0"/>
              <a:t>，这两者的结果是不一样的，在这种情况下，我们可以看出，将正方形建模为长方形的子类并不是一个好的设计，因为我们定义的继承关系是针对类的行为，而不是针对简单的属性和字面意思。</a:t>
            </a:r>
            <a:r>
              <a:rPr lang="zh-CN" altLang="en-US" sz="1200" b="0" i="0" kern="1200" dirty="0">
                <a:solidFill>
                  <a:schemeClr val="tx1"/>
                </a:solidFill>
                <a:effectLst/>
                <a:latin typeface="+mn-lt"/>
                <a:ea typeface="+mn-ea"/>
                <a:cs typeface="+mn-cs"/>
              </a:rPr>
              <a:t>现实世界中继承的例子，不能够完全直接套用在程序世界中</a:t>
            </a:r>
            <a:r>
              <a:rPr lang="zh-CN" altLang="en-US" dirty="0"/>
              <a:t>从测试类的角度来看，</a:t>
            </a:r>
            <a:r>
              <a:rPr lang="en-US" altLang="zh-CN" dirty="0"/>
              <a:t>g</a:t>
            </a:r>
            <a:r>
              <a:rPr lang="zh-CN" altLang="en-US" dirty="0"/>
              <a:t>方法对正方形和长方形的行为是不同的，因此，如果按照刚刚的继承生命，这样的建模是很容易出错的。</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那么我们如何知道子类的行为是符合父类的上下文场景要求的呢。其实契约式设计是一个比较好的设计方法。也就是说我们在设计时，要明确的了解外部环境对子类和父类的前置条件和后置条件的要求。满足里氏替换原则的设计要求是，子类方法的前置条件不能强于父类方法的前置条件，子类方法的后置。。。也就是说，里氏替换原则要求子类的行为宽入严出。通俗的说，</a:t>
            </a:r>
            <a:r>
              <a:rPr lang="zh-CN" altLang="en-US" sz="1200" b="0" i="0" kern="1200" dirty="0">
                <a:solidFill>
                  <a:schemeClr val="tx1"/>
                </a:solidFill>
                <a:effectLst/>
                <a:latin typeface="+mn-lt"/>
                <a:ea typeface="+mn-ea"/>
                <a:cs typeface="+mn-cs"/>
              </a:rPr>
              <a:t>从调用父类的客户程序的角度来说，它关心的仅仅是父类的行 为，只要可以在任何父类出现的地方用子类来替代，而不影响父类本来的行为，那么就不算是违背该原则。因此，我们在设计过程中子类可以扩展新功能，但是尽量不要</a:t>
            </a:r>
            <a:r>
              <a:rPr lang="zh-CN" altLang="en-US" sz="1200" b="1" i="0" kern="1200" dirty="0">
                <a:solidFill>
                  <a:schemeClr val="tx1"/>
                </a:solidFill>
                <a:effectLst/>
                <a:latin typeface="+mn-lt"/>
                <a:ea typeface="+mn-ea"/>
                <a:cs typeface="+mn-cs"/>
              </a:rPr>
              <a:t>重写</a:t>
            </a:r>
            <a:r>
              <a:rPr lang="en-US" altLang="zh-CN" sz="1200" b="1" i="0" kern="1200" dirty="0">
                <a:solidFill>
                  <a:schemeClr val="tx1"/>
                </a:solidFill>
                <a:effectLst/>
                <a:latin typeface="+mn-lt"/>
                <a:ea typeface="+mn-ea"/>
                <a:cs typeface="+mn-cs"/>
              </a:rPr>
              <a:t>/</a:t>
            </a:r>
            <a:r>
              <a:rPr lang="zh-CN" altLang="en-US" sz="1200" b="1" i="0" kern="1200" dirty="0">
                <a:solidFill>
                  <a:schemeClr val="tx1"/>
                </a:solidFill>
                <a:effectLst/>
                <a:latin typeface="+mn-lt"/>
                <a:ea typeface="+mn-ea"/>
                <a:cs typeface="+mn-cs"/>
              </a:rPr>
              <a:t>重载</a:t>
            </a:r>
            <a:r>
              <a:rPr lang="zh-CN" altLang="en-US" sz="1200" b="0" i="0" kern="1200" dirty="0">
                <a:solidFill>
                  <a:schemeClr val="tx1"/>
                </a:solidFill>
                <a:effectLst/>
                <a:latin typeface="+mn-lt"/>
                <a:ea typeface="+mn-ea"/>
                <a:cs typeface="+mn-cs"/>
              </a:rPr>
              <a:t>父类的接口，导致父类不可被子类替换。另一方面，当我们发现父类拥有子类不希望继承，或者勉强继承会对子类造成破坏时 ，正可以说明这个继承体系可能存在问题。简单来说，子类并不关心父类的行为，但却需要遵循父类制定的规范或契约，以满足客户调用父类的期望。如果前人制定的规范我们不遵循，反而要去打破，那就不是继承，而是要另起炉灶了。</a:t>
            </a:r>
            <a:r>
              <a:rPr lang="zh-CN" altLang="en-US" dirty="0"/>
              <a:t>显然，里氏</a:t>
            </a:r>
            <a:r>
              <a:rPr lang="zh-CN" altLang="en-US" sz="1200" b="0" i="0" kern="1200" dirty="0">
                <a:solidFill>
                  <a:schemeClr val="tx1"/>
                </a:solidFill>
                <a:effectLst/>
                <a:latin typeface="+mn-lt"/>
                <a:ea typeface="+mn-ea"/>
                <a:cs typeface="+mn-cs"/>
              </a:rPr>
              <a:t>替换原则对于约束继承的泛滥具有重要意义。</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三个原则是依赖倒置原则，它是指我们在建立依赖关系时，应该尽量以来抽象的接口或者抽象类，而不是。。我们之前学过结构化设计，从结构化设计中。。。可以看出主程序依赖几个大的模块，每个大模块又依赖几个更细的模块。这与依赖倒置原则中尽量。。而不是。。是背道而驰的。</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面向对象中的依赖关系强调在顶层具体的客户类之间和具体类之间建立抽象的接口和抽象类，这样我们就能够确保无论是程序应用场景发生变化，还是底层的具体实现发生变化，都能够保证中间程序结构的稳定性，确保软件正常演化。</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接口分离原则是说我们在设计时要建立比较小的接口，要采用多个和特定。。接口分离原则只是一个相对的建议，使用通用的接口，其好处是对客户端来说，只需要知道一个接口的信息就好，但是采用分离接口就意味着每个接口的修改，其影响范围比较小，不容易牵一发而动全身。这是一个权衡的过程。</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好的系统设计有一些公认的特征。首先，他应该是用户友好的，易于开发人员理解的、可靠性强，易于扩展，容易移植，伸缩性好，又可以重用。简单总结，好的系统，应该看起来简单、用起来简单、实现起来简单、理解和维护也都简单。那么，不好的系统，或者已经逐渐老化的软件系统，其特征也是很明显的。就是修改难。。难以移植。。代码很难重用，设计和环境的粘性也非常强，各方面的效率也都非常低。软件系统总是有一个老化的过程，这是由需求的变更、技术的更迭导致的。如果是一个好的系统，它应该是可以让老化的周期更长，能够维持稳定，运行时间相对久一些。</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我们要建立良好的软件设计，尤其是采用面向对象的设计方法时，我们应该注意一下问题：包括类中方法名字的命名应该遵守约定俗成的习惯，应该较少类之间消息交互的不同类型，也就是说，尽可能使消息有</a:t>
            </a:r>
            <a:r>
              <a:rPr lang="zh-CN" altLang="en-US"/>
              <a:t>一致的，</a:t>
            </a:r>
            <a:r>
              <a:rPr lang="zh-CN" altLang="en-US" dirty="0"/>
              <a:t>便于后续开发者的理解。要设计简单的类，类的职责。。用途和对外提供的服务。定义简单的方法和交互协议。继承的层次的深度不要过多，</a:t>
            </a:r>
            <a:r>
              <a:rPr lang="en-US" altLang="zh-CN" dirty="0"/>
              <a:t>3~4</a:t>
            </a:r>
            <a:r>
              <a:rPr lang="zh-CN" altLang="en-US" dirty="0"/>
              <a:t>层已经是最多。要把设计的变动所产生的波及范围和副作用减少至最小。</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9677398" y="6538912"/>
            <a:ext cx="910773" cy="365125"/>
          </a:xfrm>
        </p:spPr>
        <p:txBody>
          <a:bodyPr/>
          <a:lstStyle>
            <a:lvl1pPr>
              <a:defRPr>
                <a:solidFill>
                  <a:schemeClr val="tx1"/>
                </a:solidFill>
              </a:defRPr>
            </a:lvl1pPr>
          </a:lstStyle>
          <a:p>
            <a:fld id="{EE1437CF-48CF-47D8-9F3E-7D33A0862511}" type="datetime1">
              <a:rPr lang="en-US" altLang="zh-CN" smtClean="0"/>
            </a:fld>
            <a:endParaRPr lang="zh-CN" altLang="en-US"/>
          </a:p>
        </p:txBody>
      </p:sp>
      <p:sp>
        <p:nvSpPr>
          <p:cNvPr id="6" name="灯片编号占位符 5"/>
          <p:cNvSpPr>
            <a:spLocks noGrp="1"/>
          </p:cNvSpPr>
          <p:nvPr>
            <p:ph type="sldNum" sz="quarter" idx="12"/>
          </p:nvPr>
        </p:nvSpPr>
        <p:spPr>
          <a:xfrm>
            <a:off x="10588171" y="6538912"/>
            <a:ext cx="809172" cy="365125"/>
          </a:xfrm>
        </p:spPr>
        <p:txBody>
          <a:bodyPr/>
          <a:lstStyle>
            <a:lvl1pPr>
              <a:defRPr>
                <a:solidFill>
                  <a:schemeClr val="tx1"/>
                </a:solidFill>
              </a:defRPr>
            </a:lvl1pPr>
          </a:lstStyle>
          <a:p>
            <a:fld id="{74D2AB8B-5816-41F2-8B4B-CA5C3E4E6A65}" type="slidenum">
              <a:rPr lang="zh-CN" altLang="en-US" smtClean="0"/>
            </a:fld>
            <a:endParaRPr lang="zh-CN" altLang="en-US"/>
          </a:p>
        </p:txBody>
      </p:sp>
      <p:sp>
        <p:nvSpPr>
          <p:cNvPr id="5" name="页脚占位符 4"/>
          <p:cNvSpPr>
            <a:spLocks noGrp="1"/>
          </p:cNvSpPr>
          <p:nvPr>
            <p:ph type="ftr" sz="quarter" idx="11"/>
          </p:nvPr>
        </p:nvSpPr>
        <p:spPr>
          <a:xfrm>
            <a:off x="4038600" y="6538911"/>
            <a:ext cx="4114800" cy="365125"/>
          </a:xfrm>
        </p:spPr>
        <p:txBody>
          <a:bodyPr/>
          <a:lstStyle>
            <a:lvl1pPr>
              <a:defRPr>
                <a:solidFill>
                  <a:schemeClr val="tx1"/>
                </a:solidFill>
              </a:defRPr>
            </a:lvl1pPr>
          </a:lstStyle>
          <a:p>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6B204CD7-B98F-4DCA-8090-DC3F70878950}" type="datetime1">
              <a:rPr lang="en-US" altLang="zh-CN"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D2AB8B-5816-41F2-8B4B-CA5C3E4E6A65}" type="slidenum">
              <a:rPr lang="zh-CN" altLang="en-US" smtClean="0"/>
            </a:fld>
            <a:endParaRPr lang="zh-CN" altLang="en-US"/>
          </a:p>
        </p:txBody>
      </p:sp>
      <p:cxnSp>
        <p:nvCxnSpPr>
          <p:cNvPr id="13" name="直接连接符 12"/>
          <p:cNvCxnSpPr/>
          <p:nvPr userDrawn="1"/>
        </p:nvCxnSpPr>
        <p:spPr>
          <a:xfrm>
            <a:off x="0" y="1379220"/>
            <a:ext cx="7719060" cy="0"/>
          </a:xfrm>
          <a:prstGeom prst="line">
            <a:avLst/>
          </a:prstGeom>
          <a:ln w="38100">
            <a:solidFill>
              <a:srgbClr val="C00000"/>
            </a:solidFill>
            <a:prstDash val="sysDot"/>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BCD3CE53-8A6B-4FF5-9204-248AD11D653A}" type="datetime1">
              <a:rPr lang="en-US" altLang="zh-CN"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D2AB8B-5816-41F2-8B4B-CA5C3E4E6A65}"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D2863A2D-6F54-47AD-94A2-F50DB1E035B6}" type="datetime1">
              <a:rPr lang="en-US" altLang="zh-CN"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4D2AB8B-5816-41F2-8B4B-CA5C3E4E6A65}"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8276ABC7-1CEA-4A45-B885-97C9EDD9D42B}" type="datetime1">
              <a:rPr lang="en-US" altLang="zh-CN"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4D2AB8B-5816-41F2-8B4B-CA5C3E4E6A65}"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BCB6521C-C767-4B16-B7CF-37770FC497D2}" type="datetime1">
              <a:rPr lang="en-US" altLang="zh-CN"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4D2AB8B-5816-41F2-8B4B-CA5C3E4E6A65}"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EEB60BB-FD8D-4BF8-93E0-BAE9C99FA1AC}" type="datetime1">
              <a:rPr lang="en-US" altLang="zh-CN"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9860331-A268-4BB6-B401-B737C3CE1B48}" type="datetime1">
              <a:rPr lang="en-US" altLang="zh-CN"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4D2AB8B-5816-41F2-8B4B-CA5C3E4E6A65}"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1DC1A728-08F2-4565-81E2-02348987336C}" type="datetime1">
              <a:rPr lang="en-US" altLang="zh-CN"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4D2AB8B-5816-41F2-8B4B-CA5C3E4E6A65}"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220FE71A-6105-4B27-BED7-24DBCE20606C}" type="datetime1">
              <a:rPr lang="en-US" altLang="zh-CN"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D2AB8B-5816-41F2-8B4B-CA5C3E4E6A65}"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0F86F6C3-964F-49F1-A8A5-C549EB50E073}" type="datetime1">
              <a:rPr lang="en-US" altLang="zh-CN"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D2AB8B-5816-41F2-8B4B-CA5C3E4E6A65}"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70D68DB1-EC54-42B5-9C3B-999703901CB6}" type="datetime1">
              <a:rPr lang="en-US" altLang="zh-CN" smtClean="0"/>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tx1"/>
                </a:solidFill>
                <a:latin typeface="黑体" panose="02010609060101010101" charset="-122"/>
                <a:cs typeface="黑体" panose="02010609060101010101" charset="-122"/>
              </a:defRPr>
            </a:lvl1pPr>
          </a:lstStyle>
          <a:p/>
        </p:txBody>
      </p:sp>
      <p:sp>
        <p:nvSpPr>
          <p:cNvPr id="3" name="Holder 3"/>
          <p:cNvSpPr>
            <a:spLocks noGrp="1"/>
          </p:cNvSpPr>
          <p:nvPr>
            <p:ph sz="half" idx="2"/>
          </p:nvPr>
        </p:nvSpPr>
        <p:spPr>
          <a:xfrm>
            <a:off x="558165" y="1095058"/>
            <a:ext cx="2743200" cy="4305300"/>
          </a:xfrm>
          <a:prstGeom prst="rect">
            <a:avLst/>
          </a:prstGeom>
        </p:spPr>
        <p:txBody>
          <a:bodyPr wrap="square" lIns="0" tIns="0" rIns="0" bIns="0">
            <a:spAutoFit/>
          </a:bodyPr>
          <a:lstStyle>
            <a:lvl1pPr>
              <a:defRPr sz="2000" b="0" i="0">
                <a:solidFill>
                  <a:schemeClr val="tx1"/>
                </a:solidFill>
                <a:latin typeface="黑体" panose="02010609060101010101" charset="-122"/>
                <a:cs typeface="黑体" panose="02010609060101010101" charset="-122"/>
              </a:defRPr>
            </a:lvl1pPr>
          </a:lstStyle>
          <a:p/>
        </p:txBody>
      </p:sp>
      <p:sp>
        <p:nvSpPr>
          <p:cNvPr id="4" name="Holder 4"/>
          <p:cNvSpPr>
            <a:spLocks noGrp="1"/>
          </p:cNvSpPr>
          <p:nvPr>
            <p:ph sz="half" idx="3"/>
          </p:nvPr>
        </p:nvSpPr>
        <p:spPr>
          <a:xfrm>
            <a:off x="6462077" y="1095058"/>
            <a:ext cx="2997200" cy="3937000"/>
          </a:xfrm>
          <a:prstGeom prst="rect">
            <a:avLst/>
          </a:prstGeom>
        </p:spPr>
        <p:txBody>
          <a:bodyPr wrap="square" lIns="0" tIns="0" rIns="0" bIns="0">
            <a:spAutoFit/>
          </a:bodyPr>
          <a:lstStyle>
            <a:lvl1pPr>
              <a:defRPr sz="2000" b="0" i="0">
                <a:solidFill>
                  <a:schemeClr val="tx1"/>
                </a:solidFill>
                <a:latin typeface="黑体" panose="02010609060101010101" charset="-122"/>
                <a:cs typeface="黑体" panose="02010609060101010101" charset="-122"/>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0BD8EBF8-0735-4257-9EA6-751624EF6361}" type="datetime1">
              <a:rPr lang="en-US" altLang="zh-CN" smtClean="0"/>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tx1"/>
                </a:solidFill>
                <a:latin typeface="黑体" panose="02010609060101010101" charset="-122"/>
                <a:cs typeface="黑体" panose="02010609060101010101" charset="-122"/>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9DBC1B47-DB46-480F-93EB-F0BABC00770F}" type="datetime1">
              <a:rPr lang="en-US" altLang="zh-CN" smtClean="0"/>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1.jpe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813676" y="6248725"/>
            <a:ext cx="1060619" cy="365125"/>
          </a:xfrm>
          <a:prstGeom prst="rect">
            <a:avLst/>
          </a:prstGeom>
        </p:spPr>
        <p:txBody>
          <a:bodyPr vert="horz" lIns="91440" tIns="45720" rIns="91440" bIns="45720" rtlCol="0" anchor="ctr"/>
          <a:lstStyle>
            <a:lvl1pPr algn="l">
              <a:defRPr sz="1200">
                <a:solidFill>
                  <a:schemeClr val="tx1"/>
                </a:solidFill>
              </a:defRPr>
            </a:lvl1pPr>
          </a:lstStyle>
          <a:p>
            <a:fld id="{0767CBF5-85C4-4E6B-A6B8-2C7041B1F416}" type="datetime1">
              <a:rPr lang="en-US" altLang="zh-CN" smtClean="0"/>
            </a:fld>
            <a:endParaRPr lang="zh-CN" altLang="en-US"/>
          </a:p>
        </p:txBody>
      </p:sp>
      <p:sp>
        <p:nvSpPr>
          <p:cNvPr id="6" name="灯片编号占位符 5"/>
          <p:cNvSpPr>
            <a:spLocks noGrp="1"/>
          </p:cNvSpPr>
          <p:nvPr>
            <p:ph type="sldNum" sz="quarter" idx="4"/>
          </p:nvPr>
        </p:nvSpPr>
        <p:spPr>
          <a:xfrm>
            <a:off x="10406617" y="6382978"/>
            <a:ext cx="997857" cy="365125"/>
          </a:xfrm>
          <a:prstGeom prst="rect">
            <a:avLst/>
          </a:prstGeom>
        </p:spPr>
        <p:txBody>
          <a:bodyPr vert="horz" lIns="91440" tIns="45720" rIns="91440" bIns="45720" rtlCol="0" anchor="ctr"/>
          <a:lstStyle>
            <a:lvl1pPr algn="r">
              <a:defRPr sz="1200">
                <a:solidFill>
                  <a:schemeClr val="tx1"/>
                </a:solidFill>
              </a:defRPr>
            </a:lvl1pPr>
          </a:lstStyle>
          <a:p>
            <a:fld id="{74D2AB8B-5816-41F2-8B4B-CA5C3E4E6A65}" type="slidenum">
              <a:rPr lang="zh-CN" altLang="en-US" smtClean="0"/>
            </a:fld>
            <a:endParaRPr lang="zh-CN" altLang="en-US"/>
          </a:p>
        </p:txBody>
      </p:sp>
      <p:sp>
        <p:nvSpPr>
          <p:cNvPr id="5" name="页脚占位符 4"/>
          <p:cNvSpPr>
            <a:spLocks noGrp="1"/>
          </p:cNvSpPr>
          <p:nvPr>
            <p:ph type="ftr" sz="quarter" idx="3"/>
          </p:nvPr>
        </p:nvSpPr>
        <p:spPr>
          <a:xfrm>
            <a:off x="4038600" y="6248725"/>
            <a:ext cx="4114800" cy="365125"/>
          </a:xfrm>
          <a:prstGeom prst="rect">
            <a:avLst/>
          </a:prstGeom>
        </p:spPr>
        <p:txBody>
          <a:bodyPr vert="horz" lIns="91440" tIns="45720" rIns="91440" bIns="45720" rtlCol="0" anchor="ctr"/>
          <a:lstStyle>
            <a:lvl1pPr algn="ctr">
              <a:defRPr sz="1200">
                <a:solidFill>
                  <a:schemeClr val="tx1"/>
                </a:solidFill>
              </a:defRPr>
            </a:lvl1pPr>
          </a:lstStyle>
          <a:p>
            <a:endParaRPr lang="zh-CN" altLang="en-US" dirty="0"/>
          </a:p>
        </p:txBody>
      </p:sp>
      <p:cxnSp>
        <p:nvCxnSpPr>
          <p:cNvPr id="13" name="直接连接符 12"/>
          <p:cNvCxnSpPr/>
          <p:nvPr userDrawn="1"/>
        </p:nvCxnSpPr>
        <p:spPr>
          <a:xfrm>
            <a:off x="2" y="6649001"/>
            <a:ext cx="10925173" cy="0"/>
          </a:xfrm>
          <a:prstGeom prst="line">
            <a:avLst/>
          </a:prstGeom>
          <a:ln w="19050">
            <a:solidFill>
              <a:srgbClr val="7030A0"/>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4" name="矩形 13"/>
          <p:cNvSpPr/>
          <p:nvPr userDrawn="1"/>
        </p:nvSpPr>
        <p:spPr>
          <a:xfrm>
            <a:off x="1" y="6512379"/>
            <a:ext cx="10925174" cy="79698"/>
          </a:xfrm>
          <a:prstGeom prst="rect">
            <a:avLst/>
          </a:prstGeom>
          <a:gradFill flip="none" rotWithShape="1">
            <a:gsLst>
              <a:gs pos="0">
                <a:srgbClr val="7030A0">
                  <a:shade val="30000"/>
                  <a:satMod val="115000"/>
                </a:srgbClr>
              </a:gs>
              <a:gs pos="50000">
                <a:srgbClr val="7030A0">
                  <a:shade val="67500"/>
                  <a:satMod val="115000"/>
                </a:srgbClr>
              </a:gs>
              <a:gs pos="100000">
                <a:srgbClr val="7030A0">
                  <a:shade val="100000"/>
                  <a:satMod val="115000"/>
                </a:srgbClr>
              </a:gs>
            </a:gsLst>
            <a:lin ang="27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968965" y="6321759"/>
            <a:ext cx="1600200" cy="487561"/>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5" Type="http://schemas.openxmlformats.org/officeDocument/2006/relationships/slideLayout" Target="../slideLayouts/slideLayout7.xml"/><Relationship Id="rId14" Type="http://schemas.openxmlformats.org/officeDocument/2006/relationships/tags" Target="../tags/tag13.xml"/><Relationship Id="rId13" Type="http://schemas.openxmlformats.org/officeDocument/2006/relationships/image" Target="../media/image2.png"/><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5" Type="http://schemas.openxmlformats.org/officeDocument/2006/relationships/slideLayout" Target="../slideLayouts/slideLayout7.xml"/><Relationship Id="rId14" Type="http://schemas.openxmlformats.org/officeDocument/2006/relationships/tags" Target="../tags/tag26.xml"/><Relationship Id="rId13" Type="http://schemas.openxmlformats.org/officeDocument/2006/relationships/image" Target="../media/image2.png"/><Relationship Id="rId12" Type="http://schemas.openxmlformats.org/officeDocument/2006/relationships/tags" Target="../tags/tag25.xml"/><Relationship Id="rId11" Type="http://schemas.openxmlformats.org/officeDocument/2006/relationships/tags" Target="../tags/tag24.xml"/><Relationship Id="rId10" Type="http://schemas.openxmlformats.org/officeDocument/2006/relationships/tags" Target="../tags/tag23.xml"/><Relationship Id="rId1" Type="http://schemas.openxmlformats.org/officeDocument/2006/relationships/tags" Target="../tags/tag14.xml"/></Relationships>
</file>

<file path=ppt/slides/_rels/slide4.xml.rels><?xml version="1.0" encoding="UTF-8" standalone="yes"?>
<Relationships xmlns="http://schemas.openxmlformats.org/package/2006/relationships"><Relationship Id="rId9" Type="http://schemas.openxmlformats.org/officeDocument/2006/relationships/tags" Target="../tags/tag35.xml"/><Relationship Id="rId8" Type="http://schemas.openxmlformats.org/officeDocument/2006/relationships/tags" Target="../tags/tag34.xml"/><Relationship Id="rId7" Type="http://schemas.openxmlformats.org/officeDocument/2006/relationships/tags" Target="../tags/tag33.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6" Type="http://schemas.openxmlformats.org/officeDocument/2006/relationships/notesSlide" Target="../notesSlides/notesSlide1.xml"/><Relationship Id="rId15" Type="http://schemas.openxmlformats.org/officeDocument/2006/relationships/slideLayout" Target="../slideLayouts/slideLayout7.xml"/><Relationship Id="rId14" Type="http://schemas.openxmlformats.org/officeDocument/2006/relationships/tags" Target="../tags/tag39.xml"/><Relationship Id="rId13" Type="http://schemas.openxmlformats.org/officeDocument/2006/relationships/image" Target="../media/image2.png"/><Relationship Id="rId12" Type="http://schemas.openxmlformats.org/officeDocument/2006/relationships/tags" Target="../tags/tag38.xml"/><Relationship Id="rId11" Type="http://schemas.openxmlformats.org/officeDocument/2006/relationships/tags" Target="../tags/tag37.xml"/><Relationship Id="rId10" Type="http://schemas.openxmlformats.org/officeDocument/2006/relationships/tags" Target="../tags/tag36.xml"/><Relationship Id="rId1" Type="http://schemas.openxmlformats.org/officeDocument/2006/relationships/tags" Target="../tags/tag27.xml"/></Relationships>
</file>

<file path=ppt/slides/_rels/slide5.xml.rels><?xml version="1.0" encoding="UTF-8" standalone="yes"?>
<Relationships xmlns="http://schemas.openxmlformats.org/package/2006/relationships"><Relationship Id="rId9" Type="http://schemas.openxmlformats.org/officeDocument/2006/relationships/tags" Target="../tags/tag48.xml"/><Relationship Id="rId8" Type="http://schemas.openxmlformats.org/officeDocument/2006/relationships/tags" Target="../tags/tag47.xml"/><Relationship Id="rId7" Type="http://schemas.openxmlformats.org/officeDocument/2006/relationships/tags" Target="../tags/tag46.xml"/><Relationship Id="rId6" Type="http://schemas.openxmlformats.org/officeDocument/2006/relationships/tags" Target="../tags/tag45.xml"/><Relationship Id="rId5" Type="http://schemas.openxmlformats.org/officeDocument/2006/relationships/tags" Target="../tags/tag44.xml"/><Relationship Id="rId4" Type="http://schemas.openxmlformats.org/officeDocument/2006/relationships/tags" Target="../tags/tag43.xml"/><Relationship Id="rId3" Type="http://schemas.openxmlformats.org/officeDocument/2006/relationships/tags" Target="../tags/tag42.xml"/><Relationship Id="rId2" Type="http://schemas.openxmlformats.org/officeDocument/2006/relationships/tags" Target="../tags/tag41.xml"/><Relationship Id="rId15" Type="http://schemas.openxmlformats.org/officeDocument/2006/relationships/slideLayout" Target="../slideLayouts/slideLayout7.xml"/><Relationship Id="rId14" Type="http://schemas.openxmlformats.org/officeDocument/2006/relationships/tags" Target="../tags/tag52.xml"/><Relationship Id="rId13" Type="http://schemas.openxmlformats.org/officeDocument/2006/relationships/image" Target="../media/image2.png"/><Relationship Id="rId12" Type="http://schemas.openxmlformats.org/officeDocument/2006/relationships/tags" Target="../tags/tag51.xml"/><Relationship Id="rId11" Type="http://schemas.openxmlformats.org/officeDocument/2006/relationships/tags" Target="../tags/tag50.xml"/><Relationship Id="rId10" Type="http://schemas.openxmlformats.org/officeDocument/2006/relationships/tags" Target="../tags/tag49.xml"/><Relationship Id="rId1" Type="http://schemas.openxmlformats.org/officeDocument/2006/relationships/tags" Target="../tags/tag40.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4.jpe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2.xml"/><Relationship Id="rId2" Type="http://schemas.openxmlformats.org/officeDocument/2006/relationships/image" Target="../media/image6.png"/><Relationship Id="rId1" Type="http://schemas.openxmlformats.org/officeDocument/2006/relationships/image" Target="../media/image5.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14.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16.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18.jpe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21.jpe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22.jpe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23.jpe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21.jpe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24.jpe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25.jpe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26.jpe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image" Target="../media/image27.jpe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21.jpe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image" Target="../media/image28.jpeg"/></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13.xml"/><Relationship Id="rId2" Type="http://schemas.openxmlformats.org/officeDocument/2006/relationships/image" Target="../media/image30.jpeg"/><Relationship Id="rId1" Type="http://schemas.openxmlformats.org/officeDocument/2006/relationships/image" Target="../media/image29.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image" Target="../media/image18.jpe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image" Target="../media/image18.jpe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image" Target="../media/image18.jpe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image" Target="../media/image18.jpe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image" Target="../media/image18.jpe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4.xml"/><Relationship Id="rId1" Type="http://schemas.openxmlformats.org/officeDocument/2006/relationships/image" Target="../media/image31.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image" Target="../media/image32.jpe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image" Target="../media/image33.jpe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image" Target="../media/image34.jpe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61.xml.rels><?xml version="1.0" encoding="UTF-8" standalone="yes"?>
<Relationships xmlns="http://schemas.openxmlformats.org/package/2006/relationships"><Relationship Id="rId4" Type="http://schemas.openxmlformats.org/officeDocument/2006/relationships/notesSlide" Target="../notesSlides/notesSlide51.xml"/><Relationship Id="rId3" Type="http://schemas.openxmlformats.org/officeDocument/2006/relationships/slideLayout" Target="../slideLayouts/slideLayout2.xml"/><Relationship Id="rId2" Type="http://schemas.openxmlformats.org/officeDocument/2006/relationships/image" Target="../media/image37.png"/><Relationship Id="rId1" Type="http://schemas.openxmlformats.org/officeDocument/2006/relationships/image" Target="../media/image36.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5" Type="http://schemas.openxmlformats.org/officeDocument/2006/relationships/notesSlide" Target="../notesSlides/notesSlide53.xml"/><Relationship Id="rId4" Type="http://schemas.openxmlformats.org/officeDocument/2006/relationships/slideLayout" Target="../slideLayouts/slideLayout2.xml"/><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8.png"/></Relationships>
</file>

<file path=ppt/slides/_rels/slide64.xml.rels><?xml version="1.0" encoding="UTF-8" standalone="yes"?>
<Relationships xmlns="http://schemas.openxmlformats.org/package/2006/relationships"><Relationship Id="rId5" Type="http://schemas.openxmlformats.org/officeDocument/2006/relationships/notesSlide" Target="../notesSlides/notesSlide54.xml"/><Relationship Id="rId4" Type="http://schemas.openxmlformats.org/officeDocument/2006/relationships/slideLayout" Target="../slideLayouts/slideLayout2.xml"/><Relationship Id="rId3" Type="http://schemas.openxmlformats.org/officeDocument/2006/relationships/image" Target="../media/image41.png"/><Relationship Id="rId2" Type="http://schemas.openxmlformats.org/officeDocument/2006/relationships/image" Target="../media/image39.png"/><Relationship Id="rId1" Type="http://schemas.openxmlformats.org/officeDocument/2006/relationships/image" Target="../media/image38.png"/></Relationships>
</file>

<file path=ppt/slides/_rels/slide65.xml.rels><?xml version="1.0" encoding="UTF-8" standalone="yes"?>
<Relationships xmlns="http://schemas.openxmlformats.org/package/2006/relationships"><Relationship Id="rId4" Type="http://schemas.openxmlformats.org/officeDocument/2006/relationships/notesSlide" Target="../notesSlides/notesSlide55.xml"/><Relationship Id="rId3" Type="http://schemas.openxmlformats.org/officeDocument/2006/relationships/slideLayout" Target="../slideLayouts/slideLayout2.xml"/><Relationship Id="rId2" Type="http://schemas.openxmlformats.org/officeDocument/2006/relationships/image" Target="../media/image43.png"/><Relationship Id="rId1" Type="http://schemas.openxmlformats.org/officeDocument/2006/relationships/image" Target="../media/image42.png"/></Relationships>
</file>

<file path=ppt/slides/_rels/slide66.xml.rels><?xml version="1.0" encoding="UTF-8" standalone="yes"?>
<Relationships xmlns="http://schemas.openxmlformats.org/package/2006/relationships"><Relationship Id="rId4" Type="http://schemas.openxmlformats.org/officeDocument/2006/relationships/notesSlide" Target="../notesSlides/notesSlide56.xml"/><Relationship Id="rId3" Type="http://schemas.openxmlformats.org/officeDocument/2006/relationships/slideLayout" Target="../slideLayouts/slideLayout2.xml"/><Relationship Id="rId2" Type="http://schemas.openxmlformats.org/officeDocument/2006/relationships/image" Target="../media/image45.png"/><Relationship Id="rId1" Type="http://schemas.openxmlformats.org/officeDocument/2006/relationships/image" Target="../media/image44.jpe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4" Type="http://schemas.openxmlformats.org/officeDocument/2006/relationships/notesSlide" Target="../notesSlides/notesSlide59.xml"/><Relationship Id="rId3" Type="http://schemas.openxmlformats.org/officeDocument/2006/relationships/slideLayout" Target="../slideLayouts/slideLayout2.xml"/><Relationship Id="rId2" Type="http://schemas.openxmlformats.org/officeDocument/2006/relationships/image" Target="../media/image47.png"/><Relationship Id="rId1" Type="http://schemas.openxmlformats.org/officeDocument/2006/relationships/image" Target="../media/image46.png"/></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2.xml"/><Relationship Id="rId1" Type="http://schemas.openxmlformats.org/officeDocument/2006/relationships/image" Target="../media/image50.png"/></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2.xml"/><Relationship Id="rId1" Type="http://schemas.openxmlformats.org/officeDocument/2006/relationships/image" Target="../media/image50.png"/></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2.xml"/><Relationship Id="rId1" Type="http://schemas.openxmlformats.org/officeDocument/2006/relationships/image" Target="../media/image50.png"/></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2.xml"/><Relationship Id="rId1" Type="http://schemas.openxmlformats.org/officeDocument/2006/relationships/image" Target="../media/image51.png"/></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2.xml"/><Relationship Id="rId1" Type="http://schemas.openxmlformats.org/officeDocument/2006/relationships/image" Target="../media/image52.png"/></Relationships>
</file>

<file path=ppt/slides/_rels/slide77.xml.rels><?xml version="1.0" encoding="UTF-8" standalone="yes"?>
<Relationships xmlns="http://schemas.openxmlformats.org/package/2006/relationships"><Relationship Id="rId4" Type="http://schemas.openxmlformats.org/officeDocument/2006/relationships/notesSlide" Target="../notesSlides/notesSlide67.xml"/><Relationship Id="rId3" Type="http://schemas.openxmlformats.org/officeDocument/2006/relationships/slideLayout" Target="../slideLayouts/slideLayout2.xml"/><Relationship Id="rId2" Type="http://schemas.openxmlformats.org/officeDocument/2006/relationships/image" Target="../media/image54.png"/><Relationship Id="rId1" Type="http://schemas.openxmlformats.org/officeDocument/2006/relationships/image" Target="../media/image53.png"/></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2.xml"/><Relationship Id="rId1" Type="http://schemas.openxmlformats.org/officeDocument/2006/relationships/image" Target="../media/image55.png"/></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38419" y="582067"/>
            <a:ext cx="10315161" cy="5262979"/>
          </a:xfrm>
          <a:prstGeom prst="rect">
            <a:avLst/>
          </a:prstGeom>
        </p:spPr>
        <p:txBody>
          <a:bodyPr wrap="square">
            <a:spAutoFit/>
          </a:bodyPr>
          <a:lstStyle/>
          <a:p>
            <a:r>
              <a:rPr lang="zh-CN" altLang="en-US" sz="2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我们在为一家互联网电商开发订单处理软件，该公司从供应商那里购买产品，然后销售给客户。这家公司在线发布商品目录，并将其推送给客户和其他感兴趣的人。</a:t>
            </a:r>
            <a:endParaRPr lang="zh-CN" altLang="en-US" sz="2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endParaRPr lang="zh-CN" altLang="en-US" sz="2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sz="2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客户以提交商品列表并向电商付费的方式购买商品。电商填写帐单，并委托快递公司把商品运送到客户的地址。订单处理软件记录从收到订单直到商品被运送给客户的整个过程。电商将提供快捷的服务，以最快、最有效的方法来发送客户订购的产品。</a:t>
            </a:r>
            <a:endParaRPr lang="zh-CN" altLang="en-US" sz="2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sz="2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客户可以退货，但有时要付运费。</a:t>
            </a:r>
            <a:endParaRPr lang="en-US" altLang="zh-CN" sz="2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endParaRPr lang="en-US" altLang="zh-CN" sz="2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endParaRPr lang="zh-CN" altLang="en-US" sz="2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endParaRPr lang="zh-CN" altLang="en-US" sz="2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1084028" y="1009755"/>
            <a:ext cx="9753600" cy="1805464"/>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电商订单处理软件系统的参与者不包括：</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文本框 4"/>
          <p:cNvSpPr txBox="1"/>
          <p:nvPr>
            <p:custDataLst>
              <p:tags r:id="rId2"/>
            </p:custDataLst>
          </p:nvPr>
        </p:nvSpPr>
        <p:spPr>
          <a:xfrm>
            <a:off x="2810124" y="2332724"/>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网络电商</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5"/>
          <p:cNvSpPr txBox="1"/>
          <p:nvPr>
            <p:custDataLst>
              <p:tags r:id="rId3"/>
            </p:custDataLst>
          </p:nvPr>
        </p:nvSpPr>
        <p:spPr>
          <a:xfrm>
            <a:off x="2810124" y="3189974"/>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客户</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文本框 6"/>
          <p:cNvSpPr txBox="1"/>
          <p:nvPr>
            <p:custDataLst>
              <p:tags r:id="rId4"/>
            </p:custDataLst>
          </p:nvPr>
        </p:nvSpPr>
        <p:spPr>
          <a:xfrm>
            <a:off x="2810124" y="4047224"/>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其它感兴趣的人</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文本框 7"/>
          <p:cNvSpPr txBox="1"/>
          <p:nvPr>
            <p:custDataLst>
              <p:tags r:id="rId5"/>
            </p:custDataLst>
          </p:nvPr>
        </p:nvSpPr>
        <p:spPr>
          <a:xfrm>
            <a:off x="2810124" y="4904474"/>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快递公司</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矩形: 圆角 12"/>
          <p:cNvSpPr/>
          <p:nvPr>
            <p:custDataLst>
              <p:tags r:id="rId6"/>
            </p:custDataLst>
          </p:nvPr>
        </p:nvSpPr>
        <p:spPr>
          <a:xfrm>
            <a:off x="7434943" y="1752229"/>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8" name="组合 17"/>
          <p:cNvGrpSpPr/>
          <p:nvPr>
            <p:custDataLst>
              <p:tags r:id="rId7"/>
            </p:custDataLst>
          </p:nvPr>
        </p:nvGrpSpPr>
        <p:grpSpPr>
          <a:xfrm>
            <a:off x="0" y="0"/>
            <a:ext cx="12192000" cy="635000"/>
            <a:chOff x="0" y="0"/>
            <a:chExt cx="12192000" cy="635000"/>
          </a:xfrm>
        </p:grpSpPr>
        <p:sp>
          <p:nvSpPr>
            <p:cNvPr id="14" name="TitleBackground"/>
            <p:cNvSpPr/>
            <p:nvPr>
              <p:custDataLst>
                <p:tags r:id="rId8"/>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9"/>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0"/>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 name="TipText"/>
            <p:cNvSpPr txBox="1"/>
            <p:nvPr>
              <p:custDataLst>
                <p:tags r:id="rId11"/>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3" name="图片 2"/>
          <p:cNvPicPr/>
          <p:nvPr>
            <p:custDataLst>
              <p:tags r:id="rId12"/>
            </p:custDataLst>
          </p:nvPr>
        </p:nvPicPr>
        <p:blipFill>
          <a:blip r:embed="rId13">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19" name="文本框 18"/>
          <p:cNvSpPr txBox="1"/>
          <p:nvPr/>
        </p:nvSpPr>
        <p:spPr>
          <a:xfrm>
            <a:off x="2100288" y="2438869"/>
            <a:ext cx="405880" cy="3108543"/>
          </a:xfrm>
          <a:prstGeom prst="rect">
            <a:avLst/>
          </a:prstGeom>
          <a:noFill/>
        </p:spPr>
        <p:txBody>
          <a:bodyPr wrap="none" rtlCol="0">
            <a:spAutoFit/>
          </a:bodyPr>
          <a:lstStyle/>
          <a:p>
            <a:r>
              <a:rPr lang="en-US" altLang="zh-CN" sz="2800" dirty="0"/>
              <a:t>A</a:t>
            </a:r>
            <a:endParaRPr lang="en-US" altLang="zh-CN" sz="2800" dirty="0"/>
          </a:p>
          <a:p>
            <a:endParaRPr lang="en-US" altLang="zh-CN" sz="2800" dirty="0"/>
          </a:p>
          <a:p>
            <a:r>
              <a:rPr lang="en-US" altLang="zh-CN" sz="2800" dirty="0"/>
              <a:t>B</a:t>
            </a:r>
            <a:endParaRPr lang="en-US" altLang="zh-CN" sz="2800" dirty="0"/>
          </a:p>
          <a:p>
            <a:endParaRPr lang="en-US" altLang="zh-CN" sz="2800" dirty="0"/>
          </a:p>
          <a:p>
            <a:r>
              <a:rPr lang="en-US" altLang="zh-CN" sz="2800" dirty="0"/>
              <a:t>C</a:t>
            </a:r>
            <a:endParaRPr lang="en-US" altLang="zh-CN" sz="2800" dirty="0"/>
          </a:p>
          <a:p>
            <a:endParaRPr lang="en-US" altLang="zh-CN" sz="2800" dirty="0"/>
          </a:p>
          <a:p>
            <a:r>
              <a:rPr lang="en-US" altLang="zh-CN" sz="2800" dirty="0"/>
              <a:t>D</a:t>
            </a:r>
            <a:endParaRPr lang="zh-CN" altLang="en-US" sz="2800" dirty="0"/>
          </a:p>
        </p:txBody>
      </p:sp>
    </p:spTree>
    <p:custDataLst>
      <p:tags r:id="rId14"/>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在网络电商客户定单处理应用中与客户有关的用例不包括：</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文本框 4"/>
          <p:cNvSpPr txBox="1"/>
          <p:nvPr>
            <p:custDataLst>
              <p:tags r:id="rId2"/>
            </p:custDataLst>
          </p:nvPr>
        </p:nvSpPr>
        <p:spPr>
          <a:xfrm>
            <a:off x="3113314" y="220218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退货</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5"/>
          <p:cNvSpPr txBox="1"/>
          <p:nvPr>
            <p:custDataLst>
              <p:tags r:id="rId3"/>
            </p:custDataLst>
          </p:nvPr>
        </p:nvSpPr>
        <p:spPr>
          <a:xfrm>
            <a:off x="3113314" y="305943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计算运费</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文本框 6"/>
          <p:cNvSpPr txBox="1"/>
          <p:nvPr>
            <p:custDataLst>
              <p:tags r:id="rId4"/>
            </p:custDataLst>
          </p:nvPr>
        </p:nvSpPr>
        <p:spPr>
          <a:xfrm>
            <a:off x="3113314" y="391668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浏览商品</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文本框 7"/>
          <p:cNvSpPr txBox="1"/>
          <p:nvPr>
            <p:custDataLst>
              <p:tags r:id="rId5"/>
            </p:custDataLst>
          </p:nvPr>
        </p:nvSpPr>
        <p:spPr>
          <a:xfrm>
            <a:off x="3113314" y="477393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订单查询</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矩形: 圆角 12"/>
          <p:cNvSpPr/>
          <p:nvPr>
            <p:custDataLst>
              <p:tags r:id="rId6"/>
            </p:custDataLst>
          </p:nvPr>
        </p:nvSpPr>
        <p:spPr>
          <a:xfrm>
            <a:off x="8022771" y="2112168"/>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8" name="组合 17"/>
          <p:cNvGrpSpPr/>
          <p:nvPr>
            <p:custDataLst>
              <p:tags r:id="rId7"/>
            </p:custDataLst>
          </p:nvPr>
        </p:nvGrpSpPr>
        <p:grpSpPr>
          <a:xfrm>
            <a:off x="0" y="0"/>
            <a:ext cx="12192000" cy="635000"/>
            <a:chOff x="0" y="0"/>
            <a:chExt cx="12192000" cy="635000"/>
          </a:xfrm>
        </p:grpSpPr>
        <p:sp>
          <p:nvSpPr>
            <p:cNvPr id="14" name="TitleBackground"/>
            <p:cNvSpPr/>
            <p:nvPr>
              <p:custDataLst>
                <p:tags r:id="rId8"/>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9"/>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0"/>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 name="TipText"/>
            <p:cNvSpPr txBox="1"/>
            <p:nvPr>
              <p:custDataLst>
                <p:tags r:id="rId11"/>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3" name="图片 2"/>
          <p:cNvPicPr/>
          <p:nvPr>
            <p:custDataLst>
              <p:tags r:id="rId12"/>
            </p:custDataLst>
          </p:nvPr>
        </p:nvPicPr>
        <p:blipFill>
          <a:blip r:embed="rId13">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p:cNvSpPr txBox="1"/>
          <p:nvPr/>
        </p:nvSpPr>
        <p:spPr>
          <a:xfrm>
            <a:off x="2193084" y="2308325"/>
            <a:ext cx="405880" cy="3108543"/>
          </a:xfrm>
          <a:prstGeom prst="rect">
            <a:avLst/>
          </a:prstGeom>
          <a:noFill/>
        </p:spPr>
        <p:txBody>
          <a:bodyPr wrap="none" rtlCol="0">
            <a:spAutoFit/>
          </a:bodyPr>
          <a:lstStyle/>
          <a:p>
            <a:r>
              <a:rPr lang="en-US" altLang="zh-CN" sz="2800" dirty="0"/>
              <a:t>A</a:t>
            </a:r>
            <a:endParaRPr lang="en-US" altLang="zh-CN" sz="2800" dirty="0"/>
          </a:p>
          <a:p>
            <a:endParaRPr lang="en-US" altLang="zh-CN" sz="2800" dirty="0"/>
          </a:p>
          <a:p>
            <a:r>
              <a:rPr lang="en-US" altLang="zh-CN" sz="2800" dirty="0"/>
              <a:t>B</a:t>
            </a:r>
            <a:endParaRPr lang="en-US" altLang="zh-CN" sz="2800" dirty="0"/>
          </a:p>
          <a:p>
            <a:endParaRPr lang="en-US" altLang="zh-CN" sz="2800" dirty="0"/>
          </a:p>
          <a:p>
            <a:r>
              <a:rPr lang="en-US" altLang="zh-CN" sz="2800" dirty="0"/>
              <a:t>C</a:t>
            </a:r>
            <a:endParaRPr lang="en-US" altLang="zh-CN" sz="2800" dirty="0"/>
          </a:p>
          <a:p>
            <a:endParaRPr lang="en-US" altLang="zh-CN" sz="2800" dirty="0"/>
          </a:p>
          <a:p>
            <a:r>
              <a:rPr lang="en-US" altLang="zh-CN" sz="2800" dirty="0"/>
              <a:t>D</a:t>
            </a:r>
            <a:endParaRPr lang="zh-CN" altLang="en-US" sz="2800" dirty="0"/>
          </a:p>
        </p:txBody>
      </p:sp>
    </p:spTree>
    <p:custDataLst>
      <p:tags r:id="rId14"/>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进入订购商品用例的前置条件是：</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文本框 4"/>
          <p:cNvSpPr txBox="1"/>
          <p:nvPr>
            <p:custDataLst>
              <p:tags r:id="rId2"/>
            </p:custDataLst>
          </p:nvPr>
        </p:nvSpPr>
        <p:spPr>
          <a:xfrm>
            <a:off x="2614613" y="2274435"/>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客户对商品感兴趣</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5"/>
          <p:cNvSpPr txBox="1"/>
          <p:nvPr>
            <p:custDataLst>
              <p:tags r:id="rId3"/>
            </p:custDataLst>
          </p:nvPr>
        </p:nvSpPr>
        <p:spPr>
          <a:xfrm>
            <a:off x="2614613" y="3131685"/>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客户安装了与系统兼容的浏览器版本</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文本框 6"/>
          <p:cNvSpPr txBox="1"/>
          <p:nvPr>
            <p:custDataLst>
              <p:tags r:id="rId4"/>
            </p:custDataLst>
          </p:nvPr>
        </p:nvSpPr>
        <p:spPr>
          <a:xfrm>
            <a:off x="2614613" y="3988935"/>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商品已经放入购物车</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文本框 7"/>
          <p:cNvSpPr txBox="1"/>
          <p:nvPr>
            <p:custDataLst>
              <p:tags r:id="rId5"/>
            </p:custDataLst>
          </p:nvPr>
        </p:nvSpPr>
        <p:spPr>
          <a:xfrm>
            <a:off x="2614613" y="4846185"/>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客户通过合法账户登入系统</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矩形: 圆角 12"/>
          <p:cNvSpPr/>
          <p:nvPr>
            <p:custDataLst>
              <p:tags r:id="rId6"/>
            </p:custDataLst>
          </p:nvPr>
        </p:nvSpPr>
        <p:spPr>
          <a:xfrm>
            <a:off x="6881813" y="1471862"/>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8" name="组合 17"/>
          <p:cNvGrpSpPr/>
          <p:nvPr>
            <p:custDataLst>
              <p:tags r:id="rId7"/>
            </p:custDataLst>
          </p:nvPr>
        </p:nvGrpSpPr>
        <p:grpSpPr>
          <a:xfrm>
            <a:off x="0" y="0"/>
            <a:ext cx="12192000" cy="635000"/>
            <a:chOff x="0" y="0"/>
            <a:chExt cx="12192000" cy="635000"/>
          </a:xfrm>
        </p:grpSpPr>
        <p:sp>
          <p:nvSpPr>
            <p:cNvPr id="14" name="TitleBackground"/>
            <p:cNvSpPr/>
            <p:nvPr>
              <p:custDataLst>
                <p:tags r:id="rId8"/>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9"/>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0"/>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 name="TipText"/>
            <p:cNvSpPr txBox="1"/>
            <p:nvPr>
              <p:custDataLst>
                <p:tags r:id="rId11"/>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3" name="图片 2"/>
          <p:cNvPicPr/>
          <p:nvPr>
            <p:custDataLst>
              <p:tags r:id="rId12"/>
            </p:custDataLst>
          </p:nvPr>
        </p:nvPicPr>
        <p:blipFill>
          <a:blip r:embed="rId13">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p:cNvSpPr txBox="1"/>
          <p:nvPr/>
        </p:nvSpPr>
        <p:spPr>
          <a:xfrm>
            <a:off x="2100288" y="2438869"/>
            <a:ext cx="405880" cy="3108543"/>
          </a:xfrm>
          <a:prstGeom prst="rect">
            <a:avLst/>
          </a:prstGeom>
          <a:noFill/>
        </p:spPr>
        <p:txBody>
          <a:bodyPr wrap="none" rtlCol="0">
            <a:spAutoFit/>
          </a:bodyPr>
          <a:lstStyle/>
          <a:p>
            <a:r>
              <a:rPr lang="en-US" altLang="zh-CN" sz="2800" dirty="0"/>
              <a:t>A</a:t>
            </a:r>
            <a:endParaRPr lang="en-US" altLang="zh-CN" sz="2800" dirty="0"/>
          </a:p>
          <a:p>
            <a:endParaRPr lang="en-US" altLang="zh-CN" sz="2800" dirty="0"/>
          </a:p>
          <a:p>
            <a:r>
              <a:rPr lang="en-US" altLang="zh-CN" sz="2800" dirty="0"/>
              <a:t>B</a:t>
            </a:r>
            <a:endParaRPr lang="en-US" altLang="zh-CN" sz="2800" dirty="0"/>
          </a:p>
          <a:p>
            <a:endParaRPr lang="en-US" altLang="zh-CN" sz="2800" dirty="0"/>
          </a:p>
          <a:p>
            <a:r>
              <a:rPr lang="en-US" altLang="zh-CN" sz="2800" dirty="0"/>
              <a:t>C</a:t>
            </a:r>
            <a:endParaRPr lang="en-US" altLang="zh-CN" sz="2800" dirty="0"/>
          </a:p>
          <a:p>
            <a:endParaRPr lang="en-US" altLang="zh-CN" sz="2800" dirty="0"/>
          </a:p>
          <a:p>
            <a:r>
              <a:rPr lang="en-US" altLang="zh-CN" sz="2800" dirty="0"/>
              <a:t>D</a:t>
            </a:r>
            <a:endParaRPr lang="zh-CN" altLang="en-US" sz="2800" dirty="0"/>
          </a:p>
        </p:txBody>
      </p:sp>
    </p:spTree>
    <p:custDataLst>
      <p:tags r:id="rId14"/>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使用订单处理系统一段时间以后，电商希望增加一种功能</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为老顾客提供折扣。以下哪种方法比较合适？</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文本框 4"/>
          <p:cNvSpPr txBox="1"/>
          <p:nvPr>
            <p:custDataLst>
              <p:tags r:id="rId2"/>
            </p:custDataLst>
          </p:nvPr>
        </p:nvSpPr>
        <p:spPr>
          <a:xfrm>
            <a:off x="2614613" y="220218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建立老顾客折扣新用例</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5"/>
          <p:cNvSpPr txBox="1"/>
          <p:nvPr>
            <p:custDataLst>
              <p:tags r:id="rId3"/>
            </p:custDataLst>
          </p:nvPr>
        </p:nvSpPr>
        <p:spPr>
          <a:xfrm>
            <a:off x="2614613" y="305943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扩展订购商品用例 </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文本框 6"/>
          <p:cNvSpPr txBox="1"/>
          <p:nvPr>
            <p:custDataLst>
              <p:tags r:id="rId4"/>
            </p:custDataLst>
          </p:nvPr>
        </p:nvSpPr>
        <p:spPr>
          <a:xfrm>
            <a:off x="2614613" y="391668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在订购商品用例中包含老顾客提供折扣用例</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文本框 7"/>
          <p:cNvSpPr txBox="1"/>
          <p:nvPr>
            <p:custDataLst>
              <p:tags r:id="rId5"/>
            </p:custDataLst>
          </p:nvPr>
        </p:nvSpPr>
        <p:spPr>
          <a:xfrm>
            <a:off x="2614613" y="477393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为订购商品用例建立两个子用例：普通顾客订购商品和老顾客订购商品</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矩形: 圆角 12"/>
          <p:cNvSpPr/>
          <p:nvPr>
            <p:custDataLst>
              <p:tags r:id="rId6"/>
            </p:custDataLst>
          </p:nvPr>
        </p:nvSpPr>
        <p:spPr>
          <a:xfrm>
            <a:off x="7859485" y="1790700"/>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8" name="组合 17"/>
          <p:cNvGrpSpPr/>
          <p:nvPr>
            <p:custDataLst>
              <p:tags r:id="rId7"/>
            </p:custDataLst>
          </p:nvPr>
        </p:nvGrpSpPr>
        <p:grpSpPr>
          <a:xfrm>
            <a:off x="0" y="0"/>
            <a:ext cx="12192000" cy="635000"/>
            <a:chOff x="0" y="0"/>
            <a:chExt cx="12192000" cy="635000"/>
          </a:xfrm>
        </p:grpSpPr>
        <p:sp>
          <p:nvSpPr>
            <p:cNvPr id="14" name="TitleBackground"/>
            <p:cNvSpPr/>
            <p:nvPr>
              <p:custDataLst>
                <p:tags r:id="rId8"/>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9"/>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0"/>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 name="TipText"/>
            <p:cNvSpPr txBox="1"/>
            <p:nvPr>
              <p:custDataLst>
                <p:tags r:id="rId11"/>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3" name="图片 2"/>
          <p:cNvPicPr/>
          <p:nvPr>
            <p:custDataLst>
              <p:tags r:id="rId12"/>
            </p:custDataLst>
          </p:nvPr>
        </p:nvPicPr>
        <p:blipFill>
          <a:blip r:embed="rId13">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p:cNvSpPr txBox="1"/>
          <p:nvPr/>
        </p:nvSpPr>
        <p:spPr>
          <a:xfrm>
            <a:off x="1895131" y="2308325"/>
            <a:ext cx="405880" cy="3108543"/>
          </a:xfrm>
          <a:prstGeom prst="rect">
            <a:avLst/>
          </a:prstGeom>
          <a:noFill/>
        </p:spPr>
        <p:txBody>
          <a:bodyPr wrap="none" rtlCol="0">
            <a:spAutoFit/>
          </a:bodyPr>
          <a:lstStyle/>
          <a:p>
            <a:r>
              <a:rPr lang="en-US" altLang="zh-CN" sz="2800" dirty="0"/>
              <a:t>A</a:t>
            </a:r>
            <a:endParaRPr lang="en-US" altLang="zh-CN" sz="2800" dirty="0"/>
          </a:p>
          <a:p>
            <a:endParaRPr lang="en-US" altLang="zh-CN" sz="2800" dirty="0"/>
          </a:p>
          <a:p>
            <a:r>
              <a:rPr lang="en-US" altLang="zh-CN" sz="2800" dirty="0"/>
              <a:t>B</a:t>
            </a:r>
            <a:endParaRPr lang="en-US" altLang="zh-CN" sz="2800" dirty="0"/>
          </a:p>
          <a:p>
            <a:endParaRPr lang="en-US" altLang="zh-CN" sz="2800" dirty="0"/>
          </a:p>
          <a:p>
            <a:r>
              <a:rPr lang="en-US" altLang="zh-CN" sz="2800" dirty="0"/>
              <a:t>C</a:t>
            </a:r>
            <a:endParaRPr lang="en-US" altLang="zh-CN" sz="2800" dirty="0"/>
          </a:p>
          <a:p>
            <a:endParaRPr lang="en-US" altLang="zh-CN" sz="2800" dirty="0"/>
          </a:p>
          <a:p>
            <a:r>
              <a:rPr lang="en-US" altLang="zh-CN" sz="2800" dirty="0"/>
              <a:t>D</a:t>
            </a:r>
            <a:endParaRPr lang="zh-CN" altLang="en-US" sz="2800" dirty="0"/>
          </a:p>
        </p:txBody>
      </p:sp>
    </p:spTree>
    <p:custDataLst>
      <p:tags r:id="rId14"/>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331310"/>
            <a:ext cx="9144000" cy="2387600"/>
          </a:xfrm>
        </p:spPr>
        <p:txBody>
          <a:bodyPr>
            <a:normAutofit/>
          </a:bodyPr>
          <a:lstStyle/>
          <a:p>
            <a:r>
              <a:rPr lang="zh-CN" altLang="en-US" dirty="0"/>
              <a:t>面向对象分析</a:t>
            </a:r>
            <a:br>
              <a:rPr lang="en-US" altLang="zh-CN" dirty="0"/>
            </a:br>
            <a:r>
              <a:rPr lang="en-US" altLang="zh-CN" dirty="0"/>
              <a:t>Object-Oriented Analysis</a:t>
            </a:r>
            <a:endParaRPr lang="zh-CN" altLang="en-US" dirty="0"/>
          </a:p>
        </p:txBody>
      </p:sp>
      <p:sp>
        <p:nvSpPr>
          <p:cNvPr id="4" name="副标题 2"/>
          <p:cNvSpPr>
            <a:spLocks noGrp="1"/>
          </p:cNvSpPr>
          <p:nvPr>
            <p:ph type="subTitle" idx="1"/>
          </p:nvPr>
        </p:nvSpPr>
        <p:spPr>
          <a:xfrm>
            <a:off x="1524000" y="4211637"/>
            <a:ext cx="9144000" cy="2130577"/>
          </a:xfrm>
        </p:spPr>
        <p:txBody>
          <a:bodyPr anchor="ctr">
            <a:normAutofit fontScale="92500" lnSpcReduction="20000"/>
          </a:bodyPr>
          <a:lstStyle/>
          <a:p>
            <a:r>
              <a:rPr lang="zh-CN" altLang="en-US" dirty="0"/>
              <a:t>李起成</a:t>
            </a:r>
            <a:endParaRPr lang="en-US" altLang="zh-CN" dirty="0"/>
          </a:p>
          <a:p>
            <a:r>
              <a:rPr lang="en-US" altLang="zh-CN" dirty="0"/>
              <a:t>College of</a:t>
            </a:r>
            <a:r>
              <a:rPr lang="zh-CN" altLang="en-US" dirty="0"/>
              <a:t> </a:t>
            </a:r>
            <a:r>
              <a:rPr lang="en-US" altLang="zh-CN" dirty="0"/>
              <a:t>Computer</a:t>
            </a:r>
            <a:r>
              <a:rPr lang="zh-CN" altLang="en-US" dirty="0"/>
              <a:t> </a:t>
            </a:r>
            <a:r>
              <a:rPr lang="en-US" altLang="zh-CN" dirty="0"/>
              <a:t>Science</a:t>
            </a:r>
            <a:endParaRPr lang="en-US" altLang="zh-CN" dirty="0"/>
          </a:p>
          <a:p>
            <a:r>
              <a:rPr lang="en-US" altLang="zh-CN" dirty="0"/>
              <a:t>Nankai</a:t>
            </a:r>
            <a:r>
              <a:rPr lang="zh-CN" altLang="en-US" dirty="0"/>
              <a:t> </a:t>
            </a:r>
            <a:r>
              <a:rPr lang="en-US" altLang="zh-CN" dirty="0"/>
              <a:t>University</a:t>
            </a:r>
            <a:endParaRPr lang="en-US" altLang="zh-CN" dirty="0"/>
          </a:p>
          <a:p>
            <a:endParaRPr lang="en-US" altLang="zh-CN" dirty="0"/>
          </a:p>
          <a:p>
            <a:r>
              <a:rPr lang="en-US" altLang="zh-CN" i="1" dirty="0"/>
              <a:t>Slides adapted from materials by Prof. </a:t>
            </a:r>
            <a:r>
              <a:rPr lang="en-US" altLang="zh-CN" i="1" dirty="0" err="1"/>
              <a:t>Qiang</a:t>
            </a:r>
            <a:r>
              <a:rPr lang="en-US" altLang="zh-CN" i="1" dirty="0"/>
              <a:t> Liu (Tsing Hua University) and </a:t>
            </a:r>
            <a:r>
              <a:rPr lang="en-US" altLang="en-US" i="1" dirty="0"/>
              <a:t>Ivan </a:t>
            </a:r>
            <a:r>
              <a:rPr lang="en-US" altLang="en-US" i="1" dirty="0" err="1"/>
              <a:t>Marsic</a:t>
            </a:r>
            <a:r>
              <a:rPr lang="en-US" altLang="en-US" i="1" dirty="0"/>
              <a:t> (</a:t>
            </a:r>
            <a:r>
              <a:rPr lang="en-US" altLang="en-US" i="1" dirty="0" err="1"/>
              <a:t>Rugers</a:t>
            </a:r>
            <a:r>
              <a:rPr lang="en-US" altLang="en-US" i="1" dirty="0"/>
              <a:t> University)</a:t>
            </a:r>
            <a:endParaRPr lang="zh-CN" altLang="en-US" i="1" dirty="0"/>
          </a:p>
        </p:txBody>
      </p:sp>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172729" y="131261"/>
            <a:ext cx="1846542" cy="180037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999" advTm="11848"/>
    </mc:Choice>
    <mc:Fallback>
      <p:transition spd="slow" advTm="11848"/>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
            <a:ext cx="12190614" cy="6857998"/>
          </a:xfrm>
          <a:prstGeom prst="rect">
            <a:avLst/>
          </a:prstGeom>
          <a:blipFill>
            <a:blip r:embed="rId1" cstate="print"/>
            <a:stretch>
              <a:fillRect/>
            </a:stretch>
          </a:blipFill>
        </p:spPr>
        <p:txBody>
          <a:bodyPr wrap="square" lIns="0" tIns="0" rIns="0" bIns="0" rtlCol="0"/>
          <a:lstStyle/>
          <a:p/>
        </p:txBody>
      </p:sp>
      <p:sp>
        <p:nvSpPr>
          <p:cNvPr id="3" name="object 3"/>
          <p:cNvSpPr/>
          <p:nvPr/>
        </p:nvSpPr>
        <p:spPr>
          <a:xfrm>
            <a:off x="7464150" y="4365104"/>
            <a:ext cx="936625" cy="1584325"/>
          </a:xfrm>
          <a:custGeom>
            <a:avLst/>
            <a:gdLst/>
            <a:ahLst/>
            <a:cxnLst/>
            <a:rect l="l" t="t" r="r" b="b"/>
            <a:pathLst>
              <a:path w="936625" h="1584325">
                <a:moveTo>
                  <a:pt x="468052" y="0"/>
                </a:moveTo>
                <a:lnTo>
                  <a:pt x="398886" y="8588"/>
                </a:lnTo>
                <a:lnTo>
                  <a:pt x="332872" y="33536"/>
                </a:lnTo>
                <a:lnTo>
                  <a:pt x="270733" y="73618"/>
                </a:lnTo>
                <a:lnTo>
                  <a:pt x="241342" y="98952"/>
                </a:lnTo>
                <a:lnTo>
                  <a:pt x="213192" y="127610"/>
                </a:lnTo>
                <a:lnTo>
                  <a:pt x="186373" y="159439"/>
                </a:lnTo>
                <a:lnTo>
                  <a:pt x="160975" y="194285"/>
                </a:lnTo>
                <a:lnTo>
                  <a:pt x="137089" y="231997"/>
                </a:lnTo>
                <a:lnTo>
                  <a:pt x="114805" y="272419"/>
                </a:lnTo>
                <a:lnTo>
                  <a:pt x="94213" y="315401"/>
                </a:lnTo>
                <a:lnTo>
                  <a:pt x="75406" y="360787"/>
                </a:lnTo>
                <a:lnTo>
                  <a:pt x="58471" y="408426"/>
                </a:lnTo>
                <a:lnTo>
                  <a:pt x="43501" y="458163"/>
                </a:lnTo>
                <a:lnTo>
                  <a:pt x="30586" y="509846"/>
                </a:lnTo>
                <a:lnTo>
                  <a:pt x="19816" y="563322"/>
                </a:lnTo>
                <a:lnTo>
                  <a:pt x="11282" y="618437"/>
                </a:lnTo>
                <a:lnTo>
                  <a:pt x="5074" y="675038"/>
                </a:lnTo>
                <a:lnTo>
                  <a:pt x="1283" y="732973"/>
                </a:lnTo>
                <a:lnTo>
                  <a:pt x="0" y="792087"/>
                </a:lnTo>
                <a:lnTo>
                  <a:pt x="1283" y="851202"/>
                </a:lnTo>
                <a:lnTo>
                  <a:pt x="5074" y="909136"/>
                </a:lnTo>
                <a:lnTo>
                  <a:pt x="11282" y="965738"/>
                </a:lnTo>
                <a:lnTo>
                  <a:pt x="19816" y="1020853"/>
                </a:lnTo>
                <a:lnTo>
                  <a:pt x="30586" y="1074328"/>
                </a:lnTo>
                <a:lnTo>
                  <a:pt x="43501" y="1126012"/>
                </a:lnTo>
                <a:lnTo>
                  <a:pt x="58471" y="1175749"/>
                </a:lnTo>
                <a:lnTo>
                  <a:pt x="75406" y="1223388"/>
                </a:lnTo>
                <a:lnTo>
                  <a:pt x="94213" y="1268774"/>
                </a:lnTo>
                <a:lnTo>
                  <a:pt x="114805" y="1311755"/>
                </a:lnTo>
                <a:lnTo>
                  <a:pt x="137089" y="1352178"/>
                </a:lnTo>
                <a:lnTo>
                  <a:pt x="160975" y="1389890"/>
                </a:lnTo>
                <a:lnTo>
                  <a:pt x="186373" y="1424736"/>
                </a:lnTo>
                <a:lnTo>
                  <a:pt x="213192" y="1456565"/>
                </a:lnTo>
                <a:lnTo>
                  <a:pt x="241342" y="1485223"/>
                </a:lnTo>
                <a:lnTo>
                  <a:pt x="270733" y="1510557"/>
                </a:lnTo>
                <a:lnTo>
                  <a:pt x="332872" y="1550639"/>
                </a:lnTo>
                <a:lnTo>
                  <a:pt x="398886" y="1575587"/>
                </a:lnTo>
                <a:lnTo>
                  <a:pt x="468052" y="1584175"/>
                </a:lnTo>
                <a:lnTo>
                  <a:pt x="502983" y="1582003"/>
                </a:lnTo>
                <a:lnTo>
                  <a:pt x="570663" y="1565082"/>
                </a:lnTo>
                <a:lnTo>
                  <a:pt x="634831" y="1532413"/>
                </a:lnTo>
                <a:lnTo>
                  <a:pt x="694761" y="1485223"/>
                </a:lnTo>
                <a:lnTo>
                  <a:pt x="697357" y="1482580"/>
                </a:lnTo>
                <a:lnTo>
                  <a:pt x="468052" y="1482580"/>
                </a:lnTo>
                <a:lnTo>
                  <a:pt x="434697" y="1479759"/>
                </a:lnTo>
                <a:lnTo>
                  <a:pt x="370633" y="1457915"/>
                </a:lnTo>
                <a:lnTo>
                  <a:pt x="310960" y="1416098"/>
                </a:lnTo>
                <a:lnTo>
                  <a:pt x="283094" y="1388308"/>
                </a:lnTo>
                <a:lnTo>
                  <a:pt x="256713" y="1356256"/>
                </a:lnTo>
                <a:lnTo>
                  <a:pt x="231948" y="1320185"/>
                </a:lnTo>
                <a:lnTo>
                  <a:pt x="208927" y="1280340"/>
                </a:lnTo>
                <a:lnTo>
                  <a:pt x="187781" y="1236963"/>
                </a:lnTo>
                <a:lnTo>
                  <a:pt x="168637" y="1190300"/>
                </a:lnTo>
                <a:lnTo>
                  <a:pt x="151627" y="1140592"/>
                </a:lnTo>
                <a:lnTo>
                  <a:pt x="136878" y="1088086"/>
                </a:lnTo>
                <a:lnTo>
                  <a:pt x="124521" y="1033023"/>
                </a:lnTo>
                <a:lnTo>
                  <a:pt x="114685" y="975648"/>
                </a:lnTo>
                <a:lnTo>
                  <a:pt x="107499" y="916204"/>
                </a:lnTo>
                <a:lnTo>
                  <a:pt x="103092" y="854936"/>
                </a:lnTo>
                <a:lnTo>
                  <a:pt x="101594" y="792087"/>
                </a:lnTo>
                <a:lnTo>
                  <a:pt x="103092" y="729238"/>
                </a:lnTo>
                <a:lnTo>
                  <a:pt x="107499" y="667970"/>
                </a:lnTo>
                <a:lnTo>
                  <a:pt x="114685" y="608527"/>
                </a:lnTo>
                <a:lnTo>
                  <a:pt x="124521" y="551152"/>
                </a:lnTo>
                <a:lnTo>
                  <a:pt x="136878" y="496089"/>
                </a:lnTo>
                <a:lnTo>
                  <a:pt x="151627" y="443582"/>
                </a:lnTo>
                <a:lnTo>
                  <a:pt x="168637" y="393875"/>
                </a:lnTo>
                <a:lnTo>
                  <a:pt x="187781" y="347212"/>
                </a:lnTo>
                <a:lnTo>
                  <a:pt x="208927" y="303835"/>
                </a:lnTo>
                <a:lnTo>
                  <a:pt x="231948" y="263990"/>
                </a:lnTo>
                <a:lnTo>
                  <a:pt x="256713" y="227919"/>
                </a:lnTo>
                <a:lnTo>
                  <a:pt x="283094" y="195867"/>
                </a:lnTo>
                <a:lnTo>
                  <a:pt x="310960" y="168077"/>
                </a:lnTo>
                <a:lnTo>
                  <a:pt x="370633" y="126260"/>
                </a:lnTo>
                <a:lnTo>
                  <a:pt x="434697" y="104416"/>
                </a:lnTo>
                <a:lnTo>
                  <a:pt x="468052" y="101594"/>
                </a:lnTo>
                <a:lnTo>
                  <a:pt x="697357" y="101594"/>
                </a:lnTo>
                <a:lnTo>
                  <a:pt x="694761" y="98952"/>
                </a:lnTo>
                <a:lnTo>
                  <a:pt x="665371" y="73618"/>
                </a:lnTo>
                <a:lnTo>
                  <a:pt x="603231" y="33536"/>
                </a:lnTo>
                <a:lnTo>
                  <a:pt x="537217" y="8588"/>
                </a:lnTo>
                <a:lnTo>
                  <a:pt x="502983" y="2172"/>
                </a:lnTo>
                <a:lnTo>
                  <a:pt x="468052" y="0"/>
                </a:lnTo>
                <a:close/>
              </a:path>
              <a:path w="936625" h="1584325">
                <a:moveTo>
                  <a:pt x="697357" y="101594"/>
                </a:moveTo>
                <a:lnTo>
                  <a:pt x="468052" y="101594"/>
                </a:lnTo>
                <a:lnTo>
                  <a:pt x="501407" y="104416"/>
                </a:lnTo>
                <a:lnTo>
                  <a:pt x="533923" y="112719"/>
                </a:lnTo>
                <a:lnTo>
                  <a:pt x="595920" y="144793"/>
                </a:lnTo>
                <a:lnTo>
                  <a:pt x="653009" y="195867"/>
                </a:lnTo>
                <a:lnTo>
                  <a:pt x="679390" y="227919"/>
                </a:lnTo>
                <a:lnTo>
                  <a:pt x="704155" y="263990"/>
                </a:lnTo>
                <a:lnTo>
                  <a:pt x="727175" y="303835"/>
                </a:lnTo>
                <a:lnTo>
                  <a:pt x="748322" y="347212"/>
                </a:lnTo>
                <a:lnTo>
                  <a:pt x="767465" y="393875"/>
                </a:lnTo>
                <a:lnTo>
                  <a:pt x="784476" y="443582"/>
                </a:lnTo>
                <a:lnTo>
                  <a:pt x="799224" y="496089"/>
                </a:lnTo>
                <a:lnTo>
                  <a:pt x="811581" y="551152"/>
                </a:lnTo>
                <a:lnTo>
                  <a:pt x="821417" y="608527"/>
                </a:lnTo>
                <a:lnTo>
                  <a:pt x="828604" y="667970"/>
                </a:lnTo>
                <a:lnTo>
                  <a:pt x="833010" y="729238"/>
                </a:lnTo>
                <a:lnTo>
                  <a:pt x="834508" y="792087"/>
                </a:lnTo>
                <a:lnTo>
                  <a:pt x="833010" y="854936"/>
                </a:lnTo>
                <a:lnTo>
                  <a:pt x="828604" y="916204"/>
                </a:lnTo>
                <a:lnTo>
                  <a:pt x="821417" y="975648"/>
                </a:lnTo>
                <a:lnTo>
                  <a:pt x="811581" y="1033023"/>
                </a:lnTo>
                <a:lnTo>
                  <a:pt x="799224" y="1088086"/>
                </a:lnTo>
                <a:lnTo>
                  <a:pt x="784476" y="1140592"/>
                </a:lnTo>
                <a:lnTo>
                  <a:pt x="767465" y="1190300"/>
                </a:lnTo>
                <a:lnTo>
                  <a:pt x="748322" y="1236963"/>
                </a:lnTo>
                <a:lnTo>
                  <a:pt x="727175" y="1280340"/>
                </a:lnTo>
                <a:lnTo>
                  <a:pt x="704155" y="1320185"/>
                </a:lnTo>
                <a:lnTo>
                  <a:pt x="679390" y="1356256"/>
                </a:lnTo>
                <a:lnTo>
                  <a:pt x="653009" y="1388308"/>
                </a:lnTo>
                <a:lnTo>
                  <a:pt x="625143" y="1416098"/>
                </a:lnTo>
                <a:lnTo>
                  <a:pt x="565470" y="1457915"/>
                </a:lnTo>
                <a:lnTo>
                  <a:pt x="501407" y="1479759"/>
                </a:lnTo>
                <a:lnTo>
                  <a:pt x="468052" y="1482580"/>
                </a:lnTo>
                <a:lnTo>
                  <a:pt x="697357" y="1482580"/>
                </a:lnTo>
                <a:lnTo>
                  <a:pt x="749730" y="1424736"/>
                </a:lnTo>
                <a:lnTo>
                  <a:pt x="775128" y="1389890"/>
                </a:lnTo>
                <a:lnTo>
                  <a:pt x="799015" y="1352178"/>
                </a:lnTo>
                <a:lnTo>
                  <a:pt x="821299" y="1311755"/>
                </a:lnTo>
                <a:lnTo>
                  <a:pt x="841890" y="1268774"/>
                </a:lnTo>
                <a:lnTo>
                  <a:pt x="860698" y="1223388"/>
                </a:lnTo>
                <a:lnTo>
                  <a:pt x="877632" y="1175749"/>
                </a:lnTo>
                <a:lnTo>
                  <a:pt x="892602" y="1126012"/>
                </a:lnTo>
                <a:lnTo>
                  <a:pt x="905517" y="1074328"/>
                </a:lnTo>
                <a:lnTo>
                  <a:pt x="916287" y="1020853"/>
                </a:lnTo>
                <a:lnTo>
                  <a:pt x="924821" y="965738"/>
                </a:lnTo>
                <a:lnTo>
                  <a:pt x="931029" y="909136"/>
                </a:lnTo>
                <a:lnTo>
                  <a:pt x="934820" y="851202"/>
                </a:lnTo>
                <a:lnTo>
                  <a:pt x="936104" y="792087"/>
                </a:lnTo>
                <a:lnTo>
                  <a:pt x="934820" y="732973"/>
                </a:lnTo>
                <a:lnTo>
                  <a:pt x="931029" y="675038"/>
                </a:lnTo>
                <a:lnTo>
                  <a:pt x="924821" y="618437"/>
                </a:lnTo>
                <a:lnTo>
                  <a:pt x="916287" y="563322"/>
                </a:lnTo>
                <a:lnTo>
                  <a:pt x="905517" y="509846"/>
                </a:lnTo>
                <a:lnTo>
                  <a:pt x="892602" y="458163"/>
                </a:lnTo>
                <a:lnTo>
                  <a:pt x="877632" y="408426"/>
                </a:lnTo>
                <a:lnTo>
                  <a:pt x="860698" y="360787"/>
                </a:lnTo>
                <a:lnTo>
                  <a:pt x="841890" y="315401"/>
                </a:lnTo>
                <a:lnTo>
                  <a:pt x="821299" y="272419"/>
                </a:lnTo>
                <a:lnTo>
                  <a:pt x="799015" y="231997"/>
                </a:lnTo>
                <a:lnTo>
                  <a:pt x="775128" y="194285"/>
                </a:lnTo>
                <a:lnTo>
                  <a:pt x="749730" y="159439"/>
                </a:lnTo>
                <a:lnTo>
                  <a:pt x="722911" y="127610"/>
                </a:lnTo>
                <a:lnTo>
                  <a:pt x="697357" y="101594"/>
                </a:lnTo>
                <a:close/>
              </a:path>
            </a:pathLst>
          </a:custGeom>
          <a:solidFill>
            <a:srgbClr val="941100"/>
          </a:solidFill>
        </p:spPr>
        <p:txBody>
          <a:bodyPr wrap="square" lIns="0" tIns="0" rIns="0" bIns="0" rtlCol="0"/>
          <a:lstStyle/>
          <a:p/>
        </p:txBody>
      </p:sp>
      <p:sp>
        <p:nvSpPr>
          <p:cNvPr id="4" name="object 4"/>
          <p:cNvSpPr/>
          <p:nvPr/>
        </p:nvSpPr>
        <p:spPr>
          <a:xfrm>
            <a:off x="7464150" y="4365104"/>
            <a:ext cx="936625" cy="1584325"/>
          </a:xfrm>
          <a:custGeom>
            <a:avLst/>
            <a:gdLst/>
            <a:ahLst/>
            <a:cxnLst/>
            <a:rect l="l" t="t" r="r" b="b"/>
            <a:pathLst>
              <a:path w="936625" h="1584325">
                <a:moveTo>
                  <a:pt x="0" y="792087"/>
                </a:moveTo>
                <a:lnTo>
                  <a:pt x="1283" y="732973"/>
                </a:lnTo>
                <a:lnTo>
                  <a:pt x="5074" y="675038"/>
                </a:lnTo>
                <a:lnTo>
                  <a:pt x="11282" y="618437"/>
                </a:lnTo>
                <a:lnTo>
                  <a:pt x="19816" y="563322"/>
                </a:lnTo>
                <a:lnTo>
                  <a:pt x="30586" y="509846"/>
                </a:lnTo>
                <a:lnTo>
                  <a:pt x="43501" y="458163"/>
                </a:lnTo>
                <a:lnTo>
                  <a:pt x="58471" y="408426"/>
                </a:lnTo>
                <a:lnTo>
                  <a:pt x="75406" y="360787"/>
                </a:lnTo>
                <a:lnTo>
                  <a:pt x="94214" y="315401"/>
                </a:lnTo>
                <a:lnTo>
                  <a:pt x="114805" y="272420"/>
                </a:lnTo>
                <a:lnTo>
                  <a:pt x="137089" y="231997"/>
                </a:lnTo>
                <a:lnTo>
                  <a:pt x="160975" y="194285"/>
                </a:lnTo>
                <a:lnTo>
                  <a:pt x="186373" y="159439"/>
                </a:lnTo>
                <a:lnTo>
                  <a:pt x="213192" y="127610"/>
                </a:lnTo>
                <a:lnTo>
                  <a:pt x="241342" y="98952"/>
                </a:lnTo>
                <a:lnTo>
                  <a:pt x="270733" y="73618"/>
                </a:lnTo>
                <a:lnTo>
                  <a:pt x="332872" y="33536"/>
                </a:lnTo>
                <a:lnTo>
                  <a:pt x="398886" y="8588"/>
                </a:lnTo>
                <a:lnTo>
                  <a:pt x="468052" y="0"/>
                </a:lnTo>
                <a:lnTo>
                  <a:pt x="502983" y="2172"/>
                </a:lnTo>
                <a:lnTo>
                  <a:pt x="570663" y="19093"/>
                </a:lnTo>
                <a:lnTo>
                  <a:pt x="634830" y="51762"/>
                </a:lnTo>
                <a:lnTo>
                  <a:pt x="694761" y="98952"/>
                </a:lnTo>
                <a:lnTo>
                  <a:pt x="722911" y="127610"/>
                </a:lnTo>
                <a:lnTo>
                  <a:pt x="749730" y="159439"/>
                </a:lnTo>
                <a:lnTo>
                  <a:pt x="775128" y="194285"/>
                </a:lnTo>
                <a:lnTo>
                  <a:pt x="799014" y="231997"/>
                </a:lnTo>
                <a:lnTo>
                  <a:pt x="821298" y="272420"/>
                </a:lnTo>
                <a:lnTo>
                  <a:pt x="841890" y="315401"/>
                </a:lnTo>
                <a:lnTo>
                  <a:pt x="860697" y="360787"/>
                </a:lnTo>
                <a:lnTo>
                  <a:pt x="877632" y="408426"/>
                </a:lnTo>
                <a:lnTo>
                  <a:pt x="892602" y="458163"/>
                </a:lnTo>
                <a:lnTo>
                  <a:pt x="905517" y="509846"/>
                </a:lnTo>
                <a:lnTo>
                  <a:pt x="916287" y="563322"/>
                </a:lnTo>
                <a:lnTo>
                  <a:pt x="924821" y="618437"/>
                </a:lnTo>
                <a:lnTo>
                  <a:pt x="931029" y="675038"/>
                </a:lnTo>
                <a:lnTo>
                  <a:pt x="934820" y="732973"/>
                </a:lnTo>
                <a:lnTo>
                  <a:pt x="936104" y="792087"/>
                </a:lnTo>
                <a:lnTo>
                  <a:pt x="934820" y="851202"/>
                </a:lnTo>
                <a:lnTo>
                  <a:pt x="931029" y="909136"/>
                </a:lnTo>
                <a:lnTo>
                  <a:pt x="924821" y="965738"/>
                </a:lnTo>
                <a:lnTo>
                  <a:pt x="916287" y="1020853"/>
                </a:lnTo>
                <a:lnTo>
                  <a:pt x="905517" y="1074328"/>
                </a:lnTo>
                <a:lnTo>
                  <a:pt x="892602" y="1126011"/>
                </a:lnTo>
                <a:lnTo>
                  <a:pt x="877632" y="1175749"/>
                </a:lnTo>
                <a:lnTo>
                  <a:pt x="860697" y="1223387"/>
                </a:lnTo>
                <a:lnTo>
                  <a:pt x="841890" y="1268774"/>
                </a:lnTo>
                <a:lnTo>
                  <a:pt x="821298" y="1311755"/>
                </a:lnTo>
                <a:lnTo>
                  <a:pt x="799014" y="1352178"/>
                </a:lnTo>
                <a:lnTo>
                  <a:pt x="775128" y="1389889"/>
                </a:lnTo>
                <a:lnTo>
                  <a:pt x="749730" y="1424736"/>
                </a:lnTo>
                <a:lnTo>
                  <a:pt x="722911" y="1456565"/>
                </a:lnTo>
                <a:lnTo>
                  <a:pt x="694761" y="1485223"/>
                </a:lnTo>
                <a:lnTo>
                  <a:pt x="665371" y="1510556"/>
                </a:lnTo>
                <a:lnTo>
                  <a:pt x="603231" y="1550639"/>
                </a:lnTo>
                <a:lnTo>
                  <a:pt x="537217" y="1575587"/>
                </a:lnTo>
                <a:lnTo>
                  <a:pt x="468052" y="1584175"/>
                </a:lnTo>
                <a:lnTo>
                  <a:pt x="433120" y="1582002"/>
                </a:lnTo>
                <a:lnTo>
                  <a:pt x="365440" y="1565081"/>
                </a:lnTo>
                <a:lnTo>
                  <a:pt x="301273" y="1532413"/>
                </a:lnTo>
                <a:lnTo>
                  <a:pt x="241342" y="1485223"/>
                </a:lnTo>
                <a:lnTo>
                  <a:pt x="213192" y="1456565"/>
                </a:lnTo>
                <a:lnTo>
                  <a:pt x="186373" y="1424736"/>
                </a:lnTo>
                <a:lnTo>
                  <a:pt x="160975" y="1389889"/>
                </a:lnTo>
                <a:lnTo>
                  <a:pt x="137089" y="1352178"/>
                </a:lnTo>
                <a:lnTo>
                  <a:pt x="114805" y="1311755"/>
                </a:lnTo>
                <a:lnTo>
                  <a:pt x="94214" y="1268774"/>
                </a:lnTo>
                <a:lnTo>
                  <a:pt x="75406" y="1223387"/>
                </a:lnTo>
                <a:lnTo>
                  <a:pt x="58471" y="1175749"/>
                </a:lnTo>
                <a:lnTo>
                  <a:pt x="43501" y="1126011"/>
                </a:lnTo>
                <a:lnTo>
                  <a:pt x="30586" y="1074328"/>
                </a:lnTo>
                <a:lnTo>
                  <a:pt x="19816" y="1020853"/>
                </a:lnTo>
                <a:lnTo>
                  <a:pt x="11282" y="965738"/>
                </a:lnTo>
                <a:lnTo>
                  <a:pt x="5074" y="909136"/>
                </a:lnTo>
                <a:lnTo>
                  <a:pt x="1283" y="851202"/>
                </a:lnTo>
                <a:lnTo>
                  <a:pt x="0" y="792087"/>
                </a:lnTo>
                <a:close/>
              </a:path>
            </a:pathLst>
          </a:custGeom>
          <a:ln w="6349">
            <a:solidFill>
              <a:srgbClr val="6CACDD"/>
            </a:solidFill>
          </a:ln>
        </p:spPr>
        <p:txBody>
          <a:bodyPr wrap="square" lIns="0" tIns="0" rIns="0" bIns="0" rtlCol="0"/>
          <a:lstStyle/>
          <a:p/>
        </p:txBody>
      </p:sp>
      <p:sp>
        <p:nvSpPr>
          <p:cNvPr id="5" name="object 5"/>
          <p:cNvSpPr/>
          <p:nvPr/>
        </p:nvSpPr>
        <p:spPr>
          <a:xfrm>
            <a:off x="7565745" y="4466699"/>
            <a:ext cx="733425" cy="1381125"/>
          </a:xfrm>
          <a:custGeom>
            <a:avLst/>
            <a:gdLst/>
            <a:ahLst/>
            <a:cxnLst/>
            <a:rect l="l" t="t" r="r" b="b"/>
            <a:pathLst>
              <a:path w="733425" h="1381125">
                <a:moveTo>
                  <a:pt x="0" y="690492"/>
                </a:moveTo>
                <a:lnTo>
                  <a:pt x="1497" y="753341"/>
                </a:lnTo>
                <a:lnTo>
                  <a:pt x="5904" y="814609"/>
                </a:lnTo>
                <a:lnTo>
                  <a:pt x="13090" y="874053"/>
                </a:lnTo>
                <a:lnTo>
                  <a:pt x="22926" y="931428"/>
                </a:lnTo>
                <a:lnTo>
                  <a:pt x="35283" y="986490"/>
                </a:lnTo>
                <a:lnTo>
                  <a:pt x="50032" y="1038997"/>
                </a:lnTo>
                <a:lnTo>
                  <a:pt x="67042" y="1088704"/>
                </a:lnTo>
                <a:lnTo>
                  <a:pt x="86186" y="1135368"/>
                </a:lnTo>
                <a:lnTo>
                  <a:pt x="107332" y="1178744"/>
                </a:lnTo>
                <a:lnTo>
                  <a:pt x="130353" y="1218590"/>
                </a:lnTo>
                <a:lnTo>
                  <a:pt x="155118" y="1254660"/>
                </a:lnTo>
                <a:lnTo>
                  <a:pt x="181498" y="1286713"/>
                </a:lnTo>
                <a:lnTo>
                  <a:pt x="209365" y="1314502"/>
                </a:lnTo>
                <a:lnTo>
                  <a:pt x="269037" y="1356320"/>
                </a:lnTo>
                <a:lnTo>
                  <a:pt x="333101" y="1378163"/>
                </a:lnTo>
                <a:lnTo>
                  <a:pt x="366456" y="1380985"/>
                </a:lnTo>
                <a:lnTo>
                  <a:pt x="399811" y="1378163"/>
                </a:lnTo>
                <a:lnTo>
                  <a:pt x="463875" y="1356320"/>
                </a:lnTo>
                <a:lnTo>
                  <a:pt x="523548" y="1314502"/>
                </a:lnTo>
                <a:lnTo>
                  <a:pt x="551414" y="1286713"/>
                </a:lnTo>
                <a:lnTo>
                  <a:pt x="577794" y="1254660"/>
                </a:lnTo>
                <a:lnTo>
                  <a:pt x="602560" y="1218590"/>
                </a:lnTo>
                <a:lnTo>
                  <a:pt x="625580" y="1178744"/>
                </a:lnTo>
                <a:lnTo>
                  <a:pt x="646727" y="1135368"/>
                </a:lnTo>
                <a:lnTo>
                  <a:pt x="665870" y="1088704"/>
                </a:lnTo>
                <a:lnTo>
                  <a:pt x="682881" y="1038997"/>
                </a:lnTo>
                <a:lnTo>
                  <a:pt x="697629" y="986490"/>
                </a:lnTo>
                <a:lnTo>
                  <a:pt x="709986" y="931428"/>
                </a:lnTo>
                <a:lnTo>
                  <a:pt x="719823" y="874053"/>
                </a:lnTo>
                <a:lnTo>
                  <a:pt x="727009" y="814609"/>
                </a:lnTo>
                <a:lnTo>
                  <a:pt x="731415" y="753341"/>
                </a:lnTo>
                <a:lnTo>
                  <a:pt x="732913" y="690492"/>
                </a:lnTo>
                <a:lnTo>
                  <a:pt x="731415" y="627643"/>
                </a:lnTo>
                <a:lnTo>
                  <a:pt x="727009" y="566375"/>
                </a:lnTo>
                <a:lnTo>
                  <a:pt x="719823" y="506932"/>
                </a:lnTo>
                <a:lnTo>
                  <a:pt x="709986" y="449557"/>
                </a:lnTo>
                <a:lnTo>
                  <a:pt x="697629" y="394494"/>
                </a:lnTo>
                <a:lnTo>
                  <a:pt x="682881" y="341987"/>
                </a:lnTo>
                <a:lnTo>
                  <a:pt x="665870" y="292280"/>
                </a:lnTo>
                <a:lnTo>
                  <a:pt x="646727" y="245617"/>
                </a:lnTo>
                <a:lnTo>
                  <a:pt x="625580" y="202240"/>
                </a:lnTo>
                <a:lnTo>
                  <a:pt x="602560" y="162395"/>
                </a:lnTo>
                <a:lnTo>
                  <a:pt x="577794" y="126324"/>
                </a:lnTo>
                <a:lnTo>
                  <a:pt x="551414" y="94272"/>
                </a:lnTo>
                <a:lnTo>
                  <a:pt x="523548" y="66482"/>
                </a:lnTo>
                <a:lnTo>
                  <a:pt x="463875" y="24665"/>
                </a:lnTo>
                <a:lnTo>
                  <a:pt x="399811" y="2821"/>
                </a:lnTo>
                <a:lnTo>
                  <a:pt x="366456" y="0"/>
                </a:lnTo>
                <a:lnTo>
                  <a:pt x="333101" y="2821"/>
                </a:lnTo>
                <a:lnTo>
                  <a:pt x="269037" y="24665"/>
                </a:lnTo>
                <a:lnTo>
                  <a:pt x="209365" y="66482"/>
                </a:lnTo>
                <a:lnTo>
                  <a:pt x="181498" y="94272"/>
                </a:lnTo>
                <a:lnTo>
                  <a:pt x="155118" y="126324"/>
                </a:lnTo>
                <a:lnTo>
                  <a:pt x="130353" y="162395"/>
                </a:lnTo>
                <a:lnTo>
                  <a:pt x="107332" y="202240"/>
                </a:lnTo>
                <a:lnTo>
                  <a:pt x="86186" y="245617"/>
                </a:lnTo>
                <a:lnTo>
                  <a:pt x="67042" y="292280"/>
                </a:lnTo>
                <a:lnTo>
                  <a:pt x="50032" y="341987"/>
                </a:lnTo>
                <a:lnTo>
                  <a:pt x="35283" y="394494"/>
                </a:lnTo>
                <a:lnTo>
                  <a:pt x="22926" y="449557"/>
                </a:lnTo>
                <a:lnTo>
                  <a:pt x="13090" y="506932"/>
                </a:lnTo>
                <a:lnTo>
                  <a:pt x="5904" y="566375"/>
                </a:lnTo>
                <a:lnTo>
                  <a:pt x="1497" y="627643"/>
                </a:lnTo>
                <a:lnTo>
                  <a:pt x="0" y="690492"/>
                </a:lnTo>
                <a:close/>
              </a:path>
            </a:pathLst>
          </a:custGeom>
          <a:ln w="6349">
            <a:solidFill>
              <a:srgbClr val="6CACDD"/>
            </a:solidFill>
          </a:ln>
        </p:spPr>
        <p:txBody>
          <a:bodyPr wrap="square" lIns="0" tIns="0" rIns="0" bIns="0" rtlCol="0"/>
          <a:lstStyle/>
          <a:p/>
        </p:txBody>
      </p:sp>
      <p:sp>
        <p:nvSpPr>
          <p:cNvPr id="6" name="object 6"/>
          <p:cNvSpPr/>
          <p:nvPr/>
        </p:nvSpPr>
        <p:spPr>
          <a:xfrm>
            <a:off x="0" y="4005064"/>
            <a:ext cx="907415" cy="1584325"/>
          </a:xfrm>
          <a:custGeom>
            <a:avLst/>
            <a:gdLst/>
            <a:ahLst/>
            <a:cxnLst/>
            <a:rect l="l" t="t" r="r" b="b"/>
            <a:pathLst>
              <a:path w="907415" h="1584325">
                <a:moveTo>
                  <a:pt x="439327" y="0"/>
                </a:moveTo>
                <a:lnTo>
                  <a:pt x="370162" y="8588"/>
                </a:lnTo>
                <a:lnTo>
                  <a:pt x="304148" y="33536"/>
                </a:lnTo>
                <a:lnTo>
                  <a:pt x="242009" y="73618"/>
                </a:lnTo>
                <a:lnTo>
                  <a:pt x="212618" y="98952"/>
                </a:lnTo>
                <a:lnTo>
                  <a:pt x="184468" y="127610"/>
                </a:lnTo>
                <a:lnTo>
                  <a:pt x="157649" y="159439"/>
                </a:lnTo>
                <a:lnTo>
                  <a:pt x="132251" y="194285"/>
                </a:lnTo>
                <a:lnTo>
                  <a:pt x="108365" y="231997"/>
                </a:lnTo>
                <a:lnTo>
                  <a:pt x="86081" y="272419"/>
                </a:lnTo>
                <a:lnTo>
                  <a:pt x="65490" y="315401"/>
                </a:lnTo>
                <a:lnTo>
                  <a:pt x="46682" y="360787"/>
                </a:lnTo>
                <a:lnTo>
                  <a:pt x="29747" y="408426"/>
                </a:lnTo>
                <a:lnTo>
                  <a:pt x="14777" y="458163"/>
                </a:lnTo>
                <a:lnTo>
                  <a:pt x="1862" y="509846"/>
                </a:lnTo>
                <a:lnTo>
                  <a:pt x="0" y="1065079"/>
                </a:lnTo>
                <a:lnTo>
                  <a:pt x="1862" y="1074328"/>
                </a:lnTo>
                <a:lnTo>
                  <a:pt x="14777" y="1126011"/>
                </a:lnTo>
                <a:lnTo>
                  <a:pt x="29747" y="1175749"/>
                </a:lnTo>
                <a:lnTo>
                  <a:pt x="46682" y="1223387"/>
                </a:lnTo>
                <a:lnTo>
                  <a:pt x="65490" y="1268774"/>
                </a:lnTo>
                <a:lnTo>
                  <a:pt x="86081" y="1311755"/>
                </a:lnTo>
                <a:lnTo>
                  <a:pt x="108365" y="1352178"/>
                </a:lnTo>
                <a:lnTo>
                  <a:pt x="132251" y="1389889"/>
                </a:lnTo>
                <a:lnTo>
                  <a:pt x="157649" y="1424736"/>
                </a:lnTo>
                <a:lnTo>
                  <a:pt x="184468" y="1456565"/>
                </a:lnTo>
                <a:lnTo>
                  <a:pt x="212618" y="1485223"/>
                </a:lnTo>
                <a:lnTo>
                  <a:pt x="242009" y="1510556"/>
                </a:lnTo>
                <a:lnTo>
                  <a:pt x="304148" y="1550639"/>
                </a:lnTo>
                <a:lnTo>
                  <a:pt x="370162" y="1575587"/>
                </a:lnTo>
                <a:lnTo>
                  <a:pt x="439327" y="1584175"/>
                </a:lnTo>
                <a:lnTo>
                  <a:pt x="474259" y="1582002"/>
                </a:lnTo>
                <a:lnTo>
                  <a:pt x="541939" y="1565081"/>
                </a:lnTo>
                <a:lnTo>
                  <a:pt x="606106" y="1532413"/>
                </a:lnTo>
                <a:lnTo>
                  <a:pt x="666037" y="1485223"/>
                </a:lnTo>
                <a:lnTo>
                  <a:pt x="668633" y="1482580"/>
                </a:lnTo>
                <a:lnTo>
                  <a:pt x="439327" y="1482580"/>
                </a:lnTo>
                <a:lnTo>
                  <a:pt x="405972" y="1479758"/>
                </a:lnTo>
                <a:lnTo>
                  <a:pt x="341909" y="1457915"/>
                </a:lnTo>
                <a:lnTo>
                  <a:pt x="282236" y="1416097"/>
                </a:lnTo>
                <a:lnTo>
                  <a:pt x="254370" y="1388307"/>
                </a:lnTo>
                <a:lnTo>
                  <a:pt x="227989" y="1356255"/>
                </a:lnTo>
                <a:lnTo>
                  <a:pt x="203224" y="1320185"/>
                </a:lnTo>
                <a:lnTo>
                  <a:pt x="180203" y="1280339"/>
                </a:lnTo>
                <a:lnTo>
                  <a:pt x="159057" y="1236963"/>
                </a:lnTo>
                <a:lnTo>
                  <a:pt x="139913" y="1190299"/>
                </a:lnTo>
                <a:lnTo>
                  <a:pt x="122903" y="1140592"/>
                </a:lnTo>
                <a:lnTo>
                  <a:pt x="108154" y="1088085"/>
                </a:lnTo>
                <a:lnTo>
                  <a:pt x="95797" y="1033023"/>
                </a:lnTo>
                <a:lnTo>
                  <a:pt x="85961" y="975648"/>
                </a:lnTo>
                <a:lnTo>
                  <a:pt x="78775" y="916204"/>
                </a:lnTo>
                <a:lnTo>
                  <a:pt x="74368" y="854936"/>
                </a:lnTo>
                <a:lnTo>
                  <a:pt x="72870" y="792087"/>
                </a:lnTo>
                <a:lnTo>
                  <a:pt x="74368" y="729238"/>
                </a:lnTo>
                <a:lnTo>
                  <a:pt x="78775" y="667970"/>
                </a:lnTo>
                <a:lnTo>
                  <a:pt x="85961" y="608527"/>
                </a:lnTo>
                <a:lnTo>
                  <a:pt x="95797" y="551152"/>
                </a:lnTo>
                <a:lnTo>
                  <a:pt x="108154" y="496089"/>
                </a:lnTo>
                <a:lnTo>
                  <a:pt x="122903" y="443582"/>
                </a:lnTo>
                <a:lnTo>
                  <a:pt x="139913" y="393875"/>
                </a:lnTo>
                <a:lnTo>
                  <a:pt x="159057" y="347212"/>
                </a:lnTo>
                <a:lnTo>
                  <a:pt x="180203" y="303835"/>
                </a:lnTo>
                <a:lnTo>
                  <a:pt x="203224" y="263990"/>
                </a:lnTo>
                <a:lnTo>
                  <a:pt x="227989" y="227919"/>
                </a:lnTo>
                <a:lnTo>
                  <a:pt x="254370" y="195867"/>
                </a:lnTo>
                <a:lnTo>
                  <a:pt x="282236" y="168077"/>
                </a:lnTo>
                <a:lnTo>
                  <a:pt x="341909" y="126260"/>
                </a:lnTo>
                <a:lnTo>
                  <a:pt x="405972" y="104416"/>
                </a:lnTo>
                <a:lnTo>
                  <a:pt x="439327" y="101594"/>
                </a:lnTo>
                <a:lnTo>
                  <a:pt x="668632" y="101594"/>
                </a:lnTo>
                <a:lnTo>
                  <a:pt x="666037" y="98952"/>
                </a:lnTo>
                <a:lnTo>
                  <a:pt x="636646" y="73618"/>
                </a:lnTo>
                <a:lnTo>
                  <a:pt x="574507" y="33536"/>
                </a:lnTo>
                <a:lnTo>
                  <a:pt x="508493" y="8588"/>
                </a:lnTo>
                <a:lnTo>
                  <a:pt x="474259" y="2172"/>
                </a:lnTo>
                <a:lnTo>
                  <a:pt x="439327" y="0"/>
                </a:lnTo>
                <a:close/>
              </a:path>
              <a:path w="907415" h="1584325">
                <a:moveTo>
                  <a:pt x="668632" y="101594"/>
                </a:moveTo>
                <a:lnTo>
                  <a:pt x="439327" y="101594"/>
                </a:lnTo>
                <a:lnTo>
                  <a:pt x="472682" y="104416"/>
                </a:lnTo>
                <a:lnTo>
                  <a:pt x="505199" y="112719"/>
                </a:lnTo>
                <a:lnTo>
                  <a:pt x="567196" y="144793"/>
                </a:lnTo>
                <a:lnTo>
                  <a:pt x="624285" y="195867"/>
                </a:lnTo>
                <a:lnTo>
                  <a:pt x="650666" y="227919"/>
                </a:lnTo>
                <a:lnTo>
                  <a:pt x="675431" y="263990"/>
                </a:lnTo>
                <a:lnTo>
                  <a:pt x="698452" y="303835"/>
                </a:lnTo>
                <a:lnTo>
                  <a:pt x="719598" y="347212"/>
                </a:lnTo>
                <a:lnTo>
                  <a:pt x="738742" y="393875"/>
                </a:lnTo>
                <a:lnTo>
                  <a:pt x="755752" y="443582"/>
                </a:lnTo>
                <a:lnTo>
                  <a:pt x="770501" y="496089"/>
                </a:lnTo>
                <a:lnTo>
                  <a:pt x="782858" y="551152"/>
                </a:lnTo>
                <a:lnTo>
                  <a:pt x="792694" y="608527"/>
                </a:lnTo>
                <a:lnTo>
                  <a:pt x="799880" y="667970"/>
                </a:lnTo>
                <a:lnTo>
                  <a:pt x="804287" y="729238"/>
                </a:lnTo>
                <a:lnTo>
                  <a:pt x="805784" y="792087"/>
                </a:lnTo>
                <a:lnTo>
                  <a:pt x="804287" y="854936"/>
                </a:lnTo>
                <a:lnTo>
                  <a:pt x="799880" y="916204"/>
                </a:lnTo>
                <a:lnTo>
                  <a:pt x="792694" y="975648"/>
                </a:lnTo>
                <a:lnTo>
                  <a:pt x="782858" y="1033023"/>
                </a:lnTo>
                <a:lnTo>
                  <a:pt x="770501" y="1088085"/>
                </a:lnTo>
                <a:lnTo>
                  <a:pt x="755752" y="1140592"/>
                </a:lnTo>
                <a:lnTo>
                  <a:pt x="738742" y="1190299"/>
                </a:lnTo>
                <a:lnTo>
                  <a:pt x="719598" y="1236963"/>
                </a:lnTo>
                <a:lnTo>
                  <a:pt x="698452" y="1280339"/>
                </a:lnTo>
                <a:lnTo>
                  <a:pt x="675431" y="1320185"/>
                </a:lnTo>
                <a:lnTo>
                  <a:pt x="650666" y="1356255"/>
                </a:lnTo>
                <a:lnTo>
                  <a:pt x="624285" y="1388307"/>
                </a:lnTo>
                <a:lnTo>
                  <a:pt x="596419" y="1416097"/>
                </a:lnTo>
                <a:lnTo>
                  <a:pt x="536746" y="1457915"/>
                </a:lnTo>
                <a:lnTo>
                  <a:pt x="472682" y="1479758"/>
                </a:lnTo>
                <a:lnTo>
                  <a:pt x="439327" y="1482580"/>
                </a:lnTo>
                <a:lnTo>
                  <a:pt x="668633" y="1482580"/>
                </a:lnTo>
                <a:lnTo>
                  <a:pt x="721006" y="1424736"/>
                </a:lnTo>
                <a:lnTo>
                  <a:pt x="746404" y="1389889"/>
                </a:lnTo>
                <a:lnTo>
                  <a:pt x="770290" y="1352178"/>
                </a:lnTo>
                <a:lnTo>
                  <a:pt x="792574" y="1311755"/>
                </a:lnTo>
                <a:lnTo>
                  <a:pt x="813165" y="1268774"/>
                </a:lnTo>
                <a:lnTo>
                  <a:pt x="831973" y="1223387"/>
                </a:lnTo>
                <a:lnTo>
                  <a:pt x="848908" y="1175749"/>
                </a:lnTo>
                <a:lnTo>
                  <a:pt x="863878" y="1126011"/>
                </a:lnTo>
                <a:lnTo>
                  <a:pt x="876793" y="1074328"/>
                </a:lnTo>
                <a:lnTo>
                  <a:pt x="887563" y="1020852"/>
                </a:lnTo>
                <a:lnTo>
                  <a:pt x="896097" y="965737"/>
                </a:lnTo>
                <a:lnTo>
                  <a:pt x="902305" y="909136"/>
                </a:lnTo>
                <a:lnTo>
                  <a:pt x="906096" y="851201"/>
                </a:lnTo>
                <a:lnTo>
                  <a:pt x="907379" y="792087"/>
                </a:lnTo>
                <a:lnTo>
                  <a:pt x="906096" y="732973"/>
                </a:lnTo>
                <a:lnTo>
                  <a:pt x="902305" y="675038"/>
                </a:lnTo>
                <a:lnTo>
                  <a:pt x="896097" y="618437"/>
                </a:lnTo>
                <a:lnTo>
                  <a:pt x="887563" y="563322"/>
                </a:lnTo>
                <a:lnTo>
                  <a:pt x="876793" y="509846"/>
                </a:lnTo>
                <a:lnTo>
                  <a:pt x="863878" y="458163"/>
                </a:lnTo>
                <a:lnTo>
                  <a:pt x="848908" y="408426"/>
                </a:lnTo>
                <a:lnTo>
                  <a:pt x="831973" y="360787"/>
                </a:lnTo>
                <a:lnTo>
                  <a:pt x="813165" y="315401"/>
                </a:lnTo>
                <a:lnTo>
                  <a:pt x="792574" y="272419"/>
                </a:lnTo>
                <a:lnTo>
                  <a:pt x="770290" y="231997"/>
                </a:lnTo>
                <a:lnTo>
                  <a:pt x="746404" y="194285"/>
                </a:lnTo>
                <a:lnTo>
                  <a:pt x="721006" y="159439"/>
                </a:lnTo>
                <a:lnTo>
                  <a:pt x="694187" y="127610"/>
                </a:lnTo>
                <a:lnTo>
                  <a:pt x="668632" y="101594"/>
                </a:lnTo>
                <a:close/>
              </a:path>
            </a:pathLst>
          </a:custGeom>
          <a:solidFill>
            <a:srgbClr val="941100"/>
          </a:solidFill>
        </p:spPr>
        <p:txBody>
          <a:bodyPr wrap="square" lIns="0" tIns="0" rIns="0" bIns="0" rtlCol="0"/>
          <a:lstStyle/>
          <a:p/>
        </p:txBody>
      </p:sp>
      <p:sp>
        <p:nvSpPr>
          <p:cNvPr id="7" name="object 7"/>
          <p:cNvSpPr/>
          <p:nvPr/>
        </p:nvSpPr>
        <p:spPr>
          <a:xfrm>
            <a:off x="0" y="4005064"/>
            <a:ext cx="907415" cy="1584325"/>
          </a:xfrm>
          <a:custGeom>
            <a:avLst/>
            <a:gdLst/>
            <a:ahLst/>
            <a:cxnLst/>
            <a:rect l="l" t="t" r="r" b="b"/>
            <a:pathLst>
              <a:path w="907414" h="1584325">
                <a:moveTo>
                  <a:pt x="0" y="519095"/>
                </a:moveTo>
                <a:lnTo>
                  <a:pt x="14777" y="458163"/>
                </a:lnTo>
                <a:lnTo>
                  <a:pt x="29747" y="408426"/>
                </a:lnTo>
                <a:lnTo>
                  <a:pt x="46682" y="360787"/>
                </a:lnTo>
                <a:lnTo>
                  <a:pt x="65490" y="315401"/>
                </a:lnTo>
                <a:lnTo>
                  <a:pt x="86081" y="272420"/>
                </a:lnTo>
                <a:lnTo>
                  <a:pt x="108365" y="231997"/>
                </a:lnTo>
                <a:lnTo>
                  <a:pt x="132251" y="194285"/>
                </a:lnTo>
                <a:lnTo>
                  <a:pt x="157649" y="159439"/>
                </a:lnTo>
                <a:lnTo>
                  <a:pt x="184468" y="127610"/>
                </a:lnTo>
                <a:lnTo>
                  <a:pt x="212618" y="98952"/>
                </a:lnTo>
                <a:lnTo>
                  <a:pt x="242009" y="73618"/>
                </a:lnTo>
                <a:lnTo>
                  <a:pt x="304148" y="33536"/>
                </a:lnTo>
                <a:lnTo>
                  <a:pt x="370162" y="8588"/>
                </a:lnTo>
                <a:lnTo>
                  <a:pt x="439327" y="0"/>
                </a:lnTo>
                <a:lnTo>
                  <a:pt x="474259" y="2172"/>
                </a:lnTo>
                <a:lnTo>
                  <a:pt x="541939" y="19093"/>
                </a:lnTo>
                <a:lnTo>
                  <a:pt x="606106" y="51762"/>
                </a:lnTo>
                <a:lnTo>
                  <a:pt x="666037" y="98952"/>
                </a:lnTo>
                <a:lnTo>
                  <a:pt x="694187" y="127610"/>
                </a:lnTo>
                <a:lnTo>
                  <a:pt x="721006" y="159439"/>
                </a:lnTo>
                <a:lnTo>
                  <a:pt x="746404" y="194285"/>
                </a:lnTo>
                <a:lnTo>
                  <a:pt x="770290" y="231997"/>
                </a:lnTo>
                <a:lnTo>
                  <a:pt x="792574" y="272420"/>
                </a:lnTo>
                <a:lnTo>
                  <a:pt x="813165" y="315401"/>
                </a:lnTo>
                <a:lnTo>
                  <a:pt x="831973" y="360787"/>
                </a:lnTo>
                <a:lnTo>
                  <a:pt x="848907" y="408426"/>
                </a:lnTo>
                <a:lnTo>
                  <a:pt x="863877" y="458163"/>
                </a:lnTo>
                <a:lnTo>
                  <a:pt x="876793" y="509846"/>
                </a:lnTo>
                <a:lnTo>
                  <a:pt x="887562" y="563322"/>
                </a:lnTo>
                <a:lnTo>
                  <a:pt x="896097" y="618437"/>
                </a:lnTo>
                <a:lnTo>
                  <a:pt x="902304" y="675038"/>
                </a:lnTo>
                <a:lnTo>
                  <a:pt x="906095" y="732973"/>
                </a:lnTo>
                <a:lnTo>
                  <a:pt x="907379" y="792087"/>
                </a:lnTo>
                <a:lnTo>
                  <a:pt x="906095" y="851202"/>
                </a:lnTo>
                <a:lnTo>
                  <a:pt x="902304" y="909136"/>
                </a:lnTo>
                <a:lnTo>
                  <a:pt x="896097" y="965738"/>
                </a:lnTo>
                <a:lnTo>
                  <a:pt x="887562" y="1020853"/>
                </a:lnTo>
                <a:lnTo>
                  <a:pt x="876793" y="1074328"/>
                </a:lnTo>
                <a:lnTo>
                  <a:pt x="863877" y="1126011"/>
                </a:lnTo>
                <a:lnTo>
                  <a:pt x="848907" y="1175749"/>
                </a:lnTo>
                <a:lnTo>
                  <a:pt x="831973" y="1223387"/>
                </a:lnTo>
                <a:lnTo>
                  <a:pt x="813165" y="1268774"/>
                </a:lnTo>
                <a:lnTo>
                  <a:pt x="792574" y="1311755"/>
                </a:lnTo>
                <a:lnTo>
                  <a:pt x="770290" y="1352178"/>
                </a:lnTo>
                <a:lnTo>
                  <a:pt x="746404" y="1389889"/>
                </a:lnTo>
                <a:lnTo>
                  <a:pt x="721006" y="1424736"/>
                </a:lnTo>
                <a:lnTo>
                  <a:pt x="694187" y="1456565"/>
                </a:lnTo>
                <a:lnTo>
                  <a:pt x="666037" y="1485223"/>
                </a:lnTo>
                <a:lnTo>
                  <a:pt x="636646" y="1510556"/>
                </a:lnTo>
                <a:lnTo>
                  <a:pt x="574507" y="1550639"/>
                </a:lnTo>
                <a:lnTo>
                  <a:pt x="508493" y="1575587"/>
                </a:lnTo>
                <a:lnTo>
                  <a:pt x="439327" y="1584175"/>
                </a:lnTo>
                <a:lnTo>
                  <a:pt x="404396" y="1582002"/>
                </a:lnTo>
                <a:lnTo>
                  <a:pt x="336716" y="1565081"/>
                </a:lnTo>
                <a:lnTo>
                  <a:pt x="272549" y="1532413"/>
                </a:lnTo>
                <a:lnTo>
                  <a:pt x="212618" y="1485223"/>
                </a:lnTo>
                <a:lnTo>
                  <a:pt x="184468" y="1456565"/>
                </a:lnTo>
                <a:lnTo>
                  <a:pt x="157649" y="1424736"/>
                </a:lnTo>
                <a:lnTo>
                  <a:pt x="132251" y="1389889"/>
                </a:lnTo>
                <a:lnTo>
                  <a:pt x="108365" y="1352178"/>
                </a:lnTo>
                <a:lnTo>
                  <a:pt x="86081" y="1311755"/>
                </a:lnTo>
                <a:lnTo>
                  <a:pt x="65490" y="1268774"/>
                </a:lnTo>
                <a:lnTo>
                  <a:pt x="46682" y="1223387"/>
                </a:lnTo>
                <a:lnTo>
                  <a:pt x="29747" y="1175749"/>
                </a:lnTo>
                <a:lnTo>
                  <a:pt x="14777" y="1126011"/>
                </a:lnTo>
                <a:lnTo>
                  <a:pt x="1862" y="1074328"/>
                </a:lnTo>
                <a:lnTo>
                  <a:pt x="0" y="1065079"/>
                </a:lnTo>
              </a:path>
            </a:pathLst>
          </a:custGeom>
          <a:ln w="6349">
            <a:solidFill>
              <a:srgbClr val="6CACDD"/>
            </a:solidFill>
          </a:ln>
        </p:spPr>
        <p:txBody>
          <a:bodyPr wrap="square" lIns="0" tIns="0" rIns="0" bIns="0" rtlCol="0"/>
          <a:lstStyle/>
          <a:p/>
        </p:txBody>
      </p:sp>
      <p:sp>
        <p:nvSpPr>
          <p:cNvPr id="8" name="object 8"/>
          <p:cNvSpPr/>
          <p:nvPr/>
        </p:nvSpPr>
        <p:spPr>
          <a:xfrm>
            <a:off x="72870" y="4106659"/>
            <a:ext cx="733425" cy="1381125"/>
          </a:xfrm>
          <a:custGeom>
            <a:avLst/>
            <a:gdLst/>
            <a:ahLst/>
            <a:cxnLst/>
            <a:rect l="l" t="t" r="r" b="b"/>
            <a:pathLst>
              <a:path w="733425" h="1381125">
                <a:moveTo>
                  <a:pt x="0" y="690492"/>
                </a:moveTo>
                <a:lnTo>
                  <a:pt x="1497" y="753341"/>
                </a:lnTo>
                <a:lnTo>
                  <a:pt x="5904" y="814609"/>
                </a:lnTo>
                <a:lnTo>
                  <a:pt x="13090" y="874053"/>
                </a:lnTo>
                <a:lnTo>
                  <a:pt x="22926" y="931428"/>
                </a:lnTo>
                <a:lnTo>
                  <a:pt x="35283" y="986491"/>
                </a:lnTo>
                <a:lnTo>
                  <a:pt x="50032" y="1038997"/>
                </a:lnTo>
                <a:lnTo>
                  <a:pt x="67042" y="1088705"/>
                </a:lnTo>
                <a:lnTo>
                  <a:pt x="86186" y="1135368"/>
                </a:lnTo>
                <a:lnTo>
                  <a:pt x="107332" y="1178745"/>
                </a:lnTo>
                <a:lnTo>
                  <a:pt x="130353" y="1218590"/>
                </a:lnTo>
                <a:lnTo>
                  <a:pt x="155118" y="1254661"/>
                </a:lnTo>
                <a:lnTo>
                  <a:pt x="181499" y="1286713"/>
                </a:lnTo>
                <a:lnTo>
                  <a:pt x="209365" y="1314502"/>
                </a:lnTo>
                <a:lnTo>
                  <a:pt x="269038" y="1356320"/>
                </a:lnTo>
                <a:lnTo>
                  <a:pt x="333101" y="1378163"/>
                </a:lnTo>
                <a:lnTo>
                  <a:pt x="366456" y="1380985"/>
                </a:lnTo>
                <a:lnTo>
                  <a:pt x="399811" y="1378163"/>
                </a:lnTo>
                <a:lnTo>
                  <a:pt x="463875" y="1356320"/>
                </a:lnTo>
                <a:lnTo>
                  <a:pt x="523548" y="1314502"/>
                </a:lnTo>
                <a:lnTo>
                  <a:pt x="551414" y="1286713"/>
                </a:lnTo>
                <a:lnTo>
                  <a:pt x="577795" y="1254661"/>
                </a:lnTo>
                <a:lnTo>
                  <a:pt x="602560" y="1218590"/>
                </a:lnTo>
                <a:lnTo>
                  <a:pt x="625581" y="1178745"/>
                </a:lnTo>
                <a:lnTo>
                  <a:pt x="646727" y="1135368"/>
                </a:lnTo>
                <a:lnTo>
                  <a:pt x="665871" y="1088705"/>
                </a:lnTo>
                <a:lnTo>
                  <a:pt x="682881" y="1038997"/>
                </a:lnTo>
                <a:lnTo>
                  <a:pt x="697630" y="986491"/>
                </a:lnTo>
                <a:lnTo>
                  <a:pt x="709987" y="931428"/>
                </a:lnTo>
                <a:lnTo>
                  <a:pt x="719823" y="874053"/>
                </a:lnTo>
                <a:lnTo>
                  <a:pt x="727009" y="814609"/>
                </a:lnTo>
                <a:lnTo>
                  <a:pt x="731416" y="753341"/>
                </a:lnTo>
                <a:lnTo>
                  <a:pt x="732913" y="690492"/>
                </a:lnTo>
                <a:lnTo>
                  <a:pt x="731416" y="627644"/>
                </a:lnTo>
                <a:lnTo>
                  <a:pt x="727009" y="566375"/>
                </a:lnTo>
                <a:lnTo>
                  <a:pt x="719823" y="506932"/>
                </a:lnTo>
                <a:lnTo>
                  <a:pt x="709987" y="449557"/>
                </a:lnTo>
                <a:lnTo>
                  <a:pt x="697630" y="394494"/>
                </a:lnTo>
                <a:lnTo>
                  <a:pt x="682881" y="341987"/>
                </a:lnTo>
                <a:lnTo>
                  <a:pt x="665871" y="292280"/>
                </a:lnTo>
                <a:lnTo>
                  <a:pt x="646727" y="245617"/>
                </a:lnTo>
                <a:lnTo>
                  <a:pt x="625581" y="202240"/>
                </a:lnTo>
                <a:lnTo>
                  <a:pt x="602560" y="162395"/>
                </a:lnTo>
                <a:lnTo>
                  <a:pt x="577795" y="126324"/>
                </a:lnTo>
                <a:lnTo>
                  <a:pt x="551414" y="94272"/>
                </a:lnTo>
                <a:lnTo>
                  <a:pt x="523548" y="66482"/>
                </a:lnTo>
                <a:lnTo>
                  <a:pt x="463875" y="24665"/>
                </a:lnTo>
                <a:lnTo>
                  <a:pt x="399811" y="2821"/>
                </a:lnTo>
                <a:lnTo>
                  <a:pt x="366456" y="0"/>
                </a:lnTo>
                <a:lnTo>
                  <a:pt x="333101" y="2821"/>
                </a:lnTo>
                <a:lnTo>
                  <a:pt x="269038" y="24665"/>
                </a:lnTo>
                <a:lnTo>
                  <a:pt x="209365" y="66482"/>
                </a:lnTo>
                <a:lnTo>
                  <a:pt x="181499" y="94272"/>
                </a:lnTo>
                <a:lnTo>
                  <a:pt x="155118" y="126324"/>
                </a:lnTo>
                <a:lnTo>
                  <a:pt x="130353" y="162395"/>
                </a:lnTo>
                <a:lnTo>
                  <a:pt x="107332" y="202240"/>
                </a:lnTo>
                <a:lnTo>
                  <a:pt x="86186" y="245617"/>
                </a:lnTo>
                <a:lnTo>
                  <a:pt x="67042" y="292280"/>
                </a:lnTo>
                <a:lnTo>
                  <a:pt x="50032" y="341987"/>
                </a:lnTo>
                <a:lnTo>
                  <a:pt x="35283" y="394494"/>
                </a:lnTo>
                <a:lnTo>
                  <a:pt x="22926" y="449557"/>
                </a:lnTo>
                <a:lnTo>
                  <a:pt x="13090" y="506932"/>
                </a:lnTo>
                <a:lnTo>
                  <a:pt x="5904" y="566375"/>
                </a:lnTo>
                <a:lnTo>
                  <a:pt x="1497" y="627644"/>
                </a:lnTo>
                <a:lnTo>
                  <a:pt x="0" y="690492"/>
                </a:lnTo>
              </a:path>
            </a:pathLst>
          </a:custGeom>
          <a:ln w="6349">
            <a:solidFill>
              <a:srgbClr val="6CACDD"/>
            </a:solidFill>
          </a:ln>
        </p:spPr>
        <p:txBody>
          <a:bodyPr wrap="square" lIns="0" tIns="0" rIns="0" bIns="0" rtlCol="0"/>
          <a:lstStyle/>
          <a:p/>
        </p:txBody>
      </p:sp>
      <p:sp>
        <p:nvSpPr>
          <p:cNvPr id="9" name="object 9"/>
          <p:cNvSpPr/>
          <p:nvPr/>
        </p:nvSpPr>
        <p:spPr>
          <a:xfrm>
            <a:off x="1415479" y="4365104"/>
            <a:ext cx="936625" cy="720090"/>
          </a:xfrm>
          <a:custGeom>
            <a:avLst/>
            <a:gdLst/>
            <a:ahLst/>
            <a:cxnLst/>
            <a:rect l="l" t="t" r="r" b="b"/>
            <a:pathLst>
              <a:path w="936625" h="720089">
                <a:moveTo>
                  <a:pt x="468052" y="0"/>
                </a:moveTo>
                <a:lnTo>
                  <a:pt x="413467" y="2422"/>
                </a:lnTo>
                <a:lnTo>
                  <a:pt x="360731" y="9508"/>
                </a:lnTo>
                <a:lnTo>
                  <a:pt x="310197" y="20989"/>
                </a:lnTo>
                <a:lnTo>
                  <a:pt x="262214" y="36594"/>
                </a:lnTo>
                <a:lnTo>
                  <a:pt x="217134" y="56054"/>
                </a:lnTo>
                <a:lnTo>
                  <a:pt x="175309" y="79096"/>
                </a:lnTo>
                <a:lnTo>
                  <a:pt x="137089" y="105453"/>
                </a:lnTo>
                <a:lnTo>
                  <a:pt x="102825" y="134853"/>
                </a:lnTo>
                <a:lnTo>
                  <a:pt x="72870" y="167027"/>
                </a:lnTo>
                <a:lnTo>
                  <a:pt x="47573" y="201703"/>
                </a:lnTo>
                <a:lnTo>
                  <a:pt x="27286" y="238613"/>
                </a:lnTo>
                <a:lnTo>
                  <a:pt x="12361" y="277486"/>
                </a:lnTo>
                <a:lnTo>
                  <a:pt x="3148" y="318051"/>
                </a:lnTo>
                <a:lnTo>
                  <a:pt x="0" y="360039"/>
                </a:lnTo>
                <a:lnTo>
                  <a:pt x="3148" y="402028"/>
                </a:lnTo>
                <a:lnTo>
                  <a:pt x="12361" y="442593"/>
                </a:lnTo>
                <a:lnTo>
                  <a:pt x="27286" y="481466"/>
                </a:lnTo>
                <a:lnTo>
                  <a:pt x="47573" y="518376"/>
                </a:lnTo>
                <a:lnTo>
                  <a:pt x="72870" y="553053"/>
                </a:lnTo>
                <a:lnTo>
                  <a:pt x="102825" y="585226"/>
                </a:lnTo>
                <a:lnTo>
                  <a:pt x="137089" y="614626"/>
                </a:lnTo>
                <a:lnTo>
                  <a:pt x="175309" y="640983"/>
                </a:lnTo>
                <a:lnTo>
                  <a:pt x="217134" y="664026"/>
                </a:lnTo>
                <a:lnTo>
                  <a:pt x="262214" y="683485"/>
                </a:lnTo>
                <a:lnTo>
                  <a:pt x="310197" y="699090"/>
                </a:lnTo>
                <a:lnTo>
                  <a:pt x="360731" y="710570"/>
                </a:lnTo>
                <a:lnTo>
                  <a:pt x="413467" y="717657"/>
                </a:lnTo>
                <a:lnTo>
                  <a:pt x="468052" y="720079"/>
                </a:lnTo>
                <a:lnTo>
                  <a:pt x="522636" y="717657"/>
                </a:lnTo>
                <a:lnTo>
                  <a:pt x="575372" y="710570"/>
                </a:lnTo>
                <a:lnTo>
                  <a:pt x="625906" y="699090"/>
                </a:lnTo>
                <a:lnTo>
                  <a:pt x="673889" y="683485"/>
                </a:lnTo>
                <a:lnTo>
                  <a:pt x="718969" y="664026"/>
                </a:lnTo>
                <a:lnTo>
                  <a:pt x="759075" y="641930"/>
                </a:lnTo>
                <a:lnTo>
                  <a:pt x="468052" y="641930"/>
                </a:lnTo>
                <a:lnTo>
                  <a:pt x="415144" y="639357"/>
                </a:lnTo>
                <a:lnTo>
                  <a:pt x="364400" y="631861"/>
                </a:lnTo>
                <a:lnTo>
                  <a:pt x="316284" y="619778"/>
                </a:lnTo>
                <a:lnTo>
                  <a:pt x="271261" y="603444"/>
                </a:lnTo>
                <a:lnTo>
                  <a:pt x="229794" y="583195"/>
                </a:lnTo>
                <a:lnTo>
                  <a:pt x="192349" y="559366"/>
                </a:lnTo>
                <a:lnTo>
                  <a:pt x="159391" y="532294"/>
                </a:lnTo>
                <a:lnTo>
                  <a:pt x="131383" y="502315"/>
                </a:lnTo>
                <a:lnTo>
                  <a:pt x="108790" y="469764"/>
                </a:lnTo>
                <a:lnTo>
                  <a:pt x="92078" y="434977"/>
                </a:lnTo>
                <a:lnTo>
                  <a:pt x="81710" y="398290"/>
                </a:lnTo>
                <a:lnTo>
                  <a:pt x="78150" y="360039"/>
                </a:lnTo>
                <a:lnTo>
                  <a:pt x="81710" y="321789"/>
                </a:lnTo>
                <a:lnTo>
                  <a:pt x="92078" y="285102"/>
                </a:lnTo>
                <a:lnTo>
                  <a:pt x="108790" y="250315"/>
                </a:lnTo>
                <a:lnTo>
                  <a:pt x="131383" y="217765"/>
                </a:lnTo>
                <a:lnTo>
                  <a:pt x="159391" y="187785"/>
                </a:lnTo>
                <a:lnTo>
                  <a:pt x="192349" y="160714"/>
                </a:lnTo>
                <a:lnTo>
                  <a:pt x="229794" y="136885"/>
                </a:lnTo>
                <a:lnTo>
                  <a:pt x="271261" y="116636"/>
                </a:lnTo>
                <a:lnTo>
                  <a:pt x="316284" y="100302"/>
                </a:lnTo>
                <a:lnTo>
                  <a:pt x="364400" y="88220"/>
                </a:lnTo>
                <a:lnTo>
                  <a:pt x="415144" y="80724"/>
                </a:lnTo>
                <a:lnTo>
                  <a:pt x="468052" y="78150"/>
                </a:lnTo>
                <a:lnTo>
                  <a:pt x="759077" y="78150"/>
                </a:lnTo>
                <a:lnTo>
                  <a:pt x="718969" y="56054"/>
                </a:lnTo>
                <a:lnTo>
                  <a:pt x="673889" y="36594"/>
                </a:lnTo>
                <a:lnTo>
                  <a:pt x="625906" y="20989"/>
                </a:lnTo>
                <a:lnTo>
                  <a:pt x="575372" y="9508"/>
                </a:lnTo>
                <a:lnTo>
                  <a:pt x="522636" y="2422"/>
                </a:lnTo>
                <a:lnTo>
                  <a:pt x="468052" y="0"/>
                </a:lnTo>
                <a:close/>
              </a:path>
              <a:path w="936625" h="720089">
                <a:moveTo>
                  <a:pt x="759077" y="78150"/>
                </a:moveTo>
                <a:lnTo>
                  <a:pt x="468052" y="78150"/>
                </a:lnTo>
                <a:lnTo>
                  <a:pt x="520959" y="80724"/>
                </a:lnTo>
                <a:lnTo>
                  <a:pt x="571703" y="88220"/>
                </a:lnTo>
                <a:lnTo>
                  <a:pt x="619819" y="100302"/>
                </a:lnTo>
                <a:lnTo>
                  <a:pt x="664843" y="116636"/>
                </a:lnTo>
                <a:lnTo>
                  <a:pt x="706309" y="136885"/>
                </a:lnTo>
                <a:lnTo>
                  <a:pt x="743754" y="160714"/>
                </a:lnTo>
                <a:lnTo>
                  <a:pt x="776712" y="187785"/>
                </a:lnTo>
                <a:lnTo>
                  <a:pt x="804720" y="217765"/>
                </a:lnTo>
                <a:lnTo>
                  <a:pt x="827313" y="250315"/>
                </a:lnTo>
                <a:lnTo>
                  <a:pt x="844025" y="285102"/>
                </a:lnTo>
                <a:lnTo>
                  <a:pt x="854394" y="321789"/>
                </a:lnTo>
                <a:lnTo>
                  <a:pt x="857953" y="360039"/>
                </a:lnTo>
                <a:lnTo>
                  <a:pt x="854394" y="398290"/>
                </a:lnTo>
                <a:lnTo>
                  <a:pt x="844025" y="434977"/>
                </a:lnTo>
                <a:lnTo>
                  <a:pt x="827313" y="469764"/>
                </a:lnTo>
                <a:lnTo>
                  <a:pt x="804720" y="502315"/>
                </a:lnTo>
                <a:lnTo>
                  <a:pt x="776712" y="532294"/>
                </a:lnTo>
                <a:lnTo>
                  <a:pt x="743754" y="559366"/>
                </a:lnTo>
                <a:lnTo>
                  <a:pt x="706309" y="583195"/>
                </a:lnTo>
                <a:lnTo>
                  <a:pt x="664843" y="603444"/>
                </a:lnTo>
                <a:lnTo>
                  <a:pt x="619819" y="619778"/>
                </a:lnTo>
                <a:lnTo>
                  <a:pt x="571703" y="631861"/>
                </a:lnTo>
                <a:lnTo>
                  <a:pt x="520959" y="639357"/>
                </a:lnTo>
                <a:lnTo>
                  <a:pt x="468052" y="641930"/>
                </a:lnTo>
                <a:lnTo>
                  <a:pt x="759075" y="641930"/>
                </a:lnTo>
                <a:lnTo>
                  <a:pt x="799015" y="614626"/>
                </a:lnTo>
                <a:lnTo>
                  <a:pt x="833278" y="585226"/>
                </a:lnTo>
                <a:lnTo>
                  <a:pt x="863234" y="553053"/>
                </a:lnTo>
                <a:lnTo>
                  <a:pt x="888530" y="518376"/>
                </a:lnTo>
                <a:lnTo>
                  <a:pt x="908817" y="481466"/>
                </a:lnTo>
                <a:lnTo>
                  <a:pt x="923742" y="442593"/>
                </a:lnTo>
                <a:lnTo>
                  <a:pt x="932955" y="402028"/>
                </a:lnTo>
                <a:lnTo>
                  <a:pt x="936104" y="360039"/>
                </a:lnTo>
                <a:lnTo>
                  <a:pt x="932955" y="318051"/>
                </a:lnTo>
                <a:lnTo>
                  <a:pt x="923742" y="277486"/>
                </a:lnTo>
                <a:lnTo>
                  <a:pt x="908817" y="238613"/>
                </a:lnTo>
                <a:lnTo>
                  <a:pt x="888530" y="201703"/>
                </a:lnTo>
                <a:lnTo>
                  <a:pt x="863234" y="167027"/>
                </a:lnTo>
                <a:lnTo>
                  <a:pt x="833278" y="134853"/>
                </a:lnTo>
                <a:lnTo>
                  <a:pt x="799015" y="105453"/>
                </a:lnTo>
                <a:lnTo>
                  <a:pt x="760795" y="79096"/>
                </a:lnTo>
                <a:lnTo>
                  <a:pt x="759077" y="78150"/>
                </a:lnTo>
                <a:close/>
              </a:path>
            </a:pathLst>
          </a:custGeom>
          <a:solidFill>
            <a:srgbClr val="941100"/>
          </a:solidFill>
        </p:spPr>
        <p:txBody>
          <a:bodyPr wrap="square" lIns="0" tIns="0" rIns="0" bIns="0" rtlCol="0"/>
          <a:lstStyle/>
          <a:p/>
        </p:txBody>
      </p:sp>
      <p:sp>
        <p:nvSpPr>
          <p:cNvPr id="10" name="object 10"/>
          <p:cNvSpPr/>
          <p:nvPr/>
        </p:nvSpPr>
        <p:spPr>
          <a:xfrm>
            <a:off x="1415479" y="4365104"/>
            <a:ext cx="936625" cy="720090"/>
          </a:xfrm>
          <a:custGeom>
            <a:avLst/>
            <a:gdLst/>
            <a:ahLst/>
            <a:cxnLst/>
            <a:rect l="l" t="t" r="r" b="b"/>
            <a:pathLst>
              <a:path w="936625" h="720089">
                <a:moveTo>
                  <a:pt x="0" y="360039"/>
                </a:moveTo>
                <a:lnTo>
                  <a:pt x="3148" y="318051"/>
                </a:lnTo>
                <a:lnTo>
                  <a:pt x="12361" y="277485"/>
                </a:lnTo>
                <a:lnTo>
                  <a:pt x="27286" y="238613"/>
                </a:lnTo>
                <a:lnTo>
                  <a:pt x="47573" y="201703"/>
                </a:lnTo>
                <a:lnTo>
                  <a:pt x="72870" y="167026"/>
                </a:lnTo>
                <a:lnTo>
                  <a:pt x="102825" y="134853"/>
                </a:lnTo>
                <a:lnTo>
                  <a:pt x="137089" y="105453"/>
                </a:lnTo>
                <a:lnTo>
                  <a:pt x="175309" y="79096"/>
                </a:lnTo>
                <a:lnTo>
                  <a:pt x="217134" y="56053"/>
                </a:lnTo>
                <a:lnTo>
                  <a:pt x="262214" y="36594"/>
                </a:lnTo>
                <a:lnTo>
                  <a:pt x="310197" y="20989"/>
                </a:lnTo>
                <a:lnTo>
                  <a:pt x="360731" y="9508"/>
                </a:lnTo>
                <a:lnTo>
                  <a:pt x="413467" y="2422"/>
                </a:lnTo>
                <a:lnTo>
                  <a:pt x="468051" y="0"/>
                </a:lnTo>
                <a:lnTo>
                  <a:pt x="522636" y="2422"/>
                </a:lnTo>
                <a:lnTo>
                  <a:pt x="575371" y="9508"/>
                </a:lnTo>
                <a:lnTo>
                  <a:pt x="625906" y="20989"/>
                </a:lnTo>
                <a:lnTo>
                  <a:pt x="673889" y="36594"/>
                </a:lnTo>
                <a:lnTo>
                  <a:pt x="718968" y="56053"/>
                </a:lnTo>
                <a:lnTo>
                  <a:pt x="760794" y="79096"/>
                </a:lnTo>
                <a:lnTo>
                  <a:pt x="799014" y="105453"/>
                </a:lnTo>
                <a:lnTo>
                  <a:pt x="833278" y="134853"/>
                </a:lnTo>
                <a:lnTo>
                  <a:pt x="863233" y="167026"/>
                </a:lnTo>
                <a:lnTo>
                  <a:pt x="888530" y="201703"/>
                </a:lnTo>
                <a:lnTo>
                  <a:pt x="908816" y="238613"/>
                </a:lnTo>
                <a:lnTo>
                  <a:pt x="923742" y="277485"/>
                </a:lnTo>
                <a:lnTo>
                  <a:pt x="932954" y="318051"/>
                </a:lnTo>
                <a:lnTo>
                  <a:pt x="936103" y="360039"/>
                </a:lnTo>
                <a:lnTo>
                  <a:pt x="932954" y="402028"/>
                </a:lnTo>
                <a:lnTo>
                  <a:pt x="923742" y="442593"/>
                </a:lnTo>
                <a:lnTo>
                  <a:pt x="908816" y="481466"/>
                </a:lnTo>
                <a:lnTo>
                  <a:pt x="888530" y="518376"/>
                </a:lnTo>
                <a:lnTo>
                  <a:pt x="863233" y="553053"/>
                </a:lnTo>
                <a:lnTo>
                  <a:pt x="833278" y="585226"/>
                </a:lnTo>
                <a:lnTo>
                  <a:pt x="799014" y="614626"/>
                </a:lnTo>
                <a:lnTo>
                  <a:pt x="760794" y="640983"/>
                </a:lnTo>
                <a:lnTo>
                  <a:pt x="718968" y="664025"/>
                </a:lnTo>
                <a:lnTo>
                  <a:pt x="673889" y="683484"/>
                </a:lnTo>
                <a:lnTo>
                  <a:pt x="625906" y="699089"/>
                </a:lnTo>
                <a:lnTo>
                  <a:pt x="575371" y="710570"/>
                </a:lnTo>
                <a:lnTo>
                  <a:pt x="522636" y="717657"/>
                </a:lnTo>
                <a:lnTo>
                  <a:pt x="468051" y="720079"/>
                </a:lnTo>
                <a:lnTo>
                  <a:pt x="413467" y="717657"/>
                </a:lnTo>
                <a:lnTo>
                  <a:pt x="360731" y="710570"/>
                </a:lnTo>
                <a:lnTo>
                  <a:pt x="310197" y="699089"/>
                </a:lnTo>
                <a:lnTo>
                  <a:pt x="262214" y="683484"/>
                </a:lnTo>
                <a:lnTo>
                  <a:pt x="217134" y="664025"/>
                </a:lnTo>
                <a:lnTo>
                  <a:pt x="175309" y="640983"/>
                </a:lnTo>
                <a:lnTo>
                  <a:pt x="137089" y="614626"/>
                </a:lnTo>
                <a:lnTo>
                  <a:pt x="102825" y="585226"/>
                </a:lnTo>
                <a:lnTo>
                  <a:pt x="72870" y="553053"/>
                </a:lnTo>
                <a:lnTo>
                  <a:pt x="47573" y="518376"/>
                </a:lnTo>
                <a:lnTo>
                  <a:pt x="27286" y="481466"/>
                </a:lnTo>
                <a:lnTo>
                  <a:pt x="12361" y="442593"/>
                </a:lnTo>
                <a:lnTo>
                  <a:pt x="3148" y="402028"/>
                </a:lnTo>
                <a:lnTo>
                  <a:pt x="0" y="360039"/>
                </a:lnTo>
                <a:close/>
              </a:path>
            </a:pathLst>
          </a:custGeom>
          <a:ln w="6349">
            <a:solidFill>
              <a:srgbClr val="6CACDD"/>
            </a:solidFill>
          </a:ln>
        </p:spPr>
        <p:txBody>
          <a:bodyPr wrap="square" lIns="0" tIns="0" rIns="0" bIns="0" rtlCol="0"/>
          <a:lstStyle/>
          <a:p/>
        </p:txBody>
      </p:sp>
      <p:sp>
        <p:nvSpPr>
          <p:cNvPr id="11" name="object 11"/>
          <p:cNvSpPr/>
          <p:nvPr/>
        </p:nvSpPr>
        <p:spPr>
          <a:xfrm>
            <a:off x="1493629" y="4443254"/>
            <a:ext cx="780415" cy="563880"/>
          </a:xfrm>
          <a:custGeom>
            <a:avLst/>
            <a:gdLst/>
            <a:ahLst/>
            <a:cxnLst/>
            <a:rect l="l" t="t" r="r" b="b"/>
            <a:pathLst>
              <a:path w="780414" h="563879">
                <a:moveTo>
                  <a:pt x="0" y="281889"/>
                </a:moveTo>
                <a:lnTo>
                  <a:pt x="3559" y="320140"/>
                </a:lnTo>
                <a:lnTo>
                  <a:pt x="13927" y="356827"/>
                </a:lnTo>
                <a:lnTo>
                  <a:pt x="30640" y="391614"/>
                </a:lnTo>
                <a:lnTo>
                  <a:pt x="53233" y="424165"/>
                </a:lnTo>
                <a:lnTo>
                  <a:pt x="81240" y="454144"/>
                </a:lnTo>
                <a:lnTo>
                  <a:pt x="114199" y="481216"/>
                </a:lnTo>
                <a:lnTo>
                  <a:pt x="151644" y="505044"/>
                </a:lnTo>
                <a:lnTo>
                  <a:pt x="193110" y="525293"/>
                </a:lnTo>
                <a:lnTo>
                  <a:pt x="238134" y="541627"/>
                </a:lnTo>
                <a:lnTo>
                  <a:pt x="286250" y="553710"/>
                </a:lnTo>
                <a:lnTo>
                  <a:pt x="336994" y="561206"/>
                </a:lnTo>
                <a:lnTo>
                  <a:pt x="389901" y="563779"/>
                </a:lnTo>
                <a:lnTo>
                  <a:pt x="442809" y="561206"/>
                </a:lnTo>
                <a:lnTo>
                  <a:pt x="493553" y="553710"/>
                </a:lnTo>
                <a:lnTo>
                  <a:pt x="541669" y="541627"/>
                </a:lnTo>
                <a:lnTo>
                  <a:pt x="586692" y="525293"/>
                </a:lnTo>
                <a:lnTo>
                  <a:pt x="628159" y="505044"/>
                </a:lnTo>
                <a:lnTo>
                  <a:pt x="665604" y="481216"/>
                </a:lnTo>
                <a:lnTo>
                  <a:pt x="698562" y="454144"/>
                </a:lnTo>
                <a:lnTo>
                  <a:pt x="726570" y="424165"/>
                </a:lnTo>
                <a:lnTo>
                  <a:pt x="749163" y="391614"/>
                </a:lnTo>
                <a:lnTo>
                  <a:pt x="765876" y="356827"/>
                </a:lnTo>
                <a:lnTo>
                  <a:pt x="776244" y="320140"/>
                </a:lnTo>
                <a:lnTo>
                  <a:pt x="779803" y="281889"/>
                </a:lnTo>
                <a:lnTo>
                  <a:pt x="776244" y="243638"/>
                </a:lnTo>
                <a:lnTo>
                  <a:pt x="765876" y="206952"/>
                </a:lnTo>
                <a:lnTo>
                  <a:pt x="749163" y="172165"/>
                </a:lnTo>
                <a:lnTo>
                  <a:pt x="726570" y="139614"/>
                </a:lnTo>
                <a:lnTo>
                  <a:pt x="698562" y="109635"/>
                </a:lnTo>
                <a:lnTo>
                  <a:pt x="665604" y="82563"/>
                </a:lnTo>
                <a:lnTo>
                  <a:pt x="628159" y="58735"/>
                </a:lnTo>
                <a:lnTo>
                  <a:pt x="586692" y="38486"/>
                </a:lnTo>
                <a:lnTo>
                  <a:pt x="541669" y="22152"/>
                </a:lnTo>
                <a:lnTo>
                  <a:pt x="493553" y="10069"/>
                </a:lnTo>
                <a:lnTo>
                  <a:pt x="442809" y="2573"/>
                </a:lnTo>
                <a:lnTo>
                  <a:pt x="389901" y="0"/>
                </a:lnTo>
                <a:lnTo>
                  <a:pt x="336994" y="2573"/>
                </a:lnTo>
                <a:lnTo>
                  <a:pt x="286250" y="10069"/>
                </a:lnTo>
                <a:lnTo>
                  <a:pt x="238134" y="22152"/>
                </a:lnTo>
                <a:lnTo>
                  <a:pt x="193110" y="38486"/>
                </a:lnTo>
                <a:lnTo>
                  <a:pt x="151644" y="58735"/>
                </a:lnTo>
                <a:lnTo>
                  <a:pt x="114199" y="82563"/>
                </a:lnTo>
                <a:lnTo>
                  <a:pt x="81240" y="109635"/>
                </a:lnTo>
                <a:lnTo>
                  <a:pt x="53233" y="139614"/>
                </a:lnTo>
                <a:lnTo>
                  <a:pt x="30640" y="172165"/>
                </a:lnTo>
                <a:lnTo>
                  <a:pt x="13927" y="206952"/>
                </a:lnTo>
                <a:lnTo>
                  <a:pt x="3559" y="243638"/>
                </a:lnTo>
                <a:lnTo>
                  <a:pt x="0" y="281889"/>
                </a:lnTo>
                <a:close/>
              </a:path>
            </a:pathLst>
          </a:custGeom>
          <a:ln w="6349">
            <a:solidFill>
              <a:srgbClr val="6CACDD"/>
            </a:solidFill>
          </a:ln>
        </p:spPr>
        <p:txBody>
          <a:bodyPr wrap="square" lIns="0" tIns="0" rIns="0" bIns="0" rtlCol="0"/>
          <a:lstStyle/>
          <a:p/>
        </p:txBody>
      </p:sp>
      <p:sp>
        <p:nvSpPr>
          <p:cNvPr id="12" name="灯片编号占位符 11"/>
          <p:cNvSpPr>
            <a:spLocks noGrp="1"/>
          </p:cNvSpPr>
          <p:nvPr>
            <p:ph type="sldNum" sz="quarter" idx="7"/>
          </p:nvPr>
        </p:nvSpPr>
        <p:spPr/>
        <p:txBody>
          <a:bodyPr/>
          <a:lstStyle/>
          <a:p>
            <a:fld id="{B6F15528-21DE-4FAA-801E-634DDDAF4B2B}" type="slidenum">
              <a:rPr lang="en-US" altLang="zh-CN"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999" advTm="29410"/>
    </mc:Choice>
    <mc:Fallback>
      <p:transition spd="slow" advTm="2941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
            <a:ext cx="12190614" cy="6857998"/>
          </a:xfrm>
          <a:prstGeom prst="rect">
            <a:avLst/>
          </a:prstGeom>
          <a:blipFill>
            <a:blip r:embed="rId1" cstate="print"/>
            <a:stretch>
              <a:fillRect/>
            </a:stretch>
          </a:blipFill>
        </p:spPr>
        <p:txBody>
          <a:bodyPr wrap="square" lIns="0" tIns="0" rIns="0" bIns="0" rtlCol="0"/>
          <a:lstStyle/>
          <a:p/>
        </p:txBody>
      </p:sp>
      <p:sp>
        <p:nvSpPr>
          <p:cNvPr id="3" name="object 3"/>
          <p:cNvSpPr/>
          <p:nvPr/>
        </p:nvSpPr>
        <p:spPr>
          <a:xfrm>
            <a:off x="119335" y="3933056"/>
            <a:ext cx="1512570" cy="1728470"/>
          </a:xfrm>
          <a:custGeom>
            <a:avLst/>
            <a:gdLst/>
            <a:ahLst/>
            <a:cxnLst/>
            <a:rect l="l" t="t" r="r" b="b"/>
            <a:pathLst>
              <a:path w="1512570" h="1728470">
                <a:moveTo>
                  <a:pt x="756083" y="0"/>
                </a:moveTo>
                <a:lnTo>
                  <a:pt x="711658" y="1466"/>
                </a:lnTo>
                <a:lnTo>
                  <a:pt x="667908" y="5813"/>
                </a:lnTo>
                <a:lnTo>
                  <a:pt x="624905" y="12958"/>
                </a:lnTo>
                <a:lnTo>
                  <a:pt x="582720" y="22821"/>
                </a:lnTo>
                <a:lnTo>
                  <a:pt x="541424" y="35320"/>
                </a:lnTo>
                <a:lnTo>
                  <a:pt x="501087" y="50375"/>
                </a:lnTo>
                <a:lnTo>
                  <a:pt x="461781" y="67904"/>
                </a:lnTo>
                <a:lnTo>
                  <a:pt x="423577" y="87827"/>
                </a:lnTo>
                <a:lnTo>
                  <a:pt x="386545" y="110062"/>
                </a:lnTo>
                <a:lnTo>
                  <a:pt x="350756" y="134529"/>
                </a:lnTo>
                <a:lnTo>
                  <a:pt x="316281" y="161146"/>
                </a:lnTo>
                <a:lnTo>
                  <a:pt x="283191" y="189832"/>
                </a:lnTo>
                <a:lnTo>
                  <a:pt x="251558" y="220506"/>
                </a:lnTo>
                <a:lnTo>
                  <a:pt x="221451" y="253087"/>
                </a:lnTo>
                <a:lnTo>
                  <a:pt x="192943" y="287495"/>
                </a:lnTo>
                <a:lnTo>
                  <a:pt x="166103" y="323647"/>
                </a:lnTo>
                <a:lnTo>
                  <a:pt x="141002" y="361464"/>
                </a:lnTo>
                <a:lnTo>
                  <a:pt x="117713" y="400864"/>
                </a:lnTo>
                <a:lnTo>
                  <a:pt x="96304" y="441765"/>
                </a:lnTo>
                <a:lnTo>
                  <a:pt x="76849" y="484088"/>
                </a:lnTo>
                <a:lnTo>
                  <a:pt x="59416" y="527750"/>
                </a:lnTo>
                <a:lnTo>
                  <a:pt x="44078" y="572671"/>
                </a:lnTo>
                <a:lnTo>
                  <a:pt x="30905" y="618770"/>
                </a:lnTo>
                <a:lnTo>
                  <a:pt x="19968" y="665966"/>
                </a:lnTo>
                <a:lnTo>
                  <a:pt x="11338" y="714177"/>
                </a:lnTo>
                <a:lnTo>
                  <a:pt x="5086" y="763323"/>
                </a:lnTo>
                <a:lnTo>
                  <a:pt x="1283" y="813323"/>
                </a:lnTo>
                <a:lnTo>
                  <a:pt x="0" y="864095"/>
                </a:lnTo>
                <a:lnTo>
                  <a:pt x="1283" y="914867"/>
                </a:lnTo>
                <a:lnTo>
                  <a:pt x="5086" y="964867"/>
                </a:lnTo>
                <a:lnTo>
                  <a:pt x="11338" y="1014013"/>
                </a:lnTo>
                <a:lnTo>
                  <a:pt x="19968" y="1062224"/>
                </a:lnTo>
                <a:lnTo>
                  <a:pt x="30905" y="1109420"/>
                </a:lnTo>
                <a:lnTo>
                  <a:pt x="44078" y="1155519"/>
                </a:lnTo>
                <a:lnTo>
                  <a:pt x="59416" y="1200440"/>
                </a:lnTo>
                <a:lnTo>
                  <a:pt x="76849" y="1244102"/>
                </a:lnTo>
                <a:lnTo>
                  <a:pt x="96304" y="1286425"/>
                </a:lnTo>
                <a:lnTo>
                  <a:pt x="117713" y="1327326"/>
                </a:lnTo>
                <a:lnTo>
                  <a:pt x="141002" y="1366726"/>
                </a:lnTo>
                <a:lnTo>
                  <a:pt x="166103" y="1404543"/>
                </a:lnTo>
                <a:lnTo>
                  <a:pt x="192943" y="1440695"/>
                </a:lnTo>
                <a:lnTo>
                  <a:pt x="221451" y="1475103"/>
                </a:lnTo>
                <a:lnTo>
                  <a:pt x="251558" y="1507684"/>
                </a:lnTo>
                <a:lnTo>
                  <a:pt x="283191" y="1538359"/>
                </a:lnTo>
                <a:lnTo>
                  <a:pt x="316281" y="1567045"/>
                </a:lnTo>
                <a:lnTo>
                  <a:pt x="350756" y="1593661"/>
                </a:lnTo>
                <a:lnTo>
                  <a:pt x="386545" y="1618128"/>
                </a:lnTo>
                <a:lnTo>
                  <a:pt x="423577" y="1640363"/>
                </a:lnTo>
                <a:lnTo>
                  <a:pt x="461781" y="1660286"/>
                </a:lnTo>
                <a:lnTo>
                  <a:pt x="501087" y="1677815"/>
                </a:lnTo>
                <a:lnTo>
                  <a:pt x="541424" y="1692870"/>
                </a:lnTo>
                <a:lnTo>
                  <a:pt x="582720" y="1705369"/>
                </a:lnTo>
                <a:lnTo>
                  <a:pt x="624905" y="1715232"/>
                </a:lnTo>
                <a:lnTo>
                  <a:pt x="667908" y="1722377"/>
                </a:lnTo>
                <a:lnTo>
                  <a:pt x="711658" y="1726724"/>
                </a:lnTo>
                <a:lnTo>
                  <a:pt x="756083" y="1728191"/>
                </a:lnTo>
                <a:lnTo>
                  <a:pt x="800509" y="1726724"/>
                </a:lnTo>
                <a:lnTo>
                  <a:pt x="844259" y="1722377"/>
                </a:lnTo>
                <a:lnTo>
                  <a:pt x="887261" y="1715232"/>
                </a:lnTo>
                <a:lnTo>
                  <a:pt x="929446" y="1705369"/>
                </a:lnTo>
                <a:lnTo>
                  <a:pt x="970743" y="1692870"/>
                </a:lnTo>
                <a:lnTo>
                  <a:pt x="1011079" y="1677815"/>
                </a:lnTo>
                <a:lnTo>
                  <a:pt x="1050385" y="1660286"/>
                </a:lnTo>
                <a:lnTo>
                  <a:pt x="1088590" y="1640363"/>
                </a:lnTo>
                <a:lnTo>
                  <a:pt x="1125622" y="1618128"/>
                </a:lnTo>
                <a:lnTo>
                  <a:pt x="1161411" y="1593661"/>
                </a:lnTo>
                <a:lnTo>
                  <a:pt x="1195886" y="1567045"/>
                </a:lnTo>
                <a:lnTo>
                  <a:pt x="1199312" y="1564074"/>
                </a:lnTo>
                <a:lnTo>
                  <a:pt x="756083" y="1564074"/>
                </a:lnTo>
                <a:lnTo>
                  <a:pt x="711904" y="1562154"/>
                </a:lnTo>
                <a:lnTo>
                  <a:pt x="668607" y="1556485"/>
                </a:lnTo>
                <a:lnTo>
                  <a:pt x="626305" y="1547201"/>
                </a:lnTo>
                <a:lnTo>
                  <a:pt x="585115" y="1534438"/>
                </a:lnTo>
                <a:lnTo>
                  <a:pt x="545150" y="1518331"/>
                </a:lnTo>
                <a:lnTo>
                  <a:pt x="506525" y="1499016"/>
                </a:lnTo>
                <a:lnTo>
                  <a:pt x="469353" y="1476629"/>
                </a:lnTo>
                <a:lnTo>
                  <a:pt x="433751" y="1451303"/>
                </a:lnTo>
                <a:lnTo>
                  <a:pt x="399831" y="1423176"/>
                </a:lnTo>
                <a:lnTo>
                  <a:pt x="367709" y="1392381"/>
                </a:lnTo>
                <a:lnTo>
                  <a:pt x="337499" y="1359055"/>
                </a:lnTo>
                <a:lnTo>
                  <a:pt x="309315" y="1323333"/>
                </a:lnTo>
                <a:lnTo>
                  <a:pt x="283272" y="1285350"/>
                </a:lnTo>
                <a:lnTo>
                  <a:pt x="259485" y="1245241"/>
                </a:lnTo>
                <a:lnTo>
                  <a:pt x="238068" y="1203142"/>
                </a:lnTo>
                <a:lnTo>
                  <a:pt x="219134" y="1159189"/>
                </a:lnTo>
                <a:lnTo>
                  <a:pt x="202800" y="1113515"/>
                </a:lnTo>
                <a:lnTo>
                  <a:pt x="189179" y="1066258"/>
                </a:lnTo>
                <a:lnTo>
                  <a:pt x="178385" y="1017552"/>
                </a:lnTo>
                <a:lnTo>
                  <a:pt x="170534" y="967533"/>
                </a:lnTo>
                <a:lnTo>
                  <a:pt x="165739" y="916335"/>
                </a:lnTo>
                <a:lnTo>
                  <a:pt x="164115" y="864095"/>
                </a:lnTo>
                <a:lnTo>
                  <a:pt x="165739" y="811855"/>
                </a:lnTo>
                <a:lnTo>
                  <a:pt x="170534" y="760657"/>
                </a:lnTo>
                <a:lnTo>
                  <a:pt x="178385" y="710637"/>
                </a:lnTo>
                <a:lnTo>
                  <a:pt x="189179" y="661931"/>
                </a:lnTo>
                <a:lnTo>
                  <a:pt x="202800" y="614674"/>
                </a:lnTo>
                <a:lnTo>
                  <a:pt x="219134" y="569001"/>
                </a:lnTo>
                <a:lnTo>
                  <a:pt x="238068" y="525047"/>
                </a:lnTo>
                <a:lnTo>
                  <a:pt x="259485" y="482949"/>
                </a:lnTo>
                <a:lnTo>
                  <a:pt x="283272" y="442840"/>
                </a:lnTo>
                <a:lnTo>
                  <a:pt x="309315" y="404857"/>
                </a:lnTo>
                <a:lnTo>
                  <a:pt x="337499" y="369135"/>
                </a:lnTo>
                <a:lnTo>
                  <a:pt x="367709" y="335808"/>
                </a:lnTo>
                <a:lnTo>
                  <a:pt x="399831" y="305014"/>
                </a:lnTo>
                <a:lnTo>
                  <a:pt x="433751" y="276886"/>
                </a:lnTo>
                <a:lnTo>
                  <a:pt x="469353" y="251561"/>
                </a:lnTo>
                <a:lnTo>
                  <a:pt x="506525" y="229173"/>
                </a:lnTo>
                <a:lnTo>
                  <a:pt x="545150" y="209858"/>
                </a:lnTo>
                <a:lnTo>
                  <a:pt x="585115" y="193752"/>
                </a:lnTo>
                <a:lnTo>
                  <a:pt x="626305" y="180989"/>
                </a:lnTo>
                <a:lnTo>
                  <a:pt x="668607" y="171705"/>
                </a:lnTo>
                <a:lnTo>
                  <a:pt x="711904" y="166035"/>
                </a:lnTo>
                <a:lnTo>
                  <a:pt x="756083" y="164115"/>
                </a:lnTo>
                <a:lnTo>
                  <a:pt x="1199311" y="164115"/>
                </a:lnTo>
                <a:lnTo>
                  <a:pt x="1195886" y="161146"/>
                </a:lnTo>
                <a:lnTo>
                  <a:pt x="1161411" y="134529"/>
                </a:lnTo>
                <a:lnTo>
                  <a:pt x="1125622" y="110062"/>
                </a:lnTo>
                <a:lnTo>
                  <a:pt x="1088590" y="87827"/>
                </a:lnTo>
                <a:lnTo>
                  <a:pt x="1050385" y="67904"/>
                </a:lnTo>
                <a:lnTo>
                  <a:pt x="1011079" y="50375"/>
                </a:lnTo>
                <a:lnTo>
                  <a:pt x="970743" y="35320"/>
                </a:lnTo>
                <a:lnTo>
                  <a:pt x="929446" y="22821"/>
                </a:lnTo>
                <a:lnTo>
                  <a:pt x="887261" y="12958"/>
                </a:lnTo>
                <a:lnTo>
                  <a:pt x="844259" y="5813"/>
                </a:lnTo>
                <a:lnTo>
                  <a:pt x="800509" y="1466"/>
                </a:lnTo>
                <a:lnTo>
                  <a:pt x="756083" y="0"/>
                </a:lnTo>
                <a:close/>
              </a:path>
              <a:path w="1512570" h="1728470">
                <a:moveTo>
                  <a:pt x="1199311" y="164115"/>
                </a:moveTo>
                <a:lnTo>
                  <a:pt x="756083" y="164115"/>
                </a:lnTo>
                <a:lnTo>
                  <a:pt x="800263" y="166035"/>
                </a:lnTo>
                <a:lnTo>
                  <a:pt x="843560" y="171705"/>
                </a:lnTo>
                <a:lnTo>
                  <a:pt x="885861" y="180989"/>
                </a:lnTo>
                <a:lnTo>
                  <a:pt x="927051" y="193752"/>
                </a:lnTo>
                <a:lnTo>
                  <a:pt x="967017" y="209858"/>
                </a:lnTo>
                <a:lnTo>
                  <a:pt x="1005642" y="229173"/>
                </a:lnTo>
                <a:lnTo>
                  <a:pt x="1042813" y="251561"/>
                </a:lnTo>
                <a:lnTo>
                  <a:pt x="1078416" y="276886"/>
                </a:lnTo>
                <a:lnTo>
                  <a:pt x="1112336" y="305014"/>
                </a:lnTo>
                <a:lnTo>
                  <a:pt x="1144458" y="335808"/>
                </a:lnTo>
                <a:lnTo>
                  <a:pt x="1174668" y="369135"/>
                </a:lnTo>
                <a:lnTo>
                  <a:pt x="1202851" y="404857"/>
                </a:lnTo>
                <a:lnTo>
                  <a:pt x="1228894" y="442840"/>
                </a:lnTo>
                <a:lnTo>
                  <a:pt x="1252681" y="482949"/>
                </a:lnTo>
                <a:lnTo>
                  <a:pt x="1274099" y="525047"/>
                </a:lnTo>
                <a:lnTo>
                  <a:pt x="1293032" y="569001"/>
                </a:lnTo>
                <a:lnTo>
                  <a:pt x="1309366" y="614674"/>
                </a:lnTo>
                <a:lnTo>
                  <a:pt x="1322987" y="661931"/>
                </a:lnTo>
                <a:lnTo>
                  <a:pt x="1333781" y="710637"/>
                </a:lnTo>
                <a:lnTo>
                  <a:pt x="1341632" y="760657"/>
                </a:lnTo>
                <a:lnTo>
                  <a:pt x="1346427" y="811855"/>
                </a:lnTo>
                <a:lnTo>
                  <a:pt x="1348051" y="864095"/>
                </a:lnTo>
                <a:lnTo>
                  <a:pt x="1346427" y="916335"/>
                </a:lnTo>
                <a:lnTo>
                  <a:pt x="1341632" y="967533"/>
                </a:lnTo>
                <a:lnTo>
                  <a:pt x="1333781" y="1017552"/>
                </a:lnTo>
                <a:lnTo>
                  <a:pt x="1322987" y="1066258"/>
                </a:lnTo>
                <a:lnTo>
                  <a:pt x="1309366" y="1113515"/>
                </a:lnTo>
                <a:lnTo>
                  <a:pt x="1293032" y="1159189"/>
                </a:lnTo>
                <a:lnTo>
                  <a:pt x="1274099" y="1203142"/>
                </a:lnTo>
                <a:lnTo>
                  <a:pt x="1252681" y="1245241"/>
                </a:lnTo>
                <a:lnTo>
                  <a:pt x="1228894" y="1285350"/>
                </a:lnTo>
                <a:lnTo>
                  <a:pt x="1202851" y="1323333"/>
                </a:lnTo>
                <a:lnTo>
                  <a:pt x="1174668" y="1359055"/>
                </a:lnTo>
                <a:lnTo>
                  <a:pt x="1144458" y="1392381"/>
                </a:lnTo>
                <a:lnTo>
                  <a:pt x="1112336" y="1423176"/>
                </a:lnTo>
                <a:lnTo>
                  <a:pt x="1078416" y="1451303"/>
                </a:lnTo>
                <a:lnTo>
                  <a:pt x="1042813" y="1476629"/>
                </a:lnTo>
                <a:lnTo>
                  <a:pt x="1005642" y="1499016"/>
                </a:lnTo>
                <a:lnTo>
                  <a:pt x="967017" y="1518331"/>
                </a:lnTo>
                <a:lnTo>
                  <a:pt x="927051" y="1534438"/>
                </a:lnTo>
                <a:lnTo>
                  <a:pt x="885861" y="1547201"/>
                </a:lnTo>
                <a:lnTo>
                  <a:pt x="843560" y="1556485"/>
                </a:lnTo>
                <a:lnTo>
                  <a:pt x="800263" y="1562154"/>
                </a:lnTo>
                <a:lnTo>
                  <a:pt x="756083" y="1564074"/>
                </a:lnTo>
                <a:lnTo>
                  <a:pt x="1199312" y="1564074"/>
                </a:lnTo>
                <a:lnTo>
                  <a:pt x="1228975" y="1538359"/>
                </a:lnTo>
                <a:lnTo>
                  <a:pt x="1260609" y="1507684"/>
                </a:lnTo>
                <a:lnTo>
                  <a:pt x="1290716" y="1475103"/>
                </a:lnTo>
                <a:lnTo>
                  <a:pt x="1319224" y="1440695"/>
                </a:lnTo>
                <a:lnTo>
                  <a:pt x="1346064" y="1404543"/>
                </a:lnTo>
                <a:lnTo>
                  <a:pt x="1371165" y="1366726"/>
                </a:lnTo>
                <a:lnTo>
                  <a:pt x="1394454" y="1327326"/>
                </a:lnTo>
                <a:lnTo>
                  <a:pt x="1415863" y="1286425"/>
                </a:lnTo>
                <a:lnTo>
                  <a:pt x="1435318" y="1244102"/>
                </a:lnTo>
                <a:lnTo>
                  <a:pt x="1452751" y="1200440"/>
                </a:lnTo>
                <a:lnTo>
                  <a:pt x="1468089" y="1155519"/>
                </a:lnTo>
                <a:lnTo>
                  <a:pt x="1481262" y="1109420"/>
                </a:lnTo>
                <a:lnTo>
                  <a:pt x="1492199" y="1062224"/>
                </a:lnTo>
                <a:lnTo>
                  <a:pt x="1500829" y="1014013"/>
                </a:lnTo>
                <a:lnTo>
                  <a:pt x="1507081" y="964867"/>
                </a:lnTo>
                <a:lnTo>
                  <a:pt x="1510884" y="914867"/>
                </a:lnTo>
                <a:lnTo>
                  <a:pt x="1512168" y="864095"/>
                </a:lnTo>
                <a:lnTo>
                  <a:pt x="1510884" y="813323"/>
                </a:lnTo>
                <a:lnTo>
                  <a:pt x="1507081" y="763323"/>
                </a:lnTo>
                <a:lnTo>
                  <a:pt x="1500829" y="714177"/>
                </a:lnTo>
                <a:lnTo>
                  <a:pt x="1492199" y="665966"/>
                </a:lnTo>
                <a:lnTo>
                  <a:pt x="1481262" y="618770"/>
                </a:lnTo>
                <a:lnTo>
                  <a:pt x="1468089" y="572671"/>
                </a:lnTo>
                <a:lnTo>
                  <a:pt x="1452751" y="527750"/>
                </a:lnTo>
                <a:lnTo>
                  <a:pt x="1435318" y="484088"/>
                </a:lnTo>
                <a:lnTo>
                  <a:pt x="1415863" y="441765"/>
                </a:lnTo>
                <a:lnTo>
                  <a:pt x="1394454" y="400864"/>
                </a:lnTo>
                <a:lnTo>
                  <a:pt x="1371165" y="361464"/>
                </a:lnTo>
                <a:lnTo>
                  <a:pt x="1346064" y="323647"/>
                </a:lnTo>
                <a:lnTo>
                  <a:pt x="1319224" y="287495"/>
                </a:lnTo>
                <a:lnTo>
                  <a:pt x="1290716" y="253087"/>
                </a:lnTo>
                <a:lnTo>
                  <a:pt x="1260609" y="220506"/>
                </a:lnTo>
                <a:lnTo>
                  <a:pt x="1228975" y="189832"/>
                </a:lnTo>
                <a:lnTo>
                  <a:pt x="1199311" y="164115"/>
                </a:lnTo>
                <a:close/>
              </a:path>
            </a:pathLst>
          </a:custGeom>
          <a:solidFill>
            <a:srgbClr val="941100"/>
          </a:solidFill>
        </p:spPr>
        <p:txBody>
          <a:bodyPr wrap="square" lIns="0" tIns="0" rIns="0" bIns="0" rtlCol="0"/>
          <a:lstStyle/>
          <a:p/>
        </p:txBody>
      </p:sp>
      <p:sp>
        <p:nvSpPr>
          <p:cNvPr id="4" name="object 4"/>
          <p:cNvSpPr/>
          <p:nvPr/>
        </p:nvSpPr>
        <p:spPr>
          <a:xfrm>
            <a:off x="119335" y="3933056"/>
            <a:ext cx="1512570" cy="1728470"/>
          </a:xfrm>
          <a:custGeom>
            <a:avLst/>
            <a:gdLst/>
            <a:ahLst/>
            <a:cxnLst/>
            <a:rect l="l" t="t" r="r" b="b"/>
            <a:pathLst>
              <a:path w="1512570" h="1728470">
                <a:moveTo>
                  <a:pt x="0" y="864095"/>
                </a:moveTo>
                <a:lnTo>
                  <a:pt x="1283" y="813323"/>
                </a:lnTo>
                <a:lnTo>
                  <a:pt x="5086" y="763323"/>
                </a:lnTo>
                <a:lnTo>
                  <a:pt x="11338" y="714177"/>
                </a:lnTo>
                <a:lnTo>
                  <a:pt x="19968" y="665966"/>
                </a:lnTo>
                <a:lnTo>
                  <a:pt x="30905" y="618770"/>
                </a:lnTo>
                <a:lnTo>
                  <a:pt x="44078" y="572671"/>
                </a:lnTo>
                <a:lnTo>
                  <a:pt x="59416" y="527750"/>
                </a:lnTo>
                <a:lnTo>
                  <a:pt x="76849" y="484088"/>
                </a:lnTo>
                <a:lnTo>
                  <a:pt x="96304" y="441765"/>
                </a:lnTo>
                <a:lnTo>
                  <a:pt x="117713" y="400864"/>
                </a:lnTo>
                <a:lnTo>
                  <a:pt x="141002" y="361464"/>
                </a:lnTo>
                <a:lnTo>
                  <a:pt x="166103" y="323647"/>
                </a:lnTo>
                <a:lnTo>
                  <a:pt x="192943" y="287495"/>
                </a:lnTo>
                <a:lnTo>
                  <a:pt x="221451" y="253087"/>
                </a:lnTo>
                <a:lnTo>
                  <a:pt x="251558" y="220506"/>
                </a:lnTo>
                <a:lnTo>
                  <a:pt x="283191" y="189832"/>
                </a:lnTo>
                <a:lnTo>
                  <a:pt x="316281" y="161146"/>
                </a:lnTo>
                <a:lnTo>
                  <a:pt x="350756" y="134529"/>
                </a:lnTo>
                <a:lnTo>
                  <a:pt x="386545" y="110062"/>
                </a:lnTo>
                <a:lnTo>
                  <a:pt x="423577" y="87827"/>
                </a:lnTo>
                <a:lnTo>
                  <a:pt x="461781" y="67904"/>
                </a:lnTo>
                <a:lnTo>
                  <a:pt x="501087" y="50375"/>
                </a:lnTo>
                <a:lnTo>
                  <a:pt x="541424" y="35320"/>
                </a:lnTo>
                <a:lnTo>
                  <a:pt x="582720" y="22821"/>
                </a:lnTo>
                <a:lnTo>
                  <a:pt x="624905" y="12958"/>
                </a:lnTo>
                <a:lnTo>
                  <a:pt x="667908" y="5813"/>
                </a:lnTo>
                <a:lnTo>
                  <a:pt x="711658" y="1466"/>
                </a:lnTo>
                <a:lnTo>
                  <a:pt x="756083" y="0"/>
                </a:lnTo>
                <a:lnTo>
                  <a:pt x="800509" y="1466"/>
                </a:lnTo>
                <a:lnTo>
                  <a:pt x="844259" y="5813"/>
                </a:lnTo>
                <a:lnTo>
                  <a:pt x="887261" y="12958"/>
                </a:lnTo>
                <a:lnTo>
                  <a:pt x="929446" y="22821"/>
                </a:lnTo>
                <a:lnTo>
                  <a:pt x="970743" y="35320"/>
                </a:lnTo>
                <a:lnTo>
                  <a:pt x="1011079" y="50375"/>
                </a:lnTo>
                <a:lnTo>
                  <a:pt x="1050385" y="67904"/>
                </a:lnTo>
                <a:lnTo>
                  <a:pt x="1088590" y="87827"/>
                </a:lnTo>
                <a:lnTo>
                  <a:pt x="1125622" y="110062"/>
                </a:lnTo>
                <a:lnTo>
                  <a:pt x="1161411" y="134529"/>
                </a:lnTo>
                <a:lnTo>
                  <a:pt x="1195886" y="161146"/>
                </a:lnTo>
                <a:lnTo>
                  <a:pt x="1228975" y="189832"/>
                </a:lnTo>
                <a:lnTo>
                  <a:pt x="1260609" y="220506"/>
                </a:lnTo>
                <a:lnTo>
                  <a:pt x="1290715" y="253087"/>
                </a:lnTo>
                <a:lnTo>
                  <a:pt x="1319224" y="287495"/>
                </a:lnTo>
                <a:lnTo>
                  <a:pt x="1346064" y="323647"/>
                </a:lnTo>
                <a:lnTo>
                  <a:pt x="1371164" y="361464"/>
                </a:lnTo>
                <a:lnTo>
                  <a:pt x="1394454" y="400864"/>
                </a:lnTo>
                <a:lnTo>
                  <a:pt x="1415862" y="441765"/>
                </a:lnTo>
                <a:lnTo>
                  <a:pt x="1435318" y="484088"/>
                </a:lnTo>
                <a:lnTo>
                  <a:pt x="1452750" y="527750"/>
                </a:lnTo>
                <a:lnTo>
                  <a:pt x="1468088" y="572671"/>
                </a:lnTo>
                <a:lnTo>
                  <a:pt x="1481261" y="618770"/>
                </a:lnTo>
                <a:lnTo>
                  <a:pt x="1492198" y="665966"/>
                </a:lnTo>
                <a:lnTo>
                  <a:pt x="1500828" y="714177"/>
                </a:lnTo>
                <a:lnTo>
                  <a:pt x="1507080" y="763323"/>
                </a:lnTo>
                <a:lnTo>
                  <a:pt x="1510884" y="813323"/>
                </a:lnTo>
                <a:lnTo>
                  <a:pt x="1512167" y="864095"/>
                </a:lnTo>
                <a:lnTo>
                  <a:pt x="1510884" y="914868"/>
                </a:lnTo>
                <a:lnTo>
                  <a:pt x="1507080" y="964867"/>
                </a:lnTo>
                <a:lnTo>
                  <a:pt x="1500828" y="1014013"/>
                </a:lnTo>
                <a:lnTo>
                  <a:pt x="1492198" y="1062225"/>
                </a:lnTo>
                <a:lnTo>
                  <a:pt x="1481261" y="1109420"/>
                </a:lnTo>
                <a:lnTo>
                  <a:pt x="1468088" y="1155519"/>
                </a:lnTo>
                <a:lnTo>
                  <a:pt x="1452750" y="1200440"/>
                </a:lnTo>
                <a:lnTo>
                  <a:pt x="1435318" y="1244103"/>
                </a:lnTo>
                <a:lnTo>
                  <a:pt x="1415862" y="1286425"/>
                </a:lnTo>
                <a:lnTo>
                  <a:pt x="1394454" y="1327327"/>
                </a:lnTo>
                <a:lnTo>
                  <a:pt x="1371164" y="1366726"/>
                </a:lnTo>
                <a:lnTo>
                  <a:pt x="1346064" y="1404543"/>
                </a:lnTo>
                <a:lnTo>
                  <a:pt x="1319224" y="1440696"/>
                </a:lnTo>
                <a:lnTo>
                  <a:pt x="1290715" y="1475103"/>
                </a:lnTo>
                <a:lnTo>
                  <a:pt x="1260609" y="1507685"/>
                </a:lnTo>
                <a:lnTo>
                  <a:pt x="1228975" y="1538359"/>
                </a:lnTo>
                <a:lnTo>
                  <a:pt x="1195886" y="1567045"/>
                </a:lnTo>
                <a:lnTo>
                  <a:pt x="1161411" y="1593662"/>
                </a:lnTo>
                <a:lnTo>
                  <a:pt x="1125622" y="1618128"/>
                </a:lnTo>
                <a:lnTo>
                  <a:pt x="1088590" y="1640363"/>
                </a:lnTo>
                <a:lnTo>
                  <a:pt x="1050385" y="1660286"/>
                </a:lnTo>
                <a:lnTo>
                  <a:pt x="1011079" y="1677815"/>
                </a:lnTo>
                <a:lnTo>
                  <a:pt x="970743" y="1692870"/>
                </a:lnTo>
                <a:lnTo>
                  <a:pt x="929446" y="1705370"/>
                </a:lnTo>
                <a:lnTo>
                  <a:pt x="887261" y="1715232"/>
                </a:lnTo>
                <a:lnTo>
                  <a:pt x="844259" y="1722378"/>
                </a:lnTo>
                <a:lnTo>
                  <a:pt x="800509" y="1726724"/>
                </a:lnTo>
                <a:lnTo>
                  <a:pt x="756083" y="1728191"/>
                </a:lnTo>
                <a:lnTo>
                  <a:pt x="711658" y="1726724"/>
                </a:lnTo>
                <a:lnTo>
                  <a:pt x="667908" y="1722378"/>
                </a:lnTo>
                <a:lnTo>
                  <a:pt x="624905" y="1715232"/>
                </a:lnTo>
                <a:lnTo>
                  <a:pt x="582720" y="1705370"/>
                </a:lnTo>
                <a:lnTo>
                  <a:pt x="541424" y="1692870"/>
                </a:lnTo>
                <a:lnTo>
                  <a:pt x="501087" y="1677815"/>
                </a:lnTo>
                <a:lnTo>
                  <a:pt x="461781" y="1660286"/>
                </a:lnTo>
                <a:lnTo>
                  <a:pt x="423577" y="1640363"/>
                </a:lnTo>
                <a:lnTo>
                  <a:pt x="386545" y="1618128"/>
                </a:lnTo>
                <a:lnTo>
                  <a:pt x="350756" y="1593662"/>
                </a:lnTo>
                <a:lnTo>
                  <a:pt x="316281" y="1567045"/>
                </a:lnTo>
                <a:lnTo>
                  <a:pt x="283191" y="1538359"/>
                </a:lnTo>
                <a:lnTo>
                  <a:pt x="251558" y="1507685"/>
                </a:lnTo>
                <a:lnTo>
                  <a:pt x="221451" y="1475103"/>
                </a:lnTo>
                <a:lnTo>
                  <a:pt x="192943" y="1440696"/>
                </a:lnTo>
                <a:lnTo>
                  <a:pt x="166103" y="1404543"/>
                </a:lnTo>
                <a:lnTo>
                  <a:pt x="141002" y="1366726"/>
                </a:lnTo>
                <a:lnTo>
                  <a:pt x="117713" y="1327327"/>
                </a:lnTo>
                <a:lnTo>
                  <a:pt x="96304" y="1286425"/>
                </a:lnTo>
                <a:lnTo>
                  <a:pt x="76849" y="1244103"/>
                </a:lnTo>
                <a:lnTo>
                  <a:pt x="59416" y="1200440"/>
                </a:lnTo>
                <a:lnTo>
                  <a:pt x="44078" y="1155519"/>
                </a:lnTo>
                <a:lnTo>
                  <a:pt x="30905" y="1109420"/>
                </a:lnTo>
                <a:lnTo>
                  <a:pt x="19968" y="1062225"/>
                </a:lnTo>
                <a:lnTo>
                  <a:pt x="11338" y="1014013"/>
                </a:lnTo>
                <a:lnTo>
                  <a:pt x="5086" y="964867"/>
                </a:lnTo>
                <a:lnTo>
                  <a:pt x="1283" y="914868"/>
                </a:lnTo>
                <a:lnTo>
                  <a:pt x="0" y="864095"/>
                </a:lnTo>
                <a:close/>
              </a:path>
            </a:pathLst>
          </a:custGeom>
          <a:ln w="6349">
            <a:solidFill>
              <a:srgbClr val="6CACDD"/>
            </a:solidFill>
          </a:ln>
        </p:spPr>
        <p:txBody>
          <a:bodyPr wrap="square" lIns="0" tIns="0" rIns="0" bIns="0" rtlCol="0"/>
          <a:lstStyle/>
          <a:p/>
        </p:txBody>
      </p:sp>
      <p:sp>
        <p:nvSpPr>
          <p:cNvPr id="5" name="object 5"/>
          <p:cNvSpPr/>
          <p:nvPr/>
        </p:nvSpPr>
        <p:spPr>
          <a:xfrm>
            <a:off x="283451" y="4097172"/>
            <a:ext cx="1184275" cy="1400175"/>
          </a:xfrm>
          <a:custGeom>
            <a:avLst/>
            <a:gdLst/>
            <a:ahLst/>
            <a:cxnLst/>
            <a:rect l="l" t="t" r="r" b="b"/>
            <a:pathLst>
              <a:path w="1184275" h="1400175">
                <a:moveTo>
                  <a:pt x="0" y="699979"/>
                </a:moveTo>
                <a:lnTo>
                  <a:pt x="1623" y="752220"/>
                </a:lnTo>
                <a:lnTo>
                  <a:pt x="6418" y="803417"/>
                </a:lnTo>
                <a:lnTo>
                  <a:pt x="14269" y="853437"/>
                </a:lnTo>
                <a:lnTo>
                  <a:pt x="25063" y="902143"/>
                </a:lnTo>
                <a:lnTo>
                  <a:pt x="38684" y="949400"/>
                </a:lnTo>
                <a:lnTo>
                  <a:pt x="55018" y="995073"/>
                </a:lnTo>
                <a:lnTo>
                  <a:pt x="73952" y="1039027"/>
                </a:lnTo>
                <a:lnTo>
                  <a:pt x="95369" y="1081126"/>
                </a:lnTo>
                <a:lnTo>
                  <a:pt x="119157" y="1121234"/>
                </a:lnTo>
                <a:lnTo>
                  <a:pt x="145199" y="1159217"/>
                </a:lnTo>
                <a:lnTo>
                  <a:pt x="173383" y="1194940"/>
                </a:lnTo>
                <a:lnTo>
                  <a:pt x="203593" y="1228266"/>
                </a:lnTo>
                <a:lnTo>
                  <a:pt x="235715" y="1259060"/>
                </a:lnTo>
                <a:lnTo>
                  <a:pt x="269635" y="1287188"/>
                </a:lnTo>
                <a:lnTo>
                  <a:pt x="305237" y="1312513"/>
                </a:lnTo>
                <a:lnTo>
                  <a:pt x="342409" y="1334901"/>
                </a:lnTo>
                <a:lnTo>
                  <a:pt x="381034" y="1354216"/>
                </a:lnTo>
                <a:lnTo>
                  <a:pt x="420999" y="1370323"/>
                </a:lnTo>
                <a:lnTo>
                  <a:pt x="462189" y="1383086"/>
                </a:lnTo>
                <a:lnTo>
                  <a:pt x="504491" y="1392370"/>
                </a:lnTo>
                <a:lnTo>
                  <a:pt x="547788" y="1398039"/>
                </a:lnTo>
                <a:lnTo>
                  <a:pt x="591967" y="1399959"/>
                </a:lnTo>
                <a:lnTo>
                  <a:pt x="636147" y="1398039"/>
                </a:lnTo>
                <a:lnTo>
                  <a:pt x="679444" y="1392370"/>
                </a:lnTo>
                <a:lnTo>
                  <a:pt x="721745" y="1383086"/>
                </a:lnTo>
                <a:lnTo>
                  <a:pt x="762935" y="1370323"/>
                </a:lnTo>
                <a:lnTo>
                  <a:pt x="802901" y="1354216"/>
                </a:lnTo>
                <a:lnTo>
                  <a:pt x="841526" y="1334901"/>
                </a:lnTo>
                <a:lnTo>
                  <a:pt x="878697" y="1312513"/>
                </a:lnTo>
                <a:lnTo>
                  <a:pt x="914300" y="1287188"/>
                </a:lnTo>
                <a:lnTo>
                  <a:pt x="948220" y="1259060"/>
                </a:lnTo>
                <a:lnTo>
                  <a:pt x="980342" y="1228266"/>
                </a:lnTo>
                <a:lnTo>
                  <a:pt x="1010552" y="1194940"/>
                </a:lnTo>
                <a:lnTo>
                  <a:pt x="1038735" y="1159217"/>
                </a:lnTo>
                <a:lnTo>
                  <a:pt x="1064778" y="1121234"/>
                </a:lnTo>
                <a:lnTo>
                  <a:pt x="1088566" y="1081126"/>
                </a:lnTo>
                <a:lnTo>
                  <a:pt x="1109983" y="1039027"/>
                </a:lnTo>
                <a:lnTo>
                  <a:pt x="1128916" y="995073"/>
                </a:lnTo>
                <a:lnTo>
                  <a:pt x="1145251" y="949400"/>
                </a:lnTo>
                <a:lnTo>
                  <a:pt x="1158872" y="902143"/>
                </a:lnTo>
                <a:lnTo>
                  <a:pt x="1169665" y="853437"/>
                </a:lnTo>
                <a:lnTo>
                  <a:pt x="1177517" y="803417"/>
                </a:lnTo>
                <a:lnTo>
                  <a:pt x="1182312" y="752220"/>
                </a:lnTo>
                <a:lnTo>
                  <a:pt x="1183935" y="699979"/>
                </a:lnTo>
                <a:lnTo>
                  <a:pt x="1182312" y="647739"/>
                </a:lnTo>
                <a:lnTo>
                  <a:pt x="1177517" y="596542"/>
                </a:lnTo>
                <a:lnTo>
                  <a:pt x="1169665" y="546522"/>
                </a:lnTo>
                <a:lnTo>
                  <a:pt x="1158872" y="497816"/>
                </a:lnTo>
                <a:lnTo>
                  <a:pt x="1145251" y="450559"/>
                </a:lnTo>
                <a:lnTo>
                  <a:pt x="1128916" y="404886"/>
                </a:lnTo>
                <a:lnTo>
                  <a:pt x="1109983" y="360932"/>
                </a:lnTo>
                <a:lnTo>
                  <a:pt x="1088566" y="318833"/>
                </a:lnTo>
                <a:lnTo>
                  <a:pt x="1064778" y="278724"/>
                </a:lnTo>
                <a:lnTo>
                  <a:pt x="1038735" y="240741"/>
                </a:lnTo>
                <a:lnTo>
                  <a:pt x="1010552" y="205019"/>
                </a:lnTo>
                <a:lnTo>
                  <a:pt x="980342" y="171693"/>
                </a:lnTo>
                <a:lnTo>
                  <a:pt x="948220" y="140898"/>
                </a:lnTo>
                <a:lnTo>
                  <a:pt x="914300" y="112771"/>
                </a:lnTo>
                <a:lnTo>
                  <a:pt x="878697" y="87445"/>
                </a:lnTo>
                <a:lnTo>
                  <a:pt x="841526" y="65057"/>
                </a:lnTo>
                <a:lnTo>
                  <a:pt x="802901" y="45743"/>
                </a:lnTo>
                <a:lnTo>
                  <a:pt x="762935" y="29636"/>
                </a:lnTo>
                <a:lnTo>
                  <a:pt x="721745" y="16873"/>
                </a:lnTo>
                <a:lnTo>
                  <a:pt x="679444" y="7589"/>
                </a:lnTo>
                <a:lnTo>
                  <a:pt x="636147" y="1919"/>
                </a:lnTo>
                <a:lnTo>
                  <a:pt x="591967" y="0"/>
                </a:lnTo>
                <a:lnTo>
                  <a:pt x="547788" y="1919"/>
                </a:lnTo>
                <a:lnTo>
                  <a:pt x="504491" y="7589"/>
                </a:lnTo>
                <a:lnTo>
                  <a:pt x="462189" y="16873"/>
                </a:lnTo>
                <a:lnTo>
                  <a:pt x="420999" y="29636"/>
                </a:lnTo>
                <a:lnTo>
                  <a:pt x="381034" y="45743"/>
                </a:lnTo>
                <a:lnTo>
                  <a:pt x="342409" y="65057"/>
                </a:lnTo>
                <a:lnTo>
                  <a:pt x="305237" y="87445"/>
                </a:lnTo>
                <a:lnTo>
                  <a:pt x="269635" y="112771"/>
                </a:lnTo>
                <a:lnTo>
                  <a:pt x="235715" y="140898"/>
                </a:lnTo>
                <a:lnTo>
                  <a:pt x="203593" y="171693"/>
                </a:lnTo>
                <a:lnTo>
                  <a:pt x="173383" y="205019"/>
                </a:lnTo>
                <a:lnTo>
                  <a:pt x="145199" y="240741"/>
                </a:lnTo>
                <a:lnTo>
                  <a:pt x="119157" y="278724"/>
                </a:lnTo>
                <a:lnTo>
                  <a:pt x="95369" y="318833"/>
                </a:lnTo>
                <a:lnTo>
                  <a:pt x="73952" y="360932"/>
                </a:lnTo>
                <a:lnTo>
                  <a:pt x="55018" y="404886"/>
                </a:lnTo>
                <a:lnTo>
                  <a:pt x="38684" y="450559"/>
                </a:lnTo>
                <a:lnTo>
                  <a:pt x="25063" y="497816"/>
                </a:lnTo>
                <a:lnTo>
                  <a:pt x="14269" y="546522"/>
                </a:lnTo>
                <a:lnTo>
                  <a:pt x="6418" y="596542"/>
                </a:lnTo>
                <a:lnTo>
                  <a:pt x="1623" y="647739"/>
                </a:lnTo>
                <a:lnTo>
                  <a:pt x="0" y="699979"/>
                </a:lnTo>
                <a:close/>
              </a:path>
            </a:pathLst>
          </a:custGeom>
          <a:ln w="6349">
            <a:solidFill>
              <a:srgbClr val="6CACDD"/>
            </a:solidFill>
          </a:ln>
        </p:spPr>
        <p:txBody>
          <a:bodyPr wrap="square" lIns="0" tIns="0" rIns="0" bIns="0" rtlCol="0"/>
          <a:lstStyle/>
          <a:p/>
        </p:txBody>
      </p:sp>
      <p:sp>
        <p:nvSpPr>
          <p:cNvPr id="6" name="object 6"/>
          <p:cNvSpPr/>
          <p:nvPr/>
        </p:nvSpPr>
        <p:spPr>
          <a:xfrm>
            <a:off x="0" y="1269752"/>
            <a:ext cx="2352040" cy="1727200"/>
          </a:xfrm>
          <a:custGeom>
            <a:avLst/>
            <a:gdLst/>
            <a:ahLst/>
            <a:cxnLst/>
            <a:rect l="l" t="t" r="r" b="b"/>
            <a:pathLst>
              <a:path w="2352040" h="1727200">
                <a:moveTo>
                  <a:pt x="1393013" y="1714500"/>
                </a:moveTo>
                <a:lnTo>
                  <a:pt x="958569" y="1714500"/>
                </a:lnTo>
                <a:lnTo>
                  <a:pt x="1011774" y="1727200"/>
                </a:lnTo>
                <a:lnTo>
                  <a:pt x="1339809" y="1727200"/>
                </a:lnTo>
                <a:lnTo>
                  <a:pt x="1393013" y="1714500"/>
                </a:lnTo>
                <a:close/>
              </a:path>
              <a:path w="2352040" h="1727200">
                <a:moveTo>
                  <a:pt x="1445390" y="25400"/>
                </a:moveTo>
                <a:lnTo>
                  <a:pt x="906193" y="25400"/>
                </a:lnTo>
                <a:lnTo>
                  <a:pt x="804150" y="50800"/>
                </a:lnTo>
                <a:lnTo>
                  <a:pt x="658708" y="88900"/>
                </a:lnTo>
                <a:lnTo>
                  <a:pt x="612485" y="114300"/>
                </a:lnTo>
                <a:lnTo>
                  <a:pt x="567486" y="127000"/>
                </a:lnTo>
                <a:lnTo>
                  <a:pt x="523767" y="152400"/>
                </a:lnTo>
                <a:lnTo>
                  <a:pt x="481384" y="177800"/>
                </a:lnTo>
                <a:lnTo>
                  <a:pt x="440394" y="190500"/>
                </a:lnTo>
                <a:lnTo>
                  <a:pt x="400852" y="215900"/>
                </a:lnTo>
                <a:lnTo>
                  <a:pt x="362817" y="241300"/>
                </a:lnTo>
                <a:lnTo>
                  <a:pt x="326343" y="266700"/>
                </a:lnTo>
                <a:lnTo>
                  <a:pt x="291488" y="304800"/>
                </a:lnTo>
                <a:lnTo>
                  <a:pt x="258308" y="330200"/>
                </a:lnTo>
                <a:lnTo>
                  <a:pt x="226859" y="355600"/>
                </a:lnTo>
                <a:lnTo>
                  <a:pt x="197198" y="393700"/>
                </a:lnTo>
                <a:lnTo>
                  <a:pt x="169382" y="419100"/>
                </a:lnTo>
                <a:lnTo>
                  <a:pt x="143467" y="457200"/>
                </a:lnTo>
                <a:lnTo>
                  <a:pt x="119508" y="495300"/>
                </a:lnTo>
                <a:lnTo>
                  <a:pt x="97564" y="520700"/>
                </a:lnTo>
                <a:lnTo>
                  <a:pt x="77690" y="558800"/>
                </a:lnTo>
                <a:lnTo>
                  <a:pt x="59942" y="596900"/>
                </a:lnTo>
                <a:lnTo>
                  <a:pt x="44378" y="635000"/>
                </a:lnTo>
                <a:lnTo>
                  <a:pt x="31053" y="673100"/>
                </a:lnTo>
                <a:lnTo>
                  <a:pt x="20024" y="711200"/>
                </a:lnTo>
                <a:lnTo>
                  <a:pt x="11348" y="749300"/>
                </a:lnTo>
                <a:lnTo>
                  <a:pt x="5081" y="787400"/>
                </a:lnTo>
                <a:lnTo>
                  <a:pt x="1279" y="825500"/>
                </a:lnTo>
                <a:lnTo>
                  <a:pt x="0" y="863600"/>
                </a:lnTo>
                <a:lnTo>
                  <a:pt x="1279" y="914400"/>
                </a:lnTo>
                <a:lnTo>
                  <a:pt x="5081" y="952500"/>
                </a:lnTo>
                <a:lnTo>
                  <a:pt x="11348" y="990600"/>
                </a:lnTo>
                <a:lnTo>
                  <a:pt x="20024" y="1028700"/>
                </a:lnTo>
                <a:lnTo>
                  <a:pt x="31053" y="1066800"/>
                </a:lnTo>
                <a:lnTo>
                  <a:pt x="44378" y="1104900"/>
                </a:lnTo>
                <a:lnTo>
                  <a:pt x="59942" y="1143000"/>
                </a:lnTo>
                <a:lnTo>
                  <a:pt x="77690" y="1181100"/>
                </a:lnTo>
                <a:lnTo>
                  <a:pt x="97564" y="1219200"/>
                </a:lnTo>
                <a:lnTo>
                  <a:pt x="119508" y="1244600"/>
                </a:lnTo>
                <a:lnTo>
                  <a:pt x="143467" y="1282700"/>
                </a:lnTo>
                <a:lnTo>
                  <a:pt x="169382" y="1320800"/>
                </a:lnTo>
                <a:lnTo>
                  <a:pt x="197198" y="1346200"/>
                </a:lnTo>
                <a:lnTo>
                  <a:pt x="226859" y="1384300"/>
                </a:lnTo>
                <a:lnTo>
                  <a:pt x="258308" y="1409700"/>
                </a:lnTo>
                <a:lnTo>
                  <a:pt x="291488" y="1435100"/>
                </a:lnTo>
                <a:lnTo>
                  <a:pt x="326343" y="1473200"/>
                </a:lnTo>
                <a:lnTo>
                  <a:pt x="362817" y="1498600"/>
                </a:lnTo>
                <a:lnTo>
                  <a:pt x="400852" y="1524000"/>
                </a:lnTo>
                <a:lnTo>
                  <a:pt x="440394" y="1549400"/>
                </a:lnTo>
                <a:lnTo>
                  <a:pt x="481384" y="1562100"/>
                </a:lnTo>
                <a:lnTo>
                  <a:pt x="523767" y="1587500"/>
                </a:lnTo>
                <a:lnTo>
                  <a:pt x="567486" y="1612900"/>
                </a:lnTo>
                <a:lnTo>
                  <a:pt x="612485" y="1625600"/>
                </a:lnTo>
                <a:lnTo>
                  <a:pt x="658708" y="1651000"/>
                </a:lnTo>
                <a:lnTo>
                  <a:pt x="754597" y="1676400"/>
                </a:lnTo>
                <a:lnTo>
                  <a:pt x="906193" y="1714500"/>
                </a:lnTo>
                <a:lnTo>
                  <a:pt x="1445390" y="1714500"/>
                </a:lnTo>
                <a:lnTo>
                  <a:pt x="1596986" y="1676400"/>
                </a:lnTo>
                <a:lnTo>
                  <a:pt x="1692875" y="1651000"/>
                </a:lnTo>
                <a:lnTo>
                  <a:pt x="1739097" y="1625600"/>
                </a:lnTo>
                <a:lnTo>
                  <a:pt x="1784096" y="1612900"/>
                </a:lnTo>
                <a:lnTo>
                  <a:pt x="1119935" y="1612900"/>
                </a:lnTo>
                <a:lnTo>
                  <a:pt x="1064839" y="1600200"/>
                </a:lnTo>
                <a:lnTo>
                  <a:pt x="1010574" y="1600200"/>
                </a:lnTo>
                <a:lnTo>
                  <a:pt x="957214" y="1587500"/>
                </a:lnTo>
                <a:lnTo>
                  <a:pt x="904831" y="1587500"/>
                </a:lnTo>
                <a:lnTo>
                  <a:pt x="754275" y="1549400"/>
                </a:lnTo>
                <a:lnTo>
                  <a:pt x="706529" y="1536700"/>
                </a:lnTo>
                <a:lnTo>
                  <a:pt x="660124" y="1511300"/>
                </a:lnTo>
                <a:lnTo>
                  <a:pt x="615132" y="1498600"/>
                </a:lnTo>
                <a:lnTo>
                  <a:pt x="571626" y="1473200"/>
                </a:lnTo>
                <a:lnTo>
                  <a:pt x="529679" y="1447800"/>
                </a:lnTo>
                <a:lnTo>
                  <a:pt x="489364" y="1435100"/>
                </a:lnTo>
                <a:lnTo>
                  <a:pt x="450753" y="1409700"/>
                </a:lnTo>
                <a:lnTo>
                  <a:pt x="413919" y="1384300"/>
                </a:lnTo>
                <a:lnTo>
                  <a:pt x="378935" y="1346200"/>
                </a:lnTo>
                <a:lnTo>
                  <a:pt x="345873" y="1320800"/>
                </a:lnTo>
                <a:lnTo>
                  <a:pt x="314806" y="1295400"/>
                </a:lnTo>
                <a:lnTo>
                  <a:pt x="285806" y="1270000"/>
                </a:lnTo>
                <a:lnTo>
                  <a:pt x="258947" y="1231900"/>
                </a:lnTo>
                <a:lnTo>
                  <a:pt x="234301" y="1193800"/>
                </a:lnTo>
                <a:lnTo>
                  <a:pt x="211941" y="1168400"/>
                </a:lnTo>
                <a:lnTo>
                  <a:pt x="191939" y="1130300"/>
                </a:lnTo>
                <a:lnTo>
                  <a:pt x="174368" y="1092200"/>
                </a:lnTo>
                <a:lnTo>
                  <a:pt x="159301" y="1054100"/>
                </a:lnTo>
                <a:lnTo>
                  <a:pt x="146810" y="1028700"/>
                </a:lnTo>
                <a:lnTo>
                  <a:pt x="136969" y="990600"/>
                </a:lnTo>
                <a:lnTo>
                  <a:pt x="129849" y="952500"/>
                </a:lnTo>
                <a:lnTo>
                  <a:pt x="125524" y="914400"/>
                </a:lnTo>
                <a:lnTo>
                  <a:pt x="124066" y="863600"/>
                </a:lnTo>
                <a:lnTo>
                  <a:pt x="125524" y="825500"/>
                </a:lnTo>
                <a:lnTo>
                  <a:pt x="129849" y="787400"/>
                </a:lnTo>
                <a:lnTo>
                  <a:pt x="136969" y="749300"/>
                </a:lnTo>
                <a:lnTo>
                  <a:pt x="146810" y="711200"/>
                </a:lnTo>
                <a:lnTo>
                  <a:pt x="159301" y="673100"/>
                </a:lnTo>
                <a:lnTo>
                  <a:pt x="174368" y="647700"/>
                </a:lnTo>
                <a:lnTo>
                  <a:pt x="191939" y="609600"/>
                </a:lnTo>
                <a:lnTo>
                  <a:pt x="211941" y="571500"/>
                </a:lnTo>
                <a:lnTo>
                  <a:pt x="234301" y="533400"/>
                </a:lnTo>
                <a:lnTo>
                  <a:pt x="258947" y="508000"/>
                </a:lnTo>
                <a:lnTo>
                  <a:pt x="285806" y="469900"/>
                </a:lnTo>
                <a:lnTo>
                  <a:pt x="314806" y="444500"/>
                </a:lnTo>
                <a:lnTo>
                  <a:pt x="345873" y="419100"/>
                </a:lnTo>
                <a:lnTo>
                  <a:pt x="378935" y="381000"/>
                </a:lnTo>
                <a:lnTo>
                  <a:pt x="413919" y="355600"/>
                </a:lnTo>
                <a:lnTo>
                  <a:pt x="450753" y="330200"/>
                </a:lnTo>
                <a:lnTo>
                  <a:pt x="489364" y="304800"/>
                </a:lnTo>
                <a:lnTo>
                  <a:pt x="529679" y="279400"/>
                </a:lnTo>
                <a:lnTo>
                  <a:pt x="571626" y="266700"/>
                </a:lnTo>
                <a:lnTo>
                  <a:pt x="615132" y="241300"/>
                </a:lnTo>
                <a:lnTo>
                  <a:pt x="660124" y="228600"/>
                </a:lnTo>
                <a:lnTo>
                  <a:pt x="706529" y="203200"/>
                </a:lnTo>
                <a:lnTo>
                  <a:pt x="853499" y="165100"/>
                </a:lnTo>
                <a:lnTo>
                  <a:pt x="957214" y="139700"/>
                </a:lnTo>
                <a:lnTo>
                  <a:pt x="1064839" y="139700"/>
                </a:lnTo>
                <a:lnTo>
                  <a:pt x="1119935" y="127000"/>
                </a:lnTo>
                <a:lnTo>
                  <a:pt x="1784096" y="127000"/>
                </a:lnTo>
                <a:lnTo>
                  <a:pt x="1739097" y="114300"/>
                </a:lnTo>
                <a:lnTo>
                  <a:pt x="1692875" y="88900"/>
                </a:lnTo>
                <a:lnTo>
                  <a:pt x="1547433" y="50800"/>
                </a:lnTo>
                <a:lnTo>
                  <a:pt x="1445390" y="25400"/>
                </a:lnTo>
                <a:close/>
              </a:path>
              <a:path w="2352040" h="1727200">
                <a:moveTo>
                  <a:pt x="1784096" y="127000"/>
                </a:moveTo>
                <a:lnTo>
                  <a:pt x="1231647" y="127000"/>
                </a:lnTo>
                <a:lnTo>
                  <a:pt x="1286744" y="139700"/>
                </a:lnTo>
                <a:lnTo>
                  <a:pt x="1394369" y="139700"/>
                </a:lnTo>
                <a:lnTo>
                  <a:pt x="1498084" y="165100"/>
                </a:lnTo>
                <a:lnTo>
                  <a:pt x="1645054" y="203200"/>
                </a:lnTo>
                <a:lnTo>
                  <a:pt x="1691459" y="228600"/>
                </a:lnTo>
                <a:lnTo>
                  <a:pt x="1736451" y="241300"/>
                </a:lnTo>
                <a:lnTo>
                  <a:pt x="1779957" y="266700"/>
                </a:lnTo>
                <a:lnTo>
                  <a:pt x="1821903" y="279400"/>
                </a:lnTo>
                <a:lnTo>
                  <a:pt x="1862218" y="304800"/>
                </a:lnTo>
                <a:lnTo>
                  <a:pt x="1900829" y="330200"/>
                </a:lnTo>
                <a:lnTo>
                  <a:pt x="1937663" y="355600"/>
                </a:lnTo>
                <a:lnTo>
                  <a:pt x="1972648" y="381000"/>
                </a:lnTo>
                <a:lnTo>
                  <a:pt x="2005710" y="419100"/>
                </a:lnTo>
                <a:lnTo>
                  <a:pt x="2036777" y="444500"/>
                </a:lnTo>
                <a:lnTo>
                  <a:pt x="2065776" y="469900"/>
                </a:lnTo>
                <a:lnTo>
                  <a:pt x="2092636" y="508000"/>
                </a:lnTo>
                <a:lnTo>
                  <a:pt x="2117282" y="533400"/>
                </a:lnTo>
                <a:lnTo>
                  <a:pt x="2139642" y="571500"/>
                </a:lnTo>
                <a:lnTo>
                  <a:pt x="2159644" y="609600"/>
                </a:lnTo>
                <a:lnTo>
                  <a:pt x="2177215" y="647700"/>
                </a:lnTo>
                <a:lnTo>
                  <a:pt x="2192282" y="673100"/>
                </a:lnTo>
                <a:lnTo>
                  <a:pt x="2204772" y="711200"/>
                </a:lnTo>
                <a:lnTo>
                  <a:pt x="2214614" y="749300"/>
                </a:lnTo>
                <a:lnTo>
                  <a:pt x="2221733" y="787400"/>
                </a:lnTo>
                <a:lnTo>
                  <a:pt x="2226058" y="825500"/>
                </a:lnTo>
                <a:lnTo>
                  <a:pt x="2227516" y="863600"/>
                </a:lnTo>
                <a:lnTo>
                  <a:pt x="2226058" y="914400"/>
                </a:lnTo>
                <a:lnTo>
                  <a:pt x="2221733" y="952500"/>
                </a:lnTo>
                <a:lnTo>
                  <a:pt x="2214614" y="990600"/>
                </a:lnTo>
                <a:lnTo>
                  <a:pt x="2204772" y="1028700"/>
                </a:lnTo>
                <a:lnTo>
                  <a:pt x="2192282" y="1054100"/>
                </a:lnTo>
                <a:lnTo>
                  <a:pt x="2177215" y="1092200"/>
                </a:lnTo>
                <a:lnTo>
                  <a:pt x="2159644" y="1130300"/>
                </a:lnTo>
                <a:lnTo>
                  <a:pt x="2139642" y="1168400"/>
                </a:lnTo>
                <a:lnTo>
                  <a:pt x="2117282" y="1193800"/>
                </a:lnTo>
                <a:lnTo>
                  <a:pt x="2092636" y="1231900"/>
                </a:lnTo>
                <a:lnTo>
                  <a:pt x="2065776" y="1270000"/>
                </a:lnTo>
                <a:lnTo>
                  <a:pt x="2036777" y="1295400"/>
                </a:lnTo>
                <a:lnTo>
                  <a:pt x="2005710" y="1320800"/>
                </a:lnTo>
                <a:lnTo>
                  <a:pt x="1972648" y="1346200"/>
                </a:lnTo>
                <a:lnTo>
                  <a:pt x="1937663" y="1384300"/>
                </a:lnTo>
                <a:lnTo>
                  <a:pt x="1900829" y="1409700"/>
                </a:lnTo>
                <a:lnTo>
                  <a:pt x="1862218" y="1435100"/>
                </a:lnTo>
                <a:lnTo>
                  <a:pt x="1821903" y="1447800"/>
                </a:lnTo>
                <a:lnTo>
                  <a:pt x="1779957" y="1473200"/>
                </a:lnTo>
                <a:lnTo>
                  <a:pt x="1736451" y="1498600"/>
                </a:lnTo>
                <a:lnTo>
                  <a:pt x="1691459" y="1511300"/>
                </a:lnTo>
                <a:lnTo>
                  <a:pt x="1645054" y="1536700"/>
                </a:lnTo>
                <a:lnTo>
                  <a:pt x="1597308" y="1549400"/>
                </a:lnTo>
                <a:lnTo>
                  <a:pt x="1446751" y="1587500"/>
                </a:lnTo>
                <a:lnTo>
                  <a:pt x="1394369" y="1587500"/>
                </a:lnTo>
                <a:lnTo>
                  <a:pt x="1341009" y="1600200"/>
                </a:lnTo>
                <a:lnTo>
                  <a:pt x="1286744" y="1600200"/>
                </a:lnTo>
                <a:lnTo>
                  <a:pt x="1231647" y="1612900"/>
                </a:lnTo>
                <a:lnTo>
                  <a:pt x="1784096" y="1612900"/>
                </a:lnTo>
                <a:lnTo>
                  <a:pt x="1827816" y="1587500"/>
                </a:lnTo>
                <a:lnTo>
                  <a:pt x="1870199" y="1562100"/>
                </a:lnTo>
                <a:lnTo>
                  <a:pt x="1911189" y="1549400"/>
                </a:lnTo>
                <a:lnTo>
                  <a:pt x="1950731" y="1524000"/>
                </a:lnTo>
                <a:lnTo>
                  <a:pt x="1988766" y="1498600"/>
                </a:lnTo>
                <a:lnTo>
                  <a:pt x="2025240" y="1473200"/>
                </a:lnTo>
                <a:lnTo>
                  <a:pt x="2060095" y="1435100"/>
                </a:lnTo>
                <a:lnTo>
                  <a:pt x="2093275" y="1409700"/>
                </a:lnTo>
                <a:lnTo>
                  <a:pt x="2124724" y="1384300"/>
                </a:lnTo>
                <a:lnTo>
                  <a:pt x="2154385" y="1346200"/>
                </a:lnTo>
                <a:lnTo>
                  <a:pt x="2182201" y="1320800"/>
                </a:lnTo>
                <a:lnTo>
                  <a:pt x="2208116" y="1282700"/>
                </a:lnTo>
                <a:lnTo>
                  <a:pt x="2232075" y="1244600"/>
                </a:lnTo>
                <a:lnTo>
                  <a:pt x="2254019" y="1219200"/>
                </a:lnTo>
                <a:lnTo>
                  <a:pt x="2273893" y="1181100"/>
                </a:lnTo>
                <a:lnTo>
                  <a:pt x="2291641" y="1143000"/>
                </a:lnTo>
                <a:lnTo>
                  <a:pt x="2307205" y="1104900"/>
                </a:lnTo>
                <a:lnTo>
                  <a:pt x="2320530" y="1066800"/>
                </a:lnTo>
                <a:lnTo>
                  <a:pt x="2331559" y="1028700"/>
                </a:lnTo>
                <a:lnTo>
                  <a:pt x="2340235" y="990600"/>
                </a:lnTo>
                <a:lnTo>
                  <a:pt x="2346502" y="952500"/>
                </a:lnTo>
                <a:lnTo>
                  <a:pt x="2350304" y="914400"/>
                </a:lnTo>
                <a:lnTo>
                  <a:pt x="2351584" y="863600"/>
                </a:lnTo>
                <a:lnTo>
                  <a:pt x="2350304" y="825500"/>
                </a:lnTo>
                <a:lnTo>
                  <a:pt x="2346502" y="787400"/>
                </a:lnTo>
                <a:lnTo>
                  <a:pt x="2340235" y="749300"/>
                </a:lnTo>
                <a:lnTo>
                  <a:pt x="2331559" y="711200"/>
                </a:lnTo>
                <a:lnTo>
                  <a:pt x="2320530" y="673100"/>
                </a:lnTo>
                <a:lnTo>
                  <a:pt x="2307205" y="635000"/>
                </a:lnTo>
                <a:lnTo>
                  <a:pt x="2291641" y="596900"/>
                </a:lnTo>
                <a:lnTo>
                  <a:pt x="2273893" y="558800"/>
                </a:lnTo>
                <a:lnTo>
                  <a:pt x="2254019" y="520700"/>
                </a:lnTo>
                <a:lnTo>
                  <a:pt x="2232075" y="495300"/>
                </a:lnTo>
                <a:lnTo>
                  <a:pt x="2208116" y="457200"/>
                </a:lnTo>
                <a:lnTo>
                  <a:pt x="2182201" y="419100"/>
                </a:lnTo>
                <a:lnTo>
                  <a:pt x="2154385" y="393700"/>
                </a:lnTo>
                <a:lnTo>
                  <a:pt x="2124724" y="355600"/>
                </a:lnTo>
                <a:lnTo>
                  <a:pt x="2093275" y="330200"/>
                </a:lnTo>
                <a:lnTo>
                  <a:pt x="2060095" y="304800"/>
                </a:lnTo>
                <a:lnTo>
                  <a:pt x="2025240" y="266700"/>
                </a:lnTo>
                <a:lnTo>
                  <a:pt x="1988766" y="241300"/>
                </a:lnTo>
                <a:lnTo>
                  <a:pt x="1950731" y="215900"/>
                </a:lnTo>
                <a:lnTo>
                  <a:pt x="1911189" y="190500"/>
                </a:lnTo>
                <a:lnTo>
                  <a:pt x="1870199" y="177800"/>
                </a:lnTo>
                <a:lnTo>
                  <a:pt x="1827816" y="152400"/>
                </a:lnTo>
                <a:lnTo>
                  <a:pt x="1784096" y="127000"/>
                </a:lnTo>
                <a:close/>
              </a:path>
              <a:path w="2352040" h="1727200">
                <a:moveTo>
                  <a:pt x="1339809" y="12700"/>
                </a:moveTo>
                <a:lnTo>
                  <a:pt x="1011774" y="12700"/>
                </a:lnTo>
                <a:lnTo>
                  <a:pt x="958569" y="25400"/>
                </a:lnTo>
                <a:lnTo>
                  <a:pt x="1393013" y="25400"/>
                </a:lnTo>
                <a:lnTo>
                  <a:pt x="1339809" y="12700"/>
                </a:lnTo>
                <a:close/>
              </a:path>
              <a:path w="2352040" h="1727200">
                <a:moveTo>
                  <a:pt x="1231141" y="0"/>
                </a:moveTo>
                <a:lnTo>
                  <a:pt x="1120441" y="0"/>
                </a:lnTo>
                <a:lnTo>
                  <a:pt x="1065750" y="12700"/>
                </a:lnTo>
                <a:lnTo>
                  <a:pt x="1285833" y="12700"/>
                </a:lnTo>
                <a:lnTo>
                  <a:pt x="1231141" y="0"/>
                </a:lnTo>
                <a:close/>
              </a:path>
            </a:pathLst>
          </a:custGeom>
          <a:solidFill>
            <a:srgbClr val="941100"/>
          </a:solidFill>
        </p:spPr>
        <p:txBody>
          <a:bodyPr wrap="square" lIns="0" tIns="0" rIns="0" bIns="0" rtlCol="0"/>
          <a:lstStyle/>
          <a:p/>
        </p:txBody>
      </p:sp>
      <p:sp>
        <p:nvSpPr>
          <p:cNvPr id="7" name="object 7"/>
          <p:cNvSpPr/>
          <p:nvPr/>
        </p:nvSpPr>
        <p:spPr>
          <a:xfrm>
            <a:off x="0" y="1268760"/>
            <a:ext cx="2352040" cy="1728470"/>
          </a:xfrm>
          <a:custGeom>
            <a:avLst/>
            <a:gdLst/>
            <a:ahLst/>
            <a:cxnLst/>
            <a:rect l="l" t="t" r="r" b="b"/>
            <a:pathLst>
              <a:path w="2352040" h="1728470">
                <a:moveTo>
                  <a:pt x="0" y="864095"/>
                </a:moveTo>
                <a:lnTo>
                  <a:pt x="1279" y="823418"/>
                </a:lnTo>
                <a:lnTo>
                  <a:pt x="5081" y="783225"/>
                </a:lnTo>
                <a:lnTo>
                  <a:pt x="11348" y="743558"/>
                </a:lnTo>
                <a:lnTo>
                  <a:pt x="20024" y="704458"/>
                </a:lnTo>
                <a:lnTo>
                  <a:pt x="31053" y="665966"/>
                </a:lnTo>
                <a:lnTo>
                  <a:pt x="44378" y="628124"/>
                </a:lnTo>
                <a:lnTo>
                  <a:pt x="59942" y="590974"/>
                </a:lnTo>
                <a:lnTo>
                  <a:pt x="77690" y="554557"/>
                </a:lnTo>
                <a:lnTo>
                  <a:pt x="97564" y="518914"/>
                </a:lnTo>
                <a:lnTo>
                  <a:pt x="119508" y="484088"/>
                </a:lnTo>
                <a:lnTo>
                  <a:pt x="143467" y="450119"/>
                </a:lnTo>
                <a:lnTo>
                  <a:pt x="169382" y="417049"/>
                </a:lnTo>
                <a:lnTo>
                  <a:pt x="197198" y="384919"/>
                </a:lnTo>
                <a:lnTo>
                  <a:pt x="226859" y="353772"/>
                </a:lnTo>
                <a:lnTo>
                  <a:pt x="258308" y="323647"/>
                </a:lnTo>
                <a:lnTo>
                  <a:pt x="291488" y="294588"/>
                </a:lnTo>
                <a:lnTo>
                  <a:pt x="326343" y="266636"/>
                </a:lnTo>
                <a:lnTo>
                  <a:pt x="362817" y="239831"/>
                </a:lnTo>
                <a:lnTo>
                  <a:pt x="400852" y="214216"/>
                </a:lnTo>
                <a:lnTo>
                  <a:pt x="440393" y="189832"/>
                </a:lnTo>
                <a:lnTo>
                  <a:pt x="481384" y="166720"/>
                </a:lnTo>
                <a:lnTo>
                  <a:pt x="523767" y="144922"/>
                </a:lnTo>
                <a:lnTo>
                  <a:pt x="567486" y="124480"/>
                </a:lnTo>
                <a:lnTo>
                  <a:pt x="612485" y="105434"/>
                </a:lnTo>
                <a:lnTo>
                  <a:pt x="658708" y="87827"/>
                </a:lnTo>
                <a:lnTo>
                  <a:pt x="706097" y="71700"/>
                </a:lnTo>
                <a:lnTo>
                  <a:pt x="754597" y="57094"/>
                </a:lnTo>
                <a:lnTo>
                  <a:pt x="804150" y="44052"/>
                </a:lnTo>
                <a:lnTo>
                  <a:pt x="854701" y="32613"/>
                </a:lnTo>
                <a:lnTo>
                  <a:pt x="906193" y="22821"/>
                </a:lnTo>
                <a:lnTo>
                  <a:pt x="958569" y="14716"/>
                </a:lnTo>
                <a:lnTo>
                  <a:pt x="1011774" y="8340"/>
                </a:lnTo>
                <a:lnTo>
                  <a:pt x="1065750" y="3734"/>
                </a:lnTo>
                <a:lnTo>
                  <a:pt x="1120441" y="940"/>
                </a:lnTo>
                <a:lnTo>
                  <a:pt x="1175791" y="0"/>
                </a:lnTo>
                <a:lnTo>
                  <a:pt x="1231141" y="940"/>
                </a:lnTo>
                <a:lnTo>
                  <a:pt x="1285832" y="3734"/>
                </a:lnTo>
                <a:lnTo>
                  <a:pt x="1339808" y="8340"/>
                </a:lnTo>
                <a:lnTo>
                  <a:pt x="1393013" y="14716"/>
                </a:lnTo>
                <a:lnTo>
                  <a:pt x="1445389" y="22821"/>
                </a:lnTo>
                <a:lnTo>
                  <a:pt x="1496881" y="32613"/>
                </a:lnTo>
                <a:lnTo>
                  <a:pt x="1547432" y="44052"/>
                </a:lnTo>
                <a:lnTo>
                  <a:pt x="1596986" y="57094"/>
                </a:lnTo>
                <a:lnTo>
                  <a:pt x="1645485" y="71700"/>
                </a:lnTo>
                <a:lnTo>
                  <a:pt x="1692875" y="87827"/>
                </a:lnTo>
                <a:lnTo>
                  <a:pt x="1739097" y="105434"/>
                </a:lnTo>
                <a:lnTo>
                  <a:pt x="1784096" y="124480"/>
                </a:lnTo>
                <a:lnTo>
                  <a:pt x="1827815" y="144922"/>
                </a:lnTo>
                <a:lnTo>
                  <a:pt x="1870198" y="166720"/>
                </a:lnTo>
                <a:lnTo>
                  <a:pt x="1911189" y="189832"/>
                </a:lnTo>
                <a:lnTo>
                  <a:pt x="1950730" y="214216"/>
                </a:lnTo>
                <a:lnTo>
                  <a:pt x="1988766" y="239831"/>
                </a:lnTo>
                <a:lnTo>
                  <a:pt x="2025239" y="266636"/>
                </a:lnTo>
                <a:lnTo>
                  <a:pt x="2060095" y="294588"/>
                </a:lnTo>
                <a:lnTo>
                  <a:pt x="2093275" y="323647"/>
                </a:lnTo>
                <a:lnTo>
                  <a:pt x="2124723" y="353772"/>
                </a:lnTo>
                <a:lnTo>
                  <a:pt x="2154384" y="384919"/>
                </a:lnTo>
                <a:lnTo>
                  <a:pt x="2182200" y="417049"/>
                </a:lnTo>
                <a:lnTo>
                  <a:pt x="2208116" y="450119"/>
                </a:lnTo>
                <a:lnTo>
                  <a:pt x="2232074" y="484088"/>
                </a:lnTo>
                <a:lnTo>
                  <a:pt x="2254019" y="518914"/>
                </a:lnTo>
                <a:lnTo>
                  <a:pt x="2273893" y="554557"/>
                </a:lnTo>
                <a:lnTo>
                  <a:pt x="2291640" y="590974"/>
                </a:lnTo>
                <a:lnTo>
                  <a:pt x="2307205" y="628124"/>
                </a:lnTo>
                <a:lnTo>
                  <a:pt x="2320529" y="665966"/>
                </a:lnTo>
                <a:lnTo>
                  <a:pt x="2331558" y="704458"/>
                </a:lnTo>
                <a:lnTo>
                  <a:pt x="2340234" y="743558"/>
                </a:lnTo>
                <a:lnTo>
                  <a:pt x="2346501" y="783225"/>
                </a:lnTo>
                <a:lnTo>
                  <a:pt x="2350303" y="823418"/>
                </a:lnTo>
                <a:lnTo>
                  <a:pt x="2351583" y="864095"/>
                </a:lnTo>
                <a:lnTo>
                  <a:pt x="2350303" y="904772"/>
                </a:lnTo>
                <a:lnTo>
                  <a:pt x="2346501" y="944965"/>
                </a:lnTo>
                <a:lnTo>
                  <a:pt x="2340234" y="984632"/>
                </a:lnTo>
                <a:lnTo>
                  <a:pt x="2331558" y="1023733"/>
                </a:lnTo>
                <a:lnTo>
                  <a:pt x="2320529" y="1062224"/>
                </a:lnTo>
                <a:lnTo>
                  <a:pt x="2307205" y="1100066"/>
                </a:lnTo>
                <a:lnTo>
                  <a:pt x="2291640" y="1137216"/>
                </a:lnTo>
                <a:lnTo>
                  <a:pt x="2273893" y="1173633"/>
                </a:lnTo>
                <a:lnTo>
                  <a:pt x="2254019" y="1209276"/>
                </a:lnTo>
                <a:lnTo>
                  <a:pt x="2232074" y="1244103"/>
                </a:lnTo>
                <a:lnTo>
                  <a:pt x="2208116" y="1278072"/>
                </a:lnTo>
                <a:lnTo>
                  <a:pt x="2182200" y="1311142"/>
                </a:lnTo>
                <a:lnTo>
                  <a:pt x="2154384" y="1343271"/>
                </a:lnTo>
                <a:lnTo>
                  <a:pt x="2124723" y="1374419"/>
                </a:lnTo>
                <a:lnTo>
                  <a:pt x="2093275" y="1404543"/>
                </a:lnTo>
                <a:lnTo>
                  <a:pt x="2060095" y="1433602"/>
                </a:lnTo>
                <a:lnTo>
                  <a:pt x="2025239" y="1461555"/>
                </a:lnTo>
                <a:lnTo>
                  <a:pt x="1988766" y="1488359"/>
                </a:lnTo>
                <a:lnTo>
                  <a:pt x="1950730" y="1513974"/>
                </a:lnTo>
                <a:lnTo>
                  <a:pt x="1911189" y="1538359"/>
                </a:lnTo>
                <a:lnTo>
                  <a:pt x="1870198" y="1561470"/>
                </a:lnTo>
                <a:lnTo>
                  <a:pt x="1827815" y="1583268"/>
                </a:lnTo>
                <a:lnTo>
                  <a:pt x="1784096" y="1603711"/>
                </a:lnTo>
                <a:lnTo>
                  <a:pt x="1739097" y="1622756"/>
                </a:lnTo>
                <a:lnTo>
                  <a:pt x="1692875" y="1640363"/>
                </a:lnTo>
                <a:lnTo>
                  <a:pt x="1645485" y="1656490"/>
                </a:lnTo>
                <a:lnTo>
                  <a:pt x="1596986" y="1671096"/>
                </a:lnTo>
                <a:lnTo>
                  <a:pt x="1547432" y="1684139"/>
                </a:lnTo>
                <a:lnTo>
                  <a:pt x="1496881" y="1695577"/>
                </a:lnTo>
                <a:lnTo>
                  <a:pt x="1445389" y="1705369"/>
                </a:lnTo>
                <a:lnTo>
                  <a:pt x="1393013" y="1713475"/>
                </a:lnTo>
                <a:lnTo>
                  <a:pt x="1339808" y="1719851"/>
                </a:lnTo>
                <a:lnTo>
                  <a:pt x="1285832" y="1724456"/>
                </a:lnTo>
                <a:lnTo>
                  <a:pt x="1231141" y="1727250"/>
                </a:lnTo>
                <a:lnTo>
                  <a:pt x="1175791" y="1728191"/>
                </a:lnTo>
                <a:lnTo>
                  <a:pt x="1120441" y="1727250"/>
                </a:lnTo>
                <a:lnTo>
                  <a:pt x="1065750" y="1724456"/>
                </a:lnTo>
                <a:lnTo>
                  <a:pt x="1011774" y="1719851"/>
                </a:lnTo>
                <a:lnTo>
                  <a:pt x="958569" y="1713475"/>
                </a:lnTo>
                <a:lnTo>
                  <a:pt x="906193" y="1705369"/>
                </a:lnTo>
                <a:lnTo>
                  <a:pt x="854701" y="1695577"/>
                </a:lnTo>
                <a:lnTo>
                  <a:pt x="804150" y="1684139"/>
                </a:lnTo>
                <a:lnTo>
                  <a:pt x="754597" y="1671096"/>
                </a:lnTo>
                <a:lnTo>
                  <a:pt x="706097" y="1656490"/>
                </a:lnTo>
                <a:lnTo>
                  <a:pt x="658708" y="1640363"/>
                </a:lnTo>
                <a:lnTo>
                  <a:pt x="612485" y="1622756"/>
                </a:lnTo>
                <a:lnTo>
                  <a:pt x="567486" y="1603711"/>
                </a:lnTo>
                <a:lnTo>
                  <a:pt x="523767" y="1583268"/>
                </a:lnTo>
                <a:lnTo>
                  <a:pt x="481384" y="1561470"/>
                </a:lnTo>
                <a:lnTo>
                  <a:pt x="440393" y="1538359"/>
                </a:lnTo>
                <a:lnTo>
                  <a:pt x="400852" y="1513974"/>
                </a:lnTo>
                <a:lnTo>
                  <a:pt x="362817" y="1488359"/>
                </a:lnTo>
                <a:lnTo>
                  <a:pt x="326343" y="1461555"/>
                </a:lnTo>
                <a:lnTo>
                  <a:pt x="291488" y="1433602"/>
                </a:lnTo>
                <a:lnTo>
                  <a:pt x="258308" y="1404543"/>
                </a:lnTo>
                <a:lnTo>
                  <a:pt x="226859" y="1374419"/>
                </a:lnTo>
                <a:lnTo>
                  <a:pt x="197198" y="1343271"/>
                </a:lnTo>
                <a:lnTo>
                  <a:pt x="169382" y="1311142"/>
                </a:lnTo>
                <a:lnTo>
                  <a:pt x="143467" y="1278072"/>
                </a:lnTo>
                <a:lnTo>
                  <a:pt x="119508" y="1244103"/>
                </a:lnTo>
                <a:lnTo>
                  <a:pt x="97564" y="1209276"/>
                </a:lnTo>
                <a:lnTo>
                  <a:pt x="77690" y="1173633"/>
                </a:lnTo>
                <a:lnTo>
                  <a:pt x="59942" y="1137216"/>
                </a:lnTo>
                <a:lnTo>
                  <a:pt x="44378" y="1100066"/>
                </a:lnTo>
                <a:lnTo>
                  <a:pt x="31053" y="1062224"/>
                </a:lnTo>
                <a:lnTo>
                  <a:pt x="20024" y="1023733"/>
                </a:lnTo>
                <a:lnTo>
                  <a:pt x="11348" y="984632"/>
                </a:lnTo>
                <a:lnTo>
                  <a:pt x="5081" y="944965"/>
                </a:lnTo>
                <a:lnTo>
                  <a:pt x="1279" y="904772"/>
                </a:lnTo>
                <a:lnTo>
                  <a:pt x="0" y="864095"/>
                </a:lnTo>
                <a:close/>
              </a:path>
            </a:pathLst>
          </a:custGeom>
          <a:ln w="6349">
            <a:solidFill>
              <a:srgbClr val="6CACDD"/>
            </a:solidFill>
          </a:ln>
        </p:spPr>
        <p:txBody>
          <a:bodyPr wrap="square" lIns="0" tIns="0" rIns="0" bIns="0" rtlCol="0"/>
          <a:lstStyle/>
          <a:p/>
        </p:txBody>
      </p:sp>
      <p:sp>
        <p:nvSpPr>
          <p:cNvPr id="8" name="object 8"/>
          <p:cNvSpPr/>
          <p:nvPr/>
        </p:nvSpPr>
        <p:spPr>
          <a:xfrm>
            <a:off x="124066" y="1392827"/>
            <a:ext cx="2103755" cy="1480185"/>
          </a:xfrm>
          <a:custGeom>
            <a:avLst/>
            <a:gdLst/>
            <a:ahLst/>
            <a:cxnLst/>
            <a:rect l="l" t="t" r="r" b="b"/>
            <a:pathLst>
              <a:path w="2103755" h="1480185">
                <a:moveTo>
                  <a:pt x="0" y="740028"/>
                </a:moveTo>
                <a:lnTo>
                  <a:pt x="1457" y="779330"/>
                </a:lnTo>
                <a:lnTo>
                  <a:pt x="5782" y="818098"/>
                </a:lnTo>
                <a:lnTo>
                  <a:pt x="12902" y="856281"/>
                </a:lnTo>
                <a:lnTo>
                  <a:pt x="22743" y="893827"/>
                </a:lnTo>
                <a:lnTo>
                  <a:pt x="35234" y="930685"/>
                </a:lnTo>
                <a:lnTo>
                  <a:pt x="50301" y="966804"/>
                </a:lnTo>
                <a:lnTo>
                  <a:pt x="67872" y="1002133"/>
                </a:lnTo>
                <a:lnTo>
                  <a:pt x="87874" y="1036621"/>
                </a:lnTo>
                <a:lnTo>
                  <a:pt x="110234" y="1070217"/>
                </a:lnTo>
                <a:lnTo>
                  <a:pt x="134880" y="1102870"/>
                </a:lnTo>
                <a:lnTo>
                  <a:pt x="161739" y="1134527"/>
                </a:lnTo>
                <a:lnTo>
                  <a:pt x="190739" y="1165139"/>
                </a:lnTo>
                <a:lnTo>
                  <a:pt x="221806" y="1194654"/>
                </a:lnTo>
                <a:lnTo>
                  <a:pt x="254868" y="1223022"/>
                </a:lnTo>
                <a:lnTo>
                  <a:pt x="289852" y="1250189"/>
                </a:lnTo>
                <a:lnTo>
                  <a:pt x="326686" y="1276107"/>
                </a:lnTo>
                <a:lnTo>
                  <a:pt x="365297" y="1300723"/>
                </a:lnTo>
                <a:lnTo>
                  <a:pt x="405612" y="1323987"/>
                </a:lnTo>
                <a:lnTo>
                  <a:pt x="447559" y="1345847"/>
                </a:lnTo>
                <a:lnTo>
                  <a:pt x="491065" y="1366252"/>
                </a:lnTo>
                <a:lnTo>
                  <a:pt x="536056" y="1385151"/>
                </a:lnTo>
                <a:lnTo>
                  <a:pt x="582462" y="1402492"/>
                </a:lnTo>
                <a:lnTo>
                  <a:pt x="630208" y="1418226"/>
                </a:lnTo>
                <a:lnTo>
                  <a:pt x="679222" y="1432300"/>
                </a:lnTo>
                <a:lnTo>
                  <a:pt x="729432" y="1444663"/>
                </a:lnTo>
                <a:lnTo>
                  <a:pt x="780764" y="1455265"/>
                </a:lnTo>
                <a:lnTo>
                  <a:pt x="833147" y="1464054"/>
                </a:lnTo>
                <a:lnTo>
                  <a:pt x="886507" y="1470979"/>
                </a:lnTo>
                <a:lnTo>
                  <a:pt x="940772" y="1475988"/>
                </a:lnTo>
                <a:lnTo>
                  <a:pt x="995868" y="1479031"/>
                </a:lnTo>
                <a:lnTo>
                  <a:pt x="1051724" y="1480057"/>
                </a:lnTo>
                <a:lnTo>
                  <a:pt x="1107580" y="1479031"/>
                </a:lnTo>
                <a:lnTo>
                  <a:pt x="1162677" y="1475988"/>
                </a:lnTo>
                <a:lnTo>
                  <a:pt x="1216942" y="1470979"/>
                </a:lnTo>
                <a:lnTo>
                  <a:pt x="1270302" y="1464054"/>
                </a:lnTo>
                <a:lnTo>
                  <a:pt x="1322684" y="1455265"/>
                </a:lnTo>
                <a:lnTo>
                  <a:pt x="1374017" y="1444663"/>
                </a:lnTo>
                <a:lnTo>
                  <a:pt x="1424226" y="1432300"/>
                </a:lnTo>
                <a:lnTo>
                  <a:pt x="1473241" y="1418226"/>
                </a:lnTo>
                <a:lnTo>
                  <a:pt x="1520987" y="1402492"/>
                </a:lnTo>
                <a:lnTo>
                  <a:pt x="1567392" y="1385151"/>
                </a:lnTo>
                <a:lnTo>
                  <a:pt x="1612384" y="1366252"/>
                </a:lnTo>
                <a:lnTo>
                  <a:pt x="1655889" y="1345847"/>
                </a:lnTo>
                <a:lnTo>
                  <a:pt x="1697836" y="1323987"/>
                </a:lnTo>
                <a:lnTo>
                  <a:pt x="1738151" y="1300723"/>
                </a:lnTo>
                <a:lnTo>
                  <a:pt x="1776762" y="1276107"/>
                </a:lnTo>
                <a:lnTo>
                  <a:pt x="1813596" y="1250189"/>
                </a:lnTo>
                <a:lnTo>
                  <a:pt x="1848581" y="1223022"/>
                </a:lnTo>
                <a:lnTo>
                  <a:pt x="1881643" y="1194654"/>
                </a:lnTo>
                <a:lnTo>
                  <a:pt x="1912710" y="1165139"/>
                </a:lnTo>
                <a:lnTo>
                  <a:pt x="1941709" y="1134527"/>
                </a:lnTo>
                <a:lnTo>
                  <a:pt x="1968568" y="1102870"/>
                </a:lnTo>
                <a:lnTo>
                  <a:pt x="1993215" y="1070217"/>
                </a:lnTo>
                <a:lnTo>
                  <a:pt x="2015575" y="1036621"/>
                </a:lnTo>
                <a:lnTo>
                  <a:pt x="2035577" y="1002133"/>
                </a:lnTo>
                <a:lnTo>
                  <a:pt x="2053148" y="966804"/>
                </a:lnTo>
                <a:lnTo>
                  <a:pt x="2068215" y="930685"/>
                </a:lnTo>
                <a:lnTo>
                  <a:pt x="2080705" y="893827"/>
                </a:lnTo>
                <a:lnTo>
                  <a:pt x="2090547" y="856281"/>
                </a:lnTo>
                <a:lnTo>
                  <a:pt x="2097666" y="818098"/>
                </a:lnTo>
                <a:lnTo>
                  <a:pt x="2101991" y="779330"/>
                </a:lnTo>
                <a:lnTo>
                  <a:pt x="2103449" y="740028"/>
                </a:lnTo>
                <a:lnTo>
                  <a:pt x="2101991" y="700726"/>
                </a:lnTo>
                <a:lnTo>
                  <a:pt x="2097666" y="661958"/>
                </a:lnTo>
                <a:lnTo>
                  <a:pt x="2090547" y="623776"/>
                </a:lnTo>
                <a:lnTo>
                  <a:pt x="2080705" y="586230"/>
                </a:lnTo>
                <a:lnTo>
                  <a:pt x="2068215" y="549372"/>
                </a:lnTo>
                <a:lnTo>
                  <a:pt x="2053148" y="513253"/>
                </a:lnTo>
                <a:lnTo>
                  <a:pt x="2035577" y="477924"/>
                </a:lnTo>
                <a:lnTo>
                  <a:pt x="2015575" y="443435"/>
                </a:lnTo>
                <a:lnTo>
                  <a:pt x="1993215" y="409840"/>
                </a:lnTo>
                <a:lnTo>
                  <a:pt x="1968568" y="377187"/>
                </a:lnTo>
                <a:lnTo>
                  <a:pt x="1941709" y="345530"/>
                </a:lnTo>
                <a:lnTo>
                  <a:pt x="1912710" y="314918"/>
                </a:lnTo>
                <a:lnTo>
                  <a:pt x="1881643" y="285402"/>
                </a:lnTo>
                <a:lnTo>
                  <a:pt x="1848581" y="257035"/>
                </a:lnTo>
                <a:lnTo>
                  <a:pt x="1813596" y="229867"/>
                </a:lnTo>
                <a:lnTo>
                  <a:pt x="1776762" y="203950"/>
                </a:lnTo>
                <a:lnTo>
                  <a:pt x="1738151" y="179333"/>
                </a:lnTo>
                <a:lnTo>
                  <a:pt x="1697836" y="156070"/>
                </a:lnTo>
                <a:lnTo>
                  <a:pt x="1655889" y="134210"/>
                </a:lnTo>
                <a:lnTo>
                  <a:pt x="1612384" y="113805"/>
                </a:lnTo>
                <a:lnTo>
                  <a:pt x="1567392" y="94906"/>
                </a:lnTo>
                <a:lnTo>
                  <a:pt x="1520987" y="77564"/>
                </a:lnTo>
                <a:lnTo>
                  <a:pt x="1473241" y="61831"/>
                </a:lnTo>
                <a:lnTo>
                  <a:pt x="1424226" y="47757"/>
                </a:lnTo>
                <a:lnTo>
                  <a:pt x="1374017" y="35393"/>
                </a:lnTo>
                <a:lnTo>
                  <a:pt x="1322684" y="24792"/>
                </a:lnTo>
                <a:lnTo>
                  <a:pt x="1270302" y="16003"/>
                </a:lnTo>
                <a:lnTo>
                  <a:pt x="1216942" y="9078"/>
                </a:lnTo>
                <a:lnTo>
                  <a:pt x="1162677" y="4069"/>
                </a:lnTo>
                <a:lnTo>
                  <a:pt x="1107580" y="1025"/>
                </a:lnTo>
                <a:lnTo>
                  <a:pt x="1051724" y="0"/>
                </a:lnTo>
                <a:lnTo>
                  <a:pt x="995868" y="1025"/>
                </a:lnTo>
                <a:lnTo>
                  <a:pt x="940772" y="4069"/>
                </a:lnTo>
                <a:lnTo>
                  <a:pt x="886507" y="9078"/>
                </a:lnTo>
                <a:lnTo>
                  <a:pt x="833147" y="16003"/>
                </a:lnTo>
                <a:lnTo>
                  <a:pt x="780764" y="24792"/>
                </a:lnTo>
                <a:lnTo>
                  <a:pt x="729432" y="35393"/>
                </a:lnTo>
                <a:lnTo>
                  <a:pt x="679222" y="47757"/>
                </a:lnTo>
                <a:lnTo>
                  <a:pt x="630208" y="61831"/>
                </a:lnTo>
                <a:lnTo>
                  <a:pt x="582462" y="77564"/>
                </a:lnTo>
                <a:lnTo>
                  <a:pt x="536056" y="94906"/>
                </a:lnTo>
                <a:lnTo>
                  <a:pt x="491065" y="113805"/>
                </a:lnTo>
                <a:lnTo>
                  <a:pt x="447559" y="134210"/>
                </a:lnTo>
                <a:lnTo>
                  <a:pt x="405612" y="156070"/>
                </a:lnTo>
                <a:lnTo>
                  <a:pt x="365297" y="179333"/>
                </a:lnTo>
                <a:lnTo>
                  <a:pt x="326686" y="203950"/>
                </a:lnTo>
                <a:lnTo>
                  <a:pt x="289852" y="229867"/>
                </a:lnTo>
                <a:lnTo>
                  <a:pt x="254868" y="257035"/>
                </a:lnTo>
                <a:lnTo>
                  <a:pt x="221806" y="285402"/>
                </a:lnTo>
                <a:lnTo>
                  <a:pt x="190739" y="314918"/>
                </a:lnTo>
                <a:lnTo>
                  <a:pt x="161739" y="345530"/>
                </a:lnTo>
                <a:lnTo>
                  <a:pt x="134880" y="377187"/>
                </a:lnTo>
                <a:lnTo>
                  <a:pt x="110234" y="409840"/>
                </a:lnTo>
                <a:lnTo>
                  <a:pt x="87874" y="443435"/>
                </a:lnTo>
                <a:lnTo>
                  <a:pt x="67872" y="477924"/>
                </a:lnTo>
                <a:lnTo>
                  <a:pt x="50301" y="513253"/>
                </a:lnTo>
                <a:lnTo>
                  <a:pt x="35234" y="549372"/>
                </a:lnTo>
                <a:lnTo>
                  <a:pt x="22743" y="586230"/>
                </a:lnTo>
                <a:lnTo>
                  <a:pt x="12902" y="623776"/>
                </a:lnTo>
                <a:lnTo>
                  <a:pt x="5782" y="661958"/>
                </a:lnTo>
                <a:lnTo>
                  <a:pt x="1457" y="700726"/>
                </a:lnTo>
                <a:lnTo>
                  <a:pt x="0" y="740028"/>
                </a:lnTo>
                <a:close/>
              </a:path>
            </a:pathLst>
          </a:custGeom>
          <a:ln w="6349">
            <a:solidFill>
              <a:srgbClr val="6CACDD"/>
            </a:solidFill>
          </a:ln>
        </p:spPr>
        <p:txBody>
          <a:bodyPr wrap="square" lIns="0" tIns="0" rIns="0" bIns="0" rtlCol="0"/>
          <a:lstStyle/>
          <a:p/>
        </p:txBody>
      </p:sp>
      <p:sp>
        <p:nvSpPr>
          <p:cNvPr id="9" name="object 9"/>
          <p:cNvSpPr/>
          <p:nvPr/>
        </p:nvSpPr>
        <p:spPr>
          <a:xfrm>
            <a:off x="5159895" y="4581128"/>
            <a:ext cx="864235" cy="720090"/>
          </a:xfrm>
          <a:custGeom>
            <a:avLst/>
            <a:gdLst/>
            <a:ahLst/>
            <a:cxnLst/>
            <a:rect l="l" t="t" r="r" b="b"/>
            <a:pathLst>
              <a:path w="864235" h="720089">
                <a:moveTo>
                  <a:pt x="432047" y="0"/>
                </a:moveTo>
                <a:lnTo>
                  <a:pt x="381661" y="2422"/>
                </a:lnTo>
                <a:lnTo>
                  <a:pt x="332982" y="9508"/>
                </a:lnTo>
                <a:lnTo>
                  <a:pt x="286335" y="20989"/>
                </a:lnTo>
                <a:lnTo>
                  <a:pt x="242043" y="36594"/>
                </a:lnTo>
                <a:lnTo>
                  <a:pt x="200431" y="56053"/>
                </a:lnTo>
                <a:lnTo>
                  <a:pt x="161823" y="79096"/>
                </a:lnTo>
                <a:lnTo>
                  <a:pt x="126543" y="105453"/>
                </a:lnTo>
                <a:lnTo>
                  <a:pt x="94915" y="134853"/>
                </a:lnTo>
                <a:lnTo>
                  <a:pt x="67264" y="167026"/>
                </a:lnTo>
                <a:lnTo>
                  <a:pt x="43913" y="201703"/>
                </a:lnTo>
                <a:lnTo>
                  <a:pt x="25187" y="238613"/>
                </a:lnTo>
                <a:lnTo>
                  <a:pt x="11410" y="277485"/>
                </a:lnTo>
                <a:lnTo>
                  <a:pt x="2906" y="318051"/>
                </a:lnTo>
                <a:lnTo>
                  <a:pt x="0" y="360039"/>
                </a:lnTo>
                <a:lnTo>
                  <a:pt x="2906" y="402028"/>
                </a:lnTo>
                <a:lnTo>
                  <a:pt x="11410" y="442593"/>
                </a:lnTo>
                <a:lnTo>
                  <a:pt x="25187" y="481466"/>
                </a:lnTo>
                <a:lnTo>
                  <a:pt x="43913" y="518376"/>
                </a:lnTo>
                <a:lnTo>
                  <a:pt x="67264" y="553052"/>
                </a:lnTo>
                <a:lnTo>
                  <a:pt x="94915" y="585226"/>
                </a:lnTo>
                <a:lnTo>
                  <a:pt x="126543" y="614626"/>
                </a:lnTo>
                <a:lnTo>
                  <a:pt x="161823" y="640982"/>
                </a:lnTo>
                <a:lnTo>
                  <a:pt x="200431" y="664025"/>
                </a:lnTo>
                <a:lnTo>
                  <a:pt x="242043" y="683484"/>
                </a:lnTo>
                <a:lnTo>
                  <a:pt x="286335" y="699089"/>
                </a:lnTo>
                <a:lnTo>
                  <a:pt x="332982" y="710570"/>
                </a:lnTo>
                <a:lnTo>
                  <a:pt x="381661" y="717657"/>
                </a:lnTo>
                <a:lnTo>
                  <a:pt x="432047" y="720079"/>
                </a:lnTo>
                <a:lnTo>
                  <a:pt x="482433" y="717657"/>
                </a:lnTo>
                <a:lnTo>
                  <a:pt x="531112" y="710570"/>
                </a:lnTo>
                <a:lnTo>
                  <a:pt x="577759" y="699089"/>
                </a:lnTo>
                <a:lnTo>
                  <a:pt x="622051" y="683484"/>
                </a:lnTo>
                <a:lnTo>
                  <a:pt x="663663" y="664025"/>
                </a:lnTo>
                <a:lnTo>
                  <a:pt x="700686" y="641929"/>
                </a:lnTo>
                <a:lnTo>
                  <a:pt x="432047" y="641929"/>
                </a:lnTo>
                <a:lnTo>
                  <a:pt x="379751" y="638872"/>
                </a:lnTo>
                <a:lnTo>
                  <a:pt x="329837" y="629994"/>
                </a:lnTo>
                <a:lnTo>
                  <a:pt x="282853" y="615729"/>
                </a:lnTo>
                <a:lnTo>
                  <a:pt x="239346" y="596514"/>
                </a:lnTo>
                <a:lnTo>
                  <a:pt x="199864" y="572786"/>
                </a:lnTo>
                <a:lnTo>
                  <a:pt x="164954" y="544979"/>
                </a:lnTo>
                <a:lnTo>
                  <a:pt x="135164" y="513531"/>
                </a:lnTo>
                <a:lnTo>
                  <a:pt x="111041" y="478877"/>
                </a:lnTo>
                <a:lnTo>
                  <a:pt x="93133" y="441453"/>
                </a:lnTo>
                <a:lnTo>
                  <a:pt x="81986" y="401695"/>
                </a:lnTo>
                <a:lnTo>
                  <a:pt x="78149" y="360039"/>
                </a:lnTo>
                <a:lnTo>
                  <a:pt x="81986" y="318384"/>
                </a:lnTo>
                <a:lnTo>
                  <a:pt x="93133" y="278626"/>
                </a:lnTo>
                <a:lnTo>
                  <a:pt x="111041" y="241201"/>
                </a:lnTo>
                <a:lnTo>
                  <a:pt x="135164" y="206547"/>
                </a:lnTo>
                <a:lnTo>
                  <a:pt x="164954" y="175098"/>
                </a:lnTo>
                <a:lnTo>
                  <a:pt x="199864" y="147292"/>
                </a:lnTo>
                <a:lnTo>
                  <a:pt x="239346" y="123563"/>
                </a:lnTo>
                <a:lnTo>
                  <a:pt x="282853" y="104348"/>
                </a:lnTo>
                <a:lnTo>
                  <a:pt x="329837" y="90084"/>
                </a:lnTo>
                <a:lnTo>
                  <a:pt x="379751" y="81205"/>
                </a:lnTo>
                <a:lnTo>
                  <a:pt x="432047" y="78149"/>
                </a:lnTo>
                <a:lnTo>
                  <a:pt x="700684" y="78149"/>
                </a:lnTo>
                <a:lnTo>
                  <a:pt x="663663" y="56053"/>
                </a:lnTo>
                <a:lnTo>
                  <a:pt x="622051" y="36594"/>
                </a:lnTo>
                <a:lnTo>
                  <a:pt x="577759" y="20989"/>
                </a:lnTo>
                <a:lnTo>
                  <a:pt x="531112" y="9508"/>
                </a:lnTo>
                <a:lnTo>
                  <a:pt x="482433" y="2422"/>
                </a:lnTo>
                <a:lnTo>
                  <a:pt x="432047" y="0"/>
                </a:lnTo>
                <a:close/>
              </a:path>
              <a:path w="864235" h="720089">
                <a:moveTo>
                  <a:pt x="700684" y="78149"/>
                </a:moveTo>
                <a:lnTo>
                  <a:pt x="432047" y="78149"/>
                </a:lnTo>
                <a:lnTo>
                  <a:pt x="484344" y="81205"/>
                </a:lnTo>
                <a:lnTo>
                  <a:pt x="534258" y="90084"/>
                </a:lnTo>
                <a:lnTo>
                  <a:pt x="581242" y="104348"/>
                </a:lnTo>
                <a:lnTo>
                  <a:pt x="624749" y="123563"/>
                </a:lnTo>
                <a:lnTo>
                  <a:pt x="664231" y="147292"/>
                </a:lnTo>
                <a:lnTo>
                  <a:pt x="699140" y="175098"/>
                </a:lnTo>
                <a:lnTo>
                  <a:pt x="728930" y="206547"/>
                </a:lnTo>
                <a:lnTo>
                  <a:pt x="753053" y="241201"/>
                </a:lnTo>
                <a:lnTo>
                  <a:pt x="770962" y="278626"/>
                </a:lnTo>
                <a:lnTo>
                  <a:pt x="782108" y="318384"/>
                </a:lnTo>
                <a:lnTo>
                  <a:pt x="785945" y="360039"/>
                </a:lnTo>
                <a:lnTo>
                  <a:pt x="782108" y="401695"/>
                </a:lnTo>
                <a:lnTo>
                  <a:pt x="770962" y="441453"/>
                </a:lnTo>
                <a:lnTo>
                  <a:pt x="753053" y="478877"/>
                </a:lnTo>
                <a:lnTo>
                  <a:pt x="728930" y="513531"/>
                </a:lnTo>
                <a:lnTo>
                  <a:pt x="699140" y="544979"/>
                </a:lnTo>
                <a:lnTo>
                  <a:pt x="664231" y="572786"/>
                </a:lnTo>
                <a:lnTo>
                  <a:pt x="624749" y="596514"/>
                </a:lnTo>
                <a:lnTo>
                  <a:pt x="581242" y="615729"/>
                </a:lnTo>
                <a:lnTo>
                  <a:pt x="534258" y="629994"/>
                </a:lnTo>
                <a:lnTo>
                  <a:pt x="484344" y="638872"/>
                </a:lnTo>
                <a:lnTo>
                  <a:pt x="432047" y="641929"/>
                </a:lnTo>
                <a:lnTo>
                  <a:pt x="700686" y="641929"/>
                </a:lnTo>
                <a:lnTo>
                  <a:pt x="737551" y="614626"/>
                </a:lnTo>
                <a:lnTo>
                  <a:pt x="769179" y="585226"/>
                </a:lnTo>
                <a:lnTo>
                  <a:pt x="796830" y="553052"/>
                </a:lnTo>
                <a:lnTo>
                  <a:pt x="820181" y="518376"/>
                </a:lnTo>
                <a:lnTo>
                  <a:pt x="838907" y="481466"/>
                </a:lnTo>
                <a:lnTo>
                  <a:pt x="852684" y="442593"/>
                </a:lnTo>
                <a:lnTo>
                  <a:pt x="861188" y="402028"/>
                </a:lnTo>
                <a:lnTo>
                  <a:pt x="864095" y="360039"/>
                </a:lnTo>
                <a:lnTo>
                  <a:pt x="861188" y="318051"/>
                </a:lnTo>
                <a:lnTo>
                  <a:pt x="852684" y="277485"/>
                </a:lnTo>
                <a:lnTo>
                  <a:pt x="838907" y="238613"/>
                </a:lnTo>
                <a:lnTo>
                  <a:pt x="820181" y="201703"/>
                </a:lnTo>
                <a:lnTo>
                  <a:pt x="796830" y="167026"/>
                </a:lnTo>
                <a:lnTo>
                  <a:pt x="769179" y="134853"/>
                </a:lnTo>
                <a:lnTo>
                  <a:pt x="737551" y="105453"/>
                </a:lnTo>
                <a:lnTo>
                  <a:pt x="702271" y="79096"/>
                </a:lnTo>
                <a:lnTo>
                  <a:pt x="700684" y="78149"/>
                </a:lnTo>
                <a:close/>
              </a:path>
            </a:pathLst>
          </a:custGeom>
          <a:solidFill>
            <a:srgbClr val="941100"/>
          </a:solidFill>
        </p:spPr>
        <p:txBody>
          <a:bodyPr wrap="square" lIns="0" tIns="0" rIns="0" bIns="0" rtlCol="0"/>
          <a:lstStyle/>
          <a:p/>
        </p:txBody>
      </p:sp>
      <p:sp>
        <p:nvSpPr>
          <p:cNvPr id="10" name="object 10"/>
          <p:cNvSpPr/>
          <p:nvPr/>
        </p:nvSpPr>
        <p:spPr>
          <a:xfrm>
            <a:off x="5159895" y="4581128"/>
            <a:ext cx="864235" cy="720090"/>
          </a:xfrm>
          <a:custGeom>
            <a:avLst/>
            <a:gdLst/>
            <a:ahLst/>
            <a:cxnLst/>
            <a:rect l="l" t="t" r="r" b="b"/>
            <a:pathLst>
              <a:path w="864235" h="720089">
                <a:moveTo>
                  <a:pt x="0" y="360039"/>
                </a:moveTo>
                <a:lnTo>
                  <a:pt x="2906" y="318051"/>
                </a:lnTo>
                <a:lnTo>
                  <a:pt x="11410" y="277486"/>
                </a:lnTo>
                <a:lnTo>
                  <a:pt x="25187" y="238613"/>
                </a:lnTo>
                <a:lnTo>
                  <a:pt x="43913" y="201703"/>
                </a:lnTo>
                <a:lnTo>
                  <a:pt x="67264" y="167026"/>
                </a:lnTo>
                <a:lnTo>
                  <a:pt x="94916" y="134853"/>
                </a:lnTo>
                <a:lnTo>
                  <a:pt x="126543" y="105453"/>
                </a:lnTo>
                <a:lnTo>
                  <a:pt x="161823" y="79096"/>
                </a:lnTo>
                <a:lnTo>
                  <a:pt x="200432" y="56053"/>
                </a:lnTo>
                <a:lnTo>
                  <a:pt x="242044" y="36594"/>
                </a:lnTo>
                <a:lnTo>
                  <a:pt x="286335" y="20989"/>
                </a:lnTo>
                <a:lnTo>
                  <a:pt x="332983" y="9508"/>
                </a:lnTo>
                <a:lnTo>
                  <a:pt x="381662" y="2422"/>
                </a:lnTo>
                <a:lnTo>
                  <a:pt x="432047" y="0"/>
                </a:lnTo>
                <a:lnTo>
                  <a:pt x="482433" y="2422"/>
                </a:lnTo>
                <a:lnTo>
                  <a:pt x="531112" y="9508"/>
                </a:lnTo>
                <a:lnTo>
                  <a:pt x="577759" y="20989"/>
                </a:lnTo>
                <a:lnTo>
                  <a:pt x="622051" y="36594"/>
                </a:lnTo>
                <a:lnTo>
                  <a:pt x="663663" y="56053"/>
                </a:lnTo>
                <a:lnTo>
                  <a:pt x="702271" y="79096"/>
                </a:lnTo>
                <a:lnTo>
                  <a:pt x="737551" y="105453"/>
                </a:lnTo>
                <a:lnTo>
                  <a:pt x="769179" y="134853"/>
                </a:lnTo>
                <a:lnTo>
                  <a:pt x="796830" y="167026"/>
                </a:lnTo>
                <a:lnTo>
                  <a:pt x="820181" y="201703"/>
                </a:lnTo>
                <a:lnTo>
                  <a:pt x="838907" y="238613"/>
                </a:lnTo>
                <a:lnTo>
                  <a:pt x="852684" y="277486"/>
                </a:lnTo>
                <a:lnTo>
                  <a:pt x="861188" y="318051"/>
                </a:lnTo>
                <a:lnTo>
                  <a:pt x="864095" y="360039"/>
                </a:lnTo>
                <a:lnTo>
                  <a:pt x="861188" y="402028"/>
                </a:lnTo>
                <a:lnTo>
                  <a:pt x="852684" y="442593"/>
                </a:lnTo>
                <a:lnTo>
                  <a:pt x="838907" y="481466"/>
                </a:lnTo>
                <a:lnTo>
                  <a:pt x="820181" y="518376"/>
                </a:lnTo>
                <a:lnTo>
                  <a:pt x="796830" y="553053"/>
                </a:lnTo>
                <a:lnTo>
                  <a:pt x="769179" y="585226"/>
                </a:lnTo>
                <a:lnTo>
                  <a:pt x="737551" y="614626"/>
                </a:lnTo>
                <a:lnTo>
                  <a:pt x="702271" y="640983"/>
                </a:lnTo>
                <a:lnTo>
                  <a:pt x="663663" y="664025"/>
                </a:lnTo>
                <a:lnTo>
                  <a:pt x="622051" y="683484"/>
                </a:lnTo>
                <a:lnTo>
                  <a:pt x="577759" y="699089"/>
                </a:lnTo>
                <a:lnTo>
                  <a:pt x="531112" y="710570"/>
                </a:lnTo>
                <a:lnTo>
                  <a:pt x="482433" y="717657"/>
                </a:lnTo>
                <a:lnTo>
                  <a:pt x="432047" y="720079"/>
                </a:lnTo>
                <a:lnTo>
                  <a:pt x="381662" y="717657"/>
                </a:lnTo>
                <a:lnTo>
                  <a:pt x="332983" y="710570"/>
                </a:lnTo>
                <a:lnTo>
                  <a:pt x="286335" y="699089"/>
                </a:lnTo>
                <a:lnTo>
                  <a:pt x="242044" y="683484"/>
                </a:lnTo>
                <a:lnTo>
                  <a:pt x="200432" y="664025"/>
                </a:lnTo>
                <a:lnTo>
                  <a:pt x="161823" y="640983"/>
                </a:lnTo>
                <a:lnTo>
                  <a:pt x="126543" y="614626"/>
                </a:lnTo>
                <a:lnTo>
                  <a:pt x="94916" y="585226"/>
                </a:lnTo>
                <a:lnTo>
                  <a:pt x="67264" y="553053"/>
                </a:lnTo>
                <a:lnTo>
                  <a:pt x="43913" y="518376"/>
                </a:lnTo>
                <a:lnTo>
                  <a:pt x="25187" y="481466"/>
                </a:lnTo>
                <a:lnTo>
                  <a:pt x="11410" y="442593"/>
                </a:lnTo>
                <a:lnTo>
                  <a:pt x="2906" y="402028"/>
                </a:lnTo>
                <a:lnTo>
                  <a:pt x="0" y="360039"/>
                </a:lnTo>
                <a:close/>
              </a:path>
            </a:pathLst>
          </a:custGeom>
          <a:ln w="6349">
            <a:solidFill>
              <a:srgbClr val="6CACDD"/>
            </a:solidFill>
          </a:ln>
        </p:spPr>
        <p:txBody>
          <a:bodyPr wrap="square" lIns="0" tIns="0" rIns="0" bIns="0" rtlCol="0"/>
          <a:lstStyle/>
          <a:p/>
        </p:txBody>
      </p:sp>
      <p:sp>
        <p:nvSpPr>
          <p:cNvPr id="11" name="object 11"/>
          <p:cNvSpPr/>
          <p:nvPr/>
        </p:nvSpPr>
        <p:spPr>
          <a:xfrm>
            <a:off x="5238045" y="4659278"/>
            <a:ext cx="708025" cy="563880"/>
          </a:xfrm>
          <a:custGeom>
            <a:avLst/>
            <a:gdLst/>
            <a:ahLst/>
            <a:cxnLst/>
            <a:rect l="l" t="t" r="r" b="b"/>
            <a:pathLst>
              <a:path w="708025" h="563879">
                <a:moveTo>
                  <a:pt x="0" y="281889"/>
                </a:moveTo>
                <a:lnTo>
                  <a:pt x="3837" y="323545"/>
                </a:lnTo>
                <a:lnTo>
                  <a:pt x="14983" y="363303"/>
                </a:lnTo>
                <a:lnTo>
                  <a:pt x="32892" y="400727"/>
                </a:lnTo>
                <a:lnTo>
                  <a:pt x="57015" y="435381"/>
                </a:lnTo>
                <a:lnTo>
                  <a:pt x="86805" y="466830"/>
                </a:lnTo>
                <a:lnTo>
                  <a:pt x="121715" y="494636"/>
                </a:lnTo>
                <a:lnTo>
                  <a:pt x="161196" y="518365"/>
                </a:lnTo>
                <a:lnTo>
                  <a:pt x="204703" y="537580"/>
                </a:lnTo>
                <a:lnTo>
                  <a:pt x="251687" y="551844"/>
                </a:lnTo>
                <a:lnTo>
                  <a:pt x="301601" y="560723"/>
                </a:lnTo>
                <a:lnTo>
                  <a:pt x="353898" y="563779"/>
                </a:lnTo>
                <a:lnTo>
                  <a:pt x="406194" y="560723"/>
                </a:lnTo>
                <a:lnTo>
                  <a:pt x="456108" y="551844"/>
                </a:lnTo>
                <a:lnTo>
                  <a:pt x="503092" y="537580"/>
                </a:lnTo>
                <a:lnTo>
                  <a:pt x="546599" y="518365"/>
                </a:lnTo>
                <a:lnTo>
                  <a:pt x="586081" y="494636"/>
                </a:lnTo>
                <a:lnTo>
                  <a:pt x="620990" y="466830"/>
                </a:lnTo>
                <a:lnTo>
                  <a:pt x="650780" y="435381"/>
                </a:lnTo>
                <a:lnTo>
                  <a:pt x="674903" y="400727"/>
                </a:lnTo>
                <a:lnTo>
                  <a:pt x="692812" y="363303"/>
                </a:lnTo>
                <a:lnTo>
                  <a:pt x="703958" y="323545"/>
                </a:lnTo>
                <a:lnTo>
                  <a:pt x="707795" y="281889"/>
                </a:lnTo>
                <a:lnTo>
                  <a:pt x="703958" y="240234"/>
                </a:lnTo>
                <a:lnTo>
                  <a:pt x="692812" y="200476"/>
                </a:lnTo>
                <a:lnTo>
                  <a:pt x="674903" y="163052"/>
                </a:lnTo>
                <a:lnTo>
                  <a:pt x="650780" y="128397"/>
                </a:lnTo>
                <a:lnTo>
                  <a:pt x="620990" y="96949"/>
                </a:lnTo>
                <a:lnTo>
                  <a:pt x="586081" y="69142"/>
                </a:lnTo>
                <a:lnTo>
                  <a:pt x="546599" y="45414"/>
                </a:lnTo>
                <a:lnTo>
                  <a:pt x="503092" y="26199"/>
                </a:lnTo>
                <a:lnTo>
                  <a:pt x="456108" y="11934"/>
                </a:lnTo>
                <a:lnTo>
                  <a:pt x="406194" y="3056"/>
                </a:lnTo>
                <a:lnTo>
                  <a:pt x="353898" y="0"/>
                </a:lnTo>
                <a:lnTo>
                  <a:pt x="301601" y="3056"/>
                </a:lnTo>
                <a:lnTo>
                  <a:pt x="251687" y="11934"/>
                </a:lnTo>
                <a:lnTo>
                  <a:pt x="204703" y="26199"/>
                </a:lnTo>
                <a:lnTo>
                  <a:pt x="161196" y="45414"/>
                </a:lnTo>
                <a:lnTo>
                  <a:pt x="121715" y="69142"/>
                </a:lnTo>
                <a:lnTo>
                  <a:pt x="86805" y="96949"/>
                </a:lnTo>
                <a:lnTo>
                  <a:pt x="57015" y="128397"/>
                </a:lnTo>
                <a:lnTo>
                  <a:pt x="32892" y="163052"/>
                </a:lnTo>
                <a:lnTo>
                  <a:pt x="14983" y="200476"/>
                </a:lnTo>
                <a:lnTo>
                  <a:pt x="3837" y="240234"/>
                </a:lnTo>
                <a:lnTo>
                  <a:pt x="0" y="281889"/>
                </a:lnTo>
                <a:close/>
              </a:path>
            </a:pathLst>
          </a:custGeom>
          <a:ln w="6349">
            <a:solidFill>
              <a:srgbClr val="6CACDD"/>
            </a:solidFill>
          </a:ln>
        </p:spPr>
        <p:txBody>
          <a:bodyPr wrap="square" lIns="0" tIns="0" rIns="0" bIns="0" rtlCol="0"/>
          <a:lstStyle/>
          <a:p/>
        </p:txBody>
      </p:sp>
      <p:sp>
        <p:nvSpPr>
          <p:cNvPr id="12" name="object 12"/>
          <p:cNvSpPr/>
          <p:nvPr/>
        </p:nvSpPr>
        <p:spPr>
          <a:xfrm>
            <a:off x="6384030" y="404665"/>
            <a:ext cx="576580" cy="504190"/>
          </a:xfrm>
          <a:custGeom>
            <a:avLst/>
            <a:gdLst/>
            <a:ahLst/>
            <a:cxnLst/>
            <a:rect l="l" t="t" r="r" b="b"/>
            <a:pathLst>
              <a:path w="576579" h="504190">
                <a:moveTo>
                  <a:pt x="288032" y="0"/>
                </a:moveTo>
                <a:lnTo>
                  <a:pt x="236258" y="4060"/>
                </a:lnTo>
                <a:lnTo>
                  <a:pt x="187528" y="15767"/>
                </a:lnTo>
                <a:lnTo>
                  <a:pt x="142657" y="34409"/>
                </a:lnTo>
                <a:lnTo>
                  <a:pt x="102456" y="59273"/>
                </a:lnTo>
                <a:lnTo>
                  <a:pt x="67741" y="89649"/>
                </a:lnTo>
                <a:lnTo>
                  <a:pt x="39324" y="124824"/>
                </a:lnTo>
                <a:lnTo>
                  <a:pt x="18020" y="164087"/>
                </a:lnTo>
                <a:lnTo>
                  <a:pt x="4640" y="206725"/>
                </a:lnTo>
                <a:lnTo>
                  <a:pt x="0" y="252027"/>
                </a:lnTo>
                <a:lnTo>
                  <a:pt x="4640" y="297329"/>
                </a:lnTo>
                <a:lnTo>
                  <a:pt x="18020" y="339968"/>
                </a:lnTo>
                <a:lnTo>
                  <a:pt x="39324" y="379230"/>
                </a:lnTo>
                <a:lnTo>
                  <a:pt x="67741" y="414405"/>
                </a:lnTo>
                <a:lnTo>
                  <a:pt x="102456" y="444781"/>
                </a:lnTo>
                <a:lnTo>
                  <a:pt x="142657" y="469646"/>
                </a:lnTo>
                <a:lnTo>
                  <a:pt x="187528" y="488287"/>
                </a:lnTo>
                <a:lnTo>
                  <a:pt x="236258" y="499994"/>
                </a:lnTo>
                <a:lnTo>
                  <a:pt x="288032" y="504055"/>
                </a:lnTo>
                <a:lnTo>
                  <a:pt x="339806" y="499994"/>
                </a:lnTo>
                <a:lnTo>
                  <a:pt x="388535" y="488287"/>
                </a:lnTo>
                <a:lnTo>
                  <a:pt x="433407" y="469646"/>
                </a:lnTo>
                <a:lnTo>
                  <a:pt x="473607" y="444781"/>
                </a:lnTo>
                <a:lnTo>
                  <a:pt x="508322" y="414405"/>
                </a:lnTo>
                <a:lnTo>
                  <a:pt x="536739" y="379230"/>
                </a:lnTo>
                <a:lnTo>
                  <a:pt x="539723" y="373731"/>
                </a:lnTo>
                <a:lnTo>
                  <a:pt x="288032" y="373731"/>
                </a:lnTo>
                <a:lnTo>
                  <a:pt x="238183" y="367527"/>
                </a:lnTo>
                <a:lnTo>
                  <a:pt x="194891" y="350249"/>
                </a:lnTo>
                <a:lnTo>
                  <a:pt x="160752" y="323904"/>
                </a:lnTo>
                <a:lnTo>
                  <a:pt x="138363" y="290495"/>
                </a:lnTo>
                <a:lnTo>
                  <a:pt x="130323" y="252027"/>
                </a:lnTo>
                <a:lnTo>
                  <a:pt x="138363" y="213559"/>
                </a:lnTo>
                <a:lnTo>
                  <a:pt x="160752" y="180151"/>
                </a:lnTo>
                <a:lnTo>
                  <a:pt x="194891" y="153805"/>
                </a:lnTo>
                <a:lnTo>
                  <a:pt x="238183" y="136528"/>
                </a:lnTo>
                <a:lnTo>
                  <a:pt x="288032" y="130323"/>
                </a:lnTo>
                <a:lnTo>
                  <a:pt x="539723" y="130323"/>
                </a:lnTo>
                <a:lnTo>
                  <a:pt x="536739" y="124824"/>
                </a:lnTo>
                <a:lnTo>
                  <a:pt x="508322" y="89649"/>
                </a:lnTo>
                <a:lnTo>
                  <a:pt x="473607" y="59273"/>
                </a:lnTo>
                <a:lnTo>
                  <a:pt x="433407" y="34409"/>
                </a:lnTo>
                <a:lnTo>
                  <a:pt x="388535" y="15767"/>
                </a:lnTo>
                <a:lnTo>
                  <a:pt x="339806" y="4060"/>
                </a:lnTo>
                <a:lnTo>
                  <a:pt x="288032" y="0"/>
                </a:lnTo>
                <a:close/>
              </a:path>
              <a:path w="576579" h="504190">
                <a:moveTo>
                  <a:pt x="539723" y="130323"/>
                </a:moveTo>
                <a:lnTo>
                  <a:pt x="288032" y="130323"/>
                </a:lnTo>
                <a:lnTo>
                  <a:pt x="337879" y="136528"/>
                </a:lnTo>
                <a:lnTo>
                  <a:pt x="381172" y="153805"/>
                </a:lnTo>
                <a:lnTo>
                  <a:pt x="415311" y="180151"/>
                </a:lnTo>
                <a:lnTo>
                  <a:pt x="437700" y="213559"/>
                </a:lnTo>
                <a:lnTo>
                  <a:pt x="445740" y="252027"/>
                </a:lnTo>
                <a:lnTo>
                  <a:pt x="437700" y="290495"/>
                </a:lnTo>
                <a:lnTo>
                  <a:pt x="415311" y="323904"/>
                </a:lnTo>
                <a:lnTo>
                  <a:pt x="381172" y="350249"/>
                </a:lnTo>
                <a:lnTo>
                  <a:pt x="337879" y="367527"/>
                </a:lnTo>
                <a:lnTo>
                  <a:pt x="288032" y="373731"/>
                </a:lnTo>
                <a:lnTo>
                  <a:pt x="539723" y="373731"/>
                </a:lnTo>
                <a:lnTo>
                  <a:pt x="558044" y="339968"/>
                </a:lnTo>
                <a:lnTo>
                  <a:pt x="571423" y="297329"/>
                </a:lnTo>
                <a:lnTo>
                  <a:pt x="576064" y="252027"/>
                </a:lnTo>
                <a:lnTo>
                  <a:pt x="571423" y="206725"/>
                </a:lnTo>
                <a:lnTo>
                  <a:pt x="558044" y="164087"/>
                </a:lnTo>
                <a:lnTo>
                  <a:pt x="539723" y="130323"/>
                </a:lnTo>
                <a:close/>
              </a:path>
            </a:pathLst>
          </a:custGeom>
          <a:solidFill>
            <a:srgbClr val="941100"/>
          </a:solidFill>
        </p:spPr>
        <p:txBody>
          <a:bodyPr wrap="square" lIns="0" tIns="0" rIns="0" bIns="0" rtlCol="0"/>
          <a:lstStyle/>
          <a:p/>
        </p:txBody>
      </p:sp>
      <p:sp>
        <p:nvSpPr>
          <p:cNvPr id="13" name="object 13"/>
          <p:cNvSpPr/>
          <p:nvPr/>
        </p:nvSpPr>
        <p:spPr>
          <a:xfrm>
            <a:off x="6384030" y="404665"/>
            <a:ext cx="576580" cy="504190"/>
          </a:xfrm>
          <a:custGeom>
            <a:avLst/>
            <a:gdLst/>
            <a:ahLst/>
            <a:cxnLst/>
            <a:rect l="l" t="t" r="r" b="b"/>
            <a:pathLst>
              <a:path w="576579" h="504190">
                <a:moveTo>
                  <a:pt x="0" y="252027"/>
                </a:moveTo>
                <a:lnTo>
                  <a:pt x="4640" y="206725"/>
                </a:lnTo>
                <a:lnTo>
                  <a:pt x="18020" y="164087"/>
                </a:lnTo>
                <a:lnTo>
                  <a:pt x="39324" y="124824"/>
                </a:lnTo>
                <a:lnTo>
                  <a:pt x="67741" y="89649"/>
                </a:lnTo>
                <a:lnTo>
                  <a:pt x="102456" y="59273"/>
                </a:lnTo>
                <a:lnTo>
                  <a:pt x="142656" y="34409"/>
                </a:lnTo>
                <a:lnTo>
                  <a:pt x="187528" y="15767"/>
                </a:lnTo>
                <a:lnTo>
                  <a:pt x="236257" y="4060"/>
                </a:lnTo>
                <a:lnTo>
                  <a:pt x="288031" y="0"/>
                </a:lnTo>
                <a:lnTo>
                  <a:pt x="339806" y="4060"/>
                </a:lnTo>
                <a:lnTo>
                  <a:pt x="388535" y="15767"/>
                </a:lnTo>
                <a:lnTo>
                  <a:pt x="433407" y="34409"/>
                </a:lnTo>
                <a:lnTo>
                  <a:pt x="473607" y="59273"/>
                </a:lnTo>
                <a:lnTo>
                  <a:pt x="508322" y="89649"/>
                </a:lnTo>
                <a:lnTo>
                  <a:pt x="536739" y="124824"/>
                </a:lnTo>
                <a:lnTo>
                  <a:pt x="558043" y="164087"/>
                </a:lnTo>
                <a:lnTo>
                  <a:pt x="571423" y="206725"/>
                </a:lnTo>
                <a:lnTo>
                  <a:pt x="576064" y="252027"/>
                </a:lnTo>
                <a:lnTo>
                  <a:pt x="571423" y="297330"/>
                </a:lnTo>
                <a:lnTo>
                  <a:pt x="558043" y="339968"/>
                </a:lnTo>
                <a:lnTo>
                  <a:pt x="536739" y="379231"/>
                </a:lnTo>
                <a:lnTo>
                  <a:pt x="508322" y="414406"/>
                </a:lnTo>
                <a:lnTo>
                  <a:pt x="473607" y="444782"/>
                </a:lnTo>
                <a:lnTo>
                  <a:pt x="433407" y="469646"/>
                </a:lnTo>
                <a:lnTo>
                  <a:pt x="388535" y="488288"/>
                </a:lnTo>
                <a:lnTo>
                  <a:pt x="339806" y="499995"/>
                </a:lnTo>
                <a:lnTo>
                  <a:pt x="288031" y="504056"/>
                </a:lnTo>
                <a:lnTo>
                  <a:pt x="236257" y="499995"/>
                </a:lnTo>
                <a:lnTo>
                  <a:pt x="187528" y="488288"/>
                </a:lnTo>
                <a:lnTo>
                  <a:pt x="142656" y="469646"/>
                </a:lnTo>
                <a:lnTo>
                  <a:pt x="102456" y="444782"/>
                </a:lnTo>
                <a:lnTo>
                  <a:pt x="67741" y="414406"/>
                </a:lnTo>
                <a:lnTo>
                  <a:pt x="39324" y="379231"/>
                </a:lnTo>
                <a:lnTo>
                  <a:pt x="18020" y="339968"/>
                </a:lnTo>
                <a:lnTo>
                  <a:pt x="4640" y="297330"/>
                </a:lnTo>
                <a:lnTo>
                  <a:pt x="0" y="252027"/>
                </a:lnTo>
                <a:close/>
              </a:path>
            </a:pathLst>
          </a:custGeom>
          <a:ln w="6349">
            <a:solidFill>
              <a:srgbClr val="6CACDD"/>
            </a:solidFill>
          </a:ln>
        </p:spPr>
        <p:txBody>
          <a:bodyPr wrap="square" lIns="0" tIns="0" rIns="0" bIns="0" rtlCol="0"/>
          <a:lstStyle/>
          <a:p/>
        </p:txBody>
      </p:sp>
      <p:sp>
        <p:nvSpPr>
          <p:cNvPr id="14" name="object 14"/>
          <p:cNvSpPr/>
          <p:nvPr/>
        </p:nvSpPr>
        <p:spPr>
          <a:xfrm>
            <a:off x="6514354" y="534989"/>
            <a:ext cx="315595" cy="243840"/>
          </a:xfrm>
          <a:custGeom>
            <a:avLst/>
            <a:gdLst/>
            <a:ahLst/>
            <a:cxnLst/>
            <a:rect l="l" t="t" r="r" b="b"/>
            <a:pathLst>
              <a:path w="315595" h="243840">
                <a:moveTo>
                  <a:pt x="0" y="121704"/>
                </a:moveTo>
                <a:lnTo>
                  <a:pt x="8040" y="160172"/>
                </a:lnTo>
                <a:lnTo>
                  <a:pt x="30428" y="193580"/>
                </a:lnTo>
                <a:lnTo>
                  <a:pt x="64567" y="219926"/>
                </a:lnTo>
                <a:lnTo>
                  <a:pt x="107860" y="237203"/>
                </a:lnTo>
                <a:lnTo>
                  <a:pt x="157708" y="243407"/>
                </a:lnTo>
                <a:lnTo>
                  <a:pt x="207555" y="237203"/>
                </a:lnTo>
                <a:lnTo>
                  <a:pt x="250848" y="219926"/>
                </a:lnTo>
                <a:lnTo>
                  <a:pt x="284987" y="193580"/>
                </a:lnTo>
                <a:lnTo>
                  <a:pt x="307376" y="160172"/>
                </a:lnTo>
                <a:lnTo>
                  <a:pt x="315416" y="121704"/>
                </a:lnTo>
                <a:lnTo>
                  <a:pt x="307376" y="83236"/>
                </a:lnTo>
                <a:lnTo>
                  <a:pt x="284987" y="49827"/>
                </a:lnTo>
                <a:lnTo>
                  <a:pt x="250848" y="23481"/>
                </a:lnTo>
                <a:lnTo>
                  <a:pt x="207555" y="6204"/>
                </a:lnTo>
                <a:lnTo>
                  <a:pt x="157708" y="0"/>
                </a:lnTo>
                <a:lnTo>
                  <a:pt x="107860" y="6204"/>
                </a:lnTo>
                <a:lnTo>
                  <a:pt x="64567" y="23481"/>
                </a:lnTo>
                <a:lnTo>
                  <a:pt x="30428" y="49827"/>
                </a:lnTo>
                <a:lnTo>
                  <a:pt x="8040" y="83236"/>
                </a:lnTo>
                <a:lnTo>
                  <a:pt x="0" y="121704"/>
                </a:lnTo>
                <a:close/>
              </a:path>
            </a:pathLst>
          </a:custGeom>
          <a:ln w="6349">
            <a:solidFill>
              <a:srgbClr val="6CACDD"/>
            </a:solidFill>
          </a:ln>
        </p:spPr>
        <p:txBody>
          <a:bodyPr wrap="square" lIns="0" tIns="0" rIns="0" bIns="0" rtlCol="0"/>
          <a:lstStyle/>
          <a:p/>
        </p:txBody>
      </p:sp>
      <p:sp>
        <p:nvSpPr>
          <p:cNvPr id="15" name="object 15"/>
          <p:cNvSpPr/>
          <p:nvPr/>
        </p:nvSpPr>
        <p:spPr>
          <a:xfrm>
            <a:off x="3428528" y="1049561"/>
            <a:ext cx="4758876" cy="2166589"/>
          </a:xfrm>
          <a:prstGeom prst="rect">
            <a:avLst/>
          </a:prstGeom>
          <a:blipFill>
            <a:blip r:embed="rId2" cstate="print"/>
            <a:stretch>
              <a:fillRect/>
            </a:stretch>
          </a:blipFill>
        </p:spPr>
        <p:txBody>
          <a:bodyPr wrap="square" lIns="0" tIns="0" rIns="0" bIns="0" rtlCol="0"/>
          <a:lstStyle/>
          <a:p/>
        </p:txBody>
      </p:sp>
      <p:sp>
        <p:nvSpPr>
          <p:cNvPr id="16" name="灯片编号占位符 15"/>
          <p:cNvSpPr>
            <a:spLocks noGrp="1"/>
          </p:cNvSpPr>
          <p:nvPr>
            <p:ph type="sldNum" sz="quarter" idx="7"/>
          </p:nvPr>
        </p:nvSpPr>
        <p:spPr/>
        <p:txBody>
          <a:bodyPr/>
          <a:lstStyle/>
          <a:p>
            <a:fld id="{B6F15528-21DE-4FAA-801E-634DDDAF4B2B}" type="slidenum">
              <a:rPr lang="en-US" altLang="zh-CN"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43453"/>
    </mc:Choice>
    <mc:Fallback>
      <p:transition spd="slow" advTm="43453"/>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8023645" y="3846355"/>
            <a:ext cx="2844798" cy="1968499"/>
          </a:xfrm>
          <a:prstGeom prst="rect">
            <a:avLst/>
          </a:prstGeom>
          <a:blipFill>
            <a:blip r:embed="rId1" cstate="print"/>
            <a:stretch>
              <a:fillRect/>
            </a:stretch>
          </a:blipFill>
        </p:spPr>
        <p:txBody>
          <a:bodyPr wrap="square" lIns="0" tIns="0" rIns="0" bIns="0" rtlCol="0"/>
          <a:lstStyle/>
          <a:p/>
        </p:txBody>
      </p:sp>
      <p:sp>
        <p:nvSpPr>
          <p:cNvPr id="8" name="标题 7"/>
          <p:cNvSpPr>
            <a:spLocks noGrp="1"/>
          </p:cNvSpPr>
          <p:nvPr>
            <p:ph type="title"/>
          </p:nvPr>
        </p:nvSpPr>
        <p:spPr/>
        <p:txBody>
          <a:bodyPr/>
          <a:lstStyle/>
          <a:p>
            <a:r>
              <a:rPr lang="en-US" altLang="zh-CN" dirty="0"/>
              <a:t>Object-Oriented Analysis</a:t>
            </a:r>
            <a:endParaRPr lang="zh-CN" altLang="en-US" dirty="0"/>
          </a:p>
        </p:txBody>
      </p:sp>
      <p:sp>
        <p:nvSpPr>
          <p:cNvPr id="9" name="文本框 8"/>
          <p:cNvSpPr txBox="1"/>
          <p:nvPr/>
        </p:nvSpPr>
        <p:spPr>
          <a:xfrm>
            <a:off x="756745" y="1690688"/>
            <a:ext cx="10408623" cy="3016210"/>
          </a:xfrm>
          <a:prstGeom prst="rect">
            <a:avLst/>
          </a:prstGeom>
          <a:noFill/>
        </p:spPr>
        <p:txBody>
          <a:bodyPr wrap="square" rtlCol="0">
            <a:spAutoFit/>
          </a:bodyPr>
          <a:lstStyle/>
          <a:p>
            <a:pPr marL="241300" indent="-228600">
              <a:lnSpc>
                <a:spcPct val="100000"/>
              </a:lnSpc>
              <a:spcBef>
                <a:spcPts val="100"/>
              </a:spcBef>
              <a:buFont typeface="Arial" panose="020B0604020202020204"/>
              <a:buChar char="•"/>
              <a:tabLst>
                <a:tab pos="241300" algn="l"/>
              </a:tabLst>
            </a:pPr>
            <a:r>
              <a:rPr lang="zh-CN" altLang="en-US" sz="2800" dirty="0">
                <a:latin typeface="微软雅黑" panose="020B0503020204020204" pitchFamily="34" charset="-122"/>
                <a:ea typeface="微软雅黑" panose="020B0503020204020204" pitchFamily="34" charset="-122"/>
                <a:cs typeface="Arial Unicode MS"/>
              </a:rPr>
              <a:t>面向对象分析技术关注应用领域中的实体，并将其建模为</a:t>
            </a:r>
            <a:r>
              <a:rPr lang="zh-CN" altLang="en-US" sz="2800" dirty="0">
                <a:solidFill>
                  <a:srgbClr val="FF0000"/>
                </a:solidFill>
                <a:latin typeface="微软雅黑" panose="020B0503020204020204" pitchFamily="34" charset="-122"/>
                <a:ea typeface="微软雅黑" panose="020B0503020204020204" pitchFamily="34" charset="-122"/>
                <a:cs typeface="Arial Unicode MS"/>
              </a:rPr>
              <a:t>对象</a:t>
            </a:r>
            <a:endParaRPr lang="zh-CN" altLang="en-US" sz="2800" dirty="0">
              <a:latin typeface="微软雅黑" panose="020B0503020204020204" pitchFamily="34" charset="-122"/>
              <a:ea typeface="微软雅黑" panose="020B0503020204020204" pitchFamily="34" charset="-122"/>
              <a:cs typeface="Arial Unicode MS"/>
            </a:endParaRPr>
          </a:p>
          <a:p>
            <a:pPr marL="241300" indent="-228600">
              <a:lnSpc>
                <a:spcPct val="100000"/>
              </a:lnSpc>
              <a:spcBef>
                <a:spcPts val="1960"/>
              </a:spcBef>
              <a:buFont typeface="Arial" panose="020B0604020202020204"/>
              <a:buChar char="•"/>
              <a:tabLst>
                <a:tab pos="241300" algn="l"/>
              </a:tabLst>
            </a:pPr>
            <a:r>
              <a:rPr lang="zh-CN" altLang="en-US" sz="2800" dirty="0">
                <a:latin typeface="微软雅黑" panose="020B0503020204020204" pitchFamily="34" charset="-122"/>
                <a:ea typeface="微软雅黑" panose="020B0503020204020204" pitchFamily="34" charset="-122"/>
                <a:cs typeface="Arial Unicode MS"/>
              </a:rPr>
              <a:t>面向对象分析技术主要基于</a:t>
            </a:r>
            <a:r>
              <a:rPr lang="zh-CN" altLang="en-US" sz="2800" dirty="0">
                <a:solidFill>
                  <a:srgbClr val="FF0000"/>
                </a:solidFill>
                <a:latin typeface="微软雅黑" panose="020B0503020204020204" pitchFamily="34" charset="-122"/>
                <a:ea typeface="微软雅黑" panose="020B0503020204020204" pitchFamily="34" charset="-122"/>
                <a:cs typeface="Arial Unicode MS"/>
              </a:rPr>
              <a:t>分类</a:t>
            </a:r>
            <a:r>
              <a:rPr lang="zh-CN" altLang="en-US" sz="2800" dirty="0">
                <a:latin typeface="微软雅黑" panose="020B0503020204020204" pitchFamily="34" charset="-122"/>
                <a:ea typeface="微软雅黑" panose="020B0503020204020204" pitchFamily="34" charset="-122"/>
                <a:cs typeface="Arial Unicode MS"/>
              </a:rPr>
              <a:t>、</a:t>
            </a:r>
            <a:r>
              <a:rPr lang="zh-CN" altLang="en-US" sz="2800" dirty="0">
                <a:solidFill>
                  <a:srgbClr val="FF0000"/>
                </a:solidFill>
                <a:latin typeface="微软雅黑" panose="020B0503020204020204" pitchFamily="34" charset="-122"/>
                <a:ea typeface="微软雅黑" panose="020B0503020204020204" pitchFamily="34" charset="-122"/>
                <a:cs typeface="Arial Unicode MS"/>
              </a:rPr>
              <a:t>泛化</a:t>
            </a:r>
            <a:r>
              <a:rPr lang="zh-CN" altLang="en-US" sz="2800" dirty="0">
                <a:latin typeface="微软雅黑" panose="020B0503020204020204" pitchFamily="34" charset="-122"/>
                <a:ea typeface="微软雅黑" panose="020B0503020204020204" pitchFamily="34" charset="-122"/>
                <a:cs typeface="Arial Unicode MS"/>
              </a:rPr>
              <a:t>、</a:t>
            </a:r>
            <a:r>
              <a:rPr lang="zh-CN" altLang="en-US" sz="2800" dirty="0">
                <a:solidFill>
                  <a:srgbClr val="FF0000"/>
                </a:solidFill>
                <a:latin typeface="微软雅黑" panose="020B0503020204020204" pitchFamily="34" charset="-122"/>
                <a:ea typeface="微软雅黑" panose="020B0503020204020204" pitchFamily="34" charset="-122"/>
                <a:cs typeface="Arial Unicode MS"/>
              </a:rPr>
              <a:t>聚合</a:t>
            </a:r>
            <a:r>
              <a:rPr lang="zh-CN" altLang="en-US" sz="2800" dirty="0">
                <a:latin typeface="微软雅黑" panose="020B0503020204020204" pitchFamily="34" charset="-122"/>
                <a:ea typeface="微软雅黑" panose="020B0503020204020204" pitchFamily="34" charset="-122"/>
                <a:cs typeface="Arial Unicode MS"/>
              </a:rPr>
              <a:t>关系，在对象集合之间建立</a:t>
            </a:r>
            <a:r>
              <a:rPr lang="zh-CN" altLang="en-US" sz="2800" dirty="0">
                <a:solidFill>
                  <a:srgbClr val="FF0000"/>
                </a:solidFill>
                <a:latin typeface="微软雅黑" panose="020B0503020204020204" pitchFamily="34" charset="-122"/>
                <a:ea typeface="微软雅黑" panose="020B0503020204020204" pitchFamily="34" charset="-122"/>
                <a:cs typeface="Arial Unicode MS"/>
              </a:rPr>
              <a:t>结构</a:t>
            </a:r>
            <a:endParaRPr lang="zh-CN" altLang="en-US" sz="2800" dirty="0">
              <a:latin typeface="微软雅黑" panose="020B0503020204020204" pitchFamily="34" charset="-122"/>
              <a:ea typeface="微软雅黑" panose="020B0503020204020204" pitchFamily="34" charset="-122"/>
              <a:cs typeface="Arial Unicode MS"/>
            </a:endParaRPr>
          </a:p>
          <a:p>
            <a:pPr marL="241300" indent="-228600">
              <a:lnSpc>
                <a:spcPct val="100000"/>
              </a:lnSpc>
              <a:spcBef>
                <a:spcPts val="2020"/>
              </a:spcBef>
              <a:buFont typeface="Arial" panose="020B0604020202020204"/>
              <a:buChar char="•"/>
              <a:tabLst>
                <a:tab pos="241300" algn="l"/>
              </a:tabLst>
            </a:pPr>
            <a:r>
              <a:rPr lang="zh-CN" altLang="en-US" sz="2800" dirty="0">
                <a:latin typeface="微软雅黑" panose="020B0503020204020204" pitchFamily="34" charset="-122"/>
                <a:ea typeface="微软雅黑" panose="020B0503020204020204" pitchFamily="34" charset="-122"/>
                <a:cs typeface="Arial Unicode MS"/>
              </a:rPr>
              <a:t>对象的行为是执行预定的</a:t>
            </a:r>
            <a:r>
              <a:rPr lang="zh-CN" altLang="en-US" sz="2800" dirty="0">
                <a:solidFill>
                  <a:srgbClr val="FF0000"/>
                </a:solidFill>
                <a:latin typeface="微软雅黑" panose="020B0503020204020204" pitchFamily="34" charset="-122"/>
                <a:ea typeface="微软雅黑" panose="020B0503020204020204" pitchFamily="34" charset="-122"/>
                <a:cs typeface="Arial Unicode MS"/>
              </a:rPr>
              <a:t>动作</a:t>
            </a:r>
            <a:r>
              <a:rPr lang="zh-CN" altLang="en-US" sz="2800" dirty="0">
                <a:latin typeface="微软雅黑" panose="020B0503020204020204" pitchFamily="34" charset="-122"/>
                <a:ea typeface="微软雅黑" panose="020B0503020204020204" pitchFamily="34" charset="-122"/>
                <a:cs typeface="Arial Unicode MS"/>
              </a:rPr>
              <a:t>（</a:t>
            </a:r>
            <a:r>
              <a:rPr lang="zh-CN" altLang="en-US" sz="2800" dirty="0">
                <a:solidFill>
                  <a:srgbClr val="FF0000"/>
                </a:solidFill>
                <a:latin typeface="微软雅黑" panose="020B0503020204020204" pitchFamily="34" charset="-122"/>
                <a:ea typeface="微软雅黑" panose="020B0503020204020204" pitchFamily="34" charset="-122"/>
                <a:cs typeface="Arial Unicode MS"/>
              </a:rPr>
              <a:t>服务</a:t>
            </a:r>
            <a:r>
              <a:rPr lang="en-US" altLang="zh-CN" sz="2800" baseline="3000" dirty="0">
                <a:latin typeface="微软雅黑" panose="020B0503020204020204" pitchFamily="34" charset="-122"/>
                <a:ea typeface="微软雅黑" panose="020B0503020204020204" pitchFamily="34" charset="-122"/>
                <a:cs typeface="Franklin Gothic Book" panose="020B0503020102020204"/>
              </a:rPr>
              <a:t>/</a:t>
            </a:r>
            <a:r>
              <a:rPr lang="zh-CN" altLang="en-US" sz="2800" dirty="0">
                <a:solidFill>
                  <a:srgbClr val="FF0000"/>
                </a:solidFill>
                <a:latin typeface="微软雅黑" panose="020B0503020204020204" pitchFamily="34" charset="-122"/>
                <a:ea typeface="微软雅黑" panose="020B0503020204020204" pitchFamily="34" charset="-122"/>
                <a:cs typeface="Arial Unicode MS"/>
              </a:rPr>
              <a:t>活动</a:t>
            </a:r>
            <a:r>
              <a:rPr lang="zh-CN" altLang="en-US" sz="2800" dirty="0">
                <a:latin typeface="微软雅黑" panose="020B0503020204020204" pitchFamily="34" charset="-122"/>
                <a:ea typeface="微软雅黑" panose="020B0503020204020204" pitchFamily="34" charset="-122"/>
                <a:cs typeface="Arial Unicode MS"/>
              </a:rPr>
              <a:t>）</a:t>
            </a:r>
            <a:endParaRPr lang="zh-CN" altLang="en-US" sz="2800" dirty="0">
              <a:latin typeface="微软雅黑" panose="020B0503020204020204" pitchFamily="34" charset="-122"/>
              <a:ea typeface="微软雅黑" panose="020B0503020204020204" pitchFamily="34" charset="-122"/>
              <a:cs typeface="Arial Unicode MS"/>
            </a:endParaRPr>
          </a:p>
          <a:p>
            <a:pPr marL="241300" indent="-228600">
              <a:lnSpc>
                <a:spcPct val="100000"/>
              </a:lnSpc>
              <a:spcBef>
                <a:spcPts val="2020"/>
              </a:spcBef>
              <a:buFont typeface="Arial" panose="020B0604020202020204"/>
              <a:buChar char="•"/>
              <a:tabLst>
                <a:tab pos="241300" algn="l"/>
              </a:tabLst>
            </a:pPr>
            <a:r>
              <a:rPr lang="zh-CN" altLang="en-US" sz="2800" dirty="0">
                <a:latin typeface="微软雅黑" panose="020B0503020204020204" pitchFamily="34" charset="-122"/>
                <a:ea typeface="微软雅黑" panose="020B0503020204020204" pitchFamily="34" charset="-122"/>
                <a:cs typeface="Arial Unicode MS"/>
              </a:rPr>
              <a:t>对象通过执行动作来完成</a:t>
            </a:r>
            <a:r>
              <a:rPr lang="zh-CN" altLang="en-US" sz="2800" dirty="0">
                <a:solidFill>
                  <a:srgbClr val="FF0000"/>
                </a:solidFill>
                <a:latin typeface="微软雅黑" panose="020B0503020204020204" pitchFamily="34" charset="-122"/>
                <a:ea typeface="微软雅黑" panose="020B0503020204020204" pitchFamily="34" charset="-122"/>
                <a:cs typeface="Arial Unicode MS"/>
              </a:rPr>
              <a:t>状态变迁</a:t>
            </a:r>
            <a:endParaRPr lang="zh-CN" altLang="en-US" sz="2800" dirty="0">
              <a:latin typeface="微软雅黑" panose="020B0503020204020204" pitchFamily="34" charset="-122"/>
              <a:ea typeface="微软雅黑" panose="020B0503020204020204" pitchFamily="34" charset="-122"/>
              <a:cs typeface="Arial Unicode MS"/>
            </a:endParaRPr>
          </a:p>
        </p:txBody>
      </p:sp>
      <p:sp>
        <p:nvSpPr>
          <p:cNvPr id="2" name="灯片编号占位符 1"/>
          <p:cNvSpPr>
            <a:spLocks noGrp="1"/>
          </p:cNvSpPr>
          <p:nvPr>
            <p:ph type="sldNum" sz="quarter" idx="12"/>
          </p:nvPr>
        </p:nvSpPr>
        <p:spPr/>
        <p:txBody>
          <a:bodyPr/>
          <a:lstStyle/>
          <a:p>
            <a:fld id="{74D2AB8B-5816-41F2-8B4B-CA5C3E4E6A6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66104"/>
    </mc:Choice>
    <mc:Fallback>
      <p:transition spd="slow" advTm="66104"/>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38199" y="1467480"/>
            <a:ext cx="6256283" cy="3227422"/>
          </a:xfrm>
          <a:prstGeom prst="rect">
            <a:avLst/>
          </a:prstGeom>
        </p:spPr>
        <p:txBody>
          <a:bodyPr vert="horz" wrap="square" lIns="0" tIns="205740" rIns="0" bIns="0" rtlCol="0">
            <a:spAutoFit/>
          </a:bodyPr>
          <a:lstStyle/>
          <a:p>
            <a:pPr marL="241300" indent="-228600">
              <a:lnSpc>
                <a:spcPct val="100000"/>
              </a:lnSpc>
              <a:spcBef>
                <a:spcPts val="1620"/>
              </a:spcBef>
              <a:buFont typeface="Arial" panose="020B0604020202020204"/>
              <a:buChar char="•"/>
              <a:tabLst>
                <a:tab pos="241300" algn="l"/>
                <a:tab pos="3893820" algn="l"/>
              </a:tabLst>
            </a:pPr>
            <a:r>
              <a:rPr sz="2400" spc="-5" dirty="0">
                <a:latin typeface="微软雅黑" panose="020B0503020204020204" pitchFamily="34" charset="-122"/>
                <a:ea typeface="微软雅黑" panose="020B0503020204020204" pitchFamily="34" charset="-122"/>
                <a:cs typeface="Calibri" panose="020F0502020204030204"/>
              </a:rPr>
              <a:t>Peter</a:t>
            </a:r>
            <a:r>
              <a:rPr sz="2400" spc="10" dirty="0">
                <a:latin typeface="微软雅黑" panose="020B0503020204020204" pitchFamily="34" charset="-122"/>
                <a:ea typeface="微软雅黑" panose="020B0503020204020204" pitchFamily="34" charset="-122"/>
                <a:cs typeface="Calibri" panose="020F0502020204030204"/>
              </a:rPr>
              <a:t> </a:t>
            </a:r>
            <a:r>
              <a:rPr sz="2400" spc="-5" dirty="0">
                <a:latin typeface="微软雅黑" panose="020B0503020204020204" pitchFamily="34" charset="-122"/>
                <a:ea typeface="微软雅黑" panose="020B0503020204020204" pitchFamily="34" charset="-122"/>
                <a:cs typeface="Calibri" panose="020F0502020204030204"/>
              </a:rPr>
              <a:t>Coad</a:t>
            </a:r>
            <a:r>
              <a:rPr sz="2400" dirty="0">
                <a:latin typeface="微软雅黑" panose="020B0503020204020204" pitchFamily="34" charset="-122"/>
                <a:ea typeface="微软雅黑" panose="020B0503020204020204" pitchFamily="34" charset="-122"/>
                <a:cs typeface="黑体" panose="02010609060101010101" charset="-122"/>
              </a:rPr>
              <a:t>的面向对象方法	[Coad91]</a:t>
            </a:r>
            <a:endParaRPr sz="2400" dirty="0">
              <a:latin typeface="微软雅黑" panose="020B0503020204020204" pitchFamily="34" charset="-122"/>
              <a:ea typeface="微软雅黑" panose="020B0503020204020204" pitchFamily="34" charset="-122"/>
              <a:cs typeface="黑体" panose="02010609060101010101" charset="-122"/>
            </a:endParaRPr>
          </a:p>
          <a:p>
            <a:pPr marL="240665" marR="5080" indent="-228600">
              <a:lnSpc>
                <a:spcPct val="122000"/>
              </a:lnSpc>
              <a:spcBef>
                <a:spcPts val="90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黑体" panose="02010609060101010101" charset="-122"/>
              </a:rPr>
              <a:t>“</a:t>
            </a:r>
            <a:r>
              <a:rPr sz="2400" dirty="0">
                <a:solidFill>
                  <a:srgbClr val="800000"/>
                </a:solidFill>
                <a:latin typeface="微软雅黑" panose="020B0503020204020204" pitchFamily="34" charset="-122"/>
                <a:ea typeface="微软雅黑" panose="020B0503020204020204" pitchFamily="34" charset="-122"/>
                <a:cs typeface="黑体" panose="02010609060101010101" charset="-122"/>
              </a:rPr>
              <a:t>对象</a:t>
            </a:r>
            <a:r>
              <a:rPr sz="2400" dirty="0">
                <a:latin typeface="微软雅黑" panose="020B0503020204020204" pitchFamily="34" charset="-122"/>
                <a:ea typeface="微软雅黑" panose="020B0503020204020204" pitchFamily="34" charset="-122"/>
                <a:cs typeface="黑体" panose="02010609060101010101" charset="-122"/>
              </a:rPr>
              <a:t>”是问题领域中真实存在的实体， 有“</a:t>
            </a:r>
            <a:r>
              <a:rPr sz="2400" dirty="0">
                <a:solidFill>
                  <a:srgbClr val="800000"/>
                </a:solidFill>
                <a:latin typeface="微软雅黑" panose="020B0503020204020204" pitchFamily="34" charset="-122"/>
                <a:ea typeface="微软雅黑" panose="020B0503020204020204" pitchFamily="34" charset="-122"/>
                <a:cs typeface="黑体" panose="02010609060101010101" charset="-122"/>
              </a:rPr>
              <a:t>定义清晰的边界</a:t>
            </a:r>
            <a:r>
              <a:rPr sz="2400" dirty="0">
                <a:latin typeface="微软雅黑" panose="020B0503020204020204" pitchFamily="34" charset="-122"/>
                <a:ea typeface="微软雅黑" panose="020B0503020204020204" pitchFamily="34" charset="-122"/>
                <a:cs typeface="黑体" panose="02010609060101010101" charset="-122"/>
              </a:rPr>
              <a:t>”</a:t>
            </a:r>
            <a:endParaRPr sz="2400" dirty="0">
              <a:latin typeface="微软雅黑" panose="020B0503020204020204" pitchFamily="34" charset="-122"/>
              <a:ea typeface="微软雅黑" panose="020B0503020204020204" pitchFamily="34" charset="-122"/>
              <a:cs typeface="黑体" panose="02010609060101010101" charset="-122"/>
            </a:endParaRPr>
          </a:p>
          <a:p>
            <a:pPr marL="241300" indent="-228600">
              <a:lnSpc>
                <a:spcPct val="100000"/>
              </a:lnSpc>
              <a:spcBef>
                <a:spcPts val="15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黑体" panose="02010609060101010101" charset="-122"/>
              </a:rPr>
              <a:t>对象中封装有</a:t>
            </a:r>
            <a:r>
              <a:rPr sz="2400" dirty="0">
                <a:solidFill>
                  <a:srgbClr val="800000"/>
                </a:solidFill>
                <a:latin typeface="微软雅黑" panose="020B0503020204020204" pitchFamily="34" charset="-122"/>
                <a:ea typeface="微软雅黑" panose="020B0503020204020204" pitchFamily="34" charset="-122"/>
                <a:cs typeface="黑体" panose="02010609060101010101" charset="-122"/>
              </a:rPr>
              <a:t>属性</a:t>
            </a:r>
            <a:r>
              <a:rPr sz="2400" dirty="0">
                <a:latin typeface="微软雅黑" panose="020B0503020204020204" pitchFamily="34" charset="-122"/>
                <a:ea typeface="微软雅黑" panose="020B0503020204020204" pitchFamily="34" charset="-122"/>
                <a:cs typeface="黑体" panose="02010609060101010101" charset="-122"/>
              </a:rPr>
              <a:t>和</a:t>
            </a:r>
            <a:r>
              <a:rPr sz="2400" dirty="0">
                <a:solidFill>
                  <a:srgbClr val="800000"/>
                </a:solidFill>
                <a:latin typeface="微软雅黑" panose="020B0503020204020204" pitchFamily="34" charset="-122"/>
                <a:ea typeface="微软雅黑" panose="020B0503020204020204" pitchFamily="34" charset="-122"/>
                <a:cs typeface="黑体" panose="02010609060101010101" charset="-122"/>
              </a:rPr>
              <a:t>行为</a:t>
            </a:r>
            <a:endParaRPr sz="2400" dirty="0">
              <a:latin typeface="微软雅黑" panose="020B0503020204020204" pitchFamily="34" charset="-122"/>
              <a:ea typeface="微软雅黑" panose="020B0503020204020204" pitchFamily="34" charset="-122"/>
              <a:cs typeface="黑体" panose="02010609060101010101" charset="-122"/>
            </a:endParaRPr>
          </a:p>
          <a:p>
            <a:pPr marL="241300" indent="-228600">
              <a:lnSpc>
                <a:spcPct val="100000"/>
              </a:lnSpc>
              <a:spcBef>
                <a:spcPts val="16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黑体" panose="02010609060101010101" charset="-122"/>
              </a:rPr>
              <a:t>面向对象分析的五个核心概念：</a:t>
            </a:r>
            <a:endParaRPr sz="2400" dirty="0">
              <a:latin typeface="微软雅黑" panose="020B0503020204020204" pitchFamily="34" charset="-122"/>
              <a:ea typeface="微软雅黑" panose="020B0503020204020204" pitchFamily="34" charset="-122"/>
              <a:cs typeface="黑体" panose="02010609060101010101" charset="-122"/>
            </a:endParaRPr>
          </a:p>
          <a:p>
            <a:pPr marL="698500" lvl="1" indent="-228600">
              <a:lnSpc>
                <a:spcPct val="100000"/>
              </a:lnSpc>
              <a:spcBef>
                <a:spcPts val="1020"/>
              </a:spcBef>
              <a:buFont typeface="Arial" panose="020B0604020202020204"/>
              <a:buChar char="•"/>
              <a:tabLst>
                <a:tab pos="698500" algn="l"/>
              </a:tabLst>
            </a:pPr>
            <a:r>
              <a:rPr sz="2400" dirty="0">
                <a:solidFill>
                  <a:srgbClr val="800000"/>
                </a:solidFill>
                <a:latin typeface="微软雅黑" panose="020B0503020204020204" pitchFamily="34" charset="-122"/>
                <a:ea typeface="微软雅黑" panose="020B0503020204020204" pitchFamily="34" charset="-122"/>
                <a:cs typeface="黑体" panose="02010609060101010101" charset="-122"/>
              </a:rPr>
              <a:t>对象</a:t>
            </a:r>
            <a:r>
              <a:rPr sz="2400" dirty="0">
                <a:latin typeface="微软雅黑" panose="020B0503020204020204" pitchFamily="34" charset="-122"/>
                <a:ea typeface="微软雅黑" panose="020B0503020204020204" pitchFamily="34" charset="-122"/>
                <a:cs typeface="黑体" panose="02010609060101010101" charset="-122"/>
              </a:rPr>
              <a:t>、</a:t>
            </a:r>
            <a:r>
              <a:rPr sz="2400" dirty="0">
                <a:solidFill>
                  <a:srgbClr val="800000"/>
                </a:solidFill>
                <a:latin typeface="微软雅黑" panose="020B0503020204020204" pitchFamily="34" charset="-122"/>
                <a:ea typeface="微软雅黑" panose="020B0503020204020204" pitchFamily="34" charset="-122"/>
                <a:cs typeface="黑体" panose="02010609060101010101" charset="-122"/>
              </a:rPr>
              <a:t>属性</a:t>
            </a:r>
            <a:r>
              <a:rPr sz="2400" dirty="0">
                <a:latin typeface="微软雅黑" panose="020B0503020204020204" pitchFamily="34" charset="-122"/>
                <a:ea typeface="微软雅黑" panose="020B0503020204020204" pitchFamily="34" charset="-122"/>
                <a:cs typeface="黑体" panose="02010609060101010101" charset="-122"/>
              </a:rPr>
              <a:t>、</a:t>
            </a:r>
            <a:r>
              <a:rPr sz="2400" dirty="0">
                <a:solidFill>
                  <a:srgbClr val="800000"/>
                </a:solidFill>
                <a:latin typeface="微软雅黑" panose="020B0503020204020204" pitchFamily="34" charset="-122"/>
                <a:ea typeface="微软雅黑" panose="020B0503020204020204" pitchFamily="34" charset="-122"/>
                <a:cs typeface="黑体" panose="02010609060101010101" charset="-122"/>
              </a:rPr>
              <a:t>结构</a:t>
            </a:r>
            <a:r>
              <a:rPr sz="2400" dirty="0">
                <a:latin typeface="微软雅黑" panose="020B0503020204020204" pitchFamily="34" charset="-122"/>
                <a:ea typeface="微软雅黑" panose="020B0503020204020204" pitchFamily="34" charset="-122"/>
                <a:cs typeface="黑体" panose="02010609060101010101" charset="-122"/>
              </a:rPr>
              <a:t>、</a:t>
            </a:r>
            <a:r>
              <a:rPr sz="2400" dirty="0">
                <a:solidFill>
                  <a:srgbClr val="800000"/>
                </a:solidFill>
                <a:latin typeface="微软雅黑" panose="020B0503020204020204" pitchFamily="34" charset="-122"/>
                <a:ea typeface="微软雅黑" panose="020B0503020204020204" pitchFamily="34" charset="-122"/>
                <a:cs typeface="黑体" panose="02010609060101010101" charset="-122"/>
              </a:rPr>
              <a:t>服务</a:t>
            </a:r>
            <a:r>
              <a:rPr sz="2400" dirty="0">
                <a:latin typeface="微软雅黑" panose="020B0503020204020204" pitchFamily="34" charset="-122"/>
                <a:ea typeface="微软雅黑" panose="020B0503020204020204" pitchFamily="34" charset="-122"/>
                <a:cs typeface="黑体" panose="02010609060101010101" charset="-122"/>
              </a:rPr>
              <a:t>和</a:t>
            </a:r>
            <a:r>
              <a:rPr sz="2400" dirty="0">
                <a:solidFill>
                  <a:srgbClr val="800000"/>
                </a:solidFill>
                <a:latin typeface="微软雅黑" panose="020B0503020204020204" pitchFamily="34" charset="-122"/>
                <a:ea typeface="微软雅黑" panose="020B0503020204020204" pitchFamily="34" charset="-122"/>
                <a:cs typeface="黑体" panose="02010609060101010101" charset="-122"/>
              </a:rPr>
              <a:t>主题</a:t>
            </a:r>
            <a:endParaRPr sz="2400" dirty="0">
              <a:latin typeface="微软雅黑" panose="020B0503020204020204" pitchFamily="34" charset="-122"/>
              <a:ea typeface="微软雅黑" panose="020B0503020204020204" pitchFamily="34" charset="-122"/>
              <a:cs typeface="黑体" panose="02010609060101010101" charset="-122"/>
            </a:endParaRPr>
          </a:p>
        </p:txBody>
      </p:sp>
      <p:sp>
        <p:nvSpPr>
          <p:cNvPr id="4" name="object 4"/>
          <p:cNvSpPr txBox="1"/>
          <p:nvPr/>
        </p:nvSpPr>
        <p:spPr>
          <a:xfrm>
            <a:off x="11178540" y="6491922"/>
            <a:ext cx="10160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636363"/>
                </a:solidFill>
                <a:latin typeface="黑体" panose="02010609060101010101" charset="-122"/>
                <a:cs typeface="黑体" panose="02010609060101010101" charset="-122"/>
              </a:rPr>
              <a:t>5</a:t>
            </a:r>
            <a:endParaRPr sz="1200">
              <a:latin typeface="黑体" panose="02010609060101010101" charset="-122"/>
              <a:cs typeface="黑体" panose="02010609060101010101" charset="-122"/>
            </a:endParaRPr>
          </a:p>
        </p:txBody>
      </p:sp>
      <p:sp>
        <p:nvSpPr>
          <p:cNvPr id="5" name="object 5"/>
          <p:cNvSpPr/>
          <p:nvPr/>
        </p:nvSpPr>
        <p:spPr>
          <a:xfrm>
            <a:off x="8174931" y="4365625"/>
            <a:ext cx="3293745" cy="1676400"/>
          </a:xfrm>
          <a:custGeom>
            <a:avLst/>
            <a:gdLst/>
            <a:ahLst/>
            <a:cxnLst/>
            <a:rect l="l" t="t" r="r" b="b"/>
            <a:pathLst>
              <a:path w="3293745" h="1676400">
                <a:moveTo>
                  <a:pt x="3013767" y="0"/>
                </a:moveTo>
                <a:lnTo>
                  <a:pt x="279400" y="0"/>
                </a:lnTo>
                <a:lnTo>
                  <a:pt x="234080" y="3656"/>
                </a:lnTo>
                <a:lnTo>
                  <a:pt x="191088" y="14243"/>
                </a:lnTo>
                <a:lnTo>
                  <a:pt x="150999" y="31186"/>
                </a:lnTo>
                <a:lnTo>
                  <a:pt x="114390" y="53907"/>
                </a:lnTo>
                <a:lnTo>
                  <a:pt x="81834" y="81834"/>
                </a:lnTo>
                <a:lnTo>
                  <a:pt x="53908" y="114389"/>
                </a:lnTo>
                <a:lnTo>
                  <a:pt x="31186" y="150999"/>
                </a:lnTo>
                <a:lnTo>
                  <a:pt x="14244" y="191087"/>
                </a:lnTo>
                <a:lnTo>
                  <a:pt x="3656" y="234079"/>
                </a:lnTo>
                <a:lnTo>
                  <a:pt x="0" y="279400"/>
                </a:lnTo>
                <a:lnTo>
                  <a:pt x="0" y="1396999"/>
                </a:lnTo>
                <a:lnTo>
                  <a:pt x="3656" y="1442319"/>
                </a:lnTo>
                <a:lnTo>
                  <a:pt x="14244" y="1485311"/>
                </a:lnTo>
                <a:lnTo>
                  <a:pt x="31186" y="1525400"/>
                </a:lnTo>
                <a:lnTo>
                  <a:pt x="53908" y="1562009"/>
                </a:lnTo>
                <a:lnTo>
                  <a:pt x="81834" y="1594565"/>
                </a:lnTo>
                <a:lnTo>
                  <a:pt x="114390" y="1622491"/>
                </a:lnTo>
                <a:lnTo>
                  <a:pt x="150999" y="1645213"/>
                </a:lnTo>
                <a:lnTo>
                  <a:pt x="191088" y="1662155"/>
                </a:lnTo>
                <a:lnTo>
                  <a:pt x="234080" y="1672742"/>
                </a:lnTo>
                <a:lnTo>
                  <a:pt x="279400" y="1676399"/>
                </a:lnTo>
                <a:lnTo>
                  <a:pt x="3013767" y="1676399"/>
                </a:lnTo>
                <a:lnTo>
                  <a:pt x="3059087" y="1672742"/>
                </a:lnTo>
                <a:lnTo>
                  <a:pt x="3102079" y="1662155"/>
                </a:lnTo>
                <a:lnTo>
                  <a:pt x="3142167" y="1645213"/>
                </a:lnTo>
                <a:lnTo>
                  <a:pt x="3178777" y="1622491"/>
                </a:lnTo>
                <a:lnTo>
                  <a:pt x="3211332" y="1594565"/>
                </a:lnTo>
                <a:lnTo>
                  <a:pt x="3239259" y="1562009"/>
                </a:lnTo>
                <a:lnTo>
                  <a:pt x="3261981" y="1525400"/>
                </a:lnTo>
                <a:lnTo>
                  <a:pt x="3278923" y="1485311"/>
                </a:lnTo>
                <a:lnTo>
                  <a:pt x="3289510" y="1442319"/>
                </a:lnTo>
                <a:lnTo>
                  <a:pt x="3293167" y="1396999"/>
                </a:lnTo>
                <a:lnTo>
                  <a:pt x="3293167" y="279400"/>
                </a:lnTo>
                <a:lnTo>
                  <a:pt x="3289510" y="234079"/>
                </a:lnTo>
                <a:lnTo>
                  <a:pt x="3278923" y="191087"/>
                </a:lnTo>
                <a:lnTo>
                  <a:pt x="3261981" y="150999"/>
                </a:lnTo>
                <a:lnTo>
                  <a:pt x="3239259" y="114389"/>
                </a:lnTo>
                <a:lnTo>
                  <a:pt x="3211332" y="81834"/>
                </a:lnTo>
                <a:lnTo>
                  <a:pt x="3178777" y="53907"/>
                </a:lnTo>
                <a:lnTo>
                  <a:pt x="3142167" y="31186"/>
                </a:lnTo>
                <a:lnTo>
                  <a:pt x="3102079" y="14243"/>
                </a:lnTo>
                <a:lnTo>
                  <a:pt x="3059087" y="3656"/>
                </a:lnTo>
                <a:lnTo>
                  <a:pt x="3013767" y="0"/>
                </a:lnTo>
                <a:close/>
              </a:path>
            </a:pathLst>
          </a:custGeom>
          <a:solidFill>
            <a:srgbClr val="FFD5A9"/>
          </a:solidFill>
        </p:spPr>
        <p:txBody>
          <a:bodyPr wrap="square" lIns="0" tIns="0" rIns="0" bIns="0" rtlCol="0"/>
          <a:lstStyle/>
          <a:p/>
        </p:txBody>
      </p:sp>
      <p:sp>
        <p:nvSpPr>
          <p:cNvPr id="6" name="object 6"/>
          <p:cNvSpPr/>
          <p:nvPr/>
        </p:nvSpPr>
        <p:spPr>
          <a:xfrm>
            <a:off x="8174931" y="4365625"/>
            <a:ext cx="3293745" cy="1676400"/>
          </a:xfrm>
          <a:custGeom>
            <a:avLst/>
            <a:gdLst/>
            <a:ahLst/>
            <a:cxnLst/>
            <a:rect l="l" t="t" r="r" b="b"/>
            <a:pathLst>
              <a:path w="3293745" h="1676400">
                <a:moveTo>
                  <a:pt x="0" y="279400"/>
                </a:moveTo>
                <a:lnTo>
                  <a:pt x="3656" y="234079"/>
                </a:lnTo>
                <a:lnTo>
                  <a:pt x="14243" y="191087"/>
                </a:lnTo>
                <a:lnTo>
                  <a:pt x="31186" y="150999"/>
                </a:lnTo>
                <a:lnTo>
                  <a:pt x="53907" y="114389"/>
                </a:lnTo>
                <a:lnTo>
                  <a:pt x="81834" y="81834"/>
                </a:lnTo>
                <a:lnTo>
                  <a:pt x="114389" y="53907"/>
                </a:lnTo>
                <a:lnTo>
                  <a:pt x="150999" y="31186"/>
                </a:lnTo>
                <a:lnTo>
                  <a:pt x="191087" y="14243"/>
                </a:lnTo>
                <a:lnTo>
                  <a:pt x="234079" y="3656"/>
                </a:lnTo>
                <a:lnTo>
                  <a:pt x="279399" y="0"/>
                </a:lnTo>
                <a:lnTo>
                  <a:pt x="3013767" y="0"/>
                </a:lnTo>
                <a:lnTo>
                  <a:pt x="3059087" y="3656"/>
                </a:lnTo>
                <a:lnTo>
                  <a:pt x="3102079" y="14243"/>
                </a:lnTo>
                <a:lnTo>
                  <a:pt x="3142167" y="31186"/>
                </a:lnTo>
                <a:lnTo>
                  <a:pt x="3178777" y="53907"/>
                </a:lnTo>
                <a:lnTo>
                  <a:pt x="3211332" y="81834"/>
                </a:lnTo>
                <a:lnTo>
                  <a:pt x="3239259" y="114389"/>
                </a:lnTo>
                <a:lnTo>
                  <a:pt x="3261981" y="150999"/>
                </a:lnTo>
                <a:lnTo>
                  <a:pt x="3278923" y="191087"/>
                </a:lnTo>
                <a:lnTo>
                  <a:pt x="3289510" y="234079"/>
                </a:lnTo>
                <a:lnTo>
                  <a:pt x="3293167" y="279400"/>
                </a:lnTo>
                <a:lnTo>
                  <a:pt x="3293167" y="1396999"/>
                </a:lnTo>
                <a:lnTo>
                  <a:pt x="3289510" y="1442319"/>
                </a:lnTo>
                <a:lnTo>
                  <a:pt x="3278923" y="1485311"/>
                </a:lnTo>
                <a:lnTo>
                  <a:pt x="3261981" y="1525399"/>
                </a:lnTo>
                <a:lnTo>
                  <a:pt x="3239259" y="1562009"/>
                </a:lnTo>
                <a:lnTo>
                  <a:pt x="3211332" y="1594564"/>
                </a:lnTo>
                <a:lnTo>
                  <a:pt x="3178777" y="1622491"/>
                </a:lnTo>
                <a:lnTo>
                  <a:pt x="3142167" y="1645213"/>
                </a:lnTo>
                <a:lnTo>
                  <a:pt x="3102079" y="1662155"/>
                </a:lnTo>
                <a:lnTo>
                  <a:pt x="3059087" y="1672742"/>
                </a:lnTo>
                <a:lnTo>
                  <a:pt x="3013767" y="1676399"/>
                </a:lnTo>
                <a:lnTo>
                  <a:pt x="279399" y="1676399"/>
                </a:lnTo>
                <a:lnTo>
                  <a:pt x="234079" y="1672742"/>
                </a:lnTo>
                <a:lnTo>
                  <a:pt x="191087" y="1662155"/>
                </a:lnTo>
                <a:lnTo>
                  <a:pt x="150999" y="1645213"/>
                </a:lnTo>
                <a:lnTo>
                  <a:pt x="114389" y="1622491"/>
                </a:lnTo>
                <a:lnTo>
                  <a:pt x="81834" y="1594564"/>
                </a:lnTo>
                <a:lnTo>
                  <a:pt x="53907" y="1562009"/>
                </a:lnTo>
                <a:lnTo>
                  <a:pt x="31186" y="1525399"/>
                </a:lnTo>
                <a:lnTo>
                  <a:pt x="14243" y="1485311"/>
                </a:lnTo>
                <a:lnTo>
                  <a:pt x="3656" y="1442319"/>
                </a:lnTo>
                <a:lnTo>
                  <a:pt x="0" y="1396999"/>
                </a:lnTo>
                <a:lnTo>
                  <a:pt x="0" y="279400"/>
                </a:lnTo>
                <a:close/>
              </a:path>
            </a:pathLst>
          </a:custGeom>
          <a:ln w="9524">
            <a:solidFill>
              <a:srgbClr val="000000"/>
            </a:solidFill>
          </a:ln>
        </p:spPr>
        <p:txBody>
          <a:bodyPr wrap="square" lIns="0" tIns="0" rIns="0" bIns="0" rtlCol="0"/>
          <a:lstStyle/>
          <a:p/>
        </p:txBody>
      </p:sp>
      <p:sp>
        <p:nvSpPr>
          <p:cNvPr id="7" name="object 7"/>
          <p:cNvSpPr/>
          <p:nvPr/>
        </p:nvSpPr>
        <p:spPr>
          <a:xfrm>
            <a:off x="8174931" y="5584825"/>
            <a:ext cx="3293745" cy="0"/>
          </a:xfrm>
          <a:custGeom>
            <a:avLst/>
            <a:gdLst/>
            <a:ahLst/>
            <a:cxnLst/>
            <a:rect l="l" t="t" r="r" b="b"/>
            <a:pathLst>
              <a:path w="3293745">
                <a:moveTo>
                  <a:pt x="0" y="0"/>
                </a:moveTo>
                <a:lnTo>
                  <a:pt x="3293167" y="0"/>
                </a:lnTo>
              </a:path>
            </a:pathLst>
          </a:custGeom>
          <a:ln w="9524">
            <a:solidFill>
              <a:srgbClr val="000000"/>
            </a:solidFill>
          </a:ln>
        </p:spPr>
        <p:txBody>
          <a:bodyPr wrap="square" lIns="0" tIns="0" rIns="0" bIns="0" rtlCol="0"/>
          <a:lstStyle/>
          <a:p/>
        </p:txBody>
      </p:sp>
      <p:sp>
        <p:nvSpPr>
          <p:cNvPr id="8" name="object 8"/>
          <p:cNvSpPr txBox="1"/>
          <p:nvPr/>
        </p:nvSpPr>
        <p:spPr>
          <a:xfrm>
            <a:off x="8356583" y="5708332"/>
            <a:ext cx="482600" cy="29972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800000"/>
                </a:solidFill>
                <a:latin typeface="黑体" panose="02010609060101010101" charset="-122"/>
                <a:cs typeface="黑体" panose="02010609060101010101" charset="-122"/>
              </a:rPr>
              <a:t>预约</a:t>
            </a:r>
            <a:endParaRPr sz="1800" dirty="0">
              <a:latin typeface="黑体" panose="02010609060101010101" charset="-122"/>
              <a:cs typeface="黑体" panose="02010609060101010101" charset="-122"/>
            </a:endParaRPr>
          </a:p>
        </p:txBody>
      </p:sp>
      <p:sp>
        <p:nvSpPr>
          <p:cNvPr id="9" name="object 9"/>
          <p:cNvSpPr txBox="1"/>
          <p:nvPr/>
        </p:nvSpPr>
        <p:spPr>
          <a:xfrm>
            <a:off x="6823631" y="4368165"/>
            <a:ext cx="4657725" cy="1181100"/>
          </a:xfrm>
          <a:prstGeom prst="rect">
            <a:avLst/>
          </a:prstGeom>
        </p:spPr>
        <p:txBody>
          <a:bodyPr vert="horz" wrap="square" lIns="0" tIns="43180" rIns="0" bIns="0" rtlCol="0">
            <a:spAutoFit/>
          </a:bodyPr>
          <a:lstStyle/>
          <a:p>
            <a:pPr marL="12700" algn="just">
              <a:lnSpc>
                <a:spcPct val="100000"/>
              </a:lnSpc>
              <a:spcBef>
                <a:spcPts val="340"/>
              </a:spcBef>
              <a:tabLst>
                <a:tab pos="4644390" algn="l"/>
              </a:tabLst>
            </a:pPr>
            <a:r>
              <a:rPr sz="1800" b="1" spc="-10" dirty="0">
                <a:solidFill>
                  <a:srgbClr val="800000"/>
                </a:solidFill>
                <a:latin typeface="黑体" panose="02010609060101010101" charset="-122"/>
                <a:cs typeface="黑体" panose="02010609060101010101" charset="-122"/>
              </a:rPr>
              <a:t>类 标 识 符 </a:t>
            </a:r>
            <a:r>
              <a:rPr sz="1800" b="1" u="sng" spc="-10" dirty="0">
                <a:solidFill>
                  <a:srgbClr val="800000"/>
                </a:solidFill>
                <a:uFill>
                  <a:solidFill>
                    <a:srgbClr val="000000"/>
                  </a:solidFill>
                </a:uFill>
                <a:latin typeface="黑体" panose="02010609060101010101" charset="-122"/>
                <a:cs typeface="黑体" panose="02010609060101010101" charset="-122"/>
              </a:rPr>
              <a:t>  </a:t>
            </a:r>
            <a:r>
              <a:rPr sz="1800" b="1" u="sng" spc="25" dirty="0">
                <a:solidFill>
                  <a:srgbClr val="800000"/>
                </a:solidFill>
                <a:uFill>
                  <a:solidFill>
                    <a:srgbClr val="000000"/>
                  </a:solidFill>
                </a:uFill>
                <a:latin typeface="黑体" panose="02010609060101010101" charset="-122"/>
                <a:cs typeface="黑体" panose="02010609060101010101" charset="-122"/>
              </a:rPr>
              <a:t> </a:t>
            </a:r>
            <a:r>
              <a:rPr sz="1800" b="1" u="sng" spc="-10" dirty="0">
                <a:solidFill>
                  <a:srgbClr val="800000"/>
                </a:solidFill>
                <a:uFill>
                  <a:solidFill>
                    <a:srgbClr val="000000"/>
                  </a:solidFill>
                </a:uFill>
                <a:latin typeface="黑体" panose="02010609060101010101" charset="-122"/>
                <a:cs typeface="黑体" panose="02010609060101010101" charset="-122"/>
              </a:rPr>
              <a:t>患 者	</a:t>
            </a:r>
            <a:endParaRPr sz="1800" dirty="0">
              <a:latin typeface="黑体" panose="02010609060101010101" charset="-122"/>
              <a:cs typeface="黑体" panose="02010609060101010101" charset="-122"/>
            </a:endParaRPr>
          </a:p>
          <a:p>
            <a:pPr marL="1442720" marR="2292350" algn="just">
              <a:lnSpc>
                <a:spcPct val="100000"/>
              </a:lnSpc>
              <a:spcBef>
                <a:spcPts val="250"/>
              </a:spcBef>
            </a:pPr>
            <a:r>
              <a:rPr sz="1800" b="1" spc="-10" dirty="0">
                <a:solidFill>
                  <a:srgbClr val="800000"/>
                </a:solidFill>
                <a:latin typeface="黑体" panose="02010609060101010101" charset="-122"/>
                <a:cs typeface="黑体" panose="02010609060101010101" charset="-122"/>
              </a:rPr>
              <a:t>患者姓名 家庭住址 医师姓名</a:t>
            </a:r>
            <a:endParaRPr sz="1800" dirty="0">
              <a:latin typeface="黑体" panose="02010609060101010101" charset="-122"/>
              <a:cs typeface="黑体" panose="02010609060101010101" charset="-122"/>
            </a:endParaRPr>
          </a:p>
        </p:txBody>
      </p:sp>
      <p:sp>
        <p:nvSpPr>
          <p:cNvPr id="10" name="object 10"/>
          <p:cNvSpPr txBox="1"/>
          <p:nvPr/>
        </p:nvSpPr>
        <p:spPr>
          <a:xfrm>
            <a:off x="6894383" y="5008245"/>
            <a:ext cx="482600" cy="29972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800000"/>
                </a:solidFill>
                <a:latin typeface="黑体" panose="02010609060101010101" charset="-122"/>
                <a:cs typeface="黑体" panose="02010609060101010101" charset="-122"/>
              </a:rPr>
              <a:t>属性</a:t>
            </a:r>
            <a:endParaRPr sz="1800">
              <a:latin typeface="黑体" panose="02010609060101010101" charset="-122"/>
              <a:cs typeface="黑体" panose="02010609060101010101" charset="-122"/>
            </a:endParaRPr>
          </a:p>
        </p:txBody>
      </p:sp>
      <p:sp>
        <p:nvSpPr>
          <p:cNvPr id="11" name="object 11"/>
          <p:cNvSpPr txBox="1"/>
          <p:nvPr/>
        </p:nvSpPr>
        <p:spPr>
          <a:xfrm>
            <a:off x="6894383" y="5770244"/>
            <a:ext cx="482600" cy="29972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800000"/>
                </a:solidFill>
                <a:latin typeface="黑体" panose="02010609060101010101" charset="-122"/>
                <a:cs typeface="黑体" panose="02010609060101010101" charset="-122"/>
              </a:rPr>
              <a:t>服务</a:t>
            </a:r>
            <a:endParaRPr sz="1800">
              <a:latin typeface="黑体" panose="02010609060101010101" charset="-122"/>
              <a:cs typeface="黑体" panose="02010609060101010101" charset="-122"/>
            </a:endParaRPr>
          </a:p>
        </p:txBody>
      </p:sp>
      <p:sp>
        <p:nvSpPr>
          <p:cNvPr id="12" name="object 12"/>
          <p:cNvSpPr/>
          <p:nvPr/>
        </p:nvSpPr>
        <p:spPr>
          <a:xfrm>
            <a:off x="8760296" y="1135884"/>
            <a:ext cx="1839441" cy="2636015"/>
          </a:xfrm>
          <a:prstGeom prst="rect">
            <a:avLst/>
          </a:prstGeom>
          <a:blipFill>
            <a:blip r:embed="rId1" cstate="print"/>
            <a:stretch>
              <a:fillRect/>
            </a:stretch>
          </a:blipFill>
        </p:spPr>
        <p:txBody>
          <a:bodyPr wrap="square" lIns="0" tIns="0" rIns="0" bIns="0" rtlCol="0"/>
          <a:lstStyle/>
          <a:p/>
        </p:txBody>
      </p:sp>
      <p:sp>
        <p:nvSpPr>
          <p:cNvPr id="15" name="标题 14"/>
          <p:cNvSpPr>
            <a:spLocks noGrp="1"/>
          </p:cNvSpPr>
          <p:nvPr>
            <p:ph type="title"/>
          </p:nvPr>
        </p:nvSpPr>
        <p:spPr/>
        <p:txBody>
          <a:bodyPr/>
          <a:lstStyle/>
          <a:p>
            <a:r>
              <a:rPr lang="zh-CN" altLang="en-US" spc="-15" dirty="0">
                <a:latin typeface="黑体" panose="02010609060101010101" charset="-122"/>
                <a:cs typeface="黑体" panose="02010609060101010101" charset="-122"/>
              </a:rPr>
              <a:t>面向对象分析方法举例</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78626"/>
    </mc:Choice>
    <mc:Fallback>
      <p:transition spd="slow" advTm="78626"/>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服务建模（</a:t>
            </a:r>
            <a:r>
              <a:rPr lang="en-US" altLang="zh-CN" dirty="0"/>
              <a:t>Services</a:t>
            </a:r>
            <a:r>
              <a:rPr lang="zh-CN" altLang="en-US" dirty="0"/>
              <a:t>）</a:t>
            </a:r>
            <a:endParaRPr lang="zh-CN" altLang="en-US" dirty="0"/>
          </a:p>
        </p:txBody>
      </p:sp>
      <p:sp>
        <p:nvSpPr>
          <p:cNvPr id="3" name="内容占位符 2"/>
          <p:cNvSpPr>
            <a:spLocks noGrp="1"/>
          </p:cNvSpPr>
          <p:nvPr>
            <p:ph idx="1"/>
          </p:nvPr>
        </p:nvSpPr>
        <p:spPr/>
        <p:txBody>
          <a:bodyPr>
            <a:normAutofit/>
          </a:bodyPr>
          <a:lstStyle/>
          <a:p>
            <a:pPr marL="240665" marR="5080">
              <a:lnSpc>
                <a:spcPct val="118000"/>
              </a:lnSpc>
              <a:spcBef>
                <a:spcPts val="95"/>
              </a:spcBef>
              <a:buFont typeface="Arial" panose="020B0604020202020204"/>
              <a:buChar char="•"/>
              <a:tabLst>
                <a:tab pos="241300" algn="l"/>
              </a:tabLst>
            </a:pPr>
            <a:r>
              <a:rPr lang="zh-CN" altLang="en-US" sz="2400" dirty="0">
                <a:latin typeface="Arial Unicode MS"/>
                <a:cs typeface="Arial Unicode MS"/>
              </a:rPr>
              <a:t>对象为其周遭的其他对象提供服务，例如，医生对象对外提供的服务包括： 体检，出体检报告等。</a:t>
            </a:r>
            <a:endParaRPr lang="zh-CN" altLang="en-US" sz="2400" dirty="0">
              <a:latin typeface="Arial Unicode MS"/>
              <a:cs typeface="Arial Unicode MS"/>
            </a:endParaRPr>
          </a:p>
          <a:p>
            <a:pPr marL="241300">
              <a:lnSpc>
                <a:spcPct val="100000"/>
              </a:lnSpc>
              <a:spcBef>
                <a:spcPts val="1620"/>
              </a:spcBef>
              <a:buFont typeface="Arial" panose="020B0604020202020204"/>
              <a:buChar char="•"/>
              <a:tabLst>
                <a:tab pos="241300" algn="l"/>
              </a:tabLst>
            </a:pPr>
            <a:r>
              <a:rPr lang="en-US" altLang="zh-CN" sz="3600" baseline="3000" dirty="0">
                <a:latin typeface="Franklin Gothic Book" panose="020B0503020102020204"/>
                <a:cs typeface="Franklin Gothic Book" panose="020B0503020102020204"/>
              </a:rPr>
              <a:t>Coad </a:t>
            </a:r>
            <a:r>
              <a:rPr lang="zh-CN" altLang="en-US" sz="2400" dirty="0">
                <a:latin typeface="Arial Unicode MS"/>
                <a:cs typeface="Arial Unicode MS"/>
              </a:rPr>
              <a:t>的</a:t>
            </a:r>
            <a:r>
              <a:rPr lang="en-US" altLang="zh-CN" sz="3600" baseline="3000" dirty="0">
                <a:latin typeface="Franklin Gothic Book" panose="020B0503020102020204"/>
                <a:cs typeface="Franklin Gothic Book" panose="020B0503020102020204"/>
              </a:rPr>
              <a:t>OOA</a:t>
            </a:r>
            <a:r>
              <a:rPr lang="zh-CN" altLang="en-US" sz="2400" dirty="0">
                <a:latin typeface="Arial Unicode MS"/>
                <a:cs typeface="Arial Unicode MS"/>
              </a:rPr>
              <a:t>方法中，定义了三种类型的服务：</a:t>
            </a:r>
            <a:endParaRPr lang="zh-CN" altLang="en-US" sz="2400" dirty="0">
              <a:latin typeface="Arial Unicode MS"/>
              <a:cs typeface="Arial Unicode MS"/>
            </a:endParaRPr>
          </a:p>
          <a:p>
            <a:pPr marL="698500" lvl="1">
              <a:lnSpc>
                <a:spcPct val="100000"/>
              </a:lnSpc>
              <a:spcBef>
                <a:spcPts val="970"/>
              </a:spcBef>
              <a:buFont typeface="Arial" panose="020B0604020202020204"/>
              <a:buChar char="•"/>
              <a:tabLst>
                <a:tab pos="697865" algn="l"/>
                <a:tab pos="698500" algn="l"/>
              </a:tabLst>
            </a:pPr>
            <a:r>
              <a:rPr lang="zh-CN" altLang="en-US" sz="2200" dirty="0">
                <a:solidFill>
                  <a:srgbClr val="990000"/>
                </a:solidFill>
                <a:latin typeface="Arial Unicode MS"/>
                <a:cs typeface="Arial Unicode MS"/>
              </a:rPr>
              <a:t>瞬时服务</a:t>
            </a:r>
            <a:r>
              <a:rPr lang="zh-CN" altLang="en-US" sz="2200" dirty="0">
                <a:latin typeface="Arial Unicode MS"/>
                <a:cs typeface="Arial Unicode MS"/>
              </a:rPr>
              <a:t>（</a:t>
            </a:r>
            <a:r>
              <a:rPr lang="en-US" altLang="zh-CN" sz="3300" baseline="4000" dirty="0">
                <a:latin typeface="Franklin Gothic Book" panose="020B0503020102020204"/>
                <a:cs typeface="Franklin Gothic Book" panose="020B0503020102020204"/>
              </a:rPr>
              <a:t>Occurrence services</a:t>
            </a:r>
            <a:r>
              <a:rPr lang="zh-CN" altLang="en-US" sz="2200" dirty="0">
                <a:latin typeface="Arial Unicode MS"/>
                <a:cs typeface="Arial Unicode MS"/>
              </a:rPr>
              <a:t>）：对象的创建、结束，修改等等</a:t>
            </a:r>
            <a:endParaRPr lang="zh-CN" altLang="en-US" sz="2200" dirty="0">
              <a:latin typeface="Arial Unicode MS"/>
              <a:cs typeface="Arial Unicode MS"/>
            </a:endParaRPr>
          </a:p>
          <a:p>
            <a:pPr marL="698500" lvl="1">
              <a:lnSpc>
                <a:spcPct val="100000"/>
              </a:lnSpc>
              <a:spcBef>
                <a:spcPts val="1060"/>
              </a:spcBef>
              <a:buFont typeface="Arial" panose="020B0604020202020204"/>
              <a:buChar char="•"/>
              <a:tabLst>
                <a:tab pos="697865" algn="l"/>
                <a:tab pos="698500" algn="l"/>
              </a:tabLst>
            </a:pPr>
            <a:r>
              <a:rPr lang="zh-CN" altLang="en-US" sz="2200" dirty="0">
                <a:solidFill>
                  <a:srgbClr val="990000"/>
                </a:solidFill>
                <a:latin typeface="Arial Unicode MS"/>
                <a:cs typeface="Arial Unicode MS"/>
              </a:rPr>
              <a:t>计算服务</a:t>
            </a:r>
            <a:r>
              <a:rPr lang="zh-CN" altLang="en-US" sz="2200" dirty="0">
                <a:latin typeface="Arial Unicode MS"/>
                <a:cs typeface="Arial Unicode MS"/>
              </a:rPr>
              <a:t>（</a:t>
            </a:r>
            <a:r>
              <a:rPr lang="en-US" altLang="zh-CN" sz="3300" baseline="4000" dirty="0">
                <a:latin typeface="Franklin Gothic Book" panose="020B0503020102020204"/>
                <a:cs typeface="Franklin Gothic Book" panose="020B0503020102020204"/>
              </a:rPr>
              <a:t>Calculate services</a:t>
            </a:r>
            <a:r>
              <a:rPr lang="zh-CN" altLang="en-US" sz="2200" dirty="0">
                <a:latin typeface="Arial Unicode MS"/>
                <a:cs typeface="Arial Unicode MS"/>
              </a:rPr>
              <a:t>）：对象为其他对象完成计算任务等</a:t>
            </a:r>
            <a:endParaRPr lang="zh-CN" altLang="en-US" sz="2200" dirty="0">
              <a:latin typeface="Arial Unicode MS"/>
              <a:cs typeface="Arial Unicode MS"/>
            </a:endParaRPr>
          </a:p>
          <a:p>
            <a:pPr marL="698500" lvl="1">
              <a:lnSpc>
                <a:spcPct val="100000"/>
              </a:lnSpc>
              <a:spcBef>
                <a:spcPts val="1060"/>
              </a:spcBef>
              <a:buFont typeface="Arial" panose="020B0604020202020204"/>
              <a:buChar char="•"/>
              <a:tabLst>
                <a:tab pos="697865" algn="l"/>
                <a:tab pos="698500" algn="l"/>
              </a:tabLst>
            </a:pPr>
            <a:r>
              <a:rPr lang="zh-CN" altLang="en-US" sz="2200" dirty="0">
                <a:solidFill>
                  <a:srgbClr val="990000"/>
                </a:solidFill>
                <a:latin typeface="Arial Unicode MS"/>
                <a:cs typeface="Arial Unicode MS"/>
              </a:rPr>
              <a:t>监控服务</a:t>
            </a:r>
            <a:r>
              <a:rPr lang="zh-CN" altLang="en-US" sz="2200" dirty="0">
                <a:latin typeface="Arial Unicode MS"/>
                <a:cs typeface="Arial Unicode MS"/>
              </a:rPr>
              <a:t>（</a:t>
            </a:r>
            <a:r>
              <a:rPr lang="en-US" altLang="zh-CN" sz="3300" baseline="4000" dirty="0">
                <a:latin typeface="Franklin Gothic Book" panose="020B0503020102020204"/>
                <a:cs typeface="Franklin Gothic Book" panose="020B0503020102020204"/>
              </a:rPr>
              <a:t>Monitor services</a:t>
            </a:r>
            <a:r>
              <a:rPr lang="zh-CN" altLang="en-US" sz="2200" dirty="0">
                <a:latin typeface="Arial Unicode MS"/>
                <a:cs typeface="Arial Unicode MS"/>
              </a:rPr>
              <a:t>）：对象持续监控流程，检查预设条件是否满足</a:t>
            </a:r>
            <a:endParaRPr lang="zh-CN" altLang="en-US" sz="2200" dirty="0">
              <a:latin typeface="Arial Unicode MS"/>
              <a:cs typeface="Arial Unicode MS"/>
            </a:endParaRPr>
          </a:p>
          <a:p>
            <a:pPr marL="241300">
              <a:lnSpc>
                <a:spcPct val="100000"/>
              </a:lnSpc>
              <a:spcBef>
                <a:spcPts val="1510"/>
              </a:spcBef>
              <a:buFont typeface="Arial" panose="020B0604020202020204"/>
              <a:buChar char="•"/>
              <a:tabLst>
                <a:tab pos="241300" algn="l"/>
              </a:tabLst>
            </a:pPr>
            <a:r>
              <a:rPr lang="zh-CN" altLang="en-US" sz="2400" dirty="0">
                <a:latin typeface="Arial Unicode MS"/>
                <a:cs typeface="Arial Unicode MS"/>
              </a:rPr>
              <a:t>我们用带箭头的虚线来表示一个对象引用另一个对象的服务</a:t>
            </a:r>
            <a:endParaRPr lang="zh-CN" altLang="en-US" sz="2400" dirty="0">
              <a:latin typeface="Arial Unicode MS"/>
              <a:cs typeface="Arial Unicode MS"/>
            </a:endParaRPr>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sp>
        <p:nvSpPr>
          <p:cNvPr id="5" name="object 5"/>
          <p:cNvSpPr txBox="1"/>
          <p:nvPr/>
        </p:nvSpPr>
        <p:spPr>
          <a:xfrm>
            <a:off x="2618105" y="5586551"/>
            <a:ext cx="6955790" cy="462280"/>
          </a:xfrm>
          <a:prstGeom prst="rect">
            <a:avLst/>
          </a:prstGeom>
          <a:solidFill>
            <a:srgbClr val="AA7CA9"/>
          </a:solidFill>
        </p:spPr>
        <p:txBody>
          <a:bodyPr vert="horz" wrap="square" lIns="0" tIns="45720" rIns="0" bIns="0" rtlCol="0">
            <a:spAutoFit/>
          </a:bodyPr>
          <a:lstStyle/>
          <a:p>
            <a:pPr marL="90805">
              <a:lnSpc>
                <a:spcPct val="100000"/>
              </a:lnSpc>
              <a:spcBef>
                <a:spcPts val="360"/>
              </a:spcBef>
            </a:pPr>
            <a:r>
              <a:rPr sz="2400" dirty="0">
                <a:solidFill>
                  <a:srgbClr val="FFFFFF"/>
                </a:solidFill>
                <a:latin typeface="黑体" panose="02010609060101010101" charset="-122"/>
                <a:cs typeface="黑体" panose="02010609060101010101" charset="-122"/>
              </a:rPr>
              <a:t>从面向对象到面向服务，是看待问题的视角的切换</a:t>
            </a:r>
            <a:endParaRPr sz="2400" dirty="0">
              <a:latin typeface="黑体" panose="02010609060101010101" charset="-122"/>
              <a:cs typeface="黑体" panose="02010609060101010101" charset="-122"/>
            </a:endParaRPr>
          </a:p>
        </p:txBody>
      </p:sp>
      <p:sp>
        <p:nvSpPr>
          <p:cNvPr id="7" name="矩形 6"/>
          <p:cNvSpPr/>
          <p:nvPr/>
        </p:nvSpPr>
        <p:spPr>
          <a:xfrm>
            <a:off x="447888" y="6274872"/>
            <a:ext cx="415498" cy="369332"/>
          </a:xfrm>
          <a:prstGeom prst="rect">
            <a:avLst/>
          </a:prstGeom>
        </p:spPr>
        <p:txBody>
          <a:bodyPr wrap="none">
            <a:spAutoFit/>
          </a:bodyPr>
          <a:lstStyle/>
          <a:p>
            <a:r>
              <a:rPr lang="zh-CN" altLang="en-US" dirty="0"/>
              <a:t>的</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advTm="125939"/>
    </mc:Choice>
    <mc:Fallback>
      <p:transition spd="slow" advTm="125939"/>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5" dirty="0">
                <a:latin typeface="黑体" panose="02010609060101010101" charset="-122"/>
                <a:cs typeface="黑体" panose="02010609060101010101" charset="-122"/>
              </a:rPr>
              <a:t>软件系统建模原则</a:t>
            </a:r>
            <a:endParaRPr lang="zh-CN" altLang="en-US" dirty="0"/>
          </a:p>
        </p:txBody>
      </p:sp>
      <p:sp>
        <p:nvSpPr>
          <p:cNvPr id="3" name="内容占位符 2"/>
          <p:cNvSpPr>
            <a:spLocks noGrp="1"/>
          </p:cNvSpPr>
          <p:nvPr>
            <p:ph idx="1"/>
          </p:nvPr>
        </p:nvSpPr>
        <p:spPr>
          <a:xfrm>
            <a:off x="389945" y="1768117"/>
            <a:ext cx="10515600" cy="4351338"/>
          </a:xfrm>
        </p:spPr>
        <p:txBody>
          <a:bodyPr>
            <a:normAutofit/>
          </a:bodyPr>
          <a:lstStyle/>
          <a:p>
            <a:pPr marL="241300">
              <a:lnSpc>
                <a:spcPct val="100000"/>
              </a:lnSpc>
              <a:buFont typeface="Arial" panose="020B0604020202020204"/>
              <a:buChar char="•"/>
              <a:tabLst>
                <a:tab pos="240665" algn="l"/>
                <a:tab pos="241300" algn="l"/>
              </a:tabLst>
            </a:pPr>
            <a:r>
              <a:rPr lang="zh-CN" altLang="en-US" sz="2400" dirty="0">
                <a:latin typeface="黑体" panose="02010609060101010101" charset="-122"/>
                <a:cs typeface="黑体" panose="02010609060101010101" charset="-122"/>
              </a:rPr>
              <a:t>支持修改和重用</a:t>
            </a:r>
            <a:endParaRPr lang="zh-CN" altLang="en-US" sz="2400" dirty="0">
              <a:latin typeface="黑体" panose="02010609060101010101" charset="-122"/>
              <a:cs typeface="黑体" panose="02010609060101010101" charset="-122"/>
            </a:endParaRPr>
          </a:p>
          <a:p>
            <a:pPr marL="698500" lvl="1">
              <a:lnSpc>
                <a:spcPct val="100000"/>
              </a:lnSpc>
              <a:spcBef>
                <a:spcPts val="900"/>
              </a:spcBef>
              <a:buFont typeface="Arial" panose="020B0604020202020204"/>
              <a:buChar char="•"/>
              <a:tabLst>
                <a:tab pos="697865" algn="l"/>
                <a:tab pos="698500" algn="l"/>
              </a:tabLst>
            </a:pPr>
            <a:r>
              <a:rPr lang="zh-CN" altLang="en-US" b="1" spc="-10" dirty="0">
                <a:solidFill>
                  <a:srgbClr val="800000"/>
                </a:solidFill>
                <a:latin typeface="黑体" panose="02010609060101010101" charset="-122"/>
                <a:cs typeface="黑体" panose="02010609060101010101" charset="-122"/>
              </a:rPr>
              <a:t>有经验的工程师重用已有的设计</a:t>
            </a:r>
            <a:endParaRPr lang="zh-CN" altLang="en-US" dirty="0">
              <a:latin typeface="黑体" panose="02010609060101010101" charset="-122"/>
              <a:cs typeface="黑体" panose="02010609060101010101" charset="-122"/>
            </a:endParaRPr>
          </a:p>
          <a:p>
            <a:pPr marL="1155700" lvl="2">
              <a:lnSpc>
                <a:spcPct val="100000"/>
              </a:lnSpc>
              <a:spcBef>
                <a:spcPts val="740"/>
              </a:spcBef>
              <a:buFont typeface="Arial" panose="020B0604020202020204"/>
              <a:buChar char="•"/>
              <a:tabLst>
                <a:tab pos="1155065" algn="l"/>
                <a:tab pos="1155700" algn="l"/>
              </a:tabLst>
            </a:pPr>
            <a:r>
              <a:rPr lang="zh-CN" altLang="en-US" sz="2400" dirty="0">
                <a:latin typeface="黑体" panose="02010609060101010101" charset="-122"/>
                <a:cs typeface="黑体" panose="02010609060101010101" charset="-122"/>
              </a:rPr>
              <a:t>模型组件重用</a:t>
            </a:r>
            <a:endParaRPr lang="zh-CN" altLang="en-US" sz="2400" dirty="0">
              <a:latin typeface="黑体" panose="02010609060101010101" charset="-122"/>
              <a:cs typeface="黑体" panose="02010609060101010101" charset="-122"/>
            </a:endParaRPr>
          </a:p>
          <a:p>
            <a:pPr marL="1155700" lvl="2">
              <a:lnSpc>
                <a:spcPct val="100000"/>
              </a:lnSpc>
              <a:spcBef>
                <a:spcPts val="700"/>
              </a:spcBef>
              <a:buFont typeface="Arial" panose="020B0604020202020204"/>
              <a:buChar char="•"/>
              <a:tabLst>
                <a:tab pos="1155065" algn="l"/>
                <a:tab pos="1155700" algn="l"/>
              </a:tabLst>
            </a:pPr>
            <a:r>
              <a:rPr lang="zh-CN" altLang="en-US" sz="2400" dirty="0">
                <a:latin typeface="黑体" panose="02010609060101010101" charset="-122"/>
                <a:cs typeface="黑体" panose="02010609060101010101" charset="-122"/>
              </a:rPr>
              <a:t>模型结构重用</a:t>
            </a:r>
            <a:endParaRPr lang="zh-CN" altLang="en-US" sz="2400" dirty="0">
              <a:latin typeface="黑体" panose="02010609060101010101" charset="-122"/>
              <a:cs typeface="黑体" panose="02010609060101010101" charset="-122"/>
            </a:endParaRPr>
          </a:p>
          <a:p>
            <a:pPr marL="698500" lvl="1">
              <a:lnSpc>
                <a:spcPct val="100000"/>
              </a:lnSpc>
              <a:spcBef>
                <a:spcPts val="1060"/>
              </a:spcBef>
              <a:buFont typeface="Arial" panose="020B0604020202020204"/>
              <a:buChar char="•"/>
              <a:tabLst>
                <a:tab pos="697865" algn="l"/>
                <a:tab pos="698500" algn="l"/>
              </a:tabLst>
            </a:pPr>
            <a:r>
              <a:rPr lang="zh-CN" altLang="en-US" b="1" spc="-10" dirty="0">
                <a:solidFill>
                  <a:srgbClr val="800000"/>
                </a:solidFill>
                <a:latin typeface="黑体" panose="02010609060101010101" charset="-122"/>
                <a:cs typeface="黑体" panose="02010609060101010101" charset="-122"/>
              </a:rPr>
              <a:t>有智慧的工程师规划未来</a:t>
            </a:r>
            <a:endParaRPr lang="zh-CN" altLang="en-US" dirty="0">
              <a:latin typeface="黑体" panose="02010609060101010101" charset="-122"/>
              <a:cs typeface="黑体" panose="02010609060101010101" charset="-122"/>
            </a:endParaRPr>
          </a:p>
          <a:p>
            <a:pPr marL="1155700" lvl="2">
              <a:lnSpc>
                <a:spcPct val="100000"/>
              </a:lnSpc>
              <a:spcBef>
                <a:spcPts val="640"/>
              </a:spcBef>
              <a:buFont typeface="Arial" panose="020B0604020202020204"/>
              <a:buChar char="•"/>
              <a:tabLst>
                <a:tab pos="1155065" algn="l"/>
                <a:tab pos="1155700" algn="l"/>
              </a:tabLst>
            </a:pPr>
            <a:r>
              <a:rPr lang="zh-CN" altLang="en-US" sz="2400" dirty="0">
                <a:latin typeface="黑体" panose="02010609060101010101" charset="-122"/>
                <a:cs typeface="黑体" panose="02010609060101010101" charset="-122"/>
              </a:rPr>
              <a:t>建立可重用的模型组件</a:t>
            </a:r>
            <a:endParaRPr lang="zh-CN" altLang="en-US" sz="2400" dirty="0">
              <a:latin typeface="黑体" panose="02010609060101010101" charset="-122"/>
              <a:cs typeface="黑体" panose="02010609060101010101" charset="-122"/>
            </a:endParaRPr>
          </a:p>
          <a:p>
            <a:pPr marL="1155700" lvl="2">
              <a:lnSpc>
                <a:spcPct val="100000"/>
              </a:lnSpc>
              <a:spcBef>
                <a:spcPts val="800"/>
              </a:spcBef>
              <a:buFont typeface="Arial" panose="020B0604020202020204"/>
              <a:buChar char="•"/>
              <a:tabLst>
                <a:tab pos="1155065" algn="l"/>
                <a:tab pos="1155700" algn="l"/>
              </a:tabLst>
            </a:pPr>
            <a:r>
              <a:rPr lang="zh-CN" altLang="en-US" sz="2400" dirty="0">
                <a:latin typeface="黑体" panose="02010609060101010101" charset="-122"/>
                <a:cs typeface="黑体" panose="02010609060101010101" charset="-122"/>
              </a:rPr>
              <a:t>建立易于修改的模型结构</a:t>
            </a:r>
            <a:endParaRPr lang="zh-CN" altLang="en-US" sz="2400" dirty="0">
              <a:latin typeface="黑体" panose="02010609060101010101" charset="-122"/>
              <a:cs typeface="黑体" panose="02010609060101010101" charset="-122"/>
            </a:endParaRPr>
          </a:p>
          <a:p>
            <a:endParaRPr lang="zh-CN" altLang="en-US" sz="2400"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sp>
        <p:nvSpPr>
          <p:cNvPr id="5" name="object 4"/>
          <p:cNvSpPr txBox="1"/>
          <p:nvPr/>
        </p:nvSpPr>
        <p:spPr>
          <a:xfrm>
            <a:off x="5898874" y="1768117"/>
            <a:ext cx="5903182" cy="3426579"/>
          </a:xfrm>
          <a:prstGeom prst="rect">
            <a:avLst/>
          </a:prstGeom>
          <a:solidFill>
            <a:srgbClr val="ECEBEB"/>
          </a:solidFill>
        </p:spPr>
        <p:txBody>
          <a:bodyPr vert="horz" wrap="square" lIns="0" tIns="96520" rIns="0" bIns="0" rtlCol="0">
            <a:spAutoFit/>
          </a:bodyPr>
          <a:lstStyle/>
          <a:p>
            <a:pPr marL="320040" indent="-228600">
              <a:lnSpc>
                <a:spcPct val="100000"/>
              </a:lnSpc>
              <a:spcBef>
                <a:spcPts val="760"/>
              </a:spcBef>
              <a:buFont typeface="Arial" panose="020B0604020202020204"/>
              <a:buChar char="•"/>
              <a:tabLst>
                <a:tab pos="319405" algn="l"/>
                <a:tab pos="320040" algn="l"/>
              </a:tabLst>
            </a:pPr>
            <a:r>
              <a:rPr sz="2400" dirty="0">
                <a:latin typeface="微软雅黑" panose="020B0503020204020204" pitchFamily="34" charset="-122"/>
                <a:ea typeface="微软雅黑" panose="020B0503020204020204" pitchFamily="34" charset="-122"/>
                <a:cs typeface="黑体" panose="02010609060101010101" charset="-122"/>
              </a:rPr>
              <a:t>五大有力武器:</a:t>
            </a:r>
            <a:endParaRPr sz="2400" dirty="0">
              <a:latin typeface="微软雅黑" panose="020B0503020204020204" pitchFamily="34" charset="-122"/>
              <a:ea typeface="微软雅黑" panose="020B0503020204020204" pitchFamily="34" charset="-122"/>
              <a:cs typeface="黑体" panose="02010609060101010101" charset="-122"/>
            </a:endParaRPr>
          </a:p>
          <a:p>
            <a:pPr marL="777240" lvl="1" indent="-228600">
              <a:lnSpc>
                <a:spcPct val="100000"/>
              </a:lnSpc>
              <a:spcBef>
                <a:spcPts val="900"/>
              </a:spcBef>
              <a:buFont typeface="Arial" panose="020B0604020202020204"/>
              <a:buChar char="•"/>
              <a:tabLst>
                <a:tab pos="776605" algn="l"/>
                <a:tab pos="777240" algn="l"/>
              </a:tabLst>
            </a:pPr>
            <a:r>
              <a:rPr sz="2400" b="1" spc="-10" dirty="0">
                <a:solidFill>
                  <a:srgbClr val="800000"/>
                </a:solidFill>
                <a:latin typeface="微软雅黑" panose="020B0503020204020204" pitchFamily="34" charset="-122"/>
                <a:ea typeface="微软雅黑" panose="020B0503020204020204" pitchFamily="34" charset="-122"/>
                <a:cs typeface="黑体" panose="02010609060101010101" charset="-122"/>
              </a:rPr>
              <a:t>抽象：</a:t>
            </a:r>
            <a:r>
              <a:rPr sz="2400" dirty="0">
                <a:latin typeface="微软雅黑" panose="020B0503020204020204" pitchFamily="34" charset="-122"/>
                <a:ea typeface="微软雅黑" panose="020B0503020204020204" pitchFamily="34" charset="-122"/>
                <a:cs typeface="黑体" panose="02010609060101010101" charset="-122"/>
              </a:rPr>
              <a:t>关注重点，暂忘细节</a:t>
            </a:r>
            <a:endParaRPr sz="2400" dirty="0">
              <a:latin typeface="微软雅黑" panose="020B0503020204020204" pitchFamily="34" charset="-122"/>
              <a:ea typeface="微软雅黑" panose="020B0503020204020204" pitchFamily="34" charset="-122"/>
              <a:cs typeface="黑体" panose="02010609060101010101" charset="-122"/>
            </a:endParaRPr>
          </a:p>
          <a:p>
            <a:pPr marL="777240" lvl="1" indent="-228600">
              <a:lnSpc>
                <a:spcPct val="100000"/>
              </a:lnSpc>
              <a:spcBef>
                <a:spcPts val="1000"/>
              </a:spcBef>
              <a:buFont typeface="Arial" panose="020B0604020202020204"/>
              <a:buChar char="•"/>
              <a:tabLst>
                <a:tab pos="776605" algn="l"/>
                <a:tab pos="777240" algn="l"/>
              </a:tabLst>
            </a:pPr>
            <a:r>
              <a:rPr sz="2400" b="1" spc="-10" dirty="0">
                <a:solidFill>
                  <a:srgbClr val="800000"/>
                </a:solidFill>
                <a:latin typeface="微软雅黑" panose="020B0503020204020204" pitchFamily="34" charset="-122"/>
                <a:ea typeface="微软雅黑" panose="020B0503020204020204" pitchFamily="34" charset="-122"/>
                <a:cs typeface="黑体" panose="02010609060101010101" charset="-122"/>
              </a:rPr>
              <a:t>分解：</a:t>
            </a:r>
            <a:r>
              <a:rPr sz="2400" dirty="0">
                <a:latin typeface="微软雅黑" panose="020B0503020204020204" pitchFamily="34" charset="-122"/>
                <a:ea typeface="微软雅黑" panose="020B0503020204020204" pitchFamily="34" charset="-122"/>
                <a:cs typeface="黑体" panose="02010609060101010101" charset="-122"/>
              </a:rPr>
              <a:t>将问题切分，分而治之</a:t>
            </a:r>
            <a:endParaRPr sz="2400" dirty="0">
              <a:latin typeface="微软雅黑" panose="020B0503020204020204" pitchFamily="34" charset="-122"/>
              <a:ea typeface="微软雅黑" panose="020B0503020204020204" pitchFamily="34" charset="-122"/>
              <a:cs typeface="黑体" panose="02010609060101010101" charset="-122"/>
            </a:endParaRPr>
          </a:p>
          <a:p>
            <a:pPr marL="777240" lvl="1" indent="-228600">
              <a:lnSpc>
                <a:spcPct val="100000"/>
              </a:lnSpc>
              <a:spcBef>
                <a:spcPts val="1000"/>
              </a:spcBef>
              <a:buFont typeface="Arial" panose="020B0604020202020204"/>
              <a:buChar char="•"/>
              <a:tabLst>
                <a:tab pos="776605" algn="l"/>
                <a:tab pos="777240" algn="l"/>
              </a:tabLst>
            </a:pPr>
            <a:r>
              <a:rPr sz="2400" b="1" spc="-10" dirty="0">
                <a:solidFill>
                  <a:srgbClr val="800000"/>
                </a:solidFill>
                <a:latin typeface="微软雅黑" panose="020B0503020204020204" pitchFamily="34" charset="-122"/>
                <a:ea typeface="微软雅黑" panose="020B0503020204020204" pitchFamily="34" charset="-122"/>
                <a:cs typeface="黑体" panose="02010609060101010101" charset="-122"/>
              </a:rPr>
              <a:t>多视角映射：</a:t>
            </a:r>
            <a:r>
              <a:rPr sz="2400" dirty="0">
                <a:latin typeface="微软雅黑" panose="020B0503020204020204" pitchFamily="34" charset="-122"/>
                <a:ea typeface="微软雅黑" panose="020B0503020204020204" pitchFamily="34" charset="-122"/>
                <a:cs typeface="黑体" panose="02010609060101010101" charset="-122"/>
              </a:rPr>
              <a:t>切换关注点，分别讨论</a:t>
            </a:r>
            <a:endParaRPr sz="2400" dirty="0">
              <a:latin typeface="微软雅黑" panose="020B0503020204020204" pitchFamily="34" charset="-122"/>
              <a:ea typeface="微软雅黑" panose="020B0503020204020204" pitchFamily="34" charset="-122"/>
              <a:cs typeface="黑体" panose="02010609060101010101" charset="-122"/>
            </a:endParaRPr>
          </a:p>
          <a:p>
            <a:pPr marL="777240" lvl="1" indent="-228600">
              <a:lnSpc>
                <a:spcPct val="100000"/>
              </a:lnSpc>
              <a:spcBef>
                <a:spcPts val="1000"/>
              </a:spcBef>
              <a:buFont typeface="Arial" panose="020B0604020202020204"/>
              <a:buChar char="•"/>
              <a:tabLst>
                <a:tab pos="776605" algn="l"/>
                <a:tab pos="777240" algn="l"/>
              </a:tabLst>
            </a:pPr>
            <a:r>
              <a:rPr sz="2400" b="1" spc="-10" dirty="0">
                <a:solidFill>
                  <a:srgbClr val="800000"/>
                </a:solidFill>
                <a:latin typeface="微软雅黑" panose="020B0503020204020204" pitchFamily="34" charset="-122"/>
                <a:ea typeface="微软雅黑" panose="020B0503020204020204" pitchFamily="34" charset="-122"/>
                <a:cs typeface="黑体" panose="02010609060101010101" charset="-122"/>
              </a:rPr>
              <a:t>模块化：</a:t>
            </a:r>
            <a:endParaRPr sz="2400" dirty="0">
              <a:latin typeface="微软雅黑" panose="020B0503020204020204" pitchFamily="34" charset="-122"/>
              <a:ea typeface="微软雅黑" panose="020B0503020204020204" pitchFamily="34" charset="-122"/>
              <a:cs typeface="黑体" panose="02010609060101010101" charset="-122"/>
            </a:endParaRPr>
          </a:p>
          <a:p>
            <a:pPr marL="1056640">
              <a:lnSpc>
                <a:spcPct val="100000"/>
              </a:lnSpc>
              <a:spcBef>
                <a:spcPts val="1000"/>
              </a:spcBef>
            </a:pPr>
            <a:r>
              <a:rPr sz="2400" dirty="0">
                <a:latin typeface="微软雅黑" panose="020B0503020204020204" pitchFamily="34" charset="-122"/>
                <a:ea typeface="微软雅黑" panose="020B0503020204020204" pitchFamily="34" charset="-122"/>
                <a:cs typeface="黑体" panose="02010609060101010101" charset="-122"/>
              </a:rPr>
              <a:t>建立稳定结构、缩小变化影响范围</a:t>
            </a:r>
            <a:endParaRPr sz="2400" dirty="0">
              <a:latin typeface="微软雅黑" panose="020B0503020204020204" pitchFamily="34" charset="-122"/>
              <a:ea typeface="微软雅黑" panose="020B0503020204020204" pitchFamily="34" charset="-122"/>
              <a:cs typeface="黑体" panose="02010609060101010101" charset="-122"/>
            </a:endParaRPr>
          </a:p>
          <a:p>
            <a:pPr marL="777240" lvl="1" indent="-228600">
              <a:lnSpc>
                <a:spcPct val="100000"/>
              </a:lnSpc>
              <a:spcBef>
                <a:spcPts val="900"/>
              </a:spcBef>
              <a:buFont typeface="Arial" panose="020B0604020202020204"/>
              <a:buChar char="•"/>
              <a:tabLst>
                <a:tab pos="776605" algn="l"/>
                <a:tab pos="777240" algn="l"/>
              </a:tabLst>
            </a:pPr>
            <a:r>
              <a:rPr sz="2400" b="1" spc="-10" dirty="0">
                <a:solidFill>
                  <a:srgbClr val="800000"/>
                </a:solidFill>
                <a:latin typeface="微软雅黑" panose="020B0503020204020204" pitchFamily="34" charset="-122"/>
                <a:ea typeface="微软雅黑" panose="020B0503020204020204" pitchFamily="34" charset="-122"/>
                <a:cs typeface="黑体" panose="02010609060101010101" charset="-122"/>
              </a:rPr>
              <a:t>模式：</a:t>
            </a:r>
            <a:r>
              <a:rPr sz="2400" dirty="0">
                <a:latin typeface="微软雅黑" panose="020B0503020204020204" pitchFamily="34" charset="-122"/>
                <a:ea typeface="微软雅黑" panose="020B0503020204020204" pitchFamily="34" charset="-122"/>
                <a:cs typeface="黑体" panose="02010609060101010101" charset="-122"/>
              </a:rPr>
              <a:t>多次成功应用的模型结构</a:t>
            </a:r>
            <a:endParaRPr sz="2400" dirty="0">
              <a:latin typeface="微软雅黑" panose="020B0503020204020204" pitchFamily="34" charset="-122"/>
              <a:ea typeface="微软雅黑" panose="020B0503020204020204" pitchFamily="34" charset="-122"/>
              <a:cs typeface="黑体" panose="0201060906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92268"/>
    </mc:Choice>
    <mc:Fallback>
      <p:transition spd="slow" advTm="92268"/>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对象建模原则</a:t>
            </a:r>
            <a:r>
              <a:rPr lang="en-US" altLang="zh-CN" dirty="0"/>
              <a:t>1: </a:t>
            </a:r>
            <a:r>
              <a:rPr lang="zh-CN" altLang="en-US" dirty="0"/>
              <a:t>抽象</a:t>
            </a:r>
            <a:endParaRPr lang="zh-CN" altLang="en-US" dirty="0"/>
          </a:p>
        </p:txBody>
      </p:sp>
      <p:sp>
        <p:nvSpPr>
          <p:cNvPr id="3" name="内容占位符 2"/>
          <p:cNvSpPr>
            <a:spLocks noGrp="1"/>
          </p:cNvSpPr>
          <p:nvPr>
            <p:ph idx="1"/>
          </p:nvPr>
        </p:nvSpPr>
        <p:spPr>
          <a:xfrm>
            <a:off x="838200" y="1484669"/>
            <a:ext cx="10515600" cy="4692294"/>
          </a:xfrm>
        </p:spPr>
        <p:txBody>
          <a:bodyPr/>
          <a:lstStyle/>
          <a:p>
            <a:pPr marL="241300">
              <a:lnSpc>
                <a:spcPct val="100000"/>
              </a:lnSpc>
              <a:spcBef>
                <a:spcPts val="290"/>
              </a:spcBef>
              <a:buFont typeface="Arial" panose="020B0604020202020204"/>
              <a:buChar char="•"/>
              <a:tabLst>
                <a:tab pos="241300" algn="l"/>
              </a:tabLst>
            </a:pPr>
            <a:r>
              <a:rPr lang="zh-CN" altLang="en-US" dirty="0"/>
              <a:t>抽象</a:t>
            </a:r>
            <a:endParaRPr lang="zh-CN" altLang="en-US" dirty="0"/>
          </a:p>
          <a:p>
            <a:pPr marL="241300" indent="-229235">
              <a:lnSpc>
                <a:spcPct val="100000"/>
              </a:lnSpc>
              <a:spcBef>
                <a:spcPts val="160"/>
              </a:spcBef>
              <a:buFont typeface="Arial" panose="020B0604020202020204"/>
              <a:buChar char="•"/>
              <a:tabLst>
                <a:tab pos="697865" algn="l"/>
                <a:tab pos="698500" algn="l"/>
              </a:tabLst>
            </a:pPr>
            <a:r>
              <a:rPr lang="zh-CN" altLang="en-US" sz="2400" b="1" spc="-10" dirty="0">
                <a:solidFill>
                  <a:srgbClr val="800000"/>
                </a:solidFill>
                <a:latin typeface="黑体" panose="02010609060101010101" charset="-122"/>
                <a:cs typeface="黑体" panose="02010609060101010101" charset="-122"/>
              </a:rPr>
              <a:t>在对象间找出共性，忽略不相关细节</a:t>
            </a:r>
            <a:endParaRPr lang="zh-CN" altLang="en-US" sz="2400" dirty="0">
              <a:latin typeface="黑体" panose="02010609060101010101" charset="-122"/>
              <a:cs typeface="黑体" panose="02010609060101010101" charset="-122"/>
            </a:endParaRPr>
          </a:p>
          <a:p>
            <a:pPr marL="698500" lvl="1" indent="-229235">
              <a:lnSpc>
                <a:spcPct val="100000"/>
              </a:lnSpc>
              <a:spcBef>
                <a:spcPts val="300"/>
              </a:spcBef>
              <a:buFont typeface="Arial" panose="020B0604020202020204"/>
              <a:buChar char="•"/>
              <a:tabLst>
                <a:tab pos="697865" algn="l"/>
                <a:tab pos="698500" algn="l"/>
              </a:tabLst>
            </a:pPr>
            <a:r>
              <a:rPr lang="zh-CN" altLang="en-US" sz="2000" b="1" spc="-10" dirty="0">
                <a:solidFill>
                  <a:srgbClr val="800000"/>
                </a:solidFill>
                <a:latin typeface="黑体" panose="02010609060101010101" charset="-122"/>
                <a:cs typeface="黑体" panose="02010609060101010101" charset="-122"/>
              </a:rPr>
              <a:t>关注对象间的一般</a:t>
            </a:r>
            <a:r>
              <a:rPr lang="en-US" altLang="zh-CN" sz="2000" b="1" spc="-10" dirty="0">
                <a:solidFill>
                  <a:srgbClr val="941100"/>
                </a:solidFill>
                <a:latin typeface="黑体" panose="02010609060101010101" charset="-122"/>
                <a:cs typeface="黑体" panose="02010609060101010101" charset="-122"/>
              </a:rPr>
              <a:t>/</a:t>
            </a:r>
            <a:r>
              <a:rPr lang="zh-CN" altLang="en-US" sz="2000" b="1" spc="-10" dirty="0">
                <a:solidFill>
                  <a:srgbClr val="800000"/>
                </a:solidFill>
                <a:latin typeface="黑体" panose="02010609060101010101" charset="-122"/>
                <a:cs typeface="黑体" panose="02010609060101010101" charset="-122"/>
              </a:rPr>
              <a:t>特殊关系</a:t>
            </a:r>
            <a:endParaRPr lang="zh-CN" altLang="en-US" sz="2000" dirty="0">
              <a:latin typeface="黑体" panose="02010609060101010101" charset="-122"/>
              <a:cs typeface="黑体" panose="02010609060101010101" charset="-122"/>
            </a:endParaRPr>
          </a:p>
          <a:p>
            <a:pPr marL="1155700" lvl="2" indent="-229235">
              <a:lnSpc>
                <a:spcPct val="100000"/>
              </a:lnSpc>
              <a:spcBef>
                <a:spcPts val="320"/>
              </a:spcBef>
              <a:buFont typeface="Arial" panose="020B0604020202020204"/>
              <a:buChar char="•"/>
              <a:tabLst>
                <a:tab pos="1155065" algn="l"/>
                <a:tab pos="1155700" algn="l"/>
              </a:tabLst>
            </a:pPr>
            <a:r>
              <a:rPr lang="zh-CN" altLang="en-US" sz="1800" dirty="0">
                <a:latin typeface="黑体" panose="02010609060101010101" charset="-122"/>
                <a:cs typeface="黑体" panose="02010609060101010101" charset="-122"/>
              </a:rPr>
              <a:t>将具有相同属性或角色的对象放入同一个类集合中</a:t>
            </a:r>
            <a:endParaRPr lang="zh-CN" altLang="en-US" sz="1800" dirty="0">
              <a:latin typeface="黑体" panose="02010609060101010101" charset="-122"/>
              <a:cs typeface="黑体" panose="02010609060101010101" charset="-122"/>
            </a:endParaRPr>
          </a:p>
          <a:p>
            <a:pPr marL="1155700" lvl="2" indent="-229235">
              <a:lnSpc>
                <a:spcPct val="100000"/>
              </a:lnSpc>
              <a:spcBef>
                <a:spcPts val="240"/>
              </a:spcBef>
              <a:buFont typeface="Arial" panose="020B0604020202020204"/>
              <a:buChar char="•"/>
              <a:tabLst>
                <a:tab pos="1155065" algn="l"/>
                <a:tab pos="1155700" algn="l"/>
              </a:tabLst>
            </a:pPr>
            <a:r>
              <a:rPr lang="zh-CN" altLang="en-US" sz="1800" dirty="0">
                <a:latin typeface="黑体" panose="02010609060101010101" charset="-122"/>
                <a:cs typeface="黑体" panose="02010609060101010101" charset="-122"/>
              </a:rPr>
              <a:t>再通过父子关系，将由共性的类定义为同一个父类的子类</a:t>
            </a:r>
            <a:endParaRPr lang="zh-CN" altLang="en-US" sz="1800" dirty="0">
              <a:latin typeface="黑体" panose="02010609060101010101" charset="-122"/>
              <a:cs typeface="黑体" panose="02010609060101010101" charset="-122"/>
            </a:endParaRPr>
          </a:p>
          <a:p>
            <a:pPr marL="241300">
              <a:lnSpc>
                <a:spcPct val="100000"/>
              </a:lnSpc>
              <a:spcBef>
                <a:spcPts val="680"/>
              </a:spcBef>
              <a:buFont typeface="Arial" panose="020B0604020202020204"/>
              <a:buChar char="•"/>
              <a:tabLst>
                <a:tab pos="241300" algn="l"/>
              </a:tabLst>
            </a:pPr>
            <a:r>
              <a:rPr lang="zh-CN" altLang="en-US" dirty="0"/>
              <a:t>例如</a:t>
            </a:r>
            <a:r>
              <a:rPr lang="en-US" altLang="zh-CN" dirty="0"/>
              <a:t>:</a:t>
            </a:r>
            <a:endParaRPr lang="en-US" altLang="zh-CN" dirty="0"/>
          </a:p>
          <a:p>
            <a:pPr marL="698500" lvl="1" indent="-229235">
              <a:lnSpc>
                <a:spcPct val="100000"/>
              </a:lnSpc>
              <a:spcBef>
                <a:spcPts val="260"/>
              </a:spcBef>
              <a:buFont typeface="Arial" panose="020B0604020202020204"/>
              <a:buChar char="•"/>
              <a:tabLst>
                <a:tab pos="697865" algn="l"/>
                <a:tab pos="698500" algn="l"/>
              </a:tabLst>
            </a:pPr>
            <a:r>
              <a:rPr lang="zh-CN" altLang="en-US" sz="2000" dirty="0">
                <a:latin typeface="黑体" panose="02010609060101010101" charset="-122"/>
                <a:cs typeface="黑体" panose="02010609060101010101" charset="-122"/>
              </a:rPr>
              <a:t>需求是处理航天器故障</a:t>
            </a:r>
            <a:endParaRPr lang="zh-CN" altLang="en-US" sz="2000" dirty="0">
              <a:latin typeface="黑体" panose="02010609060101010101" charset="-122"/>
              <a:cs typeface="黑体" panose="02010609060101010101" charset="-122"/>
            </a:endParaRPr>
          </a:p>
          <a:p>
            <a:pPr marL="698500" lvl="1" indent="-229235">
              <a:lnSpc>
                <a:spcPct val="100000"/>
              </a:lnSpc>
              <a:spcBef>
                <a:spcPts val="300"/>
              </a:spcBef>
              <a:buFont typeface="Arial" panose="020B0604020202020204"/>
              <a:buChar char="•"/>
              <a:tabLst>
                <a:tab pos="697865" algn="l"/>
                <a:tab pos="698500" algn="l"/>
              </a:tabLst>
            </a:pPr>
            <a:r>
              <a:rPr lang="zh-CN" altLang="en-US" sz="2000" dirty="0">
                <a:latin typeface="黑体" panose="02010609060101010101" charset="-122"/>
                <a:cs typeface="黑体" panose="02010609060101010101" charset="-122"/>
              </a:rPr>
              <a:t>将故障按不同的故障类型纵向分类。</a:t>
            </a:r>
            <a:endParaRPr lang="zh-CN" altLang="en-US" sz="2000" dirty="0">
              <a:latin typeface="黑体" panose="02010609060101010101" charset="-122"/>
              <a:cs typeface="黑体" panose="02010609060101010101" charset="-122"/>
            </a:endParaRPr>
          </a:p>
          <a:p>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sp>
        <p:nvSpPr>
          <p:cNvPr id="9" name="object 3"/>
          <p:cNvSpPr/>
          <p:nvPr/>
        </p:nvSpPr>
        <p:spPr>
          <a:xfrm>
            <a:off x="6991624" y="4583176"/>
            <a:ext cx="3852545" cy="1656714"/>
          </a:xfrm>
          <a:custGeom>
            <a:avLst/>
            <a:gdLst/>
            <a:ahLst/>
            <a:cxnLst/>
            <a:rect l="l" t="t" r="r" b="b"/>
            <a:pathLst>
              <a:path w="3852545" h="1656714">
                <a:moveTo>
                  <a:pt x="0" y="0"/>
                </a:moveTo>
                <a:lnTo>
                  <a:pt x="3852223" y="0"/>
                </a:lnTo>
                <a:lnTo>
                  <a:pt x="3852223" y="1656183"/>
                </a:lnTo>
                <a:lnTo>
                  <a:pt x="0" y="1656183"/>
                </a:lnTo>
                <a:lnTo>
                  <a:pt x="0" y="0"/>
                </a:lnTo>
                <a:close/>
              </a:path>
            </a:pathLst>
          </a:custGeom>
          <a:solidFill>
            <a:srgbClr val="ECEBEB"/>
          </a:solidFill>
        </p:spPr>
        <p:txBody>
          <a:bodyPr wrap="square" lIns="0" tIns="0" rIns="0" bIns="0" rtlCol="0"/>
          <a:lstStyle/>
          <a:p/>
        </p:txBody>
      </p:sp>
      <p:sp>
        <p:nvSpPr>
          <p:cNvPr id="10" name="object 4"/>
          <p:cNvSpPr/>
          <p:nvPr/>
        </p:nvSpPr>
        <p:spPr>
          <a:xfrm>
            <a:off x="7922050" y="5011928"/>
            <a:ext cx="146050" cy="177800"/>
          </a:xfrm>
          <a:prstGeom prst="rect">
            <a:avLst/>
          </a:prstGeom>
          <a:blipFill>
            <a:blip r:embed="rId1" cstate="print"/>
            <a:stretch>
              <a:fillRect/>
            </a:stretch>
          </a:blipFill>
        </p:spPr>
        <p:txBody>
          <a:bodyPr wrap="square" lIns="0" tIns="0" rIns="0" bIns="0" rtlCol="0"/>
          <a:lstStyle/>
          <a:p/>
        </p:txBody>
      </p:sp>
      <p:sp>
        <p:nvSpPr>
          <p:cNvPr id="11" name="object 5"/>
          <p:cNvSpPr/>
          <p:nvPr/>
        </p:nvSpPr>
        <p:spPr>
          <a:xfrm>
            <a:off x="8211173" y="5329428"/>
            <a:ext cx="146050" cy="177800"/>
          </a:xfrm>
          <a:prstGeom prst="rect">
            <a:avLst/>
          </a:prstGeom>
          <a:blipFill>
            <a:blip r:embed="rId1" cstate="print"/>
            <a:stretch>
              <a:fillRect/>
            </a:stretch>
          </a:blipFill>
        </p:spPr>
        <p:txBody>
          <a:bodyPr wrap="square" lIns="0" tIns="0" rIns="0" bIns="0" rtlCol="0"/>
          <a:lstStyle/>
          <a:p/>
        </p:txBody>
      </p:sp>
      <p:sp>
        <p:nvSpPr>
          <p:cNvPr id="12" name="object 6"/>
          <p:cNvSpPr/>
          <p:nvPr/>
        </p:nvSpPr>
        <p:spPr>
          <a:xfrm>
            <a:off x="8302603" y="5646928"/>
            <a:ext cx="146050" cy="177800"/>
          </a:xfrm>
          <a:prstGeom prst="rect">
            <a:avLst/>
          </a:prstGeom>
          <a:blipFill>
            <a:blip r:embed="rId1" cstate="print"/>
            <a:stretch>
              <a:fillRect/>
            </a:stretch>
          </a:blipFill>
        </p:spPr>
        <p:txBody>
          <a:bodyPr wrap="square" lIns="0" tIns="0" rIns="0" bIns="0" rtlCol="0"/>
          <a:lstStyle/>
          <a:p/>
        </p:txBody>
      </p:sp>
      <p:sp>
        <p:nvSpPr>
          <p:cNvPr id="13" name="object 7"/>
          <p:cNvSpPr/>
          <p:nvPr/>
        </p:nvSpPr>
        <p:spPr>
          <a:xfrm>
            <a:off x="8874302" y="5964428"/>
            <a:ext cx="146050" cy="177800"/>
          </a:xfrm>
          <a:prstGeom prst="rect">
            <a:avLst/>
          </a:prstGeom>
          <a:blipFill>
            <a:blip r:embed="rId1" cstate="print"/>
            <a:stretch>
              <a:fillRect/>
            </a:stretch>
          </a:blipFill>
        </p:spPr>
        <p:txBody>
          <a:bodyPr wrap="square" lIns="0" tIns="0" rIns="0" bIns="0" rtlCol="0"/>
          <a:lstStyle/>
          <a:p/>
        </p:txBody>
      </p:sp>
      <p:sp>
        <p:nvSpPr>
          <p:cNvPr id="14" name="object 8"/>
          <p:cNvSpPr txBox="1"/>
          <p:nvPr/>
        </p:nvSpPr>
        <p:spPr>
          <a:xfrm>
            <a:off x="6991624" y="4541203"/>
            <a:ext cx="3852545" cy="1635760"/>
          </a:xfrm>
          <a:prstGeom prst="rect">
            <a:avLst/>
          </a:prstGeom>
        </p:spPr>
        <p:txBody>
          <a:bodyPr vert="horz" wrap="square" lIns="0" tIns="86360" rIns="0" bIns="0" rtlCol="0">
            <a:spAutoFit/>
          </a:bodyPr>
          <a:lstStyle/>
          <a:p>
            <a:pPr marL="871855">
              <a:lnSpc>
                <a:spcPct val="100000"/>
              </a:lnSpc>
              <a:spcBef>
                <a:spcPts val="680"/>
              </a:spcBef>
            </a:pPr>
            <a:r>
              <a:rPr sz="1800" b="1" spc="-5" dirty="0">
                <a:latin typeface="Comic Sans MS" panose="030F0702030302020204"/>
                <a:cs typeface="Comic Sans MS" panose="030F0702030302020204"/>
              </a:rPr>
              <a:t>based </a:t>
            </a:r>
            <a:r>
              <a:rPr sz="1800" b="1" dirty="0">
                <a:latin typeface="Comic Sans MS" panose="030F0702030302020204"/>
                <a:cs typeface="Comic Sans MS" panose="030F0702030302020204"/>
              </a:rPr>
              <a:t>on</a:t>
            </a:r>
            <a:r>
              <a:rPr sz="1800" b="1" spc="-15" dirty="0">
                <a:latin typeface="Comic Sans MS" panose="030F0702030302020204"/>
                <a:cs typeface="Comic Sans MS" panose="030F0702030302020204"/>
              </a:rPr>
              <a:t> </a:t>
            </a:r>
            <a:r>
              <a:rPr sz="1800" b="1" spc="-5" dirty="0">
                <a:latin typeface="Comic Sans MS" panose="030F0702030302020204"/>
                <a:cs typeface="Comic Sans MS" panose="030F0702030302020204"/>
              </a:rPr>
              <a:t>symptoms:</a:t>
            </a:r>
            <a:endParaRPr sz="1800">
              <a:latin typeface="Comic Sans MS" panose="030F0702030302020204"/>
              <a:cs typeface="Comic Sans MS" panose="030F0702030302020204"/>
            </a:endParaRPr>
          </a:p>
          <a:p>
            <a:pPr marL="1431925" marR="219710" indent="-289560">
              <a:lnSpc>
                <a:spcPts val="2500"/>
              </a:lnSpc>
              <a:spcBef>
                <a:spcPts val="115"/>
              </a:spcBef>
            </a:pPr>
            <a:r>
              <a:rPr sz="1600" b="1" spc="-5" dirty="0">
                <a:latin typeface="Comic Sans MS" panose="030F0702030302020204"/>
                <a:cs typeface="Comic Sans MS" panose="030F0702030302020204"/>
              </a:rPr>
              <a:t>no response from device;  incorrect response;  </a:t>
            </a:r>
            <a:r>
              <a:rPr sz="1600" b="1" dirty="0">
                <a:latin typeface="Comic Sans MS" panose="030F0702030302020204"/>
                <a:cs typeface="Comic Sans MS" panose="030F0702030302020204"/>
              </a:rPr>
              <a:t>self-test</a:t>
            </a:r>
            <a:r>
              <a:rPr sz="1600" b="1" spc="-20" dirty="0">
                <a:latin typeface="Comic Sans MS" panose="030F0702030302020204"/>
                <a:cs typeface="Comic Sans MS" panose="030F0702030302020204"/>
              </a:rPr>
              <a:t> </a:t>
            </a:r>
            <a:r>
              <a:rPr sz="1600" b="1" dirty="0">
                <a:latin typeface="Comic Sans MS" panose="030F0702030302020204"/>
                <a:cs typeface="Comic Sans MS" panose="030F0702030302020204"/>
              </a:rPr>
              <a:t>failure;</a:t>
            </a:r>
            <a:endParaRPr sz="1600">
              <a:latin typeface="Comic Sans MS" panose="030F0702030302020204"/>
              <a:cs typeface="Comic Sans MS" panose="030F0702030302020204"/>
            </a:endParaRPr>
          </a:p>
          <a:p>
            <a:pPr marL="2094865">
              <a:lnSpc>
                <a:spcPct val="100000"/>
              </a:lnSpc>
              <a:spcBef>
                <a:spcPts val="400"/>
              </a:spcBef>
            </a:pPr>
            <a:r>
              <a:rPr sz="1600" b="1" spc="-5" dirty="0">
                <a:latin typeface="Comic Sans MS" panose="030F0702030302020204"/>
                <a:cs typeface="Comic Sans MS" panose="030F0702030302020204"/>
              </a:rPr>
              <a:t>etc...</a:t>
            </a:r>
            <a:endParaRPr sz="1600">
              <a:latin typeface="Comic Sans MS" panose="030F0702030302020204"/>
              <a:cs typeface="Comic Sans MS" panose="030F0702030302020204"/>
            </a:endParaRPr>
          </a:p>
        </p:txBody>
      </p:sp>
      <p:sp>
        <p:nvSpPr>
          <p:cNvPr id="15" name="object 9"/>
          <p:cNvSpPr/>
          <p:nvPr/>
        </p:nvSpPr>
        <p:spPr>
          <a:xfrm>
            <a:off x="1375003" y="4705489"/>
            <a:ext cx="4032885" cy="1605915"/>
          </a:xfrm>
          <a:custGeom>
            <a:avLst/>
            <a:gdLst/>
            <a:ahLst/>
            <a:cxnLst/>
            <a:rect l="l" t="t" r="r" b="b"/>
            <a:pathLst>
              <a:path w="4032885" h="1605914">
                <a:moveTo>
                  <a:pt x="0" y="0"/>
                </a:moveTo>
                <a:lnTo>
                  <a:pt x="4032446" y="0"/>
                </a:lnTo>
                <a:lnTo>
                  <a:pt x="4032446" y="1605879"/>
                </a:lnTo>
                <a:lnTo>
                  <a:pt x="0" y="1605879"/>
                </a:lnTo>
                <a:lnTo>
                  <a:pt x="0" y="0"/>
                </a:lnTo>
                <a:close/>
              </a:path>
            </a:pathLst>
          </a:custGeom>
          <a:solidFill>
            <a:srgbClr val="ECEBEB"/>
          </a:solidFill>
        </p:spPr>
        <p:txBody>
          <a:bodyPr wrap="square" lIns="0" tIns="0" rIns="0" bIns="0" rtlCol="0"/>
          <a:lstStyle/>
          <a:p/>
        </p:txBody>
      </p:sp>
      <p:sp>
        <p:nvSpPr>
          <p:cNvPr id="16" name="object 10"/>
          <p:cNvSpPr/>
          <p:nvPr/>
        </p:nvSpPr>
        <p:spPr>
          <a:xfrm>
            <a:off x="2496869" y="5134241"/>
            <a:ext cx="146050" cy="177800"/>
          </a:xfrm>
          <a:prstGeom prst="rect">
            <a:avLst/>
          </a:prstGeom>
          <a:blipFill>
            <a:blip r:embed="rId1" cstate="print"/>
            <a:stretch>
              <a:fillRect/>
            </a:stretch>
          </a:blipFill>
        </p:spPr>
        <p:txBody>
          <a:bodyPr wrap="square" lIns="0" tIns="0" rIns="0" bIns="0" rtlCol="0"/>
          <a:lstStyle/>
          <a:p/>
        </p:txBody>
      </p:sp>
      <p:sp>
        <p:nvSpPr>
          <p:cNvPr id="17" name="object 11"/>
          <p:cNvSpPr/>
          <p:nvPr/>
        </p:nvSpPr>
        <p:spPr>
          <a:xfrm>
            <a:off x="2564139" y="5451741"/>
            <a:ext cx="146050" cy="177799"/>
          </a:xfrm>
          <a:prstGeom prst="rect">
            <a:avLst/>
          </a:prstGeom>
          <a:blipFill>
            <a:blip r:embed="rId1" cstate="print"/>
            <a:stretch>
              <a:fillRect/>
            </a:stretch>
          </a:blipFill>
        </p:spPr>
        <p:txBody>
          <a:bodyPr wrap="square" lIns="0" tIns="0" rIns="0" bIns="0" rtlCol="0"/>
          <a:lstStyle/>
          <a:p/>
        </p:txBody>
      </p:sp>
      <p:sp>
        <p:nvSpPr>
          <p:cNvPr id="18" name="object 12"/>
          <p:cNvSpPr/>
          <p:nvPr/>
        </p:nvSpPr>
        <p:spPr>
          <a:xfrm>
            <a:off x="2786985" y="5769241"/>
            <a:ext cx="146050" cy="177800"/>
          </a:xfrm>
          <a:prstGeom prst="rect">
            <a:avLst/>
          </a:prstGeom>
          <a:blipFill>
            <a:blip r:embed="rId1" cstate="print"/>
            <a:stretch>
              <a:fillRect/>
            </a:stretch>
          </a:blipFill>
        </p:spPr>
        <p:txBody>
          <a:bodyPr wrap="square" lIns="0" tIns="0" rIns="0" bIns="0" rtlCol="0"/>
          <a:lstStyle/>
          <a:p/>
        </p:txBody>
      </p:sp>
      <p:sp>
        <p:nvSpPr>
          <p:cNvPr id="19" name="object 13"/>
          <p:cNvSpPr/>
          <p:nvPr/>
        </p:nvSpPr>
        <p:spPr>
          <a:xfrm>
            <a:off x="3421587" y="6086741"/>
            <a:ext cx="146050" cy="177800"/>
          </a:xfrm>
          <a:prstGeom prst="rect">
            <a:avLst/>
          </a:prstGeom>
          <a:blipFill>
            <a:blip r:embed="rId1" cstate="print"/>
            <a:stretch>
              <a:fillRect/>
            </a:stretch>
          </a:blipFill>
        </p:spPr>
        <p:txBody>
          <a:bodyPr wrap="square" lIns="0" tIns="0" rIns="0" bIns="0" rtlCol="0"/>
          <a:lstStyle/>
          <a:p/>
        </p:txBody>
      </p:sp>
      <p:sp>
        <p:nvSpPr>
          <p:cNvPr id="20" name="object 14"/>
          <p:cNvSpPr txBox="1"/>
          <p:nvPr/>
        </p:nvSpPr>
        <p:spPr>
          <a:xfrm>
            <a:off x="1375003" y="4663516"/>
            <a:ext cx="4032885" cy="1635760"/>
          </a:xfrm>
          <a:prstGeom prst="rect">
            <a:avLst/>
          </a:prstGeom>
        </p:spPr>
        <p:txBody>
          <a:bodyPr vert="horz" wrap="square" lIns="0" tIns="12065" rIns="0" bIns="0" rtlCol="0">
            <a:spAutoFit/>
          </a:bodyPr>
          <a:lstStyle/>
          <a:p>
            <a:pPr marL="1334135" marR="527050" indent="-264795">
              <a:lnSpc>
                <a:spcPct val="127000"/>
              </a:lnSpc>
              <a:spcBef>
                <a:spcPts val="95"/>
              </a:spcBef>
            </a:pPr>
            <a:r>
              <a:rPr sz="1800" b="1" spc="-5" dirty="0">
                <a:latin typeface="Comic Sans MS" panose="030F0702030302020204"/>
                <a:cs typeface="Comic Sans MS" panose="030F0702030302020204"/>
              </a:rPr>
              <a:t>based </a:t>
            </a:r>
            <a:r>
              <a:rPr sz="1800" b="1" dirty="0">
                <a:latin typeface="Comic Sans MS" panose="030F0702030302020204"/>
                <a:cs typeface="Comic Sans MS" panose="030F0702030302020204"/>
              </a:rPr>
              <a:t>on </a:t>
            </a:r>
            <a:r>
              <a:rPr sz="1800" b="1" spc="-5" dirty="0">
                <a:latin typeface="Comic Sans MS" panose="030F0702030302020204"/>
                <a:cs typeface="Comic Sans MS" panose="030F0702030302020204"/>
              </a:rPr>
              <a:t>location:  </a:t>
            </a:r>
            <a:r>
              <a:rPr sz="1600" b="1" spc="-5" dirty="0">
                <a:latin typeface="Comic Sans MS" panose="030F0702030302020204"/>
                <a:cs typeface="Comic Sans MS" panose="030F0702030302020204"/>
              </a:rPr>
              <a:t>instrumentation fault,  </a:t>
            </a:r>
            <a:r>
              <a:rPr sz="1600" b="1" dirty="0">
                <a:latin typeface="Comic Sans MS" panose="030F0702030302020204"/>
                <a:cs typeface="Comic Sans MS" panose="030F0702030302020204"/>
              </a:rPr>
              <a:t>communication</a:t>
            </a:r>
            <a:r>
              <a:rPr sz="1600" b="1" spc="-30" dirty="0">
                <a:latin typeface="Comic Sans MS" panose="030F0702030302020204"/>
                <a:cs typeface="Comic Sans MS" panose="030F0702030302020204"/>
              </a:rPr>
              <a:t> </a:t>
            </a:r>
            <a:r>
              <a:rPr sz="1600" b="1" spc="-5" dirty="0">
                <a:latin typeface="Comic Sans MS" panose="030F0702030302020204"/>
                <a:cs typeface="Comic Sans MS" panose="030F0702030302020204"/>
              </a:rPr>
              <a:t>fault,</a:t>
            </a:r>
            <a:endParaRPr sz="1600">
              <a:latin typeface="Comic Sans MS" panose="030F0702030302020204"/>
              <a:cs typeface="Comic Sans MS" panose="030F0702030302020204"/>
            </a:endParaRPr>
          </a:p>
          <a:p>
            <a:pPr marL="2258695" marR="816610" indent="-635000">
              <a:lnSpc>
                <a:spcPct val="130000"/>
              </a:lnSpc>
            </a:pPr>
            <a:r>
              <a:rPr sz="1600" b="1" dirty="0">
                <a:latin typeface="Comic Sans MS" panose="030F0702030302020204"/>
                <a:cs typeface="Comic Sans MS" panose="030F0702030302020204"/>
              </a:rPr>
              <a:t>processor</a:t>
            </a:r>
            <a:r>
              <a:rPr sz="1600" b="1" spc="-75" dirty="0">
                <a:latin typeface="Comic Sans MS" panose="030F0702030302020204"/>
                <a:cs typeface="Comic Sans MS" panose="030F0702030302020204"/>
              </a:rPr>
              <a:t> </a:t>
            </a:r>
            <a:r>
              <a:rPr sz="1600" b="1" spc="-5" dirty="0">
                <a:latin typeface="Comic Sans MS" panose="030F0702030302020204"/>
                <a:cs typeface="Comic Sans MS" panose="030F0702030302020204"/>
              </a:rPr>
              <a:t>fault,  </a:t>
            </a:r>
            <a:r>
              <a:rPr sz="1600" b="1" dirty="0">
                <a:latin typeface="Comic Sans MS" panose="030F0702030302020204"/>
                <a:cs typeface="Comic Sans MS" panose="030F0702030302020204"/>
              </a:rPr>
              <a:t>etc</a:t>
            </a:r>
            <a:endParaRPr sz="1600">
              <a:latin typeface="Comic Sans MS" panose="030F0702030302020204"/>
              <a:cs typeface="Comic Sans MS" panose="030F0702030302020204"/>
            </a:endParaRPr>
          </a:p>
        </p:txBody>
      </p:sp>
      <p:sp>
        <p:nvSpPr>
          <p:cNvPr id="21" name="object 15"/>
          <p:cNvSpPr/>
          <p:nvPr/>
        </p:nvSpPr>
        <p:spPr>
          <a:xfrm>
            <a:off x="5815554" y="5010288"/>
            <a:ext cx="414020" cy="457200"/>
          </a:xfrm>
          <a:custGeom>
            <a:avLst/>
            <a:gdLst/>
            <a:ahLst/>
            <a:cxnLst/>
            <a:rect l="l" t="t" r="r" b="b"/>
            <a:pathLst>
              <a:path w="414020" h="457200">
                <a:moveTo>
                  <a:pt x="0" y="0"/>
                </a:moveTo>
                <a:lnTo>
                  <a:pt x="413574" y="0"/>
                </a:lnTo>
                <a:lnTo>
                  <a:pt x="413574" y="457200"/>
                </a:lnTo>
                <a:lnTo>
                  <a:pt x="0" y="457200"/>
                </a:lnTo>
                <a:lnTo>
                  <a:pt x="0" y="0"/>
                </a:lnTo>
                <a:close/>
              </a:path>
            </a:pathLst>
          </a:custGeom>
          <a:solidFill>
            <a:srgbClr val="ECEBEB"/>
          </a:solidFill>
        </p:spPr>
        <p:txBody>
          <a:bodyPr wrap="square" lIns="0" tIns="0" rIns="0" bIns="0" rtlCol="0"/>
          <a:lstStyle/>
          <a:p/>
        </p:txBody>
      </p:sp>
      <p:sp>
        <p:nvSpPr>
          <p:cNvPr id="22" name="object 16"/>
          <p:cNvSpPr/>
          <p:nvPr/>
        </p:nvSpPr>
        <p:spPr>
          <a:xfrm>
            <a:off x="5767313" y="4959026"/>
            <a:ext cx="565265" cy="610985"/>
          </a:xfrm>
          <a:prstGeom prst="rect">
            <a:avLst/>
          </a:prstGeom>
          <a:blipFill>
            <a:blip r:embed="rId2" cstate="print"/>
            <a:stretch>
              <a:fillRect/>
            </a:stretch>
          </a:blipFill>
        </p:spPr>
        <p:txBody>
          <a:bodyPr wrap="square" lIns="0" tIns="0" rIns="0" bIns="0" rtlCol="0"/>
          <a:lstStyle/>
          <a:p/>
        </p:txBody>
      </p:sp>
      <p:sp>
        <p:nvSpPr>
          <p:cNvPr id="23" name="object 17"/>
          <p:cNvSpPr/>
          <p:nvPr/>
        </p:nvSpPr>
        <p:spPr>
          <a:xfrm>
            <a:off x="6041435" y="5019166"/>
            <a:ext cx="187693" cy="438889"/>
          </a:xfrm>
          <a:prstGeom prst="rect">
            <a:avLst/>
          </a:prstGeom>
          <a:blipFill>
            <a:blip r:embed="rId3" cstate="print"/>
            <a:stretch>
              <a:fillRect/>
            </a:stretch>
          </a:blipFill>
        </p:spPr>
        <p:txBody>
          <a:bodyPr wrap="square" lIns="0" tIns="0" rIns="0" bIns="0" rtlCol="0"/>
          <a:lstStyle/>
          <a:p/>
        </p:txBody>
      </p:sp>
      <p:sp>
        <p:nvSpPr>
          <p:cNvPr id="24" name="object 18"/>
          <p:cNvSpPr/>
          <p:nvPr/>
        </p:nvSpPr>
        <p:spPr>
          <a:xfrm>
            <a:off x="5815554" y="5010288"/>
            <a:ext cx="194236" cy="457199"/>
          </a:xfrm>
          <a:prstGeom prst="rect">
            <a:avLst/>
          </a:prstGeom>
          <a:blipFill>
            <a:blip r:embed="rId4" cstate="print"/>
            <a:stretch>
              <a:fillRect/>
            </a:stretch>
          </a:blipFill>
        </p:spPr>
        <p:txBody>
          <a:bodyPr wrap="square" lIns="0" tIns="0" rIns="0" bIns="0" rtlCol="0"/>
          <a:lstStyle/>
          <a:p/>
        </p:txBody>
      </p:sp>
      <p:sp>
        <p:nvSpPr>
          <p:cNvPr id="25" name="object 19"/>
          <p:cNvSpPr/>
          <p:nvPr/>
        </p:nvSpPr>
        <p:spPr>
          <a:xfrm>
            <a:off x="6125672" y="5094070"/>
            <a:ext cx="25400" cy="97790"/>
          </a:xfrm>
          <a:custGeom>
            <a:avLst/>
            <a:gdLst/>
            <a:ahLst/>
            <a:cxnLst/>
            <a:rect l="l" t="t" r="r" b="b"/>
            <a:pathLst>
              <a:path w="25400" h="97789">
                <a:moveTo>
                  <a:pt x="0" y="0"/>
                </a:moveTo>
                <a:lnTo>
                  <a:pt x="0" y="24413"/>
                </a:lnTo>
                <a:lnTo>
                  <a:pt x="0" y="48827"/>
                </a:lnTo>
                <a:lnTo>
                  <a:pt x="0" y="73240"/>
                </a:lnTo>
                <a:lnTo>
                  <a:pt x="0" y="97654"/>
                </a:lnTo>
                <a:lnTo>
                  <a:pt x="9375" y="97654"/>
                </a:lnTo>
                <a:lnTo>
                  <a:pt x="25352" y="58051"/>
                </a:lnTo>
                <a:lnTo>
                  <a:pt x="25352" y="50003"/>
                </a:lnTo>
                <a:lnTo>
                  <a:pt x="25352" y="41954"/>
                </a:lnTo>
                <a:lnTo>
                  <a:pt x="25352" y="33906"/>
                </a:lnTo>
                <a:lnTo>
                  <a:pt x="25012" y="24362"/>
                </a:lnTo>
                <a:lnTo>
                  <a:pt x="9639" y="0"/>
                </a:lnTo>
                <a:lnTo>
                  <a:pt x="0" y="0"/>
                </a:lnTo>
                <a:close/>
              </a:path>
            </a:pathLst>
          </a:custGeom>
          <a:ln w="12700">
            <a:solidFill>
              <a:srgbClr val="000000"/>
            </a:solidFill>
          </a:ln>
        </p:spPr>
        <p:txBody>
          <a:bodyPr wrap="square" lIns="0" tIns="0" rIns="0" bIns="0" rtlCol="0"/>
          <a:lstStyle/>
          <a:p/>
        </p:txBody>
      </p:sp>
      <p:sp>
        <p:nvSpPr>
          <p:cNvPr id="26" name="object 20"/>
          <p:cNvSpPr/>
          <p:nvPr/>
        </p:nvSpPr>
        <p:spPr>
          <a:xfrm>
            <a:off x="5899791" y="5084638"/>
            <a:ext cx="26034" cy="308610"/>
          </a:xfrm>
          <a:custGeom>
            <a:avLst/>
            <a:gdLst/>
            <a:ahLst/>
            <a:cxnLst/>
            <a:rect l="l" t="t" r="r" b="b"/>
            <a:pathLst>
              <a:path w="26035" h="308610">
                <a:moveTo>
                  <a:pt x="13270" y="0"/>
                </a:moveTo>
                <a:lnTo>
                  <a:pt x="8977" y="0"/>
                </a:lnTo>
                <a:lnTo>
                  <a:pt x="5691" y="2301"/>
                </a:lnTo>
                <a:lnTo>
                  <a:pt x="0" y="47665"/>
                </a:lnTo>
                <a:lnTo>
                  <a:pt x="0" y="98857"/>
                </a:lnTo>
                <a:lnTo>
                  <a:pt x="0" y="150049"/>
                </a:lnTo>
                <a:lnTo>
                  <a:pt x="0" y="201240"/>
                </a:lnTo>
                <a:lnTo>
                  <a:pt x="0" y="252432"/>
                </a:lnTo>
                <a:lnTo>
                  <a:pt x="140" y="269699"/>
                </a:lnTo>
                <a:lnTo>
                  <a:pt x="7222" y="308499"/>
                </a:lnTo>
                <a:lnTo>
                  <a:pt x="12682" y="308499"/>
                </a:lnTo>
                <a:lnTo>
                  <a:pt x="18279" y="308499"/>
                </a:lnTo>
                <a:lnTo>
                  <a:pt x="25615" y="266771"/>
                </a:lnTo>
                <a:lnTo>
                  <a:pt x="25762" y="249181"/>
                </a:lnTo>
                <a:lnTo>
                  <a:pt x="25762" y="198802"/>
                </a:lnTo>
                <a:lnTo>
                  <a:pt x="25762" y="148423"/>
                </a:lnTo>
                <a:lnTo>
                  <a:pt x="25762" y="98044"/>
                </a:lnTo>
                <a:lnTo>
                  <a:pt x="25762" y="47665"/>
                </a:lnTo>
                <a:lnTo>
                  <a:pt x="25609" y="33743"/>
                </a:lnTo>
                <a:lnTo>
                  <a:pt x="18343" y="0"/>
                </a:lnTo>
                <a:lnTo>
                  <a:pt x="13270" y="0"/>
                </a:lnTo>
                <a:close/>
              </a:path>
            </a:pathLst>
          </a:custGeom>
          <a:ln w="12700">
            <a:solidFill>
              <a:srgbClr val="000000"/>
            </a:solidFill>
          </a:ln>
        </p:spPr>
        <p:txBody>
          <a:bodyPr wrap="square" lIns="0" tIns="0" rIns="0" bIns="0" rtlCol="0"/>
          <a:lstStyle/>
          <a:p/>
        </p:txBody>
      </p:sp>
      <p:sp>
        <p:nvSpPr>
          <p:cNvPr id="27" name="object 21"/>
          <p:cNvSpPr/>
          <p:nvPr/>
        </p:nvSpPr>
        <p:spPr>
          <a:xfrm>
            <a:off x="6041435" y="5019165"/>
            <a:ext cx="187960" cy="439420"/>
          </a:xfrm>
          <a:custGeom>
            <a:avLst/>
            <a:gdLst/>
            <a:ahLst/>
            <a:cxnLst/>
            <a:rect l="l" t="t" r="r" b="b"/>
            <a:pathLst>
              <a:path w="187960" h="439420">
                <a:moveTo>
                  <a:pt x="0" y="0"/>
                </a:moveTo>
                <a:lnTo>
                  <a:pt x="14876" y="0"/>
                </a:lnTo>
                <a:lnTo>
                  <a:pt x="29751" y="0"/>
                </a:lnTo>
                <a:lnTo>
                  <a:pt x="44627" y="0"/>
                </a:lnTo>
                <a:lnTo>
                  <a:pt x="59504" y="0"/>
                </a:lnTo>
                <a:lnTo>
                  <a:pt x="86853" y="389"/>
                </a:lnTo>
                <a:lnTo>
                  <a:pt x="127138" y="3503"/>
                </a:lnTo>
                <a:lnTo>
                  <a:pt x="167291" y="26469"/>
                </a:lnTo>
                <a:lnTo>
                  <a:pt x="184374" y="71279"/>
                </a:lnTo>
                <a:lnTo>
                  <a:pt x="187693" y="119735"/>
                </a:lnTo>
                <a:lnTo>
                  <a:pt x="187107" y="143233"/>
                </a:lnTo>
                <a:lnTo>
                  <a:pt x="178310" y="188537"/>
                </a:lnTo>
                <a:lnTo>
                  <a:pt x="141370" y="209665"/>
                </a:lnTo>
                <a:lnTo>
                  <a:pt x="152826" y="214226"/>
                </a:lnTo>
                <a:lnTo>
                  <a:pt x="181879" y="245709"/>
                </a:lnTo>
                <a:lnTo>
                  <a:pt x="187562" y="299055"/>
                </a:lnTo>
                <a:lnTo>
                  <a:pt x="187693" y="323055"/>
                </a:lnTo>
                <a:lnTo>
                  <a:pt x="187693" y="352013"/>
                </a:lnTo>
                <a:lnTo>
                  <a:pt x="187693" y="380972"/>
                </a:lnTo>
                <a:lnTo>
                  <a:pt x="187693" y="409931"/>
                </a:lnTo>
                <a:lnTo>
                  <a:pt x="187693" y="438889"/>
                </a:lnTo>
                <a:lnTo>
                  <a:pt x="168167" y="438889"/>
                </a:lnTo>
                <a:lnTo>
                  <a:pt x="148641" y="438889"/>
                </a:lnTo>
                <a:lnTo>
                  <a:pt x="129116" y="438889"/>
                </a:lnTo>
                <a:lnTo>
                  <a:pt x="109590" y="438889"/>
                </a:lnTo>
                <a:lnTo>
                  <a:pt x="109590" y="402392"/>
                </a:lnTo>
                <a:lnTo>
                  <a:pt x="109590" y="365896"/>
                </a:lnTo>
                <a:lnTo>
                  <a:pt x="109590" y="329399"/>
                </a:lnTo>
                <a:lnTo>
                  <a:pt x="109590" y="292902"/>
                </a:lnTo>
                <a:lnTo>
                  <a:pt x="109336" y="276946"/>
                </a:lnTo>
                <a:lnTo>
                  <a:pt x="95725" y="240806"/>
                </a:lnTo>
                <a:lnTo>
                  <a:pt x="84237" y="240806"/>
                </a:lnTo>
                <a:lnTo>
                  <a:pt x="84237" y="290327"/>
                </a:lnTo>
                <a:lnTo>
                  <a:pt x="84237" y="339848"/>
                </a:lnTo>
                <a:lnTo>
                  <a:pt x="84237" y="389368"/>
                </a:lnTo>
                <a:lnTo>
                  <a:pt x="84237" y="438889"/>
                </a:lnTo>
                <a:lnTo>
                  <a:pt x="63178" y="438889"/>
                </a:lnTo>
                <a:lnTo>
                  <a:pt x="42118" y="438889"/>
                </a:lnTo>
                <a:lnTo>
                  <a:pt x="21059" y="438889"/>
                </a:lnTo>
                <a:lnTo>
                  <a:pt x="0" y="438889"/>
                </a:lnTo>
                <a:lnTo>
                  <a:pt x="0" y="390124"/>
                </a:lnTo>
                <a:lnTo>
                  <a:pt x="0" y="48765"/>
                </a:lnTo>
                <a:lnTo>
                  <a:pt x="0" y="0"/>
                </a:lnTo>
                <a:close/>
              </a:path>
            </a:pathLst>
          </a:custGeom>
          <a:ln w="12700">
            <a:solidFill>
              <a:srgbClr val="000000"/>
            </a:solidFill>
          </a:ln>
        </p:spPr>
        <p:txBody>
          <a:bodyPr wrap="square" lIns="0" tIns="0" rIns="0" bIns="0" rtlCol="0"/>
          <a:lstStyle/>
          <a:p/>
        </p:txBody>
      </p:sp>
      <p:sp>
        <p:nvSpPr>
          <p:cNvPr id="28" name="object 22"/>
          <p:cNvSpPr/>
          <p:nvPr/>
        </p:nvSpPr>
        <p:spPr>
          <a:xfrm>
            <a:off x="5815554" y="5010288"/>
            <a:ext cx="194310" cy="457200"/>
          </a:xfrm>
          <a:custGeom>
            <a:avLst/>
            <a:gdLst/>
            <a:ahLst/>
            <a:cxnLst/>
            <a:rect l="l" t="t" r="r" b="b"/>
            <a:pathLst>
              <a:path w="194310" h="457200">
                <a:moveTo>
                  <a:pt x="97118" y="0"/>
                </a:moveTo>
                <a:lnTo>
                  <a:pt x="143680" y="11517"/>
                </a:lnTo>
                <a:lnTo>
                  <a:pt x="176885" y="46070"/>
                </a:lnTo>
                <a:lnTo>
                  <a:pt x="190011" y="82910"/>
                </a:lnTo>
                <a:lnTo>
                  <a:pt x="193637" y="133470"/>
                </a:lnTo>
                <a:lnTo>
                  <a:pt x="194236" y="191060"/>
                </a:lnTo>
                <a:lnTo>
                  <a:pt x="194236" y="209830"/>
                </a:lnTo>
                <a:lnTo>
                  <a:pt x="194236" y="228599"/>
                </a:lnTo>
                <a:lnTo>
                  <a:pt x="194236" y="247369"/>
                </a:lnTo>
                <a:lnTo>
                  <a:pt x="194236" y="266139"/>
                </a:lnTo>
                <a:lnTo>
                  <a:pt x="194092" y="296787"/>
                </a:lnTo>
                <a:lnTo>
                  <a:pt x="192946" y="343603"/>
                </a:lnTo>
                <a:lnTo>
                  <a:pt x="187206" y="386093"/>
                </a:lnTo>
                <a:lnTo>
                  <a:pt x="171024" y="420768"/>
                </a:lnTo>
                <a:lnTo>
                  <a:pt x="134286" y="450340"/>
                </a:lnTo>
                <a:lnTo>
                  <a:pt x="97118" y="457199"/>
                </a:lnTo>
                <a:lnTo>
                  <a:pt x="84487" y="456479"/>
                </a:lnTo>
                <a:lnTo>
                  <a:pt x="40739" y="439203"/>
                </a:lnTo>
                <a:lnTo>
                  <a:pt x="11703" y="399357"/>
                </a:lnTo>
                <a:lnTo>
                  <a:pt x="2392" y="360993"/>
                </a:lnTo>
                <a:lnTo>
                  <a:pt x="149" y="297474"/>
                </a:lnTo>
                <a:lnTo>
                  <a:pt x="0" y="266139"/>
                </a:lnTo>
                <a:lnTo>
                  <a:pt x="0" y="247369"/>
                </a:lnTo>
                <a:lnTo>
                  <a:pt x="0" y="228599"/>
                </a:lnTo>
                <a:lnTo>
                  <a:pt x="0" y="209830"/>
                </a:lnTo>
                <a:lnTo>
                  <a:pt x="0" y="191060"/>
                </a:lnTo>
                <a:lnTo>
                  <a:pt x="143" y="160412"/>
                </a:lnTo>
                <a:lnTo>
                  <a:pt x="1290" y="113596"/>
                </a:lnTo>
                <a:lnTo>
                  <a:pt x="7029" y="71105"/>
                </a:lnTo>
                <a:lnTo>
                  <a:pt x="23211" y="36431"/>
                </a:lnTo>
                <a:lnTo>
                  <a:pt x="59949" y="6858"/>
                </a:lnTo>
                <a:lnTo>
                  <a:pt x="83881" y="762"/>
                </a:lnTo>
                <a:lnTo>
                  <a:pt x="97118" y="0"/>
                </a:lnTo>
                <a:close/>
              </a:path>
            </a:pathLst>
          </a:custGeom>
          <a:ln w="12700">
            <a:solidFill>
              <a:srgbClr val="000000"/>
            </a:solidFill>
          </a:ln>
        </p:spPr>
        <p:txBody>
          <a:bodyPr wrap="square" lIns="0" tIns="0" rIns="0" bIns="0" rtlCol="0"/>
          <a:lstStyle/>
          <a:p/>
        </p:txBody>
      </p:sp>
    </p:spTree>
  </p:cSld>
  <p:clrMapOvr>
    <a:masterClrMapping/>
  </p:clrMapOvr>
  <mc:AlternateContent xmlns:mc="http://schemas.openxmlformats.org/markup-compatibility/2006">
    <mc:Choice xmlns:p14="http://schemas.microsoft.com/office/powerpoint/2010/main" Requires="p14">
      <p:transition spd="slow" p14:dur="999" advTm="52170"/>
    </mc:Choice>
    <mc:Fallback>
      <p:transition spd="slow" advTm="5217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199" y="365125"/>
            <a:ext cx="11185635" cy="1325563"/>
          </a:xfrm>
        </p:spPr>
        <p:txBody>
          <a:bodyPr/>
          <a:lstStyle/>
          <a:p>
            <a:r>
              <a:rPr lang="zh-CN" altLang="en-US" dirty="0"/>
              <a:t>继承</a:t>
            </a:r>
            <a:r>
              <a:rPr lang="en-US" altLang="zh-CN" dirty="0"/>
              <a:t>/</a:t>
            </a:r>
            <a:r>
              <a:rPr lang="zh-CN" altLang="en-US" dirty="0"/>
              <a:t>一般</a:t>
            </a:r>
            <a:r>
              <a:rPr lang="en-US" altLang="zh-CN" dirty="0"/>
              <a:t>-</a:t>
            </a:r>
            <a:r>
              <a:rPr lang="zh-CN" altLang="en-US" dirty="0"/>
              <a:t>特殊结构（</a:t>
            </a:r>
            <a:r>
              <a:rPr lang="en-US" altLang="zh-CN" dirty="0"/>
              <a:t>Gen-Spec Structures</a:t>
            </a:r>
            <a:r>
              <a:rPr lang="zh-CN" altLang="en-US" dirty="0"/>
              <a:t>）</a:t>
            </a:r>
            <a:endParaRPr lang="zh-CN" altLang="en-US" dirty="0"/>
          </a:p>
        </p:txBody>
      </p:sp>
      <p:sp>
        <p:nvSpPr>
          <p:cNvPr id="3" name="内容占位符 2"/>
          <p:cNvSpPr>
            <a:spLocks noGrp="1"/>
          </p:cNvSpPr>
          <p:nvPr>
            <p:ph idx="1"/>
          </p:nvPr>
        </p:nvSpPr>
        <p:spPr/>
        <p:txBody>
          <a:bodyPr/>
          <a:lstStyle/>
          <a:p>
            <a:pPr marL="12700" indent="0">
              <a:lnSpc>
                <a:spcPct val="100000"/>
              </a:lnSpc>
              <a:spcBef>
                <a:spcPts val="600"/>
              </a:spcBef>
              <a:buNone/>
              <a:tabLst>
                <a:tab pos="241300" algn="l"/>
              </a:tabLst>
            </a:pPr>
            <a:r>
              <a:rPr lang="zh-CN" altLang="en-US" dirty="0">
                <a:cs typeface="Arial Unicode MS"/>
              </a:rPr>
              <a:t>一般</a:t>
            </a:r>
            <a:r>
              <a:rPr lang="en-US" altLang="zh-CN" dirty="0">
                <a:cs typeface="Arial Unicode MS"/>
              </a:rPr>
              <a:t>-</a:t>
            </a:r>
            <a:r>
              <a:rPr lang="zh-CN" altLang="en-US" dirty="0">
                <a:cs typeface="Arial Unicode MS"/>
              </a:rPr>
              <a:t>特殊结构将类组织成基于继承关系的分类层次结构</a:t>
            </a:r>
            <a:endParaRPr lang="zh-CN" altLang="en-US" dirty="0">
              <a:cs typeface="Arial Unicode MS"/>
            </a:endParaRPr>
          </a:p>
          <a:p>
            <a:pPr marL="584200" indent="-571500">
              <a:lnSpc>
                <a:spcPct val="100000"/>
              </a:lnSpc>
              <a:spcBef>
                <a:spcPts val="505"/>
              </a:spcBef>
              <a:tabLst>
                <a:tab pos="241300" algn="l"/>
              </a:tabLst>
            </a:pPr>
            <a:r>
              <a:rPr lang="zh-CN" altLang="en-US" sz="4000" baseline="-4000" dirty="0">
                <a:cs typeface="Arial Unicode MS"/>
              </a:rPr>
              <a:t>自底向上是从特殊到一般的类 </a:t>
            </a:r>
            <a:r>
              <a:rPr lang="en-US" altLang="zh-CN" dirty="0">
                <a:cs typeface="Franklin Gothic Book" panose="020B0503020102020204"/>
              </a:rPr>
              <a:t>(generalization</a:t>
            </a:r>
            <a:r>
              <a:rPr lang="zh-CN" altLang="en-US" sz="4000" baseline="-4000" dirty="0">
                <a:cs typeface="Arial Unicode MS"/>
              </a:rPr>
              <a:t>）</a:t>
            </a:r>
            <a:endParaRPr lang="zh-CN" altLang="en-US" sz="4000" baseline="-4000" dirty="0">
              <a:cs typeface="Arial Unicode MS"/>
            </a:endParaRPr>
          </a:p>
          <a:p>
            <a:pPr marL="584200" indent="-571500">
              <a:lnSpc>
                <a:spcPct val="100000"/>
              </a:lnSpc>
              <a:spcBef>
                <a:spcPts val="740"/>
              </a:spcBef>
              <a:tabLst>
                <a:tab pos="241300" algn="l"/>
              </a:tabLst>
            </a:pPr>
            <a:r>
              <a:rPr lang="zh-CN" altLang="en-US" sz="4000" baseline="-4000" dirty="0">
                <a:cs typeface="Arial Unicode MS"/>
              </a:rPr>
              <a:t>自顶向下是从一般到特殊的类（</a:t>
            </a:r>
            <a:r>
              <a:rPr lang="en-US" altLang="zh-CN" dirty="0">
                <a:cs typeface="Franklin Gothic Book" panose="020B0503020102020204"/>
              </a:rPr>
              <a:t>specialization)</a:t>
            </a:r>
            <a:endParaRPr lang="zh-CN" altLang="en-US" dirty="0">
              <a:cs typeface="Franklin Gothic Book" panose="020B0503020102020204"/>
            </a:endParaRPr>
          </a:p>
          <a:p>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sp>
        <p:nvSpPr>
          <p:cNvPr id="5" name="object 5"/>
          <p:cNvSpPr/>
          <p:nvPr/>
        </p:nvSpPr>
        <p:spPr>
          <a:xfrm>
            <a:off x="5232195" y="3411178"/>
            <a:ext cx="2134235" cy="990600"/>
          </a:xfrm>
          <a:custGeom>
            <a:avLst/>
            <a:gdLst/>
            <a:ahLst/>
            <a:cxnLst/>
            <a:rect l="l" t="t" r="r" b="b"/>
            <a:pathLst>
              <a:path w="2134234" h="990600">
                <a:moveTo>
                  <a:pt x="1968668" y="0"/>
                </a:moveTo>
                <a:lnTo>
                  <a:pt x="165100" y="0"/>
                </a:lnTo>
                <a:lnTo>
                  <a:pt x="121209" y="5897"/>
                </a:lnTo>
                <a:lnTo>
                  <a:pt x="81770" y="22540"/>
                </a:lnTo>
                <a:lnTo>
                  <a:pt x="48356" y="48356"/>
                </a:lnTo>
                <a:lnTo>
                  <a:pt x="22540" y="81770"/>
                </a:lnTo>
                <a:lnTo>
                  <a:pt x="5897" y="121209"/>
                </a:lnTo>
                <a:lnTo>
                  <a:pt x="0" y="165100"/>
                </a:lnTo>
                <a:lnTo>
                  <a:pt x="0" y="825499"/>
                </a:lnTo>
                <a:lnTo>
                  <a:pt x="5897" y="869390"/>
                </a:lnTo>
                <a:lnTo>
                  <a:pt x="22540" y="908829"/>
                </a:lnTo>
                <a:lnTo>
                  <a:pt x="48356" y="942243"/>
                </a:lnTo>
                <a:lnTo>
                  <a:pt x="81770" y="968059"/>
                </a:lnTo>
                <a:lnTo>
                  <a:pt x="121209" y="984702"/>
                </a:lnTo>
                <a:lnTo>
                  <a:pt x="165100" y="990599"/>
                </a:lnTo>
                <a:lnTo>
                  <a:pt x="1968668" y="990599"/>
                </a:lnTo>
                <a:lnTo>
                  <a:pt x="2012559" y="984702"/>
                </a:lnTo>
                <a:lnTo>
                  <a:pt x="2051998" y="968059"/>
                </a:lnTo>
                <a:lnTo>
                  <a:pt x="2085412" y="942243"/>
                </a:lnTo>
                <a:lnTo>
                  <a:pt x="2111227" y="908829"/>
                </a:lnTo>
                <a:lnTo>
                  <a:pt x="2127871" y="869390"/>
                </a:lnTo>
                <a:lnTo>
                  <a:pt x="2133768" y="825499"/>
                </a:lnTo>
                <a:lnTo>
                  <a:pt x="2133768" y="165100"/>
                </a:lnTo>
                <a:lnTo>
                  <a:pt x="2127871" y="121209"/>
                </a:lnTo>
                <a:lnTo>
                  <a:pt x="2111227" y="81770"/>
                </a:lnTo>
                <a:lnTo>
                  <a:pt x="2085412" y="48356"/>
                </a:lnTo>
                <a:lnTo>
                  <a:pt x="2051998" y="22540"/>
                </a:lnTo>
                <a:lnTo>
                  <a:pt x="2012559" y="5897"/>
                </a:lnTo>
                <a:lnTo>
                  <a:pt x="1968668" y="0"/>
                </a:lnTo>
                <a:close/>
              </a:path>
            </a:pathLst>
          </a:custGeom>
          <a:solidFill>
            <a:srgbClr val="FFD5A9"/>
          </a:solidFill>
        </p:spPr>
        <p:txBody>
          <a:bodyPr wrap="square" lIns="0" tIns="0" rIns="0" bIns="0" rtlCol="0"/>
          <a:lstStyle/>
          <a:p/>
        </p:txBody>
      </p:sp>
      <p:sp>
        <p:nvSpPr>
          <p:cNvPr id="6" name="object 6"/>
          <p:cNvSpPr/>
          <p:nvPr/>
        </p:nvSpPr>
        <p:spPr>
          <a:xfrm>
            <a:off x="5232195" y="3411178"/>
            <a:ext cx="2134235" cy="990600"/>
          </a:xfrm>
          <a:custGeom>
            <a:avLst/>
            <a:gdLst/>
            <a:ahLst/>
            <a:cxnLst/>
            <a:rect l="l" t="t" r="r" b="b"/>
            <a:pathLst>
              <a:path w="2134234" h="990600">
                <a:moveTo>
                  <a:pt x="0" y="165099"/>
                </a:moveTo>
                <a:lnTo>
                  <a:pt x="5897" y="121209"/>
                </a:lnTo>
                <a:lnTo>
                  <a:pt x="22541" y="81770"/>
                </a:lnTo>
                <a:lnTo>
                  <a:pt x="48356" y="48356"/>
                </a:lnTo>
                <a:lnTo>
                  <a:pt x="81770" y="22541"/>
                </a:lnTo>
                <a:lnTo>
                  <a:pt x="121209" y="5897"/>
                </a:lnTo>
                <a:lnTo>
                  <a:pt x="165099" y="0"/>
                </a:lnTo>
                <a:lnTo>
                  <a:pt x="1968668" y="0"/>
                </a:lnTo>
                <a:lnTo>
                  <a:pt x="2012558" y="5897"/>
                </a:lnTo>
                <a:lnTo>
                  <a:pt x="2051997" y="22541"/>
                </a:lnTo>
                <a:lnTo>
                  <a:pt x="2085411" y="48356"/>
                </a:lnTo>
                <a:lnTo>
                  <a:pt x="2111227" y="81770"/>
                </a:lnTo>
                <a:lnTo>
                  <a:pt x="2127871" y="121209"/>
                </a:lnTo>
                <a:lnTo>
                  <a:pt x="2133768" y="165099"/>
                </a:lnTo>
                <a:lnTo>
                  <a:pt x="2133768" y="825499"/>
                </a:lnTo>
                <a:lnTo>
                  <a:pt x="2127871" y="869389"/>
                </a:lnTo>
                <a:lnTo>
                  <a:pt x="2111227" y="908828"/>
                </a:lnTo>
                <a:lnTo>
                  <a:pt x="2085411" y="942242"/>
                </a:lnTo>
                <a:lnTo>
                  <a:pt x="2051997" y="968058"/>
                </a:lnTo>
                <a:lnTo>
                  <a:pt x="2012558" y="984702"/>
                </a:lnTo>
                <a:lnTo>
                  <a:pt x="1968668" y="990599"/>
                </a:lnTo>
                <a:lnTo>
                  <a:pt x="165099" y="990599"/>
                </a:lnTo>
                <a:lnTo>
                  <a:pt x="121209" y="984702"/>
                </a:lnTo>
                <a:lnTo>
                  <a:pt x="81770" y="968058"/>
                </a:lnTo>
                <a:lnTo>
                  <a:pt x="48356" y="942242"/>
                </a:lnTo>
                <a:lnTo>
                  <a:pt x="22541" y="908828"/>
                </a:lnTo>
                <a:lnTo>
                  <a:pt x="5897" y="869389"/>
                </a:lnTo>
                <a:lnTo>
                  <a:pt x="0" y="825499"/>
                </a:lnTo>
                <a:lnTo>
                  <a:pt x="0" y="165099"/>
                </a:lnTo>
                <a:close/>
              </a:path>
            </a:pathLst>
          </a:custGeom>
          <a:ln w="9524">
            <a:solidFill>
              <a:srgbClr val="FF2600"/>
            </a:solidFill>
          </a:ln>
        </p:spPr>
        <p:txBody>
          <a:bodyPr wrap="square" lIns="0" tIns="0" rIns="0" bIns="0" rtlCol="0"/>
          <a:lstStyle/>
          <a:p/>
        </p:txBody>
      </p:sp>
      <p:sp>
        <p:nvSpPr>
          <p:cNvPr id="7" name="object 7"/>
          <p:cNvSpPr/>
          <p:nvPr/>
        </p:nvSpPr>
        <p:spPr>
          <a:xfrm>
            <a:off x="5232195" y="3715978"/>
            <a:ext cx="2134235" cy="0"/>
          </a:xfrm>
          <a:custGeom>
            <a:avLst/>
            <a:gdLst/>
            <a:ahLst/>
            <a:cxnLst/>
            <a:rect l="l" t="t" r="r" b="b"/>
            <a:pathLst>
              <a:path w="2134234">
                <a:moveTo>
                  <a:pt x="0" y="0"/>
                </a:moveTo>
                <a:lnTo>
                  <a:pt x="2133768" y="1"/>
                </a:lnTo>
              </a:path>
            </a:pathLst>
          </a:custGeom>
          <a:ln w="9524">
            <a:solidFill>
              <a:srgbClr val="FF2600"/>
            </a:solidFill>
          </a:ln>
        </p:spPr>
        <p:txBody>
          <a:bodyPr wrap="square" lIns="0" tIns="0" rIns="0" bIns="0" rtlCol="0"/>
          <a:lstStyle/>
          <a:p/>
        </p:txBody>
      </p:sp>
      <p:sp>
        <p:nvSpPr>
          <p:cNvPr id="8" name="object 8"/>
          <p:cNvSpPr/>
          <p:nvPr/>
        </p:nvSpPr>
        <p:spPr>
          <a:xfrm>
            <a:off x="5232195" y="4096978"/>
            <a:ext cx="2134235" cy="0"/>
          </a:xfrm>
          <a:custGeom>
            <a:avLst/>
            <a:gdLst/>
            <a:ahLst/>
            <a:cxnLst/>
            <a:rect l="l" t="t" r="r" b="b"/>
            <a:pathLst>
              <a:path w="2134234">
                <a:moveTo>
                  <a:pt x="0" y="0"/>
                </a:moveTo>
                <a:lnTo>
                  <a:pt x="2133768" y="0"/>
                </a:lnTo>
              </a:path>
            </a:pathLst>
          </a:custGeom>
          <a:ln w="9524">
            <a:solidFill>
              <a:srgbClr val="FF2600"/>
            </a:solidFill>
          </a:ln>
        </p:spPr>
        <p:txBody>
          <a:bodyPr wrap="square" lIns="0" tIns="0" rIns="0" bIns="0" rtlCol="0"/>
          <a:lstStyle/>
          <a:p/>
        </p:txBody>
      </p:sp>
      <p:sp>
        <p:nvSpPr>
          <p:cNvPr id="9" name="object 9"/>
          <p:cNvSpPr/>
          <p:nvPr/>
        </p:nvSpPr>
        <p:spPr>
          <a:xfrm>
            <a:off x="5435411" y="3563578"/>
            <a:ext cx="2134235" cy="990600"/>
          </a:xfrm>
          <a:custGeom>
            <a:avLst/>
            <a:gdLst/>
            <a:ahLst/>
            <a:cxnLst/>
            <a:rect l="l" t="t" r="r" b="b"/>
            <a:pathLst>
              <a:path w="2134234" h="990600">
                <a:moveTo>
                  <a:pt x="1968668" y="0"/>
                </a:moveTo>
                <a:lnTo>
                  <a:pt x="165100" y="0"/>
                </a:lnTo>
                <a:lnTo>
                  <a:pt x="121209" y="5897"/>
                </a:lnTo>
                <a:lnTo>
                  <a:pt x="81770" y="22540"/>
                </a:lnTo>
                <a:lnTo>
                  <a:pt x="48356" y="48356"/>
                </a:lnTo>
                <a:lnTo>
                  <a:pt x="22540" y="81770"/>
                </a:lnTo>
                <a:lnTo>
                  <a:pt x="5897" y="121209"/>
                </a:lnTo>
                <a:lnTo>
                  <a:pt x="0" y="165100"/>
                </a:lnTo>
                <a:lnTo>
                  <a:pt x="0" y="825499"/>
                </a:lnTo>
                <a:lnTo>
                  <a:pt x="5897" y="869390"/>
                </a:lnTo>
                <a:lnTo>
                  <a:pt x="22540" y="908829"/>
                </a:lnTo>
                <a:lnTo>
                  <a:pt x="48356" y="942243"/>
                </a:lnTo>
                <a:lnTo>
                  <a:pt x="81770" y="968059"/>
                </a:lnTo>
                <a:lnTo>
                  <a:pt x="121209" y="984702"/>
                </a:lnTo>
                <a:lnTo>
                  <a:pt x="165100" y="990599"/>
                </a:lnTo>
                <a:lnTo>
                  <a:pt x="1968668" y="990599"/>
                </a:lnTo>
                <a:lnTo>
                  <a:pt x="2012559" y="984702"/>
                </a:lnTo>
                <a:lnTo>
                  <a:pt x="2051998" y="968059"/>
                </a:lnTo>
                <a:lnTo>
                  <a:pt x="2085412" y="942243"/>
                </a:lnTo>
                <a:lnTo>
                  <a:pt x="2111227" y="908829"/>
                </a:lnTo>
                <a:lnTo>
                  <a:pt x="2127871" y="869390"/>
                </a:lnTo>
                <a:lnTo>
                  <a:pt x="2133768" y="825499"/>
                </a:lnTo>
                <a:lnTo>
                  <a:pt x="2133768" y="165100"/>
                </a:lnTo>
                <a:lnTo>
                  <a:pt x="2127871" y="121209"/>
                </a:lnTo>
                <a:lnTo>
                  <a:pt x="2111227" y="81770"/>
                </a:lnTo>
                <a:lnTo>
                  <a:pt x="2085412" y="48356"/>
                </a:lnTo>
                <a:lnTo>
                  <a:pt x="2051998" y="22540"/>
                </a:lnTo>
                <a:lnTo>
                  <a:pt x="2012559" y="5897"/>
                </a:lnTo>
                <a:lnTo>
                  <a:pt x="1968668" y="0"/>
                </a:lnTo>
                <a:close/>
              </a:path>
            </a:pathLst>
          </a:custGeom>
          <a:solidFill>
            <a:srgbClr val="4180FF"/>
          </a:solidFill>
        </p:spPr>
        <p:txBody>
          <a:bodyPr wrap="square" lIns="0" tIns="0" rIns="0" bIns="0" rtlCol="0"/>
          <a:lstStyle/>
          <a:p/>
        </p:txBody>
      </p:sp>
      <p:sp>
        <p:nvSpPr>
          <p:cNvPr id="10" name="object 10"/>
          <p:cNvSpPr/>
          <p:nvPr/>
        </p:nvSpPr>
        <p:spPr>
          <a:xfrm>
            <a:off x="5435411" y="3563578"/>
            <a:ext cx="2134235" cy="990600"/>
          </a:xfrm>
          <a:custGeom>
            <a:avLst/>
            <a:gdLst/>
            <a:ahLst/>
            <a:cxnLst/>
            <a:rect l="l" t="t" r="r" b="b"/>
            <a:pathLst>
              <a:path w="2134234" h="990600">
                <a:moveTo>
                  <a:pt x="0" y="165099"/>
                </a:moveTo>
                <a:lnTo>
                  <a:pt x="5897" y="121209"/>
                </a:lnTo>
                <a:lnTo>
                  <a:pt x="22541" y="81770"/>
                </a:lnTo>
                <a:lnTo>
                  <a:pt x="48356" y="48356"/>
                </a:lnTo>
                <a:lnTo>
                  <a:pt x="81770" y="22541"/>
                </a:lnTo>
                <a:lnTo>
                  <a:pt x="121209" y="5897"/>
                </a:lnTo>
                <a:lnTo>
                  <a:pt x="165099" y="0"/>
                </a:lnTo>
                <a:lnTo>
                  <a:pt x="1968668" y="0"/>
                </a:lnTo>
                <a:lnTo>
                  <a:pt x="2012558" y="5897"/>
                </a:lnTo>
                <a:lnTo>
                  <a:pt x="2051997" y="22541"/>
                </a:lnTo>
                <a:lnTo>
                  <a:pt x="2085411" y="48356"/>
                </a:lnTo>
                <a:lnTo>
                  <a:pt x="2111227" y="81770"/>
                </a:lnTo>
                <a:lnTo>
                  <a:pt x="2127871" y="121209"/>
                </a:lnTo>
                <a:lnTo>
                  <a:pt x="2133768" y="165099"/>
                </a:lnTo>
                <a:lnTo>
                  <a:pt x="2133768" y="825499"/>
                </a:lnTo>
                <a:lnTo>
                  <a:pt x="2127871" y="869389"/>
                </a:lnTo>
                <a:lnTo>
                  <a:pt x="2111227" y="908828"/>
                </a:lnTo>
                <a:lnTo>
                  <a:pt x="2085411" y="942243"/>
                </a:lnTo>
                <a:lnTo>
                  <a:pt x="2051997" y="968058"/>
                </a:lnTo>
                <a:lnTo>
                  <a:pt x="2012558" y="984702"/>
                </a:lnTo>
                <a:lnTo>
                  <a:pt x="1968668" y="990599"/>
                </a:lnTo>
                <a:lnTo>
                  <a:pt x="165099" y="990599"/>
                </a:lnTo>
                <a:lnTo>
                  <a:pt x="121209" y="984702"/>
                </a:lnTo>
                <a:lnTo>
                  <a:pt x="81770" y="968058"/>
                </a:lnTo>
                <a:lnTo>
                  <a:pt x="48356" y="942243"/>
                </a:lnTo>
                <a:lnTo>
                  <a:pt x="22541" y="908828"/>
                </a:lnTo>
                <a:lnTo>
                  <a:pt x="5897" y="869389"/>
                </a:lnTo>
                <a:lnTo>
                  <a:pt x="0" y="825499"/>
                </a:lnTo>
                <a:lnTo>
                  <a:pt x="0" y="165099"/>
                </a:lnTo>
                <a:close/>
              </a:path>
            </a:pathLst>
          </a:custGeom>
          <a:ln w="9524">
            <a:solidFill>
              <a:srgbClr val="000000"/>
            </a:solidFill>
          </a:ln>
        </p:spPr>
        <p:txBody>
          <a:bodyPr wrap="square" lIns="0" tIns="0" rIns="0" bIns="0" rtlCol="0"/>
          <a:lstStyle/>
          <a:p/>
        </p:txBody>
      </p:sp>
      <p:sp>
        <p:nvSpPr>
          <p:cNvPr id="11" name="object 11"/>
          <p:cNvSpPr/>
          <p:nvPr/>
        </p:nvSpPr>
        <p:spPr>
          <a:xfrm>
            <a:off x="5435411" y="3944578"/>
            <a:ext cx="2134235" cy="0"/>
          </a:xfrm>
          <a:custGeom>
            <a:avLst/>
            <a:gdLst/>
            <a:ahLst/>
            <a:cxnLst/>
            <a:rect l="l" t="t" r="r" b="b"/>
            <a:pathLst>
              <a:path w="2134234">
                <a:moveTo>
                  <a:pt x="0" y="0"/>
                </a:moveTo>
                <a:lnTo>
                  <a:pt x="2133768" y="1"/>
                </a:lnTo>
              </a:path>
            </a:pathLst>
          </a:custGeom>
          <a:ln w="9524">
            <a:solidFill>
              <a:srgbClr val="FFFFFF"/>
            </a:solidFill>
          </a:ln>
        </p:spPr>
        <p:txBody>
          <a:bodyPr wrap="square" lIns="0" tIns="0" rIns="0" bIns="0" rtlCol="0"/>
          <a:lstStyle/>
          <a:p/>
        </p:txBody>
      </p:sp>
      <p:sp>
        <p:nvSpPr>
          <p:cNvPr id="12" name="object 12"/>
          <p:cNvSpPr txBox="1"/>
          <p:nvPr/>
        </p:nvSpPr>
        <p:spPr>
          <a:xfrm>
            <a:off x="5717368" y="3642319"/>
            <a:ext cx="939800" cy="635000"/>
          </a:xfrm>
          <a:prstGeom prst="rect">
            <a:avLst/>
          </a:prstGeom>
        </p:spPr>
        <p:txBody>
          <a:bodyPr vert="horz" wrap="square" lIns="0" tIns="43180" rIns="0" bIns="0" rtlCol="0">
            <a:spAutoFit/>
          </a:bodyPr>
          <a:lstStyle/>
          <a:p>
            <a:pPr marL="12700">
              <a:lnSpc>
                <a:spcPct val="100000"/>
              </a:lnSpc>
              <a:spcBef>
                <a:spcPts val="340"/>
              </a:spcBef>
            </a:pPr>
            <a:r>
              <a:rPr sz="1800" dirty="0">
                <a:solidFill>
                  <a:srgbClr val="FFFFFF"/>
                </a:solidFill>
                <a:latin typeface="宋体" panose="02010600030101010101" pitchFamily="2" charset="-122"/>
                <a:cs typeface="宋体" panose="02010600030101010101" pitchFamily="2" charset="-122"/>
              </a:rPr>
              <a:t>患者</a:t>
            </a:r>
            <a:endParaRPr sz="1800">
              <a:latin typeface="宋体" panose="02010600030101010101" pitchFamily="2" charset="-122"/>
              <a:cs typeface="宋体" panose="02010600030101010101" pitchFamily="2" charset="-122"/>
            </a:endParaRPr>
          </a:p>
          <a:p>
            <a:pPr marL="12700">
              <a:lnSpc>
                <a:spcPct val="100000"/>
              </a:lnSpc>
              <a:spcBef>
                <a:spcPts val="240"/>
              </a:spcBef>
            </a:pPr>
            <a:r>
              <a:rPr sz="1800" dirty="0">
                <a:solidFill>
                  <a:srgbClr val="FFFFFF"/>
                </a:solidFill>
                <a:latin typeface="宋体" panose="02010600030101010101" pitchFamily="2" charset="-122"/>
                <a:cs typeface="宋体" panose="02010600030101010101" pitchFamily="2" charset="-122"/>
              </a:rPr>
              <a:t>医师姓名</a:t>
            </a:r>
            <a:endParaRPr sz="1800">
              <a:latin typeface="宋体" panose="02010600030101010101" pitchFamily="2" charset="-122"/>
              <a:cs typeface="宋体" panose="02010600030101010101" pitchFamily="2" charset="-122"/>
            </a:endParaRPr>
          </a:p>
        </p:txBody>
      </p:sp>
      <p:sp>
        <p:nvSpPr>
          <p:cNvPr id="13" name="object 13"/>
          <p:cNvSpPr/>
          <p:nvPr/>
        </p:nvSpPr>
        <p:spPr>
          <a:xfrm>
            <a:off x="5435411" y="4325578"/>
            <a:ext cx="2134235" cy="0"/>
          </a:xfrm>
          <a:custGeom>
            <a:avLst/>
            <a:gdLst/>
            <a:ahLst/>
            <a:cxnLst/>
            <a:rect l="l" t="t" r="r" b="b"/>
            <a:pathLst>
              <a:path w="2134234">
                <a:moveTo>
                  <a:pt x="0" y="0"/>
                </a:moveTo>
                <a:lnTo>
                  <a:pt x="2133768" y="0"/>
                </a:lnTo>
              </a:path>
            </a:pathLst>
          </a:custGeom>
          <a:ln w="9524">
            <a:solidFill>
              <a:srgbClr val="FFFFFF"/>
            </a:solidFill>
          </a:ln>
        </p:spPr>
        <p:txBody>
          <a:bodyPr wrap="square" lIns="0" tIns="0" rIns="0" bIns="0" rtlCol="0"/>
          <a:lstStyle/>
          <a:p/>
        </p:txBody>
      </p:sp>
      <p:sp>
        <p:nvSpPr>
          <p:cNvPr id="14" name="object 14"/>
          <p:cNvSpPr/>
          <p:nvPr/>
        </p:nvSpPr>
        <p:spPr>
          <a:xfrm>
            <a:off x="2738564" y="5163777"/>
            <a:ext cx="2134235" cy="1219200"/>
          </a:xfrm>
          <a:custGeom>
            <a:avLst/>
            <a:gdLst/>
            <a:ahLst/>
            <a:cxnLst/>
            <a:rect l="l" t="t" r="r" b="b"/>
            <a:pathLst>
              <a:path w="2134235" h="1219200">
                <a:moveTo>
                  <a:pt x="1930568" y="0"/>
                </a:moveTo>
                <a:lnTo>
                  <a:pt x="203200" y="0"/>
                </a:lnTo>
                <a:lnTo>
                  <a:pt x="156608" y="5366"/>
                </a:lnTo>
                <a:lnTo>
                  <a:pt x="113838" y="20653"/>
                </a:lnTo>
                <a:lnTo>
                  <a:pt x="76109" y="44640"/>
                </a:lnTo>
                <a:lnTo>
                  <a:pt x="44640" y="76109"/>
                </a:lnTo>
                <a:lnTo>
                  <a:pt x="20653" y="113838"/>
                </a:lnTo>
                <a:lnTo>
                  <a:pt x="5366" y="156608"/>
                </a:lnTo>
                <a:lnTo>
                  <a:pt x="0" y="203200"/>
                </a:lnTo>
                <a:lnTo>
                  <a:pt x="0" y="1016000"/>
                </a:lnTo>
                <a:lnTo>
                  <a:pt x="5366" y="1062592"/>
                </a:lnTo>
                <a:lnTo>
                  <a:pt x="20653" y="1105362"/>
                </a:lnTo>
                <a:lnTo>
                  <a:pt x="44640" y="1143091"/>
                </a:lnTo>
                <a:lnTo>
                  <a:pt x="76109" y="1174559"/>
                </a:lnTo>
                <a:lnTo>
                  <a:pt x="113838" y="1198546"/>
                </a:lnTo>
                <a:lnTo>
                  <a:pt x="156608" y="1213833"/>
                </a:lnTo>
                <a:lnTo>
                  <a:pt x="203200" y="1219200"/>
                </a:lnTo>
                <a:lnTo>
                  <a:pt x="1930568" y="1219200"/>
                </a:lnTo>
                <a:lnTo>
                  <a:pt x="1977160" y="1213833"/>
                </a:lnTo>
                <a:lnTo>
                  <a:pt x="2019931" y="1198546"/>
                </a:lnTo>
                <a:lnTo>
                  <a:pt x="2057660" y="1174559"/>
                </a:lnTo>
                <a:lnTo>
                  <a:pt x="2089128" y="1143091"/>
                </a:lnTo>
                <a:lnTo>
                  <a:pt x="2113115" y="1105362"/>
                </a:lnTo>
                <a:lnTo>
                  <a:pt x="2128402" y="1062592"/>
                </a:lnTo>
                <a:lnTo>
                  <a:pt x="2133768" y="1016000"/>
                </a:lnTo>
                <a:lnTo>
                  <a:pt x="2133768" y="203200"/>
                </a:lnTo>
                <a:lnTo>
                  <a:pt x="2128402" y="156608"/>
                </a:lnTo>
                <a:lnTo>
                  <a:pt x="2113115" y="113838"/>
                </a:lnTo>
                <a:lnTo>
                  <a:pt x="2089128" y="76109"/>
                </a:lnTo>
                <a:lnTo>
                  <a:pt x="2057660" y="44640"/>
                </a:lnTo>
                <a:lnTo>
                  <a:pt x="2019931" y="20653"/>
                </a:lnTo>
                <a:lnTo>
                  <a:pt x="1977160" y="5366"/>
                </a:lnTo>
                <a:lnTo>
                  <a:pt x="1930568" y="0"/>
                </a:lnTo>
                <a:close/>
              </a:path>
            </a:pathLst>
          </a:custGeom>
          <a:solidFill>
            <a:srgbClr val="FFD5A9"/>
          </a:solidFill>
        </p:spPr>
        <p:txBody>
          <a:bodyPr wrap="square" lIns="0" tIns="0" rIns="0" bIns="0" rtlCol="0"/>
          <a:lstStyle/>
          <a:p/>
        </p:txBody>
      </p:sp>
      <p:sp>
        <p:nvSpPr>
          <p:cNvPr id="15" name="object 15"/>
          <p:cNvSpPr/>
          <p:nvPr/>
        </p:nvSpPr>
        <p:spPr>
          <a:xfrm>
            <a:off x="2738564" y="5163777"/>
            <a:ext cx="2134235" cy="1219200"/>
          </a:xfrm>
          <a:custGeom>
            <a:avLst/>
            <a:gdLst/>
            <a:ahLst/>
            <a:cxnLst/>
            <a:rect l="l" t="t" r="r" b="b"/>
            <a:pathLst>
              <a:path w="2134235" h="1219200">
                <a:moveTo>
                  <a:pt x="0" y="203199"/>
                </a:moveTo>
                <a:lnTo>
                  <a:pt x="5366" y="156608"/>
                </a:lnTo>
                <a:lnTo>
                  <a:pt x="20653" y="113837"/>
                </a:lnTo>
                <a:lnTo>
                  <a:pt x="44640" y="76108"/>
                </a:lnTo>
                <a:lnTo>
                  <a:pt x="76108" y="44640"/>
                </a:lnTo>
                <a:lnTo>
                  <a:pt x="113837" y="20653"/>
                </a:lnTo>
                <a:lnTo>
                  <a:pt x="156608" y="5366"/>
                </a:lnTo>
                <a:lnTo>
                  <a:pt x="203199" y="0"/>
                </a:lnTo>
                <a:lnTo>
                  <a:pt x="1930568" y="0"/>
                </a:lnTo>
                <a:lnTo>
                  <a:pt x="1977160" y="5366"/>
                </a:lnTo>
                <a:lnTo>
                  <a:pt x="2019930" y="20653"/>
                </a:lnTo>
                <a:lnTo>
                  <a:pt x="2057659" y="44640"/>
                </a:lnTo>
                <a:lnTo>
                  <a:pt x="2089127" y="76108"/>
                </a:lnTo>
                <a:lnTo>
                  <a:pt x="2113114" y="113837"/>
                </a:lnTo>
                <a:lnTo>
                  <a:pt x="2128401" y="156608"/>
                </a:lnTo>
                <a:lnTo>
                  <a:pt x="2133768" y="203199"/>
                </a:lnTo>
                <a:lnTo>
                  <a:pt x="2133768" y="1015999"/>
                </a:lnTo>
                <a:lnTo>
                  <a:pt x="2128401" y="1062591"/>
                </a:lnTo>
                <a:lnTo>
                  <a:pt x="2113114" y="1105361"/>
                </a:lnTo>
                <a:lnTo>
                  <a:pt x="2089127" y="1143090"/>
                </a:lnTo>
                <a:lnTo>
                  <a:pt x="2057659" y="1174558"/>
                </a:lnTo>
                <a:lnTo>
                  <a:pt x="2019930" y="1198546"/>
                </a:lnTo>
                <a:lnTo>
                  <a:pt x="1977160" y="1213832"/>
                </a:lnTo>
                <a:lnTo>
                  <a:pt x="1930568" y="1219199"/>
                </a:lnTo>
                <a:lnTo>
                  <a:pt x="203199" y="1219199"/>
                </a:lnTo>
                <a:lnTo>
                  <a:pt x="156608" y="1213832"/>
                </a:lnTo>
                <a:lnTo>
                  <a:pt x="113837" y="1198546"/>
                </a:lnTo>
                <a:lnTo>
                  <a:pt x="76108" y="1174558"/>
                </a:lnTo>
                <a:lnTo>
                  <a:pt x="44640" y="1143090"/>
                </a:lnTo>
                <a:lnTo>
                  <a:pt x="20653" y="1105361"/>
                </a:lnTo>
                <a:lnTo>
                  <a:pt x="5366" y="1062591"/>
                </a:lnTo>
                <a:lnTo>
                  <a:pt x="0" y="1015999"/>
                </a:lnTo>
                <a:lnTo>
                  <a:pt x="0" y="203199"/>
                </a:lnTo>
                <a:close/>
              </a:path>
            </a:pathLst>
          </a:custGeom>
          <a:ln w="9524">
            <a:solidFill>
              <a:srgbClr val="FF2600"/>
            </a:solidFill>
          </a:ln>
        </p:spPr>
        <p:txBody>
          <a:bodyPr wrap="square" lIns="0" tIns="0" rIns="0" bIns="0" rtlCol="0"/>
          <a:lstStyle/>
          <a:p/>
        </p:txBody>
      </p:sp>
      <p:sp>
        <p:nvSpPr>
          <p:cNvPr id="16" name="object 16"/>
          <p:cNvSpPr/>
          <p:nvPr/>
        </p:nvSpPr>
        <p:spPr>
          <a:xfrm>
            <a:off x="2895211" y="5316178"/>
            <a:ext cx="2134235" cy="1066800"/>
          </a:xfrm>
          <a:custGeom>
            <a:avLst/>
            <a:gdLst/>
            <a:ahLst/>
            <a:cxnLst/>
            <a:rect l="l" t="t" r="r" b="b"/>
            <a:pathLst>
              <a:path w="2134235" h="1066800">
                <a:moveTo>
                  <a:pt x="1955967" y="0"/>
                </a:moveTo>
                <a:lnTo>
                  <a:pt x="177800" y="0"/>
                </a:lnTo>
                <a:lnTo>
                  <a:pt x="130533" y="6351"/>
                </a:lnTo>
                <a:lnTo>
                  <a:pt x="88060" y="24274"/>
                </a:lnTo>
                <a:lnTo>
                  <a:pt x="52076" y="52076"/>
                </a:lnTo>
                <a:lnTo>
                  <a:pt x="24274" y="88060"/>
                </a:lnTo>
                <a:lnTo>
                  <a:pt x="6351" y="130533"/>
                </a:lnTo>
                <a:lnTo>
                  <a:pt x="0" y="177799"/>
                </a:lnTo>
                <a:lnTo>
                  <a:pt x="0" y="888999"/>
                </a:lnTo>
                <a:lnTo>
                  <a:pt x="6351" y="936265"/>
                </a:lnTo>
                <a:lnTo>
                  <a:pt x="24274" y="978738"/>
                </a:lnTo>
                <a:lnTo>
                  <a:pt x="52076" y="1014723"/>
                </a:lnTo>
                <a:lnTo>
                  <a:pt x="88060" y="1042524"/>
                </a:lnTo>
                <a:lnTo>
                  <a:pt x="130533" y="1060448"/>
                </a:lnTo>
                <a:lnTo>
                  <a:pt x="177800" y="1066799"/>
                </a:lnTo>
                <a:lnTo>
                  <a:pt x="1955967" y="1066799"/>
                </a:lnTo>
                <a:lnTo>
                  <a:pt x="2003233" y="1060448"/>
                </a:lnTo>
                <a:lnTo>
                  <a:pt x="2045706" y="1042524"/>
                </a:lnTo>
                <a:lnTo>
                  <a:pt x="2081691" y="1014723"/>
                </a:lnTo>
                <a:lnTo>
                  <a:pt x="2109492" y="978738"/>
                </a:lnTo>
                <a:lnTo>
                  <a:pt x="2127416" y="936265"/>
                </a:lnTo>
                <a:lnTo>
                  <a:pt x="2133767" y="888999"/>
                </a:lnTo>
                <a:lnTo>
                  <a:pt x="2133767" y="177799"/>
                </a:lnTo>
                <a:lnTo>
                  <a:pt x="2127416" y="130533"/>
                </a:lnTo>
                <a:lnTo>
                  <a:pt x="2109492" y="88060"/>
                </a:lnTo>
                <a:lnTo>
                  <a:pt x="2081691" y="52076"/>
                </a:lnTo>
                <a:lnTo>
                  <a:pt x="2045706" y="24274"/>
                </a:lnTo>
                <a:lnTo>
                  <a:pt x="2003233" y="6351"/>
                </a:lnTo>
                <a:lnTo>
                  <a:pt x="1955967" y="0"/>
                </a:lnTo>
                <a:close/>
              </a:path>
            </a:pathLst>
          </a:custGeom>
          <a:solidFill>
            <a:srgbClr val="4180FF"/>
          </a:solidFill>
        </p:spPr>
        <p:txBody>
          <a:bodyPr wrap="square" lIns="0" tIns="0" rIns="0" bIns="0" rtlCol="0"/>
          <a:lstStyle/>
          <a:p/>
        </p:txBody>
      </p:sp>
      <p:sp>
        <p:nvSpPr>
          <p:cNvPr id="17" name="object 17"/>
          <p:cNvSpPr/>
          <p:nvPr/>
        </p:nvSpPr>
        <p:spPr>
          <a:xfrm>
            <a:off x="2895211" y="5316178"/>
            <a:ext cx="2134235" cy="1066800"/>
          </a:xfrm>
          <a:custGeom>
            <a:avLst/>
            <a:gdLst/>
            <a:ahLst/>
            <a:cxnLst/>
            <a:rect l="l" t="t" r="r" b="b"/>
            <a:pathLst>
              <a:path w="2134235" h="1066800">
                <a:moveTo>
                  <a:pt x="0" y="177799"/>
                </a:moveTo>
                <a:lnTo>
                  <a:pt x="6351" y="130533"/>
                </a:lnTo>
                <a:lnTo>
                  <a:pt x="24274" y="88060"/>
                </a:lnTo>
                <a:lnTo>
                  <a:pt x="52076" y="52076"/>
                </a:lnTo>
                <a:lnTo>
                  <a:pt x="88060" y="24274"/>
                </a:lnTo>
                <a:lnTo>
                  <a:pt x="130533" y="6351"/>
                </a:lnTo>
                <a:lnTo>
                  <a:pt x="177799" y="0"/>
                </a:lnTo>
                <a:lnTo>
                  <a:pt x="1955968" y="0"/>
                </a:lnTo>
                <a:lnTo>
                  <a:pt x="2003234" y="6351"/>
                </a:lnTo>
                <a:lnTo>
                  <a:pt x="2045707" y="24274"/>
                </a:lnTo>
                <a:lnTo>
                  <a:pt x="2081692" y="52076"/>
                </a:lnTo>
                <a:lnTo>
                  <a:pt x="2109493" y="88060"/>
                </a:lnTo>
                <a:lnTo>
                  <a:pt x="2127417" y="130533"/>
                </a:lnTo>
                <a:lnTo>
                  <a:pt x="2133768" y="177799"/>
                </a:lnTo>
                <a:lnTo>
                  <a:pt x="2133768" y="888999"/>
                </a:lnTo>
                <a:lnTo>
                  <a:pt x="2127417" y="936265"/>
                </a:lnTo>
                <a:lnTo>
                  <a:pt x="2109493" y="978738"/>
                </a:lnTo>
                <a:lnTo>
                  <a:pt x="2081692" y="1014723"/>
                </a:lnTo>
                <a:lnTo>
                  <a:pt x="2045707" y="1042524"/>
                </a:lnTo>
                <a:lnTo>
                  <a:pt x="2003234" y="1060448"/>
                </a:lnTo>
                <a:lnTo>
                  <a:pt x="1955968" y="1066799"/>
                </a:lnTo>
                <a:lnTo>
                  <a:pt x="177799" y="1066799"/>
                </a:lnTo>
                <a:lnTo>
                  <a:pt x="130533" y="1060448"/>
                </a:lnTo>
                <a:lnTo>
                  <a:pt x="88060" y="1042524"/>
                </a:lnTo>
                <a:lnTo>
                  <a:pt x="52076" y="1014723"/>
                </a:lnTo>
                <a:lnTo>
                  <a:pt x="24274" y="978738"/>
                </a:lnTo>
                <a:lnTo>
                  <a:pt x="6351" y="936265"/>
                </a:lnTo>
                <a:lnTo>
                  <a:pt x="0" y="888999"/>
                </a:lnTo>
                <a:lnTo>
                  <a:pt x="0" y="177799"/>
                </a:lnTo>
                <a:close/>
              </a:path>
            </a:pathLst>
          </a:custGeom>
          <a:ln w="9524">
            <a:solidFill>
              <a:srgbClr val="000000"/>
            </a:solidFill>
          </a:ln>
        </p:spPr>
        <p:txBody>
          <a:bodyPr wrap="square" lIns="0" tIns="0" rIns="0" bIns="0" rtlCol="0"/>
          <a:lstStyle/>
          <a:p/>
        </p:txBody>
      </p:sp>
      <p:sp>
        <p:nvSpPr>
          <p:cNvPr id="18" name="object 18"/>
          <p:cNvSpPr/>
          <p:nvPr/>
        </p:nvSpPr>
        <p:spPr>
          <a:xfrm>
            <a:off x="2941780" y="6230577"/>
            <a:ext cx="2134235" cy="0"/>
          </a:xfrm>
          <a:custGeom>
            <a:avLst/>
            <a:gdLst/>
            <a:ahLst/>
            <a:cxnLst/>
            <a:rect l="l" t="t" r="r" b="b"/>
            <a:pathLst>
              <a:path w="2134235">
                <a:moveTo>
                  <a:pt x="0" y="0"/>
                </a:moveTo>
                <a:lnTo>
                  <a:pt x="2133768" y="0"/>
                </a:lnTo>
              </a:path>
            </a:pathLst>
          </a:custGeom>
          <a:ln w="9524">
            <a:solidFill>
              <a:srgbClr val="FFFFFF"/>
            </a:solidFill>
          </a:ln>
        </p:spPr>
        <p:txBody>
          <a:bodyPr wrap="square" lIns="0" tIns="0" rIns="0" bIns="0" rtlCol="0"/>
          <a:lstStyle/>
          <a:p/>
        </p:txBody>
      </p:sp>
      <p:sp>
        <p:nvSpPr>
          <p:cNvPr id="19" name="object 19"/>
          <p:cNvSpPr txBox="1"/>
          <p:nvPr/>
        </p:nvSpPr>
        <p:spPr>
          <a:xfrm>
            <a:off x="2725864" y="5349198"/>
            <a:ext cx="2159635" cy="854075"/>
          </a:xfrm>
          <a:prstGeom prst="rect">
            <a:avLst/>
          </a:prstGeom>
        </p:spPr>
        <p:txBody>
          <a:bodyPr vert="horz" wrap="square" lIns="0" tIns="11430" rIns="0" bIns="0" rtlCol="0">
            <a:spAutoFit/>
          </a:bodyPr>
          <a:lstStyle/>
          <a:p>
            <a:pPr marL="463550" marR="5080" indent="-451485">
              <a:lnSpc>
                <a:spcPts val="2260"/>
              </a:lnSpc>
              <a:spcBef>
                <a:spcPts val="90"/>
              </a:spcBef>
              <a:tabLst>
                <a:tab pos="463550" algn="l"/>
                <a:tab pos="2146300" algn="l"/>
              </a:tabLst>
            </a:pPr>
            <a:r>
              <a:rPr sz="1800" u="sng" dirty="0">
                <a:solidFill>
                  <a:srgbClr val="FFFFFF"/>
                </a:solidFill>
                <a:uFill>
                  <a:solidFill>
                    <a:srgbClr val="FF2600"/>
                  </a:solidFill>
                </a:uFill>
                <a:latin typeface="Times New Roman" panose="02020603050405020304"/>
                <a:cs typeface="Times New Roman" panose="02020603050405020304"/>
              </a:rPr>
              <a:t> 	</a:t>
            </a:r>
            <a:r>
              <a:rPr sz="1800" u="sng" dirty="0">
                <a:solidFill>
                  <a:srgbClr val="FFFFFF"/>
                </a:solidFill>
                <a:uFill>
                  <a:solidFill>
                    <a:srgbClr val="FFFFFF"/>
                  </a:solidFill>
                </a:uFill>
                <a:latin typeface="宋体" panose="02010600030101010101" pitchFamily="2" charset="-122"/>
                <a:cs typeface="宋体" panose="02010600030101010101" pitchFamily="2" charset="-122"/>
              </a:rPr>
              <a:t>住院患</a:t>
            </a:r>
            <a:r>
              <a:rPr sz="1800" dirty="0">
                <a:solidFill>
                  <a:srgbClr val="FFFFFF"/>
                </a:solidFill>
                <a:latin typeface="宋体" panose="02010600030101010101" pitchFamily="2" charset="-122"/>
                <a:cs typeface="宋体" panose="02010600030101010101" pitchFamily="2" charset="-122"/>
              </a:rPr>
              <a:t>者 	 病房号</a:t>
            </a:r>
            <a:endParaRPr sz="1800">
              <a:latin typeface="宋体" panose="02010600030101010101" pitchFamily="2" charset="-122"/>
              <a:cs typeface="宋体" panose="02010600030101010101" pitchFamily="2" charset="-122"/>
            </a:endParaRPr>
          </a:p>
          <a:p>
            <a:pPr marL="12700">
              <a:lnSpc>
                <a:spcPts val="2010"/>
              </a:lnSpc>
              <a:tabLst>
                <a:tab pos="463550" algn="l"/>
                <a:tab pos="2146300" algn="l"/>
              </a:tabLst>
            </a:pPr>
            <a:r>
              <a:rPr sz="1800" u="sng" dirty="0">
                <a:solidFill>
                  <a:srgbClr val="FFFFFF"/>
                </a:solidFill>
                <a:uFill>
                  <a:solidFill>
                    <a:srgbClr val="FF2600"/>
                  </a:solidFill>
                </a:uFill>
                <a:latin typeface="Times New Roman" panose="02020603050405020304"/>
                <a:cs typeface="Times New Roman" panose="02020603050405020304"/>
              </a:rPr>
              <a:t> 	</a:t>
            </a:r>
            <a:r>
              <a:rPr sz="1800" u="sng" dirty="0">
                <a:solidFill>
                  <a:srgbClr val="FFFFFF"/>
                </a:solidFill>
                <a:uFill>
                  <a:solidFill>
                    <a:srgbClr val="FF2600"/>
                  </a:solidFill>
                </a:uFill>
                <a:latin typeface="宋体" panose="02010600030101010101" pitchFamily="2" charset="-122"/>
                <a:cs typeface="宋体" panose="02010600030101010101" pitchFamily="2" charset="-122"/>
              </a:rPr>
              <a:t>病床号	</a:t>
            </a:r>
            <a:endParaRPr sz="1800">
              <a:latin typeface="宋体" panose="02010600030101010101" pitchFamily="2" charset="-122"/>
              <a:cs typeface="宋体" panose="02010600030101010101" pitchFamily="2" charset="-122"/>
            </a:endParaRPr>
          </a:p>
        </p:txBody>
      </p:sp>
      <p:sp>
        <p:nvSpPr>
          <p:cNvPr id="20" name="object 20"/>
          <p:cNvSpPr/>
          <p:nvPr/>
        </p:nvSpPr>
        <p:spPr>
          <a:xfrm>
            <a:off x="7061140" y="5152666"/>
            <a:ext cx="2134235" cy="1219200"/>
          </a:xfrm>
          <a:custGeom>
            <a:avLst/>
            <a:gdLst/>
            <a:ahLst/>
            <a:cxnLst/>
            <a:rect l="l" t="t" r="r" b="b"/>
            <a:pathLst>
              <a:path w="2134234" h="1219200">
                <a:moveTo>
                  <a:pt x="1930568" y="0"/>
                </a:moveTo>
                <a:lnTo>
                  <a:pt x="203200" y="0"/>
                </a:lnTo>
                <a:lnTo>
                  <a:pt x="156607" y="5366"/>
                </a:lnTo>
                <a:lnTo>
                  <a:pt x="113837" y="20653"/>
                </a:lnTo>
                <a:lnTo>
                  <a:pt x="76108" y="44640"/>
                </a:lnTo>
                <a:lnTo>
                  <a:pt x="44640" y="76108"/>
                </a:lnTo>
                <a:lnTo>
                  <a:pt x="20653" y="113837"/>
                </a:lnTo>
                <a:lnTo>
                  <a:pt x="5366" y="156607"/>
                </a:lnTo>
                <a:lnTo>
                  <a:pt x="0" y="203199"/>
                </a:lnTo>
                <a:lnTo>
                  <a:pt x="0" y="1015999"/>
                </a:lnTo>
                <a:lnTo>
                  <a:pt x="5366" y="1062591"/>
                </a:lnTo>
                <a:lnTo>
                  <a:pt x="20653" y="1105361"/>
                </a:lnTo>
                <a:lnTo>
                  <a:pt x="44640" y="1143090"/>
                </a:lnTo>
                <a:lnTo>
                  <a:pt x="76108" y="1174558"/>
                </a:lnTo>
                <a:lnTo>
                  <a:pt x="113837" y="1198546"/>
                </a:lnTo>
                <a:lnTo>
                  <a:pt x="156607" y="1213833"/>
                </a:lnTo>
                <a:lnTo>
                  <a:pt x="203200" y="1219199"/>
                </a:lnTo>
                <a:lnTo>
                  <a:pt x="1930568" y="1219199"/>
                </a:lnTo>
                <a:lnTo>
                  <a:pt x="1977160" y="1213833"/>
                </a:lnTo>
                <a:lnTo>
                  <a:pt x="2019930" y="1198546"/>
                </a:lnTo>
                <a:lnTo>
                  <a:pt x="2057659" y="1174558"/>
                </a:lnTo>
                <a:lnTo>
                  <a:pt x="2089127" y="1143090"/>
                </a:lnTo>
                <a:lnTo>
                  <a:pt x="2113115" y="1105361"/>
                </a:lnTo>
                <a:lnTo>
                  <a:pt x="2128402" y="1062591"/>
                </a:lnTo>
                <a:lnTo>
                  <a:pt x="2133768" y="1015999"/>
                </a:lnTo>
                <a:lnTo>
                  <a:pt x="2133768" y="203199"/>
                </a:lnTo>
                <a:lnTo>
                  <a:pt x="2128402" y="156607"/>
                </a:lnTo>
                <a:lnTo>
                  <a:pt x="2113115" y="113837"/>
                </a:lnTo>
                <a:lnTo>
                  <a:pt x="2089127" y="76108"/>
                </a:lnTo>
                <a:lnTo>
                  <a:pt x="2057659" y="44640"/>
                </a:lnTo>
                <a:lnTo>
                  <a:pt x="2019930" y="20653"/>
                </a:lnTo>
                <a:lnTo>
                  <a:pt x="1977160" y="5366"/>
                </a:lnTo>
                <a:lnTo>
                  <a:pt x="1930568" y="0"/>
                </a:lnTo>
                <a:close/>
              </a:path>
            </a:pathLst>
          </a:custGeom>
          <a:solidFill>
            <a:srgbClr val="FFD5A9"/>
          </a:solidFill>
        </p:spPr>
        <p:txBody>
          <a:bodyPr wrap="square" lIns="0" tIns="0" rIns="0" bIns="0" rtlCol="0"/>
          <a:lstStyle/>
          <a:p/>
        </p:txBody>
      </p:sp>
      <p:sp>
        <p:nvSpPr>
          <p:cNvPr id="21" name="object 21"/>
          <p:cNvSpPr/>
          <p:nvPr/>
        </p:nvSpPr>
        <p:spPr>
          <a:xfrm>
            <a:off x="7061140" y="5152666"/>
            <a:ext cx="2134235" cy="1219200"/>
          </a:xfrm>
          <a:custGeom>
            <a:avLst/>
            <a:gdLst/>
            <a:ahLst/>
            <a:cxnLst/>
            <a:rect l="l" t="t" r="r" b="b"/>
            <a:pathLst>
              <a:path w="2134234" h="1219200">
                <a:moveTo>
                  <a:pt x="0" y="203200"/>
                </a:moveTo>
                <a:lnTo>
                  <a:pt x="5366" y="156608"/>
                </a:lnTo>
                <a:lnTo>
                  <a:pt x="20653" y="113837"/>
                </a:lnTo>
                <a:lnTo>
                  <a:pt x="44640" y="76108"/>
                </a:lnTo>
                <a:lnTo>
                  <a:pt x="76108" y="44640"/>
                </a:lnTo>
                <a:lnTo>
                  <a:pt x="113837" y="20653"/>
                </a:lnTo>
                <a:lnTo>
                  <a:pt x="156608" y="5366"/>
                </a:lnTo>
                <a:lnTo>
                  <a:pt x="203200" y="0"/>
                </a:lnTo>
                <a:lnTo>
                  <a:pt x="1930568" y="0"/>
                </a:lnTo>
                <a:lnTo>
                  <a:pt x="1977160" y="5366"/>
                </a:lnTo>
                <a:lnTo>
                  <a:pt x="2019930" y="20653"/>
                </a:lnTo>
                <a:lnTo>
                  <a:pt x="2057659" y="44640"/>
                </a:lnTo>
                <a:lnTo>
                  <a:pt x="2089127" y="76108"/>
                </a:lnTo>
                <a:lnTo>
                  <a:pt x="2113115" y="113837"/>
                </a:lnTo>
                <a:lnTo>
                  <a:pt x="2128402" y="156608"/>
                </a:lnTo>
                <a:lnTo>
                  <a:pt x="2133768" y="203200"/>
                </a:lnTo>
                <a:lnTo>
                  <a:pt x="2133768" y="1015999"/>
                </a:lnTo>
                <a:lnTo>
                  <a:pt x="2128402" y="1062591"/>
                </a:lnTo>
                <a:lnTo>
                  <a:pt x="2113115" y="1105361"/>
                </a:lnTo>
                <a:lnTo>
                  <a:pt x="2089127" y="1143090"/>
                </a:lnTo>
                <a:lnTo>
                  <a:pt x="2057659" y="1174558"/>
                </a:lnTo>
                <a:lnTo>
                  <a:pt x="2019930" y="1198546"/>
                </a:lnTo>
                <a:lnTo>
                  <a:pt x="1977160" y="1213833"/>
                </a:lnTo>
                <a:lnTo>
                  <a:pt x="1930568" y="1219199"/>
                </a:lnTo>
                <a:lnTo>
                  <a:pt x="203200" y="1219199"/>
                </a:lnTo>
                <a:lnTo>
                  <a:pt x="156608" y="1213833"/>
                </a:lnTo>
                <a:lnTo>
                  <a:pt x="113837" y="1198546"/>
                </a:lnTo>
                <a:lnTo>
                  <a:pt x="76108" y="1174558"/>
                </a:lnTo>
                <a:lnTo>
                  <a:pt x="44640" y="1143090"/>
                </a:lnTo>
                <a:lnTo>
                  <a:pt x="20653" y="1105361"/>
                </a:lnTo>
                <a:lnTo>
                  <a:pt x="5366" y="1062591"/>
                </a:lnTo>
                <a:lnTo>
                  <a:pt x="0" y="1015999"/>
                </a:lnTo>
                <a:lnTo>
                  <a:pt x="0" y="203200"/>
                </a:lnTo>
                <a:close/>
              </a:path>
            </a:pathLst>
          </a:custGeom>
          <a:ln w="9524">
            <a:solidFill>
              <a:srgbClr val="FF2600"/>
            </a:solidFill>
          </a:ln>
        </p:spPr>
        <p:txBody>
          <a:bodyPr wrap="square" lIns="0" tIns="0" rIns="0" bIns="0" rtlCol="0"/>
          <a:lstStyle/>
          <a:p/>
        </p:txBody>
      </p:sp>
      <p:sp>
        <p:nvSpPr>
          <p:cNvPr id="22" name="object 22"/>
          <p:cNvSpPr/>
          <p:nvPr/>
        </p:nvSpPr>
        <p:spPr>
          <a:xfrm>
            <a:off x="7217785" y="5305066"/>
            <a:ext cx="2134235" cy="1066800"/>
          </a:xfrm>
          <a:custGeom>
            <a:avLst/>
            <a:gdLst/>
            <a:ahLst/>
            <a:cxnLst/>
            <a:rect l="l" t="t" r="r" b="b"/>
            <a:pathLst>
              <a:path w="2134234" h="1066800">
                <a:moveTo>
                  <a:pt x="1955968" y="0"/>
                </a:moveTo>
                <a:lnTo>
                  <a:pt x="177800" y="0"/>
                </a:lnTo>
                <a:lnTo>
                  <a:pt x="130533" y="6351"/>
                </a:lnTo>
                <a:lnTo>
                  <a:pt x="88060" y="24274"/>
                </a:lnTo>
                <a:lnTo>
                  <a:pt x="52076" y="52076"/>
                </a:lnTo>
                <a:lnTo>
                  <a:pt x="24274" y="88060"/>
                </a:lnTo>
                <a:lnTo>
                  <a:pt x="6351" y="130533"/>
                </a:lnTo>
                <a:lnTo>
                  <a:pt x="0" y="177799"/>
                </a:lnTo>
                <a:lnTo>
                  <a:pt x="0" y="888999"/>
                </a:lnTo>
                <a:lnTo>
                  <a:pt x="6351" y="936265"/>
                </a:lnTo>
                <a:lnTo>
                  <a:pt x="24274" y="978738"/>
                </a:lnTo>
                <a:lnTo>
                  <a:pt x="52076" y="1014723"/>
                </a:lnTo>
                <a:lnTo>
                  <a:pt x="88060" y="1042524"/>
                </a:lnTo>
                <a:lnTo>
                  <a:pt x="130533" y="1060448"/>
                </a:lnTo>
                <a:lnTo>
                  <a:pt x="177800" y="1066799"/>
                </a:lnTo>
                <a:lnTo>
                  <a:pt x="1955968" y="1066799"/>
                </a:lnTo>
                <a:lnTo>
                  <a:pt x="2003234" y="1060448"/>
                </a:lnTo>
                <a:lnTo>
                  <a:pt x="2045707" y="1042524"/>
                </a:lnTo>
                <a:lnTo>
                  <a:pt x="2081692" y="1014723"/>
                </a:lnTo>
                <a:lnTo>
                  <a:pt x="2109493" y="978738"/>
                </a:lnTo>
                <a:lnTo>
                  <a:pt x="2127417" y="936265"/>
                </a:lnTo>
                <a:lnTo>
                  <a:pt x="2133768" y="888999"/>
                </a:lnTo>
                <a:lnTo>
                  <a:pt x="2133768" y="177799"/>
                </a:lnTo>
                <a:lnTo>
                  <a:pt x="2127417" y="130533"/>
                </a:lnTo>
                <a:lnTo>
                  <a:pt x="2109493" y="88060"/>
                </a:lnTo>
                <a:lnTo>
                  <a:pt x="2081692" y="52076"/>
                </a:lnTo>
                <a:lnTo>
                  <a:pt x="2045707" y="24274"/>
                </a:lnTo>
                <a:lnTo>
                  <a:pt x="2003234" y="6351"/>
                </a:lnTo>
                <a:lnTo>
                  <a:pt x="1955968" y="0"/>
                </a:lnTo>
                <a:close/>
              </a:path>
            </a:pathLst>
          </a:custGeom>
          <a:solidFill>
            <a:srgbClr val="4180FF"/>
          </a:solidFill>
        </p:spPr>
        <p:txBody>
          <a:bodyPr wrap="square" lIns="0" tIns="0" rIns="0" bIns="0" rtlCol="0"/>
          <a:lstStyle/>
          <a:p/>
        </p:txBody>
      </p:sp>
      <p:sp>
        <p:nvSpPr>
          <p:cNvPr id="23" name="object 23"/>
          <p:cNvSpPr/>
          <p:nvPr/>
        </p:nvSpPr>
        <p:spPr>
          <a:xfrm>
            <a:off x="7217785" y="5305066"/>
            <a:ext cx="2134235" cy="1066800"/>
          </a:xfrm>
          <a:custGeom>
            <a:avLst/>
            <a:gdLst/>
            <a:ahLst/>
            <a:cxnLst/>
            <a:rect l="l" t="t" r="r" b="b"/>
            <a:pathLst>
              <a:path w="2134234" h="1066800">
                <a:moveTo>
                  <a:pt x="0" y="177799"/>
                </a:moveTo>
                <a:lnTo>
                  <a:pt x="6351" y="130533"/>
                </a:lnTo>
                <a:lnTo>
                  <a:pt x="24274" y="88060"/>
                </a:lnTo>
                <a:lnTo>
                  <a:pt x="52076" y="52076"/>
                </a:lnTo>
                <a:lnTo>
                  <a:pt x="88060" y="24274"/>
                </a:lnTo>
                <a:lnTo>
                  <a:pt x="130533" y="6351"/>
                </a:lnTo>
                <a:lnTo>
                  <a:pt x="177800" y="0"/>
                </a:lnTo>
                <a:lnTo>
                  <a:pt x="1955968" y="0"/>
                </a:lnTo>
                <a:lnTo>
                  <a:pt x="2003234" y="6351"/>
                </a:lnTo>
                <a:lnTo>
                  <a:pt x="2045707" y="24274"/>
                </a:lnTo>
                <a:lnTo>
                  <a:pt x="2081692" y="52076"/>
                </a:lnTo>
                <a:lnTo>
                  <a:pt x="2109493" y="88060"/>
                </a:lnTo>
                <a:lnTo>
                  <a:pt x="2127417" y="130533"/>
                </a:lnTo>
                <a:lnTo>
                  <a:pt x="2133768" y="177799"/>
                </a:lnTo>
                <a:lnTo>
                  <a:pt x="2133768" y="888999"/>
                </a:lnTo>
                <a:lnTo>
                  <a:pt x="2127417" y="936265"/>
                </a:lnTo>
                <a:lnTo>
                  <a:pt x="2109493" y="978738"/>
                </a:lnTo>
                <a:lnTo>
                  <a:pt x="2081692" y="1014723"/>
                </a:lnTo>
                <a:lnTo>
                  <a:pt x="2045707" y="1042524"/>
                </a:lnTo>
                <a:lnTo>
                  <a:pt x="2003234" y="1060448"/>
                </a:lnTo>
                <a:lnTo>
                  <a:pt x="1955968" y="1066799"/>
                </a:lnTo>
                <a:lnTo>
                  <a:pt x="177800" y="1066799"/>
                </a:lnTo>
                <a:lnTo>
                  <a:pt x="130533" y="1060448"/>
                </a:lnTo>
                <a:lnTo>
                  <a:pt x="88060" y="1042524"/>
                </a:lnTo>
                <a:lnTo>
                  <a:pt x="52076" y="1014723"/>
                </a:lnTo>
                <a:lnTo>
                  <a:pt x="24274" y="978738"/>
                </a:lnTo>
                <a:lnTo>
                  <a:pt x="6351" y="936265"/>
                </a:lnTo>
                <a:lnTo>
                  <a:pt x="0" y="888999"/>
                </a:lnTo>
                <a:lnTo>
                  <a:pt x="0" y="177799"/>
                </a:lnTo>
                <a:close/>
              </a:path>
            </a:pathLst>
          </a:custGeom>
          <a:ln w="9524">
            <a:solidFill>
              <a:srgbClr val="000000"/>
            </a:solidFill>
          </a:ln>
        </p:spPr>
        <p:txBody>
          <a:bodyPr wrap="square" lIns="0" tIns="0" rIns="0" bIns="0" rtlCol="0"/>
          <a:lstStyle/>
          <a:p/>
        </p:txBody>
      </p:sp>
      <p:sp>
        <p:nvSpPr>
          <p:cNvPr id="24" name="object 24"/>
          <p:cNvSpPr/>
          <p:nvPr/>
        </p:nvSpPr>
        <p:spPr>
          <a:xfrm>
            <a:off x="7264356" y="6219465"/>
            <a:ext cx="2134235" cy="0"/>
          </a:xfrm>
          <a:custGeom>
            <a:avLst/>
            <a:gdLst/>
            <a:ahLst/>
            <a:cxnLst/>
            <a:rect l="l" t="t" r="r" b="b"/>
            <a:pathLst>
              <a:path w="2134234">
                <a:moveTo>
                  <a:pt x="0" y="0"/>
                </a:moveTo>
                <a:lnTo>
                  <a:pt x="2133768" y="0"/>
                </a:lnTo>
              </a:path>
            </a:pathLst>
          </a:custGeom>
          <a:ln w="9524">
            <a:solidFill>
              <a:srgbClr val="FFFFFF"/>
            </a:solidFill>
          </a:ln>
        </p:spPr>
        <p:txBody>
          <a:bodyPr wrap="square" lIns="0" tIns="0" rIns="0" bIns="0" rtlCol="0"/>
          <a:lstStyle/>
          <a:p/>
        </p:txBody>
      </p:sp>
      <p:sp>
        <p:nvSpPr>
          <p:cNvPr id="25" name="object 25"/>
          <p:cNvSpPr txBox="1"/>
          <p:nvPr/>
        </p:nvSpPr>
        <p:spPr>
          <a:xfrm>
            <a:off x="7048440" y="5338085"/>
            <a:ext cx="2159635" cy="854075"/>
          </a:xfrm>
          <a:prstGeom prst="rect">
            <a:avLst/>
          </a:prstGeom>
        </p:spPr>
        <p:txBody>
          <a:bodyPr vert="horz" wrap="square" lIns="0" tIns="11430" rIns="0" bIns="0" rtlCol="0">
            <a:spAutoFit/>
          </a:bodyPr>
          <a:lstStyle/>
          <a:p>
            <a:pPr marL="463550" marR="5080" indent="-451485">
              <a:lnSpc>
                <a:spcPts val="2260"/>
              </a:lnSpc>
              <a:spcBef>
                <a:spcPts val="90"/>
              </a:spcBef>
              <a:tabLst>
                <a:tab pos="463550" algn="l"/>
                <a:tab pos="2146300" algn="l"/>
              </a:tabLst>
            </a:pPr>
            <a:r>
              <a:rPr sz="1800" u="sng" dirty="0">
                <a:solidFill>
                  <a:srgbClr val="FFFFFF"/>
                </a:solidFill>
                <a:uFill>
                  <a:solidFill>
                    <a:srgbClr val="FF2600"/>
                  </a:solidFill>
                </a:uFill>
                <a:latin typeface="Times New Roman" panose="02020603050405020304"/>
                <a:cs typeface="Times New Roman" panose="02020603050405020304"/>
              </a:rPr>
              <a:t> 	</a:t>
            </a:r>
            <a:r>
              <a:rPr sz="1800" u="sng" dirty="0">
                <a:solidFill>
                  <a:srgbClr val="FFFFFF"/>
                </a:solidFill>
                <a:uFill>
                  <a:solidFill>
                    <a:srgbClr val="FFFFFF"/>
                  </a:solidFill>
                </a:uFill>
                <a:latin typeface="宋体" panose="02010600030101010101" pitchFamily="2" charset="-122"/>
                <a:cs typeface="宋体" panose="02010600030101010101" pitchFamily="2" charset="-122"/>
              </a:rPr>
              <a:t>门诊患</a:t>
            </a:r>
            <a:r>
              <a:rPr sz="1800" dirty="0">
                <a:solidFill>
                  <a:srgbClr val="FFFFFF"/>
                </a:solidFill>
                <a:latin typeface="宋体" panose="02010600030101010101" pitchFamily="2" charset="-122"/>
                <a:cs typeface="宋体" panose="02010600030101010101" pitchFamily="2" charset="-122"/>
              </a:rPr>
              <a:t>者 	 上次诊疗记录</a:t>
            </a:r>
            <a:endParaRPr sz="1800">
              <a:latin typeface="宋体" panose="02010600030101010101" pitchFamily="2" charset="-122"/>
              <a:cs typeface="宋体" panose="02010600030101010101" pitchFamily="2" charset="-122"/>
            </a:endParaRPr>
          </a:p>
          <a:p>
            <a:pPr marL="12700">
              <a:lnSpc>
                <a:spcPts val="2010"/>
              </a:lnSpc>
              <a:tabLst>
                <a:tab pos="463550" algn="l"/>
                <a:tab pos="2146300" algn="l"/>
              </a:tabLst>
            </a:pPr>
            <a:r>
              <a:rPr sz="1800" u="sng" dirty="0">
                <a:solidFill>
                  <a:srgbClr val="FFFFFF"/>
                </a:solidFill>
                <a:uFill>
                  <a:solidFill>
                    <a:srgbClr val="FF2600"/>
                  </a:solidFill>
                </a:uFill>
                <a:latin typeface="Times New Roman" panose="02020603050405020304"/>
                <a:cs typeface="Times New Roman" panose="02020603050405020304"/>
              </a:rPr>
              <a:t> 	</a:t>
            </a:r>
            <a:r>
              <a:rPr sz="1800" u="sng" dirty="0">
                <a:solidFill>
                  <a:srgbClr val="FFFFFF"/>
                </a:solidFill>
                <a:uFill>
                  <a:solidFill>
                    <a:srgbClr val="FF2600"/>
                  </a:solidFill>
                </a:uFill>
                <a:latin typeface="宋体" panose="02010600030101010101" pitchFamily="2" charset="-122"/>
                <a:cs typeface="宋体" panose="02010600030101010101" pitchFamily="2" charset="-122"/>
              </a:rPr>
              <a:t>下次预约记录	</a:t>
            </a:r>
            <a:endParaRPr sz="1800">
              <a:latin typeface="宋体" panose="02010600030101010101" pitchFamily="2" charset="-122"/>
              <a:cs typeface="宋体" panose="02010600030101010101" pitchFamily="2" charset="-122"/>
            </a:endParaRPr>
          </a:p>
        </p:txBody>
      </p:sp>
      <p:sp>
        <p:nvSpPr>
          <p:cNvPr id="26" name="object 26"/>
          <p:cNvSpPr/>
          <p:nvPr/>
        </p:nvSpPr>
        <p:spPr>
          <a:xfrm>
            <a:off x="3809682" y="5011378"/>
            <a:ext cx="4572635" cy="0"/>
          </a:xfrm>
          <a:custGeom>
            <a:avLst/>
            <a:gdLst/>
            <a:ahLst/>
            <a:cxnLst/>
            <a:rect l="l" t="t" r="r" b="b"/>
            <a:pathLst>
              <a:path w="4572634">
                <a:moveTo>
                  <a:pt x="0" y="0"/>
                </a:moveTo>
                <a:lnTo>
                  <a:pt x="4572361" y="0"/>
                </a:lnTo>
              </a:path>
            </a:pathLst>
          </a:custGeom>
          <a:ln w="9524">
            <a:solidFill>
              <a:srgbClr val="000000"/>
            </a:solidFill>
          </a:ln>
        </p:spPr>
        <p:txBody>
          <a:bodyPr wrap="square" lIns="0" tIns="0" rIns="0" bIns="0" rtlCol="0"/>
          <a:lstStyle/>
          <a:p/>
        </p:txBody>
      </p:sp>
      <p:sp>
        <p:nvSpPr>
          <p:cNvPr id="27" name="object 27"/>
          <p:cNvSpPr/>
          <p:nvPr/>
        </p:nvSpPr>
        <p:spPr>
          <a:xfrm>
            <a:off x="3809682" y="5011378"/>
            <a:ext cx="0" cy="304800"/>
          </a:xfrm>
          <a:custGeom>
            <a:avLst/>
            <a:gdLst/>
            <a:ahLst/>
            <a:cxnLst/>
            <a:rect l="l" t="t" r="r" b="b"/>
            <a:pathLst>
              <a:path h="304800">
                <a:moveTo>
                  <a:pt x="0" y="0"/>
                </a:moveTo>
                <a:lnTo>
                  <a:pt x="1" y="304799"/>
                </a:lnTo>
              </a:path>
            </a:pathLst>
          </a:custGeom>
          <a:ln w="9524">
            <a:solidFill>
              <a:srgbClr val="000000"/>
            </a:solidFill>
          </a:ln>
        </p:spPr>
        <p:txBody>
          <a:bodyPr wrap="square" lIns="0" tIns="0" rIns="0" bIns="0" rtlCol="0"/>
          <a:lstStyle/>
          <a:p/>
        </p:txBody>
      </p:sp>
      <p:sp>
        <p:nvSpPr>
          <p:cNvPr id="28" name="object 28"/>
          <p:cNvSpPr/>
          <p:nvPr/>
        </p:nvSpPr>
        <p:spPr>
          <a:xfrm>
            <a:off x="8382044" y="5011378"/>
            <a:ext cx="0" cy="381000"/>
          </a:xfrm>
          <a:custGeom>
            <a:avLst/>
            <a:gdLst/>
            <a:ahLst/>
            <a:cxnLst/>
            <a:rect l="l" t="t" r="r" b="b"/>
            <a:pathLst>
              <a:path h="381000">
                <a:moveTo>
                  <a:pt x="0" y="0"/>
                </a:moveTo>
                <a:lnTo>
                  <a:pt x="0" y="380999"/>
                </a:lnTo>
              </a:path>
            </a:pathLst>
          </a:custGeom>
          <a:ln w="9524">
            <a:solidFill>
              <a:srgbClr val="000000"/>
            </a:solidFill>
          </a:ln>
        </p:spPr>
        <p:txBody>
          <a:bodyPr wrap="square" lIns="0" tIns="0" rIns="0" bIns="0" rtlCol="0"/>
          <a:lstStyle/>
          <a:p/>
        </p:txBody>
      </p:sp>
      <p:sp>
        <p:nvSpPr>
          <p:cNvPr id="29" name="object 29"/>
          <p:cNvSpPr/>
          <p:nvPr/>
        </p:nvSpPr>
        <p:spPr>
          <a:xfrm>
            <a:off x="6451492" y="4401778"/>
            <a:ext cx="0" cy="609600"/>
          </a:xfrm>
          <a:custGeom>
            <a:avLst/>
            <a:gdLst/>
            <a:ahLst/>
            <a:cxnLst/>
            <a:rect l="l" t="t" r="r" b="b"/>
            <a:pathLst>
              <a:path h="609600">
                <a:moveTo>
                  <a:pt x="0" y="609599"/>
                </a:moveTo>
                <a:lnTo>
                  <a:pt x="1" y="0"/>
                </a:lnTo>
              </a:path>
            </a:pathLst>
          </a:custGeom>
          <a:ln w="9524">
            <a:solidFill>
              <a:srgbClr val="000000"/>
            </a:solidFill>
          </a:ln>
        </p:spPr>
        <p:txBody>
          <a:bodyPr wrap="square" lIns="0" tIns="0" rIns="0" bIns="0" rtlCol="0"/>
          <a:lstStyle/>
          <a:p/>
        </p:txBody>
      </p:sp>
      <p:sp>
        <p:nvSpPr>
          <p:cNvPr id="30" name="object 30"/>
          <p:cNvSpPr/>
          <p:nvPr/>
        </p:nvSpPr>
        <p:spPr>
          <a:xfrm>
            <a:off x="6045060" y="4782778"/>
            <a:ext cx="813435" cy="228600"/>
          </a:xfrm>
          <a:custGeom>
            <a:avLst/>
            <a:gdLst/>
            <a:ahLst/>
            <a:cxnLst/>
            <a:rect l="l" t="t" r="r" b="b"/>
            <a:pathLst>
              <a:path w="813435" h="228600">
                <a:moveTo>
                  <a:pt x="406433" y="0"/>
                </a:moveTo>
                <a:lnTo>
                  <a:pt x="365789" y="3314"/>
                </a:lnTo>
                <a:lnTo>
                  <a:pt x="325146" y="12801"/>
                </a:lnTo>
                <a:lnTo>
                  <a:pt x="284502" y="27774"/>
                </a:lnTo>
                <a:lnTo>
                  <a:pt x="243859" y="47548"/>
                </a:lnTo>
                <a:lnTo>
                  <a:pt x="203216" y="71437"/>
                </a:lnTo>
                <a:lnTo>
                  <a:pt x="162572" y="98755"/>
                </a:lnTo>
                <a:lnTo>
                  <a:pt x="121929" y="128816"/>
                </a:lnTo>
                <a:lnTo>
                  <a:pt x="81286" y="160934"/>
                </a:lnTo>
                <a:lnTo>
                  <a:pt x="40643" y="194424"/>
                </a:lnTo>
                <a:lnTo>
                  <a:pt x="0" y="228599"/>
                </a:lnTo>
                <a:lnTo>
                  <a:pt x="812864" y="228599"/>
                </a:lnTo>
                <a:lnTo>
                  <a:pt x="788682" y="212940"/>
                </a:lnTo>
                <a:lnTo>
                  <a:pt x="757590" y="190195"/>
                </a:lnTo>
                <a:lnTo>
                  <a:pt x="679555" y="131673"/>
                </a:lnTo>
                <a:lnTo>
                  <a:pt x="635051" y="100012"/>
                </a:lnTo>
                <a:lnTo>
                  <a:pt x="588514" y="69494"/>
                </a:lnTo>
                <a:lnTo>
                  <a:pt x="541165" y="42176"/>
                </a:lnTo>
                <a:lnTo>
                  <a:pt x="494222" y="20116"/>
                </a:lnTo>
                <a:lnTo>
                  <a:pt x="448905" y="5372"/>
                </a:lnTo>
                <a:lnTo>
                  <a:pt x="406433" y="0"/>
                </a:lnTo>
                <a:close/>
              </a:path>
            </a:pathLst>
          </a:custGeom>
          <a:solidFill>
            <a:srgbClr val="3DACFF"/>
          </a:solidFill>
        </p:spPr>
        <p:txBody>
          <a:bodyPr wrap="square" lIns="0" tIns="0" rIns="0" bIns="0" rtlCol="0"/>
          <a:lstStyle/>
          <a:p/>
        </p:txBody>
      </p:sp>
      <p:sp>
        <p:nvSpPr>
          <p:cNvPr id="31" name="object 31"/>
          <p:cNvSpPr/>
          <p:nvPr/>
        </p:nvSpPr>
        <p:spPr>
          <a:xfrm>
            <a:off x="6045059" y="4782778"/>
            <a:ext cx="813435" cy="228600"/>
          </a:xfrm>
          <a:custGeom>
            <a:avLst/>
            <a:gdLst/>
            <a:ahLst/>
            <a:cxnLst/>
            <a:rect l="l" t="t" r="r" b="b"/>
            <a:pathLst>
              <a:path w="813435" h="228600">
                <a:moveTo>
                  <a:pt x="0" y="228599"/>
                </a:moveTo>
                <a:lnTo>
                  <a:pt x="40643" y="194424"/>
                </a:lnTo>
                <a:lnTo>
                  <a:pt x="81286" y="160934"/>
                </a:lnTo>
                <a:lnTo>
                  <a:pt x="121929" y="128816"/>
                </a:lnTo>
                <a:lnTo>
                  <a:pt x="162572" y="98755"/>
                </a:lnTo>
                <a:lnTo>
                  <a:pt x="203216" y="71437"/>
                </a:lnTo>
                <a:lnTo>
                  <a:pt x="243859" y="47548"/>
                </a:lnTo>
                <a:lnTo>
                  <a:pt x="284502" y="27774"/>
                </a:lnTo>
                <a:lnTo>
                  <a:pt x="325145" y="12801"/>
                </a:lnTo>
                <a:lnTo>
                  <a:pt x="365789" y="3314"/>
                </a:lnTo>
                <a:lnTo>
                  <a:pt x="406432" y="0"/>
                </a:lnTo>
                <a:lnTo>
                  <a:pt x="448904" y="5372"/>
                </a:lnTo>
                <a:lnTo>
                  <a:pt x="494221" y="20116"/>
                </a:lnTo>
                <a:lnTo>
                  <a:pt x="541164" y="42176"/>
                </a:lnTo>
                <a:lnTo>
                  <a:pt x="588514" y="69494"/>
                </a:lnTo>
                <a:lnTo>
                  <a:pt x="635050" y="100012"/>
                </a:lnTo>
                <a:lnTo>
                  <a:pt x="679555" y="131673"/>
                </a:lnTo>
                <a:lnTo>
                  <a:pt x="720807" y="162420"/>
                </a:lnTo>
                <a:lnTo>
                  <a:pt x="757589" y="190195"/>
                </a:lnTo>
                <a:lnTo>
                  <a:pt x="788682" y="212940"/>
                </a:lnTo>
                <a:lnTo>
                  <a:pt x="812864" y="228599"/>
                </a:lnTo>
              </a:path>
            </a:pathLst>
          </a:custGeom>
          <a:ln w="9524">
            <a:solidFill>
              <a:srgbClr val="000000"/>
            </a:solidFill>
          </a:ln>
        </p:spPr>
        <p:txBody>
          <a:bodyPr wrap="square" lIns="0" tIns="0" rIns="0" bIns="0" rtlCol="0"/>
          <a:lstStyle/>
          <a:p/>
        </p:txBody>
      </p:sp>
    </p:spTree>
  </p:cSld>
  <p:clrMapOvr>
    <a:masterClrMapping/>
  </p:clrMapOvr>
  <mc:AlternateContent xmlns:mc="http://schemas.openxmlformats.org/markup-compatibility/2006">
    <mc:Choice xmlns:p14="http://schemas.microsoft.com/office/powerpoint/2010/main" Requires="p14">
      <p:transition spd="slow" p14:dur="2000" advTm="133276"/>
    </mc:Choice>
    <mc:Fallback>
      <p:transition spd="slow" advTm="133276"/>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38200" y="1393493"/>
            <a:ext cx="6335199" cy="4876800"/>
          </a:xfrm>
          <a:prstGeom prst="rect">
            <a:avLst/>
          </a:prstGeom>
        </p:spPr>
        <p:txBody>
          <a:bodyPr vert="horz" wrap="square" lIns="0" tIns="76200" rIns="0" bIns="0" rtlCol="0">
            <a:spAutoFit/>
          </a:bodyPr>
          <a:lstStyle/>
          <a:p>
            <a:pPr marL="241300" indent="-228600">
              <a:lnSpc>
                <a:spcPct val="100000"/>
              </a:lnSpc>
              <a:spcBef>
                <a:spcPts val="600"/>
              </a:spcBef>
              <a:buFont typeface="Arial" panose="020B0604020202020204"/>
              <a:buChar char="•"/>
              <a:tabLst>
                <a:tab pos="240665" algn="l"/>
                <a:tab pos="241300" algn="l"/>
              </a:tabLst>
            </a:pPr>
            <a:r>
              <a:rPr sz="2000" dirty="0">
                <a:latin typeface="微软雅黑" panose="020B0503020204020204" pitchFamily="34" charset="-122"/>
                <a:ea typeface="微软雅黑" panose="020B0503020204020204" pitchFamily="34" charset="-122"/>
                <a:cs typeface="黑体" panose="02010609060101010101" charset="-122"/>
              </a:rPr>
              <a:t>分解</a:t>
            </a:r>
            <a:endParaRPr sz="2000" dirty="0">
              <a:latin typeface="微软雅黑" panose="020B0503020204020204" pitchFamily="34" charset="-122"/>
              <a:ea typeface="微软雅黑" panose="020B0503020204020204" pitchFamily="34" charset="-122"/>
              <a:cs typeface="黑体" panose="02010609060101010101" charset="-122"/>
            </a:endParaRPr>
          </a:p>
          <a:p>
            <a:pPr marL="698500" lvl="1" indent="-228600">
              <a:lnSpc>
                <a:spcPct val="100000"/>
              </a:lnSpc>
              <a:spcBef>
                <a:spcPts val="500"/>
              </a:spcBef>
              <a:buFont typeface="Arial" panose="020B0604020202020204"/>
              <a:buChar char="•"/>
              <a:tabLst>
                <a:tab pos="697865" algn="l"/>
                <a:tab pos="698500" algn="l"/>
              </a:tabLst>
            </a:pPr>
            <a:r>
              <a:rPr sz="2000" dirty="0" err="1">
                <a:latin typeface="微软雅黑" panose="020B0503020204020204" pitchFamily="34" charset="-122"/>
                <a:ea typeface="微软雅黑" panose="020B0503020204020204" pitchFamily="34" charset="-122"/>
                <a:cs typeface="黑体" panose="02010609060101010101" charset="-122"/>
              </a:rPr>
              <a:t>表达整体部分关系</a:t>
            </a:r>
            <a:endParaRPr sz="2000" dirty="0">
              <a:latin typeface="微软雅黑" panose="020B0503020204020204" pitchFamily="34" charset="-122"/>
              <a:ea typeface="微软雅黑" panose="020B0503020204020204" pitchFamily="34" charset="-122"/>
              <a:cs typeface="黑体" panose="02010609060101010101" charset="-122"/>
            </a:endParaRPr>
          </a:p>
          <a:p>
            <a:pPr marL="241300" indent="-228600">
              <a:lnSpc>
                <a:spcPct val="100000"/>
              </a:lnSpc>
              <a:spcBef>
                <a:spcPts val="1000"/>
              </a:spcBef>
              <a:buFont typeface="Arial" panose="020B0604020202020204"/>
              <a:buChar char="•"/>
              <a:tabLst>
                <a:tab pos="240665" algn="l"/>
                <a:tab pos="241300" algn="l"/>
              </a:tabLst>
            </a:pPr>
            <a:r>
              <a:rPr sz="2000" dirty="0">
                <a:latin typeface="微软雅黑" panose="020B0503020204020204" pitchFamily="34" charset="-122"/>
                <a:ea typeface="微软雅黑" panose="020B0503020204020204" pitchFamily="34" charset="-122"/>
                <a:cs typeface="黑体" panose="02010609060101010101" charset="-122"/>
              </a:rPr>
              <a:t>例如:</a:t>
            </a:r>
            <a:endParaRPr sz="2000" dirty="0">
              <a:latin typeface="微软雅黑" panose="020B0503020204020204" pitchFamily="34" charset="-122"/>
              <a:ea typeface="微软雅黑" panose="020B0503020204020204" pitchFamily="34" charset="-122"/>
              <a:cs typeface="黑体" panose="02010609060101010101" charset="-122"/>
            </a:endParaRPr>
          </a:p>
          <a:p>
            <a:pPr marL="698500" lvl="1" indent="-228600">
              <a:lnSpc>
                <a:spcPct val="100000"/>
              </a:lnSpc>
              <a:spcBef>
                <a:spcPts val="5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黑体" panose="02010609060101010101" charset="-122"/>
              </a:rPr>
              <a:t>目标是飞行器研发</a:t>
            </a:r>
            <a:endParaRPr sz="2000" dirty="0">
              <a:latin typeface="微软雅黑" panose="020B0503020204020204" pitchFamily="34" charset="-122"/>
              <a:ea typeface="微软雅黑" panose="020B0503020204020204" pitchFamily="34" charset="-122"/>
              <a:cs typeface="黑体" panose="02010609060101010101" charset="-122"/>
            </a:endParaRPr>
          </a:p>
          <a:p>
            <a:pPr marL="698500" lvl="1" indent="-228600">
              <a:lnSpc>
                <a:spcPct val="100000"/>
              </a:lnSpc>
              <a:spcBef>
                <a:spcPts val="5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黑体" panose="02010609060101010101" charset="-122"/>
              </a:rPr>
              <a:t>将问题分解为子系统研发:</a:t>
            </a:r>
            <a:endParaRPr sz="2000" dirty="0">
              <a:latin typeface="微软雅黑" panose="020B0503020204020204" pitchFamily="34" charset="-122"/>
              <a:ea typeface="微软雅黑" panose="020B0503020204020204" pitchFamily="34" charset="-122"/>
              <a:cs typeface="黑体" panose="02010609060101010101" charset="-122"/>
            </a:endParaRPr>
          </a:p>
          <a:p>
            <a:pPr marL="1155700" lvl="2" indent="-228600">
              <a:lnSpc>
                <a:spcPct val="100000"/>
              </a:lnSpc>
              <a:spcBef>
                <a:spcPts val="500"/>
              </a:spcBef>
              <a:buFont typeface="Arial" panose="020B0604020202020204"/>
              <a:buChar char="•"/>
              <a:tabLst>
                <a:tab pos="1155065" algn="l"/>
                <a:tab pos="1155700" algn="l"/>
              </a:tabLst>
            </a:pPr>
            <a:r>
              <a:rPr sz="2000" dirty="0">
                <a:latin typeface="微软雅黑" panose="020B0503020204020204" pitchFamily="34" charset="-122"/>
                <a:ea typeface="微软雅黑" panose="020B0503020204020204" pitchFamily="34" charset="-122"/>
                <a:cs typeface="黑体" panose="02010609060101010101" charset="-122"/>
              </a:rPr>
              <a:t>导航系统;</a:t>
            </a:r>
            <a:endParaRPr sz="2000" dirty="0">
              <a:latin typeface="微软雅黑" panose="020B0503020204020204" pitchFamily="34" charset="-122"/>
              <a:ea typeface="微软雅黑" panose="020B0503020204020204" pitchFamily="34" charset="-122"/>
              <a:cs typeface="黑体" panose="02010609060101010101" charset="-122"/>
            </a:endParaRPr>
          </a:p>
          <a:p>
            <a:pPr marL="1155700" lvl="2" indent="-228600">
              <a:lnSpc>
                <a:spcPct val="100000"/>
              </a:lnSpc>
              <a:spcBef>
                <a:spcPts val="500"/>
              </a:spcBef>
              <a:buFont typeface="Arial" panose="020B0604020202020204"/>
              <a:buChar char="•"/>
              <a:tabLst>
                <a:tab pos="1155065" algn="l"/>
                <a:tab pos="1155700" algn="l"/>
              </a:tabLst>
            </a:pPr>
            <a:r>
              <a:rPr sz="2000" dirty="0">
                <a:latin typeface="微软雅黑" panose="020B0503020204020204" pitchFamily="34" charset="-122"/>
                <a:ea typeface="微软雅黑" panose="020B0503020204020204" pitchFamily="34" charset="-122"/>
                <a:cs typeface="黑体" panose="02010609060101010101" charset="-122"/>
              </a:rPr>
              <a:t>数据处理系统;</a:t>
            </a:r>
            <a:endParaRPr sz="2000" dirty="0">
              <a:latin typeface="微软雅黑" panose="020B0503020204020204" pitchFamily="34" charset="-122"/>
              <a:ea typeface="微软雅黑" panose="020B0503020204020204" pitchFamily="34" charset="-122"/>
              <a:cs typeface="黑体" panose="02010609060101010101" charset="-122"/>
            </a:endParaRPr>
          </a:p>
          <a:p>
            <a:pPr marL="1155700" lvl="2" indent="-228600">
              <a:lnSpc>
                <a:spcPct val="100000"/>
              </a:lnSpc>
              <a:spcBef>
                <a:spcPts val="500"/>
              </a:spcBef>
              <a:buFont typeface="Arial" panose="020B0604020202020204"/>
              <a:buChar char="•"/>
              <a:tabLst>
                <a:tab pos="1155065" algn="l"/>
                <a:tab pos="1155700" algn="l"/>
              </a:tabLst>
            </a:pPr>
            <a:r>
              <a:rPr sz="2000" dirty="0">
                <a:latin typeface="微软雅黑" panose="020B0503020204020204" pitchFamily="34" charset="-122"/>
                <a:ea typeface="微软雅黑" panose="020B0503020204020204" pitchFamily="34" charset="-122"/>
                <a:cs typeface="黑体" panose="02010609060101010101" charset="-122"/>
              </a:rPr>
              <a:t>指挥控制系统;</a:t>
            </a:r>
            <a:endParaRPr sz="2000" dirty="0">
              <a:latin typeface="微软雅黑" panose="020B0503020204020204" pitchFamily="34" charset="-122"/>
              <a:ea typeface="微软雅黑" panose="020B0503020204020204" pitchFamily="34" charset="-122"/>
              <a:cs typeface="黑体" panose="02010609060101010101" charset="-122"/>
            </a:endParaRPr>
          </a:p>
          <a:p>
            <a:pPr marL="1155700" lvl="2" indent="-228600">
              <a:lnSpc>
                <a:spcPct val="100000"/>
              </a:lnSpc>
              <a:spcBef>
                <a:spcPts val="500"/>
              </a:spcBef>
              <a:buFont typeface="Arial" panose="020B0604020202020204"/>
              <a:buChar char="•"/>
              <a:tabLst>
                <a:tab pos="1155065" algn="l"/>
                <a:tab pos="1155700" algn="l"/>
              </a:tabLst>
            </a:pPr>
            <a:r>
              <a:rPr sz="2000" dirty="0">
                <a:latin typeface="微软雅黑" panose="020B0503020204020204" pitchFamily="34" charset="-122"/>
                <a:ea typeface="微软雅黑" panose="020B0503020204020204" pitchFamily="34" charset="-122"/>
                <a:cs typeface="黑体" panose="02010609060101010101" charset="-122"/>
              </a:rPr>
              <a:t>环境控制系统;</a:t>
            </a:r>
            <a:endParaRPr sz="2000" dirty="0">
              <a:latin typeface="微软雅黑" panose="020B0503020204020204" pitchFamily="34" charset="-122"/>
              <a:ea typeface="微软雅黑" panose="020B0503020204020204" pitchFamily="34" charset="-122"/>
              <a:cs typeface="黑体" panose="02010609060101010101" charset="-122"/>
            </a:endParaRPr>
          </a:p>
          <a:p>
            <a:pPr marL="1155700" lvl="2" indent="-228600">
              <a:lnSpc>
                <a:spcPct val="100000"/>
              </a:lnSpc>
              <a:spcBef>
                <a:spcPts val="500"/>
              </a:spcBef>
              <a:buFont typeface="Arial" panose="020B0604020202020204"/>
              <a:buChar char="•"/>
              <a:tabLst>
                <a:tab pos="1155065" algn="l"/>
                <a:tab pos="1155700" algn="l"/>
              </a:tabLst>
            </a:pPr>
            <a:r>
              <a:rPr sz="2000" dirty="0">
                <a:latin typeface="微软雅黑" panose="020B0503020204020204" pitchFamily="34" charset="-122"/>
                <a:ea typeface="微软雅黑" panose="020B0503020204020204" pitchFamily="34" charset="-122"/>
                <a:cs typeface="黑体" panose="02010609060101010101" charset="-122"/>
              </a:rPr>
              <a:t>等</a:t>
            </a:r>
            <a:endParaRPr sz="2000" dirty="0">
              <a:latin typeface="微软雅黑" panose="020B0503020204020204" pitchFamily="34" charset="-122"/>
              <a:ea typeface="微软雅黑" panose="020B0503020204020204" pitchFamily="34" charset="-122"/>
              <a:cs typeface="黑体" panose="02010609060101010101" charset="-122"/>
            </a:endParaRPr>
          </a:p>
          <a:p>
            <a:pPr marL="469900">
              <a:lnSpc>
                <a:spcPct val="100000"/>
              </a:lnSpc>
              <a:spcBef>
                <a:spcPts val="500"/>
              </a:spcBef>
            </a:pPr>
            <a:r>
              <a:rPr sz="2000" dirty="0">
                <a:latin typeface="微软雅黑" panose="020B0503020204020204" pitchFamily="34" charset="-122"/>
                <a:ea typeface="微软雅黑" panose="020B0503020204020204" pitchFamily="34" charset="-122"/>
                <a:cs typeface="黑体" panose="02010609060101010101" charset="-122"/>
              </a:rPr>
              <a:t>这是我们对问题的分解</a:t>
            </a:r>
            <a:endParaRPr sz="2000" dirty="0">
              <a:latin typeface="微软雅黑" panose="020B0503020204020204" pitchFamily="34" charset="-122"/>
              <a:ea typeface="微软雅黑" panose="020B0503020204020204" pitchFamily="34" charset="-122"/>
              <a:cs typeface="黑体" panose="02010609060101010101" charset="-122"/>
            </a:endParaRPr>
          </a:p>
          <a:p>
            <a:pPr marL="1155700" lvl="2" indent="-228600">
              <a:lnSpc>
                <a:spcPct val="100000"/>
              </a:lnSpc>
              <a:spcBef>
                <a:spcPts val="500"/>
              </a:spcBef>
              <a:buFont typeface="Arial" panose="020B0604020202020204"/>
              <a:buChar char="•"/>
              <a:tabLst>
                <a:tab pos="1155065" algn="l"/>
                <a:tab pos="1155700" algn="l"/>
              </a:tabLst>
            </a:pPr>
            <a:r>
              <a:rPr sz="2000" dirty="0">
                <a:latin typeface="微软雅黑" panose="020B0503020204020204" pitchFamily="34" charset="-122"/>
                <a:ea typeface="微软雅黑" panose="020B0503020204020204" pitchFamily="34" charset="-122"/>
                <a:cs typeface="黑体" panose="02010609060101010101" charset="-122"/>
              </a:rPr>
              <a:t>现实世界中的设计可以组件化</a:t>
            </a:r>
            <a:endParaRPr sz="2000" dirty="0">
              <a:latin typeface="微软雅黑" panose="020B0503020204020204" pitchFamily="34" charset="-122"/>
              <a:ea typeface="微软雅黑" panose="020B0503020204020204" pitchFamily="34" charset="-122"/>
              <a:cs typeface="黑体" panose="02010609060101010101" charset="-122"/>
            </a:endParaRPr>
          </a:p>
          <a:p>
            <a:pPr marL="1155700" lvl="2" indent="-228600">
              <a:lnSpc>
                <a:spcPct val="100000"/>
              </a:lnSpc>
              <a:spcBef>
                <a:spcPts val="500"/>
              </a:spcBef>
              <a:buFont typeface="Arial" panose="020B0604020202020204"/>
              <a:buChar char="•"/>
              <a:tabLst>
                <a:tab pos="1155065" algn="l"/>
                <a:tab pos="1155700" algn="l"/>
              </a:tabLst>
            </a:pPr>
            <a:r>
              <a:rPr sz="2000" dirty="0">
                <a:latin typeface="微软雅黑" panose="020B0503020204020204" pitchFamily="34" charset="-122"/>
                <a:ea typeface="微软雅黑" panose="020B0503020204020204" pitchFamily="34" charset="-122"/>
                <a:cs typeface="黑体" panose="02010609060101010101" charset="-122"/>
              </a:rPr>
              <a:t>系统分解方式决定系统的体系结构设计</a:t>
            </a:r>
            <a:endParaRPr sz="2000" dirty="0">
              <a:latin typeface="微软雅黑" panose="020B0503020204020204" pitchFamily="34" charset="-122"/>
              <a:ea typeface="微软雅黑" panose="020B0503020204020204" pitchFamily="34" charset="-122"/>
              <a:cs typeface="黑体" panose="02010609060101010101" charset="-122"/>
            </a:endParaRPr>
          </a:p>
        </p:txBody>
      </p:sp>
      <p:sp>
        <p:nvSpPr>
          <p:cNvPr id="4" name="object 4"/>
          <p:cNvSpPr/>
          <p:nvPr/>
        </p:nvSpPr>
        <p:spPr>
          <a:xfrm>
            <a:off x="7719089" y="2510300"/>
            <a:ext cx="2447923" cy="2643186"/>
          </a:xfrm>
          <a:prstGeom prst="rect">
            <a:avLst/>
          </a:prstGeom>
          <a:blipFill>
            <a:blip r:embed="rId1" cstate="print"/>
            <a:stretch>
              <a:fillRect/>
            </a:stretch>
          </a:blipFill>
        </p:spPr>
        <p:txBody>
          <a:bodyPr wrap="square" lIns="0" tIns="0" rIns="0" bIns="0" rtlCol="0"/>
          <a:lstStyle/>
          <a:p/>
        </p:txBody>
      </p:sp>
      <p:sp>
        <p:nvSpPr>
          <p:cNvPr id="7" name="标题 6"/>
          <p:cNvSpPr>
            <a:spLocks noGrp="1"/>
          </p:cNvSpPr>
          <p:nvPr>
            <p:ph type="title"/>
          </p:nvPr>
        </p:nvSpPr>
        <p:spPr/>
        <p:txBody>
          <a:bodyPr/>
          <a:lstStyle/>
          <a:p>
            <a:r>
              <a:rPr lang="zh-CN" altLang="en-US" spc="-15" dirty="0">
                <a:latin typeface="黑体" panose="02010609060101010101" charset="-122"/>
                <a:cs typeface="黑体" panose="02010609060101010101" charset="-122"/>
              </a:rPr>
              <a:t>对象建模原则</a:t>
            </a:r>
            <a:r>
              <a:rPr lang="en-US" altLang="zh-CN" spc="-15" dirty="0">
                <a:latin typeface="黑体" panose="02010609060101010101" charset="-122"/>
                <a:cs typeface="黑体" panose="02010609060101010101" charset="-122"/>
              </a:rPr>
              <a:t>2</a:t>
            </a:r>
            <a:r>
              <a:rPr lang="zh-CN" altLang="en-US" spc="-15" dirty="0">
                <a:latin typeface="黑体" panose="02010609060101010101" charset="-122"/>
                <a:cs typeface="黑体" panose="02010609060101010101" charset="-122"/>
              </a:rPr>
              <a:t>：分解</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44876"/>
    </mc:Choice>
    <mc:Fallback>
      <p:transition spd="slow" advTm="44876"/>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6600" baseline="-3000" dirty="0"/>
              <a:t>整体</a:t>
            </a:r>
            <a:r>
              <a:rPr lang="en-US" altLang="zh-CN" dirty="0">
                <a:cs typeface="Franklin Gothic Medium" panose="020B0603020102020204"/>
              </a:rPr>
              <a:t>-</a:t>
            </a:r>
            <a:r>
              <a:rPr lang="zh-CN" altLang="en-US" sz="6600" baseline="-3000" dirty="0"/>
              <a:t>部分结构（</a:t>
            </a:r>
            <a:r>
              <a:rPr lang="en-US" altLang="zh-CN" dirty="0">
                <a:cs typeface="Franklin Gothic Medium" panose="020B0603020102020204"/>
              </a:rPr>
              <a:t>Whole-Part</a:t>
            </a:r>
            <a:r>
              <a:rPr lang="en-US" altLang="zh-CN" spc="-55" dirty="0">
                <a:cs typeface="Franklin Gothic Medium" panose="020B0603020102020204"/>
              </a:rPr>
              <a:t> </a:t>
            </a:r>
            <a:r>
              <a:rPr lang="en-US" altLang="zh-CN" spc="-5" dirty="0">
                <a:cs typeface="Franklin Gothic Medium" panose="020B0603020102020204"/>
              </a:rPr>
              <a:t>Structures</a:t>
            </a:r>
            <a:r>
              <a:rPr lang="zh-CN" altLang="en-US" sz="6600" spc="-7" baseline="-3000" dirty="0"/>
              <a:t>）</a:t>
            </a:r>
            <a:endParaRPr lang="zh-CN" altLang="en-US" dirty="0"/>
          </a:p>
        </p:txBody>
      </p:sp>
      <p:sp>
        <p:nvSpPr>
          <p:cNvPr id="3" name="内容占位符 2"/>
          <p:cNvSpPr>
            <a:spLocks noGrp="1"/>
          </p:cNvSpPr>
          <p:nvPr>
            <p:ph idx="1"/>
          </p:nvPr>
        </p:nvSpPr>
        <p:spPr/>
        <p:txBody>
          <a:bodyPr/>
          <a:lstStyle/>
          <a:p>
            <a:r>
              <a:rPr lang="zh-CN" altLang="en-US" dirty="0"/>
              <a:t>整体</a:t>
            </a:r>
            <a:r>
              <a:rPr lang="en-US" altLang="zh-CN" dirty="0"/>
              <a:t>-</a:t>
            </a:r>
            <a:r>
              <a:rPr lang="zh-CN" altLang="en-US" dirty="0"/>
              <a:t>部分结构描述对象间的组合关系</a:t>
            </a:r>
            <a:r>
              <a:rPr lang="en-US" altLang="zh-CN" dirty="0"/>
              <a:t>. </a:t>
            </a:r>
            <a:r>
              <a:rPr lang="zh-CN" altLang="en-US" dirty="0"/>
              <a:t>例如，一个交通灯对象由</a:t>
            </a:r>
            <a:r>
              <a:rPr lang="en-US" altLang="zh-CN" dirty="0"/>
              <a:t>0-3</a:t>
            </a:r>
            <a:r>
              <a:rPr lang="zh-CN" altLang="en-US" dirty="0"/>
              <a:t>个灯组，以及支撑杆和位置对象组合而成。</a:t>
            </a:r>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latin typeface="微软雅黑" panose="020B0503020204020204" pitchFamily="34" charset="-122"/>
                <a:ea typeface="微软雅黑" panose="020B0503020204020204" pitchFamily="34" charset="-122"/>
              </a:rPr>
            </a:fld>
            <a:endParaRPr lang="zh-CN" altLang="en-US">
              <a:latin typeface="微软雅黑" panose="020B0503020204020204" pitchFamily="34" charset="-122"/>
              <a:ea typeface="微软雅黑" panose="020B0503020204020204" pitchFamily="34" charset="-122"/>
            </a:endParaRPr>
          </a:p>
        </p:txBody>
      </p:sp>
      <p:grpSp>
        <p:nvGrpSpPr>
          <p:cNvPr id="48" name="组合 47"/>
          <p:cNvGrpSpPr/>
          <p:nvPr/>
        </p:nvGrpSpPr>
        <p:grpSpPr>
          <a:xfrm>
            <a:off x="1714753" y="3193447"/>
            <a:ext cx="9190792" cy="3118453"/>
            <a:chOff x="2188850" y="2831927"/>
            <a:chExt cx="9190792" cy="3345036"/>
          </a:xfrm>
        </p:grpSpPr>
        <p:sp>
          <p:nvSpPr>
            <p:cNvPr id="5" name="object 4"/>
            <p:cNvSpPr/>
            <p:nvPr/>
          </p:nvSpPr>
          <p:spPr>
            <a:xfrm>
              <a:off x="5791200" y="2976563"/>
              <a:ext cx="1391920" cy="762000"/>
            </a:xfrm>
            <a:custGeom>
              <a:avLst/>
              <a:gdLst/>
              <a:ahLst/>
              <a:cxnLst/>
              <a:rect l="l" t="t" r="r" b="b"/>
              <a:pathLst>
                <a:path w="1391920" h="762000">
                  <a:moveTo>
                    <a:pt x="1264478" y="0"/>
                  </a:moveTo>
                  <a:lnTo>
                    <a:pt x="127000" y="0"/>
                  </a:lnTo>
                  <a:lnTo>
                    <a:pt x="77565" y="9980"/>
                  </a:lnTo>
                  <a:lnTo>
                    <a:pt x="37197" y="37197"/>
                  </a:lnTo>
                  <a:lnTo>
                    <a:pt x="9980" y="77566"/>
                  </a:lnTo>
                  <a:lnTo>
                    <a:pt x="0" y="127000"/>
                  </a:lnTo>
                  <a:lnTo>
                    <a:pt x="0" y="635000"/>
                  </a:lnTo>
                  <a:lnTo>
                    <a:pt x="9980" y="684434"/>
                  </a:lnTo>
                  <a:lnTo>
                    <a:pt x="37197" y="724802"/>
                  </a:lnTo>
                  <a:lnTo>
                    <a:pt x="77565" y="752019"/>
                  </a:lnTo>
                  <a:lnTo>
                    <a:pt x="127000" y="762000"/>
                  </a:lnTo>
                  <a:lnTo>
                    <a:pt x="1264478" y="762000"/>
                  </a:lnTo>
                  <a:lnTo>
                    <a:pt x="1313911" y="752019"/>
                  </a:lnTo>
                  <a:lnTo>
                    <a:pt x="1354280" y="724802"/>
                  </a:lnTo>
                  <a:lnTo>
                    <a:pt x="1381497" y="684434"/>
                  </a:lnTo>
                  <a:lnTo>
                    <a:pt x="1391478" y="635000"/>
                  </a:lnTo>
                  <a:lnTo>
                    <a:pt x="1391478" y="127000"/>
                  </a:lnTo>
                  <a:lnTo>
                    <a:pt x="1381497" y="77566"/>
                  </a:lnTo>
                  <a:lnTo>
                    <a:pt x="1354280" y="37197"/>
                  </a:lnTo>
                  <a:lnTo>
                    <a:pt x="1313911" y="9980"/>
                  </a:lnTo>
                  <a:lnTo>
                    <a:pt x="1264478" y="0"/>
                  </a:lnTo>
                  <a:close/>
                </a:path>
              </a:pathLst>
            </a:custGeom>
            <a:solidFill>
              <a:srgbClr val="FFD5A9"/>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6" name="object 5"/>
            <p:cNvSpPr/>
            <p:nvPr/>
          </p:nvSpPr>
          <p:spPr>
            <a:xfrm>
              <a:off x="5791200" y="2976563"/>
              <a:ext cx="1391920" cy="762000"/>
            </a:xfrm>
            <a:custGeom>
              <a:avLst/>
              <a:gdLst/>
              <a:ahLst/>
              <a:cxnLst/>
              <a:rect l="l" t="t" r="r" b="b"/>
              <a:pathLst>
                <a:path w="1391920" h="762000">
                  <a:moveTo>
                    <a:pt x="0" y="126999"/>
                  </a:moveTo>
                  <a:lnTo>
                    <a:pt x="9980" y="77565"/>
                  </a:lnTo>
                  <a:lnTo>
                    <a:pt x="37197" y="37197"/>
                  </a:lnTo>
                  <a:lnTo>
                    <a:pt x="77565" y="9980"/>
                  </a:lnTo>
                  <a:lnTo>
                    <a:pt x="127000" y="0"/>
                  </a:lnTo>
                  <a:lnTo>
                    <a:pt x="1264477" y="0"/>
                  </a:lnTo>
                  <a:lnTo>
                    <a:pt x="1313911" y="9980"/>
                  </a:lnTo>
                  <a:lnTo>
                    <a:pt x="1354280" y="37197"/>
                  </a:lnTo>
                  <a:lnTo>
                    <a:pt x="1381497" y="77565"/>
                  </a:lnTo>
                  <a:lnTo>
                    <a:pt x="1391477" y="126999"/>
                  </a:lnTo>
                  <a:lnTo>
                    <a:pt x="1391477" y="634999"/>
                  </a:lnTo>
                  <a:lnTo>
                    <a:pt x="1381497" y="684433"/>
                  </a:lnTo>
                  <a:lnTo>
                    <a:pt x="1354280" y="724802"/>
                  </a:lnTo>
                  <a:lnTo>
                    <a:pt x="1313911" y="752019"/>
                  </a:lnTo>
                  <a:lnTo>
                    <a:pt x="1264477" y="761999"/>
                  </a:lnTo>
                  <a:lnTo>
                    <a:pt x="127000" y="761999"/>
                  </a:lnTo>
                  <a:lnTo>
                    <a:pt x="77565" y="752019"/>
                  </a:lnTo>
                  <a:lnTo>
                    <a:pt x="37197" y="724802"/>
                  </a:lnTo>
                  <a:lnTo>
                    <a:pt x="9980" y="684433"/>
                  </a:lnTo>
                  <a:lnTo>
                    <a:pt x="0" y="634999"/>
                  </a:lnTo>
                  <a:lnTo>
                    <a:pt x="0" y="126999"/>
                  </a:lnTo>
                  <a:close/>
                </a:path>
              </a:pathLst>
            </a:custGeom>
            <a:ln w="9524">
              <a:solidFill>
                <a:srgbClr val="FF26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7" name="object 6"/>
            <p:cNvSpPr/>
            <p:nvPr/>
          </p:nvSpPr>
          <p:spPr>
            <a:xfrm>
              <a:off x="5791200" y="3595688"/>
              <a:ext cx="1391920" cy="0"/>
            </a:xfrm>
            <a:custGeom>
              <a:avLst/>
              <a:gdLst/>
              <a:ahLst/>
              <a:cxnLst/>
              <a:rect l="l" t="t" r="r" b="b"/>
              <a:pathLst>
                <a:path w="1391920">
                  <a:moveTo>
                    <a:pt x="0" y="0"/>
                  </a:moveTo>
                  <a:lnTo>
                    <a:pt x="1391477" y="1"/>
                  </a:lnTo>
                </a:path>
              </a:pathLst>
            </a:custGeom>
            <a:ln w="9524">
              <a:solidFill>
                <a:srgbClr val="FF26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8" name="object 7"/>
            <p:cNvSpPr/>
            <p:nvPr/>
          </p:nvSpPr>
          <p:spPr>
            <a:xfrm>
              <a:off x="5893351" y="3071813"/>
              <a:ext cx="1391920" cy="666750"/>
            </a:xfrm>
            <a:custGeom>
              <a:avLst/>
              <a:gdLst/>
              <a:ahLst/>
              <a:cxnLst/>
              <a:rect l="l" t="t" r="r" b="b"/>
              <a:pathLst>
                <a:path w="1391920" h="666750">
                  <a:moveTo>
                    <a:pt x="1280353" y="0"/>
                  </a:moveTo>
                  <a:lnTo>
                    <a:pt x="111125" y="0"/>
                  </a:lnTo>
                  <a:lnTo>
                    <a:pt x="67870" y="8732"/>
                  </a:lnTo>
                  <a:lnTo>
                    <a:pt x="32547" y="32547"/>
                  </a:lnTo>
                  <a:lnTo>
                    <a:pt x="8732" y="67870"/>
                  </a:lnTo>
                  <a:lnTo>
                    <a:pt x="0" y="111125"/>
                  </a:lnTo>
                  <a:lnTo>
                    <a:pt x="0" y="555625"/>
                  </a:lnTo>
                  <a:lnTo>
                    <a:pt x="8732" y="598879"/>
                  </a:lnTo>
                  <a:lnTo>
                    <a:pt x="32547" y="634202"/>
                  </a:lnTo>
                  <a:lnTo>
                    <a:pt x="67870" y="658017"/>
                  </a:lnTo>
                  <a:lnTo>
                    <a:pt x="111125" y="666750"/>
                  </a:lnTo>
                  <a:lnTo>
                    <a:pt x="1280353" y="666750"/>
                  </a:lnTo>
                  <a:lnTo>
                    <a:pt x="1323607" y="658017"/>
                  </a:lnTo>
                  <a:lnTo>
                    <a:pt x="1358930" y="634202"/>
                  </a:lnTo>
                  <a:lnTo>
                    <a:pt x="1382745" y="598879"/>
                  </a:lnTo>
                  <a:lnTo>
                    <a:pt x="1391478" y="555625"/>
                  </a:lnTo>
                  <a:lnTo>
                    <a:pt x="1391478" y="111125"/>
                  </a:lnTo>
                  <a:lnTo>
                    <a:pt x="1382745" y="67870"/>
                  </a:lnTo>
                  <a:lnTo>
                    <a:pt x="1358930" y="32547"/>
                  </a:lnTo>
                  <a:lnTo>
                    <a:pt x="1323607" y="8732"/>
                  </a:lnTo>
                  <a:lnTo>
                    <a:pt x="1280353" y="0"/>
                  </a:lnTo>
                  <a:close/>
                </a:path>
              </a:pathLst>
            </a:custGeom>
            <a:solidFill>
              <a:srgbClr val="4180FF"/>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9" name="object 8"/>
            <p:cNvSpPr/>
            <p:nvPr/>
          </p:nvSpPr>
          <p:spPr>
            <a:xfrm>
              <a:off x="5893351" y="3071813"/>
              <a:ext cx="1391920" cy="666750"/>
            </a:xfrm>
            <a:custGeom>
              <a:avLst/>
              <a:gdLst/>
              <a:ahLst/>
              <a:cxnLst/>
              <a:rect l="l" t="t" r="r" b="b"/>
              <a:pathLst>
                <a:path w="1391920" h="666750">
                  <a:moveTo>
                    <a:pt x="0" y="111124"/>
                  </a:moveTo>
                  <a:lnTo>
                    <a:pt x="8732" y="67870"/>
                  </a:lnTo>
                  <a:lnTo>
                    <a:pt x="32547" y="32547"/>
                  </a:lnTo>
                  <a:lnTo>
                    <a:pt x="67870" y="8732"/>
                  </a:lnTo>
                  <a:lnTo>
                    <a:pt x="111124" y="0"/>
                  </a:lnTo>
                  <a:lnTo>
                    <a:pt x="1280352" y="0"/>
                  </a:lnTo>
                  <a:lnTo>
                    <a:pt x="1323607" y="8732"/>
                  </a:lnTo>
                  <a:lnTo>
                    <a:pt x="1358930" y="32547"/>
                  </a:lnTo>
                  <a:lnTo>
                    <a:pt x="1382745" y="67870"/>
                  </a:lnTo>
                  <a:lnTo>
                    <a:pt x="1391477" y="111124"/>
                  </a:lnTo>
                  <a:lnTo>
                    <a:pt x="1391477" y="555624"/>
                  </a:lnTo>
                  <a:lnTo>
                    <a:pt x="1382745" y="598879"/>
                  </a:lnTo>
                  <a:lnTo>
                    <a:pt x="1358930" y="634202"/>
                  </a:lnTo>
                  <a:lnTo>
                    <a:pt x="1323607" y="658017"/>
                  </a:lnTo>
                  <a:lnTo>
                    <a:pt x="1280352" y="666749"/>
                  </a:lnTo>
                  <a:lnTo>
                    <a:pt x="111124" y="666749"/>
                  </a:lnTo>
                  <a:lnTo>
                    <a:pt x="67870" y="658017"/>
                  </a:lnTo>
                  <a:lnTo>
                    <a:pt x="32547" y="634202"/>
                  </a:lnTo>
                  <a:lnTo>
                    <a:pt x="8732" y="598879"/>
                  </a:lnTo>
                  <a:lnTo>
                    <a:pt x="0" y="555624"/>
                  </a:lnTo>
                  <a:lnTo>
                    <a:pt x="0" y="111124"/>
                  </a:lnTo>
                  <a:close/>
                </a:path>
              </a:pathLst>
            </a:custGeom>
            <a:ln w="9524">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0" name="object 9"/>
            <p:cNvSpPr/>
            <p:nvPr/>
          </p:nvSpPr>
          <p:spPr>
            <a:xfrm>
              <a:off x="5923722" y="3548063"/>
              <a:ext cx="1391920" cy="0"/>
            </a:xfrm>
            <a:custGeom>
              <a:avLst/>
              <a:gdLst/>
              <a:ahLst/>
              <a:cxnLst/>
              <a:rect l="l" t="t" r="r" b="b"/>
              <a:pathLst>
                <a:path w="1391920">
                  <a:moveTo>
                    <a:pt x="0" y="0"/>
                  </a:moveTo>
                  <a:lnTo>
                    <a:pt x="1391477" y="1"/>
                  </a:lnTo>
                </a:path>
              </a:pathLst>
            </a:custGeom>
            <a:ln w="9524">
              <a:solidFill>
                <a:srgbClr val="FFFFFF"/>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1" name="object 11"/>
            <p:cNvSpPr txBox="1"/>
            <p:nvPr/>
          </p:nvSpPr>
          <p:spPr>
            <a:xfrm>
              <a:off x="5573226" y="4990783"/>
              <a:ext cx="939800" cy="409923"/>
            </a:xfrm>
            <a:prstGeom prst="rect">
              <a:avLst/>
            </a:prstGeom>
          </p:spPr>
          <p:txBody>
            <a:bodyPr vert="horz" wrap="square" lIns="0" tIns="12700" rIns="0" bIns="0" rtlCol="0">
              <a:spAutoFit/>
            </a:bodyPr>
            <a:lstStyle/>
            <a:p>
              <a:pPr marL="12700">
                <a:lnSpc>
                  <a:spcPct val="100000"/>
                </a:lnSpc>
                <a:spcBef>
                  <a:spcPts val="100"/>
                </a:spcBef>
              </a:pPr>
              <a:r>
                <a:rPr sz="2400" b="1" spc="-10" dirty="0">
                  <a:latin typeface="微软雅黑" panose="020B0503020204020204" pitchFamily="34" charset="-122"/>
                  <a:ea typeface="微软雅黑" panose="020B0503020204020204" pitchFamily="34" charset="-122"/>
                  <a:cs typeface="黑体" panose="02010609060101010101" charset="-122"/>
                </a:rPr>
                <a:t>支撑杆</a:t>
              </a:r>
              <a:endParaRPr sz="2400" dirty="0">
                <a:latin typeface="微软雅黑" panose="020B0503020204020204" pitchFamily="34" charset="-122"/>
                <a:ea typeface="微软雅黑" panose="020B0503020204020204" pitchFamily="34" charset="-122"/>
                <a:cs typeface="黑体" panose="02010609060101010101" charset="-122"/>
              </a:endParaRPr>
            </a:p>
          </p:txBody>
        </p:sp>
        <p:sp>
          <p:nvSpPr>
            <p:cNvPr id="12" name="object 12"/>
            <p:cNvSpPr txBox="1"/>
            <p:nvPr/>
          </p:nvSpPr>
          <p:spPr>
            <a:xfrm>
              <a:off x="9832340" y="4990783"/>
              <a:ext cx="635000" cy="409923"/>
            </a:xfrm>
            <a:prstGeom prst="rect">
              <a:avLst/>
            </a:prstGeom>
          </p:spPr>
          <p:txBody>
            <a:bodyPr vert="horz" wrap="square" lIns="0" tIns="12700" rIns="0" bIns="0" rtlCol="0">
              <a:spAutoFit/>
            </a:bodyPr>
            <a:lstStyle/>
            <a:p>
              <a:pPr marL="12700">
                <a:lnSpc>
                  <a:spcPct val="100000"/>
                </a:lnSpc>
                <a:spcBef>
                  <a:spcPts val="100"/>
                </a:spcBef>
              </a:pPr>
              <a:r>
                <a:rPr sz="2400" b="1" spc="-10" dirty="0">
                  <a:latin typeface="微软雅黑" panose="020B0503020204020204" pitchFamily="34" charset="-122"/>
                  <a:ea typeface="微软雅黑" panose="020B0503020204020204" pitchFamily="34" charset="-122"/>
                  <a:cs typeface="黑体" panose="02010609060101010101" charset="-122"/>
                </a:rPr>
                <a:t>位置</a:t>
              </a:r>
              <a:endParaRPr sz="2400">
                <a:latin typeface="微软雅黑" panose="020B0503020204020204" pitchFamily="34" charset="-122"/>
                <a:ea typeface="微软雅黑" panose="020B0503020204020204" pitchFamily="34" charset="-122"/>
                <a:cs typeface="黑体" panose="02010609060101010101" charset="-122"/>
              </a:endParaRPr>
            </a:p>
          </p:txBody>
        </p:sp>
        <p:sp>
          <p:nvSpPr>
            <p:cNvPr id="13" name="object 13"/>
            <p:cNvSpPr/>
            <p:nvPr/>
          </p:nvSpPr>
          <p:spPr>
            <a:xfrm>
              <a:off x="2438400" y="5414963"/>
              <a:ext cx="1391920" cy="762000"/>
            </a:xfrm>
            <a:custGeom>
              <a:avLst/>
              <a:gdLst/>
              <a:ahLst/>
              <a:cxnLst/>
              <a:rect l="l" t="t" r="r" b="b"/>
              <a:pathLst>
                <a:path w="1391920" h="762000">
                  <a:moveTo>
                    <a:pt x="1264478" y="0"/>
                  </a:moveTo>
                  <a:lnTo>
                    <a:pt x="127000" y="0"/>
                  </a:lnTo>
                  <a:lnTo>
                    <a:pt x="77566" y="9980"/>
                  </a:lnTo>
                  <a:lnTo>
                    <a:pt x="37197" y="37197"/>
                  </a:lnTo>
                  <a:lnTo>
                    <a:pt x="9980" y="77566"/>
                  </a:lnTo>
                  <a:lnTo>
                    <a:pt x="0" y="127000"/>
                  </a:lnTo>
                  <a:lnTo>
                    <a:pt x="0" y="635000"/>
                  </a:lnTo>
                  <a:lnTo>
                    <a:pt x="9980" y="684434"/>
                  </a:lnTo>
                  <a:lnTo>
                    <a:pt x="37197" y="724802"/>
                  </a:lnTo>
                  <a:lnTo>
                    <a:pt x="77566" y="752019"/>
                  </a:lnTo>
                  <a:lnTo>
                    <a:pt x="127000" y="762000"/>
                  </a:lnTo>
                  <a:lnTo>
                    <a:pt x="1264478" y="762000"/>
                  </a:lnTo>
                  <a:lnTo>
                    <a:pt x="1313911" y="752019"/>
                  </a:lnTo>
                  <a:lnTo>
                    <a:pt x="1354280" y="724802"/>
                  </a:lnTo>
                  <a:lnTo>
                    <a:pt x="1381497" y="684434"/>
                  </a:lnTo>
                  <a:lnTo>
                    <a:pt x="1391478" y="635000"/>
                  </a:lnTo>
                  <a:lnTo>
                    <a:pt x="1391478" y="127000"/>
                  </a:lnTo>
                  <a:lnTo>
                    <a:pt x="1381497" y="77566"/>
                  </a:lnTo>
                  <a:lnTo>
                    <a:pt x="1354280" y="37197"/>
                  </a:lnTo>
                  <a:lnTo>
                    <a:pt x="1313911" y="9980"/>
                  </a:lnTo>
                  <a:lnTo>
                    <a:pt x="1264478" y="0"/>
                  </a:lnTo>
                  <a:close/>
                </a:path>
              </a:pathLst>
            </a:custGeom>
            <a:solidFill>
              <a:srgbClr val="FFD5A9"/>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4" name="object 14"/>
            <p:cNvSpPr/>
            <p:nvPr/>
          </p:nvSpPr>
          <p:spPr>
            <a:xfrm>
              <a:off x="2438400" y="5414963"/>
              <a:ext cx="1391920" cy="762000"/>
            </a:xfrm>
            <a:custGeom>
              <a:avLst/>
              <a:gdLst/>
              <a:ahLst/>
              <a:cxnLst/>
              <a:rect l="l" t="t" r="r" b="b"/>
              <a:pathLst>
                <a:path w="1391920" h="762000">
                  <a:moveTo>
                    <a:pt x="0" y="126999"/>
                  </a:moveTo>
                  <a:lnTo>
                    <a:pt x="9980" y="77565"/>
                  </a:lnTo>
                  <a:lnTo>
                    <a:pt x="37197" y="37197"/>
                  </a:lnTo>
                  <a:lnTo>
                    <a:pt x="77565" y="9980"/>
                  </a:lnTo>
                  <a:lnTo>
                    <a:pt x="126999" y="0"/>
                  </a:lnTo>
                  <a:lnTo>
                    <a:pt x="1264477" y="0"/>
                  </a:lnTo>
                  <a:lnTo>
                    <a:pt x="1313911" y="9980"/>
                  </a:lnTo>
                  <a:lnTo>
                    <a:pt x="1354280" y="37197"/>
                  </a:lnTo>
                  <a:lnTo>
                    <a:pt x="1381497" y="77565"/>
                  </a:lnTo>
                  <a:lnTo>
                    <a:pt x="1391477" y="126999"/>
                  </a:lnTo>
                  <a:lnTo>
                    <a:pt x="1391477" y="634999"/>
                  </a:lnTo>
                  <a:lnTo>
                    <a:pt x="1381497" y="684433"/>
                  </a:lnTo>
                  <a:lnTo>
                    <a:pt x="1354280" y="724802"/>
                  </a:lnTo>
                  <a:lnTo>
                    <a:pt x="1313911" y="752019"/>
                  </a:lnTo>
                  <a:lnTo>
                    <a:pt x="1264477" y="761999"/>
                  </a:lnTo>
                  <a:lnTo>
                    <a:pt x="126999" y="761999"/>
                  </a:lnTo>
                  <a:lnTo>
                    <a:pt x="77565" y="752019"/>
                  </a:lnTo>
                  <a:lnTo>
                    <a:pt x="37197" y="724802"/>
                  </a:lnTo>
                  <a:lnTo>
                    <a:pt x="9980" y="684433"/>
                  </a:lnTo>
                  <a:lnTo>
                    <a:pt x="0" y="634999"/>
                  </a:lnTo>
                  <a:lnTo>
                    <a:pt x="0" y="126999"/>
                  </a:lnTo>
                  <a:close/>
                </a:path>
              </a:pathLst>
            </a:custGeom>
            <a:ln w="9524">
              <a:solidFill>
                <a:srgbClr val="FF26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5" name="object 15"/>
            <p:cNvSpPr/>
            <p:nvPr/>
          </p:nvSpPr>
          <p:spPr>
            <a:xfrm>
              <a:off x="2438400" y="5700713"/>
              <a:ext cx="1391920" cy="0"/>
            </a:xfrm>
            <a:custGeom>
              <a:avLst/>
              <a:gdLst/>
              <a:ahLst/>
              <a:cxnLst/>
              <a:rect l="l" t="t" r="r" b="b"/>
              <a:pathLst>
                <a:path w="1391920">
                  <a:moveTo>
                    <a:pt x="0" y="0"/>
                  </a:moveTo>
                  <a:lnTo>
                    <a:pt x="1391477" y="0"/>
                  </a:lnTo>
                </a:path>
              </a:pathLst>
            </a:custGeom>
            <a:ln w="9524">
              <a:solidFill>
                <a:srgbClr val="FF26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6" name="object 16"/>
            <p:cNvSpPr/>
            <p:nvPr/>
          </p:nvSpPr>
          <p:spPr>
            <a:xfrm>
              <a:off x="2438400" y="6034088"/>
              <a:ext cx="1391920" cy="0"/>
            </a:xfrm>
            <a:custGeom>
              <a:avLst/>
              <a:gdLst/>
              <a:ahLst/>
              <a:cxnLst/>
              <a:rect l="l" t="t" r="r" b="b"/>
              <a:pathLst>
                <a:path w="1391920">
                  <a:moveTo>
                    <a:pt x="0" y="0"/>
                  </a:moveTo>
                  <a:lnTo>
                    <a:pt x="1391477" y="0"/>
                  </a:lnTo>
                </a:path>
              </a:pathLst>
            </a:custGeom>
            <a:ln w="9524">
              <a:solidFill>
                <a:srgbClr val="FF26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7" name="object 17"/>
            <p:cNvSpPr/>
            <p:nvPr/>
          </p:nvSpPr>
          <p:spPr>
            <a:xfrm>
              <a:off x="2540552" y="5510213"/>
              <a:ext cx="1391920" cy="666750"/>
            </a:xfrm>
            <a:custGeom>
              <a:avLst/>
              <a:gdLst/>
              <a:ahLst/>
              <a:cxnLst/>
              <a:rect l="l" t="t" r="r" b="b"/>
              <a:pathLst>
                <a:path w="1391920" h="666750">
                  <a:moveTo>
                    <a:pt x="1280353" y="0"/>
                  </a:moveTo>
                  <a:lnTo>
                    <a:pt x="111125" y="0"/>
                  </a:lnTo>
                  <a:lnTo>
                    <a:pt x="67870" y="8732"/>
                  </a:lnTo>
                  <a:lnTo>
                    <a:pt x="32547" y="32547"/>
                  </a:lnTo>
                  <a:lnTo>
                    <a:pt x="8732" y="67870"/>
                  </a:lnTo>
                  <a:lnTo>
                    <a:pt x="0" y="111125"/>
                  </a:lnTo>
                  <a:lnTo>
                    <a:pt x="0" y="555625"/>
                  </a:lnTo>
                  <a:lnTo>
                    <a:pt x="8732" y="598879"/>
                  </a:lnTo>
                  <a:lnTo>
                    <a:pt x="32547" y="634202"/>
                  </a:lnTo>
                  <a:lnTo>
                    <a:pt x="67870" y="658017"/>
                  </a:lnTo>
                  <a:lnTo>
                    <a:pt x="111125" y="666750"/>
                  </a:lnTo>
                  <a:lnTo>
                    <a:pt x="1280353" y="666750"/>
                  </a:lnTo>
                  <a:lnTo>
                    <a:pt x="1323607" y="658017"/>
                  </a:lnTo>
                  <a:lnTo>
                    <a:pt x="1358930" y="634202"/>
                  </a:lnTo>
                  <a:lnTo>
                    <a:pt x="1382745" y="598879"/>
                  </a:lnTo>
                  <a:lnTo>
                    <a:pt x="1391478" y="555625"/>
                  </a:lnTo>
                  <a:lnTo>
                    <a:pt x="1391478" y="111125"/>
                  </a:lnTo>
                  <a:lnTo>
                    <a:pt x="1382745" y="67870"/>
                  </a:lnTo>
                  <a:lnTo>
                    <a:pt x="1358930" y="32547"/>
                  </a:lnTo>
                  <a:lnTo>
                    <a:pt x="1323607" y="8732"/>
                  </a:lnTo>
                  <a:lnTo>
                    <a:pt x="1280353" y="0"/>
                  </a:lnTo>
                  <a:close/>
                </a:path>
              </a:pathLst>
            </a:custGeom>
            <a:solidFill>
              <a:srgbClr val="4180FF"/>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8" name="object 18"/>
            <p:cNvSpPr/>
            <p:nvPr/>
          </p:nvSpPr>
          <p:spPr>
            <a:xfrm>
              <a:off x="2540552" y="5510213"/>
              <a:ext cx="1391920" cy="666750"/>
            </a:xfrm>
            <a:custGeom>
              <a:avLst/>
              <a:gdLst/>
              <a:ahLst/>
              <a:cxnLst/>
              <a:rect l="l" t="t" r="r" b="b"/>
              <a:pathLst>
                <a:path w="1391920" h="666750">
                  <a:moveTo>
                    <a:pt x="0" y="111124"/>
                  </a:moveTo>
                  <a:lnTo>
                    <a:pt x="8732" y="67870"/>
                  </a:lnTo>
                  <a:lnTo>
                    <a:pt x="32547" y="32547"/>
                  </a:lnTo>
                  <a:lnTo>
                    <a:pt x="67870" y="8732"/>
                  </a:lnTo>
                  <a:lnTo>
                    <a:pt x="111124" y="0"/>
                  </a:lnTo>
                  <a:lnTo>
                    <a:pt x="1280352" y="0"/>
                  </a:lnTo>
                  <a:lnTo>
                    <a:pt x="1323607" y="8732"/>
                  </a:lnTo>
                  <a:lnTo>
                    <a:pt x="1358929" y="32547"/>
                  </a:lnTo>
                  <a:lnTo>
                    <a:pt x="1382744" y="67870"/>
                  </a:lnTo>
                  <a:lnTo>
                    <a:pt x="1391477" y="111124"/>
                  </a:lnTo>
                  <a:lnTo>
                    <a:pt x="1391477" y="555624"/>
                  </a:lnTo>
                  <a:lnTo>
                    <a:pt x="1382744" y="598879"/>
                  </a:lnTo>
                  <a:lnTo>
                    <a:pt x="1358929" y="634202"/>
                  </a:lnTo>
                  <a:lnTo>
                    <a:pt x="1323607" y="658017"/>
                  </a:lnTo>
                  <a:lnTo>
                    <a:pt x="1280352" y="666749"/>
                  </a:lnTo>
                  <a:lnTo>
                    <a:pt x="111124" y="666749"/>
                  </a:lnTo>
                  <a:lnTo>
                    <a:pt x="67870" y="658017"/>
                  </a:lnTo>
                  <a:lnTo>
                    <a:pt x="32547" y="634202"/>
                  </a:lnTo>
                  <a:lnTo>
                    <a:pt x="8732" y="598879"/>
                  </a:lnTo>
                  <a:lnTo>
                    <a:pt x="0" y="555624"/>
                  </a:lnTo>
                  <a:lnTo>
                    <a:pt x="0" y="111124"/>
                  </a:lnTo>
                  <a:close/>
                </a:path>
              </a:pathLst>
            </a:custGeom>
            <a:ln w="9524">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9" name="object 19"/>
            <p:cNvSpPr/>
            <p:nvPr/>
          </p:nvSpPr>
          <p:spPr>
            <a:xfrm>
              <a:off x="2540552" y="5700713"/>
              <a:ext cx="1391920" cy="0"/>
            </a:xfrm>
            <a:custGeom>
              <a:avLst/>
              <a:gdLst/>
              <a:ahLst/>
              <a:cxnLst/>
              <a:rect l="l" t="t" r="r" b="b"/>
              <a:pathLst>
                <a:path w="1391920">
                  <a:moveTo>
                    <a:pt x="0" y="0"/>
                  </a:moveTo>
                  <a:lnTo>
                    <a:pt x="1391477" y="0"/>
                  </a:lnTo>
                </a:path>
              </a:pathLst>
            </a:custGeom>
            <a:ln w="9524">
              <a:solidFill>
                <a:srgbClr val="FFFFFF"/>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0" name="object 20"/>
            <p:cNvSpPr/>
            <p:nvPr/>
          </p:nvSpPr>
          <p:spPr>
            <a:xfrm>
              <a:off x="2570922" y="5986463"/>
              <a:ext cx="1391920" cy="0"/>
            </a:xfrm>
            <a:custGeom>
              <a:avLst/>
              <a:gdLst/>
              <a:ahLst/>
              <a:cxnLst/>
              <a:rect l="l" t="t" r="r" b="b"/>
              <a:pathLst>
                <a:path w="1391920">
                  <a:moveTo>
                    <a:pt x="0" y="0"/>
                  </a:moveTo>
                  <a:lnTo>
                    <a:pt x="1391477" y="0"/>
                  </a:lnTo>
                </a:path>
              </a:pathLst>
            </a:custGeom>
            <a:ln w="9524">
              <a:solidFill>
                <a:srgbClr val="FFFFFF"/>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1" name="object 21"/>
            <p:cNvSpPr/>
            <p:nvPr/>
          </p:nvSpPr>
          <p:spPr>
            <a:xfrm>
              <a:off x="5892800" y="5414963"/>
              <a:ext cx="1391920" cy="762000"/>
            </a:xfrm>
            <a:custGeom>
              <a:avLst/>
              <a:gdLst/>
              <a:ahLst/>
              <a:cxnLst/>
              <a:rect l="l" t="t" r="r" b="b"/>
              <a:pathLst>
                <a:path w="1391920" h="762000">
                  <a:moveTo>
                    <a:pt x="1264478" y="0"/>
                  </a:moveTo>
                  <a:lnTo>
                    <a:pt x="127000" y="0"/>
                  </a:lnTo>
                  <a:lnTo>
                    <a:pt x="77565" y="9980"/>
                  </a:lnTo>
                  <a:lnTo>
                    <a:pt x="37197" y="37197"/>
                  </a:lnTo>
                  <a:lnTo>
                    <a:pt x="9980" y="77566"/>
                  </a:lnTo>
                  <a:lnTo>
                    <a:pt x="0" y="127000"/>
                  </a:lnTo>
                  <a:lnTo>
                    <a:pt x="0" y="635000"/>
                  </a:lnTo>
                  <a:lnTo>
                    <a:pt x="9980" y="684434"/>
                  </a:lnTo>
                  <a:lnTo>
                    <a:pt x="37197" y="724802"/>
                  </a:lnTo>
                  <a:lnTo>
                    <a:pt x="77565" y="752019"/>
                  </a:lnTo>
                  <a:lnTo>
                    <a:pt x="127000" y="762000"/>
                  </a:lnTo>
                  <a:lnTo>
                    <a:pt x="1264478" y="762000"/>
                  </a:lnTo>
                  <a:lnTo>
                    <a:pt x="1313911" y="752019"/>
                  </a:lnTo>
                  <a:lnTo>
                    <a:pt x="1354280" y="724802"/>
                  </a:lnTo>
                  <a:lnTo>
                    <a:pt x="1381497" y="684434"/>
                  </a:lnTo>
                  <a:lnTo>
                    <a:pt x="1391478" y="635000"/>
                  </a:lnTo>
                  <a:lnTo>
                    <a:pt x="1391478" y="127000"/>
                  </a:lnTo>
                  <a:lnTo>
                    <a:pt x="1381497" y="77566"/>
                  </a:lnTo>
                  <a:lnTo>
                    <a:pt x="1354280" y="37197"/>
                  </a:lnTo>
                  <a:lnTo>
                    <a:pt x="1313911" y="9980"/>
                  </a:lnTo>
                  <a:lnTo>
                    <a:pt x="1264478" y="0"/>
                  </a:lnTo>
                  <a:close/>
                </a:path>
              </a:pathLst>
            </a:custGeom>
            <a:solidFill>
              <a:srgbClr val="FFD5A9"/>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2" name="object 22"/>
            <p:cNvSpPr/>
            <p:nvPr/>
          </p:nvSpPr>
          <p:spPr>
            <a:xfrm>
              <a:off x="5892800" y="5414963"/>
              <a:ext cx="1391920" cy="762000"/>
            </a:xfrm>
            <a:custGeom>
              <a:avLst/>
              <a:gdLst/>
              <a:ahLst/>
              <a:cxnLst/>
              <a:rect l="l" t="t" r="r" b="b"/>
              <a:pathLst>
                <a:path w="1391920" h="762000">
                  <a:moveTo>
                    <a:pt x="0" y="126999"/>
                  </a:moveTo>
                  <a:lnTo>
                    <a:pt x="9980" y="77565"/>
                  </a:lnTo>
                  <a:lnTo>
                    <a:pt x="37197" y="37197"/>
                  </a:lnTo>
                  <a:lnTo>
                    <a:pt x="77565" y="9980"/>
                  </a:lnTo>
                  <a:lnTo>
                    <a:pt x="126999" y="0"/>
                  </a:lnTo>
                  <a:lnTo>
                    <a:pt x="1264477" y="0"/>
                  </a:lnTo>
                  <a:lnTo>
                    <a:pt x="1313911" y="9980"/>
                  </a:lnTo>
                  <a:lnTo>
                    <a:pt x="1354280" y="37197"/>
                  </a:lnTo>
                  <a:lnTo>
                    <a:pt x="1381497" y="77565"/>
                  </a:lnTo>
                  <a:lnTo>
                    <a:pt x="1391477" y="126999"/>
                  </a:lnTo>
                  <a:lnTo>
                    <a:pt x="1391477" y="634999"/>
                  </a:lnTo>
                  <a:lnTo>
                    <a:pt x="1381497" y="684433"/>
                  </a:lnTo>
                  <a:lnTo>
                    <a:pt x="1354280" y="724802"/>
                  </a:lnTo>
                  <a:lnTo>
                    <a:pt x="1313911" y="752019"/>
                  </a:lnTo>
                  <a:lnTo>
                    <a:pt x="1264477" y="761999"/>
                  </a:lnTo>
                  <a:lnTo>
                    <a:pt x="126999" y="761999"/>
                  </a:lnTo>
                  <a:lnTo>
                    <a:pt x="77565" y="752019"/>
                  </a:lnTo>
                  <a:lnTo>
                    <a:pt x="37197" y="724802"/>
                  </a:lnTo>
                  <a:lnTo>
                    <a:pt x="9980" y="684433"/>
                  </a:lnTo>
                  <a:lnTo>
                    <a:pt x="0" y="634999"/>
                  </a:lnTo>
                  <a:lnTo>
                    <a:pt x="0" y="126999"/>
                  </a:lnTo>
                  <a:close/>
                </a:path>
              </a:pathLst>
            </a:custGeom>
            <a:ln w="9524">
              <a:solidFill>
                <a:srgbClr val="FF26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3" name="object 23"/>
            <p:cNvSpPr/>
            <p:nvPr/>
          </p:nvSpPr>
          <p:spPr>
            <a:xfrm>
              <a:off x="5892800" y="5700713"/>
              <a:ext cx="1391920" cy="0"/>
            </a:xfrm>
            <a:custGeom>
              <a:avLst/>
              <a:gdLst/>
              <a:ahLst/>
              <a:cxnLst/>
              <a:rect l="l" t="t" r="r" b="b"/>
              <a:pathLst>
                <a:path w="1391920">
                  <a:moveTo>
                    <a:pt x="0" y="0"/>
                  </a:moveTo>
                  <a:lnTo>
                    <a:pt x="1391477" y="0"/>
                  </a:lnTo>
                </a:path>
              </a:pathLst>
            </a:custGeom>
            <a:ln w="9524">
              <a:solidFill>
                <a:srgbClr val="FF26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4" name="object 24"/>
            <p:cNvSpPr/>
            <p:nvPr/>
          </p:nvSpPr>
          <p:spPr>
            <a:xfrm>
              <a:off x="5892800" y="6034088"/>
              <a:ext cx="1391920" cy="0"/>
            </a:xfrm>
            <a:custGeom>
              <a:avLst/>
              <a:gdLst/>
              <a:ahLst/>
              <a:cxnLst/>
              <a:rect l="l" t="t" r="r" b="b"/>
              <a:pathLst>
                <a:path w="1391920">
                  <a:moveTo>
                    <a:pt x="0" y="0"/>
                  </a:moveTo>
                  <a:lnTo>
                    <a:pt x="1391477" y="0"/>
                  </a:lnTo>
                </a:path>
              </a:pathLst>
            </a:custGeom>
            <a:ln w="9524">
              <a:solidFill>
                <a:srgbClr val="FF26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5" name="object 25"/>
            <p:cNvSpPr/>
            <p:nvPr/>
          </p:nvSpPr>
          <p:spPr>
            <a:xfrm>
              <a:off x="5994952" y="5510213"/>
              <a:ext cx="1391920" cy="666750"/>
            </a:xfrm>
            <a:custGeom>
              <a:avLst/>
              <a:gdLst/>
              <a:ahLst/>
              <a:cxnLst/>
              <a:rect l="l" t="t" r="r" b="b"/>
              <a:pathLst>
                <a:path w="1391920" h="666750">
                  <a:moveTo>
                    <a:pt x="1280351" y="0"/>
                  </a:moveTo>
                  <a:lnTo>
                    <a:pt x="111125" y="0"/>
                  </a:lnTo>
                  <a:lnTo>
                    <a:pt x="67870" y="8732"/>
                  </a:lnTo>
                  <a:lnTo>
                    <a:pt x="32547" y="32547"/>
                  </a:lnTo>
                  <a:lnTo>
                    <a:pt x="8732" y="67870"/>
                  </a:lnTo>
                  <a:lnTo>
                    <a:pt x="0" y="111125"/>
                  </a:lnTo>
                  <a:lnTo>
                    <a:pt x="0" y="555625"/>
                  </a:lnTo>
                  <a:lnTo>
                    <a:pt x="8732" y="598879"/>
                  </a:lnTo>
                  <a:lnTo>
                    <a:pt x="32547" y="634202"/>
                  </a:lnTo>
                  <a:lnTo>
                    <a:pt x="67870" y="658017"/>
                  </a:lnTo>
                  <a:lnTo>
                    <a:pt x="111125" y="666750"/>
                  </a:lnTo>
                  <a:lnTo>
                    <a:pt x="1280351" y="666750"/>
                  </a:lnTo>
                  <a:lnTo>
                    <a:pt x="1323606" y="658017"/>
                  </a:lnTo>
                  <a:lnTo>
                    <a:pt x="1358929" y="634202"/>
                  </a:lnTo>
                  <a:lnTo>
                    <a:pt x="1382744" y="598879"/>
                  </a:lnTo>
                  <a:lnTo>
                    <a:pt x="1391476" y="555625"/>
                  </a:lnTo>
                  <a:lnTo>
                    <a:pt x="1391476" y="111125"/>
                  </a:lnTo>
                  <a:lnTo>
                    <a:pt x="1382744" y="67870"/>
                  </a:lnTo>
                  <a:lnTo>
                    <a:pt x="1358929" y="32547"/>
                  </a:lnTo>
                  <a:lnTo>
                    <a:pt x="1323606" y="8732"/>
                  </a:lnTo>
                  <a:lnTo>
                    <a:pt x="1280351" y="0"/>
                  </a:lnTo>
                  <a:close/>
                </a:path>
              </a:pathLst>
            </a:custGeom>
            <a:solidFill>
              <a:srgbClr val="4180FF"/>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6" name="object 26"/>
            <p:cNvSpPr/>
            <p:nvPr/>
          </p:nvSpPr>
          <p:spPr>
            <a:xfrm>
              <a:off x="5994952" y="5510213"/>
              <a:ext cx="1391920" cy="666750"/>
            </a:xfrm>
            <a:custGeom>
              <a:avLst/>
              <a:gdLst/>
              <a:ahLst/>
              <a:cxnLst/>
              <a:rect l="l" t="t" r="r" b="b"/>
              <a:pathLst>
                <a:path w="1391920" h="666750">
                  <a:moveTo>
                    <a:pt x="0" y="111124"/>
                  </a:moveTo>
                  <a:lnTo>
                    <a:pt x="8732" y="67870"/>
                  </a:lnTo>
                  <a:lnTo>
                    <a:pt x="32547" y="32547"/>
                  </a:lnTo>
                  <a:lnTo>
                    <a:pt x="67870" y="8732"/>
                  </a:lnTo>
                  <a:lnTo>
                    <a:pt x="111124" y="0"/>
                  </a:lnTo>
                  <a:lnTo>
                    <a:pt x="1280352" y="0"/>
                  </a:lnTo>
                  <a:lnTo>
                    <a:pt x="1323607" y="8732"/>
                  </a:lnTo>
                  <a:lnTo>
                    <a:pt x="1358929" y="32547"/>
                  </a:lnTo>
                  <a:lnTo>
                    <a:pt x="1382745" y="67870"/>
                  </a:lnTo>
                  <a:lnTo>
                    <a:pt x="1391477" y="111124"/>
                  </a:lnTo>
                  <a:lnTo>
                    <a:pt x="1391477" y="555624"/>
                  </a:lnTo>
                  <a:lnTo>
                    <a:pt x="1382745" y="598879"/>
                  </a:lnTo>
                  <a:lnTo>
                    <a:pt x="1358929" y="634202"/>
                  </a:lnTo>
                  <a:lnTo>
                    <a:pt x="1323607" y="658017"/>
                  </a:lnTo>
                  <a:lnTo>
                    <a:pt x="1280352" y="666749"/>
                  </a:lnTo>
                  <a:lnTo>
                    <a:pt x="111124" y="666749"/>
                  </a:lnTo>
                  <a:lnTo>
                    <a:pt x="67870" y="658017"/>
                  </a:lnTo>
                  <a:lnTo>
                    <a:pt x="32547" y="634202"/>
                  </a:lnTo>
                  <a:lnTo>
                    <a:pt x="8732" y="598879"/>
                  </a:lnTo>
                  <a:lnTo>
                    <a:pt x="0" y="555624"/>
                  </a:lnTo>
                  <a:lnTo>
                    <a:pt x="0" y="111124"/>
                  </a:lnTo>
                  <a:close/>
                </a:path>
              </a:pathLst>
            </a:custGeom>
            <a:ln w="9524">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7" name="object 27"/>
            <p:cNvSpPr/>
            <p:nvPr/>
          </p:nvSpPr>
          <p:spPr>
            <a:xfrm>
              <a:off x="5994952" y="5700713"/>
              <a:ext cx="1391920" cy="0"/>
            </a:xfrm>
            <a:custGeom>
              <a:avLst/>
              <a:gdLst/>
              <a:ahLst/>
              <a:cxnLst/>
              <a:rect l="l" t="t" r="r" b="b"/>
              <a:pathLst>
                <a:path w="1391920">
                  <a:moveTo>
                    <a:pt x="0" y="0"/>
                  </a:moveTo>
                  <a:lnTo>
                    <a:pt x="1391477" y="0"/>
                  </a:lnTo>
                </a:path>
              </a:pathLst>
            </a:custGeom>
            <a:ln w="9524">
              <a:solidFill>
                <a:srgbClr val="FFFFFF"/>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8" name="object 28"/>
            <p:cNvSpPr/>
            <p:nvPr/>
          </p:nvSpPr>
          <p:spPr>
            <a:xfrm>
              <a:off x="6025322" y="5986463"/>
              <a:ext cx="1391920" cy="0"/>
            </a:xfrm>
            <a:custGeom>
              <a:avLst/>
              <a:gdLst/>
              <a:ahLst/>
              <a:cxnLst/>
              <a:rect l="l" t="t" r="r" b="b"/>
              <a:pathLst>
                <a:path w="1391920">
                  <a:moveTo>
                    <a:pt x="0" y="0"/>
                  </a:moveTo>
                  <a:lnTo>
                    <a:pt x="1391477" y="0"/>
                  </a:lnTo>
                </a:path>
              </a:pathLst>
            </a:custGeom>
            <a:ln w="9524">
              <a:solidFill>
                <a:srgbClr val="FFFFFF"/>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9" name="object 29"/>
            <p:cNvSpPr/>
            <p:nvPr/>
          </p:nvSpPr>
          <p:spPr>
            <a:xfrm>
              <a:off x="9855198" y="5414963"/>
              <a:ext cx="1391920" cy="762000"/>
            </a:xfrm>
            <a:custGeom>
              <a:avLst/>
              <a:gdLst/>
              <a:ahLst/>
              <a:cxnLst/>
              <a:rect l="l" t="t" r="r" b="b"/>
              <a:pathLst>
                <a:path w="1391920" h="762000">
                  <a:moveTo>
                    <a:pt x="1264478" y="0"/>
                  </a:moveTo>
                  <a:lnTo>
                    <a:pt x="127000" y="0"/>
                  </a:lnTo>
                  <a:lnTo>
                    <a:pt x="77566" y="9980"/>
                  </a:lnTo>
                  <a:lnTo>
                    <a:pt x="37197" y="37197"/>
                  </a:lnTo>
                  <a:lnTo>
                    <a:pt x="9980" y="77566"/>
                  </a:lnTo>
                  <a:lnTo>
                    <a:pt x="0" y="127000"/>
                  </a:lnTo>
                  <a:lnTo>
                    <a:pt x="0" y="635000"/>
                  </a:lnTo>
                  <a:lnTo>
                    <a:pt x="9980" y="684434"/>
                  </a:lnTo>
                  <a:lnTo>
                    <a:pt x="37197" y="724802"/>
                  </a:lnTo>
                  <a:lnTo>
                    <a:pt x="77566" y="752019"/>
                  </a:lnTo>
                  <a:lnTo>
                    <a:pt x="127000" y="762000"/>
                  </a:lnTo>
                  <a:lnTo>
                    <a:pt x="1264478" y="762000"/>
                  </a:lnTo>
                  <a:lnTo>
                    <a:pt x="1313911" y="752019"/>
                  </a:lnTo>
                  <a:lnTo>
                    <a:pt x="1354280" y="724802"/>
                  </a:lnTo>
                  <a:lnTo>
                    <a:pt x="1381497" y="684434"/>
                  </a:lnTo>
                  <a:lnTo>
                    <a:pt x="1391478" y="635000"/>
                  </a:lnTo>
                  <a:lnTo>
                    <a:pt x="1391478" y="127000"/>
                  </a:lnTo>
                  <a:lnTo>
                    <a:pt x="1381497" y="77566"/>
                  </a:lnTo>
                  <a:lnTo>
                    <a:pt x="1354280" y="37197"/>
                  </a:lnTo>
                  <a:lnTo>
                    <a:pt x="1313911" y="9980"/>
                  </a:lnTo>
                  <a:lnTo>
                    <a:pt x="1264478" y="0"/>
                  </a:lnTo>
                  <a:close/>
                </a:path>
              </a:pathLst>
            </a:custGeom>
            <a:solidFill>
              <a:srgbClr val="FFD5A9"/>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0" name="object 30"/>
            <p:cNvSpPr/>
            <p:nvPr/>
          </p:nvSpPr>
          <p:spPr>
            <a:xfrm>
              <a:off x="9855199" y="5414963"/>
              <a:ext cx="1391920" cy="762000"/>
            </a:xfrm>
            <a:custGeom>
              <a:avLst/>
              <a:gdLst/>
              <a:ahLst/>
              <a:cxnLst/>
              <a:rect l="l" t="t" r="r" b="b"/>
              <a:pathLst>
                <a:path w="1391920" h="762000">
                  <a:moveTo>
                    <a:pt x="0" y="126999"/>
                  </a:moveTo>
                  <a:lnTo>
                    <a:pt x="9980" y="77565"/>
                  </a:lnTo>
                  <a:lnTo>
                    <a:pt x="37197" y="37197"/>
                  </a:lnTo>
                  <a:lnTo>
                    <a:pt x="77565" y="9980"/>
                  </a:lnTo>
                  <a:lnTo>
                    <a:pt x="126999" y="0"/>
                  </a:lnTo>
                  <a:lnTo>
                    <a:pt x="1264477" y="0"/>
                  </a:lnTo>
                  <a:lnTo>
                    <a:pt x="1313911" y="9980"/>
                  </a:lnTo>
                  <a:lnTo>
                    <a:pt x="1354279" y="37197"/>
                  </a:lnTo>
                  <a:lnTo>
                    <a:pt x="1381497" y="77565"/>
                  </a:lnTo>
                  <a:lnTo>
                    <a:pt x="1391477" y="126999"/>
                  </a:lnTo>
                  <a:lnTo>
                    <a:pt x="1391477" y="634999"/>
                  </a:lnTo>
                  <a:lnTo>
                    <a:pt x="1381497" y="684433"/>
                  </a:lnTo>
                  <a:lnTo>
                    <a:pt x="1354279" y="724802"/>
                  </a:lnTo>
                  <a:lnTo>
                    <a:pt x="1313911" y="752019"/>
                  </a:lnTo>
                  <a:lnTo>
                    <a:pt x="1264477" y="761999"/>
                  </a:lnTo>
                  <a:lnTo>
                    <a:pt x="126999" y="761999"/>
                  </a:lnTo>
                  <a:lnTo>
                    <a:pt x="77565" y="752019"/>
                  </a:lnTo>
                  <a:lnTo>
                    <a:pt x="37197" y="724802"/>
                  </a:lnTo>
                  <a:lnTo>
                    <a:pt x="9980" y="684433"/>
                  </a:lnTo>
                  <a:lnTo>
                    <a:pt x="0" y="634999"/>
                  </a:lnTo>
                  <a:lnTo>
                    <a:pt x="0" y="126999"/>
                  </a:lnTo>
                  <a:close/>
                </a:path>
              </a:pathLst>
            </a:custGeom>
            <a:ln w="9524">
              <a:solidFill>
                <a:srgbClr val="FF26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1" name="object 31"/>
            <p:cNvSpPr/>
            <p:nvPr/>
          </p:nvSpPr>
          <p:spPr>
            <a:xfrm>
              <a:off x="9855199" y="5700713"/>
              <a:ext cx="1391920" cy="0"/>
            </a:xfrm>
            <a:custGeom>
              <a:avLst/>
              <a:gdLst/>
              <a:ahLst/>
              <a:cxnLst/>
              <a:rect l="l" t="t" r="r" b="b"/>
              <a:pathLst>
                <a:path w="1391920">
                  <a:moveTo>
                    <a:pt x="0" y="0"/>
                  </a:moveTo>
                  <a:lnTo>
                    <a:pt x="1391477" y="0"/>
                  </a:lnTo>
                </a:path>
              </a:pathLst>
            </a:custGeom>
            <a:ln w="9524">
              <a:solidFill>
                <a:srgbClr val="FF26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2" name="object 32"/>
            <p:cNvSpPr/>
            <p:nvPr/>
          </p:nvSpPr>
          <p:spPr>
            <a:xfrm>
              <a:off x="9855199" y="6034088"/>
              <a:ext cx="1391920" cy="0"/>
            </a:xfrm>
            <a:custGeom>
              <a:avLst/>
              <a:gdLst/>
              <a:ahLst/>
              <a:cxnLst/>
              <a:rect l="l" t="t" r="r" b="b"/>
              <a:pathLst>
                <a:path w="1391920">
                  <a:moveTo>
                    <a:pt x="0" y="0"/>
                  </a:moveTo>
                  <a:lnTo>
                    <a:pt x="1391477" y="0"/>
                  </a:lnTo>
                </a:path>
              </a:pathLst>
            </a:custGeom>
            <a:ln w="9524">
              <a:solidFill>
                <a:srgbClr val="FF26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3" name="object 33"/>
            <p:cNvSpPr/>
            <p:nvPr/>
          </p:nvSpPr>
          <p:spPr>
            <a:xfrm>
              <a:off x="9957351" y="5510213"/>
              <a:ext cx="1391920" cy="666750"/>
            </a:xfrm>
            <a:custGeom>
              <a:avLst/>
              <a:gdLst/>
              <a:ahLst/>
              <a:cxnLst/>
              <a:rect l="l" t="t" r="r" b="b"/>
              <a:pathLst>
                <a:path w="1391920" h="666750">
                  <a:moveTo>
                    <a:pt x="1280353" y="0"/>
                  </a:moveTo>
                  <a:lnTo>
                    <a:pt x="111125" y="0"/>
                  </a:lnTo>
                  <a:lnTo>
                    <a:pt x="67870" y="8732"/>
                  </a:lnTo>
                  <a:lnTo>
                    <a:pt x="32547" y="32547"/>
                  </a:lnTo>
                  <a:lnTo>
                    <a:pt x="8732" y="67870"/>
                  </a:lnTo>
                  <a:lnTo>
                    <a:pt x="0" y="111125"/>
                  </a:lnTo>
                  <a:lnTo>
                    <a:pt x="0" y="555625"/>
                  </a:lnTo>
                  <a:lnTo>
                    <a:pt x="8732" y="598879"/>
                  </a:lnTo>
                  <a:lnTo>
                    <a:pt x="32547" y="634202"/>
                  </a:lnTo>
                  <a:lnTo>
                    <a:pt x="67870" y="658017"/>
                  </a:lnTo>
                  <a:lnTo>
                    <a:pt x="111125" y="666750"/>
                  </a:lnTo>
                  <a:lnTo>
                    <a:pt x="1280353" y="666750"/>
                  </a:lnTo>
                  <a:lnTo>
                    <a:pt x="1323607" y="658017"/>
                  </a:lnTo>
                  <a:lnTo>
                    <a:pt x="1358929" y="634202"/>
                  </a:lnTo>
                  <a:lnTo>
                    <a:pt x="1382745" y="598879"/>
                  </a:lnTo>
                  <a:lnTo>
                    <a:pt x="1391478" y="555625"/>
                  </a:lnTo>
                  <a:lnTo>
                    <a:pt x="1391478" y="111125"/>
                  </a:lnTo>
                  <a:lnTo>
                    <a:pt x="1382745" y="67870"/>
                  </a:lnTo>
                  <a:lnTo>
                    <a:pt x="1358929" y="32547"/>
                  </a:lnTo>
                  <a:lnTo>
                    <a:pt x="1323607" y="8732"/>
                  </a:lnTo>
                  <a:lnTo>
                    <a:pt x="1280353" y="0"/>
                  </a:lnTo>
                  <a:close/>
                </a:path>
              </a:pathLst>
            </a:custGeom>
            <a:solidFill>
              <a:srgbClr val="4180FF"/>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4" name="object 34"/>
            <p:cNvSpPr/>
            <p:nvPr/>
          </p:nvSpPr>
          <p:spPr>
            <a:xfrm>
              <a:off x="9957351" y="5510213"/>
              <a:ext cx="1391920" cy="666750"/>
            </a:xfrm>
            <a:custGeom>
              <a:avLst/>
              <a:gdLst/>
              <a:ahLst/>
              <a:cxnLst/>
              <a:rect l="l" t="t" r="r" b="b"/>
              <a:pathLst>
                <a:path w="1391920" h="666750">
                  <a:moveTo>
                    <a:pt x="0" y="111124"/>
                  </a:moveTo>
                  <a:lnTo>
                    <a:pt x="8732" y="67870"/>
                  </a:lnTo>
                  <a:lnTo>
                    <a:pt x="32547" y="32547"/>
                  </a:lnTo>
                  <a:lnTo>
                    <a:pt x="67869" y="8732"/>
                  </a:lnTo>
                  <a:lnTo>
                    <a:pt x="111124" y="0"/>
                  </a:lnTo>
                  <a:lnTo>
                    <a:pt x="1280352" y="0"/>
                  </a:lnTo>
                  <a:lnTo>
                    <a:pt x="1323607" y="8732"/>
                  </a:lnTo>
                  <a:lnTo>
                    <a:pt x="1358929" y="32547"/>
                  </a:lnTo>
                  <a:lnTo>
                    <a:pt x="1382744" y="67870"/>
                  </a:lnTo>
                  <a:lnTo>
                    <a:pt x="1391477" y="111124"/>
                  </a:lnTo>
                  <a:lnTo>
                    <a:pt x="1391477" y="555624"/>
                  </a:lnTo>
                  <a:lnTo>
                    <a:pt x="1382744" y="598879"/>
                  </a:lnTo>
                  <a:lnTo>
                    <a:pt x="1358929" y="634202"/>
                  </a:lnTo>
                  <a:lnTo>
                    <a:pt x="1323607" y="658017"/>
                  </a:lnTo>
                  <a:lnTo>
                    <a:pt x="1280352" y="666749"/>
                  </a:lnTo>
                  <a:lnTo>
                    <a:pt x="111124" y="666749"/>
                  </a:lnTo>
                  <a:lnTo>
                    <a:pt x="67869" y="658017"/>
                  </a:lnTo>
                  <a:lnTo>
                    <a:pt x="32547" y="634202"/>
                  </a:lnTo>
                  <a:lnTo>
                    <a:pt x="8732" y="598879"/>
                  </a:lnTo>
                  <a:lnTo>
                    <a:pt x="0" y="555624"/>
                  </a:lnTo>
                  <a:lnTo>
                    <a:pt x="0" y="111124"/>
                  </a:lnTo>
                  <a:close/>
                </a:path>
              </a:pathLst>
            </a:custGeom>
            <a:ln w="9524">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5" name="object 35"/>
            <p:cNvSpPr/>
            <p:nvPr/>
          </p:nvSpPr>
          <p:spPr>
            <a:xfrm>
              <a:off x="9957351" y="5700713"/>
              <a:ext cx="1391920" cy="0"/>
            </a:xfrm>
            <a:custGeom>
              <a:avLst/>
              <a:gdLst/>
              <a:ahLst/>
              <a:cxnLst/>
              <a:rect l="l" t="t" r="r" b="b"/>
              <a:pathLst>
                <a:path w="1391920">
                  <a:moveTo>
                    <a:pt x="0" y="0"/>
                  </a:moveTo>
                  <a:lnTo>
                    <a:pt x="1391477" y="0"/>
                  </a:lnTo>
                </a:path>
              </a:pathLst>
            </a:custGeom>
            <a:ln w="9524">
              <a:solidFill>
                <a:srgbClr val="FFFFFF"/>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6" name="object 36"/>
            <p:cNvSpPr/>
            <p:nvPr/>
          </p:nvSpPr>
          <p:spPr>
            <a:xfrm>
              <a:off x="9987722" y="5986463"/>
              <a:ext cx="1391920" cy="0"/>
            </a:xfrm>
            <a:custGeom>
              <a:avLst/>
              <a:gdLst/>
              <a:ahLst/>
              <a:cxnLst/>
              <a:rect l="l" t="t" r="r" b="b"/>
              <a:pathLst>
                <a:path w="1391920">
                  <a:moveTo>
                    <a:pt x="0" y="0"/>
                  </a:moveTo>
                  <a:lnTo>
                    <a:pt x="1391477" y="0"/>
                  </a:lnTo>
                </a:path>
              </a:pathLst>
            </a:custGeom>
            <a:ln w="9524">
              <a:solidFill>
                <a:srgbClr val="FFFFFF"/>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7" name="object 37"/>
            <p:cNvSpPr/>
            <p:nvPr/>
          </p:nvSpPr>
          <p:spPr>
            <a:xfrm>
              <a:off x="2844800" y="4957763"/>
              <a:ext cx="3251200" cy="0"/>
            </a:xfrm>
            <a:custGeom>
              <a:avLst/>
              <a:gdLst/>
              <a:ahLst/>
              <a:cxnLst/>
              <a:rect l="l" t="t" r="r" b="b"/>
              <a:pathLst>
                <a:path w="3251200">
                  <a:moveTo>
                    <a:pt x="0" y="0"/>
                  </a:moveTo>
                  <a:lnTo>
                    <a:pt x="3251199" y="0"/>
                  </a:lnTo>
                </a:path>
              </a:pathLst>
            </a:custGeom>
            <a:ln w="9524">
              <a:solidFill>
                <a:srgbClr val="55677D"/>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8" name="object 38"/>
            <p:cNvSpPr/>
            <p:nvPr/>
          </p:nvSpPr>
          <p:spPr>
            <a:xfrm>
              <a:off x="7010400" y="4957763"/>
              <a:ext cx="3556000" cy="0"/>
            </a:xfrm>
            <a:custGeom>
              <a:avLst/>
              <a:gdLst/>
              <a:ahLst/>
              <a:cxnLst/>
              <a:rect l="l" t="t" r="r" b="b"/>
              <a:pathLst>
                <a:path w="3556000">
                  <a:moveTo>
                    <a:pt x="0" y="0"/>
                  </a:moveTo>
                  <a:lnTo>
                    <a:pt x="3555999" y="0"/>
                  </a:lnTo>
                </a:path>
              </a:pathLst>
            </a:custGeom>
            <a:ln w="9524">
              <a:solidFill>
                <a:srgbClr val="55677D"/>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9" name="object 39"/>
            <p:cNvSpPr/>
            <p:nvPr/>
          </p:nvSpPr>
          <p:spPr>
            <a:xfrm>
              <a:off x="2844800" y="4957763"/>
              <a:ext cx="0" cy="533400"/>
            </a:xfrm>
            <a:custGeom>
              <a:avLst/>
              <a:gdLst/>
              <a:ahLst/>
              <a:cxnLst/>
              <a:rect l="l" t="t" r="r" b="b"/>
              <a:pathLst>
                <a:path h="533400">
                  <a:moveTo>
                    <a:pt x="0" y="0"/>
                  </a:moveTo>
                  <a:lnTo>
                    <a:pt x="0" y="533399"/>
                  </a:lnTo>
                </a:path>
              </a:pathLst>
            </a:custGeom>
            <a:ln w="9524">
              <a:solidFill>
                <a:srgbClr val="55677D"/>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0" name="object 40"/>
            <p:cNvSpPr txBox="1"/>
            <p:nvPr/>
          </p:nvSpPr>
          <p:spPr>
            <a:xfrm>
              <a:off x="2188850" y="4990783"/>
              <a:ext cx="635000" cy="409923"/>
            </a:xfrm>
            <a:prstGeom prst="rect">
              <a:avLst/>
            </a:prstGeom>
          </p:spPr>
          <p:txBody>
            <a:bodyPr vert="horz" wrap="square" lIns="0" tIns="12700" rIns="0" bIns="0" rtlCol="0">
              <a:spAutoFit/>
            </a:bodyPr>
            <a:lstStyle/>
            <a:p>
              <a:pPr marL="12700">
                <a:lnSpc>
                  <a:spcPct val="100000"/>
                </a:lnSpc>
                <a:spcBef>
                  <a:spcPts val="100"/>
                </a:spcBef>
              </a:pPr>
              <a:r>
                <a:rPr sz="2400" b="1" spc="-10" dirty="0">
                  <a:latin typeface="微软雅黑" panose="020B0503020204020204" pitchFamily="34" charset="-122"/>
                  <a:ea typeface="微软雅黑" panose="020B0503020204020204" pitchFamily="34" charset="-122"/>
                  <a:cs typeface="黑体" panose="02010609060101010101" charset="-122"/>
                </a:rPr>
                <a:t>灯组</a:t>
              </a:r>
              <a:endParaRPr sz="2400">
                <a:latin typeface="微软雅黑" panose="020B0503020204020204" pitchFamily="34" charset="-122"/>
                <a:ea typeface="微软雅黑" panose="020B0503020204020204" pitchFamily="34" charset="-122"/>
                <a:cs typeface="黑体" panose="02010609060101010101" charset="-122"/>
              </a:endParaRPr>
            </a:p>
          </p:txBody>
        </p:sp>
        <p:sp>
          <p:nvSpPr>
            <p:cNvPr id="41" name="object 41"/>
            <p:cNvSpPr/>
            <p:nvPr/>
          </p:nvSpPr>
          <p:spPr>
            <a:xfrm>
              <a:off x="6604000" y="3738563"/>
              <a:ext cx="0" cy="1752600"/>
            </a:xfrm>
            <a:custGeom>
              <a:avLst/>
              <a:gdLst/>
              <a:ahLst/>
              <a:cxnLst/>
              <a:rect l="l" t="t" r="r" b="b"/>
              <a:pathLst>
                <a:path h="1752600">
                  <a:moveTo>
                    <a:pt x="0" y="0"/>
                  </a:moveTo>
                  <a:lnTo>
                    <a:pt x="1" y="1752599"/>
                  </a:lnTo>
                </a:path>
              </a:pathLst>
            </a:custGeom>
            <a:ln w="9524">
              <a:solidFill>
                <a:srgbClr val="55677D"/>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2" name="object 42"/>
            <p:cNvSpPr/>
            <p:nvPr/>
          </p:nvSpPr>
          <p:spPr>
            <a:xfrm>
              <a:off x="10566400" y="4957763"/>
              <a:ext cx="0" cy="609600"/>
            </a:xfrm>
            <a:custGeom>
              <a:avLst/>
              <a:gdLst/>
              <a:ahLst/>
              <a:cxnLst/>
              <a:rect l="l" t="t" r="r" b="b"/>
              <a:pathLst>
                <a:path h="609600">
                  <a:moveTo>
                    <a:pt x="0" y="0"/>
                  </a:moveTo>
                  <a:lnTo>
                    <a:pt x="0" y="609599"/>
                  </a:lnTo>
                </a:path>
              </a:pathLst>
            </a:custGeom>
            <a:ln w="9524">
              <a:solidFill>
                <a:srgbClr val="55677D"/>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3" name="object 43"/>
            <p:cNvSpPr/>
            <p:nvPr/>
          </p:nvSpPr>
          <p:spPr>
            <a:xfrm>
              <a:off x="6096000" y="3738563"/>
              <a:ext cx="0" cy="1219200"/>
            </a:xfrm>
            <a:custGeom>
              <a:avLst/>
              <a:gdLst/>
              <a:ahLst/>
              <a:cxnLst/>
              <a:rect l="l" t="t" r="r" b="b"/>
              <a:pathLst>
                <a:path h="1219200">
                  <a:moveTo>
                    <a:pt x="0" y="1219199"/>
                  </a:moveTo>
                  <a:lnTo>
                    <a:pt x="1" y="0"/>
                  </a:lnTo>
                </a:path>
              </a:pathLst>
            </a:custGeom>
            <a:ln w="9524">
              <a:solidFill>
                <a:srgbClr val="55677D"/>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4" name="object 44"/>
            <p:cNvSpPr/>
            <p:nvPr/>
          </p:nvSpPr>
          <p:spPr>
            <a:xfrm>
              <a:off x="7010400" y="3738563"/>
              <a:ext cx="0" cy="1219200"/>
            </a:xfrm>
            <a:custGeom>
              <a:avLst/>
              <a:gdLst/>
              <a:ahLst/>
              <a:cxnLst/>
              <a:rect l="l" t="t" r="r" b="b"/>
              <a:pathLst>
                <a:path h="1219200">
                  <a:moveTo>
                    <a:pt x="0" y="1219199"/>
                  </a:moveTo>
                  <a:lnTo>
                    <a:pt x="1" y="0"/>
                  </a:lnTo>
                </a:path>
              </a:pathLst>
            </a:custGeom>
            <a:ln w="9524">
              <a:solidFill>
                <a:srgbClr val="55677D"/>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5" name="object 45"/>
            <p:cNvSpPr/>
            <p:nvPr/>
          </p:nvSpPr>
          <p:spPr>
            <a:xfrm>
              <a:off x="5791200" y="4195763"/>
              <a:ext cx="1727200" cy="381000"/>
            </a:xfrm>
            <a:custGeom>
              <a:avLst/>
              <a:gdLst/>
              <a:ahLst/>
              <a:cxnLst/>
              <a:rect l="l" t="t" r="r" b="b"/>
              <a:pathLst>
                <a:path w="1727200" h="381000">
                  <a:moveTo>
                    <a:pt x="863600" y="0"/>
                  </a:moveTo>
                  <a:lnTo>
                    <a:pt x="0" y="381000"/>
                  </a:lnTo>
                  <a:lnTo>
                    <a:pt x="1727198" y="381000"/>
                  </a:lnTo>
                  <a:lnTo>
                    <a:pt x="863600" y="0"/>
                  </a:lnTo>
                  <a:close/>
                </a:path>
              </a:pathLst>
            </a:custGeom>
            <a:solidFill>
              <a:srgbClr val="3DA779"/>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6" name="object 46"/>
            <p:cNvSpPr/>
            <p:nvPr/>
          </p:nvSpPr>
          <p:spPr>
            <a:xfrm>
              <a:off x="5791200" y="4195763"/>
              <a:ext cx="1727200" cy="381000"/>
            </a:xfrm>
            <a:custGeom>
              <a:avLst/>
              <a:gdLst/>
              <a:ahLst/>
              <a:cxnLst/>
              <a:rect l="l" t="t" r="r" b="b"/>
              <a:pathLst>
                <a:path w="1727200" h="381000">
                  <a:moveTo>
                    <a:pt x="0" y="381000"/>
                  </a:moveTo>
                  <a:lnTo>
                    <a:pt x="863599" y="0"/>
                  </a:lnTo>
                  <a:lnTo>
                    <a:pt x="1727199" y="381000"/>
                  </a:lnTo>
                  <a:lnTo>
                    <a:pt x="0" y="381000"/>
                  </a:lnTo>
                  <a:close/>
                </a:path>
              </a:pathLst>
            </a:custGeom>
            <a:ln w="9524">
              <a:solidFill>
                <a:srgbClr val="55677D"/>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7" name="object 47"/>
            <p:cNvSpPr/>
            <p:nvPr/>
          </p:nvSpPr>
          <p:spPr>
            <a:xfrm>
              <a:off x="7654727" y="2831927"/>
              <a:ext cx="1511298" cy="1892298"/>
            </a:xfrm>
            <a:prstGeom prst="rect">
              <a:avLst/>
            </a:prstGeom>
            <a:blipFill>
              <a:blip r:embed="rId1"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grpSp>
      <p:sp>
        <p:nvSpPr>
          <p:cNvPr id="49" name="object 11"/>
          <p:cNvSpPr txBox="1"/>
          <p:nvPr/>
        </p:nvSpPr>
        <p:spPr>
          <a:xfrm>
            <a:off x="4289746" y="3432999"/>
            <a:ext cx="939800" cy="382156"/>
          </a:xfrm>
          <a:prstGeom prst="rect">
            <a:avLst/>
          </a:prstGeom>
        </p:spPr>
        <p:txBody>
          <a:bodyPr vert="horz" wrap="square" lIns="0" tIns="12700" rIns="0" bIns="0" rtlCol="0">
            <a:spAutoFit/>
          </a:bodyPr>
          <a:lstStyle/>
          <a:p>
            <a:pPr marL="12700">
              <a:lnSpc>
                <a:spcPct val="100000"/>
              </a:lnSpc>
              <a:spcBef>
                <a:spcPts val="100"/>
              </a:spcBef>
            </a:pPr>
            <a:r>
              <a:rPr lang="zh-CN" altLang="en-US" sz="2400" b="1" spc="-10" dirty="0">
                <a:latin typeface="微软雅黑" panose="020B0503020204020204" pitchFamily="34" charset="-122"/>
                <a:ea typeface="微软雅黑" panose="020B0503020204020204" pitchFamily="34" charset="-122"/>
              </a:rPr>
              <a:t>交通灯</a:t>
            </a:r>
            <a:endParaRPr sz="2400" b="1" spc="-1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7257"/>
    </mc:Choice>
    <mc:Fallback>
      <p:transition spd="slow" advTm="37257"/>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5" dirty="0">
                <a:cs typeface="黑体" panose="02010609060101010101" charset="-122"/>
              </a:rPr>
              <a:t>对象建模原则</a:t>
            </a:r>
            <a:r>
              <a:rPr lang="en-US" altLang="zh-CN" spc="-15" dirty="0">
                <a:cs typeface="黑体" panose="02010609060101010101" charset="-122"/>
              </a:rPr>
              <a:t>3</a:t>
            </a:r>
            <a:r>
              <a:rPr lang="zh-CN" altLang="en-US" spc="-15" dirty="0">
                <a:cs typeface="黑体" panose="02010609060101010101" charset="-122"/>
              </a:rPr>
              <a:t>：投影</a:t>
            </a:r>
            <a:endParaRPr lang="zh-CN" altLang="en-US" dirty="0"/>
          </a:p>
        </p:txBody>
      </p:sp>
      <p:sp>
        <p:nvSpPr>
          <p:cNvPr id="3" name="内容占位符 2"/>
          <p:cNvSpPr>
            <a:spLocks noGrp="1"/>
          </p:cNvSpPr>
          <p:nvPr>
            <p:ph idx="1"/>
          </p:nvPr>
        </p:nvSpPr>
        <p:spPr>
          <a:xfrm>
            <a:off x="512380" y="1690688"/>
            <a:ext cx="6004033" cy="4351338"/>
          </a:xfrm>
        </p:spPr>
        <p:txBody>
          <a:bodyPr>
            <a:normAutofit/>
          </a:bodyPr>
          <a:lstStyle/>
          <a:p>
            <a:pPr marL="241300">
              <a:lnSpc>
                <a:spcPct val="100000"/>
              </a:lnSpc>
              <a:spcBef>
                <a:spcPts val="940"/>
              </a:spcBef>
              <a:buFont typeface="Arial" panose="020B0604020202020204"/>
              <a:buChar char="•"/>
              <a:tabLst>
                <a:tab pos="240665" algn="l"/>
                <a:tab pos="241300" algn="l"/>
              </a:tabLst>
            </a:pPr>
            <a:r>
              <a:rPr lang="zh-CN" altLang="en-US" sz="2400" dirty="0">
                <a:cs typeface="黑体" panose="02010609060101010101" charset="-122"/>
              </a:rPr>
              <a:t>投影</a:t>
            </a:r>
            <a:r>
              <a:rPr lang="en-US" altLang="zh-CN" sz="2400" dirty="0">
                <a:cs typeface="黑体" panose="02010609060101010101" charset="-122"/>
              </a:rPr>
              <a:t>:</a:t>
            </a:r>
            <a:endParaRPr lang="en-US" altLang="zh-CN" sz="2400" dirty="0">
              <a:cs typeface="黑体" panose="02010609060101010101" charset="-122"/>
            </a:endParaRPr>
          </a:p>
          <a:p>
            <a:pPr marL="698500" lvl="1">
              <a:lnSpc>
                <a:spcPct val="100000"/>
              </a:lnSpc>
              <a:spcBef>
                <a:spcPts val="840"/>
              </a:spcBef>
              <a:buFont typeface="Arial" panose="020B0604020202020204"/>
              <a:buChar char="•"/>
              <a:tabLst>
                <a:tab pos="697865" algn="l"/>
                <a:tab pos="698500" algn="l"/>
              </a:tabLst>
            </a:pPr>
            <a:r>
              <a:rPr lang="zh-CN" altLang="en-US" b="1" spc="-10" dirty="0">
                <a:solidFill>
                  <a:srgbClr val="800000"/>
                </a:solidFill>
                <a:cs typeface="黑体" panose="02010609060101010101" charset="-122"/>
              </a:rPr>
              <a:t>从多个视角分别建模问题的不同方面</a:t>
            </a:r>
            <a:endParaRPr lang="zh-CN" altLang="en-US" dirty="0">
              <a:cs typeface="黑体" panose="02010609060101010101" charset="-122"/>
            </a:endParaRPr>
          </a:p>
          <a:p>
            <a:pPr marL="1155700" lvl="2">
              <a:lnSpc>
                <a:spcPct val="100000"/>
              </a:lnSpc>
              <a:spcBef>
                <a:spcPts val="940"/>
              </a:spcBef>
              <a:buFont typeface="Arial" panose="020B0604020202020204"/>
              <a:buChar char="•"/>
              <a:tabLst>
                <a:tab pos="1155065" algn="l"/>
                <a:tab pos="1155700" algn="l"/>
              </a:tabLst>
            </a:pPr>
            <a:r>
              <a:rPr lang="zh-CN" altLang="en-US" sz="2400" dirty="0">
                <a:cs typeface="黑体" panose="02010609060101010101" charset="-122"/>
              </a:rPr>
              <a:t>一如建筑施工中的不同视角的图纸</a:t>
            </a:r>
            <a:endParaRPr lang="en-US" altLang="zh-CN" sz="2400" dirty="0">
              <a:cs typeface="黑体" panose="02010609060101010101" charset="-122"/>
            </a:endParaRPr>
          </a:p>
          <a:p>
            <a:pPr marL="1155700" lvl="2">
              <a:lnSpc>
                <a:spcPct val="100000"/>
              </a:lnSpc>
              <a:spcBef>
                <a:spcPts val="940"/>
              </a:spcBef>
              <a:buFont typeface="Arial" panose="020B0604020202020204"/>
              <a:buChar char="•"/>
              <a:tabLst>
                <a:tab pos="1155065" algn="l"/>
                <a:tab pos="1155700" algn="l"/>
              </a:tabLst>
            </a:pPr>
            <a:endParaRPr lang="zh-CN" altLang="en-US" sz="2400" dirty="0">
              <a:cs typeface="黑体" panose="02010609060101010101" charset="-122"/>
            </a:endParaRPr>
          </a:p>
          <a:p>
            <a:pPr marL="241300">
              <a:lnSpc>
                <a:spcPct val="100000"/>
              </a:lnSpc>
              <a:spcBef>
                <a:spcPts val="1440"/>
              </a:spcBef>
              <a:buFont typeface="Arial" panose="020B0604020202020204"/>
              <a:buChar char="•"/>
              <a:tabLst>
                <a:tab pos="240665" algn="l"/>
                <a:tab pos="241300" algn="l"/>
              </a:tabLst>
            </a:pPr>
            <a:r>
              <a:rPr lang="zh-CN" altLang="en-US" sz="2400" dirty="0">
                <a:cs typeface="黑体" panose="02010609060101010101" charset="-122"/>
              </a:rPr>
              <a:t>例如</a:t>
            </a:r>
            <a:r>
              <a:rPr lang="en-US" altLang="zh-CN" sz="2400" dirty="0">
                <a:cs typeface="黑体" panose="02010609060101010101" charset="-122"/>
              </a:rPr>
              <a:t>:</a:t>
            </a:r>
            <a:endParaRPr lang="en-US" altLang="zh-CN" sz="2400" dirty="0">
              <a:cs typeface="黑体" panose="02010609060101010101" charset="-122"/>
            </a:endParaRPr>
          </a:p>
          <a:p>
            <a:pPr marL="698500" lvl="1">
              <a:lnSpc>
                <a:spcPct val="100000"/>
              </a:lnSpc>
              <a:spcBef>
                <a:spcPts val="940"/>
              </a:spcBef>
              <a:buFont typeface="Arial" panose="020B0604020202020204"/>
              <a:buChar char="•"/>
              <a:tabLst>
                <a:tab pos="697865" algn="l"/>
                <a:tab pos="698500" algn="l"/>
              </a:tabLst>
            </a:pPr>
            <a:r>
              <a:rPr lang="zh-CN" altLang="en-US" b="1" spc="-10" dirty="0">
                <a:solidFill>
                  <a:srgbClr val="800000"/>
                </a:solidFill>
                <a:cs typeface="黑体" panose="02010609060101010101" charset="-122"/>
              </a:rPr>
              <a:t>需要进行飞行器需求建模</a:t>
            </a:r>
            <a:endParaRPr lang="zh-CN" altLang="en-US" dirty="0">
              <a:cs typeface="黑体" panose="02010609060101010101" charset="-122"/>
            </a:endParaRPr>
          </a:p>
          <a:p>
            <a:pPr marL="698500" lvl="1">
              <a:lnSpc>
                <a:spcPct val="100000"/>
              </a:lnSpc>
              <a:spcBef>
                <a:spcPts val="940"/>
              </a:spcBef>
              <a:buFont typeface="Arial" panose="020B0604020202020204"/>
              <a:buChar char="•"/>
              <a:tabLst>
                <a:tab pos="697865" algn="l"/>
                <a:tab pos="698500" algn="l"/>
              </a:tabLst>
            </a:pPr>
            <a:r>
              <a:rPr lang="zh-CN" altLang="en-US" b="1" spc="-10" dirty="0">
                <a:solidFill>
                  <a:srgbClr val="800000"/>
                </a:solidFill>
                <a:cs typeface="黑体" panose="02010609060101010101" charset="-122"/>
              </a:rPr>
              <a:t>投影建议分别建模</a:t>
            </a:r>
            <a:r>
              <a:rPr lang="en-US" altLang="zh-CN" b="1" spc="-10" dirty="0">
                <a:solidFill>
                  <a:srgbClr val="941100"/>
                </a:solidFill>
                <a:cs typeface="黑体" panose="02010609060101010101" charset="-122"/>
              </a:rPr>
              <a:t>:</a:t>
            </a:r>
            <a:endParaRPr lang="zh-CN" altLang="en-US" dirty="0">
              <a:cs typeface="黑体" panose="02010609060101010101" charset="-122"/>
            </a:endParaRPr>
          </a:p>
          <a:p>
            <a:pPr marL="1155700" lvl="2">
              <a:lnSpc>
                <a:spcPct val="100000"/>
              </a:lnSpc>
              <a:spcBef>
                <a:spcPts val="940"/>
              </a:spcBef>
              <a:buFont typeface="Arial" panose="020B0604020202020204"/>
              <a:buChar char="•"/>
              <a:tabLst>
                <a:tab pos="1155065" algn="l"/>
                <a:tab pos="1155700" algn="l"/>
              </a:tabLst>
            </a:pPr>
            <a:r>
              <a:rPr lang="zh-CN" altLang="en-US" sz="2400" dirty="0">
                <a:cs typeface="黑体" panose="02010609060101010101" charset="-122"/>
              </a:rPr>
              <a:t>安全性、容错性、实时性</a:t>
            </a:r>
            <a:r>
              <a:rPr lang="zh-CN" altLang="en-US" sz="2400" spc="-20" dirty="0">
                <a:cs typeface="黑体" panose="02010609060101010101" charset="-122"/>
              </a:rPr>
              <a:t> </a:t>
            </a:r>
            <a:r>
              <a:rPr lang="en-US" altLang="zh-CN" sz="2400" dirty="0">
                <a:cs typeface="黑体" panose="02010609060101010101" charset="-122"/>
              </a:rPr>
              <a:t>…</a:t>
            </a:r>
            <a:endParaRPr lang="en-US" altLang="zh-CN" sz="2400" dirty="0">
              <a:cs typeface="黑体" panose="02010609060101010101" charset="-122"/>
            </a:endParaRPr>
          </a:p>
          <a:p>
            <a:pPr marL="698500" lvl="1">
              <a:lnSpc>
                <a:spcPct val="100000"/>
              </a:lnSpc>
              <a:spcBef>
                <a:spcPts val="940"/>
              </a:spcBef>
              <a:buFont typeface="Arial" panose="020B0604020202020204"/>
              <a:buChar char="•"/>
              <a:tabLst>
                <a:tab pos="697865" algn="l"/>
                <a:tab pos="698500" algn="l"/>
              </a:tabLst>
            </a:pPr>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latin typeface="微软雅黑" panose="020B0503020204020204" pitchFamily="34" charset="-122"/>
                <a:ea typeface="微软雅黑" panose="020B0503020204020204" pitchFamily="34" charset="-122"/>
              </a:rPr>
            </a:fld>
            <a:endParaRPr lang="zh-CN" altLang="en-US">
              <a:latin typeface="微软雅黑" panose="020B0503020204020204" pitchFamily="34" charset="-122"/>
              <a:ea typeface="微软雅黑" panose="020B0503020204020204" pitchFamily="34" charset="-122"/>
            </a:endParaRPr>
          </a:p>
        </p:txBody>
      </p:sp>
      <p:sp>
        <p:nvSpPr>
          <p:cNvPr id="6" name="矩形 5"/>
          <p:cNvSpPr/>
          <p:nvPr/>
        </p:nvSpPr>
        <p:spPr>
          <a:xfrm>
            <a:off x="6096000" y="3866357"/>
            <a:ext cx="6096000" cy="2400657"/>
          </a:xfrm>
          <a:prstGeom prst="rect">
            <a:avLst/>
          </a:prstGeom>
        </p:spPr>
        <p:txBody>
          <a:bodyPr>
            <a:spAutoFit/>
          </a:bodyPr>
          <a:lstStyle/>
          <a:p>
            <a:pPr marL="241300" lvl="0" indent="-228600">
              <a:spcBef>
                <a:spcPts val="1440"/>
              </a:spcBef>
              <a:buFont typeface="Arial" panose="020B0604020202020204"/>
              <a:buChar char="•"/>
              <a:tabLst>
                <a:tab pos="240665" algn="l"/>
                <a:tab pos="241300" algn="l"/>
              </a:tabLst>
            </a:pPr>
            <a:r>
              <a:rPr lang="zh-CN" altLang="en-US" sz="2400" dirty="0">
                <a:solidFill>
                  <a:prstClr val="black"/>
                </a:solidFill>
                <a:latin typeface="微软雅黑" panose="020B0503020204020204" pitchFamily="34" charset="-122"/>
                <a:ea typeface="微软雅黑" panose="020B0503020204020204" pitchFamily="34" charset="-122"/>
                <a:cs typeface="黑体" panose="02010609060101010101" charset="-122"/>
              </a:rPr>
              <a:t>注意</a:t>
            </a:r>
            <a:r>
              <a:rPr lang="en-US" altLang="zh-CN" sz="2400" dirty="0">
                <a:solidFill>
                  <a:prstClr val="black"/>
                </a:solidFill>
                <a:latin typeface="微软雅黑" panose="020B0503020204020204" pitchFamily="34" charset="-122"/>
                <a:ea typeface="微软雅黑" panose="020B0503020204020204" pitchFamily="34" charset="-122"/>
                <a:cs typeface="黑体" panose="02010609060101010101" charset="-122"/>
              </a:rPr>
              <a:t>:</a:t>
            </a:r>
            <a:endParaRPr lang="en-US" altLang="zh-CN" sz="2400" dirty="0">
              <a:solidFill>
                <a:prstClr val="black"/>
              </a:solidFill>
              <a:latin typeface="微软雅黑" panose="020B0503020204020204" pitchFamily="34" charset="-122"/>
              <a:ea typeface="微软雅黑" panose="020B0503020204020204" pitchFamily="34" charset="-122"/>
              <a:cs typeface="黑体" panose="02010609060101010101" charset="-122"/>
            </a:endParaRPr>
          </a:p>
          <a:p>
            <a:pPr marL="698500" lvl="1" indent="-228600">
              <a:spcBef>
                <a:spcPts val="940"/>
              </a:spcBef>
              <a:buFont typeface="Arial" panose="020B0604020202020204"/>
              <a:buChar char="•"/>
              <a:tabLst>
                <a:tab pos="697865" algn="l"/>
                <a:tab pos="698500" algn="l"/>
              </a:tabLst>
            </a:pPr>
            <a:r>
              <a:rPr lang="zh-CN" altLang="en-US" sz="2400" b="1" spc="-10" dirty="0">
                <a:solidFill>
                  <a:srgbClr val="800000"/>
                </a:solidFill>
                <a:latin typeface="微软雅黑" panose="020B0503020204020204" pitchFamily="34" charset="-122"/>
                <a:ea typeface="微软雅黑" panose="020B0503020204020204" pitchFamily="34" charset="-122"/>
              </a:rPr>
              <a:t>投影和分解有共同点</a:t>
            </a:r>
            <a:r>
              <a:rPr lang="en-US" altLang="zh-CN" sz="2400" b="1" spc="-10" dirty="0">
                <a:solidFill>
                  <a:srgbClr val="800000"/>
                </a:solidFill>
                <a:latin typeface="微软雅黑" panose="020B0503020204020204" pitchFamily="34" charset="-122"/>
                <a:ea typeface="微软雅黑" panose="020B0503020204020204" pitchFamily="34" charset="-122"/>
              </a:rPr>
              <a:t>:</a:t>
            </a:r>
            <a:endParaRPr lang="en-US" altLang="zh-CN" sz="2400" b="1" spc="-10" dirty="0">
              <a:solidFill>
                <a:srgbClr val="800000"/>
              </a:solidFill>
              <a:latin typeface="微软雅黑" panose="020B0503020204020204" pitchFamily="34" charset="-122"/>
              <a:ea typeface="微软雅黑" panose="020B0503020204020204" pitchFamily="34" charset="-122"/>
            </a:endParaRPr>
          </a:p>
          <a:p>
            <a:pPr marL="698500" lvl="1" indent="-228600">
              <a:spcBef>
                <a:spcPts val="940"/>
              </a:spcBef>
              <a:buFont typeface="Arial" panose="020B0604020202020204"/>
              <a:buChar char="•"/>
              <a:tabLst>
                <a:tab pos="697865" algn="l"/>
                <a:tab pos="698500" algn="l"/>
              </a:tabLst>
            </a:pPr>
            <a:r>
              <a:rPr lang="zh-CN" altLang="en-US" sz="2400" spc="-10" dirty="0">
                <a:solidFill>
                  <a:prstClr val="black"/>
                </a:solidFill>
                <a:latin typeface="微软雅黑" panose="020B0503020204020204" pitchFamily="34" charset="-122"/>
                <a:ea typeface="微软雅黑" panose="020B0503020204020204" pitchFamily="34" charset="-122"/>
              </a:rPr>
              <a:t>分解定义整体</a:t>
            </a:r>
            <a:r>
              <a:rPr lang="en-US" altLang="zh-CN" sz="2400" spc="-10" dirty="0">
                <a:solidFill>
                  <a:prstClr val="black"/>
                </a:solidFill>
                <a:latin typeface="微软雅黑" panose="020B0503020204020204" pitchFamily="34" charset="-122"/>
                <a:ea typeface="微软雅黑" panose="020B0503020204020204" pitchFamily="34" charset="-122"/>
              </a:rPr>
              <a:t>-</a:t>
            </a:r>
            <a:r>
              <a:rPr lang="zh-CN" altLang="en-US" sz="2400" spc="-10" dirty="0">
                <a:solidFill>
                  <a:prstClr val="black"/>
                </a:solidFill>
                <a:latin typeface="微软雅黑" panose="020B0503020204020204" pitchFamily="34" charset="-122"/>
                <a:ea typeface="微软雅黑" panose="020B0503020204020204" pitchFamily="34" charset="-122"/>
              </a:rPr>
              <a:t>部分关系</a:t>
            </a:r>
            <a:endParaRPr lang="zh-CN" altLang="en-US" sz="2400" spc="-10" dirty="0">
              <a:solidFill>
                <a:prstClr val="black"/>
              </a:solidFill>
              <a:latin typeface="微软雅黑" panose="020B0503020204020204" pitchFamily="34" charset="-122"/>
              <a:ea typeface="微软雅黑" panose="020B0503020204020204" pitchFamily="34" charset="-122"/>
            </a:endParaRPr>
          </a:p>
          <a:p>
            <a:pPr marL="698500" lvl="1" indent="-228600">
              <a:spcBef>
                <a:spcPts val="940"/>
              </a:spcBef>
              <a:buFont typeface="Arial" panose="020B0604020202020204"/>
              <a:buChar char="•"/>
              <a:tabLst>
                <a:tab pos="697865" algn="l"/>
                <a:tab pos="698500" algn="l"/>
              </a:tabLst>
            </a:pPr>
            <a:r>
              <a:rPr lang="zh-CN" altLang="en-US" sz="2400" spc="-10" dirty="0">
                <a:solidFill>
                  <a:prstClr val="black"/>
                </a:solidFill>
                <a:latin typeface="微软雅黑" panose="020B0503020204020204" pitchFamily="34" charset="-122"/>
                <a:ea typeface="微软雅黑" panose="020B0503020204020204" pitchFamily="34" charset="-122"/>
              </a:rPr>
              <a:t>投影定义视图</a:t>
            </a:r>
            <a:endParaRPr lang="zh-CN" altLang="en-US" sz="2400" spc="-10" dirty="0">
              <a:solidFill>
                <a:prstClr val="black"/>
              </a:solidFill>
              <a:latin typeface="微软雅黑" panose="020B0503020204020204" pitchFamily="34" charset="-122"/>
              <a:ea typeface="微软雅黑" panose="020B0503020204020204" pitchFamily="34" charset="-122"/>
            </a:endParaRPr>
          </a:p>
          <a:p>
            <a:pPr marL="698500" lvl="1" indent="-228600">
              <a:spcBef>
                <a:spcPts val="940"/>
              </a:spcBef>
              <a:buFont typeface="Arial" panose="020B0604020202020204"/>
              <a:buChar char="•"/>
              <a:tabLst>
                <a:tab pos="697865" algn="l"/>
                <a:tab pos="698500" algn="l"/>
              </a:tabLst>
            </a:pPr>
            <a:r>
              <a:rPr lang="zh-CN" altLang="en-US" sz="2400" b="1" spc="-10" dirty="0">
                <a:solidFill>
                  <a:srgbClr val="800000"/>
                </a:solidFill>
                <a:latin typeface="微软雅黑" panose="020B0503020204020204" pitchFamily="34" charset="-122"/>
                <a:ea typeface="微软雅黑" panose="020B0503020204020204" pitchFamily="34" charset="-122"/>
              </a:rPr>
              <a:t>分解的假设是子模块间依赖性较小</a:t>
            </a:r>
            <a:endParaRPr lang="zh-CN" altLang="en-US" sz="2400" b="1" spc="-10" dirty="0">
              <a:solidFill>
                <a:srgbClr val="800000"/>
              </a:solidFill>
              <a:latin typeface="微软雅黑" panose="020B0503020204020204" pitchFamily="34" charset="-122"/>
              <a:ea typeface="微软雅黑" panose="020B0503020204020204" pitchFamily="34" charset="-122"/>
            </a:endParaRPr>
          </a:p>
        </p:txBody>
      </p:sp>
      <p:sp>
        <p:nvSpPr>
          <p:cNvPr id="7" name="object 6"/>
          <p:cNvSpPr/>
          <p:nvPr/>
        </p:nvSpPr>
        <p:spPr>
          <a:xfrm>
            <a:off x="7628403" y="1690688"/>
            <a:ext cx="2613406" cy="2306280"/>
          </a:xfrm>
          <a:prstGeom prst="rect">
            <a:avLst/>
          </a:prstGeom>
          <a:blipFill>
            <a:blip r:embed="rId1" cstate="print"/>
            <a:stretch>
              <a:fillRect/>
            </a:stretch>
          </a:blipFill>
        </p:spPr>
        <p:txBody>
          <a:bodyPr wrap="square" lIns="0" tIns="0" rIns="0" bIns="0" rtlCol="0"/>
          <a:lstStyle/>
          <a:p/>
        </p:txBody>
      </p:sp>
    </p:spTree>
  </p:cSld>
  <p:clrMapOvr>
    <a:masterClrMapping/>
  </p:clrMapOvr>
  <mc:AlternateContent xmlns:mc="http://schemas.openxmlformats.org/markup-compatibility/2006">
    <mc:Choice xmlns:p14="http://schemas.microsoft.com/office/powerpoint/2010/main" Requires="p14">
      <p:transition spd="slow" p14:dur="2000" advTm="60957"/>
    </mc:Choice>
    <mc:Fallback>
      <p:transition spd="slow" advTm="60957"/>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面向对象的分析方法学</a:t>
            </a:r>
            <a:endParaRPr lang="zh-CN" altLang="en-US" dirty="0"/>
          </a:p>
        </p:txBody>
      </p:sp>
      <p:sp>
        <p:nvSpPr>
          <p:cNvPr id="3" name="内容占位符 2"/>
          <p:cNvSpPr>
            <a:spLocks noGrp="1"/>
          </p:cNvSpPr>
          <p:nvPr>
            <p:ph idx="1"/>
          </p:nvPr>
        </p:nvSpPr>
        <p:spPr>
          <a:xfrm>
            <a:off x="838200" y="1825625"/>
            <a:ext cx="10880834" cy="4351338"/>
          </a:xfrm>
        </p:spPr>
        <p:txBody>
          <a:bodyPr/>
          <a:lstStyle/>
          <a:p>
            <a:pPr marL="241300">
              <a:lnSpc>
                <a:spcPct val="100000"/>
              </a:lnSpc>
              <a:spcBef>
                <a:spcPts val="100"/>
              </a:spcBef>
              <a:buFont typeface="Franklin Gothic Book" panose="020B0503020102020204"/>
              <a:buChar char="•"/>
              <a:tabLst>
                <a:tab pos="241300" algn="l"/>
              </a:tabLst>
            </a:pPr>
            <a:r>
              <a:rPr lang="zh-CN" altLang="en-US" dirty="0">
                <a:latin typeface="Arial Unicode MS"/>
                <a:cs typeface="Arial Unicode MS"/>
              </a:rPr>
              <a:t>识别</a:t>
            </a:r>
            <a:r>
              <a:rPr lang="zh-CN" altLang="en-US" dirty="0">
                <a:solidFill>
                  <a:srgbClr val="990000"/>
                </a:solidFill>
                <a:latin typeface="Arial Unicode MS"/>
                <a:cs typeface="Arial Unicode MS"/>
              </a:rPr>
              <a:t>对象</a:t>
            </a:r>
            <a:r>
              <a:rPr lang="zh-CN" altLang="en-US" dirty="0">
                <a:latin typeface="Arial Unicode MS"/>
                <a:cs typeface="Arial Unicode MS"/>
              </a:rPr>
              <a:t>和</a:t>
            </a:r>
            <a:r>
              <a:rPr lang="zh-CN" altLang="en-US" dirty="0">
                <a:solidFill>
                  <a:srgbClr val="990000"/>
                </a:solidFill>
                <a:latin typeface="Arial Unicode MS"/>
                <a:cs typeface="Arial Unicode MS"/>
              </a:rPr>
              <a:t>类</a:t>
            </a:r>
            <a:r>
              <a:rPr lang="zh-CN" altLang="en-US" dirty="0">
                <a:latin typeface="Arial Unicode MS"/>
                <a:cs typeface="Arial Unicode MS"/>
              </a:rPr>
              <a:t>（类是对象的抽象定义）</a:t>
            </a:r>
            <a:endParaRPr lang="zh-CN" altLang="en-US" dirty="0">
              <a:latin typeface="Arial Unicode MS"/>
              <a:cs typeface="Arial Unicode MS"/>
            </a:endParaRPr>
          </a:p>
          <a:p>
            <a:pPr marL="241300">
              <a:lnSpc>
                <a:spcPct val="100000"/>
              </a:lnSpc>
              <a:spcBef>
                <a:spcPts val="1780"/>
              </a:spcBef>
              <a:buFont typeface="Franklin Gothic Book" panose="020B0503020102020204"/>
              <a:buChar char="•"/>
              <a:tabLst>
                <a:tab pos="241300" algn="l"/>
              </a:tabLst>
            </a:pPr>
            <a:r>
              <a:rPr lang="zh-CN" altLang="en-US" dirty="0">
                <a:latin typeface="Arial Unicode MS"/>
                <a:cs typeface="Arial Unicode MS"/>
              </a:rPr>
              <a:t>识别类之间的</a:t>
            </a:r>
            <a:r>
              <a:rPr lang="zh-CN" altLang="en-US" dirty="0">
                <a:solidFill>
                  <a:srgbClr val="990000"/>
                </a:solidFill>
                <a:latin typeface="Arial Unicode MS"/>
                <a:cs typeface="Arial Unicode MS"/>
              </a:rPr>
              <a:t>关系</a:t>
            </a:r>
            <a:r>
              <a:rPr lang="zh-CN" altLang="en-US" dirty="0">
                <a:latin typeface="Arial Unicode MS"/>
                <a:cs typeface="Arial Unicode MS"/>
              </a:rPr>
              <a:t>，建立由</a:t>
            </a:r>
            <a:r>
              <a:rPr lang="zh-CN" altLang="en-US" dirty="0">
                <a:solidFill>
                  <a:srgbClr val="990000"/>
                </a:solidFill>
                <a:latin typeface="Arial Unicode MS"/>
                <a:cs typeface="Arial Unicode MS"/>
              </a:rPr>
              <a:t>继承</a:t>
            </a:r>
            <a:r>
              <a:rPr lang="zh-CN" altLang="en-US" dirty="0">
                <a:latin typeface="Arial Unicode MS"/>
                <a:cs typeface="Arial Unicode MS"/>
              </a:rPr>
              <a:t>和</a:t>
            </a:r>
            <a:r>
              <a:rPr lang="zh-CN" altLang="en-US" dirty="0">
                <a:solidFill>
                  <a:srgbClr val="990000"/>
                </a:solidFill>
                <a:latin typeface="Arial Unicode MS"/>
                <a:cs typeface="Arial Unicode MS"/>
              </a:rPr>
              <a:t>组合</a:t>
            </a:r>
            <a:r>
              <a:rPr lang="zh-CN" altLang="en-US" dirty="0">
                <a:latin typeface="Arial Unicode MS"/>
                <a:cs typeface="Arial Unicode MS"/>
              </a:rPr>
              <a:t>关系组成的类</a:t>
            </a:r>
            <a:r>
              <a:rPr lang="zh-CN" altLang="en-US" dirty="0">
                <a:solidFill>
                  <a:srgbClr val="990000"/>
                </a:solidFill>
                <a:latin typeface="Arial Unicode MS"/>
                <a:cs typeface="Arial Unicode MS"/>
              </a:rPr>
              <a:t>层次结构</a:t>
            </a:r>
            <a:endParaRPr lang="zh-CN" altLang="en-US" dirty="0">
              <a:latin typeface="Arial Unicode MS"/>
              <a:cs typeface="Arial Unicode MS"/>
            </a:endParaRPr>
          </a:p>
          <a:p>
            <a:pPr marL="240665" marR="5080">
              <a:lnSpc>
                <a:spcPct val="121000"/>
              </a:lnSpc>
              <a:spcBef>
                <a:spcPts val="1315"/>
              </a:spcBef>
              <a:buFont typeface="Franklin Gothic Book" panose="020B0503020102020204"/>
              <a:buChar char="•"/>
              <a:tabLst>
                <a:tab pos="241300" algn="l"/>
              </a:tabLst>
            </a:pPr>
            <a:r>
              <a:rPr lang="zh-CN" altLang="en-US" dirty="0">
                <a:latin typeface="Arial Unicode MS"/>
                <a:cs typeface="Arial Unicode MS"/>
              </a:rPr>
              <a:t>定义</a:t>
            </a:r>
            <a:r>
              <a:rPr lang="zh-CN" altLang="en-US" dirty="0">
                <a:solidFill>
                  <a:srgbClr val="990000"/>
                </a:solidFill>
                <a:latin typeface="Arial Unicode MS"/>
                <a:cs typeface="Arial Unicode MS"/>
              </a:rPr>
              <a:t>主题</a:t>
            </a:r>
            <a:r>
              <a:rPr lang="zh-CN" altLang="en-US" dirty="0">
                <a:latin typeface="Arial Unicode MS"/>
                <a:cs typeface="Arial Unicode MS"/>
              </a:rPr>
              <a:t>，通过主题将对象模型组织成多个抽象层次或视角，一般说来通过继承关系或整体部分关系联系起来的类同属于一个主题</a:t>
            </a:r>
            <a:endParaRPr lang="zh-CN" altLang="en-US" dirty="0">
              <a:latin typeface="Arial Unicode MS"/>
              <a:cs typeface="Arial Unicode MS"/>
            </a:endParaRPr>
          </a:p>
          <a:p>
            <a:pPr marL="241300">
              <a:lnSpc>
                <a:spcPct val="100000"/>
              </a:lnSpc>
              <a:spcBef>
                <a:spcPts val="1880"/>
              </a:spcBef>
              <a:buFont typeface="Franklin Gothic Book" panose="020B0503020102020204"/>
              <a:buChar char="•"/>
              <a:tabLst>
                <a:tab pos="241300" algn="l"/>
              </a:tabLst>
            </a:pPr>
            <a:r>
              <a:rPr lang="zh-CN" altLang="en-US" dirty="0">
                <a:latin typeface="Arial Unicode MS"/>
                <a:cs typeface="Arial Unicode MS"/>
              </a:rPr>
              <a:t>识别各个对象内部的</a:t>
            </a:r>
            <a:r>
              <a:rPr lang="zh-CN" altLang="en-US" dirty="0">
                <a:solidFill>
                  <a:srgbClr val="990000"/>
                </a:solidFill>
                <a:latin typeface="Arial Unicode MS"/>
                <a:cs typeface="Arial Unicode MS"/>
              </a:rPr>
              <a:t>属性</a:t>
            </a:r>
            <a:r>
              <a:rPr lang="zh-CN" altLang="en-US" dirty="0">
                <a:latin typeface="Arial Unicode MS"/>
                <a:cs typeface="Arial Unicode MS"/>
              </a:rPr>
              <a:t>信息，并将其赋予相应抽象层次的类</a:t>
            </a:r>
            <a:endParaRPr lang="zh-CN" altLang="en-US" dirty="0">
              <a:latin typeface="Arial Unicode MS"/>
              <a:cs typeface="Arial Unicode MS"/>
            </a:endParaRPr>
          </a:p>
          <a:p>
            <a:pPr marL="241300">
              <a:lnSpc>
                <a:spcPct val="100000"/>
              </a:lnSpc>
              <a:spcBef>
                <a:spcPts val="1860"/>
              </a:spcBef>
              <a:buFont typeface="Franklin Gothic Book" panose="020B0503020102020204"/>
              <a:buChar char="•"/>
              <a:tabLst>
                <a:tab pos="241300" algn="l"/>
              </a:tabLst>
            </a:pPr>
            <a:r>
              <a:rPr lang="zh-CN" altLang="en-US" dirty="0">
                <a:latin typeface="Arial Unicode MS"/>
                <a:cs typeface="Arial Unicode MS"/>
              </a:rPr>
              <a:t>为每个类定义</a:t>
            </a:r>
            <a:r>
              <a:rPr lang="zh-CN" altLang="en-US" dirty="0">
                <a:solidFill>
                  <a:srgbClr val="990000"/>
                </a:solidFill>
                <a:latin typeface="Arial Unicode MS"/>
                <a:cs typeface="Arial Unicode MS"/>
              </a:rPr>
              <a:t>服务</a:t>
            </a:r>
            <a:endParaRPr lang="zh-CN" altLang="en-US" dirty="0">
              <a:latin typeface="Arial Unicode MS"/>
              <a:cs typeface="Arial Unicode MS"/>
            </a:endParaRPr>
          </a:p>
          <a:p>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sp>
        <p:nvSpPr>
          <p:cNvPr id="5" name="object 5"/>
          <p:cNvSpPr/>
          <p:nvPr/>
        </p:nvSpPr>
        <p:spPr>
          <a:xfrm>
            <a:off x="7619999" y="5123552"/>
            <a:ext cx="1921201" cy="1188348"/>
          </a:xfrm>
          <a:prstGeom prst="rect">
            <a:avLst/>
          </a:prstGeom>
          <a:blipFill>
            <a:blip r:embed="rId1" cstate="print"/>
            <a:stretch>
              <a:fillRect/>
            </a:stretch>
          </a:blipFill>
        </p:spPr>
        <p:txBody>
          <a:bodyPr wrap="square" lIns="0" tIns="0" rIns="0" bIns="0" rtlCol="0"/>
          <a:lstStyle/>
          <a:p/>
        </p:txBody>
      </p:sp>
    </p:spTree>
  </p:cSld>
  <p:clrMapOvr>
    <a:masterClrMapping/>
  </p:clrMapOvr>
  <mc:AlternateContent xmlns:mc="http://schemas.openxmlformats.org/markup-compatibility/2006">
    <mc:Choice xmlns:p14="http://schemas.microsoft.com/office/powerpoint/2010/main" Requires="p14">
      <p:transition spd="slow" p14:dur="2000" advTm="77715"/>
    </mc:Choice>
    <mc:Fallback>
      <p:transition spd="slow" advTm="77715"/>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面向对象分析的示例</a:t>
            </a:r>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sp>
        <p:nvSpPr>
          <p:cNvPr id="5" name="object 4"/>
          <p:cNvSpPr/>
          <p:nvPr/>
        </p:nvSpPr>
        <p:spPr>
          <a:xfrm>
            <a:off x="6583236" y="5197475"/>
            <a:ext cx="2133600" cy="990600"/>
          </a:xfrm>
          <a:custGeom>
            <a:avLst/>
            <a:gdLst/>
            <a:ahLst/>
            <a:cxnLst/>
            <a:rect l="l" t="t" r="r" b="b"/>
            <a:pathLst>
              <a:path w="2133600" h="990600">
                <a:moveTo>
                  <a:pt x="1968500" y="0"/>
                </a:moveTo>
                <a:lnTo>
                  <a:pt x="165100" y="0"/>
                </a:lnTo>
                <a:lnTo>
                  <a:pt x="121210" y="5897"/>
                </a:lnTo>
                <a:lnTo>
                  <a:pt x="81771" y="22540"/>
                </a:lnTo>
                <a:lnTo>
                  <a:pt x="48357" y="48356"/>
                </a:lnTo>
                <a:lnTo>
                  <a:pt x="22541" y="81770"/>
                </a:lnTo>
                <a:lnTo>
                  <a:pt x="5897" y="121209"/>
                </a:lnTo>
                <a:lnTo>
                  <a:pt x="0" y="165099"/>
                </a:lnTo>
                <a:lnTo>
                  <a:pt x="0" y="825500"/>
                </a:lnTo>
                <a:lnTo>
                  <a:pt x="5897" y="869390"/>
                </a:lnTo>
                <a:lnTo>
                  <a:pt x="22541" y="908829"/>
                </a:lnTo>
                <a:lnTo>
                  <a:pt x="48357" y="942243"/>
                </a:lnTo>
                <a:lnTo>
                  <a:pt x="81771" y="968059"/>
                </a:lnTo>
                <a:lnTo>
                  <a:pt x="121210" y="984702"/>
                </a:lnTo>
                <a:lnTo>
                  <a:pt x="165100" y="990600"/>
                </a:lnTo>
                <a:lnTo>
                  <a:pt x="1968500" y="990600"/>
                </a:lnTo>
                <a:lnTo>
                  <a:pt x="2012390" y="984702"/>
                </a:lnTo>
                <a:lnTo>
                  <a:pt x="2051829" y="968059"/>
                </a:lnTo>
                <a:lnTo>
                  <a:pt x="2085243" y="942243"/>
                </a:lnTo>
                <a:lnTo>
                  <a:pt x="2111059" y="908829"/>
                </a:lnTo>
                <a:lnTo>
                  <a:pt x="2127702" y="869390"/>
                </a:lnTo>
                <a:lnTo>
                  <a:pt x="2133600" y="825500"/>
                </a:lnTo>
                <a:lnTo>
                  <a:pt x="2133600" y="165099"/>
                </a:lnTo>
                <a:lnTo>
                  <a:pt x="2127702" y="121209"/>
                </a:lnTo>
                <a:lnTo>
                  <a:pt x="2111059" y="81770"/>
                </a:lnTo>
                <a:lnTo>
                  <a:pt x="2085243" y="48356"/>
                </a:lnTo>
                <a:lnTo>
                  <a:pt x="2051829" y="22540"/>
                </a:lnTo>
                <a:lnTo>
                  <a:pt x="2012390" y="5897"/>
                </a:lnTo>
                <a:lnTo>
                  <a:pt x="1968500" y="0"/>
                </a:lnTo>
                <a:close/>
              </a:path>
            </a:pathLst>
          </a:custGeom>
          <a:solidFill>
            <a:srgbClr val="FFD5A9"/>
          </a:solidFill>
        </p:spPr>
        <p:txBody>
          <a:bodyPr wrap="square" lIns="0" tIns="0" rIns="0" bIns="0" rtlCol="0"/>
          <a:lstStyle/>
          <a:p/>
        </p:txBody>
      </p:sp>
      <p:sp>
        <p:nvSpPr>
          <p:cNvPr id="6" name="object 5"/>
          <p:cNvSpPr/>
          <p:nvPr/>
        </p:nvSpPr>
        <p:spPr>
          <a:xfrm>
            <a:off x="6583236" y="5197475"/>
            <a:ext cx="2133600" cy="990600"/>
          </a:xfrm>
          <a:custGeom>
            <a:avLst/>
            <a:gdLst/>
            <a:ahLst/>
            <a:cxnLst/>
            <a:rect l="l" t="t" r="r" b="b"/>
            <a:pathLst>
              <a:path w="2133600" h="990600">
                <a:moveTo>
                  <a:pt x="0" y="165099"/>
                </a:moveTo>
                <a:lnTo>
                  <a:pt x="5897" y="121209"/>
                </a:lnTo>
                <a:lnTo>
                  <a:pt x="22541" y="81770"/>
                </a:lnTo>
                <a:lnTo>
                  <a:pt x="48356" y="48356"/>
                </a:lnTo>
                <a:lnTo>
                  <a:pt x="81770" y="22540"/>
                </a:lnTo>
                <a:lnTo>
                  <a:pt x="121209" y="5897"/>
                </a:lnTo>
                <a:lnTo>
                  <a:pt x="165099" y="0"/>
                </a:lnTo>
                <a:lnTo>
                  <a:pt x="1968499" y="0"/>
                </a:lnTo>
                <a:lnTo>
                  <a:pt x="2012389" y="5897"/>
                </a:lnTo>
                <a:lnTo>
                  <a:pt x="2051828" y="22540"/>
                </a:lnTo>
                <a:lnTo>
                  <a:pt x="2085242" y="48356"/>
                </a:lnTo>
                <a:lnTo>
                  <a:pt x="2111058" y="81770"/>
                </a:lnTo>
                <a:lnTo>
                  <a:pt x="2127702" y="121209"/>
                </a:lnTo>
                <a:lnTo>
                  <a:pt x="2133599" y="165099"/>
                </a:lnTo>
                <a:lnTo>
                  <a:pt x="2133599" y="825499"/>
                </a:lnTo>
                <a:lnTo>
                  <a:pt x="2127702" y="869389"/>
                </a:lnTo>
                <a:lnTo>
                  <a:pt x="2111058" y="908828"/>
                </a:lnTo>
                <a:lnTo>
                  <a:pt x="2085242" y="942243"/>
                </a:lnTo>
                <a:lnTo>
                  <a:pt x="2051828" y="968058"/>
                </a:lnTo>
                <a:lnTo>
                  <a:pt x="2012389" y="984702"/>
                </a:lnTo>
                <a:lnTo>
                  <a:pt x="1968499" y="990599"/>
                </a:lnTo>
                <a:lnTo>
                  <a:pt x="165099" y="990599"/>
                </a:lnTo>
                <a:lnTo>
                  <a:pt x="121209" y="984702"/>
                </a:lnTo>
                <a:lnTo>
                  <a:pt x="81770" y="968058"/>
                </a:lnTo>
                <a:lnTo>
                  <a:pt x="48356" y="942243"/>
                </a:lnTo>
                <a:lnTo>
                  <a:pt x="22541" y="908828"/>
                </a:lnTo>
                <a:lnTo>
                  <a:pt x="5897" y="869389"/>
                </a:lnTo>
                <a:lnTo>
                  <a:pt x="0" y="825499"/>
                </a:lnTo>
                <a:lnTo>
                  <a:pt x="0" y="165099"/>
                </a:lnTo>
                <a:close/>
              </a:path>
            </a:pathLst>
          </a:custGeom>
          <a:ln w="9524">
            <a:solidFill>
              <a:srgbClr val="FF2600"/>
            </a:solidFill>
          </a:ln>
        </p:spPr>
        <p:txBody>
          <a:bodyPr wrap="square" lIns="0" tIns="0" rIns="0" bIns="0" rtlCol="0"/>
          <a:lstStyle/>
          <a:p/>
        </p:txBody>
      </p:sp>
      <p:sp>
        <p:nvSpPr>
          <p:cNvPr id="7" name="object 6"/>
          <p:cNvSpPr/>
          <p:nvPr/>
        </p:nvSpPr>
        <p:spPr>
          <a:xfrm>
            <a:off x="6786436" y="5349875"/>
            <a:ext cx="2133600" cy="1143000"/>
          </a:xfrm>
          <a:custGeom>
            <a:avLst/>
            <a:gdLst/>
            <a:ahLst/>
            <a:cxnLst/>
            <a:rect l="l" t="t" r="r" b="b"/>
            <a:pathLst>
              <a:path w="2133600" h="1143000">
                <a:moveTo>
                  <a:pt x="1943100" y="0"/>
                </a:moveTo>
                <a:lnTo>
                  <a:pt x="190500" y="0"/>
                </a:lnTo>
                <a:lnTo>
                  <a:pt x="146819" y="5031"/>
                </a:lnTo>
                <a:lnTo>
                  <a:pt x="106722" y="19362"/>
                </a:lnTo>
                <a:lnTo>
                  <a:pt x="71351" y="41850"/>
                </a:lnTo>
                <a:lnTo>
                  <a:pt x="41850" y="71351"/>
                </a:lnTo>
                <a:lnTo>
                  <a:pt x="19362" y="106722"/>
                </a:lnTo>
                <a:lnTo>
                  <a:pt x="5031" y="146819"/>
                </a:lnTo>
                <a:lnTo>
                  <a:pt x="0" y="190499"/>
                </a:lnTo>
                <a:lnTo>
                  <a:pt x="0" y="952499"/>
                </a:lnTo>
                <a:lnTo>
                  <a:pt x="5031" y="996179"/>
                </a:lnTo>
                <a:lnTo>
                  <a:pt x="19362" y="1036277"/>
                </a:lnTo>
                <a:lnTo>
                  <a:pt x="41850" y="1071648"/>
                </a:lnTo>
                <a:lnTo>
                  <a:pt x="71351" y="1101149"/>
                </a:lnTo>
                <a:lnTo>
                  <a:pt x="106722" y="1123637"/>
                </a:lnTo>
                <a:lnTo>
                  <a:pt x="146819" y="1137968"/>
                </a:lnTo>
                <a:lnTo>
                  <a:pt x="190500" y="1142999"/>
                </a:lnTo>
                <a:lnTo>
                  <a:pt x="1943100" y="1142999"/>
                </a:lnTo>
                <a:lnTo>
                  <a:pt x="1986780" y="1137968"/>
                </a:lnTo>
                <a:lnTo>
                  <a:pt x="2026877" y="1123637"/>
                </a:lnTo>
                <a:lnTo>
                  <a:pt x="2062248" y="1101149"/>
                </a:lnTo>
                <a:lnTo>
                  <a:pt x="2091749" y="1071648"/>
                </a:lnTo>
                <a:lnTo>
                  <a:pt x="2114237" y="1036277"/>
                </a:lnTo>
                <a:lnTo>
                  <a:pt x="2128568" y="996179"/>
                </a:lnTo>
                <a:lnTo>
                  <a:pt x="2133600" y="952499"/>
                </a:lnTo>
                <a:lnTo>
                  <a:pt x="2133600" y="190499"/>
                </a:lnTo>
                <a:lnTo>
                  <a:pt x="2128568" y="146819"/>
                </a:lnTo>
                <a:lnTo>
                  <a:pt x="2114237" y="106722"/>
                </a:lnTo>
                <a:lnTo>
                  <a:pt x="2091749" y="71351"/>
                </a:lnTo>
                <a:lnTo>
                  <a:pt x="2062248" y="41850"/>
                </a:lnTo>
                <a:lnTo>
                  <a:pt x="2026877" y="19362"/>
                </a:lnTo>
                <a:lnTo>
                  <a:pt x="1986780" y="5031"/>
                </a:lnTo>
                <a:lnTo>
                  <a:pt x="1943100" y="0"/>
                </a:lnTo>
                <a:close/>
              </a:path>
            </a:pathLst>
          </a:custGeom>
          <a:solidFill>
            <a:srgbClr val="4180FF"/>
          </a:solidFill>
        </p:spPr>
        <p:txBody>
          <a:bodyPr wrap="square" lIns="0" tIns="0" rIns="0" bIns="0" rtlCol="0"/>
          <a:lstStyle/>
          <a:p/>
        </p:txBody>
      </p:sp>
      <p:sp>
        <p:nvSpPr>
          <p:cNvPr id="8" name="object 7"/>
          <p:cNvSpPr/>
          <p:nvPr/>
        </p:nvSpPr>
        <p:spPr>
          <a:xfrm>
            <a:off x="6786436" y="5349875"/>
            <a:ext cx="2133600" cy="1143000"/>
          </a:xfrm>
          <a:custGeom>
            <a:avLst/>
            <a:gdLst/>
            <a:ahLst/>
            <a:cxnLst/>
            <a:rect l="l" t="t" r="r" b="b"/>
            <a:pathLst>
              <a:path w="2133600" h="1143000">
                <a:moveTo>
                  <a:pt x="0" y="190499"/>
                </a:moveTo>
                <a:lnTo>
                  <a:pt x="5031" y="146820"/>
                </a:lnTo>
                <a:lnTo>
                  <a:pt x="19362" y="106722"/>
                </a:lnTo>
                <a:lnTo>
                  <a:pt x="41850" y="71351"/>
                </a:lnTo>
                <a:lnTo>
                  <a:pt x="71351" y="41850"/>
                </a:lnTo>
                <a:lnTo>
                  <a:pt x="106722" y="19362"/>
                </a:lnTo>
                <a:lnTo>
                  <a:pt x="146819" y="5031"/>
                </a:lnTo>
                <a:lnTo>
                  <a:pt x="190500" y="0"/>
                </a:lnTo>
                <a:lnTo>
                  <a:pt x="1943099" y="0"/>
                </a:lnTo>
                <a:lnTo>
                  <a:pt x="1986779" y="5031"/>
                </a:lnTo>
                <a:lnTo>
                  <a:pt x="2026876" y="19362"/>
                </a:lnTo>
                <a:lnTo>
                  <a:pt x="2062247" y="41850"/>
                </a:lnTo>
                <a:lnTo>
                  <a:pt x="2091748" y="71351"/>
                </a:lnTo>
                <a:lnTo>
                  <a:pt x="2114236" y="106722"/>
                </a:lnTo>
                <a:lnTo>
                  <a:pt x="2128568" y="146820"/>
                </a:lnTo>
                <a:lnTo>
                  <a:pt x="2133599" y="190499"/>
                </a:lnTo>
                <a:lnTo>
                  <a:pt x="2133599" y="952499"/>
                </a:lnTo>
                <a:lnTo>
                  <a:pt x="2128568" y="996179"/>
                </a:lnTo>
                <a:lnTo>
                  <a:pt x="2114236" y="1036276"/>
                </a:lnTo>
                <a:lnTo>
                  <a:pt x="2091748" y="1071647"/>
                </a:lnTo>
                <a:lnTo>
                  <a:pt x="2062247" y="1101148"/>
                </a:lnTo>
                <a:lnTo>
                  <a:pt x="2026876" y="1123637"/>
                </a:lnTo>
                <a:lnTo>
                  <a:pt x="1986779" y="1137968"/>
                </a:lnTo>
                <a:lnTo>
                  <a:pt x="1943099" y="1142999"/>
                </a:lnTo>
                <a:lnTo>
                  <a:pt x="190500" y="1142999"/>
                </a:lnTo>
                <a:lnTo>
                  <a:pt x="146819" y="1137968"/>
                </a:lnTo>
                <a:lnTo>
                  <a:pt x="106722" y="1123637"/>
                </a:lnTo>
                <a:lnTo>
                  <a:pt x="71351" y="1101148"/>
                </a:lnTo>
                <a:lnTo>
                  <a:pt x="41850" y="1071647"/>
                </a:lnTo>
                <a:lnTo>
                  <a:pt x="19362" y="1036276"/>
                </a:lnTo>
                <a:lnTo>
                  <a:pt x="5031" y="996179"/>
                </a:lnTo>
                <a:lnTo>
                  <a:pt x="0" y="952499"/>
                </a:lnTo>
                <a:lnTo>
                  <a:pt x="0" y="190499"/>
                </a:lnTo>
                <a:close/>
              </a:path>
            </a:pathLst>
          </a:custGeom>
          <a:ln w="9524">
            <a:solidFill>
              <a:srgbClr val="000000"/>
            </a:solidFill>
          </a:ln>
        </p:spPr>
        <p:txBody>
          <a:bodyPr wrap="square" lIns="0" tIns="0" rIns="0" bIns="0" rtlCol="0"/>
          <a:lstStyle/>
          <a:p/>
        </p:txBody>
      </p:sp>
      <p:sp>
        <p:nvSpPr>
          <p:cNvPr id="9" name="object 8"/>
          <p:cNvSpPr/>
          <p:nvPr/>
        </p:nvSpPr>
        <p:spPr>
          <a:xfrm>
            <a:off x="6786436" y="5883275"/>
            <a:ext cx="2133600" cy="1905"/>
          </a:xfrm>
          <a:custGeom>
            <a:avLst/>
            <a:gdLst/>
            <a:ahLst/>
            <a:cxnLst/>
            <a:rect l="l" t="t" r="r" b="b"/>
            <a:pathLst>
              <a:path w="2133600" h="1904">
                <a:moveTo>
                  <a:pt x="0" y="0"/>
                </a:moveTo>
                <a:lnTo>
                  <a:pt x="2133599" y="1587"/>
                </a:lnTo>
              </a:path>
            </a:pathLst>
          </a:custGeom>
          <a:ln w="9524">
            <a:solidFill>
              <a:srgbClr val="FFFFFF"/>
            </a:solidFill>
          </a:ln>
        </p:spPr>
        <p:txBody>
          <a:bodyPr wrap="square" lIns="0" tIns="0" rIns="0" bIns="0" rtlCol="0"/>
          <a:lstStyle/>
          <a:p/>
        </p:txBody>
      </p:sp>
      <p:sp>
        <p:nvSpPr>
          <p:cNvPr id="10" name="object 9"/>
          <p:cNvSpPr/>
          <p:nvPr/>
        </p:nvSpPr>
        <p:spPr>
          <a:xfrm>
            <a:off x="4495675" y="3072781"/>
            <a:ext cx="1930400" cy="1600200"/>
          </a:xfrm>
          <a:custGeom>
            <a:avLst/>
            <a:gdLst/>
            <a:ahLst/>
            <a:cxnLst/>
            <a:rect l="l" t="t" r="r" b="b"/>
            <a:pathLst>
              <a:path w="1930400" h="1600200">
                <a:moveTo>
                  <a:pt x="1663698" y="0"/>
                </a:moveTo>
                <a:lnTo>
                  <a:pt x="266700" y="0"/>
                </a:lnTo>
                <a:lnTo>
                  <a:pt x="218760" y="4296"/>
                </a:lnTo>
                <a:lnTo>
                  <a:pt x="173639" y="16685"/>
                </a:lnTo>
                <a:lnTo>
                  <a:pt x="132091" y="36412"/>
                </a:lnTo>
                <a:lnTo>
                  <a:pt x="94868" y="62724"/>
                </a:lnTo>
                <a:lnTo>
                  <a:pt x="62724" y="94868"/>
                </a:lnTo>
                <a:lnTo>
                  <a:pt x="36412" y="132091"/>
                </a:lnTo>
                <a:lnTo>
                  <a:pt x="16685" y="173639"/>
                </a:lnTo>
                <a:lnTo>
                  <a:pt x="4296" y="218760"/>
                </a:lnTo>
                <a:lnTo>
                  <a:pt x="0" y="266700"/>
                </a:lnTo>
                <a:lnTo>
                  <a:pt x="0" y="1333500"/>
                </a:lnTo>
                <a:lnTo>
                  <a:pt x="4296" y="1381439"/>
                </a:lnTo>
                <a:lnTo>
                  <a:pt x="16685" y="1426560"/>
                </a:lnTo>
                <a:lnTo>
                  <a:pt x="36412" y="1468108"/>
                </a:lnTo>
                <a:lnTo>
                  <a:pt x="62724" y="1505331"/>
                </a:lnTo>
                <a:lnTo>
                  <a:pt x="94868" y="1537475"/>
                </a:lnTo>
                <a:lnTo>
                  <a:pt x="132091" y="1563787"/>
                </a:lnTo>
                <a:lnTo>
                  <a:pt x="173639" y="1583514"/>
                </a:lnTo>
                <a:lnTo>
                  <a:pt x="218760" y="1595903"/>
                </a:lnTo>
                <a:lnTo>
                  <a:pt x="266700" y="1600200"/>
                </a:lnTo>
                <a:lnTo>
                  <a:pt x="1663698" y="1600200"/>
                </a:lnTo>
                <a:lnTo>
                  <a:pt x="1711638" y="1595903"/>
                </a:lnTo>
                <a:lnTo>
                  <a:pt x="1756759" y="1583514"/>
                </a:lnTo>
                <a:lnTo>
                  <a:pt x="1798307" y="1563787"/>
                </a:lnTo>
                <a:lnTo>
                  <a:pt x="1835530" y="1537475"/>
                </a:lnTo>
                <a:lnTo>
                  <a:pt x="1867674" y="1505331"/>
                </a:lnTo>
                <a:lnTo>
                  <a:pt x="1893986" y="1468108"/>
                </a:lnTo>
                <a:lnTo>
                  <a:pt x="1913713" y="1426560"/>
                </a:lnTo>
                <a:lnTo>
                  <a:pt x="1926101" y="1381439"/>
                </a:lnTo>
                <a:lnTo>
                  <a:pt x="1930398" y="1333500"/>
                </a:lnTo>
                <a:lnTo>
                  <a:pt x="1930398" y="266700"/>
                </a:lnTo>
                <a:lnTo>
                  <a:pt x="1926101" y="218760"/>
                </a:lnTo>
                <a:lnTo>
                  <a:pt x="1913713" y="173639"/>
                </a:lnTo>
                <a:lnTo>
                  <a:pt x="1893986" y="132091"/>
                </a:lnTo>
                <a:lnTo>
                  <a:pt x="1867674" y="94868"/>
                </a:lnTo>
                <a:lnTo>
                  <a:pt x="1835530" y="62724"/>
                </a:lnTo>
                <a:lnTo>
                  <a:pt x="1798307" y="36412"/>
                </a:lnTo>
                <a:lnTo>
                  <a:pt x="1756759" y="16685"/>
                </a:lnTo>
                <a:lnTo>
                  <a:pt x="1711638" y="4296"/>
                </a:lnTo>
                <a:lnTo>
                  <a:pt x="1663698" y="0"/>
                </a:lnTo>
                <a:close/>
              </a:path>
            </a:pathLst>
          </a:custGeom>
          <a:solidFill>
            <a:srgbClr val="FFD5A9"/>
          </a:solidFill>
        </p:spPr>
        <p:txBody>
          <a:bodyPr wrap="square" lIns="0" tIns="0" rIns="0" bIns="0" rtlCol="0"/>
          <a:lstStyle/>
          <a:p/>
        </p:txBody>
      </p:sp>
      <p:sp>
        <p:nvSpPr>
          <p:cNvPr id="11" name="object 10"/>
          <p:cNvSpPr/>
          <p:nvPr/>
        </p:nvSpPr>
        <p:spPr>
          <a:xfrm>
            <a:off x="4495675" y="3072781"/>
            <a:ext cx="1930400" cy="1600200"/>
          </a:xfrm>
          <a:custGeom>
            <a:avLst/>
            <a:gdLst/>
            <a:ahLst/>
            <a:cxnLst/>
            <a:rect l="l" t="t" r="r" b="b"/>
            <a:pathLst>
              <a:path w="1930400" h="1600200">
                <a:moveTo>
                  <a:pt x="0" y="266699"/>
                </a:moveTo>
                <a:lnTo>
                  <a:pt x="4296" y="218760"/>
                </a:lnTo>
                <a:lnTo>
                  <a:pt x="16685" y="173639"/>
                </a:lnTo>
                <a:lnTo>
                  <a:pt x="36412" y="132091"/>
                </a:lnTo>
                <a:lnTo>
                  <a:pt x="62724" y="94868"/>
                </a:lnTo>
                <a:lnTo>
                  <a:pt x="94868" y="62724"/>
                </a:lnTo>
                <a:lnTo>
                  <a:pt x="132091" y="36412"/>
                </a:lnTo>
                <a:lnTo>
                  <a:pt x="173639" y="16685"/>
                </a:lnTo>
                <a:lnTo>
                  <a:pt x="218760" y="4296"/>
                </a:lnTo>
                <a:lnTo>
                  <a:pt x="266699" y="0"/>
                </a:lnTo>
                <a:lnTo>
                  <a:pt x="1663699" y="0"/>
                </a:lnTo>
                <a:lnTo>
                  <a:pt x="1711639" y="4296"/>
                </a:lnTo>
                <a:lnTo>
                  <a:pt x="1756759" y="16685"/>
                </a:lnTo>
                <a:lnTo>
                  <a:pt x="1798308" y="36412"/>
                </a:lnTo>
                <a:lnTo>
                  <a:pt x="1835530" y="62724"/>
                </a:lnTo>
                <a:lnTo>
                  <a:pt x="1867675" y="94868"/>
                </a:lnTo>
                <a:lnTo>
                  <a:pt x="1893987" y="132091"/>
                </a:lnTo>
                <a:lnTo>
                  <a:pt x="1913714" y="173639"/>
                </a:lnTo>
                <a:lnTo>
                  <a:pt x="1926102" y="218760"/>
                </a:lnTo>
                <a:lnTo>
                  <a:pt x="1930399" y="266699"/>
                </a:lnTo>
                <a:lnTo>
                  <a:pt x="1930399" y="1333499"/>
                </a:lnTo>
                <a:lnTo>
                  <a:pt x="1926102" y="1381439"/>
                </a:lnTo>
                <a:lnTo>
                  <a:pt x="1913714" y="1426559"/>
                </a:lnTo>
                <a:lnTo>
                  <a:pt x="1893987" y="1468108"/>
                </a:lnTo>
                <a:lnTo>
                  <a:pt x="1867675" y="1505330"/>
                </a:lnTo>
                <a:lnTo>
                  <a:pt x="1835530" y="1537474"/>
                </a:lnTo>
                <a:lnTo>
                  <a:pt x="1798308" y="1563787"/>
                </a:lnTo>
                <a:lnTo>
                  <a:pt x="1756759" y="1583514"/>
                </a:lnTo>
                <a:lnTo>
                  <a:pt x="1711639" y="1595902"/>
                </a:lnTo>
                <a:lnTo>
                  <a:pt x="1663699" y="1600199"/>
                </a:lnTo>
                <a:lnTo>
                  <a:pt x="266699" y="1600199"/>
                </a:lnTo>
                <a:lnTo>
                  <a:pt x="218760" y="1595902"/>
                </a:lnTo>
                <a:lnTo>
                  <a:pt x="173639" y="1583514"/>
                </a:lnTo>
                <a:lnTo>
                  <a:pt x="132091" y="1563787"/>
                </a:lnTo>
                <a:lnTo>
                  <a:pt x="94868" y="1537474"/>
                </a:lnTo>
                <a:lnTo>
                  <a:pt x="62724" y="1505330"/>
                </a:lnTo>
                <a:lnTo>
                  <a:pt x="36412" y="1468108"/>
                </a:lnTo>
                <a:lnTo>
                  <a:pt x="16685" y="1426559"/>
                </a:lnTo>
                <a:lnTo>
                  <a:pt x="4296" y="1381439"/>
                </a:lnTo>
                <a:lnTo>
                  <a:pt x="0" y="1333499"/>
                </a:lnTo>
                <a:lnTo>
                  <a:pt x="0" y="266699"/>
                </a:lnTo>
                <a:close/>
              </a:path>
            </a:pathLst>
          </a:custGeom>
          <a:ln w="9524">
            <a:solidFill>
              <a:srgbClr val="FF2600"/>
            </a:solidFill>
          </a:ln>
        </p:spPr>
        <p:txBody>
          <a:bodyPr wrap="square" lIns="0" tIns="0" rIns="0" bIns="0" rtlCol="0"/>
          <a:lstStyle/>
          <a:p/>
        </p:txBody>
      </p:sp>
      <p:sp>
        <p:nvSpPr>
          <p:cNvPr id="12" name="object 11"/>
          <p:cNvSpPr/>
          <p:nvPr/>
        </p:nvSpPr>
        <p:spPr>
          <a:xfrm>
            <a:off x="4652836" y="3225181"/>
            <a:ext cx="2072005" cy="1524000"/>
          </a:xfrm>
          <a:custGeom>
            <a:avLst/>
            <a:gdLst/>
            <a:ahLst/>
            <a:cxnLst/>
            <a:rect l="l" t="t" r="r" b="b"/>
            <a:pathLst>
              <a:path w="2072004" h="1524000">
                <a:moveTo>
                  <a:pt x="1817687" y="0"/>
                </a:moveTo>
                <a:lnTo>
                  <a:pt x="254000" y="0"/>
                </a:lnTo>
                <a:lnTo>
                  <a:pt x="208343" y="4092"/>
                </a:lnTo>
                <a:lnTo>
                  <a:pt x="165371" y="15890"/>
                </a:lnTo>
                <a:lnTo>
                  <a:pt x="125801" y="34678"/>
                </a:lnTo>
                <a:lnTo>
                  <a:pt x="90351" y="59737"/>
                </a:lnTo>
                <a:lnTo>
                  <a:pt x="59738" y="90351"/>
                </a:lnTo>
                <a:lnTo>
                  <a:pt x="34678" y="125801"/>
                </a:lnTo>
                <a:lnTo>
                  <a:pt x="15891" y="165371"/>
                </a:lnTo>
                <a:lnTo>
                  <a:pt x="4092" y="208343"/>
                </a:lnTo>
                <a:lnTo>
                  <a:pt x="0" y="254000"/>
                </a:lnTo>
                <a:lnTo>
                  <a:pt x="0" y="1270000"/>
                </a:lnTo>
                <a:lnTo>
                  <a:pt x="4092" y="1315656"/>
                </a:lnTo>
                <a:lnTo>
                  <a:pt x="15891" y="1358628"/>
                </a:lnTo>
                <a:lnTo>
                  <a:pt x="34678" y="1398198"/>
                </a:lnTo>
                <a:lnTo>
                  <a:pt x="59738" y="1433648"/>
                </a:lnTo>
                <a:lnTo>
                  <a:pt x="90351" y="1464262"/>
                </a:lnTo>
                <a:lnTo>
                  <a:pt x="125801" y="1489321"/>
                </a:lnTo>
                <a:lnTo>
                  <a:pt x="165371" y="1508109"/>
                </a:lnTo>
                <a:lnTo>
                  <a:pt x="208343" y="1519907"/>
                </a:lnTo>
                <a:lnTo>
                  <a:pt x="254000" y="1524000"/>
                </a:lnTo>
                <a:lnTo>
                  <a:pt x="1817687" y="1524000"/>
                </a:lnTo>
                <a:lnTo>
                  <a:pt x="1863344" y="1519907"/>
                </a:lnTo>
                <a:lnTo>
                  <a:pt x="1906316" y="1508109"/>
                </a:lnTo>
                <a:lnTo>
                  <a:pt x="1945886" y="1489321"/>
                </a:lnTo>
                <a:lnTo>
                  <a:pt x="1981337" y="1464262"/>
                </a:lnTo>
                <a:lnTo>
                  <a:pt x="2011950" y="1433648"/>
                </a:lnTo>
                <a:lnTo>
                  <a:pt x="2037009" y="1398198"/>
                </a:lnTo>
                <a:lnTo>
                  <a:pt x="2055796" y="1358628"/>
                </a:lnTo>
                <a:lnTo>
                  <a:pt x="2067595" y="1315656"/>
                </a:lnTo>
                <a:lnTo>
                  <a:pt x="2071687" y="1270000"/>
                </a:lnTo>
                <a:lnTo>
                  <a:pt x="2071687" y="254000"/>
                </a:lnTo>
                <a:lnTo>
                  <a:pt x="2067595" y="208343"/>
                </a:lnTo>
                <a:lnTo>
                  <a:pt x="2055796" y="165371"/>
                </a:lnTo>
                <a:lnTo>
                  <a:pt x="2037009" y="125801"/>
                </a:lnTo>
                <a:lnTo>
                  <a:pt x="2011950" y="90351"/>
                </a:lnTo>
                <a:lnTo>
                  <a:pt x="1981337" y="59737"/>
                </a:lnTo>
                <a:lnTo>
                  <a:pt x="1945886" y="34678"/>
                </a:lnTo>
                <a:lnTo>
                  <a:pt x="1906316" y="15890"/>
                </a:lnTo>
                <a:lnTo>
                  <a:pt x="1863344" y="4092"/>
                </a:lnTo>
                <a:lnTo>
                  <a:pt x="1817687" y="0"/>
                </a:lnTo>
                <a:close/>
              </a:path>
            </a:pathLst>
          </a:custGeom>
          <a:solidFill>
            <a:srgbClr val="4180FF"/>
          </a:solidFill>
        </p:spPr>
        <p:txBody>
          <a:bodyPr wrap="square" lIns="0" tIns="0" rIns="0" bIns="0" rtlCol="0"/>
          <a:lstStyle/>
          <a:p/>
        </p:txBody>
      </p:sp>
      <p:sp>
        <p:nvSpPr>
          <p:cNvPr id="13" name="object 12"/>
          <p:cNvSpPr/>
          <p:nvPr/>
        </p:nvSpPr>
        <p:spPr>
          <a:xfrm>
            <a:off x="4652836" y="3225181"/>
            <a:ext cx="2072005" cy="1524000"/>
          </a:xfrm>
          <a:custGeom>
            <a:avLst/>
            <a:gdLst/>
            <a:ahLst/>
            <a:cxnLst/>
            <a:rect l="l" t="t" r="r" b="b"/>
            <a:pathLst>
              <a:path w="2072004" h="1524000">
                <a:moveTo>
                  <a:pt x="0" y="254000"/>
                </a:moveTo>
                <a:lnTo>
                  <a:pt x="4092" y="208343"/>
                </a:lnTo>
                <a:lnTo>
                  <a:pt x="15890" y="165371"/>
                </a:lnTo>
                <a:lnTo>
                  <a:pt x="34678" y="125801"/>
                </a:lnTo>
                <a:lnTo>
                  <a:pt x="59737" y="90351"/>
                </a:lnTo>
                <a:lnTo>
                  <a:pt x="90351" y="59737"/>
                </a:lnTo>
                <a:lnTo>
                  <a:pt x="125801" y="34678"/>
                </a:lnTo>
                <a:lnTo>
                  <a:pt x="165371" y="15890"/>
                </a:lnTo>
                <a:lnTo>
                  <a:pt x="208343" y="4092"/>
                </a:lnTo>
                <a:lnTo>
                  <a:pt x="253999" y="0"/>
                </a:lnTo>
                <a:lnTo>
                  <a:pt x="1817687" y="0"/>
                </a:lnTo>
                <a:lnTo>
                  <a:pt x="1863344" y="4092"/>
                </a:lnTo>
                <a:lnTo>
                  <a:pt x="1906316" y="15890"/>
                </a:lnTo>
                <a:lnTo>
                  <a:pt x="1945886" y="34678"/>
                </a:lnTo>
                <a:lnTo>
                  <a:pt x="1981336" y="59737"/>
                </a:lnTo>
                <a:lnTo>
                  <a:pt x="2011949" y="90351"/>
                </a:lnTo>
                <a:lnTo>
                  <a:pt x="2037008" y="125801"/>
                </a:lnTo>
                <a:lnTo>
                  <a:pt x="2055796" y="165371"/>
                </a:lnTo>
                <a:lnTo>
                  <a:pt x="2067595" y="208343"/>
                </a:lnTo>
                <a:lnTo>
                  <a:pt x="2071687" y="254000"/>
                </a:lnTo>
                <a:lnTo>
                  <a:pt x="2071687" y="1269999"/>
                </a:lnTo>
                <a:lnTo>
                  <a:pt x="2067595" y="1315656"/>
                </a:lnTo>
                <a:lnTo>
                  <a:pt x="2055796" y="1358628"/>
                </a:lnTo>
                <a:lnTo>
                  <a:pt x="2037008" y="1398198"/>
                </a:lnTo>
                <a:lnTo>
                  <a:pt x="2011949" y="1433648"/>
                </a:lnTo>
                <a:lnTo>
                  <a:pt x="1981336" y="1464261"/>
                </a:lnTo>
                <a:lnTo>
                  <a:pt x="1945886" y="1489321"/>
                </a:lnTo>
                <a:lnTo>
                  <a:pt x="1906316" y="1508108"/>
                </a:lnTo>
                <a:lnTo>
                  <a:pt x="1863344" y="1519907"/>
                </a:lnTo>
                <a:lnTo>
                  <a:pt x="1817687" y="1523999"/>
                </a:lnTo>
                <a:lnTo>
                  <a:pt x="253999" y="1523999"/>
                </a:lnTo>
                <a:lnTo>
                  <a:pt x="208343" y="1519907"/>
                </a:lnTo>
                <a:lnTo>
                  <a:pt x="165371" y="1508108"/>
                </a:lnTo>
                <a:lnTo>
                  <a:pt x="125801" y="1489321"/>
                </a:lnTo>
                <a:lnTo>
                  <a:pt x="90351" y="1464261"/>
                </a:lnTo>
                <a:lnTo>
                  <a:pt x="59737" y="1433648"/>
                </a:lnTo>
                <a:lnTo>
                  <a:pt x="34678" y="1398198"/>
                </a:lnTo>
                <a:lnTo>
                  <a:pt x="15890" y="1358628"/>
                </a:lnTo>
                <a:lnTo>
                  <a:pt x="4092" y="1315656"/>
                </a:lnTo>
                <a:lnTo>
                  <a:pt x="0" y="1269999"/>
                </a:lnTo>
                <a:lnTo>
                  <a:pt x="0" y="254000"/>
                </a:lnTo>
                <a:close/>
              </a:path>
            </a:pathLst>
          </a:custGeom>
          <a:ln w="9524">
            <a:solidFill>
              <a:srgbClr val="000000"/>
            </a:solidFill>
          </a:ln>
        </p:spPr>
        <p:txBody>
          <a:bodyPr wrap="square" lIns="0" tIns="0" rIns="0" bIns="0" rtlCol="0"/>
          <a:lstStyle/>
          <a:p/>
        </p:txBody>
      </p:sp>
      <p:sp>
        <p:nvSpPr>
          <p:cNvPr id="14" name="object 13"/>
          <p:cNvSpPr/>
          <p:nvPr/>
        </p:nvSpPr>
        <p:spPr>
          <a:xfrm>
            <a:off x="4652836" y="3529981"/>
            <a:ext cx="1930400" cy="1905"/>
          </a:xfrm>
          <a:custGeom>
            <a:avLst/>
            <a:gdLst/>
            <a:ahLst/>
            <a:cxnLst/>
            <a:rect l="l" t="t" r="r" b="b"/>
            <a:pathLst>
              <a:path w="1930400" h="1905">
                <a:moveTo>
                  <a:pt x="0" y="0"/>
                </a:moveTo>
                <a:lnTo>
                  <a:pt x="1930399" y="1587"/>
                </a:lnTo>
              </a:path>
            </a:pathLst>
          </a:custGeom>
          <a:ln w="9524">
            <a:solidFill>
              <a:srgbClr val="FFFFFF"/>
            </a:solidFill>
          </a:ln>
        </p:spPr>
        <p:txBody>
          <a:bodyPr wrap="square" lIns="0" tIns="0" rIns="0" bIns="0" rtlCol="0"/>
          <a:lstStyle/>
          <a:p/>
        </p:txBody>
      </p:sp>
      <p:sp>
        <p:nvSpPr>
          <p:cNvPr id="15" name="object 14"/>
          <p:cNvSpPr txBox="1"/>
          <p:nvPr/>
        </p:nvSpPr>
        <p:spPr>
          <a:xfrm>
            <a:off x="4478213" y="3258201"/>
            <a:ext cx="1965325" cy="299720"/>
          </a:xfrm>
          <a:prstGeom prst="rect">
            <a:avLst/>
          </a:prstGeom>
        </p:spPr>
        <p:txBody>
          <a:bodyPr vert="horz" wrap="square" lIns="0" tIns="12700" rIns="0" bIns="0" rtlCol="0">
            <a:spAutoFit/>
          </a:bodyPr>
          <a:lstStyle/>
          <a:p>
            <a:pPr marL="12700">
              <a:lnSpc>
                <a:spcPct val="100000"/>
              </a:lnSpc>
              <a:spcBef>
                <a:spcPts val="100"/>
              </a:spcBef>
              <a:tabLst>
                <a:tab pos="468630" algn="l"/>
                <a:tab pos="1951355" algn="l"/>
              </a:tabLst>
            </a:pPr>
            <a:r>
              <a:rPr sz="1800" u="sng" dirty="0">
                <a:solidFill>
                  <a:srgbClr val="FFFFFF"/>
                </a:solidFill>
                <a:uFill>
                  <a:solidFill>
                    <a:srgbClr val="FF2600"/>
                  </a:solidFill>
                </a:uFill>
                <a:latin typeface="Times New Roman" panose="02020603050405020304"/>
                <a:cs typeface="Times New Roman" panose="02020603050405020304"/>
              </a:rPr>
              <a:t> 	</a:t>
            </a:r>
            <a:r>
              <a:rPr sz="1800" u="sng" dirty="0">
                <a:solidFill>
                  <a:srgbClr val="FFFFFF"/>
                </a:solidFill>
                <a:uFill>
                  <a:solidFill>
                    <a:srgbClr val="FF2600"/>
                  </a:solidFill>
                </a:uFill>
                <a:latin typeface="黑体" panose="02010609060101010101" charset="-122"/>
                <a:cs typeface="黑体" panose="02010609060101010101" charset="-122"/>
              </a:rPr>
              <a:t>住院患者	</a:t>
            </a:r>
            <a:endParaRPr sz="1800">
              <a:latin typeface="黑体" panose="02010609060101010101" charset="-122"/>
              <a:cs typeface="黑体" panose="02010609060101010101" charset="-122"/>
            </a:endParaRPr>
          </a:p>
        </p:txBody>
      </p:sp>
      <p:sp>
        <p:nvSpPr>
          <p:cNvPr id="16" name="object 15"/>
          <p:cNvSpPr/>
          <p:nvPr/>
        </p:nvSpPr>
        <p:spPr>
          <a:xfrm>
            <a:off x="4698875" y="4139581"/>
            <a:ext cx="2133600" cy="0"/>
          </a:xfrm>
          <a:custGeom>
            <a:avLst/>
            <a:gdLst/>
            <a:ahLst/>
            <a:cxnLst/>
            <a:rect l="l" t="t" r="r" b="b"/>
            <a:pathLst>
              <a:path w="2133600">
                <a:moveTo>
                  <a:pt x="0" y="0"/>
                </a:moveTo>
                <a:lnTo>
                  <a:pt x="2133599" y="0"/>
                </a:lnTo>
              </a:path>
            </a:pathLst>
          </a:custGeom>
          <a:ln w="9524">
            <a:solidFill>
              <a:srgbClr val="FFFFFF"/>
            </a:solidFill>
          </a:ln>
        </p:spPr>
        <p:txBody>
          <a:bodyPr wrap="square" lIns="0" tIns="0" rIns="0" bIns="0" rtlCol="0"/>
          <a:lstStyle/>
          <a:p/>
        </p:txBody>
      </p:sp>
      <p:sp>
        <p:nvSpPr>
          <p:cNvPr id="17" name="object 16"/>
          <p:cNvSpPr txBox="1"/>
          <p:nvPr/>
        </p:nvSpPr>
        <p:spPr>
          <a:xfrm>
            <a:off x="4478213" y="3513093"/>
            <a:ext cx="1965325" cy="566420"/>
          </a:xfrm>
          <a:prstGeom prst="rect">
            <a:avLst/>
          </a:prstGeom>
        </p:spPr>
        <p:txBody>
          <a:bodyPr vert="horz" wrap="square" lIns="0" tIns="12700" rIns="0" bIns="0" rtlCol="0">
            <a:spAutoFit/>
          </a:bodyPr>
          <a:lstStyle/>
          <a:p>
            <a:pPr marL="417830">
              <a:lnSpc>
                <a:spcPts val="2130"/>
              </a:lnSpc>
              <a:spcBef>
                <a:spcPts val="100"/>
              </a:spcBef>
            </a:pPr>
            <a:r>
              <a:rPr sz="1800" dirty="0">
                <a:solidFill>
                  <a:srgbClr val="FFFFFF"/>
                </a:solidFill>
                <a:latin typeface="黑体" panose="02010609060101010101" charset="-122"/>
                <a:cs typeface="黑体" panose="02010609060101010101" charset="-122"/>
              </a:rPr>
              <a:t>病房号</a:t>
            </a:r>
            <a:endParaRPr sz="1800">
              <a:latin typeface="黑体" panose="02010609060101010101" charset="-122"/>
              <a:cs typeface="黑体" panose="02010609060101010101" charset="-122"/>
            </a:endParaRPr>
          </a:p>
          <a:p>
            <a:pPr marL="12700">
              <a:lnSpc>
                <a:spcPts val="2130"/>
              </a:lnSpc>
              <a:tabLst>
                <a:tab pos="417830" algn="l"/>
                <a:tab pos="1951355" algn="l"/>
              </a:tabLst>
            </a:pPr>
            <a:r>
              <a:rPr sz="1800" u="sng" dirty="0">
                <a:solidFill>
                  <a:srgbClr val="FFFFFF"/>
                </a:solidFill>
                <a:uFill>
                  <a:solidFill>
                    <a:srgbClr val="FF2600"/>
                  </a:solidFill>
                </a:uFill>
                <a:latin typeface="Times New Roman" panose="02020603050405020304"/>
                <a:cs typeface="Times New Roman" panose="02020603050405020304"/>
              </a:rPr>
              <a:t> 	</a:t>
            </a:r>
            <a:r>
              <a:rPr sz="1800" u="sng" dirty="0">
                <a:solidFill>
                  <a:srgbClr val="FFFFFF"/>
                </a:solidFill>
                <a:uFill>
                  <a:solidFill>
                    <a:srgbClr val="FF2600"/>
                  </a:solidFill>
                </a:uFill>
                <a:latin typeface="黑体" panose="02010609060101010101" charset="-122"/>
                <a:cs typeface="黑体" panose="02010609060101010101" charset="-122"/>
              </a:rPr>
              <a:t>病床号	</a:t>
            </a:r>
            <a:endParaRPr sz="1800">
              <a:latin typeface="黑体" panose="02010609060101010101" charset="-122"/>
              <a:cs typeface="黑体" panose="02010609060101010101" charset="-122"/>
            </a:endParaRPr>
          </a:p>
        </p:txBody>
      </p:sp>
      <p:sp>
        <p:nvSpPr>
          <p:cNvPr id="18" name="object 17"/>
          <p:cNvSpPr/>
          <p:nvPr/>
        </p:nvSpPr>
        <p:spPr>
          <a:xfrm>
            <a:off x="8661273" y="2691781"/>
            <a:ext cx="2192655" cy="1611630"/>
          </a:xfrm>
          <a:custGeom>
            <a:avLst/>
            <a:gdLst/>
            <a:ahLst/>
            <a:cxnLst/>
            <a:rect l="l" t="t" r="r" b="b"/>
            <a:pathLst>
              <a:path w="2192654" h="1611629">
                <a:moveTo>
                  <a:pt x="1923586" y="0"/>
                </a:moveTo>
                <a:lnTo>
                  <a:pt x="268552" y="0"/>
                </a:lnTo>
                <a:lnTo>
                  <a:pt x="220280" y="4326"/>
                </a:lnTo>
                <a:lnTo>
                  <a:pt x="174845" y="16801"/>
                </a:lnTo>
                <a:lnTo>
                  <a:pt x="133008" y="36665"/>
                </a:lnTo>
                <a:lnTo>
                  <a:pt x="95527" y="63159"/>
                </a:lnTo>
                <a:lnTo>
                  <a:pt x="63160" y="95527"/>
                </a:lnTo>
                <a:lnTo>
                  <a:pt x="36665" y="133008"/>
                </a:lnTo>
                <a:lnTo>
                  <a:pt x="16801" y="174845"/>
                </a:lnTo>
                <a:lnTo>
                  <a:pt x="4326" y="220279"/>
                </a:lnTo>
                <a:lnTo>
                  <a:pt x="0" y="268551"/>
                </a:lnTo>
                <a:lnTo>
                  <a:pt x="0" y="1342760"/>
                </a:lnTo>
                <a:lnTo>
                  <a:pt x="4326" y="1391033"/>
                </a:lnTo>
                <a:lnTo>
                  <a:pt x="16801" y="1436467"/>
                </a:lnTo>
                <a:lnTo>
                  <a:pt x="36665" y="1478303"/>
                </a:lnTo>
                <a:lnTo>
                  <a:pt x="63160" y="1515785"/>
                </a:lnTo>
                <a:lnTo>
                  <a:pt x="95527" y="1548152"/>
                </a:lnTo>
                <a:lnTo>
                  <a:pt x="133008" y="1574647"/>
                </a:lnTo>
                <a:lnTo>
                  <a:pt x="174845" y="1594511"/>
                </a:lnTo>
                <a:lnTo>
                  <a:pt x="220280" y="1606985"/>
                </a:lnTo>
                <a:lnTo>
                  <a:pt x="268552" y="1611312"/>
                </a:lnTo>
                <a:lnTo>
                  <a:pt x="1923586" y="1611312"/>
                </a:lnTo>
                <a:lnTo>
                  <a:pt x="1971858" y="1606985"/>
                </a:lnTo>
                <a:lnTo>
                  <a:pt x="2017292" y="1594511"/>
                </a:lnTo>
                <a:lnTo>
                  <a:pt x="2059129" y="1574647"/>
                </a:lnTo>
                <a:lnTo>
                  <a:pt x="2096610" y="1548152"/>
                </a:lnTo>
                <a:lnTo>
                  <a:pt x="2128978" y="1515785"/>
                </a:lnTo>
                <a:lnTo>
                  <a:pt x="2155472" y="1478303"/>
                </a:lnTo>
                <a:lnTo>
                  <a:pt x="2175336" y="1436467"/>
                </a:lnTo>
                <a:lnTo>
                  <a:pt x="2187811" y="1391033"/>
                </a:lnTo>
                <a:lnTo>
                  <a:pt x="2192138" y="1342760"/>
                </a:lnTo>
                <a:lnTo>
                  <a:pt x="2192138" y="268551"/>
                </a:lnTo>
                <a:lnTo>
                  <a:pt x="2187811" y="220279"/>
                </a:lnTo>
                <a:lnTo>
                  <a:pt x="2175336" y="174845"/>
                </a:lnTo>
                <a:lnTo>
                  <a:pt x="2155472" y="133008"/>
                </a:lnTo>
                <a:lnTo>
                  <a:pt x="2128978" y="95527"/>
                </a:lnTo>
                <a:lnTo>
                  <a:pt x="2096610" y="63159"/>
                </a:lnTo>
                <a:lnTo>
                  <a:pt x="2059129" y="36665"/>
                </a:lnTo>
                <a:lnTo>
                  <a:pt x="2017292" y="16801"/>
                </a:lnTo>
                <a:lnTo>
                  <a:pt x="1971858" y="4326"/>
                </a:lnTo>
                <a:lnTo>
                  <a:pt x="1923586" y="0"/>
                </a:lnTo>
                <a:close/>
              </a:path>
            </a:pathLst>
          </a:custGeom>
          <a:solidFill>
            <a:srgbClr val="FFD5A9"/>
          </a:solidFill>
        </p:spPr>
        <p:txBody>
          <a:bodyPr wrap="square" lIns="0" tIns="0" rIns="0" bIns="0" rtlCol="0"/>
          <a:lstStyle/>
          <a:p/>
        </p:txBody>
      </p:sp>
      <p:sp>
        <p:nvSpPr>
          <p:cNvPr id="19" name="object 18"/>
          <p:cNvSpPr/>
          <p:nvPr/>
        </p:nvSpPr>
        <p:spPr>
          <a:xfrm>
            <a:off x="8661274" y="2691781"/>
            <a:ext cx="2192655" cy="1611630"/>
          </a:xfrm>
          <a:custGeom>
            <a:avLst/>
            <a:gdLst/>
            <a:ahLst/>
            <a:cxnLst/>
            <a:rect l="l" t="t" r="r" b="b"/>
            <a:pathLst>
              <a:path w="2192654" h="1611629">
                <a:moveTo>
                  <a:pt x="0" y="268551"/>
                </a:moveTo>
                <a:lnTo>
                  <a:pt x="4326" y="220279"/>
                </a:lnTo>
                <a:lnTo>
                  <a:pt x="16801" y="174845"/>
                </a:lnTo>
                <a:lnTo>
                  <a:pt x="36665" y="133008"/>
                </a:lnTo>
                <a:lnTo>
                  <a:pt x="63159" y="95527"/>
                </a:lnTo>
                <a:lnTo>
                  <a:pt x="95527" y="63160"/>
                </a:lnTo>
                <a:lnTo>
                  <a:pt x="133008" y="36665"/>
                </a:lnTo>
                <a:lnTo>
                  <a:pt x="174845" y="16801"/>
                </a:lnTo>
                <a:lnTo>
                  <a:pt x="220279" y="4326"/>
                </a:lnTo>
                <a:lnTo>
                  <a:pt x="268551" y="0"/>
                </a:lnTo>
                <a:lnTo>
                  <a:pt x="1923585" y="0"/>
                </a:lnTo>
                <a:lnTo>
                  <a:pt x="1971857" y="4326"/>
                </a:lnTo>
                <a:lnTo>
                  <a:pt x="2017291" y="16801"/>
                </a:lnTo>
                <a:lnTo>
                  <a:pt x="2059128" y="36665"/>
                </a:lnTo>
                <a:lnTo>
                  <a:pt x="2096609" y="63160"/>
                </a:lnTo>
                <a:lnTo>
                  <a:pt x="2128977" y="95527"/>
                </a:lnTo>
                <a:lnTo>
                  <a:pt x="2155472" y="133008"/>
                </a:lnTo>
                <a:lnTo>
                  <a:pt x="2175335" y="174845"/>
                </a:lnTo>
                <a:lnTo>
                  <a:pt x="2187810" y="220279"/>
                </a:lnTo>
                <a:lnTo>
                  <a:pt x="2192137" y="268551"/>
                </a:lnTo>
                <a:lnTo>
                  <a:pt x="2192137" y="1342760"/>
                </a:lnTo>
                <a:lnTo>
                  <a:pt x="2187810" y="1391032"/>
                </a:lnTo>
                <a:lnTo>
                  <a:pt x="2175335" y="1436466"/>
                </a:lnTo>
                <a:lnTo>
                  <a:pt x="2155472" y="1478303"/>
                </a:lnTo>
                <a:lnTo>
                  <a:pt x="2128977" y="1515784"/>
                </a:lnTo>
                <a:lnTo>
                  <a:pt x="2096609" y="1548152"/>
                </a:lnTo>
                <a:lnTo>
                  <a:pt x="2059128" y="1574647"/>
                </a:lnTo>
                <a:lnTo>
                  <a:pt x="2017291" y="1594511"/>
                </a:lnTo>
                <a:lnTo>
                  <a:pt x="1971857" y="1606985"/>
                </a:lnTo>
                <a:lnTo>
                  <a:pt x="1923585" y="1611312"/>
                </a:lnTo>
                <a:lnTo>
                  <a:pt x="268551" y="1611312"/>
                </a:lnTo>
                <a:lnTo>
                  <a:pt x="220279" y="1606985"/>
                </a:lnTo>
                <a:lnTo>
                  <a:pt x="174845" y="1594511"/>
                </a:lnTo>
                <a:lnTo>
                  <a:pt x="133008" y="1574647"/>
                </a:lnTo>
                <a:lnTo>
                  <a:pt x="95527" y="1548152"/>
                </a:lnTo>
                <a:lnTo>
                  <a:pt x="63159" y="1515784"/>
                </a:lnTo>
                <a:lnTo>
                  <a:pt x="36665" y="1478303"/>
                </a:lnTo>
                <a:lnTo>
                  <a:pt x="16801" y="1436466"/>
                </a:lnTo>
                <a:lnTo>
                  <a:pt x="4326" y="1391032"/>
                </a:lnTo>
                <a:lnTo>
                  <a:pt x="0" y="1342760"/>
                </a:lnTo>
                <a:lnTo>
                  <a:pt x="0" y="268551"/>
                </a:lnTo>
                <a:close/>
              </a:path>
            </a:pathLst>
          </a:custGeom>
          <a:ln w="9524">
            <a:solidFill>
              <a:srgbClr val="FF2600"/>
            </a:solidFill>
          </a:ln>
        </p:spPr>
        <p:txBody>
          <a:bodyPr wrap="square" lIns="0" tIns="0" rIns="0" bIns="0" rtlCol="0"/>
          <a:lstStyle/>
          <a:p/>
        </p:txBody>
      </p:sp>
      <p:sp>
        <p:nvSpPr>
          <p:cNvPr id="20" name="object 19"/>
          <p:cNvSpPr/>
          <p:nvPr/>
        </p:nvSpPr>
        <p:spPr>
          <a:xfrm>
            <a:off x="8661274" y="3148981"/>
            <a:ext cx="2540000" cy="1905"/>
          </a:xfrm>
          <a:custGeom>
            <a:avLst/>
            <a:gdLst/>
            <a:ahLst/>
            <a:cxnLst/>
            <a:rect l="l" t="t" r="r" b="b"/>
            <a:pathLst>
              <a:path w="2540000" h="1905">
                <a:moveTo>
                  <a:pt x="0" y="0"/>
                </a:moveTo>
                <a:lnTo>
                  <a:pt x="2539999" y="1587"/>
                </a:lnTo>
              </a:path>
            </a:pathLst>
          </a:custGeom>
          <a:ln w="9524">
            <a:solidFill>
              <a:srgbClr val="FF2600"/>
            </a:solidFill>
          </a:ln>
        </p:spPr>
        <p:txBody>
          <a:bodyPr wrap="square" lIns="0" tIns="0" rIns="0" bIns="0" rtlCol="0"/>
          <a:lstStyle/>
          <a:p/>
        </p:txBody>
      </p:sp>
      <p:sp>
        <p:nvSpPr>
          <p:cNvPr id="21" name="object 20"/>
          <p:cNvSpPr/>
          <p:nvPr/>
        </p:nvSpPr>
        <p:spPr>
          <a:xfrm>
            <a:off x="8661274" y="3682379"/>
            <a:ext cx="2336165" cy="13970"/>
          </a:xfrm>
          <a:custGeom>
            <a:avLst/>
            <a:gdLst/>
            <a:ahLst/>
            <a:cxnLst/>
            <a:rect l="l" t="t" r="r" b="b"/>
            <a:pathLst>
              <a:path w="2336165" h="13970">
                <a:moveTo>
                  <a:pt x="0" y="0"/>
                </a:moveTo>
                <a:lnTo>
                  <a:pt x="2336153" y="13716"/>
                </a:lnTo>
              </a:path>
            </a:pathLst>
          </a:custGeom>
          <a:ln w="9524">
            <a:solidFill>
              <a:srgbClr val="FF2600"/>
            </a:solidFill>
          </a:ln>
        </p:spPr>
        <p:txBody>
          <a:bodyPr wrap="square" lIns="0" tIns="0" rIns="0" bIns="0" rtlCol="0"/>
          <a:lstStyle/>
          <a:p/>
        </p:txBody>
      </p:sp>
      <p:sp>
        <p:nvSpPr>
          <p:cNvPr id="22" name="object 21"/>
          <p:cNvSpPr/>
          <p:nvPr/>
        </p:nvSpPr>
        <p:spPr>
          <a:xfrm>
            <a:off x="8818436" y="2844181"/>
            <a:ext cx="2179320" cy="1535430"/>
          </a:xfrm>
          <a:custGeom>
            <a:avLst/>
            <a:gdLst/>
            <a:ahLst/>
            <a:cxnLst/>
            <a:rect l="l" t="t" r="r" b="b"/>
            <a:pathLst>
              <a:path w="2179320" h="1535429">
                <a:moveTo>
                  <a:pt x="1923139" y="0"/>
                </a:moveTo>
                <a:lnTo>
                  <a:pt x="255851" y="0"/>
                </a:lnTo>
                <a:lnTo>
                  <a:pt x="209862" y="4122"/>
                </a:lnTo>
                <a:lnTo>
                  <a:pt x="166576" y="16006"/>
                </a:lnTo>
                <a:lnTo>
                  <a:pt x="126718" y="34931"/>
                </a:lnTo>
                <a:lnTo>
                  <a:pt x="91009" y="60173"/>
                </a:lnTo>
                <a:lnTo>
                  <a:pt x="60173" y="91009"/>
                </a:lnTo>
                <a:lnTo>
                  <a:pt x="34931" y="126718"/>
                </a:lnTo>
                <a:lnTo>
                  <a:pt x="16006" y="166576"/>
                </a:lnTo>
                <a:lnTo>
                  <a:pt x="4122" y="209862"/>
                </a:lnTo>
                <a:lnTo>
                  <a:pt x="0" y="255851"/>
                </a:lnTo>
                <a:lnTo>
                  <a:pt x="0" y="1279260"/>
                </a:lnTo>
                <a:lnTo>
                  <a:pt x="4122" y="1325250"/>
                </a:lnTo>
                <a:lnTo>
                  <a:pt x="16006" y="1368536"/>
                </a:lnTo>
                <a:lnTo>
                  <a:pt x="34931" y="1408394"/>
                </a:lnTo>
                <a:lnTo>
                  <a:pt x="60173" y="1444103"/>
                </a:lnTo>
                <a:lnTo>
                  <a:pt x="91009" y="1474939"/>
                </a:lnTo>
                <a:lnTo>
                  <a:pt x="126718" y="1500181"/>
                </a:lnTo>
                <a:lnTo>
                  <a:pt x="166576" y="1519105"/>
                </a:lnTo>
                <a:lnTo>
                  <a:pt x="209862" y="1530990"/>
                </a:lnTo>
                <a:lnTo>
                  <a:pt x="255851" y="1535112"/>
                </a:lnTo>
                <a:lnTo>
                  <a:pt x="1923139" y="1535112"/>
                </a:lnTo>
                <a:lnTo>
                  <a:pt x="1969129" y="1530990"/>
                </a:lnTo>
                <a:lnTo>
                  <a:pt x="2012414" y="1519105"/>
                </a:lnTo>
                <a:lnTo>
                  <a:pt x="2052272" y="1500181"/>
                </a:lnTo>
                <a:lnTo>
                  <a:pt x="2087981" y="1474939"/>
                </a:lnTo>
                <a:lnTo>
                  <a:pt x="2118817" y="1444103"/>
                </a:lnTo>
                <a:lnTo>
                  <a:pt x="2144059" y="1408394"/>
                </a:lnTo>
                <a:lnTo>
                  <a:pt x="2162984" y="1368536"/>
                </a:lnTo>
                <a:lnTo>
                  <a:pt x="2174868" y="1325250"/>
                </a:lnTo>
                <a:lnTo>
                  <a:pt x="2178991" y="1279260"/>
                </a:lnTo>
                <a:lnTo>
                  <a:pt x="2178991" y="255851"/>
                </a:lnTo>
                <a:lnTo>
                  <a:pt x="2174868" y="209862"/>
                </a:lnTo>
                <a:lnTo>
                  <a:pt x="2162984" y="166576"/>
                </a:lnTo>
                <a:lnTo>
                  <a:pt x="2144059" y="126718"/>
                </a:lnTo>
                <a:lnTo>
                  <a:pt x="2118817" y="91009"/>
                </a:lnTo>
                <a:lnTo>
                  <a:pt x="2087981" y="60173"/>
                </a:lnTo>
                <a:lnTo>
                  <a:pt x="2052272" y="34931"/>
                </a:lnTo>
                <a:lnTo>
                  <a:pt x="2012414" y="16006"/>
                </a:lnTo>
                <a:lnTo>
                  <a:pt x="1969129" y="4122"/>
                </a:lnTo>
                <a:lnTo>
                  <a:pt x="1923139" y="0"/>
                </a:lnTo>
                <a:close/>
              </a:path>
            </a:pathLst>
          </a:custGeom>
          <a:solidFill>
            <a:srgbClr val="4180FF"/>
          </a:solidFill>
        </p:spPr>
        <p:txBody>
          <a:bodyPr wrap="square" lIns="0" tIns="0" rIns="0" bIns="0" rtlCol="0"/>
          <a:lstStyle/>
          <a:p/>
        </p:txBody>
      </p:sp>
      <p:sp>
        <p:nvSpPr>
          <p:cNvPr id="23" name="object 22"/>
          <p:cNvSpPr/>
          <p:nvPr/>
        </p:nvSpPr>
        <p:spPr>
          <a:xfrm>
            <a:off x="8818436" y="2844181"/>
            <a:ext cx="2179320" cy="1535430"/>
          </a:xfrm>
          <a:custGeom>
            <a:avLst/>
            <a:gdLst/>
            <a:ahLst/>
            <a:cxnLst/>
            <a:rect l="l" t="t" r="r" b="b"/>
            <a:pathLst>
              <a:path w="2179320" h="1535429">
                <a:moveTo>
                  <a:pt x="0" y="255851"/>
                </a:moveTo>
                <a:lnTo>
                  <a:pt x="4122" y="209862"/>
                </a:lnTo>
                <a:lnTo>
                  <a:pt x="16006" y="166576"/>
                </a:lnTo>
                <a:lnTo>
                  <a:pt x="34931" y="126718"/>
                </a:lnTo>
                <a:lnTo>
                  <a:pt x="60173" y="91009"/>
                </a:lnTo>
                <a:lnTo>
                  <a:pt x="91009" y="60173"/>
                </a:lnTo>
                <a:lnTo>
                  <a:pt x="126718" y="34931"/>
                </a:lnTo>
                <a:lnTo>
                  <a:pt x="166576" y="16006"/>
                </a:lnTo>
                <a:lnTo>
                  <a:pt x="209862" y="4122"/>
                </a:lnTo>
                <a:lnTo>
                  <a:pt x="255851" y="0"/>
                </a:lnTo>
                <a:lnTo>
                  <a:pt x="1923139" y="0"/>
                </a:lnTo>
                <a:lnTo>
                  <a:pt x="1969129" y="4122"/>
                </a:lnTo>
                <a:lnTo>
                  <a:pt x="2012414" y="16006"/>
                </a:lnTo>
                <a:lnTo>
                  <a:pt x="2052272" y="34931"/>
                </a:lnTo>
                <a:lnTo>
                  <a:pt x="2087981" y="60173"/>
                </a:lnTo>
                <a:lnTo>
                  <a:pt x="2118818" y="91009"/>
                </a:lnTo>
                <a:lnTo>
                  <a:pt x="2144060" y="126718"/>
                </a:lnTo>
                <a:lnTo>
                  <a:pt x="2162984" y="166576"/>
                </a:lnTo>
                <a:lnTo>
                  <a:pt x="2174869" y="209862"/>
                </a:lnTo>
                <a:lnTo>
                  <a:pt x="2178991" y="255851"/>
                </a:lnTo>
                <a:lnTo>
                  <a:pt x="2178991" y="1279260"/>
                </a:lnTo>
                <a:lnTo>
                  <a:pt x="2174869" y="1325250"/>
                </a:lnTo>
                <a:lnTo>
                  <a:pt x="2162984" y="1368535"/>
                </a:lnTo>
                <a:lnTo>
                  <a:pt x="2144060" y="1408393"/>
                </a:lnTo>
                <a:lnTo>
                  <a:pt x="2118818" y="1444102"/>
                </a:lnTo>
                <a:lnTo>
                  <a:pt x="2087981" y="1474939"/>
                </a:lnTo>
                <a:lnTo>
                  <a:pt x="2052272" y="1500181"/>
                </a:lnTo>
                <a:lnTo>
                  <a:pt x="2012414" y="1519105"/>
                </a:lnTo>
                <a:lnTo>
                  <a:pt x="1969129" y="1530990"/>
                </a:lnTo>
                <a:lnTo>
                  <a:pt x="1923139" y="1535112"/>
                </a:lnTo>
                <a:lnTo>
                  <a:pt x="255851" y="1535112"/>
                </a:lnTo>
                <a:lnTo>
                  <a:pt x="209862" y="1530990"/>
                </a:lnTo>
                <a:lnTo>
                  <a:pt x="166576" y="1519105"/>
                </a:lnTo>
                <a:lnTo>
                  <a:pt x="126718" y="1500181"/>
                </a:lnTo>
                <a:lnTo>
                  <a:pt x="91009" y="1474939"/>
                </a:lnTo>
                <a:lnTo>
                  <a:pt x="60173" y="1444102"/>
                </a:lnTo>
                <a:lnTo>
                  <a:pt x="34931" y="1408393"/>
                </a:lnTo>
                <a:lnTo>
                  <a:pt x="16006" y="1368535"/>
                </a:lnTo>
                <a:lnTo>
                  <a:pt x="4122" y="1325250"/>
                </a:lnTo>
                <a:lnTo>
                  <a:pt x="0" y="1279260"/>
                </a:lnTo>
                <a:lnTo>
                  <a:pt x="0" y="255851"/>
                </a:lnTo>
                <a:close/>
              </a:path>
            </a:pathLst>
          </a:custGeom>
          <a:ln w="9524">
            <a:solidFill>
              <a:srgbClr val="000000"/>
            </a:solidFill>
          </a:ln>
        </p:spPr>
        <p:txBody>
          <a:bodyPr wrap="square" lIns="0" tIns="0" rIns="0" bIns="0" rtlCol="0"/>
          <a:lstStyle/>
          <a:p/>
        </p:txBody>
      </p:sp>
      <p:sp>
        <p:nvSpPr>
          <p:cNvPr id="24" name="object 23"/>
          <p:cNvSpPr/>
          <p:nvPr/>
        </p:nvSpPr>
        <p:spPr>
          <a:xfrm>
            <a:off x="8818436" y="3148981"/>
            <a:ext cx="2540000" cy="1905"/>
          </a:xfrm>
          <a:custGeom>
            <a:avLst/>
            <a:gdLst/>
            <a:ahLst/>
            <a:cxnLst/>
            <a:rect l="l" t="t" r="r" b="b"/>
            <a:pathLst>
              <a:path w="2540000" h="1905">
                <a:moveTo>
                  <a:pt x="0" y="0"/>
                </a:moveTo>
                <a:lnTo>
                  <a:pt x="2539999" y="1587"/>
                </a:lnTo>
              </a:path>
            </a:pathLst>
          </a:custGeom>
          <a:ln w="9524">
            <a:solidFill>
              <a:srgbClr val="FFFFFF"/>
            </a:solidFill>
          </a:ln>
        </p:spPr>
        <p:txBody>
          <a:bodyPr wrap="square" lIns="0" tIns="0" rIns="0" bIns="0" rtlCol="0"/>
          <a:lstStyle/>
          <a:p/>
        </p:txBody>
      </p:sp>
      <p:sp>
        <p:nvSpPr>
          <p:cNvPr id="25" name="object 24"/>
          <p:cNvSpPr txBox="1"/>
          <p:nvPr/>
        </p:nvSpPr>
        <p:spPr>
          <a:xfrm>
            <a:off x="9100376" y="2877201"/>
            <a:ext cx="939800" cy="528320"/>
          </a:xfrm>
          <a:prstGeom prst="rect">
            <a:avLst/>
          </a:prstGeom>
        </p:spPr>
        <p:txBody>
          <a:bodyPr vert="horz" wrap="square" lIns="0" tIns="12700" rIns="0" bIns="0" rtlCol="0">
            <a:spAutoFit/>
          </a:bodyPr>
          <a:lstStyle/>
          <a:p>
            <a:pPr marL="12700">
              <a:lnSpc>
                <a:spcPts val="1980"/>
              </a:lnSpc>
              <a:spcBef>
                <a:spcPts val="100"/>
              </a:spcBef>
            </a:pPr>
            <a:r>
              <a:rPr sz="1800" dirty="0">
                <a:solidFill>
                  <a:srgbClr val="FFFFFF"/>
                </a:solidFill>
                <a:latin typeface="黑体" panose="02010609060101010101" charset="-122"/>
                <a:cs typeface="黑体" panose="02010609060101010101" charset="-122"/>
              </a:rPr>
              <a:t>病历</a:t>
            </a:r>
            <a:endParaRPr sz="1800">
              <a:latin typeface="黑体" panose="02010609060101010101" charset="-122"/>
              <a:cs typeface="黑体" panose="02010609060101010101" charset="-122"/>
            </a:endParaRPr>
          </a:p>
          <a:p>
            <a:pPr marL="12700">
              <a:lnSpc>
                <a:spcPts val="1980"/>
              </a:lnSpc>
            </a:pPr>
            <a:r>
              <a:rPr sz="1800" dirty="0">
                <a:solidFill>
                  <a:srgbClr val="FFFFFF"/>
                </a:solidFill>
                <a:latin typeface="黑体" panose="02010609060101010101" charset="-122"/>
                <a:cs typeface="黑体" panose="02010609060101010101" charset="-122"/>
              </a:rPr>
              <a:t>就诊记录</a:t>
            </a:r>
            <a:endParaRPr sz="1800">
              <a:latin typeface="黑体" panose="02010609060101010101" charset="-122"/>
              <a:cs typeface="黑体" panose="02010609060101010101" charset="-122"/>
            </a:endParaRPr>
          </a:p>
        </p:txBody>
      </p:sp>
      <p:sp>
        <p:nvSpPr>
          <p:cNvPr id="26" name="object 25"/>
          <p:cNvSpPr txBox="1"/>
          <p:nvPr/>
        </p:nvSpPr>
        <p:spPr>
          <a:xfrm>
            <a:off x="9100376" y="3372501"/>
            <a:ext cx="9398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黑体" panose="02010609060101010101" charset="-122"/>
                <a:cs typeface="黑体" panose="02010609060101010101" charset="-122"/>
              </a:rPr>
              <a:t>检查结果</a:t>
            </a:r>
            <a:endParaRPr sz="1800">
              <a:latin typeface="黑体" panose="02010609060101010101" charset="-122"/>
              <a:cs typeface="黑体" panose="02010609060101010101" charset="-122"/>
            </a:endParaRPr>
          </a:p>
        </p:txBody>
      </p:sp>
      <p:sp>
        <p:nvSpPr>
          <p:cNvPr id="27" name="object 26"/>
          <p:cNvSpPr/>
          <p:nvPr/>
        </p:nvSpPr>
        <p:spPr>
          <a:xfrm>
            <a:off x="8864474" y="3758581"/>
            <a:ext cx="2540000" cy="1905"/>
          </a:xfrm>
          <a:custGeom>
            <a:avLst/>
            <a:gdLst/>
            <a:ahLst/>
            <a:cxnLst/>
            <a:rect l="l" t="t" r="r" b="b"/>
            <a:pathLst>
              <a:path w="2540000" h="1904">
                <a:moveTo>
                  <a:pt x="0" y="0"/>
                </a:moveTo>
                <a:lnTo>
                  <a:pt x="2539999" y="1587"/>
                </a:lnTo>
              </a:path>
            </a:pathLst>
          </a:custGeom>
          <a:ln w="9524">
            <a:solidFill>
              <a:srgbClr val="FFFFFF"/>
            </a:solidFill>
          </a:ln>
        </p:spPr>
        <p:txBody>
          <a:bodyPr wrap="square" lIns="0" tIns="0" rIns="0" bIns="0" rtlCol="0"/>
          <a:lstStyle/>
          <a:p/>
        </p:txBody>
      </p:sp>
      <p:sp>
        <p:nvSpPr>
          <p:cNvPr id="28" name="object 27"/>
          <p:cNvSpPr txBox="1"/>
          <p:nvPr/>
        </p:nvSpPr>
        <p:spPr>
          <a:xfrm>
            <a:off x="7114415" y="5916295"/>
            <a:ext cx="1168400" cy="566420"/>
          </a:xfrm>
          <a:prstGeom prst="rect">
            <a:avLst/>
          </a:prstGeom>
        </p:spPr>
        <p:txBody>
          <a:bodyPr vert="horz" wrap="square" lIns="0" tIns="12700" rIns="0" bIns="0" rtlCol="0">
            <a:spAutoFit/>
          </a:bodyPr>
          <a:lstStyle/>
          <a:p>
            <a:pPr marL="12700">
              <a:lnSpc>
                <a:spcPts val="2130"/>
              </a:lnSpc>
              <a:spcBef>
                <a:spcPts val="100"/>
              </a:spcBef>
            </a:pPr>
            <a:r>
              <a:rPr sz="1800" dirty="0">
                <a:solidFill>
                  <a:srgbClr val="FFFFFF"/>
                </a:solidFill>
                <a:latin typeface="黑体" panose="02010609060101010101" charset="-122"/>
                <a:cs typeface="黑体" panose="02010609060101010101" charset="-122"/>
              </a:rPr>
              <a:t>体检</a:t>
            </a:r>
            <a:endParaRPr sz="1800">
              <a:latin typeface="黑体" panose="02010609060101010101" charset="-122"/>
              <a:cs typeface="黑体" panose="02010609060101010101" charset="-122"/>
            </a:endParaRPr>
          </a:p>
          <a:p>
            <a:pPr marL="12700">
              <a:lnSpc>
                <a:spcPts val="2130"/>
              </a:lnSpc>
            </a:pPr>
            <a:r>
              <a:rPr sz="1800" dirty="0">
                <a:solidFill>
                  <a:srgbClr val="FFFFFF"/>
                </a:solidFill>
                <a:latin typeface="黑体" panose="02010609060101010101" charset="-122"/>
                <a:cs typeface="黑体" panose="02010609060101010101" charset="-122"/>
              </a:rPr>
              <a:t>出体检报告</a:t>
            </a:r>
            <a:endParaRPr sz="1800">
              <a:latin typeface="黑体" panose="02010609060101010101" charset="-122"/>
              <a:cs typeface="黑体" panose="02010609060101010101" charset="-122"/>
            </a:endParaRPr>
          </a:p>
        </p:txBody>
      </p:sp>
      <p:sp>
        <p:nvSpPr>
          <p:cNvPr id="29" name="object 28"/>
          <p:cNvSpPr txBox="1"/>
          <p:nvPr/>
        </p:nvSpPr>
        <p:spPr>
          <a:xfrm>
            <a:off x="4777615" y="4140851"/>
            <a:ext cx="711200" cy="566420"/>
          </a:xfrm>
          <a:prstGeom prst="rect">
            <a:avLst/>
          </a:prstGeom>
        </p:spPr>
        <p:txBody>
          <a:bodyPr vert="horz" wrap="square" lIns="0" tIns="27939" rIns="0" bIns="0" rtlCol="0">
            <a:spAutoFit/>
          </a:bodyPr>
          <a:lstStyle/>
          <a:p>
            <a:pPr marL="12700" marR="5080">
              <a:lnSpc>
                <a:spcPts val="2100"/>
              </a:lnSpc>
              <a:spcBef>
                <a:spcPts val="220"/>
              </a:spcBef>
            </a:pPr>
            <a:r>
              <a:rPr sz="1800" dirty="0">
                <a:solidFill>
                  <a:srgbClr val="FFFFFF"/>
                </a:solidFill>
                <a:latin typeface="黑体" panose="02010609060101010101" charset="-122"/>
                <a:cs typeface="黑体" panose="02010609060101010101" charset="-122"/>
              </a:rPr>
              <a:t>看病 做检查</a:t>
            </a:r>
            <a:endParaRPr sz="1800">
              <a:latin typeface="黑体" panose="02010609060101010101" charset="-122"/>
              <a:cs typeface="黑体" panose="02010609060101010101" charset="-122"/>
            </a:endParaRPr>
          </a:p>
        </p:txBody>
      </p:sp>
      <p:sp>
        <p:nvSpPr>
          <p:cNvPr id="30" name="object 29"/>
          <p:cNvSpPr txBox="1"/>
          <p:nvPr/>
        </p:nvSpPr>
        <p:spPr>
          <a:xfrm>
            <a:off x="9092440" y="3867801"/>
            <a:ext cx="7112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黑体" panose="02010609060101010101" charset="-122"/>
                <a:cs typeface="黑体" panose="02010609060101010101" charset="-122"/>
              </a:rPr>
              <a:t>取数据</a:t>
            </a:r>
            <a:endParaRPr sz="1800">
              <a:latin typeface="黑体" panose="02010609060101010101" charset="-122"/>
              <a:cs typeface="黑体" panose="02010609060101010101" charset="-122"/>
            </a:endParaRPr>
          </a:p>
        </p:txBody>
      </p:sp>
      <p:sp>
        <p:nvSpPr>
          <p:cNvPr id="31" name="object 30"/>
          <p:cNvSpPr/>
          <p:nvPr/>
        </p:nvSpPr>
        <p:spPr>
          <a:xfrm>
            <a:off x="5872037" y="4749181"/>
            <a:ext cx="1625600" cy="609600"/>
          </a:xfrm>
          <a:custGeom>
            <a:avLst/>
            <a:gdLst/>
            <a:ahLst/>
            <a:cxnLst/>
            <a:rect l="l" t="t" r="r" b="b"/>
            <a:pathLst>
              <a:path w="1625600" h="609600">
                <a:moveTo>
                  <a:pt x="1625599" y="609599"/>
                </a:moveTo>
                <a:lnTo>
                  <a:pt x="0" y="0"/>
                </a:lnTo>
              </a:path>
            </a:pathLst>
          </a:custGeom>
          <a:ln w="25399">
            <a:solidFill>
              <a:srgbClr val="000000"/>
            </a:solidFill>
          </a:ln>
        </p:spPr>
        <p:txBody>
          <a:bodyPr wrap="square" lIns="0" tIns="0" rIns="0" bIns="0" rtlCol="0"/>
          <a:lstStyle/>
          <a:p/>
        </p:txBody>
      </p:sp>
      <p:sp>
        <p:nvSpPr>
          <p:cNvPr id="32" name="object 31"/>
          <p:cNvSpPr txBox="1"/>
          <p:nvPr/>
        </p:nvSpPr>
        <p:spPr>
          <a:xfrm>
            <a:off x="6763576" y="3182001"/>
            <a:ext cx="139700"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黑体" panose="02010609060101010101" charset="-122"/>
                <a:cs typeface="黑体" panose="02010609060101010101" charset="-122"/>
              </a:rPr>
              <a:t>1</a:t>
            </a:r>
            <a:endParaRPr sz="1800">
              <a:latin typeface="黑体" panose="02010609060101010101" charset="-122"/>
              <a:cs typeface="黑体" panose="02010609060101010101" charset="-122"/>
            </a:endParaRPr>
          </a:p>
        </p:txBody>
      </p:sp>
      <p:sp>
        <p:nvSpPr>
          <p:cNvPr id="33" name="object 32"/>
          <p:cNvSpPr/>
          <p:nvPr/>
        </p:nvSpPr>
        <p:spPr>
          <a:xfrm>
            <a:off x="6583236" y="3529981"/>
            <a:ext cx="2133600" cy="0"/>
          </a:xfrm>
          <a:custGeom>
            <a:avLst/>
            <a:gdLst/>
            <a:ahLst/>
            <a:cxnLst/>
            <a:rect l="l" t="t" r="r" b="b"/>
            <a:pathLst>
              <a:path w="2133600">
                <a:moveTo>
                  <a:pt x="0" y="0"/>
                </a:moveTo>
                <a:lnTo>
                  <a:pt x="2133599" y="1"/>
                </a:lnTo>
              </a:path>
            </a:pathLst>
          </a:custGeom>
          <a:ln w="25399">
            <a:solidFill>
              <a:srgbClr val="000000"/>
            </a:solidFill>
          </a:ln>
        </p:spPr>
        <p:txBody>
          <a:bodyPr wrap="square" lIns="0" tIns="0" rIns="0" bIns="0" rtlCol="0"/>
          <a:lstStyle/>
          <a:p/>
        </p:txBody>
      </p:sp>
      <p:sp>
        <p:nvSpPr>
          <p:cNvPr id="34" name="object 33"/>
          <p:cNvSpPr txBox="1"/>
          <p:nvPr/>
        </p:nvSpPr>
        <p:spPr>
          <a:xfrm>
            <a:off x="8185976" y="3258201"/>
            <a:ext cx="368300"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黑体" panose="02010609060101010101" charset="-122"/>
                <a:cs typeface="黑体" panose="02010609060101010101" charset="-122"/>
              </a:rPr>
              <a:t>0,1</a:t>
            </a:r>
            <a:endParaRPr sz="1800">
              <a:latin typeface="黑体" panose="02010609060101010101" charset="-122"/>
              <a:cs typeface="黑体" panose="02010609060101010101" charset="-122"/>
            </a:endParaRPr>
          </a:p>
        </p:txBody>
      </p:sp>
      <p:sp>
        <p:nvSpPr>
          <p:cNvPr id="35" name="object 34"/>
          <p:cNvSpPr/>
          <p:nvPr/>
        </p:nvSpPr>
        <p:spPr>
          <a:xfrm>
            <a:off x="921866" y="3471771"/>
            <a:ext cx="1601470" cy="450850"/>
          </a:xfrm>
          <a:custGeom>
            <a:avLst/>
            <a:gdLst/>
            <a:ahLst/>
            <a:cxnLst/>
            <a:rect l="l" t="t" r="r" b="b"/>
            <a:pathLst>
              <a:path w="1601470" h="450850">
                <a:moveTo>
                  <a:pt x="0" y="450322"/>
                </a:moveTo>
                <a:lnTo>
                  <a:pt x="1601148" y="0"/>
                </a:lnTo>
              </a:path>
            </a:pathLst>
          </a:custGeom>
          <a:ln w="9524">
            <a:solidFill>
              <a:srgbClr val="000000"/>
            </a:solidFill>
          </a:ln>
        </p:spPr>
        <p:txBody>
          <a:bodyPr wrap="square" lIns="0" tIns="0" rIns="0" bIns="0" rtlCol="0"/>
          <a:lstStyle/>
          <a:p/>
        </p:txBody>
      </p:sp>
      <p:sp>
        <p:nvSpPr>
          <p:cNvPr id="36" name="object 35"/>
          <p:cNvSpPr/>
          <p:nvPr/>
        </p:nvSpPr>
        <p:spPr>
          <a:xfrm>
            <a:off x="2463796" y="3448848"/>
            <a:ext cx="83820" cy="73660"/>
          </a:xfrm>
          <a:custGeom>
            <a:avLst/>
            <a:gdLst/>
            <a:ahLst/>
            <a:cxnLst/>
            <a:rect l="l" t="t" r="r" b="b"/>
            <a:pathLst>
              <a:path w="83819" h="73660">
                <a:moveTo>
                  <a:pt x="0" y="0"/>
                </a:moveTo>
                <a:lnTo>
                  <a:pt x="20631" y="73353"/>
                </a:lnTo>
                <a:lnTo>
                  <a:pt x="83670" y="16046"/>
                </a:lnTo>
                <a:lnTo>
                  <a:pt x="0" y="0"/>
                </a:lnTo>
                <a:close/>
              </a:path>
            </a:pathLst>
          </a:custGeom>
          <a:solidFill>
            <a:srgbClr val="000000"/>
          </a:solidFill>
        </p:spPr>
        <p:txBody>
          <a:bodyPr wrap="square" lIns="0" tIns="0" rIns="0" bIns="0" rtlCol="0"/>
          <a:lstStyle/>
          <a:p/>
        </p:txBody>
      </p:sp>
      <p:sp>
        <p:nvSpPr>
          <p:cNvPr id="37" name="object 36"/>
          <p:cNvSpPr/>
          <p:nvPr/>
        </p:nvSpPr>
        <p:spPr>
          <a:xfrm>
            <a:off x="5059236" y="5587381"/>
            <a:ext cx="1499235" cy="150495"/>
          </a:xfrm>
          <a:custGeom>
            <a:avLst/>
            <a:gdLst/>
            <a:ahLst/>
            <a:cxnLst/>
            <a:rect l="l" t="t" r="r" b="b"/>
            <a:pathLst>
              <a:path w="1499234" h="150495">
                <a:moveTo>
                  <a:pt x="0" y="0"/>
                </a:moveTo>
                <a:lnTo>
                  <a:pt x="1498726" y="149872"/>
                </a:lnTo>
              </a:path>
            </a:pathLst>
          </a:custGeom>
          <a:ln w="9524">
            <a:solidFill>
              <a:srgbClr val="000000"/>
            </a:solidFill>
          </a:ln>
        </p:spPr>
        <p:txBody>
          <a:bodyPr wrap="square" lIns="0" tIns="0" rIns="0" bIns="0" rtlCol="0"/>
          <a:lstStyle/>
          <a:p/>
        </p:txBody>
      </p:sp>
      <p:sp>
        <p:nvSpPr>
          <p:cNvPr id="38" name="object 37"/>
          <p:cNvSpPr/>
          <p:nvPr/>
        </p:nvSpPr>
        <p:spPr>
          <a:xfrm>
            <a:off x="6503624" y="5694288"/>
            <a:ext cx="80010" cy="76200"/>
          </a:xfrm>
          <a:custGeom>
            <a:avLst/>
            <a:gdLst/>
            <a:ahLst/>
            <a:cxnLst/>
            <a:rect l="l" t="t" r="r" b="b"/>
            <a:pathLst>
              <a:path w="80009" h="76200">
                <a:moveTo>
                  <a:pt x="7581" y="0"/>
                </a:moveTo>
                <a:lnTo>
                  <a:pt x="0" y="75821"/>
                </a:lnTo>
                <a:lnTo>
                  <a:pt x="79612" y="45492"/>
                </a:lnTo>
                <a:lnTo>
                  <a:pt x="7581" y="0"/>
                </a:lnTo>
                <a:close/>
              </a:path>
            </a:pathLst>
          </a:custGeom>
          <a:solidFill>
            <a:srgbClr val="000000"/>
          </a:solidFill>
        </p:spPr>
        <p:txBody>
          <a:bodyPr wrap="square" lIns="0" tIns="0" rIns="0" bIns="0" rtlCol="0"/>
          <a:lstStyle/>
          <a:p/>
        </p:txBody>
      </p:sp>
      <p:sp>
        <p:nvSpPr>
          <p:cNvPr id="39" name="object 38"/>
          <p:cNvSpPr/>
          <p:nvPr/>
        </p:nvSpPr>
        <p:spPr>
          <a:xfrm>
            <a:off x="8107236" y="4159567"/>
            <a:ext cx="1000760" cy="1275715"/>
          </a:xfrm>
          <a:custGeom>
            <a:avLst/>
            <a:gdLst/>
            <a:ahLst/>
            <a:cxnLst/>
            <a:rect l="l" t="t" r="r" b="b"/>
            <a:pathLst>
              <a:path w="1000759" h="1275714">
                <a:moveTo>
                  <a:pt x="0" y="1275413"/>
                </a:moveTo>
                <a:lnTo>
                  <a:pt x="1000323" y="0"/>
                </a:lnTo>
              </a:path>
            </a:pathLst>
          </a:custGeom>
          <a:ln w="9524">
            <a:solidFill>
              <a:srgbClr val="000000"/>
            </a:solidFill>
          </a:ln>
        </p:spPr>
        <p:txBody>
          <a:bodyPr wrap="square" lIns="0" tIns="0" rIns="0" bIns="0" rtlCol="0"/>
          <a:lstStyle/>
          <a:p/>
        </p:txBody>
      </p:sp>
      <p:sp>
        <p:nvSpPr>
          <p:cNvPr id="40" name="object 39"/>
          <p:cNvSpPr/>
          <p:nvPr/>
        </p:nvSpPr>
        <p:spPr>
          <a:xfrm>
            <a:off x="9046231" y="4139581"/>
            <a:ext cx="77470" cy="83820"/>
          </a:xfrm>
          <a:custGeom>
            <a:avLst/>
            <a:gdLst/>
            <a:ahLst/>
            <a:cxnLst/>
            <a:rect l="l" t="t" r="r" b="b"/>
            <a:pathLst>
              <a:path w="77470" h="83820">
                <a:moveTo>
                  <a:pt x="77003" y="0"/>
                </a:moveTo>
                <a:lnTo>
                  <a:pt x="0" y="36445"/>
                </a:lnTo>
                <a:lnTo>
                  <a:pt x="59957" y="83472"/>
                </a:lnTo>
                <a:lnTo>
                  <a:pt x="77003" y="0"/>
                </a:lnTo>
                <a:close/>
              </a:path>
            </a:pathLst>
          </a:custGeom>
          <a:solidFill>
            <a:srgbClr val="000000"/>
          </a:solidFill>
        </p:spPr>
        <p:txBody>
          <a:bodyPr wrap="square" lIns="0" tIns="0" rIns="0" bIns="0" rtlCol="0"/>
          <a:lstStyle/>
          <a:p/>
        </p:txBody>
      </p:sp>
      <p:sp>
        <p:nvSpPr>
          <p:cNvPr id="41" name="object 40"/>
          <p:cNvSpPr txBox="1"/>
          <p:nvPr/>
        </p:nvSpPr>
        <p:spPr>
          <a:xfrm>
            <a:off x="3410778" y="5239401"/>
            <a:ext cx="2082800" cy="566420"/>
          </a:xfrm>
          <a:prstGeom prst="rect">
            <a:avLst/>
          </a:prstGeom>
        </p:spPr>
        <p:txBody>
          <a:bodyPr vert="horz" wrap="square" lIns="0" tIns="27939" rIns="0" bIns="0" rtlCol="0">
            <a:spAutoFit/>
          </a:bodyPr>
          <a:lstStyle/>
          <a:p>
            <a:pPr marL="12700" marR="5080">
              <a:lnSpc>
                <a:spcPts val="2100"/>
              </a:lnSpc>
              <a:spcBef>
                <a:spcPts val="220"/>
              </a:spcBef>
            </a:pPr>
            <a:r>
              <a:rPr sz="1800" b="1" spc="-10" dirty="0">
                <a:solidFill>
                  <a:srgbClr val="000090"/>
                </a:solidFill>
                <a:latin typeface="黑体" panose="02010609060101010101" charset="-122"/>
                <a:cs typeface="黑体" panose="02010609060101010101" charset="-122"/>
              </a:rPr>
              <a:t>医生</a:t>
            </a:r>
            <a:r>
              <a:rPr sz="1800" b="1" spc="-10" dirty="0">
                <a:latin typeface="黑体" panose="02010609060101010101" charset="-122"/>
                <a:cs typeface="黑体" panose="02010609060101010101" charset="-122"/>
              </a:rPr>
              <a:t>和</a:t>
            </a:r>
            <a:r>
              <a:rPr sz="1800" b="1" spc="-10" dirty="0">
                <a:solidFill>
                  <a:srgbClr val="000090"/>
                </a:solidFill>
                <a:latin typeface="黑体" panose="02010609060101010101" charset="-122"/>
                <a:cs typeface="黑体" panose="02010609060101010101" charset="-122"/>
              </a:rPr>
              <a:t>住院病人</a:t>
            </a:r>
            <a:r>
              <a:rPr sz="1800" b="1" spc="-10" dirty="0">
                <a:latin typeface="黑体" panose="02010609060101010101" charset="-122"/>
                <a:cs typeface="黑体" panose="02010609060101010101" charset="-122"/>
              </a:rPr>
              <a:t>对象 调用彼此的服务</a:t>
            </a:r>
            <a:endParaRPr sz="1800">
              <a:latin typeface="黑体" panose="02010609060101010101" charset="-122"/>
              <a:cs typeface="黑体" panose="02010609060101010101" charset="-122"/>
            </a:endParaRPr>
          </a:p>
        </p:txBody>
      </p:sp>
      <p:sp>
        <p:nvSpPr>
          <p:cNvPr id="42" name="object 41"/>
          <p:cNvSpPr txBox="1"/>
          <p:nvPr/>
        </p:nvSpPr>
        <p:spPr>
          <a:xfrm>
            <a:off x="8897176" y="4553601"/>
            <a:ext cx="2082800" cy="566420"/>
          </a:xfrm>
          <a:prstGeom prst="rect">
            <a:avLst/>
          </a:prstGeom>
        </p:spPr>
        <p:txBody>
          <a:bodyPr vert="horz" wrap="square" lIns="0" tIns="27939" rIns="0" bIns="0" rtlCol="0">
            <a:spAutoFit/>
          </a:bodyPr>
          <a:lstStyle/>
          <a:p>
            <a:pPr marL="12700" marR="5080">
              <a:lnSpc>
                <a:spcPts val="2100"/>
              </a:lnSpc>
              <a:spcBef>
                <a:spcPts val="220"/>
              </a:spcBef>
            </a:pPr>
            <a:r>
              <a:rPr sz="1800" b="1" spc="-10" dirty="0">
                <a:solidFill>
                  <a:srgbClr val="000090"/>
                </a:solidFill>
                <a:latin typeface="黑体" panose="02010609060101010101" charset="-122"/>
                <a:cs typeface="黑体" panose="02010609060101010101" charset="-122"/>
              </a:rPr>
              <a:t>医生</a:t>
            </a:r>
            <a:r>
              <a:rPr sz="1800" b="1" spc="-10" dirty="0">
                <a:latin typeface="黑体" panose="02010609060101010101" charset="-122"/>
                <a:cs typeface="黑体" panose="02010609060101010101" charset="-122"/>
              </a:rPr>
              <a:t>对象调用</a:t>
            </a:r>
            <a:r>
              <a:rPr sz="1800" b="1" spc="-10" dirty="0">
                <a:solidFill>
                  <a:srgbClr val="000090"/>
                </a:solidFill>
                <a:latin typeface="黑体" panose="02010609060101010101" charset="-122"/>
                <a:cs typeface="黑体" panose="02010609060101010101" charset="-122"/>
              </a:rPr>
              <a:t>病历</a:t>
            </a:r>
            <a:r>
              <a:rPr sz="1800" b="1" spc="-10" dirty="0">
                <a:latin typeface="黑体" panose="02010609060101010101" charset="-122"/>
                <a:cs typeface="黑体" panose="02010609060101010101" charset="-122"/>
              </a:rPr>
              <a:t>对 象的</a:t>
            </a:r>
            <a:r>
              <a:rPr sz="1800" b="1" spc="-10" dirty="0">
                <a:solidFill>
                  <a:srgbClr val="990000"/>
                </a:solidFill>
                <a:latin typeface="黑体" panose="02010609060101010101" charset="-122"/>
                <a:cs typeface="黑体" panose="02010609060101010101" charset="-122"/>
              </a:rPr>
              <a:t>取数据</a:t>
            </a:r>
            <a:r>
              <a:rPr sz="1800" b="1" spc="-10" dirty="0">
                <a:latin typeface="黑体" panose="02010609060101010101" charset="-122"/>
                <a:cs typeface="黑体" panose="02010609060101010101" charset="-122"/>
              </a:rPr>
              <a:t>服务</a:t>
            </a:r>
            <a:endParaRPr sz="1800">
              <a:latin typeface="黑体" panose="02010609060101010101" charset="-122"/>
              <a:cs typeface="黑体" panose="02010609060101010101" charset="-122"/>
            </a:endParaRPr>
          </a:p>
        </p:txBody>
      </p:sp>
      <p:sp>
        <p:nvSpPr>
          <p:cNvPr id="43" name="object 42"/>
          <p:cNvSpPr/>
          <p:nvPr/>
        </p:nvSpPr>
        <p:spPr>
          <a:xfrm>
            <a:off x="2676400" y="1391842"/>
            <a:ext cx="2133600" cy="990600"/>
          </a:xfrm>
          <a:custGeom>
            <a:avLst/>
            <a:gdLst/>
            <a:ahLst/>
            <a:cxnLst/>
            <a:rect l="l" t="t" r="r" b="b"/>
            <a:pathLst>
              <a:path w="2133600" h="990600">
                <a:moveTo>
                  <a:pt x="1968500" y="0"/>
                </a:moveTo>
                <a:lnTo>
                  <a:pt x="165100" y="0"/>
                </a:lnTo>
                <a:lnTo>
                  <a:pt x="121209" y="5897"/>
                </a:lnTo>
                <a:lnTo>
                  <a:pt x="81770" y="22541"/>
                </a:lnTo>
                <a:lnTo>
                  <a:pt x="48356" y="48357"/>
                </a:lnTo>
                <a:lnTo>
                  <a:pt x="22540" y="81771"/>
                </a:lnTo>
                <a:lnTo>
                  <a:pt x="5897" y="121210"/>
                </a:lnTo>
                <a:lnTo>
                  <a:pt x="0" y="165100"/>
                </a:lnTo>
                <a:lnTo>
                  <a:pt x="0" y="825500"/>
                </a:lnTo>
                <a:lnTo>
                  <a:pt x="5897" y="869390"/>
                </a:lnTo>
                <a:lnTo>
                  <a:pt x="22540" y="908829"/>
                </a:lnTo>
                <a:lnTo>
                  <a:pt x="48356" y="942243"/>
                </a:lnTo>
                <a:lnTo>
                  <a:pt x="81770" y="968059"/>
                </a:lnTo>
                <a:lnTo>
                  <a:pt x="121209" y="984702"/>
                </a:lnTo>
                <a:lnTo>
                  <a:pt x="165100" y="990600"/>
                </a:lnTo>
                <a:lnTo>
                  <a:pt x="1968500" y="990600"/>
                </a:lnTo>
                <a:lnTo>
                  <a:pt x="2012390" y="984702"/>
                </a:lnTo>
                <a:lnTo>
                  <a:pt x="2051829" y="968059"/>
                </a:lnTo>
                <a:lnTo>
                  <a:pt x="2085243" y="942243"/>
                </a:lnTo>
                <a:lnTo>
                  <a:pt x="2111059" y="908829"/>
                </a:lnTo>
                <a:lnTo>
                  <a:pt x="2127702" y="869390"/>
                </a:lnTo>
                <a:lnTo>
                  <a:pt x="2133600" y="825500"/>
                </a:lnTo>
                <a:lnTo>
                  <a:pt x="2133600" y="165100"/>
                </a:lnTo>
                <a:lnTo>
                  <a:pt x="2127702" y="121210"/>
                </a:lnTo>
                <a:lnTo>
                  <a:pt x="2111059" y="81771"/>
                </a:lnTo>
                <a:lnTo>
                  <a:pt x="2085243" y="48357"/>
                </a:lnTo>
                <a:lnTo>
                  <a:pt x="2051829" y="22541"/>
                </a:lnTo>
                <a:lnTo>
                  <a:pt x="2012390" y="5897"/>
                </a:lnTo>
                <a:lnTo>
                  <a:pt x="1968500" y="0"/>
                </a:lnTo>
                <a:close/>
              </a:path>
            </a:pathLst>
          </a:custGeom>
          <a:solidFill>
            <a:srgbClr val="FFD5A9"/>
          </a:solidFill>
        </p:spPr>
        <p:txBody>
          <a:bodyPr wrap="square" lIns="0" tIns="0" rIns="0" bIns="0" rtlCol="0"/>
          <a:lstStyle/>
          <a:p/>
        </p:txBody>
      </p:sp>
      <p:sp>
        <p:nvSpPr>
          <p:cNvPr id="44" name="object 43"/>
          <p:cNvSpPr/>
          <p:nvPr/>
        </p:nvSpPr>
        <p:spPr>
          <a:xfrm>
            <a:off x="2676400" y="1391842"/>
            <a:ext cx="2133600" cy="990600"/>
          </a:xfrm>
          <a:custGeom>
            <a:avLst/>
            <a:gdLst/>
            <a:ahLst/>
            <a:cxnLst/>
            <a:rect l="l" t="t" r="r" b="b"/>
            <a:pathLst>
              <a:path w="2133600" h="990600">
                <a:moveTo>
                  <a:pt x="0" y="165100"/>
                </a:moveTo>
                <a:lnTo>
                  <a:pt x="5897" y="121209"/>
                </a:lnTo>
                <a:lnTo>
                  <a:pt x="22540" y="81770"/>
                </a:lnTo>
                <a:lnTo>
                  <a:pt x="48356" y="48356"/>
                </a:lnTo>
                <a:lnTo>
                  <a:pt x="81770" y="22541"/>
                </a:lnTo>
                <a:lnTo>
                  <a:pt x="121209" y="5897"/>
                </a:lnTo>
                <a:lnTo>
                  <a:pt x="165099" y="0"/>
                </a:lnTo>
                <a:lnTo>
                  <a:pt x="1968499" y="0"/>
                </a:lnTo>
                <a:lnTo>
                  <a:pt x="2012389" y="5897"/>
                </a:lnTo>
                <a:lnTo>
                  <a:pt x="2051828" y="22541"/>
                </a:lnTo>
                <a:lnTo>
                  <a:pt x="2085242" y="48356"/>
                </a:lnTo>
                <a:lnTo>
                  <a:pt x="2111058" y="81770"/>
                </a:lnTo>
                <a:lnTo>
                  <a:pt x="2127701" y="121209"/>
                </a:lnTo>
                <a:lnTo>
                  <a:pt x="2133599" y="165100"/>
                </a:lnTo>
                <a:lnTo>
                  <a:pt x="2133599" y="825499"/>
                </a:lnTo>
                <a:lnTo>
                  <a:pt x="2127701" y="869389"/>
                </a:lnTo>
                <a:lnTo>
                  <a:pt x="2111058" y="908828"/>
                </a:lnTo>
                <a:lnTo>
                  <a:pt x="2085242" y="942243"/>
                </a:lnTo>
                <a:lnTo>
                  <a:pt x="2051828" y="968058"/>
                </a:lnTo>
                <a:lnTo>
                  <a:pt x="2012389" y="984702"/>
                </a:lnTo>
                <a:lnTo>
                  <a:pt x="1968499" y="990599"/>
                </a:lnTo>
                <a:lnTo>
                  <a:pt x="165099" y="990599"/>
                </a:lnTo>
                <a:lnTo>
                  <a:pt x="121209" y="984702"/>
                </a:lnTo>
                <a:lnTo>
                  <a:pt x="81770" y="968058"/>
                </a:lnTo>
                <a:lnTo>
                  <a:pt x="48356" y="942243"/>
                </a:lnTo>
                <a:lnTo>
                  <a:pt x="22540" y="908828"/>
                </a:lnTo>
                <a:lnTo>
                  <a:pt x="5897" y="869389"/>
                </a:lnTo>
                <a:lnTo>
                  <a:pt x="0" y="825499"/>
                </a:lnTo>
                <a:lnTo>
                  <a:pt x="0" y="165100"/>
                </a:lnTo>
                <a:close/>
              </a:path>
            </a:pathLst>
          </a:custGeom>
          <a:ln w="9524">
            <a:solidFill>
              <a:srgbClr val="FF2600"/>
            </a:solidFill>
          </a:ln>
        </p:spPr>
        <p:txBody>
          <a:bodyPr wrap="square" lIns="0" tIns="0" rIns="0" bIns="0" rtlCol="0"/>
          <a:lstStyle/>
          <a:p/>
        </p:txBody>
      </p:sp>
      <p:sp>
        <p:nvSpPr>
          <p:cNvPr id="45" name="object 44"/>
          <p:cNvSpPr/>
          <p:nvPr/>
        </p:nvSpPr>
        <p:spPr>
          <a:xfrm>
            <a:off x="2676400" y="1696642"/>
            <a:ext cx="2133600" cy="0"/>
          </a:xfrm>
          <a:custGeom>
            <a:avLst/>
            <a:gdLst/>
            <a:ahLst/>
            <a:cxnLst/>
            <a:rect l="l" t="t" r="r" b="b"/>
            <a:pathLst>
              <a:path w="2133600">
                <a:moveTo>
                  <a:pt x="0" y="0"/>
                </a:moveTo>
                <a:lnTo>
                  <a:pt x="2133599" y="1"/>
                </a:lnTo>
              </a:path>
            </a:pathLst>
          </a:custGeom>
          <a:ln w="9524">
            <a:solidFill>
              <a:srgbClr val="FF2600"/>
            </a:solidFill>
          </a:ln>
        </p:spPr>
        <p:txBody>
          <a:bodyPr wrap="square" lIns="0" tIns="0" rIns="0" bIns="0" rtlCol="0"/>
          <a:lstStyle/>
          <a:p/>
        </p:txBody>
      </p:sp>
      <p:sp>
        <p:nvSpPr>
          <p:cNvPr id="46" name="object 45"/>
          <p:cNvSpPr/>
          <p:nvPr/>
        </p:nvSpPr>
        <p:spPr>
          <a:xfrm>
            <a:off x="2676400" y="2077642"/>
            <a:ext cx="2133600" cy="0"/>
          </a:xfrm>
          <a:custGeom>
            <a:avLst/>
            <a:gdLst/>
            <a:ahLst/>
            <a:cxnLst/>
            <a:rect l="l" t="t" r="r" b="b"/>
            <a:pathLst>
              <a:path w="2133600">
                <a:moveTo>
                  <a:pt x="0" y="0"/>
                </a:moveTo>
                <a:lnTo>
                  <a:pt x="2133599" y="1"/>
                </a:lnTo>
              </a:path>
            </a:pathLst>
          </a:custGeom>
          <a:ln w="9524">
            <a:solidFill>
              <a:srgbClr val="FF2600"/>
            </a:solidFill>
          </a:ln>
        </p:spPr>
        <p:txBody>
          <a:bodyPr wrap="square" lIns="0" tIns="0" rIns="0" bIns="0" rtlCol="0"/>
          <a:lstStyle/>
          <a:p/>
        </p:txBody>
      </p:sp>
      <p:sp>
        <p:nvSpPr>
          <p:cNvPr id="47" name="object 46"/>
          <p:cNvSpPr/>
          <p:nvPr/>
        </p:nvSpPr>
        <p:spPr>
          <a:xfrm>
            <a:off x="2879600" y="1544242"/>
            <a:ext cx="2133600" cy="990600"/>
          </a:xfrm>
          <a:custGeom>
            <a:avLst/>
            <a:gdLst/>
            <a:ahLst/>
            <a:cxnLst/>
            <a:rect l="l" t="t" r="r" b="b"/>
            <a:pathLst>
              <a:path w="2133600" h="990600">
                <a:moveTo>
                  <a:pt x="1968500" y="0"/>
                </a:moveTo>
                <a:lnTo>
                  <a:pt x="165100" y="0"/>
                </a:lnTo>
                <a:lnTo>
                  <a:pt x="121209" y="5897"/>
                </a:lnTo>
                <a:lnTo>
                  <a:pt x="81770" y="22541"/>
                </a:lnTo>
                <a:lnTo>
                  <a:pt x="48356" y="48357"/>
                </a:lnTo>
                <a:lnTo>
                  <a:pt x="22540" y="81771"/>
                </a:lnTo>
                <a:lnTo>
                  <a:pt x="5897" y="121210"/>
                </a:lnTo>
                <a:lnTo>
                  <a:pt x="0" y="165100"/>
                </a:lnTo>
                <a:lnTo>
                  <a:pt x="0" y="825500"/>
                </a:lnTo>
                <a:lnTo>
                  <a:pt x="5897" y="869390"/>
                </a:lnTo>
                <a:lnTo>
                  <a:pt x="22540" y="908829"/>
                </a:lnTo>
                <a:lnTo>
                  <a:pt x="48356" y="942243"/>
                </a:lnTo>
                <a:lnTo>
                  <a:pt x="81770" y="968059"/>
                </a:lnTo>
                <a:lnTo>
                  <a:pt x="121209" y="984702"/>
                </a:lnTo>
                <a:lnTo>
                  <a:pt x="165100" y="990600"/>
                </a:lnTo>
                <a:lnTo>
                  <a:pt x="1968500" y="990600"/>
                </a:lnTo>
                <a:lnTo>
                  <a:pt x="2012390" y="984702"/>
                </a:lnTo>
                <a:lnTo>
                  <a:pt x="2051829" y="968059"/>
                </a:lnTo>
                <a:lnTo>
                  <a:pt x="2085243" y="942243"/>
                </a:lnTo>
                <a:lnTo>
                  <a:pt x="2111059" y="908829"/>
                </a:lnTo>
                <a:lnTo>
                  <a:pt x="2127702" y="869390"/>
                </a:lnTo>
                <a:lnTo>
                  <a:pt x="2133600" y="825500"/>
                </a:lnTo>
                <a:lnTo>
                  <a:pt x="2133600" y="165100"/>
                </a:lnTo>
                <a:lnTo>
                  <a:pt x="2127702" y="121210"/>
                </a:lnTo>
                <a:lnTo>
                  <a:pt x="2111059" y="81771"/>
                </a:lnTo>
                <a:lnTo>
                  <a:pt x="2085243" y="48357"/>
                </a:lnTo>
                <a:lnTo>
                  <a:pt x="2051829" y="22541"/>
                </a:lnTo>
                <a:lnTo>
                  <a:pt x="2012390" y="5897"/>
                </a:lnTo>
                <a:lnTo>
                  <a:pt x="1968500" y="0"/>
                </a:lnTo>
                <a:close/>
              </a:path>
            </a:pathLst>
          </a:custGeom>
          <a:solidFill>
            <a:srgbClr val="4180FF"/>
          </a:solidFill>
        </p:spPr>
        <p:txBody>
          <a:bodyPr wrap="square" lIns="0" tIns="0" rIns="0" bIns="0" rtlCol="0"/>
          <a:lstStyle/>
          <a:p/>
        </p:txBody>
      </p:sp>
      <p:sp>
        <p:nvSpPr>
          <p:cNvPr id="48" name="object 47"/>
          <p:cNvSpPr/>
          <p:nvPr/>
        </p:nvSpPr>
        <p:spPr>
          <a:xfrm>
            <a:off x="2879600" y="1544242"/>
            <a:ext cx="2133600" cy="990600"/>
          </a:xfrm>
          <a:custGeom>
            <a:avLst/>
            <a:gdLst/>
            <a:ahLst/>
            <a:cxnLst/>
            <a:rect l="l" t="t" r="r" b="b"/>
            <a:pathLst>
              <a:path w="2133600" h="990600">
                <a:moveTo>
                  <a:pt x="0" y="165100"/>
                </a:moveTo>
                <a:lnTo>
                  <a:pt x="5897" y="121209"/>
                </a:lnTo>
                <a:lnTo>
                  <a:pt x="22541" y="81770"/>
                </a:lnTo>
                <a:lnTo>
                  <a:pt x="48356" y="48356"/>
                </a:lnTo>
                <a:lnTo>
                  <a:pt x="81770" y="22541"/>
                </a:lnTo>
                <a:lnTo>
                  <a:pt x="121209" y="5897"/>
                </a:lnTo>
                <a:lnTo>
                  <a:pt x="165099" y="0"/>
                </a:lnTo>
                <a:lnTo>
                  <a:pt x="1968499" y="0"/>
                </a:lnTo>
                <a:lnTo>
                  <a:pt x="2012389" y="5897"/>
                </a:lnTo>
                <a:lnTo>
                  <a:pt x="2051828" y="22541"/>
                </a:lnTo>
                <a:lnTo>
                  <a:pt x="2085242" y="48356"/>
                </a:lnTo>
                <a:lnTo>
                  <a:pt x="2111058" y="81770"/>
                </a:lnTo>
                <a:lnTo>
                  <a:pt x="2127701" y="121209"/>
                </a:lnTo>
                <a:lnTo>
                  <a:pt x="2133599" y="165100"/>
                </a:lnTo>
                <a:lnTo>
                  <a:pt x="2133599" y="825499"/>
                </a:lnTo>
                <a:lnTo>
                  <a:pt x="2127701" y="869389"/>
                </a:lnTo>
                <a:lnTo>
                  <a:pt x="2111058" y="908828"/>
                </a:lnTo>
                <a:lnTo>
                  <a:pt x="2085242" y="942243"/>
                </a:lnTo>
                <a:lnTo>
                  <a:pt x="2051828" y="968058"/>
                </a:lnTo>
                <a:lnTo>
                  <a:pt x="2012389" y="984702"/>
                </a:lnTo>
                <a:lnTo>
                  <a:pt x="1968499" y="990599"/>
                </a:lnTo>
                <a:lnTo>
                  <a:pt x="165099" y="990599"/>
                </a:lnTo>
                <a:lnTo>
                  <a:pt x="121209" y="984702"/>
                </a:lnTo>
                <a:lnTo>
                  <a:pt x="81770" y="968058"/>
                </a:lnTo>
                <a:lnTo>
                  <a:pt x="48356" y="942243"/>
                </a:lnTo>
                <a:lnTo>
                  <a:pt x="22541" y="908828"/>
                </a:lnTo>
                <a:lnTo>
                  <a:pt x="5897" y="869389"/>
                </a:lnTo>
                <a:lnTo>
                  <a:pt x="0" y="825499"/>
                </a:lnTo>
                <a:lnTo>
                  <a:pt x="0" y="165100"/>
                </a:lnTo>
                <a:close/>
              </a:path>
            </a:pathLst>
          </a:custGeom>
          <a:ln w="9524">
            <a:solidFill>
              <a:srgbClr val="000000"/>
            </a:solidFill>
          </a:ln>
        </p:spPr>
        <p:txBody>
          <a:bodyPr wrap="square" lIns="0" tIns="0" rIns="0" bIns="0" rtlCol="0"/>
          <a:lstStyle/>
          <a:p/>
        </p:txBody>
      </p:sp>
      <p:sp>
        <p:nvSpPr>
          <p:cNvPr id="49" name="object 48"/>
          <p:cNvSpPr/>
          <p:nvPr/>
        </p:nvSpPr>
        <p:spPr>
          <a:xfrm>
            <a:off x="2879600" y="1925242"/>
            <a:ext cx="2133600" cy="0"/>
          </a:xfrm>
          <a:custGeom>
            <a:avLst/>
            <a:gdLst/>
            <a:ahLst/>
            <a:cxnLst/>
            <a:rect l="l" t="t" r="r" b="b"/>
            <a:pathLst>
              <a:path w="2133600">
                <a:moveTo>
                  <a:pt x="0" y="0"/>
                </a:moveTo>
                <a:lnTo>
                  <a:pt x="2133599" y="1"/>
                </a:lnTo>
              </a:path>
            </a:pathLst>
          </a:custGeom>
          <a:ln w="9524">
            <a:solidFill>
              <a:srgbClr val="FFFFFF"/>
            </a:solidFill>
          </a:ln>
        </p:spPr>
        <p:txBody>
          <a:bodyPr wrap="square" lIns="0" tIns="0" rIns="0" bIns="0" rtlCol="0"/>
          <a:lstStyle/>
          <a:p/>
        </p:txBody>
      </p:sp>
      <p:sp>
        <p:nvSpPr>
          <p:cNvPr id="50" name="object 49"/>
          <p:cNvSpPr txBox="1"/>
          <p:nvPr/>
        </p:nvSpPr>
        <p:spPr>
          <a:xfrm>
            <a:off x="3161540" y="1653462"/>
            <a:ext cx="4826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黑体" panose="02010609060101010101" charset="-122"/>
                <a:cs typeface="黑体" panose="02010609060101010101" charset="-122"/>
              </a:rPr>
              <a:t>患者</a:t>
            </a:r>
            <a:endParaRPr sz="1800">
              <a:latin typeface="黑体" panose="02010609060101010101" charset="-122"/>
              <a:cs typeface="黑体" panose="02010609060101010101" charset="-122"/>
            </a:endParaRPr>
          </a:p>
        </p:txBody>
      </p:sp>
      <p:sp>
        <p:nvSpPr>
          <p:cNvPr id="51" name="object 50"/>
          <p:cNvSpPr txBox="1"/>
          <p:nvPr/>
        </p:nvSpPr>
        <p:spPr>
          <a:xfrm>
            <a:off x="3161540" y="1958262"/>
            <a:ext cx="9398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黑体" panose="02010609060101010101" charset="-122"/>
                <a:cs typeface="黑体" panose="02010609060101010101" charset="-122"/>
              </a:rPr>
              <a:t>医生姓名</a:t>
            </a:r>
            <a:endParaRPr sz="1800">
              <a:latin typeface="黑体" panose="02010609060101010101" charset="-122"/>
              <a:cs typeface="黑体" panose="02010609060101010101" charset="-122"/>
            </a:endParaRPr>
          </a:p>
        </p:txBody>
      </p:sp>
      <p:sp>
        <p:nvSpPr>
          <p:cNvPr id="52" name="object 51"/>
          <p:cNvSpPr/>
          <p:nvPr/>
        </p:nvSpPr>
        <p:spPr>
          <a:xfrm>
            <a:off x="2879600" y="2306242"/>
            <a:ext cx="2133600" cy="0"/>
          </a:xfrm>
          <a:custGeom>
            <a:avLst/>
            <a:gdLst/>
            <a:ahLst/>
            <a:cxnLst/>
            <a:rect l="l" t="t" r="r" b="b"/>
            <a:pathLst>
              <a:path w="2133600">
                <a:moveTo>
                  <a:pt x="0" y="0"/>
                </a:moveTo>
                <a:lnTo>
                  <a:pt x="2133599" y="1"/>
                </a:lnTo>
              </a:path>
            </a:pathLst>
          </a:custGeom>
          <a:ln w="9524">
            <a:solidFill>
              <a:srgbClr val="FFFFFF"/>
            </a:solidFill>
          </a:ln>
        </p:spPr>
        <p:txBody>
          <a:bodyPr wrap="square" lIns="0" tIns="0" rIns="0" bIns="0" rtlCol="0"/>
          <a:lstStyle/>
          <a:p/>
        </p:txBody>
      </p:sp>
      <p:sp>
        <p:nvSpPr>
          <p:cNvPr id="53" name="object 52"/>
          <p:cNvSpPr/>
          <p:nvPr/>
        </p:nvSpPr>
        <p:spPr>
          <a:xfrm>
            <a:off x="883766" y="3072781"/>
            <a:ext cx="2133600" cy="1219200"/>
          </a:xfrm>
          <a:custGeom>
            <a:avLst/>
            <a:gdLst/>
            <a:ahLst/>
            <a:cxnLst/>
            <a:rect l="l" t="t" r="r" b="b"/>
            <a:pathLst>
              <a:path w="2133600" h="1219200">
                <a:moveTo>
                  <a:pt x="1930398" y="0"/>
                </a:moveTo>
                <a:lnTo>
                  <a:pt x="203200" y="0"/>
                </a:lnTo>
                <a:lnTo>
                  <a:pt x="156607" y="5366"/>
                </a:lnTo>
                <a:lnTo>
                  <a:pt x="113837" y="20653"/>
                </a:lnTo>
                <a:lnTo>
                  <a:pt x="76108" y="44640"/>
                </a:lnTo>
                <a:lnTo>
                  <a:pt x="44640" y="76109"/>
                </a:lnTo>
                <a:lnTo>
                  <a:pt x="20653" y="113838"/>
                </a:lnTo>
                <a:lnTo>
                  <a:pt x="5366" y="156608"/>
                </a:lnTo>
                <a:lnTo>
                  <a:pt x="0" y="203200"/>
                </a:lnTo>
                <a:lnTo>
                  <a:pt x="0" y="1016000"/>
                </a:lnTo>
                <a:lnTo>
                  <a:pt x="5366" y="1062592"/>
                </a:lnTo>
                <a:lnTo>
                  <a:pt x="20653" y="1105362"/>
                </a:lnTo>
                <a:lnTo>
                  <a:pt x="44640" y="1143091"/>
                </a:lnTo>
                <a:lnTo>
                  <a:pt x="76108" y="1174559"/>
                </a:lnTo>
                <a:lnTo>
                  <a:pt x="113837" y="1198546"/>
                </a:lnTo>
                <a:lnTo>
                  <a:pt x="156607" y="1213833"/>
                </a:lnTo>
                <a:lnTo>
                  <a:pt x="203200" y="1219200"/>
                </a:lnTo>
                <a:lnTo>
                  <a:pt x="1930398" y="1219200"/>
                </a:lnTo>
                <a:lnTo>
                  <a:pt x="1976990" y="1213833"/>
                </a:lnTo>
                <a:lnTo>
                  <a:pt x="2019761" y="1198546"/>
                </a:lnTo>
                <a:lnTo>
                  <a:pt x="2057490" y="1174559"/>
                </a:lnTo>
                <a:lnTo>
                  <a:pt x="2088958" y="1143091"/>
                </a:lnTo>
                <a:lnTo>
                  <a:pt x="2112945" y="1105362"/>
                </a:lnTo>
                <a:lnTo>
                  <a:pt x="2128232" y="1062592"/>
                </a:lnTo>
                <a:lnTo>
                  <a:pt x="2133598" y="1016000"/>
                </a:lnTo>
                <a:lnTo>
                  <a:pt x="2133598" y="203200"/>
                </a:lnTo>
                <a:lnTo>
                  <a:pt x="2128232" y="156608"/>
                </a:lnTo>
                <a:lnTo>
                  <a:pt x="2112945" y="113838"/>
                </a:lnTo>
                <a:lnTo>
                  <a:pt x="2088958" y="76109"/>
                </a:lnTo>
                <a:lnTo>
                  <a:pt x="2057490" y="44640"/>
                </a:lnTo>
                <a:lnTo>
                  <a:pt x="2019761" y="20653"/>
                </a:lnTo>
                <a:lnTo>
                  <a:pt x="1976990" y="5366"/>
                </a:lnTo>
                <a:lnTo>
                  <a:pt x="1930398" y="0"/>
                </a:lnTo>
                <a:close/>
              </a:path>
            </a:pathLst>
          </a:custGeom>
          <a:solidFill>
            <a:srgbClr val="FFD5A9"/>
          </a:solidFill>
        </p:spPr>
        <p:txBody>
          <a:bodyPr wrap="square" lIns="0" tIns="0" rIns="0" bIns="0" rtlCol="0"/>
          <a:lstStyle/>
          <a:p/>
        </p:txBody>
      </p:sp>
      <p:sp>
        <p:nvSpPr>
          <p:cNvPr id="54" name="object 53"/>
          <p:cNvSpPr/>
          <p:nvPr/>
        </p:nvSpPr>
        <p:spPr>
          <a:xfrm>
            <a:off x="883766" y="3072781"/>
            <a:ext cx="2133600" cy="1219200"/>
          </a:xfrm>
          <a:custGeom>
            <a:avLst/>
            <a:gdLst/>
            <a:ahLst/>
            <a:cxnLst/>
            <a:rect l="l" t="t" r="r" b="b"/>
            <a:pathLst>
              <a:path w="2133600" h="1219200">
                <a:moveTo>
                  <a:pt x="0" y="203199"/>
                </a:moveTo>
                <a:lnTo>
                  <a:pt x="5366" y="156608"/>
                </a:lnTo>
                <a:lnTo>
                  <a:pt x="20653" y="113837"/>
                </a:lnTo>
                <a:lnTo>
                  <a:pt x="44640" y="76108"/>
                </a:lnTo>
                <a:lnTo>
                  <a:pt x="76108" y="44640"/>
                </a:lnTo>
                <a:lnTo>
                  <a:pt x="113837" y="20653"/>
                </a:lnTo>
                <a:lnTo>
                  <a:pt x="156608" y="5366"/>
                </a:lnTo>
                <a:lnTo>
                  <a:pt x="203200" y="0"/>
                </a:lnTo>
                <a:lnTo>
                  <a:pt x="1930399" y="0"/>
                </a:lnTo>
                <a:lnTo>
                  <a:pt x="1976991" y="5366"/>
                </a:lnTo>
                <a:lnTo>
                  <a:pt x="2019761" y="20653"/>
                </a:lnTo>
                <a:lnTo>
                  <a:pt x="2057490" y="44640"/>
                </a:lnTo>
                <a:lnTo>
                  <a:pt x="2088958" y="76108"/>
                </a:lnTo>
                <a:lnTo>
                  <a:pt x="2112945" y="113837"/>
                </a:lnTo>
                <a:lnTo>
                  <a:pt x="2128232" y="156608"/>
                </a:lnTo>
                <a:lnTo>
                  <a:pt x="2133599" y="203199"/>
                </a:lnTo>
                <a:lnTo>
                  <a:pt x="2133599" y="1015999"/>
                </a:lnTo>
                <a:lnTo>
                  <a:pt x="2128232" y="1062591"/>
                </a:lnTo>
                <a:lnTo>
                  <a:pt x="2112945" y="1105361"/>
                </a:lnTo>
                <a:lnTo>
                  <a:pt x="2088958" y="1143090"/>
                </a:lnTo>
                <a:lnTo>
                  <a:pt x="2057490" y="1174558"/>
                </a:lnTo>
                <a:lnTo>
                  <a:pt x="2019761" y="1198546"/>
                </a:lnTo>
                <a:lnTo>
                  <a:pt x="1976991" y="1213833"/>
                </a:lnTo>
                <a:lnTo>
                  <a:pt x="1930399" y="1219199"/>
                </a:lnTo>
                <a:lnTo>
                  <a:pt x="203200" y="1219199"/>
                </a:lnTo>
                <a:lnTo>
                  <a:pt x="156608" y="1213833"/>
                </a:lnTo>
                <a:lnTo>
                  <a:pt x="113837" y="1198546"/>
                </a:lnTo>
                <a:lnTo>
                  <a:pt x="76108" y="1174558"/>
                </a:lnTo>
                <a:lnTo>
                  <a:pt x="44640" y="1143090"/>
                </a:lnTo>
                <a:lnTo>
                  <a:pt x="20653" y="1105361"/>
                </a:lnTo>
                <a:lnTo>
                  <a:pt x="5366" y="1062591"/>
                </a:lnTo>
                <a:lnTo>
                  <a:pt x="0" y="1015999"/>
                </a:lnTo>
                <a:lnTo>
                  <a:pt x="0" y="203199"/>
                </a:lnTo>
                <a:close/>
              </a:path>
            </a:pathLst>
          </a:custGeom>
          <a:ln w="9524">
            <a:solidFill>
              <a:srgbClr val="FF2600"/>
            </a:solidFill>
          </a:ln>
        </p:spPr>
        <p:txBody>
          <a:bodyPr wrap="square" lIns="0" tIns="0" rIns="0" bIns="0" rtlCol="0"/>
          <a:lstStyle/>
          <a:p/>
        </p:txBody>
      </p:sp>
      <p:sp>
        <p:nvSpPr>
          <p:cNvPr id="55" name="object 54"/>
          <p:cNvSpPr/>
          <p:nvPr/>
        </p:nvSpPr>
        <p:spPr>
          <a:xfrm>
            <a:off x="1040928" y="3225181"/>
            <a:ext cx="2133600" cy="1066800"/>
          </a:xfrm>
          <a:custGeom>
            <a:avLst/>
            <a:gdLst/>
            <a:ahLst/>
            <a:cxnLst/>
            <a:rect l="l" t="t" r="r" b="b"/>
            <a:pathLst>
              <a:path w="2133600" h="1066800">
                <a:moveTo>
                  <a:pt x="1955799" y="0"/>
                </a:moveTo>
                <a:lnTo>
                  <a:pt x="177800" y="0"/>
                </a:lnTo>
                <a:lnTo>
                  <a:pt x="130533" y="6351"/>
                </a:lnTo>
                <a:lnTo>
                  <a:pt x="88060" y="24274"/>
                </a:lnTo>
                <a:lnTo>
                  <a:pt x="52076" y="52076"/>
                </a:lnTo>
                <a:lnTo>
                  <a:pt x="24274" y="88060"/>
                </a:lnTo>
                <a:lnTo>
                  <a:pt x="6351" y="130533"/>
                </a:lnTo>
                <a:lnTo>
                  <a:pt x="0" y="177800"/>
                </a:lnTo>
                <a:lnTo>
                  <a:pt x="0" y="889000"/>
                </a:lnTo>
                <a:lnTo>
                  <a:pt x="6351" y="936266"/>
                </a:lnTo>
                <a:lnTo>
                  <a:pt x="24274" y="978739"/>
                </a:lnTo>
                <a:lnTo>
                  <a:pt x="52076" y="1014723"/>
                </a:lnTo>
                <a:lnTo>
                  <a:pt x="88060" y="1042525"/>
                </a:lnTo>
                <a:lnTo>
                  <a:pt x="130533" y="1060448"/>
                </a:lnTo>
                <a:lnTo>
                  <a:pt x="177800" y="1066800"/>
                </a:lnTo>
                <a:lnTo>
                  <a:pt x="1955799" y="1066800"/>
                </a:lnTo>
                <a:lnTo>
                  <a:pt x="2003066" y="1060448"/>
                </a:lnTo>
                <a:lnTo>
                  <a:pt x="2045539" y="1042525"/>
                </a:lnTo>
                <a:lnTo>
                  <a:pt x="2081523" y="1014723"/>
                </a:lnTo>
                <a:lnTo>
                  <a:pt x="2109325" y="978739"/>
                </a:lnTo>
                <a:lnTo>
                  <a:pt x="2127248" y="936266"/>
                </a:lnTo>
                <a:lnTo>
                  <a:pt x="2133599" y="889000"/>
                </a:lnTo>
                <a:lnTo>
                  <a:pt x="2133599" y="177800"/>
                </a:lnTo>
                <a:lnTo>
                  <a:pt x="2127248" y="130533"/>
                </a:lnTo>
                <a:lnTo>
                  <a:pt x="2109325" y="88060"/>
                </a:lnTo>
                <a:lnTo>
                  <a:pt x="2081523" y="52076"/>
                </a:lnTo>
                <a:lnTo>
                  <a:pt x="2045539" y="24274"/>
                </a:lnTo>
                <a:lnTo>
                  <a:pt x="2003066" y="6351"/>
                </a:lnTo>
                <a:lnTo>
                  <a:pt x="1955799" y="0"/>
                </a:lnTo>
                <a:close/>
              </a:path>
            </a:pathLst>
          </a:custGeom>
          <a:solidFill>
            <a:srgbClr val="4180FF"/>
          </a:solidFill>
        </p:spPr>
        <p:txBody>
          <a:bodyPr wrap="square" lIns="0" tIns="0" rIns="0" bIns="0" rtlCol="0"/>
          <a:lstStyle/>
          <a:p/>
        </p:txBody>
      </p:sp>
      <p:sp>
        <p:nvSpPr>
          <p:cNvPr id="56" name="object 55"/>
          <p:cNvSpPr/>
          <p:nvPr/>
        </p:nvSpPr>
        <p:spPr>
          <a:xfrm>
            <a:off x="1040928" y="3225181"/>
            <a:ext cx="2133600" cy="1066800"/>
          </a:xfrm>
          <a:custGeom>
            <a:avLst/>
            <a:gdLst/>
            <a:ahLst/>
            <a:cxnLst/>
            <a:rect l="l" t="t" r="r" b="b"/>
            <a:pathLst>
              <a:path w="2133600" h="1066800">
                <a:moveTo>
                  <a:pt x="0" y="177799"/>
                </a:moveTo>
                <a:lnTo>
                  <a:pt x="6351" y="130533"/>
                </a:lnTo>
                <a:lnTo>
                  <a:pt x="24274" y="88060"/>
                </a:lnTo>
                <a:lnTo>
                  <a:pt x="52076" y="52076"/>
                </a:lnTo>
                <a:lnTo>
                  <a:pt x="88060" y="24274"/>
                </a:lnTo>
                <a:lnTo>
                  <a:pt x="130533" y="6351"/>
                </a:lnTo>
                <a:lnTo>
                  <a:pt x="177799" y="0"/>
                </a:lnTo>
                <a:lnTo>
                  <a:pt x="1955799" y="0"/>
                </a:lnTo>
                <a:lnTo>
                  <a:pt x="2003065" y="6351"/>
                </a:lnTo>
                <a:lnTo>
                  <a:pt x="2045538" y="24274"/>
                </a:lnTo>
                <a:lnTo>
                  <a:pt x="2081523" y="52076"/>
                </a:lnTo>
                <a:lnTo>
                  <a:pt x="2109324" y="88060"/>
                </a:lnTo>
                <a:lnTo>
                  <a:pt x="2127248" y="130533"/>
                </a:lnTo>
                <a:lnTo>
                  <a:pt x="2133599" y="177799"/>
                </a:lnTo>
                <a:lnTo>
                  <a:pt x="2133599" y="888999"/>
                </a:lnTo>
                <a:lnTo>
                  <a:pt x="2127248" y="936266"/>
                </a:lnTo>
                <a:lnTo>
                  <a:pt x="2109324" y="978738"/>
                </a:lnTo>
                <a:lnTo>
                  <a:pt x="2081523" y="1014723"/>
                </a:lnTo>
                <a:lnTo>
                  <a:pt x="2045538" y="1042524"/>
                </a:lnTo>
                <a:lnTo>
                  <a:pt x="2003065" y="1060448"/>
                </a:lnTo>
                <a:lnTo>
                  <a:pt x="1955799" y="1066799"/>
                </a:lnTo>
                <a:lnTo>
                  <a:pt x="177799" y="1066799"/>
                </a:lnTo>
                <a:lnTo>
                  <a:pt x="130533" y="1060448"/>
                </a:lnTo>
                <a:lnTo>
                  <a:pt x="88060" y="1042524"/>
                </a:lnTo>
                <a:lnTo>
                  <a:pt x="52076" y="1014723"/>
                </a:lnTo>
                <a:lnTo>
                  <a:pt x="24274" y="978738"/>
                </a:lnTo>
                <a:lnTo>
                  <a:pt x="6351" y="936266"/>
                </a:lnTo>
                <a:lnTo>
                  <a:pt x="0" y="888999"/>
                </a:lnTo>
                <a:lnTo>
                  <a:pt x="0" y="177799"/>
                </a:lnTo>
                <a:close/>
              </a:path>
            </a:pathLst>
          </a:custGeom>
          <a:ln w="9524">
            <a:solidFill>
              <a:srgbClr val="000000"/>
            </a:solidFill>
          </a:ln>
        </p:spPr>
        <p:txBody>
          <a:bodyPr wrap="square" lIns="0" tIns="0" rIns="0" bIns="0" rtlCol="0"/>
          <a:lstStyle/>
          <a:p/>
        </p:txBody>
      </p:sp>
      <p:sp>
        <p:nvSpPr>
          <p:cNvPr id="57" name="object 56"/>
          <p:cNvSpPr/>
          <p:nvPr/>
        </p:nvSpPr>
        <p:spPr>
          <a:xfrm>
            <a:off x="796453" y="3225181"/>
            <a:ext cx="2133600" cy="0"/>
          </a:xfrm>
          <a:custGeom>
            <a:avLst/>
            <a:gdLst/>
            <a:ahLst/>
            <a:cxnLst/>
            <a:rect l="l" t="t" r="r" b="b"/>
            <a:pathLst>
              <a:path w="2133600">
                <a:moveTo>
                  <a:pt x="0" y="0"/>
                </a:moveTo>
                <a:lnTo>
                  <a:pt x="2133599" y="1"/>
                </a:lnTo>
              </a:path>
            </a:pathLst>
          </a:custGeom>
          <a:ln w="9524">
            <a:solidFill>
              <a:srgbClr val="FFFFFF"/>
            </a:solidFill>
          </a:ln>
        </p:spPr>
        <p:txBody>
          <a:bodyPr wrap="square" lIns="0" tIns="0" rIns="0" bIns="0" rtlCol="0"/>
          <a:lstStyle/>
          <a:p/>
        </p:txBody>
      </p:sp>
      <p:sp>
        <p:nvSpPr>
          <p:cNvPr id="58" name="object 57"/>
          <p:cNvSpPr txBox="1"/>
          <p:nvPr/>
        </p:nvSpPr>
        <p:spPr>
          <a:xfrm>
            <a:off x="871066" y="3258201"/>
            <a:ext cx="2159000" cy="854075"/>
          </a:xfrm>
          <a:prstGeom prst="rect">
            <a:avLst/>
          </a:prstGeom>
        </p:spPr>
        <p:txBody>
          <a:bodyPr vert="horz" wrap="square" lIns="0" tIns="11430" rIns="0" bIns="0" rtlCol="0">
            <a:spAutoFit/>
          </a:bodyPr>
          <a:lstStyle/>
          <a:p>
            <a:pPr marL="464185" marR="5080" indent="-452120">
              <a:lnSpc>
                <a:spcPts val="2260"/>
              </a:lnSpc>
              <a:spcBef>
                <a:spcPts val="90"/>
              </a:spcBef>
              <a:tabLst>
                <a:tab pos="463550" algn="l"/>
                <a:tab pos="2145665" algn="l"/>
              </a:tabLst>
            </a:pPr>
            <a:r>
              <a:rPr sz="1800" u="sng" dirty="0">
                <a:solidFill>
                  <a:srgbClr val="FFFFFF"/>
                </a:solidFill>
                <a:uFill>
                  <a:solidFill>
                    <a:srgbClr val="FF2600"/>
                  </a:solidFill>
                </a:uFill>
                <a:latin typeface="Times New Roman" panose="02020603050405020304"/>
                <a:cs typeface="Times New Roman" panose="02020603050405020304"/>
              </a:rPr>
              <a:t> 	</a:t>
            </a:r>
            <a:r>
              <a:rPr sz="1800" u="sng" dirty="0">
                <a:solidFill>
                  <a:srgbClr val="FFFFFF"/>
                </a:solidFill>
                <a:uFill>
                  <a:solidFill>
                    <a:srgbClr val="FFFFFF"/>
                  </a:solidFill>
                </a:uFill>
                <a:latin typeface="黑体" panose="02010609060101010101" charset="-122"/>
                <a:cs typeface="黑体" panose="02010609060101010101" charset="-122"/>
              </a:rPr>
              <a:t>门诊患</a:t>
            </a:r>
            <a:r>
              <a:rPr sz="1800" dirty="0">
                <a:solidFill>
                  <a:srgbClr val="FFFFFF"/>
                </a:solidFill>
                <a:latin typeface="黑体" panose="02010609060101010101" charset="-122"/>
                <a:cs typeface="黑体" panose="02010609060101010101" charset="-122"/>
              </a:rPr>
              <a:t>者 	 诊疗记录</a:t>
            </a:r>
            <a:endParaRPr sz="1800">
              <a:latin typeface="黑体" panose="02010609060101010101" charset="-122"/>
              <a:cs typeface="黑体" panose="02010609060101010101" charset="-122"/>
            </a:endParaRPr>
          </a:p>
          <a:p>
            <a:pPr marL="12700">
              <a:lnSpc>
                <a:spcPts val="2010"/>
              </a:lnSpc>
              <a:tabLst>
                <a:tab pos="463550" algn="l"/>
              </a:tabLst>
            </a:pPr>
            <a:r>
              <a:rPr sz="1800" u="sng" dirty="0">
                <a:solidFill>
                  <a:srgbClr val="FFFFFF"/>
                </a:solidFill>
                <a:uFill>
                  <a:solidFill>
                    <a:srgbClr val="FF2600"/>
                  </a:solidFill>
                </a:uFill>
                <a:latin typeface="Times New Roman" panose="02020603050405020304"/>
                <a:cs typeface="Times New Roman" panose="02020603050405020304"/>
              </a:rPr>
              <a:t> 	</a:t>
            </a:r>
            <a:r>
              <a:rPr sz="1800" u="sng" dirty="0">
                <a:solidFill>
                  <a:srgbClr val="FFFFFF"/>
                </a:solidFill>
                <a:uFill>
                  <a:solidFill>
                    <a:srgbClr val="FF2600"/>
                  </a:solidFill>
                </a:uFill>
                <a:latin typeface="黑体" panose="02010609060101010101" charset="-122"/>
                <a:cs typeface="黑体" panose="02010609060101010101" charset="-122"/>
              </a:rPr>
              <a:t>预约记录</a:t>
            </a:r>
            <a:r>
              <a:rPr sz="1800" u="sng" spc="-265" dirty="0">
                <a:solidFill>
                  <a:srgbClr val="FFFFFF"/>
                </a:solidFill>
                <a:uFill>
                  <a:solidFill>
                    <a:srgbClr val="FF2600"/>
                  </a:solidFill>
                </a:uFill>
                <a:latin typeface="黑体" panose="02010609060101010101" charset="-122"/>
                <a:cs typeface="黑体" panose="02010609060101010101" charset="-122"/>
              </a:rPr>
              <a:t> </a:t>
            </a:r>
            <a:r>
              <a:rPr sz="2700" b="1" u="sng" spc="-15" baseline="2000" dirty="0">
                <a:uFill>
                  <a:solidFill>
                    <a:srgbClr val="FF2600"/>
                  </a:solidFill>
                </a:uFill>
                <a:latin typeface="黑体" panose="02010609060101010101" charset="-122"/>
                <a:cs typeface="黑体" panose="02010609060101010101" charset="-122"/>
              </a:rPr>
              <a:t>0..m</a:t>
            </a:r>
            <a:endParaRPr sz="2700" baseline="2000">
              <a:latin typeface="黑体" panose="02010609060101010101" charset="-122"/>
              <a:cs typeface="黑体" panose="02010609060101010101" charset="-122"/>
            </a:endParaRPr>
          </a:p>
        </p:txBody>
      </p:sp>
      <p:sp>
        <p:nvSpPr>
          <p:cNvPr id="59" name="object 58"/>
          <p:cNvSpPr/>
          <p:nvPr/>
        </p:nvSpPr>
        <p:spPr>
          <a:xfrm>
            <a:off x="1852413" y="2904010"/>
            <a:ext cx="3918585" cy="16510"/>
          </a:xfrm>
          <a:custGeom>
            <a:avLst/>
            <a:gdLst/>
            <a:ahLst/>
            <a:cxnLst/>
            <a:rect l="l" t="t" r="r" b="b"/>
            <a:pathLst>
              <a:path w="3918585" h="16510">
                <a:moveTo>
                  <a:pt x="0" y="0"/>
                </a:moveTo>
                <a:lnTo>
                  <a:pt x="3918023" y="16371"/>
                </a:lnTo>
              </a:path>
            </a:pathLst>
          </a:custGeom>
          <a:ln w="9524">
            <a:solidFill>
              <a:srgbClr val="000000"/>
            </a:solidFill>
          </a:ln>
        </p:spPr>
        <p:txBody>
          <a:bodyPr wrap="square" lIns="0" tIns="0" rIns="0" bIns="0" rtlCol="0"/>
          <a:lstStyle/>
          <a:p/>
        </p:txBody>
      </p:sp>
      <p:sp>
        <p:nvSpPr>
          <p:cNvPr id="60" name="object 59"/>
          <p:cNvSpPr/>
          <p:nvPr/>
        </p:nvSpPr>
        <p:spPr>
          <a:xfrm>
            <a:off x="1853728" y="2920381"/>
            <a:ext cx="0" cy="304800"/>
          </a:xfrm>
          <a:custGeom>
            <a:avLst/>
            <a:gdLst/>
            <a:ahLst/>
            <a:cxnLst/>
            <a:rect l="l" t="t" r="r" b="b"/>
            <a:pathLst>
              <a:path h="304800">
                <a:moveTo>
                  <a:pt x="0" y="0"/>
                </a:moveTo>
                <a:lnTo>
                  <a:pt x="0" y="304799"/>
                </a:lnTo>
              </a:path>
            </a:pathLst>
          </a:custGeom>
          <a:ln w="9524">
            <a:solidFill>
              <a:srgbClr val="000000"/>
            </a:solidFill>
          </a:ln>
        </p:spPr>
        <p:txBody>
          <a:bodyPr wrap="square" lIns="0" tIns="0" rIns="0" bIns="0" rtlCol="0"/>
          <a:lstStyle/>
          <a:p/>
        </p:txBody>
      </p:sp>
      <p:sp>
        <p:nvSpPr>
          <p:cNvPr id="61" name="object 60"/>
          <p:cNvSpPr/>
          <p:nvPr/>
        </p:nvSpPr>
        <p:spPr>
          <a:xfrm>
            <a:off x="5770436" y="2920381"/>
            <a:ext cx="1905" cy="381000"/>
          </a:xfrm>
          <a:custGeom>
            <a:avLst/>
            <a:gdLst/>
            <a:ahLst/>
            <a:cxnLst/>
            <a:rect l="l" t="t" r="r" b="b"/>
            <a:pathLst>
              <a:path w="1904" h="381000">
                <a:moveTo>
                  <a:pt x="0" y="0"/>
                </a:moveTo>
                <a:lnTo>
                  <a:pt x="1587" y="380999"/>
                </a:lnTo>
              </a:path>
            </a:pathLst>
          </a:custGeom>
          <a:ln w="9524">
            <a:solidFill>
              <a:srgbClr val="000000"/>
            </a:solidFill>
          </a:ln>
        </p:spPr>
        <p:txBody>
          <a:bodyPr wrap="square" lIns="0" tIns="0" rIns="0" bIns="0" rtlCol="0"/>
          <a:lstStyle/>
          <a:p/>
        </p:txBody>
      </p:sp>
      <p:sp>
        <p:nvSpPr>
          <p:cNvPr id="62" name="object 61"/>
          <p:cNvSpPr/>
          <p:nvPr/>
        </p:nvSpPr>
        <p:spPr>
          <a:xfrm>
            <a:off x="3868635" y="2543970"/>
            <a:ext cx="0" cy="360045"/>
          </a:xfrm>
          <a:custGeom>
            <a:avLst/>
            <a:gdLst/>
            <a:ahLst/>
            <a:cxnLst/>
            <a:rect l="l" t="t" r="r" b="b"/>
            <a:pathLst>
              <a:path h="360044">
                <a:moveTo>
                  <a:pt x="1" y="360040"/>
                </a:moveTo>
                <a:lnTo>
                  <a:pt x="0" y="0"/>
                </a:lnTo>
              </a:path>
            </a:pathLst>
          </a:custGeom>
          <a:ln w="9524">
            <a:solidFill>
              <a:srgbClr val="000000"/>
            </a:solidFill>
          </a:ln>
        </p:spPr>
        <p:txBody>
          <a:bodyPr wrap="square" lIns="0" tIns="0" rIns="0" bIns="0" rtlCol="0"/>
          <a:lstStyle/>
          <a:p/>
        </p:txBody>
      </p:sp>
      <p:sp>
        <p:nvSpPr>
          <p:cNvPr id="63" name="object 62"/>
          <p:cNvSpPr/>
          <p:nvPr/>
        </p:nvSpPr>
        <p:spPr>
          <a:xfrm>
            <a:off x="3489200" y="2691781"/>
            <a:ext cx="812800" cy="228600"/>
          </a:xfrm>
          <a:custGeom>
            <a:avLst/>
            <a:gdLst/>
            <a:ahLst/>
            <a:cxnLst/>
            <a:rect l="l" t="t" r="r" b="b"/>
            <a:pathLst>
              <a:path w="812800" h="228600">
                <a:moveTo>
                  <a:pt x="406400" y="0"/>
                </a:moveTo>
                <a:lnTo>
                  <a:pt x="365759" y="3314"/>
                </a:lnTo>
                <a:lnTo>
                  <a:pt x="325119" y="12801"/>
                </a:lnTo>
                <a:lnTo>
                  <a:pt x="284479" y="27774"/>
                </a:lnTo>
                <a:lnTo>
                  <a:pt x="243839" y="47548"/>
                </a:lnTo>
                <a:lnTo>
                  <a:pt x="203200" y="71437"/>
                </a:lnTo>
                <a:lnTo>
                  <a:pt x="162560" y="98755"/>
                </a:lnTo>
                <a:lnTo>
                  <a:pt x="121920" y="128816"/>
                </a:lnTo>
                <a:lnTo>
                  <a:pt x="81280" y="160934"/>
                </a:lnTo>
                <a:lnTo>
                  <a:pt x="40640" y="194424"/>
                </a:lnTo>
                <a:lnTo>
                  <a:pt x="0" y="228600"/>
                </a:lnTo>
                <a:lnTo>
                  <a:pt x="812800" y="228600"/>
                </a:lnTo>
                <a:lnTo>
                  <a:pt x="788619" y="212940"/>
                </a:lnTo>
                <a:lnTo>
                  <a:pt x="757529" y="190195"/>
                </a:lnTo>
                <a:lnTo>
                  <a:pt x="679501" y="131673"/>
                </a:lnTo>
                <a:lnTo>
                  <a:pt x="635000" y="100012"/>
                </a:lnTo>
                <a:lnTo>
                  <a:pt x="588467" y="69494"/>
                </a:lnTo>
                <a:lnTo>
                  <a:pt x="541121" y="42176"/>
                </a:lnTo>
                <a:lnTo>
                  <a:pt x="494182" y="20116"/>
                </a:lnTo>
                <a:lnTo>
                  <a:pt x="448868" y="5372"/>
                </a:lnTo>
                <a:lnTo>
                  <a:pt x="406400" y="0"/>
                </a:lnTo>
                <a:close/>
              </a:path>
            </a:pathLst>
          </a:custGeom>
          <a:solidFill>
            <a:srgbClr val="3DACFF"/>
          </a:solidFill>
        </p:spPr>
        <p:txBody>
          <a:bodyPr wrap="square" lIns="0" tIns="0" rIns="0" bIns="0" rtlCol="0"/>
          <a:lstStyle/>
          <a:p/>
        </p:txBody>
      </p:sp>
      <p:sp>
        <p:nvSpPr>
          <p:cNvPr id="64" name="object 63"/>
          <p:cNvSpPr/>
          <p:nvPr/>
        </p:nvSpPr>
        <p:spPr>
          <a:xfrm>
            <a:off x="3489200" y="2691781"/>
            <a:ext cx="812800" cy="228600"/>
          </a:xfrm>
          <a:custGeom>
            <a:avLst/>
            <a:gdLst/>
            <a:ahLst/>
            <a:cxnLst/>
            <a:rect l="l" t="t" r="r" b="b"/>
            <a:pathLst>
              <a:path w="812800" h="228600">
                <a:moveTo>
                  <a:pt x="0" y="228599"/>
                </a:moveTo>
                <a:lnTo>
                  <a:pt x="40639" y="194424"/>
                </a:lnTo>
                <a:lnTo>
                  <a:pt x="81279" y="160934"/>
                </a:lnTo>
                <a:lnTo>
                  <a:pt x="121919" y="128816"/>
                </a:lnTo>
                <a:lnTo>
                  <a:pt x="162559" y="98755"/>
                </a:lnTo>
                <a:lnTo>
                  <a:pt x="203199" y="71437"/>
                </a:lnTo>
                <a:lnTo>
                  <a:pt x="243839" y="47548"/>
                </a:lnTo>
                <a:lnTo>
                  <a:pt x="284479" y="27774"/>
                </a:lnTo>
                <a:lnTo>
                  <a:pt x="325119" y="12801"/>
                </a:lnTo>
                <a:lnTo>
                  <a:pt x="365759" y="3314"/>
                </a:lnTo>
                <a:lnTo>
                  <a:pt x="406399" y="0"/>
                </a:lnTo>
                <a:lnTo>
                  <a:pt x="448868" y="5372"/>
                </a:lnTo>
                <a:lnTo>
                  <a:pt x="494182" y="20116"/>
                </a:lnTo>
                <a:lnTo>
                  <a:pt x="541121" y="42176"/>
                </a:lnTo>
                <a:lnTo>
                  <a:pt x="588467" y="69494"/>
                </a:lnTo>
                <a:lnTo>
                  <a:pt x="634999" y="100012"/>
                </a:lnTo>
                <a:lnTo>
                  <a:pt x="679500" y="131673"/>
                </a:lnTo>
                <a:lnTo>
                  <a:pt x="720750" y="162420"/>
                </a:lnTo>
                <a:lnTo>
                  <a:pt x="757529" y="190195"/>
                </a:lnTo>
                <a:lnTo>
                  <a:pt x="788619" y="212940"/>
                </a:lnTo>
                <a:lnTo>
                  <a:pt x="812799" y="228599"/>
                </a:lnTo>
              </a:path>
            </a:pathLst>
          </a:custGeom>
          <a:ln w="9524">
            <a:solidFill>
              <a:srgbClr val="000000"/>
            </a:solidFill>
          </a:ln>
        </p:spPr>
        <p:txBody>
          <a:bodyPr wrap="square" lIns="0" tIns="0" rIns="0" bIns="0" rtlCol="0"/>
          <a:lstStyle/>
          <a:p/>
        </p:txBody>
      </p:sp>
      <p:sp>
        <p:nvSpPr>
          <p:cNvPr id="65" name="object 64"/>
          <p:cNvSpPr txBox="1"/>
          <p:nvPr/>
        </p:nvSpPr>
        <p:spPr>
          <a:xfrm>
            <a:off x="6565773" y="4797410"/>
            <a:ext cx="2168525" cy="962025"/>
          </a:xfrm>
          <a:prstGeom prst="rect">
            <a:avLst/>
          </a:prstGeom>
        </p:spPr>
        <p:txBody>
          <a:bodyPr vert="horz" wrap="square" lIns="0" tIns="96520" rIns="0" bIns="0" rtlCol="0">
            <a:spAutoFit/>
          </a:bodyPr>
          <a:lstStyle/>
          <a:p>
            <a:pPr marL="514985">
              <a:lnSpc>
                <a:spcPct val="100000"/>
              </a:lnSpc>
              <a:spcBef>
                <a:spcPts val="760"/>
              </a:spcBef>
            </a:pPr>
            <a:r>
              <a:rPr sz="1800" b="1" spc="-10" dirty="0">
                <a:latin typeface="黑体" panose="02010609060101010101" charset="-122"/>
                <a:cs typeface="黑体" panose="02010609060101010101" charset="-122"/>
              </a:rPr>
              <a:t>0..m</a:t>
            </a:r>
            <a:endParaRPr sz="1800">
              <a:latin typeface="黑体" panose="02010609060101010101" charset="-122"/>
              <a:cs typeface="黑体" panose="02010609060101010101" charset="-122"/>
            </a:endParaRPr>
          </a:p>
          <a:p>
            <a:pPr marL="12700">
              <a:lnSpc>
                <a:spcPts val="1945"/>
              </a:lnSpc>
              <a:spcBef>
                <a:spcPts val="660"/>
              </a:spcBef>
              <a:tabLst>
                <a:tab pos="2155190" algn="l"/>
              </a:tabLst>
            </a:pPr>
            <a:r>
              <a:rPr sz="1800" b="1" u="sng" dirty="0">
                <a:uFill>
                  <a:solidFill>
                    <a:srgbClr val="FF2600"/>
                  </a:solidFill>
                </a:uFill>
                <a:latin typeface="Times New Roman" panose="02020603050405020304"/>
                <a:cs typeface="Times New Roman" panose="02020603050405020304"/>
              </a:rPr>
              <a:t> 	</a:t>
            </a:r>
            <a:endParaRPr sz="1800">
              <a:latin typeface="Times New Roman" panose="02020603050405020304"/>
              <a:cs typeface="Times New Roman" panose="02020603050405020304"/>
            </a:endParaRPr>
          </a:p>
          <a:p>
            <a:pPr marL="12700">
              <a:lnSpc>
                <a:spcPts val="1945"/>
              </a:lnSpc>
              <a:tabLst>
                <a:tab pos="514350" algn="l"/>
                <a:tab pos="2155190" algn="l"/>
              </a:tabLst>
            </a:pPr>
            <a:r>
              <a:rPr sz="1800" strike="sngStrike" dirty="0">
                <a:solidFill>
                  <a:srgbClr val="FFFFFF"/>
                </a:solidFill>
                <a:latin typeface="Times New Roman" panose="02020603050405020304"/>
                <a:cs typeface="Times New Roman" panose="02020603050405020304"/>
              </a:rPr>
              <a:t> 	</a:t>
            </a:r>
            <a:r>
              <a:rPr sz="1800" u="sng" strike="sngStrike" dirty="0">
                <a:solidFill>
                  <a:srgbClr val="FFFFFF"/>
                </a:solidFill>
                <a:uFill>
                  <a:solidFill>
                    <a:srgbClr val="FFFFFF"/>
                  </a:solidFill>
                </a:uFill>
                <a:latin typeface="黑体" panose="02010609060101010101" charset="-122"/>
                <a:cs typeface="黑体" panose="02010609060101010101" charset="-122"/>
              </a:rPr>
              <a:t>医生	</a:t>
            </a:r>
            <a:endParaRPr sz="1800">
              <a:latin typeface="黑体" panose="02010609060101010101" charset="-122"/>
              <a:cs typeface="黑体" panose="02010609060101010101" charset="-122"/>
            </a:endParaRPr>
          </a:p>
        </p:txBody>
      </p:sp>
      <p:sp>
        <p:nvSpPr>
          <p:cNvPr id="66" name="object 65"/>
          <p:cNvSpPr txBox="1"/>
          <p:nvPr/>
        </p:nvSpPr>
        <p:spPr>
          <a:xfrm>
            <a:off x="5645976" y="4782201"/>
            <a:ext cx="139700"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黑体" panose="02010609060101010101" charset="-122"/>
                <a:cs typeface="黑体" panose="02010609060101010101" charset="-122"/>
              </a:rPr>
              <a:t>1</a:t>
            </a:r>
            <a:endParaRPr sz="1800">
              <a:latin typeface="黑体" panose="02010609060101010101" charset="-122"/>
              <a:cs typeface="黑体" panose="02010609060101010101" charset="-122"/>
            </a:endParaRPr>
          </a:p>
        </p:txBody>
      </p:sp>
      <p:sp>
        <p:nvSpPr>
          <p:cNvPr id="67" name="object 66"/>
          <p:cNvSpPr/>
          <p:nvPr/>
        </p:nvSpPr>
        <p:spPr>
          <a:xfrm>
            <a:off x="4661879" y="4544317"/>
            <a:ext cx="397510" cy="1043305"/>
          </a:xfrm>
          <a:custGeom>
            <a:avLst/>
            <a:gdLst/>
            <a:ahLst/>
            <a:cxnLst/>
            <a:rect l="l" t="t" r="r" b="b"/>
            <a:pathLst>
              <a:path w="397510" h="1043304">
                <a:moveTo>
                  <a:pt x="397357" y="1043063"/>
                </a:moveTo>
                <a:lnTo>
                  <a:pt x="0" y="0"/>
                </a:lnTo>
              </a:path>
            </a:pathLst>
          </a:custGeom>
          <a:ln w="9524">
            <a:solidFill>
              <a:srgbClr val="000000"/>
            </a:solidFill>
          </a:ln>
        </p:spPr>
        <p:txBody>
          <a:bodyPr wrap="square" lIns="0" tIns="0" rIns="0" bIns="0" rtlCol="0"/>
          <a:lstStyle/>
          <a:p/>
        </p:txBody>
      </p:sp>
      <p:sp>
        <p:nvSpPr>
          <p:cNvPr id="68" name="object 67"/>
          <p:cNvSpPr/>
          <p:nvPr/>
        </p:nvSpPr>
        <p:spPr>
          <a:xfrm>
            <a:off x="4644360" y="4520581"/>
            <a:ext cx="71755" cy="85090"/>
          </a:xfrm>
          <a:custGeom>
            <a:avLst/>
            <a:gdLst/>
            <a:ahLst/>
            <a:cxnLst/>
            <a:rect l="l" t="t" r="r" b="b"/>
            <a:pathLst>
              <a:path w="71754" h="85089">
                <a:moveTo>
                  <a:pt x="8475" y="0"/>
                </a:moveTo>
                <a:lnTo>
                  <a:pt x="0" y="84771"/>
                </a:lnTo>
                <a:lnTo>
                  <a:pt x="71207" y="57645"/>
                </a:lnTo>
                <a:lnTo>
                  <a:pt x="8475" y="0"/>
                </a:lnTo>
                <a:close/>
              </a:path>
            </a:pathLst>
          </a:custGeom>
          <a:solidFill>
            <a:srgbClr val="000000"/>
          </a:solidFill>
        </p:spPr>
        <p:txBody>
          <a:bodyPr wrap="square" lIns="0" tIns="0" rIns="0" bIns="0" rtlCol="0"/>
          <a:lstStyle/>
          <a:p/>
        </p:txBody>
      </p:sp>
    </p:spTree>
  </p:cSld>
  <p:clrMapOvr>
    <a:masterClrMapping/>
  </p:clrMapOvr>
  <mc:AlternateContent xmlns:mc="http://schemas.openxmlformats.org/markup-compatibility/2006">
    <mc:Choice xmlns:p14="http://schemas.microsoft.com/office/powerpoint/2010/main" Requires="p14">
      <p:transition spd="slow" p14:dur="2000" advTm="56549"/>
    </mc:Choice>
    <mc:Fallback>
      <p:transition spd="slow" advTm="56549"/>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UML</a:t>
            </a:r>
            <a:r>
              <a:rPr lang="zh-CN" altLang="en-US" dirty="0"/>
              <a:t>类图模型例</a:t>
            </a:r>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graphicFrame>
        <p:nvGraphicFramePr>
          <p:cNvPr id="5" name="object 3"/>
          <p:cNvGraphicFramePr>
            <a:graphicFrameLocks noGrp="1"/>
          </p:cNvGraphicFramePr>
          <p:nvPr/>
        </p:nvGraphicFramePr>
        <p:xfrm>
          <a:off x="2462650" y="2135187"/>
          <a:ext cx="1524000" cy="1600197"/>
        </p:xfrm>
        <a:graphic>
          <a:graphicData uri="http://schemas.openxmlformats.org/drawingml/2006/table">
            <a:tbl>
              <a:tblPr firstRow="1" bandRow="1">
                <a:tableStyleId>{2D5ABB26-0587-4C30-8999-92F81FD0307C}</a:tableStyleId>
              </a:tblPr>
              <a:tblGrid>
                <a:gridCol w="1524000"/>
              </a:tblGrid>
              <a:tr h="305593">
                <a:tc>
                  <a:txBody>
                    <a:bodyPr/>
                    <a:lstStyle/>
                    <a:p>
                      <a:pPr marL="267335">
                        <a:lnSpc>
                          <a:spcPct val="100000"/>
                        </a:lnSpc>
                        <a:spcBef>
                          <a:spcPts val="385"/>
                        </a:spcBef>
                      </a:pPr>
                      <a:r>
                        <a:rPr sz="1400" b="1" dirty="0">
                          <a:latin typeface="Comic Sans MS" panose="030F0702030302020204"/>
                          <a:cs typeface="Comic Sans MS" panose="030F0702030302020204"/>
                        </a:rPr>
                        <a:t>:patient</a:t>
                      </a:r>
                      <a:endParaRPr sz="1400">
                        <a:latin typeface="Comic Sans MS" panose="030F0702030302020204"/>
                        <a:cs typeface="Comic Sans MS" panose="030F0702030302020204"/>
                      </a:endParaRPr>
                    </a:p>
                  </a:txBody>
                  <a:tcPr marL="0" marR="0" marT="48894" marB="0">
                    <a:lnL w="28575">
                      <a:solidFill>
                        <a:srgbClr val="000000"/>
                      </a:solidFill>
                      <a:prstDash val="solid"/>
                    </a:lnL>
                    <a:lnR w="28575">
                      <a:solidFill>
                        <a:srgbClr val="000000"/>
                      </a:solidFill>
                      <a:prstDash val="solid"/>
                    </a:lnR>
                    <a:lnT w="28575">
                      <a:solidFill>
                        <a:srgbClr val="000000"/>
                      </a:solidFill>
                      <a:prstDash val="solid"/>
                    </a:lnT>
                    <a:lnB w="38100">
                      <a:solidFill>
                        <a:srgbClr val="000000"/>
                      </a:solidFill>
                      <a:prstDash val="solid"/>
                    </a:lnB>
                    <a:solidFill>
                      <a:srgbClr val="FCFAD3"/>
                    </a:solidFill>
                  </a:tcPr>
                </a:tc>
              </a:tr>
              <a:tr h="990599">
                <a:tc>
                  <a:txBody>
                    <a:bodyPr/>
                    <a:lstStyle/>
                    <a:p>
                      <a:pPr marL="90805">
                        <a:lnSpc>
                          <a:spcPts val="1420"/>
                        </a:lnSpc>
                        <a:spcBef>
                          <a:spcPts val="390"/>
                        </a:spcBef>
                      </a:pPr>
                      <a:r>
                        <a:rPr sz="1200" dirty="0">
                          <a:latin typeface="Comic Sans MS" panose="030F0702030302020204"/>
                          <a:cs typeface="Comic Sans MS" panose="030F0702030302020204"/>
                        </a:rPr>
                        <a:t>Name</a:t>
                      </a:r>
                      <a:endParaRPr sz="1200" dirty="0">
                        <a:latin typeface="Comic Sans MS" panose="030F0702030302020204"/>
                        <a:cs typeface="Comic Sans MS" panose="030F0702030302020204"/>
                      </a:endParaRPr>
                    </a:p>
                    <a:p>
                      <a:pPr marL="90805" marR="460375">
                        <a:lnSpc>
                          <a:spcPts val="1400"/>
                        </a:lnSpc>
                        <a:spcBef>
                          <a:spcPts val="60"/>
                        </a:spcBef>
                      </a:pPr>
                      <a:r>
                        <a:rPr sz="1200" dirty="0">
                          <a:latin typeface="Comic Sans MS" panose="030F0702030302020204"/>
                          <a:cs typeface="Comic Sans MS" panose="030F0702030302020204"/>
                        </a:rPr>
                        <a:t>Date </a:t>
                      </a:r>
                      <a:r>
                        <a:rPr sz="1200" spc="-5" dirty="0">
                          <a:latin typeface="Comic Sans MS" panose="030F0702030302020204"/>
                          <a:cs typeface="Comic Sans MS" panose="030F0702030302020204"/>
                        </a:rPr>
                        <a:t>of</a:t>
                      </a:r>
                      <a:r>
                        <a:rPr sz="1200" spc="-100" dirty="0">
                          <a:latin typeface="Comic Sans MS" panose="030F0702030302020204"/>
                          <a:cs typeface="Comic Sans MS" panose="030F0702030302020204"/>
                        </a:rPr>
                        <a:t> </a:t>
                      </a:r>
                      <a:r>
                        <a:rPr sz="1200" dirty="0">
                          <a:latin typeface="Comic Sans MS" panose="030F0702030302020204"/>
                          <a:cs typeface="Comic Sans MS" panose="030F0702030302020204"/>
                        </a:rPr>
                        <a:t>Birth  physician</a:t>
                      </a:r>
                      <a:endParaRPr sz="1200" dirty="0">
                        <a:latin typeface="Comic Sans MS" panose="030F0702030302020204"/>
                        <a:cs typeface="Comic Sans MS" panose="030F0702030302020204"/>
                      </a:endParaRPr>
                    </a:p>
                    <a:p>
                      <a:pPr marL="90805">
                        <a:lnSpc>
                          <a:spcPct val="100000"/>
                        </a:lnSpc>
                        <a:spcBef>
                          <a:spcPts val="20"/>
                        </a:spcBef>
                      </a:pPr>
                      <a:r>
                        <a:rPr sz="1200" spc="-5" dirty="0">
                          <a:latin typeface="Comic Sans MS" panose="030F0702030302020204"/>
                          <a:cs typeface="Comic Sans MS" panose="030F0702030302020204"/>
                        </a:rPr>
                        <a:t>history</a:t>
                      </a:r>
                      <a:endParaRPr sz="1200" dirty="0">
                        <a:latin typeface="Comic Sans MS" panose="030F0702030302020204"/>
                        <a:cs typeface="Comic Sans MS" panose="030F0702030302020204"/>
                      </a:endParaRPr>
                    </a:p>
                  </a:txBody>
                  <a:tcPr marL="0" marR="0" marT="49530" marB="0">
                    <a:lnL w="28575">
                      <a:solidFill>
                        <a:srgbClr val="000000"/>
                      </a:solidFill>
                      <a:prstDash val="solid"/>
                    </a:lnL>
                    <a:lnR w="28575">
                      <a:solidFill>
                        <a:srgbClr val="000000"/>
                      </a:solidFill>
                      <a:prstDash val="solid"/>
                    </a:lnR>
                    <a:lnT w="38100">
                      <a:solidFill>
                        <a:srgbClr val="000000"/>
                      </a:solidFill>
                      <a:prstDash val="solid"/>
                    </a:lnT>
                    <a:lnB w="38100">
                      <a:solidFill>
                        <a:srgbClr val="000000"/>
                      </a:solidFill>
                      <a:prstDash val="solid"/>
                    </a:lnB>
                    <a:solidFill>
                      <a:srgbClr val="FCFAD3"/>
                    </a:solidFill>
                  </a:tcPr>
                </a:tc>
              </a:tr>
              <a:tr h="304005">
                <a:tc>
                  <a:txBody>
                    <a:bodyPr/>
                    <a:lstStyle/>
                    <a:p>
                      <a:pPr>
                        <a:lnSpc>
                          <a:spcPct val="100000"/>
                        </a:lnSpc>
                      </a:pPr>
                      <a:endParaRPr sz="1300" dirty="0">
                        <a:latin typeface="Times New Roman" panose="02020603050405020304"/>
                        <a:cs typeface="Times New Roman" panose="02020603050405020304"/>
                      </a:endParaRPr>
                    </a:p>
                  </a:txBody>
                  <a:tcPr marL="0" marR="0" marT="0" marB="0">
                    <a:lnL w="28575">
                      <a:solidFill>
                        <a:srgbClr val="000000"/>
                      </a:solidFill>
                      <a:prstDash val="solid"/>
                    </a:lnL>
                    <a:lnR w="28575">
                      <a:solidFill>
                        <a:srgbClr val="000000"/>
                      </a:solidFill>
                      <a:prstDash val="solid"/>
                    </a:lnR>
                    <a:lnT w="38100">
                      <a:solidFill>
                        <a:srgbClr val="000000"/>
                      </a:solidFill>
                      <a:prstDash val="solid"/>
                    </a:lnT>
                    <a:lnB w="28575">
                      <a:solidFill>
                        <a:srgbClr val="000000"/>
                      </a:solidFill>
                      <a:prstDash val="solid"/>
                    </a:lnB>
                    <a:solidFill>
                      <a:srgbClr val="FCFAD3"/>
                    </a:solidFill>
                  </a:tcPr>
                </a:tc>
              </a:tr>
            </a:tbl>
          </a:graphicData>
        </a:graphic>
      </p:graphicFrame>
      <p:graphicFrame>
        <p:nvGraphicFramePr>
          <p:cNvPr id="6" name="object 4"/>
          <p:cNvGraphicFramePr>
            <a:graphicFrameLocks noGrp="1"/>
          </p:cNvGraphicFramePr>
          <p:nvPr/>
        </p:nvGraphicFramePr>
        <p:xfrm>
          <a:off x="735450" y="4068764"/>
          <a:ext cx="2032000" cy="2424108"/>
        </p:xfrm>
        <a:graphic>
          <a:graphicData uri="http://schemas.openxmlformats.org/drawingml/2006/table">
            <a:tbl>
              <a:tblPr firstRow="1" bandRow="1">
                <a:tableStyleId>{2D5ABB26-0587-4C30-8999-92F81FD0307C}</a:tableStyleId>
              </a:tblPr>
              <a:tblGrid>
                <a:gridCol w="762000"/>
                <a:gridCol w="762000"/>
                <a:gridCol w="508000"/>
              </a:tblGrid>
              <a:tr h="404811">
                <a:tc gridSpan="3">
                  <a:txBody>
                    <a:bodyPr/>
                    <a:lstStyle/>
                    <a:p>
                      <a:pPr>
                        <a:lnSpc>
                          <a:spcPct val="100000"/>
                        </a:lnSpc>
                      </a:pPr>
                      <a:endParaRPr sz="1300">
                        <a:latin typeface="Times New Roman" panose="02020603050405020304"/>
                        <a:cs typeface="Times New Roman" panose="02020603050405020304"/>
                      </a:endParaRPr>
                    </a:p>
                  </a:txBody>
                  <a:tcPr marL="0" marR="0" marT="0" marB="0">
                    <a:lnR w="28575">
                      <a:solidFill>
                        <a:srgbClr val="000000"/>
                      </a:solidFill>
                      <a:prstDash val="solid"/>
                    </a:lnR>
                  </a:tcPr>
                </a:tc>
                <a:tc hMerge="1">
                  <a:tcPr marL="0" marR="0" marT="0" marB="0"/>
                </a:tc>
                <a:tc hMerge="1">
                  <a:tcPr marL="0" marR="0" marT="0" marB="0"/>
                </a:tc>
              </a:tr>
              <a:tr h="419099">
                <a:tc>
                  <a:txBody>
                    <a:bodyPr/>
                    <a:lstStyle/>
                    <a:p>
                      <a:pPr>
                        <a:lnSpc>
                          <a:spcPct val="100000"/>
                        </a:lnSpc>
                      </a:pPr>
                      <a:endParaRPr sz="1300">
                        <a:latin typeface="Times New Roman" panose="02020603050405020304"/>
                        <a:cs typeface="Times New Roman" panose="02020603050405020304"/>
                      </a:endParaRPr>
                    </a:p>
                  </a:txBody>
                  <a:tcPr marL="0" marR="0" marT="0" marB="0">
                    <a:lnR w="28575">
                      <a:solidFill>
                        <a:srgbClr val="000000"/>
                      </a:solidFill>
                      <a:prstDash val="solid"/>
                    </a:lnR>
                    <a:lnB w="28575">
                      <a:solidFill>
                        <a:srgbClr val="000000"/>
                      </a:solidFill>
                      <a:prstDash val="solid"/>
                    </a:lnB>
                  </a:tcPr>
                </a:tc>
                <a:tc gridSpan="2">
                  <a:txBody>
                    <a:bodyPr/>
                    <a:lstStyle/>
                    <a:p>
                      <a:pPr>
                        <a:lnSpc>
                          <a:spcPct val="100000"/>
                        </a:lnSpc>
                      </a:pPr>
                      <a:endParaRPr sz="1300">
                        <a:latin typeface="Times New Roman" panose="02020603050405020304"/>
                        <a:cs typeface="Times New Roman" panose="02020603050405020304"/>
                      </a:endParaRPr>
                    </a:p>
                  </a:txBody>
                  <a:tcPr marL="0" marR="0" marT="0" marB="0">
                    <a:lnL w="28575">
                      <a:solidFill>
                        <a:srgbClr val="000000"/>
                      </a:solidFill>
                      <a:prstDash val="solid"/>
                    </a:lnL>
                    <a:lnT w="28575">
                      <a:solidFill>
                        <a:srgbClr val="000000"/>
                      </a:solidFill>
                      <a:prstDash val="solid"/>
                    </a:lnT>
                  </a:tcPr>
                </a:tc>
                <a:tc hMerge="1">
                  <a:tcPr marL="0" marR="0" marT="0" marB="0"/>
                </a:tc>
              </a:tr>
              <a:tr h="304800">
                <a:tc gridSpan="2">
                  <a:txBody>
                    <a:bodyPr/>
                    <a:lstStyle/>
                    <a:p>
                      <a:pPr marL="254635">
                        <a:lnSpc>
                          <a:spcPct val="100000"/>
                        </a:lnSpc>
                        <a:spcBef>
                          <a:spcPts val="360"/>
                        </a:spcBef>
                      </a:pPr>
                      <a:r>
                        <a:rPr sz="1400" b="1" spc="-5" dirty="0">
                          <a:latin typeface="Comic Sans MS" panose="030F0702030302020204"/>
                          <a:cs typeface="Comic Sans MS" panose="030F0702030302020204"/>
                        </a:rPr>
                        <a:t>:in-patient</a:t>
                      </a:r>
                      <a:endParaRPr sz="1400">
                        <a:latin typeface="Comic Sans MS" panose="030F0702030302020204"/>
                        <a:cs typeface="Comic Sans MS" panose="030F0702030302020204"/>
                      </a:endParaRPr>
                    </a:p>
                  </a:txBody>
                  <a:tcPr marL="0" marR="0" marT="45719" marB="0">
                    <a:lnL w="28575">
                      <a:solidFill>
                        <a:srgbClr val="000000"/>
                      </a:solidFill>
                      <a:prstDash val="solid"/>
                    </a:lnL>
                    <a:lnR w="28575">
                      <a:solidFill>
                        <a:srgbClr val="000000"/>
                      </a:solidFill>
                      <a:prstDash val="solid"/>
                    </a:lnR>
                    <a:lnT w="28575">
                      <a:solidFill>
                        <a:srgbClr val="000000"/>
                      </a:solidFill>
                      <a:prstDash val="solid"/>
                    </a:lnT>
                    <a:lnB w="38100">
                      <a:solidFill>
                        <a:srgbClr val="000000"/>
                      </a:solidFill>
                      <a:prstDash val="solid"/>
                    </a:lnB>
                    <a:solidFill>
                      <a:srgbClr val="FCFAD3"/>
                    </a:solidFill>
                  </a:tcPr>
                </a:tc>
                <a:tc hMerge="1">
                  <a:tcPr marL="0" marR="0" marT="0" marB="0"/>
                </a:tc>
                <a:tc rowSpan="3">
                  <a:txBody>
                    <a:bodyPr/>
                    <a:lstStyle/>
                    <a:p>
                      <a:pPr>
                        <a:lnSpc>
                          <a:spcPct val="100000"/>
                        </a:lnSpc>
                      </a:pPr>
                      <a:endParaRPr sz="1300">
                        <a:latin typeface="Times New Roman" panose="02020603050405020304"/>
                        <a:cs typeface="Times New Roman" panose="02020603050405020304"/>
                      </a:endParaRPr>
                    </a:p>
                  </a:txBody>
                  <a:tcPr marL="0" marR="0" marT="0" marB="0">
                    <a:lnL w="28575">
                      <a:solidFill>
                        <a:srgbClr val="000000"/>
                      </a:solidFill>
                      <a:prstDash val="solid"/>
                    </a:lnL>
                  </a:tcPr>
                </a:tc>
              </a:tr>
              <a:tr h="990599">
                <a:tc gridSpan="2">
                  <a:txBody>
                    <a:bodyPr/>
                    <a:lstStyle/>
                    <a:p>
                      <a:pPr marL="91440" marR="1050290">
                        <a:lnSpc>
                          <a:spcPts val="1400"/>
                        </a:lnSpc>
                        <a:spcBef>
                          <a:spcPts val="475"/>
                        </a:spcBef>
                      </a:pPr>
                      <a:r>
                        <a:rPr sz="1200" dirty="0">
                          <a:latin typeface="Comic Sans MS" panose="030F0702030302020204"/>
                          <a:cs typeface="Comic Sans MS" panose="030F0702030302020204"/>
                        </a:rPr>
                        <a:t>R</a:t>
                      </a:r>
                      <a:r>
                        <a:rPr sz="1200" spc="-5" dirty="0">
                          <a:latin typeface="Comic Sans MS" panose="030F0702030302020204"/>
                          <a:cs typeface="Comic Sans MS" panose="030F0702030302020204"/>
                        </a:rPr>
                        <a:t>oo</a:t>
                      </a:r>
                      <a:r>
                        <a:rPr sz="1200" dirty="0">
                          <a:latin typeface="Comic Sans MS" panose="030F0702030302020204"/>
                          <a:cs typeface="Comic Sans MS" panose="030F0702030302020204"/>
                        </a:rPr>
                        <a:t>m  </a:t>
                      </a:r>
                      <a:r>
                        <a:rPr sz="1200" spc="-5" dirty="0">
                          <a:latin typeface="Comic Sans MS" panose="030F0702030302020204"/>
                          <a:cs typeface="Comic Sans MS" panose="030F0702030302020204"/>
                        </a:rPr>
                        <a:t>Bed</a:t>
                      </a:r>
                      <a:endParaRPr sz="1200">
                        <a:latin typeface="Comic Sans MS" panose="030F0702030302020204"/>
                        <a:cs typeface="Comic Sans MS" panose="030F0702030302020204"/>
                      </a:endParaRPr>
                    </a:p>
                    <a:p>
                      <a:pPr marL="91440">
                        <a:lnSpc>
                          <a:spcPts val="1360"/>
                        </a:lnSpc>
                      </a:pPr>
                      <a:r>
                        <a:rPr sz="1200" spc="-5" dirty="0">
                          <a:latin typeface="Comic Sans MS" panose="030F0702030302020204"/>
                          <a:cs typeface="Comic Sans MS" panose="030F0702030302020204"/>
                        </a:rPr>
                        <a:t>Treatments</a:t>
                      </a:r>
                      <a:endParaRPr sz="1200">
                        <a:latin typeface="Comic Sans MS" panose="030F0702030302020204"/>
                        <a:cs typeface="Comic Sans MS" panose="030F0702030302020204"/>
                      </a:endParaRPr>
                    </a:p>
                    <a:p>
                      <a:pPr marL="91440">
                        <a:lnSpc>
                          <a:spcPct val="100000"/>
                        </a:lnSpc>
                        <a:spcBef>
                          <a:spcPts val="60"/>
                        </a:spcBef>
                      </a:pPr>
                      <a:r>
                        <a:rPr sz="1200" spc="-5" dirty="0">
                          <a:latin typeface="Comic Sans MS" panose="030F0702030302020204"/>
                          <a:cs typeface="Comic Sans MS" panose="030F0702030302020204"/>
                        </a:rPr>
                        <a:t>food</a:t>
                      </a:r>
                      <a:r>
                        <a:rPr sz="1200" spc="-15" dirty="0">
                          <a:latin typeface="Comic Sans MS" panose="030F0702030302020204"/>
                          <a:cs typeface="Comic Sans MS" panose="030F0702030302020204"/>
                        </a:rPr>
                        <a:t> </a:t>
                      </a:r>
                      <a:r>
                        <a:rPr sz="1200" spc="-5" dirty="0">
                          <a:latin typeface="Comic Sans MS" panose="030F0702030302020204"/>
                          <a:cs typeface="Comic Sans MS" panose="030F0702030302020204"/>
                        </a:rPr>
                        <a:t>prefs</a:t>
                      </a:r>
                      <a:endParaRPr sz="1200">
                        <a:latin typeface="Comic Sans MS" panose="030F0702030302020204"/>
                        <a:cs typeface="Comic Sans MS" panose="030F0702030302020204"/>
                      </a:endParaRPr>
                    </a:p>
                  </a:txBody>
                  <a:tcPr marL="0" marR="0" marT="60325" marB="0">
                    <a:lnL w="28575">
                      <a:solidFill>
                        <a:srgbClr val="000000"/>
                      </a:solidFill>
                      <a:prstDash val="solid"/>
                    </a:lnL>
                    <a:lnR w="28575">
                      <a:solidFill>
                        <a:srgbClr val="000000"/>
                      </a:solidFill>
                      <a:prstDash val="solid"/>
                    </a:lnR>
                    <a:lnT w="38100">
                      <a:solidFill>
                        <a:srgbClr val="000000"/>
                      </a:solidFill>
                      <a:prstDash val="solid"/>
                    </a:lnT>
                    <a:lnB w="38100">
                      <a:solidFill>
                        <a:srgbClr val="000000"/>
                      </a:solidFill>
                      <a:prstDash val="solid"/>
                    </a:lnB>
                    <a:solidFill>
                      <a:srgbClr val="FCFAD3"/>
                    </a:solidFill>
                  </a:tcPr>
                </a:tc>
                <a:tc hMerge="1">
                  <a:tcPr marL="0" marR="0" marT="0" marB="0"/>
                </a:tc>
                <a:tc vMerge="1">
                  <a:tcPr marL="0" marR="0" marT="0" marB="0">
                    <a:lnL w="28575">
                      <a:solidFill>
                        <a:srgbClr val="000000"/>
                      </a:solidFill>
                      <a:prstDash val="solid"/>
                    </a:lnL>
                  </a:tcPr>
                </a:tc>
              </a:tr>
              <a:tr h="304799">
                <a:tc gridSpan="2">
                  <a:txBody>
                    <a:bodyPr/>
                    <a:lstStyle/>
                    <a:p>
                      <a:pPr>
                        <a:lnSpc>
                          <a:spcPct val="100000"/>
                        </a:lnSpc>
                      </a:pPr>
                      <a:endParaRPr sz="1300">
                        <a:latin typeface="Times New Roman" panose="02020603050405020304"/>
                        <a:cs typeface="Times New Roman" panose="02020603050405020304"/>
                      </a:endParaRPr>
                    </a:p>
                  </a:txBody>
                  <a:tcPr marL="0" marR="0" marT="0" marB="0">
                    <a:lnL w="28575">
                      <a:solidFill>
                        <a:srgbClr val="000000"/>
                      </a:solidFill>
                      <a:prstDash val="solid"/>
                    </a:lnL>
                    <a:lnR w="28575">
                      <a:solidFill>
                        <a:srgbClr val="000000"/>
                      </a:solidFill>
                      <a:prstDash val="solid"/>
                    </a:lnR>
                    <a:lnT w="38100">
                      <a:solidFill>
                        <a:srgbClr val="000000"/>
                      </a:solidFill>
                      <a:prstDash val="solid"/>
                    </a:lnT>
                    <a:lnB w="28575">
                      <a:solidFill>
                        <a:srgbClr val="000000"/>
                      </a:solidFill>
                      <a:prstDash val="solid"/>
                    </a:lnB>
                    <a:solidFill>
                      <a:srgbClr val="FCFAD3"/>
                    </a:solidFill>
                  </a:tcPr>
                </a:tc>
                <a:tc hMerge="1">
                  <a:tcPr marL="0" marR="0" marT="0" marB="0"/>
                </a:tc>
                <a:tc vMerge="1">
                  <a:tcPr marL="0" marR="0" marT="0" marB="0">
                    <a:lnL w="28575">
                      <a:solidFill>
                        <a:srgbClr val="000000"/>
                      </a:solidFill>
                      <a:prstDash val="solid"/>
                    </a:lnL>
                  </a:tcPr>
                </a:tc>
              </a:tr>
            </a:tbl>
          </a:graphicData>
        </a:graphic>
      </p:graphicFrame>
      <p:graphicFrame>
        <p:nvGraphicFramePr>
          <p:cNvPr id="7" name="object 5"/>
          <p:cNvGraphicFramePr>
            <a:graphicFrameLocks noGrp="1"/>
          </p:cNvGraphicFramePr>
          <p:nvPr/>
        </p:nvGraphicFramePr>
        <p:xfrm>
          <a:off x="8355448" y="1906587"/>
          <a:ext cx="1524000" cy="1600197"/>
        </p:xfrm>
        <a:graphic>
          <a:graphicData uri="http://schemas.openxmlformats.org/drawingml/2006/table">
            <a:tbl>
              <a:tblPr firstRow="1" bandRow="1">
                <a:tableStyleId>{2D5ABB26-0587-4C30-8999-92F81FD0307C}</a:tableStyleId>
              </a:tblPr>
              <a:tblGrid>
                <a:gridCol w="1524000"/>
              </a:tblGrid>
              <a:tr h="304800">
                <a:tc>
                  <a:txBody>
                    <a:bodyPr/>
                    <a:lstStyle/>
                    <a:p>
                      <a:pPr marL="267335">
                        <a:lnSpc>
                          <a:spcPct val="100000"/>
                        </a:lnSpc>
                        <a:spcBef>
                          <a:spcPts val="385"/>
                        </a:spcBef>
                      </a:pPr>
                      <a:r>
                        <a:rPr sz="1400" b="1" dirty="0">
                          <a:latin typeface="Comic Sans MS" panose="030F0702030302020204"/>
                          <a:cs typeface="Comic Sans MS" panose="030F0702030302020204"/>
                        </a:rPr>
                        <a:t>:patient</a:t>
                      </a:r>
                      <a:endParaRPr sz="1400">
                        <a:latin typeface="Comic Sans MS" panose="030F0702030302020204"/>
                        <a:cs typeface="Comic Sans MS" panose="030F0702030302020204"/>
                      </a:endParaRPr>
                    </a:p>
                  </a:txBody>
                  <a:tcPr marL="0" marR="0" marT="48894" marB="0">
                    <a:lnL w="28575">
                      <a:solidFill>
                        <a:srgbClr val="000000"/>
                      </a:solidFill>
                      <a:prstDash val="solid"/>
                    </a:lnL>
                    <a:lnR w="28575">
                      <a:solidFill>
                        <a:srgbClr val="000000"/>
                      </a:solidFill>
                      <a:prstDash val="solid"/>
                    </a:lnR>
                    <a:lnT w="28575">
                      <a:solidFill>
                        <a:srgbClr val="000000"/>
                      </a:solidFill>
                      <a:prstDash val="solid"/>
                    </a:lnT>
                    <a:lnB w="38100">
                      <a:solidFill>
                        <a:srgbClr val="000000"/>
                      </a:solidFill>
                      <a:prstDash val="solid"/>
                    </a:lnB>
                    <a:solidFill>
                      <a:srgbClr val="FCFAD3"/>
                    </a:solidFill>
                  </a:tcPr>
                </a:tc>
              </a:tr>
              <a:tr h="990599">
                <a:tc>
                  <a:txBody>
                    <a:bodyPr/>
                    <a:lstStyle/>
                    <a:p>
                      <a:pPr marL="91440">
                        <a:lnSpc>
                          <a:spcPts val="1420"/>
                        </a:lnSpc>
                        <a:spcBef>
                          <a:spcPts val="395"/>
                        </a:spcBef>
                      </a:pPr>
                      <a:r>
                        <a:rPr sz="1200" dirty="0">
                          <a:latin typeface="Comic Sans MS" panose="030F0702030302020204"/>
                          <a:cs typeface="Comic Sans MS" panose="030F0702030302020204"/>
                        </a:rPr>
                        <a:t>Name</a:t>
                      </a:r>
                      <a:endParaRPr sz="1200">
                        <a:latin typeface="Comic Sans MS" panose="030F0702030302020204"/>
                        <a:cs typeface="Comic Sans MS" panose="030F0702030302020204"/>
                      </a:endParaRPr>
                    </a:p>
                    <a:p>
                      <a:pPr marL="91440" marR="460375">
                        <a:lnSpc>
                          <a:spcPts val="1400"/>
                        </a:lnSpc>
                        <a:spcBef>
                          <a:spcPts val="60"/>
                        </a:spcBef>
                      </a:pPr>
                      <a:r>
                        <a:rPr sz="1200" dirty="0">
                          <a:latin typeface="Comic Sans MS" panose="030F0702030302020204"/>
                          <a:cs typeface="Comic Sans MS" panose="030F0702030302020204"/>
                        </a:rPr>
                        <a:t>Date </a:t>
                      </a:r>
                      <a:r>
                        <a:rPr sz="1200" spc="-5" dirty="0">
                          <a:latin typeface="Comic Sans MS" panose="030F0702030302020204"/>
                          <a:cs typeface="Comic Sans MS" panose="030F0702030302020204"/>
                        </a:rPr>
                        <a:t>of</a:t>
                      </a:r>
                      <a:r>
                        <a:rPr sz="1200" spc="-100" dirty="0">
                          <a:latin typeface="Comic Sans MS" panose="030F0702030302020204"/>
                          <a:cs typeface="Comic Sans MS" panose="030F0702030302020204"/>
                        </a:rPr>
                        <a:t> </a:t>
                      </a:r>
                      <a:r>
                        <a:rPr sz="1200" dirty="0">
                          <a:latin typeface="Comic Sans MS" panose="030F0702030302020204"/>
                          <a:cs typeface="Comic Sans MS" panose="030F0702030302020204"/>
                        </a:rPr>
                        <a:t>Birth  physician</a:t>
                      </a:r>
                      <a:endParaRPr sz="1200">
                        <a:latin typeface="Comic Sans MS" panose="030F0702030302020204"/>
                        <a:cs typeface="Comic Sans MS" panose="030F0702030302020204"/>
                      </a:endParaRPr>
                    </a:p>
                    <a:p>
                      <a:pPr marL="91440">
                        <a:lnSpc>
                          <a:spcPct val="100000"/>
                        </a:lnSpc>
                        <a:spcBef>
                          <a:spcPts val="20"/>
                        </a:spcBef>
                      </a:pPr>
                      <a:r>
                        <a:rPr sz="1200" spc="-5" dirty="0">
                          <a:latin typeface="Comic Sans MS" panose="030F0702030302020204"/>
                          <a:cs typeface="Comic Sans MS" panose="030F0702030302020204"/>
                        </a:rPr>
                        <a:t>history</a:t>
                      </a:r>
                      <a:endParaRPr sz="1200">
                        <a:latin typeface="Comic Sans MS" panose="030F0702030302020204"/>
                        <a:cs typeface="Comic Sans MS" panose="030F0702030302020204"/>
                      </a:endParaRPr>
                    </a:p>
                  </a:txBody>
                  <a:tcPr marL="0" marR="0" marT="50165" marB="0">
                    <a:lnL w="28575">
                      <a:solidFill>
                        <a:srgbClr val="000000"/>
                      </a:solidFill>
                      <a:prstDash val="solid"/>
                    </a:lnL>
                    <a:lnR w="28575">
                      <a:solidFill>
                        <a:srgbClr val="000000"/>
                      </a:solidFill>
                      <a:prstDash val="solid"/>
                    </a:lnR>
                    <a:lnT w="38100">
                      <a:solidFill>
                        <a:srgbClr val="000000"/>
                      </a:solidFill>
                      <a:prstDash val="solid"/>
                    </a:lnT>
                    <a:lnB w="38100">
                      <a:solidFill>
                        <a:srgbClr val="000000"/>
                      </a:solidFill>
                      <a:prstDash val="solid"/>
                    </a:lnB>
                    <a:solidFill>
                      <a:srgbClr val="FCFAD3"/>
                    </a:solidFill>
                  </a:tcPr>
                </a:tc>
              </a:tr>
              <a:tr h="304798">
                <a:tc>
                  <a:txBody>
                    <a:bodyPr/>
                    <a:lstStyle/>
                    <a:p>
                      <a:pPr>
                        <a:lnSpc>
                          <a:spcPct val="100000"/>
                        </a:lnSpc>
                      </a:pPr>
                      <a:endParaRPr sz="1300">
                        <a:latin typeface="Times New Roman" panose="02020603050405020304"/>
                        <a:cs typeface="Times New Roman" panose="02020603050405020304"/>
                      </a:endParaRPr>
                    </a:p>
                  </a:txBody>
                  <a:tcPr marL="0" marR="0" marT="0" marB="0">
                    <a:lnL w="28575">
                      <a:solidFill>
                        <a:srgbClr val="000000"/>
                      </a:solidFill>
                      <a:prstDash val="solid"/>
                    </a:lnL>
                    <a:lnR w="28575">
                      <a:solidFill>
                        <a:srgbClr val="000000"/>
                      </a:solidFill>
                      <a:prstDash val="solid"/>
                    </a:lnR>
                    <a:lnT w="38100">
                      <a:solidFill>
                        <a:srgbClr val="000000"/>
                      </a:solidFill>
                      <a:prstDash val="solid"/>
                    </a:lnT>
                    <a:lnB w="28575">
                      <a:solidFill>
                        <a:srgbClr val="000000"/>
                      </a:solidFill>
                      <a:prstDash val="solid"/>
                    </a:lnB>
                    <a:solidFill>
                      <a:srgbClr val="FCFAD3"/>
                    </a:solidFill>
                  </a:tcPr>
                </a:tc>
              </a:tr>
            </a:tbl>
          </a:graphicData>
        </a:graphic>
      </p:graphicFrame>
      <p:sp>
        <p:nvSpPr>
          <p:cNvPr id="8" name="object 6"/>
          <p:cNvSpPr/>
          <p:nvPr/>
        </p:nvSpPr>
        <p:spPr>
          <a:xfrm>
            <a:off x="10096936" y="4892675"/>
            <a:ext cx="1422400" cy="1600200"/>
          </a:xfrm>
          <a:custGeom>
            <a:avLst/>
            <a:gdLst/>
            <a:ahLst/>
            <a:cxnLst/>
            <a:rect l="l" t="t" r="r" b="b"/>
            <a:pathLst>
              <a:path w="1422400" h="1600200">
                <a:moveTo>
                  <a:pt x="0" y="0"/>
                </a:moveTo>
                <a:lnTo>
                  <a:pt x="1422400" y="0"/>
                </a:lnTo>
                <a:lnTo>
                  <a:pt x="1422400" y="1600199"/>
                </a:lnTo>
                <a:lnTo>
                  <a:pt x="0" y="1600199"/>
                </a:lnTo>
                <a:lnTo>
                  <a:pt x="0" y="0"/>
                </a:lnTo>
                <a:close/>
              </a:path>
            </a:pathLst>
          </a:custGeom>
          <a:solidFill>
            <a:srgbClr val="FCFAD3"/>
          </a:solidFill>
        </p:spPr>
        <p:txBody>
          <a:bodyPr wrap="square" lIns="0" tIns="0" rIns="0" bIns="0" rtlCol="0"/>
          <a:lstStyle/>
          <a:p/>
        </p:txBody>
      </p:sp>
      <p:sp>
        <p:nvSpPr>
          <p:cNvPr id="9" name="object 7"/>
          <p:cNvSpPr/>
          <p:nvPr/>
        </p:nvSpPr>
        <p:spPr>
          <a:xfrm>
            <a:off x="8409423" y="4892675"/>
            <a:ext cx="1422400" cy="1600200"/>
          </a:xfrm>
          <a:custGeom>
            <a:avLst/>
            <a:gdLst/>
            <a:ahLst/>
            <a:cxnLst/>
            <a:rect l="l" t="t" r="r" b="b"/>
            <a:pathLst>
              <a:path w="1422400" h="1600200">
                <a:moveTo>
                  <a:pt x="0" y="0"/>
                </a:moveTo>
                <a:lnTo>
                  <a:pt x="1422400" y="0"/>
                </a:lnTo>
                <a:lnTo>
                  <a:pt x="1422400" y="1600199"/>
                </a:lnTo>
                <a:lnTo>
                  <a:pt x="0" y="1600199"/>
                </a:lnTo>
                <a:lnTo>
                  <a:pt x="0" y="0"/>
                </a:lnTo>
                <a:close/>
              </a:path>
            </a:pathLst>
          </a:custGeom>
          <a:solidFill>
            <a:srgbClr val="FCFAD3"/>
          </a:solidFill>
        </p:spPr>
        <p:txBody>
          <a:bodyPr wrap="square" lIns="0" tIns="0" rIns="0" bIns="0" rtlCol="0"/>
          <a:lstStyle/>
          <a:p/>
        </p:txBody>
      </p:sp>
      <p:sp>
        <p:nvSpPr>
          <p:cNvPr id="10" name="object 8"/>
          <p:cNvSpPr/>
          <p:nvPr/>
        </p:nvSpPr>
        <p:spPr>
          <a:xfrm>
            <a:off x="8409423" y="4892675"/>
            <a:ext cx="1422400" cy="1600200"/>
          </a:xfrm>
          <a:custGeom>
            <a:avLst/>
            <a:gdLst/>
            <a:ahLst/>
            <a:cxnLst/>
            <a:rect l="l" t="t" r="r" b="b"/>
            <a:pathLst>
              <a:path w="1422400" h="1600200">
                <a:moveTo>
                  <a:pt x="0" y="0"/>
                </a:moveTo>
                <a:lnTo>
                  <a:pt x="1422399" y="0"/>
                </a:lnTo>
                <a:lnTo>
                  <a:pt x="1422399" y="1600199"/>
                </a:lnTo>
                <a:lnTo>
                  <a:pt x="0" y="1600199"/>
                </a:lnTo>
                <a:lnTo>
                  <a:pt x="0" y="0"/>
                </a:lnTo>
                <a:close/>
              </a:path>
            </a:pathLst>
          </a:custGeom>
          <a:ln w="28574">
            <a:solidFill>
              <a:srgbClr val="000000"/>
            </a:solidFill>
          </a:ln>
        </p:spPr>
        <p:txBody>
          <a:bodyPr wrap="square" lIns="0" tIns="0" rIns="0" bIns="0" rtlCol="0"/>
          <a:lstStyle/>
          <a:p/>
        </p:txBody>
      </p:sp>
      <p:sp>
        <p:nvSpPr>
          <p:cNvPr id="11" name="object 9"/>
          <p:cNvSpPr/>
          <p:nvPr/>
        </p:nvSpPr>
        <p:spPr>
          <a:xfrm>
            <a:off x="8409423" y="6188074"/>
            <a:ext cx="1422400" cy="0"/>
          </a:xfrm>
          <a:custGeom>
            <a:avLst/>
            <a:gdLst/>
            <a:ahLst/>
            <a:cxnLst/>
            <a:rect l="l" t="t" r="r" b="b"/>
            <a:pathLst>
              <a:path w="1422400">
                <a:moveTo>
                  <a:pt x="0" y="0"/>
                </a:moveTo>
                <a:lnTo>
                  <a:pt x="1422399" y="0"/>
                </a:lnTo>
              </a:path>
            </a:pathLst>
          </a:custGeom>
          <a:ln w="28574">
            <a:solidFill>
              <a:srgbClr val="000000"/>
            </a:solidFill>
          </a:ln>
        </p:spPr>
        <p:txBody>
          <a:bodyPr wrap="square" lIns="0" tIns="0" rIns="0" bIns="0" rtlCol="0"/>
          <a:lstStyle/>
          <a:p/>
        </p:txBody>
      </p:sp>
      <p:sp>
        <p:nvSpPr>
          <p:cNvPr id="12" name="object 10"/>
          <p:cNvSpPr txBox="1"/>
          <p:nvPr/>
        </p:nvSpPr>
        <p:spPr>
          <a:xfrm>
            <a:off x="8409423" y="4892675"/>
            <a:ext cx="1422400" cy="304800"/>
          </a:xfrm>
          <a:prstGeom prst="rect">
            <a:avLst/>
          </a:prstGeom>
          <a:solidFill>
            <a:srgbClr val="FCFAD3"/>
          </a:solidFill>
          <a:ln w="28574">
            <a:solidFill>
              <a:srgbClr val="000000"/>
            </a:solidFill>
          </a:ln>
        </p:spPr>
        <p:txBody>
          <a:bodyPr vert="horz" wrap="square" lIns="0" tIns="48894" rIns="0" bIns="0" rtlCol="0">
            <a:spAutoFit/>
          </a:bodyPr>
          <a:lstStyle/>
          <a:p>
            <a:pPr marL="300990">
              <a:lnSpc>
                <a:spcPct val="100000"/>
              </a:lnSpc>
              <a:spcBef>
                <a:spcPts val="385"/>
              </a:spcBef>
            </a:pPr>
            <a:r>
              <a:rPr sz="1400" b="1" spc="-5" dirty="0">
                <a:latin typeface="Comic Sans MS" panose="030F0702030302020204"/>
                <a:cs typeface="Comic Sans MS" panose="030F0702030302020204"/>
              </a:rPr>
              <a:t>:kidney</a:t>
            </a:r>
            <a:endParaRPr sz="1400">
              <a:latin typeface="Comic Sans MS" panose="030F0702030302020204"/>
              <a:cs typeface="Comic Sans MS" panose="030F0702030302020204"/>
            </a:endParaRPr>
          </a:p>
        </p:txBody>
      </p:sp>
      <p:sp>
        <p:nvSpPr>
          <p:cNvPr id="13" name="object 11"/>
          <p:cNvSpPr txBox="1"/>
          <p:nvPr/>
        </p:nvSpPr>
        <p:spPr>
          <a:xfrm>
            <a:off x="8409423" y="5197475"/>
            <a:ext cx="1422400" cy="990600"/>
          </a:xfrm>
          <a:prstGeom prst="rect">
            <a:avLst/>
          </a:prstGeom>
          <a:solidFill>
            <a:srgbClr val="FCFAD3"/>
          </a:solidFill>
          <a:ln w="28574">
            <a:solidFill>
              <a:srgbClr val="000000"/>
            </a:solidFill>
          </a:ln>
        </p:spPr>
        <p:txBody>
          <a:bodyPr vert="horz" wrap="square" lIns="0" tIns="60325" rIns="0" bIns="0" rtlCol="0">
            <a:spAutoFit/>
          </a:bodyPr>
          <a:lstStyle/>
          <a:p>
            <a:pPr marL="90805" marR="320675">
              <a:lnSpc>
                <a:spcPts val="1400"/>
              </a:lnSpc>
              <a:spcBef>
                <a:spcPts val="475"/>
              </a:spcBef>
            </a:pPr>
            <a:r>
              <a:rPr sz="1200" dirty="0">
                <a:latin typeface="Comic Sans MS" panose="030F0702030302020204"/>
                <a:cs typeface="Comic Sans MS" panose="030F0702030302020204"/>
              </a:rPr>
              <a:t>Natural/artif.  </a:t>
            </a:r>
            <a:r>
              <a:rPr sz="1200" spc="-5" dirty="0">
                <a:latin typeface="Comic Sans MS" panose="030F0702030302020204"/>
                <a:cs typeface="Comic Sans MS" panose="030F0702030302020204"/>
              </a:rPr>
              <a:t>Orig/implant  number</a:t>
            </a:r>
            <a:endParaRPr sz="1200">
              <a:latin typeface="Comic Sans MS" panose="030F0702030302020204"/>
              <a:cs typeface="Comic Sans MS" panose="030F0702030302020204"/>
            </a:endParaRPr>
          </a:p>
        </p:txBody>
      </p:sp>
      <p:sp>
        <p:nvSpPr>
          <p:cNvPr id="14" name="object 12"/>
          <p:cNvSpPr/>
          <p:nvPr/>
        </p:nvSpPr>
        <p:spPr>
          <a:xfrm>
            <a:off x="9080936" y="3825875"/>
            <a:ext cx="0" cy="1066800"/>
          </a:xfrm>
          <a:custGeom>
            <a:avLst/>
            <a:gdLst/>
            <a:ahLst/>
            <a:cxnLst/>
            <a:rect l="l" t="t" r="r" b="b"/>
            <a:pathLst>
              <a:path h="1066800">
                <a:moveTo>
                  <a:pt x="0" y="1066799"/>
                </a:moveTo>
                <a:lnTo>
                  <a:pt x="0" y="0"/>
                </a:lnTo>
              </a:path>
            </a:pathLst>
          </a:custGeom>
          <a:ln w="28574">
            <a:solidFill>
              <a:srgbClr val="000000"/>
            </a:solidFill>
          </a:ln>
        </p:spPr>
        <p:txBody>
          <a:bodyPr wrap="square" lIns="0" tIns="0" rIns="0" bIns="0" rtlCol="0"/>
          <a:lstStyle/>
          <a:p/>
        </p:txBody>
      </p:sp>
      <p:sp>
        <p:nvSpPr>
          <p:cNvPr id="15" name="object 13"/>
          <p:cNvSpPr/>
          <p:nvPr/>
        </p:nvSpPr>
        <p:spPr>
          <a:xfrm>
            <a:off x="2578538" y="3749675"/>
            <a:ext cx="406400" cy="304800"/>
          </a:xfrm>
          <a:custGeom>
            <a:avLst/>
            <a:gdLst/>
            <a:ahLst/>
            <a:cxnLst/>
            <a:rect l="l" t="t" r="r" b="b"/>
            <a:pathLst>
              <a:path w="406400" h="304800">
                <a:moveTo>
                  <a:pt x="203200" y="0"/>
                </a:moveTo>
                <a:lnTo>
                  <a:pt x="0" y="304800"/>
                </a:lnTo>
                <a:lnTo>
                  <a:pt x="406400" y="304800"/>
                </a:lnTo>
                <a:lnTo>
                  <a:pt x="203200" y="0"/>
                </a:lnTo>
                <a:close/>
              </a:path>
            </a:pathLst>
          </a:custGeom>
          <a:solidFill>
            <a:srgbClr val="EEEEEE"/>
          </a:solidFill>
        </p:spPr>
        <p:txBody>
          <a:bodyPr wrap="square" lIns="0" tIns="0" rIns="0" bIns="0" rtlCol="0"/>
          <a:lstStyle/>
          <a:p/>
        </p:txBody>
      </p:sp>
      <p:sp>
        <p:nvSpPr>
          <p:cNvPr id="16" name="object 14"/>
          <p:cNvSpPr/>
          <p:nvPr/>
        </p:nvSpPr>
        <p:spPr>
          <a:xfrm>
            <a:off x="2578538" y="3749675"/>
            <a:ext cx="406400" cy="304800"/>
          </a:xfrm>
          <a:custGeom>
            <a:avLst/>
            <a:gdLst/>
            <a:ahLst/>
            <a:cxnLst/>
            <a:rect l="l" t="t" r="r" b="b"/>
            <a:pathLst>
              <a:path w="406400" h="304800">
                <a:moveTo>
                  <a:pt x="0" y="304800"/>
                </a:moveTo>
                <a:lnTo>
                  <a:pt x="203199" y="0"/>
                </a:lnTo>
                <a:lnTo>
                  <a:pt x="406399" y="304800"/>
                </a:lnTo>
                <a:lnTo>
                  <a:pt x="0" y="304800"/>
                </a:lnTo>
                <a:close/>
              </a:path>
            </a:pathLst>
          </a:custGeom>
          <a:ln w="28574">
            <a:solidFill>
              <a:srgbClr val="000000"/>
            </a:solidFill>
          </a:ln>
        </p:spPr>
        <p:txBody>
          <a:bodyPr wrap="square" lIns="0" tIns="0" rIns="0" bIns="0" rtlCol="0"/>
          <a:lstStyle/>
          <a:p/>
        </p:txBody>
      </p:sp>
      <p:sp>
        <p:nvSpPr>
          <p:cNvPr id="17" name="object 16"/>
          <p:cNvSpPr/>
          <p:nvPr/>
        </p:nvSpPr>
        <p:spPr>
          <a:xfrm>
            <a:off x="8877736" y="3521075"/>
            <a:ext cx="406400" cy="381000"/>
          </a:xfrm>
          <a:custGeom>
            <a:avLst/>
            <a:gdLst/>
            <a:ahLst/>
            <a:cxnLst/>
            <a:rect l="l" t="t" r="r" b="b"/>
            <a:pathLst>
              <a:path w="406400" h="381000">
                <a:moveTo>
                  <a:pt x="203200" y="0"/>
                </a:moveTo>
                <a:lnTo>
                  <a:pt x="0" y="190500"/>
                </a:lnTo>
                <a:lnTo>
                  <a:pt x="203200" y="381000"/>
                </a:lnTo>
                <a:lnTo>
                  <a:pt x="406400" y="190500"/>
                </a:lnTo>
                <a:lnTo>
                  <a:pt x="203200" y="0"/>
                </a:lnTo>
                <a:close/>
              </a:path>
            </a:pathLst>
          </a:custGeom>
          <a:solidFill>
            <a:srgbClr val="EEEEEE"/>
          </a:solidFill>
        </p:spPr>
        <p:txBody>
          <a:bodyPr wrap="square" lIns="0" tIns="0" rIns="0" bIns="0" rtlCol="0"/>
          <a:lstStyle/>
          <a:p/>
        </p:txBody>
      </p:sp>
      <p:sp>
        <p:nvSpPr>
          <p:cNvPr id="18" name="object 17"/>
          <p:cNvSpPr/>
          <p:nvPr/>
        </p:nvSpPr>
        <p:spPr>
          <a:xfrm>
            <a:off x="8877736" y="3521075"/>
            <a:ext cx="406400" cy="381000"/>
          </a:xfrm>
          <a:custGeom>
            <a:avLst/>
            <a:gdLst/>
            <a:ahLst/>
            <a:cxnLst/>
            <a:rect l="l" t="t" r="r" b="b"/>
            <a:pathLst>
              <a:path w="406400" h="381000">
                <a:moveTo>
                  <a:pt x="0" y="190499"/>
                </a:moveTo>
                <a:lnTo>
                  <a:pt x="203200" y="0"/>
                </a:lnTo>
                <a:lnTo>
                  <a:pt x="406399" y="190499"/>
                </a:lnTo>
                <a:lnTo>
                  <a:pt x="203200" y="380999"/>
                </a:lnTo>
                <a:lnTo>
                  <a:pt x="0" y="190499"/>
                </a:lnTo>
                <a:close/>
              </a:path>
            </a:pathLst>
          </a:custGeom>
          <a:ln w="28574">
            <a:solidFill>
              <a:srgbClr val="000000"/>
            </a:solidFill>
          </a:ln>
        </p:spPr>
        <p:txBody>
          <a:bodyPr wrap="square" lIns="0" tIns="0" rIns="0" bIns="0" rtlCol="0"/>
          <a:lstStyle/>
          <a:p/>
        </p:txBody>
      </p:sp>
      <p:sp>
        <p:nvSpPr>
          <p:cNvPr id="19" name="object 18"/>
          <p:cNvSpPr/>
          <p:nvPr/>
        </p:nvSpPr>
        <p:spPr>
          <a:xfrm>
            <a:off x="9487336" y="3521075"/>
            <a:ext cx="406400" cy="381000"/>
          </a:xfrm>
          <a:custGeom>
            <a:avLst/>
            <a:gdLst/>
            <a:ahLst/>
            <a:cxnLst/>
            <a:rect l="l" t="t" r="r" b="b"/>
            <a:pathLst>
              <a:path w="406400" h="381000">
                <a:moveTo>
                  <a:pt x="203200" y="0"/>
                </a:moveTo>
                <a:lnTo>
                  <a:pt x="0" y="190500"/>
                </a:lnTo>
                <a:lnTo>
                  <a:pt x="203200" y="381000"/>
                </a:lnTo>
                <a:lnTo>
                  <a:pt x="406400" y="190500"/>
                </a:lnTo>
                <a:lnTo>
                  <a:pt x="203200" y="0"/>
                </a:lnTo>
                <a:close/>
              </a:path>
            </a:pathLst>
          </a:custGeom>
          <a:solidFill>
            <a:srgbClr val="EEEEEE"/>
          </a:solidFill>
        </p:spPr>
        <p:txBody>
          <a:bodyPr wrap="square" lIns="0" tIns="0" rIns="0" bIns="0" rtlCol="0"/>
          <a:lstStyle/>
          <a:p/>
        </p:txBody>
      </p:sp>
      <p:sp>
        <p:nvSpPr>
          <p:cNvPr id="20" name="object 19"/>
          <p:cNvSpPr/>
          <p:nvPr/>
        </p:nvSpPr>
        <p:spPr>
          <a:xfrm>
            <a:off x="9487336" y="3521075"/>
            <a:ext cx="406400" cy="381000"/>
          </a:xfrm>
          <a:custGeom>
            <a:avLst/>
            <a:gdLst/>
            <a:ahLst/>
            <a:cxnLst/>
            <a:rect l="l" t="t" r="r" b="b"/>
            <a:pathLst>
              <a:path w="406400" h="381000">
                <a:moveTo>
                  <a:pt x="0" y="190499"/>
                </a:moveTo>
                <a:lnTo>
                  <a:pt x="203199" y="0"/>
                </a:lnTo>
                <a:lnTo>
                  <a:pt x="406399" y="190499"/>
                </a:lnTo>
                <a:lnTo>
                  <a:pt x="203199" y="380999"/>
                </a:lnTo>
                <a:lnTo>
                  <a:pt x="0" y="190499"/>
                </a:lnTo>
                <a:close/>
              </a:path>
            </a:pathLst>
          </a:custGeom>
          <a:ln w="28574">
            <a:solidFill>
              <a:srgbClr val="000000"/>
            </a:solidFill>
          </a:ln>
        </p:spPr>
        <p:txBody>
          <a:bodyPr wrap="square" lIns="0" tIns="0" rIns="0" bIns="0" rtlCol="0"/>
          <a:lstStyle/>
          <a:p/>
        </p:txBody>
      </p:sp>
      <p:sp>
        <p:nvSpPr>
          <p:cNvPr id="21" name="object 20"/>
          <p:cNvSpPr/>
          <p:nvPr/>
        </p:nvSpPr>
        <p:spPr>
          <a:xfrm>
            <a:off x="8369736" y="3521075"/>
            <a:ext cx="406400" cy="381000"/>
          </a:xfrm>
          <a:custGeom>
            <a:avLst/>
            <a:gdLst/>
            <a:ahLst/>
            <a:cxnLst/>
            <a:rect l="l" t="t" r="r" b="b"/>
            <a:pathLst>
              <a:path w="406400" h="381000">
                <a:moveTo>
                  <a:pt x="203200" y="0"/>
                </a:moveTo>
                <a:lnTo>
                  <a:pt x="0" y="190500"/>
                </a:lnTo>
                <a:lnTo>
                  <a:pt x="203200" y="381000"/>
                </a:lnTo>
                <a:lnTo>
                  <a:pt x="406400" y="190500"/>
                </a:lnTo>
                <a:lnTo>
                  <a:pt x="203200" y="0"/>
                </a:lnTo>
                <a:close/>
              </a:path>
            </a:pathLst>
          </a:custGeom>
          <a:solidFill>
            <a:srgbClr val="EEEEEE"/>
          </a:solidFill>
        </p:spPr>
        <p:txBody>
          <a:bodyPr wrap="square" lIns="0" tIns="0" rIns="0" bIns="0" rtlCol="0"/>
          <a:lstStyle/>
          <a:p/>
        </p:txBody>
      </p:sp>
      <p:sp>
        <p:nvSpPr>
          <p:cNvPr id="22" name="object 21"/>
          <p:cNvSpPr/>
          <p:nvPr/>
        </p:nvSpPr>
        <p:spPr>
          <a:xfrm>
            <a:off x="8369736" y="3521075"/>
            <a:ext cx="406400" cy="381000"/>
          </a:xfrm>
          <a:custGeom>
            <a:avLst/>
            <a:gdLst/>
            <a:ahLst/>
            <a:cxnLst/>
            <a:rect l="l" t="t" r="r" b="b"/>
            <a:pathLst>
              <a:path w="406400" h="381000">
                <a:moveTo>
                  <a:pt x="0" y="190499"/>
                </a:moveTo>
                <a:lnTo>
                  <a:pt x="203199" y="0"/>
                </a:lnTo>
                <a:lnTo>
                  <a:pt x="406399" y="190499"/>
                </a:lnTo>
                <a:lnTo>
                  <a:pt x="203199" y="380999"/>
                </a:lnTo>
                <a:lnTo>
                  <a:pt x="0" y="190499"/>
                </a:lnTo>
                <a:close/>
              </a:path>
            </a:pathLst>
          </a:custGeom>
          <a:ln w="28574">
            <a:solidFill>
              <a:srgbClr val="000000"/>
            </a:solidFill>
          </a:ln>
        </p:spPr>
        <p:txBody>
          <a:bodyPr wrap="square" lIns="0" tIns="0" rIns="0" bIns="0" rtlCol="0"/>
          <a:lstStyle/>
          <a:p/>
        </p:txBody>
      </p:sp>
      <p:sp>
        <p:nvSpPr>
          <p:cNvPr id="23" name="object 22"/>
          <p:cNvSpPr/>
          <p:nvPr/>
        </p:nvSpPr>
        <p:spPr>
          <a:xfrm>
            <a:off x="3391338" y="3749675"/>
            <a:ext cx="406400" cy="304800"/>
          </a:xfrm>
          <a:custGeom>
            <a:avLst/>
            <a:gdLst/>
            <a:ahLst/>
            <a:cxnLst/>
            <a:rect l="l" t="t" r="r" b="b"/>
            <a:pathLst>
              <a:path w="406400" h="304800">
                <a:moveTo>
                  <a:pt x="203200" y="0"/>
                </a:moveTo>
                <a:lnTo>
                  <a:pt x="0" y="304800"/>
                </a:lnTo>
                <a:lnTo>
                  <a:pt x="406400" y="304800"/>
                </a:lnTo>
                <a:lnTo>
                  <a:pt x="203200" y="0"/>
                </a:lnTo>
                <a:close/>
              </a:path>
            </a:pathLst>
          </a:custGeom>
          <a:solidFill>
            <a:srgbClr val="EEEEEE"/>
          </a:solidFill>
        </p:spPr>
        <p:txBody>
          <a:bodyPr wrap="square" lIns="0" tIns="0" rIns="0" bIns="0" rtlCol="0"/>
          <a:lstStyle/>
          <a:p/>
        </p:txBody>
      </p:sp>
      <p:sp>
        <p:nvSpPr>
          <p:cNvPr id="24" name="object 23"/>
          <p:cNvSpPr/>
          <p:nvPr/>
        </p:nvSpPr>
        <p:spPr>
          <a:xfrm>
            <a:off x="3391338" y="3749675"/>
            <a:ext cx="406400" cy="304800"/>
          </a:xfrm>
          <a:custGeom>
            <a:avLst/>
            <a:gdLst/>
            <a:ahLst/>
            <a:cxnLst/>
            <a:rect l="l" t="t" r="r" b="b"/>
            <a:pathLst>
              <a:path w="406400" h="304800">
                <a:moveTo>
                  <a:pt x="0" y="304800"/>
                </a:moveTo>
                <a:lnTo>
                  <a:pt x="203199" y="0"/>
                </a:lnTo>
                <a:lnTo>
                  <a:pt x="406399" y="304800"/>
                </a:lnTo>
                <a:lnTo>
                  <a:pt x="0" y="304800"/>
                </a:lnTo>
                <a:close/>
              </a:path>
            </a:pathLst>
          </a:custGeom>
          <a:ln w="28574">
            <a:solidFill>
              <a:srgbClr val="000000"/>
            </a:solidFill>
          </a:ln>
        </p:spPr>
        <p:txBody>
          <a:bodyPr wrap="square" lIns="0" tIns="0" rIns="0" bIns="0" rtlCol="0"/>
          <a:lstStyle/>
          <a:p/>
        </p:txBody>
      </p:sp>
      <p:graphicFrame>
        <p:nvGraphicFramePr>
          <p:cNvPr id="25" name="object 24"/>
          <p:cNvGraphicFramePr>
            <a:graphicFrameLocks noGrp="1"/>
          </p:cNvGraphicFramePr>
          <p:nvPr/>
        </p:nvGraphicFramePr>
        <p:xfrm>
          <a:off x="3580248" y="4054475"/>
          <a:ext cx="1828163" cy="2362197"/>
        </p:xfrm>
        <a:graphic>
          <a:graphicData uri="http://schemas.openxmlformats.org/drawingml/2006/table">
            <a:tbl>
              <a:tblPr firstRow="1" bandRow="1">
                <a:tableStyleId>{2D5ABB26-0587-4C30-8999-92F81FD0307C}</a:tableStyleId>
              </a:tblPr>
              <a:tblGrid>
                <a:gridCol w="203200"/>
                <a:gridCol w="820419"/>
                <a:gridCol w="804544"/>
              </a:tblGrid>
              <a:tr h="382586">
                <a:tc gridSpan="3">
                  <a:txBody>
                    <a:bodyPr/>
                    <a:lstStyle/>
                    <a:p>
                      <a:pPr>
                        <a:lnSpc>
                          <a:spcPct val="100000"/>
                        </a:lnSpc>
                      </a:pPr>
                      <a:endParaRPr sz="1300">
                        <a:latin typeface="Times New Roman" panose="02020603050405020304"/>
                        <a:cs typeface="Times New Roman" panose="02020603050405020304"/>
                      </a:endParaRPr>
                    </a:p>
                  </a:txBody>
                  <a:tcPr marL="0" marR="0" marT="0" marB="0">
                    <a:lnL w="28575">
                      <a:solidFill>
                        <a:srgbClr val="000000"/>
                      </a:solidFill>
                      <a:prstDash val="solid"/>
                    </a:lnL>
                  </a:tcPr>
                </a:tc>
                <a:tc hMerge="1">
                  <a:tcPr marL="0" marR="0" marT="0" marB="0"/>
                </a:tc>
                <a:tc hMerge="1">
                  <a:tcPr marL="0" marR="0" marT="0" marB="0"/>
                </a:tc>
              </a:tr>
              <a:tr h="379413">
                <a:tc gridSpan="2">
                  <a:txBody>
                    <a:bodyPr/>
                    <a:lstStyle/>
                    <a:p>
                      <a:pPr>
                        <a:lnSpc>
                          <a:spcPct val="100000"/>
                        </a:lnSpc>
                      </a:pPr>
                      <a:endParaRPr sz="1300">
                        <a:latin typeface="Times New Roman" panose="02020603050405020304"/>
                        <a:cs typeface="Times New Roman" panose="02020603050405020304"/>
                      </a:endParaRPr>
                    </a:p>
                  </a:txBody>
                  <a:tcPr marL="0" marR="0" marT="0" marB="0">
                    <a:lnR w="28575">
                      <a:solidFill>
                        <a:srgbClr val="000000"/>
                      </a:solidFill>
                      <a:prstDash val="solid"/>
                    </a:lnR>
                  </a:tcPr>
                </a:tc>
                <a:tc hMerge="1">
                  <a:tcPr marL="0" marR="0" marT="0" marB="0"/>
                </a:tc>
                <a:tc>
                  <a:txBody>
                    <a:bodyPr/>
                    <a:lstStyle/>
                    <a:p>
                      <a:pPr>
                        <a:lnSpc>
                          <a:spcPct val="100000"/>
                        </a:lnSpc>
                      </a:pPr>
                      <a:endParaRPr sz="1300">
                        <a:latin typeface="Times New Roman" panose="02020603050405020304"/>
                        <a:cs typeface="Times New Roman" panose="02020603050405020304"/>
                      </a:endParaRPr>
                    </a:p>
                  </a:txBody>
                  <a:tcPr marL="0" marR="0" marT="0" marB="0">
                    <a:lnL w="28575">
                      <a:solidFill>
                        <a:srgbClr val="000000"/>
                      </a:solidFill>
                      <a:prstDash val="solid"/>
                    </a:lnL>
                    <a:lnB w="28575">
                      <a:solidFill>
                        <a:srgbClr val="000000"/>
                      </a:solidFill>
                      <a:prstDash val="solid"/>
                    </a:lnB>
                  </a:tcPr>
                </a:tc>
              </a:tr>
              <a:tr h="304800">
                <a:tc rowSpan="3">
                  <a:txBody>
                    <a:bodyPr/>
                    <a:lstStyle/>
                    <a:p>
                      <a:pPr>
                        <a:lnSpc>
                          <a:spcPct val="100000"/>
                        </a:lnSpc>
                      </a:pPr>
                      <a:endParaRPr sz="1300">
                        <a:latin typeface="Times New Roman" panose="02020603050405020304"/>
                        <a:cs typeface="Times New Roman" panose="02020603050405020304"/>
                      </a:endParaRPr>
                    </a:p>
                  </a:txBody>
                  <a:tcPr marL="0" marR="0" marT="0" marB="0">
                    <a:lnR w="28575">
                      <a:solidFill>
                        <a:srgbClr val="000000"/>
                      </a:solidFill>
                      <a:prstDash val="solid"/>
                    </a:lnR>
                  </a:tcPr>
                </a:tc>
                <a:tc gridSpan="2">
                  <a:txBody>
                    <a:bodyPr/>
                    <a:lstStyle/>
                    <a:p>
                      <a:pPr marL="285115">
                        <a:lnSpc>
                          <a:spcPct val="100000"/>
                        </a:lnSpc>
                        <a:spcBef>
                          <a:spcPts val="385"/>
                        </a:spcBef>
                      </a:pPr>
                      <a:r>
                        <a:rPr sz="1400" b="1" spc="-5" dirty="0">
                          <a:latin typeface="Comic Sans MS" panose="030F0702030302020204"/>
                          <a:cs typeface="Comic Sans MS" panose="030F0702030302020204"/>
                        </a:rPr>
                        <a:t>:out-patient</a:t>
                      </a:r>
                      <a:endParaRPr sz="1400">
                        <a:latin typeface="Comic Sans MS" panose="030F0702030302020204"/>
                        <a:cs typeface="Comic Sans MS" panose="030F0702030302020204"/>
                      </a:endParaRPr>
                    </a:p>
                  </a:txBody>
                  <a:tcPr marL="0" marR="0" marT="48894" marB="0">
                    <a:lnL w="28575">
                      <a:solidFill>
                        <a:srgbClr val="000000"/>
                      </a:solidFill>
                      <a:prstDash val="solid"/>
                    </a:lnL>
                    <a:lnR w="28575">
                      <a:solidFill>
                        <a:srgbClr val="000000"/>
                      </a:solidFill>
                      <a:prstDash val="solid"/>
                    </a:lnR>
                    <a:lnT w="28575">
                      <a:solidFill>
                        <a:srgbClr val="000000"/>
                      </a:solidFill>
                      <a:prstDash val="solid"/>
                    </a:lnT>
                    <a:lnB w="38100">
                      <a:solidFill>
                        <a:srgbClr val="000000"/>
                      </a:solidFill>
                      <a:prstDash val="solid"/>
                    </a:lnB>
                    <a:solidFill>
                      <a:srgbClr val="FCFAD3"/>
                    </a:solidFill>
                  </a:tcPr>
                </a:tc>
                <a:tc hMerge="1">
                  <a:tcPr marL="0" marR="0" marT="0" marB="0"/>
                </a:tc>
              </a:tr>
              <a:tr h="990600">
                <a:tc vMerge="1">
                  <a:tcPr marL="0" marR="0" marT="0" marB="0">
                    <a:lnR w="28575">
                      <a:solidFill>
                        <a:srgbClr val="000000"/>
                      </a:solidFill>
                      <a:prstDash val="solid"/>
                    </a:lnR>
                  </a:tcPr>
                </a:tc>
                <a:tc gridSpan="2">
                  <a:txBody>
                    <a:bodyPr/>
                    <a:lstStyle/>
                    <a:p>
                      <a:pPr marL="91440" marR="588645">
                        <a:lnSpc>
                          <a:spcPts val="1400"/>
                        </a:lnSpc>
                        <a:spcBef>
                          <a:spcPts val="440"/>
                        </a:spcBef>
                      </a:pPr>
                      <a:r>
                        <a:rPr sz="1200" dirty="0">
                          <a:latin typeface="Comic Sans MS" panose="030F0702030302020204"/>
                          <a:cs typeface="Comic Sans MS" panose="030F0702030302020204"/>
                        </a:rPr>
                        <a:t>Last visit  </a:t>
                      </a:r>
                      <a:r>
                        <a:rPr sz="1200" spc="-5" dirty="0">
                          <a:latin typeface="Comic Sans MS" panose="030F0702030302020204"/>
                          <a:cs typeface="Comic Sans MS" panose="030F0702030302020204"/>
                        </a:rPr>
                        <a:t>next visit  </a:t>
                      </a:r>
                      <a:r>
                        <a:rPr sz="1200" dirty="0">
                          <a:latin typeface="Comic Sans MS" panose="030F0702030302020204"/>
                          <a:cs typeface="Comic Sans MS" panose="030F0702030302020204"/>
                        </a:rPr>
                        <a:t>pr</a:t>
                      </a:r>
                      <a:r>
                        <a:rPr sz="1200" spc="-5" dirty="0">
                          <a:latin typeface="Comic Sans MS" panose="030F0702030302020204"/>
                          <a:cs typeface="Comic Sans MS" panose="030F0702030302020204"/>
                        </a:rPr>
                        <a:t>esc</a:t>
                      </a:r>
                      <a:r>
                        <a:rPr sz="1200" dirty="0">
                          <a:latin typeface="Comic Sans MS" panose="030F0702030302020204"/>
                          <a:cs typeface="Comic Sans MS" panose="030F0702030302020204"/>
                        </a:rPr>
                        <a:t>ripti</a:t>
                      </a:r>
                      <a:r>
                        <a:rPr sz="1200" spc="-5" dirty="0">
                          <a:latin typeface="Comic Sans MS" panose="030F0702030302020204"/>
                          <a:cs typeface="Comic Sans MS" panose="030F0702030302020204"/>
                        </a:rPr>
                        <a:t>o</a:t>
                      </a:r>
                      <a:r>
                        <a:rPr sz="1200" dirty="0">
                          <a:latin typeface="Comic Sans MS" panose="030F0702030302020204"/>
                          <a:cs typeface="Comic Sans MS" panose="030F0702030302020204"/>
                        </a:rPr>
                        <a:t>ns</a:t>
                      </a:r>
                      <a:endParaRPr sz="1200">
                        <a:latin typeface="Comic Sans MS" panose="030F0702030302020204"/>
                        <a:cs typeface="Comic Sans MS" panose="030F0702030302020204"/>
                      </a:endParaRPr>
                    </a:p>
                  </a:txBody>
                  <a:tcPr marL="0" marR="0" marT="55879" marB="0">
                    <a:lnL w="28575">
                      <a:solidFill>
                        <a:srgbClr val="000000"/>
                      </a:solidFill>
                      <a:prstDash val="solid"/>
                    </a:lnL>
                    <a:lnR w="28575">
                      <a:solidFill>
                        <a:srgbClr val="000000"/>
                      </a:solidFill>
                      <a:prstDash val="solid"/>
                    </a:lnR>
                    <a:lnT w="38100">
                      <a:solidFill>
                        <a:srgbClr val="000000"/>
                      </a:solidFill>
                      <a:prstDash val="solid"/>
                    </a:lnT>
                    <a:lnB w="38100">
                      <a:solidFill>
                        <a:srgbClr val="000000"/>
                      </a:solidFill>
                      <a:prstDash val="solid"/>
                    </a:lnB>
                    <a:solidFill>
                      <a:srgbClr val="FCFAD3"/>
                    </a:solidFill>
                  </a:tcPr>
                </a:tc>
                <a:tc hMerge="1">
                  <a:tcPr marL="0" marR="0" marT="0" marB="0"/>
                </a:tc>
              </a:tr>
              <a:tr h="304798">
                <a:tc vMerge="1">
                  <a:tcPr marL="0" marR="0" marT="0" marB="0">
                    <a:lnR w="28575">
                      <a:solidFill>
                        <a:srgbClr val="000000"/>
                      </a:solidFill>
                      <a:prstDash val="solid"/>
                    </a:lnR>
                  </a:tcPr>
                </a:tc>
                <a:tc gridSpan="2">
                  <a:txBody>
                    <a:bodyPr/>
                    <a:lstStyle/>
                    <a:p>
                      <a:pPr>
                        <a:lnSpc>
                          <a:spcPct val="100000"/>
                        </a:lnSpc>
                      </a:pPr>
                      <a:endParaRPr sz="1300">
                        <a:latin typeface="Times New Roman" panose="02020603050405020304"/>
                        <a:cs typeface="Times New Roman" panose="02020603050405020304"/>
                      </a:endParaRPr>
                    </a:p>
                  </a:txBody>
                  <a:tcPr marL="0" marR="0" marT="0" marB="0">
                    <a:lnL w="28575">
                      <a:solidFill>
                        <a:srgbClr val="000000"/>
                      </a:solidFill>
                      <a:prstDash val="solid"/>
                    </a:lnL>
                    <a:lnR w="28575">
                      <a:solidFill>
                        <a:srgbClr val="000000"/>
                      </a:solidFill>
                      <a:prstDash val="solid"/>
                    </a:lnR>
                    <a:lnT w="38100">
                      <a:solidFill>
                        <a:srgbClr val="000000"/>
                      </a:solidFill>
                      <a:prstDash val="solid"/>
                    </a:lnT>
                    <a:lnB w="28575">
                      <a:solidFill>
                        <a:srgbClr val="000000"/>
                      </a:solidFill>
                      <a:prstDash val="solid"/>
                    </a:lnB>
                    <a:solidFill>
                      <a:srgbClr val="FCFAD3"/>
                    </a:solidFill>
                  </a:tcPr>
                </a:tc>
                <a:tc hMerge="1">
                  <a:tcPr marL="0" marR="0" marT="0" marB="0"/>
                </a:tc>
              </a:tr>
            </a:tbl>
          </a:graphicData>
        </a:graphic>
      </p:graphicFrame>
      <p:graphicFrame>
        <p:nvGraphicFramePr>
          <p:cNvPr id="26" name="object 25"/>
          <p:cNvGraphicFramePr>
            <a:graphicFrameLocks noGrp="1"/>
          </p:cNvGraphicFramePr>
          <p:nvPr/>
        </p:nvGraphicFramePr>
        <p:xfrm>
          <a:off x="6769538" y="3916364"/>
          <a:ext cx="1788794" cy="2576508"/>
        </p:xfrm>
        <a:graphic>
          <a:graphicData uri="http://schemas.openxmlformats.org/drawingml/2006/table">
            <a:tbl>
              <a:tblPr firstRow="1" bandRow="1">
                <a:tableStyleId>{2D5ABB26-0587-4C30-8999-92F81FD0307C}</a:tableStyleId>
              </a:tblPr>
              <a:tblGrid>
                <a:gridCol w="711200"/>
                <a:gridCol w="711200"/>
                <a:gridCol w="366394"/>
              </a:tblGrid>
              <a:tr h="481011">
                <a:tc gridSpan="3">
                  <a:txBody>
                    <a:bodyPr/>
                    <a:lstStyle/>
                    <a:p>
                      <a:pPr>
                        <a:lnSpc>
                          <a:spcPct val="100000"/>
                        </a:lnSpc>
                      </a:pPr>
                      <a:endParaRPr sz="1300">
                        <a:latin typeface="Times New Roman" panose="02020603050405020304"/>
                        <a:cs typeface="Times New Roman" panose="02020603050405020304"/>
                      </a:endParaRPr>
                    </a:p>
                  </a:txBody>
                  <a:tcPr marL="0" marR="0" marT="0" marB="0">
                    <a:lnR w="28575">
                      <a:solidFill>
                        <a:srgbClr val="000000"/>
                      </a:solidFill>
                      <a:prstDash val="solid"/>
                    </a:lnR>
                  </a:tcPr>
                </a:tc>
                <a:tc hMerge="1">
                  <a:tcPr marL="0" marR="0" marT="0" marB="0"/>
                </a:tc>
                <a:tc hMerge="1">
                  <a:tcPr marL="0" marR="0" marT="0" marB="0"/>
                </a:tc>
              </a:tr>
              <a:tr h="495299">
                <a:tc>
                  <a:txBody>
                    <a:bodyPr/>
                    <a:lstStyle/>
                    <a:p>
                      <a:pPr>
                        <a:lnSpc>
                          <a:spcPct val="100000"/>
                        </a:lnSpc>
                        <a:spcBef>
                          <a:spcPts val="20"/>
                        </a:spcBef>
                      </a:pPr>
                      <a:endParaRPr sz="1600">
                        <a:latin typeface="Times New Roman" panose="02020603050405020304"/>
                        <a:cs typeface="Times New Roman" panose="02020603050405020304"/>
                      </a:endParaRPr>
                    </a:p>
                    <a:p>
                      <a:pPr marL="457835">
                        <a:lnSpc>
                          <a:spcPct val="100000"/>
                        </a:lnSpc>
                      </a:pPr>
                      <a:r>
                        <a:rPr sz="1400" b="1" dirty="0">
                          <a:latin typeface="Arial" panose="020B0604020202020204"/>
                          <a:cs typeface="Arial" panose="020B0604020202020204"/>
                        </a:rPr>
                        <a:t>1</a:t>
                      </a:r>
                      <a:endParaRPr sz="1400">
                        <a:latin typeface="Arial" panose="020B0604020202020204"/>
                        <a:cs typeface="Arial" panose="020B0604020202020204"/>
                      </a:endParaRPr>
                    </a:p>
                  </a:txBody>
                  <a:tcPr marL="0" marR="0" marT="2540" marB="0">
                    <a:lnR w="28575">
                      <a:solidFill>
                        <a:srgbClr val="000000"/>
                      </a:solidFill>
                      <a:prstDash val="solid"/>
                    </a:lnR>
                    <a:lnB w="28575">
                      <a:solidFill>
                        <a:srgbClr val="000000"/>
                      </a:solidFill>
                      <a:prstDash val="solid"/>
                    </a:lnB>
                  </a:tcPr>
                </a:tc>
                <a:tc gridSpan="2">
                  <a:txBody>
                    <a:bodyPr/>
                    <a:lstStyle/>
                    <a:p>
                      <a:pPr>
                        <a:lnSpc>
                          <a:spcPct val="100000"/>
                        </a:lnSpc>
                      </a:pPr>
                      <a:endParaRPr sz="1300">
                        <a:latin typeface="Times New Roman" panose="02020603050405020304"/>
                        <a:cs typeface="Times New Roman" panose="02020603050405020304"/>
                      </a:endParaRPr>
                    </a:p>
                  </a:txBody>
                  <a:tcPr marL="0" marR="0" marT="0" marB="0">
                    <a:lnL w="28575">
                      <a:solidFill>
                        <a:srgbClr val="000000"/>
                      </a:solidFill>
                      <a:prstDash val="solid"/>
                    </a:lnL>
                    <a:lnT w="28575">
                      <a:solidFill>
                        <a:srgbClr val="000000"/>
                      </a:solidFill>
                      <a:prstDash val="solid"/>
                    </a:lnT>
                  </a:tcPr>
                </a:tc>
                <a:tc hMerge="1">
                  <a:tcPr marL="0" marR="0" marT="0" marB="0"/>
                </a:tc>
              </a:tr>
              <a:tr h="304800">
                <a:tc gridSpan="2">
                  <a:txBody>
                    <a:bodyPr/>
                    <a:lstStyle/>
                    <a:p>
                      <a:pPr marL="337185">
                        <a:lnSpc>
                          <a:spcPct val="100000"/>
                        </a:lnSpc>
                        <a:spcBef>
                          <a:spcPts val="385"/>
                        </a:spcBef>
                      </a:pPr>
                      <a:r>
                        <a:rPr sz="1400" b="1" spc="-5" dirty="0">
                          <a:latin typeface="Comic Sans MS" panose="030F0702030302020204"/>
                          <a:cs typeface="Comic Sans MS" panose="030F0702030302020204"/>
                        </a:rPr>
                        <a:t>:heart</a:t>
                      </a:r>
                      <a:endParaRPr sz="1400">
                        <a:latin typeface="Comic Sans MS" panose="030F0702030302020204"/>
                        <a:cs typeface="Comic Sans MS" panose="030F0702030302020204"/>
                      </a:endParaRPr>
                    </a:p>
                  </a:txBody>
                  <a:tcPr marL="0" marR="0" marT="48894" marB="0">
                    <a:lnL w="28575">
                      <a:solidFill>
                        <a:srgbClr val="000000"/>
                      </a:solidFill>
                      <a:prstDash val="solid"/>
                    </a:lnL>
                    <a:lnR w="28575">
                      <a:solidFill>
                        <a:srgbClr val="000000"/>
                      </a:solidFill>
                      <a:prstDash val="solid"/>
                    </a:lnR>
                    <a:lnT w="28575">
                      <a:solidFill>
                        <a:srgbClr val="000000"/>
                      </a:solidFill>
                      <a:prstDash val="solid"/>
                    </a:lnT>
                    <a:lnB w="38100">
                      <a:solidFill>
                        <a:srgbClr val="000000"/>
                      </a:solidFill>
                      <a:prstDash val="solid"/>
                    </a:lnB>
                    <a:solidFill>
                      <a:srgbClr val="FCFAD3"/>
                    </a:solidFill>
                  </a:tcPr>
                </a:tc>
                <a:tc hMerge="1">
                  <a:tcPr marL="0" marR="0" marT="0" marB="0"/>
                </a:tc>
                <a:tc rowSpan="3">
                  <a:txBody>
                    <a:bodyPr/>
                    <a:lstStyle/>
                    <a:p>
                      <a:pPr>
                        <a:lnSpc>
                          <a:spcPct val="100000"/>
                        </a:lnSpc>
                      </a:pPr>
                      <a:endParaRPr sz="1300">
                        <a:latin typeface="Times New Roman" panose="02020603050405020304"/>
                        <a:cs typeface="Times New Roman" panose="02020603050405020304"/>
                      </a:endParaRPr>
                    </a:p>
                  </a:txBody>
                  <a:tcPr marL="0" marR="0" marT="0" marB="0">
                    <a:lnL w="28575">
                      <a:solidFill>
                        <a:srgbClr val="000000"/>
                      </a:solidFill>
                      <a:prstDash val="solid"/>
                    </a:lnL>
                  </a:tcPr>
                </a:tc>
              </a:tr>
              <a:tr h="990599">
                <a:tc gridSpan="2">
                  <a:txBody>
                    <a:bodyPr/>
                    <a:lstStyle/>
                    <a:p>
                      <a:pPr marL="90805" marR="320675">
                        <a:lnSpc>
                          <a:spcPts val="1400"/>
                        </a:lnSpc>
                        <a:spcBef>
                          <a:spcPts val="475"/>
                        </a:spcBef>
                      </a:pPr>
                      <a:r>
                        <a:rPr sz="1200" dirty="0">
                          <a:latin typeface="Comic Sans MS" panose="030F0702030302020204"/>
                          <a:cs typeface="Comic Sans MS" panose="030F0702030302020204"/>
                        </a:rPr>
                        <a:t>Natural/artif.  </a:t>
                      </a:r>
                      <a:r>
                        <a:rPr sz="1200" spc="-5" dirty="0">
                          <a:latin typeface="Comic Sans MS" panose="030F0702030302020204"/>
                          <a:cs typeface="Comic Sans MS" panose="030F0702030302020204"/>
                        </a:rPr>
                        <a:t>Orig/implant  normal</a:t>
                      </a:r>
                      <a:r>
                        <a:rPr sz="1200" spc="-20" dirty="0">
                          <a:latin typeface="Comic Sans MS" panose="030F0702030302020204"/>
                          <a:cs typeface="Comic Sans MS" panose="030F0702030302020204"/>
                        </a:rPr>
                        <a:t> </a:t>
                      </a:r>
                      <a:r>
                        <a:rPr sz="1200" spc="-5" dirty="0">
                          <a:latin typeface="Comic Sans MS" panose="030F0702030302020204"/>
                          <a:cs typeface="Comic Sans MS" panose="030F0702030302020204"/>
                        </a:rPr>
                        <a:t>bpm</a:t>
                      </a:r>
                      <a:endParaRPr sz="1200">
                        <a:latin typeface="Comic Sans MS" panose="030F0702030302020204"/>
                        <a:cs typeface="Comic Sans MS" panose="030F0702030302020204"/>
                      </a:endParaRPr>
                    </a:p>
                  </a:txBody>
                  <a:tcPr marL="0" marR="0" marT="60325" marB="0">
                    <a:lnL w="28575">
                      <a:solidFill>
                        <a:srgbClr val="000000"/>
                      </a:solidFill>
                      <a:prstDash val="solid"/>
                    </a:lnL>
                    <a:lnR w="28575">
                      <a:solidFill>
                        <a:srgbClr val="000000"/>
                      </a:solidFill>
                      <a:prstDash val="solid"/>
                    </a:lnR>
                    <a:lnT w="38100">
                      <a:solidFill>
                        <a:srgbClr val="000000"/>
                      </a:solidFill>
                      <a:prstDash val="solid"/>
                    </a:lnT>
                    <a:lnB w="38100">
                      <a:solidFill>
                        <a:srgbClr val="000000"/>
                      </a:solidFill>
                      <a:prstDash val="solid"/>
                    </a:lnB>
                    <a:solidFill>
                      <a:srgbClr val="FCFAD3"/>
                    </a:solidFill>
                  </a:tcPr>
                </a:tc>
                <a:tc hMerge="1">
                  <a:tcPr marL="0" marR="0" marT="0" marB="0"/>
                </a:tc>
                <a:tc vMerge="1">
                  <a:tcPr marL="0" marR="0" marT="0" marB="0">
                    <a:lnL w="28575">
                      <a:solidFill>
                        <a:srgbClr val="000000"/>
                      </a:solidFill>
                      <a:prstDash val="solid"/>
                    </a:lnL>
                  </a:tcPr>
                </a:tc>
              </a:tr>
              <a:tr h="304799">
                <a:tc gridSpan="2">
                  <a:txBody>
                    <a:bodyPr/>
                    <a:lstStyle/>
                    <a:p>
                      <a:pPr>
                        <a:lnSpc>
                          <a:spcPct val="100000"/>
                        </a:lnSpc>
                      </a:pPr>
                      <a:endParaRPr sz="1300">
                        <a:latin typeface="Times New Roman" panose="02020603050405020304"/>
                        <a:cs typeface="Times New Roman" panose="02020603050405020304"/>
                      </a:endParaRPr>
                    </a:p>
                  </a:txBody>
                  <a:tcPr marL="0" marR="0" marT="0" marB="0">
                    <a:lnL w="28575">
                      <a:solidFill>
                        <a:srgbClr val="000000"/>
                      </a:solidFill>
                      <a:prstDash val="solid"/>
                    </a:lnL>
                    <a:lnR w="28575">
                      <a:solidFill>
                        <a:srgbClr val="000000"/>
                      </a:solidFill>
                      <a:prstDash val="solid"/>
                    </a:lnR>
                    <a:lnT w="38100">
                      <a:solidFill>
                        <a:srgbClr val="000000"/>
                      </a:solidFill>
                      <a:prstDash val="solid"/>
                    </a:lnT>
                    <a:lnB w="28575">
                      <a:solidFill>
                        <a:srgbClr val="000000"/>
                      </a:solidFill>
                      <a:prstDash val="solid"/>
                    </a:lnB>
                    <a:solidFill>
                      <a:srgbClr val="FCFAD3"/>
                    </a:solidFill>
                  </a:tcPr>
                </a:tc>
                <a:tc hMerge="1">
                  <a:tcPr marL="0" marR="0" marT="0" marB="0"/>
                </a:tc>
                <a:tc vMerge="1">
                  <a:tcPr marL="0" marR="0" marT="0" marB="0">
                    <a:lnL w="28575">
                      <a:solidFill>
                        <a:srgbClr val="000000"/>
                      </a:solidFill>
                      <a:prstDash val="solid"/>
                    </a:lnL>
                  </a:tcPr>
                </a:tc>
              </a:tr>
            </a:tbl>
          </a:graphicData>
        </a:graphic>
      </p:graphicFrame>
      <p:graphicFrame>
        <p:nvGraphicFramePr>
          <p:cNvPr id="27" name="object 26"/>
          <p:cNvGraphicFramePr>
            <a:graphicFrameLocks noGrp="1"/>
          </p:cNvGraphicFramePr>
          <p:nvPr/>
        </p:nvGraphicFramePr>
        <p:xfrm>
          <a:off x="9676247" y="3916364"/>
          <a:ext cx="1828800" cy="2576508"/>
        </p:xfrm>
        <a:graphic>
          <a:graphicData uri="http://schemas.openxmlformats.org/drawingml/2006/table">
            <a:tbl>
              <a:tblPr firstRow="1" bandRow="1">
                <a:tableStyleId>{2D5ABB26-0587-4C30-8999-92F81FD0307C}</a:tableStyleId>
              </a:tblPr>
              <a:tblGrid>
                <a:gridCol w="406400"/>
                <a:gridCol w="711200"/>
                <a:gridCol w="711200"/>
              </a:tblGrid>
              <a:tr h="481011">
                <a:tc gridSpan="3">
                  <a:txBody>
                    <a:bodyPr/>
                    <a:lstStyle/>
                    <a:p>
                      <a:pPr>
                        <a:lnSpc>
                          <a:spcPct val="100000"/>
                        </a:lnSpc>
                        <a:spcBef>
                          <a:spcPts val="245"/>
                        </a:spcBef>
                      </a:pPr>
                      <a:r>
                        <a:rPr sz="1400" b="1" dirty="0">
                          <a:latin typeface="Arial" panose="020B0604020202020204"/>
                          <a:cs typeface="Arial" panose="020B0604020202020204"/>
                        </a:rPr>
                        <a:t>0..1</a:t>
                      </a:r>
                      <a:endParaRPr sz="1400">
                        <a:latin typeface="Arial" panose="020B0604020202020204"/>
                        <a:cs typeface="Arial" panose="020B0604020202020204"/>
                      </a:endParaRPr>
                    </a:p>
                  </a:txBody>
                  <a:tcPr marL="0" marR="0" marT="31115" marB="0">
                    <a:lnL w="28575">
                      <a:solidFill>
                        <a:srgbClr val="000000"/>
                      </a:solidFill>
                      <a:prstDash val="solid"/>
                    </a:lnL>
                  </a:tcPr>
                </a:tc>
                <a:tc hMerge="1">
                  <a:tcPr marL="0" marR="0" marT="0" marB="0"/>
                </a:tc>
                <a:tc hMerge="1">
                  <a:tcPr marL="0" marR="0" marT="0" marB="0"/>
                </a:tc>
              </a:tr>
              <a:tr h="495299">
                <a:tc gridSpan="2">
                  <a:txBody>
                    <a:bodyPr/>
                    <a:lstStyle/>
                    <a:p>
                      <a:pPr>
                        <a:lnSpc>
                          <a:spcPct val="100000"/>
                        </a:lnSpc>
                        <a:spcBef>
                          <a:spcPts val="20"/>
                        </a:spcBef>
                      </a:pPr>
                      <a:endParaRPr sz="1600">
                        <a:latin typeface="Times New Roman" panose="02020603050405020304"/>
                        <a:cs typeface="Times New Roman" panose="02020603050405020304"/>
                      </a:endParaRPr>
                    </a:p>
                    <a:p>
                      <a:pPr marL="599440">
                        <a:lnSpc>
                          <a:spcPct val="100000"/>
                        </a:lnSpc>
                      </a:pPr>
                      <a:r>
                        <a:rPr sz="1400" b="1" dirty="0">
                          <a:latin typeface="Arial" panose="020B0604020202020204"/>
                          <a:cs typeface="Arial" panose="020B0604020202020204"/>
                        </a:rPr>
                        <a:t>0..2</a:t>
                      </a:r>
                      <a:endParaRPr sz="1400">
                        <a:latin typeface="Arial" panose="020B0604020202020204"/>
                        <a:cs typeface="Arial" panose="020B0604020202020204"/>
                      </a:endParaRPr>
                    </a:p>
                  </a:txBody>
                  <a:tcPr marL="0" marR="0" marT="2540" marB="0">
                    <a:lnR w="28575">
                      <a:solidFill>
                        <a:srgbClr val="000000"/>
                      </a:solidFill>
                      <a:prstDash val="solid"/>
                    </a:lnR>
                  </a:tcPr>
                </a:tc>
                <a:tc hMerge="1">
                  <a:tcPr marL="0" marR="0" marT="0" marB="0"/>
                </a:tc>
                <a:tc>
                  <a:txBody>
                    <a:bodyPr/>
                    <a:lstStyle/>
                    <a:p>
                      <a:pPr>
                        <a:lnSpc>
                          <a:spcPct val="100000"/>
                        </a:lnSpc>
                      </a:pPr>
                      <a:endParaRPr sz="1300">
                        <a:latin typeface="Times New Roman" panose="02020603050405020304"/>
                        <a:cs typeface="Times New Roman" panose="02020603050405020304"/>
                      </a:endParaRPr>
                    </a:p>
                  </a:txBody>
                  <a:tcPr marL="0" marR="0" marT="0" marB="0">
                    <a:lnL w="28575">
                      <a:solidFill>
                        <a:srgbClr val="000000"/>
                      </a:solidFill>
                      <a:prstDash val="solid"/>
                    </a:lnL>
                    <a:lnB w="28575">
                      <a:solidFill>
                        <a:srgbClr val="000000"/>
                      </a:solidFill>
                      <a:prstDash val="solid"/>
                    </a:lnB>
                  </a:tcPr>
                </a:tc>
              </a:tr>
              <a:tr h="304800">
                <a:tc rowSpan="3">
                  <a:txBody>
                    <a:bodyPr/>
                    <a:lstStyle/>
                    <a:p>
                      <a:pPr>
                        <a:lnSpc>
                          <a:spcPct val="100000"/>
                        </a:lnSpc>
                      </a:pPr>
                      <a:endParaRPr sz="1300">
                        <a:latin typeface="Times New Roman" panose="02020603050405020304"/>
                        <a:cs typeface="Times New Roman" panose="02020603050405020304"/>
                      </a:endParaRPr>
                    </a:p>
                  </a:txBody>
                  <a:tcPr marL="0" marR="0" marT="0" marB="0">
                    <a:lnR w="28575">
                      <a:solidFill>
                        <a:srgbClr val="000000"/>
                      </a:solidFill>
                      <a:prstDash val="solid"/>
                    </a:lnR>
                  </a:tcPr>
                </a:tc>
                <a:tc gridSpan="2">
                  <a:txBody>
                    <a:bodyPr/>
                    <a:lstStyle/>
                    <a:p>
                      <a:pPr marL="379730">
                        <a:lnSpc>
                          <a:spcPct val="100000"/>
                        </a:lnSpc>
                        <a:spcBef>
                          <a:spcPts val="385"/>
                        </a:spcBef>
                      </a:pPr>
                      <a:r>
                        <a:rPr sz="1400" b="1" spc="-5" dirty="0">
                          <a:latin typeface="Comic Sans MS" panose="030F0702030302020204"/>
                          <a:cs typeface="Comic Sans MS" panose="030F0702030302020204"/>
                        </a:rPr>
                        <a:t>:eyes</a:t>
                      </a:r>
                      <a:endParaRPr sz="1400">
                        <a:latin typeface="Comic Sans MS" panose="030F0702030302020204"/>
                        <a:cs typeface="Comic Sans MS" panose="030F0702030302020204"/>
                      </a:endParaRPr>
                    </a:p>
                  </a:txBody>
                  <a:tcPr marL="0" marR="0" marT="48894" marB="0">
                    <a:lnL w="28575">
                      <a:solidFill>
                        <a:srgbClr val="000000"/>
                      </a:solidFill>
                      <a:prstDash val="solid"/>
                    </a:lnL>
                    <a:lnR w="28575">
                      <a:solidFill>
                        <a:srgbClr val="000000"/>
                      </a:solidFill>
                      <a:prstDash val="solid"/>
                    </a:lnR>
                    <a:lnT w="28575">
                      <a:solidFill>
                        <a:srgbClr val="000000"/>
                      </a:solidFill>
                      <a:prstDash val="solid"/>
                    </a:lnT>
                    <a:lnB w="38100">
                      <a:solidFill>
                        <a:srgbClr val="000000"/>
                      </a:solidFill>
                      <a:prstDash val="solid"/>
                    </a:lnB>
                    <a:solidFill>
                      <a:srgbClr val="FCFAD3"/>
                    </a:solidFill>
                  </a:tcPr>
                </a:tc>
                <a:tc hMerge="1">
                  <a:tcPr marL="0" marR="0" marT="0" marB="0"/>
                </a:tc>
              </a:tr>
              <a:tr h="990599">
                <a:tc vMerge="1">
                  <a:tcPr marL="0" marR="0" marT="0" marB="0">
                    <a:lnR w="28575">
                      <a:solidFill>
                        <a:srgbClr val="000000"/>
                      </a:solidFill>
                      <a:prstDash val="solid"/>
                    </a:lnR>
                  </a:tcPr>
                </a:tc>
                <a:tc gridSpan="2">
                  <a:txBody>
                    <a:bodyPr/>
                    <a:lstStyle/>
                    <a:p>
                      <a:pPr marL="90805">
                        <a:lnSpc>
                          <a:spcPts val="1420"/>
                        </a:lnSpc>
                        <a:spcBef>
                          <a:spcPts val="395"/>
                        </a:spcBef>
                      </a:pPr>
                      <a:r>
                        <a:rPr sz="1200" dirty="0">
                          <a:latin typeface="Comic Sans MS" panose="030F0702030302020204"/>
                          <a:cs typeface="Comic Sans MS" panose="030F0702030302020204"/>
                        </a:rPr>
                        <a:t>Natural/artif.</a:t>
                      </a:r>
                      <a:endParaRPr sz="1200">
                        <a:latin typeface="Comic Sans MS" panose="030F0702030302020204"/>
                        <a:cs typeface="Comic Sans MS" panose="030F0702030302020204"/>
                      </a:endParaRPr>
                    </a:p>
                    <a:p>
                      <a:pPr marL="90805" marR="890270">
                        <a:lnSpc>
                          <a:spcPts val="1400"/>
                        </a:lnSpc>
                        <a:spcBef>
                          <a:spcPts val="60"/>
                        </a:spcBef>
                      </a:pPr>
                      <a:r>
                        <a:rPr sz="1200" dirty="0">
                          <a:latin typeface="Comic Sans MS" panose="030F0702030302020204"/>
                          <a:cs typeface="Comic Sans MS" panose="030F0702030302020204"/>
                        </a:rPr>
                        <a:t>Vision  colour</a:t>
                      </a:r>
                      <a:endParaRPr sz="1200">
                        <a:latin typeface="Comic Sans MS" panose="030F0702030302020204"/>
                        <a:cs typeface="Comic Sans MS" panose="030F0702030302020204"/>
                      </a:endParaRPr>
                    </a:p>
                  </a:txBody>
                  <a:tcPr marL="0" marR="0" marT="50165" marB="0">
                    <a:lnL w="28575">
                      <a:solidFill>
                        <a:srgbClr val="000000"/>
                      </a:solidFill>
                      <a:prstDash val="solid"/>
                    </a:lnL>
                    <a:lnR w="28575">
                      <a:solidFill>
                        <a:srgbClr val="000000"/>
                      </a:solidFill>
                      <a:prstDash val="solid"/>
                    </a:lnR>
                    <a:lnT w="38100">
                      <a:solidFill>
                        <a:srgbClr val="000000"/>
                      </a:solidFill>
                      <a:prstDash val="solid"/>
                    </a:lnT>
                    <a:lnB w="38100">
                      <a:solidFill>
                        <a:srgbClr val="000000"/>
                      </a:solidFill>
                      <a:prstDash val="solid"/>
                    </a:lnB>
                  </a:tcPr>
                </a:tc>
                <a:tc hMerge="1">
                  <a:tcPr marL="0" marR="0" marT="0" marB="0"/>
                </a:tc>
              </a:tr>
              <a:tr h="304799">
                <a:tc vMerge="1">
                  <a:tcPr marL="0" marR="0" marT="0" marB="0">
                    <a:lnR w="28575">
                      <a:solidFill>
                        <a:srgbClr val="000000"/>
                      </a:solidFill>
                      <a:prstDash val="solid"/>
                    </a:lnR>
                  </a:tcPr>
                </a:tc>
                <a:tc gridSpan="2">
                  <a:txBody>
                    <a:bodyPr/>
                    <a:lstStyle/>
                    <a:p>
                      <a:pPr>
                        <a:lnSpc>
                          <a:spcPct val="100000"/>
                        </a:lnSpc>
                      </a:pPr>
                      <a:endParaRPr sz="1300" dirty="0">
                        <a:latin typeface="Times New Roman" panose="02020603050405020304"/>
                        <a:cs typeface="Times New Roman" panose="02020603050405020304"/>
                      </a:endParaRPr>
                    </a:p>
                  </a:txBody>
                  <a:tcPr marL="0" marR="0" marT="0" marB="0">
                    <a:lnL w="28575">
                      <a:solidFill>
                        <a:srgbClr val="000000"/>
                      </a:solidFill>
                      <a:prstDash val="solid"/>
                    </a:lnL>
                    <a:lnR w="28575">
                      <a:solidFill>
                        <a:srgbClr val="000000"/>
                      </a:solidFill>
                      <a:prstDash val="solid"/>
                    </a:lnR>
                    <a:lnT w="38100">
                      <a:solidFill>
                        <a:srgbClr val="000000"/>
                      </a:solidFill>
                      <a:prstDash val="solid"/>
                    </a:lnT>
                    <a:lnB w="28575">
                      <a:solidFill>
                        <a:srgbClr val="000000"/>
                      </a:solidFill>
                      <a:prstDash val="solid"/>
                    </a:lnB>
                  </a:tcPr>
                </a:tc>
                <a:tc hMerge="1">
                  <a:tcPr marL="0" marR="0" marT="0" marB="0"/>
                </a:tc>
              </a:tr>
            </a:tbl>
          </a:graphicData>
        </a:graphic>
      </p:graphicFrame>
      <p:sp>
        <p:nvSpPr>
          <p:cNvPr id="28" name="object 27"/>
          <p:cNvSpPr txBox="1"/>
          <p:nvPr/>
        </p:nvSpPr>
        <p:spPr>
          <a:xfrm>
            <a:off x="8550076" y="3935095"/>
            <a:ext cx="830580" cy="924560"/>
          </a:xfrm>
          <a:prstGeom prst="rect">
            <a:avLst/>
          </a:prstGeom>
        </p:spPr>
        <p:txBody>
          <a:bodyPr vert="horz" wrap="square" lIns="0" tIns="12700" rIns="0" bIns="0" rtlCol="0">
            <a:spAutoFit/>
          </a:bodyPr>
          <a:lstStyle/>
          <a:p>
            <a:pPr marL="12700">
              <a:lnSpc>
                <a:spcPct val="100000"/>
              </a:lnSpc>
              <a:spcBef>
                <a:spcPts val="100"/>
              </a:spcBef>
              <a:tabLst>
                <a:tab pos="520065" algn="l"/>
              </a:tabLst>
            </a:pPr>
            <a:r>
              <a:rPr sz="1400" b="1" dirty="0">
                <a:latin typeface="Arial" panose="020B0604020202020204"/>
                <a:cs typeface="Arial" panose="020B0604020202020204"/>
              </a:rPr>
              <a:t>0..1	0..1</a:t>
            </a:r>
            <a:endParaRPr sz="1400">
              <a:latin typeface="Arial" panose="020B0604020202020204"/>
              <a:cs typeface="Arial" panose="020B0604020202020204"/>
            </a:endParaRPr>
          </a:p>
          <a:p>
            <a:pPr>
              <a:lnSpc>
                <a:spcPct val="100000"/>
              </a:lnSpc>
            </a:pPr>
            <a:endParaRPr sz="1400">
              <a:latin typeface="Times New Roman" panose="02020603050405020304"/>
              <a:cs typeface="Times New Roman" panose="02020603050405020304"/>
            </a:endParaRPr>
          </a:p>
          <a:p>
            <a:pPr>
              <a:lnSpc>
                <a:spcPct val="100000"/>
              </a:lnSpc>
              <a:spcBef>
                <a:spcPts val="40"/>
              </a:spcBef>
            </a:pPr>
            <a:endParaRPr sz="1800">
              <a:latin typeface="Times New Roman" panose="02020603050405020304"/>
              <a:cs typeface="Times New Roman" panose="02020603050405020304"/>
            </a:endParaRPr>
          </a:p>
          <a:p>
            <a:pPr marL="12700">
              <a:lnSpc>
                <a:spcPct val="100000"/>
              </a:lnSpc>
            </a:pPr>
            <a:r>
              <a:rPr sz="1400" b="1" dirty="0">
                <a:latin typeface="Arial" panose="020B0604020202020204"/>
                <a:cs typeface="Arial" panose="020B0604020202020204"/>
              </a:rPr>
              <a:t>1..2</a:t>
            </a:r>
            <a:endParaRPr sz="1400">
              <a:latin typeface="Arial" panose="020B0604020202020204"/>
              <a:cs typeface="Arial" panose="020B0604020202020204"/>
            </a:endParaRPr>
          </a:p>
        </p:txBody>
      </p:sp>
      <p:sp>
        <p:nvSpPr>
          <p:cNvPr id="29" name="object 28"/>
          <p:cNvSpPr txBox="1"/>
          <p:nvPr/>
        </p:nvSpPr>
        <p:spPr>
          <a:xfrm>
            <a:off x="1746052" y="1377633"/>
            <a:ext cx="2929890" cy="566420"/>
          </a:xfrm>
          <a:prstGeom prst="rect">
            <a:avLst/>
          </a:prstGeom>
        </p:spPr>
        <p:txBody>
          <a:bodyPr vert="horz" wrap="square" lIns="0" tIns="27939" rIns="0" bIns="0" rtlCol="0">
            <a:spAutoFit/>
          </a:bodyPr>
          <a:lstStyle/>
          <a:p>
            <a:pPr marL="12700" marR="5080" indent="393700">
              <a:lnSpc>
                <a:spcPts val="2100"/>
              </a:lnSpc>
              <a:spcBef>
                <a:spcPts val="220"/>
              </a:spcBef>
            </a:pPr>
            <a:r>
              <a:rPr sz="1800" b="1" spc="-10" dirty="0">
                <a:solidFill>
                  <a:srgbClr val="800000"/>
                </a:solidFill>
                <a:latin typeface="黑体" panose="02010609060101010101" charset="-122"/>
                <a:cs typeface="黑体" panose="02010609060101010101" charset="-122"/>
              </a:rPr>
              <a:t>继 承 </a:t>
            </a:r>
            <a:r>
              <a:rPr sz="1800" b="1" spc="-5" dirty="0">
                <a:latin typeface="Comic Sans MS" panose="030F0702030302020204"/>
                <a:cs typeface="Comic Sans MS" panose="030F0702030302020204"/>
              </a:rPr>
              <a:t>Generalization  (an abstraction</a:t>
            </a:r>
            <a:r>
              <a:rPr sz="1800" b="1" spc="-80" dirty="0">
                <a:latin typeface="Comic Sans MS" panose="030F0702030302020204"/>
                <a:cs typeface="Comic Sans MS" panose="030F0702030302020204"/>
              </a:rPr>
              <a:t> </a:t>
            </a:r>
            <a:r>
              <a:rPr sz="1800" b="1" spc="-5" dirty="0">
                <a:latin typeface="Comic Sans MS" panose="030F0702030302020204"/>
                <a:cs typeface="Comic Sans MS" panose="030F0702030302020204"/>
              </a:rPr>
              <a:t>hierarchy)</a:t>
            </a:r>
            <a:endParaRPr sz="1800">
              <a:latin typeface="Comic Sans MS" panose="030F0702030302020204"/>
              <a:cs typeface="Comic Sans MS" panose="030F0702030302020204"/>
            </a:endParaRPr>
          </a:p>
        </p:txBody>
      </p:sp>
      <p:sp>
        <p:nvSpPr>
          <p:cNvPr id="30" name="object 29"/>
          <p:cNvSpPr txBox="1"/>
          <p:nvPr/>
        </p:nvSpPr>
        <p:spPr>
          <a:xfrm>
            <a:off x="7697590" y="1306195"/>
            <a:ext cx="2809240" cy="566420"/>
          </a:xfrm>
          <a:prstGeom prst="rect">
            <a:avLst/>
          </a:prstGeom>
        </p:spPr>
        <p:txBody>
          <a:bodyPr vert="horz" wrap="square" lIns="0" tIns="12700" rIns="0" bIns="0" rtlCol="0">
            <a:spAutoFit/>
          </a:bodyPr>
          <a:lstStyle/>
          <a:p>
            <a:pPr algn="ctr">
              <a:lnSpc>
                <a:spcPts val="2130"/>
              </a:lnSpc>
              <a:spcBef>
                <a:spcPts val="100"/>
              </a:spcBef>
            </a:pPr>
            <a:r>
              <a:rPr sz="1800" b="1" spc="-10" dirty="0">
                <a:solidFill>
                  <a:srgbClr val="800000"/>
                </a:solidFill>
                <a:latin typeface="黑体" panose="02010609060101010101" charset="-122"/>
                <a:cs typeface="黑体" panose="02010609060101010101" charset="-122"/>
              </a:rPr>
              <a:t>组合</a:t>
            </a:r>
            <a:r>
              <a:rPr sz="1800" b="1" spc="-5" dirty="0">
                <a:latin typeface="Comic Sans MS" panose="030F0702030302020204"/>
                <a:cs typeface="Comic Sans MS" panose="030F0702030302020204"/>
              </a:rPr>
              <a:t>Aggregation</a:t>
            </a:r>
            <a:endParaRPr sz="1800" dirty="0">
              <a:latin typeface="Comic Sans MS" panose="030F0702030302020204"/>
              <a:cs typeface="Comic Sans MS" panose="030F0702030302020204"/>
            </a:endParaRPr>
          </a:p>
          <a:p>
            <a:pPr algn="ctr">
              <a:lnSpc>
                <a:spcPts val="2130"/>
              </a:lnSpc>
            </a:pPr>
            <a:r>
              <a:rPr sz="1800" b="1" dirty="0">
                <a:latin typeface="Comic Sans MS" panose="030F0702030302020204"/>
                <a:cs typeface="Comic Sans MS" panose="030F0702030302020204"/>
              </a:rPr>
              <a:t>(a </a:t>
            </a:r>
            <a:r>
              <a:rPr sz="1800" b="1" spc="-5" dirty="0">
                <a:latin typeface="Comic Sans MS" panose="030F0702030302020204"/>
                <a:cs typeface="Comic Sans MS" panose="030F0702030302020204"/>
              </a:rPr>
              <a:t>partitioning</a:t>
            </a:r>
            <a:r>
              <a:rPr sz="1800" b="1" spc="-95" dirty="0">
                <a:latin typeface="Comic Sans MS" panose="030F0702030302020204"/>
                <a:cs typeface="Comic Sans MS" panose="030F0702030302020204"/>
              </a:rPr>
              <a:t> </a:t>
            </a:r>
            <a:r>
              <a:rPr sz="1800" b="1" spc="-5" dirty="0">
                <a:latin typeface="Comic Sans MS" panose="030F0702030302020204"/>
                <a:cs typeface="Comic Sans MS" panose="030F0702030302020204"/>
              </a:rPr>
              <a:t>hierarchy)</a:t>
            </a:r>
            <a:endParaRPr sz="1800" dirty="0">
              <a:latin typeface="Comic Sans MS" panose="030F0702030302020204"/>
              <a:cs typeface="Comic Sans MS" panose="030F0702030302020204"/>
            </a:endParaRPr>
          </a:p>
        </p:txBody>
      </p:sp>
      <p:cxnSp>
        <p:nvCxnSpPr>
          <p:cNvPr id="31" name="直接连接符 30"/>
          <p:cNvCxnSpPr/>
          <p:nvPr/>
        </p:nvCxnSpPr>
        <p:spPr>
          <a:xfrm>
            <a:off x="3580248" y="4435366"/>
            <a:ext cx="100226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9646467" y="4388070"/>
            <a:ext cx="115816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1460388" y="4882165"/>
            <a:ext cx="78882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7483366" y="4882165"/>
            <a:ext cx="70419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000" advTm="48460"/>
    </mc:Choice>
    <mc:Fallback>
      <p:transition spd="slow" advTm="4846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graphicFrame>
        <p:nvGraphicFramePr>
          <p:cNvPr id="5" name="object 3"/>
          <p:cNvGraphicFramePr>
            <a:graphicFrameLocks noGrp="1"/>
          </p:cNvGraphicFramePr>
          <p:nvPr/>
        </p:nvGraphicFramePr>
        <p:xfrm>
          <a:off x="2462650" y="2135187"/>
          <a:ext cx="1524000" cy="1600197"/>
        </p:xfrm>
        <a:graphic>
          <a:graphicData uri="http://schemas.openxmlformats.org/drawingml/2006/table">
            <a:tbl>
              <a:tblPr firstRow="1" bandRow="1">
                <a:tableStyleId>{2D5ABB26-0587-4C30-8999-92F81FD0307C}</a:tableStyleId>
              </a:tblPr>
              <a:tblGrid>
                <a:gridCol w="1524000"/>
              </a:tblGrid>
              <a:tr h="305593">
                <a:tc>
                  <a:txBody>
                    <a:bodyPr/>
                    <a:lstStyle/>
                    <a:p>
                      <a:pPr marL="267335">
                        <a:lnSpc>
                          <a:spcPct val="100000"/>
                        </a:lnSpc>
                        <a:spcBef>
                          <a:spcPts val="385"/>
                        </a:spcBef>
                      </a:pPr>
                      <a:r>
                        <a:rPr sz="1400" b="1" dirty="0">
                          <a:latin typeface="Comic Sans MS" panose="030F0702030302020204"/>
                          <a:cs typeface="Comic Sans MS" panose="030F0702030302020204"/>
                        </a:rPr>
                        <a:t>:patient</a:t>
                      </a:r>
                      <a:endParaRPr sz="1400">
                        <a:latin typeface="Comic Sans MS" panose="030F0702030302020204"/>
                        <a:cs typeface="Comic Sans MS" panose="030F0702030302020204"/>
                      </a:endParaRPr>
                    </a:p>
                  </a:txBody>
                  <a:tcPr marL="0" marR="0" marT="48894" marB="0">
                    <a:lnL w="28575">
                      <a:solidFill>
                        <a:srgbClr val="000000"/>
                      </a:solidFill>
                      <a:prstDash val="solid"/>
                    </a:lnL>
                    <a:lnR w="28575">
                      <a:solidFill>
                        <a:srgbClr val="000000"/>
                      </a:solidFill>
                      <a:prstDash val="solid"/>
                    </a:lnR>
                    <a:lnT w="28575">
                      <a:solidFill>
                        <a:srgbClr val="000000"/>
                      </a:solidFill>
                      <a:prstDash val="solid"/>
                    </a:lnT>
                    <a:lnB w="38100">
                      <a:solidFill>
                        <a:srgbClr val="000000"/>
                      </a:solidFill>
                      <a:prstDash val="solid"/>
                    </a:lnB>
                    <a:solidFill>
                      <a:srgbClr val="FCFAD3"/>
                    </a:solidFill>
                  </a:tcPr>
                </a:tc>
              </a:tr>
              <a:tr h="990599">
                <a:tc>
                  <a:txBody>
                    <a:bodyPr/>
                    <a:lstStyle/>
                    <a:p>
                      <a:pPr marL="90805">
                        <a:lnSpc>
                          <a:spcPts val="1420"/>
                        </a:lnSpc>
                        <a:spcBef>
                          <a:spcPts val="390"/>
                        </a:spcBef>
                      </a:pPr>
                      <a:r>
                        <a:rPr sz="1200" dirty="0">
                          <a:latin typeface="Comic Sans MS" panose="030F0702030302020204"/>
                          <a:cs typeface="Comic Sans MS" panose="030F0702030302020204"/>
                        </a:rPr>
                        <a:t>Name</a:t>
                      </a:r>
                      <a:endParaRPr sz="1200" dirty="0">
                        <a:latin typeface="Comic Sans MS" panose="030F0702030302020204"/>
                        <a:cs typeface="Comic Sans MS" panose="030F0702030302020204"/>
                      </a:endParaRPr>
                    </a:p>
                    <a:p>
                      <a:pPr marL="90805" marR="460375">
                        <a:lnSpc>
                          <a:spcPts val="1400"/>
                        </a:lnSpc>
                        <a:spcBef>
                          <a:spcPts val="60"/>
                        </a:spcBef>
                      </a:pPr>
                      <a:r>
                        <a:rPr sz="1200" dirty="0">
                          <a:latin typeface="Comic Sans MS" panose="030F0702030302020204"/>
                          <a:cs typeface="Comic Sans MS" panose="030F0702030302020204"/>
                        </a:rPr>
                        <a:t>Date </a:t>
                      </a:r>
                      <a:r>
                        <a:rPr sz="1200" spc="-5" dirty="0">
                          <a:latin typeface="Comic Sans MS" panose="030F0702030302020204"/>
                          <a:cs typeface="Comic Sans MS" panose="030F0702030302020204"/>
                        </a:rPr>
                        <a:t>of</a:t>
                      </a:r>
                      <a:r>
                        <a:rPr sz="1200" spc="-100" dirty="0">
                          <a:latin typeface="Comic Sans MS" panose="030F0702030302020204"/>
                          <a:cs typeface="Comic Sans MS" panose="030F0702030302020204"/>
                        </a:rPr>
                        <a:t> </a:t>
                      </a:r>
                      <a:r>
                        <a:rPr sz="1200" dirty="0">
                          <a:latin typeface="Comic Sans MS" panose="030F0702030302020204"/>
                          <a:cs typeface="Comic Sans MS" panose="030F0702030302020204"/>
                        </a:rPr>
                        <a:t>Birth  physician</a:t>
                      </a:r>
                      <a:endParaRPr sz="1200" dirty="0">
                        <a:latin typeface="Comic Sans MS" panose="030F0702030302020204"/>
                        <a:cs typeface="Comic Sans MS" panose="030F0702030302020204"/>
                      </a:endParaRPr>
                    </a:p>
                    <a:p>
                      <a:pPr marL="90805">
                        <a:lnSpc>
                          <a:spcPct val="100000"/>
                        </a:lnSpc>
                        <a:spcBef>
                          <a:spcPts val="20"/>
                        </a:spcBef>
                      </a:pPr>
                      <a:r>
                        <a:rPr sz="1200" spc="-5" dirty="0">
                          <a:latin typeface="Comic Sans MS" panose="030F0702030302020204"/>
                          <a:cs typeface="Comic Sans MS" panose="030F0702030302020204"/>
                        </a:rPr>
                        <a:t>history</a:t>
                      </a:r>
                      <a:endParaRPr sz="1200" dirty="0">
                        <a:latin typeface="Comic Sans MS" panose="030F0702030302020204"/>
                        <a:cs typeface="Comic Sans MS" panose="030F0702030302020204"/>
                      </a:endParaRPr>
                    </a:p>
                  </a:txBody>
                  <a:tcPr marL="0" marR="0" marT="49530" marB="0">
                    <a:lnL w="28575">
                      <a:solidFill>
                        <a:srgbClr val="000000"/>
                      </a:solidFill>
                      <a:prstDash val="solid"/>
                    </a:lnL>
                    <a:lnR w="28575">
                      <a:solidFill>
                        <a:srgbClr val="000000"/>
                      </a:solidFill>
                      <a:prstDash val="solid"/>
                    </a:lnR>
                    <a:lnT w="38100">
                      <a:solidFill>
                        <a:srgbClr val="000000"/>
                      </a:solidFill>
                      <a:prstDash val="solid"/>
                    </a:lnT>
                    <a:lnB w="38100">
                      <a:solidFill>
                        <a:srgbClr val="000000"/>
                      </a:solidFill>
                      <a:prstDash val="solid"/>
                    </a:lnB>
                    <a:solidFill>
                      <a:srgbClr val="FCFAD3"/>
                    </a:solidFill>
                  </a:tcPr>
                </a:tc>
              </a:tr>
              <a:tr h="304005">
                <a:tc>
                  <a:txBody>
                    <a:bodyPr/>
                    <a:lstStyle/>
                    <a:p>
                      <a:pPr>
                        <a:lnSpc>
                          <a:spcPct val="100000"/>
                        </a:lnSpc>
                      </a:pPr>
                      <a:endParaRPr sz="1300" dirty="0">
                        <a:latin typeface="Times New Roman" panose="02020603050405020304"/>
                        <a:cs typeface="Times New Roman" panose="02020603050405020304"/>
                      </a:endParaRPr>
                    </a:p>
                  </a:txBody>
                  <a:tcPr marL="0" marR="0" marT="0" marB="0">
                    <a:lnL w="28575">
                      <a:solidFill>
                        <a:srgbClr val="000000"/>
                      </a:solidFill>
                      <a:prstDash val="solid"/>
                    </a:lnL>
                    <a:lnR w="28575">
                      <a:solidFill>
                        <a:srgbClr val="000000"/>
                      </a:solidFill>
                      <a:prstDash val="solid"/>
                    </a:lnR>
                    <a:lnT w="38100">
                      <a:solidFill>
                        <a:srgbClr val="000000"/>
                      </a:solidFill>
                      <a:prstDash val="solid"/>
                    </a:lnT>
                    <a:lnB w="28575">
                      <a:solidFill>
                        <a:srgbClr val="000000"/>
                      </a:solidFill>
                      <a:prstDash val="solid"/>
                    </a:lnB>
                    <a:solidFill>
                      <a:srgbClr val="FCFAD3"/>
                    </a:solidFill>
                  </a:tcPr>
                </a:tc>
              </a:tr>
            </a:tbl>
          </a:graphicData>
        </a:graphic>
      </p:graphicFrame>
      <p:graphicFrame>
        <p:nvGraphicFramePr>
          <p:cNvPr id="6" name="object 4"/>
          <p:cNvGraphicFramePr>
            <a:graphicFrameLocks noGrp="1"/>
          </p:cNvGraphicFramePr>
          <p:nvPr/>
        </p:nvGraphicFramePr>
        <p:xfrm>
          <a:off x="735450" y="4068764"/>
          <a:ext cx="2032000" cy="2424108"/>
        </p:xfrm>
        <a:graphic>
          <a:graphicData uri="http://schemas.openxmlformats.org/drawingml/2006/table">
            <a:tbl>
              <a:tblPr firstRow="1" bandRow="1">
                <a:tableStyleId>{2D5ABB26-0587-4C30-8999-92F81FD0307C}</a:tableStyleId>
              </a:tblPr>
              <a:tblGrid>
                <a:gridCol w="762000"/>
                <a:gridCol w="762000"/>
                <a:gridCol w="508000"/>
              </a:tblGrid>
              <a:tr h="404811">
                <a:tc gridSpan="3">
                  <a:txBody>
                    <a:bodyPr/>
                    <a:lstStyle/>
                    <a:p>
                      <a:pPr>
                        <a:lnSpc>
                          <a:spcPct val="100000"/>
                        </a:lnSpc>
                      </a:pPr>
                      <a:endParaRPr sz="1300">
                        <a:latin typeface="Times New Roman" panose="02020603050405020304"/>
                        <a:cs typeface="Times New Roman" panose="02020603050405020304"/>
                      </a:endParaRPr>
                    </a:p>
                  </a:txBody>
                  <a:tcPr marL="0" marR="0" marT="0" marB="0">
                    <a:lnR w="28575">
                      <a:solidFill>
                        <a:srgbClr val="000000"/>
                      </a:solidFill>
                      <a:prstDash val="solid"/>
                    </a:lnR>
                  </a:tcPr>
                </a:tc>
                <a:tc hMerge="1">
                  <a:tcPr marL="0" marR="0" marT="0" marB="0"/>
                </a:tc>
                <a:tc hMerge="1">
                  <a:tcPr marL="0" marR="0" marT="0" marB="0"/>
                </a:tc>
              </a:tr>
              <a:tr h="419099">
                <a:tc>
                  <a:txBody>
                    <a:bodyPr/>
                    <a:lstStyle/>
                    <a:p>
                      <a:pPr>
                        <a:lnSpc>
                          <a:spcPct val="100000"/>
                        </a:lnSpc>
                      </a:pPr>
                      <a:endParaRPr sz="1300">
                        <a:latin typeface="Times New Roman" panose="02020603050405020304"/>
                        <a:cs typeface="Times New Roman" panose="02020603050405020304"/>
                      </a:endParaRPr>
                    </a:p>
                  </a:txBody>
                  <a:tcPr marL="0" marR="0" marT="0" marB="0">
                    <a:lnR w="28575">
                      <a:solidFill>
                        <a:srgbClr val="000000"/>
                      </a:solidFill>
                      <a:prstDash val="solid"/>
                    </a:lnR>
                    <a:lnB w="28575">
                      <a:solidFill>
                        <a:srgbClr val="000000"/>
                      </a:solidFill>
                      <a:prstDash val="solid"/>
                    </a:lnB>
                  </a:tcPr>
                </a:tc>
                <a:tc gridSpan="2">
                  <a:txBody>
                    <a:bodyPr/>
                    <a:lstStyle/>
                    <a:p>
                      <a:pPr>
                        <a:lnSpc>
                          <a:spcPct val="100000"/>
                        </a:lnSpc>
                      </a:pPr>
                      <a:endParaRPr sz="1300">
                        <a:latin typeface="Times New Roman" panose="02020603050405020304"/>
                        <a:cs typeface="Times New Roman" panose="02020603050405020304"/>
                      </a:endParaRPr>
                    </a:p>
                  </a:txBody>
                  <a:tcPr marL="0" marR="0" marT="0" marB="0">
                    <a:lnL w="28575">
                      <a:solidFill>
                        <a:srgbClr val="000000"/>
                      </a:solidFill>
                      <a:prstDash val="solid"/>
                    </a:lnL>
                    <a:lnT w="28575">
                      <a:solidFill>
                        <a:srgbClr val="000000"/>
                      </a:solidFill>
                      <a:prstDash val="solid"/>
                    </a:lnT>
                  </a:tcPr>
                </a:tc>
                <a:tc hMerge="1">
                  <a:tcPr marL="0" marR="0" marT="0" marB="0"/>
                </a:tc>
              </a:tr>
              <a:tr h="304800">
                <a:tc gridSpan="2">
                  <a:txBody>
                    <a:bodyPr/>
                    <a:lstStyle/>
                    <a:p>
                      <a:pPr marL="254635">
                        <a:lnSpc>
                          <a:spcPct val="100000"/>
                        </a:lnSpc>
                        <a:spcBef>
                          <a:spcPts val="360"/>
                        </a:spcBef>
                      </a:pPr>
                      <a:r>
                        <a:rPr sz="1400" b="1" spc="-5" dirty="0">
                          <a:latin typeface="Comic Sans MS" panose="030F0702030302020204"/>
                          <a:cs typeface="Comic Sans MS" panose="030F0702030302020204"/>
                        </a:rPr>
                        <a:t>:in-patient</a:t>
                      </a:r>
                      <a:endParaRPr sz="1400">
                        <a:latin typeface="Comic Sans MS" panose="030F0702030302020204"/>
                        <a:cs typeface="Comic Sans MS" panose="030F0702030302020204"/>
                      </a:endParaRPr>
                    </a:p>
                  </a:txBody>
                  <a:tcPr marL="0" marR="0" marT="45719" marB="0">
                    <a:lnL w="28575">
                      <a:solidFill>
                        <a:srgbClr val="000000"/>
                      </a:solidFill>
                      <a:prstDash val="solid"/>
                    </a:lnL>
                    <a:lnR w="28575">
                      <a:solidFill>
                        <a:srgbClr val="000000"/>
                      </a:solidFill>
                      <a:prstDash val="solid"/>
                    </a:lnR>
                    <a:lnT w="28575">
                      <a:solidFill>
                        <a:srgbClr val="000000"/>
                      </a:solidFill>
                      <a:prstDash val="solid"/>
                    </a:lnT>
                    <a:lnB w="38100">
                      <a:solidFill>
                        <a:srgbClr val="000000"/>
                      </a:solidFill>
                      <a:prstDash val="solid"/>
                    </a:lnB>
                    <a:solidFill>
                      <a:srgbClr val="FCFAD3"/>
                    </a:solidFill>
                  </a:tcPr>
                </a:tc>
                <a:tc hMerge="1">
                  <a:tcPr marL="0" marR="0" marT="0" marB="0"/>
                </a:tc>
                <a:tc rowSpan="3">
                  <a:txBody>
                    <a:bodyPr/>
                    <a:lstStyle/>
                    <a:p>
                      <a:pPr>
                        <a:lnSpc>
                          <a:spcPct val="100000"/>
                        </a:lnSpc>
                      </a:pPr>
                      <a:endParaRPr sz="1300">
                        <a:latin typeface="Times New Roman" panose="02020603050405020304"/>
                        <a:cs typeface="Times New Roman" panose="02020603050405020304"/>
                      </a:endParaRPr>
                    </a:p>
                  </a:txBody>
                  <a:tcPr marL="0" marR="0" marT="0" marB="0">
                    <a:lnL w="28575">
                      <a:solidFill>
                        <a:srgbClr val="000000"/>
                      </a:solidFill>
                      <a:prstDash val="solid"/>
                    </a:lnL>
                  </a:tcPr>
                </a:tc>
              </a:tr>
              <a:tr h="990599">
                <a:tc gridSpan="2">
                  <a:txBody>
                    <a:bodyPr/>
                    <a:lstStyle/>
                    <a:p>
                      <a:pPr marL="91440" marR="1050290">
                        <a:lnSpc>
                          <a:spcPts val="1400"/>
                        </a:lnSpc>
                        <a:spcBef>
                          <a:spcPts val="475"/>
                        </a:spcBef>
                      </a:pPr>
                      <a:r>
                        <a:rPr sz="1200" dirty="0">
                          <a:latin typeface="Comic Sans MS" panose="030F0702030302020204"/>
                          <a:cs typeface="Comic Sans MS" panose="030F0702030302020204"/>
                        </a:rPr>
                        <a:t>R</a:t>
                      </a:r>
                      <a:r>
                        <a:rPr sz="1200" spc="-5" dirty="0">
                          <a:latin typeface="Comic Sans MS" panose="030F0702030302020204"/>
                          <a:cs typeface="Comic Sans MS" panose="030F0702030302020204"/>
                        </a:rPr>
                        <a:t>oo</a:t>
                      </a:r>
                      <a:r>
                        <a:rPr sz="1200" dirty="0">
                          <a:latin typeface="Comic Sans MS" panose="030F0702030302020204"/>
                          <a:cs typeface="Comic Sans MS" panose="030F0702030302020204"/>
                        </a:rPr>
                        <a:t>m  </a:t>
                      </a:r>
                      <a:r>
                        <a:rPr sz="1200" spc="-5" dirty="0">
                          <a:latin typeface="Comic Sans MS" panose="030F0702030302020204"/>
                          <a:cs typeface="Comic Sans MS" panose="030F0702030302020204"/>
                        </a:rPr>
                        <a:t>Bed</a:t>
                      </a:r>
                      <a:endParaRPr sz="1200">
                        <a:latin typeface="Comic Sans MS" panose="030F0702030302020204"/>
                        <a:cs typeface="Comic Sans MS" panose="030F0702030302020204"/>
                      </a:endParaRPr>
                    </a:p>
                    <a:p>
                      <a:pPr marL="91440">
                        <a:lnSpc>
                          <a:spcPts val="1360"/>
                        </a:lnSpc>
                      </a:pPr>
                      <a:r>
                        <a:rPr sz="1200" spc="-5" dirty="0">
                          <a:latin typeface="Comic Sans MS" panose="030F0702030302020204"/>
                          <a:cs typeface="Comic Sans MS" panose="030F0702030302020204"/>
                        </a:rPr>
                        <a:t>Treatments</a:t>
                      </a:r>
                      <a:endParaRPr sz="1200">
                        <a:latin typeface="Comic Sans MS" panose="030F0702030302020204"/>
                        <a:cs typeface="Comic Sans MS" panose="030F0702030302020204"/>
                      </a:endParaRPr>
                    </a:p>
                    <a:p>
                      <a:pPr marL="91440">
                        <a:lnSpc>
                          <a:spcPct val="100000"/>
                        </a:lnSpc>
                        <a:spcBef>
                          <a:spcPts val="60"/>
                        </a:spcBef>
                      </a:pPr>
                      <a:r>
                        <a:rPr sz="1200" spc="-5" dirty="0">
                          <a:latin typeface="Comic Sans MS" panose="030F0702030302020204"/>
                          <a:cs typeface="Comic Sans MS" panose="030F0702030302020204"/>
                        </a:rPr>
                        <a:t>food</a:t>
                      </a:r>
                      <a:r>
                        <a:rPr sz="1200" spc="-15" dirty="0">
                          <a:latin typeface="Comic Sans MS" panose="030F0702030302020204"/>
                          <a:cs typeface="Comic Sans MS" panose="030F0702030302020204"/>
                        </a:rPr>
                        <a:t> </a:t>
                      </a:r>
                      <a:r>
                        <a:rPr sz="1200" spc="-5" dirty="0">
                          <a:latin typeface="Comic Sans MS" panose="030F0702030302020204"/>
                          <a:cs typeface="Comic Sans MS" panose="030F0702030302020204"/>
                        </a:rPr>
                        <a:t>prefs</a:t>
                      </a:r>
                      <a:endParaRPr sz="1200">
                        <a:latin typeface="Comic Sans MS" panose="030F0702030302020204"/>
                        <a:cs typeface="Comic Sans MS" panose="030F0702030302020204"/>
                      </a:endParaRPr>
                    </a:p>
                  </a:txBody>
                  <a:tcPr marL="0" marR="0" marT="60325" marB="0">
                    <a:lnL w="28575">
                      <a:solidFill>
                        <a:srgbClr val="000000"/>
                      </a:solidFill>
                      <a:prstDash val="solid"/>
                    </a:lnL>
                    <a:lnR w="28575">
                      <a:solidFill>
                        <a:srgbClr val="000000"/>
                      </a:solidFill>
                      <a:prstDash val="solid"/>
                    </a:lnR>
                    <a:lnT w="38100">
                      <a:solidFill>
                        <a:srgbClr val="000000"/>
                      </a:solidFill>
                      <a:prstDash val="solid"/>
                    </a:lnT>
                    <a:lnB w="38100">
                      <a:solidFill>
                        <a:srgbClr val="000000"/>
                      </a:solidFill>
                      <a:prstDash val="solid"/>
                    </a:lnB>
                    <a:solidFill>
                      <a:srgbClr val="FCFAD3"/>
                    </a:solidFill>
                  </a:tcPr>
                </a:tc>
                <a:tc hMerge="1">
                  <a:tcPr marL="0" marR="0" marT="0" marB="0"/>
                </a:tc>
                <a:tc vMerge="1">
                  <a:tcPr marL="0" marR="0" marT="0" marB="0">
                    <a:lnL w="28575">
                      <a:solidFill>
                        <a:srgbClr val="000000"/>
                      </a:solidFill>
                      <a:prstDash val="solid"/>
                    </a:lnL>
                  </a:tcPr>
                </a:tc>
              </a:tr>
              <a:tr h="304799">
                <a:tc gridSpan="2">
                  <a:txBody>
                    <a:bodyPr/>
                    <a:lstStyle/>
                    <a:p>
                      <a:pPr>
                        <a:lnSpc>
                          <a:spcPct val="100000"/>
                        </a:lnSpc>
                      </a:pPr>
                      <a:endParaRPr sz="1300">
                        <a:latin typeface="Times New Roman" panose="02020603050405020304"/>
                        <a:cs typeface="Times New Roman" panose="02020603050405020304"/>
                      </a:endParaRPr>
                    </a:p>
                  </a:txBody>
                  <a:tcPr marL="0" marR="0" marT="0" marB="0">
                    <a:lnL w="28575">
                      <a:solidFill>
                        <a:srgbClr val="000000"/>
                      </a:solidFill>
                      <a:prstDash val="solid"/>
                    </a:lnL>
                    <a:lnR w="28575">
                      <a:solidFill>
                        <a:srgbClr val="000000"/>
                      </a:solidFill>
                      <a:prstDash val="solid"/>
                    </a:lnR>
                    <a:lnT w="38100">
                      <a:solidFill>
                        <a:srgbClr val="000000"/>
                      </a:solidFill>
                      <a:prstDash val="solid"/>
                    </a:lnT>
                    <a:lnB w="28575">
                      <a:solidFill>
                        <a:srgbClr val="000000"/>
                      </a:solidFill>
                      <a:prstDash val="solid"/>
                    </a:lnB>
                    <a:solidFill>
                      <a:srgbClr val="FCFAD3"/>
                    </a:solidFill>
                  </a:tcPr>
                </a:tc>
                <a:tc hMerge="1">
                  <a:tcPr marL="0" marR="0" marT="0" marB="0"/>
                </a:tc>
                <a:tc vMerge="1">
                  <a:tcPr marL="0" marR="0" marT="0" marB="0">
                    <a:lnL w="28575">
                      <a:solidFill>
                        <a:srgbClr val="000000"/>
                      </a:solidFill>
                      <a:prstDash val="solid"/>
                    </a:lnL>
                  </a:tcPr>
                </a:tc>
              </a:tr>
            </a:tbl>
          </a:graphicData>
        </a:graphic>
      </p:graphicFrame>
      <p:graphicFrame>
        <p:nvGraphicFramePr>
          <p:cNvPr id="7" name="object 5"/>
          <p:cNvGraphicFramePr>
            <a:graphicFrameLocks noGrp="1"/>
          </p:cNvGraphicFramePr>
          <p:nvPr/>
        </p:nvGraphicFramePr>
        <p:xfrm>
          <a:off x="8355448" y="1906587"/>
          <a:ext cx="1524000" cy="1600197"/>
        </p:xfrm>
        <a:graphic>
          <a:graphicData uri="http://schemas.openxmlformats.org/drawingml/2006/table">
            <a:tbl>
              <a:tblPr firstRow="1" bandRow="1">
                <a:tableStyleId>{2D5ABB26-0587-4C30-8999-92F81FD0307C}</a:tableStyleId>
              </a:tblPr>
              <a:tblGrid>
                <a:gridCol w="1524000"/>
              </a:tblGrid>
              <a:tr h="304800">
                <a:tc>
                  <a:txBody>
                    <a:bodyPr/>
                    <a:lstStyle/>
                    <a:p>
                      <a:pPr marL="267335">
                        <a:lnSpc>
                          <a:spcPct val="100000"/>
                        </a:lnSpc>
                        <a:spcBef>
                          <a:spcPts val="385"/>
                        </a:spcBef>
                      </a:pPr>
                      <a:r>
                        <a:rPr sz="1400" b="1" dirty="0">
                          <a:latin typeface="Comic Sans MS" panose="030F0702030302020204"/>
                          <a:cs typeface="Comic Sans MS" panose="030F0702030302020204"/>
                        </a:rPr>
                        <a:t>:patient</a:t>
                      </a:r>
                      <a:endParaRPr sz="1400">
                        <a:latin typeface="Comic Sans MS" panose="030F0702030302020204"/>
                        <a:cs typeface="Comic Sans MS" panose="030F0702030302020204"/>
                      </a:endParaRPr>
                    </a:p>
                  </a:txBody>
                  <a:tcPr marL="0" marR="0" marT="48894" marB="0">
                    <a:lnL w="28575">
                      <a:solidFill>
                        <a:srgbClr val="000000"/>
                      </a:solidFill>
                      <a:prstDash val="solid"/>
                    </a:lnL>
                    <a:lnR w="28575">
                      <a:solidFill>
                        <a:srgbClr val="000000"/>
                      </a:solidFill>
                      <a:prstDash val="solid"/>
                    </a:lnR>
                    <a:lnT w="28575">
                      <a:solidFill>
                        <a:srgbClr val="000000"/>
                      </a:solidFill>
                      <a:prstDash val="solid"/>
                    </a:lnT>
                    <a:lnB w="38100">
                      <a:solidFill>
                        <a:srgbClr val="000000"/>
                      </a:solidFill>
                      <a:prstDash val="solid"/>
                    </a:lnB>
                    <a:solidFill>
                      <a:srgbClr val="FCFAD3"/>
                    </a:solidFill>
                  </a:tcPr>
                </a:tc>
              </a:tr>
              <a:tr h="990599">
                <a:tc>
                  <a:txBody>
                    <a:bodyPr/>
                    <a:lstStyle/>
                    <a:p>
                      <a:pPr marL="91440">
                        <a:lnSpc>
                          <a:spcPts val="1420"/>
                        </a:lnSpc>
                        <a:spcBef>
                          <a:spcPts val="395"/>
                        </a:spcBef>
                      </a:pPr>
                      <a:r>
                        <a:rPr sz="1200" dirty="0">
                          <a:latin typeface="Comic Sans MS" panose="030F0702030302020204"/>
                          <a:cs typeface="Comic Sans MS" panose="030F0702030302020204"/>
                        </a:rPr>
                        <a:t>Name</a:t>
                      </a:r>
                      <a:endParaRPr sz="1200">
                        <a:latin typeface="Comic Sans MS" panose="030F0702030302020204"/>
                        <a:cs typeface="Comic Sans MS" panose="030F0702030302020204"/>
                      </a:endParaRPr>
                    </a:p>
                    <a:p>
                      <a:pPr marL="91440" marR="460375">
                        <a:lnSpc>
                          <a:spcPts val="1400"/>
                        </a:lnSpc>
                        <a:spcBef>
                          <a:spcPts val="60"/>
                        </a:spcBef>
                      </a:pPr>
                      <a:r>
                        <a:rPr sz="1200" dirty="0">
                          <a:latin typeface="Comic Sans MS" panose="030F0702030302020204"/>
                          <a:cs typeface="Comic Sans MS" panose="030F0702030302020204"/>
                        </a:rPr>
                        <a:t>Date </a:t>
                      </a:r>
                      <a:r>
                        <a:rPr sz="1200" spc="-5" dirty="0">
                          <a:latin typeface="Comic Sans MS" panose="030F0702030302020204"/>
                          <a:cs typeface="Comic Sans MS" panose="030F0702030302020204"/>
                        </a:rPr>
                        <a:t>of</a:t>
                      </a:r>
                      <a:r>
                        <a:rPr sz="1200" spc="-100" dirty="0">
                          <a:latin typeface="Comic Sans MS" panose="030F0702030302020204"/>
                          <a:cs typeface="Comic Sans MS" panose="030F0702030302020204"/>
                        </a:rPr>
                        <a:t> </a:t>
                      </a:r>
                      <a:r>
                        <a:rPr sz="1200" dirty="0">
                          <a:latin typeface="Comic Sans MS" panose="030F0702030302020204"/>
                          <a:cs typeface="Comic Sans MS" panose="030F0702030302020204"/>
                        </a:rPr>
                        <a:t>Birth  physician</a:t>
                      </a:r>
                      <a:endParaRPr sz="1200">
                        <a:latin typeface="Comic Sans MS" panose="030F0702030302020204"/>
                        <a:cs typeface="Comic Sans MS" panose="030F0702030302020204"/>
                      </a:endParaRPr>
                    </a:p>
                    <a:p>
                      <a:pPr marL="91440">
                        <a:lnSpc>
                          <a:spcPct val="100000"/>
                        </a:lnSpc>
                        <a:spcBef>
                          <a:spcPts val="20"/>
                        </a:spcBef>
                      </a:pPr>
                      <a:r>
                        <a:rPr sz="1200" spc="-5" dirty="0">
                          <a:latin typeface="Comic Sans MS" panose="030F0702030302020204"/>
                          <a:cs typeface="Comic Sans MS" panose="030F0702030302020204"/>
                        </a:rPr>
                        <a:t>history</a:t>
                      </a:r>
                      <a:endParaRPr sz="1200">
                        <a:latin typeface="Comic Sans MS" panose="030F0702030302020204"/>
                        <a:cs typeface="Comic Sans MS" panose="030F0702030302020204"/>
                      </a:endParaRPr>
                    </a:p>
                  </a:txBody>
                  <a:tcPr marL="0" marR="0" marT="50165" marB="0">
                    <a:lnL w="28575">
                      <a:solidFill>
                        <a:srgbClr val="000000"/>
                      </a:solidFill>
                      <a:prstDash val="solid"/>
                    </a:lnL>
                    <a:lnR w="28575">
                      <a:solidFill>
                        <a:srgbClr val="000000"/>
                      </a:solidFill>
                      <a:prstDash val="solid"/>
                    </a:lnR>
                    <a:lnT w="38100">
                      <a:solidFill>
                        <a:srgbClr val="000000"/>
                      </a:solidFill>
                      <a:prstDash val="solid"/>
                    </a:lnT>
                    <a:lnB w="38100">
                      <a:solidFill>
                        <a:srgbClr val="000000"/>
                      </a:solidFill>
                      <a:prstDash val="solid"/>
                    </a:lnB>
                    <a:solidFill>
                      <a:srgbClr val="FCFAD3"/>
                    </a:solidFill>
                  </a:tcPr>
                </a:tc>
              </a:tr>
              <a:tr h="304798">
                <a:tc>
                  <a:txBody>
                    <a:bodyPr/>
                    <a:lstStyle/>
                    <a:p>
                      <a:pPr>
                        <a:lnSpc>
                          <a:spcPct val="100000"/>
                        </a:lnSpc>
                      </a:pPr>
                      <a:endParaRPr sz="1300">
                        <a:latin typeface="Times New Roman" panose="02020603050405020304"/>
                        <a:cs typeface="Times New Roman" panose="02020603050405020304"/>
                      </a:endParaRPr>
                    </a:p>
                  </a:txBody>
                  <a:tcPr marL="0" marR="0" marT="0" marB="0">
                    <a:lnL w="28575">
                      <a:solidFill>
                        <a:srgbClr val="000000"/>
                      </a:solidFill>
                      <a:prstDash val="solid"/>
                    </a:lnL>
                    <a:lnR w="28575">
                      <a:solidFill>
                        <a:srgbClr val="000000"/>
                      </a:solidFill>
                      <a:prstDash val="solid"/>
                    </a:lnR>
                    <a:lnT w="38100">
                      <a:solidFill>
                        <a:srgbClr val="000000"/>
                      </a:solidFill>
                      <a:prstDash val="solid"/>
                    </a:lnT>
                    <a:lnB w="28575">
                      <a:solidFill>
                        <a:srgbClr val="000000"/>
                      </a:solidFill>
                      <a:prstDash val="solid"/>
                    </a:lnB>
                    <a:solidFill>
                      <a:srgbClr val="FCFAD3"/>
                    </a:solidFill>
                  </a:tcPr>
                </a:tc>
              </a:tr>
            </a:tbl>
          </a:graphicData>
        </a:graphic>
      </p:graphicFrame>
      <p:sp>
        <p:nvSpPr>
          <p:cNvPr id="8" name="object 6"/>
          <p:cNvSpPr/>
          <p:nvPr/>
        </p:nvSpPr>
        <p:spPr>
          <a:xfrm>
            <a:off x="10096936" y="4892675"/>
            <a:ext cx="1422400" cy="1600200"/>
          </a:xfrm>
          <a:custGeom>
            <a:avLst/>
            <a:gdLst/>
            <a:ahLst/>
            <a:cxnLst/>
            <a:rect l="l" t="t" r="r" b="b"/>
            <a:pathLst>
              <a:path w="1422400" h="1600200">
                <a:moveTo>
                  <a:pt x="0" y="0"/>
                </a:moveTo>
                <a:lnTo>
                  <a:pt x="1422400" y="0"/>
                </a:lnTo>
                <a:lnTo>
                  <a:pt x="1422400" y="1600199"/>
                </a:lnTo>
                <a:lnTo>
                  <a:pt x="0" y="1600199"/>
                </a:lnTo>
                <a:lnTo>
                  <a:pt x="0" y="0"/>
                </a:lnTo>
                <a:close/>
              </a:path>
            </a:pathLst>
          </a:custGeom>
          <a:solidFill>
            <a:srgbClr val="FCFAD3"/>
          </a:solidFill>
        </p:spPr>
        <p:txBody>
          <a:bodyPr wrap="square" lIns="0" tIns="0" rIns="0" bIns="0" rtlCol="0"/>
          <a:lstStyle/>
          <a:p/>
        </p:txBody>
      </p:sp>
      <p:sp>
        <p:nvSpPr>
          <p:cNvPr id="9" name="object 7"/>
          <p:cNvSpPr/>
          <p:nvPr/>
        </p:nvSpPr>
        <p:spPr>
          <a:xfrm>
            <a:off x="8409423" y="4892675"/>
            <a:ext cx="1422400" cy="1600200"/>
          </a:xfrm>
          <a:custGeom>
            <a:avLst/>
            <a:gdLst/>
            <a:ahLst/>
            <a:cxnLst/>
            <a:rect l="l" t="t" r="r" b="b"/>
            <a:pathLst>
              <a:path w="1422400" h="1600200">
                <a:moveTo>
                  <a:pt x="0" y="0"/>
                </a:moveTo>
                <a:lnTo>
                  <a:pt x="1422400" y="0"/>
                </a:lnTo>
                <a:lnTo>
                  <a:pt x="1422400" y="1600199"/>
                </a:lnTo>
                <a:lnTo>
                  <a:pt x="0" y="1600199"/>
                </a:lnTo>
                <a:lnTo>
                  <a:pt x="0" y="0"/>
                </a:lnTo>
                <a:close/>
              </a:path>
            </a:pathLst>
          </a:custGeom>
          <a:solidFill>
            <a:srgbClr val="FCFAD3"/>
          </a:solidFill>
        </p:spPr>
        <p:txBody>
          <a:bodyPr wrap="square" lIns="0" tIns="0" rIns="0" bIns="0" rtlCol="0"/>
          <a:lstStyle/>
          <a:p/>
        </p:txBody>
      </p:sp>
      <p:sp>
        <p:nvSpPr>
          <p:cNvPr id="10" name="object 8"/>
          <p:cNvSpPr/>
          <p:nvPr/>
        </p:nvSpPr>
        <p:spPr>
          <a:xfrm>
            <a:off x="8409423" y="4892675"/>
            <a:ext cx="1422400" cy="1600200"/>
          </a:xfrm>
          <a:custGeom>
            <a:avLst/>
            <a:gdLst/>
            <a:ahLst/>
            <a:cxnLst/>
            <a:rect l="l" t="t" r="r" b="b"/>
            <a:pathLst>
              <a:path w="1422400" h="1600200">
                <a:moveTo>
                  <a:pt x="0" y="0"/>
                </a:moveTo>
                <a:lnTo>
                  <a:pt x="1422399" y="0"/>
                </a:lnTo>
                <a:lnTo>
                  <a:pt x="1422399" y="1600199"/>
                </a:lnTo>
                <a:lnTo>
                  <a:pt x="0" y="1600199"/>
                </a:lnTo>
                <a:lnTo>
                  <a:pt x="0" y="0"/>
                </a:lnTo>
                <a:close/>
              </a:path>
            </a:pathLst>
          </a:custGeom>
          <a:ln w="28574">
            <a:solidFill>
              <a:srgbClr val="000000"/>
            </a:solidFill>
          </a:ln>
        </p:spPr>
        <p:txBody>
          <a:bodyPr wrap="square" lIns="0" tIns="0" rIns="0" bIns="0" rtlCol="0"/>
          <a:lstStyle/>
          <a:p/>
        </p:txBody>
      </p:sp>
      <p:sp>
        <p:nvSpPr>
          <p:cNvPr id="11" name="object 9"/>
          <p:cNvSpPr/>
          <p:nvPr/>
        </p:nvSpPr>
        <p:spPr>
          <a:xfrm>
            <a:off x="8409423" y="6188074"/>
            <a:ext cx="1422400" cy="0"/>
          </a:xfrm>
          <a:custGeom>
            <a:avLst/>
            <a:gdLst/>
            <a:ahLst/>
            <a:cxnLst/>
            <a:rect l="l" t="t" r="r" b="b"/>
            <a:pathLst>
              <a:path w="1422400">
                <a:moveTo>
                  <a:pt x="0" y="0"/>
                </a:moveTo>
                <a:lnTo>
                  <a:pt x="1422399" y="0"/>
                </a:lnTo>
              </a:path>
            </a:pathLst>
          </a:custGeom>
          <a:ln w="28574">
            <a:solidFill>
              <a:srgbClr val="000000"/>
            </a:solidFill>
          </a:ln>
        </p:spPr>
        <p:txBody>
          <a:bodyPr wrap="square" lIns="0" tIns="0" rIns="0" bIns="0" rtlCol="0"/>
          <a:lstStyle/>
          <a:p/>
        </p:txBody>
      </p:sp>
      <p:sp>
        <p:nvSpPr>
          <p:cNvPr id="12" name="object 10"/>
          <p:cNvSpPr txBox="1"/>
          <p:nvPr/>
        </p:nvSpPr>
        <p:spPr>
          <a:xfrm>
            <a:off x="8409423" y="4892675"/>
            <a:ext cx="1422400" cy="304800"/>
          </a:xfrm>
          <a:prstGeom prst="rect">
            <a:avLst/>
          </a:prstGeom>
          <a:solidFill>
            <a:srgbClr val="FCFAD3"/>
          </a:solidFill>
          <a:ln w="28574">
            <a:solidFill>
              <a:srgbClr val="000000"/>
            </a:solidFill>
          </a:ln>
        </p:spPr>
        <p:txBody>
          <a:bodyPr vert="horz" wrap="square" lIns="0" tIns="48894" rIns="0" bIns="0" rtlCol="0">
            <a:spAutoFit/>
          </a:bodyPr>
          <a:lstStyle/>
          <a:p>
            <a:pPr marL="300990">
              <a:lnSpc>
                <a:spcPct val="100000"/>
              </a:lnSpc>
              <a:spcBef>
                <a:spcPts val="385"/>
              </a:spcBef>
            </a:pPr>
            <a:r>
              <a:rPr sz="1400" b="1" spc="-5" dirty="0">
                <a:latin typeface="Comic Sans MS" panose="030F0702030302020204"/>
                <a:cs typeface="Comic Sans MS" panose="030F0702030302020204"/>
              </a:rPr>
              <a:t>:kidney</a:t>
            </a:r>
            <a:endParaRPr sz="1400">
              <a:latin typeface="Comic Sans MS" panose="030F0702030302020204"/>
              <a:cs typeface="Comic Sans MS" panose="030F0702030302020204"/>
            </a:endParaRPr>
          </a:p>
        </p:txBody>
      </p:sp>
      <p:sp>
        <p:nvSpPr>
          <p:cNvPr id="13" name="object 11"/>
          <p:cNvSpPr txBox="1"/>
          <p:nvPr/>
        </p:nvSpPr>
        <p:spPr>
          <a:xfrm>
            <a:off x="8409423" y="5197475"/>
            <a:ext cx="1422400" cy="990600"/>
          </a:xfrm>
          <a:prstGeom prst="rect">
            <a:avLst/>
          </a:prstGeom>
          <a:solidFill>
            <a:srgbClr val="FCFAD3"/>
          </a:solidFill>
          <a:ln w="28574">
            <a:solidFill>
              <a:srgbClr val="000000"/>
            </a:solidFill>
          </a:ln>
        </p:spPr>
        <p:txBody>
          <a:bodyPr vert="horz" wrap="square" lIns="0" tIns="60325" rIns="0" bIns="0" rtlCol="0">
            <a:spAutoFit/>
          </a:bodyPr>
          <a:lstStyle/>
          <a:p>
            <a:pPr marL="90805" marR="320675">
              <a:lnSpc>
                <a:spcPts val="1400"/>
              </a:lnSpc>
              <a:spcBef>
                <a:spcPts val="475"/>
              </a:spcBef>
            </a:pPr>
            <a:r>
              <a:rPr sz="1200" dirty="0">
                <a:latin typeface="Comic Sans MS" panose="030F0702030302020204"/>
                <a:cs typeface="Comic Sans MS" panose="030F0702030302020204"/>
              </a:rPr>
              <a:t>Natural/artif.  </a:t>
            </a:r>
            <a:r>
              <a:rPr sz="1200" spc="-5" dirty="0">
                <a:latin typeface="Comic Sans MS" panose="030F0702030302020204"/>
                <a:cs typeface="Comic Sans MS" panose="030F0702030302020204"/>
              </a:rPr>
              <a:t>Orig/implant  number</a:t>
            </a:r>
            <a:endParaRPr sz="1200">
              <a:latin typeface="Comic Sans MS" panose="030F0702030302020204"/>
              <a:cs typeface="Comic Sans MS" panose="030F0702030302020204"/>
            </a:endParaRPr>
          </a:p>
        </p:txBody>
      </p:sp>
      <p:sp>
        <p:nvSpPr>
          <p:cNvPr id="14" name="object 12"/>
          <p:cNvSpPr/>
          <p:nvPr/>
        </p:nvSpPr>
        <p:spPr>
          <a:xfrm>
            <a:off x="9080936" y="3825875"/>
            <a:ext cx="0" cy="1066800"/>
          </a:xfrm>
          <a:custGeom>
            <a:avLst/>
            <a:gdLst/>
            <a:ahLst/>
            <a:cxnLst/>
            <a:rect l="l" t="t" r="r" b="b"/>
            <a:pathLst>
              <a:path h="1066800">
                <a:moveTo>
                  <a:pt x="0" y="1066799"/>
                </a:moveTo>
                <a:lnTo>
                  <a:pt x="0" y="0"/>
                </a:lnTo>
              </a:path>
            </a:pathLst>
          </a:custGeom>
          <a:ln w="28574">
            <a:solidFill>
              <a:srgbClr val="000000"/>
            </a:solidFill>
          </a:ln>
        </p:spPr>
        <p:txBody>
          <a:bodyPr wrap="square" lIns="0" tIns="0" rIns="0" bIns="0" rtlCol="0"/>
          <a:lstStyle/>
          <a:p/>
        </p:txBody>
      </p:sp>
      <p:sp>
        <p:nvSpPr>
          <p:cNvPr id="15" name="object 13"/>
          <p:cNvSpPr/>
          <p:nvPr/>
        </p:nvSpPr>
        <p:spPr>
          <a:xfrm>
            <a:off x="2578538" y="3749675"/>
            <a:ext cx="406400" cy="304800"/>
          </a:xfrm>
          <a:custGeom>
            <a:avLst/>
            <a:gdLst/>
            <a:ahLst/>
            <a:cxnLst/>
            <a:rect l="l" t="t" r="r" b="b"/>
            <a:pathLst>
              <a:path w="406400" h="304800">
                <a:moveTo>
                  <a:pt x="203200" y="0"/>
                </a:moveTo>
                <a:lnTo>
                  <a:pt x="0" y="304800"/>
                </a:lnTo>
                <a:lnTo>
                  <a:pt x="406400" y="304800"/>
                </a:lnTo>
                <a:lnTo>
                  <a:pt x="203200" y="0"/>
                </a:lnTo>
                <a:close/>
              </a:path>
            </a:pathLst>
          </a:custGeom>
          <a:solidFill>
            <a:srgbClr val="EEEEEE"/>
          </a:solidFill>
        </p:spPr>
        <p:txBody>
          <a:bodyPr wrap="square" lIns="0" tIns="0" rIns="0" bIns="0" rtlCol="0"/>
          <a:lstStyle/>
          <a:p/>
        </p:txBody>
      </p:sp>
      <p:sp>
        <p:nvSpPr>
          <p:cNvPr id="16" name="object 14"/>
          <p:cNvSpPr/>
          <p:nvPr/>
        </p:nvSpPr>
        <p:spPr>
          <a:xfrm>
            <a:off x="2578538" y="3749675"/>
            <a:ext cx="406400" cy="304800"/>
          </a:xfrm>
          <a:custGeom>
            <a:avLst/>
            <a:gdLst/>
            <a:ahLst/>
            <a:cxnLst/>
            <a:rect l="l" t="t" r="r" b="b"/>
            <a:pathLst>
              <a:path w="406400" h="304800">
                <a:moveTo>
                  <a:pt x="0" y="304800"/>
                </a:moveTo>
                <a:lnTo>
                  <a:pt x="203199" y="0"/>
                </a:lnTo>
                <a:lnTo>
                  <a:pt x="406399" y="304800"/>
                </a:lnTo>
                <a:lnTo>
                  <a:pt x="0" y="304800"/>
                </a:lnTo>
                <a:close/>
              </a:path>
            </a:pathLst>
          </a:custGeom>
          <a:ln w="28574">
            <a:solidFill>
              <a:srgbClr val="000000"/>
            </a:solidFill>
          </a:ln>
        </p:spPr>
        <p:txBody>
          <a:bodyPr wrap="square" lIns="0" tIns="0" rIns="0" bIns="0" rtlCol="0"/>
          <a:lstStyle/>
          <a:p/>
        </p:txBody>
      </p:sp>
      <p:sp>
        <p:nvSpPr>
          <p:cNvPr id="17" name="object 16"/>
          <p:cNvSpPr/>
          <p:nvPr/>
        </p:nvSpPr>
        <p:spPr>
          <a:xfrm>
            <a:off x="8877736" y="3521075"/>
            <a:ext cx="406400" cy="381000"/>
          </a:xfrm>
          <a:custGeom>
            <a:avLst/>
            <a:gdLst/>
            <a:ahLst/>
            <a:cxnLst/>
            <a:rect l="l" t="t" r="r" b="b"/>
            <a:pathLst>
              <a:path w="406400" h="381000">
                <a:moveTo>
                  <a:pt x="203200" y="0"/>
                </a:moveTo>
                <a:lnTo>
                  <a:pt x="0" y="190500"/>
                </a:lnTo>
                <a:lnTo>
                  <a:pt x="203200" y="381000"/>
                </a:lnTo>
                <a:lnTo>
                  <a:pt x="406400" y="190500"/>
                </a:lnTo>
                <a:lnTo>
                  <a:pt x="203200" y="0"/>
                </a:lnTo>
                <a:close/>
              </a:path>
            </a:pathLst>
          </a:custGeom>
          <a:solidFill>
            <a:srgbClr val="EEEEEE"/>
          </a:solidFill>
        </p:spPr>
        <p:txBody>
          <a:bodyPr wrap="square" lIns="0" tIns="0" rIns="0" bIns="0" rtlCol="0"/>
          <a:lstStyle/>
          <a:p/>
        </p:txBody>
      </p:sp>
      <p:sp>
        <p:nvSpPr>
          <p:cNvPr id="18" name="object 17"/>
          <p:cNvSpPr/>
          <p:nvPr/>
        </p:nvSpPr>
        <p:spPr>
          <a:xfrm>
            <a:off x="8877736" y="3521075"/>
            <a:ext cx="406400" cy="381000"/>
          </a:xfrm>
          <a:custGeom>
            <a:avLst/>
            <a:gdLst/>
            <a:ahLst/>
            <a:cxnLst/>
            <a:rect l="l" t="t" r="r" b="b"/>
            <a:pathLst>
              <a:path w="406400" h="381000">
                <a:moveTo>
                  <a:pt x="0" y="190499"/>
                </a:moveTo>
                <a:lnTo>
                  <a:pt x="203200" y="0"/>
                </a:lnTo>
                <a:lnTo>
                  <a:pt x="406399" y="190499"/>
                </a:lnTo>
                <a:lnTo>
                  <a:pt x="203200" y="380999"/>
                </a:lnTo>
                <a:lnTo>
                  <a:pt x="0" y="190499"/>
                </a:lnTo>
                <a:close/>
              </a:path>
            </a:pathLst>
          </a:custGeom>
          <a:ln w="28574">
            <a:solidFill>
              <a:srgbClr val="000000"/>
            </a:solidFill>
          </a:ln>
        </p:spPr>
        <p:txBody>
          <a:bodyPr wrap="square" lIns="0" tIns="0" rIns="0" bIns="0" rtlCol="0"/>
          <a:lstStyle/>
          <a:p/>
        </p:txBody>
      </p:sp>
      <p:sp>
        <p:nvSpPr>
          <p:cNvPr id="19" name="object 18"/>
          <p:cNvSpPr/>
          <p:nvPr/>
        </p:nvSpPr>
        <p:spPr>
          <a:xfrm>
            <a:off x="9487336" y="3521075"/>
            <a:ext cx="406400" cy="381000"/>
          </a:xfrm>
          <a:custGeom>
            <a:avLst/>
            <a:gdLst/>
            <a:ahLst/>
            <a:cxnLst/>
            <a:rect l="l" t="t" r="r" b="b"/>
            <a:pathLst>
              <a:path w="406400" h="381000">
                <a:moveTo>
                  <a:pt x="203200" y="0"/>
                </a:moveTo>
                <a:lnTo>
                  <a:pt x="0" y="190500"/>
                </a:lnTo>
                <a:lnTo>
                  <a:pt x="203200" y="381000"/>
                </a:lnTo>
                <a:lnTo>
                  <a:pt x="406400" y="190500"/>
                </a:lnTo>
                <a:lnTo>
                  <a:pt x="203200" y="0"/>
                </a:lnTo>
                <a:close/>
              </a:path>
            </a:pathLst>
          </a:custGeom>
          <a:solidFill>
            <a:srgbClr val="EEEEEE"/>
          </a:solidFill>
        </p:spPr>
        <p:txBody>
          <a:bodyPr wrap="square" lIns="0" tIns="0" rIns="0" bIns="0" rtlCol="0"/>
          <a:lstStyle/>
          <a:p/>
        </p:txBody>
      </p:sp>
      <p:sp>
        <p:nvSpPr>
          <p:cNvPr id="20" name="object 19"/>
          <p:cNvSpPr/>
          <p:nvPr/>
        </p:nvSpPr>
        <p:spPr>
          <a:xfrm>
            <a:off x="9487336" y="3521075"/>
            <a:ext cx="406400" cy="381000"/>
          </a:xfrm>
          <a:custGeom>
            <a:avLst/>
            <a:gdLst/>
            <a:ahLst/>
            <a:cxnLst/>
            <a:rect l="l" t="t" r="r" b="b"/>
            <a:pathLst>
              <a:path w="406400" h="381000">
                <a:moveTo>
                  <a:pt x="0" y="190499"/>
                </a:moveTo>
                <a:lnTo>
                  <a:pt x="203199" y="0"/>
                </a:lnTo>
                <a:lnTo>
                  <a:pt x="406399" y="190499"/>
                </a:lnTo>
                <a:lnTo>
                  <a:pt x="203199" y="380999"/>
                </a:lnTo>
                <a:lnTo>
                  <a:pt x="0" y="190499"/>
                </a:lnTo>
                <a:close/>
              </a:path>
            </a:pathLst>
          </a:custGeom>
          <a:ln w="28574">
            <a:solidFill>
              <a:srgbClr val="000000"/>
            </a:solidFill>
          </a:ln>
        </p:spPr>
        <p:txBody>
          <a:bodyPr wrap="square" lIns="0" tIns="0" rIns="0" bIns="0" rtlCol="0"/>
          <a:lstStyle/>
          <a:p/>
        </p:txBody>
      </p:sp>
      <p:sp>
        <p:nvSpPr>
          <p:cNvPr id="21" name="object 20"/>
          <p:cNvSpPr/>
          <p:nvPr/>
        </p:nvSpPr>
        <p:spPr>
          <a:xfrm>
            <a:off x="8369736" y="3521075"/>
            <a:ext cx="406400" cy="381000"/>
          </a:xfrm>
          <a:custGeom>
            <a:avLst/>
            <a:gdLst/>
            <a:ahLst/>
            <a:cxnLst/>
            <a:rect l="l" t="t" r="r" b="b"/>
            <a:pathLst>
              <a:path w="406400" h="381000">
                <a:moveTo>
                  <a:pt x="203200" y="0"/>
                </a:moveTo>
                <a:lnTo>
                  <a:pt x="0" y="190500"/>
                </a:lnTo>
                <a:lnTo>
                  <a:pt x="203200" y="381000"/>
                </a:lnTo>
                <a:lnTo>
                  <a:pt x="406400" y="190500"/>
                </a:lnTo>
                <a:lnTo>
                  <a:pt x="203200" y="0"/>
                </a:lnTo>
                <a:close/>
              </a:path>
            </a:pathLst>
          </a:custGeom>
          <a:solidFill>
            <a:srgbClr val="EEEEEE"/>
          </a:solidFill>
        </p:spPr>
        <p:txBody>
          <a:bodyPr wrap="square" lIns="0" tIns="0" rIns="0" bIns="0" rtlCol="0"/>
          <a:lstStyle/>
          <a:p/>
        </p:txBody>
      </p:sp>
      <p:sp>
        <p:nvSpPr>
          <p:cNvPr id="22" name="object 21"/>
          <p:cNvSpPr/>
          <p:nvPr/>
        </p:nvSpPr>
        <p:spPr>
          <a:xfrm>
            <a:off x="8369736" y="3521075"/>
            <a:ext cx="406400" cy="381000"/>
          </a:xfrm>
          <a:custGeom>
            <a:avLst/>
            <a:gdLst/>
            <a:ahLst/>
            <a:cxnLst/>
            <a:rect l="l" t="t" r="r" b="b"/>
            <a:pathLst>
              <a:path w="406400" h="381000">
                <a:moveTo>
                  <a:pt x="0" y="190499"/>
                </a:moveTo>
                <a:lnTo>
                  <a:pt x="203199" y="0"/>
                </a:lnTo>
                <a:lnTo>
                  <a:pt x="406399" y="190499"/>
                </a:lnTo>
                <a:lnTo>
                  <a:pt x="203199" y="380999"/>
                </a:lnTo>
                <a:lnTo>
                  <a:pt x="0" y="190499"/>
                </a:lnTo>
                <a:close/>
              </a:path>
            </a:pathLst>
          </a:custGeom>
          <a:ln w="28574">
            <a:solidFill>
              <a:srgbClr val="000000"/>
            </a:solidFill>
          </a:ln>
        </p:spPr>
        <p:txBody>
          <a:bodyPr wrap="square" lIns="0" tIns="0" rIns="0" bIns="0" rtlCol="0"/>
          <a:lstStyle/>
          <a:p/>
        </p:txBody>
      </p:sp>
      <p:sp>
        <p:nvSpPr>
          <p:cNvPr id="23" name="object 22"/>
          <p:cNvSpPr/>
          <p:nvPr/>
        </p:nvSpPr>
        <p:spPr>
          <a:xfrm>
            <a:off x="3391338" y="3749675"/>
            <a:ext cx="406400" cy="304800"/>
          </a:xfrm>
          <a:custGeom>
            <a:avLst/>
            <a:gdLst/>
            <a:ahLst/>
            <a:cxnLst/>
            <a:rect l="l" t="t" r="r" b="b"/>
            <a:pathLst>
              <a:path w="406400" h="304800">
                <a:moveTo>
                  <a:pt x="203200" y="0"/>
                </a:moveTo>
                <a:lnTo>
                  <a:pt x="0" y="304800"/>
                </a:lnTo>
                <a:lnTo>
                  <a:pt x="406400" y="304800"/>
                </a:lnTo>
                <a:lnTo>
                  <a:pt x="203200" y="0"/>
                </a:lnTo>
                <a:close/>
              </a:path>
            </a:pathLst>
          </a:custGeom>
          <a:solidFill>
            <a:srgbClr val="EEEEEE"/>
          </a:solidFill>
        </p:spPr>
        <p:txBody>
          <a:bodyPr wrap="square" lIns="0" tIns="0" rIns="0" bIns="0" rtlCol="0"/>
          <a:lstStyle/>
          <a:p/>
        </p:txBody>
      </p:sp>
      <p:sp>
        <p:nvSpPr>
          <p:cNvPr id="24" name="object 23"/>
          <p:cNvSpPr/>
          <p:nvPr/>
        </p:nvSpPr>
        <p:spPr>
          <a:xfrm>
            <a:off x="3391338" y="3749675"/>
            <a:ext cx="406400" cy="304800"/>
          </a:xfrm>
          <a:custGeom>
            <a:avLst/>
            <a:gdLst/>
            <a:ahLst/>
            <a:cxnLst/>
            <a:rect l="l" t="t" r="r" b="b"/>
            <a:pathLst>
              <a:path w="406400" h="304800">
                <a:moveTo>
                  <a:pt x="0" y="304800"/>
                </a:moveTo>
                <a:lnTo>
                  <a:pt x="203199" y="0"/>
                </a:lnTo>
                <a:lnTo>
                  <a:pt x="406399" y="304800"/>
                </a:lnTo>
                <a:lnTo>
                  <a:pt x="0" y="304800"/>
                </a:lnTo>
                <a:close/>
              </a:path>
            </a:pathLst>
          </a:custGeom>
          <a:ln w="28574">
            <a:solidFill>
              <a:srgbClr val="000000"/>
            </a:solidFill>
          </a:ln>
        </p:spPr>
        <p:txBody>
          <a:bodyPr wrap="square" lIns="0" tIns="0" rIns="0" bIns="0" rtlCol="0"/>
          <a:lstStyle/>
          <a:p/>
        </p:txBody>
      </p:sp>
      <p:graphicFrame>
        <p:nvGraphicFramePr>
          <p:cNvPr id="25" name="object 24"/>
          <p:cNvGraphicFramePr>
            <a:graphicFrameLocks noGrp="1"/>
          </p:cNvGraphicFramePr>
          <p:nvPr/>
        </p:nvGraphicFramePr>
        <p:xfrm>
          <a:off x="3580248" y="4054475"/>
          <a:ext cx="1828163" cy="2362197"/>
        </p:xfrm>
        <a:graphic>
          <a:graphicData uri="http://schemas.openxmlformats.org/drawingml/2006/table">
            <a:tbl>
              <a:tblPr firstRow="1" bandRow="1">
                <a:tableStyleId>{2D5ABB26-0587-4C30-8999-92F81FD0307C}</a:tableStyleId>
              </a:tblPr>
              <a:tblGrid>
                <a:gridCol w="203200"/>
                <a:gridCol w="820419"/>
                <a:gridCol w="804544"/>
              </a:tblGrid>
              <a:tr h="382586">
                <a:tc gridSpan="3">
                  <a:txBody>
                    <a:bodyPr/>
                    <a:lstStyle/>
                    <a:p>
                      <a:pPr>
                        <a:lnSpc>
                          <a:spcPct val="100000"/>
                        </a:lnSpc>
                      </a:pPr>
                      <a:endParaRPr sz="1300">
                        <a:latin typeface="Times New Roman" panose="02020603050405020304"/>
                        <a:cs typeface="Times New Roman" panose="02020603050405020304"/>
                      </a:endParaRPr>
                    </a:p>
                  </a:txBody>
                  <a:tcPr marL="0" marR="0" marT="0" marB="0">
                    <a:lnL w="28575">
                      <a:solidFill>
                        <a:srgbClr val="000000"/>
                      </a:solidFill>
                      <a:prstDash val="solid"/>
                    </a:lnL>
                  </a:tcPr>
                </a:tc>
                <a:tc hMerge="1">
                  <a:tcPr marL="0" marR="0" marT="0" marB="0"/>
                </a:tc>
                <a:tc hMerge="1">
                  <a:tcPr marL="0" marR="0" marT="0" marB="0"/>
                </a:tc>
              </a:tr>
              <a:tr h="379413">
                <a:tc gridSpan="2">
                  <a:txBody>
                    <a:bodyPr/>
                    <a:lstStyle/>
                    <a:p>
                      <a:pPr>
                        <a:lnSpc>
                          <a:spcPct val="100000"/>
                        </a:lnSpc>
                      </a:pPr>
                      <a:endParaRPr sz="1300">
                        <a:latin typeface="Times New Roman" panose="02020603050405020304"/>
                        <a:cs typeface="Times New Roman" panose="02020603050405020304"/>
                      </a:endParaRPr>
                    </a:p>
                  </a:txBody>
                  <a:tcPr marL="0" marR="0" marT="0" marB="0">
                    <a:lnR w="28575">
                      <a:solidFill>
                        <a:srgbClr val="000000"/>
                      </a:solidFill>
                      <a:prstDash val="solid"/>
                    </a:lnR>
                  </a:tcPr>
                </a:tc>
                <a:tc hMerge="1">
                  <a:tcPr marL="0" marR="0" marT="0" marB="0"/>
                </a:tc>
                <a:tc>
                  <a:txBody>
                    <a:bodyPr/>
                    <a:lstStyle/>
                    <a:p>
                      <a:pPr>
                        <a:lnSpc>
                          <a:spcPct val="100000"/>
                        </a:lnSpc>
                      </a:pPr>
                      <a:endParaRPr sz="1300">
                        <a:latin typeface="Times New Roman" panose="02020603050405020304"/>
                        <a:cs typeface="Times New Roman" panose="02020603050405020304"/>
                      </a:endParaRPr>
                    </a:p>
                  </a:txBody>
                  <a:tcPr marL="0" marR="0" marT="0" marB="0">
                    <a:lnL w="28575">
                      <a:solidFill>
                        <a:srgbClr val="000000"/>
                      </a:solidFill>
                      <a:prstDash val="solid"/>
                    </a:lnL>
                    <a:lnB w="28575">
                      <a:solidFill>
                        <a:srgbClr val="000000"/>
                      </a:solidFill>
                      <a:prstDash val="solid"/>
                    </a:lnB>
                  </a:tcPr>
                </a:tc>
              </a:tr>
              <a:tr h="304800">
                <a:tc rowSpan="3">
                  <a:txBody>
                    <a:bodyPr/>
                    <a:lstStyle/>
                    <a:p>
                      <a:pPr>
                        <a:lnSpc>
                          <a:spcPct val="100000"/>
                        </a:lnSpc>
                      </a:pPr>
                      <a:endParaRPr sz="1300">
                        <a:latin typeface="Times New Roman" panose="02020603050405020304"/>
                        <a:cs typeface="Times New Roman" panose="02020603050405020304"/>
                      </a:endParaRPr>
                    </a:p>
                  </a:txBody>
                  <a:tcPr marL="0" marR="0" marT="0" marB="0">
                    <a:lnR w="28575">
                      <a:solidFill>
                        <a:srgbClr val="000000"/>
                      </a:solidFill>
                      <a:prstDash val="solid"/>
                    </a:lnR>
                  </a:tcPr>
                </a:tc>
                <a:tc gridSpan="2">
                  <a:txBody>
                    <a:bodyPr/>
                    <a:lstStyle/>
                    <a:p>
                      <a:pPr marL="285115">
                        <a:lnSpc>
                          <a:spcPct val="100000"/>
                        </a:lnSpc>
                        <a:spcBef>
                          <a:spcPts val="385"/>
                        </a:spcBef>
                      </a:pPr>
                      <a:r>
                        <a:rPr sz="1400" b="1" spc="-5" dirty="0">
                          <a:latin typeface="Comic Sans MS" panose="030F0702030302020204"/>
                          <a:cs typeface="Comic Sans MS" panose="030F0702030302020204"/>
                        </a:rPr>
                        <a:t>:out-patient</a:t>
                      </a:r>
                      <a:endParaRPr sz="1400">
                        <a:latin typeface="Comic Sans MS" panose="030F0702030302020204"/>
                        <a:cs typeface="Comic Sans MS" panose="030F0702030302020204"/>
                      </a:endParaRPr>
                    </a:p>
                  </a:txBody>
                  <a:tcPr marL="0" marR="0" marT="48894" marB="0">
                    <a:lnL w="28575">
                      <a:solidFill>
                        <a:srgbClr val="000000"/>
                      </a:solidFill>
                      <a:prstDash val="solid"/>
                    </a:lnL>
                    <a:lnR w="28575">
                      <a:solidFill>
                        <a:srgbClr val="000000"/>
                      </a:solidFill>
                      <a:prstDash val="solid"/>
                    </a:lnR>
                    <a:lnT w="28575">
                      <a:solidFill>
                        <a:srgbClr val="000000"/>
                      </a:solidFill>
                      <a:prstDash val="solid"/>
                    </a:lnT>
                    <a:lnB w="38100">
                      <a:solidFill>
                        <a:srgbClr val="000000"/>
                      </a:solidFill>
                      <a:prstDash val="solid"/>
                    </a:lnB>
                    <a:solidFill>
                      <a:srgbClr val="FCFAD3"/>
                    </a:solidFill>
                  </a:tcPr>
                </a:tc>
                <a:tc hMerge="1">
                  <a:tcPr marL="0" marR="0" marT="0" marB="0"/>
                </a:tc>
              </a:tr>
              <a:tr h="990600">
                <a:tc vMerge="1">
                  <a:tcPr marL="0" marR="0" marT="0" marB="0">
                    <a:lnR w="28575">
                      <a:solidFill>
                        <a:srgbClr val="000000"/>
                      </a:solidFill>
                      <a:prstDash val="solid"/>
                    </a:lnR>
                  </a:tcPr>
                </a:tc>
                <a:tc gridSpan="2">
                  <a:txBody>
                    <a:bodyPr/>
                    <a:lstStyle/>
                    <a:p>
                      <a:pPr marL="91440" marR="588645">
                        <a:lnSpc>
                          <a:spcPts val="1400"/>
                        </a:lnSpc>
                        <a:spcBef>
                          <a:spcPts val="440"/>
                        </a:spcBef>
                      </a:pPr>
                      <a:r>
                        <a:rPr sz="1200" dirty="0">
                          <a:latin typeface="Comic Sans MS" panose="030F0702030302020204"/>
                          <a:cs typeface="Comic Sans MS" panose="030F0702030302020204"/>
                        </a:rPr>
                        <a:t>Last visit  </a:t>
                      </a:r>
                      <a:r>
                        <a:rPr sz="1200" spc="-5" dirty="0">
                          <a:latin typeface="Comic Sans MS" panose="030F0702030302020204"/>
                          <a:cs typeface="Comic Sans MS" panose="030F0702030302020204"/>
                        </a:rPr>
                        <a:t>next visit  </a:t>
                      </a:r>
                      <a:r>
                        <a:rPr sz="1200" dirty="0">
                          <a:latin typeface="Comic Sans MS" panose="030F0702030302020204"/>
                          <a:cs typeface="Comic Sans MS" panose="030F0702030302020204"/>
                        </a:rPr>
                        <a:t>pr</a:t>
                      </a:r>
                      <a:r>
                        <a:rPr sz="1200" spc="-5" dirty="0">
                          <a:latin typeface="Comic Sans MS" panose="030F0702030302020204"/>
                          <a:cs typeface="Comic Sans MS" panose="030F0702030302020204"/>
                        </a:rPr>
                        <a:t>esc</a:t>
                      </a:r>
                      <a:r>
                        <a:rPr sz="1200" dirty="0">
                          <a:latin typeface="Comic Sans MS" panose="030F0702030302020204"/>
                          <a:cs typeface="Comic Sans MS" panose="030F0702030302020204"/>
                        </a:rPr>
                        <a:t>ripti</a:t>
                      </a:r>
                      <a:r>
                        <a:rPr sz="1200" spc="-5" dirty="0">
                          <a:latin typeface="Comic Sans MS" panose="030F0702030302020204"/>
                          <a:cs typeface="Comic Sans MS" panose="030F0702030302020204"/>
                        </a:rPr>
                        <a:t>o</a:t>
                      </a:r>
                      <a:r>
                        <a:rPr sz="1200" dirty="0">
                          <a:latin typeface="Comic Sans MS" panose="030F0702030302020204"/>
                          <a:cs typeface="Comic Sans MS" panose="030F0702030302020204"/>
                        </a:rPr>
                        <a:t>ns</a:t>
                      </a:r>
                      <a:endParaRPr sz="1200">
                        <a:latin typeface="Comic Sans MS" panose="030F0702030302020204"/>
                        <a:cs typeface="Comic Sans MS" panose="030F0702030302020204"/>
                      </a:endParaRPr>
                    </a:p>
                  </a:txBody>
                  <a:tcPr marL="0" marR="0" marT="55879" marB="0">
                    <a:lnL w="28575">
                      <a:solidFill>
                        <a:srgbClr val="000000"/>
                      </a:solidFill>
                      <a:prstDash val="solid"/>
                    </a:lnL>
                    <a:lnR w="28575">
                      <a:solidFill>
                        <a:srgbClr val="000000"/>
                      </a:solidFill>
                      <a:prstDash val="solid"/>
                    </a:lnR>
                    <a:lnT w="38100">
                      <a:solidFill>
                        <a:srgbClr val="000000"/>
                      </a:solidFill>
                      <a:prstDash val="solid"/>
                    </a:lnT>
                    <a:lnB w="38100">
                      <a:solidFill>
                        <a:srgbClr val="000000"/>
                      </a:solidFill>
                      <a:prstDash val="solid"/>
                    </a:lnB>
                    <a:solidFill>
                      <a:srgbClr val="FCFAD3"/>
                    </a:solidFill>
                  </a:tcPr>
                </a:tc>
                <a:tc hMerge="1">
                  <a:tcPr marL="0" marR="0" marT="0" marB="0"/>
                </a:tc>
              </a:tr>
              <a:tr h="304798">
                <a:tc vMerge="1">
                  <a:tcPr marL="0" marR="0" marT="0" marB="0">
                    <a:lnR w="28575">
                      <a:solidFill>
                        <a:srgbClr val="000000"/>
                      </a:solidFill>
                      <a:prstDash val="solid"/>
                    </a:lnR>
                  </a:tcPr>
                </a:tc>
                <a:tc gridSpan="2">
                  <a:txBody>
                    <a:bodyPr/>
                    <a:lstStyle/>
                    <a:p>
                      <a:pPr>
                        <a:lnSpc>
                          <a:spcPct val="100000"/>
                        </a:lnSpc>
                      </a:pPr>
                      <a:endParaRPr sz="1300">
                        <a:latin typeface="Times New Roman" panose="02020603050405020304"/>
                        <a:cs typeface="Times New Roman" panose="02020603050405020304"/>
                      </a:endParaRPr>
                    </a:p>
                  </a:txBody>
                  <a:tcPr marL="0" marR="0" marT="0" marB="0">
                    <a:lnL w="28575">
                      <a:solidFill>
                        <a:srgbClr val="000000"/>
                      </a:solidFill>
                      <a:prstDash val="solid"/>
                    </a:lnL>
                    <a:lnR w="28575">
                      <a:solidFill>
                        <a:srgbClr val="000000"/>
                      </a:solidFill>
                      <a:prstDash val="solid"/>
                    </a:lnR>
                    <a:lnT w="38100">
                      <a:solidFill>
                        <a:srgbClr val="000000"/>
                      </a:solidFill>
                      <a:prstDash val="solid"/>
                    </a:lnT>
                    <a:lnB w="28575">
                      <a:solidFill>
                        <a:srgbClr val="000000"/>
                      </a:solidFill>
                      <a:prstDash val="solid"/>
                    </a:lnB>
                    <a:solidFill>
                      <a:srgbClr val="FCFAD3"/>
                    </a:solidFill>
                  </a:tcPr>
                </a:tc>
                <a:tc hMerge="1">
                  <a:tcPr marL="0" marR="0" marT="0" marB="0"/>
                </a:tc>
              </a:tr>
            </a:tbl>
          </a:graphicData>
        </a:graphic>
      </p:graphicFrame>
      <p:graphicFrame>
        <p:nvGraphicFramePr>
          <p:cNvPr id="26" name="object 25"/>
          <p:cNvGraphicFramePr>
            <a:graphicFrameLocks noGrp="1"/>
          </p:cNvGraphicFramePr>
          <p:nvPr/>
        </p:nvGraphicFramePr>
        <p:xfrm>
          <a:off x="6769538" y="3916364"/>
          <a:ext cx="1788794" cy="2576508"/>
        </p:xfrm>
        <a:graphic>
          <a:graphicData uri="http://schemas.openxmlformats.org/drawingml/2006/table">
            <a:tbl>
              <a:tblPr firstRow="1" bandRow="1">
                <a:tableStyleId>{2D5ABB26-0587-4C30-8999-92F81FD0307C}</a:tableStyleId>
              </a:tblPr>
              <a:tblGrid>
                <a:gridCol w="711200"/>
                <a:gridCol w="711200"/>
                <a:gridCol w="366394"/>
              </a:tblGrid>
              <a:tr h="481011">
                <a:tc gridSpan="3">
                  <a:txBody>
                    <a:bodyPr/>
                    <a:lstStyle/>
                    <a:p>
                      <a:pPr>
                        <a:lnSpc>
                          <a:spcPct val="100000"/>
                        </a:lnSpc>
                      </a:pPr>
                      <a:endParaRPr sz="1300">
                        <a:latin typeface="Times New Roman" panose="02020603050405020304"/>
                        <a:cs typeface="Times New Roman" panose="02020603050405020304"/>
                      </a:endParaRPr>
                    </a:p>
                  </a:txBody>
                  <a:tcPr marL="0" marR="0" marT="0" marB="0">
                    <a:lnR w="28575">
                      <a:solidFill>
                        <a:srgbClr val="000000"/>
                      </a:solidFill>
                      <a:prstDash val="solid"/>
                    </a:lnR>
                  </a:tcPr>
                </a:tc>
                <a:tc hMerge="1">
                  <a:tcPr marL="0" marR="0" marT="0" marB="0"/>
                </a:tc>
                <a:tc hMerge="1">
                  <a:tcPr marL="0" marR="0" marT="0" marB="0"/>
                </a:tc>
              </a:tr>
              <a:tr h="495299">
                <a:tc>
                  <a:txBody>
                    <a:bodyPr/>
                    <a:lstStyle/>
                    <a:p>
                      <a:pPr>
                        <a:lnSpc>
                          <a:spcPct val="100000"/>
                        </a:lnSpc>
                        <a:spcBef>
                          <a:spcPts val="20"/>
                        </a:spcBef>
                      </a:pPr>
                      <a:endParaRPr sz="1600">
                        <a:latin typeface="Times New Roman" panose="02020603050405020304"/>
                        <a:cs typeface="Times New Roman" panose="02020603050405020304"/>
                      </a:endParaRPr>
                    </a:p>
                    <a:p>
                      <a:pPr marL="457835">
                        <a:lnSpc>
                          <a:spcPct val="100000"/>
                        </a:lnSpc>
                      </a:pPr>
                      <a:r>
                        <a:rPr sz="1400" b="1" dirty="0">
                          <a:latin typeface="Arial" panose="020B0604020202020204"/>
                          <a:cs typeface="Arial" panose="020B0604020202020204"/>
                        </a:rPr>
                        <a:t>1</a:t>
                      </a:r>
                      <a:endParaRPr sz="1400">
                        <a:latin typeface="Arial" panose="020B0604020202020204"/>
                        <a:cs typeface="Arial" panose="020B0604020202020204"/>
                      </a:endParaRPr>
                    </a:p>
                  </a:txBody>
                  <a:tcPr marL="0" marR="0" marT="2540" marB="0">
                    <a:lnR w="28575">
                      <a:solidFill>
                        <a:srgbClr val="000000"/>
                      </a:solidFill>
                      <a:prstDash val="solid"/>
                    </a:lnR>
                    <a:lnB w="28575">
                      <a:solidFill>
                        <a:srgbClr val="000000"/>
                      </a:solidFill>
                      <a:prstDash val="solid"/>
                    </a:lnB>
                  </a:tcPr>
                </a:tc>
                <a:tc gridSpan="2">
                  <a:txBody>
                    <a:bodyPr/>
                    <a:lstStyle/>
                    <a:p>
                      <a:pPr>
                        <a:lnSpc>
                          <a:spcPct val="100000"/>
                        </a:lnSpc>
                      </a:pPr>
                      <a:endParaRPr sz="1300">
                        <a:latin typeface="Times New Roman" panose="02020603050405020304"/>
                        <a:cs typeface="Times New Roman" panose="02020603050405020304"/>
                      </a:endParaRPr>
                    </a:p>
                  </a:txBody>
                  <a:tcPr marL="0" marR="0" marT="0" marB="0">
                    <a:lnL w="28575">
                      <a:solidFill>
                        <a:srgbClr val="000000"/>
                      </a:solidFill>
                      <a:prstDash val="solid"/>
                    </a:lnL>
                    <a:lnT w="28575">
                      <a:solidFill>
                        <a:srgbClr val="000000"/>
                      </a:solidFill>
                      <a:prstDash val="solid"/>
                    </a:lnT>
                  </a:tcPr>
                </a:tc>
                <a:tc hMerge="1">
                  <a:tcPr marL="0" marR="0" marT="0" marB="0"/>
                </a:tc>
              </a:tr>
              <a:tr h="304800">
                <a:tc gridSpan="2">
                  <a:txBody>
                    <a:bodyPr/>
                    <a:lstStyle/>
                    <a:p>
                      <a:pPr marL="337185">
                        <a:lnSpc>
                          <a:spcPct val="100000"/>
                        </a:lnSpc>
                        <a:spcBef>
                          <a:spcPts val="385"/>
                        </a:spcBef>
                      </a:pPr>
                      <a:r>
                        <a:rPr sz="1400" b="1" spc="-5" dirty="0">
                          <a:latin typeface="Comic Sans MS" panose="030F0702030302020204"/>
                          <a:cs typeface="Comic Sans MS" panose="030F0702030302020204"/>
                        </a:rPr>
                        <a:t>:heart</a:t>
                      </a:r>
                      <a:endParaRPr sz="1400">
                        <a:latin typeface="Comic Sans MS" panose="030F0702030302020204"/>
                        <a:cs typeface="Comic Sans MS" panose="030F0702030302020204"/>
                      </a:endParaRPr>
                    </a:p>
                  </a:txBody>
                  <a:tcPr marL="0" marR="0" marT="48894" marB="0">
                    <a:lnL w="28575">
                      <a:solidFill>
                        <a:srgbClr val="000000"/>
                      </a:solidFill>
                      <a:prstDash val="solid"/>
                    </a:lnL>
                    <a:lnR w="28575">
                      <a:solidFill>
                        <a:srgbClr val="000000"/>
                      </a:solidFill>
                      <a:prstDash val="solid"/>
                    </a:lnR>
                    <a:lnT w="28575">
                      <a:solidFill>
                        <a:srgbClr val="000000"/>
                      </a:solidFill>
                      <a:prstDash val="solid"/>
                    </a:lnT>
                    <a:lnB w="38100">
                      <a:solidFill>
                        <a:srgbClr val="000000"/>
                      </a:solidFill>
                      <a:prstDash val="solid"/>
                    </a:lnB>
                    <a:solidFill>
                      <a:srgbClr val="FCFAD3"/>
                    </a:solidFill>
                  </a:tcPr>
                </a:tc>
                <a:tc hMerge="1">
                  <a:tcPr marL="0" marR="0" marT="0" marB="0"/>
                </a:tc>
                <a:tc rowSpan="3">
                  <a:txBody>
                    <a:bodyPr/>
                    <a:lstStyle/>
                    <a:p>
                      <a:pPr>
                        <a:lnSpc>
                          <a:spcPct val="100000"/>
                        </a:lnSpc>
                      </a:pPr>
                      <a:endParaRPr sz="1300">
                        <a:latin typeface="Times New Roman" panose="02020603050405020304"/>
                        <a:cs typeface="Times New Roman" panose="02020603050405020304"/>
                      </a:endParaRPr>
                    </a:p>
                  </a:txBody>
                  <a:tcPr marL="0" marR="0" marT="0" marB="0">
                    <a:lnL w="28575">
                      <a:solidFill>
                        <a:srgbClr val="000000"/>
                      </a:solidFill>
                      <a:prstDash val="solid"/>
                    </a:lnL>
                  </a:tcPr>
                </a:tc>
              </a:tr>
              <a:tr h="990599">
                <a:tc gridSpan="2">
                  <a:txBody>
                    <a:bodyPr/>
                    <a:lstStyle/>
                    <a:p>
                      <a:pPr marL="90805" marR="320675">
                        <a:lnSpc>
                          <a:spcPts val="1400"/>
                        </a:lnSpc>
                        <a:spcBef>
                          <a:spcPts val="475"/>
                        </a:spcBef>
                      </a:pPr>
                      <a:r>
                        <a:rPr sz="1200" dirty="0">
                          <a:latin typeface="Comic Sans MS" panose="030F0702030302020204"/>
                          <a:cs typeface="Comic Sans MS" panose="030F0702030302020204"/>
                        </a:rPr>
                        <a:t>Natural/artif.  </a:t>
                      </a:r>
                      <a:r>
                        <a:rPr sz="1200" spc="-5" dirty="0">
                          <a:latin typeface="Comic Sans MS" panose="030F0702030302020204"/>
                          <a:cs typeface="Comic Sans MS" panose="030F0702030302020204"/>
                        </a:rPr>
                        <a:t>Orig/implant  normal</a:t>
                      </a:r>
                      <a:r>
                        <a:rPr sz="1200" spc="-20" dirty="0">
                          <a:latin typeface="Comic Sans MS" panose="030F0702030302020204"/>
                          <a:cs typeface="Comic Sans MS" panose="030F0702030302020204"/>
                        </a:rPr>
                        <a:t> </a:t>
                      </a:r>
                      <a:r>
                        <a:rPr sz="1200" spc="-5" dirty="0">
                          <a:latin typeface="Comic Sans MS" panose="030F0702030302020204"/>
                          <a:cs typeface="Comic Sans MS" panose="030F0702030302020204"/>
                        </a:rPr>
                        <a:t>bpm</a:t>
                      </a:r>
                      <a:endParaRPr sz="1200">
                        <a:latin typeface="Comic Sans MS" panose="030F0702030302020204"/>
                        <a:cs typeface="Comic Sans MS" panose="030F0702030302020204"/>
                      </a:endParaRPr>
                    </a:p>
                  </a:txBody>
                  <a:tcPr marL="0" marR="0" marT="60325" marB="0">
                    <a:lnL w="28575">
                      <a:solidFill>
                        <a:srgbClr val="000000"/>
                      </a:solidFill>
                      <a:prstDash val="solid"/>
                    </a:lnL>
                    <a:lnR w="28575">
                      <a:solidFill>
                        <a:srgbClr val="000000"/>
                      </a:solidFill>
                      <a:prstDash val="solid"/>
                    </a:lnR>
                    <a:lnT w="38100">
                      <a:solidFill>
                        <a:srgbClr val="000000"/>
                      </a:solidFill>
                      <a:prstDash val="solid"/>
                    </a:lnT>
                    <a:lnB w="38100">
                      <a:solidFill>
                        <a:srgbClr val="000000"/>
                      </a:solidFill>
                      <a:prstDash val="solid"/>
                    </a:lnB>
                    <a:solidFill>
                      <a:srgbClr val="FCFAD3"/>
                    </a:solidFill>
                  </a:tcPr>
                </a:tc>
                <a:tc hMerge="1">
                  <a:tcPr marL="0" marR="0" marT="0" marB="0"/>
                </a:tc>
                <a:tc vMerge="1">
                  <a:tcPr marL="0" marR="0" marT="0" marB="0">
                    <a:lnL w="28575">
                      <a:solidFill>
                        <a:srgbClr val="000000"/>
                      </a:solidFill>
                      <a:prstDash val="solid"/>
                    </a:lnL>
                  </a:tcPr>
                </a:tc>
              </a:tr>
              <a:tr h="304799">
                <a:tc gridSpan="2">
                  <a:txBody>
                    <a:bodyPr/>
                    <a:lstStyle/>
                    <a:p>
                      <a:pPr>
                        <a:lnSpc>
                          <a:spcPct val="100000"/>
                        </a:lnSpc>
                      </a:pPr>
                      <a:endParaRPr sz="1300">
                        <a:latin typeface="Times New Roman" panose="02020603050405020304"/>
                        <a:cs typeface="Times New Roman" panose="02020603050405020304"/>
                      </a:endParaRPr>
                    </a:p>
                  </a:txBody>
                  <a:tcPr marL="0" marR="0" marT="0" marB="0">
                    <a:lnL w="28575">
                      <a:solidFill>
                        <a:srgbClr val="000000"/>
                      </a:solidFill>
                      <a:prstDash val="solid"/>
                    </a:lnL>
                    <a:lnR w="28575">
                      <a:solidFill>
                        <a:srgbClr val="000000"/>
                      </a:solidFill>
                      <a:prstDash val="solid"/>
                    </a:lnR>
                    <a:lnT w="38100">
                      <a:solidFill>
                        <a:srgbClr val="000000"/>
                      </a:solidFill>
                      <a:prstDash val="solid"/>
                    </a:lnT>
                    <a:lnB w="28575">
                      <a:solidFill>
                        <a:srgbClr val="000000"/>
                      </a:solidFill>
                      <a:prstDash val="solid"/>
                    </a:lnB>
                    <a:solidFill>
                      <a:srgbClr val="FCFAD3"/>
                    </a:solidFill>
                  </a:tcPr>
                </a:tc>
                <a:tc hMerge="1">
                  <a:tcPr marL="0" marR="0" marT="0" marB="0"/>
                </a:tc>
                <a:tc vMerge="1">
                  <a:tcPr marL="0" marR="0" marT="0" marB="0">
                    <a:lnL w="28575">
                      <a:solidFill>
                        <a:srgbClr val="000000"/>
                      </a:solidFill>
                      <a:prstDash val="solid"/>
                    </a:lnL>
                  </a:tcPr>
                </a:tc>
              </a:tr>
            </a:tbl>
          </a:graphicData>
        </a:graphic>
      </p:graphicFrame>
      <p:graphicFrame>
        <p:nvGraphicFramePr>
          <p:cNvPr id="27" name="object 26"/>
          <p:cNvGraphicFramePr>
            <a:graphicFrameLocks noGrp="1"/>
          </p:cNvGraphicFramePr>
          <p:nvPr/>
        </p:nvGraphicFramePr>
        <p:xfrm>
          <a:off x="9676247" y="3916364"/>
          <a:ext cx="1828800" cy="2576508"/>
        </p:xfrm>
        <a:graphic>
          <a:graphicData uri="http://schemas.openxmlformats.org/drawingml/2006/table">
            <a:tbl>
              <a:tblPr firstRow="1" bandRow="1">
                <a:tableStyleId>{2D5ABB26-0587-4C30-8999-92F81FD0307C}</a:tableStyleId>
              </a:tblPr>
              <a:tblGrid>
                <a:gridCol w="406400"/>
                <a:gridCol w="711200"/>
                <a:gridCol w="711200"/>
              </a:tblGrid>
              <a:tr h="481011">
                <a:tc gridSpan="3">
                  <a:txBody>
                    <a:bodyPr/>
                    <a:lstStyle/>
                    <a:p>
                      <a:pPr>
                        <a:lnSpc>
                          <a:spcPct val="100000"/>
                        </a:lnSpc>
                        <a:spcBef>
                          <a:spcPts val="245"/>
                        </a:spcBef>
                      </a:pPr>
                      <a:r>
                        <a:rPr sz="1400" b="1" dirty="0">
                          <a:latin typeface="Arial" panose="020B0604020202020204"/>
                          <a:cs typeface="Arial" panose="020B0604020202020204"/>
                        </a:rPr>
                        <a:t>0..1</a:t>
                      </a:r>
                      <a:endParaRPr sz="1400">
                        <a:latin typeface="Arial" panose="020B0604020202020204"/>
                        <a:cs typeface="Arial" panose="020B0604020202020204"/>
                      </a:endParaRPr>
                    </a:p>
                  </a:txBody>
                  <a:tcPr marL="0" marR="0" marT="31115" marB="0">
                    <a:lnL w="28575">
                      <a:solidFill>
                        <a:srgbClr val="000000"/>
                      </a:solidFill>
                      <a:prstDash val="solid"/>
                    </a:lnL>
                  </a:tcPr>
                </a:tc>
                <a:tc hMerge="1">
                  <a:tcPr marL="0" marR="0" marT="0" marB="0"/>
                </a:tc>
                <a:tc hMerge="1">
                  <a:tcPr marL="0" marR="0" marT="0" marB="0"/>
                </a:tc>
              </a:tr>
              <a:tr h="495299">
                <a:tc gridSpan="2">
                  <a:txBody>
                    <a:bodyPr/>
                    <a:lstStyle/>
                    <a:p>
                      <a:pPr>
                        <a:lnSpc>
                          <a:spcPct val="100000"/>
                        </a:lnSpc>
                        <a:spcBef>
                          <a:spcPts val="20"/>
                        </a:spcBef>
                      </a:pPr>
                      <a:endParaRPr sz="1600">
                        <a:latin typeface="Times New Roman" panose="02020603050405020304"/>
                        <a:cs typeface="Times New Roman" panose="02020603050405020304"/>
                      </a:endParaRPr>
                    </a:p>
                    <a:p>
                      <a:pPr marL="599440">
                        <a:lnSpc>
                          <a:spcPct val="100000"/>
                        </a:lnSpc>
                      </a:pPr>
                      <a:r>
                        <a:rPr sz="1400" b="1" dirty="0">
                          <a:latin typeface="Arial" panose="020B0604020202020204"/>
                          <a:cs typeface="Arial" panose="020B0604020202020204"/>
                        </a:rPr>
                        <a:t>0..2</a:t>
                      </a:r>
                      <a:endParaRPr sz="1400">
                        <a:latin typeface="Arial" panose="020B0604020202020204"/>
                        <a:cs typeface="Arial" panose="020B0604020202020204"/>
                      </a:endParaRPr>
                    </a:p>
                  </a:txBody>
                  <a:tcPr marL="0" marR="0" marT="2540" marB="0">
                    <a:lnR w="28575">
                      <a:solidFill>
                        <a:srgbClr val="000000"/>
                      </a:solidFill>
                      <a:prstDash val="solid"/>
                    </a:lnR>
                  </a:tcPr>
                </a:tc>
                <a:tc hMerge="1">
                  <a:tcPr marL="0" marR="0" marT="0" marB="0"/>
                </a:tc>
                <a:tc>
                  <a:txBody>
                    <a:bodyPr/>
                    <a:lstStyle/>
                    <a:p>
                      <a:pPr>
                        <a:lnSpc>
                          <a:spcPct val="100000"/>
                        </a:lnSpc>
                      </a:pPr>
                      <a:endParaRPr sz="1300">
                        <a:latin typeface="Times New Roman" panose="02020603050405020304"/>
                        <a:cs typeface="Times New Roman" panose="02020603050405020304"/>
                      </a:endParaRPr>
                    </a:p>
                  </a:txBody>
                  <a:tcPr marL="0" marR="0" marT="0" marB="0">
                    <a:lnL w="28575">
                      <a:solidFill>
                        <a:srgbClr val="000000"/>
                      </a:solidFill>
                      <a:prstDash val="solid"/>
                    </a:lnL>
                    <a:lnB w="28575">
                      <a:solidFill>
                        <a:srgbClr val="000000"/>
                      </a:solidFill>
                      <a:prstDash val="solid"/>
                    </a:lnB>
                  </a:tcPr>
                </a:tc>
              </a:tr>
              <a:tr h="304800">
                <a:tc rowSpan="3">
                  <a:txBody>
                    <a:bodyPr/>
                    <a:lstStyle/>
                    <a:p>
                      <a:pPr>
                        <a:lnSpc>
                          <a:spcPct val="100000"/>
                        </a:lnSpc>
                      </a:pPr>
                      <a:endParaRPr sz="1300">
                        <a:latin typeface="Times New Roman" panose="02020603050405020304"/>
                        <a:cs typeface="Times New Roman" panose="02020603050405020304"/>
                      </a:endParaRPr>
                    </a:p>
                  </a:txBody>
                  <a:tcPr marL="0" marR="0" marT="0" marB="0">
                    <a:lnR w="28575">
                      <a:solidFill>
                        <a:srgbClr val="000000"/>
                      </a:solidFill>
                      <a:prstDash val="solid"/>
                    </a:lnR>
                  </a:tcPr>
                </a:tc>
                <a:tc gridSpan="2">
                  <a:txBody>
                    <a:bodyPr/>
                    <a:lstStyle/>
                    <a:p>
                      <a:pPr marL="379730">
                        <a:lnSpc>
                          <a:spcPct val="100000"/>
                        </a:lnSpc>
                        <a:spcBef>
                          <a:spcPts val="385"/>
                        </a:spcBef>
                      </a:pPr>
                      <a:r>
                        <a:rPr sz="1400" b="1" spc="-5" dirty="0">
                          <a:latin typeface="Comic Sans MS" panose="030F0702030302020204"/>
                          <a:cs typeface="Comic Sans MS" panose="030F0702030302020204"/>
                        </a:rPr>
                        <a:t>:eyes</a:t>
                      </a:r>
                      <a:endParaRPr sz="1400">
                        <a:latin typeface="Comic Sans MS" panose="030F0702030302020204"/>
                        <a:cs typeface="Comic Sans MS" panose="030F0702030302020204"/>
                      </a:endParaRPr>
                    </a:p>
                  </a:txBody>
                  <a:tcPr marL="0" marR="0" marT="48894" marB="0">
                    <a:lnL w="28575">
                      <a:solidFill>
                        <a:srgbClr val="000000"/>
                      </a:solidFill>
                      <a:prstDash val="solid"/>
                    </a:lnL>
                    <a:lnR w="28575">
                      <a:solidFill>
                        <a:srgbClr val="000000"/>
                      </a:solidFill>
                      <a:prstDash val="solid"/>
                    </a:lnR>
                    <a:lnT w="28575">
                      <a:solidFill>
                        <a:srgbClr val="000000"/>
                      </a:solidFill>
                      <a:prstDash val="solid"/>
                    </a:lnT>
                    <a:lnB w="38100">
                      <a:solidFill>
                        <a:srgbClr val="000000"/>
                      </a:solidFill>
                      <a:prstDash val="solid"/>
                    </a:lnB>
                    <a:solidFill>
                      <a:srgbClr val="FCFAD3"/>
                    </a:solidFill>
                  </a:tcPr>
                </a:tc>
                <a:tc hMerge="1">
                  <a:tcPr marL="0" marR="0" marT="0" marB="0"/>
                </a:tc>
              </a:tr>
              <a:tr h="990599">
                <a:tc vMerge="1">
                  <a:tcPr marL="0" marR="0" marT="0" marB="0">
                    <a:lnR w="28575">
                      <a:solidFill>
                        <a:srgbClr val="000000"/>
                      </a:solidFill>
                      <a:prstDash val="solid"/>
                    </a:lnR>
                  </a:tcPr>
                </a:tc>
                <a:tc gridSpan="2">
                  <a:txBody>
                    <a:bodyPr/>
                    <a:lstStyle/>
                    <a:p>
                      <a:pPr marL="90805">
                        <a:lnSpc>
                          <a:spcPts val="1420"/>
                        </a:lnSpc>
                        <a:spcBef>
                          <a:spcPts val="395"/>
                        </a:spcBef>
                      </a:pPr>
                      <a:r>
                        <a:rPr sz="1200" dirty="0">
                          <a:latin typeface="Comic Sans MS" panose="030F0702030302020204"/>
                          <a:cs typeface="Comic Sans MS" panose="030F0702030302020204"/>
                        </a:rPr>
                        <a:t>Natural/artif.</a:t>
                      </a:r>
                      <a:endParaRPr sz="1200">
                        <a:latin typeface="Comic Sans MS" panose="030F0702030302020204"/>
                        <a:cs typeface="Comic Sans MS" panose="030F0702030302020204"/>
                      </a:endParaRPr>
                    </a:p>
                    <a:p>
                      <a:pPr marL="90805" marR="890270">
                        <a:lnSpc>
                          <a:spcPts val="1400"/>
                        </a:lnSpc>
                        <a:spcBef>
                          <a:spcPts val="60"/>
                        </a:spcBef>
                      </a:pPr>
                      <a:r>
                        <a:rPr sz="1200" dirty="0">
                          <a:latin typeface="Comic Sans MS" panose="030F0702030302020204"/>
                          <a:cs typeface="Comic Sans MS" panose="030F0702030302020204"/>
                        </a:rPr>
                        <a:t>Vision  colour</a:t>
                      </a:r>
                      <a:endParaRPr sz="1200">
                        <a:latin typeface="Comic Sans MS" panose="030F0702030302020204"/>
                        <a:cs typeface="Comic Sans MS" panose="030F0702030302020204"/>
                      </a:endParaRPr>
                    </a:p>
                  </a:txBody>
                  <a:tcPr marL="0" marR="0" marT="50165" marB="0">
                    <a:lnL w="28575">
                      <a:solidFill>
                        <a:srgbClr val="000000"/>
                      </a:solidFill>
                      <a:prstDash val="solid"/>
                    </a:lnL>
                    <a:lnR w="28575">
                      <a:solidFill>
                        <a:srgbClr val="000000"/>
                      </a:solidFill>
                      <a:prstDash val="solid"/>
                    </a:lnR>
                    <a:lnT w="38100">
                      <a:solidFill>
                        <a:srgbClr val="000000"/>
                      </a:solidFill>
                      <a:prstDash val="solid"/>
                    </a:lnT>
                    <a:lnB w="38100">
                      <a:solidFill>
                        <a:srgbClr val="000000"/>
                      </a:solidFill>
                      <a:prstDash val="solid"/>
                    </a:lnB>
                  </a:tcPr>
                </a:tc>
                <a:tc hMerge="1">
                  <a:tcPr marL="0" marR="0" marT="0" marB="0"/>
                </a:tc>
              </a:tr>
              <a:tr h="304799">
                <a:tc vMerge="1">
                  <a:tcPr marL="0" marR="0" marT="0" marB="0">
                    <a:lnR w="28575">
                      <a:solidFill>
                        <a:srgbClr val="000000"/>
                      </a:solidFill>
                      <a:prstDash val="solid"/>
                    </a:lnR>
                  </a:tcPr>
                </a:tc>
                <a:tc gridSpan="2">
                  <a:txBody>
                    <a:bodyPr/>
                    <a:lstStyle/>
                    <a:p>
                      <a:pPr>
                        <a:lnSpc>
                          <a:spcPct val="100000"/>
                        </a:lnSpc>
                      </a:pPr>
                      <a:endParaRPr sz="1300" dirty="0">
                        <a:latin typeface="Times New Roman" panose="02020603050405020304"/>
                        <a:cs typeface="Times New Roman" panose="02020603050405020304"/>
                      </a:endParaRPr>
                    </a:p>
                  </a:txBody>
                  <a:tcPr marL="0" marR="0" marT="0" marB="0">
                    <a:lnL w="28575">
                      <a:solidFill>
                        <a:srgbClr val="000000"/>
                      </a:solidFill>
                      <a:prstDash val="solid"/>
                    </a:lnL>
                    <a:lnR w="28575">
                      <a:solidFill>
                        <a:srgbClr val="000000"/>
                      </a:solidFill>
                      <a:prstDash val="solid"/>
                    </a:lnR>
                    <a:lnT w="38100">
                      <a:solidFill>
                        <a:srgbClr val="000000"/>
                      </a:solidFill>
                      <a:prstDash val="solid"/>
                    </a:lnT>
                    <a:lnB w="28575">
                      <a:solidFill>
                        <a:srgbClr val="000000"/>
                      </a:solidFill>
                      <a:prstDash val="solid"/>
                    </a:lnB>
                  </a:tcPr>
                </a:tc>
                <a:tc hMerge="1">
                  <a:tcPr marL="0" marR="0" marT="0" marB="0"/>
                </a:tc>
              </a:tr>
            </a:tbl>
          </a:graphicData>
        </a:graphic>
      </p:graphicFrame>
      <p:sp>
        <p:nvSpPr>
          <p:cNvPr id="28" name="object 27"/>
          <p:cNvSpPr txBox="1"/>
          <p:nvPr/>
        </p:nvSpPr>
        <p:spPr>
          <a:xfrm>
            <a:off x="8550076" y="3935095"/>
            <a:ext cx="830580" cy="924560"/>
          </a:xfrm>
          <a:prstGeom prst="rect">
            <a:avLst/>
          </a:prstGeom>
        </p:spPr>
        <p:txBody>
          <a:bodyPr vert="horz" wrap="square" lIns="0" tIns="12700" rIns="0" bIns="0" rtlCol="0">
            <a:spAutoFit/>
          </a:bodyPr>
          <a:lstStyle/>
          <a:p>
            <a:pPr marL="12700">
              <a:lnSpc>
                <a:spcPct val="100000"/>
              </a:lnSpc>
              <a:spcBef>
                <a:spcPts val="100"/>
              </a:spcBef>
              <a:tabLst>
                <a:tab pos="520065" algn="l"/>
              </a:tabLst>
            </a:pPr>
            <a:r>
              <a:rPr sz="1400" b="1" dirty="0">
                <a:latin typeface="Arial" panose="020B0604020202020204"/>
                <a:cs typeface="Arial" panose="020B0604020202020204"/>
              </a:rPr>
              <a:t>0..1	0..1</a:t>
            </a:r>
            <a:endParaRPr sz="1400">
              <a:latin typeface="Arial" panose="020B0604020202020204"/>
              <a:cs typeface="Arial" panose="020B0604020202020204"/>
            </a:endParaRPr>
          </a:p>
          <a:p>
            <a:pPr>
              <a:lnSpc>
                <a:spcPct val="100000"/>
              </a:lnSpc>
            </a:pPr>
            <a:endParaRPr sz="1400">
              <a:latin typeface="Times New Roman" panose="02020603050405020304"/>
              <a:cs typeface="Times New Roman" panose="02020603050405020304"/>
            </a:endParaRPr>
          </a:p>
          <a:p>
            <a:pPr>
              <a:lnSpc>
                <a:spcPct val="100000"/>
              </a:lnSpc>
              <a:spcBef>
                <a:spcPts val="40"/>
              </a:spcBef>
            </a:pPr>
            <a:endParaRPr sz="1800">
              <a:latin typeface="Times New Roman" panose="02020603050405020304"/>
              <a:cs typeface="Times New Roman" panose="02020603050405020304"/>
            </a:endParaRPr>
          </a:p>
          <a:p>
            <a:pPr marL="12700">
              <a:lnSpc>
                <a:spcPct val="100000"/>
              </a:lnSpc>
            </a:pPr>
            <a:r>
              <a:rPr sz="1400" b="1" dirty="0">
                <a:latin typeface="Arial" panose="020B0604020202020204"/>
                <a:cs typeface="Arial" panose="020B0604020202020204"/>
              </a:rPr>
              <a:t>1..2</a:t>
            </a:r>
            <a:endParaRPr sz="1400">
              <a:latin typeface="Arial" panose="020B0604020202020204"/>
              <a:cs typeface="Arial" panose="020B0604020202020204"/>
            </a:endParaRPr>
          </a:p>
        </p:txBody>
      </p:sp>
      <p:sp>
        <p:nvSpPr>
          <p:cNvPr id="29" name="object 28"/>
          <p:cNvSpPr txBox="1"/>
          <p:nvPr/>
        </p:nvSpPr>
        <p:spPr>
          <a:xfrm>
            <a:off x="1746052" y="1377633"/>
            <a:ext cx="2929890" cy="566420"/>
          </a:xfrm>
          <a:prstGeom prst="rect">
            <a:avLst/>
          </a:prstGeom>
        </p:spPr>
        <p:txBody>
          <a:bodyPr vert="horz" wrap="square" lIns="0" tIns="27939" rIns="0" bIns="0" rtlCol="0">
            <a:spAutoFit/>
          </a:bodyPr>
          <a:lstStyle/>
          <a:p>
            <a:pPr marL="12700" marR="5080" indent="393700">
              <a:lnSpc>
                <a:spcPts val="2100"/>
              </a:lnSpc>
              <a:spcBef>
                <a:spcPts val="220"/>
              </a:spcBef>
            </a:pPr>
            <a:r>
              <a:rPr sz="1800" b="1" spc="-10" dirty="0">
                <a:solidFill>
                  <a:srgbClr val="800000"/>
                </a:solidFill>
                <a:latin typeface="黑体" panose="02010609060101010101" charset="-122"/>
                <a:cs typeface="黑体" panose="02010609060101010101" charset="-122"/>
              </a:rPr>
              <a:t>继 承 </a:t>
            </a:r>
            <a:r>
              <a:rPr sz="1800" b="1" spc="-5" dirty="0">
                <a:latin typeface="Comic Sans MS" panose="030F0702030302020204"/>
                <a:cs typeface="Comic Sans MS" panose="030F0702030302020204"/>
              </a:rPr>
              <a:t>Generalization  (an abstraction</a:t>
            </a:r>
            <a:r>
              <a:rPr sz="1800" b="1" spc="-80" dirty="0">
                <a:latin typeface="Comic Sans MS" panose="030F0702030302020204"/>
                <a:cs typeface="Comic Sans MS" panose="030F0702030302020204"/>
              </a:rPr>
              <a:t> </a:t>
            </a:r>
            <a:r>
              <a:rPr sz="1800" b="1" spc="-5" dirty="0">
                <a:latin typeface="Comic Sans MS" panose="030F0702030302020204"/>
                <a:cs typeface="Comic Sans MS" panose="030F0702030302020204"/>
              </a:rPr>
              <a:t>hierarchy)</a:t>
            </a:r>
            <a:endParaRPr sz="1800">
              <a:latin typeface="Comic Sans MS" panose="030F0702030302020204"/>
              <a:cs typeface="Comic Sans MS" panose="030F0702030302020204"/>
            </a:endParaRPr>
          </a:p>
        </p:txBody>
      </p:sp>
      <p:sp>
        <p:nvSpPr>
          <p:cNvPr id="30" name="object 29"/>
          <p:cNvSpPr txBox="1"/>
          <p:nvPr/>
        </p:nvSpPr>
        <p:spPr>
          <a:xfrm>
            <a:off x="7697590" y="1306195"/>
            <a:ext cx="2809240" cy="566420"/>
          </a:xfrm>
          <a:prstGeom prst="rect">
            <a:avLst/>
          </a:prstGeom>
        </p:spPr>
        <p:txBody>
          <a:bodyPr vert="horz" wrap="square" lIns="0" tIns="12700" rIns="0" bIns="0" rtlCol="0">
            <a:spAutoFit/>
          </a:bodyPr>
          <a:lstStyle/>
          <a:p>
            <a:pPr algn="ctr">
              <a:lnSpc>
                <a:spcPts val="2130"/>
              </a:lnSpc>
              <a:spcBef>
                <a:spcPts val="100"/>
              </a:spcBef>
            </a:pPr>
            <a:r>
              <a:rPr sz="1800" b="1" spc="-10" dirty="0">
                <a:solidFill>
                  <a:srgbClr val="800000"/>
                </a:solidFill>
                <a:latin typeface="黑体" panose="02010609060101010101" charset="-122"/>
                <a:cs typeface="黑体" panose="02010609060101010101" charset="-122"/>
              </a:rPr>
              <a:t>组合</a:t>
            </a:r>
            <a:r>
              <a:rPr sz="1800" b="1" spc="-5" dirty="0">
                <a:latin typeface="Comic Sans MS" panose="030F0702030302020204"/>
                <a:cs typeface="Comic Sans MS" panose="030F0702030302020204"/>
              </a:rPr>
              <a:t>Aggregation</a:t>
            </a:r>
            <a:endParaRPr sz="1800" dirty="0">
              <a:latin typeface="Comic Sans MS" panose="030F0702030302020204"/>
              <a:cs typeface="Comic Sans MS" panose="030F0702030302020204"/>
            </a:endParaRPr>
          </a:p>
          <a:p>
            <a:pPr algn="ctr">
              <a:lnSpc>
                <a:spcPts val="2130"/>
              </a:lnSpc>
            </a:pPr>
            <a:r>
              <a:rPr sz="1800" b="1" dirty="0">
                <a:latin typeface="Comic Sans MS" panose="030F0702030302020204"/>
                <a:cs typeface="Comic Sans MS" panose="030F0702030302020204"/>
              </a:rPr>
              <a:t>(a </a:t>
            </a:r>
            <a:r>
              <a:rPr sz="1800" b="1" spc="-5" dirty="0">
                <a:latin typeface="Comic Sans MS" panose="030F0702030302020204"/>
                <a:cs typeface="Comic Sans MS" panose="030F0702030302020204"/>
              </a:rPr>
              <a:t>partitioning</a:t>
            </a:r>
            <a:r>
              <a:rPr sz="1800" b="1" spc="-95" dirty="0">
                <a:latin typeface="Comic Sans MS" panose="030F0702030302020204"/>
                <a:cs typeface="Comic Sans MS" panose="030F0702030302020204"/>
              </a:rPr>
              <a:t> </a:t>
            </a:r>
            <a:r>
              <a:rPr sz="1800" b="1" spc="-5" dirty="0">
                <a:latin typeface="Comic Sans MS" panose="030F0702030302020204"/>
                <a:cs typeface="Comic Sans MS" panose="030F0702030302020204"/>
              </a:rPr>
              <a:t>hierarchy)</a:t>
            </a:r>
            <a:endParaRPr sz="1800" dirty="0">
              <a:latin typeface="Comic Sans MS" panose="030F0702030302020204"/>
              <a:cs typeface="Comic Sans MS" panose="030F0702030302020204"/>
            </a:endParaRPr>
          </a:p>
        </p:txBody>
      </p:sp>
      <p:cxnSp>
        <p:nvCxnSpPr>
          <p:cNvPr id="31" name="直接连接符 30"/>
          <p:cNvCxnSpPr/>
          <p:nvPr/>
        </p:nvCxnSpPr>
        <p:spPr>
          <a:xfrm>
            <a:off x="3580248" y="4435366"/>
            <a:ext cx="100226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9646467" y="4388070"/>
            <a:ext cx="115816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1460388" y="4882165"/>
            <a:ext cx="78882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7483366" y="4882165"/>
            <a:ext cx="70419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a:off x="1485855" y="811222"/>
            <a:ext cx="3477589" cy="523220"/>
          </a:xfrm>
          <a:prstGeom prst="rect">
            <a:avLst/>
          </a:prstGeom>
          <a:noFill/>
        </p:spPr>
        <p:txBody>
          <a:bodyPr wrap="square" rtlCol="0">
            <a:spAutoFit/>
          </a:bodyPr>
          <a:lstStyle/>
          <a:p>
            <a:pPr algn="ctr"/>
            <a:r>
              <a:rPr lang="zh-CN" altLang="en-US" sz="2800" b="1" dirty="0">
                <a:solidFill>
                  <a:srgbClr val="FF0000"/>
                </a:solidFill>
                <a:latin typeface="微软雅黑" panose="020B0503020204020204" pitchFamily="34" charset="-122"/>
                <a:ea typeface="微软雅黑" panose="020B0503020204020204" pitchFamily="34" charset="-122"/>
              </a:rPr>
              <a:t>一般</a:t>
            </a:r>
            <a:r>
              <a:rPr lang="en-US" altLang="zh-CN" sz="2800" b="1" dirty="0">
                <a:solidFill>
                  <a:srgbClr val="FF0000"/>
                </a:solidFill>
                <a:latin typeface="微软雅黑" panose="020B0503020204020204" pitchFamily="34" charset="-122"/>
                <a:ea typeface="微软雅黑" panose="020B0503020204020204" pitchFamily="34" charset="-122"/>
              </a:rPr>
              <a:t>-</a:t>
            </a:r>
            <a:r>
              <a:rPr lang="zh-CN" altLang="en-US" sz="2800" b="1" dirty="0">
                <a:solidFill>
                  <a:srgbClr val="FF0000"/>
                </a:solidFill>
                <a:latin typeface="微软雅黑" panose="020B0503020204020204" pitchFamily="34" charset="-122"/>
                <a:ea typeface="微软雅黑" panose="020B0503020204020204" pitchFamily="34" charset="-122"/>
              </a:rPr>
              <a:t>特殊结构</a:t>
            </a:r>
            <a:endParaRPr lang="zh-CN" altLang="en-US" sz="2800" b="1" dirty="0">
              <a:solidFill>
                <a:srgbClr val="FF0000"/>
              </a:solidFill>
              <a:latin typeface="微软雅黑" panose="020B0503020204020204" pitchFamily="34" charset="-122"/>
              <a:ea typeface="微软雅黑" panose="020B0503020204020204" pitchFamily="34" charset="-122"/>
            </a:endParaRPr>
          </a:p>
        </p:txBody>
      </p:sp>
      <p:sp>
        <p:nvSpPr>
          <p:cNvPr id="40" name="文本框 39"/>
          <p:cNvSpPr txBox="1"/>
          <p:nvPr/>
        </p:nvSpPr>
        <p:spPr>
          <a:xfrm>
            <a:off x="7235563" y="805786"/>
            <a:ext cx="3477589" cy="523220"/>
          </a:xfrm>
          <a:prstGeom prst="rect">
            <a:avLst/>
          </a:prstGeom>
          <a:noFill/>
        </p:spPr>
        <p:txBody>
          <a:bodyPr wrap="square" rtlCol="0">
            <a:spAutoFit/>
          </a:bodyPr>
          <a:lstStyle/>
          <a:p>
            <a:pPr algn="ctr"/>
            <a:r>
              <a:rPr lang="zh-CN" altLang="en-US" sz="2800" b="1" dirty="0">
                <a:solidFill>
                  <a:srgbClr val="FF0000"/>
                </a:solidFill>
                <a:latin typeface="微软雅黑" panose="020B0503020204020204" pitchFamily="34" charset="-122"/>
                <a:ea typeface="微软雅黑" panose="020B0503020204020204" pitchFamily="34" charset="-122"/>
              </a:rPr>
              <a:t>整体</a:t>
            </a:r>
            <a:r>
              <a:rPr lang="en-US" altLang="zh-CN" sz="2800" b="1" dirty="0">
                <a:solidFill>
                  <a:srgbClr val="FF0000"/>
                </a:solidFill>
                <a:latin typeface="微软雅黑" panose="020B0503020204020204" pitchFamily="34" charset="-122"/>
                <a:ea typeface="微软雅黑" panose="020B0503020204020204" pitchFamily="34" charset="-122"/>
              </a:rPr>
              <a:t>-</a:t>
            </a:r>
            <a:r>
              <a:rPr lang="zh-CN" altLang="en-US" sz="2800" b="1" dirty="0">
                <a:solidFill>
                  <a:srgbClr val="FF0000"/>
                </a:solidFill>
                <a:latin typeface="微软雅黑" panose="020B0503020204020204" pitchFamily="34" charset="-122"/>
                <a:ea typeface="微软雅黑" panose="020B0503020204020204" pitchFamily="34" charset="-122"/>
              </a:rPr>
              <a:t>部分结构</a:t>
            </a:r>
            <a:endParaRPr lang="zh-CN" altLang="en-US" sz="2800" b="1" dirty="0">
              <a:solidFill>
                <a:srgbClr val="FF0000"/>
              </a:solidFill>
              <a:latin typeface="微软雅黑" panose="020B0503020204020204" pitchFamily="34" charset="-122"/>
              <a:ea typeface="微软雅黑" panose="020B0503020204020204" pitchFamily="34" charset="-122"/>
            </a:endParaRPr>
          </a:p>
        </p:txBody>
      </p:sp>
      <p:sp>
        <p:nvSpPr>
          <p:cNvPr id="38" name="文本框 37"/>
          <p:cNvSpPr txBox="1"/>
          <p:nvPr/>
        </p:nvSpPr>
        <p:spPr>
          <a:xfrm>
            <a:off x="5194186" y="2091267"/>
            <a:ext cx="2289180" cy="1569660"/>
          </a:xfrm>
          <a:prstGeom prst="rect">
            <a:avLst/>
          </a:prstGeom>
          <a:noFill/>
        </p:spPr>
        <p:txBody>
          <a:bodyPr wrap="square" rtlCol="0">
            <a:spAutoFit/>
          </a:bodyPr>
          <a:lstStyle/>
          <a:p>
            <a:r>
              <a:rPr lang="zh-CN" altLang="en-US" sz="2400" b="1" dirty="0">
                <a:solidFill>
                  <a:schemeClr val="accent1">
                    <a:lumMod val="50000"/>
                  </a:schemeClr>
                </a:solidFill>
                <a:latin typeface="微软雅黑" panose="020B0503020204020204" pitchFamily="34" charset="-122"/>
                <a:ea typeface="微软雅黑" panose="020B0503020204020204" pitchFamily="34" charset="-122"/>
              </a:rPr>
              <a:t>对象建模原则：</a:t>
            </a:r>
            <a:endParaRPr lang="en-US" altLang="zh-CN" sz="2400" b="1" dirty="0">
              <a:solidFill>
                <a:schemeClr val="accent1">
                  <a:lumMod val="50000"/>
                </a:schemeClr>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2400" b="1" dirty="0">
                <a:solidFill>
                  <a:schemeClr val="accent1">
                    <a:lumMod val="50000"/>
                  </a:schemeClr>
                </a:solidFill>
                <a:latin typeface="微软雅黑" panose="020B0503020204020204" pitchFamily="34" charset="-122"/>
                <a:ea typeface="微软雅黑" panose="020B0503020204020204" pitchFamily="34" charset="-122"/>
              </a:rPr>
              <a:t>抽象</a:t>
            </a:r>
            <a:endParaRPr lang="en-US" altLang="zh-CN" sz="2400" b="1" dirty="0">
              <a:solidFill>
                <a:schemeClr val="accent1">
                  <a:lumMod val="50000"/>
                </a:schemeClr>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2400" b="1" dirty="0">
                <a:solidFill>
                  <a:schemeClr val="accent1">
                    <a:lumMod val="50000"/>
                  </a:schemeClr>
                </a:solidFill>
                <a:latin typeface="微软雅黑" panose="020B0503020204020204" pitchFamily="34" charset="-122"/>
                <a:ea typeface="微软雅黑" panose="020B0503020204020204" pitchFamily="34" charset="-122"/>
              </a:rPr>
              <a:t>分解</a:t>
            </a:r>
            <a:endParaRPr lang="en-US" altLang="zh-CN" sz="2400" b="1" dirty="0">
              <a:solidFill>
                <a:schemeClr val="accent1">
                  <a:lumMod val="50000"/>
                </a:schemeClr>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2400" b="1" dirty="0">
                <a:solidFill>
                  <a:schemeClr val="accent1">
                    <a:lumMod val="50000"/>
                  </a:schemeClr>
                </a:solidFill>
                <a:latin typeface="微软雅黑" panose="020B0503020204020204" pitchFamily="34" charset="-122"/>
                <a:ea typeface="微软雅黑" panose="020B0503020204020204" pitchFamily="34" charset="-122"/>
              </a:rPr>
              <a:t>投影</a:t>
            </a:r>
            <a:endParaRPr lang="en-US" altLang="zh-CN" sz="2400" b="1" dirty="0">
              <a:solidFill>
                <a:schemeClr val="accent1">
                  <a:lumMod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5797"/>
    </mc:Choice>
    <mc:Fallback>
      <p:transition spd="slow" advTm="35797"/>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331310"/>
            <a:ext cx="9144000" cy="2387600"/>
          </a:xfrm>
        </p:spPr>
        <p:txBody>
          <a:bodyPr>
            <a:normAutofit/>
          </a:bodyPr>
          <a:lstStyle/>
          <a:p>
            <a:r>
              <a:rPr lang="zh-CN" altLang="en-US" dirty="0"/>
              <a:t>如何识别类</a:t>
            </a:r>
            <a:br>
              <a:rPr lang="en-US" altLang="zh-CN" dirty="0"/>
            </a:br>
            <a:r>
              <a:rPr lang="en-US" altLang="zh-CN" dirty="0"/>
              <a:t>--CRC</a:t>
            </a:r>
            <a:r>
              <a:rPr lang="zh-CN" altLang="en-US" dirty="0"/>
              <a:t>卡片分拣法</a:t>
            </a:r>
            <a:endParaRPr lang="zh-CN" altLang="en-US" dirty="0"/>
          </a:p>
        </p:txBody>
      </p:sp>
      <p:sp>
        <p:nvSpPr>
          <p:cNvPr id="4" name="副标题 2"/>
          <p:cNvSpPr>
            <a:spLocks noGrp="1"/>
          </p:cNvSpPr>
          <p:nvPr>
            <p:ph type="subTitle" idx="1"/>
          </p:nvPr>
        </p:nvSpPr>
        <p:spPr>
          <a:xfrm>
            <a:off x="1524000" y="4211637"/>
            <a:ext cx="9144000" cy="2130577"/>
          </a:xfrm>
        </p:spPr>
        <p:txBody>
          <a:bodyPr anchor="ctr">
            <a:normAutofit fontScale="92500" lnSpcReduction="20000"/>
          </a:bodyPr>
          <a:lstStyle/>
          <a:p>
            <a:r>
              <a:rPr lang="zh-CN" altLang="en-US"/>
              <a:t>李起成</a:t>
            </a:r>
            <a:endParaRPr lang="en-US" altLang="zh-CN" dirty="0"/>
          </a:p>
          <a:p>
            <a:r>
              <a:rPr lang="en-US" altLang="zh-CN" dirty="0"/>
              <a:t>College of</a:t>
            </a:r>
            <a:r>
              <a:rPr lang="zh-CN" altLang="en-US" dirty="0"/>
              <a:t> </a:t>
            </a:r>
            <a:r>
              <a:rPr lang="en-US" altLang="zh-CN" dirty="0"/>
              <a:t>Computer</a:t>
            </a:r>
            <a:r>
              <a:rPr lang="zh-CN" altLang="en-US" dirty="0"/>
              <a:t> </a:t>
            </a:r>
            <a:r>
              <a:rPr lang="en-US" altLang="zh-CN" dirty="0"/>
              <a:t>Science</a:t>
            </a:r>
            <a:endParaRPr lang="en-US" altLang="zh-CN" dirty="0"/>
          </a:p>
          <a:p>
            <a:r>
              <a:rPr lang="en-US" altLang="zh-CN" dirty="0"/>
              <a:t>Nankai</a:t>
            </a:r>
            <a:r>
              <a:rPr lang="zh-CN" altLang="en-US" dirty="0"/>
              <a:t> </a:t>
            </a:r>
            <a:r>
              <a:rPr lang="en-US" altLang="zh-CN" dirty="0"/>
              <a:t>University</a:t>
            </a:r>
            <a:endParaRPr lang="en-US" altLang="zh-CN" dirty="0"/>
          </a:p>
          <a:p>
            <a:endParaRPr lang="en-US" altLang="zh-CN" dirty="0"/>
          </a:p>
          <a:p>
            <a:r>
              <a:rPr lang="en-US" altLang="zh-CN" i="1" dirty="0"/>
              <a:t>Slides adapted from materials by Prof. </a:t>
            </a:r>
            <a:r>
              <a:rPr lang="en-US" altLang="zh-CN" i="1" dirty="0" err="1"/>
              <a:t>Qiang</a:t>
            </a:r>
            <a:r>
              <a:rPr lang="en-US" altLang="zh-CN" i="1" dirty="0"/>
              <a:t> Liu (Tsing Hua University) and </a:t>
            </a:r>
            <a:r>
              <a:rPr lang="en-US" altLang="en-US" i="1" dirty="0"/>
              <a:t>Ivan </a:t>
            </a:r>
            <a:r>
              <a:rPr lang="en-US" altLang="en-US" i="1" dirty="0" err="1"/>
              <a:t>Marsic</a:t>
            </a:r>
            <a:r>
              <a:rPr lang="en-US" altLang="en-US" i="1" dirty="0"/>
              <a:t> (</a:t>
            </a:r>
            <a:r>
              <a:rPr lang="en-US" altLang="en-US" i="1" dirty="0" err="1"/>
              <a:t>Rugers</a:t>
            </a:r>
            <a:r>
              <a:rPr lang="en-US" altLang="en-US" i="1" dirty="0"/>
              <a:t> University)</a:t>
            </a:r>
            <a:endParaRPr lang="zh-CN" altLang="en-US" i="1" dirty="0"/>
          </a:p>
        </p:txBody>
      </p:sp>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172729" y="131261"/>
            <a:ext cx="1846542" cy="180037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999" advTm="21294"/>
    </mc:Choice>
    <mc:Fallback>
      <p:transition spd="slow" advTm="21294"/>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4D2AB8B-5816-41F2-8B4B-CA5C3E4E6A65}" type="slidenum">
              <a:rPr lang="zh-CN" altLang="en-US" smtClean="0"/>
            </a:fld>
            <a:endParaRPr lang="zh-CN" altLang="en-US"/>
          </a:p>
        </p:txBody>
      </p:sp>
      <p:pic>
        <p:nvPicPr>
          <p:cNvPr id="3" name="图片 2"/>
          <p:cNvPicPr>
            <a:picLocks noChangeAspect="1"/>
          </p:cNvPicPr>
          <p:nvPr/>
        </p:nvPicPr>
        <p:blipFill>
          <a:blip r:embed="rId1"/>
          <a:stretch>
            <a:fillRect/>
          </a:stretch>
        </p:blipFill>
        <p:spPr>
          <a:xfrm>
            <a:off x="2861259" y="0"/>
            <a:ext cx="6469481" cy="6495393"/>
          </a:xfrm>
          <a:prstGeom prst="rect">
            <a:avLst/>
          </a:prstGeom>
        </p:spPr>
      </p:pic>
      <p:sp>
        <p:nvSpPr>
          <p:cNvPr id="5" name="矩形 4"/>
          <p:cNvSpPr/>
          <p:nvPr/>
        </p:nvSpPr>
        <p:spPr>
          <a:xfrm>
            <a:off x="450297" y="119775"/>
            <a:ext cx="2031325" cy="646331"/>
          </a:xfrm>
          <a:prstGeom prst="rect">
            <a:avLst/>
          </a:prstGeom>
        </p:spPr>
        <p:txBody>
          <a:bodyPr wrap="none">
            <a:spAutoFit/>
          </a:bodyPr>
          <a:lstStyle/>
          <a:p>
            <a:r>
              <a:rPr lang="zh-CN" altLang="en-US" sz="3600" dirty="0">
                <a:solidFill>
                  <a:prstClr val="black"/>
                </a:solidFill>
                <a:latin typeface="微软雅黑" panose="020B0503020204020204" pitchFamily="34" charset="-122"/>
                <a:ea typeface="微软雅黑" panose="020B0503020204020204" pitchFamily="34" charset="-122"/>
                <a:cs typeface="+mj-cs"/>
              </a:rPr>
              <a:t>用例描述</a:t>
            </a:r>
            <a:endParaRPr lang="zh-CN" altLang="en-US" sz="3600" dirty="0"/>
          </a:p>
        </p:txBody>
      </p:sp>
    </p:spTree>
  </p:cSld>
  <p:clrMapOvr>
    <a:masterClrMapping/>
  </p:clrMapOvr>
  <mc:AlternateContent xmlns:mc="http://schemas.openxmlformats.org/markup-compatibility/2006">
    <mc:Choice xmlns:p14="http://schemas.microsoft.com/office/powerpoint/2010/main" Requires="p14">
      <p:transition spd="slow" p14:dur="2000" advTm="19531"/>
    </mc:Choice>
    <mc:Fallback>
      <p:transition spd="slow" advTm="19531"/>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识别类的方法</a:t>
            </a:r>
            <a:endParaRPr lang="zh-CN" altLang="en-US" dirty="0"/>
          </a:p>
        </p:txBody>
      </p:sp>
      <p:sp>
        <p:nvSpPr>
          <p:cNvPr id="3" name="内容占位符 2"/>
          <p:cNvSpPr>
            <a:spLocks noGrp="1"/>
          </p:cNvSpPr>
          <p:nvPr>
            <p:ph idx="1"/>
          </p:nvPr>
        </p:nvSpPr>
        <p:spPr/>
        <p:txBody>
          <a:bodyPr/>
          <a:lstStyle/>
          <a:p>
            <a:pPr marL="355600" indent="-342900">
              <a:lnSpc>
                <a:spcPct val="100000"/>
              </a:lnSpc>
              <a:spcBef>
                <a:spcPts val="1500"/>
              </a:spcBef>
              <a:buFont typeface="Arial" panose="020B0604020202020204"/>
              <a:buChar char="•"/>
              <a:tabLst>
                <a:tab pos="354965" algn="l"/>
                <a:tab pos="355600" algn="l"/>
              </a:tabLst>
            </a:pPr>
            <a:r>
              <a:rPr lang="zh-CN" altLang="en-US" dirty="0">
                <a:latin typeface="黑体" panose="02010609060101010101" charset="-122"/>
                <a:cs typeface="黑体" panose="02010609060101010101" charset="-122"/>
              </a:rPr>
              <a:t>根据</a:t>
            </a:r>
            <a:r>
              <a:rPr lang="zh-CN" altLang="en-US" dirty="0">
                <a:solidFill>
                  <a:srgbClr val="800000"/>
                </a:solidFill>
                <a:latin typeface="黑体" panose="02010609060101010101" charset="-122"/>
                <a:cs typeface="黑体" panose="02010609060101010101" charset="-122"/>
              </a:rPr>
              <a:t>用例描述</a:t>
            </a:r>
            <a:r>
              <a:rPr lang="zh-CN" altLang="en-US" dirty="0">
                <a:latin typeface="黑体" panose="02010609060101010101" charset="-122"/>
                <a:cs typeface="黑体" panose="02010609060101010101" charset="-122"/>
              </a:rPr>
              <a:t>中的名词确定类的候选者</a:t>
            </a:r>
            <a:endParaRPr lang="zh-CN" altLang="en-US" dirty="0">
              <a:latin typeface="黑体" panose="02010609060101010101" charset="-122"/>
              <a:cs typeface="黑体" panose="02010609060101010101" charset="-122"/>
            </a:endParaRPr>
          </a:p>
          <a:p>
            <a:pPr marL="355600" indent="-342900">
              <a:lnSpc>
                <a:spcPct val="100000"/>
              </a:lnSpc>
              <a:spcBef>
                <a:spcPts val="1400"/>
              </a:spcBef>
              <a:buFont typeface="Arial" panose="020B0604020202020204"/>
              <a:buChar char="•"/>
              <a:tabLst>
                <a:tab pos="354965" algn="l"/>
                <a:tab pos="355600" algn="l"/>
              </a:tabLst>
            </a:pPr>
            <a:r>
              <a:rPr lang="zh-CN" altLang="en-US" dirty="0">
                <a:latin typeface="黑体" panose="02010609060101010101" charset="-122"/>
                <a:cs typeface="黑体" panose="02010609060101010101" charset="-122"/>
              </a:rPr>
              <a:t>使用</a:t>
            </a:r>
            <a:r>
              <a:rPr lang="en-US" altLang="zh-CN" dirty="0">
                <a:solidFill>
                  <a:srgbClr val="800000"/>
                </a:solidFill>
                <a:latin typeface="黑体" panose="02010609060101010101" charset="-122"/>
                <a:cs typeface="黑体" panose="02010609060101010101" charset="-122"/>
              </a:rPr>
              <a:t>CRC</a:t>
            </a:r>
            <a:r>
              <a:rPr lang="zh-CN" altLang="en-US" dirty="0">
                <a:solidFill>
                  <a:srgbClr val="800000"/>
                </a:solidFill>
                <a:latin typeface="黑体" panose="02010609060101010101" charset="-122"/>
                <a:cs typeface="黑体" panose="02010609060101010101" charset="-122"/>
              </a:rPr>
              <a:t>分析法</a:t>
            </a:r>
            <a:r>
              <a:rPr lang="zh-CN" altLang="en-US" dirty="0">
                <a:latin typeface="黑体" panose="02010609060101010101" charset="-122"/>
                <a:cs typeface="黑体" panose="02010609060101010101" charset="-122"/>
              </a:rPr>
              <a:t>寻找类。</a:t>
            </a:r>
            <a:endParaRPr lang="zh-CN" altLang="en-US" dirty="0">
              <a:latin typeface="黑体" panose="02010609060101010101" charset="-122"/>
              <a:cs typeface="黑体" panose="02010609060101010101" charset="-122"/>
            </a:endParaRPr>
          </a:p>
          <a:p>
            <a:pPr marL="469900" marR="5080">
              <a:lnSpc>
                <a:spcPct val="120000"/>
              </a:lnSpc>
              <a:spcBef>
                <a:spcPts val="520"/>
              </a:spcBef>
            </a:pPr>
            <a:r>
              <a:rPr lang="en-US" altLang="zh-CN" sz="2400" dirty="0">
                <a:latin typeface="黑体" panose="02010609060101010101" charset="-122"/>
                <a:cs typeface="黑体" panose="02010609060101010101" charset="-122"/>
              </a:rPr>
              <a:t>CRC</a:t>
            </a:r>
            <a:r>
              <a:rPr lang="zh-CN" altLang="en-US" sz="2400" dirty="0">
                <a:latin typeface="黑体" panose="02010609060101010101" charset="-122"/>
                <a:cs typeface="黑体" panose="02010609060101010101" charset="-122"/>
              </a:rPr>
              <a:t>是类（</a:t>
            </a:r>
            <a:r>
              <a:rPr lang="en-US" altLang="zh-CN" sz="2400" dirty="0">
                <a:latin typeface="黑体" panose="02010609060101010101" charset="-122"/>
                <a:cs typeface="黑体" panose="02010609060101010101" charset="-122"/>
              </a:rPr>
              <a:t>Class</a:t>
            </a:r>
            <a:r>
              <a:rPr lang="zh-CN" altLang="en-US" sz="2400" dirty="0">
                <a:latin typeface="黑体" panose="02010609060101010101" charset="-122"/>
                <a:cs typeface="黑体" panose="02010609060101010101" charset="-122"/>
              </a:rPr>
              <a:t>）、责任（</a:t>
            </a:r>
            <a:r>
              <a:rPr lang="en-US" altLang="zh-CN" sz="2400" dirty="0">
                <a:latin typeface="黑体" panose="02010609060101010101" charset="-122"/>
                <a:cs typeface="黑体" panose="02010609060101010101" charset="-122"/>
              </a:rPr>
              <a:t>Responsibility</a:t>
            </a:r>
            <a:r>
              <a:rPr lang="zh-CN" altLang="en-US" sz="2400" dirty="0">
                <a:latin typeface="黑体" panose="02010609060101010101" charset="-122"/>
                <a:cs typeface="黑体" panose="02010609060101010101" charset="-122"/>
              </a:rPr>
              <a:t>）和协作（</a:t>
            </a:r>
            <a:r>
              <a:rPr lang="en-US" altLang="zh-CN" sz="2400" dirty="0">
                <a:latin typeface="黑体" panose="02010609060101010101" charset="-122"/>
                <a:cs typeface="黑体" panose="02010609060101010101" charset="-122"/>
              </a:rPr>
              <a:t>Collaboration</a:t>
            </a:r>
            <a:r>
              <a:rPr lang="zh-CN" altLang="en-US" sz="2400" dirty="0">
                <a:latin typeface="黑体" panose="02010609060101010101" charset="-122"/>
                <a:cs typeface="黑体" panose="02010609060101010101" charset="-122"/>
              </a:rPr>
              <a:t>）的简称，</a:t>
            </a:r>
            <a:r>
              <a:rPr lang="en-US" altLang="zh-CN" sz="2400" dirty="0">
                <a:latin typeface="黑体" panose="02010609060101010101" charset="-122"/>
                <a:cs typeface="黑体" panose="02010609060101010101" charset="-122"/>
              </a:rPr>
              <a:t>CRC</a:t>
            </a:r>
            <a:r>
              <a:rPr lang="zh-CN" altLang="en-US" sz="2400" dirty="0">
                <a:latin typeface="黑体" panose="02010609060101010101" charset="-122"/>
                <a:cs typeface="黑体" panose="02010609060101010101" charset="-122"/>
              </a:rPr>
              <a:t>分析法根据类所要扮演的职责来确定类</a:t>
            </a:r>
            <a:endParaRPr lang="zh-CN" altLang="en-US" sz="2400" dirty="0">
              <a:latin typeface="黑体" panose="02010609060101010101" charset="-122"/>
              <a:cs typeface="黑体" panose="02010609060101010101" charset="-122"/>
            </a:endParaRPr>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51669"/>
    </mc:Choice>
    <mc:Fallback>
      <p:transition spd="slow" advTm="51669"/>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solidFill>
                  <a:srgbClr val="0563C1"/>
                </a:solidFill>
                <a:latin typeface="Calibri" panose="020F0502020204030204"/>
                <a:cs typeface="Calibri" panose="020F0502020204030204"/>
              </a:rPr>
              <a:t>CRC</a:t>
            </a:r>
            <a:r>
              <a:rPr lang="zh-CN" altLang="en-US" b="1" spc="-15" dirty="0">
                <a:solidFill>
                  <a:srgbClr val="0079CD"/>
                </a:solidFill>
                <a:latin typeface="黑体" panose="02010609060101010101" charset="-122"/>
                <a:cs typeface="黑体" panose="02010609060101010101" charset="-122"/>
              </a:rPr>
              <a:t>卡片</a:t>
            </a:r>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grpSp>
        <p:nvGrpSpPr>
          <p:cNvPr id="11" name="组合 10"/>
          <p:cNvGrpSpPr/>
          <p:nvPr/>
        </p:nvGrpSpPr>
        <p:grpSpPr>
          <a:xfrm>
            <a:off x="1305379" y="1428755"/>
            <a:ext cx="9581242" cy="5011570"/>
            <a:chOff x="979487" y="952501"/>
            <a:chExt cx="9610090" cy="4997468"/>
          </a:xfrm>
        </p:grpSpPr>
        <p:sp>
          <p:nvSpPr>
            <p:cNvPr id="5" name="object 4"/>
            <p:cNvSpPr/>
            <p:nvPr/>
          </p:nvSpPr>
          <p:spPr>
            <a:xfrm>
              <a:off x="1008062" y="981076"/>
              <a:ext cx="9552431" cy="4930432"/>
            </a:xfrm>
            <a:prstGeom prst="rect">
              <a:avLst/>
            </a:prstGeom>
            <a:blipFill>
              <a:blip r:embed="rId1" cstate="print"/>
              <a:stretch>
                <a:fillRect/>
              </a:stretch>
            </a:blipFill>
          </p:spPr>
          <p:txBody>
            <a:bodyPr wrap="square" lIns="0" tIns="0" rIns="0" bIns="0" rtlCol="0"/>
            <a:lstStyle/>
            <a:p/>
          </p:txBody>
        </p:sp>
        <p:sp>
          <p:nvSpPr>
            <p:cNvPr id="6" name="object 5"/>
            <p:cNvSpPr/>
            <p:nvPr/>
          </p:nvSpPr>
          <p:spPr>
            <a:xfrm>
              <a:off x="979487" y="952501"/>
              <a:ext cx="9610090" cy="4987925"/>
            </a:xfrm>
            <a:custGeom>
              <a:avLst/>
              <a:gdLst/>
              <a:ahLst/>
              <a:cxnLst/>
              <a:rect l="l" t="t" r="r" b="b"/>
              <a:pathLst>
                <a:path w="9610090" h="4987925">
                  <a:moveTo>
                    <a:pt x="0" y="0"/>
                  </a:moveTo>
                  <a:lnTo>
                    <a:pt x="9609531" y="0"/>
                  </a:lnTo>
                  <a:lnTo>
                    <a:pt x="9609531" y="4987526"/>
                  </a:lnTo>
                  <a:lnTo>
                    <a:pt x="0" y="4987526"/>
                  </a:lnTo>
                  <a:lnTo>
                    <a:pt x="0" y="0"/>
                  </a:lnTo>
                  <a:close/>
                </a:path>
              </a:pathLst>
            </a:custGeom>
            <a:ln w="57149">
              <a:solidFill>
                <a:srgbClr val="659244"/>
              </a:solidFill>
            </a:ln>
          </p:spPr>
          <p:txBody>
            <a:bodyPr wrap="square" lIns="0" tIns="0" rIns="0" bIns="0" rtlCol="0"/>
            <a:lstStyle/>
            <a:p/>
          </p:txBody>
        </p:sp>
        <p:sp>
          <p:nvSpPr>
            <p:cNvPr id="7" name="object 6"/>
            <p:cNvSpPr/>
            <p:nvPr/>
          </p:nvSpPr>
          <p:spPr>
            <a:xfrm>
              <a:off x="6240014" y="1988840"/>
              <a:ext cx="23495" cy="3961129"/>
            </a:xfrm>
            <a:custGeom>
              <a:avLst/>
              <a:gdLst/>
              <a:ahLst/>
              <a:cxnLst/>
              <a:rect l="l" t="t" r="r" b="b"/>
              <a:pathLst>
                <a:path w="23495" h="3961129">
                  <a:moveTo>
                    <a:pt x="23043" y="0"/>
                  </a:moveTo>
                  <a:lnTo>
                    <a:pt x="0" y="3961109"/>
                  </a:lnTo>
                </a:path>
              </a:pathLst>
            </a:custGeom>
            <a:ln w="57149">
              <a:solidFill>
                <a:srgbClr val="659244"/>
              </a:solidFill>
            </a:ln>
          </p:spPr>
          <p:txBody>
            <a:bodyPr wrap="square" lIns="0" tIns="0" rIns="0" bIns="0" rtlCol="0"/>
            <a:lstStyle/>
            <a:p/>
          </p:txBody>
        </p:sp>
        <p:sp>
          <p:nvSpPr>
            <p:cNvPr id="8" name="object 7"/>
            <p:cNvSpPr txBox="1"/>
            <p:nvPr/>
          </p:nvSpPr>
          <p:spPr>
            <a:xfrm>
              <a:off x="2690177" y="2093595"/>
              <a:ext cx="3020695" cy="330200"/>
            </a:xfrm>
            <a:prstGeom prst="rect">
              <a:avLst/>
            </a:prstGeom>
          </p:spPr>
          <p:txBody>
            <a:bodyPr vert="horz" wrap="square" lIns="0" tIns="12700" rIns="0" bIns="0" rtlCol="0">
              <a:spAutoFit/>
            </a:bodyPr>
            <a:lstStyle/>
            <a:p>
              <a:pPr marL="12700">
                <a:lnSpc>
                  <a:spcPct val="100000"/>
                </a:lnSpc>
                <a:spcBef>
                  <a:spcPts val="100"/>
                </a:spcBef>
                <a:tabLst>
                  <a:tab pos="1736725" algn="l"/>
                </a:tabLst>
              </a:pPr>
              <a:r>
                <a:rPr sz="2000" dirty="0">
                  <a:latin typeface="Calibri" panose="020F0502020204030204"/>
                  <a:cs typeface="Calibri" panose="020F0502020204030204"/>
                </a:rPr>
                <a:t>R</a:t>
              </a:r>
              <a:r>
                <a:rPr sz="2000" spc="-5" dirty="0">
                  <a:latin typeface="Calibri" panose="020F0502020204030204"/>
                  <a:cs typeface="Calibri" panose="020F0502020204030204"/>
                </a:rPr>
                <a:t>e</a:t>
              </a:r>
              <a:r>
                <a:rPr sz="2000" dirty="0">
                  <a:latin typeface="Calibri" panose="020F0502020204030204"/>
                  <a:cs typeface="Calibri" panose="020F0502020204030204"/>
                </a:rPr>
                <a:t>sp</a:t>
              </a:r>
              <a:r>
                <a:rPr sz="2000" spc="-5" dirty="0">
                  <a:latin typeface="Calibri" panose="020F0502020204030204"/>
                  <a:cs typeface="Calibri" panose="020F0502020204030204"/>
                </a:rPr>
                <a:t>o</a:t>
              </a:r>
              <a:r>
                <a:rPr sz="2000" dirty="0">
                  <a:latin typeface="Calibri" panose="020F0502020204030204"/>
                  <a:cs typeface="Calibri" panose="020F0502020204030204"/>
                </a:rPr>
                <a:t>nsibili</a:t>
              </a:r>
              <a:r>
                <a:rPr sz="2000" spc="-10" dirty="0">
                  <a:latin typeface="Calibri" panose="020F0502020204030204"/>
                  <a:cs typeface="Calibri" panose="020F0502020204030204"/>
                </a:rPr>
                <a:t>t</a:t>
              </a:r>
              <a:r>
                <a:rPr sz="2000" spc="-15" dirty="0">
                  <a:latin typeface="Calibri" panose="020F0502020204030204"/>
                  <a:cs typeface="Calibri" panose="020F0502020204030204"/>
                </a:rPr>
                <a:t>i</a:t>
              </a:r>
              <a:r>
                <a:rPr sz="2000" dirty="0">
                  <a:latin typeface="Calibri" panose="020F0502020204030204"/>
                  <a:cs typeface="Calibri" panose="020F0502020204030204"/>
                </a:rPr>
                <a:t>es	</a:t>
              </a:r>
              <a:r>
                <a:rPr sz="2000" dirty="0">
                  <a:latin typeface="黑体" panose="02010609060101010101" charset="-122"/>
                  <a:cs typeface="黑体" panose="02010609060101010101" charset="-122"/>
                </a:rPr>
                <a:t>类职责定义</a:t>
              </a:r>
              <a:endParaRPr sz="2000">
                <a:latin typeface="黑体" panose="02010609060101010101" charset="-122"/>
                <a:cs typeface="黑体" panose="02010609060101010101" charset="-122"/>
              </a:endParaRPr>
            </a:p>
          </p:txBody>
        </p:sp>
        <p:sp>
          <p:nvSpPr>
            <p:cNvPr id="9" name="object 8"/>
            <p:cNvSpPr txBox="1"/>
            <p:nvPr/>
          </p:nvSpPr>
          <p:spPr>
            <a:xfrm>
              <a:off x="6655752" y="2093595"/>
              <a:ext cx="3677920" cy="330200"/>
            </a:xfrm>
            <a:prstGeom prst="rect">
              <a:avLst/>
            </a:prstGeom>
          </p:spPr>
          <p:txBody>
            <a:bodyPr vert="horz" wrap="square" lIns="0" tIns="12700" rIns="0" bIns="0" rtlCol="0">
              <a:spAutoFit/>
            </a:bodyPr>
            <a:lstStyle/>
            <a:p>
              <a:pPr marL="12700">
                <a:lnSpc>
                  <a:spcPct val="100000"/>
                </a:lnSpc>
                <a:spcBef>
                  <a:spcPts val="100"/>
                </a:spcBef>
              </a:pPr>
              <a:r>
                <a:rPr sz="2000" spc="-5" dirty="0">
                  <a:latin typeface="Calibri" panose="020F0502020204030204"/>
                  <a:cs typeface="Calibri" panose="020F0502020204030204"/>
                </a:rPr>
                <a:t>Collaborations</a:t>
              </a:r>
              <a:r>
                <a:rPr sz="2000" spc="40" dirty="0">
                  <a:latin typeface="Calibri" panose="020F0502020204030204"/>
                  <a:cs typeface="Calibri" panose="020F0502020204030204"/>
                </a:rPr>
                <a:t> </a:t>
              </a:r>
              <a:r>
                <a:rPr sz="2000" dirty="0">
                  <a:latin typeface="黑体" panose="02010609060101010101" charset="-122"/>
                  <a:cs typeface="黑体" panose="02010609060101010101" charset="-122"/>
                </a:rPr>
                <a:t>交互协作关系定义</a:t>
              </a:r>
              <a:endParaRPr sz="2000" dirty="0">
                <a:latin typeface="黑体" panose="02010609060101010101" charset="-122"/>
                <a:cs typeface="黑体" panose="02010609060101010101" charset="-122"/>
              </a:endParaRPr>
            </a:p>
          </p:txBody>
        </p:sp>
        <p:sp>
          <p:nvSpPr>
            <p:cNvPr id="10" name="object 9"/>
            <p:cNvSpPr txBox="1"/>
            <p:nvPr/>
          </p:nvSpPr>
          <p:spPr>
            <a:xfrm>
              <a:off x="2174239" y="1229995"/>
              <a:ext cx="3785235" cy="561975"/>
            </a:xfrm>
            <a:prstGeom prst="rect">
              <a:avLst/>
            </a:prstGeom>
          </p:spPr>
          <p:txBody>
            <a:bodyPr vert="horz" wrap="square" lIns="0" tIns="12700" rIns="0" bIns="0" rtlCol="0">
              <a:spAutoFit/>
            </a:bodyPr>
            <a:lstStyle/>
            <a:p>
              <a:pPr marL="12700">
                <a:lnSpc>
                  <a:spcPts val="2115"/>
                </a:lnSpc>
                <a:spcBef>
                  <a:spcPts val="100"/>
                </a:spcBef>
              </a:pPr>
              <a:r>
                <a:rPr sz="2000" spc="-5" dirty="0">
                  <a:latin typeface="Calibri" panose="020F0502020204030204"/>
                  <a:cs typeface="Calibri" panose="020F0502020204030204"/>
                </a:rPr>
                <a:t>Class</a:t>
              </a:r>
              <a:r>
                <a:rPr sz="2000" spc="-5" dirty="0">
                  <a:latin typeface="黑体" panose="02010609060101010101" charset="-122"/>
                  <a:cs typeface="黑体" panose="02010609060101010101" charset="-122"/>
                </a:rPr>
                <a:t>：</a:t>
              </a:r>
              <a:r>
                <a:rPr sz="2000" dirty="0">
                  <a:latin typeface="黑体" panose="02010609060101010101" charset="-122"/>
                  <a:cs typeface="黑体" panose="02010609060101010101" charset="-122"/>
                </a:rPr>
                <a:t>类定义</a:t>
              </a:r>
              <a:endParaRPr sz="2000">
                <a:latin typeface="黑体" panose="02010609060101010101" charset="-122"/>
                <a:cs typeface="黑体" panose="02010609060101010101" charset="-122"/>
              </a:endParaRPr>
            </a:p>
            <a:p>
              <a:pPr marL="2108200">
                <a:lnSpc>
                  <a:spcPts val="2115"/>
                </a:lnSpc>
              </a:pPr>
              <a:r>
                <a:rPr sz="2000" spc="-5" dirty="0">
                  <a:latin typeface="Calibri" panose="020F0502020204030204"/>
                  <a:cs typeface="Calibri" panose="020F0502020204030204"/>
                </a:rPr>
                <a:t>Classname</a:t>
              </a:r>
              <a:r>
                <a:rPr sz="2000" spc="-50" dirty="0">
                  <a:latin typeface="Calibri" panose="020F0502020204030204"/>
                  <a:cs typeface="Calibri" panose="020F0502020204030204"/>
                </a:rPr>
                <a:t> </a:t>
              </a:r>
              <a:r>
                <a:rPr sz="2000" dirty="0">
                  <a:latin typeface="黑体" panose="02010609060101010101" charset="-122"/>
                  <a:cs typeface="黑体" panose="02010609060101010101" charset="-122"/>
                </a:rPr>
                <a:t>类名</a:t>
              </a:r>
              <a:endParaRPr sz="2000">
                <a:latin typeface="黑体" panose="02010609060101010101" charset="-122"/>
                <a:cs typeface="黑体" panose="02010609060101010101"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66588"/>
    </mc:Choice>
    <mc:Fallback>
      <p:transition spd="slow" advTm="66588"/>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一个游戏</a:t>
            </a:r>
            <a:endParaRPr lang="zh-CN" altLang="en-US" dirty="0"/>
          </a:p>
        </p:txBody>
      </p:sp>
      <p:sp>
        <p:nvSpPr>
          <p:cNvPr id="3" name="内容占位符 2"/>
          <p:cNvSpPr>
            <a:spLocks noGrp="1"/>
          </p:cNvSpPr>
          <p:nvPr>
            <p:ph idx="1"/>
          </p:nvPr>
        </p:nvSpPr>
        <p:spPr/>
        <p:txBody>
          <a:bodyPr/>
          <a:lstStyle/>
          <a:p>
            <a:pPr marL="241300">
              <a:lnSpc>
                <a:spcPct val="100000"/>
              </a:lnSpc>
              <a:spcBef>
                <a:spcPts val="1620"/>
              </a:spcBef>
              <a:buFont typeface="Arial" panose="020B0604020202020204"/>
              <a:buChar char="•"/>
              <a:tabLst>
                <a:tab pos="241300" algn="l"/>
              </a:tabLst>
            </a:pPr>
            <a:r>
              <a:rPr lang="zh-CN" altLang="en-US" dirty="0">
                <a:latin typeface="黑体" panose="02010609060101010101" charset="-122"/>
                <a:cs typeface="黑体" panose="02010609060101010101" charset="-122"/>
              </a:rPr>
              <a:t>我们要编写一个</a:t>
            </a:r>
            <a:r>
              <a:rPr lang="en-US" altLang="zh-CN" dirty="0">
                <a:latin typeface="黑体" panose="02010609060101010101" charset="-122"/>
                <a:cs typeface="黑体" panose="02010609060101010101" charset="-122"/>
              </a:rPr>
              <a:t>21</a:t>
            </a:r>
            <a:r>
              <a:rPr lang="zh-CN" altLang="en-US" dirty="0">
                <a:latin typeface="黑体" panose="02010609060101010101" charset="-122"/>
                <a:cs typeface="黑体" panose="02010609060101010101" charset="-122"/>
              </a:rPr>
              <a:t>点游戏的程序</a:t>
            </a:r>
            <a:endParaRPr lang="zh-CN" altLang="en-US" dirty="0">
              <a:latin typeface="黑体" panose="02010609060101010101" charset="-122"/>
              <a:cs typeface="黑体" panose="02010609060101010101" charset="-122"/>
            </a:endParaRPr>
          </a:p>
          <a:p>
            <a:pPr marL="241300">
              <a:lnSpc>
                <a:spcPct val="100000"/>
              </a:lnSpc>
              <a:spcBef>
                <a:spcPts val="1520"/>
              </a:spcBef>
              <a:buFont typeface="Arial" panose="020B0604020202020204"/>
              <a:buChar char="•"/>
              <a:tabLst>
                <a:tab pos="241300" algn="l"/>
              </a:tabLst>
            </a:pPr>
            <a:r>
              <a:rPr lang="zh-CN" altLang="en-US" dirty="0">
                <a:latin typeface="黑体" panose="02010609060101010101" charset="-122"/>
                <a:cs typeface="黑体" panose="02010609060101010101" charset="-122"/>
              </a:rPr>
              <a:t>客户交给你一份详细的问题描述，也就是</a:t>
            </a:r>
            <a:r>
              <a:rPr lang="en-US" altLang="zh-CN" dirty="0">
                <a:latin typeface="黑体" panose="02010609060101010101" charset="-122"/>
                <a:cs typeface="黑体" panose="02010609060101010101" charset="-122"/>
              </a:rPr>
              <a:t>21</a:t>
            </a:r>
            <a:r>
              <a:rPr lang="zh-CN" altLang="en-US" dirty="0">
                <a:latin typeface="黑体" panose="02010609060101010101" charset="-122"/>
                <a:cs typeface="黑体" panose="02010609060101010101" charset="-122"/>
              </a:rPr>
              <a:t>点游戏规则说明</a:t>
            </a:r>
            <a:endParaRPr lang="zh-CN" altLang="en-US" dirty="0">
              <a:latin typeface="黑体" panose="02010609060101010101" charset="-122"/>
              <a:cs typeface="黑体" panose="02010609060101010101" charset="-122"/>
            </a:endParaRPr>
          </a:p>
          <a:p>
            <a:pPr marL="241300">
              <a:lnSpc>
                <a:spcPct val="100000"/>
              </a:lnSpc>
              <a:spcBef>
                <a:spcPts val="1620"/>
              </a:spcBef>
              <a:buFont typeface="Arial" panose="020B0604020202020204"/>
              <a:buChar char="•"/>
              <a:tabLst>
                <a:tab pos="241300" algn="l"/>
              </a:tabLst>
            </a:pPr>
            <a:r>
              <a:rPr lang="zh-CN" altLang="en-US" dirty="0">
                <a:latin typeface="黑体" panose="02010609060101010101" charset="-122"/>
                <a:cs typeface="黑体" panose="02010609060101010101" charset="-122"/>
              </a:rPr>
              <a:t>下面我们开始设计这个系统</a:t>
            </a:r>
            <a:endParaRPr lang="zh-CN" altLang="en-US" dirty="0">
              <a:latin typeface="黑体" panose="02010609060101010101" charset="-122"/>
              <a:cs typeface="黑体" panose="02010609060101010101" charset="-122"/>
            </a:endParaRPr>
          </a:p>
          <a:p>
            <a:pPr marL="241300">
              <a:lnSpc>
                <a:spcPct val="100000"/>
              </a:lnSpc>
              <a:spcBef>
                <a:spcPts val="1520"/>
              </a:spcBef>
              <a:buFont typeface="Arial" panose="020B0604020202020204"/>
              <a:buChar char="•"/>
              <a:tabLst>
                <a:tab pos="241300" algn="l"/>
              </a:tabLst>
            </a:pPr>
            <a:r>
              <a:rPr lang="zh-CN" altLang="en-US" dirty="0">
                <a:latin typeface="黑体" panose="02010609060101010101" charset="-122"/>
                <a:cs typeface="黑体" panose="02010609060101010101" charset="-122"/>
              </a:rPr>
              <a:t>包括识别类、类的职责、类之间的交互行为</a:t>
            </a:r>
            <a:endParaRPr lang="zh-CN" altLang="en-US" dirty="0">
              <a:latin typeface="黑体" panose="02010609060101010101" charset="-122"/>
              <a:cs typeface="黑体" panose="02010609060101010101" charset="-122"/>
            </a:endParaRPr>
          </a:p>
          <a:p>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sp>
        <p:nvSpPr>
          <p:cNvPr id="5" name="object 4"/>
          <p:cNvSpPr/>
          <p:nvPr/>
        </p:nvSpPr>
        <p:spPr>
          <a:xfrm>
            <a:off x="7920790" y="4001294"/>
            <a:ext cx="2632593" cy="1930335"/>
          </a:xfrm>
          <a:prstGeom prst="rect">
            <a:avLst/>
          </a:prstGeom>
          <a:blipFill>
            <a:blip r:embed="rId1" cstate="print"/>
            <a:stretch>
              <a:fillRect/>
            </a:stretch>
          </a:blipFill>
        </p:spPr>
        <p:txBody>
          <a:bodyPr wrap="square" lIns="0" tIns="0" rIns="0" bIns="0" rtlCol="0"/>
          <a:lstStyle/>
          <a:p/>
        </p:txBody>
      </p:sp>
    </p:spTree>
  </p:cSld>
  <p:clrMapOvr>
    <a:masterClrMapping/>
  </p:clrMapOvr>
  <mc:AlternateContent xmlns:mc="http://schemas.openxmlformats.org/markup-compatibility/2006">
    <mc:Choice xmlns:p14="http://schemas.microsoft.com/office/powerpoint/2010/main" Requires="p14">
      <p:transition spd="slow" p14:dur="2000" advTm="34956"/>
    </mc:Choice>
    <mc:Fallback>
      <p:transition spd="slow" advTm="34956"/>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21</a:t>
            </a:r>
            <a:r>
              <a:rPr lang="zh-CN" altLang="en-US" dirty="0"/>
              <a:t>点游戏 （</a:t>
            </a:r>
            <a:r>
              <a:rPr lang="en-US" altLang="zh-CN" dirty="0"/>
              <a:t>Blackjack</a:t>
            </a:r>
            <a:r>
              <a:rPr lang="zh-CN" altLang="en-US" dirty="0"/>
              <a:t>）</a:t>
            </a:r>
            <a:endParaRPr lang="zh-CN" altLang="en-US" dirty="0"/>
          </a:p>
        </p:txBody>
      </p:sp>
      <p:sp>
        <p:nvSpPr>
          <p:cNvPr id="3" name="内容占位符 2"/>
          <p:cNvSpPr>
            <a:spLocks noGrp="1"/>
          </p:cNvSpPr>
          <p:nvPr>
            <p:ph idx="1"/>
          </p:nvPr>
        </p:nvSpPr>
        <p:spPr/>
        <p:txBody>
          <a:bodyPr/>
          <a:lstStyle/>
          <a:p>
            <a:pPr marL="241300">
              <a:lnSpc>
                <a:spcPct val="100000"/>
              </a:lnSpc>
              <a:spcBef>
                <a:spcPts val="1620"/>
              </a:spcBef>
              <a:buFont typeface="Arial" panose="020B0604020202020204"/>
              <a:buChar char="•"/>
              <a:tabLst>
                <a:tab pos="241300" algn="l"/>
                <a:tab pos="6184265" algn="l"/>
              </a:tabLst>
            </a:pPr>
            <a:r>
              <a:rPr lang="en-US" altLang="zh-CN" dirty="0">
                <a:latin typeface="黑体" panose="02010609060101010101" charset="-122"/>
                <a:cs typeface="黑体" panose="02010609060101010101" charset="-122"/>
              </a:rPr>
              <a:t>21</a:t>
            </a:r>
            <a:r>
              <a:rPr lang="zh-CN" altLang="en-US" dirty="0">
                <a:latin typeface="黑体" panose="02010609060101010101" charset="-122"/>
                <a:cs typeface="黑体" panose="02010609060101010101" charset="-122"/>
              </a:rPr>
              <a:t>点游戏的目标是获得点数最接近或等于</a:t>
            </a:r>
            <a:r>
              <a:rPr lang="en-US" altLang="zh-CN" dirty="0">
                <a:latin typeface="黑体" panose="02010609060101010101" charset="-122"/>
                <a:cs typeface="黑体" panose="02010609060101010101" charset="-122"/>
              </a:rPr>
              <a:t>21</a:t>
            </a:r>
            <a:r>
              <a:rPr lang="zh-CN" altLang="en-US" dirty="0">
                <a:latin typeface="黑体" panose="02010609060101010101" charset="-122"/>
                <a:cs typeface="黑体" panose="02010609060101010101" charset="-122"/>
              </a:rPr>
              <a:t>的手牌</a:t>
            </a:r>
            <a:endParaRPr lang="zh-CN" altLang="en-US" dirty="0">
              <a:latin typeface="黑体" panose="02010609060101010101" charset="-122"/>
              <a:cs typeface="黑体" panose="02010609060101010101" charset="-122"/>
            </a:endParaRPr>
          </a:p>
          <a:p>
            <a:pPr marL="241300">
              <a:lnSpc>
                <a:spcPct val="100000"/>
              </a:lnSpc>
              <a:spcBef>
                <a:spcPts val="1520"/>
              </a:spcBef>
              <a:buFont typeface="Arial" panose="020B0604020202020204"/>
              <a:buChar char="•"/>
              <a:tabLst>
                <a:tab pos="241300" algn="l"/>
                <a:tab pos="6184265" algn="l"/>
              </a:tabLst>
            </a:pPr>
            <a:r>
              <a:rPr lang="zh-CN" altLang="en-US" dirty="0">
                <a:latin typeface="黑体" panose="02010609060101010101" charset="-122"/>
                <a:cs typeface="黑体" panose="02010609060101010101" charset="-122"/>
              </a:rPr>
              <a:t>胜者需要赢过庄家的手牌，而且不能超过</a:t>
            </a:r>
            <a:r>
              <a:rPr lang="en-US" altLang="zh-CN" dirty="0">
                <a:latin typeface="黑体" panose="02010609060101010101" charset="-122"/>
                <a:cs typeface="黑体" panose="02010609060101010101" charset="-122"/>
              </a:rPr>
              <a:t>21</a:t>
            </a:r>
            <a:r>
              <a:rPr lang="zh-CN" altLang="en-US" dirty="0">
                <a:latin typeface="黑体" panose="02010609060101010101" charset="-122"/>
                <a:cs typeface="黑体" panose="02010609060101010101" charset="-122"/>
              </a:rPr>
              <a:t>点</a:t>
            </a:r>
            <a:endParaRPr lang="zh-CN" altLang="en-US" dirty="0">
              <a:latin typeface="黑体" panose="02010609060101010101" charset="-122"/>
              <a:cs typeface="黑体" panose="02010609060101010101" charset="-122"/>
            </a:endParaRPr>
          </a:p>
          <a:p>
            <a:pPr marL="241300">
              <a:lnSpc>
                <a:spcPct val="100000"/>
              </a:lnSpc>
              <a:spcBef>
                <a:spcPts val="1620"/>
              </a:spcBef>
              <a:buFont typeface="Arial" panose="020B0604020202020204"/>
              <a:buChar char="•"/>
              <a:tabLst>
                <a:tab pos="241300" algn="l"/>
              </a:tabLst>
            </a:pPr>
            <a:r>
              <a:rPr lang="zh-CN" altLang="en-US" dirty="0">
                <a:latin typeface="黑体" panose="02010609060101010101" charset="-122"/>
                <a:cs typeface="黑体" panose="02010609060101010101" charset="-122"/>
              </a:rPr>
              <a:t>无论桌上有几名玩家，总是只和庄家论输赢</a:t>
            </a:r>
            <a:endParaRPr lang="zh-CN" altLang="en-US" dirty="0">
              <a:latin typeface="黑体" panose="02010609060101010101" charset="-122"/>
              <a:cs typeface="黑体" panose="02010609060101010101" charset="-122"/>
            </a:endParaRPr>
          </a:p>
          <a:p>
            <a:pPr marL="241300">
              <a:lnSpc>
                <a:spcPct val="100000"/>
              </a:lnSpc>
              <a:spcBef>
                <a:spcPts val="1520"/>
              </a:spcBef>
              <a:buFont typeface="Arial" panose="020B0604020202020204"/>
              <a:buChar char="•"/>
              <a:tabLst>
                <a:tab pos="241300" algn="l"/>
              </a:tabLst>
            </a:pPr>
            <a:r>
              <a:rPr lang="en-US" altLang="zh-CN" dirty="0">
                <a:latin typeface="黑体" panose="02010609060101010101" charset="-122"/>
                <a:cs typeface="黑体" panose="02010609060101010101" charset="-122"/>
              </a:rPr>
              <a:t>21</a:t>
            </a:r>
            <a:r>
              <a:rPr lang="zh-CN" altLang="en-US" dirty="0">
                <a:latin typeface="黑体" panose="02010609060101010101" charset="-122"/>
                <a:cs typeface="黑体" panose="02010609060101010101" charset="-122"/>
              </a:rPr>
              <a:t>点游戏中，</a:t>
            </a:r>
            <a:r>
              <a:rPr lang="en-US" altLang="zh-CN" dirty="0">
                <a:latin typeface="黑体" panose="02010609060101010101" charset="-122"/>
                <a:cs typeface="黑体" panose="02010609060101010101" charset="-122"/>
              </a:rPr>
              <a:t>2-10</a:t>
            </a:r>
            <a:r>
              <a:rPr lang="zh-CN" altLang="en-US" dirty="0">
                <a:latin typeface="黑体" panose="02010609060101010101" charset="-122"/>
                <a:cs typeface="黑体" panose="02010609060101010101" charset="-122"/>
              </a:rPr>
              <a:t>的牌其点数就是牌面的数值</a:t>
            </a:r>
            <a:endParaRPr lang="zh-CN" altLang="en-US" dirty="0">
              <a:latin typeface="黑体" panose="02010609060101010101" charset="-122"/>
              <a:cs typeface="黑体" panose="02010609060101010101" charset="-122"/>
            </a:endParaRPr>
          </a:p>
          <a:p>
            <a:pPr marL="241300">
              <a:lnSpc>
                <a:spcPct val="100000"/>
              </a:lnSpc>
              <a:spcBef>
                <a:spcPts val="1620"/>
              </a:spcBef>
              <a:buFont typeface="Arial" panose="020B0604020202020204"/>
              <a:buChar char="•"/>
              <a:tabLst>
                <a:tab pos="241300" algn="l"/>
              </a:tabLst>
            </a:pPr>
            <a:r>
              <a:rPr lang="en-US" altLang="zh-CN" dirty="0">
                <a:latin typeface="黑体" panose="02010609060101010101" charset="-122"/>
                <a:cs typeface="黑体" panose="02010609060101010101" charset="-122"/>
              </a:rPr>
              <a:t>A</a:t>
            </a:r>
            <a:r>
              <a:rPr lang="zh-CN" altLang="en-US" dirty="0">
                <a:latin typeface="黑体" panose="02010609060101010101" charset="-122"/>
                <a:cs typeface="黑体" panose="02010609060101010101" charset="-122"/>
              </a:rPr>
              <a:t>的点数根据玩家的需要可以取</a:t>
            </a:r>
            <a:r>
              <a:rPr lang="en-US" altLang="zh-CN" dirty="0">
                <a:latin typeface="黑体" panose="02010609060101010101" charset="-122"/>
                <a:cs typeface="黑体" panose="02010609060101010101" charset="-122"/>
              </a:rPr>
              <a:t>1</a:t>
            </a:r>
            <a:r>
              <a:rPr lang="zh-CN" altLang="en-US" dirty="0">
                <a:latin typeface="黑体" panose="02010609060101010101" charset="-122"/>
                <a:cs typeface="黑体" panose="02010609060101010101" charset="-122"/>
              </a:rPr>
              <a:t>或</a:t>
            </a:r>
            <a:r>
              <a:rPr lang="en-US" altLang="zh-CN" dirty="0">
                <a:latin typeface="黑体" panose="02010609060101010101" charset="-122"/>
                <a:cs typeface="黑体" panose="02010609060101010101" charset="-122"/>
              </a:rPr>
              <a:t>11</a:t>
            </a:r>
            <a:endParaRPr lang="en-US" altLang="zh-CN" dirty="0">
              <a:latin typeface="黑体" panose="02010609060101010101" charset="-122"/>
              <a:cs typeface="黑体" panose="02010609060101010101" charset="-122"/>
            </a:endParaRPr>
          </a:p>
          <a:p>
            <a:pPr marL="241300">
              <a:lnSpc>
                <a:spcPct val="100000"/>
              </a:lnSpc>
              <a:spcBef>
                <a:spcPts val="1520"/>
              </a:spcBef>
              <a:buFont typeface="Arial" panose="020B0604020202020204"/>
              <a:buChar char="•"/>
              <a:tabLst>
                <a:tab pos="241300" algn="l"/>
              </a:tabLst>
            </a:pPr>
            <a:r>
              <a:rPr lang="en-US" altLang="zh-CN" dirty="0">
                <a:latin typeface="黑体" panose="02010609060101010101" charset="-122"/>
                <a:cs typeface="黑体" panose="02010609060101010101" charset="-122"/>
              </a:rPr>
              <a:t>J</a:t>
            </a:r>
            <a:r>
              <a:rPr lang="zh-CN" altLang="en-US" dirty="0">
                <a:latin typeface="黑体" panose="02010609060101010101" charset="-122"/>
                <a:cs typeface="黑体" panose="02010609060101010101" charset="-122"/>
              </a:rPr>
              <a:t>，</a:t>
            </a:r>
            <a:r>
              <a:rPr lang="en-US" altLang="zh-CN" dirty="0">
                <a:latin typeface="黑体" panose="02010609060101010101" charset="-122"/>
                <a:cs typeface="黑体" panose="02010609060101010101" charset="-122"/>
              </a:rPr>
              <a:t>Q</a:t>
            </a:r>
            <a:r>
              <a:rPr lang="zh-CN" altLang="en-US" dirty="0">
                <a:latin typeface="黑体" panose="02010609060101010101" charset="-122"/>
                <a:cs typeface="黑体" panose="02010609060101010101" charset="-122"/>
              </a:rPr>
              <a:t>，</a:t>
            </a:r>
            <a:r>
              <a:rPr lang="en-US" altLang="zh-CN" dirty="0">
                <a:latin typeface="黑体" panose="02010609060101010101" charset="-122"/>
                <a:cs typeface="黑体" panose="02010609060101010101" charset="-122"/>
              </a:rPr>
              <a:t>K</a:t>
            </a:r>
            <a:r>
              <a:rPr lang="zh-CN" altLang="en-US" dirty="0">
                <a:latin typeface="黑体" panose="02010609060101010101" charset="-122"/>
                <a:cs typeface="黑体" panose="02010609060101010101" charset="-122"/>
              </a:rPr>
              <a:t>的点数都是</a:t>
            </a:r>
            <a:r>
              <a:rPr lang="en-US" altLang="zh-CN" dirty="0">
                <a:latin typeface="黑体" panose="02010609060101010101" charset="-122"/>
                <a:cs typeface="黑体" panose="02010609060101010101" charset="-122"/>
              </a:rPr>
              <a:t>10</a:t>
            </a:r>
            <a:endParaRPr lang="en-US" altLang="zh-CN" dirty="0">
              <a:latin typeface="黑体" panose="02010609060101010101" charset="-122"/>
              <a:cs typeface="黑体" panose="02010609060101010101" charset="-122"/>
            </a:endParaRPr>
          </a:p>
          <a:p>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sp>
        <p:nvSpPr>
          <p:cNvPr id="5" name="object 4"/>
          <p:cNvSpPr/>
          <p:nvPr/>
        </p:nvSpPr>
        <p:spPr>
          <a:xfrm>
            <a:off x="8723586" y="2579226"/>
            <a:ext cx="3114539" cy="3597737"/>
          </a:xfrm>
          <a:prstGeom prst="rect">
            <a:avLst/>
          </a:prstGeom>
          <a:blipFill>
            <a:blip r:embed="rId1" cstate="print"/>
            <a:stretch>
              <a:fillRect/>
            </a:stretch>
          </a:blipFill>
        </p:spPr>
        <p:txBody>
          <a:bodyPr wrap="square" lIns="0" tIns="0" rIns="0" bIns="0" rtlCol="0"/>
          <a:lstStyle/>
          <a:p/>
        </p:txBody>
      </p:sp>
    </p:spTree>
  </p:cSld>
  <p:clrMapOvr>
    <a:masterClrMapping/>
  </p:clrMapOvr>
  <mc:AlternateContent xmlns:mc="http://schemas.openxmlformats.org/markup-compatibility/2006">
    <mc:Choice xmlns:p14="http://schemas.microsoft.com/office/powerpoint/2010/main" Requires="p14">
      <p:transition spd="slow" p14:dur="2000" advTm="45182"/>
    </mc:Choice>
    <mc:Fallback>
      <p:transition spd="slow" advTm="45182"/>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21</a:t>
            </a:r>
            <a:r>
              <a:rPr lang="zh-CN" altLang="en-US" dirty="0"/>
              <a:t>点游戏 （</a:t>
            </a:r>
            <a:r>
              <a:rPr lang="en-US" altLang="zh-CN" dirty="0"/>
              <a:t>Blackjack</a:t>
            </a:r>
            <a:r>
              <a:rPr lang="zh-CN" altLang="en-US" dirty="0"/>
              <a:t>）</a:t>
            </a:r>
            <a:endParaRPr lang="zh-CN" altLang="en-US" dirty="0"/>
          </a:p>
        </p:txBody>
      </p:sp>
      <p:sp>
        <p:nvSpPr>
          <p:cNvPr id="3" name="内容占位符 2"/>
          <p:cNvSpPr>
            <a:spLocks noGrp="1"/>
          </p:cNvSpPr>
          <p:nvPr>
            <p:ph idx="1"/>
          </p:nvPr>
        </p:nvSpPr>
        <p:spPr/>
        <p:txBody>
          <a:bodyPr>
            <a:normAutofit/>
          </a:bodyPr>
          <a:lstStyle/>
          <a:p>
            <a:pPr marL="241300">
              <a:lnSpc>
                <a:spcPct val="100000"/>
              </a:lnSpc>
              <a:spcBef>
                <a:spcPts val="1620"/>
              </a:spcBef>
              <a:buFont typeface="Arial" panose="020B0604020202020204"/>
              <a:buChar char="•"/>
              <a:tabLst>
                <a:tab pos="241300" algn="l"/>
              </a:tabLst>
            </a:pPr>
            <a:r>
              <a:rPr lang="zh-CN" altLang="en-US" sz="2600" dirty="0">
                <a:latin typeface="黑体" panose="02010609060101010101" charset="-122"/>
                <a:cs typeface="黑体" panose="02010609060101010101" charset="-122"/>
              </a:rPr>
              <a:t>游戏开始时，玩家首先下注，通常下注的额度是有上限的</a:t>
            </a:r>
            <a:endParaRPr lang="zh-CN" altLang="en-US" sz="2600" dirty="0">
              <a:latin typeface="黑体" panose="02010609060101010101" charset="-122"/>
              <a:cs typeface="黑体" panose="02010609060101010101" charset="-122"/>
            </a:endParaRPr>
          </a:p>
          <a:p>
            <a:pPr marL="241300">
              <a:lnSpc>
                <a:spcPct val="100000"/>
              </a:lnSpc>
              <a:spcBef>
                <a:spcPts val="1520"/>
              </a:spcBef>
              <a:buFont typeface="Arial" panose="020B0604020202020204"/>
              <a:buChar char="•"/>
              <a:tabLst>
                <a:tab pos="241300" algn="l"/>
              </a:tabLst>
            </a:pPr>
            <a:r>
              <a:rPr lang="zh-CN" altLang="en-US" sz="2600" dirty="0">
                <a:latin typeface="黑体" panose="02010609060101010101" charset="-122"/>
                <a:cs typeface="黑体" panose="02010609060101010101" charset="-122"/>
              </a:rPr>
              <a:t>如果你是唯一玩家，下注后，庄家给你发两张牌，牌面向上，双方均能看到</a:t>
            </a:r>
            <a:endParaRPr lang="zh-CN" altLang="en-US" sz="2600" dirty="0">
              <a:latin typeface="黑体" panose="02010609060101010101" charset="-122"/>
              <a:cs typeface="黑体" panose="02010609060101010101" charset="-122"/>
            </a:endParaRPr>
          </a:p>
          <a:p>
            <a:pPr marL="241300">
              <a:lnSpc>
                <a:spcPct val="100000"/>
              </a:lnSpc>
              <a:spcBef>
                <a:spcPts val="1620"/>
              </a:spcBef>
              <a:buFont typeface="Arial" panose="020B0604020202020204"/>
              <a:buChar char="•"/>
              <a:tabLst>
                <a:tab pos="241300" algn="l"/>
              </a:tabLst>
            </a:pPr>
            <a:r>
              <a:rPr lang="zh-CN" altLang="en-US" sz="2600" dirty="0">
                <a:latin typeface="黑体" panose="02010609060101010101" charset="-122"/>
                <a:cs typeface="黑体" panose="02010609060101010101" charset="-122"/>
              </a:rPr>
              <a:t>庄家给自己发两张牌，一张牌面向上（明牌），一张牌面向下（底牌）</a:t>
            </a:r>
            <a:endParaRPr lang="zh-CN" altLang="en-US" sz="2600" dirty="0">
              <a:latin typeface="黑体" panose="02010609060101010101" charset="-122"/>
              <a:cs typeface="黑体" panose="02010609060101010101" charset="-122"/>
            </a:endParaRPr>
          </a:p>
          <a:p>
            <a:pPr marL="240665" marR="5080">
              <a:lnSpc>
                <a:spcPct val="122000"/>
              </a:lnSpc>
              <a:spcBef>
                <a:spcPts val="900"/>
              </a:spcBef>
              <a:buFont typeface="Arial" panose="020B0604020202020204"/>
              <a:buChar char="•"/>
              <a:tabLst>
                <a:tab pos="241300" algn="l"/>
              </a:tabLst>
            </a:pPr>
            <a:r>
              <a:rPr lang="zh-CN" altLang="en-US" sz="2600" dirty="0">
                <a:latin typeface="黑体" panose="02010609060101010101" charset="-122"/>
                <a:cs typeface="黑体" panose="02010609060101010101" charset="-122"/>
              </a:rPr>
              <a:t>如果有多个玩家，则庄家给每位玩家都是先发一张明牌，庄家自己发一张底牌，再给每个玩家和庄家各发一张明牌</a:t>
            </a:r>
            <a:endParaRPr lang="zh-CN" altLang="en-US" sz="2600" dirty="0">
              <a:latin typeface="黑体" panose="02010609060101010101" charset="-122"/>
              <a:cs typeface="黑体" panose="02010609060101010101" charset="-122"/>
            </a:endParaRPr>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sp>
        <p:nvSpPr>
          <p:cNvPr id="6" name="object 4"/>
          <p:cNvSpPr/>
          <p:nvPr/>
        </p:nvSpPr>
        <p:spPr>
          <a:xfrm>
            <a:off x="8604645" y="4584697"/>
            <a:ext cx="1533523" cy="1511298"/>
          </a:xfrm>
          <a:prstGeom prst="rect">
            <a:avLst/>
          </a:prstGeom>
          <a:blipFill>
            <a:blip r:embed="rId1" cstate="print"/>
            <a:stretch>
              <a:fillRect/>
            </a:stretch>
          </a:blipFill>
        </p:spPr>
        <p:txBody>
          <a:bodyPr wrap="square" lIns="0" tIns="0" rIns="0" bIns="0" rtlCol="0"/>
          <a:lstStyle/>
          <a:p/>
        </p:txBody>
      </p:sp>
    </p:spTree>
  </p:cSld>
  <p:clrMapOvr>
    <a:masterClrMapping/>
  </p:clrMapOvr>
  <mc:AlternateContent xmlns:mc="http://schemas.openxmlformats.org/markup-compatibility/2006">
    <mc:Choice xmlns:p14="http://schemas.microsoft.com/office/powerpoint/2010/main" Requires="p14">
      <p:transition spd="slow" p14:dur="2000" advTm="53382"/>
    </mc:Choice>
    <mc:Fallback>
      <p:transition spd="slow" advTm="53382"/>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21</a:t>
            </a:r>
            <a:r>
              <a:rPr lang="zh-CN" altLang="en-US" dirty="0"/>
              <a:t>点游戏 （</a:t>
            </a:r>
            <a:r>
              <a:rPr lang="en-US" altLang="zh-CN" dirty="0"/>
              <a:t>Blackjack</a:t>
            </a:r>
            <a:r>
              <a:rPr lang="zh-CN" altLang="en-US" dirty="0"/>
              <a:t>）</a:t>
            </a:r>
            <a:endParaRPr lang="zh-CN" altLang="en-US" dirty="0"/>
          </a:p>
        </p:txBody>
      </p:sp>
      <p:sp>
        <p:nvSpPr>
          <p:cNvPr id="3" name="内容占位符 2"/>
          <p:cNvSpPr>
            <a:spLocks noGrp="1"/>
          </p:cNvSpPr>
          <p:nvPr>
            <p:ph idx="1"/>
          </p:nvPr>
        </p:nvSpPr>
        <p:spPr>
          <a:xfrm>
            <a:off x="838200" y="1513490"/>
            <a:ext cx="10515600" cy="4663473"/>
          </a:xfrm>
        </p:spPr>
        <p:txBody>
          <a:bodyPr>
            <a:normAutofit fontScale="92500" lnSpcReduction="10000"/>
          </a:bodyPr>
          <a:lstStyle/>
          <a:p>
            <a:pPr marL="240665" marR="5080">
              <a:lnSpc>
                <a:spcPct val="108000"/>
              </a:lnSpc>
              <a:spcBef>
                <a:spcPts val="100"/>
              </a:spcBef>
              <a:buFont typeface="Arial" panose="020B0604020202020204"/>
              <a:buChar char="•"/>
              <a:tabLst>
                <a:tab pos="241300" algn="l"/>
              </a:tabLst>
            </a:pPr>
            <a:r>
              <a:rPr lang="zh-CN" altLang="en-US" sz="2400" dirty="0">
                <a:latin typeface="黑体" panose="02010609060101010101" charset="-122"/>
                <a:cs typeface="黑体" panose="02010609060101010101" charset="-122"/>
              </a:rPr>
              <a:t>发完两张牌之后，每位玩家自己决定是否要更多的牌，当对手上的牌数满意之后，就停手等待</a:t>
            </a:r>
            <a:endParaRPr lang="zh-CN" altLang="en-US" sz="2400" dirty="0">
              <a:latin typeface="黑体" panose="02010609060101010101" charset="-122"/>
              <a:cs typeface="黑体" panose="02010609060101010101" charset="-122"/>
            </a:endParaRPr>
          </a:p>
          <a:p>
            <a:pPr marL="241300">
              <a:lnSpc>
                <a:spcPct val="100000"/>
              </a:lnSpc>
              <a:spcBef>
                <a:spcPts val="1320"/>
              </a:spcBef>
              <a:buFont typeface="Arial" panose="020B0604020202020204"/>
              <a:buChar char="•"/>
              <a:tabLst>
                <a:tab pos="241300" algn="l"/>
              </a:tabLst>
            </a:pPr>
            <a:r>
              <a:rPr lang="zh-CN" altLang="en-US" sz="2400" dirty="0">
                <a:latin typeface="黑体" panose="02010609060101010101" charset="-122"/>
                <a:cs typeface="黑体" panose="02010609060101010101" charset="-122"/>
              </a:rPr>
              <a:t>停手之后，庄家开始加牌，如果庄家持牌总点数少于</a:t>
            </a:r>
            <a:r>
              <a:rPr lang="en-US" altLang="zh-CN" sz="2400" dirty="0">
                <a:latin typeface="黑体" panose="02010609060101010101" charset="-122"/>
                <a:cs typeface="黑体" panose="02010609060101010101" charset="-122"/>
              </a:rPr>
              <a:t>17</a:t>
            </a:r>
            <a:r>
              <a:rPr lang="zh-CN" altLang="en-US" sz="2400" dirty="0">
                <a:latin typeface="黑体" panose="02010609060101010101" charset="-122"/>
                <a:cs typeface="黑体" panose="02010609060101010101" charset="-122"/>
              </a:rPr>
              <a:t>，则必须要牌，直到超过</a:t>
            </a:r>
            <a:r>
              <a:rPr lang="en-US" altLang="zh-CN" sz="2400" dirty="0">
                <a:latin typeface="黑体" panose="02010609060101010101" charset="-122"/>
                <a:cs typeface="黑体" panose="02010609060101010101" charset="-122"/>
              </a:rPr>
              <a:t>16</a:t>
            </a:r>
            <a:r>
              <a:rPr lang="zh-CN" altLang="en-US" sz="2400" dirty="0">
                <a:latin typeface="黑体" panose="02010609060101010101" charset="-122"/>
                <a:cs typeface="黑体" panose="02010609060101010101" charset="-122"/>
              </a:rPr>
              <a:t>；如果庄家的总点数等于或多于</a:t>
            </a:r>
            <a:r>
              <a:rPr lang="en-US" altLang="zh-CN" sz="2400" dirty="0">
                <a:latin typeface="黑体" panose="02010609060101010101" charset="-122"/>
                <a:cs typeface="黑体" panose="02010609060101010101" charset="-122"/>
              </a:rPr>
              <a:t>17</a:t>
            </a:r>
            <a:r>
              <a:rPr lang="zh-CN" altLang="en-US" sz="2400" dirty="0">
                <a:latin typeface="黑体" panose="02010609060101010101" charset="-122"/>
                <a:cs typeface="黑体" panose="02010609060101010101" charset="-122"/>
              </a:rPr>
              <a:t>点，则必须停牌</a:t>
            </a:r>
            <a:endParaRPr lang="zh-CN" altLang="en-US" sz="2400" dirty="0">
              <a:latin typeface="黑体" panose="02010609060101010101" charset="-122"/>
              <a:cs typeface="黑体" panose="02010609060101010101" charset="-122"/>
            </a:endParaRPr>
          </a:p>
          <a:p>
            <a:pPr marL="241300">
              <a:lnSpc>
                <a:spcPct val="100000"/>
              </a:lnSpc>
              <a:spcBef>
                <a:spcPts val="1220"/>
              </a:spcBef>
              <a:buFont typeface="Arial" panose="020B0604020202020204"/>
              <a:buChar char="•"/>
              <a:tabLst>
                <a:tab pos="241300" algn="l"/>
              </a:tabLst>
            </a:pPr>
            <a:r>
              <a:rPr lang="zh-CN" altLang="en-US" sz="2400" b="1" dirty="0">
                <a:latin typeface="黑体" panose="02010609060101010101" charset="-122"/>
                <a:cs typeface="黑体" panose="02010609060101010101" charset="-122"/>
              </a:rPr>
              <a:t>玩家赢</a:t>
            </a:r>
            <a:r>
              <a:rPr lang="en-US" altLang="zh-CN" sz="2400" b="1" dirty="0">
                <a:latin typeface="黑体" panose="02010609060101010101" charset="-122"/>
                <a:cs typeface="黑体" panose="02010609060101010101" charset="-122"/>
              </a:rPr>
              <a:t>:</a:t>
            </a:r>
            <a:endParaRPr lang="en-US" altLang="zh-CN" sz="2400" b="1" dirty="0">
              <a:latin typeface="黑体" panose="02010609060101010101" charset="-122"/>
              <a:cs typeface="黑体" panose="02010609060101010101" charset="-122"/>
            </a:endParaRPr>
          </a:p>
          <a:p>
            <a:pPr marL="698500" lvl="1">
              <a:lnSpc>
                <a:spcPct val="100000"/>
              </a:lnSpc>
              <a:spcBef>
                <a:spcPts val="820"/>
              </a:spcBef>
              <a:buFont typeface="Arial" panose="020B0604020202020204"/>
              <a:buChar char="•"/>
              <a:tabLst>
                <a:tab pos="698500" algn="l"/>
              </a:tabLst>
            </a:pPr>
            <a:r>
              <a:rPr lang="zh-CN" altLang="en-US" dirty="0">
                <a:latin typeface="黑体" panose="02010609060101010101" charset="-122"/>
                <a:cs typeface="黑体" panose="02010609060101010101" charset="-122"/>
              </a:rPr>
              <a:t>玩家的手牌点数超过庄家，且不超过</a:t>
            </a:r>
            <a:r>
              <a:rPr lang="en-US" altLang="zh-CN" dirty="0">
                <a:latin typeface="黑体" panose="02010609060101010101" charset="-122"/>
                <a:cs typeface="黑体" panose="02010609060101010101" charset="-122"/>
              </a:rPr>
              <a:t>21</a:t>
            </a:r>
            <a:r>
              <a:rPr lang="zh-CN" altLang="en-US" dirty="0">
                <a:latin typeface="黑体" panose="02010609060101010101" charset="-122"/>
                <a:cs typeface="黑体" panose="02010609060101010101" charset="-122"/>
              </a:rPr>
              <a:t>点</a:t>
            </a:r>
            <a:endParaRPr lang="zh-CN" altLang="en-US" dirty="0">
              <a:latin typeface="黑体" panose="02010609060101010101" charset="-122"/>
              <a:cs typeface="黑体" panose="02010609060101010101" charset="-122"/>
            </a:endParaRPr>
          </a:p>
          <a:p>
            <a:pPr marL="698500" lvl="1">
              <a:lnSpc>
                <a:spcPct val="100000"/>
              </a:lnSpc>
              <a:spcBef>
                <a:spcPts val="820"/>
              </a:spcBef>
              <a:buFont typeface="Arial" panose="020B0604020202020204"/>
              <a:buChar char="•"/>
              <a:tabLst>
                <a:tab pos="698500" algn="l"/>
              </a:tabLst>
            </a:pPr>
            <a:r>
              <a:rPr lang="zh-CN" altLang="en-US" dirty="0">
                <a:latin typeface="黑体" panose="02010609060101010101" charset="-122"/>
                <a:cs typeface="黑体" panose="02010609060101010101" charset="-122"/>
              </a:rPr>
              <a:t>庄家冒过</a:t>
            </a:r>
            <a:r>
              <a:rPr lang="en-US" altLang="zh-CN" dirty="0">
                <a:latin typeface="黑体" panose="02010609060101010101" charset="-122"/>
                <a:cs typeface="黑体" panose="02010609060101010101" charset="-122"/>
              </a:rPr>
              <a:t>21</a:t>
            </a:r>
            <a:r>
              <a:rPr lang="zh-CN" altLang="en-US" dirty="0">
                <a:latin typeface="黑体" panose="02010609060101010101" charset="-122"/>
                <a:cs typeface="黑体" panose="02010609060101010101" charset="-122"/>
              </a:rPr>
              <a:t>点</a:t>
            </a:r>
            <a:endParaRPr lang="zh-CN" altLang="en-US" dirty="0">
              <a:latin typeface="黑体" panose="02010609060101010101" charset="-122"/>
              <a:cs typeface="黑体" panose="02010609060101010101" charset="-122"/>
            </a:endParaRPr>
          </a:p>
          <a:p>
            <a:pPr marL="241300">
              <a:lnSpc>
                <a:spcPct val="100000"/>
              </a:lnSpc>
              <a:spcBef>
                <a:spcPts val="1220"/>
              </a:spcBef>
              <a:buFont typeface="Arial" panose="020B0604020202020204"/>
              <a:buChar char="•"/>
              <a:tabLst>
                <a:tab pos="241300" algn="l"/>
              </a:tabLst>
            </a:pPr>
            <a:r>
              <a:rPr lang="zh-CN" altLang="en-US" sz="2400" b="1" dirty="0">
                <a:latin typeface="黑体" panose="02010609060101010101" charset="-122"/>
                <a:cs typeface="黑体" panose="02010609060101010101" charset="-122"/>
              </a:rPr>
              <a:t>和局：</a:t>
            </a:r>
            <a:r>
              <a:rPr lang="zh-CN" altLang="en-US" sz="2400" dirty="0">
                <a:latin typeface="黑体" panose="02010609060101010101" charset="-122"/>
                <a:cs typeface="黑体" panose="02010609060101010101" charset="-122"/>
              </a:rPr>
              <a:t>玩家和庄家点数持平，则不输不赢，庄家将玩家赌注归还</a:t>
            </a:r>
            <a:endParaRPr lang="zh-CN" altLang="en-US" sz="2400" dirty="0">
              <a:latin typeface="黑体" panose="02010609060101010101" charset="-122"/>
              <a:cs typeface="黑体" panose="02010609060101010101" charset="-122"/>
            </a:endParaRPr>
          </a:p>
          <a:p>
            <a:pPr marL="241300">
              <a:lnSpc>
                <a:spcPct val="100000"/>
              </a:lnSpc>
              <a:spcBef>
                <a:spcPts val="1320"/>
              </a:spcBef>
              <a:buFont typeface="Arial" panose="020B0604020202020204"/>
              <a:buChar char="•"/>
              <a:tabLst>
                <a:tab pos="241300" algn="l"/>
              </a:tabLst>
            </a:pPr>
            <a:r>
              <a:rPr lang="zh-CN" altLang="en-US" sz="2400" b="1" dirty="0">
                <a:latin typeface="黑体" panose="02010609060101010101" charset="-122"/>
                <a:cs typeface="黑体" panose="02010609060101010101" charset="-122"/>
              </a:rPr>
              <a:t>玩家输</a:t>
            </a:r>
            <a:r>
              <a:rPr lang="en-US" altLang="zh-CN" sz="2400" b="1" dirty="0">
                <a:latin typeface="黑体" panose="02010609060101010101" charset="-122"/>
                <a:cs typeface="黑体" panose="02010609060101010101" charset="-122"/>
              </a:rPr>
              <a:t>:</a:t>
            </a:r>
            <a:endParaRPr lang="en-US" altLang="zh-CN" sz="2400" b="1" dirty="0">
              <a:latin typeface="黑体" panose="02010609060101010101" charset="-122"/>
              <a:cs typeface="黑体" panose="02010609060101010101" charset="-122"/>
            </a:endParaRPr>
          </a:p>
          <a:p>
            <a:pPr marL="698500" lvl="1">
              <a:lnSpc>
                <a:spcPct val="100000"/>
              </a:lnSpc>
              <a:spcBef>
                <a:spcPts val="820"/>
              </a:spcBef>
              <a:buFont typeface="Arial" panose="020B0604020202020204"/>
              <a:buChar char="•"/>
              <a:tabLst>
                <a:tab pos="698500" algn="l"/>
                <a:tab pos="2068830" algn="l"/>
              </a:tabLst>
            </a:pPr>
            <a:r>
              <a:rPr lang="zh-CN" altLang="en-US" dirty="0">
                <a:latin typeface="黑体" panose="02010609060101010101" charset="-122"/>
                <a:cs typeface="黑体" panose="02010609060101010101" charset="-122"/>
              </a:rPr>
              <a:t>玩家冒过</a:t>
            </a:r>
            <a:r>
              <a:rPr lang="en-US" altLang="zh-CN" dirty="0">
                <a:latin typeface="黑体" panose="02010609060101010101" charset="-122"/>
                <a:cs typeface="黑体" panose="02010609060101010101" charset="-122"/>
              </a:rPr>
              <a:t>21</a:t>
            </a:r>
            <a:r>
              <a:rPr lang="zh-CN" altLang="en-US" dirty="0">
                <a:latin typeface="黑体" panose="02010609060101010101" charset="-122"/>
                <a:cs typeface="黑体" panose="02010609060101010101" charset="-122"/>
              </a:rPr>
              <a:t>点</a:t>
            </a:r>
            <a:endParaRPr lang="en-US" altLang="zh-CN" dirty="0">
              <a:latin typeface="黑体" panose="02010609060101010101" charset="-122"/>
              <a:cs typeface="黑体" panose="02010609060101010101" charset="-122"/>
            </a:endParaRPr>
          </a:p>
          <a:p>
            <a:pPr marL="698500" lvl="1">
              <a:lnSpc>
                <a:spcPct val="100000"/>
              </a:lnSpc>
              <a:spcBef>
                <a:spcPts val="820"/>
              </a:spcBef>
              <a:buFont typeface="Arial" panose="020B0604020202020204"/>
              <a:buChar char="•"/>
              <a:tabLst>
                <a:tab pos="698500" algn="l"/>
                <a:tab pos="2068830" algn="l"/>
              </a:tabLst>
            </a:pPr>
            <a:r>
              <a:rPr lang="zh-CN" altLang="en-US" dirty="0">
                <a:latin typeface="黑体" panose="02010609060101010101" charset="-122"/>
                <a:cs typeface="黑体" panose="02010609060101010101" charset="-122"/>
              </a:rPr>
              <a:t>庄家的点数超过玩家，且不超过</a:t>
            </a:r>
            <a:r>
              <a:rPr lang="en-US" altLang="zh-CN" dirty="0">
                <a:latin typeface="黑体" panose="02010609060101010101" charset="-122"/>
                <a:cs typeface="黑体" panose="02010609060101010101" charset="-122"/>
              </a:rPr>
              <a:t>21</a:t>
            </a:r>
            <a:r>
              <a:rPr lang="zh-CN" altLang="en-US" dirty="0">
                <a:latin typeface="黑体" panose="02010609060101010101" charset="-122"/>
                <a:cs typeface="黑体" panose="02010609060101010101" charset="-122"/>
              </a:rPr>
              <a:t>点</a:t>
            </a:r>
            <a:endParaRPr lang="zh-CN" altLang="en-US" dirty="0">
              <a:latin typeface="黑体" panose="02010609060101010101" charset="-122"/>
              <a:cs typeface="黑体" panose="02010609060101010101" charset="-122"/>
            </a:endParaRPr>
          </a:p>
          <a:p>
            <a:pPr marL="698500" lvl="1">
              <a:lnSpc>
                <a:spcPct val="100000"/>
              </a:lnSpc>
              <a:spcBef>
                <a:spcPts val="820"/>
              </a:spcBef>
              <a:buFont typeface="Arial" panose="020B0604020202020204"/>
              <a:buChar char="•"/>
              <a:tabLst>
                <a:tab pos="698500" algn="l"/>
                <a:tab pos="2068830" algn="l"/>
              </a:tabLst>
            </a:pPr>
            <a:endParaRPr lang="zh-CN" altLang="en-US" dirty="0">
              <a:latin typeface="黑体" panose="02010609060101010101" charset="-122"/>
              <a:cs typeface="黑体" panose="02010609060101010101" charset="-122"/>
            </a:endParaRPr>
          </a:p>
          <a:p>
            <a:pPr marL="241300">
              <a:lnSpc>
                <a:spcPct val="100000"/>
              </a:lnSpc>
              <a:spcBef>
                <a:spcPts val="1620"/>
              </a:spcBef>
              <a:buFont typeface="Arial" panose="020B0604020202020204"/>
              <a:buChar char="•"/>
              <a:tabLst>
                <a:tab pos="241300" algn="l"/>
              </a:tabLst>
            </a:pPr>
            <a:endParaRPr lang="zh-CN" altLang="en-US" sz="2600" dirty="0">
              <a:latin typeface="黑体" panose="02010609060101010101" charset="-122"/>
              <a:cs typeface="黑体" panose="02010609060101010101" charset="-122"/>
            </a:endParaRPr>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70056"/>
    </mc:Choice>
    <mc:Fallback>
      <p:transition spd="slow" advTm="70056"/>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识别</a:t>
            </a:r>
            <a:r>
              <a:rPr lang="en-US" altLang="zh-CN" dirty="0"/>
              <a:t>21</a:t>
            </a:r>
            <a:r>
              <a:rPr lang="zh-CN" altLang="en-US" dirty="0"/>
              <a:t>点游戏中的对象类</a:t>
            </a:r>
            <a:endParaRPr lang="zh-CN" altLang="en-US" dirty="0"/>
          </a:p>
        </p:txBody>
      </p:sp>
      <p:sp>
        <p:nvSpPr>
          <p:cNvPr id="3" name="内容占位符 2"/>
          <p:cNvSpPr>
            <a:spLocks noGrp="1"/>
          </p:cNvSpPr>
          <p:nvPr>
            <p:ph idx="1"/>
          </p:nvPr>
        </p:nvSpPr>
        <p:spPr/>
        <p:txBody>
          <a:bodyPr/>
          <a:lstStyle/>
          <a:p>
            <a:pPr marL="12700">
              <a:lnSpc>
                <a:spcPct val="100000"/>
              </a:lnSpc>
              <a:spcBef>
                <a:spcPts val="100"/>
              </a:spcBef>
            </a:pPr>
            <a:r>
              <a:rPr lang="zh-CN" altLang="en-US" dirty="0">
                <a:latin typeface="黑体" panose="02010609060101010101" charset="-122"/>
                <a:cs typeface="黑体" panose="02010609060101010101" charset="-122"/>
              </a:rPr>
              <a:t>类对象通常对应一个命名实体，因此，用名词表达，于是我们先从名词开始</a:t>
            </a:r>
            <a:endParaRPr lang="zh-CN" altLang="en-US" dirty="0">
              <a:latin typeface="黑体" panose="02010609060101010101" charset="-122"/>
              <a:cs typeface="黑体" panose="02010609060101010101" charset="-122"/>
            </a:endParaRPr>
          </a:p>
          <a:p>
            <a:pPr>
              <a:lnSpc>
                <a:spcPct val="100000"/>
              </a:lnSpc>
            </a:pPr>
            <a:endParaRPr lang="zh-CN" altLang="en-US" dirty="0">
              <a:latin typeface="Times New Roman" panose="02020603050405020304"/>
              <a:cs typeface="Times New Roman" panose="02020603050405020304"/>
            </a:endParaRPr>
          </a:p>
          <a:p>
            <a:pPr marL="12700">
              <a:lnSpc>
                <a:spcPct val="100000"/>
              </a:lnSpc>
              <a:spcBef>
                <a:spcPts val="1560"/>
              </a:spcBef>
            </a:pPr>
            <a:r>
              <a:rPr lang="zh-CN" altLang="en-US" dirty="0">
                <a:latin typeface="黑体" panose="02010609060101010101" charset="-122"/>
                <a:cs typeface="黑体" panose="02010609060101010101" charset="-122"/>
              </a:rPr>
              <a:t>切记</a:t>
            </a:r>
            <a:r>
              <a:rPr lang="en-US" altLang="zh-CN" dirty="0">
                <a:latin typeface="黑体" panose="02010609060101010101" charset="-122"/>
                <a:cs typeface="黑体" panose="02010609060101010101" charset="-122"/>
              </a:rPr>
              <a:t>:</a:t>
            </a:r>
            <a:r>
              <a:rPr lang="zh-CN" altLang="en-US" dirty="0">
                <a:latin typeface="黑体" panose="02010609060101010101" charset="-122"/>
                <a:cs typeface="黑体" panose="02010609060101010101" charset="-122"/>
              </a:rPr>
              <a:t>别想一步到位</a:t>
            </a:r>
            <a:endParaRPr lang="zh-CN" altLang="en-US" dirty="0">
              <a:latin typeface="黑体" panose="02010609060101010101" charset="-122"/>
              <a:cs typeface="黑体" panose="02010609060101010101" charset="-122"/>
            </a:endParaRPr>
          </a:p>
          <a:p>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sp>
        <p:nvSpPr>
          <p:cNvPr id="5" name="object 4"/>
          <p:cNvSpPr/>
          <p:nvPr/>
        </p:nvSpPr>
        <p:spPr>
          <a:xfrm>
            <a:off x="6435018" y="3049946"/>
            <a:ext cx="3743325" cy="2620961"/>
          </a:xfrm>
          <a:prstGeom prst="rect">
            <a:avLst/>
          </a:prstGeom>
          <a:blipFill>
            <a:blip r:embed="rId1" cstate="print"/>
            <a:stretch>
              <a:fillRect/>
            </a:stretch>
          </a:blipFill>
        </p:spPr>
        <p:txBody>
          <a:bodyPr wrap="square" lIns="0" tIns="0" rIns="0" bIns="0" rtlCol="0"/>
          <a:lstStyle/>
          <a:p/>
        </p:txBody>
      </p:sp>
    </p:spTree>
  </p:cSld>
  <p:clrMapOvr>
    <a:masterClrMapping/>
  </p:clrMapOvr>
  <mc:AlternateContent xmlns:mc="http://schemas.openxmlformats.org/markup-compatibility/2006">
    <mc:Choice xmlns:p14="http://schemas.microsoft.com/office/powerpoint/2010/main" Requires="p14">
      <p:transition spd="slow" p14:dur="2000" advTm="30146"/>
    </mc:Choice>
    <mc:Fallback>
      <p:transition spd="slow" advTm="30146"/>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21</a:t>
            </a:r>
            <a:r>
              <a:rPr lang="zh-CN" altLang="en-US" dirty="0"/>
              <a:t>点游戏 （</a:t>
            </a:r>
            <a:r>
              <a:rPr lang="en-US" altLang="zh-CN" dirty="0"/>
              <a:t>Blackjack</a:t>
            </a:r>
            <a:r>
              <a:rPr lang="zh-CN" altLang="en-US" dirty="0"/>
              <a:t>）</a:t>
            </a:r>
            <a:endParaRPr lang="zh-CN" altLang="en-US" dirty="0"/>
          </a:p>
        </p:txBody>
      </p:sp>
      <p:sp>
        <p:nvSpPr>
          <p:cNvPr id="3" name="内容占位符 2"/>
          <p:cNvSpPr>
            <a:spLocks noGrp="1"/>
          </p:cNvSpPr>
          <p:nvPr>
            <p:ph idx="1"/>
          </p:nvPr>
        </p:nvSpPr>
        <p:spPr/>
        <p:txBody>
          <a:bodyPr/>
          <a:lstStyle/>
          <a:p>
            <a:pPr marL="241300">
              <a:lnSpc>
                <a:spcPct val="100000"/>
              </a:lnSpc>
              <a:spcBef>
                <a:spcPts val="1620"/>
              </a:spcBef>
              <a:buFont typeface="Arial" panose="020B0604020202020204"/>
              <a:buChar char="•"/>
              <a:tabLst>
                <a:tab pos="241300" algn="l"/>
              </a:tabLst>
            </a:pPr>
            <a:r>
              <a:rPr lang="en-US" altLang="zh-CN" dirty="0">
                <a:solidFill>
                  <a:srgbClr val="FF0000"/>
                </a:solidFill>
                <a:latin typeface="黑体" panose="02010609060101010101" charset="-122"/>
                <a:cs typeface="黑体" panose="02010609060101010101" charset="-122"/>
              </a:rPr>
              <a:t>21</a:t>
            </a:r>
            <a:r>
              <a:rPr lang="zh-CN" altLang="en-US" dirty="0">
                <a:solidFill>
                  <a:srgbClr val="FF0000"/>
                </a:solidFill>
                <a:latin typeface="黑体" panose="02010609060101010101" charset="-122"/>
                <a:cs typeface="黑体" panose="02010609060101010101" charset="-122"/>
              </a:rPr>
              <a:t>点游戏</a:t>
            </a:r>
            <a:r>
              <a:rPr lang="zh-CN" altLang="en-US" dirty="0">
                <a:latin typeface="黑体" panose="02010609060101010101" charset="-122"/>
                <a:cs typeface="黑体" panose="02010609060101010101" charset="-122"/>
              </a:rPr>
              <a:t>的目标是获得点数最接近或等于</a:t>
            </a:r>
            <a:r>
              <a:rPr lang="en-US" altLang="zh-CN" dirty="0">
                <a:latin typeface="黑体" panose="02010609060101010101" charset="-122"/>
                <a:cs typeface="黑体" panose="02010609060101010101" charset="-122"/>
              </a:rPr>
              <a:t>21</a:t>
            </a:r>
            <a:r>
              <a:rPr lang="zh-CN" altLang="en-US" dirty="0">
                <a:latin typeface="黑体" panose="02010609060101010101" charset="-122"/>
                <a:cs typeface="黑体" panose="02010609060101010101" charset="-122"/>
              </a:rPr>
              <a:t>的</a:t>
            </a:r>
            <a:r>
              <a:rPr lang="zh-CN" altLang="en-US" dirty="0">
                <a:solidFill>
                  <a:srgbClr val="FF0000"/>
                </a:solidFill>
                <a:latin typeface="黑体" panose="02010609060101010101" charset="-122"/>
                <a:cs typeface="黑体" panose="02010609060101010101" charset="-122"/>
              </a:rPr>
              <a:t>手牌</a:t>
            </a:r>
            <a:endParaRPr lang="zh-CN" altLang="en-US" dirty="0">
              <a:latin typeface="黑体" panose="02010609060101010101" charset="-122"/>
              <a:cs typeface="黑体" panose="02010609060101010101" charset="-122"/>
            </a:endParaRPr>
          </a:p>
          <a:p>
            <a:pPr marL="241300">
              <a:lnSpc>
                <a:spcPct val="100000"/>
              </a:lnSpc>
              <a:spcBef>
                <a:spcPts val="1520"/>
              </a:spcBef>
              <a:buFont typeface="Arial" panose="020B0604020202020204"/>
              <a:buChar char="•"/>
              <a:tabLst>
                <a:tab pos="241300" algn="l"/>
              </a:tabLst>
            </a:pPr>
            <a:r>
              <a:rPr lang="zh-CN" altLang="en-US" dirty="0">
                <a:latin typeface="黑体" panose="02010609060101010101" charset="-122"/>
                <a:cs typeface="黑体" panose="02010609060101010101" charset="-122"/>
              </a:rPr>
              <a:t>胜者需要赢过</a:t>
            </a:r>
            <a:r>
              <a:rPr lang="zh-CN" altLang="en-US" dirty="0">
                <a:solidFill>
                  <a:srgbClr val="FF0000"/>
                </a:solidFill>
                <a:latin typeface="黑体" panose="02010609060101010101" charset="-122"/>
                <a:cs typeface="黑体" panose="02010609060101010101" charset="-122"/>
              </a:rPr>
              <a:t>庄家</a:t>
            </a:r>
            <a:r>
              <a:rPr lang="zh-CN" altLang="en-US" dirty="0">
                <a:latin typeface="黑体" panose="02010609060101010101" charset="-122"/>
                <a:cs typeface="黑体" panose="02010609060101010101" charset="-122"/>
              </a:rPr>
              <a:t>的手牌，而且不能超过</a:t>
            </a:r>
            <a:r>
              <a:rPr lang="en-US" altLang="zh-CN" dirty="0">
                <a:latin typeface="黑体" panose="02010609060101010101" charset="-122"/>
                <a:cs typeface="黑体" panose="02010609060101010101" charset="-122"/>
              </a:rPr>
              <a:t>21</a:t>
            </a:r>
            <a:r>
              <a:rPr lang="zh-CN" altLang="en-US" dirty="0">
                <a:latin typeface="黑体" panose="02010609060101010101" charset="-122"/>
                <a:cs typeface="黑体" panose="02010609060101010101" charset="-122"/>
              </a:rPr>
              <a:t>点</a:t>
            </a:r>
            <a:endParaRPr lang="zh-CN" altLang="en-US" dirty="0">
              <a:latin typeface="黑体" panose="02010609060101010101" charset="-122"/>
              <a:cs typeface="黑体" panose="02010609060101010101" charset="-122"/>
            </a:endParaRPr>
          </a:p>
          <a:p>
            <a:pPr marL="241300">
              <a:lnSpc>
                <a:spcPct val="100000"/>
              </a:lnSpc>
              <a:spcBef>
                <a:spcPts val="1620"/>
              </a:spcBef>
              <a:buFont typeface="Arial" panose="020B0604020202020204"/>
              <a:buChar char="•"/>
              <a:tabLst>
                <a:tab pos="241300" algn="l"/>
              </a:tabLst>
            </a:pPr>
            <a:r>
              <a:rPr lang="zh-CN" altLang="en-US" dirty="0">
                <a:latin typeface="黑体" panose="02010609060101010101" charset="-122"/>
                <a:cs typeface="黑体" panose="02010609060101010101" charset="-122"/>
              </a:rPr>
              <a:t>无论桌上有几名</a:t>
            </a:r>
            <a:r>
              <a:rPr lang="zh-CN" altLang="en-US" dirty="0">
                <a:solidFill>
                  <a:srgbClr val="FF0000"/>
                </a:solidFill>
                <a:latin typeface="黑体" panose="02010609060101010101" charset="-122"/>
                <a:cs typeface="黑体" panose="02010609060101010101" charset="-122"/>
              </a:rPr>
              <a:t>玩家</a:t>
            </a:r>
            <a:r>
              <a:rPr lang="zh-CN" altLang="en-US" dirty="0">
                <a:latin typeface="黑体" panose="02010609060101010101" charset="-122"/>
                <a:cs typeface="黑体" panose="02010609060101010101" charset="-122"/>
              </a:rPr>
              <a:t>，你总是只和庄家论输赢</a:t>
            </a:r>
            <a:endParaRPr lang="zh-CN" altLang="en-US" dirty="0">
              <a:latin typeface="黑体" panose="02010609060101010101" charset="-122"/>
              <a:cs typeface="黑体" panose="02010609060101010101" charset="-122"/>
            </a:endParaRPr>
          </a:p>
          <a:p>
            <a:pPr marL="241300">
              <a:lnSpc>
                <a:spcPct val="100000"/>
              </a:lnSpc>
              <a:spcBef>
                <a:spcPts val="1520"/>
              </a:spcBef>
              <a:buFont typeface="Arial" panose="020B0604020202020204"/>
              <a:buChar char="•"/>
              <a:tabLst>
                <a:tab pos="241300" algn="l"/>
              </a:tabLst>
            </a:pPr>
            <a:r>
              <a:rPr lang="en-US" altLang="zh-CN" dirty="0">
                <a:latin typeface="黑体" panose="02010609060101010101" charset="-122"/>
                <a:cs typeface="黑体" panose="02010609060101010101" charset="-122"/>
              </a:rPr>
              <a:t>21</a:t>
            </a:r>
            <a:r>
              <a:rPr lang="zh-CN" altLang="en-US" dirty="0">
                <a:latin typeface="黑体" panose="02010609060101010101" charset="-122"/>
                <a:cs typeface="黑体" panose="02010609060101010101" charset="-122"/>
              </a:rPr>
              <a:t>点游戏中，</a:t>
            </a:r>
            <a:r>
              <a:rPr lang="en-US" altLang="zh-CN" dirty="0">
                <a:latin typeface="黑体" panose="02010609060101010101" charset="-122"/>
                <a:cs typeface="黑体" panose="02010609060101010101" charset="-122"/>
              </a:rPr>
              <a:t>2-10</a:t>
            </a:r>
            <a:r>
              <a:rPr lang="zh-CN" altLang="en-US" dirty="0">
                <a:latin typeface="黑体" panose="02010609060101010101" charset="-122"/>
                <a:cs typeface="黑体" panose="02010609060101010101" charset="-122"/>
              </a:rPr>
              <a:t>的</a:t>
            </a:r>
            <a:r>
              <a:rPr lang="zh-CN" altLang="en-US" dirty="0">
                <a:solidFill>
                  <a:srgbClr val="FF0000"/>
                </a:solidFill>
                <a:latin typeface="黑体" panose="02010609060101010101" charset="-122"/>
                <a:cs typeface="黑体" panose="02010609060101010101" charset="-122"/>
              </a:rPr>
              <a:t>牌</a:t>
            </a:r>
            <a:r>
              <a:rPr lang="zh-CN" altLang="en-US" dirty="0">
                <a:latin typeface="黑体" panose="02010609060101010101" charset="-122"/>
                <a:cs typeface="黑体" panose="02010609060101010101" charset="-122"/>
              </a:rPr>
              <a:t>其</a:t>
            </a:r>
            <a:r>
              <a:rPr lang="zh-CN" altLang="en-US" dirty="0">
                <a:solidFill>
                  <a:srgbClr val="FF0000"/>
                </a:solidFill>
                <a:latin typeface="黑体" panose="02010609060101010101" charset="-122"/>
                <a:cs typeface="黑体" panose="02010609060101010101" charset="-122"/>
              </a:rPr>
              <a:t>点数</a:t>
            </a:r>
            <a:r>
              <a:rPr lang="zh-CN" altLang="en-US" dirty="0">
                <a:latin typeface="黑体" panose="02010609060101010101" charset="-122"/>
                <a:cs typeface="黑体" panose="02010609060101010101" charset="-122"/>
              </a:rPr>
              <a:t>就是牌面的数值</a:t>
            </a:r>
            <a:endParaRPr lang="zh-CN" altLang="en-US" dirty="0">
              <a:latin typeface="黑体" panose="02010609060101010101" charset="-122"/>
              <a:cs typeface="黑体" panose="02010609060101010101" charset="-122"/>
            </a:endParaRPr>
          </a:p>
          <a:p>
            <a:pPr marL="241300">
              <a:lnSpc>
                <a:spcPct val="100000"/>
              </a:lnSpc>
              <a:spcBef>
                <a:spcPts val="1620"/>
              </a:spcBef>
              <a:buClr>
                <a:srgbClr val="FF0000"/>
              </a:buClr>
              <a:buFont typeface="Arial" panose="020B0604020202020204"/>
              <a:buChar char="•"/>
              <a:tabLst>
                <a:tab pos="241300" algn="l"/>
              </a:tabLst>
            </a:pPr>
            <a:r>
              <a:rPr lang="en-US" altLang="zh-CN" dirty="0">
                <a:solidFill>
                  <a:srgbClr val="FF2600"/>
                </a:solidFill>
                <a:latin typeface="黑体" panose="02010609060101010101" charset="-122"/>
                <a:cs typeface="黑体" panose="02010609060101010101" charset="-122"/>
              </a:rPr>
              <a:t>A</a:t>
            </a:r>
            <a:r>
              <a:rPr lang="zh-CN" altLang="en-US" dirty="0">
                <a:latin typeface="黑体" panose="02010609060101010101" charset="-122"/>
                <a:cs typeface="黑体" panose="02010609060101010101" charset="-122"/>
              </a:rPr>
              <a:t>的点数根据玩家的需要可以取</a:t>
            </a:r>
            <a:r>
              <a:rPr lang="en-US" altLang="zh-CN" dirty="0">
                <a:latin typeface="黑体" panose="02010609060101010101" charset="-122"/>
                <a:cs typeface="黑体" panose="02010609060101010101" charset="-122"/>
              </a:rPr>
              <a:t>1</a:t>
            </a:r>
            <a:r>
              <a:rPr lang="zh-CN" altLang="en-US" dirty="0">
                <a:latin typeface="黑体" panose="02010609060101010101" charset="-122"/>
                <a:cs typeface="黑体" panose="02010609060101010101" charset="-122"/>
              </a:rPr>
              <a:t>或</a:t>
            </a:r>
            <a:r>
              <a:rPr lang="en-US" altLang="zh-CN" dirty="0">
                <a:latin typeface="黑体" panose="02010609060101010101" charset="-122"/>
                <a:cs typeface="黑体" panose="02010609060101010101" charset="-122"/>
              </a:rPr>
              <a:t>11</a:t>
            </a:r>
            <a:endParaRPr lang="en-US" altLang="zh-CN" dirty="0">
              <a:latin typeface="黑体" panose="02010609060101010101" charset="-122"/>
              <a:cs typeface="黑体" panose="02010609060101010101" charset="-122"/>
            </a:endParaRPr>
          </a:p>
          <a:p>
            <a:pPr marL="241300">
              <a:lnSpc>
                <a:spcPct val="100000"/>
              </a:lnSpc>
              <a:spcBef>
                <a:spcPts val="1520"/>
              </a:spcBef>
              <a:buClr>
                <a:srgbClr val="FF0000"/>
              </a:buClr>
              <a:buFont typeface="Arial" panose="020B0604020202020204"/>
              <a:buChar char="•"/>
              <a:tabLst>
                <a:tab pos="241300" algn="l"/>
              </a:tabLst>
            </a:pPr>
            <a:r>
              <a:rPr lang="en-US" altLang="zh-CN" dirty="0">
                <a:solidFill>
                  <a:srgbClr val="FF2600"/>
                </a:solidFill>
                <a:latin typeface="黑体" panose="02010609060101010101" charset="-122"/>
                <a:cs typeface="黑体" panose="02010609060101010101" charset="-122"/>
              </a:rPr>
              <a:t>J</a:t>
            </a:r>
            <a:r>
              <a:rPr lang="zh-CN" altLang="en-US" dirty="0">
                <a:solidFill>
                  <a:srgbClr val="FF2600"/>
                </a:solidFill>
                <a:latin typeface="黑体" panose="02010609060101010101" charset="-122"/>
                <a:cs typeface="黑体" panose="02010609060101010101" charset="-122"/>
              </a:rPr>
              <a:t>，</a:t>
            </a:r>
            <a:r>
              <a:rPr lang="en-US" altLang="zh-CN" dirty="0">
                <a:solidFill>
                  <a:srgbClr val="FF2600"/>
                </a:solidFill>
                <a:latin typeface="黑体" panose="02010609060101010101" charset="-122"/>
                <a:cs typeface="黑体" panose="02010609060101010101" charset="-122"/>
              </a:rPr>
              <a:t>Q</a:t>
            </a:r>
            <a:r>
              <a:rPr lang="zh-CN" altLang="en-US" dirty="0">
                <a:solidFill>
                  <a:srgbClr val="FF2600"/>
                </a:solidFill>
                <a:latin typeface="黑体" panose="02010609060101010101" charset="-122"/>
                <a:cs typeface="黑体" panose="02010609060101010101" charset="-122"/>
              </a:rPr>
              <a:t>，</a:t>
            </a:r>
            <a:r>
              <a:rPr lang="en-US" altLang="zh-CN" dirty="0">
                <a:solidFill>
                  <a:srgbClr val="FF2600"/>
                </a:solidFill>
                <a:latin typeface="黑体" panose="02010609060101010101" charset="-122"/>
                <a:cs typeface="黑体" panose="02010609060101010101" charset="-122"/>
              </a:rPr>
              <a:t>K</a:t>
            </a:r>
            <a:r>
              <a:rPr lang="zh-CN" altLang="en-US" dirty="0">
                <a:latin typeface="黑体" panose="02010609060101010101" charset="-122"/>
                <a:cs typeface="黑体" panose="02010609060101010101" charset="-122"/>
              </a:rPr>
              <a:t>的点数都是</a:t>
            </a:r>
            <a:r>
              <a:rPr lang="en-US" altLang="zh-CN" dirty="0">
                <a:latin typeface="黑体" panose="02010609060101010101" charset="-122"/>
                <a:cs typeface="黑体" panose="02010609060101010101" charset="-122"/>
              </a:rPr>
              <a:t>10</a:t>
            </a:r>
            <a:endParaRPr lang="en-US" altLang="zh-CN" dirty="0">
              <a:latin typeface="黑体" panose="02010609060101010101" charset="-122"/>
              <a:cs typeface="黑体" panose="02010609060101010101" charset="-122"/>
            </a:endParaRPr>
          </a:p>
          <a:p>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sp>
        <p:nvSpPr>
          <p:cNvPr id="5" name="object 4"/>
          <p:cNvSpPr/>
          <p:nvPr/>
        </p:nvSpPr>
        <p:spPr>
          <a:xfrm>
            <a:off x="7249346" y="4456113"/>
            <a:ext cx="4104454" cy="1720850"/>
          </a:xfrm>
          <a:prstGeom prst="rect">
            <a:avLst/>
          </a:prstGeom>
          <a:blipFill>
            <a:blip r:embed="rId1" cstate="print"/>
            <a:stretch>
              <a:fillRect/>
            </a:stretch>
          </a:blipFill>
        </p:spPr>
        <p:txBody>
          <a:bodyPr wrap="square" lIns="0" tIns="0" rIns="0" bIns="0" rtlCol="0"/>
          <a:lstStyle/>
          <a:p/>
        </p:txBody>
      </p:sp>
    </p:spTree>
  </p:cSld>
  <p:clrMapOvr>
    <a:masterClrMapping/>
  </p:clrMapOvr>
  <mc:AlternateContent xmlns:mc="http://schemas.openxmlformats.org/markup-compatibility/2006">
    <mc:Choice xmlns:p14="http://schemas.microsoft.com/office/powerpoint/2010/main" Requires="p14">
      <p:transition spd="slow" p14:dur="2000" advTm="28549"/>
    </mc:Choice>
    <mc:Fallback>
      <p:transition spd="slow" advTm="28549"/>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21</a:t>
            </a:r>
            <a:r>
              <a:rPr lang="zh-CN" altLang="en-US" dirty="0"/>
              <a:t>点游戏 （</a:t>
            </a:r>
            <a:r>
              <a:rPr lang="en-US" altLang="zh-CN" dirty="0"/>
              <a:t>Blackjack</a:t>
            </a:r>
            <a:r>
              <a:rPr lang="zh-CN" altLang="en-US" dirty="0"/>
              <a:t>）</a:t>
            </a:r>
            <a:endParaRPr lang="zh-CN" altLang="en-US" dirty="0"/>
          </a:p>
        </p:txBody>
      </p:sp>
      <p:sp>
        <p:nvSpPr>
          <p:cNvPr id="3" name="内容占位符 2"/>
          <p:cNvSpPr>
            <a:spLocks noGrp="1"/>
          </p:cNvSpPr>
          <p:nvPr>
            <p:ph idx="1"/>
          </p:nvPr>
        </p:nvSpPr>
        <p:spPr/>
        <p:txBody>
          <a:bodyPr/>
          <a:lstStyle/>
          <a:p>
            <a:pPr marL="241300">
              <a:lnSpc>
                <a:spcPct val="100000"/>
              </a:lnSpc>
              <a:spcBef>
                <a:spcPts val="1620"/>
              </a:spcBef>
              <a:buFont typeface="Arial" panose="020B0604020202020204"/>
              <a:buChar char="•"/>
              <a:tabLst>
                <a:tab pos="241300" algn="l"/>
              </a:tabLst>
            </a:pPr>
            <a:r>
              <a:rPr lang="zh-CN" altLang="en-US" dirty="0">
                <a:latin typeface="黑体" panose="02010609060101010101" charset="-122"/>
                <a:cs typeface="黑体" panose="02010609060101010101" charset="-122"/>
              </a:rPr>
              <a:t>游戏开始时，玩家首先下</a:t>
            </a:r>
            <a:r>
              <a:rPr lang="zh-CN" altLang="en-US" dirty="0">
                <a:solidFill>
                  <a:srgbClr val="FF0000"/>
                </a:solidFill>
                <a:latin typeface="黑体" panose="02010609060101010101" charset="-122"/>
                <a:cs typeface="黑体" panose="02010609060101010101" charset="-122"/>
              </a:rPr>
              <a:t>注</a:t>
            </a:r>
            <a:r>
              <a:rPr lang="zh-CN" altLang="en-US" dirty="0">
                <a:latin typeface="黑体" panose="02010609060101010101" charset="-122"/>
                <a:cs typeface="黑体" panose="02010609060101010101" charset="-122"/>
              </a:rPr>
              <a:t>，通常下注的额度是有</a:t>
            </a:r>
            <a:r>
              <a:rPr lang="zh-CN" altLang="en-US" dirty="0">
                <a:solidFill>
                  <a:srgbClr val="FF0000"/>
                </a:solidFill>
                <a:latin typeface="黑体" panose="02010609060101010101" charset="-122"/>
                <a:cs typeface="黑体" panose="02010609060101010101" charset="-122"/>
              </a:rPr>
              <a:t>上限</a:t>
            </a:r>
            <a:r>
              <a:rPr lang="zh-CN" altLang="en-US" dirty="0">
                <a:latin typeface="黑体" panose="02010609060101010101" charset="-122"/>
                <a:cs typeface="黑体" panose="02010609060101010101" charset="-122"/>
              </a:rPr>
              <a:t>的</a:t>
            </a:r>
            <a:endParaRPr lang="zh-CN" altLang="en-US" dirty="0">
              <a:latin typeface="黑体" panose="02010609060101010101" charset="-122"/>
              <a:cs typeface="黑体" panose="02010609060101010101" charset="-122"/>
            </a:endParaRPr>
          </a:p>
          <a:p>
            <a:pPr marL="241300">
              <a:lnSpc>
                <a:spcPct val="100000"/>
              </a:lnSpc>
              <a:spcBef>
                <a:spcPts val="1520"/>
              </a:spcBef>
              <a:buFont typeface="Arial" panose="020B0604020202020204"/>
              <a:buChar char="•"/>
              <a:tabLst>
                <a:tab pos="241300" algn="l"/>
              </a:tabLst>
            </a:pPr>
            <a:r>
              <a:rPr lang="zh-CN" altLang="en-US" dirty="0">
                <a:latin typeface="黑体" panose="02010609060101010101" charset="-122"/>
                <a:cs typeface="黑体" panose="02010609060101010101" charset="-122"/>
              </a:rPr>
              <a:t>如果你是唯一玩家，下注后，庄家给你发两张牌，牌面向上，双方均能看到</a:t>
            </a:r>
            <a:endParaRPr lang="zh-CN" altLang="en-US" dirty="0">
              <a:latin typeface="黑体" panose="02010609060101010101" charset="-122"/>
              <a:cs typeface="黑体" panose="02010609060101010101" charset="-122"/>
            </a:endParaRPr>
          </a:p>
          <a:p>
            <a:pPr marL="241300">
              <a:lnSpc>
                <a:spcPct val="100000"/>
              </a:lnSpc>
              <a:spcBef>
                <a:spcPts val="1620"/>
              </a:spcBef>
              <a:buFont typeface="Arial" panose="020B0604020202020204"/>
              <a:buChar char="•"/>
              <a:tabLst>
                <a:tab pos="241300" algn="l"/>
              </a:tabLst>
            </a:pPr>
            <a:r>
              <a:rPr lang="zh-CN" altLang="en-US" dirty="0">
                <a:latin typeface="黑体" panose="02010609060101010101" charset="-122"/>
                <a:cs typeface="黑体" panose="02010609060101010101" charset="-122"/>
              </a:rPr>
              <a:t>庄家给自己发两张牌，一张牌面向上（</a:t>
            </a:r>
            <a:r>
              <a:rPr lang="zh-CN" altLang="en-US" dirty="0">
                <a:solidFill>
                  <a:srgbClr val="FF0000"/>
                </a:solidFill>
                <a:latin typeface="黑体" panose="02010609060101010101" charset="-122"/>
                <a:cs typeface="黑体" panose="02010609060101010101" charset="-122"/>
              </a:rPr>
              <a:t>明牌</a:t>
            </a:r>
            <a:r>
              <a:rPr lang="zh-CN" altLang="en-US" dirty="0">
                <a:latin typeface="黑体" panose="02010609060101010101" charset="-122"/>
                <a:cs typeface="黑体" panose="02010609060101010101" charset="-122"/>
              </a:rPr>
              <a:t>），一张牌面向下（</a:t>
            </a:r>
            <a:r>
              <a:rPr lang="zh-CN" altLang="en-US" dirty="0">
                <a:solidFill>
                  <a:srgbClr val="FF0000"/>
                </a:solidFill>
                <a:latin typeface="黑体" panose="02010609060101010101" charset="-122"/>
                <a:cs typeface="黑体" panose="02010609060101010101" charset="-122"/>
              </a:rPr>
              <a:t>底牌</a:t>
            </a:r>
            <a:r>
              <a:rPr lang="zh-CN" altLang="en-US" dirty="0">
                <a:latin typeface="黑体" panose="02010609060101010101" charset="-122"/>
                <a:cs typeface="黑体" panose="02010609060101010101" charset="-122"/>
              </a:rPr>
              <a:t>）</a:t>
            </a:r>
            <a:endParaRPr lang="zh-CN" altLang="en-US" dirty="0">
              <a:latin typeface="黑体" panose="02010609060101010101" charset="-122"/>
              <a:cs typeface="黑体" panose="02010609060101010101" charset="-122"/>
            </a:endParaRPr>
          </a:p>
          <a:p>
            <a:pPr marL="240665" marR="5080">
              <a:lnSpc>
                <a:spcPct val="122000"/>
              </a:lnSpc>
              <a:spcBef>
                <a:spcPts val="900"/>
              </a:spcBef>
              <a:buFont typeface="Arial" panose="020B0604020202020204"/>
              <a:buChar char="•"/>
              <a:tabLst>
                <a:tab pos="241300" algn="l"/>
              </a:tabLst>
            </a:pPr>
            <a:r>
              <a:rPr lang="zh-CN" altLang="en-US" dirty="0">
                <a:latin typeface="黑体" panose="02010609060101010101" charset="-122"/>
                <a:cs typeface="黑体" panose="02010609060101010101" charset="-122"/>
              </a:rPr>
              <a:t>如果有多个玩家，则庄家给每位玩家都是先发一张明牌，庄家自己发一张底 牌，再给每个玩家和庄家各发一张明牌</a:t>
            </a:r>
            <a:endParaRPr lang="zh-CN" altLang="en-US" dirty="0">
              <a:latin typeface="黑体" panose="02010609060101010101" charset="-122"/>
              <a:cs typeface="黑体" panose="02010609060101010101" charset="-122"/>
            </a:endParaRPr>
          </a:p>
          <a:p>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sp>
        <p:nvSpPr>
          <p:cNvPr id="5" name="object 4"/>
          <p:cNvSpPr/>
          <p:nvPr/>
        </p:nvSpPr>
        <p:spPr>
          <a:xfrm>
            <a:off x="9730857" y="5118294"/>
            <a:ext cx="1351519" cy="1232909"/>
          </a:xfrm>
          <a:prstGeom prst="rect">
            <a:avLst/>
          </a:prstGeom>
          <a:blipFill>
            <a:blip r:embed="rId1" cstate="print"/>
            <a:stretch>
              <a:fillRect/>
            </a:stretch>
          </a:blipFill>
        </p:spPr>
        <p:txBody>
          <a:bodyPr wrap="square" lIns="0" tIns="0" rIns="0" bIns="0" rtlCol="0"/>
          <a:lstStyle/>
          <a:p/>
        </p:txBody>
      </p:sp>
    </p:spTree>
  </p:cSld>
  <p:clrMapOvr>
    <a:masterClrMapping/>
  </p:clrMapOvr>
  <mc:AlternateContent xmlns:mc="http://schemas.openxmlformats.org/markup-compatibility/2006">
    <mc:Choice xmlns:p14="http://schemas.microsoft.com/office/powerpoint/2010/main" Requires="p14">
      <p:transition spd="slow" p14:dur="2000" advTm="11382"/>
    </mc:Choice>
    <mc:Fallback>
      <p:transition spd="slow" advTm="11382"/>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21</a:t>
            </a:r>
            <a:r>
              <a:rPr lang="zh-CN" altLang="en-US" dirty="0"/>
              <a:t>点游戏 （</a:t>
            </a:r>
            <a:r>
              <a:rPr lang="en-US" altLang="zh-CN" dirty="0"/>
              <a:t>Blackjack</a:t>
            </a:r>
            <a:r>
              <a:rPr lang="zh-CN" altLang="en-US" dirty="0"/>
              <a:t>）</a:t>
            </a:r>
            <a:endParaRPr lang="zh-CN" altLang="en-US" dirty="0"/>
          </a:p>
        </p:txBody>
      </p:sp>
      <p:sp>
        <p:nvSpPr>
          <p:cNvPr id="3" name="内容占位符 2"/>
          <p:cNvSpPr>
            <a:spLocks noGrp="1"/>
          </p:cNvSpPr>
          <p:nvPr>
            <p:ph idx="1"/>
          </p:nvPr>
        </p:nvSpPr>
        <p:spPr/>
        <p:txBody>
          <a:bodyPr>
            <a:normAutofit fontScale="92500" lnSpcReduction="10000"/>
          </a:bodyPr>
          <a:lstStyle/>
          <a:p>
            <a:pPr marL="240665" marR="5080">
              <a:lnSpc>
                <a:spcPct val="108000"/>
              </a:lnSpc>
              <a:spcBef>
                <a:spcPts val="100"/>
              </a:spcBef>
              <a:buFont typeface="Arial" panose="020B0604020202020204"/>
              <a:buChar char="•"/>
              <a:tabLst>
                <a:tab pos="241300" algn="l"/>
              </a:tabLst>
            </a:pPr>
            <a:r>
              <a:rPr lang="zh-CN" altLang="en-US" sz="2400" dirty="0">
                <a:latin typeface="黑体" panose="02010609060101010101" charset="-122"/>
                <a:cs typeface="黑体" panose="02010609060101010101" charset="-122"/>
              </a:rPr>
              <a:t>发完两张牌之后，每位玩家自己决定是否要更多的牌，当对手上的牌数满意 之后，就停手等待</a:t>
            </a:r>
            <a:endParaRPr lang="zh-CN" altLang="en-US" sz="2400" dirty="0">
              <a:latin typeface="黑体" panose="02010609060101010101" charset="-122"/>
              <a:cs typeface="黑体" panose="02010609060101010101" charset="-122"/>
            </a:endParaRPr>
          </a:p>
          <a:p>
            <a:pPr marL="241300">
              <a:lnSpc>
                <a:spcPct val="100000"/>
              </a:lnSpc>
              <a:spcBef>
                <a:spcPts val="1320"/>
              </a:spcBef>
              <a:buFont typeface="Arial" panose="020B0604020202020204"/>
              <a:buChar char="•"/>
              <a:tabLst>
                <a:tab pos="241300" algn="l"/>
              </a:tabLst>
            </a:pPr>
            <a:r>
              <a:rPr lang="zh-CN" altLang="en-US" sz="2400" dirty="0">
                <a:latin typeface="黑体" panose="02010609060101010101" charset="-122"/>
                <a:cs typeface="黑体" panose="02010609060101010101" charset="-122"/>
              </a:rPr>
              <a:t>停手之后，庄家开始加牌，不能超过</a:t>
            </a:r>
            <a:r>
              <a:rPr lang="en-US" altLang="zh-CN" sz="2400" dirty="0">
                <a:latin typeface="黑体" panose="02010609060101010101" charset="-122"/>
                <a:cs typeface="黑体" panose="02010609060101010101" charset="-122"/>
              </a:rPr>
              <a:t>21</a:t>
            </a:r>
            <a:r>
              <a:rPr lang="zh-CN" altLang="en-US" sz="2400" dirty="0">
                <a:latin typeface="黑体" panose="02010609060101010101" charset="-122"/>
                <a:cs typeface="黑体" panose="02010609060101010101" charset="-122"/>
              </a:rPr>
              <a:t>点</a:t>
            </a:r>
            <a:endParaRPr lang="zh-CN" altLang="en-US" sz="2400" dirty="0">
              <a:latin typeface="黑体" panose="02010609060101010101" charset="-122"/>
              <a:cs typeface="黑体" panose="02010609060101010101" charset="-122"/>
            </a:endParaRPr>
          </a:p>
          <a:p>
            <a:pPr marL="241300">
              <a:lnSpc>
                <a:spcPct val="100000"/>
              </a:lnSpc>
              <a:spcBef>
                <a:spcPts val="1320"/>
              </a:spcBef>
              <a:buFont typeface="Arial" panose="020B0604020202020204"/>
              <a:buChar char="•"/>
              <a:tabLst>
                <a:tab pos="241300" algn="l"/>
              </a:tabLst>
            </a:pPr>
            <a:r>
              <a:rPr lang="zh-CN" altLang="en-US" sz="2400" dirty="0">
                <a:latin typeface="黑体" panose="02010609060101010101" charset="-122"/>
                <a:cs typeface="黑体" panose="02010609060101010101" charset="-122"/>
              </a:rPr>
              <a:t>当你的手牌点数超过庄家时，你赢，当你的手牌点数不及庄家时，庄家赢</a:t>
            </a:r>
            <a:endParaRPr lang="zh-CN" altLang="en-US" sz="2400" dirty="0">
              <a:latin typeface="黑体" panose="02010609060101010101" charset="-122"/>
              <a:cs typeface="黑体" panose="02010609060101010101" charset="-122"/>
            </a:endParaRPr>
          </a:p>
          <a:p>
            <a:pPr marL="241300">
              <a:lnSpc>
                <a:spcPct val="100000"/>
              </a:lnSpc>
              <a:spcBef>
                <a:spcPts val="1220"/>
              </a:spcBef>
              <a:buFont typeface="Arial" panose="020B0604020202020204"/>
              <a:buChar char="•"/>
              <a:tabLst>
                <a:tab pos="241300" algn="l"/>
              </a:tabLst>
            </a:pPr>
            <a:r>
              <a:rPr lang="zh-CN" altLang="en-US" sz="2400" dirty="0">
                <a:latin typeface="黑体" panose="02010609060101010101" charset="-122"/>
                <a:cs typeface="黑体" panose="02010609060101010101" charset="-122"/>
              </a:rPr>
              <a:t>玩家赢</a:t>
            </a:r>
            <a:r>
              <a:rPr lang="en-US" altLang="zh-CN" sz="2400" dirty="0">
                <a:latin typeface="黑体" panose="02010609060101010101" charset="-122"/>
                <a:cs typeface="黑体" panose="02010609060101010101" charset="-122"/>
              </a:rPr>
              <a:t>:</a:t>
            </a:r>
            <a:endParaRPr lang="en-US" altLang="zh-CN" sz="2400" dirty="0">
              <a:latin typeface="黑体" panose="02010609060101010101" charset="-122"/>
              <a:cs typeface="黑体" panose="02010609060101010101" charset="-122"/>
            </a:endParaRPr>
          </a:p>
          <a:p>
            <a:pPr marL="698500" lvl="1">
              <a:lnSpc>
                <a:spcPct val="100000"/>
              </a:lnSpc>
              <a:spcBef>
                <a:spcPts val="820"/>
              </a:spcBef>
              <a:buFont typeface="Arial" panose="020B0604020202020204"/>
              <a:buChar char="•"/>
              <a:tabLst>
                <a:tab pos="698500" algn="l"/>
              </a:tabLst>
            </a:pPr>
            <a:r>
              <a:rPr lang="zh-CN" altLang="en-US" dirty="0">
                <a:latin typeface="黑体" panose="02010609060101010101" charset="-122"/>
                <a:cs typeface="黑体" panose="02010609060101010101" charset="-122"/>
              </a:rPr>
              <a:t>你的手牌点数超过庄家，切不超过</a:t>
            </a:r>
            <a:r>
              <a:rPr lang="en-US" altLang="zh-CN" dirty="0">
                <a:latin typeface="黑体" panose="02010609060101010101" charset="-122"/>
                <a:cs typeface="黑体" panose="02010609060101010101" charset="-122"/>
              </a:rPr>
              <a:t>21</a:t>
            </a:r>
            <a:r>
              <a:rPr lang="zh-CN" altLang="en-US" dirty="0">
                <a:latin typeface="黑体" panose="02010609060101010101" charset="-122"/>
                <a:cs typeface="黑体" panose="02010609060101010101" charset="-122"/>
              </a:rPr>
              <a:t>点</a:t>
            </a:r>
            <a:endParaRPr lang="zh-CN" altLang="en-US" dirty="0">
              <a:latin typeface="黑体" panose="02010609060101010101" charset="-122"/>
              <a:cs typeface="黑体" panose="02010609060101010101" charset="-122"/>
            </a:endParaRPr>
          </a:p>
          <a:p>
            <a:pPr marL="698500" lvl="1">
              <a:lnSpc>
                <a:spcPct val="100000"/>
              </a:lnSpc>
              <a:spcBef>
                <a:spcPts val="820"/>
              </a:spcBef>
              <a:buFont typeface="Arial" panose="020B0604020202020204"/>
              <a:buChar char="•"/>
              <a:tabLst>
                <a:tab pos="698500" algn="l"/>
              </a:tabLst>
            </a:pPr>
            <a:r>
              <a:rPr lang="zh-CN" altLang="en-US" dirty="0">
                <a:latin typeface="黑体" panose="02010609060101010101" charset="-122"/>
                <a:cs typeface="黑体" panose="02010609060101010101" charset="-122"/>
              </a:rPr>
              <a:t>庄家冒过</a:t>
            </a:r>
            <a:r>
              <a:rPr lang="en-US" altLang="zh-CN" dirty="0">
                <a:latin typeface="黑体" panose="02010609060101010101" charset="-122"/>
                <a:cs typeface="黑体" panose="02010609060101010101" charset="-122"/>
              </a:rPr>
              <a:t>21</a:t>
            </a:r>
            <a:r>
              <a:rPr lang="zh-CN" altLang="en-US" dirty="0">
                <a:latin typeface="黑体" panose="02010609060101010101" charset="-122"/>
                <a:cs typeface="黑体" panose="02010609060101010101" charset="-122"/>
              </a:rPr>
              <a:t>点</a:t>
            </a:r>
            <a:endParaRPr lang="zh-CN" altLang="en-US" dirty="0">
              <a:latin typeface="黑体" panose="02010609060101010101" charset="-122"/>
              <a:cs typeface="黑体" panose="02010609060101010101" charset="-122"/>
            </a:endParaRPr>
          </a:p>
          <a:p>
            <a:pPr marL="241300">
              <a:lnSpc>
                <a:spcPct val="100000"/>
              </a:lnSpc>
              <a:spcBef>
                <a:spcPts val="1220"/>
              </a:spcBef>
              <a:buFont typeface="Arial" panose="020B0604020202020204"/>
              <a:buChar char="•"/>
              <a:tabLst>
                <a:tab pos="241300" algn="l"/>
              </a:tabLst>
            </a:pPr>
            <a:r>
              <a:rPr lang="zh-CN" altLang="en-US" sz="2400" dirty="0">
                <a:latin typeface="黑体" panose="02010609060101010101" charset="-122"/>
                <a:cs typeface="黑体" panose="02010609060101010101" charset="-122"/>
              </a:rPr>
              <a:t>玩家和庄家点数持平，则不输不赢，庄家将玩家赌注归还</a:t>
            </a:r>
            <a:endParaRPr lang="zh-CN" altLang="en-US" sz="2400" dirty="0">
              <a:latin typeface="黑体" panose="02010609060101010101" charset="-122"/>
              <a:cs typeface="黑体" panose="02010609060101010101" charset="-122"/>
            </a:endParaRPr>
          </a:p>
          <a:p>
            <a:pPr marL="241300">
              <a:lnSpc>
                <a:spcPct val="100000"/>
              </a:lnSpc>
              <a:spcBef>
                <a:spcPts val="1320"/>
              </a:spcBef>
              <a:buFont typeface="Arial" panose="020B0604020202020204"/>
              <a:buChar char="•"/>
              <a:tabLst>
                <a:tab pos="241300" algn="l"/>
              </a:tabLst>
            </a:pPr>
            <a:r>
              <a:rPr lang="zh-CN" altLang="en-US" sz="2400" dirty="0">
                <a:latin typeface="黑体" panose="02010609060101010101" charset="-122"/>
                <a:cs typeface="黑体" panose="02010609060101010101" charset="-122"/>
              </a:rPr>
              <a:t>玩家输</a:t>
            </a:r>
            <a:r>
              <a:rPr lang="en-US" altLang="zh-CN" sz="2400" dirty="0">
                <a:latin typeface="黑体" panose="02010609060101010101" charset="-122"/>
                <a:cs typeface="黑体" panose="02010609060101010101" charset="-122"/>
              </a:rPr>
              <a:t>:</a:t>
            </a:r>
            <a:endParaRPr lang="en-US" altLang="zh-CN" sz="2400" dirty="0">
              <a:latin typeface="黑体" panose="02010609060101010101" charset="-122"/>
              <a:cs typeface="黑体" panose="02010609060101010101" charset="-122"/>
            </a:endParaRPr>
          </a:p>
          <a:p>
            <a:pPr marL="698500" lvl="1">
              <a:lnSpc>
                <a:spcPct val="100000"/>
              </a:lnSpc>
              <a:spcBef>
                <a:spcPts val="820"/>
              </a:spcBef>
              <a:buFont typeface="Arial" panose="020B0604020202020204"/>
              <a:buChar char="•"/>
              <a:tabLst>
                <a:tab pos="698500" algn="l"/>
                <a:tab pos="2068830" algn="l"/>
              </a:tabLst>
            </a:pPr>
            <a:r>
              <a:rPr lang="zh-CN" altLang="en-US" dirty="0">
                <a:latin typeface="黑体" panose="02010609060101010101" charset="-122"/>
                <a:cs typeface="黑体" panose="02010609060101010101" charset="-122"/>
              </a:rPr>
              <a:t>玩家冒过	</a:t>
            </a:r>
            <a:r>
              <a:rPr lang="en-US" altLang="zh-CN" dirty="0">
                <a:latin typeface="黑体" panose="02010609060101010101" charset="-122"/>
                <a:cs typeface="黑体" panose="02010609060101010101" charset="-122"/>
              </a:rPr>
              <a:t>21</a:t>
            </a:r>
            <a:r>
              <a:rPr lang="zh-CN" altLang="en-US" dirty="0">
                <a:latin typeface="黑体" panose="02010609060101010101" charset="-122"/>
                <a:cs typeface="黑体" panose="02010609060101010101" charset="-122"/>
              </a:rPr>
              <a:t>点</a:t>
            </a:r>
            <a:endParaRPr lang="zh-CN" altLang="en-US" dirty="0">
              <a:latin typeface="黑体" panose="02010609060101010101" charset="-122"/>
              <a:cs typeface="黑体" panose="02010609060101010101" charset="-122"/>
            </a:endParaRPr>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9701"/>
    </mc:Choice>
    <mc:Fallback>
      <p:transition spd="slow" advTm="9701"/>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通过名词过滤识别出的对象类</a:t>
            </a:r>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sp>
        <p:nvSpPr>
          <p:cNvPr id="5" name="object 3"/>
          <p:cNvSpPr txBox="1"/>
          <p:nvPr/>
        </p:nvSpPr>
        <p:spPr>
          <a:xfrm>
            <a:off x="1537048" y="1690688"/>
            <a:ext cx="1095327" cy="3662541"/>
          </a:xfrm>
          <a:prstGeom prst="rect">
            <a:avLst/>
          </a:prstGeom>
        </p:spPr>
        <p:txBody>
          <a:bodyPr vert="horz" wrap="square" lIns="0" tIns="91440" rIns="0" bIns="0" rtlCol="0">
            <a:spAutoFit/>
          </a:bodyPr>
          <a:lstStyle/>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黑体" panose="02010609060101010101" charset="-122"/>
              </a:rPr>
              <a:t>游戏</a:t>
            </a:r>
            <a:endParaRPr sz="2400" dirty="0">
              <a:latin typeface="微软雅黑" panose="020B0503020204020204" pitchFamily="34" charset="-122"/>
              <a:ea typeface="微软雅黑" panose="020B0503020204020204" pitchFamily="34" charset="-122"/>
              <a:cs typeface="黑体" panose="02010609060101010101" charset="-122"/>
            </a:endParaRPr>
          </a:p>
          <a:p>
            <a:pPr marL="241300" indent="-228600">
              <a:lnSpc>
                <a:spcPct val="100000"/>
              </a:lnSpc>
              <a:spcBef>
                <a:spcPts val="6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黑体" panose="02010609060101010101" charset="-122"/>
              </a:rPr>
              <a:t>21点</a:t>
            </a:r>
            <a:endParaRPr sz="2400" dirty="0">
              <a:latin typeface="微软雅黑" panose="020B0503020204020204" pitchFamily="34" charset="-122"/>
              <a:ea typeface="微软雅黑" panose="020B0503020204020204" pitchFamily="34" charset="-122"/>
              <a:cs typeface="黑体" panose="02010609060101010101" charset="-122"/>
            </a:endParaRP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黑体" panose="02010609060101010101" charset="-122"/>
              </a:rPr>
              <a:t>庄家</a:t>
            </a:r>
            <a:endParaRPr sz="2400" dirty="0">
              <a:latin typeface="微软雅黑" panose="020B0503020204020204" pitchFamily="34" charset="-122"/>
              <a:ea typeface="微软雅黑" panose="020B0503020204020204" pitchFamily="34" charset="-122"/>
              <a:cs typeface="黑体" panose="02010609060101010101" charset="-122"/>
            </a:endParaRP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黑体" panose="02010609060101010101" charset="-122"/>
              </a:rPr>
              <a:t>玩家</a:t>
            </a:r>
            <a:endParaRPr sz="2400" dirty="0">
              <a:latin typeface="微软雅黑" panose="020B0503020204020204" pitchFamily="34" charset="-122"/>
              <a:ea typeface="微软雅黑" panose="020B0503020204020204" pitchFamily="34" charset="-122"/>
              <a:cs typeface="黑体" panose="02010609060101010101" charset="-122"/>
            </a:endParaRP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黑体" panose="02010609060101010101" charset="-122"/>
              </a:rPr>
              <a:t>牌</a:t>
            </a:r>
            <a:endParaRPr sz="2400" dirty="0">
              <a:latin typeface="微软雅黑" panose="020B0503020204020204" pitchFamily="34" charset="-122"/>
              <a:ea typeface="微软雅黑" panose="020B0503020204020204" pitchFamily="34" charset="-122"/>
              <a:cs typeface="黑体" panose="02010609060101010101" charset="-122"/>
            </a:endParaRP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黑体" panose="02010609060101010101" charset="-122"/>
              </a:rPr>
              <a:t>牌堆</a:t>
            </a:r>
            <a:endParaRPr sz="2400" dirty="0">
              <a:latin typeface="微软雅黑" panose="020B0503020204020204" pitchFamily="34" charset="-122"/>
              <a:ea typeface="微软雅黑" panose="020B0503020204020204" pitchFamily="34" charset="-122"/>
              <a:cs typeface="黑体" panose="02010609060101010101" charset="-122"/>
            </a:endParaRPr>
          </a:p>
          <a:p>
            <a:pPr marL="241300" indent="-228600">
              <a:lnSpc>
                <a:spcPct val="100000"/>
              </a:lnSpc>
              <a:spcBef>
                <a:spcPts val="720"/>
              </a:spcBef>
              <a:buFont typeface="Arial" panose="020B0604020202020204"/>
              <a:buChar char="•"/>
              <a:tabLst>
                <a:tab pos="241300" algn="l"/>
              </a:tabLst>
            </a:pPr>
            <a:r>
              <a:rPr sz="2400" dirty="0" err="1">
                <a:latin typeface="微软雅黑" panose="020B0503020204020204" pitchFamily="34" charset="-122"/>
                <a:ea typeface="微软雅黑" panose="020B0503020204020204" pitchFamily="34" charset="-122"/>
                <a:cs typeface="黑体" panose="02010609060101010101" charset="-122"/>
              </a:rPr>
              <a:t>手牌</a:t>
            </a:r>
            <a:endParaRPr lang="en-US" altLang="zh-CN" sz="2400" dirty="0">
              <a:latin typeface="微软雅黑" panose="020B0503020204020204" pitchFamily="34" charset="-122"/>
              <a:ea typeface="微软雅黑" panose="020B0503020204020204" pitchFamily="34" charset="-122"/>
              <a:cs typeface="黑体" panose="02010609060101010101" charset="-122"/>
            </a:endParaRPr>
          </a:p>
          <a:p>
            <a:pPr marL="241300" indent="-228600">
              <a:lnSpc>
                <a:spcPct val="100000"/>
              </a:lnSpc>
              <a:spcBef>
                <a:spcPts val="720"/>
              </a:spcBef>
              <a:buFont typeface="Arial" panose="020B0604020202020204"/>
              <a:buChar char="•"/>
              <a:tabLst>
                <a:tab pos="241300" algn="l"/>
              </a:tabLst>
            </a:pPr>
            <a:r>
              <a:rPr lang="zh-CN" altLang="en-US" sz="2400" dirty="0">
                <a:latin typeface="微软雅黑" panose="020B0503020204020204" pitchFamily="34" charset="-122"/>
                <a:ea typeface="微软雅黑" panose="020B0503020204020204" pitchFamily="34" charset="-122"/>
                <a:cs typeface="黑体" panose="02010609060101010101" charset="-122"/>
              </a:rPr>
              <a:t>点数</a:t>
            </a:r>
            <a:endParaRPr lang="zh-CN" altLang="en-US" sz="2400" dirty="0">
              <a:latin typeface="微软雅黑" panose="020B0503020204020204" pitchFamily="34" charset="-122"/>
              <a:ea typeface="微软雅黑" panose="020B0503020204020204" pitchFamily="34" charset="-122"/>
              <a:cs typeface="黑体" panose="02010609060101010101" charset="-122"/>
            </a:endParaRPr>
          </a:p>
        </p:txBody>
      </p:sp>
      <p:sp>
        <p:nvSpPr>
          <p:cNvPr id="6" name="object 4"/>
          <p:cNvSpPr txBox="1"/>
          <p:nvPr/>
        </p:nvSpPr>
        <p:spPr>
          <a:xfrm>
            <a:off x="4572076" y="1690688"/>
            <a:ext cx="1168400" cy="3675365"/>
          </a:xfrm>
          <a:prstGeom prst="rect">
            <a:avLst/>
          </a:prstGeom>
        </p:spPr>
        <p:txBody>
          <a:bodyPr vert="horz" wrap="square" lIns="0" tIns="91440" rIns="0" bIns="0" rtlCol="0">
            <a:spAutoFit/>
          </a:bodyPr>
          <a:lstStyle/>
          <a:p>
            <a:pPr marL="241300" indent="-228600">
              <a:spcBef>
                <a:spcPts val="720"/>
              </a:spcBef>
              <a:buFont typeface="Arial" panose="020B0604020202020204"/>
              <a:buChar char="•"/>
              <a:tabLst>
                <a:tab pos="241300" algn="l"/>
              </a:tabLst>
            </a:pPr>
            <a:r>
              <a:rPr lang="zh-CN" altLang="en-US" sz="2400" dirty="0">
                <a:latin typeface="微软雅黑" panose="020B0503020204020204" pitchFamily="34" charset="-122"/>
                <a:ea typeface="微软雅黑" panose="020B0503020204020204" pitchFamily="34" charset="-122"/>
                <a:cs typeface="黑体" panose="02010609060101010101" charset="-122"/>
              </a:rPr>
              <a:t>花色</a:t>
            </a:r>
            <a:endParaRPr lang="en-US" altLang="zh-CN" sz="2400" dirty="0">
              <a:latin typeface="微软雅黑" panose="020B0503020204020204" pitchFamily="34" charset="-122"/>
              <a:ea typeface="微软雅黑" panose="020B0503020204020204" pitchFamily="34" charset="-122"/>
              <a:cs typeface="黑体" panose="02010609060101010101" charset="-122"/>
            </a:endParaRPr>
          </a:p>
          <a:p>
            <a:pPr marL="241300" indent="-228600">
              <a:lnSpc>
                <a:spcPct val="100000"/>
              </a:lnSpc>
              <a:spcBef>
                <a:spcPts val="720"/>
              </a:spcBef>
              <a:buFont typeface="Arial" panose="020B0604020202020204"/>
              <a:buChar char="•"/>
              <a:tabLst>
                <a:tab pos="241300" algn="l"/>
              </a:tabLst>
            </a:pPr>
            <a:r>
              <a:rPr sz="2400" dirty="0" err="1">
                <a:latin typeface="微软雅黑" panose="020B0503020204020204" pitchFamily="34" charset="-122"/>
                <a:ea typeface="微软雅黑" panose="020B0503020204020204" pitchFamily="34" charset="-122"/>
                <a:cs typeface="黑体" panose="02010609060101010101" charset="-122"/>
              </a:rPr>
              <a:t>赢家</a:t>
            </a:r>
            <a:endParaRPr sz="2400" dirty="0">
              <a:latin typeface="微软雅黑" panose="020B0503020204020204" pitchFamily="34" charset="-122"/>
              <a:ea typeface="微软雅黑" panose="020B0503020204020204" pitchFamily="34" charset="-122"/>
              <a:cs typeface="黑体" panose="02010609060101010101" charset="-122"/>
            </a:endParaRP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黑体" panose="02010609060101010101" charset="-122"/>
              </a:rPr>
              <a:t>A</a:t>
            </a:r>
            <a:endParaRPr sz="2400" dirty="0">
              <a:latin typeface="微软雅黑" panose="020B0503020204020204" pitchFamily="34" charset="-122"/>
              <a:ea typeface="微软雅黑" panose="020B0503020204020204" pitchFamily="34" charset="-122"/>
              <a:cs typeface="黑体" panose="02010609060101010101" charset="-122"/>
            </a:endParaRP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黑体" panose="02010609060101010101" charset="-122"/>
              </a:rPr>
              <a:t>数字牌</a:t>
            </a:r>
            <a:endParaRPr sz="2400" dirty="0">
              <a:latin typeface="微软雅黑" panose="020B0503020204020204" pitchFamily="34" charset="-122"/>
              <a:ea typeface="微软雅黑" panose="020B0503020204020204" pitchFamily="34" charset="-122"/>
              <a:cs typeface="黑体" panose="02010609060101010101" charset="-122"/>
            </a:endParaRP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黑体" panose="02010609060101010101" charset="-122"/>
              </a:rPr>
              <a:t>K</a:t>
            </a:r>
            <a:endParaRPr sz="2400" dirty="0">
              <a:latin typeface="微软雅黑" panose="020B0503020204020204" pitchFamily="34" charset="-122"/>
              <a:ea typeface="微软雅黑" panose="020B0503020204020204" pitchFamily="34" charset="-122"/>
              <a:cs typeface="黑体" panose="02010609060101010101" charset="-122"/>
            </a:endParaRP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黑体" panose="02010609060101010101" charset="-122"/>
              </a:rPr>
              <a:t>Q</a:t>
            </a:r>
            <a:endParaRPr sz="2400" dirty="0">
              <a:latin typeface="微软雅黑" panose="020B0503020204020204" pitchFamily="34" charset="-122"/>
              <a:ea typeface="微软雅黑" panose="020B0503020204020204" pitchFamily="34" charset="-122"/>
              <a:cs typeface="黑体" panose="02010609060101010101" charset="-122"/>
            </a:endParaRP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黑体" panose="02010609060101010101" charset="-122"/>
              </a:rPr>
              <a:t>J</a:t>
            </a:r>
            <a:endParaRPr sz="2400" dirty="0">
              <a:latin typeface="微软雅黑" panose="020B0503020204020204" pitchFamily="34" charset="-122"/>
              <a:ea typeface="微软雅黑" panose="020B0503020204020204" pitchFamily="34" charset="-122"/>
              <a:cs typeface="黑体" panose="02010609060101010101" charset="-122"/>
            </a:endParaRP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黑体" panose="02010609060101010101" charset="-122"/>
              </a:rPr>
              <a:t>赌注</a:t>
            </a:r>
            <a:endParaRPr sz="2400" dirty="0">
              <a:latin typeface="微软雅黑" panose="020B0503020204020204" pitchFamily="34" charset="-122"/>
              <a:ea typeface="微软雅黑" panose="020B0503020204020204" pitchFamily="34" charset="-122"/>
              <a:cs typeface="黑体" panose="02010609060101010101" charset="-122"/>
            </a:endParaRPr>
          </a:p>
        </p:txBody>
      </p:sp>
      <p:sp>
        <p:nvSpPr>
          <p:cNvPr id="7" name="object 5"/>
          <p:cNvSpPr/>
          <p:nvPr/>
        </p:nvSpPr>
        <p:spPr>
          <a:xfrm>
            <a:off x="7680176" y="2137549"/>
            <a:ext cx="2880318" cy="2880319"/>
          </a:xfrm>
          <a:prstGeom prst="rect">
            <a:avLst/>
          </a:prstGeom>
          <a:blipFill>
            <a:blip r:embed="rId1"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5908"/>
    </mc:Choice>
    <mc:Fallback>
      <p:transition spd="slow" advTm="25908"/>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类筛选</a:t>
            </a:r>
            <a:endParaRPr lang="zh-CN" altLang="en-US" dirty="0"/>
          </a:p>
        </p:txBody>
      </p:sp>
      <p:sp>
        <p:nvSpPr>
          <p:cNvPr id="3" name="内容占位符 2"/>
          <p:cNvSpPr>
            <a:spLocks noGrp="1"/>
          </p:cNvSpPr>
          <p:nvPr>
            <p:ph idx="1"/>
          </p:nvPr>
        </p:nvSpPr>
        <p:spPr>
          <a:xfrm>
            <a:off x="838200" y="1375378"/>
            <a:ext cx="10515600" cy="4486275"/>
          </a:xfrm>
        </p:spPr>
        <p:txBody>
          <a:bodyPr>
            <a:noAutofit/>
          </a:bodyPr>
          <a:lstStyle/>
          <a:p>
            <a:pPr marL="241300">
              <a:lnSpc>
                <a:spcPct val="100000"/>
              </a:lnSpc>
              <a:spcBef>
                <a:spcPts val="940"/>
              </a:spcBef>
              <a:buFont typeface="Arial" panose="020B0604020202020204"/>
              <a:buChar char="•"/>
              <a:tabLst>
                <a:tab pos="240665" algn="l"/>
                <a:tab pos="241300" algn="l"/>
              </a:tabLst>
            </a:pPr>
            <a:r>
              <a:rPr lang="zh-CN" altLang="en-US" sz="1800" dirty="0">
                <a:cs typeface="黑体" panose="02010609060101010101" charset="-122"/>
              </a:rPr>
              <a:t>在候选类中排除以下类</a:t>
            </a:r>
            <a:r>
              <a:rPr lang="en-US" altLang="zh-CN" sz="1800" dirty="0">
                <a:cs typeface="黑体" panose="02010609060101010101" charset="-122"/>
              </a:rPr>
              <a:t>:</a:t>
            </a:r>
            <a:endParaRPr lang="en-US" altLang="zh-CN" sz="1800" dirty="0">
              <a:cs typeface="黑体" panose="02010609060101010101" charset="-122"/>
            </a:endParaRPr>
          </a:p>
          <a:p>
            <a:pPr marL="698500" lvl="1">
              <a:lnSpc>
                <a:spcPct val="100000"/>
              </a:lnSpc>
              <a:spcBef>
                <a:spcPts val="840"/>
              </a:spcBef>
              <a:buFont typeface="Arial" panose="020B0604020202020204"/>
              <a:buChar char="•"/>
              <a:tabLst>
                <a:tab pos="697865" algn="l"/>
                <a:tab pos="698500" algn="l"/>
              </a:tabLst>
            </a:pPr>
            <a:r>
              <a:rPr lang="zh-CN" altLang="en-US" sz="1800" dirty="0">
                <a:cs typeface="黑体" panose="02010609060101010101" charset="-122"/>
              </a:rPr>
              <a:t>超出问题关注的范围的类</a:t>
            </a:r>
            <a:r>
              <a:rPr lang="en-US" altLang="zh-CN" sz="1800" dirty="0">
                <a:cs typeface="黑体" panose="02010609060101010101" charset="-122"/>
              </a:rPr>
              <a:t>;</a:t>
            </a:r>
            <a:endParaRPr lang="en-US" altLang="zh-CN" sz="1800" dirty="0">
              <a:cs typeface="黑体" panose="02010609060101010101" charset="-122"/>
            </a:endParaRPr>
          </a:p>
          <a:p>
            <a:pPr marL="698500" lvl="1">
              <a:lnSpc>
                <a:spcPct val="100000"/>
              </a:lnSpc>
              <a:spcBef>
                <a:spcPts val="940"/>
              </a:spcBef>
              <a:buFont typeface="Arial" panose="020B0604020202020204"/>
              <a:buChar char="•"/>
              <a:tabLst>
                <a:tab pos="697865" algn="l"/>
                <a:tab pos="698500" algn="l"/>
              </a:tabLst>
            </a:pPr>
            <a:r>
              <a:rPr lang="zh-CN" altLang="en-US" sz="1800" dirty="0">
                <a:cs typeface="黑体" panose="02010609060101010101" charset="-122"/>
              </a:rPr>
              <a:t>指代整个系统的类</a:t>
            </a:r>
            <a:r>
              <a:rPr lang="en-US" altLang="zh-CN" sz="1800" dirty="0">
                <a:cs typeface="黑体" panose="02010609060101010101" charset="-122"/>
              </a:rPr>
              <a:t>;</a:t>
            </a:r>
            <a:endParaRPr lang="en-US" altLang="zh-CN" sz="1800" dirty="0">
              <a:cs typeface="黑体" panose="02010609060101010101" charset="-122"/>
            </a:endParaRPr>
          </a:p>
          <a:p>
            <a:pPr marL="698500" lvl="1">
              <a:lnSpc>
                <a:spcPct val="100000"/>
              </a:lnSpc>
              <a:spcBef>
                <a:spcPts val="940"/>
              </a:spcBef>
              <a:buFont typeface="Arial" panose="020B0604020202020204"/>
              <a:buChar char="•"/>
              <a:tabLst>
                <a:tab pos="697865" algn="l"/>
                <a:tab pos="698500" algn="l"/>
              </a:tabLst>
            </a:pPr>
            <a:r>
              <a:rPr lang="zh-CN" altLang="en-US" sz="1800" dirty="0">
                <a:cs typeface="黑体" panose="02010609060101010101" charset="-122"/>
              </a:rPr>
              <a:t>功能重复的类</a:t>
            </a:r>
            <a:r>
              <a:rPr lang="en-US" altLang="zh-CN" sz="1800" dirty="0">
                <a:cs typeface="黑体" panose="02010609060101010101" charset="-122"/>
              </a:rPr>
              <a:t>;</a:t>
            </a:r>
            <a:endParaRPr lang="en-US" altLang="zh-CN" sz="1800" dirty="0">
              <a:cs typeface="黑体" panose="02010609060101010101" charset="-122"/>
            </a:endParaRPr>
          </a:p>
          <a:p>
            <a:pPr marL="698500" lvl="1">
              <a:lnSpc>
                <a:spcPct val="100000"/>
              </a:lnSpc>
              <a:spcBef>
                <a:spcPts val="940"/>
              </a:spcBef>
              <a:buFont typeface="Arial" panose="020B0604020202020204"/>
              <a:buChar char="•"/>
              <a:tabLst>
                <a:tab pos="697865" algn="l"/>
                <a:tab pos="698500" algn="l"/>
              </a:tabLst>
            </a:pPr>
            <a:r>
              <a:rPr lang="zh-CN" altLang="en-US" sz="1800" dirty="0">
                <a:cs typeface="黑体" panose="02010609060101010101" charset="-122"/>
              </a:rPr>
              <a:t>过于含糊或过于具体的类</a:t>
            </a:r>
            <a:endParaRPr lang="zh-CN" altLang="en-US" sz="1800" dirty="0">
              <a:cs typeface="黑体" panose="02010609060101010101" charset="-122"/>
            </a:endParaRPr>
          </a:p>
          <a:p>
            <a:pPr marL="1155700" lvl="2">
              <a:lnSpc>
                <a:spcPct val="100000"/>
              </a:lnSpc>
              <a:spcBef>
                <a:spcPts val="940"/>
              </a:spcBef>
              <a:buFont typeface="Arial" panose="020B0604020202020204"/>
              <a:buChar char="•"/>
              <a:tabLst>
                <a:tab pos="1155065" algn="l"/>
                <a:tab pos="1155700" algn="l"/>
              </a:tabLst>
            </a:pPr>
            <a:r>
              <a:rPr lang="zh-CN" altLang="en-US" sz="1800" dirty="0">
                <a:cs typeface="黑体" panose="02010609060101010101" charset="-122"/>
              </a:rPr>
              <a:t>可观察到的现象是，实例对象过多过少</a:t>
            </a:r>
            <a:endParaRPr lang="zh-CN" altLang="en-US" sz="1800" dirty="0">
              <a:cs typeface="黑体" panose="02010609060101010101" charset="-122"/>
            </a:endParaRPr>
          </a:p>
          <a:p>
            <a:pPr marL="241300">
              <a:lnSpc>
                <a:spcPct val="100000"/>
              </a:lnSpc>
              <a:spcBef>
                <a:spcPts val="600"/>
              </a:spcBef>
              <a:buFont typeface="Arial" panose="020B0604020202020204"/>
              <a:buChar char="•"/>
              <a:tabLst>
                <a:tab pos="240665" algn="l"/>
                <a:tab pos="241300" algn="l"/>
              </a:tabLst>
            </a:pPr>
            <a:r>
              <a:rPr lang="en-US" altLang="zh-CN" sz="1800" spc="-5" dirty="0">
                <a:cs typeface="Calibri" panose="020F0502020204030204"/>
              </a:rPr>
              <a:t>Coad </a:t>
            </a:r>
            <a:r>
              <a:rPr lang="en-US" altLang="zh-CN" sz="1800" dirty="0">
                <a:cs typeface="Calibri" panose="020F0502020204030204"/>
              </a:rPr>
              <a:t>&amp; </a:t>
            </a:r>
            <a:r>
              <a:rPr lang="en-US" altLang="zh-CN" sz="1800" spc="-5" dirty="0">
                <a:cs typeface="Calibri" panose="020F0502020204030204"/>
              </a:rPr>
              <a:t>Yourdon’s</a:t>
            </a:r>
            <a:r>
              <a:rPr lang="zh-CN" altLang="en-US" sz="1800" dirty="0">
                <a:cs typeface="Calibri" panose="020F0502020204030204"/>
              </a:rPr>
              <a:t> </a:t>
            </a:r>
            <a:r>
              <a:rPr lang="zh-CN" altLang="en-US" sz="1800" dirty="0">
                <a:cs typeface="黑体" panose="02010609060101010101" charset="-122"/>
              </a:rPr>
              <a:t>的筛选原则</a:t>
            </a:r>
            <a:r>
              <a:rPr lang="en-US" altLang="zh-CN" sz="1800" dirty="0">
                <a:cs typeface="黑体" panose="02010609060101010101" charset="-122"/>
              </a:rPr>
              <a:t>:</a:t>
            </a:r>
            <a:endParaRPr lang="en-US" altLang="zh-CN" sz="1800" dirty="0">
              <a:cs typeface="黑体" panose="02010609060101010101" charset="-122"/>
            </a:endParaRPr>
          </a:p>
          <a:p>
            <a:pPr marL="698500" lvl="1">
              <a:lnSpc>
                <a:spcPct val="100000"/>
              </a:lnSpc>
              <a:spcBef>
                <a:spcPts val="940"/>
              </a:spcBef>
              <a:buFont typeface="Arial" panose="020B0604020202020204"/>
              <a:buChar char="•"/>
              <a:tabLst>
                <a:tab pos="697865" algn="l"/>
                <a:tab pos="698500" algn="l"/>
              </a:tabLst>
            </a:pPr>
            <a:r>
              <a:rPr lang="zh-CN" altLang="en-US" sz="1800" dirty="0">
                <a:solidFill>
                  <a:srgbClr val="800000"/>
                </a:solidFill>
                <a:cs typeface="黑体" panose="02010609060101010101" charset="-122"/>
              </a:rPr>
              <a:t>保存对象信息</a:t>
            </a:r>
            <a:r>
              <a:rPr lang="en-US" altLang="zh-CN" sz="1800" dirty="0">
                <a:solidFill>
                  <a:srgbClr val="0563C1"/>
                </a:solidFill>
                <a:cs typeface="黑体" panose="02010609060101010101" charset="-122"/>
              </a:rPr>
              <a:t>:</a:t>
            </a:r>
            <a:r>
              <a:rPr lang="zh-CN" altLang="en-US" sz="1800" spc="-10" dirty="0">
                <a:solidFill>
                  <a:srgbClr val="0563C1"/>
                </a:solidFill>
                <a:cs typeface="黑体" panose="02010609060101010101" charset="-122"/>
              </a:rPr>
              <a:t> </a:t>
            </a:r>
            <a:r>
              <a:rPr lang="zh-CN" altLang="en-US" sz="1800" dirty="0">
                <a:cs typeface="黑体" panose="02010609060101010101" charset="-122"/>
              </a:rPr>
              <a:t>系统需要保存对象信息吗？</a:t>
            </a:r>
            <a:endParaRPr lang="zh-CN" altLang="en-US" sz="1800" dirty="0">
              <a:cs typeface="黑体" panose="02010609060101010101" charset="-122"/>
            </a:endParaRPr>
          </a:p>
          <a:p>
            <a:pPr marL="698500" lvl="1">
              <a:lnSpc>
                <a:spcPct val="100000"/>
              </a:lnSpc>
              <a:spcBef>
                <a:spcPts val="940"/>
              </a:spcBef>
              <a:buFont typeface="Arial" panose="020B0604020202020204"/>
              <a:buChar char="•"/>
              <a:tabLst>
                <a:tab pos="697865" algn="l"/>
                <a:tab pos="698500" algn="l"/>
              </a:tabLst>
            </a:pPr>
            <a:r>
              <a:rPr lang="zh-CN" altLang="en-US" sz="1800" dirty="0">
                <a:solidFill>
                  <a:srgbClr val="800000"/>
                </a:solidFill>
                <a:cs typeface="黑体" panose="02010609060101010101" charset="-122"/>
              </a:rPr>
              <a:t>提供所需服务</a:t>
            </a:r>
            <a:r>
              <a:rPr lang="en-US" altLang="zh-CN" sz="1800" dirty="0">
                <a:solidFill>
                  <a:srgbClr val="0563C1"/>
                </a:solidFill>
                <a:cs typeface="黑体" panose="02010609060101010101" charset="-122"/>
              </a:rPr>
              <a:t>:</a:t>
            </a:r>
            <a:r>
              <a:rPr lang="zh-CN" altLang="en-US" sz="1800" spc="-15" dirty="0">
                <a:solidFill>
                  <a:srgbClr val="0563C1"/>
                </a:solidFill>
                <a:cs typeface="黑体" panose="02010609060101010101" charset="-122"/>
              </a:rPr>
              <a:t> </a:t>
            </a:r>
            <a:r>
              <a:rPr lang="zh-CN" altLang="en-US" sz="1800" dirty="0">
                <a:cs typeface="黑体" panose="02010609060101010101" charset="-122"/>
              </a:rPr>
              <a:t>类对象是否对外提供修改属性值的操作？</a:t>
            </a:r>
            <a:endParaRPr lang="zh-CN" altLang="en-US" sz="1800" dirty="0">
              <a:cs typeface="黑体" panose="02010609060101010101" charset="-122"/>
            </a:endParaRPr>
          </a:p>
          <a:p>
            <a:pPr marL="698500" lvl="1">
              <a:lnSpc>
                <a:spcPct val="100000"/>
              </a:lnSpc>
              <a:spcBef>
                <a:spcPts val="940"/>
              </a:spcBef>
              <a:buFont typeface="Arial" panose="020B0604020202020204"/>
              <a:buChar char="•"/>
              <a:tabLst>
                <a:tab pos="697865" algn="l"/>
                <a:tab pos="698500" algn="l"/>
              </a:tabLst>
            </a:pPr>
            <a:r>
              <a:rPr lang="zh-CN" altLang="en-US" sz="1800" dirty="0">
                <a:solidFill>
                  <a:srgbClr val="800000"/>
                </a:solidFill>
                <a:cs typeface="黑体" panose="02010609060101010101" charset="-122"/>
              </a:rPr>
              <a:t>具有多个属性</a:t>
            </a:r>
            <a:r>
              <a:rPr lang="en-US" altLang="zh-CN" sz="1800" dirty="0">
                <a:solidFill>
                  <a:srgbClr val="0563C1"/>
                </a:solidFill>
                <a:cs typeface="黑体" panose="02010609060101010101" charset="-122"/>
              </a:rPr>
              <a:t>:</a:t>
            </a:r>
            <a:r>
              <a:rPr lang="zh-CN" altLang="en-US" sz="1800" spc="-10" dirty="0">
                <a:solidFill>
                  <a:srgbClr val="0563C1"/>
                </a:solidFill>
                <a:cs typeface="黑体" panose="02010609060101010101" charset="-122"/>
              </a:rPr>
              <a:t> </a:t>
            </a:r>
            <a:r>
              <a:rPr lang="zh-CN" altLang="en-US" sz="1800" dirty="0">
                <a:cs typeface="黑体" panose="02010609060101010101" charset="-122"/>
              </a:rPr>
              <a:t>只有一个属性的类，应该建模为属性</a:t>
            </a:r>
            <a:endParaRPr lang="zh-CN" altLang="en-US" sz="1800" dirty="0">
              <a:cs typeface="黑体" panose="02010609060101010101" charset="-122"/>
            </a:endParaRPr>
          </a:p>
          <a:p>
            <a:pPr marL="698500" lvl="1">
              <a:lnSpc>
                <a:spcPct val="100000"/>
              </a:lnSpc>
              <a:spcBef>
                <a:spcPts val="940"/>
              </a:spcBef>
              <a:buFont typeface="Arial" panose="020B0604020202020204"/>
              <a:buChar char="•"/>
              <a:tabLst>
                <a:tab pos="697865" algn="l"/>
                <a:tab pos="698500" algn="l"/>
              </a:tabLst>
            </a:pPr>
            <a:r>
              <a:rPr lang="zh-CN" altLang="en-US" sz="1800" dirty="0">
                <a:solidFill>
                  <a:srgbClr val="800000"/>
                </a:solidFill>
                <a:cs typeface="黑体" panose="02010609060101010101" charset="-122"/>
              </a:rPr>
              <a:t>具有公共属性</a:t>
            </a:r>
            <a:r>
              <a:rPr lang="en-US" altLang="zh-CN" sz="1800" dirty="0">
                <a:solidFill>
                  <a:srgbClr val="0563C1"/>
                </a:solidFill>
                <a:cs typeface="黑体" panose="02010609060101010101" charset="-122"/>
              </a:rPr>
              <a:t>:</a:t>
            </a:r>
            <a:r>
              <a:rPr lang="zh-CN" altLang="en-US" sz="1800" spc="-100" dirty="0">
                <a:solidFill>
                  <a:srgbClr val="0563C1"/>
                </a:solidFill>
                <a:cs typeface="黑体" panose="02010609060101010101" charset="-122"/>
              </a:rPr>
              <a:t> </a:t>
            </a:r>
            <a:r>
              <a:rPr lang="zh-CN" altLang="en-US" sz="1800" dirty="0">
                <a:cs typeface="黑体" panose="02010609060101010101" charset="-122"/>
              </a:rPr>
              <a:t>类属性是否为所有实例对象共享</a:t>
            </a:r>
            <a:r>
              <a:rPr lang="en-US" altLang="zh-CN" sz="1800" dirty="0">
                <a:cs typeface="黑体" panose="02010609060101010101" charset="-122"/>
              </a:rPr>
              <a:t>?</a:t>
            </a:r>
            <a:endParaRPr lang="en-US" altLang="zh-CN" sz="1800" dirty="0">
              <a:cs typeface="黑体" panose="02010609060101010101" charset="-122"/>
            </a:endParaRPr>
          </a:p>
          <a:p>
            <a:pPr marL="698500" lvl="1">
              <a:lnSpc>
                <a:spcPct val="100000"/>
              </a:lnSpc>
              <a:spcBef>
                <a:spcPts val="940"/>
              </a:spcBef>
              <a:buFont typeface="Arial" panose="020B0604020202020204"/>
              <a:buChar char="•"/>
              <a:tabLst>
                <a:tab pos="697865" algn="l"/>
                <a:tab pos="698500" algn="l"/>
              </a:tabLst>
            </a:pPr>
            <a:r>
              <a:rPr lang="zh-CN" altLang="en-US" sz="1800" dirty="0">
                <a:solidFill>
                  <a:srgbClr val="800000"/>
                </a:solidFill>
                <a:cs typeface="黑体" panose="02010609060101010101" charset="-122"/>
              </a:rPr>
              <a:t>具有公共操作</a:t>
            </a:r>
            <a:r>
              <a:rPr lang="en-US" altLang="zh-CN" sz="1800" dirty="0">
                <a:solidFill>
                  <a:srgbClr val="0563C1"/>
                </a:solidFill>
                <a:cs typeface="黑体" panose="02010609060101010101" charset="-122"/>
              </a:rPr>
              <a:t>:</a:t>
            </a:r>
            <a:r>
              <a:rPr lang="zh-CN" altLang="en-US" sz="1800" spc="-100" dirty="0">
                <a:solidFill>
                  <a:srgbClr val="0563C1"/>
                </a:solidFill>
                <a:cs typeface="黑体" panose="02010609060101010101" charset="-122"/>
              </a:rPr>
              <a:t> </a:t>
            </a:r>
            <a:r>
              <a:rPr lang="zh-CN" altLang="en-US" sz="1800" dirty="0">
                <a:cs typeface="黑体" panose="02010609060101010101" charset="-122"/>
              </a:rPr>
              <a:t>类操作是否为所有实例对象共享</a:t>
            </a:r>
            <a:r>
              <a:rPr lang="en-US" altLang="zh-CN" sz="1800" dirty="0">
                <a:cs typeface="黑体" panose="02010609060101010101" charset="-122"/>
              </a:rPr>
              <a:t>?</a:t>
            </a:r>
            <a:endParaRPr lang="en-US" altLang="zh-CN" sz="1800" dirty="0">
              <a:cs typeface="黑体" panose="02010609060101010101" charset="-122"/>
            </a:endParaRPr>
          </a:p>
          <a:p>
            <a:pPr marL="698500" lvl="1">
              <a:lnSpc>
                <a:spcPct val="100000"/>
              </a:lnSpc>
              <a:spcBef>
                <a:spcPts val="940"/>
              </a:spcBef>
              <a:buFont typeface="Arial" panose="020B0604020202020204"/>
              <a:buChar char="•"/>
              <a:tabLst>
                <a:tab pos="697865" algn="l"/>
                <a:tab pos="698500" algn="l"/>
              </a:tabLst>
            </a:pPr>
            <a:r>
              <a:rPr lang="zh-CN" altLang="en-US" sz="1800" dirty="0">
                <a:solidFill>
                  <a:srgbClr val="800000"/>
                </a:solidFill>
                <a:cs typeface="黑体" panose="02010609060101010101" charset="-122"/>
              </a:rPr>
              <a:t>外部实体</a:t>
            </a:r>
            <a:r>
              <a:rPr lang="zh-CN" altLang="en-US" sz="1800" dirty="0">
                <a:cs typeface="黑体" panose="02010609060101010101" charset="-122"/>
              </a:rPr>
              <a:t>：如果生产或使用对象的信息，也应考虑建模为系统类</a:t>
            </a:r>
            <a:endParaRPr lang="zh-CN" altLang="en-US" sz="1800" dirty="0">
              <a:cs typeface="黑体" panose="02010609060101010101" charset="-122"/>
            </a:endParaRPr>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sp>
        <p:nvSpPr>
          <p:cNvPr id="5" name="object 5"/>
          <p:cNvSpPr/>
          <p:nvPr/>
        </p:nvSpPr>
        <p:spPr>
          <a:xfrm>
            <a:off x="7543802" y="1690688"/>
            <a:ext cx="3809998" cy="2616199"/>
          </a:xfrm>
          <a:prstGeom prst="rect">
            <a:avLst/>
          </a:prstGeom>
          <a:blipFill>
            <a:blip r:embed="rId1" cstate="print"/>
            <a:stretch>
              <a:fillRect/>
            </a:stretch>
          </a:blipFill>
        </p:spPr>
        <p:txBody>
          <a:bodyPr wrap="square" lIns="0" tIns="0" rIns="0" bIns="0" rtlCol="0"/>
          <a:lstStyle/>
          <a:p/>
        </p:txBody>
      </p:sp>
    </p:spTree>
  </p:cSld>
  <p:clrMapOvr>
    <a:masterClrMapping/>
  </p:clrMapOvr>
  <mc:AlternateContent xmlns:mc="http://schemas.openxmlformats.org/markup-compatibility/2006">
    <mc:Choice xmlns:p14="http://schemas.microsoft.com/office/powerpoint/2010/main" Requires="p14">
      <p:transition spd="slow" p14:dur="2000" advTm="115172"/>
    </mc:Choice>
    <mc:Fallback>
      <p:transition spd="slow" advTm="115172"/>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由此识别出的对象</a:t>
            </a:r>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latin typeface="微软雅黑" panose="020B0503020204020204" pitchFamily="34" charset="-122"/>
                <a:ea typeface="微软雅黑" panose="020B0503020204020204" pitchFamily="34" charset="-122"/>
              </a:rPr>
            </a:fld>
            <a:endParaRPr lang="zh-CN" altLang="en-US">
              <a:latin typeface="微软雅黑" panose="020B0503020204020204" pitchFamily="34" charset="-122"/>
              <a:ea typeface="微软雅黑" panose="020B0503020204020204" pitchFamily="34" charset="-122"/>
            </a:endParaRPr>
          </a:p>
        </p:txBody>
      </p:sp>
      <p:sp>
        <p:nvSpPr>
          <p:cNvPr id="5" name="object 3"/>
          <p:cNvSpPr txBox="1"/>
          <p:nvPr/>
        </p:nvSpPr>
        <p:spPr>
          <a:xfrm>
            <a:off x="1705215" y="1690688"/>
            <a:ext cx="1099140" cy="3203441"/>
          </a:xfrm>
          <a:prstGeom prst="rect">
            <a:avLst/>
          </a:prstGeom>
        </p:spPr>
        <p:txBody>
          <a:bodyPr vert="horz" wrap="square" lIns="0" tIns="91440" rIns="0" bIns="0" rtlCol="0">
            <a:spAutoFit/>
          </a:bodyPr>
          <a:lstStyle/>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黑体" panose="02010609060101010101" charset="-122"/>
              </a:rPr>
              <a:t>游戏</a:t>
            </a:r>
            <a:endParaRPr sz="2400" dirty="0">
              <a:latin typeface="微软雅黑" panose="020B0503020204020204" pitchFamily="34" charset="-122"/>
              <a:ea typeface="微软雅黑" panose="020B0503020204020204" pitchFamily="34" charset="-122"/>
              <a:cs typeface="黑体" panose="02010609060101010101" charset="-122"/>
            </a:endParaRPr>
          </a:p>
          <a:p>
            <a:pPr marL="241300" indent="-228600">
              <a:lnSpc>
                <a:spcPct val="100000"/>
              </a:lnSpc>
              <a:spcBef>
                <a:spcPts val="6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黑体" panose="02010609060101010101" charset="-122"/>
              </a:rPr>
              <a:t>21点</a:t>
            </a:r>
            <a:endParaRPr sz="2400" dirty="0">
              <a:latin typeface="微软雅黑" panose="020B0503020204020204" pitchFamily="34" charset="-122"/>
              <a:ea typeface="微软雅黑" panose="020B0503020204020204" pitchFamily="34" charset="-122"/>
              <a:cs typeface="黑体" panose="02010609060101010101" charset="-122"/>
            </a:endParaRPr>
          </a:p>
          <a:p>
            <a:pPr marL="241300" indent="-228600">
              <a:lnSpc>
                <a:spcPct val="100000"/>
              </a:lnSpc>
              <a:spcBef>
                <a:spcPts val="720"/>
              </a:spcBef>
              <a:buFont typeface="Arial" panose="020B0604020202020204"/>
              <a:buChar char="•"/>
              <a:tabLst>
                <a:tab pos="241300" algn="l"/>
              </a:tabLst>
            </a:pPr>
            <a:r>
              <a:rPr sz="2400" dirty="0">
                <a:solidFill>
                  <a:srgbClr val="800000"/>
                </a:solidFill>
                <a:latin typeface="微软雅黑" panose="020B0503020204020204" pitchFamily="34" charset="-122"/>
                <a:ea typeface="微软雅黑" panose="020B0503020204020204" pitchFamily="34" charset="-122"/>
                <a:cs typeface="黑体" panose="02010609060101010101" charset="-122"/>
              </a:rPr>
              <a:t>庄家</a:t>
            </a:r>
            <a:endParaRPr sz="2400" dirty="0">
              <a:latin typeface="微软雅黑" panose="020B0503020204020204" pitchFamily="34" charset="-122"/>
              <a:ea typeface="微软雅黑" panose="020B0503020204020204" pitchFamily="34" charset="-122"/>
              <a:cs typeface="黑体" panose="02010609060101010101" charset="-122"/>
            </a:endParaRPr>
          </a:p>
          <a:p>
            <a:pPr marL="241300" indent="-228600">
              <a:lnSpc>
                <a:spcPct val="100000"/>
              </a:lnSpc>
              <a:spcBef>
                <a:spcPts val="720"/>
              </a:spcBef>
              <a:buFont typeface="Arial" panose="020B0604020202020204"/>
              <a:buChar char="•"/>
              <a:tabLst>
                <a:tab pos="241300" algn="l"/>
              </a:tabLst>
            </a:pPr>
            <a:r>
              <a:rPr sz="2400" dirty="0">
                <a:solidFill>
                  <a:srgbClr val="800000"/>
                </a:solidFill>
                <a:latin typeface="微软雅黑" panose="020B0503020204020204" pitchFamily="34" charset="-122"/>
                <a:ea typeface="微软雅黑" panose="020B0503020204020204" pitchFamily="34" charset="-122"/>
                <a:cs typeface="黑体" panose="02010609060101010101" charset="-122"/>
              </a:rPr>
              <a:t>玩家</a:t>
            </a:r>
            <a:endParaRPr sz="2400" dirty="0">
              <a:latin typeface="微软雅黑" panose="020B0503020204020204" pitchFamily="34" charset="-122"/>
              <a:ea typeface="微软雅黑" panose="020B0503020204020204" pitchFamily="34" charset="-122"/>
              <a:cs typeface="黑体" panose="02010609060101010101" charset="-122"/>
            </a:endParaRPr>
          </a:p>
          <a:p>
            <a:pPr marL="241300" indent="-228600">
              <a:lnSpc>
                <a:spcPct val="100000"/>
              </a:lnSpc>
              <a:spcBef>
                <a:spcPts val="720"/>
              </a:spcBef>
              <a:buFont typeface="Arial" panose="020B0604020202020204"/>
              <a:buChar char="•"/>
              <a:tabLst>
                <a:tab pos="241300" algn="l"/>
              </a:tabLst>
            </a:pPr>
            <a:r>
              <a:rPr sz="2400" dirty="0">
                <a:solidFill>
                  <a:srgbClr val="800000"/>
                </a:solidFill>
                <a:latin typeface="微软雅黑" panose="020B0503020204020204" pitchFamily="34" charset="-122"/>
                <a:ea typeface="微软雅黑" panose="020B0503020204020204" pitchFamily="34" charset="-122"/>
                <a:cs typeface="黑体" panose="02010609060101010101" charset="-122"/>
              </a:rPr>
              <a:t>牌</a:t>
            </a:r>
            <a:endParaRPr sz="2400" dirty="0">
              <a:latin typeface="微软雅黑" panose="020B0503020204020204" pitchFamily="34" charset="-122"/>
              <a:ea typeface="微软雅黑" panose="020B0503020204020204" pitchFamily="34" charset="-122"/>
              <a:cs typeface="黑体" panose="02010609060101010101" charset="-122"/>
            </a:endParaRPr>
          </a:p>
          <a:p>
            <a:pPr marL="241300" indent="-228600">
              <a:lnSpc>
                <a:spcPct val="100000"/>
              </a:lnSpc>
              <a:spcBef>
                <a:spcPts val="720"/>
              </a:spcBef>
              <a:buFont typeface="Arial" panose="020B0604020202020204"/>
              <a:buChar char="•"/>
              <a:tabLst>
                <a:tab pos="241300" algn="l"/>
              </a:tabLst>
            </a:pPr>
            <a:r>
              <a:rPr sz="2400" dirty="0">
                <a:solidFill>
                  <a:srgbClr val="800000"/>
                </a:solidFill>
                <a:latin typeface="微软雅黑" panose="020B0503020204020204" pitchFamily="34" charset="-122"/>
                <a:ea typeface="微软雅黑" panose="020B0503020204020204" pitchFamily="34" charset="-122"/>
                <a:cs typeface="黑体" panose="02010609060101010101" charset="-122"/>
              </a:rPr>
              <a:t>牌堆</a:t>
            </a:r>
            <a:endParaRPr sz="2400" dirty="0">
              <a:latin typeface="微软雅黑" panose="020B0503020204020204" pitchFamily="34" charset="-122"/>
              <a:ea typeface="微软雅黑" panose="020B0503020204020204" pitchFamily="34" charset="-122"/>
              <a:cs typeface="黑体" panose="02010609060101010101" charset="-122"/>
            </a:endParaRPr>
          </a:p>
          <a:p>
            <a:pPr marL="241300" indent="-228600">
              <a:lnSpc>
                <a:spcPct val="100000"/>
              </a:lnSpc>
              <a:spcBef>
                <a:spcPts val="720"/>
              </a:spcBef>
              <a:buFont typeface="Arial" panose="020B0604020202020204"/>
              <a:buChar char="•"/>
              <a:tabLst>
                <a:tab pos="241300" algn="l"/>
              </a:tabLst>
            </a:pPr>
            <a:r>
              <a:rPr sz="2400" dirty="0">
                <a:solidFill>
                  <a:srgbClr val="800000"/>
                </a:solidFill>
                <a:latin typeface="微软雅黑" panose="020B0503020204020204" pitchFamily="34" charset="-122"/>
                <a:ea typeface="微软雅黑" panose="020B0503020204020204" pitchFamily="34" charset="-122"/>
                <a:cs typeface="黑体" panose="02010609060101010101" charset="-122"/>
              </a:rPr>
              <a:t>手牌</a:t>
            </a:r>
            <a:endParaRPr sz="2400" dirty="0">
              <a:latin typeface="微软雅黑" panose="020B0503020204020204" pitchFamily="34" charset="-122"/>
              <a:ea typeface="微软雅黑" panose="020B0503020204020204" pitchFamily="34" charset="-122"/>
              <a:cs typeface="黑体" panose="02010609060101010101" charset="-122"/>
            </a:endParaRPr>
          </a:p>
        </p:txBody>
      </p:sp>
      <p:sp>
        <p:nvSpPr>
          <p:cNvPr id="6" name="object 4"/>
          <p:cNvSpPr txBox="1"/>
          <p:nvPr/>
        </p:nvSpPr>
        <p:spPr>
          <a:xfrm>
            <a:off x="4498504" y="1690688"/>
            <a:ext cx="1168400" cy="4114800"/>
          </a:xfrm>
          <a:prstGeom prst="rect">
            <a:avLst/>
          </a:prstGeom>
        </p:spPr>
        <p:txBody>
          <a:bodyPr vert="horz" wrap="square" lIns="0" tIns="91440" rIns="0" bIns="0" rtlCol="0">
            <a:spAutoFit/>
          </a:bodyPr>
          <a:lstStyle/>
          <a:p>
            <a:pPr marL="241300" indent="-228600">
              <a:lnSpc>
                <a:spcPct val="100000"/>
              </a:lnSpc>
              <a:spcBef>
                <a:spcPts val="720"/>
              </a:spcBef>
              <a:buFont typeface="Arial" panose="020B0604020202020204"/>
              <a:buChar char="•"/>
              <a:tabLst>
                <a:tab pos="241300" algn="l"/>
              </a:tabLst>
            </a:pPr>
            <a:r>
              <a:rPr sz="2400" dirty="0">
                <a:solidFill>
                  <a:srgbClr val="0000FF"/>
                </a:solidFill>
                <a:latin typeface="微软雅黑" panose="020B0503020204020204" pitchFamily="34" charset="-122"/>
                <a:ea typeface="微软雅黑" panose="020B0503020204020204" pitchFamily="34" charset="-122"/>
                <a:cs typeface="黑体" panose="02010609060101010101" charset="-122"/>
              </a:rPr>
              <a:t>点数</a:t>
            </a:r>
            <a:endParaRPr sz="2400" dirty="0">
              <a:latin typeface="微软雅黑" panose="020B0503020204020204" pitchFamily="34" charset="-122"/>
              <a:ea typeface="微软雅黑" panose="020B0503020204020204" pitchFamily="34" charset="-122"/>
              <a:cs typeface="黑体" panose="02010609060101010101" charset="-122"/>
            </a:endParaRPr>
          </a:p>
          <a:p>
            <a:pPr marL="241300" indent="-228600">
              <a:lnSpc>
                <a:spcPct val="100000"/>
              </a:lnSpc>
              <a:spcBef>
                <a:spcPts val="6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黑体" panose="02010609060101010101" charset="-122"/>
              </a:rPr>
              <a:t>花色</a:t>
            </a:r>
            <a:endParaRPr sz="2400" dirty="0">
              <a:latin typeface="微软雅黑" panose="020B0503020204020204" pitchFamily="34" charset="-122"/>
              <a:ea typeface="微软雅黑" panose="020B0503020204020204" pitchFamily="34" charset="-122"/>
              <a:cs typeface="黑体" panose="02010609060101010101" charset="-122"/>
            </a:endParaRPr>
          </a:p>
          <a:p>
            <a:pPr marL="241300" indent="-228600">
              <a:lnSpc>
                <a:spcPct val="100000"/>
              </a:lnSpc>
              <a:spcBef>
                <a:spcPts val="720"/>
              </a:spcBef>
              <a:buFont typeface="Arial" panose="020B0604020202020204"/>
              <a:buChar char="•"/>
              <a:tabLst>
                <a:tab pos="241300" algn="l"/>
              </a:tabLst>
            </a:pPr>
            <a:r>
              <a:rPr sz="2400" dirty="0">
                <a:solidFill>
                  <a:srgbClr val="0000FF"/>
                </a:solidFill>
                <a:latin typeface="微软雅黑" panose="020B0503020204020204" pitchFamily="34" charset="-122"/>
                <a:ea typeface="微软雅黑" panose="020B0503020204020204" pitchFamily="34" charset="-122"/>
                <a:cs typeface="黑体" panose="02010609060101010101" charset="-122"/>
              </a:rPr>
              <a:t>赢家</a:t>
            </a:r>
            <a:endParaRPr sz="2400" dirty="0">
              <a:latin typeface="微软雅黑" panose="020B0503020204020204" pitchFamily="34" charset="-122"/>
              <a:ea typeface="微软雅黑" panose="020B0503020204020204" pitchFamily="34" charset="-122"/>
              <a:cs typeface="黑体" panose="02010609060101010101" charset="-122"/>
            </a:endParaRPr>
          </a:p>
          <a:p>
            <a:pPr marL="241300" indent="-228600">
              <a:lnSpc>
                <a:spcPct val="100000"/>
              </a:lnSpc>
              <a:spcBef>
                <a:spcPts val="720"/>
              </a:spcBef>
              <a:buClr>
                <a:srgbClr val="0000FF"/>
              </a:buClr>
              <a:buFont typeface="Arial" panose="020B0604020202020204"/>
              <a:buChar char="•"/>
              <a:tabLst>
                <a:tab pos="241300" algn="l"/>
              </a:tabLst>
            </a:pPr>
            <a:r>
              <a:rPr sz="2400" dirty="0">
                <a:solidFill>
                  <a:srgbClr val="0433FF"/>
                </a:solidFill>
                <a:latin typeface="微软雅黑" panose="020B0503020204020204" pitchFamily="34" charset="-122"/>
                <a:ea typeface="微软雅黑" panose="020B0503020204020204" pitchFamily="34" charset="-122"/>
                <a:cs typeface="黑体" panose="02010609060101010101" charset="-122"/>
              </a:rPr>
              <a:t>A</a:t>
            </a:r>
            <a:endParaRPr sz="2400" dirty="0">
              <a:latin typeface="微软雅黑" panose="020B0503020204020204" pitchFamily="34" charset="-122"/>
              <a:ea typeface="微软雅黑" panose="020B0503020204020204" pitchFamily="34" charset="-122"/>
              <a:cs typeface="黑体" panose="02010609060101010101" charset="-122"/>
            </a:endParaRPr>
          </a:p>
          <a:p>
            <a:pPr marL="241300" indent="-228600">
              <a:lnSpc>
                <a:spcPct val="100000"/>
              </a:lnSpc>
              <a:spcBef>
                <a:spcPts val="720"/>
              </a:spcBef>
              <a:buFont typeface="Arial" panose="020B0604020202020204"/>
              <a:buChar char="•"/>
              <a:tabLst>
                <a:tab pos="241300" algn="l"/>
              </a:tabLst>
            </a:pPr>
            <a:r>
              <a:rPr sz="2400" dirty="0">
                <a:solidFill>
                  <a:srgbClr val="0000FF"/>
                </a:solidFill>
                <a:latin typeface="微软雅黑" panose="020B0503020204020204" pitchFamily="34" charset="-122"/>
                <a:ea typeface="微软雅黑" panose="020B0503020204020204" pitchFamily="34" charset="-122"/>
                <a:cs typeface="黑体" panose="02010609060101010101" charset="-122"/>
              </a:rPr>
              <a:t>数字牌</a:t>
            </a:r>
            <a:endParaRPr sz="2400" dirty="0">
              <a:latin typeface="微软雅黑" panose="020B0503020204020204" pitchFamily="34" charset="-122"/>
              <a:ea typeface="微软雅黑" panose="020B0503020204020204" pitchFamily="34" charset="-122"/>
              <a:cs typeface="黑体" panose="02010609060101010101" charset="-122"/>
            </a:endParaRPr>
          </a:p>
          <a:p>
            <a:pPr marL="241300" indent="-228600">
              <a:lnSpc>
                <a:spcPct val="100000"/>
              </a:lnSpc>
              <a:spcBef>
                <a:spcPts val="720"/>
              </a:spcBef>
              <a:buClr>
                <a:srgbClr val="0000FF"/>
              </a:buClr>
              <a:buFont typeface="Arial" panose="020B0604020202020204"/>
              <a:buChar char="•"/>
              <a:tabLst>
                <a:tab pos="241300" algn="l"/>
              </a:tabLst>
            </a:pPr>
            <a:r>
              <a:rPr sz="2400" dirty="0">
                <a:solidFill>
                  <a:srgbClr val="0433FF"/>
                </a:solidFill>
                <a:latin typeface="微软雅黑" panose="020B0503020204020204" pitchFamily="34" charset="-122"/>
                <a:ea typeface="微软雅黑" panose="020B0503020204020204" pitchFamily="34" charset="-122"/>
                <a:cs typeface="黑体" panose="02010609060101010101" charset="-122"/>
              </a:rPr>
              <a:t>K</a:t>
            </a:r>
            <a:endParaRPr sz="2400" dirty="0">
              <a:latin typeface="微软雅黑" panose="020B0503020204020204" pitchFamily="34" charset="-122"/>
              <a:ea typeface="微软雅黑" panose="020B0503020204020204" pitchFamily="34" charset="-122"/>
              <a:cs typeface="黑体" panose="02010609060101010101" charset="-122"/>
            </a:endParaRPr>
          </a:p>
          <a:p>
            <a:pPr marL="241300" indent="-228600">
              <a:lnSpc>
                <a:spcPct val="100000"/>
              </a:lnSpc>
              <a:spcBef>
                <a:spcPts val="720"/>
              </a:spcBef>
              <a:buClr>
                <a:srgbClr val="0000FF"/>
              </a:buClr>
              <a:buFont typeface="Arial" panose="020B0604020202020204"/>
              <a:buChar char="•"/>
              <a:tabLst>
                <a:tab pos="241300" algn="l"/>
              </a:tabLst>
            </a:pPr>
            <a:r>
              <a:rPr sz="2400" dirty="0">
                <a:solidFill>
                  <a:srgbClr val="0433FF"/>
                </a:solidFill>
                <a:latin typeface="微软雅黑" panose="020B0503020204020204" pitchFamily="34" charset="-122"/>
                <a:ea typeface="微软雅黑" panose="020B0503020204020204" pitchFamily="34" charset="-122"/>
                <a:cs typeface="黑体" panose="02010609060101010101" charset="-122"/>
              </a:rPr>
              <a:t>Q</a:t>
            </a:r>
            <a:endParaRPr sz="2400" dirty="0">
              <a:latin typeface="微软雅黑" panose="020B0503020204020204" pitchFamily="34" charset="-122"/>
              <a:ea typeface="微软雅黑" panose="020B0503020204020204" pitchFamily="34" charset="-122"/>
              <a:cs typeface="黑体" panose="02010609060101010101" charset="-122"/>
            </a:endParaRPr>
          </a:p>
          <a:p>
            <a:pPr marL="241300" indent="-228600">
              <a:lnSpc>
                <a:spcPct val="100000"/>
              </a:lnSpc>
              <a:spcBef>
                <a:spcPts val="720"/>
              </a:spcBef>
              <a:buClr>
                <a:srgbClr val="0000FF"/>
              </a:buClr>
              <a:buFont typeface="Arial" panose="020B0604020202020204"/>
              <a:buChar char="•"/>
              <a:tabLst>
                <a:tab pos="241300" algn="l"/>
              </a:tabLst>
            </a:pPr>
            <a:r>
              <a:rPr sz="2400" dirty="0">
                <a:solidFill>
                  <a:srgbClr val="0433FF"/>
                </a:solidFill>
                <a:latin typeface="微软雅黑" panose="020B0503020204020204" pitchFamily="34" charset="-122"/>
                <a:ea typeface="微软雅黑" panose="020B0503020204020204" pitchFamily="34" charset="-122"/>
                <a:cs typeface="黑体" panose="02010609060101010101" charset="-122"/>
              </a:rPr>
              <a:t>J</a:t>
            </a:r>
            <a:endParaRPr sz="2400" dirty="0">
              <a:latin typeface="微软雅黑" panose="020B0503020204020204" pitchFamily="34" charset="-122"/>
              <a:ea typeface="微软雅黑" panose="020B0503020204020204" pitchFamily="34" charset="-122"/>
              <a:cs typeface="黑体" panose="02010609060101010101" charset="-122"/>
            </a:endParaRPr>
          </a:p>
          <a:p>
            <a:pPr marL="241300" indent="-228600">
              <a:lnSpc>
                <a:spcPct val="100000"/>
              </a:lnSpc>
              <a:spcBef>
                <a:spcPts val="720"/>
              </a:spcBef>
              <a:buFont typeface="Arial" panose="020B0604020202020204"/>
              <a:buChar char="•"/>
              <a:tabLst>
                <a:tab pos="241300" algn="l"/>
              </a:tabLst>
            </a:pPr>
            <a:r>
              <a:rPr sz="2400" dirty="0">
                <a:solidFill>
                  <a:srgbClr val="800000"/>
                </a:solidFill>
                <a:latin typeface="微软雅黑" panose="020B0503020204020204" pitchFamily="34" charset="-122"/>
                <a:ea typeface="微软雅黑" panose="020B0503020204020204" pitchFamily="34" charset="-122"/>
                <a:cs typeface="黑体" panose="02010609060101010101" charset="-122"/>
              </a:rPr>
              <a:t>赌注</a:t>
            </a:r>
            <a:endParaRPr sz="2400" dirty="0">
              <a:latin typeface="微软雅黑" panose="020B0503020204020204" pitchFamily="34" charset="-122"/>
              <a:ea typeface="微软雅黑" panose="020B0503020204020204" pitchFamily="34" charset="-122"/>
              <a:cs typeface="黑体" panose="02010609060101010101" charset="-122"/>
            </a:endParaRPr>
          </a:p>
        </p:txBody>
      </p:sp>
      <p:sp>
        <p:nvSpPr>
          <p:cNvPr id="7" name="object 6"/>
          <p:cNvSpPr/>
          <p:nvPr/>
        </p:nvSpPr>
        <p:spPr>
          <a:xfrm>
            <a:off x="7361053" y="1849439"/>
            <a:ext cx="3809998" cy="3797298"/>
          </a:xfrm>
          <a:prstGeom prst="rect">
            <a:avLst/>
          </a:prstGeom>
          <a:blipFill>
            <a:blip r:embed="rId1"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48271"/>
    </mc:Choice>
    <mc:Fallback>
      <p:transition spd="slow" advTm="48271"/>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选出的类</a:t>
            </a:r>
            <a:endParaRPr lang="zh-CN" altLang="en-US" dirty="0"/>
          </a:p>
        </p:txBody>
      </p:sp>
      <p:sp>
        <p:nvSpPr>
          <p:cNvPr id="3" name="内容占位符 2"/>
          <p:cNvSpPr>
            <a:spLocks noGrp="1"/>
          </p:cNvSpPr>
          <p:nvPr>
            <p:ph idx="1"/>
          </p:nvPr>
        </p:nvSpPr>
        <p:spPr/>
        <p:txBody>
          <a:bodyPr/>
          <a:lstStyle/>
          <a:p>
            <a:r>
              <a:rPr lang="zh-CN" altLang="en-US" spc="-145" dirty="0">
                <a:latin typeface="Arial Unicode MS"/>
                <a:cs typeface="Arial Unicode MS"/>
              </a:rPr>
              <a:t>牌、牌堆、手牌、庄家、玩家、赌注</a:t>
            </a:r>
            <a:endParaRPr lang="zh-CN" altLang="en-US" dirty="0">
              <a:latin typeface="Arial Unicode MS"/>
              <a:cs typeface="Arial Unicode MS"/>
            </a:endParaRPr>
          </a:p>
          <a:p>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grpSp>
        <p:nvGrpSpPr>
          <p:cNvPr id="23" name="组合 22"/>
          <p:cNvGrpSpPr/>
          <p:nvPr/>
        </p:nvGrpSpPr>
        <p:grpSpPr>
          <a:xfrm>
            <a:off x="2949538" y="2971065"/>
            <a:ext cx="6292923" cy="2500313"/>
            <a:chOff x="2952021" y="2666265"/>
            <a:chExt cx="6292923" cy="2500313"/>
          </a:xfrm>
        </p:grpSpPr>
        <p:sp>
          <p:nvSpPr>
            <p:cNvPr id="5" name="object 4"/>
            <p:cNvSpPr/>
            <p:nvPr/>
          </p:nvSpPr>
          <p:spPr>
            <a:xfrm>
              <a:off x="2958446" y="2666265"/>
              <a:ext cx="1577975" cy="857250"/>
            </a:xfrm>
            <a:custGeom>
              <a:avLst/>
              <a:gdLst/>
              <a:ahLst/>
              <a:cxnLst/>
              <a:rect l="l" t="t" r="r" b="b"/>
              <a:pathLst>
                <a:path w="1577975" h="857250">
                  <a:moveTo>
                    <a:pt x="1434872" y="0"/>
                  </a:moveTo>
                  <a:lnTo>
                    <a:pt x="142877" y="0"/>
                  </a:lnTo>
                  <a:lnTo>
                    <a:pt x="97717" y="7284"/>
                  </a:lnTo>
                  <a:lnTo>
                    <a:pt x="58495" y="27567"/>
                  </a:lnTo>
                  <a:lnTo>
                    <a:pt x="27567" y="58495"/>
                  </a:lnTo>
                  <a:lnTo>
                    <a:pt x="7284" y="97717"/>
                  </a:lnTo>
                  <a:lnTo>
                    <a:pt x="0" y="142877"/>
                  </a:lnTo>
                  <a:lnTo>
                    <a:pt x="0" y="714371"/>
                  </a:lnTo>
                  <a:lnTo>
                    <a:pt x="7284" y="759531"/>
                  </a:lnTo>
                  <a:lnTo>
                    <a:pt x="27567" y="798753"/>
                  </a:lnTo>
                  <a:lnTo>
                    <a:pt x="58495" y="829682"/>
                  </a:lnTo>
                  <a:lnTo>
                    <a:pt x="97717" y="849965"/>
                  </a:lnTo>
                  <a:lnTo>
                    <a:pt x="142877" y="857250"/>
                  </a:lnTo>
                  <a:lnTo>
                    <a:pt x="1434872" y="857250"/>
                  </a:lnTo>
                  <a:lnTo>
                    <a:pt x="1480033" y="849965"/>
                  </a:lnTo>
                  <a:lnTo>
                    <a:pt x="1519255" y="829682"/>
                  </a:lnTo>
                  <a:lnTo>
                    <a:pt x="1550184" y="798753"/>
                  </a:lnTo>
                  <a:lnTo>
                    <a:pt x="1570467" y="759531"/>
                  </a:lnTo>
                  <a:lnTo>
                    <a:pt x="1577751" y="714371"/>
                  </a:lnTo>
                  <a:lnTo>
                    <a:pt x="1577751" y="142877"/>
                  </a:lnTo>
                  <a:lnTo>
                    <a:pt x="1570467" y="97717"/>
                  </a:lnTo>
                  <a:lnTo>
                    <a:pt x="1550184" y="58495"/>
                  </a:lnTo>
                  <a:lnTo>
                    <a:pt x="1519255" y="27567"/>
                  </a:lnTo>
                  <a:lnTo>
                    <a:pt x="1480033" y="7284"/>
                  </a:lnTo>
                  <a:lnTo>
                    <a:pt x="1434872" y="0"/>
                  </a:lnTo>
                  <a:close/>
                </a:path>
              </a:pathLst>
            </a:custGeom>
            <a:solidFill>
              <a:srgbClr val="941100"/>
            </a:solidFill>
          </p:spPr>
          <p:txBody>
            <a:bodyPr wrap="square" lIns="0" tIns="0" rIns="0" bIns="0" rtlCol="0"/>
            <a:lstStyle/>
            <a:p/>
          </p:txBody>
        </p:sp>
        <p:sp>
          <p:nvSpPr>
            <p:cNvPr id="6" name="object 5"/>
            <p:cNvSpPr/>
            <p:nvPr/>
          </p:nvSpPr>
          <p:spPr>
            <a:xfrm>
              <a:off x="2958446" y="2666265"/>
              <a:ext cx="1577975" cy="857250"/>
            </a:xfrm>
            <a:custGeom>
              <a:avLst/>
              <a:gdLst/>
              <a:ahLst/>
              <a:cxnLst/>
              <a:rect l="l" t="t" r="r" b="b"/>
              <a:pathLst>
                <a:path w="1577975" h="857250">
                  <a:moveTo>
                    <a:pt x="0" y="142878"/>
                  </a:moveTo>
                  <a:lnTo>
                    <a:pt x="7284" y="97717"/>
                  </a:lnTo>
                  <a:lnTo>
                    <a:pt x="27567" y="58496"/>
                  </a:lnTo>
                  <a:lnTo>
                    <a:pt x="58496" y="27567"/>
                  </a:lnTo>
                  <a:lnTo>
                    <a:pt x="97717" y="7284"/>
                  </a:lnTo>
                  <a:lnTo>
                    <a:pt x="142877" y="0"/>
                  </a:lnTo>
                  <a:lnTo>
                    <a:pt x="1434873" y="0"/>
                  </a:lnTo>
                  <a:lnTo>
                    <a:pt x="1480034" y="7284"/>
                  </a:lnTo>
                  <a:lnTo>
                    <a:pt x="1519255" y="27567"/>
                  </a:lnTo>
                  <a:lnTo>
                    <a:pt x="1550184" y="58496"/>
                  </a:lnTo>
                  <a:lnTo>
                    <a:pt x="1570467" y="97717"/>
                  </a:lnTo>
                  <a:lnTo>
                    <a:pt x="1577751" y="142878"/>
                  </a:lnTo>
                  <a:lnTo>
                    <a:pt x="1577751" y="714371"/>
                  </a:lnTo>
                  <a:lnTo>
                    <a:pt x="1570467" y="759532"/>
                  </a:lnTo>
                  <a:lnTo>
                    <a:pt x="1550184" y="798753"/>
                  </a:lnTo>
                  <a:lnTo>
                    <a:pt x="1519255" y="829682"/>
                  </a:lnTo>
                  <a:lnTo>
                    <a:pt x="1480034" y="849965"/>
                  </a:lnTo>
                  <a:lnTo>
                    <a:pt x="1434873" y="857249"/>
                  </a:lnTo>
                  <a:lnTo>
                    <a:pt x="142877" y="857249"/>
                  </a:lnTo>
                  <a:lnTo>
                    <a:pt x="97717" y="849965"/>
                  </a:lnTo>
                  <a:lnTo>
                    <a:pt x="58496" y="829682"/>
                  </a:lnTo>
                  <a:lnTo>
                    <a:pt x="27567" y="798753"/>
                  </a:lnTo>
                  <a:lnTo>
                    <a:pt x="7284" y="759532"/>
                  </a:lnTo>
                  <a:lnTo>
                    <a:pt x="0" y="714371"/>
                  </a:lnTo>
                  <a:lnTo>
                    <a:pt x="0" y="142878"/>
                  </a:lnTo>
                  <a:close/>
                </a:path>
              </a:pathLst>
            </a:custGeom>
            <a:ln w="9524">
              <a:solidFill>
                <a:srgbClr val="000000"/>
              </a:solidFill>
            </a:ln>
          </p:spPr>
          <p:txBody>
            <a:bodyPr wrap="square" lIns="0" tIns="0" rIns="0" bIns="0" rtlCol="0"/>
            <a:lstStyle/>
            <a:p/>
          </p:txBody>
        </p:sp>
        <p:sp>
          <p:nvSpPr>
            <p:cNvPr id="7" name="object 6"/>
            <p:cNvSpPr txBox="1"/>
            <p:nvPr/>
          </p:nvSpPr>
          <p:spPr>
            <a:xfrm>
              <a:off x="3445199" y="2741132"/>
              <a:ext cx="608965"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FFFFFF"/>
                  </a:solidFill>
                  <a:latin typeface="Calibri" panose="020F0502020204030204"/>
                  <a:cs typeface="Calibri" panose="020F0502020204030204"/>
                </a:rPr>
                <a:t>C</a:t>
              </a:r>
              <a:r>
                <a:rPr sz="2400" b="1" spc="-5" dirty="0">
                  <a:solidFill>
                    <a:srgbClr val="FFFFFF"/>
                  </a:solidFill>
                  <a:latin typeface="Calibri" panose="020F0502020204030204"/>
                  <a:cs typeface="Calibri" panose="020F0502020204030204"/>
                </a:rPr>
                <a:t>ard</a:t>
              </a:r>
              <a:endParaRPr sz="2400">
                <a:latin typeface="Calibri" panose="020F0502020204030204"/>
                <a:cs typeface="Calibri" panose="020F0502020204030204"/>
              </a:endParaRPr>
            </a:p>
          </p:txBody>
        </p:sp>
        <p:sp>
          <p:nvSpPr>
            <p:cNvPr id="8" name="object 7"/>
            <p:cNvSpPr/>
            <p:nvPr/>
          </p:nvSpPr>
          <p:spPr>
            <a:xfrm>
              <a:off x="5339694" y="2666265"/>
              <a:ext cx="1428750" cy="857250"/>
            </a:xfrm>
            <a:custGeom>
              <a:avLst/>
              <a:gdLst/>
              <a:ahLst/>
              <a:cxnLst/>
              <a:rect l="l" t="t" r="r" b="b"/>
              <a:pathLst>
                <a:path w="1428750" h="857250">
                  <a:moveTo>
                    <a:pt x="1285872" y="0"/>
                  </a:moveTo>
                  <a:lnTo>
                    <a:pt x="142878" y="0"/>
                  </a:lnTo>
                  <a:lnTo>
                    <a:pt x="97717" y="7284"/>
                  </a:lnTo>
                  <a:lnTo>
                    <a:pt x="58496" y="27567"/>
                  </a:lnTo>
                  <a:lnTo>
                    <a:pt x="27567" y="58495"/>
                  </a:lnTo>
                  <a:lnTo>
                    <a:pt x="7284" y="97717"/>
                  </a:lnTo>
                  <a:lnTo>
                    <a:pt x="0" y="142877"/>
                  </a:lnTo>
                  <a:lnTo>
                    <a:pt x="0" y="714371"/>
                  </a:lnTo>
                  <a:lnTo>
                    <a:pt x="7284" y="759531"/>
                  </a:lnTo>
                  <a:lnTo>
                    <a:pt x="27567" y="798753"/>
                  </a:lnTo>
                  <a:lnTo>
                    <a:pt x="58496" y="829682"/>
                  </a:lnTo>
                  <a:lnTo>
                    <a:pt x="97717" y="849965"/>
                  </a:lnTo>
                  <a:lnTo>
                    <a:pt x="142878" y="857250"/>
                  </a:lnTo>
                  <a:lnTo>
                    <a:pt x="1285872" y="857250"/>
                  </a:lnTo>
                  <a:lnTo>
                    <a:pt x="1331032" y="849965"/>
                  </a:lnTo>
                  <a:lnTo>
                    <a:pt x="1370254" y="829682"/>
                  </a:lnTo>
                  <a:lnTo>
                    <a:pt x="1401182" y="798753"/>
                  </a:lnTo>
                  <a:lnTo>
                    <a:pt x="1421465" y="759531"/>
                  </a:lnTo>
                  <a:lnTo>
                    <a:pt x="1428750" y="714371"/>
                  </a:lnTo>
                  <a:lnTo>
                    <a:pt x="1428750" y="142877"/>
                  </a:lnTo>
                  <a:lnTo>
                    <a:pt x="1421465" y="97717"/>
                  </a:lnTo>
                  <a:lnTo>
                    <a:pt x="1401182" y="58495"/>
                  </a:lnTo>
                  <a:lnTo>
                    <a:pt x="1370254" y="27567"/>
                  </a:lnTo>
                  <a:lnTo>
                    <a:pt x="1331032" y="7284"/>
                  </a:lnTo>
                  <a:lnTo>
                    <a:pt x="1285872" y="0"/>
                  </a:lnTo>
                  <a:close/>
                </a:path>
              </a:pathLst>
            </a:custGeom>
            <a:solidFill>
              <a:srgbClr val="941100"/>
            </a:solidFill>
          </p:spPr>
          <p:txBody>
            <a:bodyPr wrap="square" lIns="0" tIns="0" rIns="0" bIns="0" rtlCol="0"/>
            <a:lstStyle/>
            <a:p/>
          </p:txBody>
        </p:sp>
        <p:sp>
          <p:nvSpPr>
            <p:cNvPr id="9" name="object 8"/>
            <p:cNvSpPr/>
            <p:nvPr/>
          </p:nvSpPr>
          <p:spPr>
            <a:xfrm>
              <a:off x="5339694" y="2666265"/>
              <a:ext cx="1428750" cy="857250"/>
            </a:xfrm>
            <a:custGeom>
              <a:avLst/>
              <a:gdLst/>
              <a:ahLst/>
              <a:cxnLst/>
              <a:rect l="l" t="t" r="r" b="b"/>
              <a:pathLst>
                <a:path w="1428750" h="857250">
                  <a:moveTo>
                    <a:pt x="0" y="142878"/>
                  </a:moveTo>
                  <a:lnTo>
                    <a:pt x="7284" y="97717"/>
                  </a:lnTo>
                  <a:lnTo>
                    <a:pt x="27567" y="58496"/>
                  </a:lnTo>
                  <a:lnTo>
                    <a:pt x="58496" y="27567"/>
                  </a:lnTo>
                  <a:lnTo>
                    <a:pt x="97717" y="7284"/>
                  </a:lnTo>
                  <a:lnTo>
                    <a:pt x="142878" y="0"/>
                  </a:lnTo>
                  <a:lnTo>
                    <a:pt x="1285871" y="0"/>
                  </a:lnTo>
                  <a:lnTo>
                    <a:pt x="1331032" y="7284"/>
                  </a:lnTo>
                  <a:lnTo>
                    <a:pt x="1370253" y="27567"/>
                  </a:lnTo>
                  <a:lnTo>
                    <a:pt x="1401182" y="58496"/>
                  </a:lnTo>
                  <a:lnTo>
                    <a:pt x="1421465" y="97717"/>
                  </a:lnTo>
                  <a:lnTo>
                    <a:pt x="1428749" y="142878"/>
                  </a:lnTo>
                  <a:lnTo>
                    <a:pt x="1428749" y="714371"/>
                  </a:lnTo>
                  <a:lnTo>
                    <a:pt x="1421465" y="759532"/>
                  </a:lnTo>
                  <a:lnTo>
                    <a:pt x="1401182" y="798753"/>
                  </a:lnTo>
                  <a:lnTo>
                    <a:pt x="1370253" y="829682"/>
                  </a:lnTo>
                  <a:lnTo>
                    <a:pt x="1331032" y="849965"/>
                  </a:lnTo>
                  <a:lnTo>
                    <a:pt x="1285871" y="857249"/>
                  </a:lnTo>
                  <a:lnTo>
                    <a:pt x="142878" y="857249"/>
                  </a:lnTo>
                  <a:lnTo>
                    <a:pt x="97717" y="849965"/>
                  </a:lnTo>
                  <a:lnTo>
                    <a:pt x="58496" y="829682"/>
                  </a:lnTo>
                  <a:lnTo>
                    <a:pt x="27567" y="798753"/>
                  </a:lnTo>
                  <a:lnTo>
                    <a:pt x="7284" y="759532"/>
                  </a:lnTo>
                  <a:lnTo>
                    <a:pt x="0" y="714371"/>
                  </a:lnTo>
                  <a:lnTo>
                    <a:pt x="0" y="142878"/>
                  </a:lnTo>
                  <a:close/>
                </a:path>
              </a:pathLst>
            </a:custGeom>
            <a:ln w="9524">
              <a:solidFill>
                <a:srgbClr val="000000"/>
              </a:solidFill>
            </a:ln>
          </p:spPr>
          <p:txBody>
            <a:bodyPr wrap="square" lIns="0" tIns="0" rIns="0" bIns="0" rtlCol="0"/>
            <a:lstStyle/>
            <a:p/>
          </p:txBody>
        </p:sp>
        <p:sp>
          <p:nvSpPr>
            <p:cNvPr id="10" name="object 9"/>
            <p:cNvSpPr txBox="1"/>
            <p:nvPr/>
          </p:nvSpPr>
          <p:spPr>
            <a:xfrm>
              <a:off x="5734771" y="2741132"/>
              <a:ext cx="645160"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FFFFFF"/>
                  </a:solidFill>
                  <a:latin typeface="Calibri" panose="020F0502020204030204"/>
                  <a:cs typeface="Calibri" panose="020F0502020204030204"/>
                </a:rPr>
                <a:t>Deck</a:t>
              </a:r>
              <a:endParaRPr sz="2400">
                <a:latin typeface="Calibri" panose="020F0502020204030204"/>
                <a:cs typeface="Calibri" panose="020F0502020204030204"/>
              </a:endParaRPr>
            </a:p>
          </p:txBody>
        </p:sp>
        <p:sp>
          <p:nvSpPr>
            <p:cNvPr id="11" name="object 10"/>
            <p:cNvSpPr/>
            <p:nvPr/>
          </p:nvSpPr>
          <p:spPr>
            <a:xfrm>
              <a:off x="7720944" y="2666265"/>
              <a:ext cx="1428750" cy="857250"/>
            </a:xfrm>
            <a:custGeom>
              <a:avLst/>
              <a:gdLst/>
              <a:ahLst/>
              <a:cxnLst/>
              <a:rect l="l" t="t" r="r" b="b"/>
              <a:pathLst>
                <a:path w="1428750" h="857250">
                  <a:moveTo>
                    <a:pt x="1285872" y="0"/>
                  </a:moveTo>
                  <a:lnTo>
                    <a:pt x="142878" y="0"/>
                  </a:lnTo>
                  <a:lnTo>
                    <a:pt x="97718" y="7284"/>
                  </a:lnTo>
                  <a:lnTo>
                    <a:pt x="58496" y="27567"/>
                  </a:lnTo>
                  <a:lnTo>
                    <a:pt x="27567" y="58495"/>
                  </a:lnTo>
                  <a:lnTo>
                    <a:pt x="7284" y="97717"/>
                  </a:lnTo>
                  <a:lnTo>
                    <a:pt x="0" y="142877"/>
                  </a:lnTo>
                  <a:lnTo>
                    <a:pt x="0" y="714371"/>
                  </a:lnTo>
                  <a:lnTo>
                    <a:pt x="7284" y="759531"/>
                  </a:lnTo>
                  <a:lnTo>
                    <a:pt x="27567" y="798753"/>
                  </a:lnTo>
                  <a:lnTo>
                    <a:pt x="58496" y="829682"/>
                  </a:lnTo>
                  <a:lnTo>
                    <a:pt x="97718" y="849965"/>
                  </a:lnTo>
                  <a:lnTo>
                    <a:pt x="142878" y="857250"/>
                  </a:lnTo>
                  <a:lnTo>
                    <a:pt x="1285872" y="857250"/>
                  </a:lnTo>
                  <a:lnTo>
                    <a:pt x="1331032" y="849965"/>
                  </a:lnTo>
                  <a:lnTo>
                    <a:pt x="1370254" y="829682"/>
                  </a:lnTo>
                  <a:lnTo>
                    <a:pt x="1401182" y="798753"/>
                  </a:lnTo>
                  <a:lnTo>
                    <a:pt x="1421465" y="759531"/>
                  </a:lnTo>
                  <a:lnTo>
                    <a:pt x="1428750" y="714371"/>
                  </a:lnTo>
                  <a:lnTo>
                    <a:pt x="1428750" y="142877"/>
                  </a:lnTo>
                  <a:lnTo>
                    <a:pt x="1421465" y="97717"/>
                  </a:lnTo>
                  <a:lnTo>
                    <a:pt x="1401182" y="58495"/>
                  </a:lnTo>
                  <a:lnTo>
                    <a:pt x="1370254" y="27567"/>
                  </a:lnTo>
                  <a:lnTo>
                    <a:pt x="1331032" y="7284"/>
                  </a:lnTo>
                  <a:lnTo>
                    <a:pt x="1285872" y="0"/>
                  </a:lnTo>
                  <a:close/>
                </a:path>
              </a:pathLst>
            </a:custGeom>
            <a:solidFill>
              <a:srgbClr val="941100"/>
            </a:solidFill>
          </p:spPr>
          <p:txBody>
            <a:bodyPr wrap="square" lIns="0" tIns="0" rIns="0" bIns="0" rtlCol="0"/>
            <a:lstStyle/>
            <a:p/>
          </p:txBody>
        </p:sp>
        <p:sp>
          <p:nvSpPr>
            <p:cNvPr id="12" name="object 11"/>
            <p:cNvSpPr/>
            <p:nvPr/>
          </p:nvSpPr>
          <p:spPr>
            <a:xfrm>
              <a:off x="7720944" y="2666265"/>
              <a:ext cx="1428750" cy="857250"/>
            </a:xfrm>
            <a:custGeom>
              <a:avLst/>
              <a:gdLst/>
              <a:ahLst/>
              <a:cxnLst/>
              <a:rect l="l" t="t" r="r" b="b"/>
              <a:pathLst>
                <a:path w="1428750" h="857250">
                  <a:moveTo>
                    <a:pt x="0" y="142878"/>
                  </a:moveTo>
                  <a:lnTo>
                    <a:pt x="7284" y="97717"/>
                  </a:lnTo>
                  <a:lnTo>
                    <a:pt x="27567" y="58496"/>
                  </a:lnTo>
                  <a:lnTo>
                    <a:pt x="58496" y="27567"/>
                  </a:lnTo>
                  <a:lnTo>
                    <a:pt x="97717" y="7284"/>
                  </a:lnTo>
                  <a:lnTo>
                    <a:pt x="142878" y="0"/>
                  </a:lnTo>
                  <a:lnTo>
                    <a:pt x="1285871" y="0"/>
                  </a:lnTo>
                  <a:lnTo>
                    <a:pt x="1331032" y="7284"/>
                  </a:lnTo>
                  <a:lnTo>
                    <a:pt x="1370253" y="27567"/>
                  </a:lnTo>
                  <a:lnTo>
                    <a:pt x="1401182" y="58496"/>
                  </a:lnTo>
                  <a:lnTo>
                    <a:pt x="1421465" y="97717"/>
                  </a:lnTo>
                  <a:lnTo>
                    <a:pt x="1428749" y="142878"/>
                  </a:lnTo>
                  <a:lnTo>
                    <a:pt x="1428749" y="714371"/>
                  </a:lnTo>
                  <a:lnTo>
                    <a:pt x="1421465" y="759532"/>
                  </a:lnTo>
                  <a:lnTo>
                    <a:pt x="1401182" y="798753"/>
                  </a:lnTo>
                  <a:lnTo>
                    <a:pt x="1370253" y="829682"/>
                  </a:lnTo>
                  <a:lnTo>
                    <a:pt x="1331032" y="849965"/>
                  </a:lnTo>
                  <a:lnTo>
                    <a:pt x="1285871" y="857249"/>
                  </a:lnTo>
                  <a:lnTo>
                    <a:pt x="142878" y="857249"/>
                  </a:lnTo>
                  <a:lnTo>
                    <a:pt x="97717" y="849965"/>
                  </a:lnTo>
                  <a:lnTo>
                    <a:pt x="58496" y="829682"/>
                  </a:lnTo>
                  <a:lnTo>
                    <a:pt x="27567" y="798753"/>
                  </a:lnTo>
                  <a:lnTo>
                    <a:pt x="7284" y="759532"/>
                  </a:lnTo>
                  <a:lnTo>
                    <a:pt x="0" y="714371"/>
                  </a:lnTo>
                  <a:lnTo>
                    <a:pt x="0" y="142878"/>
                  </a:lnTo>
                  <a:close/>
                </a:path>
              </a:pathLst>
            </a:custGeom>
            <a:ln w="9524">
              <a:solidFill>
                <a:srgbClr val="000000"/>
              </a:solidFill>
            </a:ln>
          </p:spPr>
          <p:txBody>
            <a:bodyPr wrap="square" lIns="0" tIns="0" rIns="0" bIns="0" rtlCol="0"/>
            <a:lstStyle/>
            <a:p/>
          </p:txBody>
        </p:sp>
        <p:sp>
          <p:nvSpPr>
            <p:cNvPr id="13" name="object 12"/>
            <p:cNvSpPr txBox="1"/>
            <p:nvPr/>
          </p:nvSpPr>
          <p:spPr>
            <a:xfrm>
              <a:off x="8090793" y="2741132"/>
              <a:ext cx="695325"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FFFFFF"/>
                  </a:solidFill>
                  <a:latin typeface="Calibri" panose="020F0502020204030204"/>
                  <a:cs typeface="Calibri" panose="020F0502020204030204"/>
                </a:rPr>
                <a:t>Hand</a:t>
              </a:r>
              <a:endParaRPr sz="2400">
                <a:latin typeface="Calibri" panose="020F0502020204030204"/>
                <a:cs typeface="Calibri" panose="020F0502020204030204"/>
              </a:endParaRPr>
            </a:p>
          </p:txBody>
        </p:sp>
        <p:sp>
          <p:nvSpPr>
            <p:cNvPr id="14" name="object 13"/>
            <p:cNvSpPr/>
            <p:nvPr/>
          </p:nvSpPr>
          <p:spPr>
            <a:xfrm>
              <a:off x="2952021" y="4309328"/>
              <a:ext cx="1721485" cy="857250"/>
            </a:xfrm>
            <a:custGeom>
              <a:avLst/>
              <a:gdLst/>
              <a:ahLst/>
              <a:cxnLst/>
              <a:rect l="l" t="t" r="r" b="b"/>
              <a:pathLst>
                <a:path w="1721485" h="857250">
                  <a:moveTo>
                    <a:pt x="1578046" y="0"/>
                  </a:moveTo>
                  <a:lnTo>
                    <a:pt x="142878" y="0"/>
                  </a:lnTo>
                  <a:lnTo>
                    <a:pt x="97717" y="7284"/>
                  </a:lnTo>
                  <a:lnTo>
                    <a:pt x="58496" y="27567"/>
                  </a:lnTo>
                  <a:lnTo>
                    <a:pt x="27567" y="58495"/>
                  </a:lnTo>
                  <a:lnTo>
                    <a:pt x="7284" y="97717"/>
                  </a:lnTo>
                  <a:lnTo>
                    <a:pt x="0" y="142877"/>
                  </a:lnTo>
                  <a:lnTo>
                    <a:pt x="0" y="714371"/>
                  </a:lnTo>
                  <a:lnTo>
                    <a:pt x="7284" y="759532"/>
                  </a:lnTo>
                  <a:lnTo>
                    <a:pt x="27567" y="798753"/>
                  </a:lnTo>
                  <a:lnTo>
                    <a:pt x="58496" y="829682"/>
                  </a:lnTo>
                  <a:lnTo>
                    <a:pt x="97717" y="849965"/>
                  </a:lnTo>
                  <a:lnTo>
                    <a:pt x="142878" y="857250"/>
                  </a:lnTo>
                  <a:lnTo>
                    <a:pt x="1578046" y="857250"/>
                  </a:lnTo>
                  <a:lnTo>
                    <a:pt x="1623206" y="849965"/>
                  </a:lnTo>
                  <a:lnTo>
                    <a:pt x="1662427" y="829682"/>
                  </a:lnTo>
                  <a:lnTo>
                    <a:pt x="1693356" y="798753"/>
                  </a:lnTo>
                  <a:lnTo>
                    <a:pt x="1713639" y="759532"/>
                  </a:lnTo>
                  <a:lnTo>
                    <a:pt x="1720923" y="714371"/>
                  </a:lnTo>
                  <a:lnTo>
                    <a:pt x="1720923" y="142877"/>
                  </a:lnTo>
                  <a:lnTo>
                    <a:pt x="1713639" y="97717"/>
                  </a:lnTo>
                  <a:lnTo>
                    <a:pt x="1693356" y="58495"/>
                  </a:lnTo>
                  <a:lnTo>
                    <a:pt x="1662427" y="27567"/>
                  </a:lnTo>
                  <a:lnTo>
                    <a:pt x="1623206" y="7284"/>
                  </a:lnTo>
                  <a:lnTo>
                    <a:pt x="1578046" y="0"/>
                  </a:lnTo>
                  <a:close/>
                </a:path>
              </a:pathLst>
            </a:custGeom>
            <a:solidFill>
              <a:srgbClr val="941100"/>
            </a:solidFill>
          </p:spPr>
          <p:txBody>
            <a:bodyPr wrap="square" lIns="0" tIns="0" rIns="0" bIns="0" rtlCol="0"/>
            <a:lstStyle/>
            <a:p/>
          </p:txBody>
        </p:sp>
        <p:sp>
          <p:nvSpPr>
            <p:cNvPr id="15" name="object 14"/>
            <p:cNvSpPr/>
            <p:nvPr/>
          </p:nvSpPr>
          <p:spPr>
            <a:xfrm>
              <a:off x="2952021" y="4309328"/>
              <a:ext cx="1721485" cy="857250"/>
            </a:xfrm>
            <a:custGeom>
              <a:avLst/>
              <a:gdLst/>
              <a:ahLst/>
              <a:cxnLst/>
              <a:rect l="l" t="t" r="r" b="b"/>
              <a:pathLst>
                <a:path w="1721485" h="857250">
                  <a:moveTo>
                    <a:pt x="0" y="142877"/>
                  </a:moveTo>
                  <a:lnTo>
                    <a:pt x="7284" y="97717"/>
                  </a:lnTo>
                  <a:lnTo>
                    <a:pt x="27567" y="58496"/>
                  </a:lnTo>
                  <a:lnTo>
                    <a:pt x="58496" y="27567"/>
                  </a:lnTo>
                  <a:lnTo>
                    <a:pt x="97717" y="7284"/>
                  </a:lnTo>
                  <a:lnTo>
                    <a:pt x="142877" y="0"/>
                  </a:lnTo>
                  <a:lnTo>
                    <a:pt x="1578045" y="0"/>
                  </a:lnTo>
                  <a:lnTo>
                    <a:pt x="1623206" y="7284"/>
                  </a:lnTo>
                  <a:lnTo>
                    <a:pt x="1662427" y="27567"/>
                  </a:lnTo>
                  <a:lnTo>
                    <a:pt x="1693356" y="58496"/>
                  </a:lnTo>
                  <a:lnTo>
                    <a:pt x="1713639" y="97717"/>
                  </a:lnTo>
                  <a:lnTo>
                    <a:pt x="1720923" y="142877"/>
                  </a:lnTo>
                  <a:lnTo>
                    <a:pt x="1720923" y="714371"/>
                  </a:lnTo>
                  <a:lnTo>
                    <a:pt x="1713639" y="759532"/>
                  </a:lnTo>
                  <a:lnTo>
                    <a:pt x="1693356" y="798753"/>
                  </a:lnTo>
                  <a:lnTo>
                    <a:pt x="1662427" y="829682"/>
                  </a:lnTo>
                  <a:lnTo>
                    <a:pt x="1623206" y="849965"/>
                  </a:lnTo>
                  <a:lnTo>
                    <a:pt x="1578045" y="857249"/>
                  </a:lnTo>
                  <a:lnTo>
                    <a:pt x="142877" y="857249"/>
                  </a:lnTo>
                  <a:lnTo>
                    <a:pt x="97717" y="849965"/>
                  </a:lnTo>
                  <a:lnTo>
                    <a:pt x="58496" y="829682"/>
                  </a:lnTo>
                  <a:lnTo>
                    <a:pt x="27567" y="798753"/>
                  </a:lnTo>
                  <a:lnTo>
                    <a:pt x="7284" y="759532"/>
                  </a:lnTo>
                  <a:lnTo>
                    <a:pt x="0" y="714371"/>
                  </a:lnTo>
                  <a:lnTo>
                    <a:pt x="0" y="142877"/>
                  </a:lnTo>
                  <a:close/>
                </a:path>
              </a:pathLst>
            </a:custGeom>
            <a:ln w="9524">
              <a:solidFill>
                <a:srgbClr val="000000"/>
              </a:solidFill>
            </a:ln>
          </p:spPr>
          <p:txBody>
            <a:bodyPr wrap="square" lIns="0" tIns="0" rIns="0" bIns="0" rtlCol="0"/>
            <a:lstStyle/>
            <a:p/>
          </p:txBody>
        </p:sp>
        <p:sp>
          <p:nvSpPr>
            <p:cNvPr id="16" name="object 15"/>
            <p:cNvSpPr txBox="1"/>
            <p:nvPr/>
          </p:nvSpPr>
          <p:spPr>
            <a:xfrm>
              <a:off x="3386512" y="4384194"/>
              <a:ext cx="857885"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FFFFFF"/>
                  </a:solidFill>
                  <a:latin typeface="Calibri" panose="020F0502020204030204"/>
                  <a:cs typeface="Calibri" panose="020F0502020204030204"/>
                </a:rPr>
                <a:t>De</a:t>
              </a:r>
              <a:r>
                <a:rPr sz="2400" b="1" spc="-5" dirty="0">
                  <a:solidFill>
                    <a:srgbClr val="FFFFFF"/>
                  </a:solidFill>
                  <a:latin typeface="Calibri" panose="020F0502020204030204"/>
                  <a:cs typeface="Calibri" panose="020F0502020204030204"/>
                </a:rPr>
                <a:t>al</a:t>
              </a:r>
              <a:r>
                <a:rPr sz="2400" b="1" dirty="0">
                  <a:solidFill>
                    <a:srgbClr val="FFFFFF"/>
                  </a:solidFill>
                  <a:latin typeface="Calibri" panose="020F0502020204030204"/>
                  <a:cs typeface="Calibri" panose="020F0502020204030204"/>
                </a:rPr>
                <a:t>er</a:t>
              </a:r>
              <a:endParaRPr sz="2400">
                <a:latin typeface="Calibri" panose="020F0502020204030204"/>
                <a:cs typeface="Calibri" panose="020F0502020204030204"/>
              </a:endParaRPr>
            </a:p>
          </p:txBody>
        </p:sp>
        <p:sp>
          <p:nvSpPr>
            <p:cNvPr id="17" name="object 16"/>
            <p:cNvSpPr/>
            <p:nvPr/>
          </p:nvSpPr>
          <p:spPr>
            <a:xfrm>
              <a:off x="5328285" y="4309328"/>
              <a:ext cx="1535430" cy="857250"/>
            </a:xfrm>
            <a:custGeom>
              <a:avLst/>
              <a:gdLst/>
              <a:ahLst/>
              <a:cxnLst/>
              <a:rect l="l" t="t" r="r" b="b"/>
              <a:pathLst>
                <a:path w="1535429" h="857250">
                  <a:moveTo>
                    <a:pt x="1392532" y="0"/>
                  </a:moveTo>
                  <a:lnTo>
                    <a:pt x="142878" y="0"/>
                  </a:lnTo>
                  <a:lnTo>
                    <a:pt x="97717" y="7284"/>
                  </a:lnTo>
                  <a:lnTo>
                    <a:pt x="58496" y="27567"/>
                  </a:lnTo>
                  <a:lnTo>
                    <a:pt x="27567" y="58495"/>
                  </a:lnTo>
                  <a:lnTo>
                    <a:pt x="7284" y="97717"/>
                  </a:lnTo>
                  <a:lnTo>
                    <a:pt x="0" y="142877"/>
                  </a:lnTo>
                  <a:lnTo>
                    <a:pt x="0" y="714371"/>
                  </a:lnTo>
                  <a:lnTo>
                    <a:pt x="7284" y="759532"/>
                  </a:lnTo>
                  <a:lnTo>
                    <a:pt x="27567" y="798753"/>
                  </a:lnTo>
                  <a:lnTo>
                    <a:pt x="58496" y="829682"/>
                  </a:lnTo>
                  <a:lnTo>
                    <a:pt x="97717" y="849965"/>
                  </a:lnTo>
                  <a:lnTo>
                    <a:pt x="142878" y="857250"/>
                  </a:lnTo>
                  <a:lnTo>
                    <a:pt x="1392532" y="857250"/>
                  </a:lnTo>
                  <a:lnTo>
                    <a:pt x="1437692" y="849965"/>
                  </a:lnTo>
                  <a:lnTo>
                    <a:pt x="1476913" y="829682"/>
                  </a:lnTo>
                  <a:lnTo>
                    <a:pt x="1507842" y="798753"/>
                  </a:lnTo>
                  <a:lnTo>
                    <a:pt x="1528125" y="759532"/>
                  </a:lnTo>
                  <a:lnTo>
                    <a:pt x="1535409" y="714371"/>
                  </a:lnTo>
                  <a:lnTo>
                    <a:pt x="1535409" y="142877"/>
                  </a:lnTo>
                  <a:lnTo>
                    <a:pt x="1528125" y="97717"/>
                  </a:lnTo>
                  <a:lnTo>
                    <a:pt x="1507842" y="58495"/>
                  </a:lnTo>
                  <a:lnTo>
                    <a:pt x="1476913" y="27567"/>
                  </a:lnTo>
                  <a:lnTo>
                    <a:pt x="1437692" y="7284"/>
                  </a:lnTo>
                  <a:lnTo>
                    <a:pt x="1392532" y="0"/>
                  </a:lnTo>
                  <a:close/>
                </a:path>
              </a:pathLst>
            </a:custGeom>
            <a:solidFill>
              <a:srgbClr val="941100"/>
            </a:solidFill>
          </p:spPr>
          <p:txBody>
            <a:bodyPr wrap="square" lIns="0" tIns="0" rIns="0" bIns="0" rtlCol="0"/>
            <a:lstStyle/>
            <a:p/>
          </p:txBody>
        </p:sp>
        <p:sp>
          <p:nvSpPr>
            <p:cNvPr id="18" name="object 17"/>
            <p:cNvSpPr/>
            <p:nvPr/>
          </p:nvSpPr>
          <p:spPr>
            <a:xfrm>
              <a:off x="5328285" y="4309328"/>
              <a:ext cx="1535430" cy="857250"/>
            </a:xfrm>
            <a:custGeom>
              <a:avLst/>
              <a:gdLst/>
              <a:ahLst/>
              <a:cxnLst/>
              <a:rect l="l" t="t" r="r" b="b"/>
              <a:pathLst>
                <a:path w="1535429" h="857250">
                  <a:moveTo>
                    <a:pt x="0" y="142877"/>
                  </a:moveTo>
                  <a:lnTo>
                    <a:pt x="7284" y="97717"/>
                  </a:lnTo>
                  <a:lnTo>
                    <a:pt x="27567" y="58496"/>
                  </a:lnTo>
                  <a:lnTo>
                    <a:pt x="58496" y="27567"/>
                  </a:lnTo>
                  <a:lnTo>
                    <a:pt x="97717" y="7284"/>
                  </a:lnTo>
                  <a:lnTo>
                    <a:pt x="142878" y="0"/>
                  </a:lnTo>
                  <a:lnTo>
                    <a:pt x="1392531" y="0"/>
                  </a:lnTo>
                  <a:lnTo>
                    <a:pt x="1437692" y="7284"/>
                  </a:lnTo>
                  <a:lnTo>
                    <a:pt x="1476913" y="27567"/>
                  </a:lnTo>
                  <a:lnTo>
                    <a:pt x="1507842" y="58496"/>
                  </a:lnTo>
                  <a:lnTo>
                    <a:pt x="1528125" y="97717"/>
                  </a:lnTo>
                  <a:lnTo>
                    <a:pt x="1535409" y="142877"/>
                  </a:lnTo>
                  <a:lnTo>
                    <a:pt x="1535409" y="714371"/>
                  </a:lnTo>
                  <a:lnTo>
                    <a:pt x="1528125" y="759532"/>
                  </a:lnTo>
                  <a:lnTo>
                    <a:pt x="1507842" y="798753"/>
                  </a:lnTo>
                  <a:lnTo>
                    <a:pt x="1476913" y="829682"/>
                  </a:lnTo>
                  <a:lnTo>
                    <a:pt x="1437692" y="849965"/>
                  </a:lnTo>
                  <a:lnTo>
                    <a:pt x="1392531" y="857249"/>
                  </a:lnTo>
                  <a:lnTo>
                    <a:pt x="142878" y="857249"/>
                  </a:lnTo>
                  <a:lnTo>
                    <a:pt x="97717" y="849965"/>
                  </a:lnTo>
                  <a:lnTo>
                    <a:pt x="58496" y="829682"/>
                  </a:lnTo>
                  <a:lnTo>
                    <a:pt x="27567" y="798753"/>
                  </a:lnTo>
                  <a:lnTo>
                    <a:pt x="7284" y="759532"/>
                  </a:lnTo>
                  <a:lnTo>
                    <a:pt x="0" y="714371"/>
                  </a:lnTo>
                  <a:lnTo>
                    <a:pt x="0" y="142877"/>
                  </a:lnTo>
                  <a:close/>
                </a:path>
              </a:pathLst>
            </a:custGeom>
            <a:ln w="9524">
              <a:solidFill>
                <a:srgbClr val="000000"/>
              </a:solidFill>
            </a:ln>
          </p:spPr>
          <p:txBody>
            <a:bodyPr wrap="square" lIns="0" tIns="0" rIns="0" bIns="0" rtlCol="0"/>
            <a:lstStyle/>
            <a:p/>
          </p:txBody>
        </p:sp>
        <p:sp>
          <p:nvSpPr>
            <p:cNvPr id="19" name="object 18"/>
            <p:cNvSpPr txBox="1"/>
            <p:nvPr/>
          </p:nvSpPr>
          <p:spPr>
            <a:xfrm>
              <a:off x="5689403" y="4384194"/>
              <a:ext cx="818515"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FFFFFF"/>
                  </a:solidFill>
                  <a:latin typeface="Calibri" panose="020F0502020204030204"/>
                  <a:cs typeface="Calibri" panose="020F0502020204030204"/>
                </a:rPr>
                <a:t>Player</a:t>
              </a:r>
              <a:endParaRPr sz="2400">
                <a:latin typeface="Calibri" panose="020F0502020204030204"/>
                <a:cs typeface="Calibri" panose="020F0502020204030204"/>
              </a:endParaRPr>
            </a:p>
          </p:txBody>
        </p:sp>
        <p:sp>
          <p:nvSpPr>
            <p:cNvPr id="20" name="object 19"/>
            <p:cNvSpPr/>
            <p:nvPr/>
          </p:nvSpPr>
          <p:spPr>
            <a:xfrm>
              <a:off x="7816194" y="4309328"/>
              <a:ext cx="1428750" cy="857250"/>
            </a:xfrm>
            <a:custGeom>
              <a:avLst/>
              <a:gdLst/>
              <a:ahLst/>
              <a:cxnLst/>
              <a:rect l="l" t="t" r="r" b="b"/>
              <a:pathLst>
                <a:path w="1428750" h="857250">
                  <a:moveTo>
                    <a:pt x="1285872" y="0"/>
                  </a:moveTo>
                  <a:lnTo>
                    <a:pt x="142878" y="0"/>
                  </a:lnTo>
                  <a:lnTo>
                    <a:pt x="97718" y="7284"/>
                  </a:lnTo>
                  <a:lnTo>
                    <a:pt x="58496" y="27567"/>
                  </a:lnTo>
                  <a:lnTo>
                    <a:pt x="27567" y="58495"/>
                  </a:lnTo>
                  <a:lnTo>
                    <a:pt x="7284" y="97717"/>
                  </a:lnTo>
                  <a:lnTo>
                    <a:pt x="0" y="142877"/>
                  </a:lnTo>
                  <a:lnTo>
                    <a:pt x="0" y="714371"/>
                  </a:lnTo>
                  <a:lnTo>
                    <a:pt x="7284" y="759532"/>
                  </a:lnTo>
                  <a:lnTo>
                    <a:pt x="27567" y="798753"/>
                  </a:lnTo>
                  <a:lnTo>
                    <a:pt x="58496" y="829682"/>
                  </a:lnTo>
                  <a:lnTo>
                    <a:pt x="97718" y="849965"/>
                  </a:lnTo>
                  <a:lnTo>
                    <a:pt x="142878" y="857250"/>
                  </a:lnTo>
                  <a:lnTo>
                    <a:pt x="1285872" y="857250"/>
                  </a:lnTo>
                  <a:lnTo>
                    <a:pt x="1331032" y="849965"/>
                  </a:lnTo>
                  <a:lnTo>
                    <a:pt x="1370254" y="829682"/>
                  </a:lnTo>
                  <a:lnTo>
                    <a:pt x="1401182" y="798753"/>
                  </a:lnTo>
                  <a:lnTo>
                    <a:pt x="1421465" y="759532"/>
                  </a:lnTo>
                  <a:lnTo>
                    <a:pt x="1428750" y="714371"/>
                  </a:lnTo>
                  <a:lnTo>
                    <a:pt x="1428750" y="142877"/>
                  </a:lnTo>
                  <a:lnTo>
                    <a:pt x="1421465" y="97717"/>
                  </a:lnTo>
                  <a:lnTo>
                    <a:pt x="1401182" y="58495"/>
                  </a:lnTo>
                  <a:lnTo>
                    <a:pt x="1370254" y="27567"/>
                  </a:lnTo>
                  <a:lnTo>
                    <a:pt x="1331032" y="7284"/>
                  </a:lnTo>
                  <a:lnTo>
                    <a:pt x="1285872" y="0"/>
                  </a:lnTo>
                  <a:close/>
                </a:path>
              </a:pathLst>
            </a:custGeom>
            <a:solidFill>
              <a:srgbClr val="941100"/>
            </a:solidFill>
          </p:spPr>
          <p:txBody>
            <a:bodyPr wrap="square" lIns="0" tIns="0" rIns="0" bIns="0" rtlCol="0"/>
            <a:lstStyle/>
            <a:p/>
          </p:txBody>
        </p:sp>
        <p:sp>
          <p:nvSpPr>
            <p:cNvPr id="21" name="object 20"/>
            <p:cNvSpPr/>
            <p:nvPr/>
          </p:nvSpPr>
          <p:spPr>
            <a:xfrm>
              <a:off x="7816194" y="4309328"/>
              <a:ext cx="1428750" cy="857250"/>
            </a:xfrm>
            <a:custGeom>
              <a:avLst/>
              <a:gdLst/>
              <a:ahLst/>
              <a:cxnLst/>
              <a:rect l="l" t="t" r="r" b="b"/>
              <a:pathLst>
                <a:path w="1428750" h="857250">
                  <a:moveTo>
                    <a:pt x="0" y="142877"/>
                  </a:moveTo>
                  <a:lnTo>
                    <a:pt x="7284" y="97717"/>
                  </a:lnTo>
                  <a:lnTo>
                    <a:pt x="27567" y="58496"/>
                  </a:lnTo>
                  <a:lnTo>
                    <a:pt x="58496" y="27567"/>
                  </a:lnTo>
                  <a:lnTo>
                    <a:pt x="97717" y="7284"/>
                  </a:lnTo>
                  <a:lnTo>
                    <a:pt x="142878" y="0"/>
                  </a:lnTo>
                  <a:lnTo>
                    <a:pt x="1285871" y="0"/>
                  </a:lnTo>
                  <a:lnTo>
                    <a:pt x="1331032" y="7284"/>
                  </a:lnTo>
                  <a:lnTo>
                    <a:pt x="1370253" y="27567"/>
                  </a:lnTo>
                  <a:lnTo>
                    <a:pt x="1401182" y="58496"/>
                  </a:lnTo>
                  <a:lnTo>
                    <a:pt x="1421465" y="97717"/>
                  </a:lnTo>
                  <a:lnTo>
                    <a:pt x="1428749" y="142877"/>
                  </a:lnTo>
                  <a:lnTo>
                    <a:pt x="1428749" y="714371"/>
                  </a:lnTo>
                  <a:lnTo>
                    <a:pt x="1421465" y="759532"/>
                  </a:lnTo>
                  <a:lnTo>
                    <a:pt x="1401182" y="798753"/>
                  </a:lnTo>
                  <a:lnTo>
                    <a:pt x="1370253" y="829682"/>
                  </a:lnTo>
                  <a:lnTo>
                    <a:pt x="1331032" y="849965"/>
                  </a:lnTo>
                  <a:lnTo>
                    <a:pt x="1285871" y="857249"/>
                  </a:lnTo>
                  <a:lnTo>
                    <a:pt x="142878" y="857249"/>
                  </a:lnTo>
                  <a:lnTo>
                    <a:pt x="97717" y="849965"/>
                  </a:lnTo>
                  <a:lnTo>
                    <a:pt x="58496" y="829682"/>
                  </a:lnTo>
                  <a:lnTo>
                    <a:pt x="27567" y="798753"/>
                  </a:lnTo>
                  <a:lnTo>
                    <a:pt x="7284" y="759532"/>
                  </a:lnTo>
                  <a:lnTo>
                    <a:pt x="0" y="714371"/>
                  </a:lnTo>
                  <a:lnTo>
                    <a:pt x="0" y="142877"/>
                  </a:lnTo>
                  <a:close/>
                </a:path>
              </a:pathLst>
            </a:custGeom>
            <a:ln w="9524">
              <a:solidFill>
                <a:srgbClr val="659244"/>
              </a:solidFill>
            </a:ln>
          </p:spPr>
          <p:txBody>
            <a:bodyPr wrap="square" lIns="0" tIns="0" rIns="0" bIns="0" rtlCol="0"/>
            <a:lstStyle/>
            <a:p/>
          </p:txBody>
        </p:sp>
        <p:sp>
          <p:nvSpPr>
            <p:cNvPr id="22" name="object 21"/>
            <p:cNvSpPr txBox="1"/>
            <p:nvPr/>
          </p:nvSpPr>
          <p:spPr>
            <a:xfrm>
              <a:off x="8305999" y="4384194"/>
              <a:ext cx="455930"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FFFFFF"/>
                  </a:solidFill>
                  <a:latin typeface="Calibri" panose="020F0502020204030204"/>
                  <a:cs typeface="Calibri" panose="020F0502020204030204"/>
                </a:rPr>
                <a:t>B</a:t>
              </a:r>
              <a:r>
                <a:rPr sz="2400" b="1" dirty="0">
                  <a:solidFill>
                    <a:srgbClr val="FFFFFF"/>
                  </a:solidFill>
                  <a:latin typeface="Calibri" panose="020F0502020204030204"/>
                  <a:cs typeface="Calibri" panose="020F0502020204030204"/>
                </a:rPr>
                <a:t>et</a:t>
              </a:r>
              <a:endParaRPr sz="2400">
                <a:latin typeface="Calibri" panose="020F0502020204030204"/>
                <a:cs typeface="Calibri" panose="020F0502020204030204"/>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11347"/>
    </mc:Choice>
    <mc:Fallback>
      <p:transition spd="slow" advTm="11347"/>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类识别</a:t>
            </a:r>
            <a:endParaRPr lang="zh-CN" altLang="en-US" dirty="0"/>
          </a:p>
        </p:txBody>
      </p:sp>
      <p:sp>
        <p:nvSpPr>
          <p:cNvPr id="3" name="内容占位符 2"/>
          <p:cNvSpPr>
            <a:spLocks noGrp="1"/>
          </p:cNvSpPr>
          <p:nvPr>
            <p:ph idx="1"/>
          </p:nvPr>
        </p:nvSpPr>
        <p:spPr>
          <a:xfrm>
            <a:off x="838200" y="1690688"/>
            <a:ext cx="10515600" cy="4486275"/>
          </a:xfrm>
        </p:spPr>
        <p:txBody>
          <a:bodyPr>
            <a:normAutofit lnSpcReduction="10000"/>
          </a:bodyPr>
          <a:lstStyle/>
          <a:p>
            <a:pPr marL="241300">
              <a:lnSpc>
                <a:spcPct val="100000"/>
              </a:lnSpc>
              <a:buFont typeface="Arial" panose="020B0604020202020204"/>
              <a:buChar char="•"/>
              <a:tabLst>
                <a:tab pos="240665" algn="l"/>
                <a:tab pos="241300" algn="l"/>
              </a:tabLst>
            </a:pPr>
            <a:r>
              <a:rPr lang="zh-CN" altLang="en-US" sz="2400" b="1" dirty="0">
                <a:cs typeface="黑体" panose="02010609060101010101" charset="-122"/>
              </a:rPr>
              <a:t>从原始资料中识别类</a:t>
            </a:r>
            <a:r>
              <a:rPr lang="en-US" altLang="zh-CN" sz="2400" b="1" dirty="0">
                <a:cs typeface="黑体" panose="02010609060101010101" charset="-122"/>
              </a:rPr>
              <a:t>:</a:t>
            </a:r>
            <a:endParaRPr lang="en-US" altLang="zh-CN" sz="2400" b="1" dirty="0">
              <a:cs typeface="黑体" panose="02010609060101010101" charset="-122"/>
            </a:endParaRPr>
          </a:p>
          <a:p>
            <a:pPr marL="698500" lvl="1">
              <a:lnSpc>
                <a:spcPct val="100000"/>
              </a:lnSpc>
              <a:spcBef>
                <a:spcPts val="900"/>
              </a:spcBef>
              <a:buFont typeface="Arial" panose="020B0604020202020204"/>
              <a:buChar char="•"/>
              <a:tabLst>
                <a:tab pos="697865" algn="l"/>
                <a:tab pos="698500" algn="l"/>
              </a:tabLst>
            </a:pPr>
            <a:r>
              <a:rPr lang="zh-CN" altLang="en-US" sz="2000" dirty="0">
                <a:cs typeface="黑体" panose="02010609060101010101" charset="-122"/>
              </a:rPr>
              <a:t>找出干系人提交的问题描述中名词及短语</a:t>
            </a:r>
            <a:endParaRPr lang="zh-CN" altLang="en-US" sz="2000" dirty="0">
              <a:cs typeface="黑体" panose="02010609060101010101" charset="-122"/>
            </a:endParaRPr>
          </a:p>
          <a:p>
            <a:pPr marL="1155700" lvl="2">
              <a:lnSpc>
                <a:spcPct val="100000"/>
              </a:lnSpc>
              <a:spcBef>
                <a:spcPts val="1000"/>
              </a:spcBef>
              <a:buFont typeface="Arial" panose="020B0604020202020204"/>
              <a:buChar char="•"/>
              <a:tabLst>
                <a:tab pos="1155065" algn="l"/>
                <a:tab pos="1155700" algn="l"/>
              </a:tabLst>
            </a:pPr>
            <a:r>
              <a:rPr lang="zh-CN" altLang="en-US" dirty="0">
                <a:cs typeface="黑体" panose="02010609060101010101" charset="-122"/>
              </a:rPr>
              <a:t>如果他描述应用领域中的信息结构或本质，则加入模型</a:t>
            </a:r>
            <a:endParaRPr lang="zh-CN" altLang="en-US" dirty="0">
              <a:cs typeface="黑体" panose="02010609060101010101" charset="-122"/>
            </a:endParaRPr>
          </a:p>
          <a:p>
            <a:pPr marL="241300">
              <a:lnSpc>
                <a:spcPct val="100000"/>
              </a:lnSpc>
              <a:spcBef>
                <a:spcPts val="1500"/>
              </a:spcBef>
              <a:buFont typeface="Arial" panose="020B0604020202020204"/>
              <a:buChar char="•"/>
              <a:tabLst>
                <a:tab pos="240665" algn="l"/>
                <a:tab pos="241300" algn="l"/>
              </a:tabLst>
            </a:pPr>
            <a:r>
              <a:rPr lang="zh-CN" altLang="en-US" sz="2400" b="1" dirty="0">
                <a:cs typeface="黑体" panose="02010609060101010101" charset="-122"/>
              </a:rPr>
              <a:t>从其他来源识别类：</a:t>
            </a:r>
            <a:endParaRPr lang="zh-CN" altLang="en-US" sz="2400" b="1" dirty="0">
              <a:cs typeface="黑体" panose="02010609060101010101" charset="-122"/>
            </a:endParaRPr>
          </a:p>
          <a:p>
            <a:pPr marL="698500" lvl="1">
              <a:lnSpc>
                <a:spcPct val="100000"/>
              </a:lnSpc>
              <a:spcBef>
                <a:spcPts val="1000"/>
              </a:spcBef>
              <a:buFont typeface="Arial" panose="020B0604020202020204"/>
              <a:buChar char="•"/>
              <a:tabLst>
                <a:tab pos="697865" algn="l"/>
                <a:tab pos="698500" algn="l"/>
              </a:tabLst>
            </a:pPr>
            <a:r>
              <a:rPr lang="zh-CN" altLang="en-US" sz="2000" dirty="0">
                <a:cs typeface="黑体" panose="02010609060101010101" charset="-122"/>
              </a:rPr>
              <a:t>背景信息调查</a:t>
            </a:r>
            <a:endParaRPr lang="zh-CN" altLang="en-US" sz="2000" dirty="0">
              <a:cs typeface="黑体" panose="02010609060101010101" charset="-122"/>
            </a:endParaRPr>
          </a:p>
          <a:p>
            <a:pPr marL="698500" lvl="1">
              <a:lnSpc>
                <a:spcPct val="100000"/>
              </a:lnSpc>
              <a:spcBef>
                <a:spcPts val="1000"/>
              </a:spcBef>
              <a:buFont typeface="Arial" panose="020B0604020202020204"/>
              <a:buChar char="•"/>
              <a:tabLst>
                <a:tab pos="697865" algn="l"/>
                <a:tab pos="698500" algn="l"/>
              </a:tabLst>
            </a:pPr>
            <a:r>
              <a:rPr lang="zh-CN" altLang="en-US" sz="2000" dirty="0">
                <a:cs typeface="黑体" panose="02010609060101010101" charset="-122"/>
              </a:rPr>
              <a:t>用户及干系人提供</a:t>
            </a:r>
            <a:endParaRPr lang="zh-CN" altLang="en-US" sz="2000" dirty="0">
              <a:cs typeface="黑体" panose="02010609060101010101" charset="-122"/>
            </a:endParaRPr>
          </a:p>
          <a:p>
            <a:pPr marL="698500" lvl="1">
              <a:lnSpc>
                <a:spcPct val="100000"/>
              </a:lnSpc>
              <a:spcBef>
                <a:spcPts val="900"/>
              </a:spcBef>
              <a:buFont typeface="Arial" panose="020B0604020202020204"/>
              <a:buChar char="•"/>
              <a:tabLst>
                <a:tab pos="697865" algn="l"/>
                <a:tab pos="698500" algn="l"/>
              </a:tabLst>
            </a:pPr>
            <a:r>
              <a:rPr lang="zh-CN" altLang="en-US" sz="2000" dirty="0">
                <a:cs typeface="黑体" panose="02010609060101010101" charset="-122"/>
              </a:rPr>
              <a:t>分析模式</a:t>
            </a:r>
            <a:endParaRPr lang="zh-CN" altLang="en-US" sz="2000" dirty="0">
              <a:cs typeface="黑体" panose="02010609060101010101" charset="-122"/>
            </a:endParaRPr>
          </a:p>
          <a:p>
            <a:pPr marL="241300">
              <a:lnSpc>
                <a:spcPct val="100000"/>
              </a:lnSpc>
              <a:spcBef>
                <a:spcPts val="1500"/>
              </a:spcBef>
              <a:buFont typeface="Arial" panose="020B0604020202020204"/>
              <a:buChar char="•"/>
              <a:tabLst>
                <a:tab pos="240665" algn="l"/>
                <a:tab pos="241300" algn="l"/>
              </a:tabLst>
            </a:pPr>
            <a:r>
              <a:rPr lang="zh-CN" altLang="en-US" sz="2400" b="1" dirty="0">
                <a:cs typeface="黑体" panose="02010609060101010101" charset="-122"/>
              </a:rPr>
              <a:t>最好识别出尽可能多的候选类</a:t>
            </a:r>
            <a:endParaRPr lang="zh-CN" altLang="en-US" sz="2400" b="1" dirty="0">
              <a:cs typeface="黑体" panose="02010609060101010101" charset="-122"/>
            </a:endParaRPr>
          </a:p>
          <a:p>
            <a:pPr marL="698500" lvl="1">
              <a:lnSpc>
                <a:spcPct val="100000"/>
              </a:lnSpc>
              <a:spcBef>
                <a:spcPts val="1000"/>
              </a:spcBef>
              <a:buFont typeface="Arial" panose="020B0604020202020204"/>
              <a:buChar char="•"/>
              <a:tabLst>
                <a:tab pos="697865" algn="l"/>
                <a:tab pos="698500" algn="l"/>
              </a:tabLst>
            </a:pPr>
            <a:r>
              <a:rPr lang="zh-CN" altLang="en-US" sz="2000" dirty="0">
                <a:cs typeface="黑体" panose="02010609060101010101" charset="-122"/>
              </a:rPr>
              <a:t>之后逐步按照其价值功用进行选择</a:t>
            </a:r>
            <a:endParaRPr lang="zh-CN" altLang="en-US" sz="2000" dirty="0">
              <a:cs typeface="黑体" panose="02010609060101010101" charset="-122"/>
            </a:endParaRPr>
          </a:p>
          <a:p>
            <a:pPr marL="698500" lvl="1">
              <a:lnSpc>
                <a:spcPct val="100000"/>
              </a:lnSpc>
              <a:spcBef>
                <a:spcPts val="1000"/>
              </a:spcBef>
              <a:buFont typeface="Arial" panose="020B0604020202020204"/>
              <a:buChar char="•"/>
              <a:tabLst>
                <a:tab pos="697865" algn="l"/>
                <a:tab pos="698500" algn="l"/>
              </a:tabLst>
            </a:pPr>
            <a:r>
              <a:rPr lang="zh-CN" altLang="en-US" sz="2000" dirty="0">
                <a:cs typeface="黑体" panose="02010609060101010101" charset="-122"/>
              </a:rPr>
              <a:t>明确判断后排除一个类要比压根不考虑来的合理</a:t>
            </a:r>
            <a:endParaRPr lang="zh-CN" altLang="en-US" sz="2000" dirty="0">
              <a:cs typeface="黑体" panose="02010609060101010101" charset="-122"/>
            </a:endParaRPr>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78772"/>
    </mc:Choice>
    <mc:Fallback>
      <p:transition spd="slow" advTm="78772"/>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识别类的功能职责</a:t>
            </a:r>
            <a:endParaRPr lang="zh-CN" altLang="en-US" dirty="0"/>
          </a:p>
        </p:txBody>
      </p:sp>
      <p:sp>
        <p:nvSpPr>
          <p:cNvPr id="3" name="内容占位符 2"/>
          <p:cNvSpPr>
            <a:spLocks noGrp="1"/>
          </p:cNvSpPr>
          <p:nvPr>
            <p:ph idx="1"/>
          </p:nvPr>
        </p:nvSpPr>
        <p:spPr/>
        <p:txBody>
          <a:bodyPr>
            <a:normAutofit lnSpcReduction="10000"/>
          </a:bodyPr>
          <a:lstStyle/>
          <a:p>
            <a:pPr marL="0" marR="5080" indent="0">
              <a:lnSpc>
                <a:spcPct val="153000"/>
              </a:lnSpc>
              <a:spcBef>
                <a:spcPts val="100"/>
              </a:spcBef>
              <a:buNone/>
            </a:pPr>
            <a:r>
              <a:rPr lang="zh-CN" altLang="en-US" dirty="0">
                <a:latin typeface="黑体" panose="02010609060101010101" charset="-122"/>
                <a:cs typeface="黑体" panose="02010609060101010101" charset="-122"/>
              </a:rPr>
              <a:t>功能职责关乎行为动作，因此是问题描述中的动词</a:t>
            </a:r>
            <a:endParaRPr lang="en-US" altLang="zh-CN" dirty="0">
              <a:latin typeface="黑体" panose="02010609060101010101" charset="-122"/>
              <a:cs typeface="黑体" panose="02010609060101010101" charset="-122"/>
            </a:endParaRPr>
          </a:p>
          <a:p>
            <a:pPr marL="0" marR="5080" indent="0">
              <a:lnSpc>
                <a:spcPct val="153000"/>
              </a:lnSpc>
              <a:spcBef>
                <a:spcPts val="100"/>
              </a:spcBef>
              <a:buNone/>
            </a:pPr>
            <a:r>
              <a:rPr lang="zh-CN" altLang="en-US" dirty="0">
                <a:solidFill>
                  <a:srgbClr val="800000"/>
                </a:solidFill>
                <a:latin typeface="黑体" panose="02010609060101010101" charset="-122"/>
                <a:cs typeface="黑体" panose="02010609060101010101" charset="-122"/>
              </a:rPr>
              <a:t>注意</a:t>
            </a:r>
            <a:r>
              <a:rPr lang="zh-CN" altLang="en-US" dirty="0">
                <a:solidFill>
                  <a:srgbClr val="941100"/>
                </a:solidFill>
                <a:latin typeface="黑体" panose="02010609060101010101" charset="-122"/>
                <a:cs typeface="黑体" panose="02010609060101010101" charset="-122"/>
              </a:rPr>
              <a:t>：</a:t>
            </a:r>
            <a:endParaRPr lang="zh-CN" altLang="en-US" dirty="0">
              <a:latin typeface="黑体" panose="02010609060101010101" charset="-122"/>
              <a:cs typeface="黑体" panose="02010609060101010101" charset="-122"/>
            </a:endParaRPr>
          </a:p>
          <a:p>
            <a:pPr marL="469900" indent="-457200">
              <a:lnSpc>
                <a:spcPct val="100000"/>
              </a:lnSpc>
              <a:spcBef>
                <a:spcPts val="1620"/>
              </a:spcBef>
              <a:buAutoNum type="arabicPeriod"/>
              <a:tabLst>
                <a:tab pos="469265" algn="l"/>
                <a:tab pos="469900" algn="l"/>
              </a:tabLst>
            </a:pPr>
            <a:r>
              <a:rPr lang="zh-CN" altLang="en-US" dirty="0">
                <a:latin typeface="黑体" panose="02010609060101010101" charset="-122"/>
                <a:cs typeface="黑体" panose="02010609060101010101" charset="-122"/>
              </a:rPr>
              <a:t>并非所有动词均将成为类职责</a:t>
            </a:r>
            <a:endParaRPr lang="zh-CN" altLang="en-US" dirty="0">
              <a:latin typeface="黑体" panose="02010609060101010101" charset="-122"/>
              <a:cs typeface="黑体" panose="02010609060101010101" charset="-122"/>
            </a:endParaRPr>
          </a:p>
          <a:p>
            <a:pPr marL="469900" indent="-457200">
              <a:lnSpc>
                <a:spcPct val="100000"/>
              </a:lnSpc>
              <a:spcBef>
                <a:spcPts val="1520"/>
              </a:spcBef>
              <a:buAutoNum type="arabicPeriod"/>
              <a:tabLst>
                <a:tab pos="469265" algn="l"/>
                <a:tab pos="469900" algn="l"/>
              </a:tabLst>
            </a:pPr>
            <a:r>
              <a:rPr lang="zh-CN" altLang="en-US" dirty="0">
                <a:latin typeface="黑体" panose="02010609060101010101" charset="-122"/>
                <a:cs typeface="黑体" panose="02010609060101010101" charset="-122"/>
              </a:rPr>
              <a:t>有时多个动作合并为一个职责</a:t>
            </a:r>
            <a:endParaRPr lang="zh-CN" altLang="en-US" dirty="0">
              <a:latin typeface="黑体" panose="02010609060101010101" charset="-122"/>
              <a:cs typeface="黑体" panose="02010609060101010101" charset="-122"/>
            </a:endParaRPr>
          </a:p>
          <a:p>
            <a:pPr marL="469900" indent="-457200">
              <a:lnSpc>
                <a:spcPct val="100000"/>
              </a:lnSpc>
              <a:spcBef>
                <a:spcPts val="1620"/>
              </a:spcBef>
              <a:buAutoNum type="arabicPeriod"/>
              <a:tabLst>
                <a:tab pos="469265" algn="l"/>
                <a:tab pos="469900" algn="l"/>
              </a:tabLst>
            </a:pPr>
            <a:r>
              <a:rPr lang="zh-CN" altLang="en-US" dirty="0">
                <a:latin typeface="黑体" panose="02010609060101010101" charset="-122"/>
                <a:cs typeface="黑体" panose="02010609060101010101" charset="-122"/>
              </a:rPr>
              <a:t>随着分析过程深入会发现新的职责</a:t>
            </a:r>
            <a:endParaRPr lang="zh-CN" altLang="en-US" dirty="0">
              <a:latin typeface="黑体" panose="02010609060101010101" charset="-122"/>
              <a:cs typeface="黑体" panose="02010609060101010101" charset="-122"/>
            </a:endParaRPr>
          </a:p>
          <a:p>
            <a:pPr marL="469900" indent="-457200">
              <a:lnSpc>
                <a:spcPct val="100000"/>
              </a:lnSpc>
              <a:spcBef>
                <a:spcPts val="1520"/>
              </a:spcBef>
              <a:buAutoNum type="arabicPeriod"/>
              <a:tabLst>
                <a:tab pos="469265" algn="l"/>
                <a:tab pos="469900" algn="l"/>
              </a:tabLst>
            </a:pPr>
            <a:r>
              <a:rPr lang="zh-CN" altLang="en-US" dirty="0">
                <a:latin typeface="黑体" panose="02010609060101010101" charset="-122"/>
                <a:cs typeface="黑体" panose="02010609060101010101" charset="-122"/>
              </a:rPr>
              <a:t>不断修正类定义和职责定义</a:t>
            </a:r>
            <a:endParaRPr lang="zh-CN" altLang="en-US" dirty="0">
              <a:latin typeface="黑体" panose="02010609060101010101" charset="-122"/>
              <a:cs typeface="黑体" panose="02010609060101010101" charset="-122"/>
            </a:endParaRPr>
          </a:p>
          <a:p>
            <a:pPr marL="469900" indent="-457200">
              <a:lnSpc>
                <a:spcPct val="100000"/>
              </a:lnSpc>
              <a:spcBef>
                <a:spcPts val="1620"/>
              </a:spcBef>
              <a:buAutoNum type="arabicPeriod"/>
              <a:tabLst>
                <a:tab pos="469265" algn="l"/>
                <a:tab pos="469900" algn="l"/>
              </a:tabLst>
            </a:pPr>
            <a:r>
              <a:rPr lang="zh-CN" altLang="en-US" dirty="0">
                <a:latin typeface="黑体" panose="02010609060101010101" charset="-122"/>
                <a:cs typeface="黑体" panose="02010609060101010101" charset="-122"/>
              </a:rPr>
              <a:t>当两个类分享职责时，为二者同时添加该职责</a:t>
            </a:r>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sp>
        <p:nvSpPr>
          <p:cNvPr id="5" name="object 4"/>
          <p:cNvSpPr/>
          <p:nvPr/>
        </p:nvSpPr>
        <p:spPr>
          <a:xfrm>
            <a:off x="8069058" y="2605704"/>
            <a:ext cx="3181348" cy="2449511"/>
          </a:xfrm>
          <a:prstGeom prst="rect">
            <a:avLst/>
          </a:prstGeom>
          <a:blipFill>
            <a:blip r:embed="rId1" cstate="print"/>
            <a:stretch>
              <a:fillRect/>
            </a:stretch>
          </a:blipFill>
        </p:spPr>
        <p:txBody>
          <a:bodyPr wrap="square" lIns="0" tIns="0" rIns="0" bIns="0" rtlCol="0"/>
          <a:lstStyle/>
          <a:p/>
        </p:txBody>
      </p:sp>
    </p:spTree>
  </p:cSld>
  <p:clrMapOvr>
    <a:masterClrMapping/>
  </p:clrMapOvr>
  <mc:AlternateContent xmlns:mc="http://schemas.openxmlformats.org/markup-compatibility/2006">
    <mc:Choice xmlns:p14="http://schemas.microsoft.com/office/powerpoint/2010/main" Requires="p14">
      <p:transition spd="slow" p14:dur="2000" advTm="72890"/>
    </mc:Choice>
    <mc:Fallback>
      <p:transition spd="slow" advTm="7289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21</a:t>
            </a:r>
            <a:r>
              <a:rPr lang="zh-CN" altLang="en-US" dirty="0"/>
              <a:t>点游戏 （</a:t>
            </a:r>
            <a:r>
              <a:rPr lang="en-US" altLang="zh-CN" dirty="0"/>
              <a:t>Blackjack</a:t>
            </a:r>
            <a:r>
              <a:rPr lang="zh-CN" altLang="en-US" dirty="0"/>
              <a:t>）</a:t>
            </a:r>
            <a:endParaRPr lang="zh-CN" altLang="en-US" dirty="0"/>
          </a:p>
        </p:txBody>
      </p:sp>
      <p:sp>
        <p:nvSpPr>
          <p:cNvPr id="3" name="内容占位符 2"/>
          <p:cNvSpPr>
            <a:spLocks noGrp="1"/>
          </p:cNvSpPr>
          <p:nvPr>
            <p:ph idx="1"/>
          </p:nvPr>
        </p:nvSpPr>
        <p:spPr>
          <a:xfrm>
            <a:off x="518948" y="1861164"/>
            <a:ext cx="11154103" cy="4351338"/>
          </a:xfrm>
        </p:spPr>
        <p:txBody>
          <a:bodyPr/>
          <a:lstStyle/>
          <a:p>
            <a:pPr marL="241300">
              <a:lnSpc>
                <a:spcPct val="100000"/>
              </a:lnSpc>
              <a:spcBef>
                <a:spcPts val="1620"/>
              </a:spcBef>
              <a:buFont typeface="Arial" panose="020B0604020202020204"/>
              <a:buChar char="•"/>
              <a:tabLst>
                <a:tab pos="241300" algn="l"/>
              </a:tabLst>
            </a:pPr>
            <a:r>
              <a:rPr lang="zh-CN" altLang="en-US" dirty="0">
                <a:latin typeface="黑体" panose="02010609060101010101" charset="-122"/>
                <a:cs typeface="黑体" panose="02010609060101010101" charset="-122"/>
              </a:rPr>
              <a:t>游戏开始时，玩家首先</a:t>
            </a:r>
            <a:r>
              <a:rPr lang="zh-CN" altLang="en-US" dirty="0">
                <a:solidFill>
                  <a:srgbClr val="0000FF"/>
                </a:solidFill>
                <a:latin typeface="黑体" panose="02010609060101010101" charset="-122"/>
                <a:cs typeface="黑体" panose="02010609060101010101" charset="-122"/>
              </a:rPr>
              <a:t>下注</a:t>
            </a:r>
            <a:r>
              <a:rPr lang="zh-CN" altLang="en-US" dirty="0">
                <a:latin typeface="黑体" panose="02010609060101010101" charset="-122"/>
                <a:cs typeface="黑体" panose="02010609060101010101" charset="-122"/>
              </a:rPr>
              <a:t>，通常下注的额度是有上限的</a:t>
            </a:r>
            <a:endParaRPr lang="zh-CN" altLang="en-US" dirty="0">
              <a:latin typeface="黑体" panose="02010609060101010101" charset="-122"/>
              <a:cs typeface="黑体" panose="02010609060101010101" charset="-122"/>
            </a:endParaRPr>
          </a:p>
          <a:p>
            <a:pPr marL="241300">
              <a:lnSpc>
                <a:spcPct val="100000"/>
              </a:lnSpc>
              <a:spcBef>
                <a:spcPts val="1520"/>
              </a:spcBef>
              <a:buFont typeface="Arial" panose="020B0604020202020204"/>
              <a:buChar char="•"/>
              <a:tabLst>
                <a:tab pos="241300" algn="l"/>
              </a:tabLst>
            </a:pPr>
            <a:r>
              <a:rPr lang="zh-CN" altLang="en-US" dirty="0">
                <a:latin typeface="黑体" panose="02010609060101010101" charset="-122"/>
                <a:cs typeface="黑体" panose="02010609060101010101" charset="-122"/>
              </a:rPr>
              <a:t>如果你是唯一玩家，下注后，庄家给你</a:t>
            </a:r>
            <a:r>
              <a:rPr lang="zh-CN" altLang="en-US" dirty="0">
                <a:solidFill>
                  <a:srgbClr val="0000FF"/>
                </a:solidFill>
                <a:latin typeface="黑体" panose="02010609060101010101" charset="-122"/>
                <a:cs typeface="黑体" panose="02010609060101010101" charset="-122"/>
              </a:rPr>
              <a:t>发</a:t>
            </a:r>
            <a:r>
              <a:rPr lang="zh-CN" altLang="en-US" dirty="0">
                <a:latin typeface="黑体" panose="02010609060101010101" charset="-122"/>
                <a:cs typeface="黑体" panose="02010609060101010101" charset="-122"/>
              </a:rPr>
              <a:t>两张</a:t>
            </a:r>
            <a:r>
              <a:rPr lang="zh-CN" altLang="en-US" dirty="0">
                <a:solidFill>
                  <a:srgbClr val="0000FF"/>
                </a:solidFill>
                <a:latin typeface="黑体" panose="02010609060101010101" charset="-122"/>
                <a:cs typeface="黑体" panose="02010609060101010101" charset="-122"/>
              </a:rPr>
              <a:t>牌</a:t>
            </a:r>
            <a:r>
              <a:rPr lang="zh-CN" altLang="en-US" dirty="0">
                <a:latin typeface="黑体" panose="02010609060101010101" charset="-122"/>
                <a:cs typeface="黑体" panose="02010609060101010101" charset="-122"/>
              </a:rPr>
              <a:t>，牌面向上，双方均能看到</a:t>
            </a:r>
            <a:endParaRPr lang="zh-CN" altLang="en-US" dirty="0">
              <a:latin typeface="黑体" panose="02010609060101010101" charset="-122"/>
              <a:cs typeface="黑体" panose="02010609060101010101" charset="-122"/>
            </a:endParaRPr>
          </a:p>
          <a:p>
            <a:pPr marL="241300">
              <a:lnSpc>
                <a:spcPct val="100000"/>
              </a:lnSpc>
              <a:spcBef>
                <a:spcPts val="1620"/>
              </a:spcBef>
              <a:buFont typeface="Arial" panose="020B0604020202020204"/>
              <a:buChar char="•"/>
              <a:tabLst>
                <a:tab pos="241300" algn="l"/>
              </a:tabLst>
            </a:pPr>
            <a:r>
              <a:rPr lang="zh-CN" altLang="en-US" dirty="0">
                <a:latin typeface="黑体" panose="02010609060101010101" charset="-122"/>
                <a:cs typeface="黑体" panose="02010609060101010101" charset="-122"/>
              </a:rPr>
              <a:t>庄家给自己发两张牌，一张牌面向上（明牌），一张牌面向下（底牌）</a:t>
            </a:r>
            <a:endParaRPr lang="zh-CN" altLang="en-US" dirty="0">
              <a:latin typeface="黑体" panose="02010609060101010101" charset="-122"/>
              <a:cs typeface="黑体" panose="02010609060101010101" charset="-122"/>
            </a:endParaRPr>
          </a:p>
          <a:p>
            <a:pPr marL="240665" marR="5080">
              <a:lnSpc>
                <a:spcPct val="122000"/>
              </a:lnSpc>
              <a:spcBef>
                <a:spcPts val="900"/>
              </a:spcBef>
              <a:buFont typeface="Arial" panose="020B0604020202020204"/>
              <a:buChar char="•"/>
              <a:tabLst>
                <a:tab pos="241300" algn="l"/>
              </a:tabLst>
            </a:pPr>
            <a:r>
              <a:rPr lang="zh-CN" altLang="en-US" dirty="0">
                <a:latin typeface="黑体" panose="02010609060101010101" charset="-122"/>
                <a:cs typeface="黑体" panose="02010609060101010101" charset="-122"/>
              </a:rPr>
              <a:t>如果有多个玩家，则庄家给每位玩家都是先发一张明牌，庄家自己发一张底 牌，再给每个玩家和庄家各发一张明牌</a:t>
            </a:r>
            <a:endParaRPr lang="zh-CN" altLang="en-US" dirty="0">
              <a:latin typeface="黑体" panose="02010609060101010101" charset="-122"/>
              <a:cs typeface="黑体" panose="02010609060101010101" charset="-122"/>
            </a:endParaRPr>
          </a:p>
          <a:p>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sp>
        <p:nvSpPr>
          <p:cNvPr id="5" name="object 4"/>
          <p:cNvSpPr/>
          <p:nvPr/>
        </p:nvSpPr>
        <p:spPr>
          <a:xfrm>
            <a:off x="8873094" y="4800602"/>
            <a:ext cx="1533523" cy="1511298"/>
          </a:xfrm>
          <a:prstGeom prst="rect">
            <a:avLst/>
          </a:prstGeom>
          <a:blipFill>
            <a:blip r:embed="rId1" cstate="print"/>
            <a:stretch>
              <a:fillRect/>
            </a:stretch>
          </a:blipFill>
        </p:spPr>
        <p:txBody>
          <a:bodyPr wrap="square" lIns="0" tIns="0" rIns="0" bIns="0" rtlCol="0"/>
          <a:lstStyle/>
          <a:p/>
        </p:txBody>
      </p:sp>
    </p:spTree>
  </p:cSld>
  <p:clrMapOvr>
    <a:masterClrMapping/>
  </p:clrMapOvr>
  <mc:AlternateContent xmlns:mc="http://schemas.openxmlformats.org/markup-compatibility/2006">
    <mc:Choice xmlns:p14="http://schemas.microsoft.com/office/powerpoint/2010/main" Requires="p14">
      <p:transition spd="slow" p14:dur="2000" advTm="8453"/>
    </mc:Choice>
    <mc:Fallback>
      <p:transition spd="slow" advTm="8453"/>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21</a:t>
            </a:r>
            <a:r>
              <a:rPr lang="zh-CN" altLang="en-US" dirty="0"/>
              <a:t>点游戏 （</a:t>
            </a:r>
            <a:r>
              <a:rPr lang="en-US" altLang="zh-CN" dirty="0"/>
              <a:t>Blackjack</a:t>
            </a:r>
            <a:r>
              <a:rPr lang="zh-CN" altLang="en-US" dirty="0"/>
              <a:t>）</a:t>
            </a:r>
            <a:endParaRPr lang="zh-CN" altLang="en-US" dirty="0"/>
          </a:p>
        </p:txBody>
      </p:sp>
      <p:sp>
        <p:nvSpPr>
          <p:cNvPr id="3" name="内容占位符 2"/>
          <p:cNvSpPr>
            <a:spLocks noGrp="1"/>
          </p:cNvSpPr>
          <p:nvPr>
            <p:ph idx="1"/>
          </p:nvPr>
        </p:nvSpPr>
        <p:spPr>
          <a:xfrm>
            <a:off x="838200" y="1690688"/>
            <a:ext cx="10515600" cy="4486275"/>
          </a:xfrm>
        </p:spPr>
        <p:txBody>
          <a:bodyPr>
            <a:normAutofit fontScale="92500" lnSpcReduction="10000"/>
          </a:bodyPr>
          <a:lstStyle/>
          <a:p>
            <a:pPr marL="240665" marR="5080">
              <a:lnSpc>
                <a:spcPct val="108000"/>
              </a:lnSpc>
              <a:spcBef>
                <a:spcPts val="100"/>
              </a:spcBef>
              <a:buFont typeface="Arial" panose="020B0604020202020204"/>
              <a:buChar char="•"/>
              <a:tabLst>
                <a:tab pos="241300" algn="l"/>
              </a:tabLst>
            </a:pPr>
            <a:r>
              <a:rPr lang="zh-CN" altLang="en-US" sz="2400" dirty="0">
                <a:latin typeface="黑体" panose="02010609060101010101" charset="-122"/>
                <a:cs typeface="黑体" panose="02010609060101010101" charset="-122"/>
              </a:rPr>
              <a:t>发完两张牌之后，每位玩家自己</a:t>
            </a:r>
            <a:r>
              <a:rPr lang="zh-CN" altLang="en-US" sz="2400" dirty="0">
                <a:solidFill>
                  <a:srgbClr val="0000FF"/>
                </a:solidFill>
                <a:latin typeface="黑体" panose="02010609060101010101" charset="-122"/>
                <a:cs typeface="黑体" panose="02010609060101010101" charset="-122"/>
              </a:rPr>
              <a:t>决定</a:t>
            </a:r>
            <a:r>
              <a:rPr lang="zh-CN" altLang="en-US" sz="2400" dirty="0">
                <a:latin typeface="黑体" panose="02010609060101010101" charset="-122"/>
                <a:cs typeface="黑体" panose="02010609060101010101" charset="-122"/>
              </a:rPr>
              <a:t>是否</a:t>
            </a:r>
            <a:r>
              <a:rPr lang="zh-CN" altLang="en-US" sz="2400" dirty="0">
                <a:solidFill>
                  <a:srgbClr val="0000FF"/>
                </a:solidFill>
                <a:latin typeface="黑体" panose="02010609060101010101" charset="-122"/>
                <a:cs typeface="黑体" panose="02010609060101010101" charset="-122"/>
              </a:rPr>
              <a:t>要</a:t>
            </a:r>
            <a:r>
              <a:rPr lang="zh-CN" altLang="en-US" sz="2400" dirty="0">
                <a:latin typeface="黑体" panose="02010609060101010101" charset="-122"/>
                <a:cs typeface="黑体" panose="02010609060101010101" charset="-122"/>
              </a:rPr>
              <a:t>更多的</a:t>
            </a:r>
            <a:r>
              <a:rPr lang="zh-CN" altLang="en-US" sz="2400" dirty="0">
                <a:solidFill>
                  <a:srgbClr val="0000FF"/>
                </a:solidFill>
                <a:latin typeface="黑体" panose="02010609060101010101" charset="-122"/>
                <a:cs typeface="黑体" panose="02010609060101010101" charset="-122"/>
              </a:rPr>
              <a:t>牌</a:t>
            </a:r>
            <a:r>
              <a:rPr lang="zh-CN" altLang="en-US" sz="2400" dirty="0">
                <a:latin typeface="黑体" panose="02010609060101010101" charset="-122"/>
                <a:cs typeface="黑体" panose="02010609060101010101" charset="-122"/>
              </a:rPr>
              <a:t>，当对手上的牌</a:t>
            </a:r>
            <a:r>
              <a:rPr lang="zh-CN" altLang="en-US" sz="2400" dirty="0">
                <a:solidFill>
                  <a:srgbClr val="0000FF"/>
                </a:solidFill>
                <a:latin typeface="黑体" panose="02010609060101010101" charset="-122"/>
                <a:cs typeface="黑体" panose="02010609060101010101" charset="-122"/>
              </a:rPr>
              <a:t>点数满 意</a:t>
            </a:r>
            <a:r>
              <a:rPr lang="zh-CN" altLang="en-US" sz="2400" dirty="0">
                <a:latin typeface="黑体" panose="02010609060101010101" charset="-122"/>
                <a:cs typeface="黑体" panose="02010609060101010101" charset="-122"/>
              </a:rPr>
              <a:t>之后，就停手等待</a:t>
            </a:r>
            <a:endParaRPr lang="zh-CN" altLang="en-US" sz="2400" dirty="0">
              <a:latin typeface="黑体" panose="02010609060101010101" charset="-122"/>
              <a:cs typeface="黑体" panose="02010609060101010101" charset="-122"/>
            </a:endParaRPr>
          </a:p>
          <a:p>
            <a:pPr marL="241300">
              <a:lnSpc>
                <a:spcPct val="100000"/>
              </a:lnSpc>
              <a:spcBef>
                <a:spcPts val="1320"/>
              </a:spcBef>
              <a:buFont typeface="Arial" panose="020B0604020202020204"/>
              <a:buChar char="•"/>
              <a:tabLst>
                <a:tab pos="241300" algn="l"/>
              </a:tabLst>
            </a:pPr>
            <a:r>
              <a:rPr lang="zh-CN" altLang="en-US" sz="2400" dirty="0">
                <a:latin typeface="黑体" panose="02010609060101010101" charset="-122"/>
                <a:cs typeface="黑体" panose="02010609060101010101" charset="-122"/>
              </a:rPr>
              <a:t>停手之后，庄家开始</a:t>
            </a:r>
            <a:r>
              <a:rPr lang="zh-CN" altLang="en-US" sz="2400" dirty="0">
                <a:solidFill>
                  <a:srgbClr val="0000FF"/>
                </a:solidFill>
                <a:latin typeface="黑体" panose="02010609060101010101" charset="-122"/>
                <a:cs typeface="黑体" panose="02010609060101010101" charset="-122"/>
              </a:rPr>
              <a:t>加牌</a:t>
            </a:r>
            <a:r>
              <a:rPr lang="zh-CN" altLang="en-US" sz="2400" dirty="0">
                <a:latin typeface="黑体" panose="02010609060101010101" charset="-122"/>
                <a:cs typeface="黑体" panose="02010609060101010101" charset="-122"/>
              </a:rPr>
              <a:t>，不能超过</a:t>
            </a:r>
            <a:r>
              <a:rPr lang="en-US" altLang="zh-CN" sz="2400" dirty="0">
                <a:latin typeface="黑体" panose="02010609060101010101" charset="-122"/>
                <a:cs typeface="黑体" panose="02010609060101010101" charset="-122"/>
              </a:rPr>
              <a:t>21</a:t>
            </a:r>
            <a:r>
              <a:rPr lang="zh-CN" altLang="en-US" sz="2400" dirty="0">
                <a:latin typeface="黑体" panose="02010609060101010101" charset="-122"/>
                <a:cs typeface="黑体" panose="02010609060101010101" charset="-122"/>
              </a:rPr>
              <a:t>点</a:t>
            </a:r>
            <a:endParaRPr lang="zh-CN" altLang="en-US" sz="2400" dirty="0">
              <a:latin typeface="黑体" panose="02010609060101010101" charset="-122"/>
              <a:cs typeface="黑体" panose="02010609060101010101" charset="-122"/>
            </a:endParaRPr>
          </a:p>
          <a:p>
            <a:pPr marL="241300">
              <a:lnSpc>
                <a:spcPct val="100000"/>
              </a:lnSpc>
              <a:spcBef>
                <a:spcPts val="1320"/>
              </a:spcBef>
              <a:buFont typeface="Arial" panose="020B0604020202020204"/>
              <a:buChar char="•"/>
              <a:tabLst>
                <a:tab pos="241300" algn="l"/>
              </a:tabLst>
            </a:pPr>
            <a:r>
              <a:rPr lang="zh-CN" altLang="en-US" sz="2400" dirty="0">
                <a:latin typeface="黑体" panose="02010609060101010101" charset="-122"/>
                <a:cs typeface="黑体" panose="02010609060101010101" charset="-122"/>
              </a:rPr>
              <a:t>当你的手牌点数超过庄家时，你赢，当你的手牌点数不及庄家时，庄家赢</a:t>
            </a:r>
            <a:endParaRPr lang="zh-CN" altLang="en-US" sz="2400" dirty="0">
              <a:latin typeface="黑体" panose="02010609060101010101" charset="-122"/>
              <a:cs typeface="黑体" panose="02010609060101010101" charset="-122"/>
            </a:endParaRPr>
          </a:p>
          <a:p>
            <a:pPr marL="241300">
              <a:lnSpc>
                <a:spcPct val="100000"/>
              </a:lnSpc>
              <a:spcBef>
                <a:spcPts val="1220"/>
              </a:spcBef>
              <a:buFont typeface="Arial" panose="020B0604020202020204"/>
              <a:buChar char="•"/>
              <a:tabLst>
                <a:tab pos="241300" algn="l"/>
              </a:tabLst>
            </a:pPr>
            <a:r>
              <a:rPr lang="zh-CN" altLang="en-US" sz="2400" dirty="0">
                <a:latin typeface="黑体" panose="02010609060101010101" charset="-122"/>
                <a:cs typeface="黑体" panose="02010609060101010101" charset="-122"/>
              </a:rPr>
              <a:t>玩家赢</a:t>
            </a:r>
            <a:r>
              <a:rPr lang="en-US" altLang="zh-CN" sz="2400" dirty="0">
                <a:latin typeface="黑体" panose="02010609060101010101" charset="-122"/>
                <a:cs typeface="黑体" panose="02010609060101010101" charset="-122"/>
              </a:rPr>
              <a:t>:</a:t>
            </a:r>
            <a:endParaRPr lang="en-US" altLang="zh-CN" sz="2400" dirty="0">
              <a:latin typeface="黑体" panose="02010609060101010101" charset="-122"/>
              <a:cs typeface="黑体" panose="02010609060101010101" charset="-122"/>
            </a:endParaRPr>
          </a:p>
          <a:p>
            <a:pPr marL="698500" lvl="1">
              <a:lnSpc>
                <a:spcPct val="100000"/>
              </a:lnSpc>
              <a:spcBef>
                <a:spcPts val="820"/>
              </a:spcBef>
              <a:buFont typeface="Arial" panose="020B0604020202020204"/>
              <a:buChar char="•"/>
              <a:tabLst>
                <a:tab pos="698500" algn="l"/>
              </a:tabLst>
            </a:pPr>
            <a:r>
              <a:rPr lang="zh-CN" altLang="en-US" dirty="0">
                <a:latin typeface="黑体" panose="02010609060101010101" charset="-122"/>
                <a:cs typeface="黑体" panose="02010609060101010101" charset="-122"/>
              </a:rPr>
              <a:t>你的手牌</a:t>
            </a:r>
            <a:r>
              <a:rPr lang="zh-CN" altLang="en-US" dirty="0">
                <a:solidFill>
                  <a:srgbClr val="0000FF"/>
                </a:solidFill>
                <a:latin typeface="黑体" panose="02010609060101010101" charset="-122"/>
                <a:cs typeface="黑体" panose="02010609060101010101" charset="-122"/>
              </a:rPr>
              <a:t>点数超过</a:t>
            </a:r>
            <a:r>
              <a:rPr lang="zh-CN" altLang="en-US" dirty="0">
                <a:latin typeface="黑体" panose="02010609060101010101" charset="-122"/>
                <a:cs typeface="黑体" panose="02010609060101010101" charset="-122"/>
              </a:rPr>
              <a:t>庄家，切不超过</a:t>
            </a:r>
            <a:r>
              <a:rPr lang="en-US" altLang="zh-CN" dirty="0">
                <a:latin typeface="黑体" panose="02010609060101010101" charset="-122"/>
                <a:cs typeface="黑体" panose="02010609060101010101" charset="-122"/>
              </a:rPr>
              <a:t>21</a:t>
            </a:r>
            <a:r>
              <a:rPr lang="zh-CN" altLang="en-US" dirty="0">
                <a:latin typeface="黑体" panose="02010609060101010101" charset="-122"/>
                <a:cs typeface="黑体" panose="02010609060101010101" charset="-122"/>
              </a:rPr>
              <a:t>点</a:t>
            </a:r>
            <a:endParaRPr lang="zh-CN" altLang="en-US" dirty="0">
              <a:latin typeface="黑体" panose="02010609060101010101" charset="-122"/>
              <a:cs typeface="黑体" panose="02010609060101010101" charset="-122"/>
            </a:endParaRPr>
          </a:p>
          <a:p>
            <a:pPr marL="698500" lvl="1">
              <a:lnSpc>
                <a:spcPct val="100000"/>
              </a:lnSpc>
              <a:spcBef>
                <a:spcPts val="820"/>
              </a:spcBef>
              <a:buFont typeface="Arial" panose="020B0604020202020204"/>
              <a:buChar char="•"/>
              <a:tabLst>
                <a:tab pos="698500" algn="l"/>
              </a:tabLst>
            </a:pPr>
            <a:r>
              <a:rPr lang="zh-CN" altLang="en-US" dirty="0">
                <a:latin typeface="黑体" panose="02010609060101010101" charset="-122"/>
                <a:cs typeface="黑体" panose="02010609060101010101" charset="-122"/>
              </a:rPr>
              <a:t>庄家冒过</a:t>
            </a:r>
            <a:r>
              <a:rPr lang="en-US" altLang="zh-CN" dirty="0">
                <a:latin typeface="黑体" panose="02010609060101010101" charset="-122"/>
                <a:cs typeface="黑体" panose="02010609060101010101" charset="-122"/>
              </a:rPr>
              <a:t>21</a:t>
            </a:r>
            <a:r>
              <a:rPr lang="zh-CN" altLang="en-US" dirty="0">
                <a:latin typeface="黑体" panose="02010609060101010101" charset="-122"/>
                <a:cs typeface="黑体" panose="02010609060101010101" charset="-122"/>
              </a:rPr>
              <a:t>点</a:t>
            </a:r>
            <a:endParaRPr lang="zh-CN" altLang="en-US" dirty="0">
              <a:latin typeface="黑体" panose="02010609060101010101" charset="-122"/>
              <a:cs typeface="黑体" panose="02010609060101010101" charset="-122"/>
            </a:endParaRPr>
          </a:p>
          <a:p>
            <a:pPr marL="241300">
              <a:lnSpc>
                <a:spcPct val="100000"/>
              </a:lnSpc>
              <a:spcBef>
                <a:spcPts val="1220"/>
              </a:spcBef>
              <a:buFont typeface="Arial" panose="020B0604020202020204"/>
              <a:buChar char="•"/>
              <a:tabLst>
                <a:tab pos="241300" algn="l"/>
              </a:tabLst>
            </a:pPr>
            <a:r>
              <a:rPr lang="zh-CN" altLang="en-US" sz="2400" dirty="0">
                <a:latin typeface="黑体" panose="02010609060101010101" charset="-122"/>
                <a:cs typeface="黑体" panose="02010609060101010101" charset="-122"/>
              </a:rPr>
              <a:t>玩家和庄家点数持平，则不输不赢，庄家将玩家赌注</a:t>
            </a:r>
            <a:r>
              <a:rPr lang="zh-CN" altLang="en-US" sz="2400" dirty="0">
                <a:solidFill>
                  <a:srgbClr val="0000FF"/>
                </a:solidFill>
                <a:latin typeface="黑体" panose="02010609060101010101" charset="-122"/>
                <a:cs typeface="黑体" panose="02010609060101010101" charset="-122"/>
              </a:rPr>
              <a:t>归还</a:t>
            </a:r>
            <a:endParaRPr lang="zh-CN" altLang="en-US" sz="2400" dirty="0">
              <a:latin typeface="黑体" panose="02010609060101010101" charset="-122"/>
              <a:cs typeface="黑体" panose="02010609060101010101" charset="-122"/>
            </a:endParaRPr>
          </a:p>
          <a:p>
            <a:pPr marL="241300">
              <a:lnSpc>
                <a:spcPct val="100000"/>
              </a:lnSpc>
              <a:spcBef>
                <a:spcPts val="1320"/>
              </a:spcBef>
              <a:buFont typeface="Arial" panose="020B0604020202020204"/>
              <a:buChar char="•"/>
              <a:tabLst>
                <a:tab pos="241300" algn="l"/>
              </a:tabLst>
            </a:pPr>
            <a:r>
              <a:rPr lang="zh-CN" altLang="en-US" sz="2400" dirty="0">
                <a:latin typeface="黑体" panose="02010609060101010101" charset="-122"/>
                <a:cs typeface="黑体" panose="02010609060101010101" charset="-122"/>
              </a:rPr>
              <a:t>玩家输</a:t>
            </a:r>
            <a:r>
              <a:rPr lang="en-US" altLang="zh-CN" sz="2400" dirty="0">
                <a:latin typeface="黑体" panose="02010609060101010101" charset="-122"/>
                <a:cs typeface="黑体" panose="02010609060101010101" charset="-122"/>
              </a:rPr>
              <a:t>:</a:t>
            </a:r>
            <a:endParaRPr lang="en-US" altLang="zh-CN" sz="2400" dirty="0">
              <a:latin typeface="黑体" panose="02010609060101010101" charset="-122"/>
              <a:cs typeface="黑体" panose="02010609060101010101" charset="-122"/>
            </a:endParaRPr>
          </a:p>
          <a:p>
            <a:pPr marL="698500" lvl="1">
              <a:lnSpc>
                <a:spcPct val="100000"/>
              </a:lnSpc>
              <a:spcBef>
                <a:spcPts val="820"/>
              </a:spcBef>
              <a:buFont typeface="Arial" panose="020B0604020202020204"/>
              <a:buChar char="•"/>
              <a:tabLst>
                <a:tab pos="698500" algn="l"/>
                <a:tab pos="2068830" algn="l"/>
              </a:tabLst>
            </a:pPr>
            <a:r>
              <a:rPr lang="zh-CN" altLang="en-US" dirty="0">
                <a:latin typeface="黑体" panose="02010609060101010101" charset="-122"/>
                <a:cs typeface="黑体" panose="02010609060101010101" charset="-122"/>
              </a:rPr>
              <a:t>玩家冒过	</a:t>
            </a:r>
            <a:r>
              <a:rPr lang="en-US" altLang="zh-CN" dirty="0">
                <a:latin typeface="黑体" panose="02010609060101010101" charset="-122"/>
                <a:cs typeface="黑体" panose="02010609060101010101" charset="-122"/>
              </a:rPr>
              <a:t>21</a:t>
            </a:r>
            <a:r>
              <a:rPr lang="zh-CN" altLang="en-US" dirty="0">
                <a:latin typeface="黑体" panose="02010609060101010101" charset="-122"/>
                <a:cs typeface="黑体" panose="02010609060101010101" charset="-122"/>
              </a:rPr>
              <a:t>点</a:t>
            </a:r>
            <a:endParaRPr lang="zh-CN" altLang="en-US" dirty="0">
              <a:latin typeface="黑体" panose="02010609060101010101" charset="-122"/>
              <a:cs typeface="黑体" panose="02010609060101010101" charset="-122"/>
            </a:endParaRPr>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14578"/>
    </mc:Choice>
    <mc:Fallback>
      <p:transition spd="slow" advTm="14578"/>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候选类对应的功能职责</a:t>
            </a:r>
            <a:endParaRPr lang="zh-CN" altLang="en-US" dirty="0"/>
          </a:p>
        </p:txBody>
      </p:sp>
      <p:sp>
        <p:nvSpPr>
          <p:cNvPr id="3" name="内容占位符 2"/>
          <p:cNvSpPr>
            <a:spLocks noGrp="1"/>
          </p:cNvSpPr>
          <p:nvPr>
            <p:ph idx="1"/>
          </p:nvPr>
        </p:nvSpPr>
        <p:spPr>
          <a:xfrm>
            <a:off x="838200" y="1492469"/>
            <a:ext cx="10515600" cy="4684494"/>
          </a:xfrm>
        </p:spPr>
        <p:txBody>
          <a:bodyPr>
            <a:normAutofit lnSpcReduction="10000"/>
          </a:bodyPr>
          <a:lstStyle/>
          <a:p>
            <a:pPr marL="241300">
              <a:lnSpc>
                <a:spcPct val="100000"/>
              </a:lnSpc>
              <a:spcBef>
                <a:spcPts val="800"/>
              </a:spcBef>
              <a:buFont typeface="Arial" panose="020B0604020202020204"/>
              <a:buChar char="•"/>
              <a:tabLst>
                <a:tab pos="240665" algn="l"/>
                <a:tab pos="241300" algn="l"/>
              </a:tabLst>
            </a:pPr>
            <a:r>
              <a:rPr lang="zh-CN" altLang="en-US" sz="2000" dirty="0">
                <a:cs typeface="黑体" panose="02010609060101010101" charset="-122"/>
              </a:rPr>
              <a:t>牌</a:t>
            </a:r>
            <a:r>
              <a:rPr lang="zh-CN" altLang="en-US" sz="2000" spc="-10" dirty="0">
                <a:cs typeface="黑体" panose="02010609060101010101" charset="-122"/>
              </a:rPr>
              <a:t> </a:t>
            </a:r>
            <a:r>
              <a:rPr lang="zh-CN" altLang="en-US" sz="2000" dirty="0">
                <a:cs typeface="黑体" panose="02010609060101010101" charset="-122"/>
              </a:rPr>
              <a:t>（</a:t>
            </a:r>
            <a:r>
              <a:rPr lang="en-US" altLang="zh-CN" sz="2000" dirty="0">
                <a:cs typeface="黑体" panose="02010609060101010101" charset="-122"/>
              </a:rPr>
              <a:t>Card</a:t>
            </a:r>
            <a:r>
              <a:rPr lang="zh-CN" altLang="en-US" sz="2000" dirty="0">
                <a:cs typeface="黑体" panose="02010609060101010101" charset="-122"/>
              </a:rPr>
              <a:t>）</a:t>
            </a:r>
            <a:endParaRPr lang="zh-CN" altLang="en-US" sz="2000" dirty="0">
              <a:cs typeface="黑体" panose="02010609060101010101" charset="-122"/>
            </a:endParaRPr>
          </a:p>
          <a:p>
            <a:pPr marL="698500" lvl="1">
              <a:lnSpc>
                <a:spcPct val="100000"/>
              </a:lnSpc>
              <a:spcBef>
                <a:spcPts val="700"/>
              </a:spcBef>
              <a:buFont typeface="Arial" panose="020B0604020202020204"/>
              <a:buChar char="•"/>
              <a:tabLst>
                <a:tab pos="697865" algn="l"/>
                <a:tab pos="698500" algn="l"/>
              </a:tabLst>
            </a:pPr>
            <a:r>
              <a:rPr lang="zh-CN" altLang="en-US" sz="2000" b="1" spc="-10" dirty="0">
                <a:solidFill>
                  <a:srgbClr val="800000"/>
                </a:solidFill>
                <a:cs typeface="黑体" panose="02010609060101010101" charset="-122"/>
              </a:rPr>
              <a:t>读取牌面数字</a:t>
            </a:r>
            <a:endParaRPr lang="zh-CN" altLang="en-US" sz="2000" dirty="0">
              <a:cs typeface="黑体" panose="02010609060101010101" charset="-122"/>
            </a:endParaRPr>
          </a:p>
          <a:p>
            <a:pPr marL="698500" lvl="1">
              <a:lnSpc>
                <a:spcPct val="100000"/>
              </a:lnSpc>
              <a:spcBef>
                <a:spcPts val="700"/>
              </a:spcBef>
              <a:buFont typeface="Arial" panose="020B0604020202020204"/>
              <a:buChar char="•"/>
              <a:tabLst>
                <a:tab pos="697865" algn="l"/>
                <a:tab pos="698500" algn="l"/>
              </a:tabLst>
            </a:pPr>
            <a:r>
              <a:rPr lang="zh-CN" altLang="en-US" sz="2000" b="1" spc="-10" dirty="0">
                <a:solidFill>
                  <a:srgbClr val="800000"/>
                </a:solidFill>
                <a:cs typeface="黑体" panose="02010609060101010101" charset="-122"/>
              </a:rPr>
              <a:t>读取花色</a:t>
            </a:r>
            <a:endParaRPr lang="zh-CN" altLang="en-US" sz="2000" dirty="0">
              <a:cs typeface="黑体" panose="02010609060101010101" charset="-122"/>
            </a:endParaRPr>
          </a:p>
          <a:p>
            <a:pPr marL="698500" lvl="1">
              <a:lnSpc>
                <a:spcPct val="100000"/>
              </a:lnSpc>
              <a:spcBef>
                <a:spcPts val="800"/>
              </a:spcBef>
              <a:buFont typeface="Arial" panose="020B0604020202020204"/>
              <a:buChar char="•"/>
              <a:tabLst>
                <a:tab pos="697865" algn="l"/>
                <a:tab pos="698500" algn="l"/>
              </a:tabLst>
            </a:pPr>
            <a:r>
              <a:rPr lang="zh-CN" altLang="en-US" sz="2000" b="1" spc="-10" dirty="0">
                <a:solidFill>
                  <a:srgbClr val="800000"/>
                </a:solidFill>
                <a:cs typeface="黑体" panose="02010609060101010101" charset="-122"/>
              </a:rPr>
              <a:t>读取点数</a:t>
            </a:r>
            <a:endParaRPr lang="zh-CN" altLang="en-US" sz="2000" dirty="0">
              <a:cs typeface="黑体" panose="02010609060101010101" charset="-122"/>
            </a:endParaRPr>
          </a:p>
          <a:p>
            <a:pPr marL="698500" lvl="1">
              <a:lnSpc>
                <a:spcPct val="100000"/>
              </a:lnSpc>
              <a:spcBef>
                <a:spcPts val="700"/>
              </a:spcBef>
              <a:buFont typeface="Arial" panose="020B0604020202020204"/>
              <a:buChar char="•"/>
              <a:tabLst>
                <a:tab pos="697865" algn="l"/>
                <a:tab pos="698500" algn="l"/>
              </a:tabLst>
            </a:pPr>
            <a:r>
              <a:rPr lang="zh-CN" altLang="en-US" sz="2000" b="1" spc="-10" dirty="0">
                <a:solidFill>
                  <a:srgbClr val="800000"/>
                </a:solidFill>
                <a:cs typeface="黑体" panose="02010609060101010101" charset="-122"/>
              </a:rPr>
              <a:t>判断是否数字牌</a:t>
            </a:r>
            <a:endParaRPr lang="zh-CN" altLang="en-US" sz="2000" dirty="0">
              <a:cs typeface="黑体" panose="02010609060101010101" charset="-122"/>
            </a:endParaRPr>
          </a:p>
          <a:p>
            <a:pPr marL="698500" lvl="1">
              <a:lnSpc>
                <a:spcPct val="100000"/>
              </a:lnSpc>
              <a:spcBef>
                <a:spcPts val="800"/>
              </a:spcBef>
              <a:buFont typeface="Arial" panose="020B0604020202020204"/>
              <a:buChar char="•"/>
              <a:tabLst>
                <a:tab pos="697865" algn="l"/>
                <a:tab pos="698500" algn="l"/>
              </a:tabLst>
            </a:pPr>
            <a:r>
              <a:rPr lang="zh-CN" altLang="en-US" sz="2000" b="1" spc="-10" dirty="0">
                <a:solidFill>
                  <a:srgbClr val="800000"/>
                </a:solidFill>
                <a:cs typeface="黑体" panose="02010609060101010101" charset="-122"/>
              </a:rPr>
              <a:t>判断是否为</a:t>
            </a:r>
            <a:r>
              <a:rPr lang="en-US" altLang="zh-CN" sz="2000" b="1" spc="-10" dirty="0">
                <a:solidFill>
                  <a:srgbClr val="941100"/>
                </a:solidFill>
                <a:cs typeface="黑体" panose="02010609060101010101" charset="-122"/>
              </a:rPr>
              <a:t>A</a:t>
            </a:r>
            <a:endParaRPr lang="zh-CN" altLang="en-US" sz="2000" dirty="0">
              <a:cs typeface="黑体" panose="02010609060101010101" charset="-122"/>
            </a:endParaRPr>
          </a:p>
          <a:p>
            <a:pPr marL="698500" lvl="1">
              <a:lnSpc>
                <a:spcPct val="100000"/>
              </a:lnSpc>
              <a:spcBef>
                <a:spcPts val="700"/>
              </a:spcBef>
              <a:buFont typeface="Arial" panose="020B0604020202020204"/>
              <a:buChar char="•"/>
              <a:tabLst>
                <a:tab pos="697865" algn="l"/>
                <a:tab pos="698500" algn="l"/>
              </a:tabLst>
            </a:pPr>
            <a:r>
              <a:rPr lang="zh-CN" altLang="en-US" sz="2000" b="1" spc="-10" dirty="0">
                <a:solidFill>
                  <a:srgbClr val="800000"/>
                </a:solidFill>
                <a:cs typeface="黑体" panose="02010609060101010101" charset="-122"/>
              </a:rPr>
              <a:t>判断是否为</a:t>
            </a:r>
            <a:r>
              <a:rPr lang="zh-CN" altLang="en-US" sz="2000" b="1" spc="-85" dirty="0">
                <a:solidFill>
                  <a:srgbClr val="800000"/>
                </a:solidFill>
                <a:cs typeface="黑体" panose="02010609060101010101" charset="-122"/>
              </a:rPr>
              <a:t> </a:t>
            </a:r>
            <a:r>
              <a:rPr lang="en-US" altLang="zh-CN" sz="2000" b="1" spc="-10" dirty="0">
                <a:solidFill>
                  <a:srgbClr val="941100"/>
                </a:solidFill>
                <a:cs typeface="黑体" panose="02010609060101010101" charset="-122"/>
              </a:rPr>
              <a:t>J</a:t>
            </a:r>
            <a:r>
              <a:rPr lang="zh-CN" altLang="en-US" sz="2000" b="1" spc="-10" dirty="0">
                <a:solidFill>
                  <a:srgbClr val="800000"/>
                </a:solidFill>
                <a:cs typeface="黑体" panose="02010609060101010101" charset="-122"/>
              </a:rPr>
              <a:t>、</a:t>
            </a:r>
            <a:r>
              <a:rPr lang="en-US" altLang="zh-CN" sz="2000" b="1" spc="-10" dirty="0">
                <a:solidFill>
                  <a:srgbClr val="941100"/>
                </a:solidFill>
                <a:cs typeface="黑体" panose="02010609060101010101" charset="-122"/>
              </a:rPr>
              <a:t>Q</a:t>
            </a:r>
            <a:r>
              <a:rPr lang="zh-CN" altLang="en-US" sz="2000" b="1" spc="-10" dirty="0">
                <a:solidFill>
                  <a:srgbClr val="800000"/>
                </a:solidFill>
                <a:cs typeface="黑体" panose="02010609060101010101" charset="-122"/>
              </a:rPr>
              <a:t>、</a:t>
            </a:r>
            <a:r>
              <a:rPr lang="en-US" altLang="zh-CN" sz="2000" b="1" spc="-10" dirty="0">
                <a:solidFill>
                  <a:srgbClr val="941100"/>
                </a:solidFill>
                <a:cs typeface="黑体" panose="02010609060101010101" charset="-122"/>
              </a:rPr>
              <a:t>K</a:t>
            </a:r>
            <a:endParaRPr lang="zh-CN" altLang="en-US" sz="2000" dirty="0">
              <a:cs typeface="黑体" panose="02010609060101010101" charset="-122"/>
            </a:endParaRPr>
          </a:p>
          <a:p>
            <a:pPr marL="241300">
              <a:lnSpc>
                <a:spcPct val="100000"/>
              </a:lnSpc>
              <a:spcBef>
                <a:spcPts val="1200"/>
              </a:spcBef>
              <a:buFont typeface="Arial" panose="020B0604020202020204"/>
              <a:buChar char="•"/>
              <a:tabLst>
                <a:tab pos="240665" algn="l"/>
                <a:tab pos="241300" algn="l"/>
              </a:tabLst>
            </a:pPr>
            <a:r>
              <a:rPr lang="zh-CN" altLang="en-US" sz="2000" dirty="0">
                <a:cs typeface="黑体" panose="02010609060101010101" charset="-122"/>
              </a:rPr>
              <a:t>赌注（</a:t>
            </a:r>
            <a:r>
              <a:rPr lang="en-US" altLang="zh-CN" sz="2000" dirty="0">
                <a:cs typeface="黑体" panose="02010609060101010101" charset="-122"/>
              </a:rPr>
              <a:t>Bet</a:t>
            </a:r>
            <a:r>
              <a:rPr lang="zh-CN" altLang="en-US" sz="2000" dirty="0">
                <a:cs typeface="黑体" panose="02010609060101010101" charset="-122"/>
              </a:rPr>
              <a:t>）</a:t>
            </a:r>
            <a:endParaRPr lang="zh-CN" altLang="en-US" sz="2000" dirty="0">
              <a:cs typeface="黑体" panose="02010609060101010101" charset="-122"/>
            </a:endParaRPr>
          </a:p>
          <a:p>
            <a:pPr marL="698500" lvl="1">
              <a:lnSpc>
                <a:spcPct val="100000"/>
              </a:lnSpc>
              <a:spcBef>
                <a:spcPts val="800"/>
              </a:spcBef>
              <a:buFont typeface="Arial" panose="020B0604020202020204"/>
              <a:buChar char="•"/>
              <a:tabLst>
                <a:tab pos="697865" algn="l"/>
                <a:tab pos="698500" algn="l"/>
              </a:tabLst>
            </a:pPr>
            <a:r>
              <a:rPr lang="zh-CN" altLang="en-US" sz="2000" b="1" spc="-10" dirty="0">
                <a:solidFill>
                  <a:srgbClr val="800000"/>
                </a:solidFill>
                <a:cs typeface="黑体" panose="02010609060101010101" charset="-122"/>
              </a:rPr>
              <a:t>赌注类型</a:t>
            </a:r>
            <a:endParaRPr lang="zh-CN" altLang="en-US" sz="2000" dirty="0">
              <a:cs typeface="黑体" panose="02010609060101010101" charset="-122"/>
            </a:endParaRPr>
          </a:p>
          <a:p>
            <a:pPr marL="698500" lvl="1">
              <a:lnSpc>
                <a:spcPct val="100000"/>
              </a:lnSpc>
              <a:spcBef>
                <a:spcPts val="700"/>
              </a:spcBef>
              <a:buFont typeface="Arial" panose="020B0604020202020204"/>
              <a:buChar char="•"/>
              <a:tabLst>
                <a:tab pos="697865" algn="l"/>
                <a:tab pos="698500" algn="l"/>
              </a:tabLst>
            </a:pPr>
            <a:r>
              <a:rPr lang="zh-CN" altLang="en-US" sz="2000" b="1" spc="-10" dirty="0">
                <a:solidFill>
                  <a:srgbClr val="800000"/>
                </a:solidFill>
                <a:cs typeface="黑体" panose="02010609060101010101" charset="-122"/>
              </a:rPr>
              <a:t>赌注的大小</a:t>
            </a:r>
            <a:endParaRPr lang="zh-CN" altLang="en-US" sz="2000" dirty="0">
              <a:cs typeface="黑体" panose="02010609060101010101" charset="-122"/>
            </a:endParaRPr>
          </a:p>
          <a:p>
            <a:pPr marL="698500" lvl="1">
              <a:lnSpc>
                <a:spcPct val="100000"/>
              </a:lnSpc>
              <a:spcBef>
                <a:spcPts val="700"/>
              </a:spcBef>
              <a:buFont typeface="Arial" panose="020B0604020202020204"/>
              <a:buChar char="•"/>
              <a:tabLst>
                <a:tab pos="697865" algn="l"/>
                <a:tab pos="698500" algn="l"/>
              </a:tabLst>
            </a:pPr>
            <a:r>
              <a:rPr lang="zh-CN" altLang="en-US" sz="2000" b="1" spc="-10" dirty="0">
                <a:solidFill>
                  <a:srgbClr val="800000"/>
                </a:solidFill>
                <a:cs typeface="黑体" panose="02010609060101010101" charset="-122"/>
              </a:rPr>
              <a:t>剩余赌资</a:t>
            </a:r>
            <a:endParaRPr lang="zh-CN" altLang="en-US" sz="2000" dirty="0">
              <a:cs typeface="黑体" panose="02010609060101010101" charset="-122"/>
            </a:endParaRPr>
          </a:p>
          <a:p>
            <a:pPr marL="698500" lvl="1">
              <a:lnSpc>
                <a:spcPct val="100000"/>
              </a:lnSpc>
              <a:spcBef>
                <a:spcPts val="800"/>
              </a:spcBef>
              <a:buFont typeface="Arial" panose="020B0604020202020204"/>
              <a:buChar char="•"/>
              <a:tabLst>
                <a:tab pos="697865" algn="l"/>
                <a:tab pos="698500" algn="l"/>
              </a:tabLst>
            </a:pPr>
            <a:r>
              <a:rPr lang="zh-CN" altLang="en-US" sz="2000" b="1" spc="-10" dirty="0">
                <a:solidFill>
                  <a:srgbClr val="800000"/>
                </a:solidFill>
                <a:cs typeface="黑体" panose="02010609060101010101" charset="-122"/>
              </a:rPr>
              <a:t>判断赌资是否够下注</a:t>
            </a:r>
            <a:endParaRPr lang="zh-CN" altLang="en-US" sz="2000" dirty="0">
              <a:cs typeface="黑体" panose="02010609060101010101" charset="-122"/>
            </a:endParaRPr>
          </a:p>
          <a:p>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sp>
        <p:nvSpPr>
          <p:cNvPr id="5" name="object 4"/>
          <p:cNvSpPr txBox="1"/>
          <p:nvPr/>
        </p:nvSpPr>
        <p:spPr>
          <a:xfrm>
            <a:off x="6651264" y="1492469"/>
            <a:ext cx="2997200" cy="4308872"/>
          </a:xfrm>
          <a:prstGeom prst="rect">
            <a:avLst/>
          </a:prstGeom>
        </p:spPr>
        <p:txBody>
          <a:bodyPr vert="horz" wrap="square" lIns="0" tIns="127000" rIns="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41300">
              <a:lnSpc>
                <a:spcPct val="100000"/>
              </a:lnSpc>
              <a:spcBef>
                <a:spcPts val="800"/>
              </a:spcBef>
              <a:buFont typeface="Arial" panose="020B0604020202020204"/>
              <a:buChar char="•"/>
              <a:tabLst>
                <a:tab pos="240665" algn="l"/>
                <a:tab pos="241300" algn="l"/>
              </a:tabLst>
            </a:pPr>
            <a:r>
              <a:rPr lang="zh-CN" altLang="en-US" sz="2000" dirty="0">
                <a:latin typeface="黑体" panose="02010609060101010101" charset="-122"/>
                <a:ea typeface="微软雅黑" panose="020B0503020204020204" pitchFamily="34" charset="-122"/>
              </a:rPr>
              <a:t>牌叠 （</a:t>
            </a:r>
            <a:r>
              <a:rPr lang="en-US" altLang="zh-CN" sz="2000" dirty="0">
                <a:latin typeface="黑体" panose="02010609060101010101" charset="-122"/>
                <a:ea typeface="微软雅黑" panose="020B0503020204020204" pitchFamily="34" charset="-122"/>
              </a:rPr>
              <a:t>Deck</a:t>
            </a:r>
            <a:r>
              <a:rPr lang="zh-CN" altLang="en-US" sz="2000" dirty="0">
                <a:latin typeface="黑体" panose="02010609060101010101" charset="-122"/>
                <a:ea typeface="微软雅黑" panose="020B0503020204020204" pitchFamily="34" charset="-122"/>
              </a:rPr>
              <a:t>）</a:t>
            </a:r>
            <a:endParaRPr lang="zh-CN" altLang="en-US" sz="2000" dirty="0">
              <a:latin typeface="黑体" panose="02010609060101010101" charset="-122"/>
              <a:ea typeface="微软雅黑" panose="020B0503020204020204" pitchFamily="34" charset="-122"/>
            </a:endParaRPr>
          </a:p>
          <a:p>
            <a:pPr marL="698500" lvl="1">
              <a:lnSpc>
                <a:spcPct val="100000"/>
              </a:lnSpc>
              <a:spcBef>
                <a:spcPts val="900"/>
              </a:spcBef>
              <a:buFont typeface="Arial" panose="020B0604020202020204"/>
              <a:buChar char="•"/>
              <a:tabLst>
                <a:tab pos="697865" algn="l"/>
                <a:tab pos="698500" algn="l"/>
              </a:tabLst>
            </a:pPr>
            <a:r>
              <a:rPr lang="zh-CN" altLang="en-US" sz="2000" b="1" spc="-10" dirty="0">
                <a:solidFill>
                  <a:srgbClr val="800000"/>
                </a:solidFill>
                <a:latin typeface="黑体" panose="02010609060101010101" charset="-122"/>
                <a:ea typeface="微软雅黑" panose="020B0503020204020204" pitchFamily="34" charset="-122"/>
              </a:rPr>
              <a:t>洗牌</a:t>
            </a:r>
            <a:endParaRPr lang="zh-CN" altLang="en-US" sz="2000" b="1" spc="-10" dirty="0">
              <a:solidFill>
                <a:srgbClr val="800000"/>
              </a:solidFill>
              <a:latin typeface="黑体" panose="02010609060101010101" charset="-122"/>
              <a:ea typeface="微软雅黑" panose="020B0503020204020204" pitchFamily="34" charset="-122"/>
            </a:endParaRPr>
          </a:p>
          <a:p>
            <a:pPr marL="698500" lvl="1">
              <a:lnSpc>
                <a:spcPct val="100000"/>
              </a:lnSpc>
              <a:spcBef>
                <a:spcPts val="1000"/>
              </a:spcBef>
              <a:buFont typeface="Arial" panose="020B0604020202020204"/>
              <a:buChar char="•"/>
              <a:tabLst>
                <a:tab pos="697865" algn="l"/>
                <a:tab pos="698500" algn="l"/>
              </a:tabLst>
            </a:pPr>
            <a:r>
              <a:rPr lang="zh-CN" altLang="en-US" sz="2000" b="1" spc="-10" dirty="0">
                <a:solidFill>
                  <a:srgbClr val="800000"/>
                </a:solidFill>
                <a:latin typeface="黑体" panose="02010609060101010101" charset="-122"/>
                <a:ea typeface="微软雅黑" panose="020B0503020204020204" pitchFamily="34" charset="-122"/>
              </a:rPr>
              <a:t>发牌</a:t>
            </a:r>
            <a:endParaRPr lang="zh-CN" altLang="en-US" sz="2000" b="1" spc="-10" dirty="0">
              <a:solidFill>
                <a:srgbClr val="800000"/>
              </a:solidFill>
              <a:latin typeface="黑体" panose="02010609060101010101" charset="-122"/>
              <a:ea typeface="微软雅黑" panose="020B0503020204020204" pitchFamily="34" charset="-122"/>
            </a:endParaRPr>
          </a:p>
          <a:p>
            <a:pPr marL="698500" lvl="1">
              <a:lnSpc>
                <a:spcPct val="100000"/>
              </a:lnSpc>
              <a:spcBef>
                <a:spcPts val="1000"/>
              </a:spcBef>
              <a:buFont typeface="Arial" panose="020B0604020202020204"/>
              <a:buChar char="•"/>
              <a:tabLst>
                <a:tab pos="697865" algn="l"/>
                <a:tab pos="698500" algn="l"/>
              </a:tabLst>
            </a:pPr>
            <a:r>
              <a:rPr lang="zh-CN" altLang="en-US" sz="2000" b="1" spc="-10" dirty="0">
                <a:solidFill>
                  <a:srgbClr val="800000"/>
                </a:solidFill>
                <a:latin typeface="黑体" panose="02010609060101010101" charset="-122"/>
                <a:ea typeface="微软雅黑" panose="020B0503020204020204" pitchFamily="34" charset="-122"/>
              </a:rPr>
              <a:t>查询剩余牌数</a:t>
            </a:r>
            <a:endParaRPr lang="zh-CN" altLang="en-US" sz="2000" b="1" spc="-10" dirty="0">
              <a:solidFill>
                <a:srgbClr val="800000"/>
              </a:solidFill>
              <a:latin typeface="黑体" panose="02010609060101010101" charset="-122"/>
              <a:ea typeface="微软雅黑" panose="020B0503020204020204" pitchFamily="34" charset="-122"/>
            </a:endParaRPr>
          </a:p>
          <a:p>
            <a:pPr marL="698500" lvl="1">
              <a:lnSpc>
                <a:spcPct val="100000"/>
              </a:lnSpc>
              <a:spcBef>
                <a:spcPts val="1000"/>
              </a:spcBef>
              <a:buFont typeface="Arial" panose="020B0604020202020204"/>
              <a:buChar char="•"/>
              <a:tabLst>
                <a:tab pos="697865" algn="l"/>
                <a:tab pos="698500" algn="l"/>
              </a:tabLst>
            </a:pPr>
            <a:r>
              <a:rPr lang="zh-CN" altLang="en-US" sz="2000" b="1" spc="-10" dirty="0">
                <a:solidFill>
                  <a:srgbClr val="800000"/>
                </a:solidFill>
                <a:latin typeface="黑体" panose="02010609060101010101" charset="-122"/>
                <a:ea typeface="微软雅黑" panose="020B0503020204020204" pitchFamily="34" charset="-122"/>
              </a:rPr>
              <a:t>是否能够新开一叠牌</a:t>
            </a:r>
            <a:endParaRPr lang="en-US" altLang="zh-CN" sz="2000" b="1" spc="-10" dirty="0">
              <a:solidFill>
                <a:srgbClr val="800000"/>
              </a:solidFill>
              <a:latin typeface="黑体" panose="02010609060101010101" charset="-122"/>
              <a:ea typeface="微软雅黑" panose="020B0503020204020204" pitchFamily="34" charset="-122"/>
            </a:endParaRPr>
          </a:p>
          <a:p>
            <a:pPr marL="698500" lvl="1">
              <a:lnSpc>
                <a:spcPct val="100000"/>
              </a:lnSpc>
              <a:spcBef>
                <a:spcPts val="1000"/>
              </a:spcBef>
              <a:buFont typeface="Arial" panose="020B0604020202020204"/>
              <a:buChar char="•"/>
              <a:tabLst>
                <a:tab pos="697865" algn="l"/>
                <a:tab pos="698500" algn="l"/>
              </a:tabLst>
            </a:pPr>
            <a:endParaRPr lang="zh-CN" altLang="en-US" sz="2000" b="1" spc="-10" dirty="0">
              <a:solidFill>
                <a:srgbClr val="800000"/>
              </a:solidFill>
              <a:latin typeface="黑体" panose="02010609060101010101" charset="-122"/>
              <a:ea typeface="微软雅黑" panose="020B0503020204020204" pitchFamily="34" charset="-122"/>
            </a:endParaRPr>
          </a:p>
          <a:p>
            <a:pPr marL="241300">
              <a:lnSpc>
                <a:spcPct val="100000"/>
              </a:lnSpc>
              <a:spcBef>
                <a:spcPts val="800"/>
              </a:spcBef>
              <a:buFont typeface="Arial" panose="020B0604020202020204"/>
              <a:buChar char="•"/>
              <a:tabLst>
                <a:tab pos="240665" algn="l"/>
                <a:tab pos="241300" algn="l"/>
              </a:tabLst>
            </a:pPr>
            <a:r>
              <a:rPr lang="zh-CN" altLang="en-US" sz="2000" dirty="0">
                <a:latin typeface="黑体" panose="02010609060101010101" charset="-122"/>
                <a:ea typeface="微软雅黑" panose="020B0503020204020204" pitchFamily="34" charset="-122"/>
              </a:rPr>
              <a:t>手牌（</a:t>
            </a:r>
            <a:r>
              <a:rPr lang="en-US" altLang="zh-CN" sz="2000" dirty="0">
                <a:latin typeface="黑体" panose="02010609060101010101" charset="-122"/>
                <a:ea typeface="微软雅黑" panose="020B0503020204020204" pitchFamily="34" charset="-122"/>
              </a:rPr>
              <a:t>Hand</a:t>
            </a:r>
            <a:r>
              <a:rPr lang="zh-CN" altLang="en-US" sz="2000" dirty="0">
                <a:latin typeface="黑体" panose="02010609060101010101" charset="-122"/>
                <a:ea typeface="微软雅黑" panose="020B0503020204020204" pitchFamily="34" charset="-122"/>
              </a:rPr>
              <a:t>）</a:t>
            </a:r>
            <a:endParaRPr lang="zh-CN" altLang="en-US" sz="2000" dirty="0">
              <a:latin typeface="黑体" panose="02010609060101010101" charset="-122"/>
              <a:ea typeface="微软雅黑" panose="020B0503020204020204" pitchFamily="34" charset="-122"/>
            </a:endParaRPr>
          </a:p>
          <a:p>
            <a:pPr marL="698500" lvl="1">
              <a:lnSpc>
                <a:spcPct val="100000"/>
              </a:lnSpc>
              <a:spcBef>
                <a:spcPts val="900"/>
              </a:spcBef>
              <a:buFont typeface="Arial" panose="020B0604020202020204"/>
              <a:buChar char="•"/>
              <a:tabLst>
                <a:tab pos="697865" algn="l"/>
                <a:tab pos="698500" algn="l"/>
              </a:tabLst>
            </a:pPr>
            <a:r>
              <a:rPr lang="zh-CN" altLang="en-US" sz="2000" b="1" spc="-10" dirty="0">
                <a:solidFill>
                  <a:srgbClr val="800000"/>
                </a:solidFill>
                <a:latin typeface="黑体" panose="02010609060101010101" charset="-122"/>
                <a:ea typeface="微软雅黑" panose="020B0503020204020204" pitchFamily="34" charset="-122"/>
              </a:rPr>
              <a:t>读取手中牌数</a:t>
            </a:r>
            <a:endParaRPr lang="zh-CN" altLang="en-US" sz="2000" b="1" spc="-10" dirty="0">
              <a:solidFill>
                <a:srgbClr val="800000"/>
              </a:solidFill>
              <a:latin typeface="黑体" panose="02010609060101010101" charset="-122"/>
              <a:ea typeface="微软雅黑" panose="020B0503020204020204" pitchFamily="34" charset="-122"/>
            </a:endParaRPr>
          </a:p>
          <a:p>
            <a:pPr marL="698500" lvl="1">
              <a:lnSpc>
                <a:spcPct val="100000"/>
              </a:lnSpc>
              <a:spcBef>
                <a:spcPts val="1000"/>
              </a:spcBef>
              <a:buFont typeface="Arial" panose="020B0604020202020204"/>
              <a:buChar char="•"/>
              <a:tabLst>
                <a:tab pos="697865" algn="l"/>
                <a:tab pos="698500" algn="l"/>
              </a:tabLst>
            </a:pPr>
            <a:r>
              <a:rPr lang="zh-CN" altLang="en-US" sz="2000" b="1" spc="-10" dirty="0">
                <a:solidFill>
                  <a:srgbClr val="800000"/>
                </a:solidFill>
                <a:latin typeface="黑体" panose="02010609060101010101" charset="-122"/>
                <a:ea typeface="微软雅黑" panose="020B0503020204020204" pitchFamily="34" charset="-122"/>
              </a:rPr>
              <a:t>读取手牌总点数</a:t>
            </a:r>
            <a:endParaRPr lang="zh-CN" altLang="en-US" sz="2000" b="1" spc="-10" dirty="0">
              <a:solidFill>
                <a:srgbClr val="800000"/>
              </a:solidFill>
              <a:latin typeface="黑体" panose="02010609060101010101" charset="-122"/>
              <a:ea typeface="微软雅黑" panose="020B0503020204020204" pitchFamily="34" charset="-122"/>
            </a:endParaRPr>
          </a:p>
          <a:p>
            <a:pPr marL="698500" lvl="1">
              <a:lnSpc>
                <a:spcPct val="100000"/>
              </a:lnSpc>
              <a:spcBef>
                <a:spcPts val="1000"/>
              </a:spcBef>
              <a:buFont typeface="Arial" panose="020B0604020202020204"/>
              <a:buChar char="•"/>
              <a:tabLst>
                <a:tab pos="697865" algn="l"/>
                <a:tab pos="698500" algn="l"/>
              </a:tabLst>
            </a:pPr>
            <a:r>
              <a:rPr lang="zh-CN" altLang="en-US" sz="2000" b="1" spc="-10" dirty="0">
                <a:solidFill>
                  <a:srgbClr val="800000"/>
                </a:solidFill>
                <a:latin typeface="黑体" panose="02010609060101010101" charset="-122"/>
                <a:ea typeface="微软雅黑" panose="020B0503020204020204" pitchFamily="34" charset="-122"/>
              </a:rPr>
              <a:t>亮牌</a:t>
            </a:r>
            <a:endParaRPr lang="zh-CN" altLang="en-US" sz="2000" b="1" spc="-10" dirty="0">
              <a:solidFill>
                <a:srgbClr val="800000"/>
              </a:solidFill>
              <a:latin typeface="黑体" panose="02010609060101010101"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73996"/>
    </mc:Choice>
    <mc:Fallback>
      <p:transition spd="slow" advTm="73996"/>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候选类对应的功能职责</a:t>
            </a:r>
            <a:endParaRPr lang="zh-CN" altLang="en-US" dirty="0"/>
          </a:p>
        </p:txBody>
      </p:sp>
      <p:sp>
        <p:nvSpPr>
          <p:cNvPr id="3" name="内容占位符 2"/>
          <p:cNvSpPr>
            <a:spLocks noGrp="1"/>
          </p:cNvSpPr>
          <p:nvPr>
            <p:ph idx="1"/>
          </p:nvPr>
        </p:nvSpPr>
        <p:spPr/>
        <p:txBody>
          <a:bodyPr>
            <a:normAutofit lnSpcReduction="10000"/>
          </a:bodyPr>
          <a:lstStyle/>
          <a:p>
            <a:pPr marL="241300">
              <a:lnSpc>
                <a:spcPct val="100000"/>
              </a:lnSpc>
              <a:buFont typeface="Arial" panose="020B0604020202020204"/>
              <a:buChar char="•"/>
              <a:tabLst>
                <a:tab pos="240665" algn="l"/>
                <a:tab pos="241300" algn="l"/>
              </a:tabLst>
            </a:pPr>
            <a:r>
              <a:rPr lang="zh-CN" altLang="en-US" dirty="0"/>
              <a:t>庄家</a:t>
            </a:r>
            <a:endParaRPr lang="zh-CN" altLang="en-US" dirty="0"/>
          </a:p>
          <a:p>
            <a:pPr marL="698500" lvl="1" indent="-229235">
              <a:lnSpc>
                <a:spcPct val="100000"/>
              </a:lnSpc>
              <a:spcBef>
                <a:spcPts val="900"/>
              </a:spcBef>
              <a:buFont typeface="Arial" panose="020B0604020202020204"/>
              <a:buChar char="•"/>
              <a:tabLst>
                <a:tab pos="697865" algn="l"/>
                <a:tab pos="698500" algn="l"/>
              </a:tabLst>
            </a:pPr>
            <a:r>
              <a:rPr lang="zh-CN" altLang="en-US" sz="2000" b="1" spc="-10" dirty="0">
                <a:solidFill>
                  <a:srgbClr val="800000"/>
                </a:solidFill>
                <a:latin typeface="黑体" panose="02010609060101010101" charset="-122"/>
                <a:cs typeface="黑体" panose="02010609060101010101" charset="-122"/>
              </a:rPr>
              <a:t>发牌</a:t>
            </a:r>
            <a:endParaRPr lang="zh-CN" altLang="en-US" sz="2000" dirty="0">
              <a:latin typeface="黑体" panose="02010609060101010101" charset="-122"/>
              <a:cs typeface="黑体" panose="02010609060101010101" charset="-122"/>
            </a:endParaRPr>
          </a:p>
          <a:p>
            <a:pPr marL="698500" lvl="1" indent="-229235">
              <a:lnSpc>
                <a:spcPct val="100000"/>
              </a:lnSpc>
              <a:spcBef>
                <a:spcPts val="1000"/>
              </a:spcBef>
              <a:buFont typeface="Arial" panose="020B0604020202020204"/>
              <a:buChar char="•"/>
              <a:tabLst>
                <a:tab pos="697865" algn="l"/>
                <a:tab pos="698500" algn="l"/>
              </a:tabLst>
            </a:pPr>
            <a:r>
              <a:rPr lang="zh-CN" altLang="en-US" sz="2000" b="1" spc="-10" dirty="0">
                <a:solidFill>
                  <a:srgbClr val="800000"/>
                </a:solidFill>
                <a:latin typeface="黑体" panose="02010609060101010101" charset="-122"/>
                <a:cs typeface="黑体" panose="02010609060101010101" charset="-122"/>
              </a:rPr>
              <a:t>洗牌</a:t>
            </a:r>
            <a:endParaRPr lang="zh-CN" altLang="en-US" sz="2000" dirty="0">
              <a:latin typeface="黑体" panose="02010609060101010101" charset="-122"/>
              <a:cs typeface="黑体" panose="02010609060101010101" charset="-122"/>
            </a:endParaRPr>
          </a:p>
          <a:p>
            <a:pPr marL="698500" lvl="1" indent="-229235">
              <a:lnSpc>
                <a:spcPct val="100000"/>
              </a:lnSpc>
              <a:spcBef>
                <a:spcPts val="1000"/>
              </a:spcBef>
              <a:buFont typeface="Arial" panose="020B0604020202020204"/>
              <a:buChar char="•"/>
              <a:tabLst>
                <a:tab pos="697865" algn="l"/>
                <a:tab pos="698500" algn="l"/>
              </a:tabLst>
            </a:pPr>
            <a:r>
              <a:rPr lang="zh-CN" altLang="en-US" sz="2000" b="1" spc="-10" dirty="0">
                <a:solidFill>
                  <a:srgbClr val="800000"/>
                </a:solidFill>
                <a:latin typeface="黑体" panose="02010609060101010101" charset="-122"/>
                <a:cs typeface="黑体" panose="02010609060101010101" charset="-122"/>
              </a:rPr>
              <a:t>发一张牌给玩家</a:t>
            </a:r>
            <a:endParaRPr lang="zh-CN" altLang="en-US" sz="2000" dirty="0">
              <a:latin typeface="黑体" panose="02010609060101010101" charset="-122"/>
              <a:cs typeface="黑体" panose="02010609060101010101" charset="-122"/>
            </a:endParaRPr>
          </a:p>
          <a:p>
            <a:pPr marL="698500" lvl="1" indent="-229235">
              <a:lnSpc>
                <a:spcPct val="100000"/>
              </a:lnSpc>
              <a:spcBef>
                <a:spcPts val="1000"/>
              </a:spcBef>
              <a:buFont typeface="Arial" panose="020B0604020202020204"/>
              <a:buChar char="•"/>
              <a:tabLst>
                <a:tab pos="697865" algn="l"/>
                <a:tab pos="698500" algn="l"/>
              </a:tabLst>
            </a:pPr>
            <a:r>
              <a:rPr lang="zh-CN" altLang="en-US" sz="2000" b="1" spc="-10" dirty="0">
                <a:solidFill>
                  <a:srgbClr val="800000"/>
                </a:solidFill>
                <a:latin typeface="黑体" panose="02010609060101010101" charset="-122"/>
                <a:cs typeface="黑体" panose="02010609060101010101" charset="-122"/>
              </a:rPr>
              <a:t>庄家亮牌</a:t>
            </a:r>
            <a:endParaRPr lang="zh-CN" altLang="en-US" sz="2000" dirty="0">
              <a:latin typeface="黑体" panose="02010609060101010101" charset="-122"/>
              <a:cs typeface="黑体" panose="02010609060101010101" charset="-122"/>
            </a:endParaRPr>
          </a:p>
          <a:p>
            <a:pPr marL="698500" lvl="1" indent="-229235">
              <a:lnSpc>
                <a:spcPct val="100000"/>
              </a:lnSpc>
              <a:spcBef>
                <a:spcPts val="1000"/>
              </a:spcBef>
              <a:buFont typeface="Arial" panose="020B0604020202020204"/>
              <a:buChar char="•"/>
              <a:tabLst>
                <a:tab pos="697865" algn="l"/>
                <a:tab pos="698500" algn="l"/>
              </a:tabLst>
            </a:pPr>
            <a:r>
              <a:rPr lang="zh-CN" altLang="en-US" sz="2000" b="1" spc="-10" dirty="0">
                <a:solidFill>
                  <a:srgbClr val="800000"/>
                </a:solidFill>
                <a:latin typeface="黑体" panose="02010609060101010101" charset="-122"/>
                <a:cs typeface="黑体" panose="02010609060101010101" charset="-122"/>
              </a:rPr>
              <a:t>计算庄家手牌点数</a:t>
            </a:r>
            <a:endParaRPr lang="zh-CN" altLang="en-US" sz="2000" dirty="0">
              <a:latin typeface="黑体" panose="02010609060101010101" charset="-122"/>
              <a:cs typeface="黑体" panose="02010609060101010101" charset="-122"/>
            </a:endParaRPr>
          </a:p>
          <a:p>
            <a:pPr marL="698500" lvl="1" indent="-229235">
              <a:lnSpc>
                <a:spcPct val="100000"/>
              </a:lnSpc>
              <a:spcBef>
                <a:spcPts val="900"/>
              </a:spcBef>
              <a:buFont typeface="Arial" panose="020B0604020202020204"/>
              <a:buChar char="•"/>
              <a:tabLst>
                <a:tab pos="697865" algn="l"/>
                <a:tab pos="698500" algn="l"/>
              </a:tabLst>
            </a:pPr>
            <a:r>
              <a:rPr lang="zh-CN" altLang="en-US" sz="2000" b="1" spc="-10" dirty="0">
                <a:solidFill>
                  <a:srgbClr val="800000"/>
                </a:solidFill>
                <a:latin typeface="黑体" panose="02010609060101010101" charset="-122"/>
                <a:cs typeface="黑体" panose="02010609060101010101" charset="-122"/>
              </a:rPr>
              <a:t>查询庄家手牌点数</a:t>
            </a:r>
            <a:endParaRPr lang="zh-CN" altLang="en-US" sz="2000" dirty="0">
              <a:latin typeface="黑体" panose="02010609060101010101" charset="-122"/>
              <a:cs typeface="黑体" panose="02010609060101010101" charset="-122"/>
            </a:endParaRPr>
          </a:p>
          <a:p>
            <a:pPr marL="698500" lvl="1" indent="-229235">
              <a:lnSpc>
                <a:spcPct val="100000"/>
              </a:lnSpc>
              <a:spcBef>
                <a:spcPts val="1000"/>
              </a:spcBef>
              <a:buFont typeface="Arial" panose="020B0604020202020204"/>
              <a:buChar char="•"/>
              <a:tabLst>
                <a:tab pos="697865" algn="l"/>
                <a:tab pos="698500" algn="l"/>
              </a:tabLst>
            </a:pPr>
            <a:r>
              <a:rPr lang="zh-CN" altLang="en-US" sz="2000" b="1" spc="-10" dirty="0">
                <a:solidFill>
                  <a:srgbClr val="800000"/>
                </a:solidFill>
                <a:latin typeface="黑体" panose="02010609060101010101" charset="-122"/>
                <a:cs typeface="黑体" panose="02010609060101010101" charset="-122"/>
              </a:rPr>
              <a:t>加一张牌</a:t>
            </a:r>
            <a:endParaRPr lang="zh-CN" altLang="en-US" sz="2000" dirty="0">
              <a:latin typeface="黑体" panose="02010609060101010101" charset="-122"/>
              <a:cs typeface="黑体" panose="02010609060101010101" charset="-122"/>
            </a:endParaRPr>
          </a:p>
          <a:p>
            <a:pPr marL="698500" lvl="1" indent="-229235">
              <a:lnSpc>
                <a:spcPct val="100000"/>
              </a:lnSpc>
              <a:spcBef>
                <a:spcPts val="1000"/>
              </a:spcBef>
              <a:buFont typeface="Arial" panose="020B0604020202020204"/>
              <a:buChar char="•"/>
              <a:tabLst>
                <a:tab pos="697865" algn="l"/>
                <a:tab pos="698500" algn="l"/>
              </a:tabLst>
            </a:pPr>
            <a:r>
              <a:rPr lang="zh-CN" altLang="en-US" sz="2000" b="1" spc="-10" dirty="0">
                <a:solidFill>
                  <a:srgbClr val="800000"/>
                </a:solidFill>
                <a:latin typeface="黑体" panose="02010609060101010101" charset="-122"/>
                <a:cs typeface="黑体" panose="02010609060101010101" charset="-122"/>
              </a:rPr>
              <a:t>确定赢家</a:t>
            </a:r>
            <a:endParaRPr lang="zh-CN" altLang="en-US" sz="2000" dirty="0">
              <a:latin typeface="黑体" panose="02010609060101010101" charset="-122"/>
              <a:cs typeface="黑体" panose="02010609060101010101" charset="-122"/>
            </a:endParaRPr>
          </a:p>
          <a:p>
            <a:pPr marL="698500" lvl="1" indent="-229235">
              <a:lnSpc>
                <a:spcPct val="100000"/>
              </a:lnSpc>
              <a:spcBef>
                <a:spcPts val="1000"/>
              </a:spcBef>
              <a:buFont typeface="Arial" panose="020B0604020202020204"/>
              <a:buChar char="•"/>
              <a:tabLst>
                <a:tab pos="697865" algn="l"/>
                <a:tab pos="698500" algn="l"/>
              </a:tabLst>
            </a:pPr>
            <a:r>
              <a:rPr lang="zh-CN" altLang="en-US" sz="2000" b="1" spc="-10" dirty="0">
                <a:solidFill>
                  <a:srgbClr val="800000"/>
                </a:solidFill>
                <a:latin typeface="黑体" panose="02010609060101010101" charset="-122"/>
                <a:cs typeface="黑体" panose="02010609060101010101" charset="-122"/>
              </a:rPr>
              <a:t>开始下一轮游戏</a:t>
            </a:r>
            <a:endParaRPr lang="zh-CN" altLang="en-US" sz="2000" dirty="0">
              <a:latin typeface="黑体" panose="02010609060101010101" charset="-122"/>
              <a:cs typeface="黑体" panose="02010609060101010101" charset="-122"/>
            </a:endParaRPr>
          </a:p>
          <a:p>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sp>
        <p:nvSpPr>
          <p:cNvPr id="5" name="object 4"/>
          <p:cNvSpPr txBox="1"/>
          <p:nvPr/>
        </p:nvSpPr>
        <p:spPr>
          <a:xfrm>
            <a:off x="6647416" y="1825625"/>
            <a:ext cx="4188749" cy="3585597"/>
          </a:xfrm>
          <a:prstGeom prst="rect">
            <a:avLst/>
          </a:prstGeom>
        </p:spPr>
        <p:txBody>
          <a:bodyPr vert="horz" wrap="square" lIns="0" tIns="127000" rIns="0" bIns="0" rtlCol="0">
            <a:spAutoFit/>
          </a:bodyPr>
          <a:lstStyle/>
          <a:p>
            <a:pPr marL="241300" indent="-228600">
              <a:spcBef>
                <a:spcPts val="1000"/>
              </a:spcBef>
              <a:buFont typeface="Arial" panose="020B0604020202020204"/>
              <a:buChar char="•"/>
              <a:tabLst>
                <a:tab pos="240665" algn="l"/>
                <a:tab pos="241300" algn="l"/>
              </a:tabLst>
            </a:pPr>
            <a:r>
              <a:rPr sz="2800" dirty="0">
                <a:latin typeface="微软雅黑" panose="020B0503020204020204" pitchFamily="34" charset="-122"/>
                <a:ea typeface="微软雅黑" panose="020B0503020204020204" pitchFamily="34" charset="-122"/>
              </a:rPr>
              <a:t>玩家</a:t>
            </a:r>
            <a:endParaRPr sz="2800" dirty="0">
              <a:latin typeface="微软雅黑" panose="020B0503020204020204" pitchFamily="34" charset="-122"/>
              <a:ea typeface="微软雅黑" panose="020B0503020204020204" pitchFamily="34" charset="-122"/>
            </a:endParaRPr>
          </a:p>
          <a:p>
            <a:pPr marL="698500" lvl="1" indent="-229235">
              <a:spcBef>
                <a:spcPts val="1000"/>
              </a:spcBef>
              <a:buFont typeface="Arial" panose="020B0604020202020204"/>
              <a:buChar char="•"/>
              <a:tabLst>
                <a:tab pos="697865" algn="l"/>
                <a:tab pos="698500" algn="l"/>
              </a:tabLst>
            </a:pPr>
            <a:r>
              <a:rPr sz="2000" b="1" spc="-10" dirty="0">
                <a:solidFill>
                  <a:srgbClr val="800000"/>
                </a:solidFill>
                <a:latin typeface="黑体" panose="02010609060101010101" charset="-122"/>
                <a:ea typeface="微软雅黑" panose="020B0503020204020204" pitchFamily="34" charset="-122"/>
              </a:rPr>
              <a:t>请求发牌</a:t>
            </a:r>
            <a:endParaRPr sz="2000" b="1" spc="-10" dirty="0">
              <a:solidFill>
                <a:srgbClr val="800000"/>
              </a:solidFill>
              <a:latin typeface="黑体" panose="02010609060101010101" charset="-122"/>
              <a:ea typeface="微软雅黑" panose="020B0503020204020204" pitchFamily="34" charset="-122"/>
            </a:endParaRPr>
          </a:p>
          <a:p>
            <a:pPr marL="698500" lvl="1" indent="-229235">
              <a:spcBef>
                <a:spcPts val="1000"/>
              </a:spcBef>
              <a:buFont typeface="Arial" panose="020B0604020202020204"/>
              <a:buChar char="•"/>
              <a:tabLst>
                <a:tab pos="697865" algn="l"/>
                <a:tab pos="698500" algn="l"/>
              </a:tabLst>
            </a:pPr>
            <a:r>
              <a:rPr sz="2000" b="1" spc="-10" dirty="0">
                <a:solidFill>
                  <a:srgbClr val="800000"/>
                </a:solidFill>
                <a:latin typeface="黑体" panose="02010609060101010101" charset="-122"/>
                <a:ea typeface="微软雅黑" panose="020B0503020204020204" pitchFamily="34" charset="-122"/>
              </a:rPr>
              <a:t>玩家亮牌</a:t>
            </a:r>
            <a:endParaRPr sz="2000" b="1" spc="-10" dirty="0">
              <a:solidFill>
                <a:srgbClr val="800000"/>
              </a:solidFill>
              <a:latin typeface="黑体" panose="02010609060101010101" charset="-122"/>
              <a:ea typeface="微软雅黑" panose="020B0503020204020204" pitchFamily="34" charset="-122"/>
            </a:endParaRPr>
          </a:p>
          <a:p>
            <a:pPr marL="698500" lvl="1" indent="-229235">
              <a:spcBef>
                <a:spcPts val="1000"/>
              </a:spcBef>
              <a:buFont typeface="Arial" panose="020B0604020202020204"/>
              <a:buChar char="•"/>
              <a:tabLst>
                <a:tab pos="697865" algn="l"/>
                <a:tab pos="698500" algn="l"/>
              </a:tabLst>
            </a:pPr>
            <a:r>
              <a:rPr sz="2000" b="1" spc="-10" dirty="0">
                <a:solidFill>
                  <a:srgbClr val="800000"/>
                </a:solidFill>
                <a:latin typeface="黑体" panose="02010609060101010101" charset="-122"/>
                <a:ea typeface="微软雅黑" panose="020B0503020204020204" pitchFamily="34" charset="-122"/>
              </a:rPr>
              <a:t>计算玩家手牌点数</a:t>
            </a:r>
            <a:endParaRPr sz="2000" b="1" spc="-10" dirty="0">
              <a:solidFill>
                <a:srgbClr val="800000"/>
              </a:solidFill>
              <a:latin typeface="黑体" panose="02010609060101010101" charset="-122"/>
              <a:ea typeface="微软雅黑" panose="020B0503020204020204" pitchFamily="34" charset="-122"/>
            </a:endParaRPr>
          </a:p>
          <a:p>
            <a:pPr marL="698500" lvl="1" indent="-229235">
              <a:spcBef>
                <a:spcPts val="1000"/>
              </a:spcBef>
              <a:buFont typeface="Arial" panose="020B0604020202020204"/>
              <a:buChar char="•"/>
              <a:tabLst>
                <a:tab pos="697865" algn="l"/>
                <a:tab pos="698500" algn="l"/>
              </a:tabLst>
            </a:pPr>
            <a:r>
              <a:rPr sz="2000" b="1" spc="-10" dirty="0">
                <a:solidFill>
                  <a:srgbClr val="800000"/>
                </a:solidFill>
                <a:latin typeface="黑体" panose="02010609060101010101" charset="-122"/>
                <a:ea typeface="微软雅黑" panose="020B0503020204020204" pitchFamily="34" charset="-122"/>
              </a:rPr>
              <a:t>查询玩家手牌点数</a:t>
            </a:r>
            <a:endParaRPr sz="2000" b="1" spc="-10" dirty="0">
              <a:solidFill>
                <a:srgbClr val="800000"/>
              </a:solidFill>
              <a:latin typeface="黑体" panose="02010609060101010101" charset="-122"/>
              <a:ea typeface="微软雅黑" panose="020B0503020204020204" pitchFamily="34" charset="-122"/>
            </a:endParaRPr>
          </a:p>
          <a:p>
            <a:pPr marL="698500" lvl="1" indent="-229235">
              <a:spcBef>
                <a:spcPts val="1000"/>
              </a:spcBef>
              <a:buFont typeface="Arial" panose="020B0604020202020204"/>
              <a:buChar char="•"/>
              <a:tabLst>
                <a:tab pos="697865" algn="l"/>
                <a:tab pos="698500" algn="l"/>
              </a:tabLst>
            </a:pPr>
            <a:r>
              <a:rPr sz="2000" b="1" spc="-10" dirty="0">
                <a:solidFill>
                  <a:srgbClr val="800000"/>
                </a:solidFill>
                <a:latin typeface="黑体" panose="02010609060101010101" charset="-122"/>
                <a:ea typeface="微软雅黑" panose="020B0503020204020204" pitchFamily="34" charset="-122"/>
              </a:rPr>
              <a:t>查看手牌点数是否超过21点</a:t>
            </a:r>
            <a:endParaRPr sz="2000" b="1" spc="-10" dirty="0">
              <a:solidFill>
                <a:srgbClr val="800000"/>
              </a:solidFill>
              <a:latin typeface="黑体" panose="02010609060101010101" charset="-122"/>
              <a:ea typeface="微软雅黑" panose="020B0503020204020204" pitchFamily="34" charset="-122"/>
            </a:endParaRPr>
          </a:p>
          <a:p>
            <a:pPr marL="698500" lvl="1" indent="-229235">
              <a:spcBef>
                <a:spcPts val="1000"/>
              </a:spcBef>
              <a:buFont typeface="Arial" panose="020B0604020202020204"/>
              <a:buChar char="•"/>
              <a:tabLst>
                <a:tab pos="697865" algn="l"/>
                <a:tab pos="698500" algn="l"/>
              </a:tabLst>
            </a:pPr>
            <a:r>
              <a:rPr sz="2000" b="1" spc="-10" dirty="0">
                <a:solidFill>
                  <a:srgbClr val="800000"/>
                </a:solidFill>
                <a:latin typeface="黑体" panose="02010609060101010101" charset="-122"/>
                <a:ea typeface="微软雅黑" panose="020B0503020204020204" pitchFamily="34" charset="-122"/>
              </a:rPr>
              <a:t>查看手牌点数是否等于21点</a:t>
            </a:r>
            <a:endParaRPr sz="2000" b="1" spc="-10" dirty="0">
              <a:solidFill>
                <a:srgbClr val="800000"/>
              </a:solidFill>
              <a:latin typeface="黑体" panose="02010609060101010101" charset="-122"/>
              <a:ea typeface="微软雅黑" panose="020B0503020204020204" pitchFamily="34" charset="-122"/>
            </a:endParaRPr>
          </a:p>
          <a:p>
            <a:pPr marL="698500" lvl="1" indent="-229235">
              <a:spcBef>
                <a:spcPts val="1000"/>
              </a:spcBef>
              <a:buFont typeface="Arial" panose="020B0604020202020204"/>
              <a:buChar char="•"/>
              <a:tabLst>
                <a:tab pos="697865" algn="l"/>
                <a:tab pos="698500" algn="l"/>
              </a:tabLst>
            </a:pPr>
            <a:r>
              <a:rPr sz="2000" b="1" spc="-10" dirty="0">
                <a:solidFill>
                  <a:srgbClr val="800000"/>
                </a:solidFill>
                <a:latin typeface="黑体" panose="02010609060101010101" charset="-122"/>
                <a:ea typeface="微软雅黑" panose="020B0503020204020204" pitchFamily="34" charset="-122"/>
              </a:rPr>
              <a:t>查看手牌点数是否低于21点</a:t>
            </a:r>
            <a:endParaRPr sz="2000" b="1" spc="-10" dirty="0">
              <a:solidFill>
                <a:srgbClr val="800000"/>
              </a:solidFill>
              <a:latin typeface="黑体" panose="02010609060101010101"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4232"/>
    </mc:Choice>
    <mc:Fallback>
      <p:transition spd="slow" advTm="24232"/>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识别类交互协作关系：用</a:t>
            </a:r>
            <a:r>
              <a:rPr lang="en-US" altLang="zh-CN" dirty="0"/>
              <a:t>UML</a:t>
            </a:r>
            <a:r>
              <a:rPr lang="zh-CN" altLang="en-US" dirty="0"/>
              <a:t>用例图</a:t>
            </a:r>
            <a:endParaRPr lang="zh-CN" altLang="en-US" dirty="0"/>
          </a:p>
        </p:txBody>
      </p:sp>
      <p:sp>
        <p:nvSpPr>
          <p:cNvPr id="3" name="内容占位符 2"/>
          <p:cNvSpPr>
            <a:spLocks noGrp="1"/>
          </p:cNvSpPr>
          <p:nvPr>
            <p:ph idx="1"/>
          </p:nvPr>
        </p:nvSpPr>
        <p:spPr/>
        <p:txBody>
          <a:bodyPr/>
          <a:lstStyle/>
          <a:p>
            <a:pPr marL="12700">
              <a:lnSpc>
                <a:spcPct val="100000"/>
              </a:lnSpc>
              <a:spcBef>
                <a:spcPts val="1620"/>
              </a:spcBef>
            </a:pPr>
            <a:r>
              <a:rPr lang="zh-CN" altLang="en-US" dirty="0">
                <a:latin typeface="黑体" panose="02010609060101010101" charset="-122"/>
                <a:cs typeface="黑体" panose="02010609060101010101" charset="-122"/>
              </a:rPr>
              <a:t>识别对象及其消息交互</a:t>
            </a:r>
            <a:endParaRPr lang="zh-CN" altLang="en-US" dirty="0">
              <a:latin typeface="黑体" panose="02010609060101010101" charset="-122"/>
              <a:cs typeface="黑体" panose="02010609060101010101" charset="-122"/>
            </a:endParaRPr>
          </a:p>
          <a:p>
            <a:pPr marL="12700">
              <a:lnSpc>
                <a:spcPct val="100000"/>
              </a:lnSpc>
              <a:spcBef>
                <a:spcPts val="1520"/>
              </a:spcBef>
              <a:tabLst>
                <a:tab pos="1078865" algn="l"/>
                <a:tab pos="8546465" algn="l"/>
              </a:tabLst>
            </a:pPr>
            <a:r>
              <a:rPr lang="zh-CN" altLang="en-US" dirty="0">
                <a:solidFill>
                  <a:srgbClr val="C00000"/>
                </a:solidFill>
                <a:latin typeface="黑体" panose="02010609060101010101" charset="-122"/>
                <a:cs typeface="黑体" panose="02010609060101010101" charset="-122"/>
              </a:rPr>
              <a:t>注意</a:t>
            </a:r>
            <a:r>
              <a:rPr lang="en-US" altLang="zh-CN" dirty="0">
                <a:solidFill>
                  <a:srgbClr val="CE1C00"/>
                </a:solidFill>
                <a:latin typeface="黑体" panose="02010609060101010101" charset="-122"/>
                <a:cs typeface="黑体" panose="02010609060101010101" charset="-122"/>
              </a:rPr>
              <a:t>:</a:t>
            </a:r>
            <a:r>
              <a:rPr lang="zh-CN" altLang="en-US" dirty="0">
                <a:solidFill>
                  <a:srgbClr val="C00000"/>
                </a:solidFill>
                <a:latin typeface="黑体" panose="02010609060101010101" charset="-122"/>
                <a:cs typeface="黑体" panose="02010609060101010101" charset="-122"/>
              </a:rPr>
              <a:t>目的并非写出所有场景</a:t>
            </a:r>
            <a:r>
              <a:rPr lang="zh-CN" altLang="en-US" dirty="0">
                <a:solidFill>
                  <a:srgbClr val="CE1C00"/>
                </a:solidFill>
                <a:latin typeface="黑体" panose="02010609060101010101" charset="-122"/>
                <a:cs typeface="黑体" panose="02010609060101010101" charset="-122"/>
              </a:rPr>
              <a:t>，</a:t>
            </a:r>
            <a:r>
              <a:rPr lang="zh-CN" altLang="en-US" dirty="0">
                <a:solidFill>
                  <a:srgbClr val="C00000"/>
                </a:solidFill>
                <a:latin typeface="黑体" panose="02010609060101010101" charset="-122"/>
                <a:cs typeface="黑体" panose="02010609060101010101" charset="-122"/>
              </a:rPr>
              <a:t>而是对类和职责定义进行精化</a:t>
            </a:r>
            <a:r>
              <a:rPr lang="en-US" altLang="zh-CN" dirty="0">
                <a:solidFill>
                  <a:srgbClr val="CE1C00"/>
                </a:solidFill>
                <a:latin typeface="黑体" panose="02010609060101010101" charset="-122"/>
                <a:cs typeface="黑体" panose="02010609060101010101" charset="-122"/>
              </a:rPr>
              <a:t>…</a:t>
            </a:r>
            <a:endParaRPr lang="zh-CN" altLang="en-US" dirty="0">
              <a:latin typeface="黑体" panose="02010609060101010101" charset="-122"/>
              <a:cs typeface="黑体" panose="02010609060101010101" charset="-122"/>
            </a:endParaRPr>
          </a:p>
          <a:p>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sp>
        <p:nvSpPr>
          <p:cNvPr id="5" name="object 4"/>
          <p:cNvSpPr/>
          <p:nvPr/>
        </p:nvSpPr>
        <p:spPr>
          <a:xfrm>
            <a:off x="2858584" y="3331696"/>
            <a:ext cx="6474831" cy="2845267"/>
          </a:xfrm>
          <a:prstGeom prst="rect">
            <a:avLst/>
          </a:prstGeom>
          <a:blipFill>
            <a:blip r:embed="rId1" cstate="print"/>
            <a:stretch>
              <a:fillRect/>
            </a:stretch>
          </a:blipFill>
        </p:spPr>
        <p:txBody>
          <a:bodyPr wrap="square" lIns="0" tIns="0" rIns="0" bIns="0" rtlCol="0"/>
          <a:lstStyle/>
          <a:p/>
        </p:txBody>
      </p:sp>
    </p:spTree>
  </p:cSld>
  <p:clrMapOvr>
    <a:masterClrMapping/>
  </p:clrMapOvr>
  <mc:AlternateContent xmlns:mc="http://schemas.openxmlformats.org/markup-compatibility/2006">
    <mc:Choice xmlns:p14="http://schemas.microsoft.com/office/powerpoint/2010/main" Requires="p14">
      <p:transition spd="slow" p14:dur="2000" advTm="36303"/>
    </mc:Choice>
    <mc:Fallback>
      <p:transition spd="slow" advTm="36303"/>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8" y="268191"/>
            <a:ext cx="2521497" cy="689932"/>
          </a:xfrm>
          <a:prstGeom prst="rect">
            <a:avLst/>
          </a:prstGeom>
        </p:spPr>
        <p:txBody>
          <a:bodyPr vert="horz" wrap="square" lIns="0" tIns="12700" rIns="0" bIns="0" rtlCol="0">
            <a:spAutoFit/>
          </a:bodyPr>
          <a:lstStyle/>
          <a:p>
            <a:pPr marL="12700">
              <a:lnSpc>
                <a:spcPct val="100000"/>
              </a:lnSpc>
              <a:spcBef>
                <a:spcPts val="100"/>
              </a:spcBef>
            </a:pPr>
            <a:r>
              <a:rPr sz="4400" dirty="0">
                <a:latin typeface="微软雅黑" panose="020B0503020204020204" pitchFamily="34" charset="-122"/>
                <a:ea typeface="微软雅黑" panose="020B0503020204020204" pitchFamily="34" charset="-122"/>
                <a:cs typeface="+mj-cs"/>
              </a:rPr>
              <a:t>情景举例</a:t>
            </a:r>
            <a:endParaRPr sz="4400" dirty="0">
              <a:latin typeface="微软雅黑" panose="020B0503020204020204" pitchFamily="34" charset="-122"/>
              <a:ea typeface="微软雅黑" panose="020B0503020204020204" pitchFamily="34" charset="-122"/>
              <a:cs typeface="+mj-cs"/>
            </a:endParaRPr>
          </a:p>
        </p:txBody>
      </p:sp>
      <p:sp>
        <p:nvSpPr>
          <p:cNvPr id="3" name="object 3"/>
          <p:cNvSpPr/>
          <p:nvPr/>
        </p:nvSpPr>
        <p:spPr>
          <a:xfrm>
            <a:off x="4105657" y="1104073"/>
            <a:ext cx="1388397" cy="1868563"/>
          </a:xfrm>
          <a:prstGeom prst="rect">
            <a:avLst/>
          </a:prstGeom>
          <a:blipFill>
            <a:blip r:embed="rId1"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 name="object 4"/>
          <p:cNvSpPr txBox="1"/>
          <p:nvPr/>
        </p:nvSpPr>
        <p:spPr>
          <a:xfrm>
            <a:off x="414099" y="1136556"/>
            <a:ext cx="1142508" cy="505267"/>
          </a:xfrm>
          <a:prstGeom prst="rect">
            <a:avLst/>
          </a:prstGeom>
        </p:spPr>
        <p:txBody>
          <a:bodyPr vert="horz" wrap="square" lIns="0" tIns="12700" rIns="0" bIns="0" rtlCol="0">
            <a:spAutoFit/>
          </a:bodyPr>
          <a:lstStyle/>
          <a:p>
            <a:pPr marL="12700">
              <a:lnSpc>
                <a:spcPct val="100000"/>
              </a:lnSpc>
              <a:spcBef>
                <a:spcPts val="100"/>
              </a:spcBef>
            </a:pPr>
            <a:r>
              <a:rPr sz="3200" dirty="0">
                <a:solidFill>
                  <a:srgbClr val="C00000"/>
                </a:solidFill>
                <a:latin typeface="微软雅黑" panose="020B0503020204020204" pitchFamily="34" charset="-122"/>
                <a:ea typeface="微软雅黑" panose="020B0503020204020204" pitchFamily="34" charset="-122"/>
                <a:cs typeface="黑体" panose="02010609060101010101" charset="-122"/>
              </a:rPr>
              <a:t>庄家</a:t>
            </a:r>
            <a:endParaRPr sz="3200" dirty="0">
              <a:solidFill>
                <a:srgbClr val="C00000"/>
              </a:solidFill>
              <a:latin typeface="微软雅黑" panose="020B0503020204020204" pitchFamily="34" charset="-122"/>
              <a:ea typeface="微软雅黑" panose="020B0503020204020204" pitchFamily="34" charset="-122"/>
              <a:cs typeface="黑体" panose="02010609060101010101" charset="-122"/>
            </a:endParaRPr>
          </a:p>
        </p:txBody>
      </p:sp>
      <p:sp>
        <p:nvSpPr>
          <p:cNvPr id="5" name="object 5"/>
          <p:cNvSpPr txBox="1"/>
          <p:nvPr/>
        </p:nvSpPr>
        <p:spPr>
          <a:xfrm>
            <a:off x="6390762" y="1136556"/>
            <a:ext cx="1388397" cy="505267"/>
          </a:xfrm>
          <a:prstGeom prst="rect">
            <a:avLst/>
          </a:prstGeom>
        </p:spPr>
        <p:txBody>
          <a:bodyPr vert="horz" wrap="square" lIns="0" tIns="12700" rIns="0" bIns="0" rtlCol="0">
            <a:spAutoFit/>
          </a:bodyPr>
          <a:lstStyle/>
          <a:p>
            <a:pPr marL="12700">
              <a:lnSpc>
                <a:spcPct val="100000"/>
              </a:lnSpc>
              <a:spcBef>
                <a:spcPts val="100"/>
              </a:spcBef>
            </a:pPr>
            <a:r>
              <a:rPr sz="3200" dirty="0">
                <a:solidFill>
                  <a:srgbClr val="C00000"/>
                </a:solidFill>
                <a:latin typeface="微软雅黑" panose="020B0503020204020204" pitchFamily="34" charset="-122"/>
                <a:ea typeface="微软雅黑" panose="020B0503020204020204" pitchFamily="34" charset="-122"/>
                <a:cs typeface="黑体" panose="02010609060101010101" charset="-122"/>
              </a:rPr>
              <a:t>玩家</a:t>
            </a:r>
            <a:endParaRPr sz="3200" dirty="0">
              <a:solidFill>
                <a:srgbClr val="C00000"/>
              </a:solidFill>
              <a:latin typeface="微软雅黑" panose="020B0503020204020204" pitchFamily="34" charset="-122"/>
              <a:ea typeface="微软雅黑" panose="020B0503020204020204" pitchFamily="34" charset="-122"/>
              <a:cs typeface="黑体" panose="02010609060101010101" charset="-122"/>
            </a:endParaRPr>
          </a:p>
        </p:txBody>
      </p:sp>
      <p:sp>
        <p:nvSpPr>
          <p:cNvPr id="6" name="object 6"/>
          <p:cNvSpPr txBox="1"/>
          <p:nvPr/>
        </p:nvSpPr>
        <p:spPr>
          <a:xfrm>
            <a:off x="918155" y="1784628"/>
            <a:ext cx="1270000" cy="330200"/>
          </a:xfrm>
          <a:prstGeom prst="rect">
            <a:avLst/>
          </a:prstGeom>
        </p:spPr>
        <p:txBody>
          <a:bodyPr vert="horz" wrap="square" lIns="0" tIns="12700" rIns="0" bIns="0" rtlCol="0">
            <a:spAutoFit/>
          </a:bodyPr>
          <a:lstStyle/>
          <a:p>
            <a:pPr marL="241300" indent="-228600">
              <a:lnSpc>
                <a:spcPct val="100000"/>
              </a:lnSpc>
              <a:spcBef>
                <a:spcPts val="100"/>
              </a:spcBef>
              <a:buFont typeface="Arial" panose="020B0604020202020204"/>
              <a:buChar char="•"/>
              <a:tabLst>
                <a:tab pos="240665" algn="l"/>
                <a:tab pos="241300" algn="l"/>
              </a:tabLst>
            </a:pPr>
            <a:r>
              <a:rPr sz="2000" dirty="0">
                <a:latin typeface="微软雅黑" panose="020B0503020204020204" pitchFamily="34" charset="-122"/>
                <a:ea typeface="微软雅黑" panose="020B0503020204020204" pitchFamily="34" charset="-122"/>
                <a:cs typeface="黑体" panose="02010609060101010101" charset="-122"/>
              </a:rPr>
              <a:t>庄家洗牌</a:t>
            </a:r>
            <a:endParaRPr sz="2000">
              <a:latin typeface="微软雅黑" panose="020B0503020204020204" pitchFamily="34" charset="-122"/>
              <a:ea typeface="微软雅黑" panose="020B0503020204020204" pitchFamily="34" charset="-122"/>
              <a:cs typeface="黑体" panose="02010609060101010101" charset="-122"/>
            </a:endParaRPr>
          </a:p>
        </p:txBody>
      </p:sp>
      <p:sp>
        <p:nvSpPr>
          <p:cNvPr id="7" name="object 7"/>
          <p:cNvSpPr txBox="1"/>
          <p:nvPr/>
        </p:nvSpPr>
        <p:spPr>
          <a:xfrm>
            <a:off x="918155" y="2267228"/>
            <a:ext cx="2032000" cy="825500"/>
          </a:xfrm>
          <a:prstGeom prst="rect">
            <a:avLst/>
          </a:prstGeom>
        </p:spPr>
        <p:txBody>
          <a:bodyPr vert="horz" wrap="square" lIns="0" tIns="12700" rIns="0" bIns="0" rtlCol="0">
            <a:spAutoFit/>
          </a:bodyPr>
          <a:lstStyle/>
          <a:p>
            <a:pPr marL="241300" indent="-228600">
              <a:lnSpc>
                <a:spcPct val="100000"/>
              </a:lnSpc>
              <a:spcBef>
                <a:spcPts val="100"/>
              </a:spcBef>
              <a:buFont typeface="Arial" panose="020B0604020202020204"/>
              <a:buChar char="•"/>
              <a:tabLst>
                <a:tab pos="240665" algn="l"/>
                <a:tab pos="241300" algn="l"/>
              </a:tabLst>
            </a:pPr>
            <a:r>
              <a:rPr sz="2000" dirty="0">
                <a:latin typeface="微软雅黑" panose="020B0503020204020204" pitchFamily="34" charset="-122"/>
                <a:ea typeface="微软雅黑" panose="020B0503020204020204" pitchFamily="34" charset="-122"/>
                <a:cs typeface="黑体" panose="02010609060101010101" charset="-122"/>
              </a:rPr>
              <a:t>庄家发第一张牌</a:t>
            </a:r>
            <a:endParaRPr sz="2000">
              <a:latin typeface="微软雅黑" panose="020B0503020204020204" pitchFamily="34" charset="-122"/>
              <a:ea typeface="微软雅黑" panose="020B0503020204020204" pitchFamily="34" charset="-122"/>
              <a:cs typeface="黑体" panose="02010609060101010101" charset="-122"/>
            </a:endParaRPr>
          </a:p>
          <a:p>
            <a:pPr marL="241300" indent="-228600">
              <a:lnSpc>
                <a:spcPct val="100000"/>
              </a:lnSpc>
              <a:spcBef>
                <a:spcPts val="1500"/>
              </a:spcBef>
              <a:buFont typeface="Arial" panose="020B0604020202020204"/>
              <a:buChar char="•"/>
              <a:tabLst>
                <a:tab pos="240665" algn="l"/>
                <a:tab pos="241300" algn="l"/>
              </a:tabLst>
            </a:pPr>
            <a:r>
              <a:rPr sz="2000" dirty="0">
                <a:latin typeface="微软雅黑" panose="020B0503020204020204" pitchFamily="34" charset="-122"/>
                <a:ea typeface="微软雅黑" panose="020B0503020204020204" pitchFamily="34" charset="-122"/>
                <a:cs typeface="黑体" panose="02010609060101010101" charset="-122"/>
              </a:rPr>
              <a:t>庄家给自己发牌</a:t>
            </a:r>
            <a:endParaRPr sz="2000">
              <a:latin typeface="微软雅黑" panose="020B0503020204020204" pitchFamily="34" charset="-122"/>
              <a:ea typeface="微软雅黑" panose="020B0503020204020204" pitchFamily="34" charset="-122"/>
              <a:cs typeface="黑体" panose="02010609060101010101" charset="-122"/>
            </a:endParaRPr>
          </a:p>
        </p:txBody>
      </p:sp>
      <p:sp>
        <p:nvSpPr>
          <p:cNvPr id="8" name="object 8"/>
          <p:cNvSpPr txBox="1"/>
          <p:nvPr/>
        </p:nvSpPr>
        <p:spPr>
          <a:xfrm>
            <a:off x="918155" y="3257828"/>
            <a:ext cx="2794000" cy="330200"/>
          </a:xfrm>
          <a:prstGeom prst="rect">
            <a:avLst/>
          </a:prstGeom>
        </p:spPr>
        <p:txBody>
          <a:bodyPr vert="horz" wrap="square" lIns="0" tIns="12700" rIns="0" bIns="0" rtlCol="0">
            <a:spAutoFit/>
          </a:bodyPr>
          <a:lstStyle/>
          <a:p>
            <a:pPr marL="241300" indent="-228600">
              <a:lnSpc>
                <a:spcPct val="100000"/>
              </a:lnSpc>
              <a:spcBef>
                <a:spcPts val="100"/>
              </a:spcBef>
              <a:buFont typeface="Arial" panose="020B0604020202020204"/>
              <a:buChar char="•"/>
              <a:tabLst>
                <a:tab pos="240665" algn="l"/>
                <a:tab pos="241300" algn="l"/>
              </a:tabLst>
            </a:pPr>
            <a:r>
              <a:rPr sz="2000" dirty="0">
                <a:latin typeface="微软雅黑" panose="020B0503020204020204" pitchFamily="34" charset="-122"/>
                <a:ea typeface="微软雅黑" panose="020B0503020204020204" pitchFamily="34" charset="-122"/>
                <a:cs typeface="黑体" panose="02010609060101010101" charset="-122"/>
              </a:rPr>
              <a:t>手牌返回庄家手牌点数</a:t>
            </a:r>
            <a:endParaRPr sz="2000">
              <a:latin typeface="微软雅黑" panose="020B0503020204020204" pitchFamily="34" charset="-122"/>
              <a:ea typeface="微软雅黑" panose="020B0503020204020204" pitchFamily="34" charset="-122"/>
              <a:cs typeface="黑体" panose="02010609060101010101" charset="-122"/>
            </a:endParaRPr>
          </a:p>
        </p:txBody>
      </p:sp>
      <p:sp>
        <p:nvSpPr>
          <p:cNvPr id="9" name="object 9"/>
          <p:cNvSpPr txBox="1"/>
          <p:nvPr/>
        </p:nvSpPr>
        <p:spPr>
          <a:xfrm>
            <a:off x="918155" y="3753128"/>
            <a:ext cx="2032000" cy="330200"/>
          </a:xfrm>
          <a:prstGeom prst="rect">
            <a:avLst/>
          </a:prstGeom>
        </p:spPr>
        <p:txBody>
          <a:bodyPr vert="horz" wrap="square" lIns="0" tIns="12700" rIns="0" bIns="0" rtlCol="0">
            <a:spAutoFit/>
          </a:bodyPr>
          <a:lstStyle/>
          <a:p>
            <a:pPr marL="241300" indent="-228600">
              <a:lnSpc>
                <a:spcPct val="100000"/>
              </a:lnSpc>
              <a:spcBef>
                <a:spcPts val="100"/>
              </a:spcBef>
              <a:buFont typeface="Arial" panose="020B0604020202020204"/>
              <a:buChar char="•"/>
              <a:tabLst>
                <a:tab pos="240665" algn="l"/>
                <a:tab pos="241300" algn="l"/>
              </a:tabLst>
            </a:pPr>
            <a:r>
              <a:rPr sz="2000" dirty="0">
                <a:latin typeface="微软雅黑" panose="020B0503020204020204" pitchFamily="34" charset="-122"/>
                <a:ea typeface="微软雅黑" panose="020B0503020204020204" pitchFamily="34" charset="-122"/>
                <a:cs typeface="黑体" panose="02010609060101010101" charset="-122"/>
              </a:rPr>
              <a:t>庄家发第二张牌</a:t>
            </a:r>
            <a:endParaRPr sz="2000">
              <a:latin typeface="微软雅黑" panose="020B0503020204020204" pitchFamily="34" charset="-122"/>
              <a:ea typeface="微软雅黑" panose="020B0503020204020204" pitchFamily="34" charset="-122"/>
              <a:cs typeface="黑体" panose="02010609060101010101" charset="-122"/>
            </a:endParaRPr>
          </a:p>
        </p:txBody>
      </p:sp>
      <p:sp>
        <p:nvSpPr>
          <p:cNvPr id="10" name="object 10"/>
          <p:cNvSpPr txBox="1"/>
          <p:nvPr/>
        </p:nvSpPr>
        <p:spPr>
          <a:xfrm>
            <a:off x="918155" y="4248428"/>
            <a:ext cx="3302000" cy="330200"/>
          </a:xfrm>
          <a:prstGeom prst="rect">
            <a:avLst/>
          </a:prstGeom>
        </p:spPr>
        <p:txBody>
          <a:bodyPr vert="horz" wrap="square" lIns="0" tIns="12700" rIns="0" bIns="0" rtlCol="0">
            <a:spAutoFit/>
          </a:bodyPr>
          <a:lstStyle/>
          <a:p>
            <a:pPr marL="241300" indent="-228600">
              <a:lnSpc>
                <a:spcPct val="100000"/>
              </a:lnSpc>
              <a:spcBef>
                <a:spcPts val="100"/>
              </a:spcBef>
              <a:buFont typeface="Arial" panose="020B0604020202020204"/>
              <a:buChar char="•"/>
              <a:tabLst>
                <a:tab pos="240665" algn="l"/>
                <a:tab pos="241300" algn="l"/>
              </a:tabLst>
            </a:pPr>
            <a:r>
              <a:rPr sz="2000" dirty="0">
                <a:latin typeface="微软雅黑" panose="020B0503020204020204" pitchFamily="34" charset="-122"/>
                <a:ea typeface="微软雅黑" panose="020B0503020204020204" pitchFamily="34" charset="-122"/>
                <a:cs typeface="黑体" panose="02010609060101010101" charset="-122"/>
              </a:rPr>
              <a:t>庄家询问玩家是否继续要牌</a:t>
            </a:r>
            <a:endParaRPr sz="2000">
              <a:latin typeface="微软雅黑" panose="020B0503020204020204" pitchFamily="34" charset="-122"/>
              <a:ea typeface="微软雅黑" panose="020B0503020204020204" pitchFamily="34" charset="-122"/>
              <a:cs typeface="黑体" panose="02010609060101010101" charset="-122"/>
            </a:endParaRPr>
          </a:p>
        </p:txBody>
      </p:sp>
      <p:sp>
        <p:nvSpPr>
          <p:cNvPr id="11" name="object 11"/>
          <p:cNvSpPr txBox="1"/>
          <p:nvPr/>
        </p:nvSpPr>
        <p:spPr>
          <a:xfrm>
            <a:off x="918155" y="4731028"/>
            <a:ext cx="2794000" cy="330200"/>
          </a:xfrm>
          <a:prstGeom prst="rect">
            <a:avLst/>
          </a:prstGeom>
        </p:spPr>
        <p:txBody>
          <a:bodyPr vert="horz" wrap="square" lIns="0" tIns="12700" rIns="0" bIns="0" rtlCol="0">
            <a:spAutoFit/>
          </a:bodyPr>
          <a:lstStyle/>
          <a:p>
            <a:pPr marL="241300" indent="-228600">
              <a:lnSpc>
                <a:spcPct val="100000"/>
              </a:lnSpc>
              <a:spcBef>
                <a:spcPts val="100"/>
              </a:spcBef>
              <a:buFont typeface="Arial" panose="020B0604020202020204"/>
              <a:buChar char="•"/>
              <a:tabLst>
                <a:tab pos="240665" algn="l"/>
                <a:tab pos="241300" algn="l"/>
              </a:tabLst>
            </a:pPr>
            <a:r>
              <a:rPr sz="2000" dirty="0">
                <a:latin typeface="微软雅黑" panose="020B0503020204020204" pitchFamily="34" charset="-122"/>
                <a:ea typeface="微软雅黑" panose="020B0503020204020204" pitchFamily="34" charset="-122"/>
                <a:cs typeface="黑体" panose="02010609060101010101" charset="-122"/>
              </a:rPr>
              <a:t>庄家询问玩家手牌点数</a:t>
            </a:r>
            <a:endParaRPr sz="2000">
              <a:latin typeface="微软雅黑" panose="020B0503020204020204" pitchFamily="34" charset="-122"/>
              <a:ea typeface="微软雅黑" panose="020B0503020204020204" pitchFamily="34" charset="-122"/>
              <a:cs typeface="黑体" panose="02010609060101010101" charset="-122"/>
            </a:endParaRPr>
          </a:p>
        </p:txBody>
      </p:sp>
      <p:sp>
        <p:nvSpPr>
          <p:cNvPr id="12" name="object 12"/>
          <p:cNvSpPr txBox="1"/>
          <p:nvPr/>
        </p:nvSpPr>
        <p:spPr>
          <a:xfrm>
            <a:off x="918155" y="5226328"/>
            <a:ext cx="1778000" cy="825500"/>
          </a:xfrm>
          <a:prstGeom prst="rect">
            <a:avLst/>
          </a:prstGeom>
        </p:spPr>
        <p:txBody>
          <a:bodyPr vert="horz" wrap="square" lIns="0" tIns="12700" rIns="0" bIns="0" rtlCol="0">
            <a:spAutoFit/>
          </a:bodyPr>
          <a:lstStyle/>
          <a:p>
            <a:pPr marL="241300" indent="-228600">
              <a:lnSpc>
                <a:spcPct val="100000"/>
              </a:lnSpc>
              <a:spcBef>
                <a:spcPts val="100"/>
              </a:spcBef>
              <a:buFont typeface="Arial" panose="020B0604020202020204"/>
              <a:buChar char="•"/>
              <a:tabLst>
                <a:tab pos="240665" algn="l"/>
                <a:tab pos="241300" algn="l"/>
              </a:tabLst>
            </a:pPr>
            <a:r>
              <a:rPr sz="2000" dirty="0">
                <a:latin typeface="微软雅黑" panose="020B0503020204020204" pitchFamily="34" charset="-122"/>
                <a:ea typeface="微软雅黑" panose="020B0503020204020204" pitchFamily="34" charset="-122"/>
                <a:cs typeface="黑体" panose="02010609060101010101" charset="-122"/>
              </a:rPr>
              <a:t>庄家亮牌</a:t>
            </a:r>
            <a:endParaRPr sz="2000">
              <a:latin typeface="微软雅黑" panose="020B0503020204020204" pitchFamily="34" charset="-122"/>
              <a:ea typeface="微软雅黑" panose="020B0503020204020204" pitchFamily="34" charset="-122"/>
              <a:cs typeface="黑体" panose="02010609060101010101" charset="-122"/>
            </a:endParaRPr>
          </a:p>
          <a:p>
            <a:pPr marL="241300" indent="-228600">
              <a:lnSpc>
                <a:spcPct val="100000"/>
              </a:lnSpc>
              <a:spcBef>
                <a:spcPts val="1500"/>
              </a:spcBef>
              <a:buFont typeface="Arial" panose="020B0604020202020204"/>
              <a:buChar char="•"/>
              <a:tabLst>
                <a:tab pos="240665" algn="l"/>
                <a:tab pos="241300" algn="l"/>
              </a:tabLst>
            </a:pPr>
            <a:r>
              <a:rPr sz="2000" dirty="0">
                <a:latin typeface="微软雅黑" panose="020B0503020204020204" pitchFamily="34" charset="-122"/>
                <a:ea typeface="微软雅黑" panose="020B0503020204020204" pitchFamily="34" charset="-122"/>
                <a:cs typeface="黑体" panose="02010609060101010101" charset="-122"/>
              </a:rPr>
              <a:t>庄家分配赌金</a:t>
            </a:r>
            <a:endParaRPr sz="2000">
              <a:latin typeface="微软雅黑" panose="020B0503020204020204" pitchFamily="34" charset="-122"/>
              <a:ea typeface="微软雅黑" panose="020B0503020204020204" pitchFamily="34" charset="-122"/>
              <a:cs typeface="黑体" panose="02010609060101010101" charset="-122"/>
            </a:endParaRPr>
          </a:p>
        </p:txBody>
      </p:sp>
      <p:sp>
        <p:nvSpPr>
          <p:cNvPr id="13" name="object 13"/>
          <p:cNvSpPr txBox="1"/>
          <p:nvPr/>
        </p:nvSpPr>
        <p:spPr>
          <a:xfrm>
            <a:off x="6269990" y="1873255"/>
            <a:ext cx="1327150" cy="330200"/>
          </a:xfrm>
          <a:prstGeom prst="rect">
            <a:avLst/>
          </a:prstGeom>
        </p:spPr>
        <p:txBody>
          <a:bodyPr vert="horz" wrap="square" lIns="0" tIns="12700" rIns="0" bIns="0" rtlCol="0">
            <a:spAutoFit/>
          </a:bodyPr>
          <a:lstStyle/>
          <a:p>
            <a:pPr marL="12700">
              <a:lnSpc>
                <a:spcPct val="100000"/>
              </a:lnSpc>
              <a:spcBef>
                <a:spcPts val="100"/>
              </a:spcBef>
            </a:pPr>
            <a:r>
              <a:rPr sz="1500" dirty="0">
                <a:latin typeface="微软雅黑" panose="020B0503020204020204" pitchFamily="34" charset="-122"/>
                <a:ea typeface="微软雅黑" panose="020B0503020204020204" pitchFamily="34" charset="-122"/>
                <a:cs typeface="Arial Unicode MS"/>
              </a:rPr>
              <a:t>➜</a:t>
            </a:r>
            <a:r>
              <a:rPr sz="1500" spc="360" dirty="0">
                <a:latin typeface="微软雅黑" panose="020B0503020204020204" pitchFamily="34" charset="-122"/>
                <a:ea typeface="微软雅黑" panose="020B0503020204020204" pitchFamily="34" charset="-122"/>
                <a:cs typeface="Arial Unicode MS"/>
              </a:rPr>
              <a:t> </a:t>
            </a:r>
            <a:r>
              <a:rPr sz="2000" b="1" spc="-10" dirty="0">
                <a:latin typeface="微软雅黑" panose="020B0503020204020204" pitchFamily="34" charset="-122"/>
                <a:ea typeface="微软雅黑" panose="020B0503020204020204" pitchFamily="34" charset="-122"/>
                <a:cs typeface="黑体" panose="02010609060101010101" charset="-122"/>
              </a:rPr>
              <a:t>玩家下注</a:t>
            </a:r>
            <a:endParaRPr sz="2000">
              <a:latin typeface="微软雅黑" panose="020B0503020204020204" pitchFamily="34" charset="-122"/>
              <a:ea typeface="微软雅黑" panose="020B0503020204020204" pitchFamily="34" charset="-122"/>
              <a:cs typeface="黑体" panose="02010609060101010101" charset="-122"/>
            </a:endParaRPr>
          </a:p>
        </p:txBody>
      </p:sp>
      <p:sp>
        <p:nvSpPr>
          <p:cNvPr id="14" name="object 14"/>
          <p:cNvSpPr txBox="1"/>
          <p:nvPr/>
        </p:nvSpPr>
        <p:spPr>
          <a:xfrm>
            <a:off x="6269990" y="2381255"/>
            <a:ext cx="2089150" cy="330200"/>
          </a:xfrm>
          <a:prstGeom prst="rect">
            <a:avLst/>
          </a:prstGeom>
        </p:spPr>
        <p:txBody>
          <a:bodyPr vert="horz" wrap="square" lIns="0" tIns="12700" rIns="0" bIns="0" rtlCol="0">
            <a:spAutoFit/>
          </a:bodyPr>
          <a:lstStyle/>
          <a:p>
            <a:pPr marL="12700">
              <a:lnSpc>
                <a:spcPct val="100000"/>
              </a:lnSpc>
              <a:spcBef>
                <a:spcPts val="100"/>
              </a:spcBef>
            </a:pPr>
            <a:r>
              <a:rPr sz="1500" dirty="0">
                <a:latin typeface="微软雅黑" panose="020B0503020204020204" pitchFamily="34" charset="-122"/>
                <a:ea typeface="微软雅黑" panose="020B0503020204020204" pitchFamily="34" charset="-122"/>
                <a:cs typeface="Arial Unicode MS"/>
              </a:rPr>
              <a:t>➜</a:t>
            </a:r>
            <a:r>
              <a:rPr sz="1500" spc="365" dirty="0">
                <a:latin typeface="微软雅黑" panose="020B0503020204020204" pitchFamily="34" charset="-122"/>
                <a:ea typeface="微软雅黑" panose="020B0503020204020204" pitchFamily="34" charset="-122"/>
                <a:cs typeface="Arial Unicode MS"/>
              </a:rPr>
              <a:t> </a:t>
            </a:r>
            <a:r>
              <a:rPr sz="2000" b="1" spc="-10" dirty="0">
                <a:latin typeface="微软雅黑" panose="020B0503020204020204" pitchFamily="34" charset="-122"/>
                <a:ea typeface="微软雅黑" panose="020B0503020204020204" pitchFamily="34" charset="-122"/>
                <a:cs typeface="黑体" panose="02010609060101010101" charset="-122"/>
              </a:rPr>
              <a:t>玩家拿牌到手里</a:t>
            </a:r>
            <a:endParaRPr sz="2000">
              <a:latin typeface="微软雅黑" panose="020B0503020204020204" pitchFamily="34" charset="-122"/>
              <a:ea typeface="微软雅黑" panose="020B0503020204020204" pitchFamily="34" charset="-122"/>
              <a:cs typeface="黑体" panose="02010609060101010101" charset="-122"/>
            </a:endParaRPr>
          </a:p>
        </p:txBody>
      </p:sp>
      <p:sp>
        <p:nvSpPr>
          <p:cNvPr id="15" name="object 15"/>
          <p:cNvSpPr txBox="1"/>
          <p:nvPr/>
        </p:nvSpPr>
        <p:spPr>
          <a:xfrm>
            <a:off x="6269990" y="2901955"/>
            <a:ext cx="2851150" cy="330200"/>
          </a:xfrm>
          <a:prstGeom prst="rect">
            <a:avLst/>
          </a:prstGeom>
        </p:spPr>
        <p:txBody>
          <a:bodyPr vert="horz" wrap="square" lIns="0" tIns="12700" rIns="0" bIns="0" rtlCol="0">
            <a:spAutoFit/>
          </a:bodyPr>
          <a:lstStyle/>
          <a:p>
            <a:pPr marL="12700">
              <a:lnSpc>
                <a:spcPct val="100000"/>
              </a:lnSpc>
              <a:spcBef>
                <a:spcPts val="100"/>
              </a:spcBef>
            </a:pPr>
            <a:r>
              <a:rPr sz="1500" dirty="0">
                <a:latin typeface="微软雅黑" panose="020B0503020204020204" pitchFamily="34" charset="-122"/>
                <a:ea typeface="微软雅黑" panose="020B0503020204020204" pitchFamily="34" charset="-122"/>
                <a:cs typeface="Arial Unicode MS"/>
              </a:rPr>
              <a:t>➜</a:t>
            </a:r>
            <a:r>
              <a:rPr sz="1500" spc="370" dirty="0">
                <a:latin typeface="微软雅黑" panose="020B0503020204020204" pitchFamily="34" charset="-122"/>
                <a:ea typeface="微软雅黑" panose="020B0503020204020204" pitchFamily="34" charset="-122"/>
                <a:cs typeface="Arial Unicode MS"/>
              </a:rPr>
              <a:t> </a:t>
            </a:r>
            <a:r>
              <a:rPr sz="2000" b="1" spc="-10" dirty="0">
                <a:latin typeface="微软雅黑" panose="020B0503020204020204" pitchFamily="34" charset="-122"/>
                <a:ea typeface="微软雅黑" panose="020B0503020204020204" pitchFamily="34" charset="-122"/>
                <a:cs typeface="黑体" panose="02010609060101010101" charset="-122"/>
              </a:rPr>
              <a:t>手牌返回玩家手牌点数</a:t>
            </a:r>
            <a:endParaRPr sz="2000">
              <a:latin typeface="微软雅黑" panose="020B0503020204020204" pitchFamily="34" charset="-122"/>
              <a:ea typeface="微软雅黑" panose="020B0503020204020204" pitchFamily="34" charset="-122"/>
              <a:cs typeface="黑体" panose="02010609060101010101" charset="-122"/>
            </a:endParaRPr>
          </a:p>
        </p:txBody>
      </p:sp>
      <p:sp>
        <p:nvSpPr>
          <p:cNvPr id="16" name="object 16"/>
          <p:cNvSpPr txBox="1"/>
          <p:nvPr/>
        </p:nvSpPr>
        <p:spPr>
          <a:xfrm>
            <a:off x="6269990" y="3422655"/>
            <a:ext cx="1835150" cy="330200"/>
          </a:xfrm>
          <a:prstGeom prst="rect">
            <a:avLst/>
          </a:prstGeom>
        </p:spPr>
        <p:txBody>
          <a:bodyPr vert="horz" wrap="square" lIns="0" tIns="12700" rIns="0" bIns="0" rtlCol="0">
            <a:spAutoFit/>
          </a:bodyPr>
          <a:lstStyle/>
          <a:p>
            <a:pPr marL="12700">
              <a:lnSpc>
                <a:spcPct val="100000"/>
              </a:lnSpc>
              <a:spcBef>
                <a:spcPts val="100"/>
              </a:spcBef>
            </a:pPr>
            <a:r>
              <a:rPr sz="1500" dirty="0">
                <a:latin typeface="微软雅黑" panose="020B0503020204020204" pitchFamily="34" charset="-122"/>
                <a:ea typeface="微软雅黑" panose="020B0503020204020204" pitchFamily="34" charset="-122"/>
                <a:cs typeface="Arial Unicode MS"/>
              </a:rPr>
              <a:t>➜</a:t>
            </a:r>
            <a:r>
              <a:rPr sz="1500" spc="360" dirty="0">
                <a:latin typeface="微软雅黑" panose="020B0503020204020204" pitchFamily="34" charset="-122"/>
                <a:ea typeface="微软雅黑" panose="020B0503020204020204" pitchFamily="34" charset="-122"/>
                <a:cs typeface="Arial Unicode MS"/>
              </a:rPr>
              <a:t> </a:t>
            </a:r>
            <a:r>
              <a:rPr sz="2000" b="1" spc="-10" dirty="0">
                <a:latin typeface="微软雅黑" panose="020B0503020204020204" pitchFamily="34" charset="-122"/>
                <a:ea typeface="微软雅黑" panose="020B0503020204020204" pitchFamily="34" charset="-122"/>
                <a:cs typeface="黑体" panose="02010609060101010101" charset="-122"/>
              </a:rPr>
              <a:t>玩家继续要牌</a:t>
            </a:r>
            <a:endParaRPr sz="2000" dirty="0">
              <a:latin typeface="微软雅黑" panose="020B0503020204020204" pitchFamily="34" charset="-122"/>
              <a:ea typeface="微软雅黑" panose="020B0503020204020204" pitchFamily="34" charset="-122"/>
              <a:cs typeface="黑体" panose="02010609060101010101" charset="-122"/>
            </a:endParaRPr>
          </a:p>
        </p:txBody>
      </p:sp>
      <p:sp>
        <p:nvSpPr>
          <p:cNvPr id="17" name="object 17"/>
          <p:cNvSpPr txBox="1"/>
          <p:nvPr/>
        </p:nvSpPr>
        <p:spPr>
          <a:xfrm>
            <a:off x="6269990" y="3943355"/>
            <a:ext cx="2089150" cy="330200"/>
          </a:xfrm>
          <a:prstGeom prst="rect">
            <a:avLst/>
          </a:prstGeom>
        </p:spPr>
        <p:txBody>
          <a:bodyPr vert="horz" wrap="square" lIns="0" tIns="12700" rIns="0" bIns="0" rtlCol="0">
            <a:spAutoFit/>
          </a:bodyPr>
          <a:lstStyle/>
          <a:p>
            <a:pPr marL="12700">
              <a:lnSpc>
                <a:spcPct val="100000"/>
              </a:lnSpc>
              <a:spcBef>
                <a:spcPts val="100"/>
              </a:spcBef>
            </a:pPr>
            <a:r>
              <a:rPr sz="1500" dirty="0">
                <a:latin typeface="微软雅黑" panose="020B0503020204020204" pitchFamily="34" charset="-122"/>
                <a:ea typeface="微软雅黑" panose="020B0503020204020204" pitchFamily="34" charset="-122"/>
                <a:cs typeface="Arial Unicode MS"/>
              </a:rPr>
              <a:t>➜</a:t>
            </a:r>
            <a:r>
              <a:rPr sz="1500" spc="365" dirty="0">
                <a:latin typeface="微软雅黑" panose="020B0503020204020204" pitchFamily="34" charset="-122"/>
                <a:ea typeface="微软雅黑" panose="020B0503020204020204" pitchFamily="34" charset="-122"/>
                <a:cs typeface="Arial Unicode MS"/>
              </a:rPr>
              <a:t> </a:t>
            </a:r>
            <a:r>
              <a:rPr sz="2000" b="1" spc="-10" dirty="0">
                <a:latin typeface="微软雅黑" panose="020B0503020204020204" pitchFamily="34" charset="-122"/>
                <a:ea typeface="微软雅黑" panose="020B0503020204020204" pitchFamily="34" charset="-122"/>
                <a:cs typeface="黑体" panose="02010609060101010101" charset="-122"/>
              </a:rPr>
              <a:t>玩家拿牌到手里</a:t>
            </a:r>
            <a:endParaRPr sz="2000">
              <a:latin typeface="微软雅黑" panose="020B0503020204020204" pitchFamily="34" charset="-122"/>
              <a:ea typeface="微软雅黑" panose="020B0503020204020204" pitchFamily="34" charset="-122"/>
              <a:cs typeface="黑体" panose="02010609060101010101" charset="-122"/>
            </a:endParaRPr>
          </a:p>
        </p:txBody>
      </p:sp>
      <p:sp>
        <p:nvSpPr>
          <p:cNvPr id="18" name="object 18"/>
          <p:cNvSpPr txBox="1"/>
          <p:nvPr/>
        </p:nvSpPr>
        <p:spPr>
          <a:xfrm>
            <a:off x="6269990" y="4464055"/>
            <a:ext cx="2851150" cy="330200"/>
          </a:xfrm>
          <a:prstGeom prst="rect">
            <a:avLst/>
          </a:prstGeom>
        </p:spPr>
        <p:txBody>
          <a:bodyPr vert="horz" wrap="square" lIns="0" tIns="12700" rIns="0" bIns="0" rtlCol="0">
            <a:spAutoFit/>
          </a:bodyPr>
          <a:lstStyle/>
          <a:p>
            <a:pPr marL="12700">
              <a:lnSpc>
                <a:spcPct val="100000"/>
              </a:lnSpc>
              <a:spcBef>
                <a:spcPts val="100"/>
              </a:spcBef>
            </a:pPr>
            <a:r>
              <a:rPr sz="1500" dirty="0">
                <a:latin typeface="微软雅黑" panose="020B0503020204020204" pitchFamily="34" charset="-122"/>
                <a:ea typeface="微软雅黑" panose="020B0503020204020204" pitchFamily="34" charset="-122"/>
                <a:cs typeface="Arial Unicode MS"/>
              </a:rPr>
              <a:t>➜</a:t>
            </a:r>
            <a:r>
              <a:rPr sz="1500" spc="370" dirty="0">
                <a:latin typeface="微软雅黑" panose="020B0503020204020204" pitchFamily="34" charset="-122"/>
                <a:ea typeface="微软雅黑" panose="020B0503020204020204" pitchFamily="34" charset="-122"/>
                <a:cs typeface="Arial Unicode MS"/>
              </a:rPr>
              <a:t> </a:t>
            </a:r>
            <a:r>
              <a:rPr sz="2000" b="1" spc="-10" dirty="0">
                <a:latin typeface="微软雅黑" panose="020B0503020204020204" pitchFamily="34" charset="-122"/>
                <a:ea typeface="微软雅黑" panose="020B0503020204020204" pitchFamily="34" charset="-122"/>
                <a:cs typeface="黑体" panose="02010609060101010101" charset="-122"/>
              </a:rPr>
              <a:t>手牌返回玩家手牌点数</a:t>
            </a:r>
            <a:endParaRPr sz="2000">
              <a:latin typeface="微软雅黑" panose="020B0503020204020204" pitchFamily="34" charset="-122"/>
              <a:ea typeface="微软雅黑" panose="020B0503020204020204" pitchFamily="34" charset="-122"/>
              <a:cs typeface="黑体" panose="02010609060101010101" charset="-122"/>
            </a:endParaRPr>
          </a:p>
        </p:txBody>
      </p:sp>
      <p:sp>
        <p:nvSpPr>
          <p:cNvPr id="19" name="object 19"/>
          <p:cNvSpPr txBox="1"/>
          <p:nvPr/>
        </p:nvSpPr>
        <p:spPr>
          <a:xfrm>
            <a:off x="6269990" y="4972055"/>
            <a:ext cx="2597150" cy="330200"/>
          </a:xfrm>
          <a:prstGeom prst="rect">
            <a:avLst/>
          </a:prstGeom>
        </p:spPr>
        <p:txBody>
          <a:bodyPr vert="horz" wrap="square" lIns="0" tIns="12700" rIns="0" bIns="0" rtlCol="0">
            <a:spAutoFit/>
          </a:bodyPr>
          <a:lstStyle/>
          <a:p>
            <a:pPr marL="12700">
              <a:lnSpc>
                <a:spcPct val="100000"/>
              </a:lnSpc>
              <a:spcBef>
                <a:spcPts val="100"/>
              </a:spcBef>
            </a:pPr>
            <a:r>
              <a:rPr sz="1500" dirty="0">
                <a:latin typeface="微软雅黑" panose="020B0503020204020204" pitchFamily="34" charset="-122"/>
                <a:ea typeface="微软雅黑" panose="020B0503020204020204" pitchFamily="34" charset="-122"/>
                <a:cs typeface="Arial Unicode MS"/>
              </a:rPr>
              <a:t>➜</a:t>
            </a:r>
            <a:r>
              <a:rPr sz="1500" spc="365" dirty="0">
                <a:latin typeface="微软雅黑" panose="020B0503020204020204" pitchFamily="34" charset="-122"/>
                <a:ea typeface="微软雅黑" panose="020B0503020204020204" pitchFamily="34" charset="-122"/>
                <a:cs typeface="Arial Unicode MS"/>
              </a:rPr>
              <a:t> </a:t>
            </a:r>
            <a:r>
              <a:rPr sz="2000" b="1" spc="-10" dirty="0">
                <a:latin typeface="微软雅黑" panose="020B0503020204020204" pitchFamily="34" charset="-122"/>
                <a:ea typeface="微软雅黑" panose="020B0503020204020204" pitchFamily="34" charset="-122"/>
                <a:cs typeface="黑体" panose="02010609060101010101" charset="-122"/>
              </a:rPr>
              <a:t>玩家增加或减少赌注</a:t>
            </a:r>
            <a:endParaRPr sz="2000">
              <a:latin typeface="微软雅黑" panose="020B0503020204020204" pitchFamily="34" charset="-122"/>
              <a:ea typeface="微软雅黑" panose="020B0503020204020204" pitchFamily="34" charset="-122"/>
              <a:cs typeface="黑体" panose="02010609060101010101" charset="-122"/>
            </a:endParaRPr>
          </a:p>
        </p:txBody>
      </p:sp>
      <p:sp>
        <p:nvSpPr>
          <p:cNvPr id="20" name="object 20"/>
          <p:cNvSpPr txBox="1"/>
          <p:nvPr/>
        </p:nvSpPr>
        <p:spPr>
          <a:xfrm>
            <a:off x="6269990" y="5492755"/>
            <a:ext cx="1327150" cy="330200"/>
          </a:xfrm>
          <a:prstGeom prst="rect">
            <a:avLst/>
          </a:prstGeom>
        </p:spPr>
        <p:txBody>
          <a:bodyPr vert="horz" wrap="square" lIns="0" tIns="12700" rIns="0" bIns="0" rtlCol="0">
            <a:spAutoFit/>
          </a:bodyPr>
          <a:lstStyle/>
          <a:p>
            <a:pPr marL="12700">
              <a:lnSpc>
                <a:spcPct val="100000"/>
              </a:lnSpc>
              <a:spcBef>
                <a:spcPts val="100"/>
              </a:spcBef>
            </a:pPr>
            <a:r>
              <a:rPr sz="1500" dirty="0">
                <a:latin typeface="微软雅黑" panose="020B0503020204020204" pitchFamily="34" charset="-122"/>
                <a:ea typeface="微软雅黑" panose="020B0503020204020204" pitchFamily="34" charset="-122"/>
                <a:cs typeface="Arial Unicode MS"/>
              </a:rPr>
              <a:t>➜</a:t>
            </a:r>
            <a:r>
              <a:rPr sz="1500" spc="360" dirty="0">
                <a:latin typeface="微软雅黑" panose="020B0503020204020204" pitchFamily="34" charset="-122"/>
                <a:ea typeface="微软雅黑" panose="020B0503020204020204" pitchFamily="34" charset="-122"/>
                <a:cs typeface="Arial Unicode MS"/>
              </a:rPr>
              <a:t> </a:t>
            </a:r>
            <a:r>
              <a:rPr sz="2000" b="1" spc="-10" dirty="0">
                <a:latin typeface="微软雅黑" panose="020B0503020204020204" pitchFamily="34" charset="-122"/>
                <a:ea typeface="微软雅黑" panose="020B0503020204020204" pitchFamily="34" charset="-122"/>
                <a:cs typeface="黑体" panose="02010609060101010101" charset="-122"/>
              </a:rPr>
              <a:t>玩家亮牌</a:t>
            </a:r>
            <a:endParaRPr sz="2000">
              <a:latin typeface="微软雅黑" panose="020B0503020204020204" pitchFamily="34" charset="-122"/>
              <a:ea typeface="微软雅黑" panose="020B0503020204020204" pitchFamily="34" charset="-122"/>
              <a:cs typeface="黑体" panose="02010609060101010101" charset="-122"/>
            </a:endParaRPr>
          </a:p>
        </p:txBody>
      </p:sp>
      <p:sp>
        <p:nvSpPr>
          <p:cNvPr id="21" name="object 21"/>
          <p:cNvSpPr/>
          <p:nvPr/>
        </p:nvSpPr>
        <p:spPr>
          <a:xfrm>
            <a:off x="9255848" y="1136556"/>
            <a:ext cx="2557603" cy="1662296"/>
          </a:xfrm>
          <a:prstGeom prst="rect">
            <a:avLst/>
          </a:prstGeom>
          <a:blipFill>
            <a:blip r:embed="rId2"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2" name="object 22"/>
          <p:cNvSpPr txBox="1"/>
          <p:nvPr/>
        </p:nvSpPr>
        <p:spPr>
          <a:xfrm>
            <a:off x="2646347" y="1661820"/>
            <a:ext cx="369570" cy="513080"/>
          </a:xfrm>
          <a:prstGeom prst="rect">
            <a:avLst/>
          </a:prstGeom>
        </p:spPr>
        <p:txBody>
          <a:bodyPr vert="horz" wrap="square" lIns="0" tIns="12700" rIns="0" bIns="0" rtlCol="0">
            <a:spAutoFit/>
          </a:bodyPr>
          <a:lstStyle/>
          <a:p>
            <a:pPr marL="12700">
              <a:lnSpc>
                <a:spcPct val="100000"/>
              </a:lnSpc>
              <a:spcBef>
                <a:spcPts val="100"/>
              </a:spcBef>
            </a:pPr>
            <a:r>
              <a:rPr sz="3200" dirty="0">
                <a:solidFill>
                  <a:srgbClr val="800000"/>
                </a:solidFill>
                <a:latin typeface="微软雅黑" panose="020B0503020204020204" pitchFamily="34" charset="-122"/>
                <a:ea typeface="微软雅黑" panose="020B0503020204020204" pitchFamily="34" charset="-122"/>
                <a:cs typeface="Arial Unicode MS"/>
              </a:rPr>
              <a:t>✔</a:t>
            </a:r>
            <a:endParaRPr sz="3200">
              <a:latin typeface="微软雅黑" panose="020B0503020204020204" pitchFamily="34" charset="-122"/>
              <a:ea typeface="微软雅黑" panose="020B0503020204020204" pitchFamily="34" charset="-122"/>
              <a:cs typeface="Arial Unicode MS"/>
            </a:endParaRPr>
          </a:p>
        </p:txBody>
      </p:sp>
      <p:sp>
        <p:nvSpPr>
          <p:cNvPr id="23" name="object 23"/>
          <p:cNvSpPr txBox="1"/>
          <p:nvPr/>
        </p:nvSpPr>
        <p:spPr>
          <a:xfrm>
            <a:off x="7974938" y="1589812"/>
            <a:ext cx="369570" cy="513080"/>
          </a:xfrm>
          <a:prstGeom prst="rect">
            <a:avLst/>
          </a:prstGeom>
        </p:spPr>
        <p:txBody>
          <a:bodyPr vert="horz" wrap="square" lIns="0" tIns="12700" rIns="0" bIns="0" rtlCol="0">
            <a:spAutoFit/>
          </a:bodyPr>
          <a:lstStyle/>
          <a:p>
            <a:pPr marL="12700">
              <a:lnSpc>
                <a:spcPct val="100000"/>
              </a:lnSpc>
              <a:spcBef>
                <a:spcPts val="100"/>
              </a:spcBef>
            </a:pPr>
            <a:r>
              <a:rPr sz="3200" dirty="0">
                <a:solidFill>
                  <a:srgbClr val="800000"/>
                </a:solidFill>
                <a:latin typeface="微软雅黑" panose="020B0503020204020204" pitchFamily="34" charset="-122"/>
                <a:ea typeface="微软雅黑" panose="020B0503020204020204" pitchFamily="34" charset="-122"/>
                <a:cs typeface="Arial Unicode MS"/>
              </a:rPr>
              <a:t>✔</a:t>
            </a:r>
            <a:endParaRPr sz="3200">
              <a:latin typeface="微软雅黑" panose="020B0503020204020204" pitchFamily="34" charset="-122"/>
              <a:ea typeface="微软雅黑" panose="020B0503020204020204" pitchFamily="34" charset="-122"/>
              <a:cs typeface="Arial Unicode MS"/>
            </a:endParaRPr>
          </a:p>
        </p:txBody>
      </p:sp>
      <p:sp>
        <p:nvSpPr>
          <p:cNvPr id="24" name="object 24"/>
          <p:cNvSpPr txBox="1"/>
          <p:nvPr/>
        </p:nvSpPr>
        <p:spPr>
          <a:xfrm>
            <a:off x="3222411" y="2165877"/>
            <a:ext cx="369570" cy="513080"/>
          </a:xfrm>
          <a:prstGeom prst="rect">
            <a:avLst/>
          </a:prstGeom>
        </p:spPr>
        <p:txBody>
          <a:bodyPr vert="horz" wrap="square" lIns="0" tIns="12700" rIns="0" bIns="0" rtlCol="0">
            <a:spAutoFit/>
          </a:bodyPr>
          <a:lstStyle/>
          <a:p>
            <a:pPr marL="12700">
              <a:lnSpc>
                <a:spcPct val="100000"/>
              </a:lnSpc>
              <a:spcBef>
                <a:spcPts val="100"/>
              </a:spcBef>
            </a:pPr>
            <a:r>
              <a:rPr sz="3200" dirty="0">
                <a:solidFill>
                  <a:srgbClr val="800000"/>
                </a:solidFill>
                <a:latin typeface="微软雅黑" panose="020B0503020204020204" pitchFamily="34" charset="-122"/>
                <a:ea typeface="微软雅黑" panose="020B0503020204020204" pitchFamily="34" charset="-122"/>
                <a:cs typeface="Arial Unicode MS"/>
              </a:rPr>
              <a:t>✔</a:t>
            </a:r>
            <a:endParaRPr sz="3200">
              <a:latin typeface="微软雅黑" panose="020B0503020204020204" pitchFamily="34" charset="-122"/>
              <a:ea typeface="微软雅黑" panose="020B0503020204020204" pitchFamily="34" charset="-122"/>
              <a:cs typeface="Arial Unicode MS"/>
            </a:endParaRPr>
          </a:p>
        </p:txBody>
      </p:sp>
      <p:sp>
        <p:nvSpPr>
          <p:cNvPr id="25" name="object 25"/>
          <p:cNvSpPr txBox="1"/>
          <p:nvPr/>
        </p:nvSpPr>
        <p:spPr>
          <a:xfrm>
            <a:off x="8623010" y="2237884"/>
            <a:ext cx="369570" cy="513080"/>
          </a:xfrm>
          <a:prstGeom prst="rect">
            <a:avLst/>
          </a:prstGeom>
        </p:spPr>
        <p:txBody>
          <a:bodyPr vert="horz" wrap="square" lIns="0" tIns="12700" rIns="0" bIns="0" rtlCol="0">
            <a:spAutoFit/>
          </a:bodyPr>
          <a:lstStyle/>
          <a:p>
            <a:pPr marL="12700">
              <a:lnSpc>
                <a:spcPct val="100000"/>
              </a:lnSpc>
              <a:spcBef>
                <a:spcPts val="100"/>
              </a:spcBef>
            </a:pPr>
            <a:r>
              <a:rPr sz="3200" dirty="0">
                <a:solidFill>
                  <a:srgbClr val="800000"/>
                </a:solidFill>
                <a:latin typeface="微软雅黑" panose="020B0503020204020204" pitchFamily="34" charset="-122"/>
                <a:ea typeface="微软雅黑" panose="020B0503020204020204" pitchFamily="34" charset="-122"/>
                <a:cs typeface="Arial Unicode MS"/>
              </a:rPr>
              <a:t>✔</a:t>
            </a:r>
            <a:endParaRPr sz="3200">
              <a:latin typeface="微软雅黑" panose="020B0503020204020204" pitchFamily="34" charset="-122"/>
              <a:ea typeface="微软雅黑" panose="020B0503020204020204" pitchFamily="34" charset="-122"/>
              <a:cs typeface="Arial Unicode MS"/>
            </a:endParaRPr>
          </a:p>
        </p:txBody>
      </p:sp>
      <p:sp>
        <p:nvSpPr>
          <p:cNvPr id="26" name="object 26"/>
          <p:cNvSpPr txBox="1"/>
          <p:nvPr/>
        </p:nvSpPr>
        <p:spPr>
          <a:xfrm>
            <a:off x="9415098" y="2741939"/>
            <a:ext cx="369570" cy="513080"/>
          </a:xfrm>
          <a:prstGeom prst="rect">
            <a:avLst/>
          </a:prstGeom>
        </p:spPr>
        <p:txBody>
          <a:bodyPr vert="horz" wrap="square" lIns="0" tIns="12700" rIns="0" bIns="0" rtlCol="0">
            <a:spAutoFit/>
          </a:bodyPr>
          <a:lstStyle/>
          <a:p>
            <a:pPr marL="12700">
              <a:lnSpc>
                <a:spcPct val="100000"/>
              </a:lnSpc>
              <a:spcBef>
                <a:spcPts val="100"/>
              </a:spcBef>
            </a:pPr>
            <a:r>
              <a:rPr sz="3200" dirty="0">
                <a:solidFill>
                  <a:srgbClr val="800000"/>
                </a:solidFill>
                <a:latin typeface="微软雅黑" panose="020B0503020204020204" pitchFamily="34" charset="-122"/>
                <a:ea typeface="微软雅黑" panose="020B0503020204020204" pitchFamily="34" charset="-122"/>
                <a:cs typeface="Arial Unicode MS"/>
              </a:rPr>
              <a:t>✔</a:t>
            </a:r>
            <a:endParaRPr sz="3200">
              <a:latin typeface="微软雅黑" panose="020B0503020204020204" pitchFamily="34" charset="-122"/>
              <a:ea typeface="微软雅黑" panose="020B0503020204020204" pitchFamily="34" charset="-122"/>
              <a:cs typeface="Arial Unicode MS"/>
            </a:endParaRPr>
          </a:p>
        </p:txBody>
      </p:sp>
      <p:sp>
        <p:nvSpPr>
          <p:cNvPr id="27" name="object 27"/>
          <p:cNvSpPr txBox="1"/>
          <p:nvPr/>
        </p:nvSpPr>
        <p:spPr>
          <a:xfrm>
            <a:off x="3582451" y="2669932"/>
            <a:ext cx="369570" cy="513080"/>
          </a:xfrm>
          <a:prstGeom prst="rect">
            <a:avLst/>
          </a:prstGeom>
        </p:spPr>
        <p:txBody>
          <a:bodyPr vert="horz" wrap="square" lIns="0" tIns="12700" rIns="0" bIns="0" rtlCol="0">
            <a:spAutoFit/>
          </a:bodyPr>
          <a:lstStyle/>
          <a:p>
            <a:pPr marL="12700">
              <a:lnSpc>
                <a:spcPct val="100000"/>
              </a:lnSpc>
              <a:spcBef>
                <a:spcPts val="100"/>
              </a:spcBef>
            </a:pPr>
            <a:r>
              <a:rPr sz="3200" dirty="0">
                <a:solidFill>
                  <a:srgbClr val="800000"/>
                </a:solidFill>
                <a:latin typeface="微软雅黑" panose="020B0503020204020204" pitchFamily="34" charset="-122"/>
                <a:ea typeface="微软雅黑" panose="020B0503020204020204" pitchFamily="34" charset="-122"/>
                <a:cs typeface="Arial Unicode MS"/>
              </a:rPr>
              <a:t>✔</a:t>
            </a:r>
            <a:endParaRPr sz="3200">
              <a:latin typeface="微软雅黑" panose="020B0503020204020204" pitchFamily="34" charset="-122"/>
              <a:ea typeface="微软雅黑" panose="020B0503020204020204" pitchFamily="34" charset="-122"/>
              <a:cs typeface="Arial Unicode MS"/>
            </a:endParaRPr>
          </a:p>
        </p:txBody>
      </p:sp>
      <p:sp>
        <p:nvSpPr>
          <p:cNvPr id="28" name="object 28"/>
          <p:cNvSpPr txBox="1"/>
          <p:nvPr/>
        </p:nvSpPr>
        <p:spPr>
          <a:xfrm>
            <a:off x="3870483" y="3245995"/>
            <a:ext cx="369570" cy="513080"/>
          </a:xfrm>
          <a:prstGeom prst="rect">
            <a:avLst/>
          </a:prstGeom>
        </p:spPr>
        <p:txBody>
          <a:bodyPr vert="horz" wrap="square" lIns="0" tIns="12700" rIns="0" bIns="0" rtlCol="0">
            <a:spAutoFit/>
          </a:bodyPr>
          <a:lstStyle/>
          <a:p>
            <a:pPr marL="12700">
              <a:lnSpc>
                <a:spcPct val="100000"/>
              </a:lnSpc>
              <a:spcBef>
                <a:spcPts val="100"/>
              </a:spcBef>
            </a:pPr>
            <a:r>
              <a:rPr sz="3200" dirty="0">
                <a:solidFill>
                  <a:srgbClr val="800000"/>
                </a:solidFill>
                <a:latin typeface="微软雅黑" panose="020B0503020204020204" pitchFamily="34" charset="-122"/>
                <a:ea typeface="微软雅黑" panose="020B0503020204020204" pitchFamily="34" charset="-122"/>
                <a:cs typeface="Arial Unicode MS"/>
              </a:rPr>
              <a:t>✔</a:t>
            </a:r>
            <a:endParaRPr sz="3200">
              <a:latin typeface="微软雅黑" panose="020B0503020204020204" pitchFamily="34" charset="-122"/>
              <a:ea typeface="微软雅黑" panose="020B0503020204020204" pitchFamily="34" charset="-122"/>
              <a:cs typeface="Arial Unicode MS"/>
            </a:endParaRPr>
          </a:p>
        </p:txBody>
      </p:sp>
      <p:sp>
        <p:nvSpPr>
          <p:cNvPr id="29" name="object 29"/>
          <p:cNvSpPr txBox="1"/>
          <p:nvPr/>
        </p:nvSpPr>
        <p:spPr>
          <a:xfrm>
            <a:off x="3150403" y="3678044"/>
            <a:ext cx="369570" cy="513080"/>
          </a:xfrm>
          <a:prstGeom prst="rect">
            <a:avLst/>
          </a:prstGeom>
        </p:spPr>
        <p:txBody>
          <a:bodyPr vert="horz" wrap="square" lIns="0" tIns="12700" rIns="0" bIns="0" rtlCol="0">
            <a:spAutoFit/>
          </a:bodyPr>
          <a:lstStyle/>
          <a:p>
            <a:pPr marL="12700">
              <a:lnSpc>
                <a:spcPct val="100000"/>
              </a:lnSpc>
              <a:spcBef>
                <a:spcPts val="100"/>
              </a:spcBef>
            </a:pPr>
            <a:r>
              <a:rPr sz="3200" dirty="0">
                <a:solidFill>
                  <a:srgbClr val="800000"/>
                </a:solidFill>
                <a:latin typeface="微软雅黑" panose="020B0503020204020204" pitchFamily="34" charset="-122"/>
                <a:ea typeface="微软雅黑" panose="020B0503020204020204" pitchFamily="34" charset="-122"/>
                <a:cs typeface="Arial Unicode MS"/>
              </a:rPr>
              <a:t>✔</a:t>
            </a:r>
            <a:endParaRPr sz="3200">
              <a:latin typeface="微软雅黑" panose="020B0503020204020204" pitchFamily="34" charset="-122"/>
              <a:ea typeface="微软雅黑" panose="020B0503020204020204" pitchFamily="34" charset="-122"/>
              <a:cs typeface="Arial Unicode MS"/>
            </a:endParaRPr>
          </a:p>
        </p:txBody>
      </p:sp>
      <p:sp>
        <p:nvSpPr>
          <p:cNvPr id="30" name="object 30"/>
          <p:cNvSpPr txBox="1"/>
          <p:nvPr/>
        </p:nvSpPr>
        <p:spPr>
          <a:xfrm>
            <a:off x="4446546" y="4182099"/>
            <a:ext cx="369570" cy="513080"/>
          </a:xfrm>
          <a:prstGeom prst="rect">
            <a:avLst/>
          </a:prstGeom>
        </p:spPr>
        <p:txBody>
          <a:bodyPr vert="horz" wrap="square" lIns="0" tIns="12700" rIns="0" bIns="0" rtlCol="0">
            <a:spAutoFit/>
          </a:bodyPr>
          <a:lstStyle/>
          <a:p>
            <a:pPr marL="12700">
              <a:lnSpc>
                <a:spcPct val="100000"/>
              </a:lnSpc>
              <a:spcBef>
                <a:spcPts val="100"/>
              </a:spcBef>
            </a:pPr>
            <a:r>
              <a:rPr sz="3200" dirty="0">
                <a:solidFill>
                  <a:srgbClr val="800000"/>
                </a:solidFill>
                <a:latin typeface="微软雅黑" panose="020B0503020204020204" pitchFamily="34" charset="-122"/>
                <a:ea typeface="微软雅黑" panose="020B0503020204020204" pitchFamily="34" charset="-122"/>
                <a:cs typeface="Arial Unicode MS"/>
              </a:rPr>
              <a:t>✔</a:t>
            </a:r>
            <a:endParaRPr sz="3200">
              <a:latin typeface="微软雅黑" panose="020B0503020204020204" pitchFamily="34" charset="-122"/>
              <a:ea typeface="微软雅黑" panose="020B0503020204020204" pitchFamily="34" charset="-122"/>
              <a:cs typeface="Arial Unicode MS"/>
            </a:endParaRPr>
          </a:p>
        </p:txBody>
      </p:sp>
      <p:sp>
        <p:nvSpPr>
          <p:cNvPr id="31" name="object 31"/>
          <p:cNvSpPr txBox="1"/>
          <p:nvPr/>
        </p:nvSpPr>
        <p:spPr>
          <a:xfrm>
            <a:off x="8406987" y="3318004"/>
            <a:ext cx="657860" cy="1017269"/>
          </a:xfrm>
          <a:prstGeom prst="rect">
            <a:avLst/>
          </a:prstGeom>
        </p:spPr>
        <p:txBody>
          <a:bodyPr vert="horz" wrap="square" lIns="0" tIns="12700" rIns="0" bIns="0" rtlCol="0">
            <a:spAutoFit/>
          </a:bodyPr>
          <a:lstStyle/>
          <a:p>
            <a:pPr marL="12700">
              <a:lnSpc>
                <a:spcPct val="100000"/>
              </a:lnSpc>
              <a:spcBef>
                <a:spcPts val="100"/>
              </a:spcBef>
            </a:pPr>
            <a:r>
              <a:rPr sz="3200" dirty="0">
                <a:solidFill>
                  <a:srgbClr val="800000"/>
                </a:solidFill>
                <a:latin typeface="微软雅黑" panose="020B0503020204020204" pitchFamily="34" charset="-122"/>
                <a:ea typeface="微软雅黑" panose="020B0503020204020204" pitchFamily="34" charset="-122"/>
                <a:cs typeface="Arial Unicode MS"/>
              </a:rPr>
              <a:t>✔</a:t>
            </a:r>
            <a:endParaRPr sz="3200">
              <a:latin typeface="微软雅黑" panose="020B0503020204020204" pitchFamily="34" charset="-122"/>
              <a:ea typeface="微软雅黑" panose="020B0503020204020204" pitchFamily="34" charset="-122"/>
              <a:cs typeface="Arial Unicode MS"/>
            </a:endParaRPr>
          </a:p>
          <a:p>
            <a:pPr marL="300355">
              <a:lnSpc>
                <a:spcPct val="100000"/>
              </a:lnSpc>
              <a:spcBef>
                <a:spcPts val="125"/>
              </a:spcBef>
            </a:pPr>
            <a:r>
              <a:rPr sz="3200" dirty="0">
                <a:solidFill>
                  <a:srgbClr val="800000"/>
                </a:solidFill>
                <a:latin typeface="微软雅黑" panose="020B0503020204020204" pitchFamily="34" charset="-122"/>
                <a:ea typeface="微软雅黑" panose="020B0503020204020204" pitchFamily="34" charset="-122"/>
                <a:cs typeface="Arial Unicode MS"/>
              </a:rPr>
              <a:t>✔</a:t>
            </a:r>
            <a:endParaRPr sz="3200">
              <a:latin typeface="微软雅黑" panose="020B0503020204020204" pitchFamily="34" charset="-122"/>
              <a:ea typeface="微软雅黑" panose="020B0503020204020204" pitchFamily="34" charset="-122"/>
              <a:cs typeface="Arial Unicode MS"/>
            </a:endParaRPr>
          </a:p>
        </p:txBody>
      </p:sp>
      <p:sp>
        <p:nvSpPr>
          <p:cNvPr id="32" name="object 32"/>
          <p:cNvSpPr txBox="1"/>
          <p:nvPr/>
        </p:nvSpPr>
        <p:spPr>
          <a:xfrm>
            <a:off x="9415098" y="4398124"/>
            <a:ext cx="369570" cy="513080"/>
          </a:xfrm>
          <a:prstGeom prst="rect">
            <a:avLst/>
          </a:prstGeom>
        </p:spPr>
        <p:txBody>
          <a:bodyPr vert="horz" wrap="square" lIns="0" tIns="12700" rIns="0" bIns="0" rtlCol="0">
            <a:spAutoFit/>
          </a:bodyPr>
          <a:lstStyle/>
          <a:p>
            <a:pPr marL="12700">
              <a:lnSpc>
                <a:spcPct val="100000"/>
              </a:lnSpc>
              <a:spcBef>
                <a:spcPts val="100"/>
              </a:spcBef>
            </a:pPr>
            <a:r>
              <a:rPr sz="3200" dirty="0">
                <a:solidFill>
                  <a:srgbClr val="800000"/>
                </a:solidFill>
                <a:latin typeface="微软雅黑" panose="020B0503020204020204" pitchFamily="34" charset="-122"/>
                <a:ea typeface="微软雅黑" panose="020B0503020204020204" pitchFamily="34" charset="-122"/>
                <a:cs typeface="Arial Unicode MS"/>
              </a:rPr>
              <a:t>✔</a:t>
            </a:r>
            <a:endParaRPr sz="3200">
              <a:latin typeface="微软雅黑" panose="020B0503020204020204" pitchFamily="34" charset="-122"/>
              <a:ea typeface="微软雅黑" panose="020B0503020204020204" pitchFamily="34" charset="-122"/>
              <a:cs typeface="Arial Unicode MS"/>
            </a:endParaRPr>
          </a:p>
        </p:txBody>
      </p:sp>
      <p:sp>
        <p:nvSpPr>
          <p:cNvPr id="33" name="object 33"/>
          <p:cNvSpPr txBox="1"/>
          <p:nvPr/>
        </p:nvSpPr>
        <p:spPr>
          <a:xfrm>
            <a:off x="9055059" y="4974188"/>
            <a:ext cx="369570" cy="513080"/>
          </a:xfrm>
          <a:prstGeom prst="rect">
            <a:avLst/>
          </a:prstGeom>
        </p:spPr>
        <p:txBody>
          <a:bodyPr vert="horz" wrap="square" lIns="0" tIns="12700" rIns="0" bIns="0" rtlCol="0">
            <a:spAutoFit/>
          </a:bodyPr>
          <a:lstStyle/>
          <a:p>
            <a:pPr marL="12700">
              <a:lnSpc>
                <a:spcPct val="100000"/>
              </a:lnSpc>
              <a:spcBef>
                <a:spcPts val="100"/>
              </a:spcBef>
            </a:pPr>
            <a:r>
              <a:rPr sz="3200" dirty="0">
                <a:solidFill>
                  <a:srgbClr val="800000"/>
                </a:solidFill>
                <a:latin typeface="微软雅黑" panose="020B0503020204020204" pitchFamily="34" charset="-122"/>
                <a:ea typeface="微软雅黑" panose="020B0503020204020204" pitchFamily="34" charset="-122"/>
                <a:cs typeface="Arial Unicode MS"/>
              </a:rPr>
              <a:t>✔</a:t>
            </a:r>
            <a:endParaRPr sz="3200">
              <a:latin typeface="微软雅黑" panose="020B0503020204020204" pitchFamily="34" charset="-122"/>
              <a:ea typeface="微软雅黑" panose="020B0503020204020204" pitchFamily="34" charset="-122"/>
              <a:cs typeface="Arial Unicode MS"/>
            </a:endParaRPr>
          </a:p>
        </p:txBody>
      </p:sp>
      <p:sp>
        <p:nvSpPr>
          <p:cNvPr id="34" name="object 34"/>
          <p:cNvSpPr txBox="1"/>
          <p:nvPr/>
        </p:nvSpPr>
        <p:spPr>
          <a:xfrm>
            <a:off x="3942491" y="4758164"/>
            <a:ext cx="369570" cy="513080"/>
          </a:xfrm>
          <a:prstGeom prst="rect">
            <a:avLst/>
          </a:prstGeom>
        </p:spPr>
        <p:txBody>
          <a:bodyPr vert="horz" wrap="square" lIns="0" tIns="12700" rIns="0" bIns="0" rtlCol="0">
            <a:spAutoFit/>
          </a:bodyPr>
          <a:lstStyle/>
          <a:p>
            <a:pPr marL="12700">
              <a:lnSpc>
                <a:spcPct val="100000"/>
              </a:lnSpc>
              <a:spcBef>
                <a:spcPts val="100"/>
              </a:spcBef>
            </a:pPr>
            <a:r>
              <a:rPr sz="3200" dirty="0">
                <a:solidFill>
                  <a:srgbClr val="800000"/>
                </a:solidFill>
                <a:latin typeface="微软雅黑" panose="020B0503020204020204" pitchFamily="34" charset="-122"/>
                <a:ea typeface="微软雅黑" panose="020B0503020204020204" pitchFamily="34" charset="-122"/>
                <a:cs typeface="Arial Unicode MS"/>
              </a:rPr>
              <a:t>✔</a:t>
            </a:r>
            <a:endParaRPr sz="3200">
              <a:latin typeface="微软雅黑" panose="020B0503020204020204" pitchFamily="34" charset="-122"/>
              <a:ea typeface="微软雅黑" panose="020B0503020204020204" pitchFamily="34" charset="-122"/>
              <a:cs typeface="Arial Unicode MS"/>
            </a:endParaRPr>
          </a:p>
        </p:txBody>
      </p:sp>
      <p:sp>
        <p:nvSpPr>
          <p:cNvPr id="35" name="object 35"/>
          <p:cNvSpPr txBox="1"/>
          <p:nvPr/>
        </p:nvSpPr>
        <p:spPr>
          <a:xfrm>
            <a:off x="3078396" y="5262219"/>
            <a:ext cx="369570" cy="513080"/>
          </a:xfrm>
          <a:prstGeom prst="rect">
            <a:avLst/>
          </a:prstGeom>
        </p:spPr>
        <p:txBody>
          <a:bodyPr vert="horz" wrap="square" lIns="0" tIns="12700" rIns="0" bIns="0" rtlCol="0">
            <a:spAutoFit/>
          </a:bodyPr>
          <a:lstStyle/>
          <a:p>
            <a:pPr marL="12700">
              <a:lnSpc>
                <a:spcPct val="100000"/>
              </a:lnSpc>
              <a:spcBef>
                <a:spcPts val="100"/>
              </a:spcBef>
            </a:pPr>
            <a:r>
              <a:rPr sz="3200" dirty="0">
                <a:solidFill>
                  <a:srgbClr val="800000"/>
                </a:solidFill>
                <a:latin typeface="微软雅黑" panose="020B0503020204020204" pitchFamily="34" charset="-122"/>
                <a:ea typeface="微软雅黑" panose="020B0503020204020204" pitchFamily="34" charset="-122"/>
                <a:cs typeface="Arial Unicode MS"/>
              </a:rPr>
              <a:t>✔</a:t>
            </a:r>
            <a:endParaRPr sz="3200">
              <a:latin typeface="微软雅黑" panose="020B0503020204020204" pitchFamily="34" charset="-122"/>
              <a:ea typeface="微软雅黑" panose="020B0503020204020204" pitchFamily="34" charset="-122"/>
              <a:cs typeface="Arial Unicode MS"/>
            </a:endParaRPr>
          </a:p>
        </p:txBody>
      </p:sp>
      <p:sp>
        <p:nvSpPr>
          <p:cNvPr id="36" name="object 36"/>
          <p:cNvSpPr txBox="1"/>
          <p:nvPr/>
        </p:nvSpPr>
        <p:spPr>
          <a:xfrm>
            <a:off x="7902930" y="5406236"/>
            <a:ext cx="369570" cy="513080"/>
          </a:xfrm>
          <a:prstGeom prst="rect">
            <a:avLst/>
          </a:prstGeom>
        </p:spPr>
        <p:txBody>
          <a:bodyPr vert="horz" wrap="square" lIns="0" tIns="12700" rIns="0" bIns="0" rtlCol="0">
            <a:spAutoFit/>
          </a:bodyPr>
          <a:lstStyle/>
          <a:p>
            <a:pPr marL="12700">
              <a:lnSpc>
                <a:spcPct val="100000"/>
              </a:lnSpc>
              <a:spcBef>
                <a:spcPts val="100"/>
              </a:spcBef>
            </a:pPr>
            <a:r>
              <a:rPr sz="3200" dirty="0">
                <a:solidFill>
                  <a:srgbClr val="800000"/>
                </a:solidFill>
                <a:latin typeface="微软雅黑" panose="020B0503020204020204" pitchFamily="34" charset="-122"/>
                <a:ea typeface="微软雅黑" panose="020B0503020204020204" pitchFamily="34" charset="-122"/>
                <a:cs typeface="Arial Unicode MS"/>
              </a:rPr>
              <a:t>✔</a:t>
            </a:r>
            <a:endParaRPr sz="3200">
              <a:latin typeface="微软雅黑" panose="020B0503020204020204" pitchFamily="34" charset="-122"/>
              <a:ea typeface="微软雅黑" panose="020B0503020204020204" pitchFamily="34" charset="-122"/>
              <a:cs typeface="Arial Unicode MS"/>
            </a:endParaRPr>
          </a:p>
        </p:txBody>
      </p:sp>
      <p:sp>
        <p:nvSpPr>
          <p:cNvPr id="37" name="object 37"/>
          <p:cNvSpPr txBox="1"/>
          <p:nvPr/>
        </p:nvSpPr>
        <p:spPr>
          <a:xfrm>
            <a:off x="3438436" y="5694267"/>
            <a:ext cx="369570" cy="513080"/>
          </a:xfrm>
          <a:prstGeom prst="rect">
            <a:avLst/>
          </a:prstGeom>
        </p:spPr>
        <p:txBody>
          <a:bodyPr vert="horz" wrap="square" lIns="0" tIns="12700" rIns="0" bIns="0" rtlCol="0">
            <a:spAutoFit/>
          </a:bodyPr>
          <a:lstStyle/>
          <a:p>
            <a:pPr marL="12700">
              <a:lnSpc>
                <a:spcPct val="100000"/>
              </a:lnSpc>
              <a:spcBef>
                <a:spcPts val="100"/>
              </a:spcBef>
            </a:pPr>
            <a:r>
              <a:rPr sz="3200" dirty="0">
                <a:solidFill>
                  <a:srgbClr val="800000"/>
                </a:solidFill>
                <a:latin typeface="微软雅黑" panose="020B0503020204020204" pitchFamily="34" charset="-122"/>
                <a:ea typeface="微软雅黑" panose="020B0503020204020204" pitchFamily="34" charset="-122"/>
                <a:cs typeface="Arial Unicode MS"/>
              </a:rPr>
              <a:t>✔</a:t>
            </a:r>
            <a:endParaRPr sz="3200">
              <a:latin typeface="微软雅黑" panose="020B0503020204020204" pitchFamily="34" charset="-122"/>
              <a:ea typeface="微软雅黑" panose="020B0503020204020204" pitchFamily="34" charset="-122"/>
              <a:cs typeface="Arial Unicode MS"/>
            </a:endParaRPr>
          </a:p>
        </p:txBody>
      </p:sp>
      <p:sp>
        <p:nvSpPr>
          <p:cNvPr id="39" name="灯片编号占位符 38"/>
          <p:cNvSpPr>
            <a:spLocks noGrp="1"/>
          </p:cNvSpPr>
          <p:nvPr>
            <p:ph type="sldNum" sz="quarter" idx="7"/>
          </p:nvPr>
        </p:nvSpPr>
        <p:spPr/>
        <p:txBody>
          <a:bodyPr/>
          <a:lstStyle/>
          <a:p>
            <a:fld id="{B6F15528-21DE-4FAA-801E-634DDDAF4B2B}" type="slidenum">
              <a:rPr lang="en-US" altLang="zh-CN" smtClean="0"/>
            </a:fld>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2000" advTm="74921"/>
    </mc:Choice>
    <mc:Fallback>
      <p:transition spd="slow" advTm="74921"/>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6" name="组合 95"/>
          <p:cNvGrpSpPr/>
          <p:nvPr/>
        </p:nvGrpSpPr>
        <p:grpSpPr>
          <a:xfrm>
            <a:off x="513464" y="1380121"/>
            <a:ext cx="11165072" cy="5023318"/>
            <a:chOff x="476250" y="980728"/>
            <a:chExt cx="11165072" cy="5023318"/>
          </a:xfrm>
        </p:grpSpPr>
        <p:sp>
          <p:nvSpPr>
            <p:cNvPr id="61" name="object 61"/>
            <p:cNvSpPr/>
            <p:nvPr/>
          </p:nvSpPr>
          <p:spPr>
            <a:xfrm>
              <a:off x="7608165" y="980728"/>
              <a:ext cx="2520315" cy="558800"/>
            </a:xfrm>
            <a:custGeom>
              <a:avLst/>
              <a:gdLst/>
              <a:ahLst/>
              <a:cxnLst/>
              <a:rect l="l" t="t" r="r" b="b"/>
              <a:pathLst>
                <a:path w="2520315" h="558800">
                  <a:moveTo>
                    <a:pt x="2241080" y="0"/>
                  </a:moveTo>
                  <a:lnTo>
                    <a:pt x="2241080" y="139613"/>
                  </a:lnTo>
                  <a:lnTo>
                    <a:pt x="0" y="139613"/>
                  </a:lnTo>
                  <a:lnTo>
                    <a:pt x="0" y="418840"/>
                  </a:lnTo>
                  <a:lnTo>
                    <a:pt x="2241080" y="418840"/>
                  </a:lnTo>
                  <a:lnTo>
                    <a:pt x="2241080" y="558455"/>
                  </a:lnTo>
                  <a:lnTo>
                    <a:pt x="2520279" y="279228"/>
                  </a:lnTo>
                  <a:lnTo>
                    <a:pt x="2241080" y="0"/>
                  </a:lnTo>
                  <a:close/>
                </a:path>
              </a:pathLst>
            </a:custGeom>
            <a:solidFill>
              <a:srgbClr val="FFFB00"/>
            </a:solidFill>
          </p:spPr>
          <p:txBody>
            <a:bodyPr wrap="square" lIns="0" tIns="0" rIns="0" bIns="0" rtlCol="0"/>
            <a:lstStyle/>
            <a:p/>
          </p:txBody>
        </p:sp>
        <p:sp>
          <p:nvSpPr>
            <p:cNvPr id="62" name="object 62"/>
            <p:cNvSpPr/>
            <p:nvPr/>
          </p:nvSpPr>
          <p:spPr>
            <a:xfrm>
              <a:off x="7608165" y="980728"/>
              <a:ext cx="2520315" cy="558800"/>
            </a:xfrm>
            <a:custGeom>
              <a:avLst/>
              <a:gdLst/>
              <a:ahLst/>
              <a:cxnLst/>
              <a:rect l="l" t="t" r="r" b="b"/>
              <a:pathLst>
                <a:path w="2520315" h="558800">
                  <a:moveTo>
                    <a:pt x="0" y="139613"/>
                  </a:moveTo>
                  <a:lnTo>
                    <a:pt x="2241079" y="139613"/>
                  </a:lnTo>
                  <a:lnTo>
                    <a:pt x="2241079" y="0"/>
                  </a:lnTo>
                  <a:lnTo>
                    <a:pt x="2520279" y="279227"/>
                  </a:lnTo>
                  <a:lnTo>
                    <a:pt x="2241079" y="558454"/>
                  </a:lnTo>
                  <a:lnTo>
                    <a:pt x="2241079" y="418841"/>
                  </a:lnTo>
                  <a:lnTo>
                    <a:pt x="0" y="418841"/>
                  </a:lnTo>
                  <a:lnTo>
                    <a:pt x="0" y="139613"/>
                  </a:lnTo>
                  <a:close/>
                </a:path>
              </a:pathLst>
            </a:custGeom>
            <a:ln w="9524">
              <a:solidFill>
                <a:srgbClr val="FFFFFF"/>
              </a:solidFill>
            </a:ln>
          </p:spPr>
          <p:txBody>
            <a:bodyPr wrap="square" lIns="0" tIns="0" rIns="0" bIns="0" rtlCol="0"/>
            <a:lstStyle/>
            <a:p/>
          </p:txBody>
        </p:sp>
        <p:grpSp>
          <p:nvGrpSpPr>
            <p:cNvPr id="95" name="组合 94"/>
            <p:cNvGrpSpPr/>
            <p:nvPr/>
          </p:nvGrpSpPr>
          <p:grpSpPr>
            <a:xfrm>
              <a:off x="476250" y="1052513"/>
              <a:ext cx="11165072" cy="4951533"/>
              <a:chOff x="476250" y="1052513"/>
              <a:chExt cx="11165072" cy="4951533"/>
            </a:xfrm>
          </p:grpSpPr>
          <p:sp>
            <p:nvSpPr>
              <p:cNvPr id="3" name="object 3"/>
              <p:cNvSpPr/>
              <p:nvPr/>
            </p:nvSpPr>
            <p:spPr>
              <a:xfrm>
                <a:off x="476250" y="1124745"/>
                <a:ext cx="1227455" cy="576580"/>
              </a:xfrm>
              <a:custGeom>
                <a:avLst/>
                <a:gdLst/>
                <a:ahLst/>
                <a:cxnLst/>
                <a:rect l="l" t="t" r="r" b="b"/>
                <a:pathLst>
                  <a:path w="1227455" h="576580">
                    <a:moveTo>
                      <a:pt x="1131248" y="0"/>
                    </a:moveTo>
                    <a:lnTo>
                      <a:pt x="96012" y="0"/>
                    </a:lnTo>
                    <a:lnTo>
                      <a:pt x="58640" y="7545"/>
                    </a:lnTo>
                    <a:lnTo>
                      <a:pt x="28121" y="28121"/>
                    </a:lnTo>
                    <a:lnTo>
                      <a:pt x="7545" y="58640"/>
                    </a:lnTo>
                    <a:lnTo>
                      <a:pt x="0" y="96013"/>
                    </a:lnTo>
                    <a:lnTo>
                      <a:pt x="0" y="480049"/>
                    </a:lnTo>
                    <a:lnTo>
                      <a:pt x="7545" y="517422"/>
                    </a:lnTo>
                    <a:lnTo>
                      <a:pt x="28121" y="547941"/>
                    </a:lnTo>
                    <a:lnTo>
                      <a:pt x="58640" y="568518"/>
                    </a:lnTo>
                    <a:lnTo>
                      <a:pt x="96012" y="576063"/>
                    </a:lnTo>
                    <a:lnTo>
                      <a:pt x="1131248" y="576063"/>
                    </a:lnTo>
                    <a:lnTo>
                      <a:pt x="1168621" y="568518"/>
                    </a:lnTo>
                    <a:lnTo>
                      <a:pt x="1199140" y="547941"/>
                    </a:lnTo>
                    <a:lnTo>
                      <a:pt x="1219716" y="517422"/>
                    </a:lnTo>
                    <a:lnTo>
                      <a:pt x="1227261" y="480049"/>
                    </a:lnTo>
                    <a:lnTo>
                      <a:pt x="1227261" y="96013"/>
                    </a:lnTo>
                    <a:lnTo>
                      <a:pt x="1219716" y="58640"/>
                    </a:lnTo>
                    <a:lnTo>
                      <a:pt x="1199140" y="28121"/>
                    </a:lnTo>
                    <a:lnTo>
                      <a:pt x="1168621" y="7545"/>
                    </a:lnTo>
                    <a:lnTo>
                      <a:pt x="1131248" y="0"/>
                    </a:lnTo>
                    <a:close/>
                  </a:path>
                </a:pathLst>
              </a:custGeom>
              <a:solidFill>
                <a:srgbClr val="AA7CA9"/>
              </a:solidFill>
            </p:spPr>
            <p:txBody>
              <a:bodyPr wrap="square" lIns="0" tIns="0" rIns="0" bIns="0" rtlCol="0"/>
              <a:lstStyle/>
              <a:p/>
            </p:txBody>
          </p:sp>
          <p:sp>
            <p:nvSpPr>
              <p:cNvPr id="4" name="object 4"/>
              <p:cNvSpPr txBox="1"/>
              <p:nvPr/>
            </p:nvSpPr>
            <p:spPr>
              <a:xfrm>
                <a:off x="893758" y="1185885"/>
                <a:ext cx="39814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Calibri" panose="020F0502020204030204"/>
                    <a:cs typeface="Calibri" panose="020F0502020204030204"/>
                  </a:rPr>
                  <a:t>App</a:t>
                </a:r>
                <a:endParaRPr sz="1800">
                  <a:latin typeface="Calibri" panose="020F0502020204030204"/>
                  <a:cs typeface="Calibri" panose="020F0502020204030204"/>
                </a:endParaRPr>
              </a:p>
            </p:txBody>
          </p:sp>
          <p:sp>
            <p:nvSpPr>
              <p:cNvPr id="5" name="object 5"/>
              <p:cNvSpPr/>
              <p:nvPr/>
            </p:nvSpPr>
            <p:spPr>
              <a:xfrm>
                <a:off x="4151783" y="1124745"/>
                <a:ext cx="1372870" cy="576580"/>
              </a:xfrm>
              <a:custGeom>
                <a:avLst/>
                <a:gdLst/>
                <a:ahLst/>
                <a:cxnLst/>
                <a:rect l="l" t="t" r="r" b="b"/>
                <a:pathLst>
                  <a:path w="1372870" h="576580">
                    <a:moveTo>
                      <a:pt x="1276701" y="0"/>
                    </a:moveTo>
                    <a:lnTo>
                      <a:pt x="96013" y="0"/>
                    </a:lnTo>
                    <a:lnTo>
                      <a:pt x="58640" y="7545"/>
                    </a:lnTo>
                    <a:lnTo>
                      <a:pt x="28121" y="28121"/>
                    </a:lnTo>
                    <a:lnTo>
                      <a:pt x="7545" y="58640"/>
                    </a:lnTo>
                    <a:lnTo>
                      <a:pt x="0" y="96013"/>
                    </a:lnTo>
                    <a:lnTo>
                      <a:pt x="0" y="480049"/>
                    </a:lnTo>
                    <a:lnTo>
                      <a:pt x="7545" y="517422"/>
                    </a:lnTo>
                    <a:lnTo>
                      <a:pt x="28121" y="547941"/>
                    </a:lnTo>
                    <a:lnTo>
                      <a:pt x="58640" y="568518"/>
                    </a:lnTo>
                    <a:lnTo>
                      <a:pt x="96013" y="576063"/>
                    </a:lnTo>
                    <a:lnTo>
                      <a:pt x="1276701" y="576063"/>
                    </a:lnTo>
                    <a:lnTo>
                      <a:pt x="1314074" y="568518"/>
                    </a:lnTo>
                    <a:lnTo>
                      <a:pt x="1344593" y="547941"/>
                    </a:lnTo>
                    <a:lnTo>
                      <a:pt x="1365169" y="517422"/>
                    </a:lnTo>
                    <a:lnTo>
                      <a:pt x="1372715" y="480049"/>
                    </a:lnTo>
                    <a:lnTo>
                      <a:pt x="1372715" y="96013"/>
                    </a:lnTo>
                    <a:lnTo>
                      <a:pt x="1365169" y="58640"/>
                    </a:lnTo>
                    <a:lnTo>
                      <a:pt x="1344593" y="28121"/>
                    </a:lnTo>
                    <a:lnTo>
                      <a:pt x="1314074" y="7545"/>
                    </a:lnTo>
                    <a:lnTo>
                      <a:pt x="1276701" y="0"/>
                    </a:lnTo>
                    <a:close/>
                  </a:path>
                </a:pathLst>
              </a:custGeom>
              <a:solidFill>
                <a:srgbClr val="AA7CA9"/>
              </a:solidFill>
            </p:spPr>
            <p:txBody>
              <a:bodyPr wrap="square" lIns="0" tIns="0" rIns="0" bIns="0" rtlCol="0"/>
              <a:lstStyle/>
              <a:p/>
            </p:txBody>
          </p:sp>
          <p:sp>
            <p:nvSpPr>
              <p:cNvPr id="6" name="object 6"/>
              <p:cNvSpPr txBox="1"/>
              <p:nvPr/>
            </p:nvSpPr>
            <p:spPr>
              <a:xfrm>
                <a:off x="4523663" y="1185885"/>
                <a:ext cx="63563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FFFF"/>
                    </a:solidFill>
                    <a:latin typeface="Calibri" panose="020F0502020204030204"/>
                    <a:cs typeface="Calibri" panose="020F0502020204030204"/>
                  </a:rPr>
                  <a:t>D</a:t>
                </a:r>
                <a:r>
                  <a:rPr sz="1800" dirty="0">
                    <a:solidFill>
                      <a:srgbClr val="FFFFFF"/>
                    </a:solidFill>
                    <a:latin typeface="Calibri" panose="020F0502020204030204"/>
                    <a:cs typeface="Calibri" panose="020F0502020204030204"/>
                  </a:rPr>
                  <a:t>ealer</a:t>
                </a:r>
                <a:endParaRPr sz="1800">
                  <a:latin typeface="Calibri" panose="020F0502020204030204"/>
                  <a:cs typeface="Calibri" panose="020F0502020204030204"/>
                </a:endParaRPr>
              </a:p>
            </p:txBody>
          </p:sp>
          <p:sp>
            <p:nvSpPr>
              <p:cNvPr id="7" name="object 7"/>
              <p:cNvSpPr/>
              <p:nvPr/>
            </p:nvSpPr>
            <p:spPr>
              <a:xfrm>
                <a:off x="1703511" y="1052513"/>
                <a:ext cx="2448560" cy="699135"/>
              </a:xfrm>
              <a:custGeom>
                <a:avLst/>
                <a:gdLst/>
                <a:ahLst/>
                <a:cxnLst/>
                <a:rect l="l" t="t" r="r" b="b"/>
                <a:pathLst>
                  <a:path w="2448560" h="699135">
                    <a:moveTo>
                      <a:pt x="2162455" y="0"/>
                    </a:moveTo>
                    <a:lnTo>
                      <a:pt x="2162455" y="174669"/>
                    </a:lnTo>
                    <a:lnTo>
                      <a:pt x="0" y="174669"/>
                    </a:lnTo>
                    <a:lnTo>
                      <a:pt x="0" y="524009"/>
                    </a:lnTo>
                    <a:lnTo>
                      <a:pt x="2162455" y="524009"/>
                    </a:lnTo>
                    <a:lnTo>
                      <a:pt x="2162455" y="698677"/>
                    </a:lnTo>
                    <a:lnTo>
                      <a:pt x="2448270" y="349338"/>
                    </a:lnTo>
                    <a:lnTo>
                      <a:pt x="2162455" y="0"/>
                    </a:lnTo>
                    <a:close/>
                  </a:path>
                </a:pathLst>
              </a:custGeom>
              <a:solidFill>
                <a:srgbClr val="FFFB00"/>
              </a:solidFill>
            </p:spPr>
            <p:txBody>
              <a:bodyPr wrap="square" lIns="0" tIns="0" rIns="0" bIns="0" rtlCol="0"/>
              <a:lstStyle/>
              <a:p/>
            </p:txBody>
          </p:sp>
          <p:sp>
            <p:nvSpPr>
              <p:cNvPr id="8" name="object 8"/>
              <p:cNvSpPr/>
              <p:nvPr/>
            </p:nvSpPr>
            <p:spPr>
              <a:xfrm>
                <a:off x="1703511" y="1052514"/>
                <a:ext cx="2448560" cy="699135"/>
              </a:xfrm>
              <a:custGeom>
                <a:avLst/>
                <a:gdLst/>
                <a:ahLst/>
                <a:cxnLst/>
                <a:rect l="l" t="t" r="r" b="b"/>
                <a:pathLst>
                  <a:path w="2448560" h="699135">
                    <a:moveTo>
                      <a:pt x="0" y="174669"/>
                    </a:moveTo>
                    <a:lnTo>
                      <a:pt x="2162455" y="174669"/>
                    </a:lnTo>
                    <a:lnTo>
                      <a:pt x="2162455" y="0"/>
                    </a:lnTo>
                    <a:lnTo>
                      <a:pt x="2448270" y="349338"/>
                    </a:lnTo>
                    <a:lnTo>
                      <a:pt x="2162455" y="698677"/>
                    </a:lnTo>
                    <a:lnTo>
                      <a:pt x="2162455" y="524008"/>
                    </a:lnTo>
                    <a:lnTo>
                      <a:pt x="0" y="524008"/>
                    </a:lnTo>
                    <a:lnTo>
                      <a:pt x="0" y="174669"/>
                    </a:lnTo>
                    <a:close/>
                  </a:path>
                </a:pathLst>
              </a:custGeom>
              <a:ln w="9524">
                <a:solidFill>
                  <a:srgbClr val="FFFFFF"/>
                </a:solidFill>
              </a:ln>
            </p:spPr>
            <p:txBody>
              <a:bodyPr wrap="square" lIns="0" tIns="0" rIns="0" bIns="0" rtlCol="0"/>
              <a:lstStyle/>
              <a:p/>
            </p:txBody>
          </p:sp>
          <p:sp>
            <p:nvSpPr>
              <p:cNvPr id="9" name="object 9"/>
              <p:cNvSpPr txBox="1"/>
              <p:nvPr/>
            </p:nvSpPr>
            <p:spPr>
              <a:xfrm>
                <a:off x="2213804" y="1260203"/>
                <a:ext cx="1289685" cy="269240"/>
              </a:xfrm>
              <a:prstGeom prst="rect">
                <a:avLst/>
              </a:prstGeom>
            </p:spPr>
            <p:txBody>
              <a:bodyPr vert="horz" wrap="square" lIns="0" tIns="12700" rIns="0" bIns="0" rtlCol="0">
                <a:spAutoFit/>
              </a:bodyPr>
              <a:lstStyle/>
              <a:p>
                <a:pPr marL="12700">
                  <a:lnSpc>
                    <a:spcPct val="100000"/>
                  </a:lnSpc>
                  <a:spcBef>
                    <a:spcPts val="100"/>
                  </a:spcBef>
                </a:pPr>
                <a:r>
                  <a:rPr sz="1600" spc="-5" dirty="0">
                    <a:latin typeface="Calibri" panose="020F0502020204030204"/>
                    <a:cs typeface="Calibri" panose="020F0502020204030204"/>
                  </a:rPr>
                  <a:t>StartNewGame</a:t>
                </a:r>
                <a:endParaRPr sz="1600">
                  <a:latin typeface="Calibri" panose="020F0502020204030204"/>
                  <a:cs typeface="Calibri" panose="020F0502020204030204"/>
                </a:endParaRPr>
              </a:p>
            </p:txBody>
          </p:sp>
          <p:sp>
            <p:nvSpPr>
              <p:cNvPr id="10" name="object 10"/>
              <p:cNvSpPr/>
              <p:nvPr/>
            </p:nvSpPr>
            <p:spPr>
              <a:xfrm>
                <a:off x="479374" y="1909763"/>
                <a:ext cx="1218565" cy="572135"/>
              </a:xfrm>
              <a:custGeom>
                <a:avLst/>
                <a:gdLst/>
                <a:ahLst/>
                <a:cxnLst/>
                <a:rect l="l" t="t" r="r" b="b"/>
                <a:pathLst>
                  <a:path w="1218564" h="572135">
                    <a:moveTo>
                      <a:pt x="1122942" y="0"/>
                    </a:moveTo>
                    <a:lnTo>
                      <a:pt x="95288" y="0"/>
                    </a:lnTo>
                    <a:lnTo>
                      <a:pt x="58198" y="7488"/>
                    </a:lnTo>
                    <a:lnTo>
                      <a:pt x="27909" y="27909"/>
                    </a:lnTo>
                    <a:lnTo>
                      <a:pt x="7488" y="58198"/>
                    </a:lnTo>
                    <a:lnTo>
                      <a:pt x="0" y="95289"/>
                    </a:lnTo>
                    <a:lnTo>
                      <a:pt x="0" y="476431"/>
                    </a:lnTo>
                    <a:lnTo>
                      <a:pt x="7488" y="513522"/>
                    </a:lnTo>
                    <a:lnTo>
                      <a:pt x="27909" y="543811"/>
                    </a:lnTo>
                    <a:lnTo>
                      <a:pt x="58198" y="564232"/>
                    </a:lnTo>
                    <a:lnTo>
                      <a:pt x="95288" y="571720"/>
                    </a:lnTo>
                    <a:lnTo>
                      <a:pt x="1122942" y="571720"/>
                    </a:lnTo>
                    <a:lnTo>
                      <a:pt x="1160033" y="564232"/>
                    </a:lnTo>
                    <a:lnTo>
                      <a:pt x="1190322" y="543811"/>
                    </a:lnTo>
                    <a:lnTo>
                      <a:pt x="1210743" y="513522"/>
                    </a:lnTo>
                    <a:lnTo>
                      <a:pt x="1218231" y="476431"/>
                    </a:lnTo>
                    <a:lnTo>
                      <a:pt x="1218231" y="95289"/>
                    </a:lnTo>
                    <a:lnTo>
                      <a:pt x="1210743" y="58198"/>
                    </a:lnTo>
                    <a:lnTo>
                      <a:pt x="1190322" y="27909"/>
                    </a:lnTo>
                    <a:lnTo>
                      <a:pt x="1160033" y="7488"/>
                    </a:lnTo>
                    <a:lnTo>
                      <a:pt x="1122942" y="0"/>
                    </a:lnTo>
                    <a:close/>
                  </a:path>
                </a:pathLst>
              </a:custGeom>
              <a:solidFill>
                <a:srgbClr val="AA7CA9"/>
              </a:solidFill>
            </p:spPr>
            <p:txBody>
              <a:bodyPr wrap="square" lIns="0" tIns="0" rIns="0" bIns="0" rtlCol="0"/>
              <a:lstStyle/>
              <a:p/>
            </p:txBody>
          </p:sp>
          <p:sp>
            <p:nvSpPr>
              <p:cNvPr id="11" name="object 11"/>
              <p:cNvSpPr txBox="1"/>
              <p:nvPr/>
            </p:nvSpPr>
            <p:spPr>
              <a:xfrm>
                <a:off x="774049" y="1970692"/>
                <a:ext cx="63563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FFFF"/>
                    </a:solidFill>
                    <a:latin typeface="Calibri" panose="020F0502020204030204"/>
                    <a:cs typeface="Calibri" panose="020F0502020204030204"/>
                  </a:rPr>
                  <a:t>D</a:t>
                </a:r>
                <a:r>
                  <a:rPr sz="1800" dirty="0">
                    <a:solidFill>
                      <a:srgbClr val="FFFFFF"/>
                    </a:solidFill>
                    <a:latin typeface="Calibri" panose="020F0502020204030204"/>
                    <a:cs typeface="Calibri" panose="020F0502020204030204"/>
                  </a:rPr>
                  <a:t>ealer</a:t>
                </a:r>
                <a:endParaRPr sz="1800">
                  <a:latin typeface="Calibri" panose="020F0502020204030204"/>
                  <a:cs typeface="Calibri" panose="020F0502020204030204"/>
                </a:endParaRPr>
              </a:p>
            </p:txBody>
          </p:sp>
          <p:sp>
            <p:nvSpPr>
              <p:cNvPr id="12" name="object 12"/>
              <p:cNvSpPr/>
              <p:nvPr/>
            </p:nvSpPr>
            <p:spPr>
              <a:xfrm>
                <a:off x="4184699" y="1916832"/>
                <a:ext cx="1335405" cy="565150"/>
              </a:xfrm>
              <a:custGeom>
                <a:avLst/>
                <a:gdLst/>
                <a:ahLst/>
                <a:cxnLst/>
                <a:rect l="l" t="t" r="r" b="b"/>
                <a:pathLst>
                  <a:path w="1335404" h="565150">
                    <a:moveTo>
                      <a:pt x="1240927" y="0"/>
                    </a:moveTo>
                    <a:lnTo>
                      <a:pt x="94110" y="0"/>
                    </a:lnTo>
                    <a:lnTo>
                      <a:pt x="57478" y="7395"/>
                    </a:lnTo>
                    <a:lnTo>
                      <a:pt x="27564" y="27564"/>
                    </a:lnTo>
                    <a:lnTo>
                      <a:pt x="7395" y="57478"/>
                    </a:lnTo>
                    <a:lnTo>
                      <a:pt x="0" y="94110"/>
                    </a:lnTo>
                    <a:lnTo>
                      <a:pt x="0" y="470541"/>
                    </a:lnTo>
                    <a:lnTo>
                      <a:pt x="7395" y="507173"/>
                    </a:lnTo>
                    <a:lnTo>
                      <a:pt x="27564" y="537087"/>
                    </a:lnTo>
                    <a:lnTo>
                      <a:pt x="57478" y="557256"/>
                    </a:lnTo>
                    <a:lnTo>
                      <a:pt x="94110" y="564652"/>
                    </a:lnTo>
                    <a:lnTo>
                      <a:pt x="1240927" y="564652"/>
                    </a:lnTo>
                    <a:lnTo>
                      <a:pt x="1277559" y="557256"/>
                    </a:lnTo>
                    <a:lnTo>
                      <a:pt x="1307473" y="537087"/>
                    </a:lnTo>
                    <a:lnTo>
                      <a:pt x="1327642" y="507173"/>
                    </a:lnTo>
                    <a:lnTo>
                      <a:pt x="1335037" y="470541"/>
                    </a:lnTo>
                    <a:lnTo>
                      <a:pt x="1335037" y="94110"/>
                    </a:lnTo>
                    <a:lnTo>
                      <a:pt x="1327642" y="57478"/>
                    </a:lnTo>
                    <a:lnTo>
                      <a:pt x="1307473" y="27564"/>
                    </a:lnTo>
                    <a:lnTo>
                      <a:pt x="1277559" y="7395"/>
                    </a:lnTo>
                    <a:lnTo>
                      <a:pt x="1240927" y="0"/>
                    </a:lnTo>
                    <a:close/>
                  </a:path>
                </a:pathLst>
              </a:custGeom>
              <a:solidFill>
                <a:srgbClr val="AA7CA9"/>
              </a:solidFill>
            </p:spPr>
            <p:txBody>
              <a:bodyPr wrap="square" lIns="0" tIns="0" rIns="0" bIns="0" rtlCol="0"/>
              <a:lstStyle/>
              <a:p/>
            </p:txBody>
          </p:sp>
          <p:sp>
            <p:nvSpPr>
              <p:cNvPr id="13" name="object 13"/>
              <p:cNvSpPr txBox="1"/>
              <p:nvPr/>
            </p:nvSpPr>
            <p:spPr>
              <a:xfrm>
                <a:off x="4615176" y="1977416"/>
                <a:ext cx="48069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FFFF"/>
                    </a:solidFill>
                    <a:latin typeface="Calibri" panose="020F0502020204030204"/>
                    <a:cs typeface="Calibri" panose="020F0502020204030204"/>
                  </a:rPr>
                  <a:t>De</a:t>
                </a:r>
                <a:r>
                  <a:rPr sz="1800" dirty="0">
                    <a:solidFill>
                      <a:srgbClr val="FFFFFF"/>
                    </a:solidFill>
                    <a:latin typeface="Calibri" panose="020F0502020204030204"/>
                    <a:cs typeface="Calibri" panose="020F0502020204030204"/>
                  </a:rPr>
                  <a:t>ck</a:t>
                </a:r>
                <a:endParaRPr sz="1800">
                  <a:latin typeface="Calibri" panose="020F0502020204030204"/>
                  <a:cs typeface="Calibri" panose="020F0502020204030204"/>
                </a:endParaRPr>
              </a:p>
            </p:txBody>
          </p:sp>
          <p:sp>
            <p:nvSpPr>
              <p:cNvPr id="14" name="object 14"/>
              <p:cNvSpPr/>
              <p:nvPr/>
            </p:nvSpPr>
            <p:spPr>
              <a:xfrm>
                <a:off x="1703511" y="1909763"/>
                <a:ext cx="2448560" cy="583565"/>
              </a:xfrm>
              <a:custGeom>
                <a:avLst/>
                <a:gdLst/>
                <a:ahLst/>
                <a:cxnLst/>
                <a:rect l="l" t="t" r="r" b="b"/>
                <a:pathLst>
                  <a:path w="2448560" h="583564">
                    <a:moveTo>
                      <a:pt x="2156691" y="0"/>
                    </a:moveTo>
                    <a:lnTo>
                      <a:pt x="2156691" y="145784"/>
                    </a:lnTo>
                    <a:lnTo>
                      <a:pt x="0" y="145784"/>
                    </a:lnTo>
                    <a:lnTo>
                      <a:pt x="0" y="437352"/>
                    </a:lnTo>
                    <a:lnTo>
                      <a:pt x="2156691" y="437352"/>
                    </a:lnTo>
                    <a:lnTo>
                      <a:pt x="2156691" y="583135"/>
                    </a:lnTo>
                    <a:lnTo>
                      <a:pt x="2448271" y="291567"/>
                    </a:lnTo>
                    <a:lnTo>
                      <a:pt x="2156691" y="0"/>
                    </a:lnTo>
                    <a:close/>
                  </a:path>
                </a:pathLst>
              </a:custGeom>
              <a:solidFill>
                <a:srgbClr val="FFFB00"/>
              </a:solidFill>
            </p:spPr>
            <p:txBody>
              <a:bodyPr wrap="square" lIns="0" tIns="0" rIns="0" bIns="0" rtlCol="0"/>
              <a:lstStyle/>
              <a:p/>
            </p:txBody>
          </p:sp>
          <p:sp>
            <p:nvSpPr>
              <p:cNvPr id="15" name="object 15"/>
              <p:cNvSpPr txBox="1"/>
              <p:nvPr/>
            </p:nvSpPr>
            <p:spPr>
              <a:xfrm>
                <a:off x="2412836" y="2088567"/>
                <a:ext cx="890269" cy="269240"/>
              </a:xfrm>
              <a:prstGeom prst="rect">
                <a:avLst/>
              </a:prstGeom>
            </p:spPr>
            <p:txBody>
              <a:bodyPr vert="horz" wrap="square" lIns="0" tIns="12700" rIns="0" bIns="0" rtlCol="0">
                <a:spAutoFit/>
              </a:bodyPr>
              <a:lstStyle/>
              <a:p>
                <a:pPr marL="12700">
                  <a:lnSpc>
                    <a:spcPct val="100000"/>
                  </a:lnSpc>
                  <a:spcBef>
                    <a:spcPts val="100"/>
                  </a:spcBef>
                </a:pPr>
                <a:r>
                  <a:rPr sz="1600" spc="-5" dirty="0">
                    <a:latin typeface="Calibri" panose="020F0502020204030204"/>
                    <a:cs typeface="Calibri" panose="020F0502020204030204"/>
                  </a:rPr>
                  <a:t>ResetDeck</a:t>
                </a:r>
                <a:endParaRPr sz="1600">
                  <a:latin typeface="Calibri" panose="020F0502020204030204"/>
                  <a:cs typeface="Calibri" panose="020F0502020204030204"/>
                </a:endParaRPr>
              </a:p>
            </p:txBody>
          </p:sp>
          <p:sp>
            <p:nvSpPr>
              <p:cNvPr id="16" name="object 16"/>
              <p:cNvSpPr/>
              <p:nvPr/>
            </p:nvSpPr>
            <p:spPr>
              <a:xfrm>
                <a:off x="478788" y="2624415"/>
                <a:ext cx="1219200" cy="572135"/>
              </a:xfrm>
              <a:custGeom>
                <a:avLst/>
                <a:gdLst/>
                <a:ahLst/>
                <a:cxnLst/>
                <a:rect l="l" t="t" r="r" b="b"/>
                <a:pathLst>
                  <a:path w="1219200" h="572135">
                    <a:moveTo>
                      <a:pt x="1123531" y="0"/>
                    </a:moveTo>
                    <a:lnTo>
                      <a:pt x="95288" y="0"/>
                    </a:lnTo>
                    <a:lnTo>
                      <a:pt x="58198" y="7488"/>
                    </a:lnTo>
                    <a:lnTo>
                      <a:pt x="27909" y="27909"/>
                    </a:lnTo>
                    <a:lnTo>
                      <a:pt x="7488" y="58198"/>
                    </a:lnTo>
                    <a:lnTo>
                      <a:pt x="0" y="95289"/>
                    </a:lnTo>
                    <a:lnTo>
                      <a:pt x="0" y="476431"/>
                    </a:lnTo>
                    <a:lnTo>
                      <a:pt x="7488" y="513522"/>
                    </a:lnTo>
                    <a:lnTo>
                      <a:pt x="27909" y="543811"/>
                    </a:lnTo>
                    <a:lnTo>
                      <a:pt x="58198" y="564232"/>
                    </a:lnTo>
                    <a:lnTo>
                      <a:pt x="95288" y="571720"/>
                    </a:lnTo>
                    <a:lnTo>
                      <a:pt x="1123531" y="571720"/>
                    </a:lnTo>
                    <a:lnTo>
                      <a:pt x="1160622" y="564232"/>
                    </a:lnTo>
                    <a:lnTo>
                      <a:pt x="1190911" y="543811"/>
                    </a:lnTo>
                    <a:lnTo>
                      <a:pt x="1211332" y="513522"/>
                    </a:lnTo>
                    <a:lnTo>
                      <a:pt x="1218821" y="476431"/>
                    </a:lnTo>
                    <a:lnTo>
                      <a:pt x="1218821" y="95289"/>
                    </a:lnTo>
                    <a:lnTo>
                      <a:pt x="1211332" y="58198"/>
                    </a:lnTo>
                    <a:lnTo>
                      <a:pt x="1190911" y="27909"/>
                    </a:lnTo>
                    <a:lnTo>
                      <a:pt x="1160622" y="7488"/>
                    </a:lnTo>
                    <a:lnTo>
                      <a:pt x="1123531" y="0"/>
                    </a:lnTo>
                    <a:close/>
                  </a:path>
                </a:pathLst>
              </a:custGeom>
              <a:solidFill>
                <a:srgbClr val="AA7CA9"/>
              </a:solidFill>
            </p:spPr>
            <p:txBody>
              <a:bodyPr wrap="square" lIns="0" tIns="0" rIns="0" bIns="0" rtlCol="0"/>
              <a:lstStyle/>
              <a:p/>
            </p:txBody>
          </p:sp>
          <p:sp>
            <p:nvSpPr>
              <p:cNvPr id="17" name="object 17"/>
              <p:cNvSpPr txBox="1"/>
              <p:nvPr/>
            </p:nvSpPr>
            <p:spPr>
              <a:xfrm>
                <a:off x="773463" y="2685343"/>
                <a:ext cx="63563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FFFF"/>
                    </a:solidFill>
                    <a:latin typeface="Calibri" panose="020F0502020204030204"/>
                    <a:cs typeface="Calibri" panose="020F0502020204030204"/>
                  </a:rPr>
                  <a:t>D</a:t>
                </a:r>
                <a:r>
                  <a:rPr sz="1800" dirty="0">
                    <a:solidFill>
                      <a:srgbClr val="FFFFFF"/>
                    </a:solidFill>
                    <a:latin typeface="Calibri" panose="020F0502020204030204"/>
                    <a:cs typeface="Calibri" panose="020F0502020204030204"/>
                  </a:rPr>
                  <a:t>ealer</a:t>
                </a:r>
                <a:endParaRPr sz="1800">
                  <a:latin typeface="Calibri" panose="020F0502020204030204"/>
                  <a:cs typeface="Calibri" panose="020F0502020204030204"/>
                </a:endParaRPr>
              </a:p>
            </p:txBody>
          </p:sp>
          <p:sp>
            <p:nvSpPr>
              <p:cNvPr id="18" name="object 18"/>
              <p:cNvSpPr/>
              <p:nvPr/>
            </p:nvSpPr>
            <p:spPr>
              <a:xfrm>
                <a:off x="4184699" y="2624415"/>
                <a:ext cx="1335405" cy="572135"/>
              </a:xfrm>
              <a:custGeom>
                <a:avLst/>
                <a:gdLst/>
                <a:ahLst/>
                <a:cxnLst/>
                <a:rect l="l" t="t" r="r" b="b"/>
                <a:pathLst>
                  <a:path w="1335404" h="572135">
                    <a:moveTo>
                      <a:pt x="1239748" y="0"/>
                    </a:moveTo>
                    <a:lnTo>
                      <a:pt x="95289" y="0"/>
                    </a:lnTo>
                    <a:lnTo>
                      <a:pt x="58198" y="7488"/>
                    </a:lnTo>
                    <a:lnTo>
                      <a:pt x="27909" y="27909"/>
                    </a:lnTo>
                    <a:lnTo>
                      <a:pt x="7488" y="58198"/>
                    </a:lnTo>
                    <a:lnTo>
                      <a:pt x="0" y="95289"/>
                    </a:lnTo>
                    <a:lnTo>
                      <a:pt x="0" y="476431"/>
                    </a:lnTo>
                    <a:lnTo>
                      <a:pt x="7488" y="513522"/>
                    </a:lnTo>
                    <a:lnTo>
                      <a:pt x="27909" y="543811"/>
                    </a:lnTo>
                    <a:lnTo>
                      <a:pt x="58198" y="564232"/>
                    </a:lnTo>
                    <a:lnTo>
                      <a:pt x="95289" y="571720"/>
                    </a:lnTo>
                    <a:lnTo>
                      <a:pt x="1239748" y="571720"/>
                    </a:lnTo>
                    <a:lnTo>
                      <a:pt x="1276839" y="564232"/>
                    </a:lnTo>
                    <a:lnTo>
                      <a:pt x="1307128" y="543811"/>
                    </a:lnTo>
                    <a:lnTo>
                      <a:pt x="1327549" y="513522"/>
                    </a:lnTo>
                    <a:lnTo>
                      <a:pt x="1335037" y="476431"/>
                    </a:lnTo>
                    <a:lnTo>
                      <a:pt x="1335037" y="95289"/>
                    </a:lnTo>
                    <a:lnTo>
                      <a:pt x="1327549" y="58198"/>
                    </a:lnTo>
                    <a:lnTo>
                      <a:pt x="1307128" y="27909"/>
                    </a:lnTo>
                    <a:lnTo>
                      <a:pt x="1276839" y="7488"/>
                    </a:lnTo>
                    <a:lnTo>
                      <a:pt x="1239748" y="0"/>
                    </a:lnTo>
                    <a:close/>
                  </a:path>
                </a:pathLst>
              </a:custGeom>
              <a:solidFill>
                <a:srgbClr val="AA7CA9"/>
              </a:solidFill>
            </p:spPr>
            <p:txBody>
              <a:bodyPr wrap="square" lIns="0" tIns="0" rIns="0" bIns="0" rtlCol="0"/>
              <a:lstStyle/>
              <a:p/>
            </p:txBody>
          </p:sp>
          <p:sp>
            <p:nvSpPr>
              <p:cNvPr id="19" name="object 19"/>
              <p:cNvSpPr txBox="1"/>
              <p:nvPr/>
            </p:nvSpPr>
            <p:spPr>
              <a:xfrm>
                <a:off x="4614727" y="2685343"/>
                <a:ext cx="48069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FFFF"/>
                    </a:solidFill>
                    <a:latin typeface="Calibri" panose="020F0502020204030204"/>
                    <a:cs typeface="Calibri" panose="020F0502020204030204"/>
                  </a:rPr>
                  <a:t>De</a:t>
                </a:r>
                <a:r>
                  <a:rPr sz="1800" dirty="0">
                    <a:solidFill>
                      <a:srgbClr val="FFFFFF"/>
                    </a:solidFill>
                    <a:latin typeface="Calibri" panose="020F0502020204030204"/>
                    <a:cs typeface="Calibri" panose="020F0502020204030204"/>
                  </a:rPr>
                  <a:t>ck</a:t>
                </a:r>
                <a:endParaRPr sz="1800">
                  <a:latin typeface="Calibri" panose="020F0502020204030204"/>
                  <a:cs typeface="Calibri" panose="020F0502020204030204"/>
                </a:endParaRPr>
              </a:p>
            </p:txBody>
          </p:sp>
          <p:sp>
            <p:nvSpPr>
              <p:cNvPr id="20" name="object 20"/>
              <p:cNvSpPr/>
              <p:nvPr/>
            </p:nvSpPr>
            <p:spPr>
              <a:xfrm>
                <a:off x="1703511" y="2624414"/>
                <a:ext cx="2448560" cy="589280"/>
              </a:xfrm>
              <a:custGeom>
                <a:avLst/>
                <a:gdLst/>
                <a:ahLst/>
                <a:cxnLst/>
                <a:rect l="l" t="t" r="r" b="b"/>
                <a:pathLst>
                  <a:path w="2448560" h="589280">
                    <a:moveTo>
                      <a:pt x="2153832" y="0"/>
                    </a:moveTo>
                    <a:lnTo>
                      <a:pt x="2153832" y="147210"/>
                    </a:lnTo>
                    <a:lnTo>
                      <a:pt x="0" y="147210"/>
                    </a:lnTo>
                    <a:lnTo>
                      <a:pt x="0" y="441632"/>
                    </a:lnTo>
                    <a:lnTo>
                      <a:pt x="2153832" y="441632"/>
                    </a:lnTo>
                    <a:lnTo>
                      <a:pt x="2153832" y="588843"/>
                    </a:lnTo>
                    <a:lnTo>
                      <a:pt x="2448271" y="294422"/>
                    </a:lnTo>
                    <a:lnTo>
                      <a:pt x="2153832" y="0"/>
                    </a:lnTo>
                    <a:close/>
                  </a:path>
                </a:pathLst>
              </a:custGeom>
              <a:solidFill>
                <a:srgbClr val="FFFB00"/>
              </a:solidFill>
            </p:spPr>
            <p:txBody>
              <a:bodyPr wrap="square" lIns="0" tIns="0" rIns="0" bIns="0" rtlCol="0"/>
              <a:lstStyle/>
              <a:p/>
            </p:txBody>
          </p:sp>
          <p:sp>
            <p:nvSpPr>
              <p:cNvPr id="21" name="object 21"/>
              <p:cNvSpPr txBox="1"/>
              <p:nvPr/>
            </p:nvSpPr>
            <p:spPr>
              <a:xfrm>
                <a:off x="2356034" y="2804645"/>
                <a:ext cx="1002030" cy="269240"/>
              </a:xfrm>
              <a:prstGeom prst="rect">
                <a:avLst/>
              </a:prstGeom>
            </p:spPr>
            <p:txBody>
              <a:bodyPr vert="horz" wrap="square" lIns="0" tIns="12700" rIns="0" bIns="0" rtlCol="0">
                <a:spAutoFit/>
              </a:bodyPr>
              <a:lstStyle/>
              <a:p>
                <a:pPr marL="12700">
                  <a:lnSpc>
                    <a:spcPct val="100000"/>
                  </a:lnSpc>
                  <a:spcBef>
                    <a:spcPts val="100"/>
                  </a:spcBef>
                </a:pPr>
                <a:r>
                  <a:rPr sz="1600" spc="-5" dirty="0">
                    <a:latin typeface="Calibri" panose="020F0502020204030204"/>
                    <a:cs typeface="Calibri" panose="020F0502020204030204"/>
                  </a:rPr>
                  <a:t>ShuﬄeDeck</a:t>
                </a:r>
                <a:endParaRPr sz="1600">
                  <a:latin typeface="Calibri" panose="020F0502020204030204"/>
                  <a:cs typeface="Calibri" panose="020F0502020204030204"/>
                </a:endParaRPr>
              </a:p>
            </p:txBody>
          </p:sp>
          <p:sp>
            <p:nvSpPr>
              <p:cNvPr id="22" name="object 22"/>
              <p:cNvSpPr/>
              <p:nvPr/>
            </p:nvSpPr>
            <p:spPr>
              <a:xfrm>
                <a:off x="478788" y="3410532"/>
                <a:ext cx="1219200" cy="572135"/>
              </a:xfrm>
              <a:custGeom>
                <a:avLst/>
                <a:gdLst/>
                <a:ahLst/>
                <a:cxnLst/>
                <a:rect l="l" t="t" r="r" b="b"/>
                <a:pathLst>
                  <a:path w="1219200" h="572135">
                    <a:moveTo>
                      <a:pt x="1123531" y="0"/>
                    </a:moveTo>
                    <a:lnTo>
                      <a:pt x="95288" y="0"/>
                    </a:lnTo>
                    <a:lnTo>
                      <a:pt x="58198" y="7488"/>
                    </a:lnTo>
                    <a:lnTo>
                      <a:pt x="27909" y="27909"/>
                    </a:lnTo>
                    <a:lnTo>
                      <a:pt x="7488" y="58198"/>
                    </a:lnTo>
                    <a:lnTo>
                      <a:pt x="0" y="95289"/>
                    </a:lnTo>
                    <a:lnTo>
                      <a:pt x="0" y="476431"/>
                    </a:lnTo>
                    <a:lnTo>
                      <a:pt x="7488" y="513522"/>
                    </a:lnTo>
                    <a:lnTo>
                      <a:pt x="27909" y="543811"/>
                    </a:lnTo>
                    <a:lnTo>
                      <a:pt x="58198" y="564232"/>
                    </a:lnTo>
                    <a:lnTo>
                      <a:pt x="95288" y="571720"/>
                    </a:lnTo>
                    <a:lnTo>
                      <a:pt x="1123531" y="571720"/>
                    </a:lnTo>
                    <a:lnTo>
                      <a:pt x="1160622" y="564232"/>
                    </a:lnTo>
                    <a:lnTo>
                      <a:pt x="1190911" y="543811"/>
                    </a:lnTo>
                    <a:lnTo>
                      <a:pt x="1211332" y="513522"/>
                    </a:lnTo>
                    <a:lnTo>
                      <a:pt x="1218821" y="476431"/>
                    </a:lnTo>
                    <a:lnTo>
                      <a:pt x="1218821" y="95289"/>
                    </a:lnTo>
                    <a:lnTo>
                      <a:pt x="1211332" y="58198"/>
                    </a:lnTo>
                    <a:lnTo>
                      <a:pt x="1190911" y="27909"/>
                    </a:lnTo>
                    <a:lnTo>
                      <a:pt x="1160622" y="7488"/>
                    </a:lnTo>
                    <a:lnTo>
                      <a:pt x="1123531" y="0"/>
                    </a:lnTo>
                    <a:close/>
                  </a:path>
                </a:pathLst>
              </a:custGeom>
              <a:solidFill>
                <a:srgbClr val="AA7CA9"/>
              </a:solidFill>
            </p:spPr>
            <p:txBody>
              <a:bodyPr wrap="square" lIns="0" tIns="0" rIns="0" bIns="0" rtlCol="0"/>
              <a:lstStyle/>
              <a:p/>
            </p:txBody>
          </p:sp>
          <p:sp>
            <p:nvSpPr>
              <p:cNvPr id="23" name="object 23"/>
              <p:cNvSpPr txBox="1"/>
              <p:nvPr/>
            </p:nvSpPr>
            <p:spPr>
              <a:xfrm>
                <a:off x="773463" y="3471460"/>
                <a:ext cx="63563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FFFF"/>
                    </a:solidFill>
                    <a:latin typeface="Calibri" panose="020F0502020204030204"/>
                    <a:cs typeface="Calibri" panose="020F0502020204030204"/>
                  </a:rPr>
                  <a:t>D</a:t>
                </a:r>
                <a:r>
                  <a:rPr sz="1800" dirty="0">
                    <a:solidFill>
                      <a:srgbClr val="FFFFFF"/>
                    </a:solidFill>
                    <a:latin typeface="Calibri" panose="020F0502020204030204"/>
                    <a:cs typeface="Calibri" panose="020F0502020204030204"/>
                  </a:rPr>
                  <a:t>ealer</a:t>
                </a:r>
                <a:endParaRPr sz="1800">
                  <a:latin typeface="Calibri" panose="020F0502020204030204"/>
                  <a:cs typeface="Calibri" panose="020F0502020204030204"/>
                </a:endParaRPr>
              </a:p>
            </p:txBody>
          </p:sp>
          <p:sp>
            <p:nvSpPr>
              <p:cNvPr id="24" name="object 24"/>
              <p:cNvSpPr/>
              <p:nvPr/>
            </p:nvSpPr>
            <p:spPr>
              <a:xfrm>
                <a:off x="4184699" y="3410532"/>
                <a:ext cx="1335405" cy="572135"/>
              </a:xfrm>
              <a:custGeom>
                <a:avLst/>
                <a:gdLst/>
                <a:ahLst/>
                <a:cxnLst/>
                <a:rect l="l" t="t" r="r" b="b"/>
                <a:pathLst>
                  <a:path w="1335404" h="572135">
                    <a:moveTo>
                      <a:pt x="1239748" y="0"/>
                    </a:moveTo>
                    <a:lnTo>
                      <a:pt x="95289" y="0"/>
                    </a:lnTo>
                    <a:lnTo>
                      <a:pt x="58198" y="7488"/>
                    </a:lnTo>
                    <a:lnTo>
                      <a:pt x="27909" y="27909"/>
                    </a:lnTo>
                    <a:lnTo>
                      <a:pt x="7488" y="58198"/>
                    </a:lnTo>
                    <a:lnTo>
                      <a:pt x="0" y="95289"/>
                    </a:lnTo>
                    <a:lnTo>
                      <a:pt x="0" y="476431"/>
                    </a:lnTo>
                    <a:lnTo>
                      <a:pt x="7488" y="513522"/>
                    </a:lnTo>
                    <a:lnTo>
                      <a:pt x="27909" y="543811"/>
                    </a:lnTo>
                    <a:lnTo>
                      <a:pt x="58198" y="564232"/>
                    </a:lnTo>
                    <a:lnTo>
                      <a:pt x="95289" y="571720"/>
                    </a:lnTo>
                    <a:lnTo>
                      <a:pt x="1239748" y="571720"/>
                    </a:lnTo>
                    <a:lnTo>
                      <a:pt x="1276839" y="564232"/>
                    </a:lnTo>
                    <a:lnTo>
                      <a:pt x="1307128" y="543811"/>
                    </a:lnTo>
                    <a:lnTo>
                      <a:pt x="1327549" y="513522"/>
                    </a:lnTo>
                    <a:lnTo>
                      <a:pt x="1335037" y="476431"/>
                    </a:lnTo>
                    <a:lnTo>
                      <a:pt x="1335037" y="95289"/>
                    </a:lnTo>
                    <a:lnTo>
                      <a:pt x="1327549" y="58198"/>
                    </a:lnTo>
                    <a:lnTo>
                      <a:pt x="1307128" y="27909"/>
                    </a:lnTo>
                    <a:lnTo>
                      <a:pt x="1276839" y="7488"/>
                    </a:lnTo>
                    <a:lnTo>
                      <a:pt x="1239748" y="0"/>
                    </a:lnTo>
                    <a:close/>
                  </a:path>
                </a:pathLst>
              </a:custGeom>
              <a:solidFill>
                <a:srgbClr val="AA7CA9"/>
              </a:solidFill>
            </p:spPr>
            <p:txBody>
              <a:bodyPr wrap="square" lIns="0" tIns="0" rIns="0" bIns="0" rtlCol="0"/>
              <a:lstStyle/>
              <a:p/>
            </p:txBody>
          </p:sp>
          <p:sp>
            <p:nvSpPr>
              <p:cNvPr id="25" name="object 25"/>
              <p:cNvSpPr txBox="1"/>
              <p:nvPr/>
            </p:nvSpPr>
            <p:spPr>
              <a:xfrm>
                <a:off x="4553726" y="3471460"/>
                <a:ext cx="60261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Calibri" panose="020F0502020204030204"/>
                    <a:cs typeface="Calibri" panose="020F0502020204030204"/>
                  </a:rPr>
                  <a:t>Pla</a:t>
                </a:r>
                <a:r>
                  <a:rPr sz="1800" spc="-5" dirty="0">
                    <a:solidFill>
                      <a:srgbClr val="FFFFFF"/>
                    </a:solidFill>
                    <a:latin typeface="Calibri" panose="020F0502020204030204"/>
                    <a:cs typeface="Calibri" panose="020F0502020204030204"/>
                  </a:rPr>
                  <a:t>y</a:t>
                </a:r>
                <a:r>
                  <a:rPr sz="1800" dirty="0">
                    <a:solidFill>
                      <a:srgbClr val="FFFFFF"/>
                    </a:solidFill>
                    <a:latin typeface="Calibri" panose="020F0502020204030204"/>
                    <a:cs typeface="Calibri" panose="020F0502020204030204"/>
                  </a:rPr>
                  <a:t>er</a:t>
                </a:r>
                <a:endParaRPr sz="1800">
                  <a:latin typeface="Calibri" panose="020F0502020204030204"/>
                  <a:cs typeface="Calibri" panose="020F0502020204030204"/>
                </a:endParaRPr>
              </a:p>
            </p:txBody>
          </p:sp>
          <p:sp>
            <p:nvSpPr>
              <p:cNvPr id="26" name="object 26"/>
              <p:cNvSpPr/>
              <p:nvPr/>
            </p:nvSpPr>
            <p:spPr>
              <a:xfrm>
                <a:off x="1703511" y="3267600"/>
                <a:ext cx="2448560" cy="594360"/>
              </a:xfrm>
              <a:custGeom>
                <a:avLst/>
                <a:gdLst/>
                <a:ahLst/>
                <a:cxnLst/>
                <a:rect l="l" t="t" r="r" b="b"/>
                <a:pathLst>
                  <a:path w="2448560" h="594360">
                    <a:moveTo>
                      <a:pt x="2151296" y="0"/>
                    </a:moveTo>
                    <a:lnTo>
                      <a:pt x="2151296" y="148494"/>
                    </a:lnTo>
                    <a:lnTo>
                      <a:pt x="0" y="148494"/>
                    </a:lnTo>
                    <a:lnTo>
                      <a:pt x="0" y="445485"/>
                    </a:lnTo>
                    <a:lnTo>
                      <a:pt x="2151296" y="445485"/>
                    </a:lnTo>
                    <a:lnTo>
                      <a:pt x="2151296" y="593980"/>
                    </a:lnTo>
                    <a:lnTo>
                      <a:pt x="2448272" y="296990"/>
                    </a:lnTo>
                    <a:lnTo>
                      <a:pt x="2151296" y="0"/>
                    </a:lnTo>
                    <a:close/>
                  </a:path>
                </a:pathLst>
              </a:custGeom>
              <a:solidFill>
                <a:srgbClr val="FFFB00"/>
              </a:solidFill>
            </p:spPr>
            <p:txBody>
              <a:bodyPr wrap="square" lIns="0" tIns="0" rIns="0" bIns="0" rtlCol="0"/>
              <a:lstStyle/>
              <a:p/>
            </p:txBody>
          </p:sp>
          <p:sp>
            <p:nvSpPr>
              <p:cNvPr id="27" name="object 27"/>
              <p:cNvSpPr/>
              <p:nvPr/>
            </p:nvSpPr>
            <p:spPr>
              <a:xfrm>
                <a:off x="1703509" y="3624926"/>
                <a:ext cx="2448560" cy="525145"/>
              </a:xfrm>
              <a:custGeom>
                <a:avLst/>
                <a:gdLst/>
                <a:ahLst/>
                <a:cxnLst/>
                <a:rect l="l" t="t" r="r" b="b"/>
                <a:pathLst>
                  <a:path w="2448560" h="525145">
                    <a:moveTo>
                      <a:pt x="262436" y="0"/>
                    </a:moveTo>
                    <a:lnTo>
                      <a:pt x="0" y="262399"/>
                    </a:lnTo>
                    <a:lnTo>
                      <a:pt x="262436" y="524798"/>
                    </a:lnTo>
                    <a:lnTo>
                      <a:pt x="262436" y="393599"/>
                    </a:lnTo>
                    <a:lnTo>
                      <a:pt x="2448274" y="393599"/>
                    </a:lnTo>
                    <a:lnTo>
                      <a:pt x="2448274" y="131199"/>
                    </a:lnTo>
                    <a:lnTo>
                      <a:pt x="262436" y="131199"/>
                    </a:lnTo>
                    <a:lnTo>
                      <a:pt x="262436" y="0"/>
                    </a:lnTo>
                    <a:close/>
                  </a:path>
                </a:pathLst>
              </a:custGeom>
              <a:solidFill>
                <a:srgbClr val="FFFB00"/>
              </a:solidFill>
            </p:spPr>
            <p:txBody>
              <a:bodyPr wrap="square" lIns="0" tIns="0" rIns="0" bIns="0" rtlCol="0"/>
              <a:lstStyle/>
              <a:p/>
            </p:txBody>
          </p:sp>
          <p:sp>
            <p:nvSpPr>
              <p:cNvPr id="28" name="object 28"/>
              <p:cNvSpPr/>
              <p:nvPr/>
            </p:nvSpPr>
            <p:spPr>
              <a:xfrm>
                <a:off x="1703510" y="3624926"/>
                <a:ext cx="2448560" cy="525145"/>
              </a:xfrm>
              <a:custGeom>
                <a:avLst/>
                <a:gdLst/>
                <a:ahLst/>
                <a:cxnLst/>
                <a:rect l="l" t="t" r="r" b="b"/>
                <a:pathLst>
                  <a:path w="2448560" h="525145">
                    <a:moveTo>
                      <a:pt x="2448273" y="131199"/>
                    </a:moveTo>
                    <a:lnTo>
                      <a:pt x="262435" y="131199"/>
                    </a:lnTo>
                    <a:lnTo>
                      <a:pt x="262435" y="0"/>
                    </a:lnTo>
                    <a:lnTo>
                      <a:pt x="0" y="262398"/>
                    </a:lnTo>
                    <a:lnTo>
                      <a:pt x="262435" y="524797"/>
                    </a:lnTo>
                    <a:lnTo>
                      <a:pt x="262435" y="393598"/>
                    </a:lnTo>
                    <a:lnTo>
                      <a:pt x="2448273" y="393598"/>
                    </a:lnTo>
                    <a:lnTo>
                      <a:pt x="2448273" y="131199"/>
                    </a:lnTo>
                    <a:close/>
                  </a:path>
                </a:pathLst>
              </a:custGeom>
              <a:ln w="9524">
                <a:solidFill>
                  <a:srgbClr val="FFFFFF"/>
                </a:solidFill>
              </a:ln>
            </p:spPr>
            <p:txBody>
              <a:bodyPr wrap="square" lIns="0" tIns="0" rIns="0" bIns="0" rtlCol="0"/>
              <a:lstStyle/>
              <a:p/>
            </p:txBody>
          </p:sp>
          <p:sp>
            <p:nvSpPr>
              <p:cNvPr id="29" name="object 29"/>
              <p:cNvSpPr txBox="1"/>
              <p:nvPr/>
            </p:nvSpPr>
            <p:spPr>
              <a:xfrm>
                <a:off x="2385700" y="3352927"/>
                <a:ext cx="1181100" cy="705485"/>
              </a:xfrm>
              <a:prstGeom prst="rect">
                <a:avLst/>
              </a:prstGeom>
            </p:spPr>
            <p:txBody>
              <a:bodyPr vert="horz" wrap="square" lIns="0" tIns="12700" rIns="0" bIns="0" rtlCol="0">
                <a:spAutoFit/>
              </a:bodyPr>
              <a:lstStyle/>
              <a:p>
                <a:pPr marL="52705" marR="5080" indent="-40640">
                  <a:lnSpc>
                    <a:spcPct val="139000"/>
                  </a:lnSpc>
                  <a:spcBef>
                    <a:spcPts val="100"/>
                  </a:spcBef>
                </a:pPr>
                <a:r>
                  <a:rPr sz="1600" spc="-5" dirty="0">
                    <a:latin typeface="Calibri" panose="020F0502020204030204"/>
                    <a:cs typeface="Calibri" panose="020F0502020204030204"/>
                  </a:rPr>
                  <a:t>MoreCards  r</a:t>
                </a:r>
                <a:r>
                  <a:rPr sz="1600" dirty="0">
                    <a:latin typeface="Calibri" panose="020F0502020204030204"/>
                    <a:cs typeface="Calibri" panose="020F0502020204030204"/>
                  </a:rPr>
                  <a:t>etu</a:t>
                </a:r>
                <a:r>
                  <a:rPr sz="1600" spc="-5" dirty="0">
                    <a:latin typeface="Calibri" panose="020F0502020204030204"/>
                    <a:cs typeface="Calibri" panose="020F0502020204030204"/>
                  </a:rPr>
                  <a:t>r</a:t>
                </a:r>
                <a:r>
                  <a:rPr sz="1600" dirty="0">
                    <a:latin typeface="Calibri" panose="020F0502020204030204"/>
                    <a:cs typeface="Calibri" panose="020F0502020204030204"/>
                  </a:rPr>
                  <a:t>nValue()</a:t>
                </a:r>
                <a:endParaRPr sz="1600">
                  <a:latin typeface="Calibri" panose="020F0502020204030204"/>
                  <a:cs typeface="Calibri" panose="020F0502020204030204"/>
                </a:endParaRPr>
              </a:p>
            </p:txBody>
          </p:sp>
          <p:sp>
            <p:nvSpPr>
              <p:cNvPr id="30" name="object 30"/>
              <p:cNvSpPr/>
              <p:nvPr/>
            </p:nvSpPr>
            <p:spPr>
              <a:xfrm>
                <a:off x="479623" y="4291313"/>
                <a:ext cx="1224280" cy="571500"/>
              </a:xfrm>
              <a:custGeom>
                <a:avLst/>
                <a:gdLst/>
                <a:ahLst/>
                <a:cxnLst/>
                <a:rect l="l" t="t" r="r" b="b"/>
                <a:pathLst>
                  <a:path w="1224280" h="571500">
                    <a:moveTo>
                      <a:pt x="1128668" y="0"/>
                    </a:moveTo>
                    <a:lnTo>
                      <a:pt x="95219" y="0"/>
                    </a:lnTo>
                    <a:lnTo>
                      <a:pt x="58156" y="7482"/>
                    </a:lnTo>
                    <a:lnTo>
                      <a:pt x="27889" y="27889"/>
                    </a:lnTo>
                    <a:lnTo>
                      <a:pt x="7482" y="58155"/>
                    </a:lnTo>
                    <a:lnTo>
                      <a:pt x="0" y="95219"/>
                    </a:lnTo>
                    <a:lnTo>
                      <a:pt x="0" y="476089"/>
                    </a:lnTo>
                    <a:lnTo>
                      <a:pt x="7482" y="513153"/>
                    </a:lnTo>
                    <a:lnTo>
                      <a:pt x="27889" y="543420"/>
                    </a:lnTo>
                    <a:lnTo>
                      <a:pt x="58156" y="563826"/>
                    </a:lnTo>
                    <a:lnTo>
                      <a:pt x="95219" y="571309"/>
                    </a:lnTo>
                    <a:lnTo>
                      <a:pt x="1128668" y="571309"/>
                    </a:lnTo>
                    <a:lnTo>
                      <a:pt x="1165732" y="563826"/>
                    </a:lnTo>
                    <a:lnTo>
                      <a:pt x="1195999" y="543420"/>
                    </a:lnTo>
                    <a:lnTo>
                      <a:pt x="1216406" y="513153"/>
                    </a:lnTo>
                    <a:lnTo>
                      <a:pt x="1223888" y="476089"/>
                    </a:lnTo>
                    <a:lnTo>
                      <a:pt x="1223888" y="95219"/>
                    </a:lnTo>
                    <a:lnTo>
                      <a:pt x="1216406" y="58155"/>
                    </a:lnTo>
                    <a:lnTo>
                      <a:pt x="1195999" y="27889"/>
                    </a:lnTo>
                    <a:lnTo>
                      <a:pt x="1165732" y="7482"/>
                    </a:lnTo>
                    <a:lnTo>
                      <a:pt x="1128668" y="0"/>
                    </a:lnTo>
                    <a:close/>
                  </a:path>
                </a:pathLst>
              </a:custGeom>
              <a:solidFill>
                <a:srgbClr val="AA7CA9"/>
              </a:solidFill>
            </p:spPr>
            <p:txBody>
              <a:bodyPr wrap="square" lIns="0" tIns="0" rIns="0" bIns="0" rtlCol="0"/>
              <a:lstStyle/>
              <a:p/>
            </p:txBody>
          </p:sp>
          <p:sp>
            <p:nvSpPr>
              <p:cNvPr id="31" name="object 31"/>
              <p:cNvSpPr txBox="1"/>
              <p:nvPr/>
            </p:nvSpPr>
            <p:spPr>
              <a:xfrm>
                <a:off x="793067" y="4352222"/>
                <a:ext cx="60261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Calibri" panose="020F0502020204030204"/>
                    <a:cs typeface="Calibri" panose="020F0502020204030204"/>
                  </a:rPr>
                  <a:t>Pla</a:t>
                </a:r>
                <a:r>
                  <a:rPr sz="1800" spc="-5" dirty="0">
                    <a:solidFill>
                      <a:srgbClr val="FFFFFF"/>
                    </a:solidFill>
                    <a:latin typeface="Calibri" panose="020F0502020204030204"/>
                    <a:cs typeface="Calibri" panose="020F0502020204030204"/>
                  </a:rPr>
                  <a:t>y</a:t>
                </a:r>
                <a:r>
                  <a:rPr sz="1800" dirty="0">
                    <a:solidFill>
                      <a:srgbClr val="FFFFFF"/>
                    </a:solidFill>
                    <a:latin typeface="Calibri" panose="020F0502020204030204"/>
                    <a:cs typeface="Calibri" panose="020F0502020204030204"/>
                  </a:rPr>
                  <a:t>er</a:t>
                </a:r>
                <a:endParaRPr sz="1800">
                  <a:latin typeface="Calibri" panose="020F0502020204030204"/>
                  <a:cs typeface="Calibri" panose="020F0502020204030204"/>
                </a:endParaRPr>
              </a:p>
            </p:txBody>
          </p:sp>
          <p:sp>
            <p:nvSpPr>
              <p:cNvPr id="32" name="object 32"/>
              <p:cNvSpPr/>
              <p:nvPr/>
            </p:nvSpPr>
            <p:spPr>
              <a:xfrm>
                <a:off x="4223791" y="4291313"/>
                <a:ext cx="1296670" cy="571500"/>
              </a:xfrm>
              <a:custGeom>
                <a:avLst/>
                <a:gdLst/>
                <a:ahLst/>
                <a:cxnLst/>
                <a:rect l="l" t="t" r="r" b="b"/>
                <a:pathLst>
                  <a:path w="1296670" h="571500">
                    <a:moveTo>
                      <a:pt x="1200923" y="0"/>
                    </a:moveTo>
                    <a:lnTo>
                      <a:pt x="95220" y="0"/>
                    </a:lnTo>
                    <a:lnTo>
                      <a:pt x="58156" y="7482"/>
                    </a:lnTo>
                    <a:lnTo>
                      <a:pt x="27889" y="27889"/>
                    </a:lnTo>
                    <a:lnTo>
                      <a:pt x="7482" y="58155"/>
                    </a:lnTo>
                    <a:lnTo>
                      <a:pt x="0" y="95219"/>
                    </a:lnTo>
                    <a:lnTo>
                      <a:pt x="0" y="476089"/>
                    </a:lnTo>
                    <a:lnTo>
                      <a:pt x="7482" y="513153"/>
                    </a:lnTo>
                    <a:lnTo>
                      <a:pt x="27889" y="543420"/>
                    </a:lnTo>
                    <a:lnTo>
                      <a:pt x="58156" y="563826"/>
                    </a:lnTo>
                    <a:lnTo>
                      <a:pt x="95220" y="571309"/>
                    </a:lnTo>
                    <a:lnTo>
                      <a:pt x="1200923" y="571309"/>
                    </a:lnTo>
                    <a:lnTo>
                      <a:pt x="1237987" y="563826"/>
                    </a:lnTo>
                    <a:lnTo>
                      <a:pt x="1268254" y="543420"/>
                    </a:lnTo>
                    <a:lnTo>
                      <a:pt x="1288661" y="513153"/>
                    </a:lnTo>
                    <a:lnTo>
                      <a:pt x="1296144" y="476089"/>
                    </a:lnTo>
                    <a:lnTo>
                      <a:pt x="1296144" y="95219"/>
                    </a:lnTo>
                    <a:lnTo>
                      <a:pt x="1288661" y="58155"/>
                    </a:lnTo>
                    <a:lnTo>
                      <a:pt x="1268254" y="27889"/>
                    </a:lnTo>
                    <a:lnTo>
                      <a:pt x="1237987" y="7482"/>
                    </a:lnTo>
                    <a:lnTo>
                      <a:pt x="1200923" y="0"/>
                    </a:lnTo>
                    <a:close/>
                  </a:path>
                </a:pathLst>
              </a:custGeom>
              <a:solidFill>
                <a:srgbClr val="AA7CA9"/>
              </a:solidFill>
            </p:spPr>
            <p:txBody>
              <a:bodyPr wrap="square" lIns="0" tIns="0" rIns="0" bIns="0" rtlCol="0"/>
              <a:lstStyle/>
              <a:p/>
            </p:txBody>
          </p:sp>
          <p:sp>
            <p:nvSpPr>
              <p:cNvPr id="33" name="object 33"/>
              <p:cNvSpPr txBox="1"/>
              <p:nvPr/>
            </p:nvSpPr>
            <p:spPr>
              <a:xfrm>
                <a:off x="4616164" y="4352222"/>
                <a:ext cx="518159"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FFFF"/>
                    </a:solidFill>
                    <a:latin typeface="Calibri" panose="020F0502020204030204"/>
                    <a:cs typeface="Calibri" panose="020F0502020204030204"/>
                  </a:rPr>
                  <a:t>Ha</a:t>
                </a:r>
                <a:r>
                  <a:rPr sz="1800" dirty="0">
                    <a:solidFill>
                      <a:srgbClr val="FFFFFF"/>
                    </a:solidFill>
                    <a:latin typeface="Calibri" panose="020F0502020204030204"/>
                    <a:cs typeface="Calibri" panose="020F0502020204030204"/>
                  </a:rPr>
                  <a:t>nd</a:t>
                </a:r>
                <a:endParaRPr sz="1800">
                  <a:latin typeface="Calibri" panose="020F0502020204030204"/>
                  <a:cs typeface="Calibri" panose="020F0502020204030204"/>
                </a:endParaRPr>
              </a:p>
            </p:txBody>
          </p:sp>
          <p:sp>
            <p:nvSpPr>
              <p:cNvPr id="34" name="object 34"/>
              <p:cNvSpPr/>
              <p:nvPr/>
            </p:nvSpPr>
            <p:spPr>
              <a:xfrm>
                <a:off x="1703511" y="4505553"/>
                <a:ext cx="2520315" cy="534035"/>
              </a:xfrm>
              <a:custGeom>
                <a:avLst/>
                <a:gdLst/>
                <a:ahLst/>
                <a:cxnLst/>
                <a:rect l="l" t="t" r="r" b="b"/>
                <a:pathLst>
                  <a:path w="2520315" h="534035">
                    <a:moveTo>
                      <a:pt x="266772" y="0"/>
                    </a:moveTo>
                    <a:lnTo>
                      <a:pt x="0" y="266771"/>
                    </a:lnTo>
                    <a:lnTo>
                      <a:pt x="266772" y="533543"/>
                    </a:lnTo>
                    <a:lnTo>
                      <a:pt x="266772" y="400157"/>
                    </a:lnTo>
                    <a:lnTo>
                      <a:pt x="2520279" y="400157"/>
                    </a:lnTo>
                    <a:lnTo>
                      <a:pt x="2520279" y="133385"/>
                    </a:lnTo>
                    <a:lnTo>
                      <a:pt x="266772" y="133385"/>
                    </a:lnTo>
                    <a:lnTo>
                      <a:pt x="266772" y="0"/>
                    </a:lnTo>
                    <a:close/>
                  </a:path>
                </a:pathLst>
              </a:custGeom>
              <a:solidFill>
                <a:srgbClr val="FFFB00"/>
              </a:solidFill>
            </p:spPr>
            <p:txBody>
              <a:bodyPr wrap="square" lIns="0" tIns="0" rIns="0" bIns="0" rtlCol="0"/>
              <a:lstStyle/>
              <a:p/>
            </p:txBody>
          </p:sp>
          <p:sp>
            <p:nvSpPr>
              <p:cNvPr id="35" name="object 35"/>
              <p:cNvSpPr/>
              <p:nvPr/>
            </p:nvSpPr>
            <p:spPr>
              <a:xfrm>
                <a:off x="1703512" y="4505553"/>
                <a:ext cx="2520315" cy="534035"/>
              </a:xfrm>
              <a:custGeom>
                <a:avLst/>
                <a:gdLst/>
                <a:ahLst/>
                <a:cxnLst/>
                <a:rect l="l" t="t" r="r" b="b"/>
                <a:pathLst>
                  <a:path w="2520315" h="534035">
                    <a:moveTo>
                      <a:pt x="2520279" y="133385"/>
                    </a:moveTo>
                    <a:lnTo>
                      <a:pt x="266771" y="133385"/>
                    </a:lnTo>
                    <a:lnTo>
                      <a:pt x="266771" y="0"/>
                    </a:lnTo>
                    <a:lnTo>
                      <a:pt x="0" y="266771"/>
                    </a:lnTo>
                    <a:lnTo>
                      <a:pt x="266771" y="533543"/>
                    </a:lnTo>
                    <a:lnTo>
                      <a:pt x="266771" y="400157"/>
                    </a:lnTo>
                    <a:lnTo>
                      <a:pt x="2520279" y="400157"/>
                    </a:lnTo>
                    <a:lnTo>
                      <a:pt x="2520279" y="133385"/>
                    </a:lnTo>
                    <a:close/>
                  </a:path>
                </a:pathLst>
              </a:custGeom>
              <a:ln w="9524">
                <a:solidFill>
                  <a:srgbClr val="FFFFFF"/>
                </a:solidFill>
              </a:ln>
            </p:spPr>
            <p:txBody>
              <a:bodyPr wrap="square" lIns="0" tIns="0" rIns="0" bIns="0" rtlCol="0"/>
              <a:lstStyle/>
              <a:p/>
            </p:txBody>
          </p:sp>
          <p:sp>
            <p:nvSpPr>
              <p:cNvPr id="36" name="object 36"/>
              <p:cNvSpPr/>
              <p:nvPr/>
            </p:nvSpPr>
            <p:spPr>
              <a:xfrm>
                <a:off x="1703511" y="4077072"/>
                <a:ext cx="2520315" cy="602615"/>
              </a:xfrm>
              <a:custGeom>
                <a:avLst/>
                <a:gdLst/>
                <a:ahLst/>
                <a:cxnLst/>
                <a:rect l="l" t="t" r="r" b="b"/>
                <a:pathLst>
                  <a:path w="2520315" h="602614">
                    <a:moveTo>
                      <a:pt x="2219232" y="0"/>
                    </a:moveTo>
                    <a:lnTo>
                      <a:pt x="2219232" y="150526"/>
                    </a:lnTo>
                    <a:lnTo>
                      <a:pt x="0" y="150526"/>
                    </a:lnTo>
                    <a:lnTo>
                      <a:pt x="0" y="451580"/>
                    </a:lnTo>
                    <a:lnTo>
                      <a:pt x="2219232" y="451580"/>
                    </a:lnTo>
                    <a:lnTo>
                      <a:pt x="2219232" y="602105"/>
                    </a:lnTo>
                    <a:lnTo>
                      <a:pt x="2520279" y="301053"/>
                    </a:lnTo>
                    <a:lnTo>
                      <a:pt x="2219232" y="0"/>
                    </a:lnTo>
                    <a:close/>
                  </a:path>
                </a:pathLst>
              </a:custGeom>
              <a:solidFill>
                <a:srgbClr val="FFFB00"/>
              </a:solidFill>
            </p:spPr>
            <p:txBody>
              <a:bodyPr wrap="square" lIns="0" tIns="0" rIns="0" bIns="0" rtlCol="0"/>
              <a:lstStyle/>
              <a:p/>
            </p:txBody>
          </p:sp>
          <p:sp>
            <p:nvSpPr>
              <p:cNvPr id="37" name="object 37"/>
              <p:cNvSpPr/>
              <p:nvPr/>
            </p:nvSpPr>
            <p:spPr>
              <a:xfrm>
                <a:off x="1703511" y="4077072"/>
                <a:ext cx="2520315" cy="602615"/>
              </a:xfrm>
              <a:custGeom>
                <a:avLst/>
                <a:gdLst/>
                <a:ahLst/>
                <a:cxnLst/>
                <a:rect l="l" t="t" r="r" b="b"/>
                <a:pathLst>
                  <a:path w="2520315" h="602614">
                    <a:moveTo>
                      <a:pt x="0" y="150527"/>
                    </a:moveTo>
                    <a:lnTo>
                      <a:pt x="2219232" y="150527"/>
                    </a:lnTo>
                    <a:lnTo>
                      <a:pt x="2219232" y="0"/>
                    </a:lnTo>
                    <a:lnTo>
                      <a:pt x="2520279" y="301052"/>
                    </a:lnTo>
                    <a:lnTo>
                      <a:pt x="2219232" y="602105"/>
                    </a:lnTo>
                    <a:lnTo>
                      <a:pt x="2219232" y="451579"/>
                    </a:lnTo>
                    <a:lnTo>
                      <a:pt x="0" y="451579"/>
                    </a:lnTo>
                    <a:lnTo>
                      <a:pt x="0" y="150527"/>
                    </a:lnTo>
                    <a:close/>
                  </a:path>
                </a:pathLst>
              </a:custGeom>
              <a:ln w="9524">
                <a:solidFill>
                  <a:srgbClr val="FFFFFF"/>
                </a:solidFill>
              </a:ln>
            </p:spPr>
            <p:txBody>
              <a:bodyPr wrap="square" lIns="0" tIns="0" rIns="0" bIns="0" rtlCol="0"/>
              <a:lstStyle/>
              <a:p/>
            </p:txBody>
          </p:sp>
          <p:sp>
            <p:nvSpPr>
              <p:cNvPr id="38" name="object 38"/>
              <p:cNvSpPr txBox="1"/>
              <p:nvPr/>
            </p:nvSpPr>
            <p:spPr>
              <a:xfrm>
                <a:off x="2277452" y="4260619"/>
                <a:ext cx="1326515" cy="680720"/>
              </a:xfrm>
              <a:prstGeom prst="rect">
                <a:avLst/>
              </a:prstGeom>
            </p:spPr>
            <p:txBody>
              <a:bodyPr vert="horz" wrap="square" lIns="0" tIns="12700" rIns="0" bIns="0" rtlCol="0">
                <a:spAutoFit/>
              </a:bodyPr>
              <a:lstStyle/>
              <a:p>
                <a:pPr marL="12700">
                  <a:lnSpc>
                    <a:spcPct val="100000"/>
                  </a:lnSpc>
                  <a:spcBef>
                    <a:spcPts val="100"/>
                  </a:spcBef>
                </a:pPr>
                <a:r>
                  <a:rPr sz="1600" dirty="0">
                    <a:latin typeface="Calibri" panose="020F0502020204030204"/>
                    <a:cs typeface="Calibri" panose="020F0502020204030204"/>
                  </a:rPr>
                  <a:t>GetHandValue</a:t>
                </a:r>
                <a:endParaRPr sz="1600">
                  <a:latin typeface="Calibri" panose="020F0502020204030204"/>
                  <a:cs typeface="Calibri" panose="020F0502020204030204"/>
                </a:endParaRPr>
              </a:p>
              <a:p>
                <a:pPr marL="198120">
                  <a:lnSpc>
                    <a:spcPct val="100000"/>
                  </a:lnSpc>
                  <a:spcBef>
                    <a:spcPts val="1315"/>
                  </a:spcBef>
                </a:pPr>
                <a:r>
                  <a:rPr sz="1600" spc="-5" dirty="0">
                    <a:latin typeface="Calibri" panose="020F0502020204030204"/>
                    <a:cs typeface="Calibri" panose="020F0502020204030204"/>
                  </a:rPr>
                  <a:t>returnValue()</a:t>
                </a:r>
                <a:endParaRPr sz="1600">
                  <a:latin typeface="Calibri" panose="020F0502020204030204"/>
                  <a:cs typeface="Calibri" panose="020F0502020204030204"/>
                </a:endParaRPr>
              </a:p>
            </p:txBody>
          </p:sp>
          <p:sp>
            <p:nvSpPr>
              <p:cNvPr id="39" name="object 39"/>
              <p:cNvSpPr/>
              <p:nvPr/>
            </p:nvSpPr>
            <p:spPr>
              <a:xfrm>
                <a:off x="479623" y="5220116"/>
                <a:ext cx="1224280" cy="572135"/>
              </a:xfrm>
              <a:custGeom>
                <a:avLst/>
                <a:gdLst/>
                <a:ahLst/>
                <a:cxnLst/>
                <a:rect l="l" t="t" r="r" b="b"/>
                <a:pathLst>
                  <a:path w="1224280" h="572135">
                    <a:moveTo>
                      <a:pt x="1128616" y="0"/>
                    </a:moveTo>
                    <a:lnTo>
                      <a:pt x="95271" y="0"/>
                    </a:lnTo>
                    <a:lnTo>
                      <a:pt x="58187" y="7486"/>
                    </a:lnTo>
                    <a:lnTo>
                      <a:pt x="27904" y="27904"/>
                    </a:lnTo>
                    <a:lnTo>
                      <a:pt x="7486" y="58187"/>
                    </a:lnTo>
                    <a:lnTo>
                      <a:pt x="0" y="95271"/>
                    </a:lnTo>
                    <a:lnTo>
                      <a:pt x="0" y="476345"/>
                    </a:lnTo>
                    <a:lnTo>
                      <a:pt x="7486" y="513429"/>
                    </a:lnTo>
                    <a:lnTo>
                      <a:pt x="27904" y="543713"/>
                    </a:lnTo>
                    <a:lnTo>
                      <a:pt x="58187" y="564130"/>
                    </a:lnTo>
                    <a:lnTo>
                      <a:pt x="95271" y="571617"/>
                    </a:lnTo>
                    <a:lnTo>
                      <a:pt x="1128616" y="571617"/>
                    </a:lnTo>
                    <a:lnTo>
                      <a:pt x="1165700" y="564130"/>
                    </a:lnTo>
                    <a:lnTo>
                      <a:pt x="1195984" y="543713"/>
                    </a:lnTo>
                    <a:lnTo>
                      <a:pt x="1216401" y="513429"/>
                    </a:lnTo>
                    <a:lnTo>
                      <a:pt x="1223888" y="476345"/>
                    </a:lnTo>
                    <a:lnTo>
                      <a:pt x="1223888" y="95271"/>
                    </a:lnTo>
                    <a:lnTo>
                      <a:pt x="1216401" y="58187"/>
                    </a:lnTo>
                    <a:lnTo>
                      <a:pt x="1195984" y="27904"/>
                    </a:lnTo>
                    <a:lnTo>
                      <a:pt x="1165700" y="7486"/>
                    </a:lnTo>
                    <a:lnTo>
                      <a:pt x="1128616" y="0"/>
                    </a:lnTo>
                    <a:close/>
                  </a:path>
                </a:pathLst>
              </a:custGeom>
              <a:solidFill>
                <a:srgbClr val="AA7CA9"/>
              </a:solidFill>
            </p:spPr>
            <p:txBody>
              <a:bodyPr wrap="square" lIns="0" tIns="0" rIns="0" bIns="0" rtlCol="0"/>
              <a:lstStyle/>
              <a:p/>
            </p:txBody>
          </p:sp>
          <p:sp>
            <p:nvSpPr>
              <p:cNvPr id="40" name="object 40"/>
              <p:cNvSpPr txBox="1"/>
              <p:nvPr/>
            </p:nvSpPr>
            <p:spPr>
              <a:xfrm>
                <a:off x="776673" y="5281039"/>
                <a:ext cx="63563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FFFF"/>
                    </a:solidFill>
                    <a:latin typeface="Calibri" panose="020F0502020204030204"/>
                    <a:cs typeface="Calibri" panose="020F0502020204030204"/>
                  </a:rPr>
                  <a:t>D</a:t>
                </a:r>
                <a:r>
                  <a:rPr sz="1800" dirty="0">
                    <a:solidFill>
                      <a:srgbClr val="FFFFFF"/>
                    </a:solidFill>
                    <a:latin typeface="Calibri" panose="020F0502020204030204"/>
                    <a:cs typeface="Calibri" panose="020F0502020204030204"/>
                  </a:rPr>
                  <a:t>ealer</a:t>
                </a:r>
                <a:endParaRPr sz="1800">
                  <a:latin typeface="Calibri" panose="020F0502020204030204"/>
                  <a:cs typeface="Calibri" panose="020F0502020204030204"/>
                </a:endParaRPr>
              </a:p>
            </p:txBody>
          </p:sp>
          <p:sp>
            <p:nvSpPr>
              <p:cNvPr id="41" name="object 41"/>
              <p:cNvSpPr/>
              <p:nvPr/>
            </p:nvSpPr>
            <p:spPr>
              <a:xfrm>
                <a:off x="4223791" y="5220116"/>
                <a:ext cx="1296670" cy="572135"/>
              </a:xfrm>
              <a:custGeom>
                <a:avLst/>
                <a:gdLst/>
                <a:ahLst/>
                <a:cxnLst/>
                <a:rect l="l" t="t" r="r" b="b"/>
                <a:pathLst>
                  <a:path w="1296670" h="572135">
                    <a:moveTo>
                      <a:pt x="1200871" y="0"/>
                    </a:moveTo>
                    <a:lnTo>
                      <a:pt x="95271" y="0"/>
                    </a:lnTo>
                    <a:lnTo>
                      <a:pt x="58187" y="7486"/>
                    </a:lnTo>
                    <a:lnTo>
                      <a:pt x="27904" y="27904"/>
                    </a:lnTo>
                    <a:lnTo>
                      <a:pt x="7486" y="58187"/>
                    </a:lnTo>
                    <a:lnTo>
                      <a:pt x="0" y="95271"/>
                    </a:lnTo>
                    <a:lnTo>
                      <a:pt x="0" y="476345"/>
                    </a:lnTo>
                    <a:lnTo>
                      <a:pt x="7486" y="513429"/>
                    </a:lnTo>
                    <a:lnTo>
                      <a:pt x="27904" y="543713"/>
                    </a:lnTo>
                    <a:lnTo>
                      <a:pt x="58187" y="564130"/>
                    </a:lnTo>
                    <a:lnTo>
                      <a:pt x="95271" y="571617"/>
                    </a:lnTo>
                    <a:lnTo>
                      <a:pt x="1200871" y="571617"/>
                    </a:lnTo>
                    <a:lnTo>
                      <a:pt x="1237955" y="564130"/>
                    </a:lnTo>
                    <a:lnTo>
                      <a:pt x="1268239" y="543713"/>
                    </a:lnTo>
                    <a:lnTo>
                      <a:pt x="1288657" y="513429"/>
                    </a:lnTo>
                    <a:lnTo>
                      <a:pt x="1296144" y="476345"/>
                    </a:lnTo>
                    <a:lnTo>
                      <a:pt x="1296144" y="95271"/>
                    </a:lnTo>
                    <a:lnTo>
                      <a:pt x="1288657" y="58187"/>
                    </a:lnTo>
                    <a:lnTo>
                      <a:pt x="1268239" y="27904"/>
                    </a:lnTo>
                    <a:lnTo>
                      <a:pt x="1237955" y="7486"/>
                    </a:lnTo>
                    <a:lnTo>
                      <a:pt x="1200871" y="0"/>
                    </a:lnTo>
                    <a:close/>
                  </a:path>
                </a:pathLst>
              </a:custGeom>
              <a:solidFill>
                <a:srgbClr val="AA7CA9"/>
              </a:solidFill>
            </p:spPr>
            <p:txBody>
              <a:bodyPr wrap="square" lIns="0" tIns="0" rIns="0" bIns="0" rtlCol="0"/>
              <a:lstStyle/>
              <a:p/>
            </p:txBody>
          </p:sp>
          <p:sp>
            <p:nvSpPr>
              <p:cNvPr id="42" name="object 42"/>
              <p:cNvSpPr txBox="1"/>
              <p:nvPr/>
            </p:nvSpPr>
            <p:spPr>
              <a:xfrm>
                <a:off x="4634764" y="5281039"/>
                <a:ext cx="48069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FFFF"/>
                    </a:solidFill>
                    <a:latin typeface="Calibri" panose="020F0502020204030204"/>
                    <a:cs typeface="Calibri" panose="020F0502020204030204"/>
                  </a:rPr>
                  <a:t>De</a:t>
                </a:r>
                <a:r>
                  <a:rPr sz="1800" dirty="0">
                    <a:solidFill>
                      <a:srgbClr val="FFFFFF"/>
                    </a:solidFill>
                    <a:latin typeface="Calibri" panose="020F0502020204030204"/>
                    <a:cs typeface="Calibri" panose="020F0502020204030204"/>
                  </a:rPr>
                  <a:t>ck</a:t>
                </a:r>
                <a:endParaRPr sz="1800">
                  <a:latin typeface="Calibri" panose="020F0502020204030204"/>
                  <a:cs typeface="Calibri" panose="020F0502020204030204"/>
                </a:endParaRPr>
              </a:p>
            </p:txBody>
          </p:sp>
          <p:sp>
            <p:nvSpPr>
              <p:cNvPr id="43" name="object 43"/>
              <p:cNvSpPr/>
              <p:nvPr/>
            </p:nvSpPr>
            <p:spPr>
              <a:xfrm>
                <a:off x="1703511" y="5434472"/>
                <a:ext cx="2487930" cy="541655"/>
              </a:xfrm>
              <a:custGeom>
                <a:avLst/>
                <a:gdLst/>
                <a:ahLst/>
                <a:cxnLst/>
                <a:rect l="l" t="t" r="r" b="b"/>
                <a:pathLst>
                  <a:path w="2487929" h="541654">
                    <a:moveTo>
                      <a:pt x="270647" y="0"/>
                    </a:moveTo>
                    <a:lnTo>
                      <a:pt x="0" y="270624"/>
                    </a:lnTo>
                    <a:lnTo>
                      <a:pt x="270647" y="541249"/>
                    </a:lnTo>
                    <a:lnTo>
                      <a:pt x="270647" y="405937"/>
                    </a:lnTo>
                    <a:lnTo>
                      <a:pt x="2487552" y="405937"/>
                    </a:lnTo>
                    <a:lnTo>
                      <a:pt x="2487552" y="135312"/>
                    </a:lnTo>
                    <a:lnTo>
                      <a:pt x="270647" y="135312"/>
                    </a:lnTo>
                    <a:lnTo>
                      <a:pt x="270647" y="0"/>
                    </a:lnTo>
                    <a:close/>
                  </a:path>
                </a:pathLst>
              </a:custGeom>
              <a:solidFill>
                <a:srgbClr val="FFFB00"/>
              </a:solidFill>
            </p:spPr>
            <p:txBody>
              <a:bodyPr wrap="square" lIns="0" tIns="0" rIns="0" bIns="0" rtlCol="0"/>
              <a:lstStyle/>
              <a:p/>
            </p:txBody>
          </p:sp>
          <p:sp>
            <p:nvSpPr>
              <p:cNvPr id="44" name="object 44"/>
              <p:cNvSpPr/>
              <p:nvPr/>
            </p:nvSpPr>
            <p:spPr>
              <a:xfrm>
                <a:off x="1703512" y="5434472"/>
                <a:ext cx="2487930" cy="541655"/>
              </a:xfrm>
              <a:custGeom>
                <a:avLst/>
                <a:gdLst/>
                <a:ahLst/>
                <a:cxnLst/>
                <a:rect l="l" t="t" r="r" b="b"/>
                <a:pathLst>
                  <a:path w="2487929" h="541654">
                    <a:moveTo>
                      <a:pt x="2487552" y="135312"/>
                    </a:moveTo>
                    <a:lnTo>
                      <a:pt x="270646" y="135312"/>
                    </a:lnTo>
                    <a:lnTo>
                      <a:pt x="270646" y="0"/>
                    </a:lnTo>
                    <a:lnTo>
                      <a:pt x="0" y="270624"/>
                    </a:lnTo>
                    <a:lnTo>
                      <a:pt x="270646" y="541249"/>
                    </a:lnTo>
                    <a:lnTo>
                      <a:pt x="270646" y="405937"/>
                    </a:lnTo>
                    <a:lnTo>
                      <a:pt x="2487552" y="405937"/>
                    </a:lnTo>
                    <a:lnTo>
                      <a:pt x="2487552" y="135312"/>
                    </a:lnTo>
                    <a:close/>
                  </a:path>
                </a:pathLst>
              </a:custGeom>
              <a:ln w="9524">
                <a:solidFill>
                  <a:srgbClr val="FFFFFF"/>
                </a:solidFill>
              </a:ln>
            </p:spPr>
            <p:txBody>
              <a:bodyPr wrap="square" lIns="0" tIns="0" rIns="0" bIns="0" rtlCol="0"/>
              <a:lstStyle/>
              <a:p/>
            </p:txBody>
          </p:sp>
          <p:sp>
            <p:nvSpPr>
              <p:cNvPr id="45" name="object 45"/>
              <p:cNvSpPr/>
              <p:nvPr/>
            </p:nvSpPr>
            <p:spPr>
              <a:xfrm>
                <a:off x="1703511" y="5005759"/>
                <a:ext cx="2520315" cy="610235"/>
              </a:xfrm>
              <a:custGeom>
                <a:avLst/>
                <a:gdLst/>
                <a:ahLst/>
                <a:cxnLst/>
                <a:rect l="l" t="t" r="r" b="b"/>
                <a:pathLst>
                  <a:path w="2520315" h="610235">
                    <a:moveTo>
                      <a:pt x="2215335" y="0"/>
                    </a:moveTo>
                    <a:lnTo>
                      <a:pt x="2215335" y="152460"/>
                    </a:lnTo>
                    <a:lnTo>
                      <a:pt x="0" y="152460"/>
                    </a:lnTo>
                    <a:lnTo>
                      <a:pt x="0" y="457386"/>
                    </a:lnTo>
                    <a:lnTo>
                      <a:pt x="2215335" y="457386"/>
                    </a:lnTo>
                    <a:lnTo>
                      <a:pt x="2215335" y="609848"/>
                    </a:lnTo>
                    <a:lnTo>
                      <a:pt x="2520279" y="304924"/>
                    </a:lnTo>
                    <a:lnTo>
                      <a:pt x="2215335" y="0"/>
                    </a:lnTo>
                    <a:close/>
                  </a:path>
                </a:pathLst>
              </a:custGeom>
              <a:solidFill>
                <a:srgbClr val="FFFB00"/>
              </a:solidFill>
            </p:spPr>
            <p:txBody>
              <a:bodyPr wrap="square" lIns="0" tIns="0" rIns="0" bIns="0" rtlCol="0"/>
              <a:lstStyle/>
              <a:p/>
            </p:txBody>
          </p:sp>
          <p:sp>
            <p:nvSpPr>
              <p:cNvPr id="46" name="object 46"/>
              <p:cNvSpPr/>
              <p:nvPr/>
            </p:nvSpPr>
            <p:spPr>
              <a:xfrm>
                <a:off x="1703511" y="5005759"/>
                <a:ext cx="2520315" cy="610235"/>
              </a:xfrm>
              <a:custGeom>
                <a:avLst/>
                <a:gdLst/>
                <a:ahLst/>
                <a:cxnLst/>
                <a:rect l="l" t="t" r="r" b="b"/>
                <a:pathLst>
                  <a:path w="2520315" h="610235">
                    <a:moveTo>
                      <a:pt x="0" y="152462"/>
                    </a:moveTo>
                    <a:lnTo>
                      <a:pt x="2215336" y="152462"/>
                    </a:lnTo>
                    <a:lnTo>
                      <a:pt x="2215336" y="0"/>
                    </a:lnTo>
                    <a:lnTo>
                      <a:pt x="2520279" y="304924"/>
                    </a:lnTo>
                    <a:lnTo>
                      <a:pt x="2215336" y="609848"/>
                    </a:lnTo>
                    <a:lnTo>
                      <a:pt x="2215336" y="457386"/>
                    </a:lnTo>
                    <a:lnTo>
                      <a:pt x="0" y="457386"/>
                    </a:lnTo>
                    <a:lnTo>
                      <a:pt x="0" y="152462"/>
                    </a:lnTo>
                    <a:close/>
                  </a:path>
                </a:pathLst>
              </a:custGeom>
              <a:ln w="9524">
                <a:solidFill>
                  <a:srgbClr val="FFFFFF"/>
                </a:solidFill>
              </a:ln>
            </p:spPr>
            <p:txBody>
              <a:bodyPr wrap="square" lIns="0" tIns="0" rIns="0" bIns="0" rtlCol="0"/>
              <a:lstStyle/>
              <a:p/>
            </p:txBody>
          </p:sp>
          <p:sp>
            <p:nvSpPr>
              <p:cNvPr id="47" name="object 47"/>
              <p:cNvSpPr txBox="1"/>
              <p:nvPr/>
            </p:nvSpPr>
            <p:spPr>
              <a:xfrm>
                <a:off x="2551185" y="5191240"/>
                <a:ext cx="933450" cy="681355"/>
              </a:xfrm>
              <a:prstGeom prst="rect">
                <a:avLst/>
              </a:prstGeom>
            </p:spPr>
            <p:txBody>
              <a:bodyPr vert="horz" wrap="square" lIns="0" tIns="12700" rIns="0" bIns="0" rtlCol="0">
                <a:spAutoFit/>
              </a:bodyPr>
              <a:lstStyle/>
              <a:p>
                <a:pPr marL="14605">
                  <a:lnSpc>
                    <a:spcPct val="100000"/>
                  </a:lnSpc>
                  <a:spcBef>
                    <a:spcPts val="100"/>
                  </a:spcBef>
                </a:pPr>
                <a:r>
                  <a:rPr sz="1600" spc="-5" dirty="0">
                    <a:latin typeface="Calibri" panose="020F0502020204030204"/>
                    <a:cs typeface="Calibri" panose="020F0502020204030204"/>
                  </a:rPr>
                  <a:t>getCard</a:t>
                </a:r>
                <a:endParaRPr sz="1600">
                  <a:latin typeface="Calibri" panose="020F0502020204030204"/>
                  <a:cs typeface="Calibri" panose="020F0502020204030204"/>
                </a:endParaRPr>
              </a:p>
              <a:p>
                <a:pPr marL="12700">
                  <a:lnSpc>
                    <a:spcPct val="100000"/>
                  </a:lnSpc>
                  <a:spcBef>
                    <a:spcPts val="1320"/>
                  </a:spcBef>
                </a:pPr>
                <a:r>
                  <a:rPr sz="1600" spc="-5" dirty="0">
                    <a:latin typeface="Calibri" panose="020F0502020204030204"/>
                    <a:cs typeface="Calibri" panose="020F0502020204030204"/>
                  </a:rPr>
                  <a:t>returnCard</a:t>
                </a:r>
                <a:endParaRPr sz="1600">
                  <a:latin typeface="Calibri" panose="020F0502020204030204"/>
                  <a:cs typeface="Calibri" panose="020F0502020204030204"/>
                </a:endParaRPr>
              </a:p>
            </p:txBody>
          </p:sp>
          <p:sp>
            <p:nvSpPr>
              <p:cNvPr id="48" name="object 48"/>
              <p:cNvSpPr/>
              <p:nvPr/>
            </p:nvSpPr>
            <p:spPr>
              <a:xfrm>
                <a:off x="6240012" y="2052440"/>
                <a:ext cx="1380490" cy="572135"/>
              </a:xfrm>
              <a:custGeom>
                <a:avLst/>
                <a:gdLst/>
                <a:ahLst/>
                <a:cxnLst/>
                <a:rect l="l" t="t" r="r" b="b"/>
                <a:pathLst>
                  <a:path w="1380490" h="572135">
                    <a:moveTo>
                      <a:pt x="1284720" y="0"/>
                    </a:moveTo>
                    <a:lnTo>
                      <a:pt x="95265" y="0"/>
                    </a:lnTo>
                    <a:lnTo>
                      <a:pt x="58183" y="7486"/>
                    </a:lnTo>
                    <a:lnTo>
                      <a:pt x="27902" y="27902"/>
                    </a:lnTo>
                    <a:lnTo>
                      <a:pt x="7486" y="58183"/>
                    </a:lnTo>
                    <a:lnTo>
                      <a:pt x="0" y="95265"/>
                    </a:lnTo>
                    <a:lnTo>
                      <a:pt x="0" y="476313"/>
                    </a:lnTo>
                    <a:lnTo>
                      <a:pt x="7486" y="513395"/>
                    </a:lnTo>
                    <a:lnTo>
                      <a:pt x="27902" y="543676"/>
                    </a:lnTo>
                    <a:lnTo>
                      <a:pt x="58183" y="564092"/>
                    </a:lnTo>
                    <a:lnTo>
                      <a:pt x="95265" y="571578"/>
                    </a:lnTo>
                    <a:lnTo>
                      <a:pt x="1284720" y="571578"/>
                    </a:lnTo>
                    <a:lnTo>
                      <a:pt x="1321801" y="564092"/>
                    </a:lnTo>
                    <a:lnTo>
                      <a:pt x="1352082" y="543676"/>
                    </a:lnTo>
                    <a:lnTo>
                      <a:pt x="1372498" y="513395"/>
                    </a:lnTo>
                    <a:lnTo>
                      <a:pt x="1379984" y="476313"/>
                    </a:lnTo>
                    <a:lnTo>
                      <a:pt x="1379984" y="95265"/>
                    </a:lnTo>
                    <a:lnTo>
                      <a:pt x="1372498" y="58183"/>
                    </a:lnTo>
                    <a:lnTo>
                      <a:pt x="1352082" y="27902"/>
                    </a:lnTo>
                    <a:lnTo>
                      <a:pt x="1321801" y="7486"/>
                    </a:lnTo>
                    <a:lnTo>
                      <a:pt x="1284720" y="0"/>
                    </a:lnTo>
                    <a:close/>
                  </a:path>
                </a:pathLst>
              </a:custGeom>
              <a:solidFill>
                <a:srgbClr val="AA7CA9"/>
              </a:solidFill>
            </p:spPr>
            <p:txBody>
              <a:bodyPr wrap="square" lIns="0" tIns="0" rIns="0" bIns="0" rtlCol="0"/>
              <a:lstStyle/>
              <a:p/>
            </p:txBody>
          </p:sp>
          <p:sp>
            <p:nvSpPr>
              <p:cNvPr id="49" name="object 49"/>
              <p:cNvSpPr txBox="1"/>
              <p:nvPr/>
            </p:nvSpPr>
            <p:spPr>
              <a:xfrm>
                <a:off x="6614849" y="2113362"/>
                <a:ext cx="63563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FFFF"/>
                    </a:solidFill>
                    <a:latin typeface="Calibri" panose="020F0502020204030204"/>
                    <a:cs typeface="Calibri" panose="020F0502020204030204"/>
                  </a:rPr>
                  <a:t>D</a:t>
                </a:r>
                <a:r>
                  <a:rPr sz="1800" dirty="0">
                    <a:solidFill>
                      <a:srgbClr val="FFFFFF"/>
                    </a:solidFill>
                    <a:latin typeface="Calibri" panose="020F0502020204030204"/>
                    <a:cs typeface="Calibri" panose="020F0502020204030204"/>
                  </a:rPr>
                  <a:t>ealer</a:t>
                </a:r>
                <a:endParaRPr sz="1800">
                  <a:latin typeface="Calibri" panose="020F0502020204030204"/>
                  <a:cs typeface="Calibri" panose="020F0502020204030204"/>
                </a:endParaRPr>
              </a:p>
            </p:txBody>
          </p:sp>
          <p:sp>
            <p:nvSpPr>
              <p:cNvPr id="50" name="object 50"/>
              <p:cNvSpPr/>
              <p:nvPr/>
            </p:nvSpPr>
            <p:spPr>
              <a:xfrm>
                <a:off x="10096498" y="2052440"/>
                <a:ext cx="1428750" cy="572135"/>
              </a:xfrm>
              <a:custGeom>
                <a:avLst/>
                <a:gdLst/>
                <a:ahLst/>
                <a:cxnLst/>
                <a:rect l="l" t="t" r="r" b="b"/>
                <a:pathLst>
                  <a:path w="1428750" h="572135">
                    <a:moveTo>
                      <a:pt x="1333484" y="0"/>
                    </a:moveTo>
                    <a:lnTo>
                      <a:pt x="95265" y="0"/>
                    </a:lnTo>
                    <a:lnTo>
                      <a:pt x="58183" y="7486"/>
                    </a:lnTo>
                    <a:lnTo>
                      <a:pt x="27902" y="27902"/>
                    </a:lnTo>
                    <a:lnTo>
                      <a:pt x="7486" y="58183"/>
                    </a:lnTo>
                    <a:lnTo>
                      <a:pt x="0" y="95265"/>
                    </a:lnTo>
                    <a:lnTo>
                      <a:pt x="0" y="476313"/>
                    </a:lnTo>
                    <a:lnTo>
                      <a:pt x="7486" y="513395"/>
                    </a:lnTo>
                    <a:lnTo>
                      <a:pt x="27902" y="543676"/>
                    </a:lnTo>
                    <a:lnTo>
                      <a:pt x="58183" y="564092"/>
                    </a:lnTo>
                    <a:lnTo>
                      <a:pt x="95265" y="571578"/>
                    </a:lnTo>
                    <a:lnTo>
                      <a:pt x="1333484" y="571578"/>
                    </a:lnTo>
                    <a:lnTo>
                      <a:pt x="1370566" y="564092"/>
                    </a:lnTo>
                    <a:lnTo>
                      <a:pt x="1400847" y="543676"/>
                    </a:lnTo>
                    <a:lnTo>
                      <a:pt x="1421263" y="513395"/>
                    </a:lnTo>
                    <a:lnTo>
                      <a:pt x="1428750" y="476313"/>
                    </a:lnTo>
                    <a:lnTo>
                      <a:pt x="1428750" y="95265"/>
                    </a:lnTo>
                    <a:lnTo>
                      <a:pt x="1421263" y="58183"/>
                    </a:lnTo>
                    <a:lnTo>
                      <a:pt x="1400847" y="27902"/>
                    </a:lnTo>
                    <a:lnTo>
                      <a:pt x="1370566" y="7486"/>
                    </a:lnTo>
                    <a:lnTo>
                      <a:pt x="1333484" y="0"/>
                    </a:lnTo>
                    <a:close/>
                  </a:path>
                </a:pathLst>
              </a:custGeom>
              <a:solidFill>
                <a:srgbClr val="AA7CA9"/>
              </a:solidFill>
            </p:spPr>
            <p:txBody>
              <a:bodyPr wrap="square" lIns="0" tIns="0" rIns="0" bIns="0" rtlCol="0"/>
              <a:lstStyle/>
              <a:p/>
            </p:txBody>
          </p:sp>
          <p:sp>
            <p:nvSpPr>
              <p:cNvPr id="51" name="object 51"/>
              <p:cNvSpPr txBox="1"/>
              <p:nvPr/>
            </p:nvSpPr>
            <p:spPr>
              <a:xfrm>
                <a:off x="10512349" y="2113362"/>
                <a:ext cx="60261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Calibri" panose="020F0502020204030204"/>
                    <a:cs typeface="Calibri" panose="020F0502020204030204"/>
                  </a:rPr>
                  <a:t>Pla</a:t>
                </a:r>
                <a:r>
                  <a:rPr sz="1800" spc="-5" dirty="0">
                    <a:solidFill>
                      <a:srgbClr val="FFFFFF"/>
                    </a:solidFill>
                    <a:latin typeface="Calibri" panose="020F0502020204030204"/>
                    <a:cs typeface="Calibri" panose="020F0502020204030204"/>
                  </a:rPr>
                  <a:t>y</a:t>
                </a:r>
                <a:r>
                  <a:rPr sz="1800" dirty="0">
                    <a:solidFill>
                      <a:srgbClr val="FFFFFF"/>
                    </a:solidFill>
                    <a:latin typeface="Calibri" panose="020F0502020204030204"/>
                    <a:cs typeface="Calibri" panose="020F0502020204030204"/>
                  </a:rPr>
                  <a:t>er</a:t>
                </a:r>
                <a:endParaRPr sz="1800">
                  <a:latin typeface="Calibri" panose="020F0502020204030204"/>
                  <a:cs typeface="Calibri" panose="020F0502020204030204"/>
                </a:endParaRPr>
              </a:p>
            </p:txBody>
          </p:sp>
          <p:sp>
            <p:nvSpPr>
              <p:cNvPr id="52" name="object 52"/>
              <p:cNvSpPr/>
              <p:nvPr/>
            </p:nvSpPr>
            <p:spPr>
              <a:xfrm>
                <a:off x="7608165" y="2187346"/>
                <a:ext cx="2448560" cy="576580"/>
              </a:xfrm>
              <a:custGeom>
                <a:avLst/>
                <a:gdLst/>
                <a:ahLst/>
                <a:cxnLst/>
                <a:rect l="l" t="t" r="r" b="b"/>
                <a:pathLst>
                  <a:path w="2448559" h="576580">
                    <a:moveTo>
                      <a:pt x="288089" y="0"/>
                    </a:moveTo>
                    <a:lnTo>
                      <a:pt x="0" y="288071"/>
                    </a:lnTo>
                    <a:lnTo>
                      <a:pt x="288089" y="576144"/>
                    </a:lnTo>
                    <a:lnTo>
                      <a:pt x="288089" y="432107"/>
                    </a:lnTo>
                    <a:lnTo>
                      <a:pt x="2448271" y="432107"/>
                    </a:lnTo>
                    <a:lnTo>
                      <a:pt x="2448271" y="144035"/>
                    </a:lnTo>
                    <a:lnTo>
                      <a:pt x="288089" y="144035"/>
                    </a:lnTo>
                    <a:lnTo>
                      <a:pt x="288089" y="0"/>
                    </a:lnTo>
                    <a:close/>
                  </a:path>
                </a:pathLst>
              </a:custGeom>
              <a:solidFill>
                <a:srgbClr val="FFFB00"/>
              </a:solidFill>
            </p:spPr>
            <p:txBody>
              <a:bodyPr wrap="square" lIns="0" tIns="0" rIns="0" bIns="0" rtlCol="0"/>
              <a:lstStyle/>
              <a:p/>
            </p:txBody>
          </p:sp>
          <p:sp>
            <p:nvSpPr>
              <p:cNvPr id="53" name="object 53"/>
              <p:cNvSpPr/>
              <p:nvPr/>
            </p:nvSpPr>
            <p:spPr>
              <a:xfrm>
                <a:off x="7608166" y="2187346"/>
                <a:ext cx="2448560" cy="576580"/>
              </a:xfrm>
              <a:custGeom>
                <a:avLst/>
                <a:gdLst/>
                <a:ahLst/>
                <a:cxnLst/>
                <a:rect l="l" t="t" r="r" b="b"/>
                <a:pathLst>
                  <a:path w="2448559" h="576580">
                    <a:moveTo>
                      <a:pt x="2448271" y="144035"/>
                    </a:moveTo>
                    <a:lnTo>
                      <a:pt x="288087" y="144035"/>
                    </a:lnTo>
                    <a:lnTo>
                      <a:pt x="288087" y="0"/>
                    </a:lnTo>
                    <a:lnTo>
                      <a:pt x="0" y="288071"/>
                    </a:lnTo>
                    <a:lnTo>
                      <a:pt x="288087" y="576143"/>
                    </a:lnTo>
                    <a:lnTo>
                      <a:pt x="288087" y="432107"/>
                    </a:lnTo>
                    <a:lnTo>
                      <a:pt x="2448271" y="432107"/>
                    </a:lnTo>
                    <a:lnTo>
                      <a:pt x="2448271" y="144035"/>
                    </a:lnTo>
                    <a:close/>
                  </a:path>
                </a:pathLst>
              </a:custGeom>
              <a:ln w="9524">
                <a:solidFill>
                  <a:srgbClr val="FFFFFF"/>
                </a:solidFill>
              </a:ln>
            </p:spPr>
            <p:txBody>
              <a:bodyPr wrap="square" lIns="0" tIns="0" rIns="0" bIns="0" rtlCol="0"/>
              <a:lstStyle/>
              <a:p/>
            </p:txBody>
          </p:sp>
          <p:sp>
            <p:nvSpPr>
              <p:cNvPr id="54" name="object 54"/>
              <p:cNvSpPr/>
              <p:nvPr/>
            </p:nvSpPr>
            <p:spPr>
              <a:xfrm>
                <a:off x="7608165" y="1772817"/>
                <a:ext cx="2488565" cy="655320"/>
              </a:xfrm>
              <a:custGeom>
                <a:avLst/>
                <a:gdLst/>
                <a:ahLst/>
                <a:cxnLst/>
                <a:rect l="l" t="t" r="r" b="b"/>
                <a:pathLst>
                  <a:path w="2488565" h="655319">
                    <a:moveTo>
                      <a:pt x="2160865" y="0"/>
                    </a:moveTo>
                    <a:lnTo>
                      <a:pt x="2160865" y="163752"/>
                    </a:lnTo>
                    <a:lnTo>
                      <a:pt x="0" y="163752"/>
                    </a:lnTo>
                    <a:lnTo>
                      <a:pt x="0" y="491257"/>
                    </a:lnTo>
                    <a:lnTo>
                      <a:pt x="2160865" y="491257"/>
                    </a:lnTo>
                    <a:lnTo>
                      <a:pt x="2160865" y="655008"/>
                    </a:lnTo>
                    <a:lnTo>
                      <a:pt x="2488332" y="327503"/>
                    </a:lnTo>
                    <a:lnTo>
                      <a:pt x="2160865" y="0"/>
                    </a:lnTo>
                    <a:close/>
                  </a:path>
                </a:pathLst>
              </a:custGeom>
              <a:solidFill>
                <a:srgbClr val="FFFB00"/>
              </a:solidFill>
            </p:spPr>
            <p:txBody>
              <a:bodyPr wrap="square" lIns="0" tIns="0" rIns="0" bIns="0" rtlCol="0"/>
              <a:lstStyle/>
              <a:p/>
            </p:txBody>
          </p:sp>
          <p:sp>
            <p:nvSpPr>
              <p:cNvPr id="55" name="object 55"/>
              <p:cNvSpPr/>
              <p:nvPr/>
            </p:nvSpPr>
            <p:spPr>
              <a:xfrm>
                <a:off x="7608165" y="1772817"/>
                <a:ext cx="2488565" cy="655320"/>
              </a:xfrm>
              <a:custGeom>
                <a:avLst/>
                <a:gdLst/>
                <a:ahLst/>
                <a:cxnLst/>
                <a:rect l="l" t="t" r="r" b="b"/>
                <a:pathLst>
                  <a:path w="2488565" h="655319">
                    <a:moveTo>
                      <a:pt x="0" y="163752"/>
                    </a:moveTo>
                    <a:lnTo>
                      <a:pt x="2160865" y="163752"/>
                    </a:lnTo>
                    <a:lnTo>
                      <a:pt x="2160865" y="0"/>
                    </a:lnTo>
                    <a:lnTo>
                      <a:pt x="2488331" y="327504"/>
                    </a:lnTo>
                    <a:lnTo>
                      <a:pt x="2160865" y="655009"/>
                    </a:lnTo>
                    <a:lnTo>
                      <a:pt x="2160865" y="491257"/>
                    </a:lnTo>
                    <a:lnTo>
                      <a:pt x="0" y="491257"/>
                    </a:lnTo>
                    <a:lnTo>
                      <a:pt x="0" y="163752"/>
                    </a:lnTo>
                    <a:close/>
                  </a:path>
                </a:pathLst>
              </a:custGeom>
              <a:ln w="9524">
                <a:solidFill>
                  <a:srgbClr val="FFFFFF"/>
                </a:solidFill>
              </a:ln>
            </p:spPr>
            <p:txBody>
              <a:bodyPr wrap="square" lIns="0" tIns="0" rIns="0" bIns="0" rtlCol="0"/>
              <a:lstStyle/>
              <a:p/>
            </p:txBody>
          </p:sp>
          <p:sp>
            <p:nvSpPr>
              <p:cNvPr id="56" name="object 56"/>
              <p:cNvSpPr txBox="1"/>
              <p:nvPr/>
            </p:nvSpPr>
            <p:spPr>
              <a:xfrm>
                <a:off x="8281375" y="1969589"/>
                <a:ext cx="1134745" cy="664210"/>
              </a:xfrm>
              <a:prstGeom prst="rect">
                <a:avLst/>
              </a:prstGeom>
            </p:spPr>
            <p:txBody>
              <a:bodyPr vert="horz" wrap="square" lIns="0" tIns="12700" rIns="0" bIns="0" rtlCol="0">
                <a:spAutoFit/>
              </a:bodyPr>
              <a:lstStyle/>
              <a:p>
                <a:pPr marL="12700">
                  <a:lnSpc>
                    <a:spcPct val="100000"/>
                  </a:lnSpc>
                  <a:spcBef>
                    <a:spcPts val="100"/>
                  </a:spcBef>
                </a:pPr>
                <a:r>
                  <a:rPr sz="1600" spc="-5" dirty="0">
                    <a:latin typeface="Calibri" panose="020F0502020204030204"/>
                    <a:cs typeface="Calibri" panose="020F0502020204030204"/>
                  </a:rPr>
                  <a:t>playerBusts</a:t>
                </a:r>
                <a:endParaRPr sz="1600">
                  <a:latin typeface="Calibri" panose="020F0502020204030204"/>
                  <a:cs typeface="Calibri" panose="020F0502020204030204"/>
                </a:endParaRPr>
              </a:p>
              <a:p>
                <a:pPr marL="129540">
                  <a:lnSpc>
                    <a:spcPct val="100000"/>
                  </a:lnSpc>
                  <a:spcBef>
                    <a:spcPts val="1185"/>
                  </a:spcBef>
                </a:pPr>
                <a:r>
                  <a:rPr sz="1600" spc="-5" dirty="0">
                    <a:latin typeface="Calibri" panose="020F0502020204030204"/>
                    <a:cs typeface="Calibri" panose="020F0502020204030204"/>
                  </a:rPr>
                  <a:t>returnValue</a:t>
                </a:r>
                <a:endParaRPr sz="1600">
                  <a:latin typeface="Calibri" panose="020F0502020204030204"/>
                  <a:cs typeface="Calibri" panose="020F0502020204030204"/>
                </a:endParaRPr>
              </a:p>
            </p:txBody>
          </p:sp>
          <p:sp>
            <p:nvSpPr>
              <p:cNvPr id="57" name="object 57"/>
              <p:cNvSpPr/>
              <p:nvPr/>
            </p:nvSpPr>
            <p:spPr>
              <a:xfrm>
                <a:off x="6191248" y="1123624"/>
                <a:ext cx="1428750" cy="572135"/>
              </a:xfrm>
              <a:custGeom>
                <a:avLst/>
                <a:gdLst/>
                <a:ahLst/>
                <a:cxnLst/>
                <a:rect l="l" t="t" r="r" b="b"/>
                <a:pathLst>
                  <a:path w="1428750" h="572135">
                    <a:moveTo>
                      <a:pt x="1333484" y="0"/>
                    </a:moveTo>
                    <a:lnTo>
                      <a:pt x="95265" y="0"/>
                    </a:lnTo>
                    <a:lnTo>
                      <a:pt x="58183" y="7486"/>
                    </a:lnTo>
                    <a:lnTo>
                      <a:pt x="27902" y="27902"/>
                    </a:lnTo>
                    <a:lnTo>
                      <a:pt x="7486" y="58183"/>
                    </a:lnTo>
                    <a:lnTo>
                      <a:pt x="0" y="95265"/>
                    </a:lnTo>
                    <a:lnTo>
                      <a:pt x="0" y="476313"/>
                    </a:lnTo>
                    <a:lnTo>
                      <a:pt x="7486" y="513395"/>
                    </a:lnTo>
                    <a:lnTo>
                      <a:pt x="27902" y="543676"/>
                    </a:lnTo>
                    <a:lnTo>
                      <a:pt x="58183" y="564092"/>
                    </a:lnTo>
                    <a:lnTo>
                      <a:pt x="95265" y="571578"/>
                    </a:lnTo>
                    <a:lnTo>
                      <a:pt x="1333484" y="571578"/>
                    </a:lnTo>
                    <a:lnTo>
                      <a:pt x="1370566" y="564092"/>
                    </a:lnTo>
                    <a:lnTo>
                      <a:pt x="1400847" y="543676"/>
                    </a:lnTo>
                    <a:lnTo>
                      <a:pt x="1421263" y="513395"/>
                    </a:lnTo>
                    <a:lnTo>
                      <a:pt x="1428750" y="476313"/>
                    </a:lnTo>
                    <a:lnTo>
                      <a:pt x="1428750" y="95265"/>
                    </a:lnTo>
                    <a:lnTo>
                      <a:pt x="1421263" y="58183"/>
                    </a:lnTo>
                    <a:lnTo>
                      <a:pt x="1400847" y="27902"/>
                    </a:lnTo>
                    <a:lnTo>
                      <a:pt x="1370566" y="7486"/>
                    </a:lnTo>
                    <a:lnTo>
                      <a:pt x="1333484" y="0"/>
                    </a:lnTo>
                    <a:close/>
                  </a:path>
                </a:pathLst>
              </a:custGeom>
              <a:solidFill>
                <a:srgbClr val="AA7CA9"/>
              </a:solidFill>
            </p:spPr>
            <p:txBody>
              <a:bodyPr wrap="square" lIns="0" tIns="0" rIns="0" bIns="0" rtlCol="0"/>
              <a:lstStyle/>
              <a:p/>
            </p:txBody>
          </p:sp>
          <p:sp>
            <p:nvSpPr>
              <p:cNvPr id="58" name="object 58"/>
              <p:cNvSpPr txBox="1"/>
              <p:nvPr/>
            </p:nvSpPr>
            <p:spPr>
              <a:xfrm>
                <a:off x="6590691" y="1184546"/>
                <a:ext cx="63563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FFFF"/>
                    </a:solidFill>
                    <a:latin typeface="Calibri" panose="020F0502020204030204"/>
                    <a:cs typeface="Calibri" panose="020F0502020204030204"/>
                  </a:rPr>
                  <a:t>D</a:t>
                </a:r>
                <a:r>
                  <a:rPr sz="1800" dirty="0">
                    <a:solidFill>
                      <a:srgbClr val="FFFFFF"/>
                    </a:solidFill>
                    <a:latin typeface="Calibri" panose="020F0502020204030204"/>
                    <a:cs typeface="Calibri" panose="020F0502020204030204"/>
                  </a:rPr>
                  <a:t>ealer</a:t>
                </a:r>
                <a:endParaRPr sz="1800">
                  <a:latin typeface="Calibri" panose="020F0502020204030204"/>
                  <a:cs typeface="Calibri" panose="020F0502020204030204"/>
                </a:endParaRPr>
              </a:p>
            </p:txBody>
          </p:sp>
          <p:sp>
            <p:nvSpPr>
              <p:cNvPr id="59" name="object 59"/>
              <p:cNvSpPr/>
              <p:nvPr/>
            </p:nvSpPr>
            <p:spPr>
              <a:xfrm>
                <a:off x="10096498" y="1123624"/>
                <a:ext cx="1428750" cy="572135"/>
              </a:xfrm>
              <a:custGeom>
                <a:avLst/>
                <a:gdLst/>
                <a:ahLst/>
                <a:cxnLst/>
                <a:rect l="l" t="t" r="r" b="b"/>
                <a:pathLst>
                  <a:path w="1428750" h="572135">
                    <a:moveTo>
                      <a:pt x="1333484" y="0"/>
                    </a:moveTo>
                    <a:lnTo>
                      <a:pt x="95265" y="0"/>
                    </a:lnTo>
                    <a:lnTo>
                      <a:pt x="58183" y="7486"/>
                    </a:lnTo>
                    <a:lnTo>
                      <a:pt x="27902" y="27902"/>
                    </a:lnTo>
                    <a:lnTo>
                      <a:pt x="7486" y="58183"/>
                    </a:lnTo>
                    <a:lnTo>
                      <a:pt x="0" y="95265"/>
                    </a:lnTo>
                    <a:lnTo>
                      <a:pt x="0" y="476313"/>
                    </a:lnTo>
                    <a:lnTo>
                      <a:pt x="7486" y="513395"/>
                    </a:lnTo>
                    <a:lnTo>
                      <a:pt x="27902" y="543676"/>
                    </a:lnTo>
                    <a:lnTo>
                      <a:pt x="58183" y="564092"/>
                    </a:lnTo>
                    <a:lnTo>
                      <a:pt x="95265" y="571578"/>
                    </a:lnTo>
                    <a:lnTo>
                      <a:pt x="1333484" y="571578"/>
                    </a:lnTo>
                    <a:lnTo>
                      <a:pt x="1370566" y="564092"/>
                    </a:lnTo>
                    <a:lnTo>
                      <a:pt x="1400847" y="543676"/>
                    </a:lnTo>
                    <a:lnTo>
                      <a:pt x="1421263" y="513395"/>
                    </a:lnTo>
                    <a:lnTo>
                      <a:pt x="1428750" y="476313"/>
                    </a:lnTo>
                    <a:lnTo>
                      <a:pt x="1428750" y="95265"/>
                    </a:lnTo>
                    <a:lnTo>
                      <a:pt x="1421263" y="58183"/>
                    </a:lnTo>
                    <a:lnTo>
                      <a:pt x="1400847" y="27902"/>
                    </a:lnTo>
                    <a:lnTo>
                      <a:pt x="1370566" y="7486"/>
                    </a:lnTo>
                    <a:lnTo>
                      <a:pt x="1333484" y="0"/>
                    </a:lnTo>
                    <a:close/>
                  </a:path>
                </a:pathLst>
              </a:custGeom>
              <a:solidFill>
                <a:srgbClr val="AA7CA9"/>
              </a:solidFill>
            </p:spPr>
            <p:txBody>
              <a:bodyPr wrap="square" lIns="0" tIns="0" rIns="0" bIns="0" rtlCol="0"/>
              <a:lstStyle/>
              <a:p/>
            </p:txBody>
          </p:sp>
          <p:sp>
            <p:nvSpPr>
              <p:cNvPr id="60" name="object 60"/>
              <p:cNvSpPr txBox="1"/>
              <p:nvPr/>
            </p:nvSpPr>
            <p:spPr>
              <a:xfrm>
                <a:off x="10512349" y="1184546"/>
                <a:ext cx="60261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Calibri" panose="020F0502020204030204"/>
                    <a:cs typeface="Calibri" panose="020F0502020204030204"/>
                  </a:rPr>
                  <a:t>Pla</a:t>
                </a:r>
                <a:r>
                  <a:rPr sz="1800" spc="-5" dirty="0">
                    <a:solidFill>
                      <a:srgbClr val="FFFFFF"/>
                    </a:solidFill>
                    <a:latin typeface="Calibri" panose="020F0502020204030204"/>
                    <a:cs typeface="Calibri" panose="020F0502020204030204"/>
                  </a:rPr>
                  <a:t>y</a:t>
                </a:r>
                <a:r>
                  <a:rPr sz="1800" dirty="0">
                    <a:solidFill>
                      <a:srgbClr val="FFFFFF"/>
                    </a:solidFill>
                    <a:latin typeface="Calibri" panose="020F0502020204030204"/>
                    <a:cs typeface="Calibri" panose="020F0502020204030204"/>
                  </a:rPr>
                  <a:t>er</a:t>
                </a:r>
                <a:endParaRPr sz="1800">
                  <a:latin typeface="Calibri" panose="020F0502020204030204"/>
                  <a:cs typeface="Calibri" panose="020F0502020204030204"/>
                </a:endParaRPr>
              </a:p>
            </p:txBody>
          </p:sp>
          <p:sp>
            <p:nvSpPr>
              <p:cNvPr id="63" name="object 63"/>
              <p:cNvSpPr txBox="1"/>
              <p:nvPr/>
            </p:nvSpPr>
            <p:spPr>
              <a:xfrm>
                <a:off x="8429409" y="1153361"/>
                <a:ext cx="744220" cy="269240"/>
              </a:xfrm>
              <a:prstGeom prst="rect">
                <a:avLst/>
              </a:prstGeom>
            </p:spPr>
            <p:txBody>
              <a:bodyPr vert="horz" wrap="square" lIns="0" tIns="12700" rIns="0" bIns="0" rtlCol="0">
                <a:spAutoFit/>
              </a:bodyPr>
              <a:lstStyle/>
              <a:p>
                <a:pPr marL="12700">
                  <a:lnSpc>
                    <a:spcPct val="100000"/>
                  </a:lnSpc>
                  <a:spcBef>
                    <a:spcPts val="100"/>
                  </a:spcBef>
                </a:pPr>
                <a:r>
                  <a:rPr sz="1600" spc="-5" dirty="0">
                    <a:latin typeface="Calibri" panose="020F0502020204030204"/>
                    <a:cs typeface="Calibri" panose="020F0502020204030204"/>
                  </a:rPr>
                  <a:t>giveCard</a:t>
                </a:r>
                <a:endParaRPr sz="1600">
                  <a:latin typeface="Calibri" panose="020F0502020204030204"/>
                  <a:cs typeface="Calibri" panose="020F0502020204030204"/>
                </a:endParaRPr>
              </a:p>
            </p:txBody>
          </p:sp>
          <p:sp>
            <p:nvSpPr>
              <p:cNvPr id="64" name="object 64"/>
              <p:cNvSpPr/>
              <p:nvPr/>
            </p:nvSpPr>
            <p:spPr>
              <a:xfrm>
                <a:off x="6286498" y="3123789"/>
                <a:ext cx="1434465" cy="572135"/>
              </a:xfrm>
              <a:custGeom>
                <a:avLst/>
                <a:gdLst/>
                <a:ahLst/>
                <a:cxnLst/>
                <a:rect l="l" t="t" r="r" b="b"/>
                <a:pathLst>
                  <a:path w="1434465" h="572135">
                    <a:moveTo>
                      <a:pt x="1338940" y="0"/>
                    </a:moveTo>
                    <a:lnTo>
                      <a:pt x="95338" y="0"/>
                    </a:lnTo>
                    <a:lnTo>
                      <a:pt x="58228" y="7492"/>
                    </a:lnTo>
                    <a:lnTo>
                      <a:pt x="27924" y="27923"/>
                    </a:lnTo>
                    <a:lnTo>
                      <a:pt x="7492" y="58227"/>
                    </a:lnTo>
                    <a:lnTo>
                      <a:pt x="0" y="95337"/>
                    </a:lnTo>
                    <a:lnTo>
                      <a:pt x="0" y="476675"/>
                    </a:lnTo>
                    <a:lnTo>
                      <a:pt x="7492" y="513785"/>
                    </a:lnTo>
                    <a:lnTo>
                      <a:pt x="27924" y="544089"/>
                    </a:lnTo>
                    <a:lnTo>
                      <a:pt x="58228" y="564521"/>
                    </a:lnTo>
                    <a:lnTo>
                      <a:pt x="95338" y="572013"/>
                    </a:lnTo>
                    <a:lnTo>
                      <a:pt x="1338940" y="572013"/>
                    </a:lnTo>
                    <a:lnTo>
                      <a:pt x="1376050" y="564521"/>
                    </a:lnTo>
                    <a:lnTo>
                      <a:pt x="1406354" y="544089"/>
                    </a:lnTo>
                    <a:lnTo>
                      <a:pt x="1426786" y="513785"/>
                    </a:lnTo>
                    <a:lnTo>
                      <a:pt x="1434278" y="476675"/>
                    </a:lnTo>
                    <a:lnTo>
                      <a:pt x="1434278" y="95337"/>
                    </a:lnTo>
                    <a:lnTo>
                      <a:pt x="1426786" y="58227"/>
                    </a:lnTo>
                    <a:lnTo>
                      <a:pt x="1406354" y="27923"/>
                    </a:lnTo>
                    <a:lnTo>
                      <a:pt x="1376050" y="7492"/>
                    </a:lnTo>
                    <a:lnTo>
                      <a:pt x="1338940" y="0"/>
                    </a:lnTo>
                    <a:close/>
                  </a:path>
                </a:pathLst>
              </a:custGeom>
              <a:solidFill>
                <a:srgbClr val="AA7CA9"/>
              </a:solidFill>
            </p:spPr>
            <p:txBody>
              <a:bodyPr wrap="square" lIns="0" tIns="0" rIns="0" bIns="0" rtlCol="0"/>
              <a:lstStyle/>
              <a:p/>
            </p:txBody>
          </p:sp>
          <p:sp>
            <p:nvSpPr>
              <p:cNvPr id="65" name="object 65"/>
              <p:cNvSpPr txBox="1"/>
              <p:nvPr/>
            </p:nvSpPr>
            <p:spPr>
              <a:xfrm>
                <a:off x="6705545" y="3184731"/>
                <a:ext cx="60261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Calibri" panose="020F0502020204030204"/>
                    <a:cs typeface="Calibri" panose="020F0502020204030204"/>
                  </a:rPr>
                  <a:t>Pla</a:t>
                </a:r>
                <a:r>
                  <a:rPr sz="1800" spc="-5" dirty="0">
                    <a:solidFill>
                      <a:srgbClr val="FFFFFF"/>
                    </a:solidFill>
                    <a:latin typeface="Calibri" panose="020F0502020204030204"/>
                    <a:cs typeface="Calibri" panose="020F0502020204030204"/>
                  </a:rPr>
                  <a:t>y</a:t>
                </a:r>
                <a:r>
                  <a:rPr sz="1800" dirty="0">
                    <a:solidFill>
                      <a:srgbClr val="FFFFFF"/>
                    </a:solidFill>
                    <a:latin typeface="Calibri" panose="020F0502020204030204"/>
                    <a:cs typeface="Calibri" panose="020F0502020204030204"/>
                  </a:rPr>
                  <a:t>er</a:t>
                </a:r>
                <a:endParaRPr sz="1800">
                  <a:latin typeface="Calibri" panose="020F0502020204030204"/>
                  <a:cs typeface="Calibri" panose="020F0502020204030204"/>
                </a:endParaRPr>
              </a:p>
            </p:txBody>
          </p:sp>
          <p:sp>
            <p:nvSpPr>
              <p:cNvPr id="66" name="object 66"/>
              <p:cNvSpPr/>
              <p:nvPr/>
            </p:nvSpPr>
            <p:spPr>
              <a:xfrm>
                <a:off x="10206857" y="3123789"/>
                <a:ext cx="1434465" cy="572135"/>
              </a:xfrm>
              <a:custGeom>
                <a:avLst/>
                <a:gdLst/>
                <a:ahLst/>
                <a:cxnLst/>
                <a:rect l="l" t="t" r="r" b="b"/>
                <a:pathLst>
                  <a:path w="1434465" h="572135">
                    <a:moveTo>
                      <a:pt x="1338940" y="0"/>
                    </a:moveTo>
                    <a:lnTo>
                      <a:pt x="95338" y="0"/>
                    </a:lnTo>
                    <a:lnTo>
                      <a:pt x="58228" y="7492"/>
                    </a:lnTo>
                    <a:lnTo>
                      <a:pt x="27924" y="27923"/>
                    </a:lnTo>
                    <a:lnTo>
                      <a:pt x="7492" y="58227"/>
                    </a:lnTo>
                    <a:lnTo>
                      <a:pt x="0" y="95337"/>
                    </a:lnTo>
                    <a:lnTo>
                      <a:pt x="0" y="476675"/>
                    </a:lnTo>
                    <a:lnTo>
                      <a:pt x="7492" y="513785"/>
                    </a:lnTo>
                    <a:lnTo>
                      <a:pt x="27924" y="544089"/>
                    </a:lnTo>
                    <a:lnTo>
                      <a:pt x="58228" y="564521"/>
                    </a:lnTo>
                    <a:lnTo>
                      <a:pt x="95338" y="572013"/>
                    </a:lnTo>
                    <a:lnTo>
                      <a:pt x="1338940" y="572013"/>
                    </a:lnTo>
                    <a:lnTo>
                      <a:pt x="1376050" y="564521"/>
                    </a:lnTo>
                    <a:lnTo>
                      <a:pt x="1406354" y="544089"/>
                    </a:lnTo>
                    <a:lnTo>
                      <a:pt x="1426786" y="513785"/>
                    </a:lnTo>
                    <a:lnTo>
                      <a:pt x="1434278" y="476675"/>
                    </a:lnTo>
                    <a:lnTo>
                      <a:pt x="1434278" y="95337"/>
                    </a:lnTo>
                    <a:lnTo>
                      <a:pt x="1426786" y="58227"/>
                    </a:lnTo>
                    <a:lnTo>
                      <a:pt x="1406354" y="27923"/>
                    </a:lnTo>
                    <a:lnTo>
                      <a:pt x="1376050" y="7492"/>
                    </a:lnTo>
                    <a:lnTo>
                      <a:pt x="1338940" y="0"/>
                    </a:lnTo>
                    <a:close/>
                  </a:path>
                </a:pathLst>
              </a:custGeom>
              <a:solidFill>
                <a:srgbClr val="AA7CA9"/>
              </a:solidFill>
            </p:spPr>
            <p:txBody>
              <a:bodyPr wrap="square" lIns="0" tIns="0" rIns="0" bIns="0" rtlCol="0"/>
              <a:lstStyle/>
              <a:p/>
            </p:txBody>
          </p:sp>
          <p:sp>
            <p:nvSpPr>
              <p:cNvPr id="67" name="object 67"/>
              <p:cNvSpPr txBox="1"/>
              <p:nvPr/>
            </p:nvSpPr>
            <p:spPr>
              <a:xfrm>
                <a:off x="10668321" y="3184731"/>
                <a:ext cx="518159"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FFFF"/>
                    </a:solidFill>
                    <a:latin typeface="Calibri" panose="020F0502020204030204"/>
                    <a:cs typeface="Calibri" panose="020F0502020204030204"/>
                  </a:rPr>
                  <a:t>Ha</a:t>
                </a:r>
                <a:r>
                  <a:rPr sz="1800" dirty="0">
                    <a:solidFill>
                      <a:srgbClr val="FFFFFF"/>
                    </a:solidFill>
                    <a:latin typeface="Calibri" panose="020F0502020204030204"/>
                    <a:cs typeface="Calibri" panose="020F0502020204030204"/>
                  </a:rPr>
                  <a:t>nd</a:t>
                </a:r>
                <a:endParaRPr sz="1800">
                  <a:latin typeface="Calibri" panose="020F0502020204030204"/>
                  <a:cs typeface="Calibri" panose="020F0502020204030204"/>
                </a:endParaRPr>
              </a:p>
            </p:txBody>
          </p:sp>
          <p:sp>
            <p:nvSpPr>
              <p:cNvPr id="68" name="object 68"/>
              <p:cNvSpPr/>
              <p:nvPr/>
            </p:nvSpPr>
            <p:spPr>
              <a:xfrm>
                <a:off x="7680175" y="3338293"/>
                <a:ext cx="2520315" cy="577850"/>
              </a:xfrm>
              <a:custGeom>
                <a:avLst/>
                <a:gdLst/>
                <a:ahLst/>
                <a:cxnLst/>
                <a:rect l="l" t="t" r="r" b="b"/>
                <a:pathLst>
                  <a:path w="2520315" h="577850">
                    <a:moveTo>
                      <a:pt x="288866" y="0"/>
                    </a:moveTo>
                    <a:lnTo>
                      <a:pt x="0" y="288861"/>
                    </a:lnTo>
                    <a:lnTo>
                      <a:pt x="288866" y="577721"/>
                    </a:lnTo>
                    <a:lnTo>
                      <a:pt x="288866" y="433290"/>
                    </a:lnTo>
                    <a:lnTo>
                      <a:pt x="2520279" y="433290"/>
                    </a:lnTo>
                    <a:lnTo>
                      <a:pt x="2520279" y="144430"/>
                    </a:lnTo>
                    <a:lnTo>
                      <a:pt x="288866" y="144430"/>
                    </a:lnTo>
                    <a:lnTo>
                      <a:pt x="288866" y="0"/>
                    </a:lnTo>
                    <a:close/>
                  </a:path>
                </a:pathLst>
              </a:custGeom>
              <a:solidFill>
                <a:srgbClr val="FFFB00"/>
              </a:solidFill>
            </p:spPr>
            <p:txBody>
              <a:bodyPr wrap="square" lIns="0" tIns="0" rIns="0" bIns="0" rtlCol="0"/>
              <a:lstStyle/>
              <a:p/>
            </p:txBody>
          </p:sp>
          <p:sp>
            <p:nvSpPr>
              <p:cNvPr id="69" name="object 69"/>
              <p:cNvSpPr/>
              <p:nvPr/>
            </p:nvSpPr>
            <p:spPr>
              <a:xfrm>
                <a:off x="7680175" y="3338293"/>
                <a:ext cx="2520315" cy="577850"/>
              </a:xfrm>
              <a:custGeom>
                <a:avLst/>
                <a:gdLst/>
                <a:ahLst/>
                <a:cxnLst/>
                <a:rect l="l" t="t" r="r" b="b"/>
                <a:pathLst>
                  <a:path w="2520315" h="577850">
                    <a:moveTo>
                      <a:pt x="2520278" y="144429"/>
                    </a:moveTo>
                    <a:lnTo>
                      <a:pt x="288865" y="144429"/>
                    </a:lnTo>
                    <a:lnTo>
                      <a:pt x="288865" y="0"/>
                    </a:lnTo>
                    <a:lnTo>
                      <a:pt x="0" y="288860"/>
                    </a:lnTo>
                    <a:lnTo>
                      <a:pt x="288865" y="577720"/>
                    </a:lnTo>
                    <a:lnTo>
                      <a:pt x="288865" y="433290"/>
                    </a:lnTo>
                    <a:lnTo>
                      <a:pt x="2520278" y="433290"/>
                    </a:lnTo>
                    <a:lnTo>
                      <a:pt x="2520278" y="144429"/>
                    </a:lnTo>
                    <a:close/>
                  </a:path>
                </a:pathLst>
              </a:custGeom>
              <a:ln w="9524">
                <a:solidFill>
                  <a:srgbClr val="FFFFFF"/>
                </a:solidFill>
              </a:ln>
            </p:spPr>
            <p:txBody>
              <a:bodyPr wrap="square" lIns="0" tIns="0" rIns="0" bIns="0" rtlCol="0"/>
              <a:lstStyle/>
              <a:p/>
            </p:txBody>
          </p:sp>
          <p:sp>
            <p:nvSpPr>
              <p:cNvPr id="70" name="object 70"/>
              <p:cNvSpPr txBox="1"/>
              <p:nvPr/>
            </p:nvSpPr>
            <p:spPr>
              <a:xfrm>
                <a:off x="8445331" y="3515745"/>
                <a:ext cx="1140460" cy="269240"/>
              </a:xfrm>
              <a:prstGeom prst="rect">
                <a:avLst/>
              </a:prstGeom>
            </p:spPr>
            <p:txBody>
              <a:bodyPr vert="horz" wrap="square" lIns="0" tIns="12700" rIns="0" bIns="0" rtlCol="0">
                <a:spAutoFit/>
              </a:bodyPr>
              <a:lstStyle/>
              <a:p>
                <a:pPr marL="12700">
                  <a:lnSpc>
                    <a:spcPct val="100000"/>
                  </a:lnSpc>
                  <a:spcBef>
                    <a:spcPts val="100"/>
                  </a:spcBef>
                </a:pPr>
                <a:r>
                  <a:rPr sz="1600" spc="-5" dirty="0">
                    <a:latin typeface="Calibri" panose="020F0502020204030204"/>
                    <a:cs typeface="Calibri" panose="020F0502020204030204"/>
                  </a:rPr>
                  <a:t>returnValue()</a:t>
                </a:r>
                <a:endParaRPr sz="1600">
                  <a:latin typeface="Calibri" panose="020F0502020204030204"/>
                  <a:cs typeface="Calibri" panose="020F0502020204030204"/>
                </a:endParaRPr>
              </a:p>
            </p:txBody>
          </p:sp>
          <p:sp>
            <p:nvSpPr>
              <p:cNvPr id="71" name="object 71"/>
              <p:cNvSpPr/>
              <p:nvPr/>
            </p:nvSpPr>
            <p:spPr>
              <a:xfrm>
                <a:off x="7680175" y="2852936"/>
                <a:ext cx="2527300" cy="575310"/>
              </a:xfrm>
              <a:custGeom>
                <a:avLst/>
                <a:gdLst/>
                <a:ahLst/>
                <a:cxnLst/>
                <a:rect l="l" t="t" r="r" b="b"/>
                <a:pathLst>
                  <a:path w="2527300" h="575310">
                    <a:moveTo>
                      <a:pt x="2239247" y="0"/>
                    </a:moveTo>
                    <a:lnTo>
                      <a:pt x="2239247" y="143715"/>
                    </a:lnTo>
                    <a:lnTo>
                      <a:pt x="0" y="143715"/>
                    </a:lnTo>
                    <a:lnTo>
                      <a:pt x="0" y="431151"/>
                    </a:lnTo>
                    <a:lnTo>
                      <a:pt x="2239247" y="431151"/>
                    </a:lnTo>
                    <a:lnTo>
                      <a:pt x="2239247" y="574868"/>
                    </a:lnTo>
                    <a:lnTo>
                      <a:pt x="2526681" y="287434"/>
                    </a:lnTo>
                    <a:lnTo>
                      <a:pt x="2239247" y="0"/>
                    </a:lnTo>
                    <a:close/>
                  </a:path>
                </a:pathLst>
              </a:custGeom>
              <a:solidFill>
                <a:srgbClr val="FFFB00"/>
              </a:solidFill>
            </p:spPr>
            <p:txBody>
              <a:bodyPr wrap="square" lIns="0" tIns="0" rIns="0" bIns="0" rtlCol="0"/>
              <a:lstStyle/>
              <a:p/>
            </p:txBody>
          </p:sp>
          <p:sp>
            <p:nvSpPr>
              <p:cNvPr id="72" name="object 72"/>
              <p:cNvSpPr/>
              <p:nvPr/>
            </p:nvSpPr>
            <p:spPr>
              <a:xfrm>
                <a:off x="7680175" y="2852936"/>
                <a:ext cx="2527300" cy="575310"/>
              </a:xfrm>
              <a:custGeom>
                <a:avLst/>
                <a:gdLst/>
                <a:ahLst/>
                <a:cxnLst/>
                <a:rect l="l" t="t" r="r" b="b"/>
                <a:pathLst>
                  <a:path w="2527300" h="575310">
                    <a:moveTo>
                      <a:pt x="0" y="143716"/>
                    </a:moveTo>
                    <a:lnTo>
                      <a:pt x="2239247" y="143716"/>
                    </a:lnTo>
                    <a:lnTo>
                      <a:pt x="2239247" y="0"/>
                    </a:lnTo>
                    <a:lnTo>
                      <a:pt x="2526681" y="287434"/>
                    </a:lnTo>
                    <a:lnTo>
                      <a:pt x="2239247" y="574868"/>
                    </a:lnTo>
                    <a:lnTo>
                      <a:pt x="2239247" y="431151"/>
                    </a:lnTo>
                    <a:lnTo>
                      <a:pt x="0" y="431151"/>
                    </a:lnTo>
                    <a:lnTo>
                      <a:pt x="0" y="143716"/>
                    </a:lnTo>
                    <a:close/>
                  </a:path>
                </a:pathLst>
              </a:custGeom>
              <a:ln w="9524">
                <a:solidFill>
                  <a:srgbClr val="FFFFFF"/>
                </a:solidFill>
              </a:ln>
            </p:spPr>
            <p:txBody>
              <a:bodyPr wrap="square" lIns="0" tIns="0" rIns="0" bIns="0" rtlCol="0"/>
              <a:lstStyle/>
              <a:p/>
            </p:txBody>
          </p:sp>
          <p:sp>
            <p:nvSpPr>
              <p:cNvPr id="73" name="object 73"/>
              <p:cNvSpPr txBox="1"/>
              <p:nvPr/>
            </p:nvSpPr>
            <p:spPr>
              <a:xfrm>
                <a:off x="8260465" y="3029672"/>
                <a:ext cx="122809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Calibri" panose="020F0502020204030204"/>
                    <a:cs typeface="Calibri" panose="020F0502020204030204"/>
                  </a:rPr>
                  <a:t>GetHandValue</a:t>
                </a:r>
                <a:endParaRPr sz="1600">
                  <a:latin typeface="Calibri" panose="020F0502020204030204"/>
                  <a:cs typeface="Calibri" panose="020F0502020204030204"/>
                </a:endParaRPr>
              </a:p>
            </p:txBody>
          </p:sp>
          <p:sp>
            <p:nvSpPr>
              <p:cNvPr id="74" name="object 74"/>
              <p:cNvSpPr/>
              <p:nvPr/>
            </p:nvSpPr>
            <p:spPr>
              <a:xfrm>
                <a:off x="7680172" y="5409686"/>
                <a:ext cx="2520315" cy="594360"/>
              </a:xfrm>
              <a:custGeom>
                <a:avLst/>
                <a:gdLst/>
                <a:ahLst/>
                <a:cxnLst/>
                <a:rect l="l" t="t" r="r" b="b"/>
                <a:pathLst>
                  <a:path w="2520315" h="594360">
                    <a:moveTo>
                      <a:pt x="296934" y="0"/>
                    </a:moveTo>
                    <a:lnTo>
                      <a:pt x="0" y="296945"/>
                    </a:lnTo>
                    <a:lnTo>
                      <a:pt x="296934" y="593890"/>
                    </a:lnTo>
                    <a:lnTo>
                      <a:pt x="296934" y="445417"/>
                    </a:lnTo>
                    <a:lnTo>
                      <a:pt x="2520280" y="445417"/>
                    </a:lnTo>
                    <a:lnTo>
                      <a:pt x="2520280" y="148473"/>
                    </a:lnTo>
                    <a:lnTo>
                      <a:pt x="296934" y="148473"/>
                    </a:lnTo>
                    <a:lnTo>
                      <a:pt x="296934" y="0"/>
                    </a:lnTo>
                    <a:close/>
                  </a:path>
                </a:pathLst>
              </a:custGeom>
              <a:solidFill>
                <a:srgbClr val="FFFB00"/>
              </a:solidFill>
            </p:spPr>
            <p:txBody>
              <a:bodyPr wrap="square" lIns="0" tIns="0" rIns="0" bIns="0" rtlCol="0"/>
              <a:lstStyle/>
              <a:p/>
            </p:txBody>
          </p:sp>
          <p:sp>
            <p:nvSpPr>
              <p:cNvPr id="75" name="object 75"/>
              <p:cNvSpPr txBox="1"/>
              <p:nvPr/>
            </p:nvSpPr>
            <p:spPr>
              <a:xfrm>
                <a:off x="8446980" y="5591180"/>
                <a:ext cx="1140460" cy="269240"/>
              </a:xfrm>
              <a:prstGeom prst="rect">
                <a:avLst/>
              </a:prstGeom>
            </p:spPr>
            <p:txBody>
              <a:bodyPr vert="horz" wrap="square" lIns="0" tIns="12700" rIns="0" bIns="0" rtlCol="0">
                <a:spAutoFit/>
              </a:bodyPr>
              <a:lstStyle/>
              <a:p>
                <a:pPr marL="12700">
                  <a:lnSpc>
                    <a:spcPct val="100000"/>
                  </a:lnSpc>
                  <a:spcBef>
                    <a:spcPts val="100"/>
                  </a:spcBef>
                </a:pPr>
                <a:r>
                  <a:rPr sz="1600" spc="-5" dirty="0">
                    <a:latin typeface="Calibri" panose="020F0502020204030204"/>
                    <a:cs typeface="Calibri" panose="020F0502020204030204"/>
                  </a:rPr>
                  <a:t>returnValue()</a:t>
                </a:r>
                <a:endParaRPr sz="1600">
                  <a:latin typeface="Calibri" panose="020F0502020204030204"/>
                  <a:cs typeface="Calibri" panose="020F0502020204030204"/>
                </a:endParaRPr>
              </a:p>
            </p:txBody>
          </p:sp>
          <p:sp>
            <p:nvSpPr>
              <p:cNvPr id="76" name="object 76"/>
              <p:cNvSpPr/>
              <p:nvPr/>
            </p:nvSpPr>
            <p:spPr>
              <a:xfrm>
                <a:off x="6286498" y="4266407"/>
                <a:ext cx="1429385" cy="572135"/>
              </a:xfrm>
              <a:custGeom>
                <a:avLst/>
                <a:gdLst/>
                <a:ahLst/>
                <a:cxnLst/>
                <a:rect l="l" t="t" r="r" b="b"/>
                <a:pathLst>
                  <a:path w="1429384" h="572135">
                    <a:moveTo>
                      <a:pt x="1333614" y="0"/>
                    </a:moveTo>
                    <a:lnTo>
                      <a:pt x="95275" y="0"/>
                    </a:lnTo>
                    <a:lnTo>
                      <a:pt x="58190" y="7487"/>
                    </a:lnTo>
                    <a:lnTo>
                      <a:pt x="27905" y="27905"/>
                    </a:lnTo>
                    <a:lnTo>
                      <a:pt x="7487" y="58190"/>
                    </a:lnTo>
                    <a:lnTo>
                      <a:pt x="0" y="95275"/>
                    </a:lnTo>
                    <a:lnTo>
                      <a:pt x="0" y="476365"/>
                    </a:lnTo>
                    <a:lnTo>
                      <a:pt x="7487" y="513450"/>
                    </a:lnTo>
                    <a:lnTo>
                      <a:pt x="27905" y="543735"/>
                    </a:lnTo>
                    <a:lnTo>
                      <a:pt x="58190" y="564153"/>
                    </a:lnTo>
                    <a:lnTo>
                      <a:pt x="95275" y="571640"/>
                    </a:lnTo>
                    <a:lnTo>
                      <a:pt x="1333614" y="571640"/>
                    </a:lnTo>
                    <a:lnTo>
                      <a:pt x="1370699" y="564153"/>
                    </a:lnTo>
                    <a:lnTo>
                      <a:pt x="1400983" y="543735"/>
                    </a:lnTo>
                    <a:lnTo>
                      <a:pt x="1421402" y="513450"/>
                    </a:lnTo>
                    <a:lnTo>
                      <a:pt x="1428889" y="476365"/>
                    </a:lnTo>
                    <a:lnTo>
                      <a:pt x="1428889" y="95275"/>
                    </a:lnTo>
                    <a:lnTo>
                      <a:pt x="1421402" y="58190"/>
                    </a:lnTo>
                    <a:lnTo>
                      <a:pt x="1400983" y="27905"/>
                    </a:lnTo>
                    <a:lnTo>
                      <a:pt x="1370699" y="7487"/>
                    </a:lnTo>
                    <a:lnTo>
                      <a:pt x="1333614" y="0"/>
                    </a:lnTo>
                    <a:close/>
                  </a:path>
                </a:pathLst>
              </a:custGeom>
              <a:solidFill>
                <a:srgbClr val="AA7CA9"/>
              </a:solidFill>
            </p:spPr>
            <p:txBody>
              <a:bodyPr wrap="square" lIns="0" tIns="0" rIns="0" bIns="0" rtlCol="0"/>
              <a:lstStyle/>
              <a:p/>
            </p:txBody>
          </p:sp>
          <p:sp>
            <p:nvSpPr>
              <p:cNvPr id="77" name="object 77"/>
              <p:cNvSpPr txBox="1"/>
              <p:nvPr/>
            </p:nvSpPr>
            <p:spPr>
              <a:xfrm>
                <a:off x="6685944" y="4327333"/>
                <a:ext cx="63563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FFFF"/>
                    </a:solidFill>
                    <a:latin typeface="Calibri" panose="020F0502020204030204"/>
                    <a:cs typeface="Calibri" panose="020F0502020204030204"/>
                  </a:rPr>
                  <a:t>D</a:t>
                </a:r>
                <a:r>
                  <a:rPr sz="1800" dirty="0">
                    <a:solidFill>
                      <a:srgbClr val="FFFFFF"/>
                    </a:solidFill>
                    <a:latin typeface="Calibri" panose="020F0502020204030204"/>
                    <a:cs typeface="Calibri" panose="020F0502020204030204"/>
                  </a:rPr>
                  <a:t>ealer</a:t>
                </a:r>
                <a:endParaRPr sz="1800">
                  <a:latin typeface="Calibri" panose="020F0502020204030204"/>
                  <a:cs typeface="Calibri" panose="020F0502020204030204"/>
                </a:endParaRPr>
              </a:p>
            </p:txBody>
          </p:sp>
          <p:sp>
            <p:nvSpPr>
              <p:cNvPr id="78" name="object 78"/>
              <p:cNvSpPr/>
              <p:nvPr/>
            </p:nvSpPr>
            <p:spPr>
              <a:xfrm>
                <a:off x="10192129" y="4266407"/>
                <a:ext cx="1449070" cy="572135"/>
              </a:xfrm>
              <a:custGeom>
                <a:avLst/>
                <a:gdLst/>
                <a:ahLst/>
                <a:cxnLst/>
                <a:rect l="l" t="t" r="r" b="b"/>
                <a:pathLst>
                  <a:path w="1449070" h="572135">
                    <a:moveTo>
                      <a:pt x="1353732" y="0"/>
                    </a:moveTo>
                    <a:lnTo>
                      <a:pt x="95275" y="0"/>
                    </a:lnTo>
                    <a:lnTo>
                      <a:pt x="58190" y="7487"/>
                    </a:lnTo>
                    <a:lnTo>
                      <a:pt x="27905" y="27905"/>
                    </a:lnTo>
                    <a:lnTo>
                      <a:pt x="7487" y="58190"/>
                    </a:lnTo>
                    <a:lnTo>
                      <a:pt x="0" y="95275"/>
                    </a:lnTo>
                    <a:lnTo>
                      <a:pt x="0" y="476365"/>
                    </a:lnTo>
                    <a:lnTo>
                      <a:pt x="7487" y="513450"/>
                    </a:lnTo>
                    <a:lnTo>
                      <a:pt x="27905" y="543735"/>
                    </a:lnTo>
                    <a:lnTo>
                      <a:pt x="58190" y="564153"/>
                    </a:lnTo>
                    <a:lnTo>
                      <a:pt x="95275" y="571640"/>
                    </a:lnTo>
                    <a:lnTo>
                      <a:pt x="1353732" y="571640"/>
                    </a:lnTo>
                    <a:lnTo>
                      <a:pt x="1390817" y="564153"/>
                    </a:lnTo>
                    <a:lnTo>
                      <a:pt x="1421101" y="543735"/>
                    </a:lnTo>
                    <a:lnTo>
                      <a:pt x="1441519" y="513450"/>
                    </a:lnTo>
                    <a:lnTo>
                      <a:pt x="1449006" y="476365"/>
                    </a:lnTo>
                    <a:lnTo>
                      <a:pt x="1449006" y="95275"/>
                    </a:lnTo>
                    <a:lnTo>
                      <a:pt x="1441519" y="58190"/>
                    </a:lnTo>
                    <a:lnTo>
                      <a:pt x="1421101" y="27905"/>
                    </a:lnTo>
                    <a:lnTo>
                      <a:pt x="1390817" y="7487"/>
                    </a:lnTo>
                    <a:lnTo>
                      <a:pt x="1353732" y="0"/>
                    </a:lnTo>
                    <a:close/>
                  </a:path>
                </a:pathLst>
              </a:custGeom>
              <a:solidFill>
                <a:srgbClr val="AA7CA9"/>
              </a:solidFill>
            </p:spPr>
            <p:txBody>
              <a:bodyPr wrap="square" lIns="0" tIns="0" rIns="0" bIns="0" rtlCol="0"/>
              <a:lstStyle/>
              <a:p/>
            </p:txBody>
          </p:sp>
          <p:sp>
            <p:nvSpPr>
              <p:cNvPr id="79" name="object 79"/>
              <p:cNvSpPr txBox="1"/>
              <p:nvPr/>
            </p:nvSpPr>
            <p:spPr>
              <a:xfrm>
                <a:off x="10512988" y="4327333"/>
                <a:ext cx="813435" cy="299720"/>
              </a:xfrm>
              <a:prstGeom prst="rect">
                <a:avLst/>
              </a:prstGeom>
            </p:spPr>
            <p:txBody>
              <a:bodyPr vert="horz" wrap="square" lIns="0" tIns="12700" rIns="0" bIns="0" rtlCol="0">
                <a:spAutoFit/>
              </a:bodyPr>
              <a:lstStyle/>
              <a:p>
                <a:pPr marL="12700">
                  <a:lnSpc>
                    <a:spcPct val="100000"/>
                  </a:lnSpc>
                  <a:spcBef>
                    <a:spcPts val="100"/>
                  </a:spcBef>
                </a:pPr>
                <a:r>
                  <a:rPr sz="1800" spc="-114" dirty="0">
                    <a:solidFill>
                      <a:srgbClr val="FFFFFF"/>
                    </a:solidFill>
                    <a:latin typeface="Calibri" panose="020F0502020204030204"/>
                    <a:cs typeface="Calibri" panose="020F0502020204030204"/>
                  </a:rPr>
                  <a:t>D-­‐Player</a:t>
                </a:r>
                <a:endParaRPr sz="1800">
                  <a:latin typeface="Calibri" panose="020F0502020204030204"/>
                  <a:cs typeface="Calibri" panose="020F0502020204030204"/>
                </a:endParaRPr>
              </a:p>
            </p:txBody>
          </p:sp>
          <p:sp>
            <p:nvSpPr>
              <p:cNvPr id="80" name="object 80"/>
              <p:cNvSpPr/>
              <p:nvPr/>
            </p:nvSpPr>
            <p:spPr>
              <a:xfrm>
                <a:off x="7680173" y="4058890"/>
                <a:ext cx="2520315" cy="565150"/>
              </a:xfrm>
              <a:custGeom>
                <a:avLst/>
                <a:gdLst/>
                <a:ahLst/>
                <a:cxnLst/>
                <a:rect l="l" t="t" r="r" b="b"/>
                <a:pathLst>
                  <a:path w="2520315" h="565150">
                    <a:moveTo>
                      <a:pt x="2237870" y="0"/>
                    </a:moveTo>
                    <a:lnTo>
                      <a:pt x="2237870" y="141197"/>
                    </a:lnTo>
                    <a:lnTo>
                      <a:pt x="0" y="141197"/>
                    </a:lnTo>
                    <a:lnTo>
                      <a:pt x="0" y="423594"/>
                    </a:lnTo>
                    <a:lnTo>
                      <a:pt x="2237870" y="423594"/>
                    </a:lnTo>
                    <a:lnTo>
                      <a:pt x="2237870" y="564791"/>
                    </a:lnTo>
                    <a:lnTo>
                      <a:pt x="2520278" y="282395"/>
                    </a:lnTo>
                    <a:lnTo>
                      <a:pt x="2237870" y="0"/>
                    </a:lnTo>
                    <a:close/>
                  </a:path>
                </a:pathLst>
              </a:custGeom>
              <a:solidFill>
                <a:srgbClr val="FFFB00"/>
              </a:solidFill>
            </p:spPr>
            <p:txBody>
              <a:bodyPr wrap="square" lIns="0" tIns="0" rIns="0" bIns="0" rtlCol="0"/>
              <a:lstStyle/>
              <a:p/>
            </p:txBody>
          </p:sp>
          <p:sp>
            <p:nvSpPr>
              <p:cNvPr id="81" name="object 81"/>
              <p:cNvSpPr/>
              <p:nvPr/>
            </p:nvSpPr>
            <p:spPr>
              <a:xfrm>
                <a:off x="7680173" y="4058891"/>
                <a:ext cx="2520315" cy="565150"/>
              </a:xfrm>
              <a:custGeom>
                <a:avLst/>
                <a:gdLst/>
                <a:ahLst/>
                <a:cxnLst/>
                <a:rect l="l" t="t" r="r" b="b"/>
                <a:pathLst>
                  <a:path w="2520315" h="565150">
                    <a:moveTo>
                      <a:pt x="0" y="141197"/>
                    </a:moveTo>
                    <a:lnTo>
                      <a:pt x="2237870" y="141197"/>
                    </a:lnTo>
                    <a:lnTo>
                      <a:pt x="2237870" y="0"/>
                    </a:lnTo>
                    <a:lnTo>
                      <a:pt x="2520278" y="282396"/>
                    </a:lnTo>
                    <a:lnTo>
                      <a:pt x="2237870" y="564792"/>
                    </a:lnTo>
                    <a:lnTo>
                      <a:pt x="2237870" y="423594"/>
                    </a:lnTo>
                    <a:lnTo>
                      <a:pt x="0" y="423594"/>
                    </a:lnTo>
                    <a:lnTo>
                      <a:pt x="0" y="141197"/>
                    </a:lnTo>
                    <a:close/>
                  </a:path>
                </a:pathLst>
              </a:custGeom>
              <a:ln w="9524">
                <a:solidFill>
                  <a:srgbClr val="FFFFFF"/>
                </a:solidFill>
              </a:ln>
            </p:spPr>
            <p:txBody>
              <a:bodyPr wrap="square" lIns="0" tIns="0" rIns="0" bIns="0" rtlCol="0"/>
              <a:lstStyle/>
              <a:p/>
            </p:txBody>
          </p:sp>
          <p:sp>
            <p:nvSpPr>
              <p:cNvPr id="82" name="object 82"/>
              <p:cNvSpPr/>
              <p:nvPr/>
            </p:nvSpPr>
            <p:spPr>
              <a:xfrm>
                <a:off x="7680173" y="4480773"/>
                <a:ext cx="2520315" cy="586740"/>
              </a:xfrm>
              <a:custGeom>
                <a:avLst/>
                <a:gdLst/>
                <a:ahLst/>
                <a:cxnLst/>
                <a:rect l="l" t="t" r="r" b="b"/>
                <a:pathLst>
                  <a:path w="2520315" h="586739">
                    <a:moveTo>
                      <a:pt x="293201" y="0"/>
                    </a:moveTo>
                    <a:lnTo>
                      <a:pt x="0" y="293236"/>
                    </a:lnTo>
                    <a:lnTo>
                      <a:pt x="293201" y="586473"/>
                    </a:lnTo>
                    <a:lnTo>
                      <a:pt x="293201" y="439854"/>
                    </a:lnTo>
                    <a:lnTo>
                      <a:pt x="2520279" y="439854"/>
                    </a:lnTo>
                    <a:lnTo>
                      <a:pt x="2520279" y="146617"/>
                    </a:lnTo>
                    <a:lnTo>
                      <a:pt x="293201" y="146617"/>
                    </a:lnTo>
                    <a:lnTo>
                      <a:pt x="293201" y="0"/>
                    </a:lnTo>
                    <a:close/>
                  </a:path>
                </a:pathLst>
              </a:custGeom>
              <a:solidFill>
                <a:srgbClr val="FFFB00"/>
              </a:solidFill>
            </p:spPr>
            <p:txBody>
              <a:bodyPr wrap="square" lIns="0" tIns="0" rIns="0" bIns="0" rtlCol="0"/>
              <a:lstStyle/>
              <a:p/>
            </p:txBody>
          </p:sp>
          <p:sp>
            <p:nvSpPr>
              <p:cNvPr id="83" name="object 83"/>
              <p:cNvSpPr/>
              <p:nvPr/>
            </p:nvSpPr>
            <p:spPr>
              <a:xfrm>
                <a:off x="7680173" y="4480773"/>
                <a:ext cx="2520315" cy="586740"/>
              </a:xfrm>
              <a:custGeom>
                <a:avLst/>
                <a:gdLst/>
                <a:ahLst/>
                <a:cxnLst/>
                <a:rect l="l" t="t" r="r" b="b"/>
                <a:pathLst>
                  <a:path w="2520315" h="586739">
                    <a:moveTo>
                      <a:pt x="2520279" y="146617"/>
                    </a:moveTo>
                    <a:lnTo>
                      <a:pt x="293200" y="146617"/>
                    </a:lnTo>
                    <a:lnTo>
                      <a:pt x="293200" y="0"/>
                    </a:lnTo>
                    <a:lnTo>
                      <a:pt x="0" y="293236"/>
                    </a:lnTo>
                    <a:lnTo>
                      <a:pt x="293200" y="586472"/>
                    </a:lnTo>
                    <a:lnTo>
                      <a:pt x="293200" y="439854"/>
                    </a:lnTo>
                    <a:lnTo>
                      <a:pt x="2520279" y="439854"/>
                    </a:lnTo>
                    <a:lnTo>
                      <a:pt x="2520279" y="146617"/>
                    </a:lnTo>
                    <a:close/>
                  </a:path>
                </a:pathLst>
              </a:custGeom>
              <a:ln w="9524">
                <a:solidFill>
                  <a:srgbClr val="FFFFFF"/>
                </a:solidFill>
              </a:ln>
            </p:spPr>
            <p:txBody>
              <a:bodyPr wrap="square" lIns="0" tIns="0" rIns="0" bIns="0" rtlCol="0"/>
              <a:lstStyle/>
              <a:p/>
            </p:txBody>
          </p:sp>
          <p:sp>
            <p:nvSpPr>
              <p:cNvPr id="84" name="object 84"/>
              <p:cNvSpPr txBox="1"/>
              <p:nvPr/>
            </p:nvSpPr>
            <p:spPr>
              <a:xfrm>
                <a:off x="8402049" y="4233108"/>
                <a:ext cx="1185545" cy="696595"/>
              </a:xfrm>
              <a:prstGeom prst="rect">
                <a:avLst/>
              </a:prstGeom>
            </p:spPr>
            <p:txBody>
              <a:bodyPr vert="horz" wrap="square" lIns="0" tIns="12700" rIns="0" bIns="0" rtlCol="0">
                <a:spAutoFit/>
              </a:bodyPr>
              <a:lstStyle/>
              <a:p>
                <a:pPr marL="12700">
                  <a:lnSpc>
                    <a:spcPct val="100000"/>
                  </a:lnSpc>
                  <a:spcBef>
                    <a:spcPts val="100"/>
                  </a:spcBef>
                </a:pPr>
                <a:r>
                  <a:rPr sz="1600" spc="-5" dirty="0">
                    <a:latin typeface="Calibri" panose="020F0502020204030204"/>
                    <a:cs typeface="Calibri" panose="020F0502020204030204"/>
                  </a:rPr>
                  <a:t>MoreCards</a:t>
                </a:r>
                <a:endParaRPr sz="1600">
                  <a:latin typeface="Calibri" panose="020F0502020204030204"/>
                  <a:cs typeface="Calibri" panose="020F0502020204030204"/>
                </a:endParaRPr>
              </a:p>
              <a:p>
                <a:pPr marL="57150">
                  <a:lnSpc>
                    <a:spcPct val="100000"/>
                  </a:lnSpc>
                  <a:spcBef>
                    <a:spcPts val="1445"/>
                  </a:spcBef>
                </a:pPr>
                <a:r>
                  <a:rPr sz="1600" spc="-5" dirty="0">
                    <a:latin typeface="Calibri" panose="020F0502020204030204"/>
                    <a:cs typeface="Calibri" panose="020F0502020204030204"/>
                  </a:rPr>
                  <a:t>returnValue()</a:t>
                </a:r>
                <a:endParaRPr sz="1600">
                  <a:latin typeface="Calibri" panose="020F0502020204030204"/>
                  <a:cs typeface="Calibri" panose="020F0502020204030204"/>
                </a:endParaRPr>
              </a:p>
            </p:txBody>
          </p:sp>
          <p:sp>
            <p:nvSpPr>
              <p:cNvPr id="85" name="object 85"/>
              <p:cNvSpPr/>
              <p:nvPr/>
            </p:nvSpPr>
            <p:spPr>
              <a:xfrm>
                <a:off x="6312025" y="5195322"/>
                <a:ext cx="1403985" cy="572135"/>
              </a:xfrm>
              <a:custGeom>
                <a:avLst/>
                <a:gdLst/>
                <a:ahLst/>
                <a:cxnLst/>
                <a:rect l="l" t="t" r="r" b="b"/>
                <a:pathLst>
                  <a:path w="1403984" h="572135">
                    <a:moveTo>
                      <a:pt x="1308088" y="0"/>
                    </a:moveTo>
                    <a:lnTo>
                      <a:pt x="95274" y="0"/>
                    </a:lnTo>
                    <a:lnTo>
                      <a:pt x="58189" y="7487"/>
                    </a:lnTo>
                    <a:lnTo>
                      <a:pt x="27905" y="27905"/>
                    </a:lnTo>
                    <a:lnTo>
                      <a:pt x="7487" y="58189"/>
                    </a:lnTo>
                    <a:lnTo>
                      <a:pt x="0" y="95275"/>
                    </a:lnTo>
                    <a:lnTo>
                      <a:pt x="0" y="476364"/>
                    </a:lnTo>
                    <a:lnTo>
                      <a:pt x="7487" y="513450"/>
                    </a:lnTo>
                    <a:lnTo>
                      <a:pt x="27905" y="543734"/>
                    </a:lnTo>
                    <a:lnTo>
                      <a:pt x="58189" y="564152"/>
                    </a:lnTo>
                    <a:lnTo>
                      <a:pt x="95274" y="571639"/>
                    </a:lnTo>
                    <a:lnTo>
                      <a:pt x="1308088" y="571639"/>
                    </a:lnTo>
                    <a:lnTo>
                      <a:pt x="1345173" y="564152"/>
                    </a:lnTo>
                    <a:lnTo>
                      <a:pt x="1375457" y="543734"/>
                    </a:lnTo>
                    <a:lnTo>
                      <a:pt x="1395875" y="513450"/>
                    </a:lnTo>
                    <a:lnTo>
                      <a:pt x="1403362" y="476364"/>
                    </a:lnTo>
                    <a:lnTo>
                      <a:pt x="1403362" y="95275"/>
                    </a:lnTo>
                    <a:lnTo>
                      <a:pt x="1395875" y="58189"/>
                    </a:lnTo>
                    <a:lnTo>
                      <a:pt x="1375457" y="27905"/>
                    </a:lnTo>
                    <a:lnTo>
                      <a:pt x="1345173" y="7487"/>
                    </a:lnTo>
                    <a:lnTo>
                      <a:pt x="1308088" y="0"/>
                    </a:lnTo>
                    <a:close/>
                  </a:path>
                </a:pathLst>
              </a:custGeom>
              <a:solidFill>
                <a:srgbClr val="AA7CA9"/>
              </a:solidFill>
            </p:spPr>
            <p:txBody>
              <a:bodyPr wrap="square" lIns="0" tIns="0" rIns="0" bIns="0" rtlCol="0"/>
              <a:lstStyle/>
              <a:p/>
            </p:txBody>
          </p:sp>
          <p:sp>
            <p:nvSpPr>
              <p:cNvPr id="86" name="object 86"/>
              <p:cNvSpPr/>
              <p:nvPr/>
            </p:nvSpPr>
            <p:spPr>
              <a:xfrm>
                <a:off x="6312025" y="5195322"/>
                <a:ext cx="1403985" cy="572135"/>
              </a:xfrm>
              <a:custGeom>
                <a:avLst/>
                <a:gdLst/>
                <a:ahLst/>
                <a:cxnLst/>
                <a:rect l="l" t="t" r="r" b="b"/>
                <a:pathLst>
                  <a:path w="1403984" h="572135">
                    <a:moveTo>
                      <a:pt x="0" y="95274"/>
                    </a:moveTo>
                    <a:lnTo>
                      <a:pt x="7487" y="58189"/>
                    </a:lnTo>
                    <a:lnTo>
                      <a:pt x="27905" y="27905"/>
                    </a:lnTo>
                    <a:lnTo>
                      <a:pt x="58189" y="7487"/>
                    </a:lnTo>
                    <a:lnTo>
                      <a:pt x="95274" y="0"/>
                    </a:lnTo>
                    <a:lnTo>
                      <a:pt x="1308088" y="0"/>
                    </a:lnTo>
                    <a:lnTo>
                      <a:pt x="1345174" y="7487"/>
                    </a:lnTo>
                    <a:lnTo>
                      <a:pt x="1375458" y="27905"/>
                    </a:lnTo>
                    <a:lnTo>
                      <a:pt x="1395876" y="58189"/>
                    </a:lnTo>
                    <a:lnTo>
                      <a:pt x="1403363" y="95274"/>
                    </a:lnTo>
                    <a:lnTo>
                      <a:pt x="1403363" y="476364"/>
                    </a:lnTo>
                    <a:lnTo>
                      <a:pt x="1395876" y="513450"/>
                    </a:lnTo>
                    <a:lnTo>
                      <a:pt x="1375458" y="543734"/>
                    </a:lnTo>
                    <a:lnTo>
                      <a:pt x="1345174" y="564152"/>
                    </a:lnTo>
                    <a:lnTo>
                      <a:pt x="1308088" y="571639"/>
                    </a:lnTo>
                    <a:lnTo>
                      <a:pt x="95274" y="571639"/>
                    </a:lnTo>
                    <a:lnTo>
                      <a:pt x="58189" y="564152"/>
                    </a:lnTo>
                    <a:lnTo>
                      <a:pt x="27905" y="543734"/>
                    </a:lnTo>
                    <a:lnTo>
                      <a:pt x="7487" y="513450"/>
                    </a:lnTo>
                    <a:lnTo>
                      <a:pt x="0" y="476364"/>
                    </a:lnTo>
                    <a:lnTo>
                      <a:pt x="0" y="95274"/>
                    </a:lnTo>
                    <a:close/>
                  </a:path>
                </a:pathLst>
              </a:custGeom>
              <a:ln w="9524">
                <a:solidFill>
                  <a:srgbClr val="FFFFFF"/>
                </a:solidFill>
              </a:ln>
            </p:spPr>
            <p:txBody>
              <a:bodyPr wrap="square" lIns="0" tIns="0" rIns="0" bIns="0" rtlCol="0"/>
              <a:lstStyle/>
              <a:p/>
            </p:txBody>
          </p:sp>
          <p:sp>
            <p:nvSpPr>
              <p:cNvPr id="87" name="object 87"/>
              <p:cNvSpPr txBox="1"/>
              <p:nvPr/>
            </p:nvSpPr>
            <p:spPr>
              <a:xfrm>
                <a:off x="6609864" y="5256246"/>
                <a:ext cx="813435" cy="299720"/>
              </a:xfrm>
              <a:prstGeom prst="rect">
                <a:avLst/>
              </a:prstGeom>
            </p:spPr>
            <p:txBody>
              <a:bodyPr vert="horz" wrap="square" lIns="0" tIns="12700" rIns="0" bIns="0" rtlCol="0">
                <a:spAutoFit/>
              </a:bodyPr>
              <a:lstStyle/>
              <a:p>
                <a:pPr marL="12700">
                  <a:lnSpc>
                    <a:spcPct val="100000"/>
                  </a:lnSpc>
                  <a:spcBef>
                    <a:spcPts val="100"/>
                  </a:spcBef>
                </a:pPr>
                <a:r>
                  <a:rPr sz="1800" spc="-114" dirty="0">
                    <a:solidFill>
                      <a:srgbClr val="FFFFFF"/>
                    </a:solidFill>
                    <a:latin typeface="Calibri" panose="020F0502020204030204"/>
                    <a:cs typeface="Calibri" panose="020F0502020204030204"/>
                  </a:rPr>
                  <a:t>D-­‐Player</a:t>
                </a:r>
                <a:endParaRPr sz="1800">
                  <a:latin typeface="Calibri" panose="020F0502020204030204"/>
                  <a:cs typeface="Calibri" panose="020F0502020204030204"/>
                </a:endParaRPr>
              </a:p>
            </p:txBody>
          </p:sp>
          <p:sp>
            <p:nvSpPr>
              <p:cNvPr id="88" name="object 88"/>
              <p:cNvSpPr/>
              <p:nvPr/>
            </p:nvSpPr>
            <p:spPr>
              <a:xfrm>
                <a:off x="10192129" y="5195322"/>
                <a:ext cx="1429385" cy="572135"/>
              </a:xfrm>
              <a:custGeom>
                <a:avLst/>
                <a:gdLst/>
                <a:ahLst/>
                <a:cxnLst/>
                <a:rect l="l" t="t" r="r" b="b"/>
                <a:pathLst>
                  <a:path w="1429384" h="572135">
                    <a:moveTo>
                      <a:pt x="1333614" y="0"/>
                    </a:moveTo>
                    <a:lnTo>
                      <a:pt x="95275" y="0"/>
                    </a:lnTo>
                    <a:lnTo>
                      <a:pt x="58190" y="7487"/>
                    </a:lnTo>
                    <a:lnTo>
                      <a:pt x="27905" y="27905"/>
                    </a:lnTo>
                    <a:lnTo>
                      <a:pt x="7487" y="58189"/>
                    </a:lnTo>
                    <a:lnTo>
                      <a:pt x="0" y="95275"/>
                    </a:lnTo>
                    <a:lnTo>
                      <a:pt x="0" y="476364"/>
                    </a:lnTo>
                    <a:lnTo>
                      <a:pt x="7487" y="513450"/>
                    </a:lnTo>
                    <a:lnTo>
                      <a:pt x="27905" y="543734"/>
                    </a:lnTo>
                    <a:lnTo>
                      <a:pt x="58190" y="564152"/>
                    </a:lnTo>
                    <a:lnTo>
                      <a:pt x="95275" y="571639"/>
                    </a:lnTo>
                    <a:lnTo>
                      <a:pt x="1333614" y="571639"/>
                    </a:lnTo>
                    <a:lnTo>
                      <a:pt x="1370699" y="564152"/>
                    </a:lnTo>
                    <a:lnTo>
                      <a:pt x="1400983" y="543734"/>
                    </a:lnTo>
                    <a:lnTo>
                      <a:pt x="1421401" y="513450"/>
                    </a:lnTo>
                    <a:lnTo>
                      <a:pt x="1428888" y="476364"/>
                    </a:lnTo>
                    <a:lnTo>
                      <a:pt x="1428888" y="95275"/>
                    </a:lnTo>
                    <a:lnTo>
                      <a:pt x="1421401" y="58189"/>
                    </a:lnTo>
                    <a:lnTo>
                      <a:pt x="1400983" y="27905"/>
                    </a:lnTo>
                    <a:lnTo>
                      <a:pt x="1370699" y="7487"/>
                    </a:lnTo>
                    <a:lnTo>
                      <a:pt x="1333614" y="0"/>
                    </a:lnTo>
                    <a:close/>
                  </a:path>
                </a:pathLst>
              </a:custGeom>
              <a:solidFill>
                <a:srgbClr val="AA7CA9"/>
              </a:solidFill>
            </p:spPr>
            <p:txBody>
              <a:bodyPr wrap="square" lIns="0" tIns="0" rIns="0" bIns="0" rtlCol="0"/>
              <a:lstStyle/>
              <a:p/>
            </p:txBody>
          </p:sp>
          <p:sp>
            <p:nvSpPr>
              <p:cNvPr id="89" name="object 89"/>
              <p:cNvSpPr/>
              <p:nvPr/>
            </p:nvSpPr>
            <p:spPr>
              <a:xfrm>
                <a:off x="10192129" y="5195322"/>
                <a:ext cx="1429385" cy="572135"/>
              </a:xfrm>
              <a:custGeom>
                <a:avLst/>
                <a:gdLst/>
                <a:ahLst/>
                <a:cxnLst/>
                <a:rect l="l" t="t" r="r" b="b"/>
                <a:pathLst>
                  <a:path w="1429384" h="572135">
                    <a:moveTo>
                      <a:pt x="0" y="95274"/>
                    </a:moveTo>
                    <a:lnTo>
                      <a:pt x="7487" y="58189"/>
                    </a:lnTo>
                    <a:lnTo>
                      <a:pt x="27905" y="27905"/>
                    </a:lnTo>
                    <a:lnTo>
                      <a:pt x="58189" y="7487"/>
                    </a:lnTo>
                    <a:lnTo>
                      <a:pt x="95274" y="0"/>
                    </a:lnTo>
                    <a:lnTo>
                      <a:pt x="1333614" y="0"/>
                    </a:lnTo>
                    <a:lnTo>
                      <a:pt x="1370699" y="7487"/>
                    </a:lnTo>
                    <a:lnTo>
                      <a:pt x="1400982" y="27905"/>
                    </a:lnTo>
                    <a:lnTo>
                      <a:pt x="1421401" y="58189"/>
                    </a:lnTo>
                    <a:lnTo>
                      <a:pt x="1428888" y="95274"/>
                    </a:lnTo>
                    <a:lnTo>
                      <a:pt x="1428888" y="476364"/>
                    </a:lnTo>
                    <a:lnTo>
                      <a:pt x="1421401" y="513450"/>
                    </a:lnTo>
                    <a:lnTo>
                      <a:pt x="1400982" y="543734"/>
                    </a:lnTo>
                    <a:lnTo>
                      <a:pt x="1370699" y="564152"/>
                    </a:lnTo>
                    <a:lnTo>
                      <a:pt x="1333614" y="571639"/>
                    </a:lnTo>
                    <a:lnTo>
                      <a:pt x="95274" y="571639"/>
                    </a:lnTo>
                    <a:lnTo>
                      <a:pt x="58189" y="564152"/>
                    </a:lnTo>
                    <a:lnTo>
                      <a:pt x="27905" y="543734"/>
                    </a:lnTo>
                    <a:lnTo>
                      <a:pt x="7487" y="513450"/>
                    </a:lnTo>
                    <a:lnTo>
                      <a:pt x="0" y="476364"/>
                    </a:lnTo>
                    <a:lnTo>
                      <a:pt x="0" y="95274"/>
                    </a:lnTo>
                    <a:close/>
                  </a:path>
                </a:pathLst>
              </a:custGeom>
              <a:ln w="9524">
                <a:solidFill>
                  <a:srgbClr val="FFFFFF"/>
                </a:solidFill>
              </a:ln>
            </p:spPr>
            <p:txBody>
              <a:bodyPr wrap="square" lIns="0" tIns="0" rIns="0" bIns="0" rtlCol="0"/>
              <a:lstStyle/>
              <a:p/>
            </p:txBody>
          </p:sp>
          <p:sp>
            <p:nvSpPr>
              <p:cNvPr id="90" name="object 90"/>
              <p:cNvSpPr txBox="1"/>
              <p:nvPr/>
            </p:nvSpPr>
            <p:spPr>
              <a:xfrm>
                <a:off x="10650400" y="5256246"/>
                <a:ext cx="518159"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FFFF"/>
                    </a:solidFill>
                    <a:latin typeface="Calibri" panose="020F0502020204030204"/>
                    <a:cs typeface="Calibri" panose="020F0502020204030204"/>
                  </a:rPr>
                  <a:t>Ha</a:t>
                </a:r>
                <a:r>
                  <a:rPr sz="1800" dirty="0">
                    <a:solidFill>
                      <a:srgbClr val="FFFFFF"/>
                    </a:solidFill>
                    <a:latin typeface="Calibri" panose="020F0502020204030204"/>
                    <a:cs typeface="Calibri" panose="020F0502020204030204"/>
                  </a:rPr>
                  <a:t>nd</a:t>
                </a:r>
                <a:endParaRPr sz="1800">
                  <a:latin typeface="Calibri" panose="020F0502020204030204"/>
                  <a:cs typeface="Calibri" panose="020F0502020204030204"/>
                </a:endParaRPr>
              </a:p>
            </p:txBody>
          </p:sp>
          <p:sp>
            <p:nvSpPr>
              <p:cNvPr id="91" name="object 91"/>
              <p:cNvSpPr/>
              <p:nvPr/>
            </p:nvSpPr>
            <p:spPr>
              <a:xfrm>
                <a:off x="7680173" y="4923195"/>
                <a:ext cx="2502535" cy="702310"/>
              </a:xfrm>
              <a:custGeom>
                <a:avLst/>
                <a:gdLst/>
                <a:ahLst/>
                <a:cxnLst/>
                <a:rect l="l" t="t" r="r" b="b"/>
                <a:pathLst>
                  <a:path w="2502534" h="702310">
                    <a:moveTo>
                      <a:pt x="2151405" y="0"/>
                    </a:moveTo>
                    <a:lnTo>
                      <a:pt x="2151405" y="175498"/>
                    </a:lnTo>
                    <a:lnTo>
                      <a:pt x="0" y="175498"/>
                    </a:lnTo>
                    <a:lnTo>
                      <a:pt x="0" y="526498"/>
                    </a:lnTo>
                    <a:lnTo>
                      <a:pt x="2151405" y="526498"/>
                    </a:lnTo>
                    <a:lnTo>
                      <a:pt x="2151405" y="701997"/>
                    </a:lnTo>
                    <a:lnTo>
                      <a:pt x="2502404" y="350998"/>
                    </a:lnTo>
                    <a:lnTo>
                      <a:pt x="2151405" y="0"/>
                    </a:lnTo>
                    <a:close/>
                  </a:path>
                </a:pathLst>
              </a:custGeom>
              <a:solidFill>
                <a:srgbClr val="FFFB00"/>
              </a:solidFill>
            </p:spPr>
            <p:txBody>
              <a:bodyPr wrap="square" lIns="0" tIns="0" rIns="0" bIns="0" rtlCol="0"/>
              <a:lstStyle/>
              <a:p/>
            </p:txBody>
          </p:sp>
          <p:sp>
            <p:nvSpPr>
              <p:cNvPr id="92" name="object 92"/>
              <p:cNvSpPr/>
              <p:nvPr/>
            </p:nvSpPr>
            <p:spPr>
              <a:xfrm>
                <a:off x="7680173" y="4923195"/>
                <a:ext cx="2502535" cy="702310"/>
              </a:xfrm>
              <a:custGeom>
                <a:avLst/>
                <a:gdLst/>
                <a:ahLst/>
                <a:cxnLst/>
                <a:rect l="l" t="t" r="r" b="b"/>
                <a:pathLst>
                  <a:path w="2502534" h="702310">
                    <a:moveTo>
                      <a:pt x="0" y="175499"/>
                    </a:moveTo>
                    <a:lnTo>
                      <a:pt x="2151405" y="175499"/>
                    </a:lnTo>
                    <a:lnTo>
                      <a:pt x="2151405" y="0"/>
                    </a:lnTo>
                    <a:lnTo>
                      <a:pt x="2502404" y="350998"/>
                    </a:lnTo>
                    <a:lnTo>
                      <a:pt x="2151405" y="701997"/>
                    </a:lnTo>
                    <a:lnTo>
                      <a:pt x="2151405" y="526498"/>
                    </a:lnTo>
                    <a:lnTo>
                      <a:pt x="0" y="526498"/>
                    </a:lnTo>
                    <a:lnTo>
                      <a:pt x="0" y="175499"/>
                    </a:lnTo>
                    <a:close/>
                  </a:path>
                </a:pathLst>
              </a:custGeom>
              <a:ln w="9524">
                <a:solidFill>
                  <a:srgbClr val="FFFFFF"/>
                </a:solidFill>
              </a:ln>
            </p:spPr>
            <p:txBody>
              <a:bodyPr wrap="square" lIns="0" tIns="0" rIns="0" bIns="0" rtlCol="0"/>
              <a:lstStyle/>
              <a:p/>
            </p:txBody>
          </p:sp>
          <p:sp>
            <p:nvSpPr>
              <p:cNvPr id="93" name="object 93"/>
              <p:cNvSpPr txBox="1"/>
              <p:nvPr/>
            </p:nvSpPr>
            <p:spPr>
              <a:xfrm>
                <a:off x="8232683" y="5131714"/>
                <a:ext cx="122809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Calibri" panose="020F0502020204030204"/>
                    <a:cs typeface="Calibri" panose="020F0502020204030204"/>
                  </a:rPr>
                  <a:t>GetHandValue</a:t>
                </a:r>
                <a:endParaRPr sz="1600">
                  <a:latin typeface="Calibri" panose="020F0502020204030204"/>
                  <a:cs typeface="Calibri" panose="020F0502020204030204"/>
                </a:endParaRPr>
              </a:p>
            </p:txBody>
          </p:sp>
        </p:grpSp>
      </p:grpSp>
      <p:sp>
        <p:nvSpPr>
          <p:cNvPr id="98" name="标题 97"/>
          <p:cNvSpPr>
            <a:spLocks noGrp="1"/>
          </p:cNvSpPr>
          <p:nvPr>
            <p:ph type="title"/>
          </p:nvPr>
        </p:nvSpPr>
        <p:spPr/>
        <p:txBody>
          <a:bodyPr/>
          <a:lstStyle/>
          <a:p>
            <a:r>
              <a:rPr lang="zh-CN" altLang="en-US" dirty="0"/>
              <a:t>识别交互关系</a:t>
            </a:r>
            <a:endParaRPr lang="zh-CN" altLang="en-US" dirty="0"/>
          </a:p>
        </p:txBody>
      </p:sp>
      <p:sp>
        <p:nvSpPr>
          <p:cNvPr id="99" name="矩形 98"/>
          <p:cNvSpPr/>
          <p:nvPr/>
        </p:nvSpPr>
        <p:spPr>
          <a:xfrm>
            <a:off x="7394199" y="668616"/>
            <a:ext cx="3787191" cy="523220"/>
          </a:xfrm>
          <a:prstGeom prst="rect">
            <a:avLst/>
          </a:prstGeom>
        </p:spPr>
        <p:txBody>
          <a:bodyPr wrap="none">
            <a:spAutoFit/>
          </a:bodyPr>
          <a:lstStyle/>
          <a:p>
            <a:pPr algn="ctr"/>
            <a:r>
              <a:rPr lang="zh-CN" altLang="en-US" sz="2800" b="1" dirty="0">
                <a:solidFill>
                  <a:srgbClr val="C00000"/>
                </a:solidFill>
                <a:latin typeface="微软雅黑" panose="020B0503020204020204" pitchFamily="34" charset="-122"/>
                <a:ea typeface="微软雅黑" panose="020B0503020204020204" pitchFamily="34" charset="-122"/>
              </a:rPr>
              <a:t>最终获得的</a:t>
            </a:r>
            <a:r>
              <a:rPr lang="en-US" altLang="zh-CN" sz="2800" b="1" dirty="0">
                <a:solidFill>
                  <a:srgbClr val="C00000"/>
                </a:solidFill>
                <a:latin typeface="微软雅黑" panose="020B0503020204020204" pitchFamily="34" charset="-122"/>
                <a:ea typeface="微软雅黑" panose="020B0503020204020204" pitchFamily="34" charset="-122"/>
              </a:rPr>
              <a:t>CRC</a:t>
            </a:r>
            <a:r>
              <a:rPr lang="zh-CN" altLang="en-US" sz="2800" b="1" dirty="0">
                <a:solidFill>
                  <a:srgbClr val="C00000"/>
                </a:solidFill>
                <a:latin typeface="微软雅黑" panose="020B0503020204020204" pitchFamily="34" charset="-122"/>
                <a:ea typeface="微软雅黑" panose="020B0503020204020204" pitchFamily="34" charset="-122"/>
              </a:rPr>
              <a:t>卡片！</a:t>
            </a:r>
            <a:endParaRPr lang="zh-CN" altLang="en-US" sz="2800" b="1" dirty="0">
              <a:solidFill>
                <a:srgbClr val="C00000"/>
              </a:solidFill>
              <a:latin typeface="微软雅黑" panose="020B0503020204020204" pitchFamily="34" charset="-122"/>
              <a:ea typeface="微软雅黑" panose="020B0503020204020204" pitchFamily="34" charset="-122"/>
            </a:endParaRPr>
          </a:p>
        </p:txBody>
      </p:sp>
      <p:sp>
        <p:nvSpPr>
          <p:cNvPr id="100" name="灯片编号占位符 99"/>
          <p:cNvSpPr>
            <a:spLocks noGrp="1"/>
          </p:cNvSpPr>
          <p:nvPr>
            <p:ph type="sldNum" sz="quarter" idx="12"/>
          </p:nvPr>
        </p:nvSpPr>
        <p:spPr/>
        <p:txBody>
          <a:bodyPr/>
          <a:lstStyle/>
          <a:p>
            <a:fld id="{74D2AB8B-5816-41F2-8B4B-CA5C3E4E6A6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44156"/>
    </mc:Choice>
    <mc:Fallback>
      <p:transition spd="slow" advTm="44156"/>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spc="-15" dirty="0">
                <a:solidFill>
                  <a:srgbClr val="0563C1"/>
                </a:solidFill>
                <a:latin typeface="黑体" panose="02010609060101010101" charset="-122"/>
                <a:cs typeface="黑体" panose="02010609060101010101" charset="-122"/>
              </a:rPr>
              <a:t>类定义</a:t>
            </a:r>
            <a:r>
              <a:rPr lang="zh-CN" altLang="en-US" b="1" spc="-15" dirty="0">
                <a:solidFill>
                  <a:srgbClr val="0079CD"/>
                </a:solidFill>
                <a:latin typeface="黑体" panose="02010609060101010101" charset="-122"/>
                <a:cs typeface="黑体" panose="02010609060101010101" charset="-122"/>
              </a:rPr>
              <a:t>：</a:t>
            </a:r>
            <a:r>
              <a:rPr lang="zh-CN" altLang="en-US" b="1" spc="-15" dirty="0">
                <a:solidFill>
                  <a:srgbClr val="0563C1"/>
                </a:solidFill>
                <a:latin typeface="黑体" panose="02010609060101010101" charset="-122"/>
                <a:cs typeface="黑体" panose="02010609060101010101" charset="-122"/>
              </a:rPr>
              <a:t>纸牌类</a:t>
            </a:r>
            <a:r>
              <a:rPr lang="zh-CN" altLang="en-US" b="1" spc="-60" dirty="0">
                <a:solidFill>
                  <a:srgbClr val="0563C1"/>
                </a:solidFill>
                <a:latin typeface="黑体" panose="02010609060101010101" charset="-122"/>
                <a:cs typeface="黑体" panose="02010609060101010101" charset="-122"/>
              </a:rPr>
              <a:t> </a:t>
            </a:r>
            <a:r>
              <a:rPr lang="zh-CN" altLang="en-US" b="1" spc="-15" dirty="0">
                <a:solidFill>
                  <a:srgbClr val="0563C1"/>
                </a:solidFill>
                <a:latin typeface="黑体" panose="02010609060101010101" charset="-122"/>
                <a:cs typeface="黑体" panose="02010609060101010101" charset="-122"/>
              </a:rPr>
              <a:t>（</a:t>
            </a:r>
            <a:r>
              <a:rPr lang="en-US" altLang="zh-CN" b="1" spc="-15" dirty="0">
                <a:solidFill>
                  <a:srgbClr val="0079CD"/>
                </a:solidFill>
                <a:latin typeface="黑体" panose="02010609060101010101" charset="-122"/>
                <a:cs typeface="黑体" panose="02010609060101010101" charset="-122"/>
              </a:rPr>
              <a:t>Card</a:t>
            </a:r>
            <a:r>
              <a:rPr lang="zh-CN" altLang="en-US" b="1" spc="-15" dirty="0">
                <a:solidFill>
                  <a:srgbClr val="0079CD"/>
                </a:solidFill>
                <a:latin typeface="黑体" panose="02010609060101010101" charset="-122"/>
                <a:cs typeface="黑体" panose="02010609060101010101" charset="-122"/>
              </a:rPr>
              <a:t>）</a:t>
            </a:r>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grpSp>
        <p:nvGrpSpPr>
          <p:cNvPr id="5" name="组合 4"/>
          <p:cNvGrpSpPr/>
          <p:nvPr/>
        </p:nvGrpSpPr>
        <p:grpSpPr>
          <a:xfrm>
            <a:off x="1283518" y="1690688"/>
            <a:ext cx="9622027" cy="4586712"/>
            <a:chOff x="1008062" y="1268413"/>
            <a:chExt cx="10079035" cy="5202235"/>
          </a:xfrm>
        </p:grpSpPr>
        <p:sp>
          <p:nvSpPr>
            <p:cNvPr id="6" name="object 4"/>
            <p:cNvSpPr/>
            <p:nvPr/>
          </p:nvSpPr>
          <p:spPr>
            <a:xfrm>
              <a:off x="1008062" y="1268413"/>
              <a:ext cx="10079035" cy="5202235"/>
            </a:xfrm>
            <a:prstGeom prst="rect">
              <a:avLst/>
            </a:prstGeom>
            <a:blipFill>
              <a:blip r:embed="rId1" cstate="print"/>
              <a:stretch>
                <a:fillRect/>
              </a:stretch>
            </a:blipFill>
          </p:spPr>
          <p:txBody>
            <a:bodyPr wrap="square" lIns="0" tIns="0" rIns="0" bIns="0" rtlCol="0"/>
            <a:lstStyle/>
            <a:p/>
          </p:txBody>
        </p:sp>
        <p:sp>
          <p:nvSpPr>
            <p:cNvPr id="7" name="object 5"/>
            <p:cNvSpPr txBox="1"/>
            <p:nvPr/>
          </p:nvSpPr>
          <p:spPr>
            <a:xfrm>
              <a:off x="4269740" y="1461770"/>
              <a:ext cx="11684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黑体" panose="02010609060101010101" charset="-122"/>
                  <a:cs typeface="黑体" panose="02010609060101010101" charset="-122"/>
                </a:rPr>
                <a:t>纸牌</a:t>
              </a:r>
              <a:r>
                <a:rPr sz="2000" spc="-95" dirty="0">
                  <a:latin typeface="黑体" panose="02010609060101010101" charset="-122"/>
                  <a:cs typeface="黑体" panose="02010609060101010101" charset="-122"/>
                </a:rPr>
                <a:t> </a:t>
              </a:r>
              <a:r>
                <a:rPr sz="2000" dirty="0">
                  <a:latin typeface="黑体" panose="02010609060101010101" charset="-122"/>
                  <a:cs typeface="黑体" panose="02010609060101010101" charset="-122"/>
                </a:rPr>
                <a:t>Card</a:t>
              </a:r>
              <a:endParaRPr sz="2000">
                <a:latin typeface="黑体" panose="02010609060101010101" charset="-122"/>
                <a:cs typeface="黑体" panose="02010609060101010101" charset="-122"/>
              </a:endParaRPr>
            </a:p>
          </p:txBody>
        </p:sp>
        <p:sp>
          <p:nvSpPr>
            <p:cNvPr id="8" name="object 6"/>
            <p:cNvSpPr/>
            <p:nvPr/>
          </p:nvSpPr>
          <p:spPr>
            <a:xfrm>
              <a:off x="6577012" y="2349500"/>
              <a:ext cx="0" cy="3816350"/>
            </a:xfrm>
            <a:custGeom>
              <a:avLst/>
              <a:gdLst/>
              <a:ahLst/>
              <a:cxnLst/>
              <a:rect l="l" t="t" r="r" b="b"/>
              <a:pathLst>
                <a:path h="3816350">
                  <a:moveTo>
                    <a:pt x="0" y="0"/>
                  </a:moveTo>
                  <a:lnTo>
                    <a:pt x="0" y="3816348"/>
                  </a:lnTo>
                </a:path>
              </a:pathLst>
            </a:custGeom>
            <a:ln w="28574">
              <a:solidFill>
                <a:srgbClr val="659244"/>
              </a:solidFill>
            </a:ln>
          </p:spPr>
          <p:txBody>
            <a:bodyPr wrap="square" lIns="0" tIns="0" rIns="0" bIns="0" rtlCol="0"/>
            <a:lstStyle/>
            <a:p/>
          </p:txBody>
        </p:sp>
        <p:sp>
          <p:nvSpPr>
            <p:cNvPr id="9" name="object 7"/>
            <p:cNvSpPr txBox="1"/>
            <p:nvPr/>
          </p:nvSpPr>
          <p:spPr>
            <a:xfrm>
              <a:off x="2174238" y="1461770"/>
              <a:ext cx="1866851" cy="363625"/>
            </a:xfrm>
            <a:prstGeom prst="rect">
              <a:avLst/>
            </a:prstGeom>
          </p:spPr>
          <p:txBody>
            <a:bodyPr vert="horz" wrap="square" lIns="0" tIns="12700" rIns="0" bIns="0" rtlCol="0">
              <a:spAutoFit/>
            </a:bodyPr>
            <a:lstStyle/>
            <a:p>
              <a:pPr marL="12700">
                <a:lnSpc>
                  <a:spcPct val="100000"/>
                </a:lnSpc>
                <a:spcBef>
                  <a:spcPts val="100"/>
                </a:spcBef>
              </a:pPr>
              <a:r>
                <a:rPr sz="2000" dirty="0">
                  <a:latin typeface="黑体" panose="02010609060101010101" charset="-122"/>
                  <a:cs typeface="黑体" panose="02010609060101010101" charset="-122"/>
                </a:rPr>
                <a:t>类名（Class）</a:t>
              </a:r>
              <a:endParaRPr sz="2000" dirty="0">
                <a:latin typeface="黑体" panose="02010609060101010101" charset="-122"/>
                <a:cs typeface="黑体" panose="02010609060101010101" charset="-122"/>
              </a:endParaRPr>
            </a:p>
          </p:txBody>
        </p:sp>
        <p:sp>
          <p:nvSpPr>
            <p:cNvPr id="10" name="object 8"/>
            <p:cNvSpPr txBox="1"/>
            <p:nvPr/>
          </p:nvSpPr>
          <p:spPr>
            <a:xfrm>
              <a:off x="2690176" y="2379345"/>
              <a:ext cx="3736918" cy="1094509"/>
            </a:xfrm>
            <a:prstGeom prst="rect">
              <a:avLst/>
            </a:prstGeom>
          </p:spPr>
          <p:txBody>
            <a:bodyPr vert="horz" wrap="square" lIns="0" tIns="28575" rIns="0" bIns="0" rtlCol="0">
              <a:spAutoFit/>
            </a:bodyPr>
            <a:lstStyle/>
            <a:p>
              <a:pPr marL="328295" marR="5080" indent="-316230">
                <a:lnSpc>
                  <a:spcPts val="2340"/>
                </a:lnSpc>
                <a:spcBef>
                  <a:spcPts val="225"/>
                </a:spcBef>
              </a:pPr>
              <a:r>
                <a:rPr sz="2000" dirty="0">
                  <a:latin typeface="黑体" panose="02010609060101010101" charset="-122"/>
                  <a:cs typeface="黑体" panose="02010609060101010101" charset="-122"/>
                </a:rPr>
                <a:t>功能职责(Responsibilities)  GetName</a:t>
              </a:r>
              <a:endParaRPr sz="2000" dirty="0">
                <a:latin typeface="黑体" panose="02010609060101010101" charset="-122"/>
                <a:cs typeface="黑体" panose="02010609060101010101" charset="-122"/>
              </a:endParaRPr>
            </a:p>
            <a:p>
              <a:pPr marL="328295">
                <a:lnSpc>
                  <a:spcPct val="100000"/>
                </a:lnSpc>
                <a:spcBef>
                  <a:spcPts val="345"/>
                </a:spcBef>
              </a:pPr>
              <a:r>
                <a:rPr sz="2000" dirty="0">
                  <a:latin typeface="黑体" panose="02010609060101010101" charset="-122"/>
                  <a:cs typeface="黑体" panose="02010609060101010101" charset="-122"/>
                </a:rPr>
                <a:t>GetValue</a:t>
              </a:r>
              <a:endParaRPr sz="2000" dirty="0">
                <a:latin typeface="黑体" panose="02010609060101010101" charset="-122"/>
                <a:cs typeface="黑体" panose="02010609060101010101" charset="-122"/>
              </a:endParaRPr>
            </a:p>
          </p:txBody>
        </p:sp>
        <p:sp>
          <p:nvSpPr>
            <p:cNvPr id="11" name="object 9"/>
            <p:cNvSpPr txBox="1"/>
            <p:nvPr/>
          </p:nvSpPr>
          <p:spPr>
            <a:xfrm>
              <a:off x="6655751" y="2322195"/>
              <a:ext cx="3952627" cy="796701"/>
            </a:xfrm>
            <a:prstGeom prst="rect">
              <a:avLst/>
            </a:prstGeom>
          </p:spPr>
          <p:txBody>
            <a:bodyPr vert="horz" wrap="square" lIns="0" tIns="12700" rIns="0" bIns="0" rtlCol="0">
              <a:spAutoFit/>
            </a:bodyPr>
            <a:lstStyle/>
            <a:p>
              <a:pPr marL="579120" marR="5080" indent="-567055">
                <a:lnSpc>
                  <a:spcPct val="120000"/>
                </a:lnSpc>
                <a:spcBef>
                  <a:spcPts val="100"/>
                </a:spcBef>
              </a:pPr>
              <a:r>
                <a:rPr sz="2000" dirty="0">
                  <a:latin typeface="黑体" panose="02010609060101010101" charset="-122"/>
                  <a:cs typeface="黑体" panose="02010609060101010101" charset="-122"/>
                </a:rPr>
                <a:t>交互类</a:t>
              </a:r>
              <a:r>
                <a:rPr sz="2000" spc="-100" dirty="0">
                  <a:latin typeface="黑体" panose="02010609060101010101" charset="-122"/>
                  <a:cs typeface="黑体" panose="02010609060101010101" charset="-122"/>
                </a:rPr>
                <a:t> </a:t>
              </a:r>
              <a:r>
                <a:rPr sz="2000" dirty="0">
                  <a:latin typeface="黑体" panose="02010609060101010101" charset="-122"/>
                  <a:cs typeface="黑体" panose="02010609060101010101" charset="-122"/>
                </a:rPr>
                <a:t>（Collaborations）  Deck</a:t>
              </a:r>
              <a:endParaRPr sz="2000" dirty="0">
                <a:latin typeface="黑体" panose="02010609060101010101" charset="-122"/>
                <a:cs typeface="黑体" panose="02010609060101010101"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24738"/>
    </mc:Choice>
    <mc:Fallback>
      <p:transition spd="slow" advTm="24738"/>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spc="-15" dirty="0">
                <a:solidFill>
                  <a:srgbClr val="0563C1"/>
                </a:solidFill>
                <a:latin typeface="黑体" panose="02010609060101010101" charset="-122"/>
                <a:cs typeface="黑体" panose="02010609060101010101" charset="-122"/>
              </a:rPr>
              <a:t>类定义</a:t>
            </a:r>
            <a:r>
              <a:rPr lang="zh-CN" altLang="en-US" b="1" spc="-15" dirty="0">
                <a:solidFill>
                  <a:srgbClr val="0079CD"/>
                </a:solidFill>
                <a:latin typeface="黑体" panose="02010609060101010101" charset="-122"/>
                <a:cs typeface="黑体" panose="02010609060101010101" charset="-122"/>
              </a:rPr>
              <a:t>：</a:t>
            </a:r>
            <a:r>
              <a:rPr lang="zh-CN" altLang="en-US" b="1" spc="-15" dirty="0">
                <a:solidFill>
                  <a:srgbClr val="0563C1"/>
                </a:solidFill>
                <a:latin typeface="黑体" panose="02010609060101010101" charset="-122"/>
                <a:cs typeface="黑体" panose="02010609060101010101" charset="-122"/>
              </a:rPr>
              <a:t>牌堆类</a:t>
            </a:r>
            <a:r>
              <a:rPr lang="zh-CN" altLang="en-US" b="1" spc="-80" dirty="0">
                <a:solidFill>
                  <a:srgbClr val="0563C1"/>
                </a:solidFill>
                <a:latin typeface="黑体" panose="02010609060101010101" charset="-122"/>
                <a:cs typeface="黑体" panose="02010609060101010101" charset="-122"/>
              </a:rPr>
              <a:t> </a:t>
            </a:r>
            <a:r>
              <a:rPr lang="zh-CN" altLang="en-US" b="1" spc="-5" dirty="0">
                <a:solidFill>
                  <a:srgbClr val="0563C1"/>
                </a:solidFill>
                <a:latin typeface="黑体" panose="02010609060101010101" charset="-122"/>
                <a:cs typeface="黑体" panose="02010609060101010101" charset="-122"/>
              </a:rPr>
              <a:t>（</a:t>
            </a:r>
            <a:r>
              <a:rPr lang="en-US" altLang="zh-CN" b="1" spc="-5" dirty="0">
                <a:solidFill>
                  <a:srgbClr val="0079CD"/>
                </a:solidFill>
                <a:latin typeface="Comic Sans MS" panose="030F0702030302020204"/>
                <a:cs typeface="Comic Sans MS" panose="030F0702030302020204"/>
              </a:rPr>
              <a:t>Deck</a:t>
            </a:r>
            <a:r>
              <a:rPr lang="zh-CN" altLang="en-US" b="1" spc="-5" dirty="0">
                <a:solidFill>
                  <a:srgbClr val="0079CD"/>
                </a:solidFill>
                <a:latin typeface="宋体" panose="02010600030101010101" pitchFamily="2" charset="-122"/>
                <a:cs typeface="宋体" panose="02010600030101010101" pitchFamily="2" charset="-122"/>
              </a:rPr>
              <a:t>）</a:t>
            </a:r>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grpSp>
        <p:nvGrpSpPr>
          <p:cNvPr id="5" name="组合 4"/>
          <p:cNvGrpSpPr/>
          <p:nvPr/>
        </p:nvGrpSpPr>
        <p:grpSpPr>
          <a:xfrm>
            <a:off x="1190393" y="1535673"/>
            <a:ext cx="9811214" cy="4788130"/>
            <a:chOff x="1008062" y="1268413"/>
            <a:chExt cx="10079035" cy="5202235"/>
          </a:xfrm>
        </p:grpSpPr>
        <p:sp>
          <p:nvSpPr>
            <p:cNvPr id="6" name="object 4"/>
            <p:cNvSpPr/>
            <p:nvPr/>
          </p:nvSpPr>
          <p:spPr>
            <a:xfrm>
              <a:off x="1008062" y="1268413"/>
              <a:ext cx="10079035" cy="5202235"/>
            </a:xfrm>
            <a:prstGeom prst="rect">
              <a:avLst/>
            </a:prstGeom>
            <a:blipFill>
              <a:blip r:embed="rId1" cstate="print"/>
              <a:stretch>
                <a:fillRect/>
              </a:stretch>
            </a:blipFill>
          </p:spPr>
          <p:txBody>
            <a:bodyPr wrap="square" lIns="0" tIns="0" rIns="0" bIns="0" rtlCol="0"/>
            <a:lstStyle/>
            <a:p/>
          </p:txBody>
        </p:sp>
        <p:grpSp>
          <p:nvGrpSpPr>
            <p:cNvPr id="7" name="组合 6"/>
            <p:cNvGrpSpPr/>
            <p:nvPr/>
          </p:nvGrpSpPr>
          <p:grpSpPr>
            <a:xfrm>
              <a:off x="2066929" y="1358999"/>
              <a:ext cx="7978424" cy="4806851"/>
              <a:chOff x="2066929" y="1358999"/>
              <a:chExt cx="7978424" cy="4806851"/>
            </a:xfrm>
          </p:grpSpPr>
          <p:sp>
            <p:nvSpPr>
              <p:cNvPr id="8" name="object 5"/>
              <p:cNvSpPr txBox="1"/>
              <p:nvPr/>
            </p:nvSpPr>
            <p:spPr>
              <a:xfrm>
                <a:off x="4269740" y="1461770"/>
                <a:ext cx="1532958" cy="348328"/>
              </a:xfrm>
              <a:prstGeom prst="rect">
                <a:avLst/>
              </a:prstGeom>
            </p:spPr>
            <p:txBody>
              <a:bodyPr vert="horz" wrap="square" lIns="0" tIns="12700" rIns="0" bIns="0" rtlCol="0">
                <a:spAutoFit/>
              </a:bodyPr>
              <a:lstStyle/>
              <a:p>
                <a:pPr marL="12700">
                  <a:lnSpc>
                    <a:spcPct val="100000"/>
                  </a:lnSpc>
                  <a:spcBef>
                    <a:spcPts val="100"/>
                  </a:spcBef>
                </a:pPr>
                <a:r>
                  <a:rPr sz="2000" dirty="0">
                    <a:latin typeface="Times New Roman" panose="02020603050405020304"/>
                    <a:cs typeface="Times New Roman" panose="02020603050405020304"/>
                  </a:rPr>
                  <a:t>Deck</a:t>
                </a:r>
                <a:endParaRPr sz="2000" dirty="0">
                  <a:latin typeface="Times New Roman" panose="02020603050405020304"/>
                  <a:cs typeface="Times New Roman" panose="02020603050405020304"/>
                </a:endParaRPr>
              </a:p>
            </p:txBody>
          </p:sp>
          <p:sp>
            <p:nvSpPr>
              <p:cNvPr id="9" name="object 6"/>
              <p:cNvSpPr/>
              <p:nvPr/>
            </p:nvSpPr>
            <p:spPr>
              <a:xfrm>
                <a:off x="6577012" y="2349500"/>
                <a:ext cx="0" cy="3816350"/>
              </a:xfrm>
              <a:custGeom>
                <a:avLst/>
                <a:gdLst/>
                <a:ahLst/>
                <a:cxnLst/>
                <a:rect l="l" t="t" r="r" b="b"/>
                <a:pathLst>
                  <a:path h="3816350">
                    <a:moveTo>
                      <a:pt x="0" y="0"/>
                    </a:moveTo>
                    <a:lnTo>
                      <a:pt x="0" y="3816348"/>
                    </a:lnTo>
                  </a:path>
                </a:pathLst>
              </a:custGeom>
              <a:ln w="9524">
                <a:solidFill>
                  <a:srgbClr val="000000"/>
                </a:solidFill>
              </a:ln>
            </p:spPr>
            <p:txBody>
              <a:bodyPr wrap="square" lIns="0" tIns="0" rIns="0" bIns="0" rtlCol="0"/>
              <a:lstStyle/>
              <a:p/>
            </p:txBody>
          </p:sp>
          <p:sp>
            <p:nvSpPr>
              <p:cNvPr id="10" name="object 7"/>
              <p:cNvSpPr txBox="1"/>
              <p:nvPr/>
            </p:nvSpPr>
            <p:spPr>
              <a:xfrm>
                <a:off x="2066929" y="1358999"/>
                <a:ext cx="3735770" cy="3258678"/>
              </a:xfrm>
              <a:prstGeom prst="rect">
                <a:avLst/>
              </a:prstGeom>
            </p:spPr>
            <p:txBody>
              <a:bodyPr vert="horz" wrap="square" lIns="0" tIns="12700" rIns="0" bIns="0" rtlCol="0">
                <a:spAutoFit/>
              </a:bodyPr>
              <a:lstStyle/>
              <a:p>
                <a:pPr marL="12700">
                  <a:lnSpc>
                    <a:spcPct val="100000"/>
                  </a:lnSpc>
                  <a:spcBef>
                    <a:spcPts val="100"/>
                  </a:spcBef>
                </a:pPr>
                <a:r>
                  <a:rPr sz="2000" dirty="0">
                    <a:latin typeface="黑体" panose="02010609060101010101" charset="-122"/>
                    <a:cs typeface="黑体" panose="02010609060101010101" charset="-122"/>
                  </a:rPr>
                  <a:t>类名（Class）</a:t>
                </a:r>
                <a:endParaRPr sz="2000" dirty="0">
                  <a:latin typeface="黑体" panose="02010609060101010101" charset="-122"/>
                  <a:cs typeface="黑体" panose="02010609060101010101" charset="-122"/>
                </a:endParaRPr>
              </a:p>
              <a:p>
                <a:pPr>
                  <a:lnSpc>
                    <a:spcPct val="100000"/>
                  </a:lnSpc>
                </a:pPr>
                <a:endParaRPr lang="zh-CN" altLang="en-US" sz="2000" dirty="0">
                  <a:latin typeface="Times New Roman" panose="02020603050405020304"/>
                  <a:cs typeface="Times New Roman" panose="02020603050405020304"/>
                </a:endParaRPr>
              </a:p>
              <a:p>
                <a:pPr>
                  <a:lnSpc>
                    <a:spcPct val="100000"/>
                  </a:lnSpc>
                  <a:spcBef>
                    <a:spcPts val="5"/>
                  </a:spcBef>
                </a:pPr>
                <a:endParaRPr lang="zh-CN" altLang="en-US" sz="2300" dirty="0">
                  <a:latin typeface="Times New Roman" panose="02020603050405020304"/>
                  <a:cs typeface="Times New Roman" panose="02020603050405020304"/>
                </a:endParaRPr>
              </a:p>
              <a:p>
                <a:pPr marL="774700" marR="5080" indent="-246380">
                  <a:lnSpc>
                    <a:spcPts val="2340"/>
                  </a:lnSpc>
                </a:pPr>
                <a:r>
                  <a:rPr sz="2000" dirty="0" err="1">
                    <a:latin typeface="黑体" panose="02010609060101010101" charset="-122"/>
                    <a:cs typeface="黑体" panose="02010609060101010101" charset="-122"/>
                  </a:rPr>
                  <a:t>功能职责</a:t>
                </a:r>
                <a:r>
                  <a:rPr sz="2000" dirty="0">
                    <a:latin typeface="Calibri" panose="020F0502020204030204"/>
                    <a:cs typeface="Calibri" panose="020F0502020204030204"/>
                  </a:rPr>
                  <a:t>(R</a:t>
                </a:r>
                <a:r>
                  <a:rPr sz="2000" spc="-5" dirty="0">
                    <a:latin typeface="Calibri" panose="020F0502020204030204"/>
                    <a:cs typeface="Calibri" panose="020F0502020204030204"/>
                  </a:rPr>
                  <a:t>e</a:t>
                </a:r>
                <a:r>
                  <a:rPr sz="2000" dirty="0">
                    <a:latin typeface="Calibri" panose="020F0502020204030204"/>
                    <a:cs typeface="Calibri" panose="020F0502020204030204"/>
                  </a:rPr>
                  <a:t>sp</a:t>
                </a:r>
                <a:r>
                  <a:rPr sz="2000" spc="-5" dirty="0">
                    <a:latin typeface="Calibri" panose="020F0502020204030204"/>
                    <a:cs typeface="Calibri" panose="020F0502020204030204"/>
                  </a:rPr>
                  <a:t>o</a:t>
                </a:r>
                <a:r>
                  <a:rPr sz="2000" dirty="0">
                    <a:latin typeface="Calibri" panose="020F0502020204030204"/>
                    <a:cs typeface="Calibri" panose="020F0502020204030204"/>
                  </a:rPr>
                  <a:t>nsibili</a:t>
                </a:r>
                <a:r>
                  <a:rPr sz="2000" spc="-10" dirty="0">
                    <a:latin typeface="Calibri" panose="020F0502020204030204"/>
                    <a:cs typeface="Calibri" panose="020F0502020204030204"/>
                  </a:rPr>
                  <a:t>t</a:t>
                </a:r>
                <a:r>
                  <a:rPr sz="2000" spc="-15" dirty="0">
                    <a:latin typeface="Calibri" panose="020F0502020204030204"/>
                    <a:cs typeface="Calibri" panose="020F0502020204030204"/>
                  </a:rPr>
                  <a:t>i</a:t>
                </a:r>
                <a:r>
                  <a:rPr sz="2000" dirty="0">
                    <a:latin typeface="Calibri" panose="020F0502020204030204"/>
                    <a:cs typeface="Calibri" panose="020F0502020204030204"/>
                  </a:rPr>
                  <a:t>es)  </a:t>
                </a:r>
                <a:r>
                  <a:rPr sz="2000" spc="-5" dirty="0">
                    <a:latin typeface="Calibri" panose="020F0502020204030204"/>
                    <a:cs typeface="Calibri" panose="020F0502020204030204"/>
                  </a:rPr>
                  <a:t>Reset </a:t>
                </a:r>
                <a:r>
                  <a:rPr sz="2000" dirty="0">
                    <a:latin typeface="Calibri" panose="020F0502020204030204"/>
                    <a:cs typeface="Calibri" panose="020F0502020204030204"/>
                  </a:rPr>
                  <a:t>deck</a:t>
                </a:r>
                <a:endParaRPr sz="2000" dirty="0">
                  <a:latin typeface="Calibri" panose="020F0502020204030204"/>
                  <a:cs typeface="Calibri" panose="020F0502020204030204"/>
                </a:endParaRPr>
              </a:p>
              <a:p>
                <a:pPr marL="774700" marR="1133475">
                  <a:lnSpc>
                    <a:spcPts val="2810"/>
                  </a:lnSpc>
                  <a:spcBef>
                    <a:spcPts val="95"/>
                  </a:spcBef>
                </a:pPr>
                <a:r>
                  <a:rPr sz="2000" dirty="0">
                    <a:latin typeface="Calibri" panose="020F0502020204030204"/>
                    <a:cs typeface="Calibri" panose="020F0502020204030204"/>
                  </a:rPr>
                  <a:t>Get deck size  Get next</a:t>
                </a:r>
                <a:r>
                  <a:rPr sz="2000" spc="-85" dirty="0">
                    <a:latin typeface="Calibri" panose="020F0502020204030204"/>
                    <a:cs typeface="Calibri" panose="020F0502020204030204"/>
                  </a:rPr>
                  <a:t> </a:t>
                </a:r>
                <a:r>
                  <a:rPr sz="2000" spc="-5" dirty="0">
                    <a:latin typeface="Calibri" panose="020F0502020204030204"/>
                    <a:cs typeface="Calibri" panose="020F0502020204030204"/>
                  </a:rPr>
                  <a:t>card  Shuﬄe Deck  </a:t>
                </a:r>
                <a:r>
                  <a:rPr sz="2000" dirty="0">
                    <a:latin typeface="Calibri" panose="020F0502020204030204"/>
                    <a:cs typeface="Calibri" panose="020F0502020204030204"/>
                  </a:rPr>
                  <a:t>Show</a:t>
                </a:r>
                <a:r>
                  <a:rPr sz="2000" spc="-20" dirty="0">
                    <a:latin typeface="Calibri" panose="020F0502020204030204"/>
                    <a:cs typeface="Calibri" panose="020F0502020204030204"/>
                  </a:rPr>
                  <a:t> </a:t>
                </a:r>
                <a:r>
                  <a:rPr sz="2000" spc="-5" dirty="0">
                    <a:latin typeface="Calibri" panose="020F0502020204030204"/>
                    <a:cs typeface="Calibri" panose="020F0502020204030204"/>
                  </a:rPr>
                  <a:t>deck</a:t>
                </a:r>
                <a:endParaRPr sz="2000" dirty="0">
                  <a:latin typeface="Calibri" panose="020F0502020204030204"/>
                  <a:cs typeface="Calibri" panose="020F0502020204030204"/>
                </a:endParaRPr>
              </a:p>
            </p:txBody>
          </p:sp>
          <p:sp>
            <p:nvSpPr>
              <p:cNvPr id="11" name="object 8"/>
              <p:cNvSpPr txBox="1"/>
              <p:nvPr/>
            </p:nvSpPr>
            <p:spPr>
              <a:xfrm>
                <a:off x="6655751" y="2322195"/>
                <a:ext cx="3389602" cy="1186684"/>
              </a:xfrm>
              <a:prstGeom prst="rect">
                <a:avLst/>
              </a:prstGeom>
            </p:spPr>
            <p:txBody>
              <a:bodyPr vert="horz" wrap="square" lIns="0" tIns="73025" rIns="0" bIns="0" rtlCol="0">
                <a:spAutoFit/>
              </a:bodyPr>
              <a:lstStyle/>
              <a:p>
                <a:pPr marL="12700">
                  <a:lnSpc>
                    <a:spcPct val="100000"/>
                  </a:lnSpc>
                  <a:spcBef>
                    <a:spcPts val="575"/>
                  </a:spcBef>
                </a:pPr>
                <a:r>
                  <a:rPr sz="2000" dirty="0">
                    <a:latin typeface="黑体" panose="02010609060101010101" charset="-122"/>
                    <a:cs typeface="黑体" panose="02010609060101010101" charset="-122"/>
                  </a:rPr>
                  <a:t>交互类</a:t>
                </a:r>
                <a:r>
                  <a:rPr sz="2000" spc="-55" dirty="0">
                    <a:latin typeface="黑体" panose="02010609060101010101" charset="-122"/>
                    <a:cs typeface="黑体" panose="02010609060101010101" charset="-122"/>
                  </a:rPr>
                  <a:t> </a:t>
                </a:r>
                <a:r>
                  <a:rPr sz="2000" spc="-5" dirty="0">
                    <a:latin typeface="黑体" panose="02010609060101010101" charset="-122"/>
                    <a:cs typeface="黑体" panose="02010609060101010101" charset="-122"/>
                  </a:rPr>
                  <a:t>（</a:t>
                </a:r>
                <a:r>
                  <a:rPr sz="2000" spc="-5" dirty="0">
                    <a:latin typeface="Calibri" panose="020F0502020204030204"/>
                    <a:cs typeface="Calibri" panose="020F0502020204030204"/>
                  </a:rPr>
                  <a:t>Collaborations</a:t>
                </a:r>
                <a:r>
                  <a:rPr sz="2000" spc="-5" dirty="0">
                    <a:latin typeface="黑体" panose="02010609060101010101" charset="-122"/>
                    <a:cs typeface="黑体" panose="02010609060101010101" charset="-122"/>
                  </a:rPr>
                  <a:t>）</a:t>
                </a:r>
                <a:endParaRPr sz="2000" dirty="0">
                  <a:latin typeface="黑体" panose="02010609060101010101" charset="-122"/>
                  <a:cs typeface="黑体" panose="02010609060101010101" charset="-122"/>
                </a:endParaRPr>
              </a:p>
              <a:p>
                <a:pPr marL="579120" marR="1651000">
                  <a:lnSpc>
                    <a:spcPct val="117000"/>
                  </a:lnSpc>
                  <a:spcBef>
                    <a:spcPts val="60"/>
                  </a:spcBef>
                </a:pPr>
                <a:r>
                  <a:rPr sz="2000" spc="-5" dirty="0">
                    <a:latin typeface="Calibri" panose="020F0502020204030204"/>
                    <a:cs typeface="Calibri" panose="020F0502020204030204"/>
                  </a:rPr>
                  <a:t>D</a:t>
                </a:r>
                <a:r>
                  <a:rPr sz="2000" dirty="0">
                    <a:latin typeface="Calibri" panose="020F0502020204030204"/>
                    <a:cs typeface="Calibri" panose="020F0502020204030204"/>
                  </a:rPr>
                  <a:t>ealer  </a:t>
                </a:r>
                <a:r>
                  <a:rPr sz="2000" spc="-5" dirty="0">
                    <a:latin typeface="Calibri" panose="020F0502020204030204"/>
                    <a:cs typeface="Calibri" panose="020F0502020204030204"/>
                  </a:rPr>
                  <a:t>Card</a:t>
                </a:r>
                <a:endParaRPr sz="2000" dirty="0">
                  <a:latin typeface="Calibri" panose="020F0502020204030204"/>
                  <a:cs typeface="Calibri" panose="020F0502020204030204"/>
                </a:endParaRPr>
              </a:p>
            </p:txBody>
          </p:sp>
        </p:grpSp>
      </p:grpSp>
    </p:spTree>
  </p:cSld>
  <p:clrMapOvr>
    <a:masterClrMapping/>
  </p:clrMapOvr>
  <mc:AlternateContent xmlns:mc="http://schemas.openxmlformats.org/markup-compatibility/2006">
    <mc:Choice xmlns:p14="http://schemas.microsoft.com/office/powerpoint/2010/main" Requires="p14">
      <p:transition spd="slow" p14:dur="2000" advTm="22342"/>
    </mc:Choice>
    <mc:Fallback>
      <p:transition spd="slow" advTm="22342"/>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spc="-15" dirty="0">
                <a:solidFill>
                  <a:srgbClr val="0563C1"/>
                </a:solidFill>
                <a:latin typeface="黑体" panose="02010609060101010101" charset="-122"/>
                <a:cs typeface="黑体" panose="02010609060101010101" charset="-122"/>
              </a:rPr>
              <a:t>类定义</a:t>
            </a:r>
            <a:r>
              <a:rPr lang="zh-CN" altLang="en-US" b="1" spc="-15" dirty="0">
                <a:solidFill>
                  <a:srgbClr val="0079CD"/>
                </a:solidFill>
                <a:latin typeface="黑体" panose="02010609060101010101" charset="-122"/>
                <a:cs typeface="黑体" panose="02010609060101010101" charset="-122"/>
              </a:rPr>
              <a:t>：</a:t>
            </a:r>
            <a:r>
              <a:rPr lang="zh-CN" altLang="en-US" b="1" spc="-15" dirty="0">
                <a:solidFill>
                  <a:srgbClr val="0563C1"/>
                </a:solidFill>
                <a:latin typeface="黑体" panose="02010609060101010101" charset="-122"/>
                <a:cs typeface="黑体" panose="02010609060101010101" charset="-122"/>
              </a:rPr>
              <a:t>庄家</a:t>
            </a:r>
            <a:r>
              <a:rPr lang="zh-CN" altLang="en-US" b="1" spc="-5" dirty="0">
                <a:solidFill>
                  <a:srgbClr val="0563C1"/>
                </a:solidFill>
                <a:latin typeface="黑体" panose="02010609060101010101" charset="-122"/>
                <a:cs typeface="黑体" panose="02010609060101010101" charset="-122"/>
              </a:rPr>
              <a:t>（</a:t>
            </a:r>
            <a:r>
              <a:rPr lang="en-US" altLang="zh-CN" b="1" spc="-5" dirty="0">
                <a:solidFill>
                  <a:srgbClr val="0079CD"/>
                </a:solidFill>
                <a:latin typeface="Comic Sans MS" panose="030F0702030302020204"/>
                <a:cs typeface="Comic Sans MS" panose="030F0702030302020204"/>
              </a:rPr>
              <a:t>Dealer</a:t>
            </a:r>
            <a:r>
              <a:rPr lang="zh-CN" altLang="en-US" b="1" spc="-5" dirty="0">
                <a:solidFill>
                  <a:srgbClr val="0079CD"/>
                </a:solidFill>
                <a:latin typeface="宋体" panose="02010600030101010101" pitchFamily="2" charset="-122"/>
                <a:cs typeface="宋体" panose="02010600030101010101" pitchFamily="2" charset="-122"/>
              </a:rPr>
              <a:t>）</a:t>
            </a:r>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grpSp>
        <p:nvGrpSpPr>
          <p:cNvPr id="5" name="组合 4"/>
          <p:cNvGrpSpPr/>
          <p:nvPr/>
        </p:nvGrpSpPr>
        <p:grpSpPr>
          <a:xfrm>
            <a:off x="1056482" y="1383166"/>
            <a:ext cx="10079035" cy="5202235"/>
            <a:chOff x="1008062" y="1268413"/>
            <a:chExt cx="10079035" cy="5202235"/>
          </a:xfrm>
        </p:grpSpPr>
        <p:sp>
          <p:nvSpPr>
            <p:cNvPr id="6" name="object 4"/>
            <p:cNvSpPr/>
            <p:nvPr/>
          </p:nvSpPr>
          <p:spPr>
            <a:xfrm>
              <a:off x="1008062" y="1268413"/>
              <a:ext cx="10079035" cy="5202235"/>
            </a:xfrm>
            <a:prstGeom prst="rect">
              <a:avLst/>
            </a:prstGeom>
            <a:blipFill>
              <a:blip r:embed="rId1" cstate="print"/>
              <a:stretch>
                <a:fillRect/>
              </a:stretch>
            </a:blipFill>
          </p:spPr>
          <p:txBody>
            <a:bodyPr wrap="square" lIns="0" tIns="0" rIns="0" bIns="0" rtlCol="0"/>
            <a:lstStyle/>
            <a:p/>
          </p:txBody>
        </p:sp>
        <p:sp>
          <p:nvSpPr>
            <p:cNvPr id="7" name="object 5"/>
            <p:cNvSpPr txBox="1"/>
            <p:nvPr/>
          </p:nvSpPr>
          <p:spPr>
            <a:xfrm>
              <a:off x="4269740" y="1461770"/>
              <a:ext cx="70231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Times New Roman" panose="02020603050405020304"/>
                  <a:cs typeface="Times New Roman" panose="02020603050405020304"/>
                </a:rPr>
                <a:t>Dealer</a:t>
              </a:r>
              <a:endParaRPr sz="2000">
                <a:latin typeface="Times New Roman" panose="02020603050405020304"/>
                <a:cs typeface="Times New Roman" panose="02020603050405020304"/>
              </a:endParaRPr>
            </a:p>
          </p:txBody>
        </p:sp>
        <p:sp>
          <p:nvSpPr>
            <p:cNvPr id="8" name="object 6"/>
            <p:cNvSpPr/>
            <p:nvPr/>
          </p:nvSpPr>
          <p:spPr>
            <a:xfrm>
              <a:off x="6577012" y="2349500"/>
              <a:ext cx="0" cy="3816350"/>
            </a:xfrm>
            <a:custGeom>
              <a:avLst/>
              <a:gdLst/>
              <a:ahLst/>
              <a:cxnLst/>
              <a:rect l="l" t="t" r="r" b="b"/>
              <a:pathLst>
                <a:path h="3816350">
                  <a:moveTo>
                    <a:pt x="0" y="0"/>
                  </a:moveTo>
                  <a:lnTo>
                    <a:pt x="0" y="3816348"/>
                  </a:lnTo>
                </a:path>
              </a:pathLst>
            </a:custGeom>
            <a:ln w="9524">
              <a:solidFill>
                <a:srgbClr val="000000"/>
              </a:solidFill>
            </a:ln>
          </p:spPr>
          <p:txBody>
            <a:bodyPr wrap="square" lIns="0" tIns="0" rIns="0" bIns="0" rtlCol="0"/>
            <a:lstStyle/>
            <a:p/>
          </p:txBody>
        </p:sp>
        <p:sp>
          <p:nvSpPr>
            <p:cNvPr id="9" name="object 7"/>
            <p:cNvSpPr txBox="1"/>
            <p:nvPr/>
          </p:nvSpPr>
          <p:spPr>
            <a:xfrm>
              <a:off x="2174239" y="1461770"/>
              <a:ext cx="3308985" cy="1901825"/>
            </a:xfrm>
            <a:prstGeom prst="rect">
              <a:avLst/>
            </a:prstGeom>
          </p:spPr>
          <p:txBody>
            <a:bodyPr vert="horz" wrap="square" lIns="0" tIns="12700" rIns="0" bIns="0" rtlCol="0">
              <a:spAutoFit/>
            </a:bodyPr>
            <a:lstStyle/>
            <a:p>
              <a:pPr marL="12700">
                <a:lnSpc>
                  <a:spcPct val="100000"/>
                </a:lnSpc>
                <a:spcBef>
                  <a:spcPts val="100"/>
                </a:spcBef>
              </a:pPr>
              <a:r>
                <a:rPr sz="2000" dirty="0">
                  <a:latin typeface="黑体" panose="02010609060101010101" charset="-122"/>
                  <a:cs typeface="黑体" panose="02010609060101010101" charset="-122"/>
                </a:rPr>
                <a:t>类名（Class）</a:t>
              </a:r>
              <a:endParaRPr sz="2000">
                <a:latin typeface="黑体" panose="02010609060101010101" charset="-122"/>
                <a:cs typeface="黑体" panose="02010609060101010101" charset="-122"/>
              </a:endParaRPr>
            </a:p>
            <a:p>
              <a:pPr>
                <a:lnSpc>
                  <a:spcPct val="100000"/>
                </a:lnSpc>
              </a:pPr>
              <a:endParaRPr sz="2000">
                <a:latin typeface="Times New Roman" panose="02020603050405020304"/>
                <a:cs typeface="Times New Roman" panose="02020603050405020304"/>
              </a:endParaRPr>
            </a:p>
            <a:p>
              <a:pPr>
                <a:lnSpc>
                  <a:spcPct val="100000"/>
                </a:lnSpc>
                <a:spcBef>
                  <a:spcPts val="5"/>
                </a:spcBef>
              </a:pPr>
              <a:endParaRPr sz="2300">
                <a:latin typeface="Times New Roman" panose="02020603050405020304"/>
                <a:cs typeface="Times New Roman" panose="02020603050405020304"/>
              </a:endParaRPr>
            </a:p>
            <a:p>
              <a:pPr marL="774700" marR="5080" indent="-246380">
                <a:lnSpc>
                  <a:spcPts val="2340"/>
                </a:lnSpc>
              </a:pPr>
              <a:r>
                <a:rPr sz="2000" dirty="0">
                  <a:latin typeface="黑体" panose="02010609060101010101" charset="-122"/>
                  <a:cs typeface="黑体" panose="02010609060101010101" charset="-122"/>
                </a:rPr>
                <a:t>功能职责</a:t>
              </a:r>
              <a:r>
                <a:rPr sz="2000" dirty="0">
                  <a:latin typeface="Calibri" panose="020F0502020204030204"/>
                  <a:cs typeface="Calibri" panose="020F0502020204030204"/>
                </a:rPr>
                <a:t>(R</a:t>
              </a:r>
              <a:r>
                <a:rPr sz="2000" spc="-5" dirty="0">
                  <a:latin typeface="Calibri" panose="020F0502020204030204"/>
                  <a:cs typeface="Calibri" panose="020F0502020204030204"/>
                </a:rPr>
                <a:t>e</a:t>
              </a:r>
              <a:r>
                <a:rPr sz="2000" dirty="0">
                  <a:latin typeface="Calibri" panose="020F0502020204030204"/>
                  <a:cs typeface="Calibri" panose="020F0502020204030204"/>
                </a:rPr>
                <a:t>sp</a:t>
              </a:r>
              <a:r>
                <a:rPr sz="2000" spc="-5" dirty="0">
                  <a:latin typeface="Calibri" panose="020F0502020204030204"/>
                  <a:cs typeface="Calibri" panose="020F0502020204030204"/>
                </a:rPr>
                <a:t>o</a:t>
              </a:r>
              <a:r>
                <a:rPr sz="2000" dirty="0">
                  <a:latin typeface="Calibri" panose="020F0502020204030204"/>
                  <a:cs typeface="Calibri" panose="020F0502020204030204"/>
                </a:rPr>
                <a:t>nsibili</a:t>
              </a:r>
              <a:r>
                <a:rPr sz="2000" spc="-10" dirty="0">
                  <a:latin typeface="Calibri" panose="020F0502020204030204"/>
                  <a:cs typeface="Calibri" panose="020F0502020204030204"/>
                </a:rPr>
                <a:t>t</a:t>
              </a:r>
              <a:r>
                <a:rPr sz="2000" spc="-15" dirty="0">
                  <a:latin typeface="Calibri" panose="020F0502020204030204"/>
                  <a:cs typeface="Calibri" panose="020F0502020204030204"/>
                </a:rPr>
                <a:t>i</a:t>
              </a:r>
              <a:r>
                <a:rPr sz="2000" dirty="0">
                  <a:latin typeface="Calibri" panose="020F0502020204030204"/>
                  <a:cs typeface="Calibri" panose="020F0502020204030204"/>
                </a:rPr>
                <a:t>es)  </a:t>
              </a:r>
              <a:r>
                <a:rPr sz="2000" spc="-5" dirty="0">
                  <a:latin typeface="Calibri" panose="020F0502020204030204"/>
                  <a:cs typeface="Calibri" panose="020F0502020204030204"/>
                </a:rPr>
                <a:t>Start </a:t>
              </a:r>
              <a:r>
                <a:rPr sz="2000" dirty="0">
                  <a:latin typeface="Calibri" panose="020F0502020204030204"/>
                  <a:cs typeface="Calibri" panose="020F0502020204030204"/>
                </a:rPr>
                <a:t>a new</a:t>
              </a:r>
              <a:r>
                <a:rPr sz="2000" spc="-10" dirty="0">
                  <a:latin typeface="Calibri" panose="020F0502020204030204"/>
                  <a:cs typeface="Calibri" panose="020F0502020204030204"/>
                </a:rPr>
                <a:t> </a:t>
              </a:r>
              <a:r>
                <a:rPr sz="2000" spc="-5" dirty="0">
                  <a:latin typeface="Calibri" panose="020F0502020204030204"/>
                  <a:cs typeface="Calibri" panose="020F0502020204030204"/>
                </a:rPr>
                <a:t>game</a:t>
              </a:r>
              <a:endParaRPr sz="2000">
                <a:latin typeface="Calibri" panose="020F0502020204030204"/>
                <a:cs typeface="Calibri" panose="020F0502020204030204"/>
              </a:endParaRPr>
            </a:p>
            <a:p>
              <a:pPr marL="774700">
                <a:lnSpc>
                  <a:spcPct val="100000"/>
                </a:lnSpc>
                <a:spcBef>
                  <a:spcPts val="345"/>
                </a:spcBef>
              </a:pPr>
              <a:r>
                <a:rPr sz="2000" dirty="0">
                  <a:latin typeface="Calibri" panose="020F0502020204030204"/>
                  <a:cs typeface="Calibri" panose="020F0502020204030204"/>
                </a:rPr>
                <a:t>Get a</a:t>
              </a:r>
              <a:r>
                <a:rPr sz="2000" spc="-10" dirty="0">
                  <a:latin typeface="Calibri" panose="020F0502020204030204"/>
                  <a:cs typeface="Calibri" panose="020F0502020204030204"/>
                </a:rPr>
                <a:t> </a:t>
              </a:r>
              <a:r>
                <a:rPr sz="2000" spc="-5" dirty="0">
                  <a:latin typeface="Calibri" panose="020F0502020204030204"/>
                  <a:cs typeface="Calibri" panose="020F0502020204030204"/>
                </a:rPr>
                <a:t>card</a:t>
              </a:r>
              <a:endParaRPr sz="2000">
                <a:latin typeface="Calibri" panose="020F0502020204030204"/>
                <a:cs typeface="Calibri" panose="020F0502020204030204"/>
              </a:endParaRPr>
            </a:p>
          </p:txBody>
        </p:sp>
        <p:sp>
          <p:nvSpPr>
            <p:cNvPr id="10" name="object 8"/>
            <p:cNvSpPr txBox="1"/>
            <p:nvPr/>
          </p:nvSpPr>
          <p:spPr>
            <a:xfrm>
              <a:off x="6655752" y="2322195"/>
              <a:ext cx="2915920" cy="1470025"/>
            </a:xfrm>
            <a:prstGeom prst="rect">
              <a:avLst/>
            </a:prstGeom>
          </p:spPr>
          <p:txBody>
            <a:bodyPr vert="horz" wrap="square" lIns="0" tIns="73025" rIns="0" bIns="0" rtlCol="0">
              <a:spAutoFit/>
            </a:bodyPr>
            <a:lstStyle/>
            <a:p>
              <a:pPr marL="12700">
                <a:lnSpc>
                  <a:spcPct val="100000"/>
                </a:lnSpc>
                <a:spcBef>
                  <a:spcPts val="575"/>
                </a:spcBef>
              </a:pPr>
              <a:r>
                <a:rPr sz="2000" dirty="0">
                  <a:latin typeface="黑体" panose="02010609060101010101" charset="-122"/>
                  <a:cs typeface="黑体" panose="02010609060101010101" charset="-122"/>
                </a:rPr>
                <a:t>交互类</a:t>
              </a:r>
              <a:r>
                <a:rPr sz="2000" spc="-55" dirty="0">
                  <a:latin typeface="黑体" panose="02010609060101010101" charset="-122"/>
                  <a:cs typeface="黑体" panose="02010609060101010101" charset="-122"/>
                </a:rPr>
                <a:t> </a:t>
              </a:r>
              <a:r>
                <a:rPr sz="2000" spc="-5" dirty="0">
                  <a:latin typeface="黑体" panose="02010609060101010101" charset="-122"/>
                  <a:cs typeface="黑体" panose="02010609060101010101" charset="-122"/>
                </a:rPr>
                <a:t>（</a:t>
              </a:r>
              <a:r>
                <a:rPr sz="2000" spc="-5" dirty="0">
                  <a:latin typeface="Calibri" panose="020F0502020204030204"/>
                  <a:cs typeface="Calibri" panose="020F0502020204030204"/>
                </a:rPr>
                <a:t>Collaborations</a:t>
              </a:r>
              <a:r>
                <a:rPr sz="2000" spc="-5" dirty="0">
                  <a:latin typeface="黑体" panose="02010609060101010101" charset="-122"/>
                  <a:cs typeface="黑体" panose="02010609060101010101" charset="-122"/>
                </a:rPr>
                <a:t>）</a:t>
              </a:r>
              <a:endParaRPr sz="2000">
                <a:latin typeface="黑体" panose="02010609060101010101" charset="-122"/>
                <a:cs typeface="黑体" panose="02010609060101010101" charset="-122"/>
              </a:endParaRPr>
            </a:p>
            <a:p>
              <a:pPr marL="579120" marR="1687830">
                <a:lnSpc>
                  <a:spcPct val="117000"/>
                </a:lnSpc>
                <a:spcBef>
                  <a:spcPts val="60"/>
                </a:spcBef>
              </a:pPr>
              <a:r>
                <a:rPr sz="2000" spc="-5" dirty="0">
                  <a:latin typeface="Calibri" panose="020F0502020204030204"/>
                  <a:cs typeface="Calibri" panose="020F0502020204030204"/>
                </a:rPr>
                <a:t>Hand  </a:t>
              </a:r>
              <a:r>
                <a:rPr sz="2000" dirty="0">
                  <a:latin typeface="Calibri" panose="020F0502020204030204"/>
                  <a:cs typeface="Calibri" panose="020F0502020204030204"/>
                </a:rPr>
                <a:t>Pla</a:t>
              </a:r>
              <a:r>
                <a:rPr sz="2000" spc="-5" dirty="0">
                  <a:latin typeface="Calibri" panose="020F0502020204030204"/>
                  <a:cs typeface="Calibri" panose="020F0502020204030204"/>
                </a:rPr>
                <a:t>y</a:t>
              </a:r>
              <a:r>
                <a:rPr sz="2000" dirty="0">
                  <a:latin typeface="Calibri" panose="020F0502020204030204"/>
                  <a:cs typeface="Calibri" panose="020F0502020204030204"/>
                </a:rPr>
                <a:t>er  </a:t>
              </a:r>
              <a:r>
                <a:rPr sz="2000" spc="-5" dirty="0">
                  <a:latin typeface="Calibri" panose="020F0502020204030204"/>
                  <a:cs typeface="Calibri" panose="020F0502020204030204"/>
                </a:rPr>
                <a:t>Deck</a:t>
              </a:r>
              <a:endParaRPr sz="2000">
                <a:latin typeface="Calibri" panose="020F0502020204030204"/>
                <a:cs typeface="Calibri" panose="020F0502020204030204"/>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25618"/>
    </mc:Choice>
    <mc:Fallback>
      <p:transition spd="slow" advTm="25618"/>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spc="-15" dirty="0">
                <a:solidFill>
                  <a:srgbClr val="0563C1"/>
                </a:solidFill>
                <a:latin typeface="黑体" panose="02010609060101010101" charset="-122"/>
                <a:cs typeface="黑体" panose="02010609060101010101" charset="-122"/>
              </a:rPr>
              <a:t>类定义</a:t>
            </a:r>
            <a:r>
              <a:rPr lang="zh-CN" altLang="en-US" b="1" spc="-15" dirty="0">
                <a:solidFill>
                  <a:srgbClr val="0079CD"/>
                </a:solidFill>
                <a:latin typeface="黑体" panose="02010609060101010101" charset="-122"/>
                <a:cs typeface="黑体" panose="02010609060101010101" charset="-122"/>
              </a:rPr>
              <a:t>：</a:t>
            </a:r>
            <a:r>
              <a:rPr lang="zh-CN" altLang="en-US" b="1" spc="-15" dirty="0">
                <a:solidFill>
                  <a:srgbClr val="0563C1"/>
                </a:solidFill>
                <a:latin typeface="黑体" panose="02010609060101010101" charset="-122"/>
                <a:cs typeface="黑体" panose="02010609060101010101" charset="-122"/>
              </a:rPr>
              <a:t>玩家</a:t>
            </a:r>
            <a:r>
              <a:rPr lang="zh-CN" altLang="en-US" b="1" spc="-70" dirty="0">
                <a:solidFill>
                  <a:srgbClr val="0563C1"/>
                </a:solidFill>
                <a:latin typeface="黑体" panose="02010609060101010101" charset="-122"/>
                <a:cs typeface="黑体" panose="02010609060101010101" charset="-122"/>
              </a:rPr>
              <a:t> </a:t>
            </a:r>
            <a:r>
              <a:rPr lang="zh-CN" altLang="en-US" b="1" spc="-5" dirty="0">
                <a:solidFill>
                  <a:srgbClr val="0563C1"/>
                </a:solidFill>
                <a:latin typeface="黑体" panose="02010609060101010101" charset="-122"/>
                <a:cs typeface="黑体" panose="02010609060101010101" charset="-122"/>
              </a:rPr>
              <a:t>（</a:t>
            </a:r>
            <a:r>
              <a:rPr lang="en-US" altLang="zh-CN" b="1" spc="-5" dirty="0">
                <a:solidFill>
                  <a:srgbClr val="0079CD"/>
                </a:solidFill>
                <a:latin typeface="Comic Sans MS" panose="030F0702030302020204"/>
                <a:cs typeface="Comic Sans MS" panose="030F0702030302020204"/>
              </a:rPr>
              <a:t>Player</a:t>
            </a:r>
            <a:r>
              <a:rPr lang="zh-CN" altLang="en-US" b="1" spc="-5" dirty="0">
                <a:solidFill>
                  <a:srgbClr val="0079CD"/>
                </a:solidFill>
                <a:latin typeface="宋体" panose="02010600030101010101" pitchFamily="2" charset="-122"/>
                <a:cs typeface="宋体" panose="02010600030101010101" pitchFamily="2" charset="-122"/>
              </a:rPr>
              <a:t>）</a:t>
            </a:r>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grpSp>
        <p:nvGrpSpPr>
          <p:cNvPr id="5" name="组合 4"/>
          <p:cNvGrpSpPr/>
          <p:nvPr/>
        </p:nvGrpSpPr>
        <p:grpSpPr>
          <a:xfrm>
            <a:off x="1030672" y="1462144"/>
            <a:ext cx="10130656" cy="5030731"/>
            <a:chOff x="1008062" y="1268413"/>
            <a:chExt cx="10079035" cy="5202235"/>
          </a:xfrm>
        </p:grpSpPr>
        <p:sp>
          <p:nvSpPr>
            <p:cNvPr id="6" name="object 4"/>
            <p:cNvSpPr/>
            <p:nvPr/>
          </p:nvSpPr>
          <p:spPr>
            <a:xfrm>
              <a:off x="1008062" y="1268413"/>
              <a:ext cx="10079035" cy="5202235"/>
            </a:xfrm>
            <a:prstGeom prst="rect">
              <a:avLst/>
            </a:prstGeom>
            <a:blipFill>
              <a:blip r:embed="rId1" cstate="print"/>
              <a:stretch>
                <a:fillRect/>
              </a:stretch>
            </a:blipFill>
          </p:spPr>
          <p:txBody>
            <a:bodyPr wrap="square" lIns="0" tIns="0" rIns="0" bIns="0" rtlCol="0"/>
            <a:lstStyle/>
            <a:p/>
          </p:txBody>
        </p:sp>
        <p:sp>
          <p:nvSpPr>
            <p:cNvPr id="7" name="object 5"/>
            <p:cNvSpPr txBox="1"/>
            <p:nvPr/>
          </p:nvSpPr>
          <p:spPr>
            <a:xfrm>
              <a:off x="4269740" y="1461770"/>
              <a:ext cx="66675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Calibri" panose="020F0502020204030204"/>
                  <a:cs typeface="Calibri" panose="020F0502020204030204"/>
                </a:rPr>
                <a:t>Pla</a:t>
              </a:r>
              <a:r>
                <a:rPr sz="2000" spc="-5" dirty="0">
                  <a:latin typeface="Calibri" panose="020F0502020204030204"/>
                  <a:cs typeface="Calibri" panose="020F0502020204030204"/>
                </a:rPr>
                <a:t>y</a:t>
              </a:r>
              <a:r>
                <a:rPr sz="2000" dirty="0">
                  <a:latin typeface="Calibri" panose="020F0502020204030204"/>
                  <a:cs typeface="Calibri" panose="020F0502020204030204"/>
                </a:rPr>
                <a:t>er</a:t>
              </a:r>
              <a:endParaRPr sz="2000">
                <a:latin typeface="Calibri" panose="020F0502020204030204"/>
                <a:cs typeface="Calibri" panose="020F0502020204030204"/>
              </a:endParaRPr>
            </a:p>
          </p:txBody>
        </p:sp>
        <p:sp>
          <p:nvSpPr>
            <p:cNvPr id="8" name="object 6"/>
            <p:cNvSpPr/>
            <p:nvPr/>
          </p:nvSpPr>
          <p:spPr>
            <a:xfrm>
              <a:off x="6577012" y="2349500"/>
              <a:ext cx="0" cy="3816350"/>
            </a:xfrm>
            <a:custGeom>
              <a:avLst/>
              <a:gdLst/>
              <a:ahLst/>
              <a:cxnLst/>
              <a:rect l="l" t="t" r="r" b="b"/>
              <a:pathLst>
                <a:path h="3816350">
                  <a:moveTo>
                    <a:pt x="0" y="0"/>
                  </a:moveTo>
                  <a:lnTo>
                    <a:pt x="0" y="3816348"/>
                  </a:lnTo>
                </a:path>
              </a:pathLst>
            </a:custGeom>
            <a:ln w="9524">
              <a:solidFill>
                <a:srgbClr val="000000"/>
              </a:solidFill>
            </a:ln>
          </p:spPr>
          <p:txBody>
            <a:bodyPr wrap="square" lIns="0" tIns="0" rIns="0" bIns="0" rtlCol="0"/>
            <a:lstStyle/>
            <a:p/>
          </p:txBody>
        </p:sp>
        <p:sp>
          <p:nvSpPr>
            <p:cNvPr id="9" name="object 7"/>
            <p:cNvSpPr txBox="1"/>
            <p:nvPr/>
          </p:nvSpPr>
          <p:spPr>
            <a:xfrm>
              <a:off x="2174239" y="1461770"/>
              <a:ext cx="3308985" cy="2616200"/>
            </a:xfrm>
            <a:prstGeom prst="rect">
              <a:avLst/>
            </a:prstGeom>
          </p:spPr>
          <p:txBody>
            <a:bodyPr vert="horz" wrap="square" lIns="0" tIns="12700" rIns="0" bIns="0" rtlCol="0">
              <a:spAutoFit/>
            </a:bodyPr>
            <a:lstStyle/>
            <a:p>
              <a:pPr marL="12700">
                <a:lnSpc>
                  <a:spcPct val="100000"/>
                </a:lnSpc>
                <a:spcBef>
                  <a:spcPts val="100"/>
                </a:spcBef>
              </a:pPr>
              <a:r>
                <a:rPr sz="2000" dirty="0">
                  <a:latin typeface="黑体" panose="02010609060101010101" charset="-122"/>
                  <a:cs typeface="黑体" panose="02010609060101010101" charset="-122"/>
                </a:rPr>
                <a:t>类名</a:t>
              </a:r>
              <a:r>
                <a:rPr sz="2000" spc="-5" dirty="0">
                  <a:latin typeface="黑体" panose="02010609060101010101" charset="-122"/>
                  <a:cs typeface="黑体" panose="02010609060101010101" charset="-122"/>
                </a:rPr>
                <a:t>（</a:t>
              </a:r>
              <a:r>
                <a:rPr sz="2000" spc="-5" dirty="0">
                  <a:latin typeface="Calibri" panose="020F0502020204030204"/>
                  <a:cs typeface="Calibri" panose="020F0502020204030204"/>
                </a:rPr>
                <a:t>Class</a:t>
              </a:r>
              <a:r>
                <a:rPr sz="2000" spc="-5" dirty="0">
                  <a:latin typeface="黑体" panose="02010609060101010101" charset="-122"/>
                  <a:cs typeface="黑体" panose="02010609060101010101" charset="-122"/>
                </a:rPr>
                <a:t>）</a:t>
              </a:r>
              <a:endParaRPr sz="2000">
                <a:latin typeface="黑体" panose="02010609060101010101" charset="-122"/>
                <a:cs typeface="黑体" panose="02010609060101010101" charset="-122"/>
              </a:endParaRPr>
            </a:p>
            <a:p>
              <a:pPr>
                <a:lnSpc>
                  <a:spcPct val="100000"/>
                </a:lnSpc>
              </a:pPr>
              <a:endParaRPr sz="2400">
                <a:latin typeface="Times New Roman" panose="02020603050405020304"/>
                <a:cs typeface="Times New Roman" panose="02020603050405020304"/>
              </a:endParaRPr>
            </a:p>
            <a:p>
              <a:pPr>
                <a:lnSpc>
                  <a:spcPct val="100000"/>
                </a:lnSpc>
                <a:spcBef>
                  <a:spcPts val="5"/>
                </a:spcBef>
              </a:pPr>
              <a:endParaRPr sz="1900">
                <a:latin typeface="Times New Roman" panose="02020603050405020304"/>
                <a:cs typeface="Times New Roman" panose="02020603050405020304"/>
              </a:endParaRPr>
            </a:p>
            <a:p>
              <a:pPr marL="774700" marR="5080" indent="-246380">
                <a:lnSpc>
                  <a:spcPts val="2340"/>
                </a:lnSpc>
              </a:pPr>
              <a:r>
                <a:rPr sz="2000" dirty="0">
                  <a:latin typeface="黑体" panose="02010609060101010101" charset="-122"/>
                  <a:cs typeface="黑体" panose="02010609060101010101" charset="-122"/>
                </a:rPr>
                <a:t>功能职责</a:t>
              </a:r>
              <a:r>
                <a:rPr sz="2000" dirty="0">
                  <a:latin typeface="Calibri" panose="020F0502020204030204"/>
                  <a:cs typeface="Calibri" panose="020F0502020204030204"/>
                </a:rPr>
                <a:t>(R</a:t>
              </a:r>
              <a:r>
                <a:rPr sz="2000" spc="-5" dirty="0">
                  <a:latin typeface="Calibri" panose="020F0502020204030204"/>
                  <a:cs typeface="Calibri" panose="020F0502020204030204"/>
                </a:rPr>
                <a:t>e</a:t>
              </a:r>
              <a:r>
                <a:rPr sz="2000" dirty="0">
                  <a:latin typeface="Calibri" panose="020F0502020204030204"/>
                  <a:cs typeface="Calibri" panose="020F0502020204030204"/>
                </a:rPr>
                <a:t>sp</a:t>
              </a:r>
              <a:r>
                <a:rPr sz="2000" spc="-5" dirty="0">
                  <a:latin typeface="Calibri" panose="020F0502020204030204"/>
                  <a:cs typeface="Calibri" panose="020F0502020204030204"/>
                </a:rPr>
                <a:t>o</a:t>
              </a:r>
              <a:r>
                <a:rPr sz="2000" dirty="0">
                  <a:latin typeface="Calibri" panose="020F0502020204030204"/>
                  <a:cs typeface="Calibri" panose="020F0502020204030204"/>
                </a:rPr>
                <a:t>nsibili</a:t>
              </a:r>
              <a:r>
                <a:rPr sz="2000" spc="-10" dirty="0">
                  <a:latin typeface="Calibri" panose="020F0502020204030204"/>
                  <a:cs typeface="Calibri" panose="020F0502020204030204"/>
                </a:rPr>
                <a:t>t</a:t>
              </a:r>
              <a:r>
                <a:rPr sz="2000" spc="-15" dirty="0">
                  <a:latin typeface="Calibri" panose="020F0502020204030204"/>
                  <a:cs typeface="Calibri" panose="020F0502020204030204"/>
                </a:rPr>
                <a:t>i</a:t>
              </a:r>
              <a:r>
                <a:rPr sz="2000" dirty="0">
                  <a:latin typeface="Calibri" panose="020F0502020204030204"/>
                  <a:cs typeface="Calibri" panose="020F0502020204030204"/>
                </a:rPr>
                <a:t>es)  </a:t>
              </a:r>
              <a:r>
                <a:rPr sz="2000" spc="-5" dirty="0">
                  <a:latin typeface="Calibri" panose="020F0502020204030204"/>
                  <a:cs typeface="Calibri" panose="020F0502020204030204"/>
                </a:rPr>
                <a:t>Want more cards</a:t>
              </a:r>
              <a:endParaRPr sz="2000">
                <a:latin typeface="Calibri" panose="020F0502020204030204"/>
                <a:cs typeface="Calibri" panose="020F0502020204030204"/>
              </a:endParaRPr>
            </a:p>
            <a:p>
              <a:pPr marL="774700" marR="1381125">
                <a:lnSpc>
                  <a:spcPts val="2810"/>
                </a:lnSpc>
                <a:spcBef>
                  <a:spcPts val="95"/>
                </a:spcBef>
              </a:pPr>
              <a:r>
                <a:rPr sz="2000" dirty="0">
                  <a:latin typeface="Calibri" panose="020F0502020204030204"/>
                  <a:cs typeface="Calibri" panose="020F0502020204030204"/>
                </a:rPr>
                <a:t>Get a </a:t>
              </a:r>
              <a:r>
                <a:rPr sz="2000" spc="-5" dirty="0">
                  <a:latin typeface="Calibri" panose="020F0502020204030204"/>
                  <a:cs typeface="Calibri" panose="020F0502020204030204"/>
                </a:rPr>
                <a:t>card  Show</a:t>
              </a:r>
              <a:r>
                <a:rPr sz="2000" spc="-85" dirty="0">
                  <a:latin typeface="Calibri" panose="020F0502020204030204"/>
                  <a:cs typeface="Calibri" panose="020F0502020204030204"/>
                </a:rPr>
                <a:t> </a:t>
              </a:r>
              <a:r>
                <a:rPr sz="2000" dirty="0">
                  <a:latin typeface="Calibri" panose="020F0502020204030204"/>
                  <a:cs typeface="Calibri" panose="020F0502020204030204"/>
                </a:rPr>
                <a:t>hand</a:t>
              </a:r>
              <a:endParaRPr sz="2000">
                <a:latin typeface="Calibri" panose="020F0502020204030204"/>
                <a:cs typeface="Calibri" panose="020F0502020204030204"/>
              </a:endParaRPr>
            </a:p>
            <a:p>
              <a:pPr marL="774700">
                <a:lnSpc>
                  <a:spcPct val="100000"/>
                </a:lnSpc>
                <a:spcBef>
                  <a:spcPts val="255"/>
                </a:spcBef>
              </a:pPr>
              <a:r>
                <a:rPr sz="2000" dirty="0">
                  <a:latin typeface="Calibri" panose="020F0502020204030204"/>
                  <a:cs typeface="Calibri" panose="020F0502020204030204"/>
                </a:rPr>
                <a:t>Get value </a:t>
              </a:r>
              <a:r>
                <a:rPr sz="2000" spc="-5" dirty="0">
                  <a:latin typeface="Calibri" panose="020F0502020204030204"/>
                  <a:cs typeface="Calibri" panose="020F0502020204030204"/>
                </a:rPr>
                <a:t>of</a:t>
              </a:r>
              <a:r>
                <a:rPr sz="2000" spc="-20" dirty="0">
                  <a:latin typeface="Calibri" panose="020F0502020204030204"/>
                  <a:cs typeface="Calibri" panose="020F0502020204030204"/>
                </a:rPr>
                <a:t> </a:t>
              </a:r>
              <a:r>
                <a:rPr sz="2000" dirty="0">
                  <a:latin typeface="Calibri" panose="020F0502020204030204"/>
                  <a:cs typeface="Calibri" panose="020F0502020204030204"/>
                </a:rPr>
                <a:t>hand</a:t>
              </a:r>
              <a:endParaRPr sz="2000">
                <a:latin typeface="Calibri" panose="020F0502020204030204"/>
                <a:cs typeface="Calibri" panose="020F0502020204030204"/>
              </a:endParaRPr>
            </a:p>
          </p:txBody>
        </p:sp>
        <p:sp>
          <p:nvSpPr>
            <p:cNvPr id="10" name="object 8"/>
            <p:cNvSpPr txBox="1"/>
            <p:nvPr/>
          </p:nvSpPr>
          <p:spPr>
            <a:xfrm>
              <a:off x="6655752" y="2322195"/>
              <a:ext cx="2915920" cy="1113155"/>
            </a:xfrm>
            <a:prstGeom prst="rect">
              <a:avLst/>
            </a:prstGeom>
          </p:spPr>
          <p:txBody>
            <a:bodyPr vert="horz" wrap="square" lIns="0" tIns="73025" rIns="0" bIns="0" rtlCol="0">
              <a:spAutoFit/>
            </a:bodyPr>
            <a:lstStyle/>
            <a:p>
              <a:pPr marL="12700">
                <a:lnSpc>
                  <a:spcPct val="100000"/>
                </a:lnSpc>
                <a:spcBef>
                  <a:spcPts val="575"/>
                </a:spcBef>
              </a:pPr>
              <a:r>
                <a:rPr sz="2000" dirty="0">
                  <a:latin typeface="黑体" panose="02010609060101010101" charset="-122"/>
                  <a:cs typeface="黑体" panose="02010609060101010101" charset="-122"/>
                </a:rPr>
                <a:t>交互类</a:t>
              </a:r>
              <a:r>
                <a:rPr sz="2000" spc="-55" dirty="0">
                  <a:latin typeface="黑体" panose="02010609060101010101" charset="-122"/>
                  <a:cs typeface="黑体" panose="02010609060101010101" charset="-122"/>
                </a:rPr>
                <a:t> </a:t>
              </a:r>
              <a:r>
                <a:rPr sz="2000" spc="-5" dirty="0">
                  <a:latin typeface="黑体" panose="02010609060101010101" charset="-122"/>
                  <a:cs typeface="黑体" panose="02010609060101010101" charset="-122"/>
                </a:rPr>
                <a:t>（</a:t>
              </a:r>
              <a:r>
                <a:rPr sz="2000" spc="-5" dirty="0">
                  <a:latin typeface="Calibri" panose="020F0502020204030204"/>
                  <a:cs typeface="Calibri" panose="020F0502020204030204"/>
                </a:rPr>
                <a:t>Collaborations</a:t>
              </a:r>
              <a:r>
                <a:rPr sz="2000" spc="-5" dirty="0">
                  <a:latin typeface="黑体" panose="02010609060101010101" charset="-122"/>
                  <a:cs typeface="黑体" panose="02010609060101010101" charset="-122"/>
                </a:rPr>
                <a:t>）</a:t>
              </a:r>
              <a:endParaRPr sz="2000">
                <a:latin typeface="黑体" panose="02010609060101010101" charset="-122"/>
                <a:cs typeface="黑体" panose="02010609060101010101" charset="-122"/>
              </a:endParaRPr>
            </a:p>
            <a:p>
              <a:pPr marL="579120" marR="1651000">
                <a:lnSpc>
                  <a:spcPct val="117000"/>
                </a:lnSpc>
                <a:spcBef>
                  <a:spcPts val="60"/>
                </a:spcBef>
              </a:pPr>
              <a:r>
                <a:rPr sz="2000" spc="-5" dirty="0">
                  <a:latin typeface="Calibri" panose="020F0502020204030204"/>
                  <a:cs typeface="Calibri" panose="020F0502020204030204"/>
                </a:rPr>
                <a:t>D</a:t>
              </a:r>
              <a:r>
                <a:rPr sz="2000" dirty="0">
                  <a:latin typeface="Calibri" panose="020F0502020204030204"/>
                  <a:cs typeface="Calibri" panose="020F0502020204030204"/>
                </a:rPr>
                <a:t>ealer  </a:t>
              </a:r>
              <a:r>
                <a:rPr sz="2000" spc="-5" dirty="0">
                  <a:latin typeface="Calibri" panose="020F0502020204030204"/>
                  <a:cs typeface="Calibri" panose="020F0502020204030204"/>
                </a:rPr>
                <a:t>Hand</a:t>
              </a:r>
              <a:endParaRPr sz="2000">
                <a:latin typeface="Calibri" panose="020F0502020204030204"/>
                <a:cs typeface="Calibri" panose="020F0502020204030204"/>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18548"/>
    </mc:Choice>
    <mc:Fallback>
      <p:transition spd="slow" advTm="18548"/>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spc="-15" dirty="0">
                <a:solidFill>
                  <a:srgbClr val="0563C1"/>
                </a:solidFill>
                <a:latin typeface="黑体" panose="02010609060101010101" charset="-122"/>
                <a:cs typeface="黑体" panose="02010609060101010101" charset="-122"/>
              </a:rPr>
              <a:t>类定义</a:t>
            </a:r>
            <a:r>
              <a:rPr lang="zh-CN" altLang="en-US" b="1" spc="-15" dirty="0">
                <a:solidFill>
                  <a:srgbClr val="0079CD"/>
                </a:solidFill>
                <a:latin typeface="黑体" panose="02010609060101010101" charset="-122"/>
                <a:cs typeface="黑体" panose="02010609060101010101" charset="-122"/>
              </a:rPr>
              <a:t>：</a:t>
            </a:r>
            <a:r>
              <a:rPr lang="zh-CN" altLang="en-US" b="1" spc="-15" dirty="0">
                <a:solidFill>
                  <a:srgbClr val="0563C1"/>
                </a:solidFill>
                <a:latin typeface="黑体" panose="02010609060101010101" charset="-122"/>
                <a:cs typeface="黑体" panose="02010609060101010101" charset="-122"/>
              </a:rPr>
              <a:t>手牌类</a:t>
            </a:r>
            <a:r>
              <a:rPr lang="zh-CN" altLang="en-US" b="1" spc="-5" dirty="0">
                <a:solidFill>
                  <a:srgbClr val="0563C1"/>
                </a:solidFill>
                <a:latin typeface="黑体" panose="02010609060101010101" charset="-122"/>
                <a:cs typeface="黑体" panose="02010609060101010101" charset="-122"/>
              </a:rPr>
              <a:t>（</a:t>
            </a:r>
            <a:r>
              <a:rPr lang="en-US" altLang="zh-CN" b="1" spc="-5" dirty="0">
                <a:solidFill>
                  <a:srgbClr val="0079CD"/>
                </a:solidFill>
                <a:latin typeface="Comic Sans MS" panose="030F0702030302020204"/>
                <a:cs typeface="Comic Sans MS" panose="030F0702030302020204"/>
              </a:rPr>
              <a:t>Hand</a:t>
            </a:r>
            <a:r>
              <a:rPr lang="zh-CN" altLang="en-US" b="1" spc="-5" dirty="0">
                <a:solidFill>
                  <a:srgbClr val="0079CD"/>
                </a:solidFill>
                <a:latin typeface="宋体" panose="02010600030101010101" pitchFamily="2" charset="-122"/>
                <a:cs typeface="宋体" panose="02010600030101010101" pitchFamily="2" charset="-122"/>
              </a:rPr>
              <a:t>）</a:t>
            </a:r>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grpSp>
        <p:nvGrpSpPr>
          <p:cNvPr id="5" name="组合 4"/>
          <p:cNvGrpSpPr/>
          <p:nvPr/>
        </p:nvGrpSpPr>
        <p:grpSpPr>
          <a:xfrm>
            <a:off x="656648" y="1505702"/>
            <a:ext cx="10248897" cy="5062262"/>
            <a:chOff x="1008062" y="1268413"/>
            <a:chExt cx="10079035" cy="5202235"/>
          </a:xfrm>
        </p:grpSpPr>
        <p:sp>
          <p:nvSpPr>
            <p:cNvPr id="6" name="object 4"/>
            <p:cNvSpPr/>
            <p:nvPr/>
          </p:nvSpPr>
          <p:spPr>
            <a:xfrm>
              <a:off x="1008062" y="1268413"/>
              <a:ext cx="10079035" cy="5202235"/>
            </a:xfrm>
            <a:prstGeom prst="rect">
              <a:avLst/>
            </a:prstGeom>
            <a:blipFill>
              <a:blip r:embed="rId1" cstate="print"/>
              <a:stretch>
                <a:fillRect/>
              </a:stretch>
            </a:blipFill>
          </p:spPr>
          <p:txBody>
            <a:bodyPr wrap="square" lIns="0" tIns="0" rIns="0" bIns="0" rtlCol="0"/>
            <a:lstStyle/>
            <a:p/>
          </p:txBody>
        </p:sp>
        <p:sp>
          <p:nvSpPr>
            <p:cNvPr id="7" name="object 5"/>
            <p:cNvSpPr txBox="1"/>
            <p:nvPr/>
          </p:nvSpPr>
          <p:spPr>
            <a:xfrm>
              <a:off x="4269740" y="1461770"/>
              <a:ext cx="572770" cy="330200"/>
            </a:xfrm>
            <a:prstGeom prst="rect">
              <a:avLst/>
            </a:prstGeom>
          </p:spPr>
          <p:txBody>
            <a:bodyPr vert="horz" wrap="square" lIns="0" tIns="12700" rIns="0" bIns="0" rtlCol="0">
              <a:spAutoFit/>
            </a:bodyPr>
            <a:lstStyle/>
            <a:p>
              <a:pPr marL="12700">
                <a:lnSpc>
                  <a:spcPct val="100000"/>
                </a:lnSpc>
                <a:spcBef>
                  <a:spcPts val="100"/>
                </a:spcBef>
              </a:pPr>
              <a:r>
                <a:rPr sz="2000" spc="-5" dirty="0">
                  <a:latin typeface="Calibri" panose="020F0502020204030204"/>
                  <a:cs typeface="Calibri" panose="020F0502020204030204"/>
                </a:rPr>
                <a:t>Ha</a:t>
              </a:r>
              <a:r>
                <a:rPr sz="2000" dirty="0">
                  <a:latin typeface="Calibri" panose="020F0502020204030204"/>
                  <a:cs typeface="Calibri" panose="020F0502020204030204"/>
                </a:rPr>
                <a:t>nd</a:t>
              </a:r>
              <a:endParaRPr sz="2000">
                <a:latin typeface="Calibri" panose="020F0502020204030204"/>
                <a:cs typeface="Calibri" panose="020F0502020204030204"/>
              </a:endParaRPr>
            </a:p>
          </p:txBody>
        </p:sp>
        <p:sp>
          <p:nvSpPr>
            <p:cNvPr id="8" name="object 6"/>
            <p:cNvSpPr/>
            <p:nvPr/>
          </p:nvSpPr>
          <p:spPr>
            <a:xfrm>
              <a:off x="6577012" y="2349500"/>
              <a:ext cx="0" cy="3816350"/>
            </a:xfrm>
            <a:custGeom>
              <a:avLst/>
              <a:gdLst/>
              <a:ahLst/>
              <a:cxnLst/>
              <a:rect l="l" t="t" r="r" b="b"/>
              <a:pathLst>
                <a:path h="3816350">
                  <a:moveTo>
                    <a:pt x="0" y="0"/>
                  </a:moveTo>
                  <a:lnTo>
                    <a:pt x="0" y="3816348"/>
                  </a:lnTo>
                </a:path>
              </a:pathLst>
            </a:custGeom>
            <a:ln w="9524">
              <a:solidFill>
                <a:srgbClr val="000000"/>
              </a:solidFill>
            </a:ln>
          </p:spPr>
          <p:txBody>
            <a:bodyPr wrap="square" lIns="0" tIns="0" rIns="0" bIns="0" rtlCol="0"/>
            <a:lstStyle/>
            <a:p/>
          </p:txBody>
        </p:sp>
        <p:sp>
          <p:nvSpPr>
            <p:cNvPr id="9" name="object 7"/>
            <p:cNvSpPr txBox="1"/>
            <p:nvPr/>
          </p:nvSpPr>
          <p:spPr>
            <a:xfrm>
              <a:off x="2174239" y="1461770"/>
              <a:ext cx="3308985" cy="2259330"/>
            </a:xfrm>
            <a:prstGeom prst="rect">
              <a:avLst/>
            </a:prstGeom>
          </p:spPr>
          <p:txBody>
            <a:bodyPr vert="horz" wrap="square" lIns="0" tIns="12700" rIns="0" bIns="0" rtlCol="0">
              <a:spAutoFit/>
            </a:bodyPr>
            <a:lstStyle/>
            <a:p>
              <a:pPr marL="12700">
                <a:lnSpc>
                  <a:spcPct val="100000"/>
                </a:lnSpc>
                <a:spcBef>
                  <a:spcPts val="100"/>
                </a:spcBef>
              </a:pPr>
              <a:r>
                <a:rPr sz="2000" dirty="0">
                  <a:latin typeface="黑体" panose="02010609060101010101" charset="-122"/>
                  <a:cs typeface="黑体" panose="02010609060101010101" charset="-122"/>
                </a:rPr>
                <a:t>类名</a:t>
              </a:r>
              <a:r>
                <a:rPr sz="2000" spc="-5" dirty="0">
                  <a:latin typeface="黑体" panose="02010609060101010101" charset="-122"/>
                  <a:cs typeface="黑体" panose="02010609060101010101" charset="-122"/>
                </a:rPr>
                <a:t>（</a:t>
              </a:r>
              <a:r>
                <a:rPr sz="2000" spc="-5" dirty="0">
                  <a:latin typeface="Calibri" panose="020F0502020204030204"/>
                  <a:cs typeface="Calibri" panose="020F0502020204030204"/>
                </a:rPr>
                <a:t>Class</a:t>
              </a:r>
              <a:r>
                <a:rPr sz="2000" spc="-5" dirty="0">
                  <a:latin typeface="黑体" panose="02010609060101010101" charset="-122"/>
                  <a:cs typeface="黑体" panose="02010609060101010101" charset="-122"/>
                </a:rPr>
                <a:t>）</a:t>
              </a:r>
              <a:endParaRPr sz="2000">
                <a:latin typeface="黑体" panose="02010609060101010101" charset="-122"/>
                <a:cs typeface="黑体" panose="02010609060101010101" charset="-122"/>
              </a:endParaRPr>
            </a:p>
            <a:p>
              <a:pPr>
                <a:lnSpc>
                  <a:spcPct val="100000"/>
                </a:lnSpc>
              </a:pPr>
              <a:endParaRPr sz="2400">
                <a:latin typeface="Times New Roman" panose="02020603050405020304"/>
                <a:cs typeface="Times New Roman" panose="02020603050405020304"/>
              </a:endParaRPr>
            </a:p>
            <a:p>
              <a:pPr>
                <a:lnSpc>
                  <a:spcPct val="100000"/>
                </a:lnSpc>
                <a:spcBef>
                  <a:spcPts val="5"/>
                </a:spcBef>
              </a:pPr>
              <a:endParaRPr sz="1900">
                <a:latin typeface="Times New Roman" panose="02020603050405020304"/>
                <a:cs typeface="Times New Roman" panose="02020603050405020304"/>
              </a:endParaRPr>
            </a:p>
            <a:p>
              <a:pPr marL="774700" marR="5080" indent="-246380">
                <a:lnSpc>
                  <a:spcPts val="2340"/>
                </a:lnSpc>
              </a:pPr>
              <a:r>
                <a:rPr sz="2000" dirty="0">
                  <a:latin typeface="黑体" panose="02010609060101010101" charset="-122"/>
                  <a:cs typeface="黑体" panose="02010609060101010101" charset="-122"/>
                </a:rPr>
                <a:t>功能职责</a:t>
              </a:r>
              <a:r>
                <a:rPr sz="2000" dirty="0">
                  <a:latin typeface="Calibri" panose="020F0502020204030204"/>
                  <a:cs typeface="Calibri" panose="020F0502020204030204"/>
                </a:rPr>
                <a:t>(R</a:t>
              </a:r>
              <a:r>
                <a:rPr sz="2000" spc="-5" dirty="0">
                  <a:latin typeface="Calibri" panose="020F0502020204030204"/>
                  <a:cs typeface="Calibri" panose="020F0502020204030204"/>
                </a:rPr>
                <a:t>e</a:t>
              </a:r>
              <a:r>
                <a:rPr sz="2000" dirty="0">
                  <a:latin typeface="Calibri" panose="020F0502020204030204"/>
                  <a:cs typeface="Calibri" panose="020F0502020204030204"/>
                </a:rPr>
                <a:t>sp</a:t>
              </a:r>
              <a:r>
                <a:rPr sz="2000" spc="-5" dirty="0">
                  <a:latin typeface="Calibri" panose="020F0502020204030204"/>
                  <a:cs typeface="Calibri" panose="020F0502020204030204"/>
                </a:rPr>
                <a:t>o</a:t>
              </a:r>
              <a:r>
                <a:rPr sz="2000" dirty="0">
                  <a:latin typeface="Calibri" panose="020F0502020204030204"/>
                  <a:cs typeface="Calibri" panose="020F0502020204030204"/>
                </a:rPr>
                <a:t>nsibili</a:t>
              </a:r>
              <a:r>
                <a:rPr sz="2000" spc="-10" dirty="0">
                  <a:latin typeface="Calibri" panose="020F0502020204030204"/>
                  <a:cs typeface="Calibri" panose="020F0502020204030204"/>
                </a:rPr>
                <a:t>t</a:t>
              </a:r>
              <a:r>
                <a:rPr sz="2000" spc="-15" dirty="0">
                  <a:latin typeface="Calibri" panose="020F0502020204030204"/>
                  <a:cs typeface="Calibri" panose="020F0502020204030204"/>
                </a:rPr>
                <a:t>i</a:t>
              </a:r>
              <a:r>
                <a:rPr sz="2000" dirty="0">
                  <a:latin typeface="Calibri" panose="020F0502020204030204"/>
                  <a:cs typeface="Calibri" panose="020F0502020204030204"/>
                </a:rPr>
                <a:t>es)  </a:t>
              </a:r>
              <a:r>
                <a:rPr sz="2000" spc="-5" dirty="0">
                  <a:latin typeface="Calibri" panose="020F0502020204030204"/>
                  <a:cs typeface="Calibri" panose="020F0502020204030204"/>
                </a:rPr>
                <a:t>Return </a:t>
              </a:r>
              <a:r>
                <a:rPr sz="2000" dirty="0">
                  <a:latin typeface="Calibri" panose="020F0502020204030204"/>
                  <a:cs typeface="Calibri" panose="020F0502020204030204"/>
                </a:rPr>
                <a:t>Value</a:t>
              </a:r>
              <a:endParaRPr sz="2000">
                <a:latin typeface="Calibri" panose="020F0502020204030204"/>
                <a:cs typeface="Calibri" panose="020F0502020204030204"/>
              </a:endParaRPr>
            </a:p>
            <a:p>
              <a:pPr marL="774700" marR="1381125">
                <a:lnSpc>
                  <a:spcPts val="2810"/>
                </a:lnSpc>
                <a:spcBef>
                  <a:spcPts val="95"/>
                </a:spcBef>
              </a:pPr>
              <a:r>
                <a:rPr sz="2000" dirty="0">
                  <a:latin typeface="Calibri" panose="020F0502020204030204"/>
                  <a:cs typeface="Calibri" panose="020F0502020204030204"/>
                </a:rPr>
                <a:t>Add a </a:t>
              </a:r>
              <a:r>
                <a:rPr sz="2000" spc="-5" dirty="0">
                  <a:latin typeface="Calibri" panose="020F0502020204030204"/>
                  <a:cs typeface="Calibri" panose="020F0502020204030204"/>
                </a:rPr>
                <a:t>card  Show</a:t>
              </a:r>
              <a:r>
                <a:rPr sz="2000" spc="-85" dirty="0">
                  <a:latin typeface="Calibri" panose="020F0502020204030204"/>
                  <a:cs typeface="Calibri" panose="020F0502020204030204"/>
                </a:rPr>
                <a:t> </a:t>
              </a:r>
              <a:r>
                <a:rPr sz="2000" dirty="0">
                  <a:latin typeface="Calibri" panose="020F0502020204030204"/>
                  <a:cs typeface="Calibri" panose="020F0502020204030204"/>
                </a:rPr>
                <a:t>hand</a:t>
              </a:r>
              <a:endParaRPr sz="2000">
                <a:latin typeface="Calibri" panose="020F0502020204030204"/>
                <a:cs typeface="Calibri" panose="020F0502020204030204"/>
              </a:endParaRPr>
            </a:p>
          </p:txBody>
        </p:sp>
        <p:sp>
          <p:nvSpPr>
            <p:cNvPr id="10" name="object 8"/>
            <p:cNvSpPr txBox="1"/>
            <p:nvPr/>
          </p:nvSpPr>
          <p:spPr>
            <a:xfrm>
              <a:off x="6655752" y="2322195"/>
              <a:ext cx="2915920" cy="1113155"/>
            </a:xfrm>
            <a:prstGeom prst="rect">
              <a:avLst/>
            </a:prstGeom>
          </p:spPr>
          <p:txBody>
            <a:bodyPr vert="horz" wrap="square" lIns="0" tIns="73025" rIns="0" bIns="0" rtlCol="0">
              <a:spAutoFit/>
            </a:bodyPr>
            <a:lstStyle/>
            <a:p>
              <a:pPr marL="12700">
                <a:lnSpc>
                  <a:spcPct val="100000"/>
                </a:lnSpc>
                <a:spcBef>
                  <a:spcPts val="575"/>
                </a:spcBef>
              </a:pPr>
              <a:r>
                <a:rPr sz="2000" dirty="0">
                  <a:latin typeface="黑体" panose="02010609060101010101" charset="-122"/>
                  <a:cs typeface="黑体" panose="02010609060101010101" charset="-122"/>
                </a:rPr>
                <a:t>交互类</a:t>
              </a:r>
              <a:r>
                <a:rPr sz="2000" spc="-55" dirty="0">
                  <a:latin typeface="黑体" panose="02010609060101010101" charset="-122"/>
                  <a:cs typeface="黑体" panose="02010609060101010101" charset="-122"/>
                </a:rPr>
                <a:t> </a:t>
              </a:r>
              <a:r>
                <a:rPr sz="2000" spc="-5" dirty="0">
                  <a:latin typeface="黑体" panose="02010609060101010101" charset="-122"/>
                  <a:cs typeface="黑体" panose="02010609060101010101" charset="-122"/>
                </a:rPr>
                <a:t>（</a:t>
              </a:r>
              <a:r>
                <a:rPr sz="2000" spc="-5" dirty="0">
                  <a:latin typeface="Calibri" panose="020F0502020204030204"/>
                  <a:cs typeface="Calibri" panose="020F0502020204030204"/>
                </a:rPr>
                <a:t>Collaborations</a:t>
              </a:r>
              <a:r>
                <a:rPr sz="2000" spc="-5" dirty="0">
                  <a:latin typeface="黑体" panose="02010609060101010101" charset="-122"/>
                  <a:cs typeface="黑体" panose="02010609060101010101" charset="-122"/>
                </a:rPr>
                <a:t>）</a:t>
              </a:r>
              <a:endParaRPr sz="2000">
                <a:latin typeface="黑体" panose="02010609060101010101" charset="-122"/>
                <a:cs typeface="黑体" panose="02010609060101010101" charset="-122"/>
              </a:endParaRPr>
            </a:p>
            <a:p>
              <a:pPr marL="579120" marR="1651000">
                <a:lnSpc>
                  <a:spcPct val="117000"/>
                </a:lnSpc>
                <a:spcBef>
                  <a:spcPts val="60"/>
                </a:spcBef>
              </a:pPr>
              <a:r>
                <a:rPr sz="2000" spc="-5" dirty="0">
                  <a:latin typeface="Calibri" panose="020F0502020204030204"/>
                  <a:cs typeface="Calibri" panose="020F0502020204030204"/>
                </a:rPr>
                <a:t>D</a:t>
              </a:r>
              <a:r>
                <a:rPr sz="2000" dirty="0">
                  <a:latin typeface="Calibri" panose="020F0502020204030204"/>
                  <a:cs typeface="Calibri" panose="020F0502020204030204"/>
                </a:rPr>
                <a:t>ealer  </a:t>
              </a:r>
              <a:r>
                <a:rPr sz="2000" spc="-5" dirty="0">
                  <a:latin typeface="Calibri" panose="020F0502020204030204"/>
                  <a:cs typeface="Calibri" panose="020F0502020204030204"/>
                </a:rPr>
                <a:t>Player</a:t>
              </a:r>
              <a:endParaRPr sz="2000">
                <a:latin typeface="Calibri" panose="020F0502020204030204"/>
                <a:cs typeface="Calibri" panose="020F0502020204030204"/>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18307"/>
    </mc:Choice>
    <mc:Fallback>
      <p:transition spd="slow" advTm="18307"/>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0576" y="397292"/>
            <a:ext cx="1663064" cy="452120"/>
          </a:xfrm>
          <a:prstGeom prst="rect">
            <a:avLst/>
          </a:prstGeom>
        </p:spPr>
        <p:txBody>
          <a:bodyPr vert="horz" wrap="square" lIns="0" tIns="12700" rIns="0" bIns="0" rtlCol="0">
            <a:spAutoFit/>
          </a:bodyPr>
          <a:lstStyle/>
          <a:p>
            <a:pPr marL="12700">
              <a:lnSpc>
                <a:spcPct val="100000"/>
              </a:lnSpc>
              <a:spcBef>
                <a:spcPts val="100"/>
              </a:spcBef>
            </a:pPr>
            <a:r>
              <a:rPr sz="2800" b="1" dirty="0">
                <a:latin typeface="微软雅黑" panose="020B0503020204020204" pitchFamily="34" charset="-122"/>
                <a:ea typeface="微软雅黑" panose="020B0503020204020204" pitchFamily="34" charset="-122"/>
                <a:cs typeface="Comic Sans MS" panose="030F0702030302020204"/>
              </a:rPr>
              <a:t>UML</a:t>
            </a:r>
            <a:r>
              <a:rPr sz="2800" b="1" spc="-90" dirty="0">
                <a:latin typeface="微软雅黑" panose="020B0503020204020204" pitchFamily="34" charset="-122"/>
                <a:ea typeface="微软雅黑" panose="020B0503020204020204" pitchFamily="34" charset="-122"/>
                <a:cs typeface="Comic Sans MS" panose="030F0702030302020204"/>
              </a:rPr>
              <a:t> </a:t>
            </a:r>
            <a:r>
              <a:rPr sz="2800" b="1" spc="-15" dirty="0">
                <a:latin typeface="微软雅黑" panose="020B0503020204020204" pitchFamily="34" charset="-122"/>
                <a:ea typeface="微软雅黑" panose="020B0503020204020204" pitchFamily="34" charset="-122"/>
              </a:rPr>
              <a:t>类图</a:t>
            </a:r>
            <a:endParaRPr sz="2800" dirty="0">
              <a:latin typeface="微软雅黑" panose="020B0503020204020204" pitchFamily="34" charset="-122"/>
              <a:ea typeface="微软雅黑" panose="020B0503020204020204" pitchFamily="34" charset="-122"/>
            </a:endParaRPr>
          </a:p>
        </p:txBody>
      </p:sp>
      <p:sp>
        <p:nvSpPr>
          <p:cNvPr id="3" name="object 3"/>
          <p:cNvSpPr/>
          <p:nvPr/>
        </p:nvSpPr>
        <p:spPr>
          <a:xfrm>
            <a:off x="2768603" y="127001"/>
            <a:ext cx="7861289" cy="6186487"/>
          </a:xfrm>
          <a:prstGeom prst="rect">
            <a:avLst/>
          </a:prstGeom>
          <a:blipFill>
            <a:blip r:embed="rId1" cstate="print"/>
            <a:stretch>
              <a:fillRect/>
            </a:stretch>
          </a:blipFill>
        </p:spPr>
        <p:txBody>
          <a:bodyPr wrap="square" lIns="0" tIns="0" rIns="0" bIns="0" rtlCol="0"/>
          <a:lstStyle/>
          <a:p/>
        </p:txBody>
      </p:sp>
      <p:sp>
        <p:nvSpPr>
          <p:cNvPr id="5" name="灯片编号占位符 4"/>
          <p:cNvSpPr>
            <a:spLocks noGrp="1"/>
          </p:cNvSpPr>
          <p:nvPr>
            <p:ph type="sldNum" sz="quarter" idx="7"/>
          </p:nvPr>
        </p:nvSpPr>
        <p:spPr/>
        <p:txBody>
          <a:bodyPr/>
          <a:lstStyle/>
          <a:p>
            <a:fld id="{B6F15528-21DE-4FAA-801E-634DDDAF4B2B}" type="slidenum">
              <a:rPr lang="en-US" altLang="zh-CN" smtClean="0"/>
            </a:fld>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2000" advTm="57140"/>
    </mc:Choice>
    <mc:Fallback>
      <p:transition spd="slow" advTm="57140"/>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实体类</a:t>
            </a:r>
            <a:endParaRPr lang="zh-CN" altLang="en-US" dirty="0"/>
          </a:p>
        </p:txBody>
      </p:sp>
      <p:sp>
        <p:nvSpPr>
          <p:cNvPr id="3" name="内容占位符 2"/>
          <p:cNvSpPr>
            <a:spLocks noGrp="1"/>
          </p:cNvSpPr>
          <p:nvPr>
            <p:ph idx="1"/>
          </p:nvPr>
        </p:nvSpPr>
        <p:spPr/>
        <p:txBody>
          <a:bodyPr/>
          <a:lstStyle/>
          <a:p>
            <a:pPr lvl="1" algn="just">
              <a:lnSpc>
                <a:spcPct val="150000"/>
              </a:lnSpc>
            </a:pPr>
            <a:r>
              <a:rPr lang="zh-CN" altLang="en-US" dirty="0"/>
              <a:t>实体类是用于对必须存储的信息和相关行为建模的类。实体对象（实体类的实例）用于保存和更新一些现象的有关信息。</a:t>
            </a:r>
            <a:endParaRPr lang="en-US" altLang="zh-CN" dirty="0"/>
          </a:p>
          <a:p>
            <a:pPr lvl="1" algn="just">
              <a:lnSpc>
                <a:spcPct val="150000"/>
              </a:lnSpc>
            </a:pPr>
            <a:r>
              <a:rPr lang="zh-CN" altLang="en-US" dirty="0"/>
              <a:t>例如：事件、人员或者一些现实生活中的对象</a:t>
            </a:r>
            <a:endParaRPr lang="en-US" altLang="zh-CN" dirty="0"/>
          </a:p>
          <a:p>
            <a:pPr lvl="1" algn="just">
              <a:lnSpc>
                <a:spcPct val="150000"/>
              </a:lnSpc>
            </a:pPr>
            <a:r>
              <a:rPr lang="zh-CN" altLang="en-US" dirty="0"/>
              <a:t>实体类通常都是永久性的，它们所具有的属性和关系是长期需要的，有时甚至在系统的整个生存期都需要。</a:t>
            </a:r>
            <a:endParaRPr lang="en-US" altLang="zh-CN" dirty="0"/>
          </a:p>
          <a:p>
            <a:pPr lvl="1" algn="just"/>
            <a:endParaRPr lang="en-US" altLang="zh-CN" dirty="0"/>
          </a:p>
          <a:p>
            <a:pPr lvl="1" algn="just"/>
            <a:endParaRPr lang="zh-CN" altLang="en-US" dirty="0"/>
          </a:p>
          <a:p>
            <a:pPr lvl="1" algn="just"/>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边界类</a:t>
            </a:r>
            <a:endParaRPr lang="zh-CN" altLang="en-US" dirty="0"/>
          </a:p>
        </p:txBody>
      </p:sp>
      <p:sp>
        <p:nvSpPr>
          <p:cNvPr id="3" name="内容占位符 2"/>
          <p:cNvSpPr>
            <a:spLocks noGrp="1"/>
          </p:cNvSpPr>
          <p:nvPr>
            <p:ph idx="1"/>
          </p:nvPr>
        </p:nvSpPr>
        <p:spPr/>
        <p:txBody>
          <a:bodyPr/>
          <a:lstStyle/>
          <a:p>
            <a:r>
              <a:rPr lang="zh-CN" altLang="en-US" sz="2400" dirty="0"/>
              <a:t>边界类是系统内部与系统外部的业务主角之间进行交互建模的类。</a:t>
            </a:r>
            <a:endParaRPr lang="en-US" altLang="zh-CN" sz="2400" dirty="0"/>
          </a:p>
          <a:p>
            <a:endParaRPr lang="en-US" altLang="zh-CN" sz="2400" dirty="0"/>
          </a:p>
          <a:p>
            <a:r>
              <a:rPr lang="zh-CN" altLang="en-US" sz="2400" dirty="0"/>
              <a:t>边界类是系统为业务主角操作提供的一个</a:t>
            </a:r>
            <a:r>
              <a:rPr lang="en-US" altLang="zh-CN" sz="2400" dirty="0"/>
              <a:t>GUI</a:t>
            </a:r>
            <a:r>
              <a:rPr lang="zh-CN" altLang="en-US" sz="2400" dirty="0"/>
              <a:t>，或者系统与其他的系统之间进行一个交互的接口。所以当外部的</a:t>
            </a:r>
            <a:r>
              <a:rPr lang="en-US" altLang="zh-CN" sz="2400" dirty="0"/>
              <a:t>GUI</a:t>
            </a:r>
            <a:r>
              <a:rPr lang="zh-CN" altLang="en-US" sz="2400" dirty="0"/>
              <a:t>变化时，或者是通信协议有变化时，只需要修改边界类就可以了，不用再去修改控制类和实体类</a:t>
            </a:r>
            <a:endParaRPr lang="en-US" altLang="zh-CN" sz="2400" dirty="0"/>
          </a:p>
          <a:p>
            <a:endParaRPr lang="en-US" altLang="zh-CN" sz="2400" dirty="0"/>
          </a:p>
          <a:p>
            <a:r>
              <a:rPr lang="zh-CN" altLang="en-US" sz="2400" b="1" dirty="0"/>
              <a:t>用户界面类</a:t>
            </a:r>
            <a:r>
              <a:rPr lang="zh-CN" altLang="en-US" sz="2400" dirty="0"/>
              <a:t> </a:t>
            </a:r>
            <a:r>
              <a:rPr lang="en-US" altLang="zh-CN" sz="2400" dirty="0"/>
              <a:t>- </a:t>
            </a:r>
            <a:r>
              <a:rPr lang="zh-CN" altLang="en-US" sz="2400" dirty="0"/>
              <a:t>帮助与系统用户进行通信的类</a:t>
            </a:r>
            <a:endParaRPr lang="zh-CN" altLang="en-US" sz="2400" dirty="0"/>
          </a:p>
          <a:p>
            <a:r>
              <a:rPr lang="zh-CN" altLang="en-US" sz="2400" b="1" dirty="0"/>
              <a:t>系统接口类</a:t>
            </a:r>
            <a:r>
              <a:rPr lang="zh-CN" altLang="en-US" sz="2400" dirty="0"/>
              <a:t> </a:t>
            </a:r>
            <a:r>
              <a:rPr lang="en-US" altLang="zh-CN" sz="2400" dirty="0"/>
              <a:t>- </a:t>
            </a:r>
            <a:r>
              <a:rPr lang="zh-CN" altLang="en-US" sz="2400" dirty="0"/>
              <a:t>帮助与其他系统进行通信的类</a:t>
            </a:r>
            <a:endParaRPr lang="zh-CN" altLang="en-US" sz="2400" dirty="0"/>
          </a:p>
          <a:p>
            <a:r>
              <a:rPr lang="zh-CN" altLang="en-US" sz="2400" b="1" dirty="0"/>
              <a:t>设备接口类</a:t>
            </a:r>
            <a:r>
              <a:rPr lang="zh-CN" altLang="en-US" sz="2400" dirty="0"/>
              <a:t> </a:t>
            </a:r>
            <a:r>
              <a:rPr lang="en-US" altLang="zh-CN" sz="2400" dirty="0"/>
              <a:t>- </a:t>
            </a:r>
            <a:r>
              <a:rPr lang="zh-CN" altLang="en-US" sz="2400" dirty="0"/>
              <a:t>为用来监测外部事件的设备（如传感器）提供接口的类</a:t>
            </a:r>
            <a:endParaRPr lang="zh-CN" altLang="en-US" sz="2400" dirty="0"/>
          </a:p>
          <a:p>
            <a:endParaRPr lang="zh-CN" altLang="en-US" dirty="0"/>
          </a:p>
          <a:p>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控制类</a:t>
            </a:r>
            <a:endParaRPr lang="zh-CN" altLang="en-US" dirty="0"/>
          </a:p>
        </p:txBody>
      </p:sp>
      <p:sp>
        <p:nvSpPr>
          <p:cNvPr id="3" name="内容占位符 2"/>
          <p:cNvSpPr>
            <a:spLocks noGrp="1"/>
          </p:cNvSpPr>
          <p:nvPr>
            <p:ph idx="1"/>
          </p:nvPr>
        </p:nvSpPr>
        <p:spPr/>
        <p:txBody>
          <a:bodyPr>
            <a:normAutofit/>
          </a:bodyPr>
          <a:lstStyle/>
          <a:p>
            <a:r>
              <a:rPr lang="zh-CN" altLang="en-US" sz="2400" dirty="0"/>
              <a:t>控制类用于对一个或几个用例所特有的控制行为进行建模，它描述的用例的业务逻辑的实现，控制类的设计与用例实现有着很大的关系。</a:t>
            </a:r>
            <a:endParaRPr lang="en-US" altLang="zh-CN" sz="2400" dirty="0"/>
          </a:p>
          <a:p>
            <a:endParaRPr lang="en-US" altLang="zh-CN" sz="2400" dirty="0"/>
          </a:p>
          <a:p>
            <a:r>
              <a:rPr lang="zh-CN" altLang="en-US" sz="2400" dirty="0"/>
              <a:t>当业务主角通过边界类来执行用例的时候，产生一个控制类对象，在用例被执行完后，控制类对象会被销毁。</a:t>
            </a:r>
            <a:endParaRPr lang="en-US" altLang="zh-CN" sz="2400" dirty="0"/>
          </a:p>
          <a:p>
            <a:endParaRPr lang="en-US" altLang="zh-CN" sz="2400" dirty="0"/>
          </a:p>
          <a:p>
            <a:r>
              <a:rPr lang="zh-CN" altLang="en-US" sz="2400" dirty="0"/>
              <a:t>控制类的特点：</a:t>
            </a:r>
            <a:endParaRPr lang="zh-CN" altLang="en-US" sz="2400" dirty="0"/>
          </a:p>
          <a:p>
            <a:pPr lvl="1"/>
            <a:r>
              <a:rPr lang="zh-CN" altLang="en-US" sz="2000" dirty="0"/>
              <a:t>     独立于环境</a:t>
            </a:r>
            <a:endParaRPr lang="zh-CN" altLang="en-US" sz="2000" dirty="0"/>
          </a:p>
          <a:p>
            <a:pPr lvl="1"/>
            <a:r>
              <a:rPr lang="zh-CN" altLang="en-US" sz="2000" dirty="0"/>
              <a:t>     和用例的实现关联</a:t>
            </a:r>
            <a:endParaRPr lang="zh-CN" altLang="en-US" sz="2000" dirty="0"/>
          </a:p>
          <a:p>
            <a:pPr lvl="1"/>
            <a:r>
              <a:rPr lang="zh-CN" altLang="en-US" sz="2000" dirty="0"/>
              <a:t>     使用关联实体类，操作实体类对象</a:t>
            </a:r>
            <a:endParaRPr lang="zh-CN" altLang="en-US" sz="2000" dirty="0"/>
          </a:p>
          <a:p>
            <a:pPr lvl="1"/>
            <a:r>
              <a:rPr lang="zh-CN" altLang="en-US" sz="2000" dirty="0"/>
              <a:t>     专注于业务逻辑的实现</a:t>
            </a:r>
            <a:endParaRPr lang="zh-CN" altLang="en-US" sz="2000" dirty="0"/>
          </a:p>
          <a:p>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331310"/>
            <a:ext cx="9144000" cy="2387600"/>
          </a:xfrm>
        </p:spPr>
        <p:txBody>
          <a:bodyPr>
            <a:normAutofit/>
          </a:bodyPr>
          <a:lstStyle/>
          <a:p>
            <a:r>
              <a:rPr lang="zh-CN" altLang="en-US" dirty="0"/>
              <a:t>面向对象设计</a:t>
            </a:r>
            <a:br>
              <a:rPr lang="en-US" altLang="zh-CN" dirty="0"/>
            </a:br>
            <a:r>
              <a:rPr lang="en-US" altLang="zh-CN" dirty="0"/>
              <a:t>Object-Oriented Design</a:t>
            </a:r>
            <a:endParaRPr lang="zh-CN" altLang="en-US" dirty="0"/>
          </a:p>
        </p:txBody>
      </p:sp>
      <p:sp>
        <p:nvSpPr>
          <p:cNvPr id="4" name="副标题 2"/>
          <p:cNvSpPr>
            <a:spLocks noGrp="1"/>
          </p:cNvSpPr>
          <p:nvPr>
            <p:ph type="subTitle" idx="1"/>
          </p:nvPr>
        </p:nvSpPr>
        <p:spPr>
          <a:xfrm>
            <a:off x="1524000" y="4211637"/>
            <a:ext cx="9144000" cy="2130577"/>
          </a:xfrm>
        </p:spPr>
        <p:txBody>
          <a:bodyPr anchor="ctr">
            <a:normAutofit fontScale="92500" lnSpcReduction="20000"/>
          </a:bodyPr>
          <a:lstStyle/>
          <a:p>
            <a:r>
              <a:rPr lang="zh-CN" altLang="en-US" dirty="0"/>
              <a:t>李起成</a:t>
            </a:r>
            <a:endParaRPr lang="en-US" altLang="zh-CN" dirty="0"/>
          </a:p>
          <a:p>
            <a:r>
              <a:rPr lang="en-US" altLang="zh-CN" dirty="0"/>
              <a:t>College of</a:t>
            </a:r>
            <a:r>
              <a:rPr lang="zh-CN" altLang="en-US" dirty="0"/>
              <a:t> </a:t>
            </a:r>
            <a:r>
              <a:rPr lang="en-US" altLang="zh-CN" dirty="0"/>
              <a:t>Computer</a:t>
            </a:r>
            <a:r>
              <a:rPr lang="zh-CN" altLang="en-US" dirty="0"/>
              <a:t> </a:t>
            </a:r>
            <a:r>
              <a:rPr lang="en-US" altLang="zh-CN" dirty="0"/>
              <a:t>Science</a:t>
            </a:r>
            <a:endParaRPr lang="en-US" altLang="zh-CN" dirty="0"/>
          </a:p>
          <a:p>
            <a:r>
              <a:rPr lang="en-US" altLang="zh-CN" dirty="0"/>
              <a:t>Nankai</a:t>
            </a:r>
            <a:r>
              <a:rPr lang="zh-CN" altLang="en-US" dirty="0"/>
              <a:t> </a:t>
            </a:r>
            <a:r>
              <a:rPr lang="en-US" altLang="zh-CN" dirty="0"/>
              <a:t>University</a:t>
            </a:r>
            <a:endParaRPr lang="en-US" altLang="zh-CN" dirty="0"/>
          </a:p>
          <a:p>
            <a:endParaRPr lang="en-US" altLang="zh-CN" dirty="0"/>
          </a:p>
          <a:p>
            <a:r>
              <a:rPr lang="en-US" altLang="zh-CN" i="1" dirty="0"/>
              <a:t>Slides adapted from materials by Prof. </a:t>
            </a:r>
            <a:r>
              <a:rPr lang="en-US" altLang="zh-CN" i="1" dirty="0" err="1"/>
              <a:t>Qiang</a:t>
            </a:r>
            <a:r>
              <a:rPr lang="en-US" altLang="zh-CN" i="1" dirty="0"/>
              <a:t> Liu (Tsing Hua University) and </a:t>
            </a:r>
            <a:r>
              <a:rPr lang="en-US" altLang="en-US" i="1" dirty="0"/>
              <a:t>Ivan </a:t>
            </a:r>
            <a:r>
              <a:rPr lang="en-US" altLang="en-US" i="1" dirty="0" err="1"/>
              <a:t>Marsic</a:t>
            </a:r>
            <a:r>
              <a:rPr lang="en-US" altLang="en-US" i="1" dirty="0"/>
              <a:t> (</a:t>
            </a:r>
            <a:r>
              <a:rPr lang="en-US" altLang="en-US" i="1" dirty="0" err="1"/>
              <a:t>Rugers</a:t>
            </a:r>
            <a:r>
              <a:rPr lang="en-US" altLang="en-US" i="1" dirty="0"/>
              <a:t> University)</a:t>
            </a:r>
            <a:endParaRPr lang="zh-CN" altLang="en-US" i="1" dirty="0"/>
          </a:p>
        </p:txBody>
      </p:sp>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172729" y="131261"/>
            <a:ext cx="1846542" cy="180037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999" advTm="16628"/>
    </mc:Choice>
    <mc:Fallback>
      <p:transition spd="slow" advTm="16628"/>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5" dirty="0">
                <a:latin typeface="黑体" panose="02010609060101010101" charset="-122"/>
                <a:cs typeface="黑体" panose="02010609060101010101" charset="-122"/>
              </a:rPr>
              <a:t>关于对象设计</a:t>
            </a:r>
            <a:endParaRPr lang="zh-CN" altLang="en-US" dirty="0"/>
          </a:p>
        </p:txBody>
      </p:sp>
      <p:sp>
        <p:nvSpPr>
          <p:cNvPr id="3" name="内容占位符 2"/>
          <p:cNvSpPr>
            <a:spLocks noGrp="1"/>
          </p:cNvSpPr>
          <p:nvPr>
            <p:ph idx="1"/>
          </p:nvPr>
        </p:nvSpPr>
        <p:spPr/>
        <p:txBody>
          <a:bodyPr/>
          <a:lstStyle/>
          <a:p>
            <a:pPr marL="12700">
              <a:lnSpc>
                <a:spcPct val="100000"/>
              </a:lnSpc>
              <a:spcBef>
                <a:spcPts val="100"/>
              </a:spcBef>
            </a:pPr>
            <a:r>
              <a:rPr lang="zh-CN" altLang="en-US" dirty="0">
                <a:latin typeface="黑体" panose="02010609060101010101" charset="-122"/>
                <a:cs typeface="黑体" panose="02010609060101010101" charset="-122"/>
              </a:rPr>
              <a:t>其实，真相是</a:t>
            </a:r>
            <a:r>
              <a:rPr lang="en-US" altLang="zh-CN" dirty="0">
                <a:latin typeface="黑体" panose="02010609060101010101" charset="-122"/>
                <a:cs typeface="黑体" panose="02010609060101010101" charset="-122"/>
              </a:rPr>
              <a:t>:</a:t>
            </a:r>
            <a:endParaRPr lang="en-US" altLang="zh-CN" dirty="0">
              <a:latin typeface="黑体" panose="02010609060101010101" charset="-122"/>
              <a:cs typeface="黑体" panose="02010609060101010101" charset="-122"/>
            </a:endParaRPr>
          </a:p>
          <a:p>
            <a:pPr>
              <a:lnSpc>
                <a:spcPct val="100000"/>
              </a:lnSpc>
            </a:pPr>
            <a:endParaRPr lang="zh-CN" altLang="en-US" dirty="0">
              <a:latin typeface="Times New Roman" panose="02020603050405020304"/>
              <a:cs typeface="Times New Roman" panose="02020603050405020304"/>
            </a:endParaRPr>
          </a:p>
          <a:p>
            <a:pPr marL="927100">
              <a:lnSpc>
                <a:spcPct val="100000"/>
              </a:lnSpc>
              <a:spcBef>
                <a:spcPts val="1560"/>
              </a:spcBef>
            </a:pPr>
            <a:r>
              <a:rPr lang="zh-CN" altLang="en-US" dirty="0">
                <a:solidFill>
                  <a:srgbClr val="800000"/>
                </a:solidFill>
                <a:latin typeface="黑体" panose="02010609060101010101" charset="-122"/>
                <a:cs typeface="黑体" panose="02010609060101010101" charset="-122"/>
              </a:rPr>
              <a:t>面向对象方法本身并不能保证你的设计成为优秀的设计</a:t>
            </a:r>
            <a:endParaRPr lang="zh-CN" altLang="en-US" dirty="0">
              <a:latin typeface="黑体" panose="02010609060101010101" charset="-122"/>
              <a:cs typeface="黑体" panose="02010609060101010101" charset="-122"/>
            </a:endParaRPr>
          </a:p>
          <a:p>
            <a:pPr>
              <a:lnSpc>
                <a:spcPct val="100000"/>
              </a:lnSpc>
            </a:pPr>
            <a:endParaRPr lang="zh-CN" altLang="en-US" dirty="0">
              <a:latin typeface="Times New Roman" panose="02020603050405020304"/>
              <a:cs typeface="Times New Roman" panose="02020603050405020304"/>
            </a:endParaRPr>
          </a:p>
          <a:p>
            <a:pPr marL="927100">
              <a:lnSpc>
                <a:spcPct val="100000"/>
              </a:lnSpc>
              <a:spcBef>
                <a:spcPts val="1560"/>
              </a:spcBef>
            </a:pPr>
            <a:r>
              <a:rPr lang="en-US" altLang="zh-CN" spc="-5" dirty="0">
                <a:latin typeface="Calibri" panose="020F0502020204030204"/>
                <a:cs typeface="Calibri" panose="020F0502020204030204"/>
              </a:rPr>
              <a:t>You </a:t>
            </a:r>
            <a:r>
              <a:rPr lang="en-US" altLang="zh-CN" dirty="0">
                <a:latin typeface="Calibri" panose="020F0502020204030204"/>
                <a:cs typeface="Calibri" panose="020F0502020204030204"/>
              </a:rPr>
              <a:t>can </a:t>
            </a:r>
            <a:r>
              <a:rPr lang="en-US" altLang="zh-CN" spc="-5" dirty="0">
                <a:latin typeface="Calibri" panose="020F0502020204030204"/>
                <a:cs typeface="Calibri" panose="020F0502020204030204"/>
              </a:rPr>
              <a:t>create </a:t>
            </a:r>
            <a:r>
              <a:rPr lang="en-US" altLang="zh-CN" dirty="0">
                <a:latin typeface="Calibri" panose="020F0502020204030204"/>
                <a:cs typeface="Calibri" panose="020F0502020204030204"/>
              </a:rPr>
              <a:t>a </a:t>
            </a:r>
            <a:r>
              <a:rPr lang="en-US" altLang="zh-CN" spc="-5" dirty="0">
                <a:latin typeface="Calibri" panose="020F0502020204030204"/>
                <a:cs typeface="Calibri" panose="020F0502020204030204"/>
              </a:rPr>
              <a:t>very </a:t>
            </a:r>
            <a:r>
              <a:rPr lang="en-US" altLang="zh-CN" dirty="0">
                <a:latin typeface="Calibri" panose="020F0502020204030204"/>
                <a:cs typeface="Calibri" panose="020F0502020204030204"/>
              </a:rPr>
              <a:t>bad OO design</a:t>
            </a:r>
            <a:endParaRPr lang="en-US" altLang="zh-CN" dirty="0">
              <a:latin typeface="Calibri" panose="020F0502020204030204"/>
              <a:cs typeface="Calibri" panose="020F0502020204030204"/>
            </a:endParaRPr>
          </a:p>
          <a:p>
            <a:pPr marL="995680">
              <a:lnSpc>
                <a:spcPct val="100000"/>
              </a:lnSpc>
              <a:spcBef>
                <a:spcPts val="720"/>
              </a:spcBef>
            </a:pPr>
            <a:r>
              <a:rPr lang="en-US" altLang="zh-CN" dirty="0">
                <a:latin typeface="Calibri" panose="020F0502020204030204"/>
                <a:cs typeface="Calibri" panose="020F0502020204030204"/>
              </a:rPr>
              <a:t>just as easily as </a:t>
            </a:r>
            <a:r>
              <a:rPr lang="en-US" altLang="zh-CN" spc="-5" dirty="0">
                <a:latin typeface="Calibri" panose="020F0502020204030204"/>
                <a:cs typeface="Calibri" panose="020F0502020204030204"/>
              </a:rPr>
              <a:t>you </a:t>
            </a:r>
            <a:r>
              <a:rPr lang="en-US" altLang="zh-CN" dirty="0">
                <a:latin typeface="Calibri" panose="020F0502020204030204"/>
                <a:cs typeface="Calibri" panose="020F0502020204030204"/>
              </a:rPr>
              <a:t>can </a:t>
            </a:r>
            <a:r>
              <a:rPr lang="en-US" altLang="zh-CN" spc="-5" dirty="0">
                <a:latin typeface="Calibri" panose="020F0502020204030204"/>
                <a:cs typeface="Calibri" panose="020F0502020204030204"/>
              </a:rPr>
              <a:t>create </a:t>
            </a:r>
            <a:r>
              <a:rPr lang="en-US" altLang="zh-CN" dirty="0">
                <a:latin typeface="Calibri" panose="020F0502020204030204"/>
                <a:cs typeface="Calibri" panose="020F0502020204030204"/>
              </a:rPr>
              <a:t>a </a:t>
            </a:r>
            <a:r>
              <a:rPr lang="en-US" altLang="zh-CN" spc="-5" dirty="0">
                <a:latin typeface="Calibri" panose="020F0502020204030204"/>
                <a:cs typeface="Calibri" panose="020F0502020204030204"/>
              </a:rPr>
              <a:t>very </a:t>
            </a:r>
            <a:r>
              <a:rPr lang="en-US" altLang="zh-CN" dirty="0">
                <a:latin typeface="Calibri" panose="020F0502020204030204"/>
                <a:cs typeface="Calibri" panose="020F0502020204030204"/>
              </a:rPr>
              <a:t>bad </a:t>
            </a:r>
            <a:r>
              <a:rPr lang="en-US" altLang="zh-CN" spc="-185" dirty="0">
                <a:latin typeface="Calibri" panose="020F0502020204030204"/>
                <a:cs typeface="Calibri" panose="020F0502020204030204"/>
              </a:rPr>
              <a:t>non-­‐OO</a:t>
            </a:r>
            <a:r>
              <a:rPr lang="en-US" altLang="zh-CN" spc="-5" dirty="0">
                <a:latin typeface="Calibri" panose="020F0502020204030204"/>
                <a:cs typeface="Calibri" panose="020F0502020204030204"/>
              </a:rPr>
              <a:t> design...</a:t>
            </a:r>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sp>
        <p:nvSpPr>
          <p:cNvPr id="5" name="object 4"/>
          <p:cNvSpPr/>
          <p:nvPr/>
        </p:nvSpPr>
        <p:spPr>
          <a:xfrm>
            <a:off x="8710872" y="1027906"/>
            <a:ext cx="2857498" cy="1955800"/>
          </a:xfrm>
          <a:prstGeom prst="rect">
            <a:avLst/>
          </a:prstGeom>
          <a:blipFill>
            <a:blip r:embed="rId1" cstate="print"/>
            <a:stretch>
              <a:fillRect/>
            </a:stretch>
          </a:blipFill>
        </p:spPr>
        <p:txBody>
          <a:bodyPr wrap="square" lIns="0" tIns="0" rIns="0" bIns="0" rtlCol="0"/>
          <a:lstStyle/>
          <a:p/>
        </p:txBody>
      </p:sp>
    </p:spTree>
  </p:cSld>
  <p:clrMapOvr>
    <a:masterClrMapping/>
  </p:clrMapOvr>
  <mc:AlternateContent xmlns:mc="http://schemas.openxmlformats.org/markup-compatibility/2006">
    <mc:Choice xmlns:p14="http://schemas.microsoft.com/office/powerpoint/2010/main" Requires="p14">
      <p:transition spd="slow" p14:dur="2000" advTm="40231"/>
    </mc:Choice>
    <mc:Fallback>
      <p:transition spd="slow" advTm="40231"/>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5" dirty="0">
                <a:latin typeface="黑体" panose="02010609060101010101" charset="-122"/>
                <a:cs typeface="黑体" panose="02010609060101010101" charset="-122"/>
              </a:rPr>
              <a:t>面向对象设计过程</a:t>
            </a:r>
            <a:endParaRPr lang="zh-CN" altLang="en-US" dirty="0"/>
          </a:p>
        </p:txBody>
      </p:sp>
      <p:sp>
        <p:nvSpPr>
          <p:cNvPr id="3" name="内容占位符 2"/>
          <p:cNvSpPr>
            <a:spLocks noGrp="1"/>
          </p:cNvSpPr>
          <p:nvPr>
            <p:ph idx="1"/>
          </p:nvPr>
        </p:nvSpPr>
        <p:spPr/>
        <p:txBody>
          <a:bodyPr>
            <a:normAutofit fontScale="92500" lnSpcReduction="10000"/>
          </a:bodyPr>
          <a:lstStyle/>
          <a:p>
            <a:pPr marL="241300">
              <a:lnSpc>
                <a:spcPct val="100000"/>
              </a:lnSpc>
              <a:spcBef>
                <a:spcPts val="1500"/>
              </a:spcBef>
              <a:buFont typeface="Arial" panose="020B0604020202020204"/>
              <a:buChar char="•"/>
              <a:tabLst>
                <a:tab pos="240665" algn="l"/>
                <a:tab pos="241300" algn="l"/>
              </a:tabLst>
            </a:pPr>
            <a:r>
              <a:rPr lang="zh-CN" altLang="en-US" dirty="0">
                <a:latin typeface="黑体" panose="02010609060101010101" charset="-122"/>
                <a:cs typeface="黑体" panose="02010609060101010101" charset="-122"/>
              </a:rPr>
              <a:t>进行适当的领域分析</a:t>
            </a:r>
            <a:endParaRPr lang="zh-CN" altLang="en-US" dirty="0">
              <a:latin typeface="黑体" panose="02010609060101010101" charset="-122"/>
              <a:cs typeface="黑体" panose="02010609060101010101" charset="-122"/>
            </a:endParaRPr>
          </a:p>
          <a:p>
            <a:pPr marL="241300">
              <a:lnSpc>
                <a:spcPct val="100000"/>
              </a:lnSpc>
              <a:spcBef>
                <a:spcPts val="1400"/>
              </a:spcBef>
              <a:buFont typeface="Arial" panose="020B0604020202020204"/>
              <a:buChar char="•"/>
              <a:tabLst>
                <a:tab pos="240665" algn="l"/>
                <a:tab pos="241300" algn="l"/>
              </a:tabLst>
            </a:pPr>
            <a:r>
              <a:rPr lang="zh-CN" altLang="en-US" dirty="0">
                <a:latin typeface="黑体" panose="02010609060101010101" charset="-122"/>
                <a:cs typeface="黑体" panose="02010609060101010101" charset="-122"/>
              </a:rPr>
              <a:t>撰写问题描述，确定系统的开发任务</a:t>
            </a:r>
            <a:endParaRPr lang="zh-CN" altLang="en-US" dirty="0">
              <a:latin typeface="黑体" panose="02010609060101010101" charset="-122"/>
              <a:cs typeface="黑体" panose="02010609060101010101" charset="-122"/>
            </a:endParaRPr>
          </a:p>
          <a:p>
            <a:pPr marL="241300">
              <a:lnSpc>
                <a:spcPct val="100000"/>
              </a:lnSpc>
              <a:spcBef>
                <a:spcPts val="1500"/>
              </a:spcBef>
              <a:buFont typeface="Arial" panose="020B0604020202020204"/>
              <a:buChar char="•"/>
              <a:tabLst>
                <a:tab pos="240665" algn="l"/>
                <a:tab pos="241300" algn="l"/>
              </a:tabLst>
            </a:pPr>
            <a:r>
              <a:rPr lang="zh-CN" altLang="en-US" dirty="0">
                <a:latin typeface="黑体" panose="02010609060101010101" charset="-122"/>
                <a:cs typeface="黑体" panose="02010609060101010101" charset="-122"/>
              </a:rPr>
              <a:t>基于问题描述抽取需求</a:t>
            </a:r>
            <a:endParaRPr lang="zh-CN" altLang="en-US" dirty="0">
              <a:latin typeface="黑体" panose="02010609060101010101" charset="-122"/>
              <a:cs typeface="黑体" panose="02010609060101010101" charset="-122"/>
            </a:endParaRPr>
          </a:p>
          <a:p>
            <a:pPr marL="241300">
              <a:lnSpc>
                <a:spcPct val="100000"/>
              </a:lnSpc>
              <a:spcBef>
                <a:spcPts val="1500"/>
              </a:spcBef>
              <a:buFont typeface="Arial" panose="020B0604020202020204"/>
              <a:buChar char="•"/>
              <a:tabLst>
                <a:tab pos="240665" algn="l"/>
                <a:tab pos="241300" algn="l"/>
              </a:tabLst>
            </a:pPr>
            <a:r>
              <a:rPr lang="zh-CN" altLang="en-US" dirty="0">
                <a:latin typeface="黑体" panose="02010609060101010101" charset="-122"/>
                <a:cs typeface="黑体" panose="02010609060101010101" charset="-122"/>
              </a:rPr>
              <a:t>开发用户界面原型</a:t>
            </a:r>
            <a:endParaRPr lang="zh-CN" altLang="en-US" dirty="0">
              <a:latin typeface="黑体" panose="02010609060101010101" charset="-122"/>
              <a:cs typeface="黑体" panose="02010609060101010101" charset="-122"/>
            </a:endParaRPr>
          </a:p>
          <a:p>
            <a:pPr marL="241300">
              <a:lnSpc>
                <a:spcPct val="100000"/>
              </a:lnSpc>
              <a:spcBef>
                <a:spcPts val="1500"/>
              </a:spcBef>
              <a:buFont typeface="Arial" panose="020B0604020202020204"/>
              <a:buChar char="•"/>
              <a:tabLst>
                <a:tab pos="240665" algn="l"/>
                <a:tab pos="241300" algn="l"/>
              </a:tabLst>
            </a:pPr>
            <a:r>
              <a:rPr lang="zh-CN" altLang="en-US" dirty="0">
                <a:latin typeface="黑体" panose="02010609060101010101" charset="-122"/>
                <a:cs typeface="黑体" panose="02010609060101010101" charset="-122"/>
              </a:rPr>
              <a:t>识别对象类</a:t>
            </a:r>
            <a:endParaRPr lang="zh-CN" altLang="en-US" dirty="0">
              <a:latin typeface="黑体" panose="02010609060101010101" charset="-122"/>
              <a:cs typeface="黑体" panose="02010609060101010101" charset="-122"/>
            </a:endParaRPr>
          </a:p>
          <a:p>
            <a:pPr marL="241300">
              <a:lnSpc>
                <a:spcPct val="100000"/>
              </a:lnSpc>
              <a:spcBef>
                <a:spcPts val="1500"/>
              </a:spcBef>
              <a:buFont typeface="Arial" panose="020B0604020202020204"/>
              <a:buChar char="•"/>
              <a:tabLst>
                <a:tab pos="240665" algn="l"/>
                <a:tab pos="241300" algn="l"/>
              </a:tabLst>
            </a:pPr>
            <a:r>
              <a:rPr lang="zh-CN" altLang="en-US" dirty="0">
                <a:latin typeface="黑体" panose="02010609060101010101" charset="-122"/>
                <a:cs typeface="黑体" panose="02010609060101010101" charset="-122"/>
              </a:rPr>
              <a:t>定义每个类的职责</a:t>
            </a:r>
            <a:endParaRPr lang="zh-CN" altLang="en-US" dirty="0">
              <a:latin typeface="黑体" panose="02010609060101010101" charset="-122"/>
              <a:cs typeface="黑体" panose="02010609060101010101" charset="-122"/>
            </a:endParaRPr>
          </a:p>
          <a:p>
            <a:pPr marL="241300">
              <a:lnSpc>
                <a:spcPct val="100000"/>
              </a:lnSpc>
              <a:spcBef>
                <a:spcPts val="1400"/>
              </a:spcBef>
              <a:buFont typeface="Arial" panose="020B0604020202020204"/>
              <a:buChar char="•"/>
              <a:tabLst>
                <a:tab pos="240665" algn="l"/>
                <a:tab pos="241300" algn="l"/>
              </a:tabLst>
            </a:pPr>
            <a:r>
              <a:rPr lang="zh-CN" altLang="en-US" dirty="0">
                <a:latin typeface="黑体" panose="02010609060101010101" charset="-122"/>
                <a:cs typeface="黑体" panose="02010609060101010101" charset="-122"/>
              </a:rPr>
              <a:t>确定类之间的交互关系</a:t>
            </a:r>
            <a:endParaRPr lang="zh-CN" altLang="en-US" dirty="0">
              <a:latin typeface="黑体" panose="02010609060101010101" charset="-122"/>
              <a:cs typeface="黑体" panose="02010609060101010101" charset="-122"/>
            </a:endParaRPr>
          </a:p>
          <a:p>
            <a:pPr marL="241300">
              <a:lnSpc>
                <a:spcPct val="100000"/>
              </a:lnSpc>
              <a:spcBef>
                <a:spcPts val="1500"/>
              </a:spcBef>
              <a:buFont typeface="Arial" panose="020B0604020202020204"/>
              <a:buChar char="•"/>
              <a:tabLst>
                <a:tab pos="240665" algn="l"/>
                <a:tab pos="241300" algn="l"/>
              </a:tabLst>
            </a:pPr>
            <a:r>
              <a:rPr lang="zh-CN" altLang="en-US" dirty="0">
                <a:latin typeface="黑体" panose="02010609060101010101" charset="-122"/>
                <a:cs typeface="黑体" panose="02010609060101010101" charset="-122"/>
              </a:rPr>
              <a:t>建立系统的设计模型</a:t>
            </a:r>
            <a:endParaRPr lang="zh-CN" altLang="en-US" dirty="0">
              <a:latin typeface="黑体" panose="02010609060101010101" charset="-122"/>
              <a:cs typeface="黑体" panose="02010609060101010101" charset="-122"/>
            </a:endParaRPr>
          </a:p>
          <a:p>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sp>
        <p:nvSpPr>
          <p:cNvPr id="5" name="object 4"/>
          <p:cNvSpPr/>
          <p:nvPr/>
        </p:nvSpPr>
        <p:spPr>
          <a:xfrm>
            <a:off x="7418981" y="2397091"/>
            <a:ext cx="3627391" cy="3208405"/>
          </a:xfrm>
          <a:prstGeom prst="rect">
            <a:avLst/>
          </a:prstGeom>
          <a:blipFill>
            <a:blip r:embed="rId1" cstate="print"/>
            <a:stretch>
              <a:fillRect/>
            </a:stretch>
          </a:blipFill>
        </p:spPr>
        <p:txBody>
          <a:bodyPr wrap="square" lIns="0" tIns="0" rIns="0" bIns="0" rtlCol="0"/>
          <a:lstStyle/>
          <a:p/>
        </p:txBody>
      </p:sp>
    </p:spTree>
  </p:cSld>
  <p:clrMapOvr>
    <a:masterClrMapping/>
  </p:clrMapOvr>
  <mc:AlternateContent xmlns:mc="http://schemas.openxmlformats.org/markup-compatibility/2006">
    <mc:Choice xmlns:p14="http://schemas.microsoft.com/office/powerpoint/2010/main" Requires="p14">
      <p:transition spd="slow" p14:dur="2000" advTm="50727"/>
    </mc:Choice>
    <mc:Fallback>
      <p:transition spd="slow" advTm="50727"/>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面向对象思维式的核心理念	</a:t>
            </a:r>
            <a:endParaRPr lang="zh-CN" altLang="en-US" dirty="0"/>
          </a:p>
        </p:txBody>
      </p:sp>
      <p:sp>
        <p:nvSpPr>
          <p:cNvPr id="3" name="内容占位符 2"/>
          <p:cNvSpPr>
            <a:spLocks noGrp="1"/>
          </p:cNvSpPr>
          <p:nvPr>
            <p:ph idx="1"/>
          </p:nvPr>
        </p:nvSpPr>
        <p:spPr>
          <a:xfrm>
            <a:off x="838200" y="1566041"/>
            <a:ext cx="10515600" cy="4610922"/>
          </a:xfrm>
        </p:spPr>
        <p:txBody>
          <a:bodyPr>
            <a:normAutofit/>
          </a:bodyPr>
          <a:lstStyle/>
          <a:p>
            <a:r>
              <a:rPr lang="zh-CN" altLang="en-US" sz="3200" dirty="0"/>
              <a:t>区分接口与实现</a:t>
            </a:r>
            <a:endParaRPr lang="en-US" altLang="zh-CN" sz="3200" dirty="0"/>
          </a:p>
          <a:p>
            <a:r>
              <a:rPr lang="zh-CN" altLang="en-US" sz="3200" dirty="0"/>
              <a:t>从具体到抽象</a:t>
            </a:r>
            <a:endParaRPr lang="en-US" altLang="zh-CN" sz="3200" dirty="0"/>
          </a:p>
          <a:p>
            <a:r>
              <a:rPr lang="zh-CN" altLang="en-US" sz="3200" dirty="0"/>
              <a:t>接口设计原则</a:t>
            </a:r>
            <a:endParaRPr lang="zh-CN" altLang="en-US" sz="3200"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sp>
        <p:nvSpPr>
          <p:cNvPr id="5" name="object 3"/>
          <p:cNvSpPr/>
          <p:nvPr/>
        </p:nvSpPr>
        <p:spPr>
          <a:xfrm>
            <a:off x="2120106" y="3513139"/>
            <a:ext cx="7951787" cy="2663824"/>
          </a:xfrm>
          <a:prstGeom prst="rect">
            <a:avLst/>
          </a:prstGeom>
          <a:blipFill>
            <a:blip r:embed="rId1" cstate="print"/>
            <a:stretch>
              <a:fillRect/>
            </a:stretch>
          </a:blipFill>
        </p:spPr>
        <p:txBody>
          <a:bodyPr wrap="square" lIns="0" tIns="0" rIns="0" bIns="0" rtlCol="0"/>
          <a:lstStyle/>
          <a:p/>
        </p:txBody>
      </p:sp>
    </p:spTree>
  </p:cSld>
  <p:clrMapOvr>
    <a:masterClrMapping/>
  </p:clrMapOvr>
  <mc:AlternateContent xmlns:mc="http://schemas.openxmlformats.org/markup-compatibility/2006">
    <mc:Choice xmlns:p14="http://schemas.microsoft.com/office/powerpoint/2010/main" Requires="p14">
      <p:transition spd="slow" p14:dur="2000" advTm="30420"/>
    </mc:Choice>
    <mc:Fallback>
      <p:transition spd="slow" advTm="30420"/>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区分接口与实现</a:t>
            </a:r>
            <a:endParaRPr lang="zh-CN" altLang="en-US" dirty="0"/>
          </a:p>
        </p:txBody>
      </p:sp>
      <p:sp>
        <p:nvSpPr>
          <p:cNvPr id="3" name="内容占位符 2"/>
          <p:cNvSpPr>
            <a:spLocks noGrp="1"/>
          </p:cNvSpPr>
          <p:nvPr>
            <p:ph idx="1"/>
          </p:nvPr>
        </p:nvSpPr>
        <p:spPr/>
        <p:txBody>
          <a:bodyPr/>
          <a:lstStyle/>
          <a:p>
            <a:r>
              <a:rPr lang="zh-CN" altLang="en-US" dirty="0">
                <a:solidFill>
                  <a:srgbClr val="C00000"/>
                </a:solidFill>
              </a:rPr>
              <a:t>接口的标准化 </a:t>
            </a:r>
            <a:r>
              <a:rPr lang="en-US" altLang="zh-CN" dirty="0"/>
              <a:t>vs. </a:t>
            </a:r>
            <a:r>
              <a:rPr lang="zh-CN" altLang="en-US" dirty="0">
                <a:solidFill>
                  <a:srgbClr val="C00000"/>
                </a:solidFill>
              </a:rPr>
              <a:t>实现的演化</a:t>
            </a:r>
            <a:endParaRPr lang="zh-CN" altLang="en-US" dirty="0">
              <a:solidFill>
                <a:srgbClr val="C00000"/>
              </a:solidFill>
            </a:endParaRPr>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grpSp>
        <p:nvGrpSpPr>
          <p:cNvPr id="8" name="组合 7"/>
          <p:cNvGrpSpPr/>
          <p:nvPr/>
        </p:nvGrpSpPr>
        <p:grpSpPr>
          <a:xfrm>
            <a:off x="346559" y="2307866"/>
            <a:ext cx="11498882" cy="4075112"/>
            <a:chOff x="479375" y="1988840"/>
            <a:chExt cx="11498882" cy="4075112"/>
          </a:xfrm>
        </p:grpSpPr>
        <p:sp>
          <p:nvSpPr>
            <p:cNvPr id="9" name="object 4"/>
            <p:cNvSpPr/>
            <p:nvPr/>
          </p:nvSpPr>
          <p:spPr>
            <a:xfrm>
              <a:off x="479375" y="1988840"/>
              <a:ext cx="5524499" cy="4075112"/>
            </a:xfrm>
            <a:prstGeom prst="rect">
              <a:avLst/>
            </a:prstGeom>
            <a:blipFill>
              <a:blip r:embed="rId1" cstate="print"/>
              <a:stretch>
                <a:fillRect/>
              </a:stretch>
            </a:blipFill>
          </p:spPr>
          <p:txBody>
            <a:bodyPr wrap="square" lIns="0" tIns="0" rIns="0" bIns="0" rtlCol="0"/>
            <a:lstStyle/>
            <a:p/>
          </p:txBody>
        </p:sp>
        <p:sp>
          <p:nvSpPr>
            <p:cNvPr id="10" name="object 5"/>
            <p:cNvSpPr txBox="1"/>
            <p:nvPr/>
          </p:nvSpPr>
          <p:spPr>
            <a:xfrm>
              <a:off x="6168007" y="1988840"/>
              <a:ext cx="5810250" cy="1929130"/>
            </a:xfrm>
            <a:prstGeom prst="rect">
              <a:avLst/>
            </a:prstGeom>
            <a:solidFill>
              <a:srgbClr val="CD665F"/>
            </a:solidFill>
            <a:ln w="12699">
              <a:solidFill>
                <a:srgbClr val="5185AC"/>
              </a:solidFill>
            </a:ln>
          </p:spPr>
          <p:txBody>
            <a:bodyPr vert="horz" wrap="square" lIns="0" tIns="635" rIns="0" bIns="0" rtlCol="0">
              <a:spAutoFit/>
            </a:bodyPr>
            <a:lstStyle/>
            <a:p>
              <a:pPr>
                <a:lnSpc>
                  <a:spcPct val="100000"/>
                </a:lnSpc>
                <a:spcBef>
                  <a:spcPts val="5"/>
                </a:spcBef>
              </a:pPr>
              <a:endParaRPr sz="1900">
                <a:latin typeface="Times New Roman" panose="02020603050405020304"/>
                <a:cs typeface="Times New Roman" panose="02020603050405020304"/>
              </a:endParaRPr>
            </a:p>
            <a:p>
              <a:pPr marL="91440">
                <a:lnSpc>
                  <a:spcPts val="2130"/>
                </a:lnSpc>
              </a:pPr>
              <a:r>
                <a:rPr sz="1800" dirty="0">
                  <a:solidFill>
                    <a:srgbClr val="FFFFFF"/>
                  </a:solidFill>
                  <a:latin typeface="Franklin Gothic Book" panose="020B0503020102020204"/>
                  <a:cs typeface="Franklin Gothic Book" panose="020B0503020102020204"/>
                </a:rPr>
                <a:t>public </a:t>
              </a:r>
              <a:r>
                <a:rPr sz="1800" spc="-10" dirty="0">
                  <a:solidFill>
                    <a:srgbClr val="FFFFFF"/>
                  </a:solidFill>
                  <a:latin typeface="Franklin Gothic Book" panose="020B0503020102020204"/>
                  <a:cs typeface="Franklin Gothic Book" panose="020B0503020102020204"/>
                </a:rPr>
                <a:t>void </a:t>
              </a:r>
              <a:r>
                <a:rPr sz="1800" spc="-5" dirty="0">
                  <a:solidFill>
                    <a:srgbClr val="FFFFFF"/>
                  </a:solidFill>
                  <a:latin typeface="Franklin Gothic Book" panose="020B0503020102020204"/>
                  <a:cs typeface="Franklin Gothic Book" panose="020B0503020102020204"/>
                </a:rPr>
                <a:t>open(string name)</a:t>
              </a:r>
              <a:r>
                <a:rPr sz="1800" spc="10" dirty="0">
                  <a:solidFill>
                    <a:srgbClr val="FFFFFF"/>
                  </a:solidFill>
                  <a:latin typeface="Franklin Gothic Book" panose="020B0503020102020204"/>
                  <a:cs typeface="Franklin Gothic Book" panose="020B0503020102020204"/>
                </a:rPr>
                <a:t> </a:t>
              </a:r>
              <a:r>
                <a:rPr sz="1800" dirty="0">
                  <a:solidFill>
                    <a:srgbClr val="FFFFFF"/>
                  </a:solidFill>
                  <a:latin typeface="Franklin Gothic Book" panose="020B0503020102020204"/>
                  <a:cs typeface="Franklin Gothic Book" panose="020B0503020102020204"/>
                </a:rPr>
                <a:t>{</a:t>
              </a:r>
              <a:endParaRPr sz="1800">
                <a:latin typeface="Franklin Gothic Book" panose="020B0503020102020204"/>
                <a:cs typeface="Franklin Gothic Book" panose="020B0503020102020204"/>
              </a:endParaRPr>
            </a:p>
            <a:p>
              <a:pPr marL="91440">
                <a:lnSpc>
                  <a:spcPts val="2130"/>
                </a:lnSpc>
              </a:pPr>
              <a:r>
                <a:rPr sz="1800" dirty="0">
                  <a:solidFill>
                    <a:srgbClr val="FFFFFF"/>
                  </a:solidFill>
                  <a:latin typeface="Franklin Gothic Book" panose="020B0503020102020204"/>
                  <a:cs typeface="Franklin Gothic Book" panose="020B0503020102020204"/>
                </a:rPr>
                <a:t>/* </a:t>
              </a:r>
              <a:r>
                <a:rPr sz="1800" spc="-5" dirty="0">
                  <a:solidFill>
                    <a:srgbClr val="FFFFFF"/>
                  </a:solidFill>
                  <a:latin typeface="Franklin Gothic Book" panose="020B0503020102020204"/>
                  <a:cs typeface="Franklin Gothic Book" panose="020B0503020102020204"/>
                </a:rPr>
                <a:t>some </a:t>
              </a:r>
              <a:r>
                <a:rPr sz="1800" dirty="0">
                  <a:solidFill>
                    <a:srgbClr val="FFFFFF"/>
                  </a:solidFill>
                  <a:latin typeface="Franklin Gothic Book" panose="020B0503020102020204"/>
                  <a:cs typeface="Franklin Gothic Book" panose="020B0503020102020204"/>
                </a:rPr>
                <a:t>application-specific </a:t>
              </a:r>
              <a:r>
                <a:rPr sz="1800" spc="-5" dirty="0">
                  <a:solidFill>
                    <a:srgbClr val="FFFFFF"/>
                  </a:solidFill>
                  <a:latin typeface="Franklin Gothic Book" panose="020B0503020102020204"/>
                  <a:cs typeface="Franklin Gothic Book" panose="020B0503020102020204"/>
                </a:rPr>
                <a:t>processing</a:t>
              </a:r>
              <a:r>
                <a:rPr sz="1800" spc="-10" dirty="0">
                  <a:solidFill>
                    <a:srgbClr val="FFFFFF"/>
                  </a:solidFill>
                  <a:latin typeface="Franklin Gothic Book" panose="020B0503020102020204"/>
                  <a:cs typeface="Franklin Gothic Book" panose="020B0503020102020204"/>
                </a:rPr>
                <a:t> </a:t>
              </a:r>
              <a:r>
                <a:rPr sz="1800" dirty="0">
                  <a:solidFill>
                    <a:srgbClr val="FFFFFF"/>
                  </a:solidFill>
                  <a:latin typeface="Franklin Gothic Book" panose="020B0503020102020204"/>
                  <a:cs typeface="Franklin Gothic Book" panose="020B0503020102020204"/>
                </a:rPr>
                <a:t>*/</a:t>
              </a:r>
              <a:endParaRPr sz="1800">
                <a:latin typeface="Franklin Gothic Book" panose="020B0503020102020204"/>
                <a:cs typeface="Franklin Gothic Book" panose="020B0503020102020204"/>
              </a:endParaRPr>
            </a:p>
            <a:p>
              <a:pPr marL="91440">
                <a:lnSpc>
                  <a:spcPts val="2130"/>
                </a:lnSpc>
                <a:spcBef>
                  <a:spcPts val="40"/>
                </a:spcBef>
              </a:pPr>
              <a:r>
                <a:rPr sz="1800" dirty="0">
                  <a:solidFill>
                    <a:srgbClr val="FFFFFF"/>
                  </a:solidFill>
                  <a:latin typeface="Franklin Gothic Book" panose="020B0503020102020204"/>
                  <a:cs typeface="Franklin Gothic Book" panose="020B0503020102020204"/>
                </a:rPr>
                <a:t>/* call </a:t>
              </a:r>
              <a:r>
                <a:rPr sz="1800" spc="-5" dirty="0">
                  <a:solidFill>
                    <a:srgbClr val="FFFFFF"/>
                  </a:solidFill>
                  <a:latin typeface="Franklin Gothic Book" panose="020B0503020102020204"/>
                  <a:cs typeface="Franklin Gothic Book" panose="020B0503020102020204"/>
                </a:rPr>
                <a:t>the </a:t>
              </a:r>
              <a:r>
                <a:rPr sz="1800" dirty="0">
                  <a:solidFill>
                    <a:srgbClr val="FFFFFF"/>
                  </a:solidFill>
                  <a:latin typeface="Franklin Gothic Book" panose="020B0503020102020204"/>
                  <a:cs typeface="Franklin Gothic Book" panose="020B0503020102020204"/>
                </a:rPr>
                <a:t>Oracle </a:t>
              </a:r>
              <a:r>
                <a:rPr sz="1800" spc="-5" dirty="0">
                  <a:solidFill>
                    <a:srgbClr val="FFFFFF"/>
                  </a:solidFill>
                  <a:latin typeface="Franklin Gothic Book" panose="020B0503020102020204"/>
                  <a:cs typeface="Franklin Gothic Book" panose="020B0503020102020204"/>
                </a:rPr>
                <a:t>API </a:t>
              </a:r>
              <a:r>
                <a:rPr sz="1800" spc="-15" dirty="0">
                  <a:solidFill>
                    <a:srgbClr val="FFFFFF"/>
                  </a:solidFill>
                  <a:latin typeface="Franklin Gothic Book" panose="020B0503020102020204"/>
                  <a:cs typeface="Franklin Gothic Book" panose="020B0503020102020204"/>
                </a:rPr>
                <a:t>to </a:t>
              </a:r>
              <a:r>
                <a:rPr sz="1800" spc="-5" dirty="0">
                  <a:solidFill>
                    <a:srgbClr val="FFFFFF"/>
                  </a:solidFill>
                  <a:latin typeface="Franklin Gothic Book" panose="020B0503020102020204"/>
                  <a:cs typeface="Franklin Gothic Book" panose="020B0503020102020204"/>
                </a:rPr>
                <a:t>open the </a:t>
              </a:r>
              <a:r>
                <a:rPr sz="1800" dirty="0">
                  <a:solidFill>
                    <a:srgbClr val="FFFFFF"/>
                  </a:solidFill>
                  <a:latin typeface="Franklin Gothic Book" panose="020B0503020102020204"/>
                  <a:cs typeface="Franklin Gothic Book" panose="020B0503020102020204"/>
                </a:rPr>
                <a:t>DB*/</a:t>
              </a:r>
              <a:endParaRPr sz="1800">
                <a:latin typeface="Franklin Gothic Book" panose="020B0503020102020204"/>
                <a:cs typeface="Franklin Gothic Book" panose="020B0503020102020204"/>
              </a:endParaRPr>
            </a:p>
            <a:p>
              <a:pPr marL="91440">
                <a:lnSpc>
                  <a:spcPts val="2130"/>
                </a:lnSpc>
              </a:pPr>
              <a:r>
                <a:rPr sz="1800" dirty="0">
                  <a:solidFill>
                    <a:srgbClr val="FFFFFF"/>
                  </a:solidFill>
                  <a:latin typeface="Franklin Gothic Book" panose="020B0503020102020204"/>
                  <a:cs typeface="Franklin Gothic Book" panose="020B0503020102020204"/>
                </a:rPr>
                <a:t>/* </a:t>
              </a:r>
              <a:r>
                <a:rPr sz="1800" spc="-5" dirty="0">
                  <a:solidFill>
                    <a:srgbClr val="FFFFFF"/>
                  </a:solidFill>
                  <a:latin typeface="Franklin Gothic Book" panose="020B0503020102020204"/>
                  <a:cs typeface="Franklin Gothic Book" panose="020B0503020102020204"/>
                </a:rPr>
                <a:t>more application </a:t>
              </a:r>
              <a:r>
                <a:rPr sz="1800" dirty="0">
                  <a:solidFill>
                    <a:srgbClr val="FFFFFF"/>
                  </a:solidFill>
                  <a:latin typeface="Franklin Gothic Book" panose="020B0503020102020204"/>
                  <a:cs typeface="Franklin Gothic Book" panose="020B0503020102020204"/>
                </a:rPr>
                <a:t>specific </a:t>
              </a:r>
              <a:r>
                <a:rPr sz="1800" spc="-5" dirty="0">
                  <a:solidFill>
                    <a:srgbClr val="FFFFFF"/>
                  </a:solidFill>
                  <a:latin typeface="Franklin Gothic Book" panose="020B0503020102020204"/>
                  <a:cs typeface="Franklin Gothic Book" panose="020B0503020102020204"/>
                </a:rPr>
                <a:t>processing</a:t>
              </a:r>
              <a:r>
                <a:rPr sz="1800" spc="5" dirty="0">
                  <a:solidFill>
                    <a:srgbClr val="FFFFFF"/>
                  </a:solidFill>
                  <a:latin typeface="Franklin Gothic Book" panose="020B0503020102020204"/>
                  <a:cs typeface="Franklin Gothic Book" panose="020B0503020102020204"/>
                </a:rPr>
                <a:t> </a:t>
              </a:r>
              <a:r>
                <a:rPr sz="1800" dirty="0">
                  <a:solidFill>
                    <a:srgbClr val="FFFFFF"/>
                  </a:solidFill>
                  <a:latin typeface="Franklin Gothic Book" panose="020B0503020102020204"/>
                  <a:cs typeface="Franklin Gothic Book" panose="020B0503020102020204"/>
                </a:rPr>
                <a:t>*/</a:t>
              </a:r>
              <a:endParaRPr sz="1800">
                <a:latin typeface="Franklin Gothic Book" panose="020B0503020102020204"/>
                <a:cs typeface="Franklin Gothic Book" panose="020B0503020102020204"/>
              </a:endParaRPr>
            </a:p>
            <a:p>
              <a:pPr marL="91440">
                <a:lnSpc>
                  <a:spcPct val="100000"/>
                </a:lnSpc>
                <a:spcBef>
                  <a:spcPts val="40"/>
                </a:spcBef>
              </a:pPr>
              <a:r>
                <a:rPr sz="1800" dirty="0">
                  <a:solidFill>
                    <a:srgbClr val="FFFFFF"/>
                  </a:solidFill>
                  <a:latin typeface="Franklin Gothic Book" panose="020B0503020102020204"/>
                  <a:cs typeface="Franklin Gothic Book" panose="020B0503020102020204"/>
                </a:rPr>
                <a:t>}</a:t>
              </a:r>
              <a:endParaRPr sz="1800">
                <a:latin typeface="Franklin Gothic Book" panose="020B0503020102020204"/>
                <a:cs typeface="Franklin Gothic Book" panose="020B0503020102020204"/>
              </a:endParaRPr>
            </a:p>
          </p:txBody>
        </p:sp>
        <p:sp>
          <p:nvSpPr>
            <p:cNvPr id="11" name="object 6"/>
            <p:cNvSpPr/>
            <p:nvPr/>
          </p:nvSpPr>
          <p:spPr>
            <a:xfrm>
              <a:off x="6168007" y="4077072"/>
              <a:ext cx="5810250" cy="1929130"/>
            </a:xfrm>
            <a:custGeom>
              <a:avLst/>
              <a:gdLst/>
              <a:ahLst/>
              <a:cxnLst/>
              <a:rect l="l" t="t" r="r" b="b"/>
              <a:pathLst>
                <a:path w="5810250" h="1929129">
                  <a:moveTo>
                    <a:pt x="0" y="0"/>
                  </a:moveTo>
                  <a:lnTo>
                    <a:pt x="5810248" y="0"/>
                  </a:lnTo>
                  <a:lnTo>
                    <a:pt x="5810248" y="1928811"/>
                  </a:lnTo>
                  <a:lnTo>
                    <a:pt x="0" y="1928811"/>
                  </a:lnTo>
                  <a:lnTo>
                    <a:pt x="0" y="0"/>
                  </a:lnTo>
                  <a:close/>
                </a:path>
              </a:pathLst>
            </a:custGeom>
            <a:solidFill>
              <a:srgbClr val="AA7CA9"/>
            </a:solidFill>
          </p:spPr>
          <p:txBody>
            <a:bodyPr wrap="square" lIns="0" tIns="0" rIns="0" bIns="0" rtlCol="0"/>
            <a:lstStyle/>
            <a:p/>
          </p:txBody>
        </p:sp>
        <p:sp>
          <p:nvSpPr>
            <p:cNvPr id="12" name="object 7"/>
            <p:cNvSpPr txBox="1"/>
            <p:nvPr/>
          </p:nvSpPr>
          <p:spPr>
            <a:xfrm>
              <a:off x="6168007" y="4077072"/>
              <a:ext cx="5810250" cy="1929130"/>
            </a:xfrm>
            <a:prstGeom prst="rect">
              <a:avLst/>
            </a:prstGeom>
            <a:ln w="12699">
              <a:solidFill>
                <a:srgbClr val="5185AC"/>
              </a:solidFill>
            </a:ln>
          </p:spPr>
          <p:txBody>
            <a:bodyPr vert="horz" wrap="square" lIns="0" tIns="635" rIns="0" bIns="0" rtlCol="0">
              <a:spAutoFit/>
            </a:bodyPr>
            <a:lstStyle/>
            <a:p>
              <a:pPr>
                <a:lnSpc>
                  <a:spcPct val="100000"/>
                </a:lnSpc>
                <a:spcBef>
                  <a:spcPts val="5"/>
                </a:spcBef>
              </a:pPr>
              <a:endParaRPr sz="1900">
                <a:latin typeface="Times New Roman" panose="02020603050405020304"/>
                <a:cs typeface="Times New Roman" panose="02020603050405020304"/>
              </a:endParaRPr>
            </a:p>
            <a:p>
              <a:pPr marL="91440">
                <a:lnSpc>
                  <a:spcPts val="2130"/>
                </a:lnSpc>
              </a:pPr>
              <a:r>
                <a:rPr sz="1800" dirty="0">
                  <a:solidFill>
                    <a:srgbClr val="FFFFFF"/>
                  </a:solidFill>
                  <a:latin typeface="Franklin Gothic Book" panose="020B0503020102020204"/>
                  <a:cs typeface="Franklin Gothic Book" panose="020B0503020102020204"/>
                </a:rPr>
                <a:t>public </a:t>
              </a:r>
              <a:r>
                <a:rPr sz="1800" spc="-10" dirty="0">
                  <a:solidFill>
                    <a:srgbClr val="FFFFFF"/>
                  </a:solidFill>
                  <a:latin typeface="Franklin Gothic Book" panose="020B0503020102020204"/>
                  <a:cs typeface="Franklin Gothic Book" panose="020B0503020102020204"/>
                </a:rPr>
                <a:t>void </a:t>
              </a:r>
              <a:r>
                <a:rPr sz="1800" spc="-5" dirty="0">
                  <a:solidFill>
                    <a:srgbClr val="FFFFFF"/>
                  </a:solidFill>
                  <a:latin typeface="Franklin Gothic Book" panose="020B0503020102020204"/>
                  <a:cs typeface="Franklin Gothic Book" panose="020B0503020102020204"/>
                </a:rPr>
                <a:t>open(string name)</a:t>
              </a:r>
              <a:r>
                <a:rPr sz="1800" spc="10" dirty="0">
                  <a:solidFill>
                    <a:srgbClr val="FFFFFF"/>
                  </a:solidFill>
                  <a:latin typeface="Franklin Gothic Book" panose="020B0503020102020204"/>
                  <a:cs typeface="Franklin Gothic Book" panose="020B0503020102020204"/>
                </a:rPr>
                <a:t> </a:t>
              </a:r>
              <a:r>
                <a:rPr sz="1800" dirty="0">
                  <a:solidFill>
                    <a:srgbClr val="FFFFFF"/>
                  </a:solidFill>
                  <a:latin typeface="Franklin Gothic Book" panose="020B0503020102020204"/>
                  <a:cs typeface="Franklin Gothic Book" panose="020B0503020102020204"/>
                </a:rPr>
                <a:t>{</a:t>
              </a:r>
              <a:endParaRPr sz="1800">
                <a:latin typeface="Franklin Gothic Book" panose="020B0503020102020204"/>
                <a:cs typeface="Franklin Gothic Book" panose="020B0503020102020204"/>
              </a:endParaRPr>
            </a:p>
            <a:p>
              <a:pPr marL="91440">
                <a:lnSpc>
                  <a:spcPts val="2130"/>
                </a:lnSpc>
              </a:pPr>
              <a:r>
                <a:rPr sz="1800" dirty="0">
                  <a:solidFill>
                    <a:srgbClr val="FFFFFF"/>
                  </a:solidFill>
                  <a:latin typeface="Franklin Gothic Book" panose="020B0503020102020204"/>
                  <a:cs typeface="Franklin Gothic Book" panose="020B0503020102020204"/>
                </a:rPr>
                <a:t>/* </a:t>
              </a:r>
              <a:r>
                <a:rPr sz="1800" spc="-5" dirty="0">
                  <a:solidFill>
                    <a:srgbClr val="FFFFFF"/>
                  </a:solidFill>
                  <a:latin typeface="Franklin Gothic Book" panose="020B0503020102020204"/>
                  <a:cs typeface="Franklin Gothic Book" panose="020B0503020102020204"/>
                </a:rPr>
                <a:t>some </a:t>
              </a:r>
              <a:r>
                <a:rPr sz="1800" dirty="0">
                  <a:solidFill>
                    <a:srgbClr val="FFFFFF"/>
                  </a:solidFill>
                  <a:latin typeface="Franklin Gothic Book" panose="020B0503020102020204"/>
                  <a:cs typeface="Franklin Gothic Book" panose="020B0503020102020204"/>
                </a:rPr>
                <a:t>application-specific </a:t>
              </a:r>
              <a:r>
                <a:rPr sz="1800" spc="-5" dirty="0">
                  <a:solidFill>
                    <a:srgbClr val="FFFFFF"/>
                  </a:solidFill>
                  <a:latin typeface="Franklin Gothic Book" panose="020B0503020102020204"/>
                  <a:cs typeface="Franklin Gothic Book" panose="020B0503020102020204"/>
                </a:rPr>
                <a:t>processing</a:t>
              </a:r>
              <a:r>
                <a:rPr sz="1800" spc="-10" dirty="0">
                  <a:solidFill>
                    <a:srgbClr val="FFFFFF"/>
                  </a:solidFill>
                  <a:latin typeface="Franklin Gothic Book" panose="020B0503020102020204"/>
                  <a:cs typeface="Franklin Gothic Book" panose="020B0503020102020204"/>
                </a:rPr>
                <a:t> </a:t>
              </a:r>
              <a:r>
                <a:rPr sz="1800" dirty="0">
                  <a:solidFill>
                    <a:srgbClr val="FFFFFF"/>
                  </a:solidFill>
                  <a:latin typeface="Franklin Gothic Book" panose="020B0503020102020204"/>
                  <a:cs typeface="Franklin Gothic Book" panose="020B0503020102020204"/>
                </a:rPr>
                <a:t>*/</a:t>
              </a:r>
              <a:endParaRPr sz="1800">
                <a:latin typeface="Franklin Gothic Book" panose="020B0503020102020204"/>
                <a:cs typeface="Franklin Gothic Book" panose="020B0503020102020204"/>
              </a:endParaRPr>
            </a:p>
            <a:p>
              <a:pPr marL="91440">
                <a:lnSpc>
                  <a:spcPts val="2130"/>
                </a:lnSpc>
                <a:spcBef>
                  <a:spcPts val="40"/>
                </a:spcBef>
              </a:pPr>
              <a:r>
                <a:rPr sz="1800" dirty="0">
                  <a:solidFill>
                    <a:srgbClr val="FFFFFF"/>
                  </a:solidFill>
                  <a:latin typeface="Franklin Gothic Book" panose="020B0503020102020204"/>
                  <a:cs typeface="Franklin Gothic Book" panose="020B0503020102020204"/>
                </a:rPr>
                <a:t>/* call </a:t>
              </a:r>
              <a:r>
                <a:rPr sz="1800" spc="-5" dirty="0">
                  <a:solidFill>
                    <a:srgbClr val="FFFFFF"/>
                  </a:solidFill>
                  <a:latin typeface="Franklin Gothic Book" panose="020B0503020102020204"/>
                  <a:cs typeface="Franklin Gothic Book" panose="020B0503020102020204"/>
                </a:rPr>
                <a:t>the </a:t>
              </a:r>
              <a:r>
                <a:rPr sz="1800" spc="-10" dirty="0">
                  <a:solidFill>
                    <a:srgbClr val="FFFFFF"/>
                  </a:solidFill>
                  <a:latin typeface="Franklin Gothic Book" panose="020B0503020102020204"/>
                  <a:cs typeface="Franklin Gothic Book" panose="020B0503020102020204"/>
                </a:rPr>
                <a:t>SQLAnywhere </a:t>
              </a:r>
              <a:r>
                <a:rPr sz="1800" spc="-15" dirty="0">
                  <a:solidFill>
                    <a:srgbClr val="FFFFFF"/>
                  </a:solidFill>
                  <a:latin typeface="Franklin Gothic Book" panose="020B0503020102020204"/>
                  <a:cs typeface="Franklin Gothic Book" panose="020B0503020102020204"/>
                </a:rPr>
                <a:t>to </a:t>
              </a:r>
              <a:r>
                <a:rPr sz="1800" spc="-5" dirty="0">
                  <a:solidFill>
                    <a:srgbClr val="FFFFFF"/>
                  </a:solidFill>
                  <a:latin typeface="Franklin Gothic Book" panose="020B0503020102020204"/>
                  <a:cs typeface="Franklin Gothic Book" panose="020B0503020102020204"/>
                </a:rPr>
                <a:t>open the</a:t>
              </a:r>
              <a:r>
                <a:rPr sz="1800" dirty="0">
                  <a:solidFill>
                    <a:srgbClr val="FFFFFF"/>
                  </a:solidFill>
                  <a:latin typeface="Franklin Gothic Book" panose="020B0503020102020204"/>
                  <a:cs typeface="Franklin Gothic Book" panose="020B0503020102020204"/>
                </a:rPr>
                <a:t> DB*/</a:t>
              </a:r>
              <a:endParaRPr sz="1800">
                <a:latin typeface="Franklin Gothic Book" panose="020B0503020102020204"/>
                <a:cs typeface="Franklin Gothic Book" panose="020B0503020102020204"/>
              </a:endParaRPr>
            </a:p>
            <a:p>
              <a:pPr marL="91440">
                <a:lnSpc>
                  <a:spcPts val="2130"/>
                </a:lnSpc>
              </a:pPr>
              <a:r>
                <a:rPr sz="1800" dirty="0">
                  <a:solidFill>
                    <a:srgbClr val="FFFFFF"/>
                  </a:solidFill>
                  <a:latin typeface="Franklin Gothic Book" panose="020B0503020102020204"/>
                  <a:cs typeface="Franklin Gothic Book" panose="020B0503020102020204"/>
                </a:rPr>
                <a:t>/* </a:t>
              </a:r>
              <a:r>
                <a:rPr sz="1800" spc="-5" dirty="0">
                  <a:solidFill>
                    <a:srgbClr val="FFFFFF"/>
                  </a:solidFill>
                  <a:latin typeface="Franklin Gothic Book" panose="020B0503020102020204"/>
                  <a:cs typeface="Franklin Gothic Book" panose="020B0503020102020204"/>
                </a:rPr>
                <a:t>more application </a:t>
              </a:r>
              <a:r>
                <a:rPr sz="1800" dirty="0">
                  <a:solidFill>
                    <a:srgbClr val="FFFFFF"/>
                  </a:solidFill>
                  <a:latin typeface="Franklin Gothic Book" panose="020B0503020102020204"/>
                  <a:cs typeface="Franklin Gothic Book" panose="020B0503020102020204"/>
                </a:rPr>
                <a:t>specific </a:t>
              </a:r>
              <a:r>
                <a:rPr sz="1800" spc="-5" dirty="0">
                  <a:solidFill>
                    <a:srgbClr val="FFFFFF"/>
                  </a:solidFill>
                  <a:latin typeface="Franklin Gothic Book" panose="020B0503020102020204"/>
                  <a:cs typeface="Franklin Gothic Book" panose="020B0503020102020204"/>
                </a:rPr>
                <a:t>processing </a:t>
              </a:r>
              <a:r>
                <a:rPr sz="1800" dirty="0">
                  <a:solidFill>
                    <a:srgbClr val="FFFFFF"/>
                  </a:solidFill>
                  <a:latin typeface="Franklin Gothic Book" panose="020B0503020102020204"/>
                  <a:cs typeface="Franklin Gothic Book" panose="020B0503020102020204"/>
                </a:rPr>
                <a:t>*/</a:t>
              </a:r>
              <a:endParaRPr sz="1800">
                <a:latin typeface="Franklin Gothic Book" panose="020B0503020102020204"/>
                <a:cs typeface="Franklin Gothic Book" panose="020B0503020102020204"/>
              </a:endParaRPr>
            </a:p>
            <a:p>
              <a:pPr marL="91440">
                <a:lnSpc>
                  <a:spcPct val="100000"/>
                </a:lnSpc>
                <a:spcBef>
                  <a:spcPts val="40"/>
                </a:spcBef>
              </a:pPr>
              <a:r>
                <a:rPr sz="1800" dirty="0">
                  <a:solidFill>
                    <a:srgbClr val="FFFFFF"/>
                  </a:solidFill>
                  <a:latin typeface="Franklin Gothic Book" panose="020B0503020102020204"/>
                  <a:cs typeface="Franklin Gothic Book" panose="020B0503020102020204"/>
                </a:rPr>
                <a:t>}</a:t>
              </a:r>
              <a:endParaRPr sz="1800">
                <a:latin typeface="Franklin Gothic Book" panose="020B0503020102020204"/>
                <a:cs typeface="Franklin Gothic Book" panose="020B0503020102020204"/>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67642"/>
    </mc:Choice>
    <mc:Fallback>
      <p:transition spd="slow" advTm="67642"/>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接口</a:t>
            </a:r>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grpSp>
        <p:nvGrpSpPr>
          <p:cNvPr id="5" name="组合 4"/>
          <p:cNvGrpSpPr/>
          <p:nvPr/>
        </p:nvGrpSpPr>
        <p:grpSpPr>
          <a:xfrm>
            <a:off x="2428876" y="1690688"/>
            <a:ext cx="7334248" cy="4292600"/>
            <a:chOff x="2571750" y="1350964"/>
            <a:chExt cx="7334248" cy="4292600"/>
          </a:xfrm>
        </p:grpSpPr>
        <p:sp>
          <p:nvSpPr>
            <p:cNvPr id="6" name="object 3"/>
            <p:cNvSpPr/>
            <p:nvPr/>
          </p:nvSpPr>
          <p:spPr>
            <a:xfrm>
              <a:off x="6280148" y="1350964"/>
              <a:ext cx="2255837" cy="1504208"/>
            </a:xfrm>
            <a:prstGeom prst="rect">
              <a:avLst/>
            </a:prstGeom>
            <a:blipFill>
              <a:blip r:embed="rId1" cstate="print"/>
              <a:stretch>
                <a:fillRect/>
              </a:stretch>
            </a:blipFill>
          </p:spPr>
          <p:txBody>
            <a:bodyPr wrap="square" lIns="0" tIns="0" rIns="0" bIns="0" rtlCol="0"/>
            <a:lstStyle/>
            <a:p/>
          </p:txBody>
        </p:sp>
        <p:sp>
          <p:nvSpPr>
            <p:cNvPr id="7" name="object 4"/>
            <p:cNvSpPr/>
            <p:nvPr/>
          </p:nvSpPr>
          <p:spPr>
            <a:xfrm>
              <a:off x="2807331" y="1652456"/>
              <a:ext cx="2342518" cy="1069085"/>
            </a:xfrm>
            <a:prstGeom prst="rect">
              <a:avLst/>
            </a:prstGeom>
            <a:blipFill>
              <a:blip r:embed="rId2" cstate="print"/>
              <a:stretch>
                <a:fillRect/>
              </a:stretch>
            </a:blipFill>
          </p:spPr>
          <p:txBody>
            <a:bodyPr wrap="square" lIns="0" tIns="0" rIns="0" bIns="0" rtlCol="0"/>
            <a:lstStyle/>
            <a:p/>
          </p:txBody>
        </p:sp>
        <p:sp>
          <p:nvSpPr>
            <p:cNvPr id="8" name="object 5"/>
            <p:cNvSpPr txBox="1"/>
            <p:nvPr/>
          </p:nvSpPr>
          <p:spPr>
            <a:xfrm>
              <a:off x="4380865" y="1976978"/>
              <a:ext cx="482600" cy="566821"/>
            </a:xfrm>
            <a:prstGeom prst="rect">
              <a:avLst/>
            </a:prstGeom>
          </p:spPr>
          <p:txBody>
            <a:bodyPr vert="horz" wrap="square" lIns="0" tIns="27939" rIns="0" bIns="0" rtlCol="0">
              <a:spAutoFit/>
            </a:bodyPr>
            <a:lstStyle/>
            <a:p>
              <a:pPr marL="12700" marR="5080">
                <a:lnSpc>
                  <a:spcPts val="2100"/>
                </a:lnSpc>
                <a:spcBef>
                  <a:spcPts val="220"/>
                </a:spcBef>
              </a:pPr>
              <a:r>
                <a:rPr sz="1800" dirty="0">
                  <a:solidFill>
                    <a:srgbClr val="FFFFFF"/>
                  </a:solidFill>
                  <a:latin typeface="华文细黑" panose="02010600040101010101" charset="-122"/>
                  <a:cs typeface="华文细黑" panose="02010600040101010101" charset="-122"/>
                </a:rPr>
                <a:t>用户 代码</a:t>
              </a:r>
              <a:endParaRPr sz="1800" dirty="0">
                <a:latin typeface="华文细黑" panose="02010600040101010101" charset="-122"/>
                <a:cs typeface="华文细黑" panose="02010600040101010101" charset="-122"/>
              </a:endParaRPr>
            </a:p>
          </p:txBody>
        </p:sp>
        <p:sp>
          <p:nvSpPr>
            <p:cNvPr id="9" name="object 6"/>
            <p:cNvSpPr txBox="1"/>
            <p:nvPr/>
          </p:nvSpPr>
          <p:spPr>
            <a:xfrm>
              <a:off x="6438263" y="1578357"/>
              <a:ext cx="939800" cy="289823"/>
            </a:xfrm>
            <a:prstGeom prst="rect">
              <a:avLst/>
            </a:prstGeom>
          </p:spPr>
          <p:txBody>
            <a:bodyPr vert="horz" wrap="square" lIns="0" tIns="12700" rIns="0" bIns="0" rtlCol="0">
              <a:spAutoFit/>
            </a:bodyPr>
            <a:lstStyle/>
            <a:p>
              <a:pPr marL="12700">
                <a:lnSpc>
                  <a:spcPct val="100000"/>
                </a:lnSpc>
                <a:spcBef>
                  <a:spcPts val="100"/>
                </a:spcBef>
              </a:pPr>
              <a:r>
                <a:rPr sz="1800" dirty="0" err="1">
                  <a:solidFill>
                    <a:srgbClr val="FFFFFF"/>
                  </a:solidFill>
                  <a:latin typeface="华文细黑" panose="02010600040101010101" charset="-122"/>
                  <a:cs typeface="华文细黑" panose="02010600040101010101" charset="-122"/>
                </a:rPr>
                <a:t>用户代码</a:t>
              </a:r>
              <a:endParaRPr sz="1800" dirty="0">
                <a:latin typeface="华文细黑" panose="02010600040101010101" charset="-122"/>
                <a:cs typeface="华文细黑" panose="02010600040101010101" charset="-122"/>
              </a:endParaRPr>
            </a:p>
          </p:txBody>
        </p:sp>
        <p:sp>
          <p:nvSpPr>
            <p:cNvPr id="10" name="object 7"/>
            <p:cNvSpPr txBox="1"/>
            <p:nvPr/>
          </p:nvSpPr>
          <p:spPr>
            <a:xfrm>
              <a:off x="4571998" y="3214688"/>
              <a:ext cx="3048000" cy="563616"/>
            </a:xfrm>
            <a:prstGeom prst="rect">
              <a:avLst/>
            </a:prstGeom>
            <a:solidFill>
              <a:srgbClr val="F7BF95"/>
            </a:solidFill>
            <a:ln w="12699">
              <a:solidFill>
                <a:srgbClr val="5185AC"/>
              </a:solidFill>
            </a:ln>
          </p:spPr>
          <p:txBody>
            <a:bodyPr vert="horz" wrap="square" lIns="0" tIns="192405" rIns="0" bIns="0" rtlCol="0">
              <a:spAutoFit/>
            </a:bodyPr>
            <a:lstStyle/>
            <a:p>
              <a:pPr marL="5080" algn="ctr">
                <a:lnSpc>
                  <a:spcPct val="100000"/>
                </a:lnSpc>
                <a:spcBef>
                  <a:spcPts val="1515"/>
                </a:spcBef>
              </a:pPr>
              <a:r>
                <a:rPr sz="2400" b="1" dirty="0" err="1">
                  <a:solidFill>
                    <a:srgbClr val="800000"/>
                  </a:solidFill>
                  <a:latin typeface="微软雅黑" panose="020B0503020204020204" pitchFamily="34" charset="-122"/>
                  <a:cs typeface="微软雅黑" panose="020B0503020204020204" pitchFamily="34" charset="-122"/>
                </a:rPr>
                <a:t>接口</a:t>
              </a:r>
              <a:endParaRPr sz="2400" dirty="0">
                <a:latin typeface="微软雅黑" panose="020B0503020204020204" pitchFamily="34" charset="-122"/>
                <a:cs typeface="微软雅黑" panose="020B0503020204020204" pitchFamily="34" charset="-122"/>
              </a:endParaRPr>
            </a:p>
          </p:txBody>
        </p:sp>
        <p:sp>
          <p:nvSpPr>
            <p:cNvPr id="11" name="object 8"/>
            <p:cNvSpPr/>
            <p:nvPr/>
          </p:nvSpPr>
          <p:spPr>
            <a:xfrm>
              <a:off x="4857748" y="2643188"/>
              <a:ext cx="190500" cy="500380"/>
            </a:xfrm>
            <a:custGeom>
              <a:avLst/>
              <a:gdLst/>
              <a:ahLst/>
              <a:cxnLst/>
              <a:rect l="l" t="t" r="r" b="b"/>
              <a:pathLst>
                <a:path w="190500" h="500380">
                  <a:moveTo>
                    <a:pt x="190500" y="404811"/>
                  </a:moveTo>
                  <a:lnTo>
                    <a:pt x="0" y="404811"/>
                  </a:lnTo>
                  <a:lnTo>
                    <a:pt x="95250" y="500061"/>
                  </a:lnTo>
                  <a:lnTo>
                    <a:pt x="190500" y="404811"/>
                  </a:lnTo>
                  <a:close/>
                </a:path>
                <a:path w="190500" h="500380">
                  <a:moveTo>
                    <a:pt x="142875" y="0"/>
                  </a:moveTo>
                  <a:lnTo>
                    <a:pt x="47625" y="0"/>
                  </a:lnTo>
                  <a:lnTo>
                    <a:pt x="47625" y="404811"/>
                  </a:lnTo>
                  <a:lnTo>
                    <a:pt x="142875" y="404811"/>
                  </a:lnTo>
                  <a:lnTo>
                    <a:pt x="142875" y="0"/>
                  </a:lnTo>
                  <a:close/>
                </a:path>
              </a:pathLst>
            </a:custGeom>
            <a:solidFill>
              <a:srgbClr val="6CACDD"/>
            </a:solidFill>
          </p:spPr>
          <p:txBody>
            <a:bodyPr wrap="square" lIns="0" tIns="0" rIns="0" bIns="0" rtlCol="0"/>
            <a:lstStyle/>
            <a:p/>
          </p:txBody>
        </p:sp>
        <p:sp>
          <p:nvSpPr>
            <p:cNvPr id="12" name="object 9"/>
            <p:cNvSpPr/>
            <p:nvPr/>
          </p:nvSpPr>
          <p:spPr>
            <a:xfrm>
              <a:off x="4857748" y="2643188"/>
              <a:ext cx="190500" cy="500380"/>
            </a:xfrm>
            <a:custGeom>
              <a:avLst/>
              <a:gdLst/>
              <a:ahLst/>
              <a:cxnLst/>
              <a:rect l="l" t="t" r="r" b="b"/>
              <a:pathLst>
                <a:path w="190500" h="500380">
                  <a:moveTo>
                    <a:pt x="0" y="404812"/>
                  </a:moveTo>
                  <a:lnTo>
                    <a:pt x="47624" y="404812"/>
                  </a:lnTo>
                  <a:lnTo>
                    <a:pt x="47624" y="0"/>
                  </a:lnTo>
                  <a:lnTo>
                    <a:pt x="142874" y="0"/>
                  </a:lnTo>
                  <a:lnTo>
                    <a:pt x="142874" y="404812"/>
                  </a:lnTo>
                  <a:lnTo>
                    <a:pt x="190499" y="404812"/>
                  </a:lnTo>
                  <a:lnTo>
                    <a:pt x="95249" y="500061"/>
                  </a:lnTo>
                  <a:lnTo>
                    <a:pt x="0" y="404812"/>
                  </a:lnTo>
                  <a:close/>
                </a:path>
              </a:pathLst>
            </a:custGeom>
            <a:ln w="12699">
              <a:solidFill>
                <a:srgbClr val="5185AC"/>
              </a:solidFill>
            </a:ln>
          </p:spPr>
          <p:txBody>
            <a:bodyPr wrap="square" lIns="0" tIns="0" rIns="0" bIns="0" rtlCol="0"/>
            <a:lstStyle/>
            <a:p/>
          </p:txBody>
        </p:sp>
        <p:sp>
          <p:nvSpPr>
            <p:cNvPr id="13" name="object 10"/>
            <p:cNvSpPr/>
            <p:nvPr/>
          </p:nvSpPr>
          <p:spPr>
            <a:xfrm>
              <a:off x="6476998" y="2143125"/>
              <a:ext cx="190500" cy="1000125"/>
            </a:xfrm>
            <a:custGeom>
              <a:avLst/>
              <a:gdLst/>
              <a:ahLst/>
              <a:cxnLst/>
              <a:rect l="l" t="t" r="r" b="b"/>
              <a:pathLst>
                <a:path w="190500" h="1000125">
                  <a:moveTo>
                    <a:pt x="190500" y="904875"/>
                  </a:moveTo>
                  <a:lnTo>
                    <a:pt x="0" y="904875"/>
                  </a:lnTo>
                  <a:lnTo>
                    <a:pt x="95250" y="1000125"/>
                  </a:lnTo>
                  <a:lnTo>
                    <a:pt x="190500" y="904875"/>
                  </a:lnTo>
                  <a:close/>
                </a:path>
                <a:path w="190500" h="1000125">
                  <a:moveTo>
                    <a:pt x="142875" y="0"/>
                  </a:moveTo>
                  <a:lnTo>
                    <a:pt x="47625" y="0"/>
                  </a:lnTo>
                  <a:lnTo>
                    <a:pt x="47625" y="904875"/>
                  </a:lnTo>
                  <a:lnTo>
                    <a:pt x="142875" y="904875"/>
                  </a:lnTo>
                  <a:lnTo>
                    <a:pt x="142875" y="0"/>
                  </a:lnTo>
                  <a:close/>
                </a:path>
              </a:pathLst>
            </a:custGeom>
            <a:solidFill>
              <a:srgbClr val="6CACDD"/>
            </a:solidFill>
          </p:spPr>
          <p:txBody>
            <a:bodyPr wrap="square" lIns="0" tIns="0" rIns="0" bIns="0" rtlCol="0"/>
            <a:lstStyle/>
            <a:p/>
          </p:txBody>
        </p:sp>
        <p:sp>
          <p:nvSpPr>
            <p:cNvPr id="14" name="object 11"/>
            <p:cNvSpPr/>
            <p:nvPr/>
          </p:nvSpPr>
          <p:spPr>
            <a:xfrm>
              <a:off x="6476998" y="2143125"/>
              <a:ext cx="190500" cy="1000125"/>
            </a:xfrm>
            <a:custGeom>
              <a:avLst/>
              <a:gdLst/>
              <a:ahLst/>
              <a:cxnLst/>
              <a:rect l="l" t="t" r="r" b="b"/>
              <a:pathLst>
                <a:path w="190500" h="1000125">
                  <a:moveTo>
                    <a:pt x="0" y="904874"/>
                  </a:moveTo>
                  <a:lnTo>
                    <a:pt x="47624" y="904874"/>
                  </a:lnTo>
                  <a:lnTo>
                    <a:pt x="47624" y="0"/>
                  </a:lnTo>
                  <a:lnTo>
                    <a:pt x="142875" y="0"/>
                  </a:lnTo>
                  <a:lnTo>
                    <a:pt x="142875" y="904874"/>
                  </a:lnTo>
                  <a:lnTo>
                    <a:pt x="190500" y="904874"/>
                  </a:lnTo>
                  <a:lnTo>
                    <a:pt x="95249" y="1000124"/>
                  </a:lnTo>
                  <a:lnTo>
                    <a:pt x="0" y="904874"/>
                  </a:lnTo>
                  <a:close/>
                </a:path>
              </a:pathLst>
            </a:custGeom>
            <a:ln w="12699">
              <a:solidFill>
                <a:srgbClr val="5185AC"/>
              </a:solidFill>
            </a:ln>
          </p:spPr>
          <p:txBody>
            <a:bodyPr wrap="square" lIns="0" tIns="0" rIns="0" bIns="0" rtlCol="0"/>
            <a:lstStyle/>
            <a:p/>
          </p:txBody>
        </p:sp>
        <p:sp>
          <p:nvSpPr>
            <p:cNvPr id="15" name="object 12"/>
            <p:cNvSpPr/>
            <p:nvPr/>
          </p:nvSpPr>
          <p:spPr>
            <a:xfrm>
              <a:off x="2571750" y="4357688"/>
              <a:ext cx="2000250" cy="1143000"/>
            </a:xfrm>
            <a:custGeom>
              <a:avLst/>
              <a:gdLst/>
              <a:ahLst/>
              <a:cxnLst/>
              <a:rect l="l" t="t" r="r" b="b"/>
              <a:pathLst>
                <a:path w="2000250" h="1143000">
                  <a:moveTo>
                    <a:pt x="955625" y="826927"/>
                  </a:moveTo>
                  <a:lnTo>
                    <a:pt x="714441" y="826927"/>
                  </a:lnTo>
                  <a:lnTo>
                    <a:pt x="785746" y="1142998"/>
                  </a:lnTo>
                  <a:lnTo>
                    <a:pt x="955625" y="826927"/>
                  </a:lnTo>
                  <a:close/>
                </a:path>
                <a:path w="2000250" h="1143000">
                  <a:moveTo>
                    <a:pt x="1291829" y="790309"/>
                  </a:moveTo>
                  <a:lnTo>
                    <a:pt x="975306" y="790309"/>
                  </a:lnTo>
                  <a:lnTo>
                    <a:pt x="1226727" y="1044414"/>
                  </a:lnTo>
                  <a:lnTo>
                    <a:pt x="1291829" y="790309"/>
                  </a:lnTo>
                  <a:close/>
                </a:path>
                <a:path w="2000250" h="1143000">
                  <a:moveTo>
                    <a:pt x="1594786" y="765014"/>
                  </a:moveTo>
                  <a:lnTo>
                    <a:pt x="1298309" y="765014"/>
                  </a:lnTo>
                  <a:lnTo>
                    <a:pt x="1680301" y="957526"/>
                  </a:lnTo>
                  <a:lnTo>
                    <a:pt x="1594786" y="765014"/>
                  </a:lnTo>
                  <a:close/>
                </a:path>
                <a:path w="2000250" h="1143000">
                  <a:moveTo>
                    <a:pt x="1582563" y="737499"/>
                  </a:moveTo>
                  <a:lnTo>
                    <a:pt x="524786" y="737499"/>
                  </a:lnTo>
                  <a:lnTo>
                    <a:pt x="440980" y="932232"/>
                  </a:lnTo>
                  <a:lnTo>
                    <a:pt x="714441" y="826927"/>
                  </a:lnTo>
                  <a:lnTo>
                    <a:pt x="955625" y="826927"/>
                  </a:lnTo>
                  <a:lnTo>
                    <a:pt x="975306" y="790309"/>
                  </a:lnTo>
                  <a:lnTo>
                    <a:pt x="1291829" y="790309"/>
                  </a:lnTo>
                  <a:lnTo>
                    <a:pt x="1298309" y="765014"/>
                  </a:lnTo>
                  <a:lnTo>
                    <a:pt x="1594786" y="765014"/>
                  </a:lnTo>
                  <a:lnTo>
                    <a:pt x="1582563" y="737499"/>
                  </a:lnTo>
                  <a:close/>
                </a:path>
                <a:path w="2000250" h="1143000">
                  <a:moveTo>
                    <a:pt x="34263" y="121443"/>
                  </a:moveTo>
                  <a:lnTo>
                    <a:pt x="428478" y="403064"/>
                  </a:lnTo>
                  <a:lnTo>
                    <a:pt x="0" y="455876"/>
                  </a:lnTo>
                  <a:lnTo>
                    <a:pt x="344671" y="623092"/>
                  </a:lnTo>
                  <a:lnTo>
                    <a:pt x="12500" y="771894"/>
                  </a:lnTo>
                  <a:lnTo>
                    <a:pt x="524786" y="737499"/>
                  </a:lnTo>
                  <a:lnTo>
                    <a:pt x="1582563" y="737499"/>
                  </a:lnTo>
                  <a:lnTo>
                    <a:pt x="1559175" y="684846"/>
                  </a:lnTo>
                  <a:lnTo>
                    <a:pt x="1954536" y="684846"/>
                  </a:lnTo>
                  <a:lnTo>
                    <a:pt x="1630480" y="554301"/>
                  </a:lnTo>
                  <a:lnTo>
                    <a:pt x="1953668" y="430582"/>
                  </a:lnTo>
                  <a:lnTo>
                    <a:pt x="1546674" y="387084"/>
                  </a:lnTo>
                  <a:lnTo>
                    <a:pt x="1600772" y="334432"/>
                  </a:lnTo>
                  <a:lnTo>
                    <a:pt x="677120" y="334432"/>
                  </a:lnTo>
                  <a:lnTo>
                    <a:pt x="34263" y="121443"/>
                  </a:lnTo>
                  <a:close/>
                </a:path>
                <a:path w="2000250" h="1143000">
                  <a:moveTo>
                    <a:pt x="1954536" y="684846"/>
                  </a:moveTo>
                  <a:lnTo>
                    <a:pt x="1559175" y="684846"/>
                  </a:lnTo>
                  <a:lnTo>
                    <a:pt x="2000248" y="703261"/>
                  </a:lnTo>
                  <a:lnTo>
                    <a:pt x="1954536" y="684846"/>
                  </a:lnTo>
                  <a:close/>
                </a:path>
                <a:path w="2000250" h="1143000">
                  <a:moveTo>
                    <a:pt x="773429" y="121443"/>
                  </a:moveTo>
                  <a:lnTo>
                    <a:pt x="677120" y="334432"/>
                  </a:lnTo>
                  <a:lnTo>
                    <a:pt x="1600772" y="334432"/>
                  </a:lnTo>
                  <a:lnTo>
                    <a:pt x="1629045" y="306915"/>
                  </a:lnTo>
                  <a:lnTo>
                    <a:pt x="1000125" y="306915"/>
                  </a:lnTo>
                  <a:lnTo>
                    <a:pt x="773429" y="121443"/>
                  </a:lnTo>
                  <a:close/>
                </a:path>
                <a:path w="2000250" h="1143000">
                  <a:moveTo>
                    <a:pt x="1344796" y="0"/>
                  </a:moveTo>
                  <a:lnTo>
                    <a:pt x="1000125" y="306915"/>
                  </a:lnTo>
                  <a:lnTo>
                    <a:pt x="1629045" y="306915"/>
                  </a:lnTo>
                  <a:lnTo>
                    <a:pt x="1654870" y="281781"/>
                  </a:lnTo>
                  <a:lnTo>
                    <a:pt x="1310811" y="281781"/>
                  </a:lnTo>
                  <a:lnTo>
                    <a:pt x="1344796" y="0"/>
                  </a:lnTo>
                  <a:close/>
                </a:path>
                <a:path w="2000250" h="1143000">
                  <a:moveTo>
                    <a:pt x="1702064" y="235849"/>
                  </a:moveTo>
                  <a:lnTo>
                    <a:pt x="1310811" y="281781"/>
                  </a:lnTo>
                  <a:lnTo>
                    <a:pt x="1654870" y="281781"/>
                  </a:lnTo>
                  <a:lnTo>
                    <a:pt x="1702064" y="235849"/>
                  </a:lnTo>
                  <a:close/>
                </a:path>
              </a:pathLst>
            </a:custGeom>
            <a:solidFill>
              <a:srgbClr val="AA7CA9"/>
            </a:solidFill>
          </p:spPr>
          <p:txBody>
            <a:bodyPr wrap="square" lIns="0" tIns="0" rIns="0" bIns="0" rtlCol="0"/>
            <a:lstStyle/>
            <a:p/>
          </p:txBody>
        </p:sp>
        <p:sp>
          <p:nvSpPr>
            <p:cNvPr id="16" name="object 13"/>
            <p:cNvSpPr/>
            <p:nvPr/>
          </p:nvSpPr>
          <p:spPr>
            <a:xfrm>
              <a:off x="2571750" y="4357689"/>
              <a:ext cx="2000250" cy="1143000"/>
            </a:xfrm>
            <a:custGeom>
              <a:avLst/>
              <a:gdLst/>
              <a:ahLst/>
              <a:cxnLst/>
              <a:rect l="l" t="t" r="r" b="b"/>
              <a:pathLst>
                <a:path w="2000250" h="1143000">
                  <a:moveTo>
                    <a:pt x="1000124" y="306916"/>
                  </a:moveTo>
                  <a:lnTo>
                    <a:pt x="1344797" y="0"/>
                  </a:lnTo>
                  <a:lnTo>
                    <a:pt x="1310811" y="281781"/>
                  </a:lnTo>
                  <a:lnTo>
                    <a:pt x="1702064" y="235849"/>
                  </a:lnTo>
                  <a:lnTo>
                    <a:pt x="1546674" y="387085"/>
                  </a:lnTo>
                  <a:lnTo>
                    <a:pt x="1953669" y="430582"/>
                  </a:lnTo>
                  <a:lnTo>
                    <a:pt x="1630480" y="554301"/>
                  </a:lnTo>
                  <a:lnTo>
                    <a:pt x="2000249" y="703262"/>
                  </a:lnTo>
                  <a:lnTo>
                    <a:pt x="1559175" y="684847"/>
                  </a:lnTo>
                  <a:lnTo>
                    <a:pt x="1680301" y="957526"/>
                  </a:lnTo>
                  <a:lnTo>
                    <a:pt x="1298309" y="765016"/>
                  </a:lnTo>
                  <a:lnTo>
                    <a:pt x="1226726" y="1044415"/>
                  </a:lnTo>
                  <a:lnTo>
                    <a:pt x="975306" y="790310"/>
                  </a:lnTo>
                  <a:lnTo>
                    <a:pt x="785746" y="1142999"/>
                  </a:lnTo>
                  <a:lnTo>
                    <a:pt x="714440" y="826928"/>
                  </a:lnTo>
                  <a:lnTo>
                    <a:pt x="440980" y="932232"/>
                  </a:lnTo>
                  <a:lnTo>
                    <a:pt x="524787" y="737499"/>
                  </a:lnTo>
                  <a:lnTo>
                    <a:pt x="12501" y="771895"/>
                  </a:lnTo>
                  <a:lnTo>
                    <a:pt x="344672" y="623093"/>
                  </a:lnTo>
                  <a:lnTo>
                    <a:pt x="0" y="455876"/>
                  </a:lnTo>
                  <a:lnTo>
                    <a:pt x="428479" y="403066"/>
                  </a:lnTo>
                  <a:lnTo>
                    <a:pt x="34263" y="121443"/>
                  </a:lnTo>
                  <a:lnTo>
                    <a:pt x="677121" y="334433"/>
                  </a:lnTo>
                  <a:lnTo>
                    <a:pt x="773429" y="121443"/>
                  </a:lnTo>
                  <a:lnTo>
                    <a:pt x="1000124" y="306916"/>
                  </a:lnTo>
                  <a:close/>
                </a:path>
              </a:pathLst>
            </a:custGeom>
            <a:ln w="12699">
              <a:solidFill>
                <a:srgbClr val="5185AC"/>
              </a:solidFill>
            </a:ln>
          </p:spPr>
          <p:txBody>
            <a:bodyPr wrap="square" lIns="0" tIns="0" rIns="0" bIns="0" rtlCol="0"/>
            <a:lstStyle/>
            <a:p/>
          </p:txBody>
        </p:sp>
        <p:sp>
          <p:nvSpPr>
            <p:cNvPr id="17" name="object 14"/>
            <p:cNvSpPr txBox="1"/>
            <p:nvPr/>
          </p:nvSpPr>
          <p:spPr>
            <a:xfrm>
              <a:off x="3240416" y="4743794"/>
              <a:ext cx="64452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Franklin Gothic Book" panose="020B0503020102020204"/>
                  <a:cs typeface="Franklin Gothic Book" panose="020B0503020102020204"/>
                </a:rPr>
                <a:t>Oracle</a:t>
              </a:r>
              <a:endParaRPr sz="1800">
                <a:latin typeface="Franklin Gothic Book" panose="020B0503020102020204"/>
                <a:cs typeface="Franklin Gothic Book" panose="020B0503020102020204"/>
              </a:endParaRPr>
            </a:p>
          </p:txBody>
        </p:sp>
        <p:sp>
          <p:nvSpPr>
            <p:cNvPr id="18" name="object 15"/>
            <p:cNvSpPr/>
            <p:nvPr/>
          </p:nvSpPr>
          <p:spPr>
            <a:xfrm>
              <a:off x="5048250" y="4500563"/>
              <a:ext cx="2000250" cy="1143000"/>
            </a:xfrm>
            <a:custGeom>
              <a:avLst/>
              <a:gdLst/>
              <a:ahLst/>
              <a:cxnLst/>
              <a:rect l="l" t="t" r="r" b="b"/>
              <a:pathLst>
                <a:path w="2000250" h="1143000">
                  <a:moveTo>
                    <a:pt x="955625" y="826927"/>
                  </a:moveTo>
                  <a:lnTo>
                    <a:pt x="714441" y="826927"/>
                  </a:lnTo>
                  <a:lnTo>
                    <a:pt x="785746" y="1142999"/>
                  </a:lnTo>
                  <a:lnTo>
                    <a:pt x="955625" y="826927"/>
                  </a:lnTo>
                  <a:close/>
                </a:path>
                <a:path w="2000250" h="1143000">
                  <a:moveTo>
                    <a:pt x="1291829" y="790309"/>
                  </a:moveTo>
                  <a:lnTo>
                    <a:pt x="975306" y="790309"/>
                  </a:lnTo>
                  <a:lnTo>
                    <a:pt x="1226727" y="1044414"/>
                  </a:lnTo>
                  <a:lnTo>
                    <a:pt x="1291829" y="790309"/>
                  </a:lnTo>
                  <a:close/>
                </a:path>
                <a:path w="2000250" h="1143000">
                  <a:moveTo>
                    <a:pt x="1594786" y="765014"/>
                  </a:moveTo>
                  <a:lnTo>
                    <a:pt x="1298309" y="765014"/>
                  </a:lnTo>
                  <a:lnTo>
                    <a:pt x="1680302" y="957526"/>
                  </a:lnTo>
                  <a:lnTo>
                    <a:pt x="1594786" y="765014"/>
                  </a:lnTo>
                  <a:close/>
                </a:path>
                <a:path w="2000250" h="1143000">
                  <a:moveTo>
                    <a:pt x="1582564" y="737499"/>
                  </a:moveTo>
                  <a:lnTo>
                    <a:pt x="524786" y="737499"/>
                  </a:lnTo>
                  <a:lnTo>
                    <a:pt x="440980" y="932232"/>
                  </a:lnTo>
                  <a:lnTo>
                    <a:pt x="714441" y="826927"/>
                  </a:lnTo>
                  <a:lnTo>
                    <a:pt x="955625" y="826927"/>
                  </a:lnTo>
                  <a:lnTo>
                    <a:pt x="975306" y="790309"/>
                  </a:lnTo>
                  <a:lnTo>
                    <a:pt x="1291829" y="790309"/>
                  </a:lnTo>
                  <a:lnTo>
                    <a:pt x="1298309" y="765014"/>
                  </a:lnTo>
                  <a:lnTo>
                    <a:pt x="1594786" y="765014"/>
                  </a:lnTo>
                  <a:lnTo>
                    <a:pt x="1582564" y="737499"/>
                  </a:lnTo>
                  <a:close/>
                </a:path>
                <a:path w="2000250" h="1143000">
                  <a:moveTo>
                    <a:pt x="34263" y="121443"/>
                  </a:moveTo>
                  <a:lnTo>
                    <a:pt x="428478" y="403064"/>
                  </a:lnTo>
                  <a:lnTo>
                    <a:pt x="0" y="455876"/>
                  </a:lnTo>
                  <a:lnTo>
                    <a:pt x="344672" y="623092"/>
                  </a:lnTo>
                  <a:lnTo>
                    <a:pt x="12500" y="771894"/>
                  </a:lnTo>
                  <a:lnTo>
                    <a:pt x="524786" y="737499"/>
                  </a:lnTo>
                  <a:lnTo>
                    <a:pt x="1582564" y="737499"/>
                  </a:lnTo>
                  <a:lnTo>
                    <a:pt x="1559175" y="684846"/>
                  </a:lnTo>
                  <a:lnTo>
                    <a:pt x="1954536" y="684846"/>
                  </a:lnTo>
                  <a:lnTo>
                    <a:pt x="1630480" y="554301"/>
                  </a:lnTo>
                  <a:lnTo>
                    <a:pt x="1953668" y="430582"/>
                  </a:lnTo>
                  <a:lnTo>
                    <a:pt x="1546673" y="387084"/>
                  </a:lnTo>
                  <a:lnTo>
                    <a:pt x="1600771" y="334432"/>
                  </a:lnTo>
                  <a:lnTo>
                    <a:pt x="677120" y="334432"/>
                  </a:lnTo>
                  <a:lnTo>
                    <a:pt x="34263" y="121443"/>
                  </a:lnTo>
                  <a:close/>
                </a:path>
                <a:path w="2000250" h="1143000">
                  <a:moveTo>
                    <a:pt x="1954536" y="684846"/>
                  </a:moveTo>
                  <a:lnTo>
                    <a:pt x="1559175" y="684846"/>
                  </a:lnTo>
                  <a:lnTo>
                    <a:pt x="2000248" y="703261"/>
                  </a:lnTo>
                  <a:lnTo>
                    <a:pt x="1954536" y="684846"/>
                  </a:lnTo>
                  <a:close/>
                </a:path>
                <a:path w="2000250" h="1143000">
                  <a:moveTo>
                    <a:pt x="773429" y="121443"/>
                  </a:moveTo>
                  <a:lnTo>
                    <a:pt x="677120" y="334432"/>
                  </a:lnTo>
                  <a:lnTo>
                    <a:pt x="1600771" y="334432"/>
                  </a:lnTo>
                  <a:lnTo>
                    <a:pt x="1629044" y="306915"/>
                  </a:lnTo>
                  <a:lnTo>
                    <a:pt x="1000125" y="306915"/>
                  </a:lnTo>
                  <a:lnTo>
                    <a:pt x="773429" y="121443"/>
                  </a:lnTo>
                  <a:close/>
                </a:path>
                <a:path w="2000250" h="1143000">
                  <a:moveTo>
                    <a:pt x="1344796" y="0"/>
                  </a:moveTo>
                  <a:lnTo>
                    <a:pt x="1000125" y="306915"/>
                  </a:lnTo>
                  <a:lnTo>
                    <a:pt x="1629044" y="306915"/>
                  </a:lnTo>
                  <a:lnTo>
                    <a:pt x="1654870" y="281781"/>
                  </a:lnTo>
                  <a:lnTo>
                    <a:pt x="1310811" y="281781"/>
                  </a:lnTo>
                  <a:lnTo>
                    <a:pt x="1344796" y="0"/>
                  </a:lnTo>
                  <a:close/>
                </a:path>
                <a:path w="2000250" h="1143000">
                  <a:moveTo>
                    <a:pt x="1702064" y="235849"/>
                  </a:moveTo>
                  <a:lnTo>
                    <a:pt x="1310811" y="281781"/>
                  </a:lnTo>
                  <a:lnTo>
                    <a:pt x="1654870" y="281781"/>
                  </a:lnTo>
                  <a:lnTo>
                    <a:pt x="1702064" y="235849"/>
                  </a:lnTo>
                  <a:close/>
                </a:path>
              </a:pathLst>
            </a:custGeom>
            <a:solidFill>
              <a:srgbClr val="AA7CA9"/>
            </a:solidFill>
          </p:spPr>
          <p:txBody>
            <a:bodyPr wrap="square" lIns="0" tIns="0" rIns="0" bIns="0" rtlCol="0"/>
            <a:lstStyle/>
            <a:p/>
          </p:txBody>
        </p:sp>
        <p:sp>
          <p:nvSpPr>
            <p:cNvPr id="19" name="object 16"/>
            <p:cNvSpPr/>
            <p:nvPr/>
          </p:nvSpPr>
          <p:spPr>
            <a:xfrm>
              <a:off x="5048250" y="4500564"/>
              <a:ext cx="2000250" cy="1143000"/>
            </a:xfrm>
            <a:custGeom>
              <a:avLst/>
              <a:gdLst/>
              <a:ahLst/>
              <a:cxnLst/>
              <a:rect l="l" t="t" r="r" b="b"/>
              <a:pathLst>
                <a:path w="2000250" h="1143000">
                  <a:moveTo>
                    <a:pt x="1000124" y="306916"/>
                  </a:moveTo>
                  <a:lnTo>
                    <a:pt x="1344797" y="0"/>
                  </a:lnTo>
                  <a:lnTo>
                    <a:pt x="1310811" y="281781"/>
                  </a:lnTo>
                  <a:lnTo>
                    <a:pt x="1702063" y="235849"/>
                  </a:lnTo>
                  <a:lnTo>
                    <a:pt x="1546673" y="387085"/>
                  </a:lnTo>
                  <a:lnTo>
                    <a:pt x="1953669" y="430582"/>
                  </a:lnTo>
                  <a:lnTo>
                    <a:pt x="1630481" y="554301"/>
                  </a:lnTo>
                  <a:lnTo>
                    <a:pt x="2000249" y="703262"/>
                  </a:lnTo>
                  <a:lnTo>
                    <a:pt x="1559175" y="684847"/>
                  </a:lnTo>
                  <a:lnTo>
                    <a:pt x="1680302" y="957526"/>
                  </a:lnTo>
                  <a:lnTo>
                    <a:pt x="1298309" y="765016"/>
                  </a:lnTo>
                  <a:lnTo>
                    <a:pt x="1226726" y="1044415"/>
                  </a:lnTo>
                  <a:lnTo>
                    <a:pt x="975306" y="790310"/>
                  </a:lnTo>
                  <a:lnTo>
                    <a:pt x="785746" y="1142999"/>
                  </a:lnTo>
                  <a:lnTo>
                    <a:pt x="714440" y="826928"/>
                  </a:lnTo>
                  <a:lnTo>
                    <a:pt x="440980" y="932232"/>
                  </a:lnTo>
                  <a:lnTo>
                    <a:pt x="524787" y="737499"/>
                  </a:lnTo>
                  <a:lnTo>
                    <a:pt x="12501" y="771895"/>
                  </a:lnTo>
                  <a:lnTo>
                    <a:pt x="344672" y="623093"/>
                  </a:lnTo>
                  <a:lnTo>
                    <a:pt x="0" y="455876"/>
                  </a:lnTo>
                  <a:lnTo>
                    <a:pt x="428479" y="403066"/>
                  </a:lnTo>
                  <a:lnTo>
                    <a:pt x="34263" y="121443"/>
                  </a:lnTo>
                  <a:lnTo>
                    <a:pt x="677121" y="334433"/>
                  </a:lnTo>
                  <a:lnTo>
                    <a:pt x="773429" y="121443"/>
                  </a:lnTo>
                  <a:lnTo>
                    <a:pt x="1000124" y="306916"/>
                  </a:lnTo>
                  <a:close/>
                </a:path>
              </a:pathLst>
            </a:custGeom>
            <a:ln w="12699">
              <a:solidFill>
                <a:srgbClr val="5185AC"/>
              </a:solidFill>
            </a:ln>
          </p:spPr>
          <p:txBody>
            <a:bodyPr wrap="square" lIns="0" tIns="0" rIns="0" bIns="0" rtlCol="0"/>
            <a:lstStyle/>
            <a:p/>
          </p:txBody>
        </p:sp>
        <p:sp>
          <p:nvSpPr>
            <p:cNvPr id="20" name="object 17"/>
            <p:cNvSpPr txBox="1"/>
            <p:nvPr/>
          </p:nvSpPr>
          <p:spPr>
            <a:xfrm>
              <a:off x="5816090" y="4886669"/>
              <a:ext cx="44577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Franklin Gothic Book" panose="020B0503020102020204"/>
                  <a:cs typeface="Franklin Gothic Book" panose="020B0503020102020204"/>
                </a:rPr>
                <a:t>DB2</a:t>
              </a:r>
              <a:endParaRPr sz="1800">
                <a:latin typeface="Franklin Gothic Book" panose="020B0503020102020204"/>
                <a:cs typeface="Franklin Gothic Book" panose="020B0503020102020204"/>
              </a:endParaRPr>
            </a:p>
          </p:txBody>
        </p:sp>
        <p:sp>
          <p:nvSpPr>
            <p:cNvPr id="21" name="object 18"/>
            <p:cNvSpPr/>
            <p:nvPr/>
          </p:nvSpPr>
          <p:spPr>
            <a:xfrm>
              <a:off x="7619998" y="4357688"/>
              <a:ext cx="2286000" cy="1143000"/>
            </a:xfrm>
            <a:custGeom>
              <a:avLst/>
              <a:gdLst/>
              <a:ahLst/>
              <a:cxnLst/>
              <a:rect l="l" t="t" r="r" b="b"/>
              <a:pathLst>
                <a:path w="2286000" h="1143000">
                  <a:moveTo>
                    <a:pt x="1092144" y="826927"/>
                  </a:moveTo>
                  <a:lnTo>
                    <a:pt x="816504" y="826927"/>
                  </a:lnTo>
                  <a:lnTo>
                    <a:pt x="897996" y="1142998"/>
                  </a:lnTo>
                  <a:lnTo>
                    <a:pt x="1092144" y="826927"/>
                  </a:lnTo>
                  <a:close/>
                </a:path>
                <a:path w="2286000" h="1143000">
                  <a:moveTo>
                    <a:pt x="1476377" y="790309"/>
                  </a:moveTo>
                  <a:lnTo>
                    <a:pt x="1114637" y="790309"/>
                  </a:lnTo>
                  <a:lnTo>
                    <a:pt x="1401974" y="1044414"/>
                  </a:lnTo>
                  <a:lnTo>
                    <a:pt x="1476377" y="790309"/>
                  </a:lnTo>
                  <a:close/>
                </a:path>
                <a:path w="2286000" h="1143000">
                  <a:moveTo>
                    <a:pt x="1822614" y="765014"/>
                  </a:moveTo>
                  <a:lnTo>
                    <a:pt x="1483784" y="765014"/>
                  </a:lnTo>
                  <a:lnTo>
                    <a:pt x="1920346" y="957526"/>
                  </a:lnTo>
                  <a:lnTo>
                    <a:pt x="1822614" y="765014"/>
                  </a:lnTo>
                  <a:close/>
                </a:path>
                <a:path w="2286000" h="1143000">
                  <a:moveTo>
                    <a:pt x="1808645" y="737499"/>
                  </a:moveTo>
                  <a:lnTo>
                    <a:pt x="599757" y="737499"/>
                  </a:lnTo>
                  <a:lnTo>
                    <a:pt x="503979" y="932232"/>
                  </a:lnTo>
                  <a:lnTo>
                    <a:pt x="816504" y="826927"/>
                  </a:lnTo>
                  <a:lnTo>
                    <a:pt x="1092144" y="826927"/>
                  </a:lnTo>
                  <a:lnTo>
                    <a:pt x="1114637" y="790309"/>
                  </a:lnTo>
                  <a:lnTo>
                    <a:pt x="1476377" y="790309"/>
                  </a:lnTo>
                  <a:lnTo>
                    <a:pt x="1483784" y="765014"/>
                  </a:lnTo>
                  <a:lnTo>
                    <a:pt x="1822614" y="765014"/>
                  </a:lnTo>
                  <a:lnTo>
                    <a:pt x="1808645" y="737499"/>
                  </a:lnTo>
                  <a:close/>
                </a:path>
                <a:path w="2286000" h="1143000">
                  <a:moveTo>
                    <a:pt x="39159" y="121443"/>
                  </a:moveTo>
                  <a:lnTo>
                    <a:pt x="489691" y="403064"/>
                  </a:lnTo>
                  <a:lnTo>
                    <a:pt x="0" y="455876"/>
                  </a:lnTo>
                  <a:lnTo>
                    <a:pt x="393912" y="623092"/>
                  </a:lnTo>
                  <a:lnTo>
                    <a:pt x="14287" y="771894"/>
                  </a:lnTo>
                  <a:lnTo>
                    <a:pt x="599757" y="737499"/>
                  </a:lnTo>
                  <a:lnTo>
                    <a:pt x="1808645" y="737499"/>
                  </a:lnTo>
                  <a:lnTo>
                    <a:pt x="1781915" y="684846"/>
                  </a:lnTo>
                  <a:lnTo>
                    <a:pt x="2233757" y="684846"/>
                  </a:lnTo>
                  <a:lnTo>
                    <a:pt x="1863407" y="554301"/>
                  </a:lnTo>
                  <a:lnTo>
                    <a:pt x="2232765" y="430582"/>
                  </a:lnTo>
                  <a:lnTo>
                    <a:pt x="1767627" y="387084"/>
                  </a:lnTo>
                  <a:lnTo>
                    <a:pt x="1829454" y="334432"/>
                  </a:lnTo>
                  <a:lnTo>
                    <a:pt x="773854" y="334432"/>
                  </a:lnTo>
                  <a:lnTo>
                    <a:pt x="39159" y="121443"/>
                  </a:lnTo>
                  <a:close/>
                </a:path>
                <a:path w="2286000" h="1143000">
                  <a:moveTo>
                    <a:pt x="2233757" y="684846"/>
                  </a:moveTo>
                  <a:lnTo>
                    <a:pt x="1781915" y="684846"/>
                  </a:lnTo>
                  <a:lnTo>
                    <a:pt x="2286000" y="703261"/>
                  </a:lnTo>
                  <a:lnTo>
                    <a:pt x="2233757" y="684846"/>
                  </a:lnTo>
                  <a:close/>
                </a:path>
                <a:path w="2286000" h="1143000">
                  <a:moveTo>
                    <a:pt x="883920" y="121443"/>
                  </a:moveTo>
                  <a:lnTo>
                    <a:pt x="773854" y="334432"/>
                  </a:lnTo>
                  <a:lnTo>
                    <a:pt x="1829454" y="334432"/>
                  </a:lnTo>
                  <a:lnTo>
                    <a:pt x="1861766" y="306915"/>
                  </a:lnTo>
                  <a:lnTo>
                    <a:pt x="1143000" y="306915"/>
                  </a:lnTo>
                  <a:lnTo>
                    <a:pt x="883920" y="121443"/>
                  </a:lnTo>
                  <a:close/>
                </a:path>
                <a:path w="2286000" h="1143000">
                  <a:moveTo>
                    <a:pt x="1536912" y="0"/>
                  </a:moveTo>
                  <a:lnTo>
                    <a:pt x="1143000" y="306915"/>
                  </a:lnTo>
                  <a:lnTo>
                    <a:pt x="1861766" y="306915"/>
                  </a:lnTo>
                  <a:lnTo>
                    <a:pt x="1891281" y="281781"/>
                  </a:lnTo>
                  <a:lnTo>
                    <a:pt x="1498071" y="281781"/>
                  </a:lnTo>
                  <a:lnTo>
                    <a:pt x="1536912" y="0"/>
                  </a:lnTo>
                  <a:close/>
                </a:path>
                <a:path w="2286000" h="1143000">
                  <a:moveTo>
                    <a:pt x="1945217" y="235849"/>
                  </a:moveTo>
                  <a:lnTo>
                    <a:pt x="1498071" y="281781"/>
                  </a:lnTo>
                  <a:lnTo>
                    <a:pt x="1891281" y="281781"/>
                  </a:lnTo>
                  <a:lnTo>
                    <a:pt x="1945217" y="235849"/>
                  </a:lnTo>
                  <a:close/>
                </a:path>
              </a:pathLst>
            </a:custGeom>
            <a:solidFill>
              <a:srgbClr val="AA7CA9"/>
            </a:solidFill>
          </p:spPr>
          <p:txBody>
            <a:bodyPr wrap="square" lIns="0" tIns="0" rIns="0" bIns="0" rtlCol="0"/>
            <a:lstStyle/>
            <a:p/>
          </p:txBody>
        </p:sp>
        <p:sp>
          <p:nvSpPr>
            <p:cNvPr id="22" name="object 19"/>
            <p:cNvSpPr/>
            <p:nvPr/>
          </p:nvSpPr>
          <p:spPr>
            <a:xfrm>
              <a:off x="7619998" y="4357689"/>
              <a:ext cx="2286000" cy="1143000"/>
            </a:xfrm>
            <a:custGeom>
              <a:avLst/>
              <a:gdLst/>
              <a:ahLst/>
              <a:cxnLst/>
              <a:rect l="l" t="t" r="r" b="b"/>
              <a:pathLst>
                <a:path w="2286000" h="1143000">
                  <a:moveTo>
                    <a:pt x="1142999" y="306916"/>
                  </a:moveTo>
                  <a:lnTo>
                    <a:pt x="1536911" y="0"/>
                  </a:lnTo>
                  <a:lnTo>
                    <a:pt x="1498070" y="281781"/>
                  </a:lnTo>
                  <a:lnTo>
                    <a:pt x="1945215" y="235849"/>
                  </a:lnTo>
                  <a:lnTo>
                    <a:pt x="1767627" y="387085"/>
                  </a:lnTo>
                  <a:lnTo>
                    <a:pt x="2232765" y="430582"/>
                  </a:lnTo>
                  <a:lnTo>
                    <a:pt x="1863406" y="554301"/>
                  </a:lnTo>
                  <a:lnTo>
                    <a:pt x="2285999" y="703262"/>
                  </a:lnTo>
                  <a:lnTo>
                    <a:pt x="1781914" y="684847"/>
                  </a:lnTo>
                  <a:lnTo>
                    <a:pt x="1920345" y="957526"/>
                  </a:lnTo>
                  <a:lnTo>
                    <a:pt x="1483782" y="765016"/>
                  </a:lnTo>
                  <a:lnTo>
                    <a:pt x="1401973" y="1044415"/>
                  </a:lnTo>
                  <a:lnTo>
                    <a:pt x="1114636" y="790310"/>
                  </a:lnTo>
                  <a:lnTo>
                    <a:pt x="897995" y="1142999"/>
                  </a:lnTo>
                  <a:lnTo>
                    <a:pt x="816504" y="826928"/>
                  </a:lnTo>
                  <a:lnTo>
                    <a:pt x="503978" y="932232"/>
                  </a:lnTo>
                  <a:lnTo>
                    <a:pt x="599757" y="737499"/>
                  </a:lnTo>
                  <a:lnTo>
                    <a:pt x="14287" y="771895"/>
                  </a:lnTo>
                  <a:lnTo>
                    <a:pt x="393911" y="623093"/>
                  </a:lnTo>
                  <a:lnTo>
                    <a:pt x="0" y="455876"/>
                  </a:lnTo>
                  <a:lnTo>
                    <a:pt x="489690" y="403066"/>
                  </a:lnTo>
                  <a:lnTo>
                    <a:pt x="39158" y="121443"/>
                  </a:lnTo>
                  <a:lnTo>
                    <a:pt x="773853" y="334433"/>
                  </a:lnTo>
                  <a:lnTo>
                    <a:pt x="883919" y="121443"/>
                  </a:lnTo>
                  <a:lnTo>
                    <a:pt x="1142999" y="306916"/>
                  </a:lnTo>
                  <a:close/>
                </a:path>
              </a:pathLst>
            </a:custGeom>
            <a:ln w="12699">
              <a:solidFill>
                <a:srgbClr val="5185AC"/>
              </a:solidFill>
            </a:ln>
          </p:spPr>
          <p:txBody>
            <a:bodyPr wrap="square" lIns="0" tIns="0" rIns="0" bIns="0" rtlCol="0"/>
            <a:lstStyle/>
            <a:p/>
          </p:txBody>
        </p:sp>
        <p:sp>
          <p:nvSpPr>
            <p:cNvPr id="23" name="object 20"/>
            <p:cNvSpPr txBox="1"/>
            <p:nvPr/>
          </p:nvSpPr>
          <p:spPr>
            <a:xfrm>
              <a:off x="8377012" y="4743794"/>
              <a:ext cx="74866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FFFF"/>
                  </a:solidFill>
                  <a:latin typeface="Franklin Gothic Book" panose="020B0503020102020204"/>
                  <a:cs typeface="Franklin Gothic Book" panose="020B0503020102020204"/>
                </a:rPr>
                <a:t>SQLA</a:t>
              </a:r>
              <a:r>
                <a:rPr sz="1800" spc="-40" dirty="0">
                  <a:solidFill>
                    <a:srgbClr val="FFFFFF"/>
                  </a:solidFill>
                  <a:latin typeface="Franklin Gothic Book" panose="020B0503020102020204"/>
                  <a:cs typeface="Franklin Gothic Book" panose="020B0503020102020204"/>
                </a:rPr>
                <a:t>n</a:t>
              </a:r>
              <a:r>
                <a:rPr sz="1800" dirty="0">
                  <a:solidFill>
                    <a:srgbClr val="FFFFFF"/>
                  </a:solidFill>
                  <a:latin typeface="Franklin Gothic Book" panose="020B0503020102020204"/>
                  <a:cs typeface="Franklin Gothic Book" panose="020B0503020102020204"/>
                </a:rPr>
                <a:t>y</a:t>
              </a:r>
              <a:endParaRPr sz="1800">
                <a:latin typeface="Franklin Gothic Book" panose="020B0503020102020204"/>
                <a:cs typeface="Franklin Gothic Book" panose="020B0503020102020204"/>
              </a:endParaRPr>
            </a:p>
          </p:txBody>
        </p:sp>
        <p:sp>
          <p:nvSpPr>
            <p:cNvPr id="24" name="object 21"/>
            <p:cNvSpPr/>
            <p:nvPr/>
          </p:nvSpPr>
          <p:spPr>
            <a:xfrm>
              <a:off x="5810248" y="4000500"/>
              <a:ext cx="95250" cy="571500"/>
            </a:xfrm>
            <a:custGeom>
              <a:avLst/>
              <a:gdLst/>
              <a:ahLst/>
              <a:cxnLst/>
              <a:rect l="l" t="t" r="r" b="b"/>
              <a:pathLst>
                <a:path w="95250" h="571500">
                  <a:moveTo>
                    <a:pt x="95250" y="523875"/>
                  </a:moveTo>
                  <a:lnTo>
                    <a:pt x="0" y="523875"/>
                  </a:lnTo>
                  <a:lnTo>
                    <a:pt x="47625" y="571500"/>
                  </a:lnTo>
                  <a:lnTo>
                    <a:pt x="95250" y="523875"/>
                  </a:lnTo>
                  <a:close/>
                </a:path>
                <a:path w="95250" h="571500">
                  <a:moveTo>
                    <a:pt x="71438" y="0"/>
                  </a:moveTo>
                  <a:lnTo>
                    <a:pt x="23813" y="0"/>
                  </a:lnTo>
                  <a:lnTo>
                    <a:pt x="23813" y="523875"/>
                  </a:lnTo>
                  <a:lnTo>
                    <a:pt x="71438" y="523875"/>
                  </a:lnTo>
                  <a:lnTo>
                    <a:pt x="71438" y="0"/>
                  </a:lnTo>
                  <a:close/>
                </a:path>
              </a:pathLst>
            </a:custGeom>
            <a:solidFill>
              <a:srgbClr val="6CACDD"/>
            </a:solidFill>
          </p:spPr>
          <p:txBody>
            <a:bodyPr wrap="square" lIns="0" tIns="0" rIns="0" bIns="0" rtlCol="0"/>
            <a:lstStyle/>
            <a:p/>
          </p:txBody>
        </p:sp>
        <p:sp>
          <p:nvSpPr>
            <p:cNvPr id="25" name="object 22"/>
            <p:cNvSpPr/>
            <p:nvPr/>
          </p:nvSpPr>
          <p:spPr>
            <a:xfrm>
              <a:off x="5810248" y="4000500"/>
              <a:ext cx="95250" cy="571500"/>
            </a:xfrm>
            <a:custGeom>
              <a:avLst/>
              <a:gdLst/>
              <a:ahLst/>
              <a:cxnLst/>
              <a:rect l="l" t="t" r="r" b="b"/>
              <a:pathLst>
                <a:path w="95250" h="571500">
                  <a:moveTo>
                    <a:pt x="0" y="523874"/>
                  </a:moveTo>
                  <a:lnTo>
                    <a:pt x="23812" y="523874"/>
                  </a:lnTo>
                  <a:lnTo>
                    <a:pt x="23812" y="0"/>
                  </a:lnTo>
                  <a:lnTo>
                    <a:pt x="71437" y="0"/>
                  </a:lnTo>
                  <a:lnTo>
                    <a:pt x="71437" y="523874"/>
                  </a:lnTo>
                  <a:lnTo>
                    <a:pt x="95249" y="523874"/>
                  </a:lnTo>
                  <a:lnTo>
                    <a:pt x="47624" y="571499"/>
                  </a:lnTo>
                  <a:lnTo>
                    <a:pt x="0" y="523874"/>
                  </a:lnTo>
                  <a:close/>
                </a:path>
              </a:pathLst>
            </a:custGeom>
            <a:ln w="12699">
              <a:solidFill>
                <a:srgbClr val="5185AC"/>
              </a:solidFill>
            </a:ln>
          </p:spPr>
          <p:txBody>
            <a:bodyPr wrap="square" lIns="0" tIns="0" rIns="0" bIns="0" rtlCol="0"/>
            <a:lstStyle/>
            <a:p/>
          </p:txBody>
        </p:sp>
      </p:grpSp>
    </p:spTree>
  </p:cSld>
  <p:clrMapOvr>
    <a:masterClrMapping/>
  </p:clrMapOvr>
  <mc:AlternateContent xmlns:mc="http://schemas.openxmlformats.org/markup-compatibility/2006">
    <mc:Choice xmlns:p14="http://schemas.microsoft.com/office/powerpoint/2010/main" Requires="p14">
      <p:transition spd="slow" p14:dur="2000" advTm="24954"/>
    </mc:Choice>
    <mc:Fallback>
      <p:transition spd="slow" advTm="24954"/>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842168"/>
            <a:ext cx="10515600" cy="2852737"/>
          </a:xfrm>
        </p:spPr>
        <p:txBody>
          <a:bodyPr anchor="ctr"/>
          <a:lstStyle/>
          <a:p>
            <a:pPr algn="ctr"/>
            <a:r>
              <a:rPr lang="zh-CN" altLang="en-US" dirty="0">
                <a:latin typeface="微软雅黑" panose="020B0503020204020204" pitchFamily="34" charset="-122"/>
                <a:ea typeface="微软雅黑" panose="020B0503020204020204" pitchFamily="34" charset="-122"/>
              </a:rPr>
              <a:t>设计抽象的接口</a:t>
            </a:r>
            <a:endParaRPr lang="zh-CN" altLang="en-US" dirty="0">
              <a:latin typeface="微软雅黑" panose="020B0503020204020204" pitchFamily="34" charset="-122"/>
              <a:ea typeface="微软雅黑" panose="020B0503020204020204" pitchFamily="34" charset="-122"/>
            </a:endParaRPr>
          </a:p>
        </p:txBody>
      </p:sp>
      <p:sp>
        <p:nvSpPr>
          <p:cNvPr id="3" name="文本占位符 2"/>
          <p:cNvSpPr>
            <a:spLocks noGrp="1"/>
          </p:cNvSpPr>
          <p:nvPr>
            <p:ph type="body" idx="1"/>
          </p:nvPr>
        </p:nvSpPr>
        <p:spPr>
          <a:xfrm>
            <a:off x="838200" y="3128525"/>
            <a:ext cx="10515600" cy="1500187"/>
          </a:xfrm>
        </p:spPr>
        <p:txBody>
          <a:bodyPr/>
          <a:lstStyle/>
          <a:p>
            <a:pPr algn="ctr"/>
            <a:r>
              <a:rPr lang="en-US" altLang="zh-CN" dirty="0">
                <a:solidFill>
                  <a:schemeClr val="tx1"/>
                </a:solidFill>
                <a:latin typeface="微软雅黑" panose="020B0503020204020204" pitchFamily="34" charset="-122"/>
                <a:ea typeface="微软雅黑" panose="020B0503020204020204" pitchFamily="34" charset="-122"/>
              </a:rPr>
              <a:t>Using Abstract Thinking When Designing Interfaces</a:t>
            </a:r>
            <a:endParaRPr lang="en-US" altLang="zh-CN" dirty="0">
              <a:solidFill>
                <a:schemeClr val="tx1"/>
              </a:solidFill>
              <a:latin typeface="微软雅黑" panose="020B0503020204020204" pitchFamily="34" charset="-122"/>
              <a:ea typeface="微软雅黑" panose="020B0503020204020204" pitchFamily="34" charset="-122"/>
            </a:endParaRPr>
          </a:p>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6306"/>
    </mc:Choice>
    <mc:Fallback>
      <p:transition spd="slow" advTm="6306"/>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1688614" y="1567623"/>
            <a:ext cx="8814771" cy="4518420"/>
            <a:chOff x="1630266" y="1599154"/>
            <a:chExt cx="8814771" cy="4518420"/>
          </a:xfrm>
        </p:grpSpPr>
        <p:sp>
          <p:nvSpPr>
            <p:cNvPr id="3" name="object 3"/>
            <p:cNvSpPr/>
            <p:nvPr/>
          </p:nvSpPr>
          <p:spPr>
            <a:xfrm>
              <a:off x="1630266" y="1993775"/>
              <a:ext cx="2390158" cy="1979298"/>
            </a:xfrm>
            <a:prstGeom prst="rect">
              <a:avLst/>
            </a:prstGeom>
            <a:blipFill>
              <a:blip r:embed="rId1" cstate="print"/>
              <a:stretch>
                <a:fillRect/>
              </a:stretch>
            </a:blipFill>
          </p:spPr>
          <p:txBody>
            <a:bodyPr wrap="square" lIns="0" tIns="0" rIns="0" bIns="0" rtlCol="0"/>
            <a:lstStyle/>
            <a:p/>
          </p:txBody>
        </p:sp>
        <p:sp>
          <p:nvSpPr>
            <p:cNvPr id="4" name="object 4"/>
            <p:cNvSpPr/>
            <p:nvPr/>
          </p:nvSpPr>
          <p:spPr>
            <a:xfrm>
              <a:off x="4990928" y="2072431"/>
              <a:ext cx="1463183" cy="1841905"/>
            </a:xfrm>
            <a:prstGeom prst="rect">
              <a:avLst/>
            </a:prstGeom>
            <a:blipFill>
              <a:blip r:embed="rId2" cstate="print"/>
              <a:stretch>
                <a:fillRect/>
              </a:stretch>
            </a:blipFill>
          </p:spPr>
          <p:txBody>
            <a:bodyPr wrap="square" lIns="0" tIns="0" rIns="0" bIns="0" rtlCol="0"/>
            <a:lstStyle/>
            <a:p/>
          </p:txBody>
        </p:sp>
        <p:sp>
          <p:nvSpPr>
            <p:cNvPr id="5" name="object 5"/>
            <p:cNvSpPr txBox="1"/>
            <p:nvPr/>
          </p:nvSpPr>
          <p:spPr>
            <a:xfrm>
              <a:off x="4425967" y="1599154"/>
              <a:ext cx="1549400" cy="382156"/>
            </a:xfrm>
            <a:prstGeom prst="rect">
              <a:avLst/>
            </a:prstGeom>
          </p:spPr>
          <p:txBody>
            <a:bodyPr vert="horz" wrap="square" lIns="0" tIns="12700" rIns="0" bIns="0" rtlCol="0">
              <a:spAutoFit/>
            </a:bodyPr>
            <a:lstStyle/>
            <a:p>
              <a:pPr marL="12700">
                <a:lnSpc>
                  <a:spcPct val="100000"/>
                </a:lnSpc>
                <a:spcBef>
                  <a:spcPts val="100"/>
                </a:spcBef>
              </a:pPr>
              <a:r>
                <a:rPr sz="2400" b="1" dirty="0" err="1">
                  <a:latin typeface="微软雅黑" panose="020B0503020204020204" pitchFamily="34" charset="-122"/>
                  <a:cs typeface="微软雅黑" panose="020B0503020204020204" pitchFamily="34" charset="-122"/>
                </a:rPr>
                <a:t>抽象的接口</a:t>
              </a:r>
              <a:endParaRPr sz="2400" dirty="0">
                <a:latin typeface="微软雅黑" panose="020B0503020204020204" pitchFamily="34" charset="-122"/>
                <a:cs typeface="微软雅黑" panose="020B0503020204020204" pitchFamily="34" charset="-122"/>
              </a:endParaRPr>
            </a:p>
          </p:txBody>
        </p:sp>
        <p:sp>
          <p:nvSpPr>
            <p:cNvPr id="6" name="object 6"/>
            <p:cNvSpPr txBox="1"/>
            <p:nvPr/>
          </p:nvSpPr>
          <p:spPr>
            <a:xfrm>
              <a:off x="6467716" y="3329058"/>
              <a:ext cx="2768600" cy="391160"/>
            </a:xfrm>
            <a:prstGeom prst="rect">
              <a:avLst/>
            </a:prstGeom>
          </p:spPr>
          <p:txBody>
            <a:bodyPr vert="horz" wrap="square" lIns="0" tIns="12700" rIns="0" bIns="0" rtlCol="0">
              <a:spAutoFit/>
            </a:bodyPr>
            <a:lstStyle/>
            <a:p>
              <a:pPr marL="12700">
                <a:lnSpc>
                  <a:spcPct val="100000"/>
                </a:lnSpc>
                <a:spcBef>
                  <a:spcPts val="100"/>
                </a:spcBef>
              </a:pPr>
              <a:r>
                <a:rPr sz="2400" b="1" dirty="0">
                  <a:latin typeface="微软雅黑" panose="020B0503020204020204" pitchFamily="34" charset="-122"/>
                  <a:cs typeface="微软雅黑" panose="020B0503020204020204" pitchFamily="34" charset="-122"/>
                </a:rPr>
                <a:t>师傅，请送我去机场</a:t>
              </a:r>
              <a:endParaRPr sz="2400">
                <a:latin typeface="微软雅黑" panose="020B0503020204020204" pitchFamily="34" charset="-122"/>
                <a:cs typeface="微软雅黑" panose="020B0503020204020204" pitchFamily="34" charset="-122"/>
              </a:endParaRPr>
            </a:p>
          </p:txBody>
        </p:sp>
        <p:sp>
          <p:nvSpPr>
            <p:cNvPr id="7" name="object 7"/>
            <p:cNvSpPr/>
            <p:nvPr/>
          </p:nvSpPr>
          <p:spPr>
            <a:xfrm>
              <a:off x="8008226" y="4710058"/>
              <a:ext cx="2436811" cy="1407516"/>
            </a:xfrm>
            <a:prstGeom prst="rect">
              <a:avLst/>
            </a:prstGeom>
            <a:blipFill>
              <a:blip r:embed="rId3" cstate="print"/>
              <a:stretch>
                <a:fillRect/>
              </a:stretch>
            </a:blipFill>
          </p:spPr>
          <p:txBody>
            <a:bodyPr wrap="square" lIns="0" tIns="0" rIns="0" bIns="0" rtlCol="0"/>
            <a:lstStyle/>
            <a:p/>
          </p:txBody>
        </p:sp>
        <p:sp>
          <p:nvSpPr>
            <p:cNvPr id="8" name="object 8"/>
            <p:cNvSpPr/>
            <p:nvPr/>
          </p:nvSpPr>
          <p:spPr>
            <a:xfrm>
              <a:off x="6920834" y="3826475"/>
              <a:ext cx="969010" cy="1005205"/>
            </a:xfrm>
            <a:custGeom>
              <a:avLst/>
              <a:gdLst/>
              <a:ahLst/>
              <a:cxnLst/>
              <a:rect l="l" t="t" r="r" b="b"/>
              <a:pathLst>
                <a:path w="969009" h="1005204">
                  <a:moveTo>
                    <a:pt x="208283" y="0"/>
                  </a:moveTo>
                  <a:lnTo>
                    <a:pt x="0" y="195629"/>
                  </a:lnTo>
                  <a:lnTo>
                    <a:pt x="656443" y="894538"/>
                  </a:lnTo>
                  <a:lnTo>
                    <a:pt x="552302" y="992352"/>
                  </a:lnTo>
                  <a:lnTo>
                    <a:pt x="956216" y="1005006"/>
                  </a:lnTo>
                  <a:lnTo>
                    <a:pt x="965805" y="698908"/>
                  </a:lnTo>
                  <a:lnTo>
                    <a:pt x="864729" y="698908"/>
                  </a:lnTo>
                  <a:lnTo>
                    <a:pt x="208283" y="0"/>
                  </a:lnTo>
                  <a:close/>
                </a:path>
                <a:path w="969009" h="1005204">
                  <a:moveTo>
                    <a:pt x="968870" y="601094"/>
                  </a:moveTo>
                  <a:lnTo>
                    <a:pt x="864729" y="698908"/>
                  </a:lnTo>
                  <a:lnTo>
                    <a:pt x="965805" y="698908"/>
                  </a:lnTo>
                  <a:lnTo>
                    <a:pt x="968870" y="601094"/>
                  </a:lnTo>
                  <a:close/>
                </a:path>
              </a:pathLst>
            </a:custGeom>
            <a:solidFill>
              <a:srgbClr val="FFCA00"/>
            </a:solidFill>
          </p:spPr>
          <p:txBody>
            <a:bodyPr wrap="square" lIns="0" tIns="0" rIns="0" bIns="0" rtlCol="0"/>
            <a:lstStyle/>
            <a:p/>
          </p:txBody>
        </p:sp>
        <p:sp>
          <p:nvSpPr>
            <p:cNvPr id="9" name="object 9"/>
            <p:cNvSpPr/>
            <p:nvPr/>
          </p:nvSpPr>
          <p:spPr>
            <a:xfrm>
              <a:off x="6920833" y="3826476"/>
              <a:ext cx="969010" cy="1005205"/>
            </a:xfrm>
            <a:custGeom>
              <a:avLst/>
              <a:gdLst/>
              <a:ahLst/>
              <a:cxnLst/>
              <a:rect l="l" t="t" r="r" b="b"/>
              <a:pathLst>
                <a:path w="969009" h="1005204">
                  <a:moveTo>
                    <a:pt x="552303" y="992352"/>
                  </a:moveTo>
                  <a:lnTo>
                    <a:pt x="656444" y="894537"/>
                  </a:lnTo>
                  <a:lnTo>
                    <a:pt x="0" y="195629"/>
                  </a:lnTo>
                  <a:lnTo>
                    <a:pt x="208283" y="0"/>
                  </a:lnTo>
                  <a:lnTo>
                    <a:pt x="864729" y="698908"/>
                  </a:lnTo>
                  <a:lnTo>
                    <a:pt x="968870" y="601093"/>
                  </a:lnTo>
                  <a:lnTo>
                    <a:pt x="956216" y="1005007"/>
                  </a:lnTo>
                  <a:lnTo>
                    <a:pt x="552303" y="992352"/>
                  </a:lnTo>
                  <a:close/>
                </a:path>
              </a:pathLst>
            </a:custGeom>
            <a:ln w="12699">
              <a:solidFill>
                <a:srgbClr val="C99C00"/>
              </a:solidFill>
            </a:ln>
          </p:spPr>
          <p:txBody>
            <a:bodyPr wrap="square" lIns="0" tIns="0" rIns="0" bIns="0" rtlCol="0"/>
            <a:lstStyle/>
            <a:p/>
          </p:txBody>
        </p:sp>
      </p:grpSp>
      <p:sp>
        <p:nvSpPr>
          <p:cNvPr id="12" name="标题 11"/>
          <p:cNvSpPr>
            <a:spLocks noGrp="1"/>
          </p:cNvSpPr>
          <p:nvPr>
            <p:ph type="title"/>
          </p:nvPr>
        </p:nvSpPr>
        <p:spPr/>
        <p:txBody>
          <a:bodyPr/>
          <a:lstStyle/>
          <a:p>
            <a:r>
              <a:rPr lang="zh-CN" altLang="en-US" spc="-15" dirty="0">
                <a:latin typeface="MS PGothic" panose="020B0600070205080204" charset="-128"/>
                <a:cs typeface="MS PGothic" panose="020B0600070205080204" charset="-128"/>
              </a:rPr>
              <a:t>抽象的接口</a:t>
            </a:r>
            <a:endParaRPr lang="zh-CN" altLang="en-US" dirty="0"/>
          </a:p>
        </p:txBody>
      </p:sp>
      <p:sp>
        <p:nvSpPr>
          <p:cNvPr id="14" name="灯片编号占位符 13"/>
          <p:cNvSpPr>
            <a:spLocks noGrp="1"/>
          </p:cNvSpPr>
          <p:nvPr>
            <p:ph type="sldNum" sz="quarter" idx="12"/>
          </p:nvPr>
        </p:nvSpPr>
        <p:spPr/>
        <p:txBody>
          <a:bodyPr/>
          <a:lstStyle/>
          <a:p>
            <a:fld id="{74D2AB8B-5816-41F2-8B4B-CA5C3E4E6A6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122"/>
    </mc:Choice>
    <mc:Fallback>
      <p:transition spd="slow" advTm="30122"/>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1688615" y="1690688"/>
            <a:ext cx="8814770" cy="4363189"/>
            <a:chOff x="1146790" y="1691323"/>
            <a:chExt cx="8814770" cy="4363189"/>
          </a:xfrm>
        </p:grpSpPr>
        <p:sp>
          <p:nvSpPr>
            <p:cNvPr id="3" name="object 3"/>
            <p:cNvSpPr/>
            <p:nvPr/>
          </p:nvSpPr>
          <p:spPr>
            <a:xfrm>
              <a:off x="1146790" y="1930713"/>
              <a:ext cx="2390158" cy="1979298"/>
            </a:xfrm>
            <a:prstGeom prst="rect">
              <a:avLst/>
            </a:prstGeom>
            <a:blipFill>
              <a:blip r:embed="rId1" cstate="print"/>
              <a:stretch>
                <a:fillRect/>
              </a:stretch>
            </a:blipFill>
          </p:spPr>
          <p:txBody>
            <a:bodyPr wrap="square" lIns="0" tIns="0" rIns="0" bIns="0" rtlCol="0"/>
            <a:lstStyle/>
            <a:p/>
          </p:txBody>
        </p:sp>
        <p:sp>
          <p:nvSpPr>
            <p:cNvPr id="4" name="object 4"/>
            <p:cNvSpPr/>
            <p:nvPr/>
          </p:nvSpPr>
          <p:spPr>
            <a:xfrm>
              <a:off x="4507452" y="2009369"/>
              <a:ext cx="1463183" cy="1841905"/>
            </a:xfrm>
            <a:prstGeom prst="rect">
              <a:avLst/>
            </a:prstGeom>
            <a:blipFill>
              <a:blip r:embed="rId2" cstate="print"/>
              <a:stretch>
                <a:fillRect/>
              </a:stretch>
            </a:blipFill>
          </p:spPr>
          <p:txBody>
            <a:bodyPr wrap="square" lIns="0" tIns="0" rIns="0" bIns="0" rtlCol="0"/>
            <a:lstStyle/>
            <a:p/>
          </p:txBody>
        </p:sp>
        <p:sp>
          <p:nvSpPr>
            <p:cNvPr id="5" name="object 5"/>
            <p:cNvSpPr/>
            <p:nvPr/>
          </p:nvSpPr>
          <p:spPr>
            <a:xfrm>
              <a:off x="6756398" y="4422775"/>
              <a:ext cx="3205162" cy="1631737"/>
            </a:xfrm>
            <a:prstGeom prst="rect">
              <a:avLst/>
            </a:prstGeom>
            <a:blipFill>
              <a:blip r:embed="rId3" cstate="print"/>
              <a:stretch>
                <a:fillRect/>
              </a:stretch>
            </a:blipFill>
          </p:spPr>
          <p:txBody>
            <a:bodyPr wrap="square" lIns="0" tIns="0" rIns="0" bIns="0" rtlCol="0"/>
            <a:lstStyle/>
            <a:p/>
          </p:txBody>
        </p:sp>
        <p:sp>
          <p:nvSpPr>
            <p:cNvPr id="6" name="object 6"/>
            <p:cNvSpPr/>
            <p:nvPr/>
          </p:nvSpPr>
          <p:spPr>
            <a:xfrm>
              <a:off x="6286498" y="2643188"/>
              <a:ext cx="666750" cy="214629"/>
            </a:xfrm>
            <a:custGeom>
              <a:avLst/>
              <a:gdLst/>
              <a:ahLst/>
              <a:cxnLst/>
              <a:rect l="l" t="t" r="r" b="b"/>
              <a:pathLst>
                <a:path w="666750" h="214630">
                  <a:moveTo>
                    <a:pt x="559593" y="0"/>
                  </a:moveTo>
                  <a:lnTo>
                    <a:pt x="559593" y="53577"/>
                  </a:lnTo>
                  <a:lnTo>
                    <a:pt x="0" y="53577"/>
                  </a:lnTo>
                  <a:lnTo>
                    <a:pt x="0" y="160733"/>
                  </a:lnTo>
                  <a:lnTo>
                    <a:pt x="559593" y="160733"/>
                  </a:lnTo>
                  <a:lnTo>
                    <a:pt x="559593" y="214311"/>
                  </a:lnTo>
                  <a:lnTo>
                    <a:pt x="666750" y="107154"/>
                  </a:lnTo>
                  <a:lnTo>
                    <a:pt x="559593" y="0"/>
                  </a:lnTo>
                  <a:close/>
                </a:path>
              </a:pathLst>
            </a:custGeom>
            <a:solidFill>
              <a:srgbClr val="FFCA00"/>
            </a:solidFill>
          </p:spPr>
          <p:txBody>
            <a:bodyPr wrap="square" lIns="0" tIns="0" rIns="0" bIns="0" rtlCol="0"/>
            <a:lstStyle/>
            <a:p/>
          </p:txBody>
        </p:sp>
        <p:sp>
          <p:nvSpPr>
            <p:cNvPr id="7" name="object 7"/>
            <p:cNvSpPr/>
            <p:nvPr/>
          </p:nvSpPr>
          <p:spPr>
            <a:xfrm>
              <a:off x="6286498" y="2643188"/>
              <a:ext cx="666750" cy="214629"/>
            </a:xfrm>
            <a:custGeom>
              <a:avLst/>
              <a:gdLst/>
              <a:ahLst/>
              <a:cxnLst/>
              <a:rect l="l" t="t" r="r" b="b"/>
              <a:pathLst>
                <a:path w="666750" h="214630">
                  <a:moveTo>
                    <a:pt x="0" y="53578"/>
                  </a:moveTo>
                  <a:lnTo>
                    <a:pt x="559593" y="53578"/>
                  </a:lnTo>
                  <a:lnTo>
                    <a:pt x="559593" y="0"/>
                  </a:lnTo>
                  <a:lnTo>
                    <a:pt x="666749" y="107155"/>
                  </a:lnTo>
                  <a:lnTo>
                    <a:pt x="559593" y="214312"/>
                  </a:lnTo>
                  <a:lnTo>
                    <a:pt x="559593" y="160733"/>
                  </a:lnTo>
                  <a:lnTo>
                    <a:pt x="0" y="160733"/>
                  </a:lnTo>
                  <a:lnTo>
                    <a:pt x="0" y="53578"/>
                  </a:lnTo>
                  <a:close/>
                </a:path>
              </a:pathLst>
            </a:custGeom>
            <a:ln w="12699">
              <a:solidFill>
                <a:srgbClr val="C99C00"/>
              </a:solidFill>
            </a:ln>
          </p:spPr>
          <p:txBody>
            <a:bodyPr wrap="square" lIns="0" tIns="0" rIns="0" bIns="0" rtlCol="0"/>
            <a:lstStyle/>
            <a:p/>
          </p:txBody>
        </p:sp>
        <p:sp>
          <p:nvSpPr>
            <p:cNvPr id="8" name="object 8"/>
            <p:cNvSpPr/>
            <p:nvPr/>
          </p:nvSpPr>
          <p:spPr>
            <a:xfrm>
              <a:off x="7238998" y="2857500"/>
              <a:ext cx="285750" cy="500380"/>
            </a:xfrm>
            <a:custGeom>
              <a:avLst/>
              <a:gdLst/>
              <a:ahLst/>
              <a:cxnLst/>
              <a:rect l="l" t="t" r="r" b="b"/>
              <a:pathLst>
                <a:path w="285750" h="500379">
                  <a:moveTo>
                    <a:pt x="285750" y="357188"/>
                  </a:moveTo>
                  <a:lnTo>
                    <a:pt x="0" y="357188"/>
                  </a:lnTo>
                  <a:lnTo>
                    <a:pt x="142875" y="500063"/>
                  </a:lnTo>
                  <a:lnTo>
                    <a:pt x="285750" y="357188"/>
                  </a:lnTo>
                  <a:close/>
                </a:path>
                <a:path w="285750" h="500379">
                  <a:moveTo>
                    <a:pt x="214313" y="0"/>
                  </a:moveTo>
                  <a:lnTo>
                    <a:pt x="71438" y="0"/>
                  </a:lnTo>
                  <a:lnTo>
                    <a:pt x="71438" y="357188"/>
                  </a:lnTo>
                  <a:lnTo>
                    <a:pt x="214313" y="357188"/>
                  </a:lnTo>
                  <a:lnTo>
                    <a:pt x="214313" y="0"/>
                  </a:lnTo>
                  <a:close/>
                </a:path>
              </a:pathLst>
            </a:custGeom>
            <a:solidFill>
              <a:srgbClr val="FFCA00"/>
            </a:solidFill>
          </p:spPr>
          <p:txBody>
            <a:bodyPr wrap="square" lIns="0" tIns="0" rIns="0" bIns="0" rtlCol="0"/>
            <a:lstStyle/>
            <a:p/>
          </p:txBody>
        </p:sp>
        <p:sp>
          <p:nvSpPr>
            <p:cNvPr id="9" name="object 9"/>
            <p:cNvSpPr/>
            <p:nvPr/>
          </p:nvSpPr>
          <p:spPr>
            <a:xfrm>
              <a:off x="7238998" y="2857500"/>
              <a:ext cx="285750" cy="500380"/>
            </a:xfrm>
            <a:custGeom>
              <a:avLst/>
              <a:gdLst/>
              <a:ahLst/>
              <a:cxnLst/>
              <a:rect l="l" t="t" r="r" b="b"/>
              <a:pathLst>
                <a:path w="285750" h="500379">
                  <a:moveTo>
                    <a:pt x="0" y="357187"/>
                  </a:moveTo>
                  <a:lnTo>
                    <a:pt x="71438" y="357187"/>
                  </a:lnTo>
                  <a:lnTo>
                    <a:pt x="71438" y="0"/>
                  </a:lnTo>
                  <a:lnTo>
                    <a:pt x="214313" y="0"/>
                  </a:lnTo>
                  <a:lnTo>
                    <a:pt x="214313" y="357187"/>
                  </a:lnTo>
                  <a:lnTo>
                    <a:pt x="285749" y="357187"/>
                  </a:lnTo>
                  <a:lnTo>
                    <a:pt x="142875" y="500062"/>
                  </a:lnTo>
                  <a:lnTo>
                    <a:pt x="0" y="357187"/>
                  </a:lnTo>
                  <a:close/>
                </a:path>
              </a:pathLst>
            </a:custGeom>
            <a:ln w="12699">
              <a:solidFill>
                <a:srgbClr val="C99C00"/>
              </a:solidFill>
            </a:ln>
          </p:spPr>
          <p:txBody>
            <a:bodyPr wrap="square" lIns="0" tIns="0" rIns="0" bIns="0" rtlCol="0"/>
            <a:lstStyle/>
            <a:p/>
          </p:txBody>
        </p:sp>
        <p:sp>
          <p:nvSpPr>
            <p:cNvPr id="10" name="object 10"/>
            <p:cNvSpPr/>
            <p:nvPr/>
          </p:nvSpPr>
          <p:spPr>
            <a:xfrm>
              <a:off x="6381748" y="3429000"/>
              <a:ext cx="857250" cy="214629"/>
            </a:xfrm>
            <a:custGeom>
              <a:avLst/>
              <a:gdLst/>
              <a:ahLst/>
              <a:cxnLst/>
              <a:rect l="l" t="t" r="r" b="b"/>
              <a:pathLst>
                <a:path w="857250" h="214629">
                  <a:moveTo>
                    <a:pt x="107156" y="0"/>
                  </a:moveTo>
                  <a:lnTo>
                    <a:pt x="0" y="107156"/>
                  </a:lnTo>
                  <a:lnTo>
                    <a:pt x="107156" y="214313"/>
                  </a:lnTo>
                  <a:lnTo>
                    <a:pt x="107156" y="160735"/>
                  </a:lnTo>
                  <a:lnTo>
                    <a:pt x="857250" y="160735"/>
                  </a:lnTo>
                  <a:lnTo>
                    <a:pt x="857250" y="53578"/>
                  </a:lnTo>
                  <a:lnTo>
                    <a:pt x="107156" y="53578"/>
                  </a:lnTo>
                  <a:lnTo>
                    <a:pt x="107156" y="0"/>
                  </a:lnTo>
                  <a:close/>
                </a:path>
              </a:pathLst>
            </a:custGeom>
            <a:solidFill>
              <a:srgbClr val="FFCA00"/>
            </a:solidFill>
          </p:spPr>
          <p:txBody>
            <a:bodyPr wrap="square" lIns="0" tIns="0" rIns="0" bIns="0" rtlCol="0"/>
            <a:lstStyle/>
            <a:p/>
          </p:txBody>
        </p:sp>
        <p:sp>
          <p:nvSpPr>
            <p:cNvPr id="11" name="object 11"/>
            <p:cNvSpPr/>
            <p:nvPr/>
          </p:nvSpPr>
          <p:spPr>
            <a:xfrm>
              <a:off x="6381748" y="3429000"/>
              <a:ext cx="857250" cy="214629"/>
            </a:xfrm>
            <a:custGeom>
              <a:avLst/>
              <a:gdLst/>
              <a:ahLst/>
              <a:cxnLst/>
              <a:rect l="l" t="t" r="r" b="b"/>
              <a:pathLst>
                <a:path w="857250" h="214629">
                  <a:moveTo>
                    <a:pt x="857249" y="160734"/>
                  </a:moveTo>
                  <a:lnTo>
                    <a:pt x="107156" y="160734"/>
                  </a:lnTo>
                  <a:lnTo>
                    <a:pt x="107156" y="214312"/>
                  </a:lnTo>
                  <a:lnTo>
                    <a:pt x="0" y="107155"/>
                  </a:lnTo>
                  <a:lnTo>
                    <a:pt x="107156" y="0"/>
                  </a:lnTo>
                  <a:lnTo>
                    <a:pt x="107156" y="53577"/>
                  </a:lnTo>
                  <a:lnTo>
                    <a:pt x="857249" y="53577"/>
                  </a:lnTo>
                  <a:lnTo>
                    <a:pt x="857249" y="160734"/>
                  </a:lnTo>
                  <a:close/>
                </a:path>
              </a:pathLst>
            </a:custGeom>
            <a:ln w="12699">
              <a:solidFill>
                <a:srgbClr val="C99C00"/>
              </a:solidFill>
            </a:ln>
          </p:spPr>
          <p:txBody>
            <a:bodyPr wrap="square" lIns="0" tIns="0" rIns="0" bIns="0" rtlCol="0"/>
            <a:lstStyle/>
            <a:p/>
          </p:txBody>
        </p:sp>
        <p:sp>
          <p:nvSpPr>
            <p:cNvPr id="12" name="object 12"/>
            <p:cNvSpPr/>
            <p:nvPr/>
          </p:nvSpPr>
          <p:spPr>
            <a:xfrm>
              <a:off x="6095998" y="3786188"/>
              <a:ext cx="190500" cy="714375"/>
            </a:xfrm>
            <a:custGeom>
              <a:avLst/>
              <a:gdLst/>
              <a:ahLst/>
              <a:cxnLst/>
              <a:rect l="l" t="t" r="r" b="b"/>
              <a:pathLst>
                <a:path w="190500" h="714375">
                  <a:moveTo>
                    <a:pt x="190500" y="619123"/>
                  </a:moveTo>
                  <a:lnTo>
                    <a:pt x="0" y="619123"/>
                  </a:lnTo>
                  <a:lnTo>
                    <a:pt x="95250" y="714373"/>
                  </a:lnTo>
                  <a:lnTo>
                    <a:pt x="190500" y="619123"/>
                  </a:lnTo>
                  <a:close/>
                </a:path>
                <a:path w="190500" h="714375">
                  <a:moveTo>
                    <a:pt x="142875" y="0"/>
                  </a:moveTo>
                  <a:lnTo>
                    <a:pt x="47625" y="0"/>
                  </a:lnTo>
                  <a:lnTo>
                    <a:pt x="47625" y="619123"/>
                  </a:lnTo>
                  <a:lnTo>
                    <a:pt x="142875" y="619123"/>
                  </a:lnTo>
                  <a:lnTo>
                    <a:pt x="142875" y="0"/>
                  </a:lnTo>
                  <a:close/>
                </a:path>
              </a:pathLst>
            </a:custGeom>
            <a:solidFill>
              <a:srgbClr val="FFCA00"/>
            </a:solidFill>
          </p:spPr>
          <p:txBody>
            <a:bodyPr wrap="square" lIns="0" tIns="0" rIns="0" bIns="0" rtlCol="0"/>
            <a:lstStyle/>
            <a:p/>
          </p:txBody>
        </p:sp>
        <p:sp>
          <p:nvSpPr>
            <p:cNvPr id="13" name="object 13"/>
            <p:cNvSpPr/>
            <p:nvPr/>
          </p:nvSpPr>
          <p:spPr>
            <a:xfrm>
              <a:off x="6095998" y="3786188"/>
              <a:ext cx="190500" cy="714375"/>
            </a:xfrm>
            <a:custGeom>
              <a:avLst/>
              <a:gdLst/>
              <a:ahLst/>
              <a:cxnLst/>
              <a:rect l="l" t="t" r="r" b="b"/>
              <a:pathLst>
                <a:path w="190500" h="714375">
                  <a:moveTo>
                    <a:pt x="0" y="619124"/>
                  </a:moveTo>
                  <a:lnTo>
                    <a:pt x="47624" y="619124"/>
                  </a:lnTo>
                  <a:lnTo>
                    <a:pt x="47624" y="0"/>
                  </a:lnTo>
                  <a:lnTo>
                    <a:pt x="142874" y="0"/>
                  </a:lnTo>
                  <a:lnTo>
                    <a:pt x="142874" y="619124"/>
                  </a:lnTo>
                  <a:lnTo>
                    <a:pt x="190499" y="619124"/>
                  </a:lnTo>
                  <a:lnTo>
                    <a:pt x="95249" y="714374"/>
                  </a:lnTo>
                  <a:lnTo>
                    <a:pt x="0" y="619124"/>
                  </a:lnTo>
                  <a:close/>
                </a:path>
              </a:pathLst>
            </a:custGeom>
            <a:ln w="12699">
              <a:solidFill>
                <a:srgbClr val="C99C00"/>
              </a:solidFill>
            </a:ln>
          </p:spPr>
          <p:txBody>
            <a:bodyPr wrap="square" lIns="0" tIns="0" rIns="0" bIns="0" rtlCol="0"/>
            <a:lstStyle/>
            <a:p/>
          </p:txBody>
        </p:sp>
        <p:sp>
          <p:nvSpPr>
            <p:cNvPr id="14" name="object 14"/>
            <p:cNvSpPr txBox="1"/>
            <p:nvPr/>
          </p:nvSpPr>
          <p:spPr>
            <a:xfrm>
              <a:off x="3983990" y="1691323"/>
              <a:ext cx="4185920" cy="3467616"/>
            </a:xfrm>
            <a:prstGeom prst="rect">
              <a:avLst/>
            </a:prstGeom>
          </p:spPr>
          <p:txBody>
            <a:bodyPr vert="horz" wrap="square" lIns="0" tIns="12700" rIns="0" bIns="0" rtlCol="0">
              <a:spAutoFit/>
            </a:bodyPr>
            <a:lstStyle/>
            <a:p>
              <a:pPr marL="12700">
                <a:lnSpc>
                  <a:spcPct val="100000"/>
                </a:lnSpc>
                <a:spcBef>
                  <a:spcPts val="100"/>
                </a:spcBef>
              </a:pPr>
              <a:r>
                <a:rPr sz="2000" b="1" dirty="0" err="1">
                  <a:latin typeface="微软雅黑" panose="020B0503020204020204" pitchFamily="34" charset="-122"/>
                  <a:cs typeface="微软雅黑" panose="020B0503020204020204" pitchFamily="34" charset="-122"/>
                </a:rPr>
                <a:t>不够抽象的接口</a:t>
              </a:r>
              <a:endParaRPr sz="2000" dirty="0">
                <a:latin typeface="微软雅黑" panose="020B0503020204020204" pitchFamily="34" charset="-122"/>
                <a:cs typeface="微软雅黑" panose="020B0503020204020204" pitchFamily="34" charset="-122"/>
              </a:endParaRPr>
            </a:p>
            <a:p>
              <a:pPr>
                <a:lnSpc>
                  <a:spcPct val="100000"/>
                </a:lnSpc>
                <a:spcBef>
                  <a:spcPts val="5"/>
                </a:spcBef>
              </a:pPr>
              <a:endParaRPr sz="2300" dirty="0">
                <a:latin typeface="Times New Roman" panose="02020603050405020304"/>
                <a:cs typeface="Times New Roman" panose="02020603050405020304"/>
              </a:endParaRPr>
            </a:p>
            <a:p>
              <a:pPr marL="2366645">
                <a:lnSpc>
                  <a:spcPct val="100000"/>
                </a:lnSpc>
              </a:pPr>
              <a:r>
                <a:rPr sz="1800" b="1" dirty="0">
                  <a:latin typeface="微软雅黑" panose="020B0503020204020204" pitchFamily="34" charset="-122"/>
                  <a:cs typeface="微软雅黑" panose="020B0503020204020204" pitchFamily="34" charset="-122"/>
                </a:rPr>
                <a:t>右转</a:t>
              </a:r>
              <a:endParaRPr sz="1800" dirty="0">
                <a:latin typeface="微软雅黑" panose="020B0503020204020204" pitchFamily="34" charset="-122"/>
                <a:cs typeface="微软雅黑" panose="020B0503020204020204" pitchFamily="34" charset="-122"/>
              </a:endParaRPr>
            </a:p>
            <a:p>
              <a:pPr>
                <a:lnSpc>
                  <a:spcPct val="100000"/>
                </a:lnSpc>
                <a:spcBef>
                  <a:spcPts val="5"/>
                </a:spcBef>
              </a:pPr>
              <a:endParaRPr sz="2000" dirty="0">
                <a:latin typeface="Times New Roman" panose="02020603050405020304"/>
                <a:cs typeface="Times New Roman" panose="02020603050405020304"/>
              </a:endParaRPr>
            </a:p>
            <a:p>
              <a:pPr marR="5080" algn="r">
                <a:lnSpc>
                  <a:spcPct val="100000"/>
                </a:lnSpc>
              </a:pPr>
              <a:r>
                <a:rPr sz="1800" b="1" dirty="0">
                  <a:latin typeface="微软雅黑" panose="020B0503020204020204" pitchFamily="34" charset="-122"/>
                  <a:cs typeface="微软雅黑" panose="020B0503020204020204" pitchFamily="34" charset="-122"/>
                </a:rPr>
                <a:t>右转</a:t>
              </a:r>
              <a:endParaRPr sz="1800" dirty="0">
                <a:latin typeface="微软雅黑" panose="020B0503020204020204" pitchFamily="34" charset="-122"/>
                <a:cs typeface="微软雅黑" panose="020B0503020204020204" pitchFamily="34" charset="-122"/>
              </a:endParaRPr>
            </a:p>
            <a:p>
              <a:pPr>
                <a:lnSpc>
                  <a:spcPct val="100000"/>
                </a:lnSpc>
              </a:pPr>
              <a:endParaRPr sz="1800" dirty="0">
                <a:latin typeface="Times New Roman" panose="02020603050405020304"/>
                <a:cs typeface="Times New Roman" panose="02020603050405020304"/>
              </a:endParaRPr>
            </a:p>
            <a:p>
              <a:pPr>
                <a:lnSpc>
                  <a:spcPct val="100000"/>
                </a:lnSpc>
                <a:spcBef>
                  <a:spcPts val="25"/>
                </a:spcBef>
              </a:pPr>
              <a:endParaRPr sz="2200" dirty="0">
                <a:latin typeface="Times New Roman" panose="02020603050405020304"/>
                <a:cs typeface="Times New Roman" panose="02020603050405020304"/>
              </a:endParaRPr>
            </a:p>
            <a:p>
              <a:pPr marL="1440180" algn="ctr">
                <a:lnSpc>
                  <a:spcPts val="1940"/>
                </a:lnSpc>
              </a:pPr>
              <a:r>
                <a:rPr sz="1800" b="1" dirty="0">
                  <a:latin typeface="微软雅黑" panose="020B0503020204020204" pitchFamily="34" charset="-122"/>
                  <a:cs typeface="微软雅黑" panose="020B0503020204020204" pitchFamily="34" charset="-122"/>
                </a:rPr>
                <a:t>左转</a:t>
              </a:r>
              <a:endParaRPr sz="1800" dirty="0">
                <a:latin typeface="微软雅黑" panose="020B0503020204020204" pitchFamily="34" charset="-122"/>
                <a:cs typeface="微软雅黑" panose="020B0503020204020204" pitchFamily="34" charset="-122"/>
              </a:endParaRPr>
            </a:p>
            <a:p>
              <a:pPr marR="610870" algn="ctr">
                <a:lnSpc>
                  <a:spcPts val="1940"/>
                </a:lnSpc>
              </a:pPr>
              <a:r>
                <a:rPr sz="1800" b="1" dirty="0">
                  <a:latin typeface="微软雅黑" panose="020B0503020204020204" pitchFamily="34" charset="-122"/>
                  <a:cs typeface="微软雅黑" panose="020B0503020204020204" pitchFamily="34" charset="-122"/>
                </a:rPr>
                <a:t>左转</a:t>
              </a:r>
              <a:endParaRPr sz="1800" dirty="0">
                <a:latin typeface="微软雅黑" panose="020B0503020204020204" pitchFamily="34" charset="-122"/>
                <a:cs typeface="微软雅黑" panose="020B0503020204020204" pitchFamily="34" charset="-122"/>
              </a:endParaRPr>
            </a:p>
            <a:p>
              <a:pPr>
                <a:lnSpc>
                  <a:spcPct val="100000"/>
                </a:lnSpc>
              </a:pPr>
              <a:endParaRPr sz="1800" dirty="0">
                <a:latin typeface="Times New Roman" panose="02020603050405020304"/>
                <a:cs typeface="Times New Roman" panose="02020603050405020304"/>
              </a:endParaRPr>
            </a:p>
            <a:p>
              <a:pPr>
                <a:lnSpc>
                  <a:spcPct val="100000"/>
                </a:lnSpc>
                <a:spcBef>
                  <a:spcPts val="50"/>
                </a:spcBef>
              </a:pPr>
              <a:endParaRPr sz="1700" dirty="0">
                <a:latin typeface="Times New Roman" panose="02020603050405020304"/>
                <a:cs typeface="Times New Roman" panose="02020603050405020304"/>
              </a:endParaRPr>
            </a:p>
            <a:p>
              <a:pPr marR="293370" algn="r">
                <a:lnSpc>
                  <a:spcPct val="100000"/>
                </a:lnSpc>
              </a:pPr>
              <a:r>
                <a:rPr sz="1800" b="1" dirty="0">
                  <a:latin typeface="微软雅黑" panose="020B0503020204020204" pitchFamily="34" charset="-122"/>
                  <a:cs typeface="微软雅黑" panose="020B0503020204020204" pitchFamily="34" charset="-122"/>
                </a:rPr>
                <a:t>左转</a:t>
              </a:r>
              <a:endParaRPr sz="1800" dirty="0">
                <a:latin typeface="微软雅黑" panose="020B0503020204020204" pitchFamily="34" charset="-122"/>
                <a:cs typeface="微软雅黑" panose="020B0503020204020204" pitchFamily="34" charset="-122"/>
              </a:endParaRPr>
            </a:p>
          </p:txBody>
        </p:sp>
      </p:grpSp>
      <p:sp>
        <p:nvSpPr>
          <p:cNvPr id="17" name="标题 16"/>
          <p:cNvSpPr>
            <a:spLocks noGrp="1"/>
          </p:cNvSpPr>
          <p:nvPr>
            <p:ph type="title"/>
          </p:nvPr>
        </p:nvSpPr>
        <p:spPr/>
        <p:txBody>
          <a:bodyPr/>
          <a:lstStyle/>
          <a:p>
            <a:r>
              <a:rPr lang="zh-CN" altLang="en-US" spc="-15" dirty="0">
                <a:latin typeface="MS PGothic" panose="020B0600070205080204" charset="-128"/>
                <a:cs typeface="MS PGothic" panose="020B0600070205080204" charset="-128"/>
              </a:rPr>
              <a:t>不太抽象的接口</a:t>
            </a:r>
            <a:endParaRPr lang="zh-CN" altLang="en-US" dirty="0"/>
          </a:p>
        </p:txBody>
      </p:sp>
      <p:sp>
        <p:nvSpPr>
          <p:cNvPr id="19" name="灯片编号占位符 18"/>
          <p:cNvSpPr>
            <a:spLocks noGrp="1"/>
          </p:cNvSpPr>
          <p:nvPr>
            <p:ph type="sldNum" sz="quarter" idx="12"/>
          </p:nvPr>
        </p:nvSpPr>
        <p:spPr/>
        <p:txBody>
          <a:bodyPr/>
          <a:lstStyle/>
          <a:p>
            <a:fld id="{74D2AB8B-5816-41F2-8B4B-CA5C3E4E6A6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6400"/>
    </mc:Choice>
    <mc:Fallback>
      <p:transition spd="slow" advTm="36400"/>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确定用户</a:t>
            </a:r>
            <a:endParaRPr lang="zh-CN" altLang="en-US" dirty="0"/>
          </a:p>
        </p:txBody>
      </p:sp>
      <p:sp>
        <p:nvSpPr>
          <p:cNvPr id="3" name="内容占位符 2"/>
          <p:cNvSpPr>
            <a:spLocks noGrp="1"/>
          </p:cNvSpPr>
          <p:nvPr>
            <p:ph idx="1"/>
          </p:nvPr>
        </p:nvSpPr>
        <p:spPr/>
        <p:txBody>
          <a:bodyPr/>
          <a:lstStyle/>
          <a:p>
            <a:pPr marL="241300">
              <a:lnSpc>
                <a:spcPct val="100000"/>
              </a:lnSpc>
              <a:spcBef>
                <a:spcPts val="1740"/>
              </a:spcBef>
              <a:buFont typeface="Arial" panose="020B0604020202020204"/>
              <a:buChar char="•"/>
              <a:tabLst>
                <a:tab pos="241300" algn="l"/>
                <a:tab pos="1840230" algn="l"/>
                <a:tab pos="2196465" algn="l"/>
              </a:tabLst>
            </a:pPr>
            <a:r>
              <a:rPr lang="zh-CN" altLang="en-US" dirty="0">
                <a:latin typeface="黑体" panose="02010609060101010101" charset="-122"/>
                <a:cs typeface="黑体" panose="02010609060101010101" charset="-122"/>
              </a:rPr>
              <a:t>用户是谁</a:t>
            </a:r>
            <a:r>
              <a:rPr lang="en-US" altLang="zh-CN" dirty="0">
                <a:latin typeface="黑体" panose="02010609060101010101" charset="-122"/>
                <a:cs typeface="黑体" panose="02010609060101010101" charset="-122"/>
              </a:rPr>
              <a:t>?	</a:t>
            </a:r>
            <a:r>
              <a:rPr lang="zh-CN" altLang="en-US" dirty="0">
                <a:latin typeface="黑体" panose="02010609060101010101" charset="-122"/>
                <a:cs typeface="黑体" panose="02010609060101010101" charset="-122"/>
              </a:rPr>
              <a:t>重要程度高达</a:t>
            </a:r>
            <a:r>
              <a:rPr lang="en-US" altLang="zh-CN" dirty="0">
                <a:latin typeface="黑体" panose="02010609060101010101" charset="-122"/>
                <a:cs typeface="黑体" panose="02010609060101010101" charset="-122"/>
              </a:rPr>
              <a:t>50</a:t>
            </a:r>
            <a:endParaRPr lang="en-US" altLang="zh-CN" dirty="0">
              <a:latin typeface="黑体" panose="02010609060101010101" charset="-122"/>
              <a:cs typeface="黑体" panose="02010609060101010101" charset="-122"/>
            </a:endParaRPr>
          </a:p>
          <a:p>
            <a:pPr marL="241300">
              <a:lnSpc>
                <a:spcPct val="100000"/>
              </a:lnSpc>
              <a:spcBef>
                <a:spcPts val="1640"/>
              </a:spcBef>
              <a:buFont typeface="Arial" panose="020B0604020202020204"/>
              <a:buChar char="•"/>
              <a:tabLst>
                <a:tab pos="241300" algn="l"/>
              </a:tabLst>
            </a:pPr>
            <a:r>
              <a:rPr lang="zh-CN" altLang="en-US" b="1" spc="-15" dirty="0">
                <a:solidFill>
                  <a:srgbClr val="800000"/>
                </a:solidFill>
                <a:latin typeface="黑体" panose="02010609060101010101" charset="-122"/>
                <a:cs typeface="黑体" panose="02010609060101010101" charset="-122"/>
              </a:rPr>
              <a:t>面向服务的原则</a:t>
            </a:r>
            <a:r>
              <a:rPr lang="zh-CN" altLang="en-US" b="1" spc="-30" dirty="0">
                <a:solidFill>
                  <a:srgbClr val="800000"/>
                </a:solidFill>
                <a:latin typeface="黑体" panose="02010609060101010101" charset="-122"/>
                <a:cs typeface="黑体" panose="02010609060101010101" charset="-122"/>
              </a:rPr>
              <a:t> </a:t>
            </a:r>
            <a:r>
              <a:rPr lang="zh-CN" altLang="en-US" b="1" spc="-5" dirty="0">
                <a:solidFill>
                  <a:srgbClr val="800000"/>
                </a:solidFill>
                <a:latin typeface="黑体" panose="02010609060101010101" charset="-122"/>
                <a:cs typeface="黑体" panose="02010609060101010101" charset="-122"/>
              </a:rPr>
              <a:t>（</a:t>
            </a:r>
            <a:r>
              <a:rPr lang="en-US" altLang="zh-CN" b="1" spc="-5" dirty="0">
                <a:solidFill>
                  <a:srgbClr val="941100"/>
                </a:solidFill>
                <a:latin typeface="Calibri" panose="020F0502020204030204"/>
                <a:cs typeface="Calibri" panose="020F0502020204030204"/>
              </a:rPr>
              <a:t>Services</a:t>
            </a:r>
            <a:r>
              <a:rPr lang="en-US" altLang="zh-CN" b="1" spc="-10" dirty="0">
                <a:solidFill>
                  <a:srgbClr val="941100"/>
                </a:solidFill>
                <a:latin typeface="Calibri" panose="020F0502020204030204"/>
                <a:cs typeface="Calibri" panose="020F0502020204030204"/>
              </a:rPr>
              <a:t> </a:t>
            </a:r>
            <a:r>
              <a:rPr lang="en-US" altLang="zh-CN" b="1" spc="-5" dirty="0">
                <a:solidFill>
                  <a:srgbClr val="941100"/>
                </a:solidFill>
                <a:latin typeface="Calibri" panose="020F0502020204030204"/>
                <a:cs typeface="Calibri" panose="020F0502020204030204"/>
              </a:rPr>
              <a:t>Principle</a:t>
            </a:r>
            <a:r>
              <a:rPr lang="zh-CN" altLang="en-US" b="1" spc="-5" dirty="0">
                <a:solidFill>
                  <a:srgbClr val="941100"/>
                </a:solidFill>
                <a:latin typeface="黑体" panose="02010609060101010101" charset="-122"/>
                <a:cs typeface="黑体" panose="02010609060101010101" charset="-122"/>
              </a:rPr>
              <a:t>）</a:t>
            </a:r>
            <a:endParaRPr lang="en-US" altLang="zh-CN" dirty="0">
              <a:latin typeface="黑体" panose="02010609060101010101" charset="-122"/>
              <a:cs typeface="黑体" panose="02010609060101010101" charset="-122"/>
            </a:endParaRPr>
          </a:p>
          <a:p>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grpSp>
        <p:nvGrpSpPr>
          <p:cNvPr id="5" name="组合 4"/>
          <p:cNvGrpSpPr/>
          <p:nvPr/>
        </p:nvGrpSpPr>
        <p:grpSpPr>
          <a:xfrm>
            <a:off x="1362284" y="3283877"/>
            <a:ext cx="9467431" cy="1997396"/>
            <a:chOff x="1146790" y="2956238"/>
            <a:chExt cx="9467431" cy="1997396"/>
          </a:xfrm>
        </p:grpSpPr>
        <p:sp>
          <p:nvSpPr>
            <p:cNvPr id="6" name="object 5"/>
            <p:cNvSpPr/>
            <p:nvPr/>
          </p:nvSpPr>
          <p:spPr>
            <a:xfrm>
              <a:off x="1146790" y="2956238"/>
              <a:ext cx="2390158" cy="1979298"/>
            </a:xfrm>
            <a:prstGeom prst="rect">
              <a:avLst/>
            </a:prstGeom>
            <a:blipFill>
              <a:blip r:embed="rId1" cstate="print"/>
              <a:stretch>
                <a:fillRect/>
              </a:stretch>
            </a:blipFill>
          </p:spPr>
          <p:txBody>
            <a:bodyPr wrap="square" lIns="0" tIns="0" rIns="0" bIns="0" rtlCol="0"/>
            <a:lstStyle/>
            <a:p/>
          </p:txBody>
        </p:sp>
        <p:sp>
          <p:nvSpPr>
            <p:cNvPr id="7" name="object 6"/>
            <p:cNvSpPr/>
            <p:nvPr/>
          </p:nvSpPr>
          <p:spPr>
            <a:xfrm>
              <a:off x="9151038" y="3006070"/>
              <a:ext cx="1463183" cy="1841906"/>
            </a:xfrm>
            <a:prstGeom prst="rect">
              <a:avLst/>
            </a:prstGeom>
            <a:blipFill>
              <a:blip r:embed="rId2" cstate="print"/>
              <a:stretch>
                <a:fillRect/>
              </a:stretch>
            </a:blipFill>
          </p:spPr>
          <p:txBody>
            <a:bodyPr wrap="square" lIns="0" tIns="0" rIns="0" bIns="0" rtlCol="0"/>
            <a:lstStyle/>
            <a:p/>
          </p:txBody>
        </p:sp>
        <p:sp>
          <p:nvSpPr>
            <p:cNvPr id="8" name="object 7"/>
            <p:cNvSpPr txBox="1"/>
            <p:nvPr/>
          </p:nvSpPr>
          <p:spPr>
            <a:xfrm>
              <a:off x="3793490" y="4217034"/>
              <a:ext cx="1803400" cy="736600"/>
            </a:xfrm>
            <a:prstGeom prst="rect">
              <a:avLst/>
            </a:prstGeom>
          </p:spPr>
          <p:txBody>
            <a:bodyPr vert="horz" wrap="square" lIns="0" tIns="63500" rIns="0" bIns="0" rtlCol="0">
              <a:spAutoFit/>
            </a:bodyPr>
            <a:lstStyle/>
            <a:p>
              <a:pPr marL="12700">
                <a:lnSpc>
                  <a:spcPct val="100000"/>
                </a:lnSpc>
                <a:spcBef>
                  <a:spcPts val="500"/>
                </a:spcBef>
              </a:pPr>
              <a:r>
                <a:rPr sz="2000" b="1" dirty="0">
                  <a:solidFill>
                    <a:srgbClr val="800000"/>
                  </a:solidFill>
                  <a:latin typeface="微软雅黑" panose="020B0503020204020204" pitchFamily="34" charset="-122"/>
                  <a:cs typeface="微软雅黑" panose="020B0503020204020204" pitchFamily="34" charset="-122"/>
                </a:rPr>
                <a:t>提供服务</a:t>
              </a:r>
              <a:r>
                <a:rPr sz="3000" baseline="3000" dirty="0">
                  <a:solidFill>
                    <a:srgbClr val="941100"/>
                  </a:solidFill>
                  <a:latin typeface="Franklin Gothic Book" panose="020B0503020102020204"/>
                  <a:cs typeface="Franklin Gothic Book" panose="020B0503020102020204"/>
                </a:rPr>
                <a:t>:</a:t>
              </a:r>
              <a:endParaRPr sz="3000" baseline="3000">
                <a:latin typeface="Franklin Gothic Book" panose="020B0503020102020204"/>
                <a:cs typeface="Franklin Gothic Book" panose="020B0503020102020204"/>
              </a:endParaRPr>
            </a:p>
            <a:p>
              <a:pPr marL="12700">
                <a:lnSpc>
                  <a:spcPct val="100000"/>
                </a:lnSpc>
                <a:spcBef>
                  <a:spcPts val="400"/>
                </a:spcBef>
              </a:pPr>
              <a:r>
                <a:rPr sz="2000" b="1" dirty="0">
                  <a:latin typeface="微软雅黑" panose="020B0503020204020204" pitchFamily="34" charset="-122"/>
                  <a:cs typeface="微软雅黑" panose="020B0503020204020204" pitchFamily="34" charset="-122"/>
                </a:rPr>
                <a:t>只要能赚钱就好</a:t>
              </a:r>
              <a:endParaRPr sz="2000">
                <a:latin typeface="微软雅黑" panose="020B0503020204020204" pitchFamily="34" charset="-122"/>
                <a:cs typeface="微软雅黑" panose="020B0503020204020204" pitchFamily="34" charset="-122"/>
              </a:endParaRPr>
            </a:p>
          </p:txBody>
        </p:sp>
        <p:sp>
          <p:nvSpPr>
            <p:cNvPr id="9" name="object 8"/>
            <p:cNvSpPr txBox="1"/>
            <p:nvPr/>
          </p:nvSpPr>
          <p:spPr>
            <a:xfrm>
              <a:off x="6822810" y="4197339"/>
              <a:ext cx="1295400" cy="704039"/>
            </a:xfrm>
            <a:prstGeom prst="rect">
              <a:avLst/>
            </a:prstGeom>
          </p:spPr>
          <p:txBody>
            <a:bodyPr vert="horz" wrap="square" lIns="0" tIns="12700" rIns="0" bIns="0" rtlCol="0">
              <a:spAutoFit/>
            </a:bodyPr>
            <a:lstStyle/>
            <a:p>
              <a:pPr marL="12700" marR="5080">
                <a:lnSpc>
                  <a:spcPct val="117000"/>
                </a:lnSpc>
                <a:spcBef>
                  <a:spcPts val="100"/>
                </a:spcBef>
              </a:pPr>
              <a:r>
                <a:rPr sz="2000" b="1" spc="-400" dirty="0">
                  <a:solidFill>
                    <a:srgbClr val="800000"/>
                  </a:solidFill>
                  <a:latin typeface="微软雅黑" panose="020B0503020204020204" pitchFamily="34" charset="-122"/>
                  <a:cs typeface="微软雅黑" panose="020B0503020204020204" pitchFamily="34" charset="-122"/>
                </a:rPr>
                <a:t>使 用 服 务 </a:t>
              </a:r>
              <a:r>
                <a:rPr sz="3000" baseline="3000" dirty="0">
                  <a:solidFill>
                    <a:srgbClr val="941100"/>
                  </a:solidFill>
                  <a:latin typeface="Franklin Gothic Book" panose="020B0503020102020204"/>
                  <a:cs typeface="Franklin Gothic Book" panose="020B0503020102020204"/>
                </a:rPr>
                <a:t>:  </a:t>
              </a:r>
              <a:r>
                <a:rPr sz="2000" b="1" dirty="0">
                  <a:latin typeface="微软雅黑" panose="020B0503020204020204" pitchFamily="34" charset="-122"/>
                  <a:cs typeface="微软雅黑" panose="020B0503020204020204" pitchFamily="34" charset="-122"/>
                </a:rPr>
                <a:t>不要太贵喔</a:t>
              </a:r>
              <a:endParaRPr sz="2000" dirty="0">
                <a:latin typeface="微软雅黑" panose="020B0503020204020204" pitchFamily="34" charset="-122"/>
                <a:cs typeface="微软雅黑" panose="020B0503020204020204" pitchFamily="34" charset="-122"/>
              </a:endParaRPr>
            </a:p>
          </p:txBody>
        </p:sp>
        <p:sp>
          <p:nvSpPr>
            <p:cNvPr id="10" name="object 9"/>
            <p:cNvSpPr/>
            <p:nvPr/>
          </p:nvSpPr>
          <p:spPr>
            <a:xfrm>
              <a:off x="4000500" y="3597275"/>
              <a:ext cx="1428750" cy="428625"/>
            </a:xfrm>
            <a:custGeom>
              <a:avLst/>
              <a:gdLst/>
              <a:ahLst/>
              <a:cxnLst/>
              <a:rect l="l" t="t" r="r" b="b"/>
              <a:pathLst>
                <a:path w="1428750" h="428625">
                  <a:moveTo>
                    <a:pt x="1214437" y="0"/>
                  </a:moveTo>
                  <a:lnTo>
                    <a:pt x="1214437" y="107156"/>
                  </a:lnTo>
                  <a:lnTo>
                    <a:pt x="0" y="107156"/>
                  </a:lnTo>
                  <a:lnTo>
                    <a:pt x="0" y="321468"/>
                  </a:lnTo>
                  <a:lnTo>
                    <a:pt x="1214437" y="321468"/>
                  </a:lnTo>
                  <a:lnTo>
                    <a:pt x="1214437" y="428625"/>
                  </a:lnTo>
                  <a:lnTo>
                    <a:pt x="1428748" y="214312"/>
                  </a:lnTo>
                  <a:lnTo>
                    <a:pt x="1214437" y="0"/>
                  </a:lnTo>
                  <a:close/>
                </a:path>
              </a:pathLst>
            </a:custGeom>
            <a:solidFill>
              <a:srgbClr val="FFCA00"/>
            </a:solidFill>
          </p:spPr>
          <p:txBody>
            <a:bodyPr wrap="square" lIns="0" tIns="0" rIns="0" bIns="0" rtlCol="0"/>
            <a:lstStyle/>
            <a:p/>
          </p:txBody>
        </p:sp>
        <p:sp>
          <p:nvSpPr>
            <p:cNvPr id="11" name="object 10"/>
            <p:cNvSpPr/>
            <p:nvPr/>
          </p:nvSpPr>
          <p:spPr>
            <a:xfrm>
              <a:off x="4000500" y="3597275"/>
              <a:ext cx="1428750" cy="428625"/>
            </a:xfrm>
            <a:custGeom>
              <a:avLst/>
              <a:gdLst/>
              <a:ahLst/>
              <a:cxnLst/>
              <a:rect l="l" t="t" r="r" b="b"/>
              <a:pathLst>
                <a:path w="1428750" h="428625">
                  <a:moveTo>
                    <a:pt x="0" y="107156"/>
                  </a:moveTo>
                  <a:lnTo>
                    <a:pt x="1214437" y="107156"/>
                  </a:lnTo>
                  <a:lnTo>
                    <a:pt x="1214437" y="0"/>
                  </a:lnTo>
                  <a:lnTo>
                    <a:pt x="1428749" y="214312"/>
                  </a:lnTo>
                  <a:lnTo>
                    <a:pt x="1214437" y="428624"/>
                  </a:lnTo>
                  <a:lnTo>
                    <a:pt x="1214437" y="321468"/>
                  </a:lnTo>
                  <a:lnTo>
                    <a:pt x="0" y="321468"/>
                  </a:lnTo>
                  <a:lnTo>
                    <a:pt x="0" y="107156"/>
                  </a:lnTo>
                  <a:close/>
                </a:path>
              </a:pathLst>
            </a:custGeom>
            <a:ln w="12699">
              <a:solidFill>
                <a:srgbClr val="C99C00"/>
              </a:solidFill>
            </a:ln>
          </p:spPr>
          <p:txBody>
            <a:bodyPr wrap="square" lIns="0" tIns="0" rIns="0" bIns="0" rtlCol="0"/>
            <a:lstStyle/>
            <a:p/>
          </p:txBody>
        </p:sp>
        <p:sp>
          <p:nvSpPr>
            <p:cNvPr id="12" name="object 11"/>
            <p:cNvSpPr/>
            <p:nvPr/>
          </p:nvSpPr>
          <p:spPr>
            <a:xfrm>
              <a:off x="6762748" y="3597275"/>
              <a:ext cx="1714500" cy="428625"/>
            </a:xfrm>
            <a:custGeom>
              <a:avLst/>
              <a:gdLst/>
              <a:ahLst/>
              <a:cxnLst/>
              <a:rect l="l" t="t" r="r" b="b"/>
              <a:pathLst>
                <a:path w="1714500" h="428625">
                  <a:moveTo>
                    <a:pt x="214312" y="0"/>
                  </a:moveTo>
                  <a:lnTo>
                    <a:pt x="0" y="214312"/>
                  </a:lnTo>
                  <a:lnTo>
                    <a:pt x="214312" y="428625"/>
                  </a:lnTo>
                  <a:lnTo>
                    <a:pt x="214312" y="321468"/>
                  </a:lnTo>
                  <a:lnTo>
                    <a:pt x="1714500" y="321468"/>
                  </a:lnTo>
                  <a:lnTo>
                    <a:pt x="1714500" y="107156"/>
                  </a:lnTo>
                  <a:lnTo>
                    <a:pt x="214312" y="107156"/>
                  </a:lnTo>
                  <a:lnTo>
                    <a:pt x="214312" y="0"/>
                  </a:lnTo>
                  <a:close/>
                </a:path>
              </a:pathLst>
            </a:custGeom>
            <a:solidFill>
              <a:srgbClr val="FFCA00"/>
            </a:solidFill>
          </p:spPr>
          <p:txBody>
            <a:bodyPr wrap="square" lIns="0" tIns="0" rIns="0" bIns="0" rtlCol="0"/>
            <a:lstStyle/>
            <a:p/>
          </p:txBody>
        </p:sp>
        <p:sp>
          <p:nvSpPr>
            <p:cNvPr id="13" name="object 12"/>
            <p:cNvSpPr/>
            <p:nvPr/>
          </p:nvSpPr>
          <p:spPr>
            <a:xfrm>
              <a:off x="6762748" y="3597275"/>
              <a:ext cx="1714500" cy="428625"/>
            </a:xfrm>
            <a:custGeom>
              <a:avLst/>
              <a:gdLst/>
              <a:ahLst/>
              <a:cxnLst/>
              <a:rect l="l" t="t" r="r" b="b"/>
              <a:pathLst>
                <a:path w="1714500" h="428625">
                  <a:moveTo>
                    <a:pt x="1714500" y="321468"/>
                  </a:moveTo>
                  <a:lnTo>
                    <a:pt x="214312" y="321468"/>
                  </a:lnTo>
                  <a:lnTo>
                    <a:pt x="214312" y="428624"/>
                  </a:lnTo>
                  <a:lnTo>
                    <a:pt x="0" y="214311"/>
                  </a:lnTo>
                  <a:lnTo>
                    <a:pt x="214312" y="0"/>
                  </a:lnTo>
                  <a:lnTo>
                    <a:pt x="214312" y="107155"/>
                  </a:lnTo>
                  <a:lnTo>
                    <a:pt x="1714500" y="107155"/>
                  </a:lnTo>
                  <a:lnTo>
                    <a:pt x="1714500" y="321468"/>
                  </a:lnTo>
                  <a:close/>
                </a:path>
              </a:pathLst>
            </a:custGeom>
            <a:ln w="12699">
              <a:solidFill>
                <a:srgbClr val="C99C00"/>
              </a:solidFill>
            </a:ln>
          </p:spPr>
          <p:txBody>
            <a:bodyPr wrap="square" lIns="0" tIns="0" rIns="0" bIns="0" rtlCol="0"/>
            <a:lstStyle/>
            <a:p/>
          </p:txBody>
        </p:sp>
      </p:grpSp>
    </p:spTree>
  </p:cSld>
  <p:clrMapOvr>
    <a:masterClrMapping/>
  </p:clrMapOvr>
  <mc:AlternateContent xmlns:mc="http://schemas.openxmlformats.org/markup-compatibility/2006">
    <mc:Choice xmlns:p14="http://schemas.microsoft.com/office/powerpoint/2010/main" Requires="p14">
      <p:transition spd="slow" p14:dur="2000" advTm="66586"/>
    </mc:Choice>
    <mc:Fallback>
      <p:transition spd="slow" advTm="66586"/>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5" dirty="0">
                <a:latin typeface="黑体" panose="02010609060101010101" charset="-122"/>
                <a:cs typeface="黑体" panose="02010609060101010101" charset="-122"/>
              </a:rPr>
              <a:t>公共接口的识别</a:t>
            </a:r>
            <a:endParaRPr lang="zh-CN" altLang="en-US" dirty="0"/>
          </a:p>
        </p:txBody>
      </p:sp>
      <p:sp>
        <p:nvSpPr>
          <p:cNvPr id="3" name="内容占位符 2"/>
          <p:cNvSpPr>
            <a:spLocks noGrp="1"/>
          </p:cNvSpPr>
          <p:nvPr>
            <p:ph idx="1"/>
          </p:nvPr>
        </p:nvSpPr>
        <p:spPr/>
        <p:txBody>
          <a:bodyPr/>
          <a:lstStyle/>
          <a:p>
            <a:r>
              <a:rPr lang="zh-CN" altLang="en-US" dirty="0"/>
              <a:t>用户使用出租车对象的时候，需要以下功能</a:t>
            </a:r>
            <a:r>
              <a:rPr lang="en-US" altLang="zh-CN" dirty="0"/>
              <a:t>:</a:t>
            </a:r>
            <a:endParaRPr lang="en-US" altLang="zh-CN" dirty="0"/>
          </a:p>
          <a:p>
            <a:pPr lvl="1"/>
            <a:r>
              <a:rPr lang="zh-CN" altLang="en-US" dirty="0"/>
              <a:t>上车</a:t>
            </a:r>
            <a:endParaRPr lang="zh-CN" altLang="en-US" dirty="0"/>
          </a:p>
          <a:p>
            <a:pPr lvl="1"/>
            <a:r>
              <a:rPr lang="zh-CN" altLang="en-US" dirty="0"/>
              <a:t>告知司机终点</a:t>
            </a:r>
            <a:endParaRPr lang="zh-CN" altLang="en-US" dirty="0"/>
          </a:p>
          <a:p>
            <a:pPr lvl="1"/>
            <a:r>
              <a:rPr lang="zh-CN" altLang="en-US" dirty="0"/>
              <a:t>付钱</a:t>
            </a:r>
            <a:endParaRPr lang="zh-CN" altLang="en-US" dirty="0"/>
          </a:p>
          <a:p>
            <a:pPr lvl="1"/>
            <a:r>
              <a:rPr lang="zh-CN" altLang="en-US" dirty="0"/>
              <a:t>下车</a:t>
            </a:r>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sp>
        <p:nvSpPr>
          <p:cNvPr id="5" name="矩形 4"/>
          <p:cNvSpPr/>
          <p:nvPr/>
        </p:nvSpPr>
        <p:spPr>
          <a:xfrm>
            <a:off x="838200" y="4001294"/>
            <a:ext cx="6096000" cy="1712777"/>
          </a:xfrm>
          <a:prstGeom prst="rect">
            <a:avLst/>
          </a:prstGeom>
        </p:spPr>
        <p:txBody>
          <a:bodyPr>
            <a:spAutoFit/>
          </a:bodyPr>
          <a:lstStyle/>
          <a:p>
            <a:pPr marL="241300" indent="-228600">
              <a:lnSpc>
                <a:spcPct val="100000"/>
              </a:lnSpc>
              <a:spcBef>
                <a:spcPts val="1305"/>
              </a:spcBef>
              <a:buFont typeface="Arial" panose="020B0604020202020204"/>
              <a:buChar char="•"/>
              <a:tabLst>
                <a:tab pos="241300" algn="l"/>
              </a:tabLst>
            </a:pPr>
            <a:r>
              <a:rPr lang="zh-CN" altLang="en-US" sz="2800" dirty="0">
                <a:latin typeface="微软雅黑" panose="020B0503020204020204" pitchFamily="34" charset="-122"/>
                <a:ea typeface="微软雅黑" panose="020B0503020204020204" pitchFamily="34" charset="-122"/>
              </a:rPr>
              <a:t>用户要用出租车的时候</a:t>
            </a:r>
            <a:r>
              <a:rPr lang="en-US" altLang="zh-CN" sz="2800" dirty="0">
                <a:latin typeface="微软雅黑" panose="020B0503020204020204" pitchFamily="34" charset="-122"/>
                <a:ea typeface="微软雅黑" panose="020B0503020204020204" pitchFamily="34" charset="-122"/>
              </a:rPr>
              <a:t>:</a:t>
            </a:r>
            <a:endParaRPr lang="en-US" altLang="zh-CN" sz="2800" dirty="0">
              <a:latin typeface="微软雅黑" panose="020B0503020204020204" pitchFamily="34" charset="-122"/>
              <a:ea typeface="微软雅黑" panose="020B0503020204020204" pitchFamily="34" charset="-122"/>
            </a:endParaRPr>
          </a:p>
          <a:p>
            <a:pPr marL="685800" lvl="1" indent="-228600">
              <a:lnSpc>
                <a:spcPct val="90000"/>
              </a:lnSpc>
              <a:spcBef>
                <a:spcPts val="500"/>
              </a:spcBef>
              <a:buFont typeface="Arial" panose="020B0604020202020204" pitchFamily="34" charset="0"/>
              <a:buChar char="•"/>
              <a:tabLst>
                <a:tab pos="698500" algn="l"/>
              </a:tabLst>
            </a:pPr>
            <a:r>
              <a:rPr lang="zh-CN" altLang="en-US" sz="2400" dirty="0">
                <a:latin typeface="微软雅黑" panose="020B0503020204020204" pitchFamily="34" charset="-122"/>
                <a:ea typeface="微软雅黑" panose="020B0503020204020204" pitchFamily="34" charset="-122"/>
              </a:rPr>
              <a:t>有出行地点</a:t>
            </a:r>
            <a:endParaRPr lang="zh-CN" altLang="en-US" sz="2400" dirty="0">
              <a:latin typeface="微软雅黑" panose="020B0503020204020204" pitchFamily="34" charset="-122"/>
              <a:ea typeface="微软雅黑" panose="020B0503020204020204" pitchFamily="34" charset="-122"/>
            </a:endParaRPr>
          </a:p>
          <a:p>
            <a:pPr marL="685800" lvl="1" indent="-228600">
              <a:lnSpc>
                <a:spcPct val="90000"/>
              </a:lnSpc>
              <a:spcBef>
                <a:spcPts val="500"/>
              </a:spcBef>
              <a:buFont typeface="Arial" panose="020B0604020202020204" pitchFamily="34" charset="0"/>
              <a:buChar char="•"/>
              <a:tabLst>
                <a:tab pos="698500" algn="l"/>
              </a:tabLst>
            </a:pPr>
            <a:r>
              <a:rPr lang="zh-CN" altLang="en-US" sz="2400" dirty="0">
                <a:latin typeface="微软雅黑" panose="020B0503020204020204" pitchFamily="34" charset="-122"/>
                <a:ea typeface="微软雅黑" panose="020B0503020204020204" pitchFamily="34" charset="-122"/>
              </a:rPr>
              <a:t>召唤出租车</a:t>
            </a:r>
            <a:endParaRPr lang="zh-CN" altLang="en-US" sz="2400" dirty="0">
              <a:latin typeface="微软雅黑" panose="020B0503020204020204" pitchFamily="34" charset="-122"/>
              <a:ea typeface="微软雅黑" panose="020B0503020204020204" pitchFamily="34" charset="-122"/>
            </a:endParaRPr>
          </a:p>
          <a:p>
            <a:pPr marL="685800" lvl="1" indent="-228600">
              <a:lnSpc>
                <a:spcPct val="90000"/>
              </a:lnSpc>
              <a:spcBef>
                <a:spcPts val="500"/>
              </a:spcBef>
              <a:buFont typeface="Arial" panose="020B0604020202020204" pitchFamily="34" charset="0"/>
              <a:buChar char="•"/>
              <a:tabLst>
                <a:tab pos="698500" algn="l"/>
              </a:tabLst>
            </a:pPr>
            <a:r>
              <a:rPr lang="zh-CN" altLang="en-US" sz="2400" dirty="0">
                <a:latin typeface="微软雅黑" panose="020B0503020204020204" pitchFamily="34" charset="-122"/>
                <a:ea typeface="微软雅黑" panose="020B0503020204020204" pitchFamily="34" charset="-122"/>
              </a:rPr>
              <a:t>付钱</a:t>
            </a:r>
            <a:endParaRPr lang="zh-CN" altLang="en-US" sz="2400" dirty="0">
              <a:latin typeface="微软雅黑" panose="020B0503020204020204" pitchFamily="34" charset="-122"/>
              <a:ea typeface="微软雅黑" panose="020B0503020204020204" pitchFamily="34" charset="-122"/>
            </a:endParaRPr>
          </a:p>
        </p:txBody>
      </p:sp>
      <p:sp>
        <p:nvSpPr>
          <p:cNvPr id="6" name="object 6"/>
          <p:cNvSpPr/>
          <p:nvPr/>
        </p:nvSpPr>
        <p:spPr>
          <a:xfrm>
            <a:off x="8654018" y="1364732"/>
            <a:ext cx="1752599" cy="1765300"/>
          </a:xfrm>
          <a:prstGeom prst="rect">
            <a:avLst/>
          </a:prstGeom>
          <a:blipFill>
            <a:blip r:embed="rId1" cstate="print"/>
            <a:stretch>
              <a:fillRect/>
            </a:stretch>
          </a:blipFill>
        </p:spPr>
        <p:txBody>
          <a:bodyPr wrap="square" lIns="0" tIns="0" rIns="0" bIns="0" rtlCol="0"/>
          <a:lstStyle/>
          <a:p/>
        </p:txBody>
      </p:sp>
      <p:sp>
        <p:nvSpPr>
          <p:cNvPr id="7" name="object 5"/>
          <p:cNvSpPr/>
          <p:nvPr/>
        </p:nvSpPr>
        <p:spPr>
          <a:xfrm>
            <a:off x="7517624" y="3484641"/>
            <a:ext cx="4025386" cy="2898337"/>
          </a:xfrm>
          <a:prstGeom prst="rect">
            <a:avLst/>
          </a:prstGeom>
          <a:blipFill>
            <a:blip r:embed="rId2" cstate="print"/>
            <a:stretch>
              <a:fillRect/>
            </a:stretch>
          </a:blipFill>
        </p:spPr>
        <p:txBody>
          <a:bodyPr wrap="square" lIns="0" tIns="0" rIns="0" bIns="0" rtlCol="0"/>
          <a:lstStyle/>
          <a:p/>
        </p:txBody>
      </p:sp>
    </p:spTree>
  </p:cSld>
  <p:clrMapOvr>
    <a:masterClrMapping/>
  </p:clrMapOvr>
  <mc:AlternateContent xmlns:mc="http://schemas.openxmlformats.org/markup-compatibility/2006">
    <mc:Choice xmlns:p14="http://schemas.microsoft.com/office/powerpoint/2010/main" Requires="p14">
      <p:transition spd="slow" p14:dur="2000" advTm="46152"/>
    </mc:Choice>
    <mc:Fallback>
      <p:transition spd="slow" advTm="46152"/>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确定对象行为</a:t>
            </a:r>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sp>
        <p:nvSpPr>
          <p:cNvPr id="5" name="object 14"/>
          <p:cNvSpPr txBox="1"/>
          <p:nvPr/>
        </p:nvSpPr>
        <p:spPr>
          <a:xfrm>
            <a:off x="1418116" y="2830118"/>
            <a:ext cx="9355767" cy="1197764"/>
          </a:xfrm>
          <a:prstGeom prst="rect">
            <a:avLst/>
          </a:prstGeom>
        </p:spPr>
        <p:txBody>
          <a:bodyPr vert="horz" wrap="square" lIns="0" tIns="109220" rIns="0" bIns="0" rtlCol="0">
            <a:spAutoFit/>
          </a:bodyPr>
          <a:lstStyle/>
          <a:p>
            <a:pPr algn="ctr">
              <a:lnSpc>
                <a:spcPct val="100000"/>
              </a:lnSpc>
              <a:spcBef>
                <a:spcPts val="860"/>
              </a:spcBef>
            </a:pPr>
            <a:r>
              <a:rPr sz="3200" b="1" dirty="0" err="1">
                <a:solidFill>
                  <a:srgbClr val="800000"/>
                </a:solidFill>
                <a:latin typeface="微软雅黑" panose="020B0503020204020204" pitchFamily="34" charset="-122"/>
                <a:ea typeface="微软雅黑" panose="020B0503020204020204" pitchFamily="34" charset="-122"/>
              </a:rPr>
              <a:t>用例</a:t>
            </a:r>
            <a:r>
              <a:rPr sz="3200" b="1" dirty="0">
                <a:solidFill>
                  <a:srgbClr val="800000"/>
                </a:solidFill>
                <a:latin typeface="微软雅黑" panose="020B0503020204020204" pitchFamily="34" charset="-122"/>
                <a:ea typeface="微软雅黑" panose="020B0503020204020204" pitchFamily="34" charset="-122"/>
              </a:rPr>
              <a:t>!!!</a:t>
            </a:r>
            <a:endParaRPr sz="3200" b="1" dirty="0">
              <a:solidFill>
                <a:srgbClr val="800000"/>
              </a:solidFill>
              <a:latin typeface="微软雅黑" panose="020B0503020204020204" pitchFamily="34" charset="-122"/>
              <a:ea typeface="微软雅黑" panose="020B0503020204020204" pitchFamily="34" charset="-122"/>
            </a:endParaRPr>
          </a:p>
          <a:p>
            <a:pPr algn="ctr">
              <a:lnSpc>
                <a:spcPct val="100000"/>
              </a:lnSpc>
              <a:spcBef>
                <a:spcPts val="765"/>
              </a:spcBef>
            </a:pPr>
            <a:r>
              <a:rPr sz="3200" b="1" dirty="0" err="1">
                <a:solidFill>
                  <a:srgbClr val="800000"/>
                </a:solidFill>
                <a:latin typeface="微软雅黑" panose="020B0503020204020204" pitchFamily="34" charset="-122"/>
                <a:ea typeface="微软雅黑" panose="020B0503020204020204" pitchFamily="34" charset="-122"/>
                <a:cs typeface="微软雅黑" panose="020B0503020204020204" pitchFamily="34" charset="-122"/>
              </a:rPr>
              <a:t>以往的设计决策在我们定义抽象接口时候会发生变化</a:t>
            </a:r>
            <a:endParaRPr sz="32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4003"/>
    </mc:Choice>
    <mc:Fallback>
      <p:transition spd="slow" advTm="24003"/>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5" dirty="0">
                <a:latin typeface="黑体" panose="02010609060101010101" charset="-122"/>
                <a:cs typeface="黑体" panose="02010609060101010101" charset="-122"/>
              </a:rPr>
              <a:t>确定实现细节</a:t>
            </a:r>
            <a:endParaRPr lang="zh-CN" altLang="en-US" dirty="0"/>
          </a:p>
        </p:txBody>
      </p:sp>
      <p:sp>
        <p:nvSpPr>
          <p:cNvPr id="3" name="内容占位符 2"/>
          <p:cNvSpPr>
            <a:spLocks noGrp="1"/>
          </p:cNvSpPr>
          <p:nvPr>
            <p:ph idx="1"/>
          </p:nvPr>
        </p:nvSpPr>
        <p:spPr>
          <a:xfrm>
            <a:off x="838200" y="1690688"/>
            <a:ext cx="10515600" cy="4351338"/>
          </a:xfrm>
        </p:spPr>
        <p:txBody>
          <a:bodyPr/>
          <a:lstStyle/>
          <a:p>
            <a:pPr marL="241300">
              <a:lnSpc>
                <a:spcPct val="100000"/>
              </a:lnSpc>
              <a:spcBef>
                <a:spcPts val="1620"/>
              </a:spcBef>
              <a:buClr>
                <a:srgbClr val="FF0000"/>
              </a:buClr>
              <a:buFont typeface="Arial" panose="020B0604020202020204"/>
              <a:buChar char="•"/>
              <a:tabLst>
                <a:tab pos="241300" algn="l"/>
              </a:tabLst>
            </a:pPr>
            <a:r>
              <a:rPr lang="zh-CN" altLang="en-US" sz="2400" dirty="0">
                <a:solidFill>
                  <a:srgbClr val="FF0000"/>
                </a:solidFill>
              </a:rPr>
              <a:t>公共接口以外的内容都可以看做是实现相关的</a:t>
            </a:r>
            <a:endParaRPr lang="zh-CN" altLang="en-US" sz="2400" dirty="0">
              <a:solidFill>
                <a:srgbClr val="FF0000"/>
              </a:solidFill>
            </a:endParaRPr>
          </a:p>
          <a:p>
            <a:pPr marL="241300">
              <a:lnSpc>
                <a:spcPct val="100000"/>
              </a:lnSpc>
              <a:spcBef>
                <a:spcPts val="1520"/>
              </a:spcBef>
              <a:buFont typeface="Arial" panose="020B0604020202020204"/>
              <a:buChar char="•"/>
              <a:tabLst>
                <a:tab pos="241300" algn="l"/>
              </a:tabLst>
            </a:pPr>
            <a:r>
              <a:rPr lang="zh-CN" altLang="en-US" sz="2400" dirty="0"/>
              <a:t>用户永远无需关注实现细节</a:t>
            </a:r>
            <a:endParaRPr lang="zh-CN" altLang="en-US" sz="2400" dirty="0"/>
          </a:p>
          <a:p>
            <a:pPr marL="241300">
              <a:lnSpc>
                <a:spcPct val="100000"/>
              </a:lnSpc>
              <a:spcBef>
                <a:spcPts val="1620"/>
              </a:spcBef>
              <a:buFont typeface="Arial" panose="020B0604020202020204"/>
              <a:buChar char="•"/>
              <a:tabLst>
                <a:tab pos="241300" algn="l"/>
              </a:tabLst>
            </a:pPr>
            <a:r>
              <a:rPr lang="zh-CN" altLang="en-US" sz="2400"/>
              <a:t>对</a:t>
            </a:r>
            <a:r>
              <a:rPr lang="zh-CN" altLang="en-US" sz="2400" dirty="0"/>
              <a:t>实现的</a:t>
            </a:r>
            <a:r>
              <a:rPr lang="zh-CN" altLang="en-US" sz="2400" dirty="0">
                <a:solidFill>
                  <a:srgbClr val="FF0000"/>
                </a:solidFill>
              </a:rPr>
              <a:t>修改无须牵涉接口</a:t>
            </a:r>
            <a:endParaRPr lang="zh-CN" altLang="en-US" sz="2400" dirty="0">
              <a:solidFill>
                <a:srgbClr val="FF0000"/>
              </a:solidFill>
            </a:endParaRPr>
          </a:p>
          <a:p>
            <a:pPr marL="241300">
              <a:lnSpc>
                <a:spcPct val="100000"/>
              </a:lnSpc>
              <a:spcBef>
                <a:spcPts val="1520"/>
              </a:spcBef>
              <a:buFont typeface="Arial" panose="020B0604020202020204"/>
              <a:buChar char="•"/>
              <a:tabLst>
                <a:tab pos="241300" algn="l"/>
              </a:tabLst>
            </a:pPr>
            <a:r>
              <a:rPr lang="zh-CN" altLang="en-US" sz="2400" dirty="0"/>
              <a:t>实现为用户的期望提供解决方案</a:t>
            </a:r>
            <a:endParaRPr lang="zh-CN" altLang="en-US" sz="2400" dirty="0"/>
          </a:p>
          <a:p>
            <a:pPr marL="241300">
              <a:lnSpc>
                <a:spcPct val="100000"/>
              </a:lnSpc>
              <a:spcBef>
                <a:spcPts val="1620"/>
              </a:spcBef>
              <a:buFont typeface="Arial" panose="020B0604020202020204"/>
              <a:buChar char="•"/>
              <a:tabLst>
                <a:tab pos="241300" algn="l"/>
              </a:tabLst>
            </a:pPr>
            <a:r>
              <a:rPr lang="zh-CN" altLang="en-US" sz="2400" dirty="0"/>
              <a:t>接口从用户的角度看待对象，实现则是对象的果核和果肉</a:t>
            </a:r>
            <a:endParaRPr lang="zh-CN" altLang="en-US" sz="2400" dirty="0"/>
          </a:p>
          <a:p>
            <a:pPr marL="241300">
              <a:lnSpc>
                <a:spcPct val="100000"/>
              </a:lnSpc>
              <a:spcBef>
                <a:spcPts val="1520"/>
              </a:spcBef>
              <a:buFont typeface="Arial" panose="020B0604020202020204"/>
              <a:buChar char="•"/>
              <a:tabLst>
                <a:tab pos="241300" algn="l"/>
              </a:tabLst>
            </a:pPr>
            <a:r>
              <a:rPr lang="zh-CN" altLang="en-US" sz="2400" dirty="0"/>
              <a:t>实现中包含有描述对象状态的代码</a:t>
            </a:r>
            <a:endParaRPr lang="zh-CN" altLang="en-US" sz="2400" dirty="0"/>
          </a:p>
          <a:p>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85091"/>
    </mc:Choice>
    <mc:Fallback>
      <p:transition spd="slow" advTm="85091"/>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6600" baseline="-3000" dirty="0"/>
              <a:t>开闭原则</a:t>
            </a:r>
            <a:r>
              <a:rPr lang="en-US" altLang="zh-CN" spc="-5" dirty="0">
                <a:latin typeface="Arial" panose="020B0604020202020204"/>
                <a:cs typeface="Arial" panose="020B0604020202020204"/>
              </a:rPr>
              <a:t>(</a:t>
            </a:r>
            <a:r>
              <a:rPr lang="en-US" altLang="zh-CN" spc="-5" dirty="0">
                <a:latin typeface="Calibri" panose="020F0502020204030204"/>
                <a:cs typeface="Calibri" panose="020F0502020204030204"/>
              </a:rPr>
              <a:t>Open/Closed</a:t>
            </a:r>
            <a:r>
              <a:rPr lang="en-US" altLang="zh-CN" spc="-30" dirty="0">
                <a:latin typeface="Calibri" panose="020F0502020204030204"/>
                <a:cs typeface="Calibri" panose="020F0502020204030204"/>
              </a:rPr>
              <a:t> </a:t>
            </a:r>
            <a:r>
              <a:rPr lang="en-US" altLang="zh-CN" spc="-5" dirty="0">
                <a:latin typeface="Calibri" panose="020F0502020204030204"/>
                <a:cs typeface="Calibri" panose="020F0502020204030204"/>
              </a:rPr>
              <a:t>Principle,</a:t>
            </a:r>
            <a:r>
              <a:rPr lang="en-US" altLang="zh-CN" spc="-30" dirty="0">
                <a:latin typeface="Calibri" panose="020F0502020204030204"/>
                <a:cs typeface="Calibri" panose="020F0502020204030204"/>
              </a:rPr>
              <a:t> </a:t>
            </a:r>
            <a:r>
              <a:rPr lang="en-US" altLang="zh-CN" spc="5" dirty="0">
                <a:latin typeface="Calibri" panose="020F0502020204030204"/>
                <a:cs typeface="Calibri" panose="020F0502020204030204"/>
              </a:rPr>
              <a:t>OCP</a:t>
            </a:r>
            <a:r>
              <a:rPr lang="en-US" altLang="zh-CN" spc="5" dirty="0">
                <a:latin typeface="Comic Sans MS" panose="030F0702030302020204"/>
                <a:cs typeface="Comic Sans MS" panose="030F0702030302020204"/>
              </a:rPr>
              <a:t>)</a:t>
            </a:r>
            <a:endParaRPr lang="zh-CN" altLang="en-US" dirty="0"/>
          </a:p>
        </p:txBody>
      </p:sp>
      <p:sp>
        <p:nvSpPr>
          <p:cNvPr id="3" name="内容占位符 2"/>
          <p:cNvSpPr>
            <a:spLocks noGrp="1"/>
          </p:cNvSpPr>
          <p:nvPr>
            <p:ph idx="1"/>
          </p:nvPr>
        </p:nvSpPr>
        <p:spPr>
          <a:xfrm>
            <a:off x="838200" y="1604700"/>
            <a:ext cx="10515600" cy="4572263"/>
          </a:xfrm>
        </p:spPr>
        <p:txBody>
          <a:bodyPr/>
          <a:lstStyle/>
          <a:p>
            <a:r>
              <a:rPr lang="zh-CN" altLang="en-US" dirty="0"/>
              <a:t>最初由</a:t>
            </a:r>
            <a:r>
              <a:rPr lang="en-US" altLang="zh-CN" dirty="0"/>
              <a:t>Bertrand Meyer</a:t>
            </a:r>
            <a:r>
              <a:rPr lang="zh-CN" altLang="en-US" dirty="0"/>
              <a:t>提出</a:t>
            </a:r>
            <a:endParaRPr lang="zh-CN" altLang="en-US" dirty="0"/>
          </a:p>
          <a:p>
            <a:r>
              <a:rPr lang="zh-CN" altLang="en-US" dirty="0">
                <a:solidFill>
                  <a:srgbClr val="C00000"/>
                </a:solidFill>
              </a:rPr>
              <a:t>软件实体在扩展性方面应该是开放的，而在更改性方面应该是封闭的。</a:t>
            </a:r>
            <a:endParaRPr lang="zh-CN" altLang="en-US" dirty="0">
              <a:solidFill>
                <a:srgbClr val="C00000"/>
              </a:solidFill>
            </a:endParaRPr>
          </a:p>
          <a:p>
            <a:r>
              <a:rPr lang="zh-CN" altLang="en-US" dirty="0"/>
              <a:t>例：打印输出设计</a:t>
            </a:r>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grpSp>
        <p:nvGrpSpPr>
          <p:cNvPr id="5" name="组合 4"/>
          <p:cNvGrpSpPr/>
          <p:nvPr/>
        </p:nvGrpSpPr>
        <p:grpSpPr>
          <a:xfrm>
            <a:off x="1749972" y="3668110"/>
            <a:ext cx="8692055" cy="2714868"/>
            <a:chOff x="1066753" y="2677338"/>
            <a:chExt cx="10097500" cy="3395772"/>
          </a:xfrm>
        </p:grpSpPr>
        <p:sp>
          <p:nvSpPr>
            <p:cNvPr id="6" name="object 3"/>
            <p:cNvSpPr/>
            <p:nvPr/>
          </p:nvSpPr>
          <p:spPr>
            <a:xfrm>
              <a:off x="1066753" y="2677338"/>
              <a:ext cx="3436188" cy="3395772"/>
            </a:xfrm>
            <a:prstGeom prst="rect">
              <a:avLst/>
            </a:prstGeom>
            <a:blipFill>
              <a:blip r:embed="rId1" cstate="print"/>
              <a:stretch>
                <a:fillRect/>
              </a:stretch>
            </a:blipFill>
          </p:spPr>
          <p:txBody>
            <a:bodyPr wrap="square" lIns="0" tIns="0" rIns="0" bIns="0" rtlCol="0"/>
            <a:lstStyle/>
            <a:p/>
          </p:txBody>
        </p:sp>
        <p:sp>
          <p:nvSpPr>
            <p:cNvPr id="7" name="object 5"/>
            <p:cNvSpPr/>
            <p:nvPr/>
          </p:nvSpPr>
          <p:spPr>
            <a:xfrm>
              <a:off x="5913209" y="3173668"/>
              <a:ext cx="5251044" cy="2310862"/>
            </a:xfrm>
            <a:prstGeom prst="rect">
              <a:avLst/>
            </a:prstGeom>
            <a:blipFill>
              <a:blip r:embed="rId2" cstate="print"/>
              <a:stretch>
                <a:fillRect/>
              </a:stretch>
            </a:blipFill>
          </p:spPr>
          <p:txBody>
            <a:bodyPr wrap="square" lIns="0" tIns="0" rIns="0" bIns="0" rtlCol="0"/>
            <a:lstStyle/>
            <a:p/>
          </p:txBody>
        </p:sp>
        <p:sp>
          <p:nvSpPr>
            <p:cNvPr id="8" name="object 6"/>
            <p:cNvSpPr txBox="1"/>
            <p:nvPr/>
          </p:nvSpPr>
          <p:spPr>
            <a:xfrm>
              <a:off x="1854258" y="4974189"/>
              <a:ext cx="1068382" cy="478003"/>
            </a:xfrm>
            <a:prstGeom prst="rect">
              <a:avLst/>
            </a:prstGeom>
          </p:spPr>
          <p:txBody>
            <a:bodyPr vert="horz" wrap="square" lIns="0" tIns="12700" rIns="0" bIns="0" rtlCol="0">
              <a:spAutoFit/>
            </a:bodyPr>
            <a:lstStyle/>
            <a:p>
              <a:pPr marL="12700">
                <a:lnSpc>
                  <a:spcPct val="100000"/>
                </a:lnSpc>
                <a:spcBef>
                  <a:spcPts val="100"/>
                </a:spcBef>
              </a:pPr>
              <a:r>
                <a:rPr sz="2400" dirty="0">
                  <a:latin typeface="黑体" panose="02010609060101010101" charset="-122"/>
                  <a:cs typeface="黑体" panose="02010609060101010101" charset="-122"/>
                </a:rPr>
                <a:t>设计1</a:t>
              </a:r>
              <a:endParaRPr sz="2400" dirty="0">
                <a:latin typeface="黑体" panose="02010609060101010101" charset="-122"/>
                <a:cs typeface="黑体" panose="02010609060101010101" charset="-122"/>
              </a:endParaRPr>
            </a:p>
          </p:txBody>
        </p:sp>
        <p:sp>
          <p:nvSpPr>
            <p:cNvPr id="9" name="object 7"/>
            <p:cNvSpPr txBox="1"/>
            <p:nvPr/>
          </p:nvSpPr>
          <p:spPr>
            <a:xfrm>
              <a:off x="6102730" y="4182100"/>
              <a:ext cx="1056711" cy="478003"/>
            </a:xfrm>
            <a:prstGeom prst="rect">
              <a:avLst/>
            </a:prstGeom>
          </p:spPr>
          <p:txBody>
            <a:bodyPr vert="horz" wrap="square" lIns="0" tIns="12700" rIns="0" bIns="0" rtlCol="0">
              <a:spAutoFit/>
            </a:bodyPr>
            <a:lstStyle/>
            <a:p>
              <a:pPr marL="12700">
                <a:lnSpc>
                  <a:spcPct val="100000"/>
                </a:lnSpc>
                <a:spcBef>
                  <a:spcPts val="100"/>
                </a:spcBef>
              </a:pPr>
              <a:r>
                <a:rPr sz="2400" dirty="0">
                  <a:latin typeface="黑体" panose="02010609060101010101" charset="-122"/>
                  <a:cs typeface="黑体" panose="02010609060101010101" charset="-122"/>
                </a:rPr>
                <a:t>设计2</a:t>
              </a:r>
              <a:endParaRPr sz="2400" dirty="0">
                <a:latin typeface="黑体" panose="02010609060101010101" charset="-122"/>
                <a:cs typeface="黑体" panose="02010609060101010101" charset="-122"/>
              </a:endParaRPr>
            </a:p>
          </p:txBody>
        </p:sp>
        <p:sp>
          <p:nvSpPr>
            <p:cNvPr id="10" name="object 8"/>
            <p:cNvSpPr/>
            <p:nvPr/>
          </p:nvSpPr>
          <p:spPr>
            <a:xfrm>
              <a:off x="5087886" y="4365104"/>
              <a:ext cx="504190" cy="288290"/>
            </a:xfrm>
            <a:custGeom>
              <a:avLst/>
              <a:gdLst/>
              <a:ahLst/>
              <a:cxnLst/>
              <a:rect l="l" t="t" r="r" b="b"/>
              <a:pathLst>
                <a:path w="504189" h="288289">
                  <a:moveTo>
                    <a:pt x="360039" y="0"/>
                  </a:moveTo>
                  <a:lnTo>
                    <a:pt x="360039" y="72007"/>
                  </a:lnTo>
                  <a:lnTo>
                    <a:pt x="0" y="72007"/>
                  </a:lnTo>
                  <a:lnTo>
                    <a:pt x="0" y="216024"/>
                  </a:lnTo>
                  <a:lnTo>
                    <a:pt x="360039" y="216024"/>
                  </a:lnTo>
                  <a:lnTo>
                    <a:pt x="360039" y="288032"/>
                  </a:lnTo>
                  <a:lnTo>
                    <a:pt x="504056" y="144016"/>
                  </a:lnTo>
                  <a:lnTo>
                    <a:pt x="360039" y="0"/>
                  </a:lnTo>
                  <a:close/>
                </a:path>
              </a:pathLst>
            </a:custGeom>
            <a:solidFill>
              <a:srgbClr val="941100"/>
            </a:solidFill>
          </p:spPr>
          <p:txBody>
            <a:bodyPr wrap="square" lIns="0" tIns="0" rIns="0" bIns="0" rtlCol="0"/>
            <a:lstStyle/>
            <a:p/>
          </p:txBody>
        </p:sp>
        <p:sp>
          <p:nvSpPr>
            <p:cNvPr id="11" name="object 9"/>
            <p:cNvSpPr/>
            <p:nvPr/>
          </p:nvSpPr>
          <p:spPr>
            <a:xfrm>
              <a:off x="5087886" y="4365104"/>
              <a:ext cx="504190" cy="288290"/>
            </a:xfrm>
            <a:custGeom>
              <a:avLst/>
              <a:gdLst/>
              <a:ahLst/>
              <a:cxnLst/>
              <a:rect l="l" t="t" r="r" b="b"/>
              <a:pathLst>
                <a:path w="504189" h="288289">
                  <a:moveTo>
                    <a:pt x="0" y="72007"/>
                  </a:moveTo>
                  <a:lnTo>
                    <a:pt x="360040" y="72007"/>
                  </a:lnTo>
                  <a:lnTo>
                    <a:pt x="360040" y="0"/>
                  </a:lnTo>
                  <a:lnTo>
                    <a:pt x="504055" y="144015"/>
                  </a:lnTo>
                  <a:lnTo>
                    <a:pt x="360040" y="288032"/>
                  </a:lnTo>
                  <a:lnTo>
                    <a:pt x="360040" y="216024"/>
                  </a:lnTo>
                  <a:lnTo>
                    <a:pt x="0" y="216024"/>
                  </a:lnTo>
                  <a:lnTo>
                    <a:pt x="0" y="72007"/>
                  </a:lnTo>
                  <a:close/>
                </a:path>
              </a:pathLst>
            </a:custGeom>
            <a:ln w="6349">
              <a:solidFill>
                <a:srgbClr val="6CACDD"/>
              </a:solidFill>
            </a:ln>
          </p:spPr>
          <p:txBody>
            <a:bodyPr wrap="square" lIns="0" tIns="0" rIns="0" bIns="0" rtlCol="0"/>
            <a:lstStyle/>
            <a:p/>
          </p:txBody>
        </p:sp>
      </p:grpSp>
    </p:spTree>
  </p:cSld>
  <p:clrMapOvr>
    <a:masterClrMapping/>
  </p:clrMapOvr>
  <mc:AlternateContent xmlns:mc="http://schemas.openxmlformats.org/markup-compatibility/2006">
    <mc:Choice xmlns:p14="http://schemas.microsoft.com/office/powerpoint/2010/main" Requires="p14">
      <p:transition spd="slow" p14:dur="2000" advTm="116418"/>
    </mc:Choice>
    <mc:Fallback>
      <p:transition spd="slow" advTm="116418"/>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94047"/>
            <a:ext cx="10828283" cy="1325563"/>
          </a:xfrm>
        </p:spPr>
        <p:txBody>
          <a:bodyPr/>
          <a:lstStyle/>
          <a:p>
            <a:r>
              <a:rPr lang="en-US" altLang="zh-CN" spc="-175" dirty="0" err="1"/>
              <a:t>Liskov</a:t>
            </a:r>
            <a:r>
              <a:rPr lang="en-US" altLang="zh-CN" spc="-120" dirty="0"/>
              <a:t> </a:t>
            </a:r>
            <a:r>
              <a:rPr lang="en-US" altLang="zh-CN" spc="-175" dirty="0"/>
              <a:t>Substitution</a:t>
            </a:r>
            <a:r>
              <a:rPr lang="en-US" altLang="zh-CN" spc="-120" dirty="0"/>
              <a:t> </a:t>
            </a:r>
            <a:r>
              <a:rPr lang="en-US" altLang="zh-CN" spc="-90" dirty="0"/>
              <a:t>Principle (</a:t>
            </a:r>
            <a:r>
              <a:rPr lang="en-US" altLang="zh-CN" spc="-195" dirty="0"/>
              <a:t>LSP)</a:t>
            </a:r>
            <a:endParaRPr lang="zh-CN" altLang="en-US" dirty="0"/>
          </a:p>
        </p:txBody>
      </p:sp>
      <p:sp>
        <p:nvSpPr>
          <p:cNvPr id="3" name="内容占位符 2"/>
          <p:cNvSpPr>
            <a:spLocks noGrp="1"/>
          </p:cNvSpPr>
          <p:nvPr>
            <p:ph idx="1"/>
          </p:nvPr>
        </p:nvSpPr>
        <p:spPr/>
        <p:txBody>
          <a:bodyPr/>
          <a:lstStyle/>
          <a:p>
            <a:pPr marL="241300">
              <a:lnSpc>
                <a:spcPct val="100000"/>
              </a:lnSpc>
              <a:spcBef>
                <a:spcPts val="1620"/>
              </a:spcBef>
              <a:buFont typeface="Arial" panose="020B0604020202020204"/>
              <a:buChar char="•"/>
              <a:tabLst>
                <a:tab pos="241300" algn="l"/>
              </a:tabLst>
            </a:pPr>
            <a:r>
              <a:rPr lang="zh-CN" altLang="en-US" dirty="0">
                <a:latin typeface="黑体" panose="02010609060101010101" charset="-122"/>
                <a:cs typeface="黑体" panose="02010609060101010101" charset="-122"/>
              </a:rPr>
              <a:t>最早由</a:t>
            </a:r>
            <a:r>
              <a:rPr lang="en-US" altLang="zh-CN" b="1" dirty="0" err="1">
                <a:latin typeface="黑体" panose="02010609060101010101" charset="-122"/>
              </a:rPr>
              <a:t>Liskov</a:t>
            </a:r>
            <a:r>
              <a:rPr lang="zh-CN" altLang="en-US" dirty="0">
                <a:latin typeface="黑体" panose="02010609060101010101" charset="-122"/>
              </a:rPr>
              <a:t>于</a:t>
            </a:r>
            <a:r>
              <a:rPr lang="en-US" altLang="zh-CN" dirty="0">
                <a:latin typeface="黑体" panose="02010609060101010101" charset="-122"/>
              </a:rPr>
              <a:t>1987</a:t>
            </a:r>
            <a:r>
              <a:rPr lang="zh-CN" altLang="en-US" dirty="0">
                <a:latin typeface="黑体" panose="02010609060101010101" charset="-122"/>
              </a:rPr>
              <a:t>年在</a:t>
            </a:r>
            <a:r>
              <a:rPr lang="en-US" altLang="zh-CN" dirty="0">
                <a:latin typeface="黑体" panose="02010609060101010101" charset="-122"/>
              </a:rPr>
              <a:t>OOPSLA</a:t>
            </a:r>
            <a:r>
              <a:rPr lang="zh-CN" altLang="en-US" dirty="0">
                <a:latin typeface="黑体" panose="02010609060101010101" charset="-122"/>
              </a:rPr>
              <a:t>会议上提出</a:t>
            </a:r>
            <a:endParaRPr lang="zh-CN" altLang="en-US" dirty="0">
              <a:latin typeface="黑体" panose="02010609060101010101" charset="-122"/>
            </a:endParaRPr>
          </a:p>
          <a:p>
            <a:pPr marL="241300">
              <a:lnSpc>
                <a:spcPct val="100000"/>
              </a:lnSpc>
              <a:spcBef>
                <a:spcPts val="1520"/>
              </a:spcBef>
              <a:buFont typeface="Arial" panose="020B0604020202020204"/>
              <a:buChar char="•"/>
              <a:tabLst>
                <a:tab pos="241300" algn="l"/>
              </a:tabLst>
            </a:pPr>
            <a:r>
              <a:rPr lang="zh-CN" altLang="en-US" dirty="0">
                <a:solidFill>
                  <a:srgbClr val="800000"/>
                </a:solidFill>
                <a:latin typeface="黑体" panose="02010609060101010101" charset="-122"/>
                <a:cs typeface="黑体" panose="02010609060101010101" charset="-122"/>
              </a:rPr>
              <a:t>子类可以替换父类出现在父类能出现的任何地方</a:t>
            </a:r>
            <a:endParaRPr lang="zh-CN" altLang="en-US" dirty="0">
              <a:latin typeface="黑体" panose="02010609060101010101" charset="-122"/>
              <a:cs typeface="黑体" panose="02010609060101010101" charset="-122"/>
            </a:endParaRPr>
          </a:p>
          <a:p>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sp>
        <p:nvSpPr>
          <p:cNvPr id="5" name="object 3"/>
          <p:cNvSpPr/>
          <p:nvPr/>
        </p:nvSpPr>
        <p:spPr>
          <a:xfrm>
            <a:off x="2704344" y="3243451"/>
            <a:ext cx="7095994" cy="2697337"/>
          </a:xfrm>
          <a:prstGeom prst="rect">
            <a:avLst/>
          </a:prstGeom>
          <a:blipFill>
            <a:blip r:embed="rId1" cstate="print"/>
            <a:stretch>
              <a:fillRect/>
            </a:stretch>
          </a:blipFill>
        </p:spPr>
        <p:txBody>
          <a:bodyPr wrap="square" lIns="0" tIns="0" rIns="0" bIns="0" rtlCol="0"/>
          <a:lstStyle/>
          <a:p/>
        </p:txBody>
      </p:sp>
    </p:spTree>
  </p:cSld>
  <p:clrMapOvr>
    <a:masterClrMapping/>
  </p:clrMapOvr>
  <mc:AlternateContent xmlns:mc="http://schemas.openxmlformats.org/markup-compatibility/2006">
    <mc:Choice xmlns:p14="http://schemas.microsoft.com/office/powerpoint/2010/main" Requires="p14">
      <p:transition spd="slow" p14:dur="2000" advTm="71772"/>
    </mc:Choice>
    <mc:Fallback>
      <p:transition spd="slow" advTm="71772"/>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5" dirty="0">
                <a:latin typeface="黑体" panose="02010609060101010101" charset="-122"/>
                <a:cs typeface="黑体" panose="02010609060101010101" charset="-122"/>
              </a:rPr>
              <a:t>违反</a:t>
            </a:r>
            <a:r>
              <a:rPr lang="en-US" altLang="zh-CN" spc="-15" dirty="0">
                <a:latin typeface="黑体" panose="02010609060101010101" charset="-122"/>
                <a:cs typeface="黑体" panose="02010609060101010101" charset="-122"/>
              </a:rPr>
              <a:t>LSP</a:t>
            </a:r>
            <a:r>
              <a:rPr lang="zh-CN" altLang="en-US" spc="-15" dirty="0">
                <a:latin typeface="黑体" panose="02010609060101010101" charset="-122"/>
                <a:cs typeface="黑体" panose="02010609060101010101" charset="-122"/>
              </a:rPr>
              <a:t>的例子</a:t>
            </a:r>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grpSp>
        <p:nvGrpSpPr>
          <p:cNvPr id="5" name="组合 4"/>
          <p:cNvGrpSpPr/>
          <p:nvPr/>
        </p:nvGrpSpPr>
        <p:grpSpPr>
          <a:xfrm>
            <a:off x="980000" y="1589999"/>
            <a:ext cx="3676083" cy="5077123"/>
            <a:chOff x="916939" y="1085307"/>
            <a:chExt cx="3057525" cy="5077123"/>
          </a:xfrm>
        </p:grpSpPr>
        <p:sp>
          <p:nvSpPr>
            <p:cNvPr id="6" name="object 3"/>
            <p:cNvSpPr txBox="1"/>
            <p:nvPr/>
          </p:nvSpPr>
          <p:spPr>
            <a:xfrm>
              <a:off x="916939" y="1085307"/>
              <a:ext cx="2015489" cy="1320874"/>
            </a:xfrm>
            <a:prstGeom prst="rect">
              <a:avLst/>
            </a:prstGeom>
          </p:spPr>
          <p:txBody>
            <a:bodyPr vert="horz" wrap="square" lIns="0" tIns="25400" rIns="0" bIns="0" rtlCol="0">
              <a:spAutoFit/>
            </a:bodyPr>
            <a:lstStyle/>
            <a:p>
              <a:pPr marL="158750" marR="5080" indent="-146685">
                <a:lnSpc>
                  <a:spcPts val="2000"/>
                </a:lnSpc>
                <a:spcBef>
                  <a:spcPts val="200"/>
                </a:spcBef>
              </a:pPr>
              <a:r>
                <a:rPr b="0" spc="-5" dirty="0">
                  <a:latin typeface="Times New Roman" panose="02020603050405020304" pitchFamily="18" charset="0"/>
                  <a:cs typeface="Times New Roman" panose="02020603050405020304" pitchFamily="18" charset="0"/>
                </a:rPr>
                <a:t>public </a:t>
              </a:r>
              <a:r>
                <a:rPr b="0" dirty="0">
                  <a:latin typeface="Times New Roman" panose="02020603050405020304" pitchFamily="18" charset="0"/>
                  <a:cs typeface="Times New Roman" panose="02020603050405020304" pitchFamily="18" charset="0"/>
                </a:rPr>
                <a:t>class </a:t>
              </a:r>
              <a:r>
                <a:rPr b="0" spc="-10" dirty="0">
                  <a:solidFill>
                    <a:srgbClr val="FF0000"/>
                  </a:solidFill>
                  <a:latin typeface="Times New Roman" panose="02020603050405020304" pitchFamily="18" charset="0"/>
                  <a:cs typeface="Times New Roman" panose="02020603050405020304" pitchFamily="18" charset="0"/>
                </a:rPr>
                <a:t>Rectangle</a:t>
              </a:r>
              <a:r>
                <a:rPr b="0" spc="-80" dirty="0">
                  <a:latin typeface="Times New Roman" panose="02020603050405020304" pitchFamily="18" charset="0"/>
                  <a:cs typeface="Times New Roman" panose="02020603050405020304" pitchFamily="18" charset="0"/>
                </a:rPr>
                <a:t> </a:t>
              </a:r>
              <a:r>
                <a:rPr b="0" dirty="0">
                  <a:latin typeface="Times New Roman" panose="02020603050405020304" pitchFamily="18" charset="0"/>
                  <a:cs typeface="Times New Roman" panose="02020603050405020304" pitchFamily="18" charset="0"/>
                </a:rPr>
                <a:t>{  </a:t>
              </a:r>
              <a:r>
                <a:rPr b="0" spc="-10" dirty="0">
                  <a:latin typeface="Times New Roman" panose="02020603050405020304" pitchFamily="18" charset="0"/>
                  <a:cs typeface="Times New Roman" panose="02020603050405020304" pitchFamily="18" charset="0"/>
                </a:rPr>
                <a:t>private int </a:t>
              </a:r>
              <a:r>
                <a:rPr b="0" spc="15" dirty="0">
                  <a:latin typeface="Times New Roman" panose="02020603050405020304" pitchFamily="18" charset="0"/>
                  <a:cs typeface="Times New Roman" panose="02020603050405020304" pitchFamily="18" charset="0"/>
                </a:rPr>
                <a:t>topLe5X;  </a:t>
              </a:r>
              <a:r>
                <a:rPr b="0" spc="-10" dirty="0">
                  <a:latin typeface="Times New Roman" panose="02020603050405020304" pitchFamily="18" charset="0"/>
                  <a:cs typeface="Times New Roman" panose="02020603050405020304" pitchFamily="18" charset="0"/>
                </a:rPr>
                <a:t>private int </a:t>
              </a:r>
              <a:r>
                <a:rPr b="0" dirty="0">
                  <a:latin typeface="Times New Roman" panose="02020603050405020304" pitchFamily="18" charset="0"/>
                  <a:cs typeface="Times New Roman" panose="02020603050405020304" pitchFamily="18" charset="0"/>
                </a:rPr>
                <a:t>topLe5Y;  </a:t>
              </a:r>
              <a:endParaRPr lang="en-US" altLang="zh-CN" b="0" dirty="0">
                <a:latin typeface="Times New Roman" panose="02020603050405020304" pitchFamily="18" charset="0"/>
                <a:cs typeface="Times New Roman" panose="02020603050405020304" pitchFamily="18" charset="0"/>
              </a:endParaRPr>
            </a:p>
            <a:p>
              <a:pPr marL="158750" marR="5080" indent="-146685">
                <a:lnSpc>
                  <a:spcPts val="2000"/>
                </a:lnSpc>
                <a:spcBef>
                  <a:spcPts val="200"/>
                </a:spcBef>
              </a:pPr>
              <a:r>
                <a:rPr lang="en-US" altLang="zh-CN" spc="-10" dirty="0">
                  <a:latin typeface="Times New Roman" panose="02020603050405020304" pitchFamily="18" charset="0"/>
                  <a:cs typeface="Times New Roman" panose="02020603050405020304" pitchFamily="18" charset="0"/>
                </a:rPr>
                <a:t>   </a:t>
              </a:r>
              <a:r>
                <a:rPr b="0" spc="-10" dirty="0">
                  <a:latin typeface="Times New Roman" panose="02020603050405020304" pitchFamily="18" charset="0"/>
                  <a:cs typeface="Times New Roman" panose="02020603050405020304" pitchFamily="18" charset="0"/>
                </a:rPr>
                <a:t>int</a:t>
              </a:r>
              <a:r>
                <a:rPr b="0" spc="-5" dirty="0">
                  <a:latin typeface="Times New Roman" panose="02020603050405020304" pitchFamily="18" charset="0"/>
                  <a:cs typeface="Times New Roman" panose="02020603050405020304" pitchFamily="18" charset="0"/>
                </a:rPr>
                <a:t> width;</a:t>
              </a:r>
              <a:endParaRPr dirty="0">
                <a:latin typeface="Times New Roman" panose="02020603050405020304" pitchFamily="18" charset="0"/>
                <a:cs typeface="Times New Roman" panose="02020603050405020304" pitchFamily="18" charset="0"/>
              </a:endParaRPr>
            </a:p>
            <a:p>
              <a:pPr marL="158750">
                <a:lnSpc>
                  <a:spcPts val="1940"/>
                </a:lnSpc>
              </a:pPr>
              <a:r>
                <a:rPr b="0" spc="-10" dirty="0">
                  <a:latin typeface="Times New Roman" panose="02020603050405020304" pitchFamily="18" charset="0"/>
                  <a:cs typeface="Times New Roman" panose="02020603050405020304" pitchFamily="18" charset="0"/>
                </a:rPr>
                <a:t>int</a:t>
              </a:r>
              <a:r>
                <a:rPr b="0" spc="-5" dirty="0">
                  <a:latin typeface="Times New Roman" panose="02020603050405020304" pitchFamily="18" charset="0"/>
                  <a:cs typeface="Times New Roman" panose="02020603050405020304" pitchFamily="18" charset="0"/>
                </a:rPr>
                <a:t> </a:t>
              </a:r>
              <a:r>
                <a:rPr b="0" spc="-10" dirty="0">
                  <a:latin typeface="Times New Roman" panose="02020603050405020304" pitchFamily="18" charset="0"/>
                  <a:cs typeface="Times New Roman" panose="02020603050405020304" pitchFamily="18" charset="0"/>
                </a:rPr>
                <a:t>height;</a:t>
              </a:r>
              <a:endParaRPr dirty="0">
                <a:latin typeface="Times New Roman" panose="02020603050405020304" pitchFamily="18" charset="0"/>
                <a:cs typeface="Times New Roman" panose="02020603050405020304" pitchFamily="18" charset="0"/>
              </a:endParaRPr>
            </a:p>
          </p:txBody>
        </p:sp>
        <p:sp>
          <p:nvSpPr>
            <p:cNvPr id="7" name="object 4"/>
            <p:cNvSpPr txBox="1"/>
            <p:nvPr/>
          </p:nvSpPr>
          <p:spPr>
            <a:xfrm>
              <a:off x="916939" y="2520407"/>
              <a:ext cx="3057525" cy="3642023"/>
            </a:xfrm>
            <a:prstGeom prst="rect">
              <a:avLst/>
            </a:prstGeom>
          </p:spPr>
          <p:txBody>
            <a:bodyPr vert="horz" wrap="square" lIns="0" tIns="25400" rIns="0" bIns="0" rtlCol="0">
              <a:spAutoFit/>
            </a:bodyPr>
            <a:lstStyle/>
            <a:p>
              <a:pPr marL="305435" marR="96520" indent="-146685">
                <a:lnSpc>
                  <a:spcPts val="2000"/>
                </a:lnSpc>
                <a:spcBef>
                  <a:spcPts val="200"/>
                </a:spcBef>
              </a:pPr>
              <a:r>
                <a:rPr b="0" spc="-5" dirty="0">
                  <a:latin typeface="Times New Roman" panose="02020603050405020304" pitchFamily="18" charset="0"/>
                  <a:cs typeface="Times New Roman" panose="02020603050405020304" pitchFamily="18" charset="0"/>
                </a:rPr>
                <a:t>public </a:t>
              </a:r>
              <a:r>
                <a:rPr b="0" spc="-10" dirty="0">
                  <a:latin typeface="Times New Roman" panose="02020603050405020304" pitchFamily="18" charset="0"/>
                  <a:cs typeface="Times New Roman" panose="02020603050405020304" pitchFamily="18" charset="0"/>
                </a:rPr>
                <a:t>void </a:t>
              </a:r>
              <a:r>
                <a:rPr b="0" spc="-5" dirty="0">
                  <a:latin typeface="Times New Roman" panose="02020603050405020304" pitchFamily="18" charset="0"/>
                  <a:cs typeface="Times New Roman" panose="02020603050405020304" pitchFamily="18" charset="0"/>
                </a:rPr>
                <a:t>setWidth(int width) </a:t>
              </a:r>
              <a:r>
                <a:rPr b="0" dirty="0">
                  <a:latin typeface="Times New Roman" panose="02020603050405020304" pitchFamily="18" charset="0"/>
                  <a:cs typeface="Times New Roman" panose="02020603050405020304" pitchFamily="18" charset="0"/>
                </a:rPr>
                <a:t>{  </a:t>
              </a:r>
              <a:r>
                <a:rPr b="0" spc="-10" dirty="0">
                  <a:latin typeface="Times New Roman" panose="02020603050405020304" pitchFamily="18" charset="0"/>
                  <a:cs typeface="Times New Roman" panose="02020603050405020304" pitchFamily="18" charset="0"/>
                </a:rPr>
                <a:t>this.width </a:t>
              </a:r>
              <a:r>
                <a:rPr b="0" dirty="0">
                  <a:latin typeface="Times New Roman" panose="02020603050405020304" pitchFamily="18" charset="0"/>
                  <a:cs typeface="Times New Roman" panose="02020603050405020304" pitchFamily="18" charset="0"/>
                </a:rPr>
                <a:t>=</a:t>
              </a:r>
              <a:r>
                <a:rPr b="0" spc="-5" dirty="0">
                  <a:latin typeface="Times New Roman" panose="02020603050405020304" pitchFamily="18" charset="0"/>
                  <a:cs typeface="Times New Roman" panose="02020603050405020304" pitchFamily="18" charset="0"/>
                </a:rPr>
                <a:t> width;</a:t>
              </a:r>
              <a:endParaRPr dirty="0">
                <a:latin typeface="Times New Roman" panose="02020603050405020304" pitchFamily="18" charset="0"/>
                <a:cs typeface="Times New Roman" panose="02020603050405020304" pitchFamily="18" charset="0"/>
              </a:endParaRPr>
            </a:p>
            <a:p>
              <a:pPr marL="158750">
                <a:lnSpc>
                  <a:spcPts val="1920"/>
                </a:lnSpc>
              </a:pPr>
              <a:r>
                <a:rPr b="0"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a:p>
              <a:pPr marL="305435" marR="5080" indent="-146685">
                <a:lnSpc>
                  <a:spcPts val="2000"/>
                </a:lnSpc>
                <a:spcBef>
                  <a:spcPts val="80"/>
                </a:spcBef>
              </a:pPr>
              <a:r>
                <a:rPr b="0" spc="-5" dirty="0">
                  <a:latin typeface="Times New Roman" panose="02020603050405020304" pitchFamily="18" charset="0"/>
                  <a:cs typeface="Times New Roman" panose="02020603050405020304" pitchFamily="18" charset="0"/>
                </a:rPr>
                <a:t>public </a:t>
              </a:r>
              <a:r>
                <a:rPr b="0" spc="-10" dirty="0">
                  <a:latin typeface="Times New Roman" panose="02020603050405020304" pitchFamily="18" charset="0"/>
                  <a:cs typeface="Times New Roman" panose="02020603050405020304" pitchFamily="18" charset="0"/>
                </a:rPr>
                <a:t>void </a:t>
              </a:r>
              <a:r>
                <a:rPr b="0" spc="-5" dirty="0">
                  <a:latin typeface="Times New Roman" panose="02020603050405020304" pitchFamily="18" charset="0"/>
                  <a:cs typeface="Times New Roman" panose="02020603050405020304" pitchFamily="18" charset="0"/>
                </a:rPr>
                <a:t>setHeight(int </a:t>
              </a:r>
              <a:r>
                <a:rPr b="0" spc="-10" dirty="0">
                  <a:latin typeface="Times New Roman" panose="02020603050405020304" pitchFamily="18" charset="0"/>
                  <a:cs typeface="Times New Roman" panose="02020603050405020304" pitchFamily="18" charset="0"/>
                </a:rPr>
                <a:t>height) </a:t>
              </a:r>
              <a:r>
                <a:rPr b="0" dirty="0">
                  <a:latin typeface="Times New Roman" panose="02020603050405020304" pitchFamily="18" charset="0"/>
                  <a:cs typeface="Times New Roman" panose="02020603050405020304" pitchFamily="18" charset="0"/>
                </a:rPr>
                <a:t>{  </a:t>
              </a:r>
              <a:r>
                <a:rPr b="0" spc="-5" dirty="0">
                  <a:latin typeface="Times New Roman" panose="02020603050405020304" pitchFamily="18" charset="0"/>
                  <a:cs typeface="Times New Roman" panose="02020603050405020304" pitchFamily="18" charset="0"/>
                </a:rPr>
                <a:t>this.height </a:t>
              </a:r>
              <a:r>
                <a:rPr b="0" dirty="0">
                  <a:latin typeface="Times New Roman" panose="02020603050405020304" pitchFamily="18" charset="0"/>
                  <a:cs typeface="Times New Roman" panose="02020603050405020304" pitchFamily="18" charset="0"/>
                </a:rPr>
                <a:t>=</a:t>
              </a:r>
              <a:r>
                <a:rPr b="0" spc="-15" dirty="0">
                  <a:latin typeface="Times New Roman" panose="02020603050405020304" pitchFamily="18" charset="0"/>
                  <a:cs typeface="Times New Roman" panose="02020603050405020304" pitchFamily="18" charset="0"/>
                </a:rPr>
                <a:t> </a:t>
              </a:r>
              <a:r>
                <a:rPr b="0" spc="-5" dirty="0">
                  <a:latin typeface="Times New Roman" panose="02020603050405020304" pitchFamily="18" charset="0"/>
                  <a:cs typeface="Times New Roman" panose="02020603050405020304" pitchFamily="18" charset="0"/>
                </a:rPr>
                <a:t>height;</a:t>
              </a:r>
              <a:endParaRPr dirty="0">
                <a:latin typeface="Times New Roman" panose="02020603050405020304" pitchFamily="18" charset="0"/>
                <a:cs typeface="Times New Roman" panose="02020603050405020304" pitchFamily="18" charset="0"/>
              </a:endParaRPr>
            </a:p>
            <a:p>
              <a:pPr marL="158750">
                <a:lnSpc>
                  <a:spcPts val="2020"/>
                </a:lnSpc>
              </a:pPr>
              <a:r>
                <a:rPr b="0"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a:p>
              <a:pPr marL="305435" marR="988060" indent="-146685">
                <a:lnSpc>
                  <a:spcPts val="2000"/>
                </a:lnSpc>
                <a:spcBef>
                  <a:spcPts val="80"/>
                </a:spcBef>
              </a:pPr>
              <a:r>
                <a:rPr b="0" spc="-5" dirty="0">
                  <a:latin typeface="Times New Roman" panose="02020603050405020304" pitchFamily="18" charset="0"/>
                  <a:cs typeface="Times New Roman" panose="02020603050405020304" pitchFamily="18" charset="0"/>
                </a:rPr>
                <a:t>public </a:t>
              </a:r>
              <a:r>
                <a:rPr b="0" spc="-10" dirty="0">
                  <a:latin typeface="Times New Roman" panose="02020603050405020304" pitchFamily="18" charset="0"/>
                  <a:cs typeface="Times New Roman" panose="02020603050405020304" pitchFamily="18" charset="0"/>
                </a:rPr>
                <a:t>int </a:t>
              </a:r>
              <a:r>
                <a:rPr b="0" spc="-5" dirty="0">
                  <a:latin typeface="Times New Roman" panose="02020603050405020304" pitchFamily="18" charset="0"/>
                  <a:cs typeface="Times New Roman" panose="02020603050405020304" pitchFamily="18" charset="0"/>
                </a:rPr>
                <a:t>getWidth() </a:t>
              </a:r>
              <a:r>
                <a:rPr b="0" dirty="0">
                  <a:latin typeface="Times New Roman" panose="02020603050405020304" pitchFamily="18" charset="0"/>
                  <a:cs typeface="Times New Roman" panose="02020603050405020304" pitchFamily="18" charset="0"/>
                </a:rPr>
                <a:t>{  </a:t>
              </a:r>
              <a:r>
                <a:rPr b="0" spc="-10" dirty="0">
                  <a:latin typeface="Times New Roman" panose="02020603050405020304" pitchFamily="18" charset="0"/>
                  <a:cs typeface="Times New Roman" panose="02020603050405020304" pitchFamily="18" charset="0"/>
                </a:rPr>
                <a:t>return</a:t>
              </a:r>
              <a:r>
                <a:rPr b="0" spc="-15" dirty="0">
                  <a:latin typeface="Times New Roman" panose="02020603050405020304" pitchFamily="18" charset="0"/>
                  <a:cs typeface="Times New Roman" panose="02020603050405020304" pitchFamily="18" charset="0"/>
                </a:rPr>
                <a:t> </a:t>
              </a:r>
              <a:r>
                <a:rPr b="0" spc="-5" dirty="0">
                  <a:latin typeface="Times New Roman" panose="02020603050405020304" pitchFamily="18" charset="0"/>
                  <a:cs typeface="Times New Roman" panose="02020603050405020304" pitchFamily="18" charset="0"/>
                </a:rPr>
                <a:t>width;</a:t>
              </a:r>
              <a:endParaRPr dirty="0">
                <a:latin typeface="Times New Roman" panose="02020603050405020304" pitchFamily="18" charset="0"/>
                <a:cs typeface="Times New Roman" panose="02020603050405020304" pitchFamily="18" charset="0"/>
              </a:endParaRPr>
            </a:p>
            <a:p>
              <a:pPr marL="158750">
                <a:lnSpc>
                  <a:spcPts val="1920"/>
                </a:lnSpc>
              </a:pPr>
              <a:r>
                <a:rPr b="0"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a:p>
              <a:pPr marL="305435" marR="951230" indent="-146685">
                <a:lnSpc>
                  <a:spcPts val="2100"/>
                </a:lnSpc>
              </a:pPr>
              <a:r>
                <a:rPr b="0" spc="-5" dirty="0">
                  <a:latin typeface="Times New Roman" panose="02020603050405020304" pitchFamily="18" charset="0"/>
                  <a:cs typeface="Times New Roman" panose="02020603050405020304" pitchFamily="18" charset="0"/>
                </a:rPr>
                <a:t>public </a:t>
              </a:r>
              <a:r>
                <a:rPr b="0" spc="-10" dirty="0">
                  <a:latin typeface="Times New Roman" panose="02020603050405020304" pitchFamily="18" charset="0"/>
                  <a:cs typeface="Times New Roman" panose="02020603050405020304" pitchFamily="18" charset="0"/>
                </a:rPr>
                <a:t>int getHeight() </a:t>
              </a:r>
              <a:r>
                <a:rPr b="0" dirty="0">
                  <a:latin typeface="Times New Roman" panose="02020603050405020304" pitchFamily="18" charset="0"/>
                  <a:cs typeface="Times New Roman" panose="02020603050405020304" pitchFamily="18" charset="0"/>
                </a:rPr>
                <a:t>{  </a:t>
              </a:r>
              <a:r>
                <a:rPr b="0" spc="-10" dirty="0">
                  <a:latin typeface="Times New Roman" panose="02020603050405020304" pitchFamily="18" charset="0"/>
                  <a:cs typeface="Times New Roman" panose="02020603050405020304" pitchFamily="18" charset="0"/>
                </a:rPr>
                <a:t>return height;</a:t>
              </a:r>
              <a:endParaRPr dirty="0">
                <a:latin typeface="Times New Roman" panose="02020603050405020304" pitchFamily="18" charset="0"/>
                <a:cs typeface="Times New Roman" panose="02020603050405020304" pitchFamily="18" charset="0"/>
              </a:endParaRPr>
            </a:p>
            <a:p>
              <a:pPr marL="158750">
                <a:lnSpc>
                  <a:spcPts val="1900"/>
                </a:lnSpc>
              </a:pPr>
              <a:r>
                <a:rPr b="0"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a:p>
              <a:pPr marL="12700">
                <a:lnSpc>
                  <a:spcPts val="2020"/>
                </a:lnSpc>
              </a:pPr>
              <a:r>
                <a:rPr b="0"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p:txBody>
        </p:sp>
      </p:grpSp>
      <p:sp>
        <p:nvSpPr>
          <p:cNvPr id="9" name="object 6"/>
          <p:cNvSpPr txBox="1"/>
          <p:nvPr/>
        </p:nvSpPr>
        <p:spPr>
          <a:xfrm>
            <a:off x="5670683" y="4846110"/>
            <a:ext cx="5683117" cy="1115060"/>
          </a:xfrm>
          <a:prstGeom prst="rect">
            <a:avLst/>
          </a:prstGeom>
        </p:spPr>
        <p:txBody>
          <a:bodyPr vert="horz" wrap="square" lIns="0" tIns="15875" rIns="0" bIns="0" rtlCol="0">
            <a:spAutoFit/>
          </a:bodyPr>
          <a:lstStyle/>
          <a:p>
            <a:pPr marL="12700" marR="5080" algn="just">
              <a:lnSpc>
                <a:spcPct val="99000"/>
              </a:lnSpc>
              <a:spcBef>
                <a:spcPts val="125"/>
              </a:spcBef>
            </a:pPr>
            <a:r>
              <a:rPr sz="2400" dirty="0">
                <a:latin typeface="微软雅黑" panose="020B0503020204020204" pitchFamily="34" charset="-122"/>
                <a:ea typeface="微软雅黑" panose="020B0503020204020204" pitchFamily="34" charset="-122"/>
                <a:cs typeface="黑体" panose="02010609060101010101" charset="-122"/>
              </a:rPr>
              <a:t>问题：如果将</a:t>
            </a:r>
            <a:r>
              <a:rPr sz="2400" spc="-5" dirty="0">
                <a:latin typeface="微软雅黑" panose="020B0503020204020204" pitchFamily="34" charset="-122"/>
                <a:ea typeface="微软雅黑" panose="020B0503020204020204" pitchFamily="34" charset="-122"/>
                <a:cs typeface="Calibri" panose="020F0502020204030204"/>
              </a:rPr>
              <a:t>Square</a:t>
            </a:r>
            <a:r>
              <a:rPr sz="2400" dirty="0">
                <a:latin typeface="微软雅黑" panose="020B0503020204020204" pitchFamily="34" charset="-122"/>
                <a:ea typeface="微软雅黑" panose="020B0503020204020204" pitchFamily="34" charset="-122"/>
                <a:cs typeface="黑体" panose="02010609060101010101" charset="-122"/>
              </a:rPr>
              <a:t>作为</a:t>
            </a:r>
            <a:r>
              <a:rPr sz="2400" spc="-5" dirty="0">
                <a:latin typeface="微软雅黑" panose="020B0503020204020204" pitchFamily="34" charset="-122"/>
                <a:ea typeface="微软雅黑" panose="020B0503020204020204" pitchFamily="34" charset="-122"/>
                <a:cs typeface="Calibri" panose="020F0502020204030204"/>
              </a:rPr>
              <a:t>Rectangle</a:t>
            </a:r>
            <a:r>
              <a:rPr sz="2400" dirty="0">
                <a:latin typeface="微软雅黑" panose="020B0503020204020204" pitchFamily="34" charset="-122"/>
                <a:ea typeface="微软雅黑" panose="020B0503020204020204" pitchFamily="34" charset="-122"/>
                <a:cs typeface="黑体" panose="02010609060101010101" charset="-122"/>
              </a:rPr>
              <a:t>的子 类，则如何定义Square类的setWidth和  setHeight方法？</a:t>
            </a:r>
            <a:endParaRPr sz="2400" dirty="0">
              <a:latin typeface="微软雅黑" panose="020B0503020204020204" pitchFamily="34" charset="-122"/>
              <a:ea typeface="微软雅黑" panose="020B0503020204020204" pitchFamily="34" charset="-122"/>
              <a:cs typeface="黑体" panose="02010609060101010101" charset="-122"/>
            </a:endParaRPr>
          </a:p>
        </p:txBody>
      </p:sp>
      <p:grpSp>
        <p:nvGrpSpPr>
          <p:cNvPr id="11" name="组合 10"/>
          <p:cNvGrpSpPr/>
          <p:nvPr/>
        </p:nvGrpSpPr>
        <p:grpSpPr>
          <a:xfrm>
            <a:off x="7068108" y="1690688"/>
            <a:ext cx="2088230" cy="2718300"/>
            <a:chOff x="7068108" y="1589999"/>
            <a:chExt cx="2088230" cy="2718300"/>
          </a:xfrm>
        </p:grpSpPr>
        <p:sp>
          <p:nvSpPr>
            <p:cNvPr id="8" name="object 5"/>
            <p:cNvSpPr/>
            <p:nvPr/>
          </p:nvSpPr>
          <p:spPr>
            <a:xfrm>
              <a:off x="7068108" y="1589999"/>
              <a:ext cx="2088230" cy="2718300"/>
            </a:xfrm>
            <a:prstGeom prst="rect">
              <a:avLst/>
            </a:prstGeom>
            <a:blipFill>
              <a:blip r:embed="rId1" cstate="print"/>
              <a:stretch>
                <a:fillRect/>
              </a:stretch>
            </a:blipFill>
          </p:spPr>
          <p:txBody>
            <a:bodyPr wrap="square" lIns="0" tIns="0" rIns="0" bIns="0" rtlCol="0"/>
            <a:lstStyle/>
            <a:p/>
          </p:txBody>
        </p:sp>
        <p:sp>
          <p:nvSpPr>
            <p:cNvPr id="10" name="object 7"/>
            <p:cNvSpPr txBox="1"/>
            <p:nvPr/>
          </p:nvSpPr>
          <p:spPr>
            <a:xfrm>
              <a:off x="8839034" y="2451112"/>
              <a:ext cx="279400" cy="635000"/>
            </a:xfrm>
            <a:prstGeom prst="rect">
              <a:avLst/>
            </a:prstGeom>
          </p:spPr>
          <p:txBody>
            <a:bodyPr vert="horz" wrap="square" lIns="0" tIns="12700" rIns="0" bIns="0" rtlCol="0">
              <a:spAutoFit/>
            </a:bodyPr>
            <a:lstStyle/>
            <a:p>
              <a:pPr marL="12700">
                <a:lnSpc>
                  <a:spcPct val="100000"/>
                </a:lnSpc>
                <a:spcBef>
                  <a:spcPts val="100"/>
                </a:spcBef>
              </a:pPr>
              <a:r>
                <a:rPr sz="4000" dirty="0">
                  <a:solidFill>
                    <a:srgbClr val="3333CC"/>
                  </a:solidFill>
                  <a:latin typeface="宋体" panose="02010600030101010101" pitchFamily="2" charset="-122"/>
                  <a:cs typeface="宋体" panose="02010600030101010101" pitchFamily="2" charset="-122"/>
                </a:rPr>
                <a:t>?</a:t>
              </a:r>
              <a:endParaRPr sz="4000">
                <a:latin typeface="宋体" panose="02010600030101010101" pitchFamily="2" charset="-122"/>
                <a:cs typeface="宋体" panose="02010600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23146"/>
    </mc:Choice>
    <mc:Fallback>
      <p:transition spd="slow" advTm="23146"/>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5" dirty="0">
                <a:latin typeface="黑体" panose="02010609060101010101" charset="-122"/>
                <a:cs typeface="黑体" panose="02010609060101010101" charset="-122"/>
              </a:rPr>
              <a:t>解决方法</a:t>
            </a:r>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grpSp>
        <p:nvGrpSpPr>
          <p:cNvPr id="5" name="组合 4"/>
          <p:cNvGrpSpPr/>
          <p:nvPr/>
        </p:nvGrpSpPr>
        <p:grpSpPr>
          <a:xfrm>
            <a:off x="1100958" y="1689100"/>
            <a:ext cx="4532586" cy="3500681"/>
            <a:chOff x="916939" y="1078957"/>
            <a:chExt cx="3591560" cy="3500681"/>
          </a:xfrm>
        </p:grpSpPr>
        <p:sp>
          <p:nvSpPr>
            <p:cNvPr id="6" name="object 3"/>
            <p:cNvSpPr txBox="1"/>
            <p:nvPr/>
          </p:nvSpPr>
          <p:spPr>
            <a:xfrm>
              <a:off x="916939" y="1078957"/>
              <a:ext cx="3591560" cy="1515608"/>
            </a:xfrm>
            <a:prstGeom prst="rect">
              <a:avLst/>
            </a:prstGeom>
          </p:spPr>
          <p:txBody>
            <a:bodyPr vert="horz" wrap="square" lIns="0" tIns="12700" rIns="0" bIns="0" rtlCol="0">
              <a:spAutoFit/>
            </a:bodyPr>
            <a:lstStyle/>
            <a:p>
              <a:pPr marL="167640" marR="5080" indent="-155575">
                <a:lnSpc>
                  <a:spcPct val="125000"/>
                </a:lnSpc>
                <a:spcBef>
                  <a:spcPts val="100"/>
                </a:spcBef>
              </a:pPr>
              <a:r>
                <a:rPr sz="2000" b="0" spc="-5" dirty="0">
                  <a:latin typeface="Times New Roman" panose="02020603050405020304" pitchFamily="18" charset="0"/>
                  <a:cs typeface="Times New Roman" panose="02020603050405020304" pitchFamily="18" charset="0"/>
                </a:rPr>
                <a:t>public </a:t>
              </a:r>
              <a:r>
                <a:rPr sz="2000" b="0" dirty="0">
                  <a:latin typeface="Times New Roman" panose="02020603050405020304" pitchFamily="18" charset="0"/>
                  <a:cs typeface="Times New Roman" panose="02020603050405020304" pitchFamily="18" charset="0"/>
                </a:rPr>
                <a:t>class </a:t>
              </a:r>
              <a:r>
                <a:rPr sz="2000" b="0" spc="-10" dirty="0">
                  <a:solidFill>
                    <a:srgbClr val="FF0000"/>
                  </a:solidFill>
                  <a:latin typeface="Times New Roman" panose="02020603050405020304" pitchFamily="18" charset="0"/>
                  <a:cs typeface="Times New Roman" panose="02020603050405020304" pitchFamily="18" charset="0"/>
                </a:rPr>
                <a:t>Square</a:t>
              </a:r>
              <a:r>
                <a:rPr sz="2000" b="0" spc="-10" dirty="0">
                  <a:latin typeface="Times New Roman" panose="02020603050405020304" pitchFamily="18" charset="0"/>
                  <a:cs typeface="Times New Roman" panose="02020603050405020304" pitchFamily="18" charset="0"/>
                </a:rPr>
                <a:t> </a:t>
              </a:r>
              <a:r>
                <a:rPr sz="2000" b="1" spc="-10" dirty="0">
                  <a:solidFill>
                    <a:srgbClr val="FF0000"/>
                  </a:solidFill>
                  <a:latin typeface="Times New Roman" panose="02020603050405020304" pitchFamily="18" charset="0"/>
                  <a:cs typeface="Times New Roman" panose="02020603050405020304" pitchFamily="18" charset="0"/>
                </a:rPr>
                <a:t>extends</a:t>
              </a:r>
              <a:r>
                <a:rPr sz="2000" b="0" spc="-10" dirty="0">
                  <a:latin typeface="Times New Roman" panose="02020603050405020304" pitchFamily="18" charset="0"/>
                  <a:cs typeface="Times New Roman" panose="02020603050405020304" pitchFamily="18" charset="0"/>
                </a:rPr>
                <a:t> </a:t>
              </a:r>
              <a:r>
                <a:rPr sz="2000" b="0" spc="-10" dirty="0">
                  <a:solidFill>
                    <a:srgbClr val="FF0000"/>
                  </a:solidFill>
                  <a:latin typeface="Times New Roman" panose="02020603050405020304" pitchFamily="18" charset="0"/>
                  <a:cs typeface="Times New Roman" panose="02020603050405020304" pitchFamily="18" charset="0"/>
                </a:rPr>
                <a:t>Rectangle</a:t>
              </a:r>
              <a:r>
                <a:rPr sz="2000" b="0" spc="-10" dirty="0">
                  <a:latin typeface="Times New Roman" panose="02020603050405020304" pitchFamily="18" charset="0"/>
                  <a:cs typeface="Times New Roman" panose="02020603050405020304" pitchFamily="18" charset="0"/>
                </a:rPr>
                <a:t> </a:t>
              </a:r>
              <a:r>
                <a:rPr sz="2000" b="0" dirty="0">
                  <a:latin typeface="Times New Roman" panose="02020603050405020304" pitchFamily="18" charset="0"/>
                  <a:cs typeface="Times New Roman" panose="02020603050405020304" pitchFamily="18" charset="0"/>
                </a:rPr>
                <a:t>{  </a:t>
              </a:r>
              <a:r>
                <a:rPr sz="2000" b="0" spc="-5" dirty="0">
                  <a:latin typeface="Times New Roman" panose="02020603050405020304" pitchFamily="18" charset="0"/>
                  <a:cs typeface="Times New Roman" panose="02020603050405020304" pitchFamily="18" charset="0"/>
                </a:rPr>
                <a:t>public </a:t>
              </a:r>
              <a:r>
                <a:rPr sz="2000" b="0" spc="-10" dirty="0">
                  <a:latin typeface="Times New Roman" panose="02020603050405020304" pitchFamily="18" charset="0"/>
                  <a:cs typeface="Times New Roman" panose="02020603050405020304" pitchFamily="18" charset="0"/>
                </a:rPr>
                <a:t>void </a:t>
              </a:r>
              <a:r>
                <a:rPr sz="2000" b="0" spc="-5" dirty="0">
                  <a:latin typeface="Times New Roman" panose="02020603050405020304" pitchFamily="18" charset="0"/>
                  <a:cs typeface="Times New Roman" panose="02020603050405020304" pitchFamily="18" charset="0"/>
                </a:rPr>
                <a:t>setWidth(int width)</a:t>
              </a:r>
              <a:r>
                <a:rPr sz="2000" b="0" dirty="0">
                  <a:latin typeface="Times New Roman" panose="02020603050405020304" pitchFamily="18" charset="0"/>
                  <a:cs typeface="Times New Roman" panose="02020603050405020304" pitchFamily="18" charset="0"/>
                </a:rPr>
                <a:t> {</a:t>
              </a:r>
              <a:endParaRPr sz="2000" dirty="0">
                <a:latin typeface="Times New Roman" panose="02020603050405020304" pitchFamily="18" charset="0"/>
                <a:cs typeface="Times New Roman" panose="02020603050405020304" pitchFamily="18" charset="0"/>
              </a:endParaRPr>
            </a:p>
            <a:p>
              <a:pPr marL="322580" marR="1113155">
                <a:lnSpc>
                  <a:spcPct val="125000"/>
                </a:lnSpc>
              </a:pPr>
              <a:r>
                <a:rPr sz="2000" b="0" spc="-10" dirty="0">
                  <a:latin typeface="Times New Roman" panose="02020603050405020304" pitchFamily="18" charset="0"/>
                  <a:cs typeface="Times New Roman" panose="02020603050405020304" pitchFamily="18" charset="0"/>
                </a:rPr>
                <a:t>super.setWidth(width);  </a:t>
              </a:r>
              <a:r>
                <a:rPr sz="2000" b="0" dirty="0">
                  <a:latin typeface="Times New Roman" panose="02020603050405020304" pitchFamily="18" charset="0"/>
                  <a:cs typeface="Times New Roman" panose="02020603050405020304" pitchFamily="18" charset="0"/>
                </a:rPr>
                <a:t>supe</a:t>
              </a:r>
              <a:r>
                <a:rPr sz="2000" b="0" spc="-195" dirty="0">
                  <a:latin typeface="Times New Roman" panose="02020603050405020304" pitchFamily="18" charset="0"/>
                  <a:cs typeface="Times New Roman" panose="02020603050405020304" pitchFamily="18" charset="0"/>
                </a:rPr>
                <a:t>r</a:t>
              </a:r>
              <a:r>
                <a:rPr sz="2000" b="0" dirty="0">
                  <a:latin typeface="Times New Roman" panose="02020603050405020304" pitchFamily="18" charset="0"/>
                  <a:cs typeface="Times New Roman" panose="02020603050405020304" pitchFamily="18" charset="0"/>
                </a:rPr>
                <a:t>.s</a:t>
              </a:r>
              <a:r>
                <a:rPr sz="2000" b="0" spc="-10" dirty="0">
                  <a:latin typeface="Times New Roman" panose="02020603050405020304" pitchFamily="18" charset="0"/>
                  <a:cs typeface="Times New Roman" panose="02020603050405020304" pitchFamily="18" charset="0"/>
                </a:rPr>
                <a:t>e</a:t>
              </a:r>
              <a:r>
                <a:rPr sz="2000" b="0" dirty="0">
                  <a:latin typeface="Times New Roman" panose="02020603050405020304" pitchFamily="18" charset="0"/>
                  <a:cs typeface="Times New Roman" panose="02020603050405020304" pitchFamily="18" charset="0"/>
                </a:rPr>
                <a:t>tHeig</a:t>
              </a:r>
              <a:r>
                <a:rPr sz="2000" b="0" spc="-20" dirty="0">
                  <a:latin typeface="Times New Roman" panose="02020603050405020304" pitchFamily="18" charset="0"/>
                  <a:cs typeface="Times New Roman" panose="02020603050405020304" pitchFamily="18" charset="0"/>
                </a:rPr>
                <a:t>h</a:t>
              </a:r>
              <a:r>
                <a:rPr sz="2000" b="0" spc="-5" dirty="0">
                  <a:latin typeface="Times New Roman" panose="02020603050405020304" pitchFamily="18" charset="0"/>
                  <a:cs typeface="Times New Roman" panose="02020603050405020304" pitchFamily="18" charset="0"/>
                </a:rPr>
                <a:t>t</a:t>
              </a:r>
              <a:r>
                <a:rPr sz="2000" b="0" dirty="0">
                  <a:latin typeface="Times New Roman" panose="02020603050405020304" pitchFamily="18" charset="0"/>
                  <a:cs typeface="Times New Roman" panose="02020603050405020304" pitchFamily="18" charset="0"/>
                </a:rPr>
                <a:t>(width);</a:t>
              </a:r>
              <a:endParaRPr sz="2000" dirty="0">
                <a:latin typeface="Times New Roman" panose="02020603050405020304" pitchFamily="18" charset="0"/>
                <a:cs typeface="Times New Roman" panose="02020603050405020304" pitchFamily="18" charset="0"/>
              </a:endParaRPr>
            </a:p>
          </p:txBody>
        </p:sp>
        <p:sp>
          <p:nvSpPr>
            <p:cNvPr id="7" name="object 4"/>
            <p:cNvSpPr txBox="1"/>
            <p:nvPr/>
          </p:nvSpPr>
          <p:spPr>
            <a:xfrm>
              <a:off x="916939" y="2463257"/>
              <a:ext cx="3235445" cy="1928733"/>
            </a:xfrm>
            <a:prstGeom prst="rect">
              <a:avLst/>
            </a:prstGeom>
          </p:spPr>
          <p:txBody>
            <a:bodyPr vert="horz" wrap="square" lIns="0" tIns="81280" rIns="0" bIns="0" rtlCol="0">
              <a:spAutoFit/>
            </a:bodyPr>
            <a:lstStyle/>
            <a:p>
              <a:pPr marL="12700">
                <a:lnSpc>
                  <a:spcPct val="100000"/>
                </a:lnSpc>
                <a:spcBef>
                  <a:spcPts val="640"/>
                </a:spcBef>
              </a:pPr>
              <a:r>
                <a:rPr sz="2000" b="0" dirty="0">
                  <a:latin typeface="Times New Roman" panose="02020603050405020304" pitchFamily="18" charset="0"/>
                  <a:cs typeface="Times New Roman" panose="02020603050405020304" pitchFamily="18" charset="0"/>
                </a:rPr>
                <a:t>}</a:t>
              </a:r>
              <a:endParaRPr sz="2000" dirty="0">
                <a:latin typeface="Times New Roman" panose="02020603050405020304" pitchFamily="18" charset="0"/>
                <a:cs typeface="Times New Roman" panose="02020603050405020304" pitchFamily="18" charset="0"/>
              </a:endParaRPr>
            </a:p>
            <a:p>
              <a:pPr marL="167640" marR="5080" indent="-155575">
                <a:lnSpc>
                  <a:spcPct val="125000"/>
                </a:lnSpc>
              </a:pPr>
              <a:r>
                <a:rPr sz="2000" b="0" spc="-5" dirty="0">
                  <a:latin typeface="Times New Roman" panose="02020603050405020304" pitchFamily="18" charset="0"/>
                  <a:cs typeface="Times New Roman" panose="02020603050405020304" pitchFamily="18" charset="0"/>
                </a:rPr>
                <a:t>public </a:t>
              </a:r>
              <a:r>
                <a:rPr sz="2000" b="0" spc="-10" dirty="0">
                  <a:latin typeface="Times New Roman" panose="02020603050405020304" pitchFamily="18" charset="0"/>
                  <a:cs typeface="Times New Roman" panose="02020603050405020304" pitchFamily="18" charset="0"/>
                </a:rPr>
                <a:t>void </a:t>
              </a:r>
              <a:r>
                <a:rPr sz="2000" b="0" spc="-5" dirty="0">
                  <a:latin typeface="Times New Roman" panose="02020603050405020304" pitchFamily="18" charset="0"/>
                  <a:cs typeface="Times New Roman" panose="02020603050405020304" pitchFamily="18" charset="0"/>
                </a:rPr>
                <a:t>setHeight(int </a:t>
              </a:r>
              <a:r>
                <a:rPr sz="2000" b="0" spc="-10" dirty="0">
                  <a:latin typeface="Times New Roman" panose="02020603050405020304" pitchFamily="18" charset="0"/>
                  <a:cs typeface="Times New Roman" panose="02020603050405020304" pitchFamily="18" charset="0"/>
                </a:rPr>
                <a:t>height) </a:t>
              </a:r>
              <a:r>
                <a:rPr sz="2000" b="0" dirty="0">
                  <a:latin typeface="Times New Roman" panose="02020603050405020304" pitchFamily="18" charset="0"/>
                  <a:cs typeface="Times New Roman" panose="02020603050405020304" pitchFamily="18" charset="0"/>
                </a:rPr>
                <a:t>{  </a:t>
              </a:r>
              <a:r>
                <a:rPr sz="2000" b="0" spc="-15" dirty="0">
                  <a:latin typeface="Times New Roman" panose="02020603050405020304" pitchFamily="18" charset="0"/>
                  <a:cs typeface="Times New Roman" panose="02020603050405020304" pitchFamily="18" charset="0"/>
                </a:rPr>
                <a:t>super.setHeight(height);  super.setWidth(height);</a:t>
              </a:r>
              <a:endParaRPr sz="2000" dirty="0">
                <a:latin typeface="Times New Roman" panose="02020603050405020304" pitchFamily="18" charset="0"/>
                <a:cs typeface="Times New Roman" panose="02020603050405020304" pitchFamily="18" charset="0"/>
              </a:endParaRPr>
            </a:p>
            <a:p>
              <a:pPr marL="12700">
                <a:lnSpc>
                  <a:spcPct val="100000"/>
                </a:lnSpc>
                <a:spcBef>
                  <a:spcPts val="640"/>
                </a:spcBef>
              </a:pPr>
              <a:r>
                <a:rPr lang="en-US" altLang="zh-CN" sz="2000" b="0" dirty="0">
                  <a:latin typeface="Times New Roman" panose="02020603050405020304" pitchFamily="18" charset="0"/>
                  <a:cs typeface="Times New Roman" panose="02020603050405020304" pitchFamily="18" charset="0"/>
                </a:rPr>
                <a:t> </a:t>
              </a:r>
              <a:r>
                <a:rPr sz="2000" b="0" dirty="0">
                  <a:latin typeface="Times New Roman" panose="02020603050405020304" pitchFamily="18" charset="0"/>
                  <a:cs typeface="Times New Roman" panose="02020603050405020304" pitchFamily="18" charset="0"/>
                </a:rPr>
                <a:t>}</a:t>
              </a:r>
              <a:endParaRPr sz="2000" dirty="0">
                <a:latin typeface="Times New Roman" panose="02020603050405020304" pitchFamily="18" charset="0"/>
                <a:cs typeface="Times New Roman" panose="02020603050405020304" pitchFamily="18" charset="0"/>
              </a:endParaRPr>
            </a:p>
          </p:txBody>
        </p:sp>
        <p:sp>
          <p:nvSpPr>
            <p:cNvPr id="8" name="object 5"/>
            <p:cNvSpPr txBox="1"/>
            <p:nvPr/>
          </p:nvSpPr>
          <p:spPr>
            <a:xfrm>
              <a:off x="916939" y="4259037"/>
              <a:ext cx="93980" cy="320601"/>
            </a:xfrm>
            <a:prstGeom prst="rect">
              <a:avLst/>
            </a:prstGeom>
          </p:spPr>
          <p:txBody>
            <a:bodyPr vert="horz" wrap="square" lIns="0" tIns="12700" rIns="0" bIns="0" rtlCol="0">
              <a:spAutoFit/>
            </a:bodyPr>
            <a:lstStyle/>
            <a:p>
              <a:pPr marL="12700">
                <a:lnSpc>
                  <a:spcPct val="100000"/>
                </a:lnSpc>
                <a:spcBef>
                  <a:spcPts val="100"/>
                </a:spcBef>
              </a:pPr>
              <a:r>
                <a:rPr sz="2000" b="0" dirty="0">
                  <a:latin typeface="Times New Roman" panose="02020603050405020304" pitchFamily="18" charset="0"/>
                  <a:cs typeface="Times New Roman" panose="02020603050405020304" pitchFamily="18" charset="0"/>
                </a:rPr>
                <a:t>}</a:t>
              </a:r>
              <a:endParaRPr sz="2000">
                <a:latin typeface="Times New Roman" panose="02020603050405020304" pitchFamily="18" charset="0"/>
                <a:cs typeface="Times New Roman" panose="02020603050405020304" pitchFamily="18" charset="0"/>
              </a:endParaRPr>
            </a:p>
          </p:txBody>
        </p:sp>
      </p:grpSp>
      <p:sp>
        <p:nvSpPr>
          <p:cNvPr id="9" name="object 6"/>
          <p:cNvSpPr txBox="1"/>
          <p:nvPr/>
        </p:nvSpPr>
        <p:spPr>
          <a:xfrm>
            <a:off x="1100958" y="5399295"/>
            <a:ext cx="3937000" cy="452120"/>
          </a:xfrm>
          <a:prstGeom prst="rect">
            <a:avLst/>
          </a:prstGeom>
        </p:spPr>
        <p:txBody>
          <a:bodyPr vert="horz" wrap="square" lIns="0" tIns="12700" rIns="0" bIns="0" rtlCol="0">
            <a:spAutoFit/>
          </a:bodyPr>
          <a:lstStyle/>
          <a:p>
            <a:pPr marL="12700">
              <a:lnSpc>
                <a:spcPct val="100000"/>
              </a:lnSpc>
              <a:spcBef>
                <a:spcPts val="100"/>
              </a:spcBef>
            </a:pPr>
            <a:r>
              <a:rPr sz="2800" dirty="0">
                <a:solidFill>
                  <a:srgbClr val="800000"/>
                </a:solidFill>
                <a:latin typeface="微软雅黑" panose="020B0503020204020204" pitchFamily="34" charset="-122"/>
                <a:ea typeface="微软雅黑" panose="020B0503020204020204" pitchFamily="34" charset="-122"/>
                <a:cs typeface="黑体" panose="02010609060101010101" charset="-122"/>
              </a:rPr>
              <a:t>这种解决方法是否可行</a:t>
            </a:r>
            <a:r>
              <a:rPr sz="2800" dirty="0">
                <a:solidFill>
                  <a:srgbClr val="941100"/>
                </a:solidFill>
                <a:latin typeface="微软雅黑" panose="020B0503020204020204" pitchFamily="34" charset="-122"/>
                <a:ea typeface="微软雅黑" panose="020B0503020204020204" pitchFamily="34" charset="-122"/>
                <a:cs typeface="黑体" panose="02010609060101010101" charset="-122"/>
              </a:rPr>
              <a:t>？</a:t>
            </a:r>
            <a:endParaRPr sz="2800" dirty="0">
              <a:latin typeface="微软雅黑" panose="020B0503020204020204" pitchFamily="34" charset="-122"/>
              <a:ea typeface="微软雅黑" panose="020B0503020204020204" pitchFamily="34" charset="-122"/>
              <a:cs typeface="黑体" panose="02010609060101010101" charset="-122"/>
            </a:endParaRPr>
          </a:p>
        </p:txBody>
      </p:sp>
      <p:grpSp>
        <p:nvGrpSpPr>
          <p:cNvPr id="12" name="组合 11"/>
          <p:cNvGrpSpPr/>
          <p:nvPr/>
        </p:nvGrpSpPr>
        <p:grpSpPr>
          <a:xfrm>
            <a:off x="7541327" y="2053720"/>
            <a:ext cx="2327887" cy="3136061"/>
            <a:chOff x="7783065" y="1733119"/>
            <a:chExt cx="1791193" cy="2439501"/>
          </a:xfrm>
        </p:grpSpPr>
        <p:sp>
          <p:nvSpPr>
            <p:cNvPr id="10" name="object 7"/>
            <p:cNvSpPr/>
            <p:nvPr/>
          </p:nvSpPr>
          <p:spPr>
            <a:xfrm>
              <a:off x="7783065" y="1733119"/>
              <a:ext cx="1791193" cy="2439501"/>
            </a:xfrm>
            <a:prstGeom prst="rect">
              <a:avLst/>
            </a:prstGeom>
            <a:blipFill>
              <a:blip r:embed="rId1" cstate="print"/>
              <a:stretch>
                <a:fillRect/>
              </a:stretch>
            </a:blipFill>
          </p:spPr>
          <p:txBody>
            <a:bodyPr wrap="square" lIns="0" tIns="0" rIns="0" bIns="0" rtlCol="0"/>
            <a:lstStyle/>
            <a:p/>
          </p:txBody>
        </p:sp>
        <p:sp>
          <p:nvSpPr>
            <p:cNvPr id="11" name="object 8"/>
            <p:cNvSpPr txBox="1"/>
            <p:nvPr/>
          </p:nvSpPr>
          <p:spPr>
            <a:xfrm>
              <a:off x="8911042" y="2669932"/>
              <a:ext cx="279400" cy="635000"/>
            </a:xfrm>
            <a:prstGeom prst="rect">
              <a:avLst/>
            </a:prstGeom>
          </p:spPr>
          <p:txBody>
            <a:bodyPr vert="horz" wrap="square" lIns="0" tIns="12700" rIns="0" bIns="0" rtlCol="0">
              <a:spAutoFit/>
            </a:bodyPr>
            <a:lstStyle/>
            <a:p>
              <a:pPr marL="12700">
                <a:lnSpc>
                  <a:spcPct val="100000"/>
                </a:lnSpc>
                <a:spcBef>
                  <a:spcPts val="100"/>
                </a:spcBef>
              </a:pPr>
              <a:r>
                <a:rPr sz="4000" dirty="0">
                  <a:solidFill>
                    <a:srgbClr val="3333CC"/>
                  </a:solidFill>
                  <a:latin typeface="宋体" panose="02010600030101010101" pitchFamily="2" charset="-122"/>
                  <a:cs typeface="宋体" panose="02010600030101010101" pitchFamily="2" charset="-122"/>
                </a:rPr>
                <a:t>?</a:t>
              </a:r>
              <a:endParaRPr sz="4000">
                <a:latin typeface="宋体" panose="02010600030101010101" pitchFamily="2" charset="-122"/>
                <a:cs typeface="宋体" panose="02010600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46451"/>
    </mc:Choice>
    <mc:Fallback>
      <p:transition spd="slow" advTm="46451"/>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考虑下面的代码：</a:t>
            </a:r>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grpSp>
        <p:nvGrpSpPr>
          <p:cNvPr id="5" name="组合 4"/>
          <p:cNvGrpSpPr/>
          <p:nvPr/>
        </p:nvGrpSpPr>
        <p:grpSpPr>
          <a:xfrm>
            <a:off x="457074" y="1358540"/>
            <a:ext cx="10947400" cy="4466377"/>
            <a:chOff x="459488" y="1078957"/>
            <a:chExt cx="10947400" cy="4466377"/>
          </a:xfrm>
        </p:grpSpPr>
        <p:sp>
          <p:nvSpPr>
            <p:cNvPr id="6" name="object 3"/>
            <p:cNvSpPr txBox="1"/>
            <p:nvPr/>
          </p:nvSpPr>
          <p:spPr>
            <a:xfrm>
              <a:off x="916939" y="1078957"/>
              <a:ext cx="3930744" cy="2781300"/>
            </a:xfrm>
            <a:prstGeom prst="rect">
              <a:avLst/>
            </a:prstGeom>
          </p:spPr>
          <p:txBody>
            <a:bodyPr vert="horz" wrap="square" lIns="0" tIns="81280" rIns="0" bIns="0" rtlCol="0">
              <a:spAutoFit/>
            </a:bodyPr>
            <a:lstStyle/>
            <a:p>
              <a:pPr marL="12700">
                <a:lnSpc>
                  <a:spcPct val="100000"/>
                </a:lnSpc>
                <a:spcBef>
                  <a:spcPts val="640"/>
                </a:spcBef>
              </a:pPr>
              <a:r>
                <a:rPr sz="1800" b="0" spc="-5" dirty="0">
                  <a:latin typeface="Times New Roman" panose="02020603050405020304" pitchFamily="18" charset="0"/>
                  <a:cs typeface="Times New Roman" panose="02020603050405020304" pitchFamily="18" charset="0"/>
                </a:rPr>
                <a:t>public </a:t>
              </a:r>
              <a:r>
                <a:rPr sz="1800" b="0" dirty="0">
                  <a:latin typeface="Times New Roman" panose="02020603050405020304" pitchFamily="18" charset="0"/>
                  <a:cs typeface="Times New Roman" panose="02020603050405020304" pitchFamily="18" charset="0"/>
                </a:rPr>
                <a:t>class </a:t>
              </a:r>
              <a:r>
                <a:rPr sz="1800" b="0" spc="-50" dirty="0">
                  <a:latin typeface="Times New Roman" panose="02020603050405020304" pitchFamily="18" charset="0"/>
                  <a:cs typeface="Times New Roman" panose="02020603050405020304" pitchFamily="18" charset="0"/>
                </a:rPr>
                <a:t>Test</a:t>
              </a:r>
              <a:r>
                <a:rPr sz="1800" b="0" spc="-5" dirty="0">
                  <a:latin typeface="Times New Roman" panose="02020603050405020304" pitchFamily="18" charset="0"/>
                  <a:cs typeface="Times New Roman" panose="02020603050405020304" pitchFamily="18" charset="0"/>
                </a:rPr>
                <a:t> </a:t>
              </a:r>
              <a:r>
                <a:rPr sz="1800" b="0" dirty="0">
                  <a:latin typeface="Times New Roman" panose="02020603050405020304" pitchFamily="18" charset="0"/>
                  <a:cs typeface="Times New Roman" panose="02020603050405020304" pitchFamily="18" charset="0"/>
                </a:rPr>
                <a:t>{</a:t>
              </a:r>
              <a:endParaRPr sz="1800" dirty="0">
                <a:latin typeface="Times New Roman" panose="02020603050405020304" pitchFamily="18" charset="0"/>
                <a:cs typeface="Times New Roman" panose="02020603050405020304" pitchFamily="18" charset="0"/>
              </a:endParaRPr>
            </a:p>
            <a:p>
              <a:pPr marL="322580" marR="5080" indent="-155575">
                <a:lnSpc>
                  <a:spcPct val="125000"/>
                </a:lnSpc>
              </a:pPr>
              <a:r>
                <a:rPr sz="1800" b="0" spc="-5" dirty="0">
                  <a:latin typeface="Times New Roman" panose="02020603050405020304" pitchFamily="18" charset="0"/>
                  <a:cs typeface="Times New Roman" panose="02020603050405020304" pitchFamily="18" charset="0"/>
                </a:rPr>
                <a:t>public </a:t>
              </a:r>
              <a:r>
                <a:rPr sz="1800" b="0" spc="-15" dirty="0">
                  <a:latin typeface="Times New Roman" panose="02020603050405020304" pitchFamily="18" charset="0"/>
                  <a:cs typeface="Times New Roman" panose="02020603050405020304" pitchFamily="18" charset="0"/>
                </a:rPr>
                <a:t>static </a:t>
              </a:r>
              <a:r>
                <a:rPr sz="1800" b="0" spc="-5" dirty="0">
                  <a:latin typeface="Times New Roman" panose="02020603050405020304" pitchFamily="18" charset="0"/>
                  <a:cs typeface="Times New Roman" panose="02020603050405020304" pitchFamily="18" charset="0"/>
                </a:rPr>
                <a:t>void main(String[] </a:t>
              </a:r>
              <a:r>
                <a:rPr sz="1800" b="0" spc="-10" dirty="0">
                  <a:latin typeface="Times New Roman" panose="02020603050405020304" pitchFamily="18" charset="0"/>
                  <a:cs typeface="Times New Roman" panose="02020603050405020304" pitchFamily="18" charset="0"/>
                </a:rPr>
                <a:t>args) </a:t>
              </a:r>
              <a:r>
                <a:rPr sz="1800" b="0" dirty="0">
                  <a:latin typeface="Times New Roman" panose="02020603050405020304" pitchFamily="18" charset="0"/>
                  <a:cs typeface="Times New Roman" panose="02020603050405020304" pitchFamily="18" charset="0"/>
                </a:rPr>
                <a:t>{  </a:t>
              </a:r>
              <a:r>
                <a:rPr sz="1800" b="0" spc="-50" dirty="0">
                  <a:latin typeface="Times New Roman" panose="02020603050405020304" pitchFamily="18" charset="0"/>
                  <a:cs typeface="Times New Roman" panose="02020603050405020304" pitchFamily="18" charset="0"/>
                </a:rPr>
                <a:t>Test </a:t>
              </a:r>
              <a:r>
                <a:rPr sz="1800" b="0" dirty="0">
                  <a:latin typeface="Times New Roman" panose="02020603050405020304" pitchFamily="18" charset="0"/>
                  <a:cs typeface="Times New Roman" panose="02020603050405020304" pitchFamily="18" charset="0"/>
                </a:rPr>
                <a:t>t = </a:t>
              </a:r>
              <a:r>
                <a:rPr sz="1800" b="0" spc="-5" dirty="0">
                  <a:latin typeface="Times New Roman" panose="02020603050405020304" pitchFamily="18" charset="0"/>
                  <a:cs typeface="Times New Roman" panose="02020603050405020304" pitchFamily="18" charset="0"/>
                </a:rPr>
                <a:t>new</a:t>
              </a:r>
              <a:r>
                <a:rPr sz="1800" b="0" spc="30" dirty="0">
                  <a:latin typeface="Times New Roman" panose="02020603050405020304" pitchFamily="18" charset="0"/>
                  <a:cs typeface="Times New Roman" panose="02020603050405020304" pitchFamily="18" charset="0"/>
                </a:rPr>
                <a:t> </a:t>
              </a:r>
              <a:r>
                <a:rPr sz="1800" b="0" spc="-30" dirty="0">
                  <a:latin typeface="Times New Roman" panose="02020603050405020304" pitchFamily="18" charset="0"/>
                  <a:cs typeface="Times New Roman" panose="02020603050405020304" pitchFamily="18" charset="0"/>
                </a:rPr>
                <a:t>Test();</a:t>
              </a:r>
              <a:endParaRPr sz="1800" dirty="0">
                <a:latin typeface="Times New Roman" panose="02020603050405020304" pitchFamily="18" charset="0"/>
                <a:cs typeface="Times New Roman" panose="02020603050405020304" pitchFamily="18" charset="0"/>
              </a:endParaRPr>
            </a:p>
            <a:p>
              <a:pPr marL="322580">
                <a:lnSpc>
                  <a:spcPct val="100000"/>
                </a:lnSpc>
                <a:spcBef>
                  <a:spcPts val="540"/>
                </a:spcBef>
              </a:pPr>
              <a:r>
                <a:rPr sz="1800" b="0" spc="-10" dirty="0">
                  <a:latin typeface="Times New Roman" panose="02020603050405020304" pitchFamily="18" charset="0"/>
                  <a:cs typeface="Times New Roman" panose="02020603050405020304" pitchFamily="18" charset="0"/>
                </a:rPr>
                <a:t>Rectangle </a:t>
              </a:r>
              <a:r>
                <a:rPr sz="1800" b="0" dirty="0">
                  <a:latin typeface="Times New Roman" panose="02020603050405020304" pitchFamily="18" charset="0"/>
                  <a:cs typeface="Times New Roman" panose="02020603050405020304" pitchFamily="18" charset="0"/>
                </a:rPr>
                <a:t>r = </a:t>
              </a:r>
              <a:r>
                <a:rPr sz="1800" b="0" spc="-5" dirty="0">
                  <a:latin typeface="Times New Roman" panose="02020603050405020304" pitchFamily="18" charset="0"/>
                  <a:cs typeface="Times New Roman" panose="02020603050405020304" pitchFamily="18" charset="0"/>
                </a:rPr>
                <a:t>new</a:t>
              </a:r>
              <a:r>
                <a:rPr sz="1800" b="0" spc="-15" dirty="0">
                  <a:latin typeface="Times New Roman" panose="02020603050405020304" pitchFamily="18" charset="0"/>
                  <a:cs typeface="Times New Roman" panose="02020603050405020304" pitchFamily="18" charset="0"/>
                </a:rPr>
                <a:t> </a:t>
              </a:r>
              <a:r>
                <a:rPr sz="1800" b="0" spc="-10" dirty="0">
                  <a:latin typeface="Times New Roman" panose="02020603050405020304" pitchFamily="18" charset="0"/>
                  <a:cs typeface="Times New Roman" panose="02020603050405020304" pitchFamily="18" charset="0"/>
                </a:rPr>
                <a:t>Rectangle();</a:t>
              </a:r>
              <a:endParaRPr sz="1800" dirty="0">
                <a:latin typeface="Times New Roman" panose="02020603050405020304" pitchFamily="18" charset="0"/>
                <a:cs typeface="Times New Roman" panose="02020603050405020304" pitchFamily="18" charset="0"/>
              </a:endParaRPr>
            </a:p>
            <a:p>
              <a:pPr marL="322580" marR="976630">
                <a:lnSpc>
                  <a:spcPct val="125000"/>
                </a:lnSpc>
                <a:spcBef>
                  <a:spcPts val="100"/>
                </a:spcBef>
              </a:pPr>
              <a:r>
                <a:rPr sz="1800" b="0" spc="-10" dirty="0">
                  <a:latin typeface="Times New Roman" panose="02020603050405020304" pitchFamily="18" charset="0"/>
                  <a:cs typeface="Times New Roman" panose="02020603050405020304" pitchFamily="18" charset="0"/>
                </a:rPr>
                <a:t>Square </a:t>
              </a:r>
              <a:r>
                <a:rPr sz="1800" b="0" dirty="0">
                  <a:latin typeface="Times New Roman" panose="02020603050405020304" pitchFamily="18" charset="0"/>
                  <a:cs typeface="Times New Roman" panose="02020603050405020304" pitchFamily="18" charset="0"/>
                </a:rPr>
                <a:t>s = </a:t>
              </a:r>
              <a:r>
                <a:rPr sz="1800" b="0" spc="-5" dirty="0">
                  <a:latin typeface="Times New Roman" panose="02020603050405020304" pitchFamily="18" charset="0"/>
                  <a:cs typeface="Times New Roman" panose="02020603050405020304" pitchFamily="18" charset="0"/>
                </a:rPr>
                <a:t>new </a:t>
              </a:r>
              <a:r>
                <a:rPr sz="1800" b="0" spc="-10" dirty="0">
                  <a:latin typeface="Times New Roman" panose="02020603050405020304" pitchFamily="18" charset="0"/>
                  <a:cs typeface="Times New Roman" panose="02020603050405020304" pitchFamily="18" charset="0"/>
                </a:rPr>
                <a:t>Square();  </a:t>
              </a:r>
              <a:r>
                <a:rPr sz="1800" b="0" dirty="0">
                  <a:solidFill>
                    <a:srgbClr val="FF0000"/>
                  </a:solidFill>
                  <a:latin typeface="Times New Roman" panose="02020603050405020304" pitchFamily="18" charset="0"/>
                  <a:cs typeface="Times New Roman" panose="02020603050405020304" pitchFamily="18" charset="0"/>
                </a:rPr>
                <a:t>t.g(r);</a:t>
              </a:r>
              <a:endParaRPr sz="1800" dirty="0">
                <a:solidFill>
                  <a:srgbClr val="FF0000"/>
                </a:solidFill>
                <a:latin typeface="Times New Roman" panose="02020603050405020304" pitchFamily="18" charset="0"/>
                <a:cs typeface="Times New Roman" panose="02020603050405020304" pitchFamily="18" charset="0"/>
              </a:endParaRPr>
            </a:p>
            <a:p>
              <a:pPr marL="12700">
                <a:lnSpc>
                  <a:spcPct val="100000"/>
                </a:lnSpc>
                <a:spcBef>
                  <a:spcPts val="540"/>
                </a:spcBef>
                <a:tabLst>
                  <a:tab pos="384810" algn="l"/>
                </a:tabLst>
              </a:pPr>
              <a:r>
                <a:rPr sz="1800" b="0" spc="-5" dirty="0">
                  <a:solidFill>
                    <a:srgbClr val="00B050"/>
                  </a:solidFill>
                  <a:latin typeface="Times New Roman" panose="02020603050405020304" pitchFamily="18" charset="0"/>
                  <a:cs typeface="Times New Roman" panose="02020603050405020304" pitchFamily="18" charset="0"/>
                </a:rPr>
                <a:t>//</a:t>
              </a:r>
              <a:r>
                <a:rPr lang="en-US" altLang="zh-CN" sz="1800" b="0" spc="-5" dirty="0">
                  <a:solidFill>
                    <a:srgbClr val="00B050"/>
                  </a:solidFill>
                  <a:latin typeface="Times New Roman" panose="02020603050405020304" pitchFamily="18" charset="0"/>
                  <a:cs typeface="Times New Roman" panose="02020603050405020304" pitchFamily="18" charset="0"/>
                </a:rPr>
                <a:t>   </a:t>
              </a:r>
              <a:r>
                <a:rPr sz="1800" b="0" dirty="0" err="1">
                  <a:solidFill>
                    <a:srgbClr val="00B050"/>
                  </a:solidFill>
                  <a:latin typeface="Times New Roman" panose="02020603050405020304" pitchFamily="18" charset="0"/>
                  <a:cs typeface="Times New Roman" panose="02020603050405020304" pitchFamily="18" charset="0"/>
                </a:rPr>
                <a:t>t.g</a:t>
              </a:r>
              <a:r>
                <a:rPr sz="1800" b="0" dirty="0">
                  <a:solidFill>
                    <a:srgbClr val="00B050"/>
                  </a:solidFill>
                  <a:latin typeface="Times New Roman" panose="02020603050405020304" pitchFamily="18" charset="0"/>
                  <a:cs typeface="Times New Roman" panose="02020603050405020304" pitchFamily="18" charset="0"/>
                </a:rPr>
                <a:t>(s);</a:t>
              </a:r>
              <a:endParaRPr sz="1800" dirty="0">
                <a:solidFill>
                  <a:srgbClr val="00B050"/>
                </a:solidFill>
                <a:latin typeface="Times New Roman" panose="02020603050405020304" pitchFamily="18" charset="0"/>
                <a:cs typeface="Times New Roman" panose="02020603050405020304" pitchFamily="18" charset="0"/>
              </a:endParaRPr>
            </a:p>
            <a:p>
              <a:pPr marL="167640">
                <a:lnSpc>
                  <a:spcPct val="100000"/>
                </a:lnSpc>
                <a:spcBef>
                  <a:spcPts val="540"/>
                </a:spcBef>
              </a:pPr>
              <a:r>
                <a:rPr sz="1800" b="0" dirty="0">
                  <a:latin typeface="Times New Roman" panose="02020603050405020304" pitchFamily="18" charset="0"/>
                  <a:cs typeface="Times New Roman" panose="02020603050405020304" pitchFamily="18" charset="0"/>
                </a:rPr>
                <a:t>}</a:t>
              </a:r>
              <a:endParaRPr sz="1800" dirty="0">
                <a:latin typeface="Times New Roman" panose="02020603050405020304" pitchFamily="18" charset="0"/>
                <a:cs typeface="Times New Roman" panose="02020603050405020304" pitchFamily="18" charset="0"/>
              </a:endParaRPr>
            </a:p>
          </p:txBody>
        </p:sp>
        <p:sp>
          <p:nvSpPr>
            <p:cNvPr id="7" name="object 6"/>
            <p:cNvSpPr txBox="1"/>
            <p:nvPr/>
          </p:nvSpPr>
          <p:spPr>
            <a:xfrm>
              <a:off x="459488" y="3860257"/>
              <a:ext cx="10947400" cy="1685077"/>
            </a:xfrm>
            <a:prstGeom prst="rect">
              <a:avLst/>
            </a:prstGeom>
          </p:spPr>
          <p:txBody>
            <a:bodyPr vert="horz" wrap="square" lIns="0" tIns="81280" rIns="0" bIns="0" rtlCol="0">
              <a:spAutoFit/>
            </a:bodyPr>
            <a:lstStyle/>
            <a:p>
              <a:pPr marL="294640">
                <a:lnSpc>
                  <a:spcPct val="100000"/>
                </a:lnSpc>
                <a:spcBef>
                  <a:spcPts val="640"/>
                </a:spcBef>
              </a:pPr>
              <a:r>
                <a:rPr sz="1800" b="0" spc="-15" dirty="0">
                  <a:latin typeface="Times New Roman" panose="02020603050405020304" pitchFamily="18" charset="0"/>
                  <a:cs typeface="Times New Roman" panose="02020603050405020304" pitchFamily="18" charset="0"/>
                </a:rPr>
                <a:t>private </a:t>
              </a:r>
              <a:r>
                <a:rPr sz="1800" b="0" spc="-10" dirty="0">
                  <a:latin typeface="Times New Roman" panose="02020603050405020304" pitchFamily="18" charset="0"/>
                  <a:cs typeface="Times New Roman" panose="02020603050405020304" pitchFamily="18" charset="0"/>
                </a:rPr>
                <a:t>void g(Rectangle </a:t>
              </a:r>
              <a:r>
                <a:rPr sz="1800" b="0" dirty="0">
                  <a:latin typeface="Times New Roman" panose="02020603050405020304" pitchFamily="18" charset="0"/>
                  <a:cs typeface="Times New Roman" panose="02020603050405020304" pitchFamily="18" charset="0"/>
                </a:rPr>
                <a:t>r)</a:t>
              </a:r>
              <a:r>
                <a:rPr sz="1800" b="0" spc="20" dirty="0">
                  <a:latin typeface="Times New Roman" panose="02020603050405020304" pitchFamily="18" charset="0"/>
                  <a:cs typeface="Times New Roman" panose="02020603050405020304" pitchFamily="18" charset="0"/>
                </a:rPr>
                <a:t> </a:t>
              </a:r>
              <a:r>
                <a:rPr sz="1800" b="0" dirty="0">
                  <a:latin typeface="Times New Roman" panose="02020603050405020304" pitchFamily="18" charset="0"/>
                  <a:cs typeface="Times New Roman" panose="02020603050405020304" pitchFamily="18" charset="0"/>
                </a:rPr>
                <a:t>{</a:t>
              </a:r>
              <a:endParaRPr sz="1800" dirty="0">
                <a:latin typeface="Times New Roman" panose="02020603050405020304" pitchFamily="18" charset="0"/>
                <a:cs typeface="Times New Roman" panose="02020603050405020304" pitchFamily="18" charset="0"/>
              </a:endParaRPr>
            </a:p>
            <a:p>
              <a:pPr marL="449580">
                <a:lnSpc>
                  <a:spcPct val="100000"/>
                </a:lnSpc>
                <a:spcBef>
                  <a:spcPts val="540"/>
                </a:spcBef>
              </a:pPr>
              <a:r>
                <a:rPr sz="1800" b="0" spc="-20" dirty="0">
                  <a:solidFill>
                    <a:srgbClr val="FF0000"/>
                  </a:solidFill>
                  <a:latin typeface="Times New Roman" panose="02020603050405020304" pitchFamily="18" charset="0"/>
                  <a:cs typeface="Times New Roman" panose="02020603050405020304" pitchFamily="18" charset="0"/>
                </a:rPr>
                <a:t>r.setWidth(10);</a:t>
              </a:r>
              <a:endParaRPr sz="1800" dirty="0">
                <a:solidFill>
                  <a:srgbClr val="FF0000"/>
                </a:solidFill>
                <a:latin typeface="Times New Roman" panose="02020603050405020304" pitchFamily="18" charset="0"/>
                <a:cs typeface="Times New Roman" panose="02020603050405020304" pitchFamily="18" charset="0"/>
              </a:endParaRPr>
            </a:p>
            <a:p>
              <a:pPr marL="449580">
                <a:lnSpc>
                  <a:spcPct val="100000"/>
                </a:lnSpc>
                <a:spcBef>
                  <a:spcPts val="640"/>
                </a:spcBef>
              </a:pPr>
              <a:r>
                <a:rPr sz="1800" b="0" spc="-20" dirty="0">
                  <a:solidFill>
                    <a:srgbClr val="FF0000"/>
                  </a:solidFill>
                  <a:latin typeface="Times New Roman" panose="02020603050405020304" pitchFamily="18" charset="0"/>
                  <a:cs typeface="Times New Roman" panose="02020603050405020304" pitchFamily="18" charset="0"/>
                </a:rPr>
                <a:t>r.setHeight(20);</a:t>
              </a:r>
              <a:endParaRPr sz="1800" dirty="0">
                <a:solidFill>
                  <a:srgbClr val="FF0000"/>
                </a:solidFill>
                <a:latin typeface="Times New Roman" panose="02020603050405020304" pitchFamily="18" charset="0"/>
                <a:cs typeface="Times New Roman" panose="02020603050405020304" pitchFamily="18" charset="0"/>
              </a:endParaRPr>
            </a:p>
            <a:p>
              <a:pPr marL="449580">
                <a:lnSpc>
                  <a:spcPct val="100000"/>
                </a:lnSpc>
                <a:spcBef>
                  <a:spcPts val="540"/>
                </a:spcBef>
              </a:pPr>
              <a:r>
                <a:rPr sz="1800" b="0" dirty="0">
                  <a:latin typeface="Times New Roman" panose="02020603050405020304" pitchFamily="18" charset="0"/>
                  <a:cs typeface="Times New Roman" panose="02020603050405020304" pitchFamily="18" charset="0"/>
                </a:rPr>
                <a:t>assert </a:t>
              </a:r>
              <a:r>
                <a:rPr sz="1800" b="0" spc="-20" dirty="0">
                  <a:latin typeface="Times New Roman" panose="02020603050405020304" pitchFamily="18" charset="0"/>
                  <a:cs typeface="Times New Roman" panose="02020603050405020304" pitchFamily="18" charset="0"/>
                </a:rPr>
                <a:t>(r.getWidth()*r.getHeight() </a:t>
              </a:r>
              <a:r>
                <a:rPr sz="1800" b="0" spc="-5" dirty="0">
                  <a:latin typeface="Times New Roman" panose="02020603050405020304" pitchFamily="18" charset="0"/>
                  <a:cs typeface="Times New Roman" panose="02020603050405020304" pitchFamily="18" charset="0"/>
                </a:rPr>
                <a:t>==</a:t>
              </a:r>
              <a:r>
                <a:rPr sz="1800" b="0" spc="5" dirty="0">
                  <a:latin typeface="Times New Roman" panose="02020603050405020304" pitchFamily="18" charset="0"/>
                  <a:cs typeface="Times New Roman" panose="02020603050405020304" pitchFamily="18" charset="0"/>
                </a:rPr>
                <a:t> </a:t>
              </a:r>
              <a:r>
                <a:rPr sz="1800" b="0" spc="-5" dirty="0">
                  <a:latin typeface="Times New Roman" panose="02020603050405020304" pitchFamily="18" charset="0"/>
                  <a:cs typeface="Times New Roman" panose="02020603050405020304" pitchFamily="18" charset="0"/>
                </a:rPr>
                <a:t>200);</a:t>
              </a:r>
              <a:endParaRPr sz="1800" dirty="0">
                <a:latin typeface="Times New Roman" panose="02020603050405020304" pitchFamily="18" charset="0"/>
                <a:cs typeface="Times New Roman" panose="02020603050405020304" pitchFamily="18" charset="0"/>
              </a:endParaRPr>
            </a:p>
            <a:p>
              <a:pPr marL="139065">
                <a:lnSpc>
                  <a:spcPct val="100000"/>
                </a:lnSpc>
                <a:spcBef>
                  <a:spcPts val="75"/>
                </a:spcBef>
              </a:pPr>
              <a:r>
                <a:rPr sz="1800" b="0" dirty="0">
                  <a:latin typeface="Times New Roman" panose="02020603050405020304" pitchFamily="18" charset="0"/>
                  <a:cs typeface="Times New Roman" panose="02020603050405020304" pitchFamily="18" charset="0"/>
                </a:rPr>
                <a:t>}</a:t>
              </a:r>
              <a:endParaRPr sz="1800" dirty="0">
                <a:latin typeface="Times New Roman" panose="02020603050405020304" pitchFamily="18" charset="0"/>
                <a:cs typeface="Times New Roman" panose="02020603050405020304" pitchFamily="18" charset="0"/>
              </a:endParaRPr>
            </a:p>
          </p:txBody>
        </p:sp>
      </p:grpSp>
      <p:grpSp>
        <p:nvGrpSpPr>
          <p:cNvPr id="8" name="组合 7"/>
          <p:cNvGrpSpPr/>
          <p:nvPr/>
        </p:nvGrpSpPr>
        <p:grpSpPr>
          <a:xfrm>
            <a:off x="7783065" y="1734042"/>
            <a:ext cx="2401459" cy="3300413"/>
            <a:chOff x="7783065" y="1734042"/>
            <a:chExt cx="1791193" cy="2509201"/>
          </a:xfrm>
        </p:grpSpPr>
        <p:sp>
          <p:nvSpPr>
            <p:cNvPr id="9" name="object 7"/>
            <p:cNvSpPr/>
            <p:nvPr/>
          </p:nvSpPr>
          <p:spPr>
            <a:xfrm>
              <a:off x="7783065" y="1734042"/>
              <a:ext cx="1791193" cy="2509201"/>
            </a:xfrm>
            <a:prstGeom prst="rect">
              <a:avLst/>
            </a:prstGeom>
            <a:blipFill>
              <a:blip r:embed="rId1" cstate="print"/>
              <a:stretch>
                <a:fillRect/>
              </a:stretch>
            </a:blipFill>
          </p:spPr>
          <p:txBody>
            <a:bodyPr wrap="square" lIns="0" tIns="0" rIns="0" bIns="0" rtlCol="0"/>
            <a:lstStyle/>
            <a:p/>
          </p:txBody>
        </p:sp>
        <p:sp>
          <p:nvSpPr>
            <p:cNvPr id="10" name="object 8"/>
            <p:cNvSpPr txBox="1"/>
            <p:nvPr/>
          </p:nvSpPr>
          <p:spPr>
            <a:xfrm>
              <a:off x="8839034" y="2453907"/>
              <a:ext cx="279400" cy="635000"/>
            </a:xfrm>
            <a:prstGeom prst="rect">
              <a:avLst/>
            </a:prstGeom>
          </p:spPr>
          <p:txBody>
            <a:bodyPr vert="horz" wrap="square" lIns="0" tIns="12700" rIns="0" bIns="0" rtlCol="0">
              <a:spAutoFit/>
            </a:bodyPr>
            <a:lstStyle/>
            <a:p>
              <a:pPr marL="12700">
                <a:lnSpc>
                  <a:spcPct val="100000"/>
                </a:lnSpc>
                <a:spcBef>
                  <a:spcPts val="100"/>
                </a:spcBef>
              </a:pPr>
              <a:r>
                <a:rPr sz="4000" dirty="0">
                  <a:solidFill>
                    <a:srgbClr val="3333CC"/>
                  </a:solidFill>
                  <a:latin typeface="宋体" panose="02010600030101010101" pitchFamily="2" charset="-122"/>
                  <a:cs typeface="宋体" panose="02010600030101010101" pitchFamily="2" charset="-122"/>
                </a:rPr>
                <a:t>?</a:t>
              </a:r>
              <a:endParaRPr sz="4000">
                <a:latin typeface="宋体" panose="02010600030101010101" pitchFamily="2" charset="-122"/>
                <a:cs typeface="宋体" panose="02010600030101010101" pitchFamily="2" charset="-122"/>
              </a:endParaRPr>
            </a:p>
          </p:txBody>
        </p:sp>
        <p:sp>
          <p:nvSpPr>
            <p:cNvPr id="11" name="object 9"/>
            <p:cNvSpPr/>
            <p:nvPr/>
          </p:nvSpPr>
          <p:spPr>
            <a:xfrm>
              <a:off x="8472262" y="2780928"/>
              <a:ext cx="480695" cy="504825"/>
            </a:xfrm>
            <a:custGeom>
              <a:avLst/>
              <a:gdLst/>
              <a:ahLst/>
              <a:cxnLst/>
              <a:rect l="l" t="t" r="r" b="b"/>
              <a:pathLst>
                <a:path w="480695" h="504825">
                  <a:moveTo>
                    <a:pt x="480483" y="0"/>
                  </a:moveTo>
                  <a:lnTo>
                    <a:pt x="0" y="504824"/>
                  </a:lnTo>
                </a:path>
              </a:pathLst>
            </a:custGeom>
            <a:ln w="28574">
              <a:solidFill>
                <a:srgbClr val="434DD6"/>
              </a:solidFill>
            </a:ln>
          </p:spPr>
          <p:txBody>
            <a:bodyPr wrap="square" lIns="0" tIns="0" rIns="0" bIns="0" rtlCol="0"/>
            <a:lstStyle/>
            <a:p/>
          </p:txBody>
        </p:sp>
      </p:grpSp>
      <p:sp>
        <p:nvSpPr>
          <p:cNvPr id="12" name="矩形 11"/>
          <p:cNvSpPr/>
          <p:nvPr/>
        </p:nvSpPr>
        <p:spPr>
          <a:xfrm>
            <a:off x="2872548" y="5658166"/>
            <a:ext cx="6134818" cy="646331"/>
          </a:xfrm>
          <a:prstGeom prst="rect">
            <a:avLst/>
          </a:prstGeom>
        </p:spPr>
        <p:txBody>
          <a:bodyPr wrap="square">
            <a:spAutoFit/>
          </a:bodyPr>
          <a:lstStyle/>
          <a:p>
            <a:pPr marL="12700">
              <a:lnSpc>
                <a:spcPct val="100000"/>
              </a:lnSpc>
              <a:spcBef>
                <a:spcPts val="765"/>
              </a:spcBef>
            </a:pPr>
            <a:r>
              <a:rPr lang="zh-CN" altLang="en-US" dirty="0">
                <a:solidFill>
                  <a:srgbClr val="800000"/>
                </a:solidFill>
                <a:latin typeface="微软雅黑" panose="020B0503020204020204" pitchFamily="34" charset="-122"/>
                <a:ea typeface="微软雅黑" panose="020B0503020204020204" pitchFamily="34" charset="-122"/>
                <a:cs typeface="Times New Roman" panose="02020603050405020304" pitchFamily="18" charset="0"/>
              </a:rPr>
              <a:t>如果传给方法</a:t>
            </a:r>
            <a:r>
              <a:rPr lang="en-US" altLang="zh-CN" dirty="0">
                <a:solidFill>
                  <a:srgbClr val="941100"/>
                </a:solidFill>
                <a:latin typeface="微软雅黑" panose="020B0503020204020204" pitchFamily="34" charset="-122"/>
                <a:ea typeface="微软雅黑" panose="020B0503020204020204" pitchFamily="34" charset="-122"/>
                <a:cs typeface="Times New Roman" panose="02020603050405020304" pitchFamily="18" charset="0"/>
              </a:rPr>
              <a:t>g</a:t>
            </a:r>
            <a:r>
              <a:rPr lang="zh-CN" altLang="en-US" dirty="0">
                <a:solidFill>
                  <a:srgbClr val="800000"/>
                </a:solidFill>
                <a:latin typeface="微软雅黑" panose="020B0503020204020204" pitchFamily="34" charset="-122"/>
                <a:ea typeface="微软雅黑" panose="020B0503020204020204" pitchFamily="34" charset="-122"/>
                <a:cs typeface="Times New Roman" panose="02020603050405020304" pitchFamily="18" charset="0"/>
              </a:rPr>
              <a:t>的参数是</a:t>
            </a:r>
            <a:r>
              <a:rPr lang="en-US" altLang="zh-CN" dirty="0">
                <a:solidFill>
                  <a:srgbClr val="941100"/>
                </a:solidFill>
                <a:latin typeface="微软雅黑" panose="020B0503020204020204" pitchFamily="34" charset="-122"/>
                <a:ea typeface="微软雅黑" panose="020B0503020204020204" pitchFamily="34" charset="-122"/>
                <a:cs typeface="Times New Roman" panose="02020603050405020304" pitchFamily="18" charset="0"/>
              </a:rPr>
              <a:t>Rectangle</a:t>
            </a:r>
            <a:r>
              <a:rPr lang="zh-CN" altLang="en-US" dirty="0">
                <a:solidFill>
                  <a:srgbClr val="800000"/>
                </a:solidFill>
                <a:latin typeface="微软雅黑" panose="020B0503020204020204" pitchFamily="34" charset="-122"/>
                <a:ea typeface="微软雅黑" panose="020B0503020204020204" pitchFamily="34" charset="-122"/>
                <a:cs typeface="Times New Roman" panose="02020603050405020304" pitchFamily="18" charset="0"/>
              </a:rPr>
              <a:t>类型的对象</a:t>
            </a:r>
            <a:r>
              <a:rPr lang="zh-CN" altLang="en-US" dirty="0">
                <a:solidFill>
                  <a:srgbClr val="9411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solidFill>
                  <a:srgbClr val="800000"/>
                </a:solidFill>
                <a:latin typeface="微软雅黑" panose="020B0503020204020204" pitchFamily="34" charset="-122"/>
                <a:ea typeface="微软雅黑" panose="020B0503020204020204" pitchFamily="34" charset="-122"/>
                <a:cs typeface="Times New Roman" panose="02020603050405020304" pitchFamily="18" charset="0"/>
              </a:rPr>
              <a:t>则没有问题</a:t>
            </a:r>
            <a:r>
              <a:rPr lang="zh-CN" altLang="en-US" dirty="0">
                <a:solidFill>
                  <a:srgbClr val="9411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solidFill>
                  <a:srgbClr val="800000"/>
                </a:solidFill>
                <a:latin typeface="微软雅黑" panose="020B0503020204020204" pitchFamily="34" charset="-122"/>
                <a:ea typeface="微软雅黑" panose="020B0503020204020204" pitchFamily="34" charset="-122"/>
                <a:cs typeface="Times New Roman" panose="02020603050405020304" pitchFamily="18" charset="0"/>
              </a:rPr>
              <a:t>如果是</a:t>
            </a:r>
            <a:r>
              <a:rPr lang="en-US" altLang="zh-CN" dirty="0">
                <a:solidFill>
                  <a:srgbClr val="941100"/>
                </a:solidFill>
                <a:latin typeface="微软雅黑" panose="020B0503020204020204" pitchFamily="34" charset="-122"/>
                <a:ea typeface="微软雅黑" panose="020B0503020204020204" pitchFamily="34" charset="-122"/>
                <a:cs typeface="Times New Roman" panose="02020603050405020304" pitchFamily="18" charset="0"/>
              </a:rPr>
              <a:t>Square</a:t>
            </a:r>
            <a:r>
              <a:rPr lang="zh-CN" altLang="en-US" dirty="0">
                <a:solidFill>
                  <a:srgbClr val="800000"/>
                </a:solidFill>
                <a:latin typeface="微软雅黑" panose="020B0503020204020204" pitchFamily="34" charset="-122"/>
                <a:ea typeface="微软雅黑" panose="020B0503020204020204" pitchFamily="34" charset="-122"/>
                <a:cs typeface="Times New Roman" panose="02020603050405020304" pitchFamily="18" charset="0"/>
              </a:rPr>
              <a:t>类型的对象</a:t>
            </a:r>
            <a:r>
              <a:rPr lang="zh-CN" altLang="en-US" dirty="0">
                <a:solidFill>
                  <a:srgbClr val="9411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solidFill>
                  <a:srgbClr val="800000"/>
                </a:solidFill>
                <a:latin typeface="微软雅黑" panose="020B0503020204020204" pitchFamily="34" charset="-122"/>
                <a:ea typeface="微软雅黑" panose="020B0503020204020204" pitchFamily="34" charset="-122"/>
                <a:cs typeface="Times New Roman" panose="02020603050405020304" pitchFamily="18" charset="0"/>
              </a:rPr>
              <a:t>则出错</a:t>
            </a:r>
            <a:r>
              <a:rPr lang="zh-CN" altLang="en-US" dirty="0">
                <a:solidFill>
                  <a:srgbClr val="94110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04401"/>
    </mc:Choice>
    <mc:Fallback>
      <p:transition spd="slow" advTm="104401"/>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dirty="0"/>
              <a:t>思考题：如何知道子类的行为符合父类的要求？</a:t>
            </a:r>
            <a:endParaRPr lang="zh-CN" altLang="en-US" sz="4000" dirty="0"/>
          </a:p>
        </p:txBody>
      </p:sp>
      <p:sp>
        <p:nvSpPr>
          <p:cNvPr id="3" name="内容占位符 2"/>
          <p:cNvSpPr>
            <a:spLocks noGrp="1"/>
          </p:cNvSpPr>
          <p:nvPr>
            <p:ph idx="1"/>
          </p:nvPr>
        </p:nvSpPr>
        <p:spPr>
          <a:xfrm>
            <a:off x="530661" y="1825625"/>
            <a:ext cx="10515600" cy="4351338"/>
          </a:xfrm>
        </p:spPr>
        <p:txBody>
          <a:bodyPr/>
          <a:lstStyle/>
          <a:p>
            <a:r>
              <a:rPr lang="zh-CN" altLang="en-US" sz="2400" dirty="0"/>
              <a:t>契约式设计 </a:t>
            </a:r>
            <a:r>
              <a:rPr lang="en-US" altLang="zh-CN" sz="2400" dirty="0"/>
              <a:t>(Design by Contract)</a:t>
            </a:r>
            <a:endParaRPr lang="en-US" altLang="zh-CN" sz="2400" dirty="0"/>
          </a:p>
          <a:p>
            <a:endParaRPr lang="en-US" altLang="zh-CN" sz="2400" dirty="0"/>
          </a:p>
          <a:p>
            <a:r>
              <a:rPr lang="zh-CN" altLang="en-US" sz="2400" dirty="0"/>
              <a:t>为了满足</a:t>
            </a:r>
            <a:r>
              <a:rPr lang="en-US" altLang="zh-CN" sz="2400" dirty="0" err="1"/>
              <a:t>Liskov</a:t>
            </a:r>
            <a:r>
              <a:rPr lang="zh-CN" altLang="en-US" sz="2400" dirty="0"/>
              <a:t>替换原则，设计时要求：</a:t>
            </a:r>
            <a:endParaRPr lang="zh-CN" altLang="en-US" sz="2400" dirty="0"/>
          </a:p>
          <a:p>
            <a:r>
              <a:rPr lang="zh-CN" altLang="en-US" sz="2400" dirty="0"/>
              <a:t>子类中方法的前置条件不能强于父类中相应方法的前置条件。</a:t>
            </a:r>
            <a:endParaRPr lang="zh-CN" altLang="en-US" sz="2400" dirty="0"/>
          </a:p>
          <a:p>
            <a:r>
              <a:rPr lang="zh-CN" altLang="en-US" sz="2400" dirty="0"/>
              <a:t>子类中方法的后置条件不能弱于父类中相应方法的后置条件。</a:t>
            </a:r>
            <a:endParaRPr lang="zh-CN" altLang="en-US" sz="2400" dirty="0"/>
          </a:p>
          <a:p>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sp>
        <p:nvSpPr>
          <p:cNvPr id="5" name="矩形 4"/>
          <p:cNvSpPr/>
          <p:nvPr/>
        </p:nvSpPr>
        <p:spPr>
          <a:xfrm>
            <a:off x="2407083" y="4753300"/>
            <a:ext cx="6023124" cy="523220"/>
          </a:xfrm>
          <a:prstGeom prst="rect">
            <a:avLst/>
          </a:prstGeom>
        </p:spPr>
        <p:txBody>
          <a:bodyPr wrap="none">
            <a:spAutoFit/>
          </a:bodyPr>
          <a:lstStyle/>
          <a:p>
            <a:pPr marL="12700">
              <a:lnSpc>
                <a:spcPct val="100000"/>
              </a:lnSpc>
              <a:spcBef>
                <a:spcPts val="100"/>
              </a:spcBef>
            </a:pPr>
            <a:r>
              <a:rPr lang="en-US" altLang="zh-CN" sz="2800" dirty="0" err="1">
                <a:solidFill>
                  <a:srgbClr val="800000"/>
                </a:solidFill>
                <a:latin typeface="微软雅黑" panose="020B0503020204020204" pitchFamily="34" charset="-122"/>
                <a:ea typeface="微软雅黑" panose="020B0503020204020204" pitchFamily="34" charset="-122"/>
                <a:cs typeface="华文细黑" panose="02010600040101010101" charset="-122"/>
              </a:rPr>
              <a:t>Liskov</a:t>
            </a:r>
            <a:r>
              <a:rPr lang="zh-CN" altLang="en-US" sz="2800" dirty="0">
                <a:solidFill>
                  <a:srgbClr val="800000"/>
                </a:solidFill>
                <a:latin typeface="微软雅黑" panose="020B0503020204020204" pitchFamily="34" charset="-122"/>
                <a:ea typeface="微软雅黑" panose="020B0503020204020204" pitchFamily="34" charset="-122"/>
                <a:cs typeface="华文细黑" panose="02010600040101010101" charset="-122"/>
              </a:rPr>
              <a:t> </a:t>
            </a:r>
            <a:r>
              <a:rPr lang="zh-CN" altLang="en-US" sz="2800" dirty="0">
                <a:solidFill>
                  <a:srgbClr val="941100"/>
                </a:solidFill>
                <a:latin typeface="微软雅黑" panose="020B0503020204020204" pitchFamily="34" charset="-122"/>
                <a:ea typeface="微软雅黑" panose="020B0503020204020204" pitchFamily="34" charset="-122"/>
                <a:cs typeface="华文细黑" panose="02010600040101010101" charset="-122"/>
              </a:rPr>
              <a:t>替换原则要求子类宽入严出！</a:t>
            </a:r>
            <a:endParaRPr lang="zh-CN" altLang="en-US" sz="2800" dirty="0">
              <a:latin typeface="微软雅黑" panose="020B0503020204020204" pitchFamily="34" charset="-122"/>
              <a:ea typeface="微软雅黑" panose="020B0503020204020204" pitchFamily="34" charset="-122"/>
              <a:cs typeface="华文细黑" panose="02010600040101010101" charset="-122"/>
            </a:endParaRPr>
          </a:p>
        </p:txBody>
      </p:sp>
      <p:grpSp>
        <p:nvGrpSpPr>
          <p:cNvPr id="6" name="组合 5"/>
          <p:cNvGrpSpPr/>
          <p:nvPr/>
        </p:nvGrpSpPr>
        <p:grpSpPr>
          <a:xfrm>
            <a:off x="9144003" y="2104700"/>
            <a:ext cx="2209797" cy="2648600"/>
            <a:chOff x="8366348" y="1807897"/>
            <a:chExt cx="2209797" cy="2648600"/>
          </a:xfrm>
        </p:grpSpPr>
        <p:sp>
          <p:nvSpPr>
            <p:cNvPr id="7" name="object 4"/>
            <p:cNvSpPr/>
            <p:nvPr/>
          </p:nvSpPr>
          <p:spPr>
            <a:xfrm>
              <a:off x="8366348" y="1807897"/>
              <a:ext cx="2209797" cy="2648600"/>
            </a:xfrm>
            <a:prstGeom prst="rect">
              <a:avLst/>
            </a:prstGeom>
            <a:blipFill>
              <a:blip r:embed="rId1" cstate="print"/>
              <a:stretch>
                <a:fillRect/>
              </a:stretch>
            </a:blipFill>
          </p:spPr>
          <p:txBody>
            <a:bodyPr wrap="square" lIns="0" tIns="0" rIns="0" bIns="0" rtlCol="0"/>
            <a:lstStyle/>
            <a:p/>
          </p:txBody>
        </p:sp>
        <p:sp>
          <p:nvSpPr>
            <p:cNvPr id="8" name="object 5"/>
            <p:cNvSpPr/>
            <p:nvPr/>
          </p:nvSpPr>
          <p:spPr>
            <a:xfrm>
              <a:off x="9264350" y="2924944"/>
              <a:ext cx="480695" cy="504825"/>
            </a:xfrm>
            <a:custGeom>
              <a:avLst/>
              <a:gdLst/>
              <a:ahLst/>
              <a:cxnLst/>
              <a:rect l="l" t="t" r="r" b="b"/>
              <a:pathLst>
                <a:path w="480695" h="504825">
                  <a:moveTo>
                    <a:pt x="480483" y="0"/>
                  </a:moveTo>
                  <a:lnTo>
                    <a:pt x="0" y="504824"/>
                  </a:lnTo>
                </a:path>
              </a:pathLst>
            </a:custGeom>
            <a:ln w="28574">
              <a:solidFill>
                <a:srgbClr val="434DD6"/>
              </a:solidFill>
            </a:ln>
          </p:spPr>
          <p:txBody>
            <a:bodyPr wrap="square" lIns="0" tIns="0" rIns="0" bIns="0" rtlCol="0"/>
            <a:lstStyle/>
            <a:p/>
          </p:txBody>
        </p:sp>
      </p:grpSp>
    </p:spTree>
  </p:cSld>
  <p:clrMapOvr>
    <a:masterClrMapping/>
  </p:clrMapOvr>
  <mc:AlternateContent xmlns:mc="http://schemas.openxmlformats.org/markup-compatibility/2006">
    <mc:Choice xmlns:p14="http://schemas.microsoft.com/office/powerpoint/2010/main" Requires="p14">
      <p:transition spd="slow" p14:dur="2000" advTm="154644"/>
    </mc:Choice>
    <mc:Fallback>
      <p:transition spd="slow" advTm="154644"/>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aseline="-3000" dirty="0">
                <a:solidFill>
                  <a:srgbClr val="800000"/>
                </a:solidFill>
              </a:rPr>
              <a:t>依赖倒置原则</a:t>
            </a:r>
            <a:r>
              <a:rPr lang="zh-CN" altLang="en-US" sz="3600" spc="-97" baseline="-3000" dirty="0">
                <a:solidFill>
                  <a:srgbClr val="800000"/>
                </a:solidFill>
              </a:rPr>
              <a:t> </a:t>
            </a:r>
            <a:r>
              <a:rPr lang="en-US" altLang="zh-CN" sz="3600" spc="-5" dirty="0">
                <a:solidFill>
                  <a:srgbClr val="800000"/>
                </a:solidFill>
                <a:latin typeface="Arial" panose="020B0604020202020204"/>
                <a:cs typeface="Arial" panose="020B0604020202020204"/>
              </a:rPr>
              <a:t>(</a:t>
            </a:r>
            <a:r>
              <a:rPr lang="en-US" altLang="zh-CN" sz="3600" spc="-5" dirty="0">
                <a:solidFill>
                  <a:srgbClr val="941100"/>
                </a:solidFill>
                <a:latin typeface="Comic Sans MS" panose="030F0702030302020204"/>
                <a:cs typeface="Comic Sans MS" panose="030F0702030302020204"/>
              </a:rPr>
              <a:t>Dependency Inversion </a:t>
            </a:r>
            <a:r>
              <a:rPr lang="en-US" altLang="zh-CN" sz="3600" dirty="0">
                <a:solidFill>
                  <a:srgbClr val="941100"/>
                </a:solidFill>
                <a:latin typeface="Comic Sans MS" panose="030F0702030302020204"/>
                <a:cs typeface="Comic Sans MS" panose="030F0702030302020204"/>
              </a:rPr>
              <a:t>Principle,</a:t>
            </a:r>
            <a:r>
              <a:rPr lang="en-US" altLang="zh-CN" sz="3600" spc="-5" dirty="0">
                <a:solidFill>
                  <a:srgbClr val="941100"/>
                </a:solidFill>
                <a:latin typeface="Comic Sans MS" panose="030F0702030302020204"/>
                <a:cs typeface="Comic Sans MS" panose="030F0702030302020204"/>
              </a:rPr>
              <a:t> </a:t>
            </a:r>
            <a:r>
              <a:rPr lang="en-US" altLang="zh-CN" sz="3600" dirty="0">
                <a:solidFill>
                  <a:srgbClr val="941100"/>
                </a:solidFill>
                <a:latin typeface="Comic Sans MS" panose="030F0702030302020204"/>
                <a:cs typeface="Comic Sans MS" panose="030F0702030302020204"/>
              </a:rPr>
              <a:t>DIP)</a:t>
            </a:r>
            <a:endParaRPr lang="zh-CN" altLang="en-US" sz="3600" dirty="0"/>
          </a:p>
        </p:txBody>
      </p:sp>
      <p:sp>
        <p:nvSpPr>
          <p:cNvPr id="3" name="内容占位符 2"/>
          <p:cNvSpPr>
            <a:spLocks noGrp="1"/>
          </p:cNvSpPr>
          <p:nvPr>
            <p:ph idx="1"/>
          </p:nvPr>
        </p:nvSpPr>
        <p:spPr/>
        <p:txBody>
          <a:bodyPr/>
          <a:lstStyle/>
          <a:p>
            <a:r>
              <a:rPr lang="zh-CN" altLang="en-US" dirty="0">
                <a:latin typeface="黑体" panose="02010609060101010101" charset="-122"/>
                <a:cs typeface="黑体" panose="02010609060101010101" charset="-122"/>
              </a:rPr>
              <a:t>依赖倒置原则指的是依赖关系应该是尽量依赖接口</a:t>
            </a:r>
            <a:r>
              <a:rPr lang="en-US" altLang="zh-CN" dirty="0">
                <a:latin typeface="黑体" panose="02010609060101010101" charset="-122"/>
                <a:cs typeface="黑体" panose="02010609060101010101" charset="-122"/>
              </a:rPr>
              <a:t>(</a:t>
            </a:r>
            <a:r>
              <a:rPr lang="zh-CN" altLang="en-US" dirty="0">
                <a:latin typeface="黑体" panose="02010609060101010101" charset="-122"/>
                <a:cs typeface="黑体" panose="02010609060101010101" charset="-122"/>
              </a:rPr>
              <a:t>或抽象类</a:t>
            </a:r>
            <a:r>
              <a:rPr lang="en-US" altLang="zh-CN" dirty="0">
                <a:latin typeface="黑体" panose="02010609060101010101" charset="-122"/>
                <a:cs typeface="黑体" panose="02010609060101010101" charset="-122"/>
              </a:rPr>
              <a:t>)</a:t>
            </a:r>
            <a:r>
              <a:rPr lang="zh-CN" altLang="en-US" dirty="0">
                <a:latin typeface="黑体" panose="02010609060101010101" charset="-122"/>
                <a:cs typeface="黑体" panose="02010609060101010101" charset="-122"/>
              </a:rPr>
              <a:t>，而不是依赖于具体类。</a:t>
            </a:r>
            <a:endParaRPr lang="zh-CN" altLang="en-US" dirty="0">
              <a:latin typeface="黑体" panose="02010609060101010101" charset="-122"/>
              <a:cs typeface="黑体" panose="02010609060101010101" charset="-122"/>
            </a:endParaRPr>
          </a:p>
          <a:p>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sp>
        <p:nvSpPr>
          <p:cNvPr id="5" name="object 4"/>
          <p:cNvSpPr/>
          <p:nvPr/>
        </p:nvSpPr>
        <p:spPr>
          <a:xfrm>
            <a:off x="1346073" y="2759409"/>
            <a:ext cx="9499854" cy="2554848"/>
          </a:xfrm>
          <a:prstGeom prst="rect">
            <a:avLst/>
          </a:prstGeom>
          <a:blipFill>
            <a:blip r:embed="rId1" cstate="print"/>
            <a:stretch>
              <a:fillRect/>
            </a:stretch>
          </a:blipFill>
        </p:spPr>
        <p:txBody>
          <a:bodyPr wrap="square" lIns="0" tIns="0" rIns="0" bIns="0" rtlCol="0"/>
          <a:lstStyle/>
          <a:p/>
        </p:txBody>
      </p:sp>
      <p:sp>
        <p:nvSpPr>
          <p:cNvPr id="6" name="object 6"/>
          <p:cNvSpPr txBox="1"/>
          <p:nvPr/>
        </p:nvSpPr>
        <p:spPr>
          <a:xfrm>
            <a:off x="3835427" y="5706737"/>
            <a:ext cx="4521146" cy="382156"/>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C00000"/>
                </a:solidFill>
                <a:latin typeface="微软雅黑" panose="020B0503020204020204" pitchFamily="34" charset="-122"/>
                <a:ea typeface="微软雅黑" panose="020B0503020204020204" pitchFamily="34" charset="-122"/>
                <a:cs typeface="华文细黑" panose="02010600040101010101" charset="-122"/>
              </a:rPr>
              <a:t>结构化设计中模块间的依赖关系</a:t>
            </a:r>
            <a:endParaRPr sz="2400" dirty="0">
              <a:solidFill>
                <a:srgbClr val="C00000"/>
              </a:solidFill>
              <a:latin typeface="微软雅黑" panose="020B0503020204020204" pitchFamily="34" charset="-122"/>
              <a:ea typeface="微软雅黑" panose="020B0503020204020204" pitchFamily="34" charset="-122"/>
              <a:cs typeface="华文细黑" panose="02010600040101010101" charset="-122"/>
            </a:endParaRPr>
          </a:p>
        </p:txBody>
      </p:sp>
      <p:sp>
        <p:nvSpPr>
          <p:cNvPr id="7" name="object 5"/>
          <p:cNvSpPr txBox="1"/>
          <p:nvPr/>
        </p:nvSpPr>
        <p:spPr>
          <a:xfrm>
            <a:off x="9343091" y="3173987"/>
            <a:ext cx="417195" cy="848360"/>
          </a:xfrm>
          <a:prstGeom prst="rect">
            <a:avLst/>
          </a:prstGeom>
        </p:spPr>
        <p:txBody>
          <a:bodyPr vert="horz" wrap="square" lIns="0" tIns="12700" rIns="0" bIns="0" rtlCol="0">
            <a:spAutoFit/>
          </a:bodyPr>
          <a:lstStyle/>
          <a:p>
            <a:pPr marL="12700">
              <a:lnSpc>
                <a:spcPct val="100000"/>
              </a:lnSpc>
              <a:spcBef>
                <a:spcPts val="100"/>
              </a:spcBef>
            </a:pPr>
            <a:r>
              <a:rPr sz="5400" dirty="0">
                <a:solidFill>
                  <a:srgbClr val="800000"/>
                </a:solidFill>
                <a:latin typeface="Arial Unicode MS"/>
                <a:cs typeface="Arial Unicode MS"/>
              </a:rPr>
              <a:t>✗</a:t>
            </a:r>
            <a:endParaRPr sz="5400" dirty="0">
              <a:latin typeface="Arial Unicode MS"/>
              <a:cs typeface="Arial Unicode MS"/>
            </a:endParaRPr>
          </a:p>
        </p:txBody>
      </p:sp>
    </p:spTree>
  </p:cSld>
  <p:clrMapOvr>
    <a:masterClrMapping/>
  </p:clrMapOvr>
  <mc:AlternateContent xmlns:mc="http://schemas.openxmlformats.org/markup-compatibility/2006">
    <mc:Choice xmlns:p14="http://schemas.microsoft.com/office/powerpoint/2010/main" Requires="p14">
      <p:transition spd="slow" p14:dur="2000" advTm="45866"/>
    </mc:Choice>
    <mc:Fallback>
      <p:transition spd="slow" advTm="45866"/>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面向对象设计中的依赖关系</a:t>
            </a:r>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sp>
        <p:nvSpPr>
          <p:cNvPr id="5" name="object 3"/>
          <p:cNvSpPr/>
          <p:nvPr/>
        </p:nvSpPr>
        <p:spPr>
          <a:xfrm>
            <a:off x="2470601" y="1415638"/>
            <a:ext cx="8301831" cy="4935810"/>
          </a:xfrm>
          <a:prstGeom prst="rect">
            <a:avLst/>
          </a:prstGeom>
          <a:blipFill>
            <a:blip r:embed="rId1" cstate="print"/>
            <a:stretch>
              <a:fillRect/>
            </a:stretch>
          </a:blipFill>
        </p:spPr>
        <p:txBody>
          <a:bodyPr wrap="square" lIns="0" tIns="0" rIns="0" bIns="0" rtlCol="0"/>
          <a:lstStyle/>
          <a:p/>
        </p:txBody>
      </p:sp>
      <p:sp>
        <p:nvSpPr>
          <p:cNvPr id="6" name="object 4"/>
          <p:cNvSpPr txBox="1"/>
          <p:nvPr/>
        </p:nvSpPr>
        <p:spPr>
          <a:xfrm>
            <a:off x="1443672" y="2552385"/>
            <a:ext cx="3128327" cy="443711"/>
          </a:xfrm>
          <a:prstGeom prst="rect">
            <a:avLst/>
          </a:prstGeom>
        </p:spPr>
        <p:txBody>
          <a:bodyPr vert="horz" wrap="square" lIns="0" tIns="12700" rIns="0" bIns="0" rtlCol="0">
            <a:spAutoFit/>
          </a:bodyPr>
          <a:lstStyle/>
          <a:p>
            <a:pPr marL="12700">
              <a:lnSpc>
                <a:spcPct val="100000"/>
              </a:lnSpc>
              <a:spcBef>
                <a:spcPts val="100"/>
              </a:spcBef>
            </a:pPr>
            <a:r>
              <a:rPr sz="2800" spc="-5" dirty="0">
                <a:latin typeface="微软雅黑" panose="020B0503020204020204" pitchFamily="34" charset="-122"/>
                <a:ea typeface="微软雅黑" panose="020B0503020204020204" pitchFamily="34" charset="-122"/>
                <a:cs typeface="Arial" panose="020B0604020202020204"/>
              </a:rPr>
              <a:t>OO</a:t>
            </a:r>
            <a:r>
              <a:rPr sz="2800" dirty="0">
                <a:latin typeface="微软雅黑" panose="020B0503020204020204" pitchFamily="34" charset="-122"/>
                <a:ea typeface="微软雅黑" panose="020B0503020204020204" pitchFamily="34" charset="-122"/>
                <a:cs typeface="Arial" panose="020B0604020202020204"/>
              </a:rPr>
              <a:t>D</a:t>
            </a:r>
            <a:r>
              <a:rPr sz="2800" dirty="0">
                <a:latin typeface="微软雅黑" panose="020B0503020204020204" pitchFamily="34" charset="-122"/>
                <a:ea typeface="微软雅黑" panose="020B0503020204020204" pitchFamily="34" charset="-122"/>
                <a:cs typeface="黑体" panose="02010609060101010101" charset="-122"/>
              </a:rPr>
              <a:t>中的依赖关系</a:t>
            </a:r>
            <a:endParaRPr sz="2800" dirty="0">
              <a:latin typeface="微软雅黑" panose="020B0503020204020204" pitchFamily="34" charset="-122"/>
              <a:ea typeface="微软雅黑" panose="020B0503020204020204" pitchFamily="34" charset="-122"/>
              <a:cs typeface="黑体" panose="0201060906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1982"/>
    </mc:Choice>
    <mc:Fallback>
      <p:transition spd="slow" advTm="31982"/>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spc="-15" dirty="0">
                <a:solidFill>
                  <a:srgbClr val="800000"/>
                </a:solidFill>
                <a:latin typeface="黑体" panose="02010609060101010101" charset="-122"/>
                <a:cs typeface="黑体" panose="02010609060101010101" charset="-122"/>
              </a:rPr>
              <a:t>接口分离原则</a:t>
            </a:r>
            <a:r>
              <a:rPr lang="en-US" altLang="zh-CN" sz="3600" spc="-5" dirty="0">
                <a:solidFill>
                  <a:srgbClr val="800000"/>
                </a:solidFill>
                <a:latin typeface="黑体" panose="02010609060101010101" charset="-122"/>
                <a:cs typeface="黑体" panose="02010609060101010101" charset="-122"/>
              </a:rPr>
              <a:t>(</a:t>
            </a:r>
            <a:r>
              <a:rPr lang="en-US" altLang="zh-CN" sz="3600" spc="-5" dirty="0">
                <a:solidFill>
                  <a:srgbClr val="941100"/>
                </a:solidFill>
                <a:latin typeface="Calibri" panose="020F0502020204030204"/>
                <a:cs typeface="Calibri" panose="020F0502020204030204"/>
              </a:rPr>
              <a:t>Interface Segregation</a:t>
            </a:r>
            <a:r>
              <a:rPr lang="en-US" altLang="zh-CN" sz="3600" dirty="0">
                <a:solidFill>
                  <a:srgbClr val="941100"/>
                </a:solidFill>
                <a:latin typeface="Calibri" panose="020F0502020204030204"/>
                <a:cs typeface="Calibri" panose="020F0502020204030204"/>
              </a:rPr>
              <a:t> Principle, </a:t>
            </a:r>
            <a:r>
              <a:rPr lang="en-US" altLang="zh-CN" sz="3600" spc="-15" dirty="0">
                <a:solidFill>
                  <a:srgbClr val="941100"/>
                </a:solidFill>
                <a:latin typeface="Calibri" panose="020F0502020204030204"/>
                <a:cs typeface="Calibri" panose="020F0502020204030204"/>
              </a:rPr>
              <a:t>ISP</a:t>
            </a:r>
            <a:r>
              <a:rPr lang="en-US" altLang="zh-CN" sz="3600" spc="-15" dirty="0">
                <a:solidFill>
                  <a:srgbClr val="941100"/>
                </a:solidFill>
                <a:latin typeface="黑体" panose="02010609060101010101" charset="-122"/>
                <a:cs typeface="黑体" panose="02010609060101010101" charset="-122"/>
              </a:rPr>
              <a:t>)</a:t>
            </a:r>
            <a:endParaRPr lang="zh-CN" altLang="en-US" sz="3600" dirty="0"/>
          </a:p>
        </p:txBody>
      </p:sp>
      <p:sp>
        <p:nvSpPr>
          <p:cNvPr id="3" name="内容占位符 2"/>
          <p:cNvSpPr>
            <a:spLocks noGrp="1"/>
          </p:cNvSpPr>
          <p:nvPr>
            <p:ph idx="1"/>
          </p:nvPr>
        </p:nvSpPr>
        <p:spPr>
          <a:xfrm>
            <a:off x="838200" y="1690688"/>
            <a:ext cx="10515600" cy="4486275"/>
          </a:xfrm>
        </p:spPr>
        <p:txBody>
          <a:bodyPr/>
          <a:lstStyle/>
          <a:p>
            <a:r>
              <a:rPr lang="zh-CN" altLang="en-US" dirty="0">
                <a:latin typeface="黑体" panose="02010609060101010101" charset="-122"/>
                <a:cs typeface="黑体" panose="02010609060101010101" charset="-122"/>
              </a:rPr>
              <a:t>在设计时采用多个和特定客户类</a:t>
            </a:r>
            <a:r>
              <a:rPr lang="en-US" altLang="zh-CN" dirty="0">
                <a:latin typeface="黑体" panose="02010609060101010101" charset="-122"/>
                <a:cs typeface="黑体" panose="02010609060101010101" charset="-122"/>
              </a:rPr>
              <a:t>(</a:t>
            </a:r>
            <a:r>
              <a:rPr lang="en-US" altLang="zh-CN" dirty="0">
                <a:latin typeface="Calibri" panose="020F0502020204030204"/>
                <a:cs typeface="Calibri" panose="020F0502020204030204"/>
              </a:rPr>
              <a:t>clien</a:t>
            </a:r>
            <a:r>
              <a:rPr lang="en-US" altLang="zh-CN" spc="-10" dirty="0">
                <a:latin typeface="Calibri" panose="020F0502020204030204"/>
                <a:cs typeface="Calibri" panose="020F0502020204030204"/>
              </a:rPr>
              <a:t>t</a:t>
            </a:r>
            <a:r>
              <a:rPr lang="en-US" altLang="zh-CN" dirty="0">
                <a:latin typeface="黑体" panose="02010609060101010101" charset="-122"/>
                <a:cs typeface="黑体" panose="02010609060101010101" charset="-122"/>
              </a:rPr>
              <a:t>)</a:t>
            </a:r>
            <a:r>
              <a:rPr lang="zh-CN" altLang="en-US" dirty="0">
                <a:latin typeface="黑体" panose="02010609060101010101" charset="-122"/>
                <a:cs typeface="黑体" panose="02010609060101010101" charset="-122"/>
              </a:rPr>
              <a:t>有关的接口要比采用一个通用的接口要好。</a:t>
            </a:r>
            <a:endParaRPr lang="zh-CN" altLang="en-US" dirty="0">
              <a:latin typeface="黑体" panose="02010609060101010101" charset="-122"/>
              <a:cs typeface="黑体" panose="02010609060101010101" charset="-122"/>
            </a:endParaRPr>
          </a:p>
          <a:p>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sp>
        <p:nvSpPr>
          <p:cNvPr id="5" name="object 4"/>
          <p:cNvSpPr/>
          <p:nvPr/>
        </p:nvSpPr>
        <p:spPr>
          <a:xfrm>
            <a:off x="6797634" y="2679996"/>
            <a:ext cx="4780473" cy="2257425"/>
          </a:xfrm>
          <a:prstGeom prst="rect">
            <a:avLst/>
          </a:prstGeom>
          <a:blipFill>
            <a:blip r:embed="rId1" cstate="print"/>
            <a:stretch>
              <a:fillRect/>
            </a:stretch>
          </a:blipFill>
        </p:spPr>
        <p:txBody>
          <a:bodyPr wrap="square" lIns="0" tIns="0" rIns="0" bIns="0" rtlCol="0"/>
          <a:lstStyle/>
          <a:p/>
        </p:txBody>
      </p:sp>
      <p:sp>
        <p:nvSpPr>
          <p:cNvPr id="6" name="object 5"/>
          <p:cNvSpPr/>
          <p:nvPr/>
        </p:nvSpPr>
        <p:spPr>
          <a:xfrm>
            <a:off x="676339" y="2825680"/>
            <a:ext cx="4925718" cy="1782727"/>
          </a:xfrm>
          <a:prstGeom prst="rect">
            <a:avLst/>
          </a:prstGeom>
          <a:blipFill>
            <a:blip r:embed="rId2" cstate="print"/>
            <a:stretch>
              <a:fillRect/>
            </a:stretch>
          </a:blipFill>
        </p:spPr>
        <p:txBody>
          <a:bodyPr wrap="square" lIns="0" tIns="0" rIns="0" bIns="0" rtlCol="0"/>
          <a:lstStyle/>
          <a:p/>
        </p:txBody>
      </p:sp>
      <p:sp>
        <p:nvSpPr>
          <p:cNvPr id="7" name="object 6"/>
          <p:cNvSpPr txBox="1"/>
          <p:nvPr/>
        </p:nvSpPr>
        <p:spPr>
          <a:xfrm>
            <a:off x="1209736" y="5278539"/>
            <a:ext cx="27686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pitchFamily="34" charset="-122"/>
                <a:ea typeface="微软雅黑" panose="020B0503020204020204" pitchFamily="34" charset="-122"/>
                <a:cs typeface="黑体" panose="02010609060101010101" charset="-122"/>
              </a:rPr>
              <a:t>使用通用接口的设计</a:t>
            </a:r>
            <a:endParaRPr sz="2400" dirty="0">
              <a:latin typeface="微软雅黑" panose="020B0503020204020204" pitchFamily="34" charset="-122"/>
              <a:ea typeface="微软雅黑" panose="020B0503020204020204" pitchFamily="34" charset="-122"/>
              <a:cs typeface="黑体" panose="02010609060101010101" charset="-122"/>
            </a:endParaRPr>
          </a:p>
        </p:txBody>
      </p:sp>
      <p:sp>
        <p:nvSpPr>
          <p:cNvPr id="8" name="object 7"/>
          <p:cNvSpPr txBox="1"/>
          <p:nvPr/>
        </p:nvSpPr>
        <p:spPr>
          <a:xfrm>
            <a:off x="7118472" y="5278539"/>
            <a:ext cx="2768600" cy="391160"/>
          </a:xfrm>
          <a:prstGeom prst="rect">
            <a:avLst/>
          </a:prstGeom>
        </p:spPr>
        <p:txBody>
          <a:bodyPr vert="horz" wrap="square" lIns="0" tIns="12700" rIns="0" bIns="0" rtlCol="0">
            <a:spAutoFit/>
          </a:bodyPr>
          <a:lstStyle>
            <a:defPPr>
              <a:defRPr lang="zh-CN"/>
            </a:defPPr>
            <a:lvl1pPr marL="12700">
              <a:lnSpc>
                <a:spcPct val="100000"/>
              </a:lnSpc>
              <a:spcBef>
                <a:spcPts val="100"/>
              </a:spcBef>
              <a:defRPr sz="2400">
                <a:latin typeface="微软雅黑" panose="020B0503020204020204" pitchFamily="34" charset="-122"/>
                <a:ea typeface="微软雅黑" panose="020B0503020204020204" pitchFamily="34" charset="-122"/>
                <a:cs typeface="黑体" panose="02010609060101010101" charset="-122"/>
              </a:defRPr>
            </a:lvl1pPr>
          </a:lstStyle>
          <a:p>
            <a:r>
              <a:rPr dirty="0"/>
              <a:t>使用分离接口的设计</a:t>
            </a:r>
            <a:endParaRPr dirty="0"/>
          </a:p>
        </p:txBody>
      </p:sp>
      <p:sp>
        <p:nvSpPr>
          <p:cNvPr id="9" name="object 8"/>
          <p:cNvSpPr/>
          <p:nvPr/>
        </p:nvSpPr>
        <p:spPr>
          <a:xfrm>
            <a:off x="5983514" y="3516212"/>
            <a:ext cx="432434" cy="360045"/>
          </a:xfrm>
          <a:custGeom>
            <a:avLst/>
            <a:gdLst/>
            <a:ahLst/>
            <a:cxnLst/>
            <a:rect l="l" t="t" r="r" b="b"/>
            <a:pathLst>
              <a:path w="432435" h="360045">
                <a:moveTo>
                  <a:pt x="252027" y="0"/>
                </a:moveTo>
                <a:lnTo>
                  <a:pt x="252027" y="90009"/>
                </a:lnTo>
                <a:lnTo>
                  <a:pt x="0" y="90009"/>
                </a:lnTo>
                <a:lnTo>
                  <a:pt x="0" y="270029"/>
                </a:lnTo>
                <a:lnTo>
                  <a:pt x="252027" y="270029"/>
                </a:lnTo>
                <a:lnTo>
                  <a:pt x="252027" y="360039"/>
                </a:lnTo>
                <a:lnTo>
                  <a:pt x="432047" y="180019"/>
                </a:lnTo>
                <a:lnTo>
                  <a:pt x="252027" y="0"/>
                </a:lnTo>
                <a:close/>
              </a:path>
            </a:pathLst>
          </a:custGeom>
          <a:solidFill>
            <a:srgbClr val="941100"/>
          </a:solidFill>
        </p:spPr>
        <p:txBody>
          <a:bodyPr wrap="square" lIns="0" tIns="0" rIns="0" bIns="0" rtlCol="0"/>
          <a:lstStyle/>
          <a:p/>
        </p:txBody>
      </p:sp>
      <p:sp>
        <p:nvSpPr>
          <p:cNvPr id="10" name="object 9"/>
          <p:cNvSpPr/>
          <p:nvPr/>
        </p:nvSpPr>
        <p:spPr>
          <a:xfrm>
            <a:off x="5983513" y="3516212"/>
            <a:ext cx="432434" cy="360045"/>
          </a:xfrm>
          <a:custGeom>
            <a:avLst/>
            <a:gdLst/>
            <a:ahLst/>
            <a:cxnLst/>
            <a:rect l="l" t="t" r="r" b="b"/>
            <a:pathLst>
              <a:path w="432435" h="360045">
                <a:moveTo>
                  <a:pt x="0" y="90009"/>
                </a:moveTo>
                <a:lnTo>
                  <a:pt x="252027" y="90009"/>
                </a:lnTo>
                <a:lnTo>
                  <a:pt x="252027" y="0"/>
                </a:lnTo>
                <a:lnTo>
                  <a:pt x="432047" y="180019"/>
                </a:lnTo>
                <a:lnTo>
                  <a:pt x="252027" y="360039"/>
                </a:lnTo>
                <a:lnTo>
                  <a:pt x="252027" y="270030"/>
                </a:lnTo>
                <a:lnTo>
                  <a:pt x="0" y="270030"/>
                </a:lnTo>
                <a:lnTo>
                  <a:pt x="0" y="90009"/>
                </a:lnTo>
                <a:close/>
              </a:path>
            </a:pathLst>
          </a:custGeom>
          <a:ln w="6349">
            <a:solidFill>
              <a:srgbClr val="941100"/>
            </a:solidFill>
          </a:ln>
        </p:spPr>
        <p:txBody>
          <a:bodyPr wrap="square" lIns="0" tIns="0" rIns="0" bIns="0" rtlCol="0"/>
          <a:lstStyle/>
          <a:p/>
        </p:txBody>
      </p:sp>
    </p:spTree>
  </p:cSld>
  <p:clrMapOvr>
    <a:masterClrMapping/>
  </p:clrMapOvr>
  <mc:AlternateContent xmlns:mc="http://schemas.openxmlformats.org/markup-compatibility/2006">
    <mc:Choice xmlns:p14="http://schemas.microsoft.com/office/powerpoint/2010/main" Requires="p14">
      <p:transition spd="slow" p14:dur="999" advTm="47514"/>
    </mc:Choice>
    <mc:Fallback>
      <p:transition spd="slow" advTm="47514"/>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charset="-122"/>
                <a:cs typeface="黑体" panose="02010609060101010101" charset="-122"/>
              </a:rPr>
              <a:t>好的系统设计的特征</a:t>
            </a:r>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fld>
            <a:endParaRPr lang="zh-CN" altLang="en-US"/>
          </a:p>
        </p:txBody>
      </p:sp>
      <p:sp>
        <p:nvSpPr>
          <p:cNvPr id="5" name="object 3"/>
          <p:cNvSpPr txBox="1"/>
          <p:nvPr/>
        </p:nvSpPr>
        <p:spPr>
          <a:xfrm>
            <a:off x="974418" y="1473469"/>
            <a:ext cx="1710646" cy="4455066"/>
          </a:xfrm>
          <a:prstGeom prst="rect">
            <a:avLst/>
          </a:prstGeom>
        </p:spPr>
        <p:txBody>
          <a:bodyPr vert="horz" wrap="square" lIns="0" tIns="190500" rIns="0" bIns="0" rtlCol="0">
            <a:spAutoFit/>
          </a:bodyPr>
          <a:lstStyle/>
          <a:p>
            <a:pPr marL="241300" indent="-228600">
              <a:lnSpc>
                <a:spcPct val="100000"/>
              </a:lnSpc>
              <a:spcBef>
                <a:spcPts val="1500"/>
              </a:spcBef>
              <a:buFont typeface="Arial" panose="020B0604020202020204"/>
              <a:buChar char="•"/>
              <a:tabLst>
                <a:tab pos="240665" algn="l"/>
                <a:tab pos="241300" algn="l"/>
              </a:tabLst>
            </a:pPr>
            <a:r>
              <a:rPr sz="2400" dirty="0" err="1">
                <a:latin typeface="微软雅黑" panose="020B0503020204020204" pitchFamily="34" charset="-122"/>
                <a:ea typeface="微软雅黑" panose="020B0503020204020204" pitchFamily="34" charset="-122"/>
                <a:cs typeface="华文细黑" panose="02010600040101010101" charset="-122"/>
              </a:rPr>
              <a:t>用户友好</a:t>
            </a:r>
            <a:endParaRPr sz="2400" dirty="0">
              <a:latin typeface="微软雅黑" panose="020B0503020204020204" pitchFamily="34" charset="-122"/>
              <a:ea typeface="微软雅黑" panose="020B0503020204020204" pitchFamily="34" charset="-122"/>
              <a:cs typeface="华文细黑" panose="02010600040101010101" charset="-122"/>
            </a:endParaRPr>
          </a:p>
          <a:p>
            <a:pPr marL="241300" indent="-228600">
              <a:lnSpc>
                <a:spcPct val="100000"/>
              </a:lnSpc>
              <a:spcBef>
                <a:spcPts val="1400"/>
              </a:spcBef>
              <a:buFont typeface="Arial" panose="020B0604020202020204"/>
              <a:buChar char="•"/>
              <a:tabLst>
                <a:tab pos="240665" algn="l"/>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易理解</a:t>
            </a:r>
            <a:endParaRPr sz="2400" dirty="0">
              <a:latin typeface="微软雅黑" panose="020B0503020204020204" pitchFamily="34" charset="-122"/>
              <a:ea typeface="微软雅黑" panose="020B0503020204020204" pitchFamily="34" charset="-122"/>
              <a:cs typeface="华文细黑" panose="02010600040101010101" charset="-122"/>
            </a:endParaRPr>
          </a:p>
          <a:p>
            <a:pPr marL="241300" indent="-228600">
              <a:lnSpc>
                <a:spcPct val="100000"/>
              </a:lnSpc>
              <a:spcBef>
                <a:spcPts val="1500"/>
              </a:spcBef>
              <a:buFont typeface="Arial" panose="020B0604020202020204"/>
              <a:buChar char="•"/>
              <a:tabLst>
                <a:tab pos="240665" algn="l"/>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可靠</a:t>
            </a:r>
            <a:endParaRPr sz="2400" dirty="0">
              <a:latin typeface="微软雅黑" panose="020B0503020204020204" pitchFamily="34" charset="-122"/>
              <a:ea typeface="微软雅黑" panose="020B0503020204020204" pitchFamily="34" charset="-122"/>
              <a:cs typeface="华文细黑" panose="02010600040101010101" charset="-122"/>
            </a:endParaRPr>
          </a:p>
          <a:p>
            <a:pPr marL="241300" indent="-228600">
              <a:lnSpc>
                <a:spcPct val="100000"/>
              </a:lnSpc>
              <a:spcBef>
                <a:spcPts val="1500"/>
              </a:spcBef>
              <a:buFont typeface="Arial" panose="020B0604020202020204"/>
              <a:buChar char="•"/>
              <a:tabLst>
                <a:tab pos="240665" algn="l"/>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可扩展</a:t>
            </a:r>
            <a:endParaRPr sz="2400" dirty="0">
              <a:latin typeface="微软雅黑" panose="020B0503020204020204" pitchFamily="34" charset="-122"/>
              <a:ea typeface="微软雅黑" panose="020B0503020204020204" pitchFamily="34" charset="-122"/>
              <a:cs typeface="华文细黑" panose="02010600040101010101" charset="-122"/>
            </a:endParaRPr>
          </a:p>
          <a:p>
            <a:pPr marL="241300" indent="-228600">
              <a:lnSpc>
                <a:spcPct val="100000"/>
              </a:lnSpc>
              <a:spcBef>
                <a:spcPts val="1500"/>
              </a:spcBef>
              <a:buFont typeface="Arial" panose="020B0604020202020204"/>
              <a:buChar char="•"/>
              <a:tabLst>
                <a:tab pos="240665" algn="l"/>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可移植</a:t>
            </a:r>
            <a:endParaRPr sz="2400" dirty="0">
              <a:latin typeface="微软雅黑" panose="020B0503020204020204" pitchFamily="34" charset="-122"/>
              <a:ea typeface="微软雅黑" panose="020B0503020204020204" pitchFamily="34" charset="-122"/>
              <a:cs typeface="华文细黑" panose="02010600040101010101" charset="-122"/>
            </a:endParaRPr>
          </a:p>
          <a:p>
            <a:pPr marL="241300" indent="-228600">
              <a:lnSpc>
                <a:spcPct val="100000"/>
              </a:lnSpc>
              <a:spcBef>
                <a:spcPts val="1500"/>
              </a:spcBef>
              <a:buFont typeface="Arial" panose="020B0604020202020204"/>
              <a:buChar char="•"/>
              <a:tabLst>
                <a:tab pos="240665" algn="l"/>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可伸缩</a:t>
            </a:r>
            <a:endParaRPr sz="2400" dirty="0">
              <a:latin typeface="微软雅黑" panose="020B0503020204020204" pitchFamily="34" charset="-122"/>
              <a:ea typeface="微软雅黑" panose="020B0503020204020204" pitchFamily="34" charset="-122"/>
              <a:cs typeface="华文细黑" panose="02010600040101010101" charset="-122"/>
            </a:endParaRPr>
          </a:p>
          <a:p>
            <a:pPr marL="241300" indent="-228600">
              <a:lnSpc>
                <a:spcPct val="100000"/>
              </a:lnSpc>
              <a:spcBef>
                <a:spcPts val="1400"/>
              </a:spcBef>
              <a:buFont typeface="Arial" panose="020B0604020202020204"/>
              <a:buChar char="•"/>
              <a:tabLst>
                <a:tab pos="240665" algn="l"/>
                <a:tab pos="241300" algn="l"/>
              </a:tabLst>
            </a:pPr>
            <a:r>
              <a:rPr sz="2400" dirty="0" err="1">
                <a:latin typeface="微软雅黑" panose="020B0503020204020204" pitchFamily="34" charset="-122"/>
                <a:ea typeface="微软雅黑" panose="020B0503020204020204" pitchFamily="34" charset="-122"/>
                <a:cs typeface="华文细黑" panose="02010600040101010101" charset="-122"/>
              </a:rPr>
              <a:t>可重用</a:t>
            </a:r>
            <a:endParaRPr sz="2400" dirty="0">
              <a:latin typeface="微软雅黑" panose="020B0503020204020204" pitchFamily="34" charset="-122"/>
              <a:ea typeface="微软雅黑" panose="020B0503020204020204" pitchFamily="34" charset="-122"/>
              <a:cs typeface="华文细黑" panose="02010600040101010101" charset="-122"/>
            </a:endParaRPr>
          </a:p>
          <a:p>
            <a:pPr marL="468630" indent="-456565">
              <a:lnSpc>
                <a:spcPct val="100000"/>
              </a:lnSpc>
              <a:spcBef>
                <a:spcPts val="1380"/>
              </a:spcBef>
              <a:buClr>
                <a:srgbClr val="800000"/>
              </a:buClr>
              <a:buFont typeface="Arial" panose="020B0604020202020204"/>
              <a:buChar char="•"/>
              <a:tabLst>
                <a:tab pos="468630" algn="l"/>
                <a:tab pos="469265" algn="l"/>
              </a:tabLst>
            </a:pPr>
            <a:r>
              <a:rPr sz="2400" dirty="0">
                <a:latin typeface="微软雅黑" panose="020B0503020204020204" pitchFamily="34" charset="-122"/>
                <a:ea typeface="微软雅黑" panose="020B0503020204020204" pitchFamily="34" charset="-122"/>
                <a:cs typeface="Comic Sans MS" panose="030F0702030302020204"/>
              </a:rPr>
              <a:t>…</a:t>
            </a:r>
            <a:endParaRPr sz="2400" dirty="0">
              <a:latin typeface="微软雅黑" panose="020B0503020204020204" pitchFamily="34" charset="-122"/>
              <a:ea typeface="微软雅黑" panose="020B0503020204020204" pitchFamily="34" charset="-122"/>
              <a:cs typeface="Comic Sans MS" panose="030F0702030302020204"/>
            </a:endParaRPr>
          </a:p>
        </p:txBody>
      </p:sp>
      <p:grpSp>
        <p:nvGrpSpPr>
          <p:cNvPr id="16" name="组合 15"/>
          <p:cNvGrpSpPr/>
          <p:nvPr/>
        </p:nvGrpSpPr>
        <p:grpSpPr>
          <a:xfrm>
            <a:off x="2879834" y="1511185"/>
            <a:ext cx="8860631" cy="3686291"/>
            <a:chOff x="3082985" y="1605828"/>
            <a:chExt cx="8860631" cy="3686291"/>
          </a:xfrm>
        </p:grpSpPr>
        <p:sp>
          <p:nvSpPr>
            <p:cNvPr id="6" name="object 5"/>
            <p:cNvSpPr/>
            <p:nvPr/>
          </p:nvSpPr>
          <p:spPr>
            <a:xfrm>
              <a:off x="3121085" y="5254019"/>
              <a:ext cx="8797290" cy="0"/>
            </a:xfrm>
            <a:custGeom>
              <a:avLst/>
              <a:gdLst/>
              <a:ahLst/>
              <a:cxnLst/>
              <a:rect l="l" t="t" r="r" b="b"/>
              <a:pathLst>
                <a:path w="8797290">
                  <a:moveTo>
                    <a:pt x="0" y="0"/>
                  </a:moveTo>
                  <a:lnTo>
                    <a:pt x="8797130" y="0"/>
                  </a:lnTo>
                </a:path>
              </a:pathLst>
            </a:custGeom>
            <a:ln w="9524">
              <a:solidFill>
                <a:srgbClr val="000000"/>
              </a:solidFill>
            </a:ln>
          </p:spPr>
          <p:txBody>
            <a:bodyPr wrap="square" lIns="0" tIns="0" rIns="0" bIns="0" rtlCol="0"/>
            <a:lstStyle/>
            <a:p/>
          </p:txBody>
        </p:sp>
        <p:sp>
          <p:nvSpPr>
            <p:cNvPr id="7" name="object 6"/>
            <p:cNvSpPr/>
            <p:nvPr/>
          </p:nvSpPr>
          <p:spPr>
            <a:xfrm>
              <a:off x="11867416" y="5215919"/>
              <a:ext cx="76200" cy="76200"/>
            </a:xfrm>
            <a:custGeom>
              <a:avLst/>
              <a:gdLst/>
              <a:ahLst/>
              <a:cxnLst/>
              <a:rect l="l" t="t" r="r" b="b"/>
              <a:pathLst>
                <a:path w="76200" h="76200">
                  <a:moveTo>
                    <a:pt x="0" y="0"/>
                  </a:moveTo>
                  <a:lnTo>
                    <a:pt x="0" y="76200"/>
                  </a:lnTo>
                  <a:lnTo>
                    <a:pt x="76200" y="38100"/>
                  </a:lnTo>
                  <a:lnTo>
                    <a:pt x="0" y="0"/>
                  </a:lnTo>
                  <a:close/>
                </a:path>
              </a:pathLst>
            </a:custGeom>
            <a:solidFill>
              <a:srgbClr val="000000"/>
            </a:solidFill>
          </p:spPr>
          <p:txBody>
            <a:bodyPr wrap="square" lIns="0" tIns="0" rIns="0" bIns="0" rtlCol="0"/>
            <a:lstStyle/>
            <a:p/>
          </p:txBody>
        </p:sp>
        <p:sp>
          <p:nvSpPr>
            <p:cNvPr id="8" name="object 7"/>
            <p:cNvSpPr/>
            <p:nvPr/>
          </p:nvSpPr>
          <p:spPr>
            <a:xfrm>
              <a:off x="3121084" y="1810731"/>
              <a:ext cx="0" cy="3443604"/>
            </a:xfrm>
            <a:custGeom>
              <a:avLst/>
              <a:gdLst/>
              <a:ahLst/>
              <a:cxnLst/>
              <a:rect l="l" t="t" r="r" b="b"/>
              <a:pathLst>
                <a:path h="3443604">
                  <a:moveTo>
                    <a:pt x="0" y="0"/>
                  </a:moveTo>
                  <a:lnTo>
                    <a:pt x="0" y="3443286"/>
                  </a:lnTo>
                </a:path>
              </a:pathLst>
            </a:custGeom>
            <a:ln w="9524">
              <a:solidFill>
                <a:srgbClr val="000000"/>
              </a:solidFill>
            </a:ln>
          </p:spPr>
          <p:txBody>
            <a:bodyPr wrap="square" lIns="0" tIns="0" rIns="0" bIns="0" rtlCol="0"/>
            <a:lstStyle/>
            <a:p/>
          </p:txBody>
        </p:sp>
        <p:sp>
          <p:nvSpPr>
            <p:cNvPr id="9" name="object 8"/>
            <p:cNvSpPr/>
            <p:nvPr/>
          </p:nvSpPr>
          <p:spPr>
            <a:xfrm>
              <a:off x="3082985" y="1785331"/>
              <a:ext cx="76200" cy="76200"/>
            </a:xfrm>
            <a:custGeom>
              <a:avLst/>
              <a:gdLst/>
              <a:ahLst/>
              <a:cxnLst/>
              <a:rect l="l" t="t" r="r" b="b"/>
              <a:pathLst>
                <a:path w="76200" h="76200">
                  <a:moveTo>
                    <a:pt x="38100" y="0"/>
                  </a:moveTo>
                  <a:lnTo>
                    <a:pt x="0" y="76200"/>
                  </a:lnTo>
                  <a:lnTo>
                    <a:pt x="76200" y="76200"/>
                  </a:lnTo>
                  <a:lnTo>
                    <a:pt x="38100" y="0"/>
                  </a:lnTo>
                  <a:close/>
                </a:path>
              </a:pathLst>
            </a:custGeom>
            <a:solidFill>
              <a:srgbClr val="000000"/>
            </a:solidFill>
          </p:spPr>
          <p:txBody>
            <a:bodyPr wrap="square" lIns="0" tIns="0" rIns="0" bIns="0" rtlCol="0"/>
            <a:lstStyle/>
            <a:p/>
          </p:txBody>
        </p:sp>
        <p:sp>
          <p:nvSpPr>
            <p:cNvPr id="10" name="object 9"/>
            <p:cNvSpPr/>
            <p:nvPr/>
          </p:nvSpPr>
          <p:spPr>
            <a:xfrm>
              <a:off x="3289510" y="1871830"/>
              <a:ext cx="8471535" cy="3326129"/>
            </a:xfrm>
            <a:custGeom>
              <a:avLst/>
              <a:gdLst/>
              <a:ahLst/>
              <a:cxnLst/>
              <a:rect l="l" t="t" r="r" b="b"/>
              <a:pathLst>
                <a:path w="8471535" h="3326129">
                  <a:moveTo>
                    <a:pt x="0" y="0"/>
                  </a:moveTo>
                  <a:lnTo>
                    <a:pt x="17676" y="39362"/>
                  </a:lnTo>
                  <a:lnTo>
                    <a:pt x="36026" y="83539"/>
                  </a:lnTo>
                  <a:lnTo>
                    <a:pt x="57168" y="127715"/>
                  </a:lnTo>
                  <a:lnTo>
                    <a:pt x="83218" y="167078"/>
                  </a:lnTo>
                  <a:lnTo>
                    <a:pt x="116293" y="196813"/>
                  </a:lnTo>
                  <a:lnTo>
                    <a:pt x="131983" y="241990"/>
                  </a:lnTo>
                  <a:lnTo>
                    <a:pt x="146059" y="287913"/>
                  </a:lnTo>
                  <a:lnTo>
                    <a:pt x="160591" y="333945"/>
                  </a:lnTo>
                  <a:lnTo>
                    <a:pt x="177649" y="379450"/>
                  </a:lnTo>
                  <a:lnTo>
                    <a:pt x="199301" y="423794"/>
                  </a:lnTo>
                  <a:lnTo>
                    <a:pt x="227618" y="466339"/>
                  </a:lnTo>
                  <a:lnTo>
                    <a:pt x="264667" y="506450"/>
                  </a:lnTo>
                  <a:lnTo>
                    <a:pt x="268584" y="514148"/>
                  </a:lnTo>
                  <a:lnTo>
                    <a:pt x="297500" y="547192"/>
                  </a:lnTo>
                  <a:lnTo>
                    <a:pt x="306366" y="552050"/>
                  </a:lnTo>
                  <a:lnTo>
                    <a:pt x="312789" y="557848"/>
                  </a:lnTo>
                  <a:lnTo>
                    <a:pt x="331868" y="590617"/>
                  </a:lnTo>
                  <a:lnTo>
                    <a:pt x="345120" y="622564"/>
                  </a:lnTo>
                  <a:lnTo>
                    <a:pt x="363260" y="652866"/>
                  </a:lnTo>
                  <a:lnTo>
                    <a:pt x="397002" y="680699"/>
                  </a:lnTo>
                  <a:lnTo>
                    <a:pt x="416613" y="713312"/>
                  </a:lnTo>
                  <a:lnTo>
                    <a:pt x="438105" y="743222"/>
                  </a:lnTo>
                  <a:lnTo>
                    <a:pt x="459597" y="772897"/>
                  </a:lnTo>
                  <a:lnTo>
                    <a:pt x="479209" y="804805"/>
                  </a:lnTo>
                  <a:lnTo>
                    <a:pt x="495437" y="838495"/>
                  </a:lnTo>
                  <a:lnTo>
                    <a:pt x="509786" y="867485"/>
                  </a:lnTo>
                  <a:lnTo>
                    <a:pt x="529398" y="893653"/>
                  </a:lnTo>
                  <a:lnTo>
                    <a:pt x="561416" y="918882"/>
                  </a:lnTo>
                  <a:lnTo>
                    <a:pt x="585759" y="955177"/>
                  </a:lnTo>
                  <a:lnTo>
                    <a:pt x="617809" y="989240"/>
                  </a:lnTo>
                  <a:lnTo>
                    <a:pt x="654746" y="1021657"/>
                  </a:lnTo>
                  <a:lnTo>
                    <a:pt x="693750" y="1053016"/>
                  </a:lnTo>
                  <a:lnTo>
                    <a:pt x="730468" y="1084199"/>
                  </a:lnTo>
                  <a:lnTo>
                    <a:pt x="764930" y="1116323"/>
                  </a:lnTo>
                  <a:lnTo>
                    <a:pt x="800896" y="1147506"/>
                  </a:lnTo>
                  <a:lnTo>
                    <a:pt x="842125" y="1175868"/>
                  </a:lnTo>
                  <a:lnTo>
                    <a:pt x="865026" y="1204995"/>
                  </a:lnTo>
                  <a:lnTo>
                    <a:pt x="900522" y="1232123"/>
                  </a:lnTo>
                  <a:lnTo>
                    <a:pt x="943913" y="1254316"/>
                  </a:lnTo>
                  <a:lnTo>
                    <a:pt x="990499" y="1268634"/>
                  </a:lnTo>
                  <a:lnTo>
                    <a:pt x="1025838" y="1282326"/>
                  </a:lnTo>
                  <a:lnTo>
                    <a:pt x="1059674" y="1293549"/>
                  </a:lnTo>
                  <a:lnTo>
                    <a:pt x="1092005" y="1305478"/>
                  </a:lnTo>
                  <a:lnTo>
                    <a:pt x="1122833" y="1321284"/>
                  </a:lnTo>
                  <a:lnTo>
                    <a:pt x="1179793" y="1314003"/>
                  </a:lnTo>
                  <a:lnTo>
                    <a:pt x="1232037" y="1304557"/>
                  </a:lnTo>
                  <a:lnTo>
                    <a:pt x="1282067" y="1293485"/>
                  </a:lnTo>
                  <a:lnTo>
                    <a:pt x="1332386" y="1281331"/>
                  </a:lnTo>
                  <a:lnTo>
                    <a:pt x="1385496" y="1268634"/>
                  </a:lnTo>
                  <a:lnTo>
                    <a:pt x="1425879" y="1247088"/>
                  </a:lnTo>
                  <a:lnTo>
                    <a:pt x="1467954" y="1226952"/>
                  </a:lnTo>
                  <a:lnTo>
                    <a:pt x="1510405" y="1207286"/>
                  </a:lnTo>
                  <a:lnTo>
                    <a:pt x="1551916" y="1187150"/>
                  </a:lnTo>
                  <a:lnTo>
                    <a:pt x="1574630" y="1173811"/>
                  </a:lnTo>
                  <a:lnTo>
                    <a:pt x="1586253" y="1163175"/>
                  </a:lnTo>
                  <a:lnTo>
                    <a:pt x="1596748" y="1151364"/>
                  </a:lnTo>
                  <a:lnTo>
                    <a:pt x="1616078" y="1134499"/>
                  </a:lnTo>
                  <a:lnTo>
                    <a:pt x="1642708" y="1117674"/>
                  </a:lnTo>
                  <a:lnTo>
                    <a:pt x="1672721" y="1103316"/>
                  </a:lnTo>
                  <a:lnTo>
                    <a:pt x="1703486" y="1089194"/>
                  </a:lnTo>
                  <a:lnTo>
                    <a:pt x="1732371" y="1073073"/>
                  </a:lnTo>
                  <a:lnTo>
                    <a:pt x="1734878" y="1063946"/>
                  </a:lnTo>
                  <a:lnTo>
                    <a:pt x="1735880" y="1053643"/>
                  </a:lnTo>
                  <a:lnTo>
                    <a:pt x="1739138" y="1045220"/>
                  </a:lnTo>
                  <a:lnTo>
                    <a:pt x="1748411" y="1041733"/>
                  </a:lnTo>
                  <a:lnTo>
                    <a:pt x="1758249" y="1045044"/>
                  </a:lnTo>
                  <a:lnTo>
                    <a:pt x="1762447" y="1053173"/>
                  </a:lnTo>
                  <a:lnTo>
                    <a:pt x="1763638" y="1063417"/>
                  </a:lnTo>
                  <a:lnTo>
                    <a:pt x="1764452" y="1073073"/>
                  </a:lnTo>
                  <a:lnTo>
                    <a:pt x="1769810" y="1124784"/>
                  </a:lnTo>
                  <a:lnTo>
                    <a:pt x="1772723" y="1176495"/>
                  </a:lnTo>
                  <a:lnTo>
                    <a:pt x="1776013" y="1228205"/>
                  </a:lnTo>
                  <a:lnTo>
                    <a:pt x="1782498" y="1279916"/>
                  </a:lnTo>
                  <a:lnTo>
                    <a:pt x="1797276" y="1322306"/>
                  </a:lnTo>
                  <a:lnTo>
                    <a:pt x="1823861" y="1359960"/>
                  </a:lnTo>
                  <a:lnTo>
                    <a:pt x="1859692" y="1393993"/>
                  </a:lnTo>
                  <a:lnTo>
                    <a:pt x="1902207" y="1425519"/>
                  </a:lnTo>
                  <a:lnTo>
                    <a:pt x="1948843" y="1455651"/>
                  </a:lnTo>
                  <a:lnTo>
                    <a:pt x="1997039" y="1485505"/>
                  </a:lnTo>
                  <a:lnTo>
                    <a:pt x="2037924" y="1512516"/>
                  </a:lnTo>
                  <a:lnTo>
                    <a:pt x="2078996" y="1538939"/>
                  </a:lnTo>
                  <a:lnTo>
                    <a:pt x="2124204" y="1561837"/>
                  </a:lnTo>
                  <a:lnTo>
                    <a:pt x="2177495" y="1578271"/>
                  </a:lnTo>
                  <a:lnTo>
                    <a:pt x="2207769" y="1595503"/>
                  </a:lnTo>
                  <a:lnTo>
                    <a:pt x="2249548" y="1616814"/>
                  </a:lnTo>
                  <a:lnTo>
                    <a:pt x="2298868" y="1640143"/>
                  </a:lnTo>
                  <a:lnTo>
                    <a:pt x="2351765" y="1663427"/>
                  </a:lnTo>
                  <a:lnTo>
                    <a:pt x="2404277" y="1684607"/>
                  </a:lnTo>
                  <a:lnTo>
                    <a:pt x="2452439" y="1701620"/>
                  </a:lnTo>
                  <a:lnTo>
                    <a:pt x="2492289" y="1712405"/>
                  </a:lnTo>
                  <a:lnTo>
                    <a:pt x="2521676" y="1729955"/>
                  </a:lnTo>
                  <a:lnTo>
                    <a:pt x="2551439" y="1743745"/>
                  </a:lnTo>
                  <a:lnTo>
                    <a:pt x="2584209" y="1754714"/>
                  </a:lnTo>
                  <a:lnTo>
                    <a:pt x="2622618" y="1763802"/>
                  </a:lnTo>
                  <a:lnTo>
                    <a:pt x="2662552" y="1787226"/>
                  </a:lnTo>
                  <a:lnTo>
                    <a:pt x="2704157" y="1808699"/>
                  </a:lnTo>
                  <a:lnTo>
                    <a:pt x="2747433" y="1828362"/>
                  </a:lnTo>
                  <a:lnTo>
                    <a:pt x="2792380" y="1846353"/>
                  </a:lnTo>
                  <a:lnTo>
                    <a:pt x="2838997" y="1862813"/>
                  </a:lnTo>
                  <a:lnTo>
                    <a:pt x="2887286" y="1877879"/>
                  </a:lnTo>
                  <a:lnTo>
                    <a:pt x="2925739" y="1889490"/>
                  </a:lnTo>
                  <a:lnTo>
                    <a:pt x="2948793" y="1896700"/>
                  </a:lnTo>
                  <a:lnTo>
                    <a:pt x="2959343" y="1900385"/>
                  </a:lnTo>
                  <a:lnTo>
                    <a:pt x="2960285" y="1901419"/>
                  </a:lnTo>
                  <a:lnTo>
                    <a:pt x="2954516" y="1900676"/>
                  </a:lnTo>
                  <a:lnTo>
                    <a:pt x="2944931" y="1899033"/>
                  </a:lnTo>
                  <a:lnTo>
                    <a:pt x="2934428" y="1897364"/>
                  </a:lnTo>
                  <a:lnTo>
                    <a:pt x="2925902" y="1896544"/>
                  </a:lnTo>
                  <a:lnTo>
                    <a:pt x="2922249" y="1897447"/>
                  </a:lnTo>
                  <a:lnTo>
                    <a:pt x="2926366" y="1900949"/>
                  </a:lnTo>
                  <a:lnTo>
                    <a:pt x="2969494" y="1919247"/>
                  </a:lnTo>
                  <a:lnTo>
                    <a:pt x="3011375" y="1930600"/>
                  </a:lnTo>
                  <a:lnTo>
                    <a:pt x="3056722" y="1936055"/>
                  </a:lnTo>
                  <a:lnTo>
                    <a:pt x="3104185" y="1937841"/>
                  </a:lnTo>
                  <a:lnTo>
                    <a:pt x="3152419" y="1938182"/>
                  </a:lnTo>
                  <a:lnTo>
                    <a:pt x="3200076" y="1939305"/>
                  </a:lnTo>
                  <a:lnTo>
                    <a:pt x="3253085" y="1950411"/>
                  </a:lnTo>
                  <a:lnTo>
                    <a:pt x="3294815" y="1955758"/>
                  </a:lnTo>
                  <a:lnTo>
                    <a:pt x="3338801" y="1955700"/>
                  </a:lnTo>
                  <a:lnTo>
                    <a:pt x="3398577" y="1950587"/>
                  </a:lnTo>
                  <a:lnTo>
                    <a:pt x="3454467" y="1913920"/>
                  </a:lnTo>
                  <a:lnTo>
                    <a:pt x="3496825" y="1867850"/>
                  </a:lnTo>
                  <a:lnTo>
                    <a:pt x="3527652" y="1801567"/>
                  </a:lnTo>
                  <a:lnTo>
                    <a:pt x="3547859" y="1771069"/>
                  </a:lnTo>
                  <a:lnTo>
                    <a:pt x="3581037" y="1743745"/>
                  </a:lnTo>
                  <a:lnTo>
                    <a:pt x="3583543" y="1734617"/>
                  </a:lnTo>
                  <a:lnTo>
                    <a:pt x="3584545" y="1724314"/>
                  </a:lnTo>
                  <a:lnTo>
                    <a:pt x="3587803" y="1715892"/>
                  </a:lnTo>
                  <a:lnTo>
                    <a:pt x="3597077" y="1712405"/>
                  </a:lnTo>
                  <a:lnTo>
                    <a:pt x="3606632" y="1715892"/>
                  </a:lnTo>
                  <a:lnTo>
                    <a:pt x="3610361" y="1724314"/>
                  </a:lnTo>
                  <a:lnTo>
                    <a:pt x="3611457" y="1734617"/>
                  </a:lnTo>
                  <a:lnTo>
                    <a:pt x="3613118" y="1743745"/>
                  </a:lnTo>
                  <a:lnTo>
                    <a:pt x="3623488" y="1771148"/>
                  </a:lnTo>
                  <a:lnTo>
                    <a:pt x="3626903" y="1782450"/>
                  </a:lnTo>
                  <a:lnTo>
                    <a:pt x="3635957" y="1789756"/>
                  </a:lnTo>
                  <a:lnTo>
                    <a:pt x="3663245" y="1805171"/>
                  </a:lnTo>
                  <a:lnTo>
                    <a:pt x="3674993" y="1838646"/>
                  </a:lnTo>
                  <a:lnTo>
                    <a:pt x="3688057" y="1873648"/>
                  </a:lnTo>
                  <a:lnTo>
                    <a:pt x="3705256" y="1907946"/>
                  </a:lnTo>
                  <a:lnTo>
                    <a:pt x="3729411" y="1939305"/>
                  </a:lnTo>
                  <a:lnTo>
                    <a:pt x="3761742" y="1965474"/>
                  </a:lnTo>
                  <a:lnTo>
                    <a:pt x="3779318" y="1977912"/>
                  </a:lnTo>
                  <a:lnTo>
                    <a:pt x="3795578" y="1990702"/>
                  </a:lnTo>
                  <a:lnTo>
                    <a:pt x="3809833" y="2014912"/>
                  </a:lnTo>
                  <a:lnTo>
                    <a:pt x="3826908" y="2035832"/>
                  </a:lnTo>
                  <a:lnTo>
                    <a:pt x="3848869" y="2054871"/>
                  </a:lnTo>
                  <a:lnTo>
                    <a:pt x="3877786" y="2073439"/>
                  </a:lnTo>
                  <a:lnTo>
                    <a:pt x="3896771" y="2100998"/>
                  </a:lnTo>
                  <a:lnTo>
                    <a:pt x="3921395" y="2121859"/>
                  </a:lnTo>
                  <a:lnTo>
                    <a:pt x="3952787" y="2139194"/>
                  </a:lnTo>
                  <a:lnTo>
                    <a:pt x="3992074" y="2156177"/>
                  </a:lnTo>
                  <a:lnTo>
                    <a:pt x="4018077" y="2185479"/>
                  </a:lnTo>
                  <a:lnTo>
                    <a:pt x="4054231" y="2208200"/>
                  </a:lnTo>
                  <a:lnTo>
                    <a:pt x="4096400" y="2228101"/>
                  </a:lnTo>
                  <a:lnTo>
                    <a:pt x="4140448" y="2248942"/>
                  </a:lnTo>
                  <a:lnTo>
                    <a:pt x="4179620" y="2269398"/>
                  </a:lnTo>
                  <a:lnTo>
                    <a:pt x="4219844" y="2291323"/>
                  </a:lnTo>
                  <a:lnTo>
                    <a:pt x="4261190" y="2313577"/>
                  </a:lnTo>
                  <a:lnTo>
                    <a:pt x="4303729" y="2335020"/>
                  </a:lnTo>
                  <a:lnTo>
                    <a:pt x="4347531" y="2354510"/>
                  </a:lnTo>
                  <a:lnTo>
                    <a:pt x="4392665" y="2370909"/>
                  </a:lnTo>
                  <a:lnTo>
                    <a:pt x="4439202" y="2383076"/>
                  </a:lnTo>
                  <a:lnTo>
                    <a:pt x="4475607" y="2405367"/>
                  </a:lnTo>
                  <a:lnTo>
                    <a:pt x="4515394" y="2426012"/>
                  </a:lnTo>
                  <a:lnTo>
                    <a:pt x="4558190" y="2443367"/>
                  </a:lnTo>
                  <a:lnTo>
                    <a:pt x="4603616" y="2455785"/>
                  </a:lnTo>
                  <a:lnTo>
                    <a:pt x="4631907" y="2477743"/>
                  </a:lnTo>
                  <a:lnTo>
                    <a:pt x="4660009" y="2490416"/>
                  </a:lnTo>
                  <a:lnTo>
                    <a:pt x="4692999" y="2498623"/>
                  </a:lnTo>
                  <a:lnTo>
                    <a:pt x="4735951" y="2507182"/>
                  </a:lnTo>
                  <a:lnTo>
                    <a:pt x="4775523" y="2531070"/>
                  </a:lnTo>
                  <a:lnTo>
                    <a:pt x="4820581" y="2555380"/>
                  </a:lnTo>
                  <a:lnTo>
                    <a:pt x="4868911" y="2579028"/>
                  </a:lnTo>
                  <a:lnTo>
                    <a:pt x="4918300" y="2600931"/>
                  </a:lnTo>
                  <a:lnTo>
                    <a:pt x="4966533" y="2620005"/>
                  </a:lnTo>
                  <a:lnTo>
                    <a:pt x="5014245" y="2634551"/>
                  </a:lnTo>
                  <a:lnTo>
                    <a:pt x="5016987" y="2632603"/>
                  </a:lnTo>
                  <a:lnTo>
                    <a:pt x="5015800" y="2629537"/>
                  </a:lnTo>
                  <a:lnTo>
                    <a:pt x="5018296" y="2629124"/>
                  </a:lnTo>
                  <a:lnTo>
                    <a:pt x="5032086" y="2635136"/>
                  </a:lnTo>
                  <a:lnTo>
                    <a:pt x="5064780" y="2651345"/>
                  </a:lnTo>
                  <a:lnTo>
                    <a:pt x="5103454" y="2671583"/>
                  </a:lnTo>
                  <a:lnTo>
                    <a:pt x="5144631" y="2693205"/>
                  </a:lnTo>
                  <a:lnTo>
                    <a:pt x="5187924" y="2713984"/>
                  </a:lnTo>
                  <a:lnTo>
                    <a:pt x="5232949" y="2731695"/>
                  </a:lnTo>
                  <a:lnTo>
                    <a:pt x="5279322" y="2744111"/>
                  </a:lnTo>
                  <a:lnTo>
                    <a:pt x="5313189" y="2761837"/>
                  </a:lnTo>
                  <a:lnTo>
                    <a:pt x="5356267" y="2779681"/>
                  </a:lnTo>
                  <a:lnTo>
                    <a:pt x="5401976" y="2795410"/>
                  </a:lnTo>
                  <a:lnTo>
                    <a:pt x="5443738" y="2806791"/>
                  </a:lnTo>
                  <a:lnTo>
                    <a:pt x="5452165" y="2812040"/>
                  </a:lnTo>
                  <a:lnTo>
                    <a:pt x="5505864" y="2833684"/>
                  </a:lnTo>
                  <a:lnTo>
                    <a:pt x="5564949" y="2845005"/>
                  </a:lnTo>
                  <a:lnTo>
                    <a:pt x="5576071" y="2846905"/>
                  </a:lnTo>
                  <a:lnTo>
                    <a:pt x="5588133" y="2852703"/>
                  </a:lnTo>
                  <a:lnTo>
                    <a:pt x="5626198" y="2868216"/>
                  </a:lnTo>
                  <a:lnTo>
                    <a:pt x="5687352" y="2881535"/>
                  </a:lnTo>
                  <a:lnTo>
                    <a:pt x="5724446" y="2888274"/>
                  </a:lnTo>
                  <a:lnTo>
                    <a:pt x="5738168" y="2880752"/>
                  </a:lnTo>
                  <a:lnTo>
                    <a:pt x="5779147" y="2855837"/>
                  </a:lnTo>
                  <a:lnTo>
                    <a:pt x="5809503" y="2824468"/>
                  </a:lnTo>
                  <a:lnTo>
                    <a:pt x="5812074" y="2816587"/>
                  </a:lnTo>
                  <a:lnTo>
                    <a:pt x="5807405" y="2816505"/>
                  </a:lnTo>
                  <a:lnTo>
                    <a:pt x="5804574" y="2817469"/>
                  </a:lnTo>
                  <a:lnTo>
                    <a:pt x="5812660" y="2812721"/>
                  </a:lnTo>
                  <a:lnTo>
                    <a:pt x="5840740" y="2795508"/>
                  </a:lnTo>
                  <a:lnTo>
                    <a:pt x="5857814" y="2762386"/>
                  </a:lnTo>
                  <a:lnTo>
                    <a:pt x="5875076" y="2731731"/>
                  </a:lnTo>
                  <a:lnTo>
                    <a:pt x="5895722" y="2702252"/>
                  </a:lnTo>
                  <a:lnTo>
                    <a:pt x="5922947" y="2672656"/>
                  </a:lnTo>
                  <a:lnTo>
                    <a:pt x="5935854" y="2674752"/>
                  </a:lnTo>
                  <a:lnTo>
                    <a:pt x="5949514" y="2676260"/>
                  </a:lnTo>
                  <a:lnTo>
                    <a:pt x="5995254" y="2699687"/>
                  </a:lnTo>
                  <a:lnTo>
                    <a:pt x="6032849" y="2736981"/>
                  </a:lnTo>
                  <a:lnTo>
                    <a:pt x="6058405" y="2776844"/>
                  </a:lnTo>
                  <a:lnTo>
                    <a:pt x="6083915" y="2811119"/>
                  </a:lnTo>
                  <a:lnTo>
                    <a:pt x="6115158" y="2845541"/>
                  </a:lnTo>
                  <a:lnTo>
                    <a:pt x="6151523" y="2878715"/>
                  </a:lnTo>
                  <a:lnTo>
                    <a:pt x="6192400" y="2909244"/>
                  </a:lnTo>
                  <a:lnTo>
                    <a:pt x="6237177" y="2935734"/>
                  </a:lnTo>
                  <a:lnTo>
                    <a:pt x="6285244" y="2956788"/>
                  </a:lnTo>
                  <a:lnTo>
                    <a:pt x="6335990" y="2971011"/>
                  </a:lnTo>
                  <a:lnTo>
                    <a:pt x="6362306" y="2988561"/>
                  </a:lnTo>
                  <a:lnTo>
                    <a:pt x="6387118" y="3002350"/>
                  </a:lnTo>
                  <a:lnTo>
                    <a:pt x="6414938" y="3013319"/>
                  </a:lnTo>
                  <a:lnTo>
                    <a:pt x="6450278" y="3022408"/>
                  </a:lnTo>
                  <a:lnTo>
                    <a:pt x="6498724" y="3040945"/>
                  </a:lnTo>
                  <a:lnTo>
                    <a:pt x="6547783" y="3057044"/>
                  </a:lnTo>
                  <a:lnTo>
                    <a:pt x="6597399" y="3071612"/>
                  </a:lnTo>
                  <a:lnTo>
                    <a:pt x="6647516" y="3085552"/>
                  </a:lnTo>
                  <a:lnTo>
                    <a:pt x="6698079" y="3099771"/>
                  </a:lnTo>
                  <a:lnTo>
                    <a:pt x="6749032" y="3115174"/>
                  </a:lnTo>
                  <a:lnTo>
                    <a:pt x="6784621" y="3125007"/>
                  </a:lnTo>
                  <a:lnTo>
                    <a:pt x="6821715" y="3132724"/>
                  </a:lnTo>
                  <a:lnTo>
                    <a:pt x="6859560" y="3139501"/>
                  </a:lnTo>
                  <a:lnTo>
                    <a:pt x="6897406" y="3146513"/>
                  </a:lnTo>
                  <a:lnTo>
                    <a:pt x="6911692" y="3149666"/>
                  </a:lnTo>
                  <a:lnTo>
                    <a:pt x="6927482" y="3152938"/>
                  </a:lnTo>
                  <a:lnTo>
                    <a:pt x="6940264" y="3155504"/>
                  </a:lnTo>
                  <a:lnTo>
                    <a:pt x="6945528" y="3156542"/>
                  </a:lnTo>
                  <a:lnTo>
                    <a:pt x="6991730" y="3173793"/>
                  </a:lnTo>
                  <a:lnTo>
                    <a:pt x="7041081" y="3188313"/>
                  </a:lnTo>
                  <a:lnTo>
                    <a:pt x="7092782" y="3200658"/>
                  </a:lnTo>
                  <a:lnTo>
                    <a:pt x="7146033" y="3211387"/>
                  </a:lnTo>
                  <a:lnTo>
                    <a:pt x="7200036" y="3221058"/>
                  </a:lnTo>
                  <a:lnTo>
                    <a:pt x="7253993" y="3230230"/>
                  </a:lnTo>
                  <a:lnTo>
                    <a:pt x="7307104" y="3239460"/>
                  </a:lnTo>
                  <a:lnTo>
                    <a:pt x="7358570" y="3249308"/>
                  </a:lnTo>
                  <a:lnTo>
                    <a:pt x="7425747" y="3245848"/>
                  </a:lnTo>
                  <a:lnTo>
                    <a:pt x="7479740" y="3242689"/>
                  </a:lnTo>
                  <a:lnTo>
                    <a:pt x="7526610" y="3237123"/>
                  </a:lnTo>
                  <a:lnTo>
                    <a:pt x="7572422" y="3226442"/>
                  </a:lnTo>
                  <a:lnTo>
                    <a:pt x="7623238" y="3207939"/>
                  </a:lnTo>
                  <a:lnTo>
                    <a:pt x="7636271" y="3190076"/>
                  </a:lnTo>
                  <a:lnTo>
                    <a:pt x="7644103" y="3182202"/>
                  </a:lnTo>
                  <a:lnTo>
                    <a:pt x="7655319" y="3177853"/>
                  </a:lnTo>
                  <a:lnTo>
                    <a:pt x="7675839" y="3183240"/>
                  </a:lnTo>
                  <a:lnTo>
                    <a:pt x="7690156" y="3200261"/>
                  </a:lnTo>
                  <a:lnTo>
                    <a:pt x="7699587" y="3218928"/>
                  </a:lnTo>
                  <a:lnTo>
                    <a:pt x="7705446" y="3229251"/>
                  </a:lnTo>
                  <a:lnTo>
                    <a:pt x="7732044" y="3245567"/>
                  </a:lnTo>
                  <a:lnTo>
                    <a:pt x="7766349" y="3260120"/>
                  </a:lnTo>
                  <a:lnTo>
                    <a:pt x="7803286" y="3272088"/>
                  </a:lnTo>
                  <a:lnTo>
                    <a:pt x="7837779" y="3280648"/>
                  </a:lnTo>
                  <a:lnTo>
                    <a:pt x="7883878" y="3297544"/>
                  </a:lnTo>
                  <a:lnTo>
                    <a:pt x="7927171" y="3309133"/>
                  </a:lnTo>
                  <a:lnTo>
                    <a:pt x="7969517" y="3316403"/>
                  </a:lnTo>
                  <a:lnTo>
                    <a:pt x="8012775" y="3320339"/>
                  </a:lnTo>
                  <a:lnTo>
                    <a:pt x="8058803" y="3321929"/>
                  </a:lnTo>
                  <a:lnTo>
                    <a:pt x="8109462" y="3322159"/>
                  </a:lnTo>
                  <a:lnTo>
                    <a:pt x="8166609" y="3322017"/>
                  </a:lnTo>
                  <a:lnTo>
                    <a:pt x="8290922" y="3268112"/>
                  </a:lnTo>
                  <a:lnTo>
                    <a:pt x="8471378" y="3325777"/>
                  </a:lnTo>
                </a:path>
              </a:pathLst>
            </a:custGeom>
            <a:ln w="9524">
              <a:solidFill>
                <a:srgbClr val="000000"/>
              </a:solidFill>
            </a:ln>
          </p:spPr>
          <p:txBody>
            <a:bodyPr wrap="square" lIns="0" tIns="0" rIns="0" bIns="0" rtlCol="0"/>
            <a:lstStyle/>
            <a:p/>
          </p:txBody>
        </p:sp>
        <p:sp>
          <p:nvSpPr>
            <p:cNvPr id="11" name="object 10"/>
            <p:cNvSpPr txBox="1"/>
            <p:nvPr/>
          </p:nvSpPr>
          <p:spPr>
            <a:xfrm>
              <a:off x="8498174" y="1605828"/>
              <a:ext cx="3227202" cy="2775247"/>
            </a:xfrm>
            <a:prstGeom prst="rect">
              <a:avLst/>
            </a:prstGeom>
            <a:solidFill>
              <a:srgbClr val="ECEBEB"/>
            </a:solidFill>
          </p:spPr>
          <p:txBody>
            <a:bodyPr vert="horz" wrap="square" lIns="0" tIns="59055" rIns="0" bIns="0" rtlCol="0">
              <a:spAutoFit/>
            </a:bodyPr>
            <a:lstStyle/>
            <a:p>
              <a:pPr marL="91440">
                <a:lnSpc>
                  <a:spcPct val="150000"/>
                </a:lnSpc>
                <a:spcBef>
                  <a:spcPts val="465"/>
                </a:spcBef>
              </a:pPr>
              <a:r>
                <a:rPr sz="2000" u="sng" dirty="0" err="1">
                  <a:solidFill>
                    <a:srgbClr val="800000"/>
                  </a:solidFill>
                  <a:uFill>
                    <a:solidFill>
                      <a:srgbClr val="941100"/>
                    </a:solidFill>
                  </a:uFill>
                  <a:latin typeface="微软雅黑" panose="020B0503020204020204" pitchFamily="34" charset="-122"/>
                  <a:ea typeface="微软雅黑" panose="020B0503020204020204" pitchFamily="34" charset="-122"/>
                  <a:cs typeface="华文细黑" panose="02010600040101010101" charset="-122"/>
                </a:rPr>
                <a:t>软件老化的特征</a:t>
              </a:r>
              <a:endParaRPr sz="2000" dirty="0">
                <a:latin typeface="微软雅黑" panose="020B0503020204020204" pitchFamily="34" charset="-122"/>
                <a:ea typeface="微软雅黑" panose="020B0503020204020204" pitchFamily="34" charset="-122"/>
                <a:cs typeface="华文细黑" panose="02010600040101010101" charset="-122"/>
              </a:endParaRPr>
            </a:p>
            <a:p>
              <a:pPr marL="377190" indent="-285750">
                <a:lnSpc>
                  <a:spcPct val="150000"/>
                </a:lnSpc>
                <a:buFont typeface="Arial" panose="020B0604020202020204"/>
                <a:buChar char="•"/>
                <a:tabLst>
                  <a:tab pos="376555" algn="l"/>
                  <a:tab pos="377190" algn="l"/>
                </a:tabLst>
              </a:pPr>
              <a:r>
                <a:rPr sz="2000" dirty="0">
                  <a:solidFill>
                    <a:srgbClr val="800000"/>
                  </a:solidFill>
                  <a:latin typeface="微软雅黑" panose="020B0503020204020204" pitchFamily="34" charset="-122"/>
                  <a:ea typeface="微软雅黑" panose="020B0503020204020204" pitchFamily="34" charset="-122"/>
                  <a:cs typeface="华文细黑" panose="02010600040101010101" charset="-122"/>
                </a:rPr>
                <a:t>修改难</a:t>
              </a:r>
              <a:endParaRPr sz="2000" dirty="0">
                <a:latin typeface="微软雅黑" panose="020B0503020204020204" pitchFamily="34" charset="-122"/>
                <a:ea typeface="微软雅黑" panose="020B0503020204020204" pitchFamily="34" charset="-122"/>
                <a:cs typeface="华文细黑" panose="02010600040101010101" charset="-122"/>
              </a:endParaRPr>
            </a:p>
            <a:p>
              <a:pPr marL="377190" indent="-285750">
                <a:lnSpc>
                  <a:spcPct val="150000"/>
                </a:lnSpc>
                <a:spcBef>
                  <a:spcPts val="40"/>
                </a:spcBef>
                <a:buFont typeface="Arial" panose="020B0604020202020204"/>
                <a:buChar char="•"/>
                <a:tabLst>
                  <a:tab pos="376555" algn="l"/>
                  <a:tab pos="377190" algn="l"/>
                </a:tabLst>
              </a:pPr>
              <a:r>
                <a:rPr sz="2000" dirty="0">
                  <a:solidFill>
                    <a:srgbClr val="800000"/>
                  </a:solidFill>
                  <a:latin typeface="微软雅黑" panose="020B0503020204020204" pitchFamily="34" charset="-122"/>
                  <a:ea typeface="微软雅黑" panose="020B0503020204020204" pitchFamily="34" charset="-122"/>
                  <a:cs typeface="华文细黑" panose="02010600040101010101" charset="-122"/>
                </a:rPr>
                <a:t>很脆弱</a:t>
              </a:r>
              <a:endParaRPr sz="2000" dirty="0">
                <a:latin typeface="微软雅黑" panose="020B0503020204020204" pitchFamily="34" charset="-122"/>
                <a:ea typeface="微软雅黑" panose="020B0503020204020204" pitchFamily="34" charset="-122"/>
                <a:cs typeface="华文细黑" panose="02010600040101010101" charset="-122"/>
              </a:endParaRPr>
            </a:p>
            <a:p>
              <a:pPr marL="377190" indent="-285750">
                <a:lnSpc>
                  <a:spcPct val="150000"/>
                </a:lnSpc>
                <a:buFont typeface="Arial" panose="020B0604020202020204"/>
                <a:buChar char="•"/>
                <a:tabLst>
                  <a:tab pos="376555" algn="l"/>
                  <a:tab pos="377190" algn="l"/>
                </a:tabLst>
              </a:pPr>
              <a:r>
                <a:rPr sz="2000" dirty="0">
                  <a:solidFill>
                    <a:srgbClr val="800000"/>
                  </a:solidFill>
                  <a:latin typeface="微软雅黑" panose="020B0503020204020204" pitchFamily="34" charset="-122"/>
                  <a:ea typeface="微软雅黑" panose="020B0503020204020204" pitchFamily="34" charset="-122"/>
                  <a:cs typeface="华文细黑" panose="02010600040101010101" charset="-122"/>
                </a:rPr>
                <a:t>移植难</a:t>
              </a:r>
              <a:endParaRPr sz="2000" dirty="0">
                <a:latin typeface="微软雅黑" panose="020B0503020204020204" pitchFamily="34" charset="-122"/>
                <a:ea typeface="微软雅黑" panose="020B0503020204020204" pitchFamily="34" charset="-122"/>
                <a:cs typeface="华文细黑" panose="02010600040101010101" charset="-122"/>
              </a:endParaRPr>
            </a:p>
            <a:p>
              <a:pPr marL="377190" indent="-285750">
                <a:lnSpc>
                  <a:spcPct val="150000"/>
                </a:lnSpc>
                <a:spcBef>
                  <a:spcPts val="40"/>
                </a:spcBef>
                <a:buFont typeface="Arial" panose="020B0604020202020204"/>
                <a:buChar char="•"/>
                <a:tabLst>
                  <a:tab pos="376555" algn="l"/>
                  <a:tab pos="377190" algn="l"/>
                </a:tabLst>
              </a:pPr>
              <a:r>
                <a:rPr sz="2000" dirty="0" err="1">
                  <a:solidFill>
                    <a:srgbClr val="800000"/>
                  </a:solidFill>
                  <a:latin typeface="微软雅黑" panose="020B0503020204020204" pitchFamily="34" charset="-122"/>
                  <a:ea typeface="微软雅黑" panose="020B0503020204020204" pitchFamily="34" charset="-122"/>
                  <a:cs typeface="华文细黑" panose="02010600040101010101" charset="-122"/>
                </a:rPr>
                <a:t>重用难</a:t>
              </a:r>
              <a:endParaRPr sz="2000" dirty="0">
                <a:latin typeface="微软雅黑" panose="020B0503020204020204" pitchFamily="34" charset="-122"/>
                <a:ea typeface="微软雅黑" panose="020B0503020204020204" pitchFamily="34" charset="-122"/>
                <a:cs typeface="华文细黑" panose="02010600040101010101" charset="-122"/>
              </a:endParaRPr>
            </a:p>
            <a:p>
              <a:pPr marL="377190" indent="-285750">
                <a:lnSpc>
                  <a:spcPct val="150000"/>
                </a:lnSpc>
                <a:buFont typeface="Arial" panose="020B0604020202020204"/>
                <a:buChar char="•"/>
                <a:tabLst>
                  <a:tab pos="376555" algn="l"/>
                  <a:tab pos="377190" algn="l"/>
                </a:tabLst>
              </a:pPr>
              <a:r>
                <a:rPr sz="2000" dirty="0" err="1">
                  <a:solidFill>
                    <a:srgbClr val="800000"/>
                  </a:solidFill>
                  <a:latin typeface="微软雅黑" panose="020B0503020204020204" pitchFamily="34" charset="-122"/>
                  <a:ea typeface="微软雅黑" panose="020B0503020204020204" pitchFamily="34" charset="-122"/>
                  <a:cs typeface="华文细黑" panose="02010600040101010101" charset="-122"/>
                </a:rPr>
                <a:t>粘性强（设计</a:t>
              </a:r>
              <a:r>
                <a:rPr lang="en-US" altLang="zh-CN" sz="2000" dirty="0">
                  <a:solidFill>
                    <a:srgbClr val="800000"/>
                  </a:solidFill>
                  <a:latin typeface="微软雅黑" panose="020B0503020204020204" pitchFamily="34" charset="-122"/>
                  <a:ea typeface="微软雅黑" panose="020B0503020204020204" pitchFamily="34" charset="-122"/>
                  <a:cs typeface="华文细黑" panose="02010600040101010101" charset="-122"/>
                </a:rPr>
                <a:t> </a:t>
              </a:r>
              <a:r>
                <a:rPr sz="2000" baseline="3000" dirty="0">
                  <a:solidFill>
                    <a:srgbClr val="941100"/>
                  </a:solidFill>
                  <a:latin typeface="微软雅黑" panose="020B0503020204020204" pitchFamily="34" charset="-122"/>
                  <a:ea typeface="微软雅黑" panose="020B0503020204020204" pitchFamily="34" charset="-122"/>
                  <a:cs typeface="Comic Sans MS" panose="030F0702030302020204"/>
                </a:rPr>
                <a:t>+</a:t>
              </a:r>
              <a:r>
                <a:rPr lang="en-US" altLang="zh-CN" sz="2000" baseline="3000" dirty="0">
                  <a:solidFill>
                    <a:srgbClr val="941100"/>
                  </a:solidFill>
                  <a:latin typeface="微软雅黑" panose="020B0503020204020204" pitchFamily="34" charset="-122"/>
                  <a:ea typeface="微软雅黑" panose="020B0503020204020204" pitchFamily="34" charset="-122"/>
                  <a:cs typeface="Comic Sans MS" panose="030F0702030302020204"/>
                </a:rPr>
                <a:t> </a:t>
              </a:r>
              <a:r>
                <a:rPr sz="2000" dirty="0" err="1">
                  <a:solidFill>
                    <a:srgbClr val="800000"/>
                  </a:solidFill>
                  <a:latin typeface="微软雅黑" panose="020B0503020204020204" pitchFamily="34" charset="-122"/>
                  <a:ea typeface="微软雅黑" panose="020B0503020204020204" pitchFamily="34" charset="-122"/>
                  <a:cs typeface="华文细黑" panose="02010600040101010101" charset="-122"/>
                </a:rPr>
                <a:t>环境</a:t>
              </a:r>
              <a:r>
                <a:rPr lang="zh-CN" altLang="en-US" sz="2000" dirty="0">
                  <a:solidFill>
                    <a:srgbClr val="800000"/>
                  </a:solidFill>
                  <a:latin typeface="微软雅黑" panose="020B0503020204020204" pitchFamily="34" charset="-122"/>
                  <a:ea typeface="微软雅黑" panose="020B0503020204020204" pitchFamily="34" charset="-122"/>
                  <a:cs typeface="华文细黑" panose="02010600040101010101" charset="-122"/>
                </a:rPr>
                <a:t>）</a:t>
              </a:r>
              <a:endParaRPr sz="2000" dirty="0">
                <a:latin typeface="微软雅黑" panose="020B0503020204020204" pitchFamily="34" charset="-122"/>
                <a:ea typeface="微软雅黑" panose="020B0503020204020204" pitchFamily="34" charset="-122"/>
                <a:cs typeface="华文细黑" panose="02010600040101010101" charset="-122"/>
              </a:endParaRPr>
            </a:p>
          </p:txBody>
        </p:sp>
        <p:sp>
          <p:nvSpPr>
            <p:cNvPr id="13" name="object 12"/>
            <p:cNvSpPr txBox="1"/>
            <p:nvPr/>
          </p:nvSpPr>
          <p:spPr>
            <a:xfrm>
              <a:off x="4639985" y="4424354"/>
              <a:ext cx="9398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800000"/>
                  </a:solidFill>
                  <a:latin typeface="华文细黑" panose="02010600040101010101" charset="-122"/>
                  <a:cs typeface="华文细黑" panose="02010600040101010101" charset="-122"/>
                </a:rPr>
                <a:t>需求变更</a:t>
              </a:r>
              <a:endParaRPr sz="1800">
                <a:latin typeface="华文细黑" panose="02010600040101010101" charset="-122"/>
                <a:cs typeface="华文细黑" panose="02010600040101010101" charset="-122"/>
              </a:endParaRPr>
            </a:p>
          </p:txBody>
        </p:sp>
        <p:sp>
          <p:nvSpPr>
            <p:cNvPr id="14" name="object 13"/>
            <p:cNvSpPr/>
            <p:nvPr/>
          </p:nvSpPr>
          <p:spPr>
            <a:xfrm>
              <a:off x="5713373" y="3964345"/>
              <a:ext cx="487680" cy="557530"/>
            </a:xfrm>
            <a:custGeom>
              <a:avLst/>
              <a:gdLst/>
              <a:ahLst/>
              <a:cxnLst/>
              <a:rect l="l" t="t" r="r" b="b"/>
              <a:pathLst>
                <a:path w="487679" h="557529">
                  <a:moveTo>
                    <a:pt x="0" y="557290"/>
                  </a:moveTo>
                  <a:lnTo>
                    <a:pt x="487437" y="0"/>
                  </a:lnTo>
                </a:path>
              </a:pathLst>
            </a:custGeom>
            <a:ln w="12699">
              <a:solidFill>
                <a:srgbClr val="941100"/>
              </a:solidFill>
            </a:ln>
          </p:spPr>
          <p:txBody>
            <a:bodyPr wrap="square" lIns="0" tIns="0" rIns="0" bIns="0" rtlCol="0"/>
            <a:lstStyle/>
            <a:p/>
          </p:txBody>
        </p:sp>
        <p:sp>
          <p:nvSpPr>
            <p:cNvPr id="15" name="object 14"/>
            <p:cNvSpPr/>
            <p:nvPr/>
          </p:nvSpPr>
          <p:spPr>
            <a:xfrm>
              <a:off x="6102913" y="3945373"/>
              <a:ext cx="114491" cy="119390"/>
            </a:xfrm>
            <a:prstGeom prst="rect">
              <a:avLst/>
            </a:prstGeom>
            <a:blipFill>
              <a:blip r:embed="rId1" cstate="print"/>
              <a:stretch>
                <a:fillRect/>
              </a:stretch>
            </a:blipFill>
          </p:spPr>
          <p:txBody>
            <a:bodyPr wrap="square" lIns="0" tIns="0" rIns="0" bIns="0" rtlCol="0"/>
            <a:lstStyle/>
            <a:p/>
          </p:txBody>
        </p:sp>
      </p:grpSp>
      <p:sp>
        <p:nvSpPr>
          <p:cNvPr id="17" name="object 4"/>
          <p:cNvSpPr txBox="1"/>
          <p:nvPr/>
        </p:nvSpPr>
        <p:spPr>
          <a:xfrm>
            <a:off x="2088342" y="5635115"/>
            <a:ext cx="8015316" cy="382156"/>
          </a:xfrm>
          <a:prstGeom prst="rect">
            <a:avLst/>
          </a:prstGeom>
        </p:spPr>
        <p:txBody>
          <a:bodyPr vert="horz" wrap="square" lIns="0" tIns="12700" rIns="0" bIns="0" rtlCol="0">
            <a:spAutoFit/>
          </a:bodyPr>
          <a:lstStyle/>
          <a:p>
            <a:pPr marL="12700" algn="ctr">
              <a:lnSpc>
                <a:spcPct val="100000"/>
              </a:lnSpc>
              <a:spcBef>
                <a:spcPts val="100"/>
              </a:spcBef>
              <a:tabLst>
                <a:tab pos="240665" algn="l"/>
                <a:tab pos="241300" algn="l"/>
              </a:tabLst>
            </a:pPr>
            <a:r>
              <a:rPr sz="2400" b="1" dirty="0" err="1">
                <a:solidFill>
                  <a:srgbClr val="800000"/>
                </a:solidFill>
                <a:latin typeface="微软雅黑" panose="020B0503020204020204" pitchFamily="34" charset="-122"/>
                <a:ea typeface="微软雅黑" panose="020B0503020204020204" pitchFamily="34" charset="-122"/>
                <a:cs typeface="华文细黑" panose="02010600040101010101" charset="-122"/>
              </a:rPr>
              <a:t>简单性</a:t>
            </a:r>
            <a:r>
              <a:rPr sz="2400" b="1" dirty="0" err="1">
                <a:solidFill>
                  <a:srgbClr val="941100"/>
                </a:solidFill>
                <a:latin typeface="微软雅黑" panose="020B0503020204020204" pitchFamily="34" charset="-122"/>
                <a:ea typeface="微软雅黑" panose="020B0503020204020204" pitchFamily="34" charset="-122"/>
                <a:cs typeface="华文细黑" panose="02010600040101010101" charset="-122"/>
              </a:rPr>
              <a:t>：</a:t>
            </a:r>
            <a:r>
              <a:rPr sz="2400" b="1" dirty="0" err="1">
                <a:solidFill>
                  <a:srgbClr val="800000"/>
                </a:solidFill>
                <a:latin typeface="微软雅黑" panose="020B0503020204020204" pitchFamily="34" charset="-122"/>
                <a:ea typeface="微软雅黑" panose="020B0503020204020204" pitchFamily="34" charset="-122"/>
                <a:cs typeface="华文细黑" panose="02010600040101010101" charset="-122"/>
              </a:rPr>
              <a:t>实现简单</a:t>
            </a:r>
            <a:r>
              <a:rPr sz="2400" b="1" dirty="0" err="1">
                <a:solidFill>
                  <a:srgbClr val="941100"/>
                </a:solidFill>
                <a:latin typeface="微软雅黑" panose="020B0503020204020204" pitchFamily="34" charset="-122"/>
                <a:ea typeface="微软雅黑" panose="020B0503020204020204" pitchFamily="34" charset="-122"/>
                <a:cs typeface="华文细黑" panose="02010600040101010101" charset="-122"/>
              </a:rPr>
              <a:t>，</a:t>
            </a:r>
            <a:r>
              <a:rPr sz="2400" b="1" dirty="0" err="1">
                <a:solidFill>
                  <a:srgbClr val="800000"/>
                </a:solidFill>
                <a:latin typeface="微软雅黑" panose="020B0503020204020204" pitchFamily="34" charset="-122"/>
                <a:ea typeface="微软雅黑" panose="020B0503020204020204" pitchFamily="34" charset="-122"/>
                <a:cs typeface="华文细黑" panose="02010600040101010101" charset="-122"/>
              </a:rPr>
              <a:t>使用简单</a:t>
            </a:r>
            <a:r>
              <a:rPr sz="2400" b="1" dirty="0" err="1">
                <a:solidFill>
                  <a:srgbClr val="941100"/>
                </a:solidFill>
                <a:latin typeface="微软雅黑" panose="020B0503020204020204" pitchFamily="34" charset="-122"/>
                <a:ea typeface="微软雅黑" panose="020B0503020204020204" pitchFamily="34" charset="-122"/>
                <a:cs typeface="华文细黑" panose="02010600040101010101" charset="-122"/>
              </a:rPr>
              <a:t>，</a:t>
            </a:r>
            <a:r>
              <a:rPr sz="2400" b="1" dirty="0" err="1">
                <a:solidFill>
                  <a:srgbClr val="800000"/>
                </a:solidFill>
                <a:latin typeface="微软雅黑" panose="020B0503020204020204" pitchFamily="34" charset="-122"/>
                <a:ea typeface="微软雅黑" panose="020B0503020204020204" pitchFamily="34" charset="-122"/>
                <a:cs typeface="华文细黑" panose="02010600040101010101" charset="-122"/>
              </a:rPr>
              <a:t>理解简单</a:t>
            </a:r>
            <a:r>
              <a:rPr sz="2400" b="1" dirty="0" err="1">
                <a:solidFill>
                  <a:srgbClr val="941100"/>
                </a:solidFill>
                <a:latin typeface="微软雅黑" panose="020B0503020204020204" pitchFamily="34" charset="-122"/>
                <a:ea typeface="微软雅黑" panose="020B0503020204020204" pitchFamily="34" charset="-122"/>
                <a:cs typeface="华文细黑" panose="02010600040101010101" charset="-122"/>
              </a:rPr>
              <a:t>，</a:t>
            </a:r>
            <a:r>
              <a:rPr sz="2400" b="1" dirty="0" err="1">
                <a:solidFill>
                  <a:srgbClr val="800000"/>
                </a:solidFill>
                <a:latin typeface="微软雅黑" panose="020B0503020204020204" pitchFamily="34" charset="-122"/>
                <a:ea typeface="微软雅黑" panose="020B0503020204020204" pitchFamily="34" charset="-122"/>
                <a:cs typeface="华文细黑" panose="02010600040101010101" charset="-122"/>
              </a:rPr>
              <a:t>维护简单</a:t>
            </a:r>
            <a:endParaRPr sz="2400" b="1" dirty="0">
              <a:latin typeface="微软雅黑" panose="020B0503020204020204" pitchFamily="34" charset="-122"/>
              <a:ea typeface="微软雅黑" panose="020B0503020204020204" pitchFamily="34" charset="-122"/>
              <a:cs typeface="华文细黑" panose="0201060004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76959"/>
    </mc:Choice>
    <mc:Fallback>
      <p:transition spd="slow" advTm="76959"/>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38200" y="1526049"/>
            <a:ext cx="11130454" cy="4467890"/>
          </a:xfrm>
          <a:prstGeom prst="rect">
            <a:avLst/>
          </a:prstGeom>
        </p:spPr>
        <p:txBody>
          <a:bodyPr vert="horz" wrap="square" lIns="0" tIns="190500" rIns="0" bIns="0" rtlCol="0">
            <a:spAutoFit/>
          </a:bodyPr>
          <a:lstStyle/>
          <a:p>
            <a:pPr marL="355600" indent="-342900">
              <a:lnSpc>
                <a:spcPct val="100000"/>
              </a:lnSpc>
              <a:spcBef>
                <a:spcPts val="1500"/>
              </a:spcBef>
              <a:buAutoNum type="arabicPeriod"/>
              <a:tabLst>
                <a:tab pos="355600" algn="l"/>
              </a:tabLst>
            </a:pPr>
            <a:r>
              <a:rPr sz="2400" dirty="0">
                <a:solidFill>
                  <a:srgbClr val="800000"/>
                </a:solidFill>
                <a:latin typeface="微软雅黑" panose="020B0503020204020204" pitchFamily="34" charset="-122"/>
                <a:ea typeface="微软雅黑" panose="020B0503020204020204" pitchFamily="34" charset="-122"/>
                <a:cs typeface="黑体" panose="02010609060101010101" charset="-122"/>
              </a:rPr>
              <a:t>不同类中相似方法的名字应该相同</a:t>
            </a:r>
            <a:endParaRPr sz="2400" dirty="0">
              <a:latin typeface="微软雅黑" panose="020B0503020204020204" pitchFamily="34" charset="-122"/>
              <a:ea typeface="微软雅黑" panose="020B0503020204020204" pitchFamily="34" charset="-122"/>
              <a:cs typeface="黑体" panose="02010609060101010101" charset="-122"/>
            </a:endParaRPr>
          </a:p>
          <a:p>
            <a:pPr marL="393700" indent="-381000">
              <a:lnSpc>
                <a:spcPct val="100000"/>
              </a:lnSpc>
              <a:spcBef>
                <a:spcPts val="1400"/>
              </a:spcBef>
              <a:buAutoNum type="arabicPeriod"/>
              <a:tabLst>
                <a:tab pos="393700" algn="l"/>
              </a:tabLst>
            </a:pPr>
            <a:r>
              <a:rPr sz="2400" dirty="0">
                <a:solidFill>
                  <a:srgbClr val="800000"/>
                </a:solidFill>
                <a:latin typeface="微软雅黑" panose="020B0503020204020204" pitchFamily="34" charset="-122"/>
                <a:ea typeface="微软雅黑" panose="020B0503020204020204" pitchFamily="34" charset="-122"/>
                <a:cs typeface="黑体" panose="02010609060101010101" charset="-122"/>
              </a:rPr>
              <a:t>遵守已有的约定俗成的习惯</a:t>
            </a:r>
            <a:endParaRPr sz="2400" dirty="0">
              <a:latin typeface="微软雅黑" panose="020B0503020204020204" pitchFamily="34" charset="-122"/>
              <a:ea typeface="微软雅黑" panose="020B0503020204020204" pitchFamily="34" charset="-122"/>
              <a:cs typeface="黑体" panose="02010609060101010101" charset="-122"/>
            </a:endParaRPr>
          </a:p>
          <a:p>
            <a:pPr marL="393700" indent="-381000">
              <a:lnSpc>
                <a:spcPct val="100000"/>
              </a:lnSpc>
              <a:spcBef>
                <a:spcPts val="1500"/>
              </a:spcBef>
              <a:buAutoNum type="arabicPeriod"/>
              <a:tabLst>
                <a:tab pos="393700" algn="l"/>
              </a:tabLst>
            </a:pPr>
            <a:r>
              <a:rPr sz="2400" dirty="0">
                <a:solidFill>
                  <a:srgbClr val="800000"/>
                </a:solidFill>
                <a:latin typeface="微软雅黑" panose="020B0503020204020204" pitchFamily="34" charset="-122"/>
                <a:ea typeface="微软雅黑" panose="020B0503020204020204" pitchFamily="34" charset="-122"/>
                <a:cs typeface="黑体" panose="02010609060101010101" charset="-122"/>
              </a:rPr>
              <a:t>尽量减少消息模式的数目</a:t>
            </a:r>
            <a:r>
              <a:rPr sz="2400" dirty="0">
                <a:solidFill>
                  <a:srgbClr val="941100"/>
                </a:solidFill>
                <a:latin typeface="微软雅黑" panose="020B0503020204020204" pitchFamily="34" charset="-122"/>
                <a:ea typeface="微软雅黑" panose="020B0503020204020204" pitchFamily="34" charset="-122"/>
                <a:cs typeface="黑体" panose="02010609060101010101" charset="-122"/>
              </a:rPr>
              <a:t>。</a:t>
            </a:r>
            <a:r>
              <a:rPr sz="2400" dirty="0">
                <a:solidFill>
                  <a:srgbClr val="800000"/>
                </a:solidFill>
                <a:latin typeface="微软雅黑" panose="020B0503020204020204" pitchFamily="34" charset="-122"/>
                <a:ea typeface="微软雅黑" panose="020B0503020204020204" pitchFamily="34" charset="-122"/>
                <a:cs typeface="黑体" panose="02010609060101010101" charset="-122"/>
              </a:rPr>
              <a:t>只要可能</a:t>
            </a:r>
            <a:r>
              <a:rPr sz="2400" dirty="0">
                <a:solidFill>
                  <a:srgbClr val="941100"/>
                </a:solidFill>
                <a:latin typeface="微软雅黑" panose="020B0503020204020204" pitchFamily="34" charset="-122"/>
                <a:ea typeface="微软雅黑" panose="020B0503020204020204" pitchFamily="34" charset="-122"/>
                <a:cs typeface="黑体" panose="02010609060101010101" charset="-122"/>
              </a:rPr>
              <a:t>，</a:t>
            </a:r>
            <a:r>
              <a:rPr sz="2400" dirty="0">
                <a:solidFill>
                  <a:srgbClr val="800000"/>
                </a:solidFill>
                <a:latin typeface="微软雅黑" panose="020B0503020204020204" pitchFamily="34" charset="-122"/>
                <a:ea typeface="微软雅黑" panose="020B0503020204020204" pitchFamily="34" charset="-122"/>
                <a:cs typeface="黑体" panose="02010609060101010101" charset="-122"/>
              </a:rPr>
              <a:t>就使消息具有一致的模式</a:t>
            </a:r>
            <a:r>
              <a:rPr sz="2400" dirty="0">
                <a:solidFill>
                  <a:srgbClr val="941100"/>
                </a:solidFill>
                <a:latin typeface="微软雅黑" panose="020B0503020204020204" pitchFamily="34" charset="-122"/>
                <a:ea typeface="微软雅黑" panose="020B0503020204020204" pitchFamily="34" charset="-122"/>
                <a:cs typeface="黑体" panose="02010609060101010101" charset="-122"/>
              </a:rPr>
              <a:t>，</a:t>
            </a:r>
            <a:r>
              <a:rPr sz="2400" dirty="0">
                <a:solidFill>
                  <a:srgbClr val="800000"/>
                </a:solidFill>
                <a:latin typeface="微软雅黑" panose="020B0503020204020204" pitchFamily="34" charset="-122"/>
                <a:ea typeface="微软雅黑" panose="020B0503020204020204" pitchFamily="34" charset="-122"/>
                <a:cs typeface="黑体" panose="02010609060101010101" charset="-122"/>
              </a:rPr>
              <a:t>以利于理解</a:t>
            </a:r>
            <a:r>
              <a:rPr sz="2400" dirty="0">
                <a:solidFill>
                  <a:srgbClr val="941100"/>
                </a:solidFill>
                <a:latin typeface="微软雅黑" panose="020B0503020204020204" pitchFamily="34" charset="-122"/>
                <a:ea typeface="微软雅黑" panose="020B0503020204020204" pitchFamily="34" charset="-122"/>
                <a:cs typeface="黑体" panose="02010609060101010101" charset="-122"/>
              </a:rPr>
              <a:t>。</a:t>
            </a:r>
            <a:endParaRPr sz="2400" dirty="0">
              <a:latin typeface="微软雅黑" panose="020B0503020204020204" pitchFamily="34" charset="-122"/>
              <a:ea typeface="微软雅黑" panose="020B0503020204020204" pitchFamily="34" charset="-122"/>
              <a:cs typeface="黑体" panose="02010609060101010101" charset="-122"/>
            </a:endParaRPr>
          </a:p>
          <a:p>
            <a:pPr marL="393700" indent="-381000">
              <a:lnSpc>
                <a:spcPct val="100000"/>
              </a:lnSpc>
              <a:spcBef>
                <a:spcPts val="1500"/>
              </a:spcBef>
              <a:buAutoNum type="arabicPeriod"/>
              <a:tabLst>
                <a:tab pos="393700" algn="l"/>
              </a:tabLst>
            </a:pPr>
            <a:r>
              <a:rPr sz="2400" dirty="0">
                <a:solidFill>
                  <a:srgbClr val="800000"/>
                </a:solidFill>
                <a:latin typeface="微软雅黑" panose="020B0503020204020204" pitchFamily="34" charset="-122"/>
                <a:ea typeface="微软雅黑" panose="020B0503020204020204" pitchFamily="34" charset="-122"/>
                <a:cs typeface="黑体" panose="02010609060101010101" charset="-122"/>
              </a:rPr>
              <a:t>设计简单的类</a:t>
            </a:r>
            <a:r>
              <a:rPr sz="2400" dirty="0">
                <a:solidFill>
                  <a:srgbClr val="941100"/>
                </a:solidFill>
                <a:latin typeface="微软雅黑" panose="020B0503020204020204" pitchFamily="34" charset="-122"/>
                <a:ea typeface="微软雅黑" panose="020B0503020204020204" pitchFamily="34" charset="-122"/>
                <a:cs typeface="黑体" panose="02010609060101010101" charset="-122"/>
              </a:rPr>
              <a:t>。</a:t>
            </a:r>
            <a:r>
              <a:rPr sz="2400" dirty="0">
                <a:solidFill>
                  <a:srgbClr val="800000"/>
                </a:solidFill>
                <a:latin typeface="微软雅黑" panose="020B0503020204020204" pitchFamily="34" charset="-122"/>
                <a:ea typeface="微软雅黑" panose="020B0503020204020204" pitchFamily="34" charset="-122"/>
                <a:cs typeface="黑体" panose="02010609060101010101" charset="-122"/>
              </a:rPr>
              <a:t>类的职责要明确</a:t>
            </a:r>
            <a:r>
              <a:rPr sz="2400" dirty="0">
                <a:solidFill>
                  <a:srgbClr val="941100"/>
                </a:solidFill>
                <a:latin typeface="微软雅黑" panose="020B0503020204020204" pitchFamily="34" charset="-122"/>
                <a:ea typeface="微软雅黑" panose="020B0503020204020204" pitchFamily="34" charset="-122"/>
                <a:cs typeface="黑体" panose="02010609060101010101" charset="-122"/>
              </a:rPr>
              <a:t>，</a:t>
            </a:r>
            <a:r>
              <a:rPr sz="2400" dirty="0">
                <a:solidFill>
                  <a:srgbClr val="800000"/>
                </a:solidFill>
                <a:latin typeface="微软雅黑" panose="020B0503020204020204" pitchFamily="34" charset="-122"/>
                <a:ea typeface="微软雅黑" panose="020B0503020204020204" pitchFamily="34" charset="-122"/>
                <a:cs typeface="黑体" panose="02010609060101010101" charset="-122"/>
              </a:rPr>
              <a:t>应该从类名就可以较容易地推断出类的用途</a:t>
            </a:r>
            <a:r>
              <a:rPr sz="2400" dirty="0">
                <a:solidFill>
                  <a:srgbClr val="941100"/>
                </a:solidFill>
                <a:latin typeface="微软雅黑" panose="020B0503020204020204" pitchFamily="34" charset="-122"/>
                <a:ea typeface="微软雅黑" panose="020B0503020204020204" pitchFamily="34" charset="-122"/>
                <a:cs typeface="黑体" panose="02010609060101010101" charset="-122"/>
              </a:rPr>
              <a:t>。</a:t>
            </a:r>
            <a:endParaRPr sz="2400" dirty="0">
              <a:latin typeface="微软雅黑" panose="020B0503020204020204" pitchFamily="34" charset="-122"/>
              <a:ea typeface="微软雅黑" panose="020B0503020204020204" pitchFamily="34" charset="-122"/>
              <a:cs typeface="黑体" panose="02010609060101010101" charset="-122"/>
            </a:endParaRPr>
          </a:p>
          <a:p>
            <a:pPr marL="393700" indent="-381000">
              <a:lnSpc>
                <a:spcPct val="100000"/>
              </a:lnSpc>
              <a:spcBef>
                <a:spcPts val="1500"/>
              </a:spcBef>
              <a:buAutoNum type="arabicPeriod"/>
              <a:tabLst>
                <a:tab pos="393700" algn="l"/>
              </a:tabLst>
            </a:pPr>
            <a:r>
              <a:rPr sz="2400" dirty="0">
                <a:solidFill>
                  <a:srgbClr val="800000"/>
                </a:solidFill>
                <a:latin typeface="微软雅黑" panose="020B0503020204020204" pitchFamily="34" charset="-122"/>
                <a:ea typeface="微软雅黑" panose="020B0503020204020204" pitchFamily="34" charset="-122"/>
                <a:cs typeface="黑体" panose="02010609060101010101" charset="-122"/>
              </a:rPr>
              <a:t>定义简单的操作</a:t>
            </a:r>
            <a:r>
              <a:rPr sz="2400" dirty="0">
                <a:solidFill>
                  <a:srgbClr val="941100"/>
                </a:solidFill>
                <a:latin typeface="微软雅黑" panose="020B0503020204020204" pitchFamily="34" charset="-122"/>
                <a:ea typeface="微软雅黑" panose="020B0503020204020204" pitchFamily="34" charset="-122"/>
                <a:cs typeface="黑体" panose="02010609060101010101" charset="-122"/>
              </a:rPr>
              <a:t>、</a:t>
            </a:r>
            <a:r>
              <a:rPr sz="2400" dirty="0">
                <a:solidFill>
                  <a:srgbClr val="800000"/>
                </a:solidFill>
                <a:latin typeface="微软雅黑" panose="020B0503020204020204" pitchFamily="34" charset="-122"/>
                <a:ea typeface="微软雅黑" panose="020B0503020204020204" pitchFamily="34" charset="-122"/>
                <a:cs typeface="黑体" panose="02010609060101010101" charset="-122"/>
              </a:rPr>
              <a:t>方法</a:t>
            </a:r>
            <a:endParaRPr sz="2400" dirty="0">
              <a:latin typeface="微软雅黑" panose="020B0503020204020204" pitchFamily="34" charset="-122"/>
              <a:ea typeface="微软雅黑" panose="020B0503020204020204" pitchFamily="34" charset="-122"/>
              <a:cs typeface="黑体" panose="02010609060101010101" charset="-122"/>
            </a:endParaRPr>
          </a:p>
          <a:p>
            <a:pPr marL="393700" indent="-381000">
              <a:lnSpc>
                <a:spcPct val="100000"/>
              </a:lnSpc>
              <a:spcBef>
                <a:spcPts val="1500"/>
              </a:spcBef>
              <a:buAutoNum type="arabicPeriod"/>
              <a:tabLst>
                <a:tab pos="393700" algn="l"/>
              </a:tabLst>
            </a:pPr>
            <a:r>
              <a:rPr sz="2400" dirty="0">
                <a:solidFill>
                  <a:srgbClr val="800000"/>
                </a:solidFill>
                <a:latin typeface="微软雅黑" panose="020B0503020204020204" pitchFamily="34" charset="-122"/>
                <a:ea typeface="微软雅黑" panose="020B0503020204020204" pitchFamily="34" charset="-122"/>
                <a:cs typeface="黑体" panose="02010609060101010101" charset="-122"/>
              </a:rPr>
              <a:t>定义简单的交互协议</a:t>
            </a:r>
            <a:endParaRPr sz="2400" dirty="0">
              <a:latin typeface="微软雅黑" panose="020B0503020204020204" pitchFamily="34" charset="-122"/>
              <a:ea typeface="微软雅黑" panose="020B0503020204020204" pitchFamily="34" charset="-122"/>
              <a:cs typeface="黑体" panose="02010609060101010101" charset="-122"/>
            </a:endParaRPr>
          </a:p>
          <a:p>
            <a:pPr marL="393700" indent="-381000">
              <a:lnSpc>
                <a:spcPct val="100000"/>
              </a:lnSpc>
              <a:spcBef>
                <a:spcPts val="1400"/>
              </a:spcBef>
              <a:buAutoNum type="arabicPeriod"/>
              <a:tabLst>
                <a:tab pos="393700" algn="l"/>
              </a:tabLst>
            </a:pPr>
            <a:r>
              <a:rPr sz="2400" dirty="0">
                <a:solidFill>
                  <a:srgbClr val="800000"/>
                </a:solidFill>
                <a:latin typeface="微软雅黑" panose="020B0503020204020204" pitchFamily="34" charset="-122"/>
                <a:ea typeface="微软雅黑" panose="020B0503020204020204" pitchFamily="34" charset="-122"/>
                <a:cs typeface="黑体" panose="02010609060101010101" charset="-122"/>
              </a:rPr>
              <a:t>泛化结构的深度要适当</a:t>
            </a:r>
            <a:endParaRPr sz="2400" dirty="0">
              <a:latin typeface="微软雅黑" panose="020B0503020204020204" pitchFamily="34" charset="-122"/>
              <a:ea typeface="微软雅黑" panose="020B0503020204020204" pitchFamily="34" charset="-122"/>
              <a:cs typeface="黑体" panose="02010609060101010101" charset="-122"/>
            </a:endParaRPr>
          </a:p>
          <a:p>
            <a:pPr marL="393700" indent="-381000">
              <a:lnSpc>
                <a:spcPct val="100000"/>
              </a:lnSpc>
              <a:spcBef>
                <a:spcPts val="1500"/>
              </a:spcBef>
              <a:buAutoNum type="arabicPeriod"/>
              <a:tabLst>
                <a:tab pos="393700" algn="l"/>
              </a:tabLst>
            </a:pPr>
            <a:r>
              <a:rPr sz="2400" dirty="0">
                <a:solidFill>
                  <a:srgbClr val="800000"/>
                </a:solidFill>
                <a:latin typeface="微软雅黑" panose="020B0503020204020204" pitchFamily="34" charset="-122"/>
                <a:ea typeface="微软雅黑" panose="020B0503020204020204" pitchFamily="34" charset="-122"/>
                <a:cs typeface="黑体" panose="02010609060101010101" charset="-122"/>
              </a:rPr>
              <a:t>把设计变动的副作用减至最少</a:t>
            </a:r>
            <a:endParaRPr sz="2400" dirty="0">
              <a:latin typeface="微软雅黑" panose="020B0503020204020204" pitchFamily="34" charset="-122"/>
              <a:ea typeface="微软雅黑" panose="020B0503020204020204" pitchFamily="34" charset="-122"/>
              <a:cs typeface="黑体" panose="02010609060101010101" charset="-122"/>
            </a:endParaRPr>
          </a:p>
        </p:txBody>
      </p:sp>
      <p:sp>
        <p:nvSpPr>
          <p:cNvPr id="6" name="标题 5"/>
          <p:cNvSpPr>
            <a:spLocks noGrp="1"/>
          </p:cNvSpPr>
          <p:nvPr>
            <p:ph type="title"/>
          </p:nvPr>
        </p:nvSpPr>
        <p:spPr/>
        <p:txBody>
          <a:bodyPr/>
          <a:lstStyle/>
          <a:p>
            <a:r>
              <a:rPr lang="en-US" altLang="zh-CN" dirty="0">
                <a:latin typeface="华文细黑" panose="02010600040101010101" charset="-122"/>
                <a:cs typeface="华文细黑" panose="02010600040101010101" charset="-122"/>
              </a:rPr>
              <a:t>O</a:t>
            </a:r>
            <a:r>
              <a:rPr lang="en-US" altLang="zh-CN" spc="-5" dirty="0">
                <a:latin typeface="华文细黑" panose="02010600040101010101" charset="-122"/>
                <a:cs typeface="华文细黑" panose="02010600040101010101" charset="-122"/>
              </a:rPr>
              <a:t>O</a:t>
            </a:r>
            <a:r>
              <a:rPr lang="zh-CN" altLang="en-US" spc="-235" dirty="0">
                <a:latin typeface="华文细黑" panose="02010600040101010101" charset="-122"/>
                <a:cs typeface="华文细黑" panose="02010600040101010101" charset="-122"/>
              </a:rPr>
              <a:t>设计时要注意的一些问题</a:t>
            </a:r>
            <a:endParaRPr lang="zh-CN" altLang="en-US" dirty="0"/>
          </a:p>
        </p:txBody>
      </p:sp>
      <p:sp>
        <p:nvSpPr>
          <p:cNvPr id="7" name="灯片编号占位符 6"/>
          <p:cNvSpPr>
            <a:spLocks noGrp="1"/>
          </p:cNvSpPr>
          <p:nvPr>
            <p:ph type="sldNum" sz="quarter" idx="12"/>
          </p:nvPr>
        </p:nvSpPr>
        <p:spPr/>
        <p:txBody>
          <a:bodyPr/>
          <a:lstStyle/>
          <a:p>
            <a:fld id="{74D2AB8B-5816-41F2-8B4B-CA5C3E4E6A6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61808"/>
    </mc:Choice>
    <mc:Fallback>
      <p:transition spd="slow" advTm="61808"/>
    </mc:Fallback>
  </mc:AlternateContent>
</p:sld>
</file>

<file path=ppt/tags/tag1.xml><?xml version="1.0" encoding="utf-8"?>
<p:tagLst xmlns:p="http://schemas.openxmlformats.org/presentationml/2006/main">
  <p:tag name="RAINPROBLEM" val="ProblemBody"/>
</p:tagLst>
</file>

<file path=ppt/tags/tag2.xml><?xml version="1.0" encoding="utf-8"?>
<p:tagLst xmlns:p="http://schemas.openxmlformats.org/presentationml/2006/main">
  <p:tag name="RAINPROBLEM" val="ProblemItem"/>
</p:tagLst>
</file>

<file path=ppt/tags/tag3.xml><?xml version="1.0" encoding="utf-8"?>
<p:tagLst xmlns:p="http://schemas.openxmlformats.org/presentationml/2006/main">
  <p:tag name="RAINPROBLEM" val="ProblemItem"/>
</p:tagLst>
</file>

<file path=ppt/tags/tag4.xml><?xml version="1.0" encoding="utf-8"?>
<p:tagLst xmlns:p="http://schemas.openxmlformats.org/presentationml/2006/main">
  <p:tag name="RAINPROBLEM" val="ProblemItem"/>
</p:tagLst>
</file>

<file path=ppt/tags/tag5.xml><?xml version="1.0" encoding="utf-8"?>
<p:tagLst xmlns:p="http://schemas.openxmlformats.org/presentationml/2006/main">
  <p:tag name="RAINPROBLEM" val="ProblemItem"/>
</p:tagLst>
</file>

<file path=ppt/tags/tag6.xml><?xml version="1.0" encoding="utf-8"?>
<p:tagLst xmlns:p="http://schemas.openxmlformats.org/presentationml/2006/main">
  <p:tag name="RAINPROBLEM" val="ProblemSubmit"/>
  <p:tag name="RAINPROBLEMTYPE" val="MultipleChoice"/>
</p:tagLst>
</file>

<file path=ppt/tags/tag7.xml><?xml version="1.0" encoding="utf-8"?>
<p:tagLst xmlns:p="http://schemas.openxmlformats.org/presentationml/2006/main">
  <p:tag name="RAINPROBLEMTYPE" val="ProblemTypeMarker"/>
</p:tagLst>
</file>

<file path=ppt/tags/tag8.xml><?xml version="1.0" encoding="utf-8"?>
<p:tagLst xmlns:p="http://schemas.openxmlformats.org/presentationml/2006/main">
  <p:tag name="RAINPROBLEMTYPE" val="ProblemTypeMarker"/>
</p:tagLst>
</file>

<file path=ppt/tags/tag9.xml><?xml version="1.0" encoding="utf-8"?>
<p:tagLst xmlns:p="http://schemas.openxmlformats.org/presentationml/2006/main">
  <p:tag name="RAINPROBLEMTYPE" val="ProblemTypeMarker"/>
</p:tagLst>
</file>

<file path=ppt/tags/tag10.xml><?xml version="1.0" encoding="utf-8"?>
<p:tagLst xmlns:p="http://schemas.openxmlformats.org/presentationml/2006/main">
  <p:tag name="RAINPROBLEMTYPE" val="ProblemTypeMarker"/>
</p:tagLst>
</file>

<file path=ppt/tags/tag11.xml><?xml version="1.0" encoding="utf-8"?>
<p:tagLst xmlns:p="http://schemas.openxmlformats.org/presentationml/2006/main">
  <p:tag name="RAINPROBLEMTYPE" val="ProblemTypeMarker"/>
</p:tagLst>
</file>

<file path=ppt/tags/tag12.xml><?xml version="1.0" encoding="utf-8"?>
<p:tagLst xmlns:p="http://schemas.openxmlformats.org/presentationml/2006/main">
  <p:tag name="RAINPROBLEM" val="ProblemSetting"/>
  <p:tag name="RAINPROBLEMTYPE" val="MultipleChoice"/>
</p:tagLst>
</file>

<file path=ppt/tags/tag13.xml><?xml version="1.0" encoding="utf-8"?>
<p:tagLst xmlns:p="http://schemas.openxmlformats.org/presentationml/2006/main">
  <p:tag name="RAINPROBLEM" val="MultipleChoice"/>
  <p:tag name="PROBLEMSCORE" val="1.0"/>
</p:tagLst>
</file>

<file path=ppt/tags/tag14.xml><?xml version="1.0" encoding="utf-8"?>
<p:tagLst xmlns:p="http://schemas.openxmlformats.org/presentationml/2006/main">
  <p:tag name="RAINPROBLEM" val="ProblemBody"/>
</p:tagLst>
</file>

<file path=ppt/tags/tag15.xml><?xml version="1.0" encoding="utf-8"?>
<p:tagLst xmlns:p="http://schemas.openxmlformats.org/presentationml/2006/main">
  <p:tag name="RAINPROBLEM" val="ProblemItem"/>
</p:tagLst>
</file>

<file path=ppt/tags/tag16.xml><?xml version="1.0" encoding="utf-8"?>
<p:tagLst xmlns:p="http://schemas.openxmlformats.org/presentationml/2006/main">
  <p:tag name="RAINPROBLEM" val="ProblemItem"/>
</p:tagLst>
</file>

<file path=ppt/tags/tag17.xml><?xml version="1.0" encoding="utf-8"?>
<p:tagLst xmlns:p="http://schemas.openxmlformats.org/presentationml/2006/main">
  <p:tag name="RAINPROBLEM" val="ProblemItem"/>
</p:tagLst>
</file>

<file path=ppt/tags/tag18.xml><?xml version="1.0" encoding="utf-8"?>
<p:tagLst xmlns:p="http://schemas.openxmlformats.org/presentationml/2006/main">
  <p:tag name="RAINPROBLEM" val="ProblemItem"/>
</p:tagLst>
</file>

<file path=ppt/tags/tag19.xml><?xml version="1.0" encoding="utf-8"?>
<p:tagLst xmlns:p="http://schemas.openxmlformats.org/presentationml/2006/main">
  <p:tag name="RAINPROBLEM" val="ProblemSubmit"/>
  <p:tag name="RAINPROBLEMTYPE" val="MultipleChoice"/>
</p:tagLst>
</file>

<file path=ppt/tags/tag20.xml><?xml version="1.0" encoding="utf-8"?>
<p:tagLst xmlns:p="http://schemas.openxmlformats.org/presentationml/2006/main">
  <p:tag name="RAINPROBLEMTYPE" val="ProblemTypeMarker"/>
</p:tagLst>
</file>

<file path=ppt/tags/tag21.xml><?xml version="1.0" encoding="utf-8"?>
<p:tagLst xmlns:p="http://schemas.openxmlformats.org/presentationml/2006/main">
  <p:tag name="RAINPROBLEMTYPE" val="ProblemTypeMarker"/>
</p:tagLst>
</file>

<file path=ppt/tags/tag22.xml><?xml version="1.0" encoding="utf-8"?>
<p:tagLst xmlns:p="http://schemas.openxmlformats.org/presentationml/2006/main">
  <p:tag name="RAINPROBLEMTYPE" val="ProblemTypeMarker"/>
</p:tagLst>
</file>

<file path=ppt/tags/tag23.xml><?xml version="1.0" encoding="utf-8"?>
<p:tagLst xmlns:p="http://schemas.openxmlformats.org/presentationml/2006/main">
  <p:tag name="RAINPROBLEMTYPE" val="ProblemTypeMarker"/>
</p:tagLst>
</file>

<file path=ppt/tags/tag24.xml><?xml version="1.0" encoding="utf-8"?>
<p:tagLst xmlns:p="http://schemas.openxmlformats.org/presentationml/2006/main">
  <p:tag name="RAINPROBLEMTYPE" val="ProblemTypeMarker"/>
</p:tagLst>
</file>

<file path=ppt/tags/tag25.xml><?xml version="1.0" encoding="utf-8"?>
<p:tagLst xmlns:p="http://schemas.openxmlformats.org/presentationml/2006/main">
  <p:tag name="RAINPROBLEM" val="ProblemSetting"/>
  <p:tag name="RAINPROBLEMTYPE" val="MultipleChoice"/>
</p:tagLst>
</file>

<file path=ppt/tags/tag26.xml><?xml version="1.0" encoding="utf-8"?>
<p:tagLst xmlns:p="http://schemas.openxmlformats.org/presentationml/2006/main">
  <p:tag name="RAINPROBLEM" val="MultipleChoice"/>
  <p:tag name="PROBLEMSCORE" val="1.0"/>
</p:tagLst>
</file>

<file path=ppt/tags/tag27.xml><?xml version="1.0" encoding="utf-8"?>
<p:tagLst xmlns:p="http://schemas.openxmlformats.org/presentationml/2006/main">
  <p:tag name="RAINPROBLEM" val="ProblemBody"/>
</p:tagLst>
</file>

<file path=ppt/tags/tag28.xml><?xml version="1.0" encoding="utf-8"?>
<p:tagLst xmlns:p="http://schemas.openxmlformats.org/presentationml/2006/main">
  <p:tag name="RAINPROBLEM" val="ProblemItem"/>
</p:tagLst>
</file>

<file path=ppt/tags/tag29.xml><?xml version="1.0" encoding="utf-8"?>
<p:tagLst xmlns:p="http://schemas.openxmlformats.org/presentationml/2006/main">
  <p:tag name="RAINPROBLEM" val="ProblemItem"/>
</p:tagLst>
</file>

<file path=ppt/tags/tag30.xml><?xml version="1.0" encoding="utf-8"?>
<p:tagLst xmlns:p="http://schemas.openxmlformats.org/presentationml/2006/main">
  <p:tag name="RAINPROBLEM" val="ProblemItem"/>
</p:tagLst>
</file>

<file path=ppt/tags/tag31.xml><?xml version="1.0" encoding="utf-8"?>
<p:tagLst xmlns:p="http://schemas.openxmlformats.org/presentationml/2006/main">
  <p:tag name="RAINPROBLEM" val="ProblemItem"/>
</p:tagLst>
</file>

<file path=ppt/tags/tag32.xml><?xml version="1.0" encoding="utf-8"?>
<p:tagLst xmlns:p="http://schemas.openxmlformats.org/presentationml/2006/main">
  <p:tag name="RAINPROBLEM" val="ProblemSubmit"/>
  <p:tag name="RAINPROBLEMTYPE" val="MultipleChoice"/>
</p:tagLst>
</file>

<file path=ppt/tags/tag33.xml><?xml version="1.0" encoding="utf-8"?>
<p:tagLst xmlns:p="http://schemas.openxmlformats.org/presentationml/2006/main">
  <p:tag name="RAINPROBLEMTYPE" val="ProblemTypeMarker"/>
</p:tagLst>
</file>

<file path=ppt/tags/tag34.xml><?xml version="1.0" encoding="utf-8"?>
<p:tagLst xmlns:p="http://schemas.openxmlformats.org/presentationml/2006/main">
  <p:tag name="RAINPROBLEMTYPE" val="ProblemTypeMarker"/>
</p:tagLst>
</file>

<file path=ppt/tags/tag35.xml><?xml version="1.0" encoding="utf-8"?>
<p:tagLst xmlns:p="http://schemas.openxmlformats.org/presentationml/2006/main">
  <p:tag name="RAINPROBLEMTYPE" val="ProblemTypeMarker"/>
</p:tagLst>
</file>

<file path=ppt/tags/tag36.xml><?xml version="1.0" encoding="utf-8"?>
<p:tagLst xmlns:p="http://schemas.openxmlformats.org/presentationml/2006/main">
  <p:tag name="RAINPROBLEMTYPE" val="ProblemTypeMarker"/>
</p:tagLst>
</file>

<file path=ppt/tags/tag37.xml><?xml version="1.0" encoding="utf-8"?>
<p:tagLst xmlns:p="http://schemas.openxmlformats.org/presentationml/2006/main">
  <p:tag name="RAINPROBLEMTYPE" val="ProblemTypeMarker"/>
</p:tagLst>
</file>

<file path=ppt/tags/tag38.xml><?xml version="1.0" encoding="utf-8"?>
<p:tagLst xmlns:p="http://schemas.openxmlformats.org/presentationml/2006/main">
  <p:tag name="RAINPROBLEM" val="ProblemSetting"/>
  <p:tag name="RAINPROBLEMTYPE" val="MultipleChoice"/>
</p:tagLst>
</file>

<file path=ppt/tags/tag39.xml><?xml version="1.0" encoding="utf-8"?>
<p:tagLst xmlns:p="http://schemas.openxmlformats.org/presentationml/2006/main">
  <p:tag name="RAINPROBLEM" val="MultipleChoice"/>
  <p:tag name="PROBLEMSCORE" val="1.0"/>
</p:tagLst>
</file>

<file path=ppt/tags/tag40.xml><?xml version="1.0" encoding="utf-8"?>
<p:tagLst xmlns:p="http://schemas.openxmlformats.org/presentationml/2006/main">
  <p:tag name="RAINPROBLEM" val="ProblemBody"/>
</p:tagLst>
</file>

<file path=ppt/tags/tag41.xml><?xml version="1.0" encoding="utf-8"?>
<p:tagLst xmlns:p="http://schemas.openxmlformats.org/presentationml/2006/main">
  <p:tag name="RAINPROBLEM" val="ProblemItem"/>
</p:tagLst>
</file>

<file path=ppt/tags/tag42.xml><?xml version="1.0" encoding="utf-8"?>
<p:tagLst xmlns:p="http://schemas.openxmlformats.org/presentationml/2006/main">
  <p:tag name="RAINPROBLEM" val="ProblemItem"/>
</p:tagLst>
</file>

<file path=ppt/tags/tag43.xml><?xml version="1.0" encoding="utf-8"?>
<p:tagLst xmlns:p="http://schemas.openxmlformats.org/presentationml/2006/main">
  <p:tag name="RAINPROBLEM" val="ProblemItem"/>
</p:tagLst>
</file>

<file path=ppt/tags/tag44.xml><?xml version="1.0" encoding="utf-8"?>
<p:tagLst xmlns:p="http://schemas.openxmlformats.org/presentationml/2006/main">
  <p:tag name="RAINPROBLEM" val="ProblemItem"/>
</p:tagLst>
</file>

<file path=ppt/tags/tag45.xml><?xml version="1.0" encoding="utf-8"?>
<p:tagLst xmlns:p="http://schemas.openxmlformats.org/presentationml/2006/main">
  <p:tag name="RAINPROBLEM" val="ProblemSubmit"/>
  <p:tag name="RAINPROBLEMTYPE" val="MultipleChoice"/>
</p:tagLst>
</file>

<file path=ppt/tags/tag46.xml><?xml version="1.0" encoding="utf-8"?>
<p:tagLst xmlns:p="http://schemas.openxmlformats.org/presentationml/2006/main">
  <p:tag name="RAINPROBLEMTYPE" val="ProblemTypeMarker"/>
</p:tagLst>
</file>

<file path=ppt/tags/tag47.xml><?xml version="1.0" encoding="utf-8"?>
<p:tagLst xmlns:p="http://schemas.openxmlformats.org/presentationml/2006/main">
  <p:tag name="RAINPROBLEMTYPE" val="ProblemTypeMarker"/>
</p:tagLst>
</file>

<file path=ppt/tags/tag48.xml><?xml version="1.0" encoding="utf-8"?>
<p:tagLst xmlns:p="http://schemas.openxmlformats.org/presentationml/2006/main">
  <p:tag name="RAINPROBLEMTYPE" val="ProblemTypeMarker"/>
</p:tagLst>
</file>

<file path=ppt/tags/tag49.xml><?xml version="1.0" encoding="utf-8"?>
<p:tagLst xmlns:p="http://schemas.openxmlformats.org/presentationml/2006/main">
  <p:tag name="RAINPROBLEMTYPE" val="ProblemTypeMarker"/>
</p:tagLst>
</file>

<file path=ppt/tags/tag50.xml><?xml version="1.0" encoding="utf-8"?>
<p:tagLst xmlns:p="http://schemas.openxmlformats.org/presentationml/2006/main">
  <p:tag name="RAINPROBLEMTYPE" val="ProblemTypeMarker"/>
</p:tagLst>
</file>

<file path=ppt/tags/tag51.xml><?xml version="1.0" encoding="utf-8"?>
<p:tagLst xmlns:p="http://schemas.openxmlformats.org/presentationml/2006/main">
  <p:tag name="RAINPROBLEM" val="ProblemSetting"/>
  <p:tag name="RAINPROBLEMTYPE" val="MultipleChoice"/>
</p:tagLst>
</file>

<file path=ppt/tags/tag52.xml><?xml version="1.0" encoding="utf-8"?>
<p:tagLst xmlns:p="http://schemas.openxmlformats.org/presentationml/2006/main">
  <p:tag name="RAINPROBLEM" val="MultipleChoice"/>
  <p:tag name="PROBLEMSCORE" val="1.0"/>
</p:tagLst>
</file>

<file path=ppt/tags/tag53.xml><?xml version="1.0" encoding="utf-8"?>
<p:tagLst xmlns:p="http://schemas.openxmlformats.org/presentationml/2006/main">
  <p:tag name="COMMONDATA" val="eyJoZGlkIjoiYzllMzJmNzE5NjRjOTgyYTkzODQwZWI5ODI4YzA4NTk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10863</Words>
  <Application>WPS 演示</Application>
  <PresentationFormat>宽屏</PresentationFormat>
  <Paragraphs>1397</Paragraphs>
  <Slides>79</Slides>
  <Notes>69</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79</vt:i4>
      </vt:variant>
    </vt:vector>
  </HeadingPairs>
  <TitlesOfParts>
    <vt:vector size="97" baseType="lpstr">
      <vt:lpstr>Arial</vt:lpstr>
      <vt:lpstr>宋体</vt:lpstr>
      <vt:lpstr>Wingdings</vt:lpstr>
      <vt:lpstr>微软雅黑</vt:lpstr>
      <vt:lpstr>黑体</vt:lpstr>
      <vt:lpstr>Arial</vt:lpstr>
      <vt:lpstr>Arial Unicode MS</vt:lpstr>
      <vt:lpstr>Franklin Gothic Book</vt:lpstr>
      <vt:lpstr>Calibri</vt:lpstr>
      <vt:lpstr>Arial Unicode MS</vt:lpstr>
      <vt:lpstr>Calibri Light</vt:lpstr>
      <vt:lpstr>Comic Sans MS</vt:lpstr>
      <vt:lpstr>Times New Roman</vt:lpstr>
      <vt:lpstr>Franklin Gothic Medium</vt:lpstr>
      <vt:lpstr>华文细黑</vt:lpstr>
      <vt:lpstr>MS PGothic</vt:lpstr>
      <vt:lpstr>Times New Roman</vt:lpstr>
      <vt:lpstr>Office 主题</vt:lpstr>
      <vt:lpstr>PowerPoint 演示文稿</vt:lpstr>
      <vt:lpstr>PowerPoint 演示文稿</vt:lpstr>
      <vt:lpstr>PowerPoint 演示文稿</vt:lpstr>
      <vt:lpstr>PowerPoint 演示文稿</vt:lpstr>
      <vt:lpstr>PowerPoint 演示文稿</vt:lpstr>
      <vt:lpstr>面向对象分析 Object-Oriented Analysis</vt:lpstr>
      <vt:lpstr>PowerPoint 演示文稿</vt:lpstr>
      <vt:lpstr>PowerPoint 演示文稿</vt:lpstr>
      <vt:lpstr>Object-Oriented Analysis</vt:lpstr>
      <vt:lpstr>面向对象分析方法举例</vt:lpstr>
      <vt:lpstr>服务建模（Services）</vt:lpstr>
      <vt:lpstr>软件系统建模原则</vt:lpstr>
      <vt:lpstr>对象建模原则1: 抽象</vt:lpstr>
      <vt:lpstr>继承/一般-特殊结构（Gen-Spec Structures）</vt:lpstr>
      <vt:lpstr>对象建模原则2：分解</vt:lpstr>
      <vt:lpstr>整体-部分结构（Whole-Part Structures）</vt:lpstr>
      <vt:lpstr>对象建模原则3：投影</vt:lpstr>
      <vt:lpstr>面向对象的分析方法学</vt:lpstr>
      <vt:lpstr>面向对象分析的示例</vt:lpstr>
      <vt:lpstr>UML类图模型例</vt:lpstr>
      <vt:lpstr>PowerPoint 演示文稿</vt:lpstr>
      <vt:lpstr>如何识别类 --CRC卡片分拣法</vt:lpstr>
      <vt:lpstr>PowerPoint 演示文稿</vt:lpstr>
      <vt:lpstr>识别类的方法</vt:lpstr>
      <vt:lpstr>CRC卡片</vt:lpstr>
      <vt:lpstr>一个游戏</vt:lpstr>
      <vt:lpstr>21点游戏 （Blackjack）</vt:lpstr>
      <vt:lpstr>21点游戏 （Blackjack）</vt:lpstr>
      <vt:lpstr>21点游戏 （Blackjack）</vt:lpstr>
      <vt:lpstr>识别21点游戏中的对象类</vt:lpstr>
      <vt:lpstr>21点游戏 （Blackjack）</vt:lpstr>
      <vt:lpstr>21点游戏 （Blackjack）</vt:lpstr>
      <vt:lpstr>21点游戏 （Blackjack）</vt:lpstr>
      <vt:lpstr>通过名词过滤识别出的对象类</vt:lpstr>
      <vt:lpstr>类筛选</vt:lpstr>
      <vt:lpstr>由此识别出的对象</vt:lpstr>
      <vt:lpstr>选出的类</vt:lpstr>
      <vt:lpstr>类识别</vt:lpstr>
      <vt:lpstr>识别类的功能职责</vt:lpstr>
      <vt:lpstr>21点游戏 （Blackjack）</vt:lpstr>
      <vt:lpstr>21点游戏 （Blackjack）</vt:lpstr>
      <vt:lpstr>候选类对应的功能职责</vt:lpstr>
      <vt:lpstr>候选类对应的功能职责</vt:lpstr>
      <vt:lpstr>识别类交互协作关系：用UML用例图</vt:lpstr>
      <vt:lpstr>情景举例</vt:lpstr>
      <vt:lpstr>识别交互关系</vt:lpstr>
      <vt:lpstr>类定义：纸牌类 （Card）</vt:lpstr>
      <vt:lpstr>类定义：牌堆类 （Deck）</vt:lpstr>
      <vt:lpstr>类定义：庄家（Dealer）</vt:lpstr>
      <vt:lpstr>类定义：玩家 （Player）</vt:lpstr>
      <vt:lpstr>类定义：手牌类（Hand）</vt:lpstr>
      <vt:lpstr>UML 类图</vt:lpstr>
      <vt:lpstr>实体类</vt:lpstr>
      <vt:lpstr>边界类</vt:lpstr>
      <vt:lpstr>控制类</vt:lpstr>
      <vt:lpstr>面向对象设计 Object-Oriented Design</vt:lpstr>
      <vt:lpstr>关于对象设计</vt:lpstr>
      <vt:lpstr>面向对象设计过程</vt:lpstr>
      <vt:lpstr>面向对象思维式的核心理念	</vt:lpstr>
      <vt:lpstr>区分接口与实现</vt:lpstr>
      <vt:lpstr>接口</vt:lpstr>
      <vt:lpstr>设计抽象的接口</vt:lpstr>
      <vt:lpstr>抽象的接口</vt:lpstr>
      <vt:lpstr>不太抽象的接口</vt:lpstr>
      <vt:lpstr>确定用户</vt:lpstr>
      <vt:lpstr>公共接口的识别</vt:lpstr>
      <vt:lpstr>确定对象行为</vt:lpstr>
      <vt:lpstr>确定实现细节</vt:lpstr>
      <vt:lpstr>开闭原则(Open/Closed Principle, OCP)</vt:lpstr>
      <vt:lpstr>Liskov Substitution Principle (LSP)</vt:lpstr>
      <vt:lpstr>违反LSP的例子</vt:lpstr>
      <vt:lpstr>解决方法</vt:lpstr>
      <vt:lpstr>考虑下面的代码：</vt:lpstr>
      <vt:lpstr>思考题：如何知道子类的行为符合父类的要求？</vt:lpstr>
      <vt:lpstr>依赖倒置原则 (Dependency Inversion Principle, DIP)</vt:lpstr>
      <vt:lpstr>面向对象设计中的依赖关系</vt:lpstr>
      <vt:lpstr>接口分离原则(Interface Segregation Principle, ISP)</vt:lpstr>
      <vt:lpstr>好的系统设计的特征</vt:lpstr>
      <vt:lpstr>OO设计时要注意的一些问题</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软件工程</dc:title>
  <dc:creator>CAI Xiangrui</dc:creator>
  <cp:lastModifiedBy>仇科文</cp:lastModifiedBy>
  <cp:revision>1534</cp:revision>
  <dcterms:created xsi:type="dcterms:W3CDTF">2020-02-05T07:10:00Z</dcterms:created>
  <dcterms:modified xsi:type="dcterms:W3CDTF">2026-04-16T06:09:16Z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BF33634666AF4939BAF37844650C82B0</vt:lpwstr>
  </property>
  <property fmtid="{D5CDD505-2E9C-101B-9397-08002B2CF9AE}" pid="3" name="KSOProductBuildVer">
    <vt:lpwstr>2052-12.1.0.23125</vt:lpwstr>
  </property>
</Properties>
</file>