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tags/tag53.xml" ContentType="application/vnd.openxmlformats-officedocument.presentationml.tags+xml"/>
  <Override PartName="/ppt/notesSlides/notesSlide56.xml" ContentType="application/vnd.openxmlformats-officedocument.presentationml.notesSlide+xml"/>
  <Override PartName="/ppt/tags/tag54.xml" ContentType="application/vnd.openxmlformats-officedocument.presentationml.tags+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95"/>
  </p:notesMasterIdLst>
  <p:handoutMasterIdLst>
    <p:handoutMasterId r:id="rId96"/>
  </p:handoutMasterIdLst>
  <p:sldIdLst>
    <p:sldId id="406" r:id="rId2"/>
    <p:sldId id="258" r:id="rId3"/>
    <p:sldId id="259" r:id="rId4"/>
    <p:sldId id="257" r:id="rId5"/>
    <p:sldId id="260" r:id="rId6"/>
    <p:sldId id="528" r:id="rId7"/>
    <p:sldId id="262" r:id="rId8"/>
    <p:sldId id="263" r:id="rId9"/>
    <p:sldId id="264" r:id="rId10"/>
    <p:sldId id="526" r:id="rId11"/>
    <p:sldId id="527" r:id="rId12"/>
    <p:sldId id="267" r:id="rId13"/>
    <p:sldId id="268" r:id="rId14"/>
    <p:sldId id="269" r:id="rId15"/>
    <p:sldId id="270" r:id="rId16"/>
    <p:sldId id="271" r:id="rId17"/>
    <p:sldId id="272" r:id="rId18"/>
    <p:sldId id="273" r:id="rId19"/>
    <p:sldId id="274" r:id="rId20"/>
    <p:sldId id="275" r:id="rId21"/>
    <p:sldId id="529" r:id="rId22"/>
    <p:sldId id="830" r:id="rId23"/>
    <p:sldId id="831" r:id="rId24"/>
    <p:sldId id="832" r:id="rId25"/>
    <p:sldId id="833" r:id="rId26"/>
    <p:sldId id="530" r:id="rId27"/>
    <p:sldId id="531" r:id="rId28"/>
    <p:sldId id="532" r:id="rId29"/>
    <p:sldId id="261" r:id="rId30"/>
    <p:sldId id="533" r:id="rId31"/>
    <p:sldId id="534" r:id="rId32"/>
    <p:sldId id="535" r:id="rId33"/>
    <p:sldId id="265" r:id="rId34"/>
    <p:sldId id="266" r:id="rId35"/>
    <p:sldId id="536" r:id="rId36"/>
    <p:sldId id="537" r:id="rId37"/>
    <p:sldId id="538" r:id="rId38"/>
    <p:sldId id="834" r:id="rId39"/>
    <p:sldId id="539" r:id="rId40"/>
    <p:sldId id="540" r:id="rId41"/>
    <p:sldId id="541" r:id="rId42"/>
    <p:sldId id="542" r:id="rId43"/>
    <p:sldId id="543" r:id="rId44"/>
    <p:sldId id="544" r:id="rId45"/>
    <p:sldId id="546" r:id="rId46"/>
    <p:sldId id="277" r:id="rId47"/>
    <p:sldId id="835" r:id="rId48"/>
    <p:sldId id="278" r:id="rId49"/>
    <p:sldId id="279" r:id="rId50"/>
    <p:sldId id="280" r:id="rId51"/>
    <p:sldId id="281" r:id="rId52"/>
    <p:sldId id="570" r:id="rId53"/>
    <p:sldId id="547" r:id="rId54"/>
    <p:sldId id="548" r:id="rId55"/>
    <p:sldId id="549" r:id="rId56"/>
    <p:sldId id="550" r:id="rId57"/>
    <p:sldId id="551" r:id="rId58"/>
    <p:sldId id="552" r:id="rId59"/>
    <p:sldId id="553" r:id="rId60"/>
    <p:sldId id="554" r:id="rId61"/>
    <p:sldId id="555" r:id="rId62"/>
    <p:sldId id="556" r:id="rId63"/>
    <p:sldId id="557" r:id="rId64"/>
    <p:sldId id="558" r:id="rId65"/>
    <p:sldId id="559" r:id="rId66"/>
    <p:sldId id="560" r:id="rId67"/>
    <p:sldId id="561" r:id="rId68"/>
    <p:sldId id="563" r:id="rId69"/>
    <p:sldId id="571" r:id="rId70"/>
    <p:sldId id="565" r:id="rId71"/>
    <p:sldId id="276" r:id="rId72"/>
    <p:sldId id="566" r:id="rId73"/>
    <p:sldId id="567" r:id="rId74"/>
    <p:sldId id="568" r:id="rId75"/>
    <p:sldId id="836" r:id="rId76"/>
    <p:sldId id="588" r:id="rId77"/>
    <p:sldId id="572" r:id="rId78"/>
    <p:sldId id="573" r:id="rId79"/>
    <p:sldId id="574" r:id="rId80"/>
    <p:sldId id="575" r:id="rId81"/>
    <p:sldId id="576" r:id="rId82"/>
    <p:sldId id="577" r:id="rId83"/>
    <p:sldId id="578" r:id="rId84"/>
    <p:sldId id="579" r:id="rId85"/>
    <p:sldId id="580" r:id="rId86"/>
    <p:sldId id="589" r:id="rId87"/>
    <p:sldId id="582" r:id="rId88"/>
    <p:sldId id="583" r:id="rId89"/>
    <p:sldId id="584" r:id="rId90"/>
    <p:sldId id="585" r:id="rId91"/>
    <p:sldId id="586" r:id="rId92"/>
    <p:sldId id="587" r:id="rId93"/>
    <p:sldId id="826" r:id="rId9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17" autoAdjust="0"/>
    <p:restoredTop sz="74335" autoAdjust="0"/>
  </p:normalViewPr>
  <p:slideViewPr>
    <p:cSldViewPr snapToGrid="0">
      <p:cViewPr varScale="1">
        <p:scale>
          <a:sx n="80" d="100"/>
          <a:sy n="80" d="100"/>
        </p:scale>
        <p:origin x="1424" y="184"/>
      </p:cViewPr>
      <p:guideLst/>
    </p:cSldViewPr>
  </p:slideViewPr>
  <p:notesTextViewPr>
    <p:cViewPr>
      <p:scale>
        <a:sx n="1" d="1"/>
        <a:sy n="1" d="1"/>
      </p:scale>
      <p:origin x="0" y="0"/>
    </p:cViewPr>
  </p:notesTextViewPr>
  <p:notesViewPr>
    <p:cSldViewPr snapToGrid="0">
      <p:cViewPr varScale="1">
        <p:scale>
          <a:sx n="91" d="100"/>
          <a:sy n="91" d="100"/>
        </p:scale>
        <p:origin x="3564" y="6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DF93876-BC66-44D0-A782-3029BC273055}" type="datetimeFigureOut">
              <a:rPr lang="zh-CN" altLang="en-US" smtClean="0"/>
              <a:t>2025/4/14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66AF24-79C7-4806-8694-F79DC346854C}"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F512EB-98A4-4BE7-BD65-71E5CEC2079E}" type="datetimeFigureOut">
              <a:rPr lang="zh-CN" altLang="en-US" smtClean="0"/>
              <a:t>2025/4/14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308F8E-A66F-462A-B457-A69A741C093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同学们，接下来我们讲授具体代码开发过程中应该要注意的事项</a:t>
            </a:r>
          </a:p>
        </p:txBody>
      </p:sp>
      <p:sp>
        <p:nvSpPr>
          <p:cNvPr id="4" name="灯片编号占位符 3"/>
          <p:cNvSpPr>
            <a:spLocks noGrp="1"/>
          </p:cNvSpPr>
          <p:nvPr>
            <p:ph type="sldNum" sz="quarter" idx="10"/>
          </p:nvPr>
        </p:nvSpPr>
        <p:spPr/>
        <p:txBody>
          <a:bodyPr/>
          <a:lstStyle/>
          <a:p>
            <a:fld id="{64308F8E-A66F-462A-B457-A69A741C093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高质量的代码不能只是运行正确的，还要求做到可读性强，易于维护和简洁高效，因此，编程的工作除了编写代码之外，还要包括代码审查，单元测试，代码优化，系统构建，集成调试等一系列的工作。游戏软件开发具有迭代的特性，所以编程一般来说也不是能够一次性完成的一个简单过程，而是一个复杂的，迭代的过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软件开发是由多人协作完成的，程序员编写的代码，除了让计算机理解并运行正确之外，还要让其他程序员能够理解和维护。因此，代码作为程序员的作品也代表着他的荣誉和信用评价。为了提高代码的可读性，我们应该养成良好的编程习惯，认真对待每一个细节，掌握和执行编程规范，保证代码的清楚整洁，为整个系统的结构之美打下良好的基础</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软件工程师对软件开发的成败起着至关重要的作用，因此，提升自己的编程能力是每一个软件工程师应该修炼的基本功。编写优雅的程序，漂亮完美的解决问题，实现用户需求，也是每一个工程师永远的追求。编程是一门艺术，它能够展示结构之美，构造之美和表达之美，优美的代码会给人们带来喜悦舒畅优雅的享受，编程人员应该以业界良心的高标准要求自己，在编程实践的过程中逐步成长和成熟，成为一名优秀的软件工程师</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a:t>
            </a:fld>
            <a:endParaRPr lang="zh-CN" altLang="en-US"/>
          </a:p>
        </p:txBody>
      </p:sp>
    </p:spTree>
    <p:extLst>
      <p:ext uri="{BB962C8B-B14F-4D97-AF65-F5344CB8AC3E}">
        <p14:creationId xmlns:p14="http://schemas.microsoft.com/office/powerpoint/2010/main" val="24570255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软件编程规范是与特定语言相关的，描写如何编写代码的规则集合，说白了就是一组写代码的规矩，就如同交通规则，如果人人遵守我们的城市交通，就能井然有序，减少交通事故同样的道理，遵照一定的编程规范，可以让我们写出来的代码尽然有序，这样减少编程事故，或者说</a:t>
            </a:r>
            <a:r>
              <a:rPr lang="en-US" altLang="zh-CN" dirty="0"/>
              <a:t>bug</a:t>
            </a:r>
            <a:r>
              <a:rPr lang="zh-CN" altLang="en-US" dirty="0"/>
              <a:t>的发生，避免不必要的错误，同时还能增加代码的可读性，可重用性和可移植性，这样的软件维护变得容易，而现实中软件生命周期的</a:t>
            </a:r>
            <a:r>
              <a:rPr lang="en-US" altLang="zh-CN" dirty="0"/>
              <a:t>70%</a:t>
            </a:r>
            <a:r>
              <a:rPr lang="zh-CN" altLang="en-US" dirty="0"/>
              <a:t>成本是维护</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实际上，软件编程规范并不存在一个业界的统一标准，许多公司都会制定自己的规范，在这里我们推荐大家阅读学习并遵守</a:t>
            </a:r>
            <a:r>
              <a:rPr lang="en-US" altLang="zh-CN" dirty="0"/>
              <a:t>Google</a:t>
            </a:r>
            <a:r>
              <a:rPr lang="zh-CN" altLang="en-US" dirty="0"/>
              <a:t>公司制定的编制规范，这套规范相对来说接受的范围更广泛一些，写得也比较具体，不仅告诉我们该怎么做，还尽量解释了原因。</a:t>
            </a:r>
            <a:r>
              <a:rPr lang="en-US" altLang="zh-CN" dirty="0"/>
              <a:t>google</a:t>
            </a:r>
            <a:r>
              <a:rPr lang="zh-CN" altLang="en-US" dirty="0"/>
              <a:t>的编程规范涵盖了多种编程语言，下面将结合软件工程课程中用到的</a:t>
            </a:r>
            <a:r>
              <a:rPr lang="en-US" altLang="zh-CN" dirty="0"/>
              <a:t>python</a:t>
            </a:r>
            <a:r>
              <a:rPr lang="zh-CN" altLang="en-US" dirty="0"/>
              <a:t>语言概要地介绍一下</a:t>
            </a:r>
            <a:r>
              <a:rPr lang="en-US" altLang="zh-CN" dirty="0"/>
              <a:t>python</a:t>
            </a:r>
            <a:r>
              <a:rPr lang="zh-CN" altLang="en-US" dirty="0"/>
              <a:t>编程有哪些，值得注意的地方</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这里我们给出了一个</a:t>
            </a:r>
            <a:r>
              <a:rPr lang="en-US" altLang="zh-CN" dirty="0"/>
              <a:t>python</a:t>
            </a:r>
            <a:r>
              <a:rPr lang="zh-CN" altLang="en-US" dirty="0"/>
              <a:t>的直接运行程序模板，当然我们可以依照规范编写自己的程序模版，先看第一行，他说明了</a:t>
            </a:r>
            <a:r>
              <a:rPr lang="en-US" altLang="zh-CN" dirty="0"/>
              <a:t>python</a:t>
            </a:r>
            <a:r>
              <a:rPr lang="zh-CN" altLang="en-US" dirty="0"/>
              <a:t>程序的运行解释器，对于可以直接执行的文件，建议增加这个说明，但是如果是被导入的模块文件，可以忽略。文件的基本头部一般都是必须要写的，主要包括版权说明，许可声明和模块描述的气息，带有中文的文件要写清楚它的编码形式，例如这里是</a:t>
            </a:r>
            <a:r>
              <a:rPr lang="en-US" altLang="zh-CN" dirty="0"/>
              <a:t>UTF8</a:t>
            </a:r>
            <a:r>
              <a:rPr lang="zh-CN" altLang="en-US" dirty="0"/>
              <a:t>格式。导入的外部模块应当位于文件顶部，在模块注释和文档字符串之后，在全局变量和常量之前，这样可以方便地检查模块导入是不是正确，有没有导入重复的模块。系统文件和第三方包分开来写。如果是直接执行的程序，建议创建一个主函数来运行主功能，虽然不写主函数也可以直接执行这个代码，但考虑到代码的最大可重用性，即使我们打算哪些文件是被直接执行的，也不应该抹杀未来他被其他模块儿导入的可能性，比如单元测试都要求每一个文件是必须可导入，所以创建主函数是非常有必要的，这里是用于检查文件是不是直接执行的，而且加上这个对</a:t>
            </a:r>
            <a:r>
              <a:rPr lang="en-US" altLang="zh-CN" dirty="0"/>
              <a:t>name</a:t>
            </a:r>
            <a:r>
              <a:rPr lang="zh-CN" altLang="en-US" dirty="0"/>
              <a:t>判断之后，主程序只有在被直接执行时才会被执行，被作为模块导入时不会执行主函数。</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一般来说，人们都会使用注释来增加对程序的理解，这里对于函数和类的定义需要使用相应的注释来说明其功能。</a:t>
            </a:r>
            <a:r>
              <a:rPr lang="en-US" altLang="zh-CN" dirty="0"/>
              <a:t>python</a:t>
            </a:r>
            <a:r>
              <a:rPr lang="zh-CN" altLang="en-US" dirty="0"/>
              <a:t>的注释有两种形式，第一种形式是以井号打头的这种真正的注释。一般是用来说明一些实现的原理和难点。这里给的这个例子是定义了一个取黄金分割点的函数，它的注释说明了黄金分割点的比例，并且说明函数通过直接取</a:t>
            </a:r>
            <a:r>
              <a:rPr lang="en-US" altLang="zh-CN" dirty="0"/>
              <a:t>0.618</a:t>
            </a:r>
            <a:r>
              <a:rPr lang="zh-CN" altLang="en-US" dirty="0"/>
              <a:t>这样的方式得出黄金分割点，这样做可以避免使用公式计算，从而实现加速。第二种形式，就是这样示例程序中给出的这样用前后各三个引号包起来的一个文档字符串，它可以作为包，模块，类，函数之类的文档说明，这里面也可以写上使用的示例和单元测试。我们给的这个例子用这种方式注释了黄金分割点这个函数，说明了它的基本功能，输入参数，还有返回值。程序注释是可以帮助我们更好地理解代码的意义。但是什么是好的注释呢？</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一位同学写的一个程序，我们看到这位同学很担心自己的代码不容易被他人理解，所以几乎对每一个语句都加了注释，那么大家觉得这个程序注释写得怎么样？我们仔细看一下这些注释，我们会发现所有的注释，只是重复解释了一下各行语句执行的功能，实际上语句本身也是有含义的，比如说前面的这个</a:t>
            </a:r>
            <a:r>
              <a:rPr lang="en-US" altLang="zh-CN" dirty="0"/>
              <a:t>with open</a:t>
            </a:r>
            <a:r>
              <a:rPr lang="zh-CN" altLang="en-US" dirty="0"/>
              <a:t>语句即使没有他的注释，我们也清楚得知道它就是打开一个二进制的只读文件。显然，这样的注释只是重复了一遍语法含义，没有任何的价值，读完之后感觉什么都没说，另外，我们再来看这段循环代码的注释，读了这个注释，我们能明白这段代码是干什么吗？看完了以后还是不明白，所以说，这个同学虽然在程序中几乎是一行一行的解释代码，但是，这些注释对于我们理解代码没有任何帮助，反而影响了我们对程序主要部分的理解，还不如没有注释看起来清楚</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编写程序注释并不是越多越好，而是要讲究实际的价值，不论我们使用什么样的语言来编程，我们都应该学会去编写够用的注释，重视质量，而不是数量。好的注释应该解释为什么而不是怎么样，所以，我们不要在注释里面重复的描述代码，如果我们发现在编写密密麻麻过多地注释的时候，就要停下来看一看，是不是存在很大的问题。注释其实要写好并不容易，应该要好好斟酌里面写什么，写完之后在上下文回顾一下，检查他们是否包含了正确的信息。另外呢，我们在维护代码的同时，也要做好注释的维护。</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根据上面讲的这些注释原则，我们把前面示例程序的注释进行了重新改写，从现在的这个注释来看，我们可以很清楚的知道，这个程序，首先是读入一个文件，再检查输入的合法性之后，把所读入的</a:t>
            </a:r>
            <a:r>
              <a:rPr lang="en-US" altLang="zh-CN" dirty="0" err="1"/>
              <a:t>rgB</a:t>
            </a:r>
            <a:r>
              <a:rPr lang="zh-CN" altLang="en-US" dirty="0"/>
              <a:t>格式的图像转化为</a:t>
            </a:r>
            <a:r>
              <a:rPr lang="en-US" altLang="zh-CN" dirty="0"/>
              <a:t>YUV</a:t>
            </a:r>
            <a:r>
              <a:rPr lang="zh-CN" altLang="en-US" dirty="0"/>
              <a:t>色彩空间的</a:t>
            </a:r>
            <a:r>
              <a:rPr lang="en-US" altLang="zh-CN" dirty="0"/>
              <a:t>y</a:t>
            </a:r>
            <a:r>
              <a:rPr lang="zh-CN" altLang="en-US" dirty="0"/>
              <a:t>通道灰度值，最后，再将结果写入另一个文件。现在的这个代码是不是看起来清楚多了？如果以后我们再来阅读和维护这段代码，是可以很容易理解的。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遵守良好的注释规范，还有一个好处，就是可以用规范的注释，自动的生成文档，比如说</a:t>
            </a:r>
            <a:r>
              <a:rPr lang="en-US" altLang="zh-CN" dirty="0"/>
              <a:t>python</a:t>
            </a:r>
            <a:r>
              <a:rPr lang="zh-CN" altLang="en-US" dirty="0"/>
              <a:t>自带的</a:t>
            </a:r>
            <a:r>
              <a:rPr lang="en-US" altLang="zh-CN" dirty="0" err="1"/>
              <a:t>pydoc</a:t>
            </a:r>
            <a:r>
              <a:rPr lang="zh-CN" altLang="en-US" dirty="0"/>
              <a:t>的模块，它可以用简单的命令行自动分析脚本文件，根据注释生成可以方便查阅的</a:t>
            </a:r>
            <a:r>
              <a:rPr lang="en-US" altLang="zh-CN" dirty="0" err="1"/>
              <a:t>api</a:t>
            </a:r>
            <a:r>
              <a:rPr lang="zh-CN" altLang="en-US" dirty="0"/>
              <a:t>文档，这里，显示的就是一个示例，如果你想生成更好看的文档，可以用其他的工具，总之许多文档自动化工具都是基于代码的规范注释，所以在编写程序的时候一定要注意写好注释</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程序的代码离不开各种命名，我们要给模块命名，给类，函数，变量命名。准确的命名，可以减少开发人员很多麻烦，大幅度的提高代码的可读性，降低维护成本。由于历史的原因，</a:t>
            </a:r>
            <a:r>
              <a:rPr lang="en-US" altLang="zh-CN" dirty="0"/>
              <a:t>python</a:t>
            </a:r>
            <a:r>
              <a:rPr lang="zh-CN" altLang="en-US" dirty="0"/>
              <a:t>的命名规范有点混乱，不过现在已经有公认的命名规范了。对于项目中已有的代码，因为历史遗留原因可能不符合本规范，这时候，应当把它看作是一个可容忍的特例，允许它的存在，但是在新的代码中不应该延续旧的风格。</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了更好地理解代码，我们也需要对代码加上必要的注释或者附带额外的文档。由于代码在软件的生命周期里会不断地被修改扩展和维护，相关的文档也要随着代码的更改而不断的更新，但是现实中呢，经常发生只改代码不改文档的情况，这显然会对以后的维护产生误导，甚至出现危险的错误，所以说，最好的方法是不要编写需要外部文档来说明的代码，这样的代码是脆弱的，要确保你的代码本身读起来就很清晰。换句话说，就是要编写自文档化的程序，让代码本身易于理解，而做到这一点的关键在于清晰的代码结构和规范的命名。</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现在来看一个程序，在没有注释的情况下，大家是不是可以很快的明白这段程序是干什么的。也许有的同学会说，这段代码看起来太费解了，比如</a:t>
            </a:r>
            <a:r>
              <a:rPr lang="en-US" altLang="zh-CN" dirty="0"/>
              <a:t>i,n1.n2</a:t>
            </a:r>
            <a:r>
              <a:rPr lang="zh-CN" altLang="en-US" dirty="0"/>
              <a:t>，这样的一些变量的名字根本就没有什么任何实际的含义，看了半天也弄不明白他们是什么意思。</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果把这个代码重构一下，像右边这样的样子，是不是就可以一目了然了？首先从函数的命名可以知道它的功能是计算斐波那契数列，根据函数内变量的命名和清晰的代码结构，我们可以了解计算的过程和方法。从这个例子可以看出，通过有意义的命名，我们可以不需要任何注释就能很容易地理解代码，而且这样做更便于后续的维护。</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python</a:t>
            </a:r>
            <a:r>
              <a:rPr lang="zh-CN" altLang="en-US" dirty="0"/>
              <a:t>的语句编写也有相应的规范，我们在这里就不再一一的介绍，只是简单的说明部分语句的书写规范。首先，</a:t>
            </a:r>
            <a:r>
              <a:rPr lang="en-US" altLang="zh-CN" dirty="0"/>
              <a:t>python</a:t>
            </a:r>
            <a:r>
              <a:rPr lang="zh-CN" altLang="en-US" dirty="0"/>
              <a:t>的语句是不需要在行尾加分号的，缩进，是</a:t>
            </a:r>
            <a:r>
              <a:rPr lang="en-US" altLang="zh-CN" dirty="0"/>
              <a:t>python</a:t>
            </a:r>
            <a:r>
              <a:rPr lang="zh-CN" altLang="en-US" dirty="0"/>
              <a:t>区分代码块儿的关键，注意不要用制表符来做，尽也千万不要混用这种空格和制表符，应该就用四个空格来进行缩进。类名应该是驼峰风格，而且首字母应该大写，变量的命名应该是下划线风格，使用文件的话应该要显式调用</a:t>
            </a:r>
            <a:r>
              <a:rPr lang="en-US" altLang="zh-CN" dirty="0"/>
              <a:t>close</a:t>
            </a:r>
            <a:r>
              <a:rPr lang="zh-CN" altLang="en-US" dirty="0"/>
              <a:t>，否则很容易造成长时间占用文件的问题。或者，也可以通过</a:t>
            </a:r>
            <a:r>
              <a:rPr lang="en-US" altLang="zh-CN" dirty="0"/>
              <a:t>with</a:t>
            </a:r>
            <a:r>
              <a:rPr lang="zh-CN" altLang="en-US" dirty="0"/>
              <a:t>去来更优雅地解决这个问题。最后，每一行应该只写一条语句，该换行就换行。</a:t>
            </a:r>
          </a:p>
          <a:p>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Import</a:t>
            </a:r>
            <a:r>
              <a:rPr lang="zh-CN" altLang="en-US" dirty="0"/>
              <a:t>语句在</a:t>
            </a:r>
            <a:r>
              <a:rPr lang="en-US" altLang="zh-CN" dirty="0"/>
              <a:t>python</a:t>
            </a:r>
            <a:r>
              <a:rPr lang="zh-CN" altLang="en-US" dirty="0"/>
              <a:t>程序里很关键，通过他才能做到</a:t>
            </a:r>
            <a:r>
              <a:rPr lang="en-US" altLang="zh-CN" dirty="0"/>
              <a:t>python</a:t>
            </a:r>
            <a:r>
              <a:rPr lang="zh-CN" altLang="en-US" dirty="0"/>
              <a:t>的代码重用。前面我们说过的</a:t>
            </a:r>
            <a:r>
              <a:rPr lang="en-US" altLang="zh-CN" dirty="0"/>
              <a:t>import</a:t>
            </a:r>
            <a:r>
              <a:rPr lang="zh-CN" altLang="en-US" dirty="0"/>
              <a:t>要全部放在文件头部，这里再强调一下它的顺序，应该先是</a:t>
            </a:r>
            <a:r>
              <a:rPr lang="en-US" altLang="zh-CN" dirty="0"/>
              <a:t>import python</a:t>
            </a:r>
            <a:r>
              <a:rPr lang="zh-CN" altLang="en-US" dirty="0"/>
              <a:t>的内置模块，然后是第三方模块，最后是自己的模块，最好还应该让他们在各自的部分按字母表顺序排列。一般来说，一条</a:t>
            </a:r>
            <a:r>
              <a:rPr lang="en-US" altLang="zh-CN" dirty="0"/>
              <a:t>import</a:t>
            </a:r>
            <a:r>
              <a:rPr lang="zh-CN" altLang="en-US" dirty="0"/>
              <a:t>语句，只</a:t>
            </a:r>
            <a:r>
              <a:rPr lang="en-US" altLang="zh-CN" dirty="0"/>
              <a:t>import</a:t>
            </a:r>
            <a:r>
              <a:rPr lang="zh-CN" altLang="en-US" dirty="0"/>
              <a:t>一个模块，一行写好多模块的话，不仅难看还容易出错，如果我们从某个模块</a:t>
            </a:r>
            <a:r>
              <a:rPr lang="en-US" altLang="zh-CN" dirty="0"/>
              <a:t>import</a:t>
            </a:r>
            <a:r>
              <a:rPr lang="zh-CN" altLang="en-US" dirty="0"/>
              <a:t>多个对象，可能会导致那一行太长。一般建议一行不超过</a:t>
            </a:r>
            <a:r>
              <a:rPr lang="en-US" altLang="zh-CN" dirty="0"/>
              <a:t>80</a:t>
            </a:r>
            <a:r>
              <a:rPr lang="zh-CN" altLang="en-US" dirty="0"/>
              <a:t>个字符，这种情况下可以借助括号来换行。另外，最好也不要用</a:t>
            </a:r>
            <a:r>
              <a:rPr lang="en-US" altLang="zh-CN" dirty="0"/>
              <a:t>import *</a:t>
            </a:r>
            <a:r>
              <a:rPr lang="zh-CN" altLang="en-US" dirty="0"/>
              <a:t>这种方式来导入某个模块的所有内容，因为这样很容易出现命名空间的冲突</a:t>
            </a:r>
          </a:p>
          <a:p>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关于语句，</a:t>
            </a:r>
            <a:r>
              <a:rPr lang="en-US" altLang="zh-CN" dirty="0"/>
              <a:t>python</a:t>
            </a:r>
            <a:r>
              <a:rPr lang="zh-CN" altLang="en-US" dirty="0"/>
              <a:t>还有很多灵活的用法，但是用的时候应该注意简洁。比如</a:t>
            </a:r>
            <a:r>
              <a:rPr lang="en-US" altLang="zh-CN" dirty="0"/>
              <a:t>python</a:t>
            </a:r>
            <a:r>
              <a:rPr lang="zh-CN" altLang="en-US" dirty="0"/>
              <a:t>有很好用的列表推导，不过使用的时候不要滥用，太复杂就很难理解。条件表达式也是很漂亮的一个简短的语法，但是，应该注意到要在简单的情况下使用。另外，</a:t>
            </a:r>
            <a:r>
              <a:rPr lang="en-US" altLang="zh-CN" dirty="0"/>
              <a:t>python</a:t>
            </a:r>
            <a:r>
              <a:rPr lang="zh-CN" altLang="en-US" dirty="0"/>
              <a:t>还有很多很酷的特性，不过这种酷酷的代码最好不要写到真实的项目里，因为他们会大大的增加开发调试和维护的难度</a:t>
            </a:r>
          </a:p>
          <a:p>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关于完整的</a:t>
            </a:r>
            <a:r>
              <a:rPr lang="en-US" altLang="zh-CN" dirty="0"/>
              <a:t>python</a:t>
            </a:r>
            <a:r>
              <a:rPr lang="zh-CN" altLang="en-US" dirty="0"/>
              <a:t>编程规范，大家可以参考</a:t>
            </a:r>
            <a:r>
              <a:rPr lang="en-US" altLang="zh-CN" dirty="0"/>
              <a:t>Google</a:t>
            </a:r>
            <a:r>
              <a:rPr lang="zh-CN" altLang="en-US" dirty="0"/>
              <a:t>的官方文档，另外，还有一个比较有趣的东西是</a:t>
            </a:r>
            <a:r>
              <a:rPr lang="en-US" altLang="zh-CN" dirty="0"/>
              <a:t>python</a:t>
            </a:r>
            <a:r>
              <a:rPr lang="zh-CN" altLang="en-US" dirty="0"/>
              <a:t>之禅道，通过</a:t>
            </a:r>
            <a:r>
              <a:rPr lang="en-US" altLang="zh-CN" dirty="0"/>
              <a:t>import this</a:t>
            </a:r>
            <a:r>
              <a:rPr lang="zh-CN" altLang="en-US" dirty="0"/>
              <a:t>就可以看到，里面列举了十多条</a:t>
            </a:r>
            <a:r>
              <a:rPr lang="en-US" altLang="zh-CN" dirty="0"/>
              <a:t>python</a:t>
            </a:r>
            <a:r>
              <a:rPr lang="zh-CN" altLang="en-US" dirty="0"/>
              <a:t>程序应该遵循的一些原则。总之，一个优秀的程序员首先要认真踏实的学好代码，要养成良好的编程习惯，在希望大家在实践中能编写结构优美，表达简洁清晰的代码</a:t>
            </a:r>
          </a:p>
          <a:p>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编程实际就是一项实践活动，学习编程最好的方法就是边学边做，具体说来可以用看，问和练这三个字来概括学习编程的关键环节。首先，看要经常的阅读优秀的代码，这是提高开发人员修行的一种捷径。我们可以从这些代码中吸取到那些牛人们的技术精髓。第二，是问要善于发现问题，并以专业的方式提出问题，通过对问题求解的交流来扩展自己的编程学习。初学编程的人可能经常遇到如何正确提问这样的困惑，这里我们给出一个参考的网页，他说的是如何向开源社区提问题，以及如何用更专业的方式更好地提出自己的问题。希望大家能够阅读，更容易学会提问。第三，要亲自动手去编写代码，不动手编程的学习是徒劳无用的，提升编程能力最有效的方法就是实践再实践。</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工程活动都是有相通性的，我们先来看一下高楼大厦是如何建成的。在建楼之前，我们首先认真地分析问题。要明确盖什么样的楼，以及在哪里盖等等。然后，会做一个初步的总体设计，还有可能建造一个实体的模型进行评估和测试，在完成整个设计方案之后，我们先用钢筋搭建一个整体框架，然后，再一层一层一块儿一块儿去建造。最后，测试和验收。</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26</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软件工程也是一项解决问题的工程活动，我们首先，要对问题有一个分析的过程，由于很多问题非常复杂，我们就需要把这些复杂的问题分解成更容易处理的若干小问题。然后针对这些不同的问题设计相应的解决方案。再把所设计的小的构件组合，形成一个完整的系统，这个过程，也是很有挑战性的，需要用抽象的方法进行分解和合成。</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27</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程序设计的过程中，实现这种分解和合成有一些通用的原则应用，这些原则可以增加代码的可修改性和可测试性，便于程序的扩展和维护。我们接下来将介绍模块化设计，面向抽象编程，以错误和异常处理这种编程实践，说明如何更好地设计</a:t>
            </a:r>
            <a:r>
              <a:rPr lang="en-US" altLang="zh-CN" dirty="0"/>
              <a:t>python</a:t>
            </a:r>
            <a:r>
              <a:rPr lang="zh-CN" altLang="en-US" dirty="0"/>
              <a:t>程序</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28</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模块化的设计思想在工程领域中应用非常广泛，它的目的就是降低系统构造的复杂性，增加灵活性。我们都知道活字印刷术，它可以称得上是古代产品领域的一种模块化设计。这里到单个的汉字作为一个文字的模块，它本身是有自己的特定含义，共同的汉字通过语法这个接口进行连接，可以进一步构成一个更复杂的文章产品。</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29</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模块化设计可以用于建造各种住宅和办公建筑。这是迪拜集团在伦敦西部建立的第一家模块化酒店，他把这个酒店分成若干个空间，每个模块的精装修，甚至清洁都在工厂里完成，然后运到工地，像搭积木一样来搭建房屋，这样做的好处在于建造的房屋更加高效灵活，维护的时候呢，可以单独的替换一个单元，而不会影响到其他单元的使用</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30</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同样的道理，程序的模块化设计，就是把一个很大的程序，按照功能分成一系列小的模块儿，其中每一个模块相对独立，功能单一，结构清晰，接口简单。各模块之间通过接口进行调用。这样做可以有效地降低程序设计的复杂性，提高模块的可靠性和可重用性，有助于实现快速的开发，方便维护和功能扩展</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31</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模块化设计需要对程序进行分解，针对不同的系统可能有不同的分解策略，对于一个</a:t>
            </a:r>
            <a:r>
              <a:rPr lang="en-US" altLang="zh-CN" dirty="0"/>
              <a:t>web</a:t>
            </a:r>
            <a:r>
              <a:rPr lang="zh-CN" altLang="en-US" dirty="0"/>
              <a:t>应用系统来说，我们可以按照系统业务类型进行水平划分，将其分成用户管理，权限管理以及其他不同的业务功能状况。也可以按照系统的层次进行垂直的划分，把它分成应用服务，业务逻辑，数据存储等典型的多层结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32</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还可以通过区别容易改变和不容易改变的部分来划分模块，将稳定不容易变化的代码抽象的一个模块，比如系统中比较通用的基础的功能，将经常变化的代码放在另外的一个或多个模块儿，比如业务的逻辑。因为异变的代码经常修改会很不稳定，分开之后，这些代码在修改的时候就不会影响到那些不变的代码</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33</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模块化设计也可以基于单一职责进行划分，就是把代码按照职责抽象出来，形成不同的模块儿，再把同一职责的代码放在一个模块儿里。类和函数是程序的基本构件，通过把一个大的程序分解成若干相对独立的类和函数，可以使程序的结构清晰，容易理解。类或者函数的设计可以基于单一职责进行分解，就是应该只做一件事儿，并且做好这件事儿，但是我们要注意的是，在这里，单一职责并不等同于单一功能，而是指引起变化的原因，也就是说，从变化的角度去考虑一个类或者函数，它应该有且只有一个引起它变化的原因，按照这个原则，应该避免编写万能的类和庞大的函数</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34</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python</a:t>
            </a:r>
            <a:r>
              <a:rPr lang="zh-CN" altLang="en-US" dirty="0"/>
              <a:t>的模块元素主要包括函数，类，模块，包这四种类型。一个</a:t>
            </a:r>
            <a:r>
              <a:rPr lang="en-US" altLang="zh-CN" dirty="0"/>
              <a:t>python</a:t>
            </a:r>
            <a:r>
              <a:rPr lang="zh-CN" altLang="en-US" dirty="0"/>
              <a:t>文件就是一个模块，其中还可以导入其他的模块，一些模块还可以作为启动程序独立运行。下面我们将结合一个生命游戏的例子来讲解一下如何对其进行模块化设计。</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35</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生命游戏，是英国数学家康威在</a:t>
            </a:r>
            <a:r>
              <a:rPr lang="en-US" altLang="zh-CN" dirty="0"/>
              <a:t>1970</a:t>
            </a:r>
            <a:r>
              <a:rPr lang="zh-CN" altLang="en-US" dirty="0"/>
              <a:t>年发明的细胞自动机。他是假设有这么一个二维矩形的世界，这个世界里面每一个方格都居住着一个细胞，细胞本身是有生和死两种状态，随着时间的变化，每个方格里面的细胞，它的生死也会发生变化。那么一个细胞在下一个时刻的生死是由他周围八个方格里面的细胞状态来决定的。如果一个细胞的周围至少有四个活的细胞，那么下一个时刻，他就会因为拥挤而死亡。如果这个细胞的周围正好有三个活的细胞，那么下一个时刻他也会成为一个活的细胞。如果正好呢是有两个活的细胞，那么他的状态是不会发生变化的。如果只有一个活的，或者甚至没有活的细胞，那么他就会因为孤独而死亡</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36</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个游戏是在一个类似于围棋棋盘一样的，可以无限延伸的二维方格网中进行。在游戏的开始，每个细胞都可以随机的，或者被规定的设为一个生或者死的状态，之后，细胞就按照前面给出的规则进行变换。这里显示的是维基百科上面的两个动态图。</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37</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现在我们来简单分析一下这个游戏这个例子，首先细胞是在一个二维方格网中生长变化，所以像地图这样一些数据是一个要素，其次细胞的变化是有一定规则的，按照这样的规则来控制细胞的变化，也就是游戏的规则，因此，游戏需要有一个控制逻辑。最后，整个细胞的变化是和时间有关系的，那么就需要一个计时器</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39</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根据前面的分析，我们可以把生命游戏的三个要素设计成三个不同的模块，每个模块都有各自单一的职责，再通过一定的方式相互连接和调用。这样一来，生命游戏就被划分成地图模块，逻辑模块和计时模块三个部分。其中地图模块是管理和地图相关的一切数据的初始化获取和更新。逻辑模块是控制完整的游戏逻辑，按照游戏的规则对地图数据进行改变。计时模块负责和时间相关的功能，在适当的时间触发逻辑模块的更新。这种划分是把生命游戏这样一个大问题，分解成一些更容易处理的小问题，显然每个模块实现起来更加的简单清楚，而且易于测试或扩展，比如说可以修改游戏规则，改变更新频率，设置不同的地图数据等</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40</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上面给出的这是一种方案，实际上我们还可以设计其他不同的方案，只要符合设计质量原则就可以，例如可以增加一个</a:t>
            </a:r>
            <a:r>
              <a:rPr lang="en-US" altLang="zh-CN" dirty="0"/>
              <a:t>UI</a:t>
            </a:r>
            <a:r>
              <a:rPr lang="zh-CN" altLang="en-US" dirty="0"/>
              <a:t>模块儿，专门负责游戏的图形化显示</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41</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完成模块设计之后，我们就要设计这些模块之间的连接部分，当然连接的设计要抽象的合适，以便降低在未来开发中发生变化的可能。面向抽象编程就是把模块的行为抽象出来，形成相对固定的接口，这样不论对接口的实现是如何变化，只要接口不变，就不会影响使用接口的模块。</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42</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首先我们来看地图模块。游戏对地图的操作，包括初始化，重置地图再随机设定活细胞，获取某一个方格周围的活细胞数量，更新或者读取方格的细胞状态等，因此，需要在地图模块儿定义这些关键的方法</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43</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为什么需要逻辑模块</a:t>
            </a:r>
            <a:r>
              <a:rPr lang="en-US" altLang="zh-CN" dirty="0"/>
              <a:t>?</a:t>
            </a:r>
            <a:r>
              <a:rPr lang="zh-CN" altLang="en-US" dirty="0"/>
              <a:t>对于逻辑模块，首先要在主程序中进行实例化，在计时器触发的时候进行游戏的循环，也就是说，根据当前状态更新地图下一时刻的状态，还要输出当前的地图，我们在这里定义了逻辑模块的相应方法</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44</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是计时模块，他也要在主程序中进行实例化，关键是设定触发的间隔秒数，另外还有一个触发函数，最后还需要启动计时器，计时器在启动之后就会按照设定的间隔时间持续的触发，这里我们给出了相关方法的定义。</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45</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完成了模块化设计以及关键方法的定义之后，开发人员就可以分别实现各个模块，同时模块测试的设计工作也可以开始进行。需要强调的是，各个模块儿对外提供的服务，也就是那些关键方法，不应该发生变化，否则会连带产生其他调用模块的修改，给整个程序的构造带来不稳定</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46</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程序可能会出现错误，例如</a:t>
            </a:r>
            <a:r>
              <a:rPr lang="en-US" altLang="zh-CN" dirty="0"/>
              <a:t>python</a:t>
            </a:r>
            <a:r>
              <a:rPr lang="zh-CN" altLang="en-US" dirty="0"/>
              <a:t>的解析错误或者未捕获的异常，这种运行时的错误等。如果程序能够对运行时出现的，可预见的错误进行处理，就会避免让用户感到困惑的问题。常见的异常有很多，比如零除，断言错误，操作系统错误，输入输出错误等。程序的异常处理是用于管理程序运行期间错误的一种常用方法。</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48</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其实我们已经见过很多产品的报错处理，对错误和异常处理应该不陌生。</a:t>
            </a:r>
            <a:r>
              <a:rPr lang="en-US" altLang="zh-CN" dirty="0"/>
              <a:t>python</a:t>
            </a:r>
            <a:r>
              <a:rPr lang="zh-CN" altLang="en-US" dirty="0"/>
              <a:t>通常使用</a:t>
            </a:r>
            <a:r>
              <a:rPr lang="en-US" altLang="zh-CN" dirty="0"/>
              <a:t>try except</a:t>
            </a:r>
            <a:r>
              <a:rPr lang="zh-CN" altLang="en-US" dirty="0"/>
              <a:t>来捕获并处理异常。在编写代码的时候，我们要注意细化具体的异常类型，有针对性的进行处理，同时，还应该</a:t>
            </a:r>
            <a:r>
              <a:rPr lang="en-US" altLang="zh-CN" dirty="0"/>
              <a:t>try</a:t>
            </a:r>
            <a:r>
              <a:rPr lang="zh-CN" altLang="en-US" dirty="0"/>
              <a:t>和</a:t>
            </a:r>
            <a:r>
              <a:rPr lang="en-US" altLang="zh-CN" dirty="0"/>
              <a:t>except</a:t>
            </a:r>
            <a:r>
              <a:rPr lang="zh-CN" altLang="en-US" dirty="0"/>
              <a:t>的代码块的大小，代码块越大就容易出现预期之外的异常。除此之外，在代码实现的关键部分，还要养成检查变量合法性的习惯，避免错误的数据，在未来积累成了更大的错误，那样可能会大大增加错误定位的难度，很难进行调试。</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49</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生命游戏这个程序一旦开始运行，就会无休止地运行下去，我们需要有一种方式让他安全地停止。假设我们是用命令行的方式来运行，用控制台来打印输出，那么，我们可以通过常见的</a:t>
            </a:r>
            <a:r>
              <a:rPr lang="en-US" altLang="zh-CN" dirty="0"/>
              <a:t>ctrl c</a:t>
            </a:r>
            <a:r>
              <a:rPr lang="zh-CN" altLang="en-US" dirty="0"/>
              <a:t>的方式来终止程序，但是这样会在</a:t>
            </a:r>
            <a:r>
              <a:rPr lang="en-US" altLang="zh-CN" dirty="0"/>
              <a:t>python</a:t>
            </a:r>
            <a:r>
              <a:rPr lang="zh-CN" altLang="en-US" dirty="0"/>
              <a:t>里面引发异常，这是一种可预见的异常，我们需要捕获和处理它。</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50</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可以在启动部分编写异常处理代码，另外，我们也应该在关键的部分进行变量合法性检查，比如地图的初始化，应该检查输入参数是不是合法，这样可以避免程序在某个奇怪的地方出错。到这里我们已经完成了生命游戏的问题分析，模块儿和抽象设计以及异常处理的部分。</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51</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接下来，我们介绍如何通过代码静态检查来提高软件质量。</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52</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代码审查是指通过阅读代码来检查源代码和编程规范是否符合以及代码本身质量的一种活动，他被公认为是一个提高代码质量的有效手段，这种活动比较容易发现架构和持续相关的较难发现的一些问题，同时还可以帮助团队成员统一编程风格，提高编程技能等</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53</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代码审查主要是检查代码编写的规范性代码设计的合理性以及处理代码中的一些地雷区，也就是一些最常出错，但测试不容易发现的地方，这里我们给大家列出了一部分问题，在实际的开发中，需要大家根据项目的要求和实践经验进行进一步的归纳总结。编程规范是最基本的检查项目，主要是检查源代码是否符合具体编程语言的规范要求，另外还要检查设计抽象是否合理，是否考虑了未来扩展性的要求。关于性能方面，主要是检查代码实现中是否存在性能问题，比如说数据结构的选择线程和缓存的使用以及并发访问策略的，这里并不考虑架构和功能方面的性能问题。内存也是影响效率和可靠性的主要因素，重点是要检查内存的申请和释放是否正确，是否存在内存泄漏的问题</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54</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另外，还要检查程序处理逻辑是否正确，尤其是循环的结束条件以及循环处理是否存在影响性能的问题。线程处理是否存在安全和死锁的问题，数据库的处理是否正确，尤其是事务的完整性和隔离性方面的问题，还有通信的编程实现机制是否合理，在具体的编程语言中对象的创建和删除是否正确</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55</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异常处理也是一个重要的检查项目，主要是检查异常处理是否考虑了所有可能的错误，并且处理正确。方法或者函数的检查重点在于接口参数，变量初始化等。代码的安全主要是涉及参数合法性检查，信息加密和通信安全的问题，其他方面还有一些关于日志配置等方面的问题</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56</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在代码审查过程中，我们可以借助工具来自动的执行静态代码分析，以便快速定位代码中隐藏的错误和缺陷，减少人工检查上花费的时间，提高代码审查的效率，</a:t>
            </a:r>
            <a:r>
              <a:rPr lang="en-US" altLang="zh-CN" dirty="0" err="1"/>
              <a:t>pylint</a:t>
            </a:r>
            <a:r>
              <a:rPr lang="zh-CN" altLang="en-US" dirty="0"/>
              <a:t>是一个</a:t>
            </a:r>
            <a:r>
              <a:rPr lang="en-US" altLang="zh-CN" dirty="0"/>
              <a:t>python</a:t>
            </a:r>
            <a:r>
              <a:rPr lang="zh-CN" altLang="en-US" dirty="0"/>
              <a:t>代码的静态分析工具，下面我们简单介绍一下如何使用这个工具进行代码检查</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57</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pylint</a:t>
            </a:r>
            <a:r>
              <a:rPr lang="zh-CN" altLang="en-US" dirty="0"/>
              <a:t>的功能主要包括三个方面，一是对代码风格进行检查，主要是检查代码是否符合</a:t>
            </a:r>
            <a:r>
              <a:rPr lang="en-US" altLang="zh-CN" dirty="0"/>
              <a:t>pep8</a:t>
            </a:r>
            <a:r>
              <a:rPr lang="zh-CN" altLang="en-US" dirty="0"/>
              <a:t>规范。第二是检查代码中是否存在一些常见的错误，比如说是否所有变量在访问之前都已经定义等等。大家可以从下面的这个链接看到一个完整的检查列表。第三是检查代码中是否存在重复代码，以便为重构提供帮助。</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58</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pylint</a:t>
            </a:r>
            <a:r>
              <a:rPr lang="zh-CN" altLang="en-US" dirty="0"/>
              <a:t>的安装很简单，可以通过</a:t>
            </a:r>
            <a:r>
              <a:rPr lang="en-US" altLang="zh-CN" dirty="0"/>
              <a:t>python</a:t>
            </a:r>
            <a:r>
              <a:rPr lang="zh-CN" altLang="en-US" dirty="0"/>
              <a:t>的包管理工具</a:t>
            </a:r>
            <a:r>
              <a:rPr lang="en-US" altLang="zh-CN" dirty="0"/>
              <a:t>pip</a:t>
            </a:r>
            <a:r>
              <a:rPr lang="zh-CN" altLang="en-US" dirty="0"/>
              <a:t>进行安装，另外只要在命令行中输入</a:t>
            </a:r>
            <a:r>
              <a:rPr lang="en-US" altLang="zh-CN" dirty="0" err="1"/>
              <a:t>pylint</a:t>
            </a:r>
            <a:r>
              <a:rPr lang="en-US" altLang="zh-CN" dirty="0"/>
              <a:t> </a:t>
            </a:r>
            <a:r>
              <a:rPr lang="zh-CN" altLang="en-US" dirty="0"/>
              <a:t>，将要检查的模块，包或者文件的名称输入，就可以使用</a:t>
            </a:r>
            <a:r>
              <a:rPr lang="en-US" altLang="zh-CN" dirty="0" err="1"/>
              <a:t>pylint</a:t>
            </a:r>
            <a:r>
              <a:rPr lang="zh-CN" altLang="en-US" dirty="0"/>
              <a:t>进行检查。它常用的选项有以下几项，</a:t>
            </a:r>
            <a:r>
              <a:rPr lang="en-US" altLang="zh-CN" dirty="0" err="1"/>
              <a:t>rcfile</a:t>
            </a:r>
            <a:r>
              <a:rPr lang="zh-CN" altLang="en-US" dirty="0"/>
              <a:t>用来指定检查时所用的配置文件，默认是当前目录下的</a:t>
            </a:r>
            <a:r>
              <a:rPr lang="en-US" altLang="zh-CN" dirty="0" err="1"/>
              <a:t>pylint</a:t>
            </a:r>
            <a:r>
              <a:rPr lang="en-US" altLang="zh-CN" dirty="0"/>
              <a:t> </a:t>
            </a:r>
            <a:r>
              <a:rPr lang="en-US" altLang="zh-CN" dirty="0" err="1"/>
              <a:t>rc</a:t>
            </a:r>
            <a:r>
              <a:rPr lang="zh-CN" altLang="en-US" dirty="0"/>
              <a:t>文件。</a:t>
            </a:r>
            <a:r>
              <a:rPr lang="en-US" altLang="zh-CN" dirty="0"/>
              <a:t>ignore</a:t>
            </a:r>
            <a:r>
              <a:rPr lang="zh-CN" altLang="en-US" dirty="0"/>
              <a:t>用来指定不进行检查的文件列表，</a:t>
            </a:r>
            <a:r>
              <a:rPr lang="en-US" altLang="zh-CN" dirty="0"/>
              <a:t>disable</a:t>
            </a:r>
            <a:r>
              <a:rPr lang="zh-CN" altLang="en-US" dirty="0"/>
              <a:t>用来关闭某种类型的检查，</a:t>
            </a:r>
            <a:r>
              <a:rPr lang="en-US" altLang="zh-CN" dirty="0"/>
              <a:t>F</a:t>
            </a:r>
            <a:r>
              <a:rPr lang="zh-CN" altLang="en-US" dirty="0"/>
              <a:t>指定报告的类型，默认情况下是文本类型，我们可以通过</a:t>
            </a:r>
            <a:r>
              <a:rPr lang="en-US" altLang="zh-CN" dirty="0"/>
              <a:t>-f</a:t>
            </a:r>
            <a:r>
              <a:rPr lang="zh-CN" altLang="en-US" dirty="0"/>
              <a:t>来输出</a:t>
            </a:r>
            <a:r>
              <a:rPr lang="en-US" altLang="zh-CN" dirty="0"/>
              <a:t>HTML</a:t>
            </a:r>
            <a:r>
              <a:rPr lang="zh-CN" altLang="en-US" dirty="0"/>
              <a:t>格式的报告</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59</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还有一些其他命令，比如</a:t>
            </a:r>
            <a:r>
              <a:rPr lang="en-US" altLang="zh-CN" dirty="0"/>
              <a:t>help</a:t>
            </a:r>
            <a:r>
              <a:rPr lang="zh-CN" altLang="en-US" dirty="0"/>
              <a:t>参数适用于查看某种类型问题的帮助信息，这里给出的例子是一个查看关于无效命名的说明，</a:t>
            </a:r>
            <a:r>
              <a:rPr lang="en-US" altLang="zh-CN" dirty="0"/>
              <a:t>Generate</a:t>
            </a:r>
            <a:r>
              <a:rPr lang="zh-CN" altLang="en-US" dirty="0"/>
              <a:t>是根据当前配置生成配置文件，有关</a:t>
            </a:r>
            <a:r>
              <a:rPr lang="en-US" altLang="zh-CN" dirty="0" err="1"/>
              <a:t>pylint</a:t>
            </a:r>
            <a:r>
              <a:rPr lang="zh-CN" altLang="en-US" dirty="0"/>
              <a:t>的命令及其使用的详细说明，可以查阅官方文档。</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60</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下面，我们通过一个简单的例子来说明</a:t>
            </a:r>
            <a:r>
              <a:rPr lang="en-US" altLang="zh-CN" dirty="0" err="1"/>
              <a:t>pylint</a:t>
            </a:r>
            <a:r>
              <a:rPr lang="zh-CN" altLang="en-US" dirty="0"/>
              <a:t>的使用，这段程序的功能是密码的加密解密。我们在命令行中输入</a:t>
            </a:r>
            <a:r>
              <a:rPr lang="en-US" altLang="zh-CN" dirty="0" err="1"/>
              <a:t>pylint</a:t>
            </a:r>
            <a:r>
              <a:rPr lang="zh-CN" altLang="en-US" dirty="0"/>
              <a:t>命令，对这段程序进行静态分析</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61</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pylint</a:t>
            </a:r>
            <a:r>
              <a:rPr lang="zh-CN" altLang="en-US" dirty="0"/>
              <a:t>的输出结果分为两部分，一个是源代码的分析部分，另一个是一系列详细报告，下面我们先来看一下源代码分析部分。第一行是说没有找到配置文件，这里使用默认配置。下面是检查到的问题列表，他是按照错误类型，出现位置，说明信息这样的格式列出的。主要的错误类型包括约定，是指违反的编码标准，重构是写得很糟糕的代码，警告是某些</a:t>
            </a:r>
            <a:r>
              <a:rPr lang="en-US" altLang="zh-CN" dirty="0"/>
              <a:t>python</a:t>
            </a:r>
            <a:r>
              <a:rPr lang="zh-CN" altLang="en-US" dirty="0"/>
              <a:t>特定的问题，错误是指代码中可能有的错误。下面就是一系列的报告，第一行是总计分析了多少行语句，在这个例子中是</a:t>
            </a:r>
            <a:r>
              <a:rPr lang="en-US" altLang="zh-CN" dirty="0"/>
              <a:t>20</a:t>
            </a:r>
            <a:r>
              <a:rPr lang="zh-CN" altLang="en-US" dirty="0"/>
              <a:t>行。第一个表格，列出了所查文件的模块，类，方法和函数的数量</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62</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这个表列出了实际代码，文档字符串，注释，空行等分别有多少行以及所占的百分比。在这个例子中，代码是</a:t>
            </a:r>
            <a:r>
              <a:rPr lang="en-US" altLang="zh-CN" dirty="0"/>
              <a:t>22</a:t>
            </a:r>
            <a:r>
              <a:rPr lang="zh-CN" altLang="en-US" dirty="0"/>
              <a:t>行，占</a:t>
            </a:r>
            <a:r>
              <a:rPr lang="en-US" altLang="zh-CN" dirty="0"/>
              <a:t>95.65%</a:t>
            </a:r>
            <a:r>
              <a:rPr lang="zh-CN" altLang="en-US" dirty="0"/>
              <a:t>，没有</a:t>
            </a:r>
            <a:r>
              <a:rPr lang="en-US" altLang="zh-CN" dirty="0"/>
              <a:t>docstring</a:t>
            </a:r>
            <a:r>
              <a:rPr lang="zh-CN" altLang="en-US" dirty="0"/>
              <a:t>，一般的注释有一行，这个程序的注释比较少。这里，显示的是前一次的结果，可以用来做对比。这个表是显示是否有重复的代码行，那么这个程序是没有重复代码的。这个表是对前面的源代码分析信息进行汇总，分别按照不同的错误类型列出各是多少。这个表是根据问题的标识进行汇总。最后</a:t>
            </a:r>
            <a:r>
              <a:rPr lang="en-US" altLang="zh-CN" dirty="0" err="1"/>
              <a:t>pylint</a:t>
            </a:r>
            <a:r>
              <a:rPr lang="zh-CN" altLang="en-US" dirty="0"/>
              <a:t>会出一个评分，十分是满分，还会把这次的得分和前面的结果作比较，因为我们这里的程序是第一次运行，所以得分的变化是零</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63</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现在我们对之前介绍的生命游戏程序进行静态分析，下面看一下分析结果。</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64</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第一类问题就是行过长，</a:t>
            </a:r>
            <a:r>
              <a:rPr lang="en-US" altLang="zh-CN" dirty="0"/>
              <a:t>pep8</a:t>
            </a:r>
            <a:r>
              <a:rPr lang="zh-CN" altLang="en-US" dirty="0"/>
              <a:t>规定代码长度一般不超过</a:t>
            </a:r>
            <a:r>
              <a:rPr lang="en-US" altLang="zh-CN" dirty="0"/>
              <a:t>79</a:t>
            </a:r>
            <a:r>
              <a:rPr lang="zh-CN" altLang="en-US" dirty="0"/>
              <a:t>个字符，最长可以宽限到</a:t>
            </a:r>
            <a:r>
              <a:rPr lang="en-US" altLang="zh-CN" dirty="0"/>
              <a:t>100</a:t>
            </a:r>
            <a:r>
              <a:rPr lang="zh-CN" altLang="en-US" dirty="0"/>
              <a:t>，</a:t>
            </a:r>
            <a:r>
              <a:rPr lang="en-US" altLang="zh-CN" dirty="0" err="1"/>
              <a:t>pylint</a:t>
            </a:r>
            <a:r>
              <a:rPr lang="zh-CN" altLang="en-US" dirty="0"/>
              <a:t>会检查是否有代码行的宽度超过了</a:t>
            </a:r>
            <a:r>
              <a:rPr lang="en-US" altLang="zh-CN" dirty="0"/>
              <a:t>100</a:t>
            </a:r>
            <a:r>
              <a:rPr lang="zh-CN" altLang="en-US" dirty="0"/>
              <a:t>。我们可以看到，项目中有两行代码，超过了</a:t>
            </a:r>
            <a:r>
              <a:rPr lang="en-US" altLang="zh-CN" dirty="0"/>
              <a:t>100</a:t>
            </a:r>
            <a:r>
              <a:rPr lang="zh-CN" altLang="en-US" dirty="0"/>
              <a:t>多长的代码会造成阅读的困难，降低可读性。</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65</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第二类问题是缺少</a:t>
            </a:r>
            <a:r>
              <a:rPr lang="en-US" altLang="zh-CN" dirty="0"/>
              <a:t>docstring</a:t>
            </a:r>
            <a:r>
              <a:rPr lang="zh-CN" altLang="en-US" dirty="0"/>
              <a:t>，一般情况下，模块和公共方法，函数都要添加</a:t>
            </a:r>
            <a:r>
              <a:rPr lang="en-US" altLang="zh-CN" dirty="0"/>
              <a:t>docstring</a:t>
            </a:r>
            <a:r>
              <a:rPr lang="zh-CN" altLang="en-US" dirty="0"/>
              <a:t>。</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66</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第三类问题，是不合法的变量命名，默认的配置中，变量名至少需要三个字符，所以这里的</a:t>
            </a:r>
            <a:r>
              <a:rPr lang="en-US" altLang="zh-CN" dirty="0"/>
              <a:t>D</a:t>
            </a:r>
            <a:r>
              <a:rPr lang="zh-CN" altLang="en-US" dirty="0"/>
              <a:t>和</a:t>
            </a:r>
            <a:r>
              <a:rPr lang="en-US" altLang="zh-CN" dirty="0"/>
              <a:t>NC</a:t>
            </a:r>
            <a:r>
              <a:rPr lang="zh-CN" altLang="en-US" dirty="0"/>
              <a:t>都不符合规则。</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67</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bare except</a:t>
            </a:r>
            <a:r>
              <a:rPr lang="zh-CN" altLang="en-US" dirty="0"/>
              <a:t>是指在使用</a:t>
            </a:r>
            <a:r>
              <a:rPr lang="en-US" altLang="zh-CN" dirty="0"/>
              <a:t>try except</a:t>
            </a:r>
            <a:r>
              <a:rPr lang="zh-CN" altLang="en-US" dirty="0"/>
              <a:t>捕捉异常时，没有指定异常类型，通常我们都应该明确异常类型并进行处理</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68</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下面我们对代码检查的错误进行修改，行过长的问题可以通过换行来让行变短，例如这样的修改。</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69</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缺少</a:t>
            </a:r>
            <a:r>
              <a:rPr lang="en-US" altLang="zh-CN" dirty="0"/>
              <a:t>docstring</a:t>
            </a:r>
            <a:r>
              <a:rPr lang="zh-CN" altLang="en-US" dirty="0"/>
              <a:t>的问题应该是补充有意义的说明，这里暂时关闭这项检查，但是在实际开发中，不建议这样做。无效命名的问题要具体分析原因，我们这里是把命名规则进行重新设定。</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70</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关于</a:t>
            </a:r>
            <a:r>
              <a:rPr lang="en-US" altLang="zh-CN" dirty="0"/>
              <a:t>bare except</a:t>
            </a:r>
            <a:r>
              <a:rPr lang="zh-CN" altLang="en-US" dirty="0"/>
              <a:t>的问题，生命游戏这个程序没有必要在</a:t>
            </a:r>
            <a:r>
              <a:rPr lang="en-US" altLang="zh-CN" dirty="0"/>
              <a:t>except</a:t>
            </a:r>
            <a:r>
              <a:rPr lang="zh-CN" altLang="en-US" dirty="0"/>
              <a:t>中做异常处理，相应的处理已经在主函数中实现，所以，这里可以关闭这项检查，实际上，在某些情况下可能需要关闭某个文件中的某些警告信息，并在文件头加上注释</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71</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现在，生命游戏的评分达到了十分。</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72</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各种不同的编程语言都有自己的静态分析工具，这里列出的是</a:t>
            </a:r>
            <a:r>
              <a:rPr lang="en-US" altLang="zh-CN" dirty="0"/>
              <a:t>java</a:t>
            </a:r>
            <a:r>
              <a:rPr lang="zh-CN" altLang="en-US" dirty="0"/>
              <a:t>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73</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还有</a:t>
            </a:r>
            <a:r>
              <a:rPr lang="en-US" altLang="zh-CN" dirty="0"/>
              <a:t>C++</a:t>
            </a:r>
            <a:r>
              <a:rPr lang="zh-CN" altLang="en-US" dirty="0"/>
              <a:t>，</a:t>
            </a:r>
            <a:r>
              <a:rPr lang="en-US" altLang="zh-CN" dirty="0" err="1"/>
              <a:t>javascript</a:t>
            </a:r>
            <a:r>
              <a:rPr lang="en-US" altLang="zh-CN" dirty="0"/>
              <a:t> </a:t>
            </a:r>
            <a:r>
              <a:rPr lang="zh-CN" altLang="en-US" dirty="0"/>
              <a:t>。</a:t>
            </a:r>
            <a:r>
              <a:rPr lang="en-US" altLang="zh-CN" dirty="0"/>
              <a:t>html</a:t>
            </a:r>
            <a:r>
              <a:rPr lang="zh-CN" altLang="en-US" dirty="0"/>
              <a:t>的，建议大家结合具体的编程学习使用。代码审查已经被广泛的公认为是一种非常好的工程实践，在</a:t>
            </a:r>
            <a:r>
              <a:rPr lang="en-US" altLang="zh-CN" dirty="0"/>
              <a:t>Google</a:t>
            </a:r>
            <a:r>
              <a:rPr lang="zh-CN" altLang="en-US" dirty="0"/>
              <a:t>公司，任何产品，任何项目的程序代码都要在经过有效的代码审查之后才能提交到代码库中，也正是因为这种很彻底很普遍的应用，让</a:t>
            </a:r>
            <a:r>
              <a:rPr lang="en-US" altLang="zh-CN" dirty="0"/>
              <a:t>google</a:t>
            </a:r>
            <a:r>
              <a:rPr lang="zh-CN" altLang="en-US" dirty="0"/>
              <a:t>的程序变得非常优秀，如果你在编程的时候知道会有同事检查你的代码，那么你的编程态度就会完全不一样，你写出的代码将会更加的整洁，有更好的注释和更好的结构，希望同学们在编程实践中学会应用这种做法，不断地提升编写高质量代码的能力</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74</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在实际应用中，我们经常还需要对代码进行性能分析，改善软件性能。</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76</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效率是程序员之间永恒的话题，能够编写更快更好的代码是我们每一个程序员不懈的追求，但实际做起来效率优化并不是一件很容易的事儿，他往往涉及到多方面的因素。</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77</a:t>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代码优化能够让程序运行的更快，它是指在不改变程序运行结果的情况下，取得程序的运行效率更高。根据二八原则实现程序的重构优化扩展以及文档相关的事情通常需要消耗</a:t>
            </a:r>
            <a:r>
              <a:rPr lang="en-US" altLang="zh-CN" dirty="0"/>
              <a:t>80%</a:t>
            </a:r>
            <a:r>
              <a:rPr lang="zh-CN" altLang="en-US" dirty="0"/>
              <a:t>的工作量，程序的性能一般涉及到时间和空间两个方面，优化也就包括减少代码的体积和提高代码的运行效率，这两项内容</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78</a:t>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代码性能优化必须要在满足正确性可靠性健壮性可读性这些质量因素的前提下进行，在优化的时候要注意从程序的全局效率来考虑，不能单纯考虑局部，而且要先找出限制效率的瓶颈，然后再对症下药，由于数据结构和算法，对程序效率起到关键的作用，因此优化的首要点是数据结构和算法，其次才是执行代码。要说明的是，时间效率和空间效率往往是相互对立的，优化的时候应当分析哪一个因素更重要，然后再做出适当的折衷</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79</a:t>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代码性能应该在编程一开始就要考虑进去，不要期待通过事后的调整来进行提升，另外任何优化都不能破坏代码的正确性。一般来说，在马优化过程包括以下步骤，首先要证明代码的性能确实需要提升，然后要找出优化的关键部分，再通过测试找出影响代码性能的瓶颈所在，对代码进行优化，最后还要对优化后的代码再进行测试，以确定优化的效果。这里需要强调的是，测试数据的选择必须能够代表实际的使用情况，另外，永远不要在没有执行前后性能评估的情况下尝试对代码进行优化</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80</a:t>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现在我们通过一个程序事例来详细说明代码优化的步骤和方法，这个程序要求读入一个文本文件，统计在该文件中每个英文单词出现的频率，并输出频率最高的</a:t>
            </a:r>
            <a:r>
              <a:rPr lang="en-US" altLang="zh-CN" dirty="0"/>
              <a:t>100</a:t>
            </a:r>
            <a:r>
              <a:rPr lang="zh-CN" altLang="en-US" dirty="0"/>
              <a:t>个单词，其中单词指的是连续的若干的小写英文字母</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81</a:t>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在这里，我们给出了几个单词的例子，向最后这一行还是被逗号句号空格分割成了四个单词</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82</a:t>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这是用</a:t>
            </a:r>
            <a:r>
              <a:rPr lang="en-US" altLang="zh-CN" dirty="0"/>
              <a:t>python</a:t>
            </a:r>
            <a:r>
              <a:rPr lang="zh-CN" altLang="en-US" dirty="0"/>
              <a:t>实现的一个程序代码例子，我们先介绍一下他的基本结构。文件头部是关于这个程序文件的注释，包括代码格式作者信息的。最后两行是主程序的入口，相当于</a:t>
            </a:r>
            <a:r>
              <a:rPr lang="en-US" altLang="zh-CN" dirty="0"/>
              <a:t>C++</a:t>
            </a:r>
            <a:r>
              <a:rPr lang="zh-CN" altLang="en-US" dirty="0"/>
              <a:t>的主函数。文件头的下面是程序中，需要用的各种包，接下来是实现程序主要功能的分词函数</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83</a:t>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现在我们来分析一下分词函数中可能影响性能的部分。第一是文件读入部分，文件的</a:t>
            </a:r>
            <a:r>
              <a:rPr lang="en-US" altLang="zh-CN" dirty="0" err="1"/>
              <a:t>io</a:t>
            </a:r>
            <a:r>
              <a:rPr lang="zh-CN" altLang="en-US" dirty="0"/>
              <a:t>通常是速度比较慢的。第二是分割单词部分，这里使用了正则表达式来实现。第三是词频统计部分，我们用词典类型进行判重操作。最后是排序部分，这里使用的</a:t>
            </a:r>
            <a:r>
              <a:rPr lang="en-US" altLang="zh-CN" dirty="0"/>
              <a:t>python</a:t>
            </a:r>
            <a:r>
              <a:rPr lang="zh-CN" altLang="en-US" dirty="0"/>
              <a:t>内置的排序算法来实现，那么同学们认为影响整个程序性能的主要是哪一部分呢？</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84</a:t>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我们可以使用性能分析工具来获得实际的测试数据，再来确定真正的性能瓶颈。</a:t>
            </a:r>
            <a:r>
              <a:rPr lang="en-US" altLang="zh-CN" dirty="0"/>
              <a:t>profile</a:t>
            </a:r>
            <a:r>
              <a:rPr lang="zh-CN" altLang="en-US" dirty="0"/>
              <a:t>是</a:t>
            </a:r>
            <a:r>
              <a:rPr lang="en-US" altLang="zh-CN" dirty="0"/>
              <a:t>python</a:t>
            </a:r>
            <a:r>
              <a:rPr lang="zh-CN" altLang="en-US" dirty="0"/>
              <a:t>语言内置的性能分析工具，它能够有效地描述程序运行时的性能状况，提供各种统计数据，帮助程序员找出程序的性能瓶颈，</a:t>
            </a:r>
            <a:r>
              <a:rPr lang="en-US" altLang="zh-CN" dirty="0"/>
              <a:t>Profile</a:t>
            </a:r>
            <a:r>
              <a:rPr lang="zh-CN" altLang="en-US" dirty="0"/>
              <a:t>的使用非常简单，像图上给出的这个求阶乘函数的例子，先在文件中引入</a:t>
            </a:r>
            <a:r>
              <a:rPr lang="en-US" altLang="zh-CN" dirty="0"/>
              <a:t>profile</a:t>
            </a:r>
            <a:r>
              <a:rPr lang="zh-CN" altLang="en-US" dirty="0"/>
              <a:t>模块，再以程序的入口函数名为参数来调用</a:t>
            </a:r>
            <a:r>
              <a:rPr lang="en-US" altLang="zh-CN" dirty="0" err="1"/>
              <a:t>profile.run</a:t>
            </a:r>
            <a:r>
              <a:rPr lang="zh-CN" altLang="en-US" dirty="0"/>
              <a:t>这个函数，接下来就可以使用</a:t>
            </a:r>
            <a:r>
              <a:rPr lang="en-US" altLang="zh-CN" dirty="0"/>
              <a:t>profile</a:t>
            </a:r>
            <a:r>
              <a:rPr lang="zh-CN" altLang="en-US" dirty="0"/>
              <a:t>进行性能分析</a:t>
            </a:r>
          </a:p>
          <a:p>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85</a:t>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这里显示的是</a:t>
            </a:r>
            <a:r>
              <a:rPr lang="en-US" altLang="zh-CN" dirty="0"/>
              <a:t>profile</a:t>
            </a:r>
            <a:r>
              <a:rPr lang="zh-CN" altLang="en-US" dirty="0"/>
              <a:t>对刚才那个阶乘函数生成的测试结果，报告上面是程序的输出结果，中间是程序的执行时间。因为这个程序非常小，所以几乎没有什么耗时，下面是详细的函数性能数据报表，它包括了函数被调用的次数，总的运行时间，运行一次的平均时间以及函数所在的文件名行号和函数名，比如这里显示了</a:t>
            </a:r>
            <a:r>
              <a:rPr lang="en-US" altLang="zh-CN" dirty="0"/>
              <a:t>print</a:t>
            </a:r>
            <a:r>
              <a:rPr lang="zh-CN" altLang="en-US" dirty="0"/>
              <a:t>这个函数被调用了十次以及其他的一些运行时间等。需要说明的是</a:t>
            </a:r>
            <a:r>
              <a:rPr lang="en-US" altLang="zh-CN" dirty="0"/>
              <a:t>total time</a:t>
            </a:r>
            <a:r>
              <a:rPr lang="zh-CN" altLang="en-US" dirty="0"/>
              <a:t>是除去函数中调用其他函数的时间，</a:t>
            </a:r>
            <a:r>
              <a:rPr lang="en-US" altLang="zh-CN" dirty="0" err="1"/>
              <a:t>cumtime</a:t>
            </a:r>
            <a:r>
              <a:rPr lang="zh-CN" altLang="en-US" dirty="0"/>
              <a:t>是包括了调用其他函数的总运行时间，二者是有区别的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86</a:t>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现在我来看一下前面的词频统计程序的性能数据报表。程序的总耗时</a:t>
            </a:r>
            <a:r>
              <a:rPr lang="en-US" altLang="zh-CN" dirty="0"/>
              <a:t>14.562</a:t>
            </a:r>
            <a:r>
              <a:rPr lang="zh-CN" altLang="en-US" dirty="0"/>
              <a:t>秒。这种</a:t>
            </a:r>
            <a:r>
              <a:rPr lang="en-US" altLang="zh-CN" dirty="0"/>
              <a:t>keys</a:t>
            </a:r>
            <a:r>
              <a:rPr lang="zh-CN" altLang="en-US" dirty="0"/>
              <a:t>函数被执行了</a:t>
            </a:r>
            <a:r>
              <a:rPr lang="en-US" altLang="zh-CN" dirty="0"/>
              <a:t>50</a:t>
            </a:r>
            <a:r>
              <a:rPr lang="zh-CN" altLang="en-US" dirty="0"/>
              <a:t>万次，耗时</a:t>
            </a:r>
            <a:r>
              <a:rPr lang="en-US" altLang="zh-CN" dirty="0"/>
              <a:t>1.141</a:t>
            </a:r>
            <a:r>
              <a:rPr lang="zh-CN" altLang="en-US" dirty="0"/>
              <a:t>秒。输出几乎耗时，输入耗时</a:t>
            </a:r>
            <a:r>
              <a:rPr lang="en-US" altLang="zh-CN" dirty="0"/>
              <a:t>0.094</a:t>
            </a:r>
            <a:r>
              <a:rPr lang="zh-CN" altLang="en-US" dirty="0"/>
              <a:t>秒。排序函数的耗时是</a:t>
            </a:r>
            <a:r>
              <a:rPr lang="en-US" altLang="zh-CN" dirty="0"/>
              <a:t>1.203</a:t>
            </a:r>
            <a:r>
              <a:rPr lang="zh-CN" altLang="en-US" dirty="0"/>
              <a:t>秒。分词函数耗时</a:t>
            </a:r>
            <a:r>
              <a:rPr lang="en-US" altLang="zh-CN" dirty="0"/>
              <a:t>0.312</a:t>
            </a:r>
            <a:r>
              <a:rPr lang="zh-CN" altLang="en-US" dirty="0"/>
              <a:t>秒。这些测试数据告诉我们，</a:t>
            </a:r>
            <a:r>
              <a:rPr lang="en-US" altLang="zh-CN" dirty="0"/>
              <a:t>keys</a:t>
            </a:r>
            <a:r>
              <a:rPr lang="zh-CN" altLang="en-US" dirty="0"/>
              <a:t>函数和排序函数的耗时是比较多的，但是排序函数是</a:t>
            </a:r>
            <a:r>
              <a:rPr lang="en-US" altLang="zh-CN" dirty="0"/>
              <a:t>python</a:t>
            </a:r>
            <a:r>
              <a:rPr lang="zh-CN" altLang="en-US" dirty="0"/>
              <a:t>内置函数，不容易进行优化，因此，我们决定优化</a:t>
            </a:r>
            <a:r>
              <a:rPr lang="en-US" altLang="zh-CN" dirty="0"/>
              <a:t>keys</a:t>
            </a:r>
            <a:r>
              <a:rPr lang="zh-CN" altLang="en-US" dirty="0"/>
              <a:t>函数。这里我们要说明的是，虽然性能分析工具指明了程序各个部分的耗时，但并不意味着我们改进效率一定要优先改进耗时最多的部分，虽然改进耗时最多的部分往往效果是明显的，但有时候可能很难改进，在实际的项目中，我们需要在改进得到的效果和改进要投入的精力之间进行平衡，来优先完成有能力做，而且效果又比较明显的性能优化</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87</a:t>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那我们先分析一下为什么</a:t>
            </a:r>
            <a:r>
              <a:rPr lang="en-US" altLang="zh-CN" dirty="0"/>
              <a:t>keys</a:t>
            </a:r>
            <a:r>
              <a:rPr lang="zh-CN" altLang="en-US" dirty="0"/>
              <a:t>函数的调用复杂度这么高。我们发现</a:t>
            </a:r>
            <a:r>
              <a:rPr lang="en-US" altLang="zh-CN" dirty="0"/>
              <a:t>keys</a:t>
            </a:r>
            <a:r>
              <a:rPr lang="zh-CN" altLang="en-US" dirty="0"/>
              <a:t>函数每调用一次，系统就会生成一个新的词典迭代器，如果这个过程重复</a:t>
            </a:r>
            <a:r>
              <a:rPr lang="en-US" altLang="zh-CN" dirty="0"/>
              <a:t>10</a:t>
            </a:r>
            <a:r>
              <a:rPr lang="zh-CN" altLang="en-US" dirty="0"/>
              <a:t>万次，那么效率是不可以想象的，所以，我们提出了一种优化的方案，就是使用</a:t>
            </a:r>
            <a:r>
              <a:rPr lang="en-US" altLang="zh-CN" dirty="0"/>
              <a:t>in</a:t>
            </a:r>
            <a:r>
              <a:rPr lang="zh-CN" altLang="en-US" dirty="0"/>
              <a:t>操作符直接代替</a:t>
            </a:r>
            <a:r>
              <a:rPr lang="en-US" altLang="zh-CN" dirty="0"/>
              <a:t>keys</a:t>
            </a:r>
            <a:r>
              <a:rPr lang="zh-CN" altLang="en-US" dirty="0"/>
              <a:t>，然后这样呢，就可以避免每次生成新的迭代器</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88</a:t>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这是改进后的程序代码，这部分，就是修改的代码，我们可以修改后的代码在进行测试，那么测试结果发现程序的总的执行时间降低到了</a:t>
            </a:r>
            <a:r>
              <a:rPr lang="en-US" altLang="zh-CN" dirty="0"/>
              <a:t>2.25</a:t>
            </a:r>
            <a:r>
              <a:rPr lang="zh-CN" altLang="en-US" dirty="0"/>
              <a:t>秒</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89</a:t>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通过简单的优化，我们把程序的执行时间从之前的</a:t>
            </a:r>
            <a:r>
              <a:rPr lang="en-US" altLang="zh-CN" dirty="0"/>
              <a:t>4.562</a:t>
            </a:r>
            <a:r>
              <a:rPr lang="zh-CN" altLang="en-US" dirty="0"/>
              <a:t>秒降低到了</a:t>
            </a:r>
            <a:r>
              <a:rPr lang="en-US" altLang="zh-CN" dirty="0"/>
              <a:t>2.25</a:t>
            </a:r>
            <a:r>
              <a:rPr lang="zh-CN" altLang="en-US" dirty="0"/>
              <a:t>秒，差不多缩短了一半儿，这个效果还是比较明显的，这个例子告诉我们，性能优化的关键是如何发现问题和解决问题，在这个过程中，有效的测试是不可缺少的，我们通过测试找出真正的瓶颈，并且分析优化的结果，需要注意的是，一定要避免不必要的优化和不成熟的优化，因为不成熟的优化有可能引来错误</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90</a:t>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最后我们针对</a:t>
            </a:r>
            <a:r>
              <a:rPr lang="en-US" altLang="zh-CN" dirty="0"/>
              <a:t>python</a:t>
            </a:r>
            <a:r>
              <a:rPr lang="zh-CN" altLang="en-US" dirty="0"/>
              <a:t>代码的系统优化给出一些建议，仅供大家参考，首先是改进算法，并选择合适的数据结构。算法的好坏对程序的性能是非常关键的，因此首先要改进算法的效率。在这里我们列出了算法的时间复杂度的一个排序，想必大家在算法课程的学习中已经有了基本的了解。对于成员的查找，操作字典要比列表更快，因为</a:t>
            </a:r>
            <a:r>
              <a:rPr lang="en-US" altLang="zh-CN" dirty="0"/>
              <a:t>python</a:t>
            </a:r>
            <a:r>
              <a:rPr lang="zh-CN" altLang="en-US" dirty="0"/>
              <a:t>字典中使用了哈希表，它的查找复杂度是</a:t>
            </a:r>
            <a:r>
              <a:rPr lang="en-US" altLang="zh-CN" dirty="0"/>
              <a:t>o 1</a:t>
            </a:r>
            <a:r>
              <a:rPr lang="zh-CN" altLang="en-US" dirty="0"/>
              <a:t>，而列表，实际上就是一个数组，查找需要遍历整个列表复杂度是</a:t>
            </a:r>
            <a:r>
              <a:rPr lang="en-US" altLang="zh-CN" dirty="0"/>
              <a:t>O N</a:t>
            </a:r>
            <a:r>
              <a:rPr lang="zh-CN" altLang="en-US" dirty="0"/>
              <a:t>，所以，在需要多数据成员进行频繁的查找或访问的时候使用字典更好一些。集合的并，交差的操作比列表的迭代要快，因此涉及到求列表的并交叉问题可以转化为集合来操作</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91</a:t>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循环优化的基本原则是尽量减少循环中的计算量，有多重循环的时候，尽量将内层的计算提到上一层。对于字符串的优化，由于</a:t>
            </a:r>
            <a:r>
              <a:rPr lang="en-US" altLang="zh-CN" dirty="0"/>
              <a:t>python</a:t>
            </a:r>
            <a:r>
              <a:rPr lang="zh-CN" altLang="en-US" dirty="0"/>
              <a:t>的字符串对象是不可改变的，字符串的连接尽量使用</a:t>
            </a:r>
            <a:r>
              <a:rPr lang="en-US" altLang="zh-CN" dirty="0"/>
              <a:t>join</a:t>
            </a:r>
            <a:r>
              <a:rPr lang="zh-CN" altLang="en-US" dirty="0"/>
              <a:t>函数，当对字符串可以使用正则表达式或者内置函数处理时，选择内置函数来解析要比在循环中重新建一个新的列表，更为高效，因此可以利用这个特性来提高代码的运行效率。关于代码性能优化的内容就介绍到这里，同学们可以结合具体的实例，再进一步的理解和实践。</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92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a:xfrm>
            <a:off x="9677398" y="6538912"/>
            <a:ext cx="910773" cy="365125"/>
          </a:xfrm>
        </p:spPr>
        <p:txBody>
          <a:bodyPr/>
          <a:lstStyle>
            <a:lvl1pPr>
              <a:defRPr>
                <a:solidFill>
                  <a:schemeClr val="tx1"/>
                </a:solidFill>
              </a:defRPr>
            </a:lvl1pPr>
          </a:lstStyle>
          <a:p>
            <a:fld id="{DC9F9C97-31C9-49AA-9AF0-5E590D2B6B6D}" type="datetime1">
              <a:rPr lang="en-US" altLang="zh-CN" smtClean="0"/>
              <a:t>4/14/25</a:t>
            </a:fld>
            <a:endParaRPr lang="zh-CN" altLang="en-US"/>
          </a:p>
        </p:txBody>
      </p:sp>
      <p:sp>
        <p:nvSpPr>
          <p:cNvPr id="6" name="灯片编号占位符 5"/>
          <p:cNvSpPr>
            <a:spLocks noGrp="1"/>
          </p:cNvSpPr>
          <p:nvPr>
            <p:ph type="sldNum" sz="quarter" idx="12"/>
          </p:nvPr>
        </p:nvSpPr>
        <p:spPr>
          <a:xfrm>
            <a:off x="10588171" y="6538912"/>
            <a:ext cx="809172" cy="365125"/>
          </a:xfrm>
        </p:spPr>
        <p:txBody>
          <a:bodyPr/>
          <a:lstStyle>
            <a:lvl1pPr>
              <a:defRPr>
                <a:solidFill>
                  <a:schemeClr val="tx1"/>
                </a:solidFill>
              </a:defRPr>
            </a:lvl1pPr>
          </a:lstStyle>
          <a:p>
            <a:fld id="{74D2AB8B-5816-41F2-8B4B-CA5C3E4E6A65}" type="slidenum">
              <a:rPr lang="zh-CN" altLang="en-US" smtClean="0"/>
              <a:t>‹#›</a:t>
            </a:fld>
            <a:endParaRPr lang="zh-CN" altLang="en-US"/>
          </a:p>
        </p:txBody>
      </p:sp>
      <p:sp>
        <p:nvSpPr>
          <p:cNvPr id="5" name="页脚占位符 4"/>
          <p:cNvSpPr>
            <a:spLocks noGrp="1"/>
          </p:cNvSpPr>
          <p:nvPr>
            <p:ph type="ftr" sz="quarter" idx="11"/>
          </p:nvPr>
        </p:nvSpPr>
        <p:spPr>
          <a:xfrm>
            <a:off x="4038600" y="6538911"/>
            <a:ext cx="4114800" cy="365125"/>
          </a:xfrm>
        </p:spPr>
        <p:txBody>
          <a:bodyPr/>
          <a:lstStyle>
            <a:lvl1pPr>
              <a:defRPr>
                <a:solidFill>
                  <a:schemeClr val="tx1"/>
                </a:solidFill>
              </a:defRPr>
            </a:lvl1pPr>
          </a:lstStyle>
          <a:p>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9007F4C-FC43-4438-BE5D-4E29B21A2F53}" type="datetime1">
              <a:rPr lang="en-US" altLang="zh-CN" smtClean="0"/>
              <a:t>4/14/25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cxnSp>
        <p:nvCxnSpPr>
          <p:cNvPr id="13" name="直接连接符 12"/>
          <p:cNvCxnSpPr/>
          <p:nvPr userDrawn="1"/>
        </p:nvCxnSpPr>
        <p:spPr>
          <a:xfrm>
            <a:off x="0" y="1379220"/>
            <a:ext cx="7719060" cy="0"/>
          </a:xfrm>
          <a:prstGeom prst="line">
            <a:avLst/>
          </a:prstGeom>
          <a:ln w="38100">
            <a:solidFill>
              <a:srgbClr val="C00000"/>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F87A6CB9-F45B-45CE-B4E4-4D2629989F17}" type="datetime1">
              <a:rPr lang="en-US" altLang="zh-CN" smtClean="0"/>
              <a:t>4/14/25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0F9878CB-57E4-432A-9F4B-E6709D8289B1}" type="datetime1">
              <a:rPr lang="en-US" altLang="zh-CN" smtClean="0"/>
              <a:t>4/14/25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870B4A5-33AA-4D72-BC56-982AA5FA6442}" type="datetime1">
              <a:rPr lang="en-US" altLang="zh-CN" smtClean="0"/>
              <a:t>4/14/25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E65A99F-AEE8-464A-891E-75F1420B7ADF}" type="datetime1">
              <a:rPr lang="en-US" altLang="zh-CN" smtClean="0"/>
              <a:t>4/14/25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A87C50C-C1F9-4BCE-BAD3-00E0A83165F8}" type="datetime1">
              <a:rPr lang="en-US" altLang="zh-CN" smtClean="0"/>
              <a:t>4/14/25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DAE6DAE-BAC4-4482-B428-BC741ED0FD63}" type="datetime1">
              <a:rPr lang="en-US" altLang="zh-CN" smtClean="0"/>
              <a:t>4/14/25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6405D2D-94D7-482E-BD63-EB5FD7A97579}" type="datetime1">
              <a:rPr lang="en-US" altLang="zh-CN" smtClean="0"/>
              <a:t>4/14/25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3275203-42FF-461E-A1CB-B753F3D6EC79}" type="datetime1">
              <a:rPr lang="en-US" altLang="zh-CN" smtClean="0"/>
              <a:t>4/14/25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0761C43-696F-4D2C-BA6C-A6EF673C981A}" type="datetime1">
              <a:rPr lang="en-US" altLang="zh-CN" smtClean="0"/>
              <a:t>4/14/25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70E13C0-3D31-4FD9-822C-6197539F9F2C}" type="datetime1">
              <a:rPr lang="en-US" altLang="zh-CN" smtClean="0"/>
              <a:t>4/14/25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微软雅黑" panose="020B0503020204020204" pitchFamily="34" charset="-122"/>
                <a:cs typeface="微软雅黑" panose="020B0503020204020204" pitchFamily="34" charset="-122"/>
              </a:defRPr>
            </a:lvl1pPr>
          </a:lstStyle>
          <a:p>
            <a:endParaRPr/>
          </a:p>
        </p:txBody>
      </p:sp>
      <p:sp>
        <p:nvSpPr>
          <p:cNvPr id="3" name="Holder 3"/>
          <p:cNvSpPr>
            <a:spLocks noGrp="1"/>
          </p:cNvSpPr>
          <p:nvPr>
            <p:ph sz="half" idx="2"/>
          </p:nvPr>
        </p:nvSpPr>
        <p:spPr>
          <a:xfrm>
            <a:off x="1204800" y="1406095"/>
            <a:ext cx="3545204" cy="4414520"/>
          </a:xfrm>
          <a:prstGeom prst="rect">
            <a:avLst/>
          </a:prstGeom>
        </p:spPr>
        <p:txBody>
          <a:bodyPr wrap="square" lIns="0" tIns="0" rIns="0" bIns="0">
            <a:spAutoFit/>
          </a:bodyPr>
          <a:lstStyle>
            <a:lvl1pPr>
              <a:defRPr sz="1800" b="0" i="1">
                <a:solidFill>
                  <a:srgbClr val="408080"/>
                </a:solidFill>
                <a:latin typeface="Consolas" panose="020B0609020204030204"/>
                <a:cs typeface="Consolas" panose="020B0609020204030204"/>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A2EA8BF-8EAC-46A5-8BD5-FC8855549D89}" type="datetime1">
              <a:rPr lang="en-US" altLang="zh-CN" smtClean="0"/>
              <a:t>4/14/25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微软雅黑" panose="020B0503020204020204" pitchFamily="34" charset="-122"/>
                <a:cs typeface="微软雅黑" panose="020B0503020204020204" pitchFamily="34" charset="-122"/>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08326FA8-F050-4413-8224-A3A930F72C6E}" type="datetime1">
              <a:rPr lang="en-US" altLang="zh-CN" smtClean="0"/>
              <a:t>4/14/25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813676" y="6248725"/>
            <a:ext cx="1060619" cy="365125"/>
          </a:xfrm>
          <a:prstGeom prst="rect">
            <a:avLst/>
          </a:prstGeom>
        </p:spPr>
        <p:txBody>
          <a:bodyPr vert="horz" lIns="91440" tIns="45720" rIns="91440" bIns="45720" rtlCol="0" anchor="ctr"/>
          <a:lstStyle>
            <a:lvl1pPr algn="l">
              <a:defRPr sz="1200">
                <a:solidFill>
                  <a:schemeClr val="tx1"/>
                </a:solidFill>
              </a:defRPr>
            </a:lvl1pPr>
          </a:lstStyle>
          <a:p>
            <a:fld id="{CE46B76F-7710-45CE-9944-D4E5F0A2F1E1}" type="datetime1">
              <a:rPr lang="en-US" altLang="zh-CN" smtClean="0"/>
              <a:t>4/14/25</a:t>
            </a:fld>
            <a:endParaRPr lang="zh-CN" altLang="en-US"/>
          </a:p>
        </p:txBody>
      </p:sp>
      <p:sp>
        <p:nvSpPr>
          <p:cNvPr id="6" name="灯片编号占位符 5"/>
          <p:cNvSpPr>
            <a:spLocks noGrp="1"/>
          </p:cNvSpPr>
          <p:nvPr>
            <p:ph type="sldNum" sz="quarter" idx="4"/>
          </p:nvPr>
        </p:nvSpPr>
        <p:spPr>
          <a:xfrm>
            <a:off x="10406617" y="6382978"/>
            <a:ext cx="997857" cy="365125"/>
          </a:xfrm>
          <a:prstGeom prst="rect">
            <a:avLst/>
          </a:prstGeom>
        </p:spPr>
        <p:txBody>
          <a:bodyPr vert="horz" lIns="91440" tIns="45720" rIns="91440" bIns="45720" rtlCol="0" anchor="ctr"/>
          <a:lstStyle>
            <a:lvl1pPr algn="r">
              <a:defRPr sz="1200">
                <a:solidFill>
                  <a:schemeClr val="tx1"/>
                </a:solidFill>
              </a:defRPr>
            </a:lvl1pPr>
          </a:lstStyle>
          <a:p>
            <a:fld id="{74D2AB8B-5816-41F2-8B4B-CA5C3E4E6A65}" type="slidenum">
              <a:rPr lang="zh-CN" altLang="en-US" smtClean="0"/>
              <a:t>‹#›</a:t>
            </a:fld>
            <a:endParaRPr lang="zh-CN" altLang="en-US"/>
          </a:p>
        </p:txBody>
      </p:sp>
      <p:sp>
        <p:nvSpPr>
          <p:cNvPr id="5" name="页脚占位符 4"/>
          <p:cNvSpPr>
            <a:spLocks noGrp="1"/>
          </p:cNvSpPr>
          <p:nvPr>
            <p:ph type="ftr" sz="quarter" idx="3"/>
          </p:nvPr>
        </p:nvSpPr>
        <p:spPr>
          <a:xfrm>
            <a:off x="4038600" y="6248725"/>
            <a:ext cx="4114800" cy="365125"/>
          </a:xfrm>
          <a:prstGeom prst="rect">
            <a:avLst/>
          </a:prstGeom>
        </p:spPr>
        <p:txBody>
          <a:bodyPr vert="horz" lIns="91440" tIns="45720" rIns="91440" bIns="45720" rtlCol="0" anchor="ctr"/>
          <a:lstStyle>
            <a:lvl1pPr algn="ctr">
              <a:defRPr sz="1200">
                <a:solidFill>
                  <a:schemeClr val="tx1"/>
                </a:solidFill>
              </a:defRPr>
            </a:lvl1pPr>
          </a:lstStyle>
          <a:p>
            <a:endParaRPr lang="zh-CN" altLang="en-US" dirty="0"/>
          </a:p>
        </p:txBody>
      </p:sp>
      <p:cxnSp>
        <p:nvCxnSpPr>
          <p:cNvPr id="13" name="直接连接符 12"/>
          <p:cNvCxnSpPr/>
          <p:nvPr userDrawn="1"/>
        </p:nvCxnSpPr>
        <p:spPr>
          <a:xfrm>
            <a:off x="2" y="6649001"/>
            <a:ext cx="10925173" cy="0"/>
          </a:xfrm>
          <a:prstGeom prst="line">
            <a:avLst/>
          </a:prstGeom>
          <a:ln w="19050">
            <a:solidFill>
              <a:srgbClr val="7030A0"/>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4" name="矩形 13"/>
          <p:cNvSpPr/>
          <p:nvPr userDrawn="1"/>
        </p:nvSpPr>
        <p:spPr>
          <a:xfrm>
            <a:off x="1" y="6512379"/>
            <a:ext cx="10925174" cy="79698"/>
          </a:xfrm>
          <a:prstGeom prst="rect">
            <a:avLst/>
          </a:prstGeom>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968965" y="6321759"/>
            <a:ext cx="1600200" cy="48756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google.github.io/styleguide/pyguide.html"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image" Target="../media/image16.png"/><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tags" Target="../tags/tag21.xml"/><Relationship Id="rId13" Type="http://schemas.openxmlformats.org/officeDocument/2006/relationships/tags" Target="../tags/tag26.xml"/><Relationship Id="rId3" Type="http://schemas.openxmlformats.org/officeDocument/2006/relationships/tags" Target="../tags/tag16.xml"/><Relationship Id="rId7" Type="http://schemas.openxmlformats.org/officeDocument/2006/relationships/tags" Target="../tags/tag20.xml"/><Relationship Id="rId12" Type="http://schemas.openxmlformats.org/officeDocument/2006/relationships/tags" Target="../tags/tag25.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tags" Target="../tags/tag24.xml"/><Relationship Id="rId5" Type="http://schemas.openxmlformats.org/officeDocument/2006/relationships/tags" Target="../tags/tag18.xml"/><Relationship Id="rId15" Type="http://schemas.openxmlformats.org/officeDocument/2006/relationships/image" Target="../media/image16.png"/><Relationship Id="rId10" Type="http://schemas.openxmlformats.org/officeDocument/2006/relationships/tags" Target="../tags/tag23.xml"/><Relationship Id="rId4" Type="http://schemas.openxmlformats.org/officeDocument/2006/relationships/tags" Target="../tags/tag17.xml"/><Relationship Id="rId9" Type="http://schemas.openxmlformats.org/officeDocument/2006/relationships/tags" Target="../tags/tag22.xml"/><Relationship Id="rId14"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tags" Target="../tags/tag34.xml"/><Relationship Id="rId13" Type="http://schemas.openxmlformats.org/officeDocument/2006/relationships/tags" Target="../tags/tag39.xml"/><Relationship Id="rId3" Type="http://schemas.openxmlformats.org/officeDocument/2006/relationships/tags" Target="../tags/tag29.xml"/><Relationship Id="rId7" Type="http://schemas.openxmlformats.org/officeDocument/2006/relationships/tags" Target="../tags/tag33.xml"/><Relationship Id="rId12" Type="http://schemas.openxmlformats.org/officeDocument/2006/relationships/tags" Target="../tags/tag38.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tags" Target="../tags/tag32.xml"/><Relationship Id="rId11" Type="http://schemas.openxmlformats.org/officeDocument/2006/relationships/tags" Target="../tags/tag37.xml"/><Relationship Id="rId5" Type="http://schemas.openxmlformats.org/officeDocument/2006/relationships/tags" Target="../tags/tag31.xml"/><Relationship Id="rId15" Type="http://schemas.openxmlformats.org/officeDocument/2006/relationships/image" Target="../media/image16.png"/><Relationship Id="rId10" Type="http://schemas.openxmlformats.org/officeDocument/2006/relationships/tags" Target="../tags/tag36.xml"/><Relationship Id="rId4" Type="http://schemas.openxmlformats.org/officeDocument/2006/relationships/tags" Target="../tags/tag30.xml"/><Relationship Id="rId9" Type="http://schemas.openxmlformats.org/officeDocument/2006/relationships/tags" Target="../tags/tag35.xml"/><Relationship Id="rId14"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tags" Target="../tags/tag47.xml"/><Relationship Id="rId13" Type="http://schemas.openxmlformats.org/officeDocument/2006/relationships/tags" Target="../tags/tag52.xml"/><Relationship Id="rId3" Type="http://schemas.openxmlformats.org/officeDocument/2006/relationships/tags" Target="../tags/tag42.xml"/><Relationship Id="rId7" Type="http://schemas.openxmlformats.org/officeDocument/2006/relationships/tags" Target="../tags/tag46.xml"/><Relationship Id="rId12" Type="http://schemas.openxmlformats.org/officeDocument/2006/relationships/tags" Target="../tags/tag51.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tags" Target="../tags/tag45.xml"/><Relationship Id="rId11" Type="http://schemas.openxmlformats.org/officeDocument/2006/relationships/tags" Target="../tags/tag50.xml"/><Relationship Id="rId5" Type="http://schemas.openxmlformats.org/officeDocument/2006/relationships/tags" Target="../tags/tag44.xml"/><Relationship Id="rId15" Type="http://schemas.openxmlformats.org/officeDocument/2006/relationships/image" Target="../media/image16.png"/><Relationship Id="rId10" Type="http://schemas.openxmlformats.org/officeDocument/2006/relationships/tags" Target="../tags/tag49.xml"/><Relationship Id="rId4" Type="http://schemas.openxmlformats.org/officeDocument/2006/relationships/tags" Target="../tags/tag43.xml"/><Relationship Id="rId9" Type="http://schemas.openxmlformats.org/officeDocument/2006/relationships/tags" Target="../tags/tag48.xml"/><Relationship Id="rId14"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3" Type="http://schemas.openxmlformats.org/officeDocument/2006/relationships/image" Target="../media/image30.png"/><Relationship Id="rId7" Type="http://schemas.openxmlformats.org/officeDocument/2006/relationships/image" Target="../media/image34.png"/><Relationship Id="rId12" Type="http://schemas.openxmlformats.org/officeDocument/2006/relationships/image" Target="../media/image39.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5" Type="http://schemas.openxmlformats.org/officeDocument/2006/relationships/image" Target="../media/image4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3.GIF"/><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44.GI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48.jpeg"/><Relationship Id="rId5" Type="http://schemas.openxmlformats.org/officeDocument/2006/relationships/image" Target="../media/image47.png"/><Relationship Id="rId4" Type="http://schemas.openxmlformats.org/officeDocument/2006/relationships/image" Target="../media/image46.png"/></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48.jpeg"/><Relationship Id="rId4" Type="http://schemas.openxmlformats.org/officeDocument/2006/relationships/image" Target="../media/image49.png"/></Relationships>
</file>

<file path=ppt/slides/_rels/slide41.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48.jpeg"/><Relationship Id="rId5" Type="http://schemas.openxmlformats.org/officeDocument/2006/relationships/image" Target="../media/image51.png"/><Relationship Id="rId4" Type="http://schemas.openxmlformats.org/officeDocument/2006/relationships/image" Target="../media/image46.png"/></Relationships>
</file>

<file path=ppt/slides/_rels/slide42.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55.jpe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hyperlink" Target="http://www.pylint.org/" TargetMode="External"/><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59.jpe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2.xml"/><Relationship Id="rId1" Type="http://schemas.openxmlformats.org/officeDocument/2006/relationships/tags" Target="../tags/tag53.xml"/><Relationship Id="rId4" Type="http://schemas.openxmlformats.org/officeDocument/2006/relationships/image" Target="../media/image62.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2.xml"/><Relationship Id="rId1" Type="http://schemas.openxmlformats.org/officeDocument/2006/relationships/tags" Target="../tags/tag54.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6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8.xml"/><Relationship Id="rId1" Type="http://schemas.openxmlformats.org/officeDocument/2006/relationships/slideLayout" Target="../slideLayouts/slideLayout14.xml"/><Relationship Id="rId4" Type="http://schemas.openxmlformats.org/officeDocument/2006/relationships/image" Target="../media/image66.jpeg"/></Relationships>
</file>

<file path=ppt/slides/_rels/slide6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0.xml"/><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63.xml"/><Relationship Id="rId1" Type="http://schemas.openxmlformats.org/officeDocument/2006/relationships/slideLayout" Target="../slideLayouts/slideLayout6.xml"/><Relationship Id="rId4" Type="http://schemas.openxmlformats.org/officeDocument/2006/relationships/image" Target="../media/image72.jpeg"/></Relationships>
</file>

<file path=ppt/slides/_rels/slide7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75.jpeg"/></Relationships>
</file>

<file path=ppt/slides/_rels/slide72.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66.xml"/><Relationship Id="rId1" Type="http://schemas.openxmlformats.org/officeDocument/2006/relationships/slideLayout" Target="../slideLayouts/slideLayout14.xml"/><Relationship Id="rId5" Type="http://schemas.openxmlformats.org/officeDocument/2006/relationships/image" Target="../media/image77.png"/><Relationship Id="rId4" Type="http://schemas.openxmlformats.org/officeDocument/2006/relationships/image" Target="../media/image76.jpeg"/></Relationships>
</file>

<file path=ppt/slides/_rels/slide73.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68.xml"/><Relationship Id="rId1" Type="http://schemas.openxmlformats.org/officeDocument/2006/relationships/slideLayout" Target="../slideLayouts/slideLayout2.xml"/><Relationship Id="rId5" Type="http://schemas.openxmlformats.org/officeDocument/2006/relationships/image" Target="../media/image80.jpeg"/><Relationship Id="rId4" Type="http://schemas.openxmlformats.org/officeDocument/2006/relationships/hyperlink" Target="http://www.jshint.com/" TargetMode="External"/></Relationships>
</file>

<file path=ppt/slides/_rels/slide75.xml.rels><?xml version="1.0" encoding="UTF-8" standalone="yes"?>
<Relationships xmlns="http://schemas.openxmlformats.org/package/2006/relationships"><Relationship Id="rId8" Type="http://schemas.openxmlformats.org/officeDocument/2006/relationships/tags" Target="../tags/tag62.xml"/><Relationship Id="rId13" Type="http://schemas.openxmlformats.org/officeDocument/2006/relationships/tags" Target="../tags/tag67.xml"/><Relationship Id="rId3" Type="http://schemas.openxmlformats.org/officeDocument/2006/relationships/tags" Target="../tags/tag57.xml"/><Relationship Id="rId7" Type="http://schemas.openxmlformats.org/officeDocument/2006/relationships/tags" Target="../tags/tag61.xml"/><Relationship Id="rId12" Type="http://schemas.openxmlformats.org/officeDocument/2006/relationships/tags" Target="../tags/tag66.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11" Type="http://schemas.openxmlformats.org/officeDocument/2006/relationships/tags" Target="../tags/tag65.xml"/><Relationship Id="rId5" Type="http://schemas.openxmlformats.org/officeDocument/2006/relationships/tags" Target="../tags/tag59.xml"/><Relationship Id="rId15" Type="http://schemas.openxmlformats.org/officeDocument/2006/relationships/image" Target="../media/image16.png"/><Relationship Id="rId10" Type="http://schemas.openxmlformats.org/officeDocument/2006/relationships/tags" Target="../tags/tag64.xml"/><Relationship Id="rId4" Type="http://schemas.openxmlformats.org/officeDocument/2006/relationships/tags" Target="../tags/tag58.xml"/><Relationship Id="rId9" Type="http://schemas.openxmlformats.org/officeDocument/2006/relationships/tags" Target="../tags/tag63.xml"/><Relationship Id="rId14"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70.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73.xml"/><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81.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76.xml"/><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77.xml"/><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80.xml"/><Relationship Id="rId1" Type="http://schemas.openxmlformats.org/officeDocument/2006/relationships/slideLayout" Target="../slideLayouts/slideLayout2.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82.xml"/><Relationship Id="rId1" Type="http://schemas.openxmlformats.org/officeDocument/2006/relationships/slideLayout" Target="../slideLayouts/slideLayout12.xml"/><Relationship Id="rId4" Type="http://schemas.openxmlformats.org/officeDocument/2006/relationships/image" Target="../media/image98.png"/></Relationships>
</file>

<file path=ppt/slides/_rels/slide90.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3" Type="http://schemas.openxmlformats.org/officeDocument/2006/relationships/tags" Target="../tags/tag80.xml"/><Relationship Id="rId18" Type="http://schemas.openxmlformats.org/officeDocument/2006/relationships/tags" Target="../tags/tag85.xml"/><Relationship Id="rId26" Type="http://schemas.openxmlformats.org/officeDocument/2006/relationships/tags" Target="../tags/tag93.xml"/><Relationship Id="rId3" Type="http://schemas.openxmlformats.org/officeDocument/2006/relationships/tags" Target="../tags/tag70.xml"/><Relationship Id="rId21" Type="http://schemas.openxmlformats.org/officeDocument/2006/relationships/tags" Target="../tags/tag88.xml"/><Relationship Id="rId7" Type="http://schemas.openxmlformats.org/officeDocument/2006/relationships/tags" Target="../tags/tag74.xml"/><Relationship Id="rId12" Type="http://schemas.openxmlformats.org/officeDocument/2006/relationships/tags" Target="../tags/tag79.xml"/><Relationship Id="rId17" Type="http://schemas.openxmlformats.org/officeDocument/2006/relationships/tags" Target="../tags/tag84.xml"/><Relationship Id="rId25" Type="http://schemas.openxmlformats.org/officeDocument/2006/relationships/tags" Target="../tags/tag92.xml"/><Relationship Id="rId33" Type="http://schemas.openxmlformats.org/officeDocument/2006/relationships/image" Target="../media/image16.png"/><Relationship Id="rId2" Type="http://schemas.openxmlformats.org/officeDocument/2006/relationships/tags" Target="../tags/tag69.xml"/><Relationship Id="rId16" Type="http://schemas.openxmlformats.org/officeDocument/2006/relationships/tags" Target="../tags/tag83.xml"/><Relationship Id="rId20" Type="http://schemas.openxmlformats.org/officeDocument/2006/relationships/tags" Target="../tags/tag87.xml"/><Relationship Id="rId29" Type="http://schemas.openxmlformats.org/officeDocument/2006/relationships/tags" Target="../tags/tag96.xml"/><Relationship Id="rId1" Type="http://schemas.openxmlformats.org/officeDocument/2006/relationships/tags" Target="../tags/tag68.xml"/><Relationship Id="rId6" Type="http://schemas.openxmlformats.org/officeDocument/2006/relationships/tags" Target="../tags/tag73.xml"/><Relationship Id="rId11" Type="http://schemas.openxmlformats.org/officeDocument/2006/relationships/tags" Target="../tags/tag78.xml"/><Relationship Id="rId24" Type="http://schemas.openxmlformats.org/officeDocument/2006/relationships/tags" Target="../tags/tag91.xml"/><Relationship Id="rId32" Type="http://schemas.openxmlformats.org/officeDocument/2006/relationships/slideLayout" Target="../slideLayouts/slideLayout7.xml"/><Relationship Id="rId5" Type="http://schemas.openxmlformats.org/officeDocument/2006/relationships/tags" Target="../tags/tag72.xml"/><Relationship Id="rId15" Type="http://schemas.openxmlformats.org/officeDocument/2006/relationships/tags" Target="../tags/tag82.xml"/><Relationship Id="rId23" Type="http://schemas.openxmlformats.org/officeDocument/2006/relationships/tags" Target="../tags/tag90.xml"/><Relationship Id="rId28" Type="http://schemas.openxmlformats.org/officeDocument/2006/relationships/tags" Target="../tags/tag95.xml"/><Relationship Id="rId10" Type="http://schemas.openxmlformats.org/officeDocument/2006/relationships/tags" Target="../tags/tag77.xml"/><Relationship Id="rId19" Type="http://schemas.openxmlformats.org/officeDocument/2006/relationships/tags" Target="../tags/tag86.xml"/><Relationship Id="rId31" Type="http://schemas.openxmlformats.org/officeDocument/2006/relationships/tags" Target="../tags/tag98.xml"/><Relationship Id="rId4" Type="http://schemas.openxmlformats.org/officeDocument/2006/relationships/tags" Target="../tags/tag71.xml"/><Relationship Id="rId9" Type="http://schemas.openxmlformats.org/officeDocument/2006/relationships/tags" Target="../tags/tag76.xml"/><Relationship Id="rId14" Type="http://schemas.openxmlformats.org/officeDocument/2006/relationships/tags" Target="../tags/tag81.xml"/><Relationship Id="rId22" Type="http://schemas.openxmlformats.org/officeDocument/2006/relationships/tags" Target="../tags/tag89.xml"/><Relationship Id="rId27" Type="http://schemas.openxmlformats.org/officeDocument/2006/relationships/tags" Target="../tags/tag94.xml"/><Relationship Id="rId30" Type="http://schemas.openxmlformats.org/officeDocument/2006/relationships/tags" Target="../tags/tag97.xml"/><Relationship Id="rId8" Type="http://schemas.openxmlformats.org/officeDocument/2006/relationships/tags" Target="../tags/tag7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824037"/>
            <a:ext cx="9144000" cy="2387600"/>
          </a:xfrm>
        </p:spPr>
        <p:txBody>
          <a:bodyPr anchor="ctr">
            <a:normAutofit/>
          </a:bodyPr>
          <a:lstStyle/>
          <a:p>
            <a:r>
              <a:rPr lang="zh-CN" altLang="en-US" sz="4800" dirty="0"/>
              <a:t>软件开发</a:t>
            </a:r>
            <a:br>
              <a:rPr lang="en-US" altLang="zh-CN" sz="4800" dirty="0"/>
            </a:br>
            <a:r>
              <a:rPr lang="en-US" altLang="zh-CN" sz="4800" dirty="0"/>
              <a:t>Software Development</a:t>
            </a:r>
            <a:endParaRPr lang="zh-CN" altLang="en-US" sz="4800" dirty="0"/>
          </a:p>
        </p:txBody>
      </p:sp>
      <p:sp>
        <p:nvSpPr>
          <p:cNvPr id="4" name="副标题 2"/>
          <p:cNvSpPr>
            <a:spLocks noGrp="1"/>
          </p:cNvSpPr>
          <p:nvPr>
            <p:ph type="subTitle" idx="1"/>
          </p:nvPr>
        </p:nvSpPr>
        <p:spPr>
          <a:xfrm>
            <a:off x="1524000" y="4211637"/>
            <a:ext cx="9144000" cy="2130577"/>
          </a:xfrm>
        </p:spPr>
        <p:txBody>
          <a:bodyPr anchor="ctr">
            <a:normAutofit fontScale="92500" lnSpcReduction="20000"/>
          </a:bodyPr>
          <a:lstStyle/>
          <a:p>
            <a:r>
              <a:rPr lang="zh-CN" altLang="en-US"/>
              <a:t>李起成</a:t>
            </a:r>
            <a:endParaRPr lang="en-US" altLang="zh-CN" dirty="0"/>
          </a:p>
          <a:p>
            <a:r>
              <a:rPr lang="en-US" altLang="zh-CN" dirty="0"/>
              <a:t>College of</a:t>
            </a:r>
            <a:r>
              <a:rPr lang="zh-CN" altLang="en-US" dirty="0"/>
              <a:t> </a:t>
            </a:r>
            <a:r>
              <a:rPr lang="en-US" altLang="zh-CN" dirty="0"/>
              <a:t>Computer</a:t>
            </a:r>
            <a:r>
              <a:rPr lang="zh-CN" altLang="en-US" dirty="0"/>
              <a:t> </a:t>
            </a:r>
            <a:r>
              <a:rPr lang="en-US" altLang="zh-CN" dirty="0"/>
              <a:t>Science</a:t>
            </a:r>
          </a:p>
          <a:p>
            <a:r>
              <a:rPr lang="en-US" altLang="zh-CN" dirty="0"/>
              <a:t>Nankai</a:t>
            </a:r>
            <a:r>
              <a:rPr lang="zh-CN" altLang="en-US" dirty="0"/>
              <a:t> </a:t>
            </a:r>
            <a:r>
              <a:rPr lang="en-US" altLang="zh-CN" dirty="0"/>
              <a:t>University</a:t>
            </a:r>
          </a:p>
          <a:p>
            <a:endParaRPr lang="en-US" altLang="zh-CN" dirty="0"/>
          </a:p>
          <a:p>
            <a:r>
              <a:rPr lang="en-US" altLang="zh-CN" i="1" dirty="0"/>
              <a:t>Slides adapted from materials by Prof. </a:t>
            </a:r>
            <a:r>
              <a:rPr lang="en-US" altLang="zh-CN" i="1" dirty="0" err="1"/>
              <a:t>Qiang</a:t>
            </a:r>
            <a:r>
              <a:rPr lang="en-US" altLang="zh-CN" i="1" dirty="0"/>
              <a:t> Liu (Tsing Hua University), Zou Xin (Beihang University), and </a:t>
            </a:r>
            <a:r>
              <a:rPr lang="en-US" altLang="en-US" i="1" dirty="0"/>
              <a:t>Ivan </a:t>
            </a:r>
            <a:r>
              <a:rPr lang="en-US" altLang="en-US" i="1" dirty="0" err="1"/>
              <a:t>Marsic</a:t>
            </a:r>
            <a:r>
              <a:rPr lang="en-US" altLang="en-US" i="1" dirty="0"/>
              <a:t> (</a:t>
            </a:r>
            <a:r>
              <a:rPr lang="en-US" altLang="en-US" i="1" dirty="0" err="1"/>
              <a:t>Rugers</a:t>
            </a:r>
            <a:r>
              <a:rPr lang="en-US" altLang="en-US" i="1" dirty="0"/>
              <a:t> University)</a:t>
            </a:r>
            <a:endParaRPr lang="zh-CN" altLang="en-US" i="1" dirty="0"/>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72729" y="131261"/>
            <a:ext cx="1846542" cy="18003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advTm="13753"/>
    </mc:Choice>
    <mc:Fallback xmlns="">
      <p:transition spd="slow" advTm="1375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04020" y="1871573"/>
            <a:ext cx="10111105" cy="1160318"/>
          </a:xfrm>
          <a:prstGeom prst="rect">
            <a:avLst/>
          </a:prstGeom>
          <a:solidFill>
            <a:srgbClr val="ECEBEB"/>
          </a:solidFill>
        </p:spPr>
        <p:txBody>
          <a:bodyPr vert="horz" wrap="square" lIns="0" tIns="107950" rIns="0" bIns="0" rtlCol="0">
            <a:spAutoFit/>
          </a:bodyPr>
          <a:lstStyle/>
          <a:p>
            <a:pPr marL="215900" marR="201930">
              <a:lnSpc>
                <a:spcPct val="117000"/>
              </a:lnSpc>
              <a:spcBef>
                <a:spcPts val="850"/>
              </a:spcBef>
            </a:pPr>
            <a:r>
              <a:rPr lang="zh-CN" altLang="en-US" sz="2000" spc="5" dirty="0">
                <a:latin typeface="微软雅黑" panose="020B0503020204020204" pitchFamily="34" charset="-122"/>
                <a:ea typeface="微软雅黑" panose="020B0503020204020204" pitchFamily="34" charset="-122"/>
              </a:rPr>
              <a:t>高质量的代码不能只是运行正确的，还要求做到</a:t>
            </a:r>
            <a:r>
              <a:rPr lang="zh-CN" altLang="en-US" sz="2000" b="1" spc="5" dirty="0">
                <a:latin typeface="微软雅黑" panose="020B0503020204020204" pitchFamily="34" charset="-122"/>
                <a:ea typeface="微软雅黑" panose="020B0503020204020204" pitchFamily="34" charset="-122"/>
              </a:rPr>
              <a:t>可读性强</a:t>
            </a:r>
            <a:r>
              <a:rPr lang="zh-CN" altLang="en-US" sz="2000" spc="5" dirty="0">
                <a:latin typeface="微软雅黑" panose="020B0503020204020204" pitchFamily="34" charset="-122"/>
                <a:ea typeface="微软雅黑" panose="020B0503020204020204" pitchFamily="34" charset="-122"/>
              </a:rPr>
              <a:t>，</a:t>
            </a:r>
            <a:r>
              <a:rPr lang="zh-CN" altLang="en-US" sz="2000" b="1" spc="5" dirty="0">
                <a:latin typeface="微软雅黑" panose="020B0503020204020204" pitchFamily="34" charset="-122"/>
                <a:ea typeface="微软雅黑" panose="020B0503020204020204" pitchFamily="34" charset="-122"/>
              </a:rPr>
              <a:t>易于维护</a:t>
            </a:r>
            <a:r>
              <a:rPr lang="zh-CN" altLang="en-US" sz="2000" spc="5" dirty="0">
                <a:latin typeface="微软雅黑" panose="020B0503020204020204" pitchFamily="34" charset="-122"/>
                <a:ea typeface="微软雅黑" panose="020B0503020204020204" pitchFamily="34" charset="-122"/>
              </a:rPr>
              <a:t>和</a:t>
            </a:r>
            <a:r>
              <a:rPr lang="zh-CN" altLang="en-US" sz="2000" b="1" spc="5" dirty="0">
                <a:latin typeface="微软雅黑" panose="020B0503020204020204" pitchFamily="34" charset="-122"/>
                <a:ea typeface="微软雅黑" panose="020B0503020204020204" pitchFamily="34" charset="-122"/>
              </a:rPr>
              <a:t>简洁高效</a:t>
            </a:r>
            <a:r>
              <a:rPr lang="zh-CN" altLang="en-US" sz="2000" spc="5" dirty="0">
                <a:latin typeface="微软雅黑" panose="020B0503020204020204" pitchFamily="34" charset="-122"/>
                <a:ea typeface="微软雅黑" panose="020B0503020204020204" pitchFamily="34" charset="-122"/>
              </a:rPr>
              <a:t>。</a:t>
            </a:r>
            <a:r>
              <a:rPr sz="2000" spc="5" dirty="0" err="1">
                <a:latin typeface="微软雅黑" panose="020B0503020204020204" pitchFamily="34" charset="-122"/>
                <a:ea typeface="微软雅黑" panose="020B0503020204020204" pitchFamily="34" charset="-122"/>
                <a:cs typeface="微软雅黑" panose="020B0503020204020204" pitchFamily="34" charset="-122"/>
              </a:rPr>
              <a:t>软件编程是一个复杂而迭代的过程</a:t>
            </a:r>
            <a:r>
              <a:rPr lang="zh-CN" altLang="en-US" sz="2000" spc="5" dirty="0">
                <a:latin typeface="微软雅黑" panose="020B0503020204020204" pitchFamily="34" charset="-122"/>
                <a:ea typeface="微软雅黑" panose="020B0503020204020204" pitchFamily="34" charset="-122"/>
                <a:cs typeface="微软雅黑" panose="020B0503020204020204" pitchFamily="34" charset="-122"/>
              </a:rPr>
              <a:t>，</a:t>
            </a:r>
            <a:r>
              <a:rPr sz="2000" spc="5" dirty="0" err="1">
                <a:latin typeface="微软雅黑" panose="020B0503020204020204" pitchFamily="34" charset="-122"/>
                <a:ea typeface="微软雅黑" panose="020B0503020204020204" pitchFamily="34" charset="-122"/>
                <a:cs typeface="微软雅黑" panose="020B0503020204020204" pitchFamily="34" charset="-122"/>
              </a:rPr>
              <a:t>它不仅仅是编写代码</a:t>
            </a:r>
            <a:r>
              <a:rPr lang="zh-CN" altLang="en-US" sz="2000" spc="5" dirty="0">
                <a:latin typeface="微软雅黑" panose="020B0503020204020204" pitchFamily="34" charset="-122"/>
                <a:ea typeface="微软雅黑" panose="020B0503020204020204" pitchFamily="34" charset="-122"/>
                <a:cs typeface="微软雅黑" panose="020B0503020204020204" pitchFamily="34" charset="-122"/>
              </a:rPr>
              <a:t>，</a:t>
            </a:r>
            <a:r>
              <a:rPr sz="2000" spc="5" dirty="0" err="1">
                <a:latin typeface="微软雅黑" panose="020B0503020204020204" pitchFamily="34" charset="-122"/>
                <a:ea typeface="微软雅黑" panose="020B0503020204020204" pitchFamily="34" charset="-122"/>
                <a:cs typeface="微软雅黑" panose="020B0503020204020204" pitchFamily="34" charset="-122"/>
              </a:rPr>
              <a:t>还应该包括代码审查</a:t>
            </a:r>
            <a:r>
              <a:rPr lang="zh-CN" altLang="en-US" sz="2000" spc="5" dirty="0">
                <a:latin typeface="微软雅黑" panose="020B0503020204020204" pitchFamily="34" charset="-122"/>
                <a:ea typeface="微软雅黑" panose="020B0503020204020204" pitchFamily="34" charset="-122"/>
                <a:cs typeface="微软雅黑" panose="020B0503020204020204" pitchFamily="34" charset="-122"/>
              </a:rPr>
              <a:t>、</a:t>
            </a:r>
            <a:r>
              <a:rPr sz="2000" spc="5" dirty="0" err="1">
                <a:latin typeface="微软雅黑" panose="020B0503020204020204" pitchFamily="34" charset="-122"/>
                <a:ea typeface="微软雅黑" panose="020B0503020204020204" pitchFamily="34" charset="-122"/>
                <a:cs typeface="微软雅黑" panose="020B0503020204020204" pitchFamily="34" charset="-122"/>
              </a:rPr>
              <a:t>单元</a:t>
            </a:r>
            <a:r>
              <a:rPr sz="2000" dirty="0" err="1">
                <a:latin typeface="微软雅黑" panose="020B0503020204020204" pitchFamily="34" charset="-122"/>
                <a:ea typeface="微软雅黑" panose="020B0503020204020204" pitchFamily="34" charset="-122"/>
                <a:cs typeface="微软雅黑" panose="020B0503020204020204" pitchFamily="34" charset="-122"/>
              </a:rPr>
              <a:t>测试、代码优化、集成调试等一系列工作</a:t>
            </a:r>
            <a:r>
              <a:rPr sz="2000" dirty="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4" name="object 4"/>
          <p:cNvSpPr txBox="1"/>
          <p:nvPr/>
        </p:nvSpPr>
        <p:spPr>
          <a:xfrm>
            <a:off x="3163576" y="4246565"/>
            <a:ext cx="1720214" cy="720090"/>
          </a:xfrm>
          <a:prstGeom prst="rect">
            <a:avLst/>
          </a:prstGeom>
          <a:solidFill>
            <a:srgbClr val="E4EFF9"/>
          </a:solidFill>
          <a:ln w="9524">
            <a:solidFill>
              <a:srgbClr val="000000"/>
            </a:solidFill>
          </a:ln>
        </p:spPr>
        <p:txBody>
          <a:bodyPr vert="horz" wrap="square" lIns="0" tIns="211455" rIns="0" bIns="0" rtlCol="0">
            <a:spAutoFit/>
          </a:bodyPr>
          <a:lstStyle/>
          <a:p>
            <a:pPr marL="405765">
              <a:lnSpc>
                <a:spcPct val="100000"/>
              </a:lnSpc>
              <a:spcBef>
                <a:spcPts val="1665"/>
              </a:spcBef>
            </a:pPr>
            <a:r>
              <a:rPr sz="1800" dirty="0">
                <a:latin typeface="微软雅黑" panose="020B0503020204020204" pitchFamily="34" charset="-122"/>
                <a:cs typeface="微软雅黑" panose="020B0503020204020204" pitchFamily="34" charset="-122"/>
              </a:rPr>
              <a:t>编写代码</a:t>
            </a:r>
            <a:endParaRPr sz="1800">
              <a:latin typeface="微软雅黑" panose="020B0503020204020204" pitchFamily="34" charset="-122"/>
              <a:cs typeface="微软雅黑" panose="020B0503020204020204" pitchFamily="34" charset="-122"/>
            </a:endParaRPr>
          </a:p>
        </p:txBody>
      </p:sp>
      <p:sp>
        <p:nvSpPr>
          <p:cNvPr id="5" name="object 5"/>
          <p:cNvSpPr txBox="1"/>
          <p:nvPr/>
        </p:nvSpPr>
        <p:spPr>
          <a:xfrm>
            <a:off x="4244738" y="5126023"/>
            <a:ext cx="1720214" cy="720090"/>
          </a:xfrm>
          <a:prstGeom prst="rect">
            <a:avLst/>
          </a:prstGeom>
          <a:solidFill>
            <a:srgbClr val="E4EFF9"/>
          </a:solidFill>
          <a:ln w="9524">
            <a:solidFill>
              <a:srgbClr val="000000"/>
            </a:solidFill>
          </a:ln>
        </p:spPr>
        <p:txBody>
          <a:bodyPr vert="horz" wrap="square" lIns="0" tIns="211455" rIns="0" bIns="0" rtlCol="0">
            <a:spAutoFit/>
          </a:bodyPr>
          <a:lstStyle/>
          <a:p>
            <a:pPr marL="405765">
              <a:lnSpc>
                <a:spcPct val="100000"/>
              </a:lnSpc>
              <a:spcBef>
                <a:spcPts val="1665"/>
              </a:spcBef>
            </a:pPr>
            <a:r>
              <a:rPr sz="1800" dirty="0">
                <a:latin typeface="微软雅黑" panose="020B0503020204020204" pitchFamily="34" charset="-122"/>
                <a:cs typeface="微软雅黑" panose="020B0503020204020204" pitchFamily="34" charset="-122"/>
              </a:rPr>
              <a:t>代码优化</a:t>
            </a:r>
            <a:endParaRPr sz="1800">
              <a:latin typeface="微软雅黑" panose="020B0503020204020204" pitchFamily="34" charset="-122"/>
              <a:cs typeface="微软雅黑" panose="020B0503020204020204" pitchFamily="34" charset="-122"/>
            </a:endParaRPr>
          </a:p>
        </p:txBody>
      </p:sp>
      <p:sp>
        <p:nvSpPr>
          <p:cNvPr id="6" name="object 6"/>
          <p:cNvSpPr txBox="1"/>
          <p:nvPr/>
        </p:nvSpPr>
        <p:spPr>
          <a:xfrm>
            <a:off x="6088170" y="5125679"/>
            <a:ext cx="1720214" cy="720090"/>
          </a:xfrm>
          <a:prstGeom prst="rect">
            <a:avLst/>
          </a:prstGeom>
          <a:solidFill>
            <a:srgbClr val="E4EFF9"/>
          </a:solidFill>
          <a:ln w="9524">
            <a:solidFill>
              <a:srgbClr val="000000"/>
            </a:solidFill>
          </a:ln>
        </p:spPr>
        <p:txBody>
          <a:bodyPr vert="horz" wrap="square" lIns="0" tIns="211455" rIns="0" bIns="0" rtlCol="0">
            <a:spAutoFit/>
          </a:bodyPr>
          <a:lstStyle/>
          <a:p>
            <a:pPr marL="405765">
              <a:lnSpc>
                <a:spcPct val="100000"/>
              </a:lnSpc>
              <a:spcBef>
                <a:spcPts val="1665"/>
              </a:spcBef>
            </a:pPr>
            <a:r>
              <a:rPr sz="1800" dirty="0">
                <a:latin typeface="微软雅黑" panose="020B0503020204020204" pitchFamily="34" charset="-122"/>
                <a:cs typeface="微软雅黑" panose="020B0503020204020204" pitchFamily="34" charset="-122"/>
              </a:rPr>
              <a:t>系统构建</a:t>
            </a:r>
            <a:endParaRPr sz="1800">
              <a:latin typeface="微软雅黑" panose="020B0503020204020204" pitchFamily="34" charset="-122"/>
              <a:cs typeface="微软雅黑" panose="020B0503020204020204" pitchFamily="34" charset="-122"/>
            </a:endParaRPr>
          </a:p>
        </p:txBody>
      </p:sp>
      <p:sp>
        <p:nvSpPr>
          <p:cNvPr id="7" name="object 7"/>
          <p:cNvSpPr txBox="1"/>
          <p:nvPr/>
        </p:nvSpPr>
        <p:spPr>
          <a:xfrm>
            <a:off x="7162932" y="4246562"/>
            <a:ext cx="1720214" cy="720090"/>
          </a:xfrm>
          <a:prstGeom prst="rect">
            <a:avLst/>
          </a:prstGeom>
          <a:solidFill>
            <a:srgbClr val="E4EFF9"/>
          </a:solidFill>
          <a:ln w="9524">
            <a:solidFill>
              <a:srgbClr val="000000"/>
            </a:solidFill>
          </a:ln>
        </p:spPr>
        <p:txBody>
          <a:bodyPr vert="horz" wrap="square" lIns="0" tIns="211455" rIns="0" bIns="0" rtlCol="0">
            <a:spAutoFit/>
          </a:bodyPr>
          <a:lstStyle/>
          <a:p>
            <a:pPr marL="405765">
              <a:lnSpc>
                <a:spcPct val="100000"/>
              </a:lnSpc>
              <a:spcBef>
                <a:spcPts val="1665"/>
              </a:spcBef>
            </a:pPr>
            <a:r>
              <a:rPr sz="1800" dirty="0">
                <a:latin typeface="微软雅黑" panose="020B0503020204020204" pitchFamily="34" charset="-122"/>
                <a:cs typeface="微软雅黑" panose="020B0503020204020204" pitchFamily="34" charset="-122"/>
              </a:rPr>
              <a:t>集成调试</a:t>
            </a:r>
            <a:endParaRPr sz="1800">
              <a:latin typeface="微软雅黑" panose="020B0503020204020204" pitchFamily="34" charset="-122"/>
              <a:cs typeface="微软雅黑" panose="020B0503020204020204" pitchFamily="34" charset="-122"/>
            </a:endParaRPr>
          </a:p>
        </p:txBody>
      </p:sp>
      <p:sp>
        <p:nvSpPr>
          <p:cNvPr id="8" name="object 8"/>
          <p:cNvSpPr txBox="1"/>
          <p:nvPr/>
        </p:nvSpPr>
        <p:spPr>
          <a:xfrm>
            <a:off x="6056603" y="3405352"/>
            <a:ext cx="1720214" cy="720090"/>
          </a:xfrm>
          <a:prstGeom prst="rect">
            <a:avLst/>
          </a:prstGeom>
          <a:solidFill>
            <a:srgbClr val="E4EFF9"/>
          </a:solidFill>
          <a:ln w="9524">
            <a:solidFill>
              <a:srgbClr val="000000"/>
            </a:solidFill>
          </a:ln>
        </p:spPr>
        <p:txBody>
          <a:bodyPr vert="horz" wrap="square" lIns="0" tIns="211455" rIns="0" bIns="0" rtlCol="0">
            <a:spAutoFit/>
          </a:bodyPr>
          <a:lstStyle/>
          <a:p>
            <a:pPr marL="405765">
              <a:lnSpc>
                <a:spcPct val="100000"/>
              </a:lnSpc>
              <a:spcBef>
                <a:spcPts val="1665"/>
              </a:spcBef>
            </a:pPr>
            <a:r>
              <a:rPr sz="1800" dirty="0">
                <a:latin typeface="微软雅黑" panose="020B0503020204020204" pitchFamily="34" charset="-122"/>
                <a:cs typeface="微软雅黑" panose="020B0503020204020204" pitchFamily="34" charset="-122"/>
              </a:rPr>
              <a:t>单元测试</a:t>
            </a:r>
            <a:endParaRPr sz="1800">
              <a:latin typeface="微软雅黑" panose="020B0503020204020204" pitchFamily="34" charset="-122"/>
              <a:cs typeface="微软雅黑" panose="020B0503020204020204" pitchFamily="34" charset="-122"/>
            </a:endParaRPr>
          </a:p>
        </p:txBody>
      </p:sp>
      <p:sp>
        <p:nvSpPr>
          <p:cNvPr id="9" name="object 9"/>
          <p:cNvSpPr txBox="1"/>
          <p:nvPr/>
        </p:nvSpPr>
        <p:spPr>
          <a:xfrm>
            <a:off x="4251267" y="3405352"/>
            <a:ext cx="1720214" cy="720090"/>
          </a:xfrm>
          <a:prstGeom prst="rect">
            <a:avLst/>
          </a:prstGeom>
          <a:solidFill>
            <a:srgbClr val="E4EFF9"/>
          </a:solidFill>
          <a:ln w="9524">
            <a:solidFill>
              <a:srgbClr val="000000"/>
            </a:solidFill>
          </a:ln>
        </p:spPr>
        <p:txBody>
          <a:bodyPr vert="horz" wrap="square" lIns="0" tIns="211455" rIns="0" bIns="0" rtlCol="0">
            <a:spAutoFit/>
          </a:bodyPr>
          <a:lstStyle/>
          <a:p>
            <a:pPr marL="405130">
              <a:lnSpc>
                <a:spcPct val="100000"/>
              </a:lnSpc>
              <a:spcBef>
                <a:spcPts val="1665"/>
              </a:spcBef>
            </a:pPr>
            <a:r>
              <a:rPr sz="1800" dirty="0">
                <a:latin typeface="微软雅黑" panose="020B0503020204020204" pitchFamily="34" charset="-122"/>
                <a:cs typeface="微软雅黑" panose="020B0503020204020204" pitchFamily="34" charset="-122"/>
              </a:rPr>
              <a:t>代码审查</a:t>
            </a:r>
            <a:endParaRPr sz="1800">
              <a:latin typeface="微软雅黑" panose="020B0503020204020204" pitchFamily="34" charset="-122"/>
              <a:cs typeface="微软雅黑" panose="020B0503020204020204" pitchFamily="34" charset="-122"/>
            </a:endParaRPr>
          </a:p>
        </p:txBody>
      </p:sp>
      <p:sp>
        <p:nvSpPr>
          <p:cNvPr id="10" name="object 10"/>
          <p:cNvSpPr/>
          <p:nvPr/>
        </p:nvSpPr>
        <p:spPr>
          <a:xfrm>
            <a:off x="1704040" y="4055042"/>
            <a:ext cx="1409700" cy="1117600"/>
          </a:xfrm>
          <a:custGeom>
            <a:avLst/>
            <a:gdLst/>
            <a:ahLst/>
            <a:cxnLst/>
            <a:rect l="l" t="t" r="r" b="b"/>
            <a:pathLst>
              <a:path w="1409700" h="1117600">
                <a:moveTo>
                  <a:pt x="1079395" y="0"/>
                </a:moveTo>
                <a:lnTo>
                  <a:pt x="1079395" y="279400"/>
                </a:lnTo>
                <a:lnTo>
                  <a:pt x="0" y="279400"/>
                </a:lnTo>
                <a:lnTo>
                  <a:pt x="0" y="838200"/>
                </a:lnTo>
                <a:lnTo>
                  <a:pt x="1079395" y="838200"/>
                </a:lnTo>
                <a:lnTo>
                  <a:pt x="1079395" y="1117600"/>
                </a:lnTo>
                <a:lnTo>
                  <a:pt x="1409590" y="558800"/>
                </a:lnTo>
                <a:lnTo>
                  <a:pt x="1079395" y="0"/>
                </a:lnTo>
                <a:close/>
              </a:path>
            </a:pathLst>
          </a:custGeom>
          <a:solidFill>
            <a:srgbClr val="E7F2E0"/>
          </a:solidFill>
        </p:spPr>
        <p:txBody>
          <a:bodyPr wrap="square" lIns="0" tIns="0" rIns="0" bIns="0" rtlCol="0"/>
          <a:lstStyle/>
          <a:p>
            <a:endParaRPr/>
          </a:p>
        </p:txBody>
      </p:sp>
      <p:sp>
        <p:nvSpPr>
          <p:cNvPr id="11" name="object 11"/>
          <p:cNvSpPr/>
          <p:nvPr/>
        </p:nvSpPr>
        <p:spPr>
          <a:xfrm>
            <a:off x="1704040" y="4055043"/>
            <a:ext cx="1409700" cy="1117600"/>
          </a:xfrm>
          <a:custGeom>
            <a:avLst/>
            <a:gdLst/>
            <a:ahLst/>
            <a:cxnLst/>
            <a:rect l="l" t="t" r="r" b="b"/>
            <a:pathLst>
              <a:path w="1409700" h="1117600">
                <a:moveTo>
                  <a:pt x="0" y="279399"/>
                </a:moveTo>
                <a:lnTo>
                  <a:pt x="1079395" y="279399"/>
                </a:lnTo>
                <a:lnTo>
                  <a:pt x="1079395" y="0"/>
                </a:lnTo>
                <a:lnTo>
                  <a:pt x="1409590" y="558799"/>
                </a:lnTo>
                <a:lnTo>
                  <a:pt x="1079395" y="1117599"/>
                </a:lnTo>
                <a:lnTo>
                  <a:pt x="1079395" y="838199"/>
                </a:lnTo>
                <a:lnTo>
                  <a:pt x="0" y="838199"/>
                </a:lnTo>
                <a:lnTo>
                  <a:pt x="0" y="279399"/>
                </a:lnTo>
                <a:close/>
              </a:path>
            </a:pathLst>
          </a:custGeom>
          <a:ln w="9524">
            <a:solidFill>
              <a:srgbClr val="000000"/>
            </a:solidFill>
          </a:ln>
        </p:spPr>
        <p:txBody>
          <a:bodyPr wrap="square" lIns="0" tIns="0" rIns="0" bIns="0" rtlCol="0"/>
          <a:lstStyle/>
          <a:p>
            <a:endParaRPr/>
          </a:p>
        </p:txBody>
      </p:sp>
      <p:sp>
        <p:nvSpPr>
          <p:cNvPr id="12" name="object 12"/>
          <p:cNvSpPr txBox="1"/>
          <p:nvPr/>
        </p:nvSpPr>
        <p:spPr>
          <a:xfrm>
            <a:off x="1858980" y="4463982"/>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系统模型</a:t>
            </a:r>
            <a:endParaRPr sz="1800">
              <a:latin typeface="微软雅黑" panose="020B0503020204020204" pitchFamily="34" charset="-122"/>
              <a:cs typeface="微软雅黑" panose="020B0503020204020204" pitchFamily="34" charset="-122"/>
            </a:endParaRPr>
          </a:p>
        </p:txBody>
      </p:sp>
      <p:sp>
        <p:nvSpPr>
          <p:cNvPr id="13" name="object 13"/>
          <p:cNvSpPr/>
          <p:nvPr/>
        </p:nvSpPr>
        <p:spPr>
          <a:xfrm>
            <a:off x="8940169" y="4044423"/>
            <a:ext cx="1409700" cy="1117600"/>
          </a:xfrm>
          <a:custGeom>
            <a:avLst/>
            <a:gdLst/>
            <a:ahLst/>
            <a:cxnLst/>
            <a:rect l="l" t="t" r="r" b="b"/>
            <a:pathLst>
              <a:path w="1409700" h="1117600">
                <a:moveTo>
                  <a:pt x="1079397" y="0"/>
                </a:moveTo>
                <a:lnTo>
                  <a:pt x="1079397" y="279400"/>
                </a:lnTo>
                <a:lnTo>
                  <a:pt x="0" y="279400"/>
                </a:lnTo>
                <a:lnTo>
                  <a:pt x="0" y="838200"/>
                </a:lnTo>
                <a:lnTo>
                  <a:pt x="1079397" y="838200"/>
                </a:lnTo>
                <a:lnTo>
                  <a:pt x="1079397" y="1117600"/>
                </a:lnTo>
                <a:lnTo>
                  <a:pt x="1409592" y="558800"/>
                </a:lnTo>
                <a:lnTo>
                  <a:pt x="1079397" y="0"/>
                </a:lnTo>
                <a:close/>
              </a:path>
            </a:pathLst>
          </a:custGeom>
          <a:solidFill>
            <a:srgbClr val="FFF4D5"/>
          </a:solidFill>
        </p:spPr>
        <p:txBody>
          <a:bodyPr wrap="square" lIns="0" tIns="0" rIns="0" bIns="0" rtlCol="0"/>
          <a:lstStyle/>
          <a:p>
            <a:endParaRPr/>
          </a:p>
        </p:txBody>
      </p:sp>
      <p:sp>
        <p:nvSpPr>
          <p:cNvPr id="14" name="object 14"/>
          <p:cNvSpPr/>
          <p:nvPr/>
        </p:nvSpPr>
        <p:spPr>
          <a:xfrm>
            <a:off x="8940169" y="4044423"/>
            <a:ext cx="1409700" cy="1117600"/>
          </a:xfrm>
          <a:custGeom>
            <a:avLst/>
            <a:gdLst/>
            <a:ahLst/>
            <a:cxnLst/>
            <a:rect l="l" t="t" r="r" b="b"/>
            <a:pathLst>
              <a:path w="1409700" h="1117600">
                <a:moveTo>
                  <a:pt x="0" y="279399"/>
                </a:moveTo>
                <a:lnTo>
                  <a:pt x="1079396" y="279399"/>
                </a:lnTo>
                <a:lnTo>
                  <a:pt x="1079396" y="0"/>
                </a:lnTo>
                <a:lnTo>
                  <a:pt x="1409590" y="558799"/>
                </a:lnTo>
                <a:lnTo>
                  <a:pt x="1079396" y="1117599"/>
                </a:lnTo>
                <a:lnTo>
                  <a:pt x="1079396" y="838199"/>
                </a:lnTo>
                <a:lnTo>
                  <a:pt x="0" y="838199"/>
                </a:lnTo>
                <a:lnTo>
                  <a:pt x="0" y="279399"/>
                </a:lnTo>
                <a:close/>
              </a:path>
            </a:pathLst>
          </a:custGeom>
          <a:ln w="9524">
            <a:solidFill>
              <a:srgbClr val="000000"/>
            </a:solidFill>
          </a:ln>
        </p:spPr>
        <p:txBody>
          <a:bodyPr wrap="square" lIns="0" tIns="0" rIns="0" bIns="0" rtlCol="0"/>
          <a:lstStyle/>
          <a:p>
            <a:endParaRPr/>
          </a:p>
        </p:txBody>
      </p:sp>
      <p:sp>
        <p:nvSpPr>
          <p:cNvPr id="15" name="object 15"/>
          <p:cNvSpPr txBox="1"/>
          <p:nvPr/>
        </p:nvSpPr>
        <p:spPr>
          <a:xfrm>
            <a:off x="9209409" y="4453362"/>
            <a:ext cx="7112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源代码</a:t>
            </a:r>
            <a:endParaRPr sz="1800">
              <a:latin typeface="微软雅黑" panose="020B0503020204020204" pitchFamily="34" charset="-122"/>
              <a:cs typeface="微软雅黑" panose="020B0503020204020204" pitchFamily="34" charset="-122"/>
            </a:endParaRPr>
          </a:p>
        </p:txBody>
      </p:sp>
      <p:sp>
        <p:nvSpPr>
          <p:cNvPr id="16" name="object 16"/>
          <p:cNvSpPr/>
          <p:nvPr/>
        </p:nvSpPr>
        <p:spPr>
          <a:xfrm>
            <a:off x="5409472" y="4234299"/>
            <a:ext cx="1269999" cy="821784"/>
          </a:xfrm>
          <a:prstGeom prst="rect">
            <a:avLst/>
          </a:prstGeom>
          <a:blipFill>
            <a:blip r:embed="rId3" cstate="print"/>
            <a:stretch>
              <a:fillRect/>
            </a:stretch>
          </a:blipFill>
        </p:spPr>
        <p:txBody>
          <a:bodyPr wrap="square" lIns="0" tIns="0" rIns="0" bIns="0" rtlCol="0"/>
          <a:lstStyle/>
          <a:p>
            <a:endParaRPr/>
          </a:p>
        </p:txBody>
      </p:sp>
      <p:sp>
        <p:nvSpPr>
          <p:cNvPr id="18" name="标题 17"/>
          <p:cNvSpPr>
            <a:spLocks noGrp="1"/>
          </p:cNvSpPr>
          <p:nvPr>
            <p:ph type="title"/>
          </p:nvPr>
        </p:nvSpPr>
        <p:spPr/>
        <p:txBody>
          <a:bodyPr/>
          <a:lstStyle/>
          <a:p>
            <a:r>
              <a:rPr lang="zh-CN" altLang="en-US" dirty="0"/>
              <a:t>软件编程工作</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4493"/>
    </mc:Choice>
    <mc:Fallback xmlns="">
      <p:transition spd="slow" advTm="3449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363291" y="2001360"/>
            <a:ext cx="2984194" cy="2944291"/>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8173308" y="1856029"/>
            <a:ext cx="2814386" cy="1594176"/>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8159405" y="3550911"/>
            <a:ext cx="2814955" cy="1598295"/>
          </a:xfrm>
          <a:custGeom>
            <a:avLst/>
            <a:gdLst/>
            <a:ahLst/>
            <a:cxnLst/>
            <a:rect l="l" t="t" r="r" b="b"/>
            <a:pathLst>
              <a:path w="2814954" h="1598295">
                <a:moveTo>
                  <a:pt x="2814386" y="0"/>
                </a:moveTo>
                <a:lnTo>
                  <a:pt x="938128" y="0"/>
                </a:lnTo>
                <a:lnTo>
                  <a:pt x="0" y="1597976"/>
                </a:lnTo>
                <a:lnTo>
                  <a:pt x="1876257" y="1597976"/>
                </a:lnTo>
                <a:lnTo>
                  <a:pt x="2814386" y="0"/>
                </a:lnTo>
                <a:close/>
              </a:path>
            </a:pathLst>
          </a:custGeom>
          <a:solidFill>
            <a:srgbClr val="CBCBCB"/>
          </a:solidFill>
        </p:spPr>
        <p:txBody>
          <a:bodyPr wrap="square" lIns="0" tIns="0" rIns="0" bIns="0" rtlCol="0"/>
          <a:lstStyle/>
          <a:p>
            <a:endParaRPr/>
          </a:p>
        </p:txBody>
      </p:sp>
      <p:sp>
        <p:nvSpPr>
          <p:cNvPr id="6" name="object 6"/>
          <p:cNvSpPr/>
          <p:nvPr/>
        </p:nvSpPr>
        <p:spPr>
          <a:xfrm>
            <a:off x="7144477" y="1886431"/>
            <a:ext cx="1877060" cy="3190875"/>
          </a:xfrm>
          <a:custGeom>
            <a:avLst/>
            <a:gdLst/>
            <a:ahLst/>
            <a:cxnLst/>
            <a:rect l="l" t="t" r="r" b="b"/>
            <a:pathLst>
              <a:path w="1877059" h="3190875">
                <a:moveTo>
                  <a:pt x="938460" y="0"/>
                </a:moveTo>
                <a:lnTo>
                  <a:pt x="0" y="1595126"/>
                </a:lnTo>
                <a:lnTo>
                  <a:pt x="938460" y="3190251"/>
                </a:lnTo>
                <a:lnTo>
                  <a:pt x="1876920" y="1595126"/>
                </a:lnTo>
                <a:lnTo>
                  <a:pt x="938460" y="0"/>
                </a:lnTo>
                <a:close/>
              </a:path>
            </a:pathLst>
          </a:custGeom>
          <a:solidFill>
            <a:srgbClr val="CBCBCB"/>
          </a:solidFill>
        </p:spPr>
        <p:txBody>
          <a:bodyPr wrap="square" lIns="0" tIns="0" rIns="0" bIns="0" rtlCol="0"/>
          <a:lstStyle/>
          <a:p>
            <a:endParaRPr/>
          </a:p>
        </p:txBody>
      </p:sp>
      <p:sp>
        <p:nvSpPr>
          <p:cNvPr id="7" name="object 7"/>
          <p:cNvSpPr txBox="1"/>
          <p:nvPr/>
        </p:nvSpPr>
        <p:spPr>
          <a:xfrm>
            <a:off x="9120868" y="2247519"/>
            <a:ext cx="863600" cy="690880"/>
          </a:xfrm>
          <a:prstGeom prst="rect">
            <a:avLst/>
          </a:prstGeom>
        </p:spPr>
        <p:txBody>
          <a:bodyPr vert="horz" wrap="square" lIns="0" tIns="27939" rIns="0" bIns="0" rtlCol="0">
            <a:spAutoFit/>
          </a:bodyPr>
          <a:lstStyle/>
          <a:p>
            <a:pPr marL="152400" marR="5080" indent="-139700">
              <a:lnSpc>
                <a:spcPts val="2600"/>
              </a:lnSpc>
              <a:spcBef>
                <a:spcPts val="220"/>
              </a:spcBef>
            </a:pPr>
            <a:r>
              <a:rPr sz="2200" dirty="0">
                <a:solidFill>
                  <a:srgbClr val="FFFFFF"/>
                </a:solidFill>
                <a:latin typeface="微软雅黑" panose="020B0503020204020204" pitchFamily="34" charset="-122"/>
                <a:cs typeface="微软雅黑" panose="020B0503020204020204" pitchFamily="34" charset="-122"/>
              </a:rPr>
              <a:t>规范的 编码</a:t>
            </a:r>
            <a:endParaRPr sz="2200">
              <a:latin typeface="微软雅黑" panose="020B0503020204020204" pitchFamily="34" charset="-122"/>
              <a:cs typeface="微软雅黑" panose="020B0503020204020204" pitchFamily="34" charset="-122"/>
            </a:endParaRPr>
          </a:p>
        </p:txBody>
      </p:sp>
      <p:sp>
        <p:nvSpPr>
          <p:cNvPr id="8" name="object 8"/>
          <p:cNvSpPr txBox="1"/>
          <p:nvPr/>
        </p:nvSpPr>
        <p:spPr>
          <a:xfrm>
            <a:off x="7498182" y="3191021"/>
            <a:ext cx="2560320" cy="1496060"/>
          </a:xfrm>
          <a:prstGeom prst="rect">
            <a:avLst/>
          </a:prstGeom>
        </p:spPr>
        <p:txBody>
          <a:bodyPr vert="horz" wrap="square" lIns="0" tIns="27939" rIns="0" bIns="0" rtlCol="0">
            <a:spAutoFit/>
          </a:bodyPr>
          <a:lstStyle/>
          <a:p>
            <a:pPr marL="292100" marR="1421765" indent="-279400">
              <a:lnSpc>
                <a:spcPts val="2600"/>
              </a:lnSpc>
              <a:spcBef>
                <a:spcPts val="220"/>
              </a:spcBef>
            </a:pPr>
            <a:r>
              <a:rPr sz="2200" dirty="0">
                <a:latin typeface="微软雅黑" panose="020B0503020204020204" pitchFamily="34" charset="-122"/>
                <a:cs typeface="微软雅黑" panose="020B0503020204020204" pitchFamily="34" charset="-122"/>
              </a:rPr>
              <a:t>高质量的 设计</a:t>
            </a:r>
            <a:endParaRPr sz="2200">
              <a:latin typeface="微软雅黑" panose="020B0503020204020204" pitchFamily="34" charset="-122"/>
              <a:cs typeface="微软雅黑" panose="020B0503020204020204" pitchFamily="34" charset="-122"/>
            </a:endParaRPr>
          </a:p>
          <a:p>
            <a:pPr marL="1848485" marR="5080" indent="-139700">
              <a:lnSpc>
                <a:spcPts val="2600"/>
              </a:lnSpc>
              <a:spcBef>
                <a:spcPts val="1135"/>
              </a:spcBef>
            </a:pPr>
            <a:r>
              <a:rPr sz="2200" dirty="0">
                <a:latin typeface="微软雅黑" panose="020B0503020204020204" pitchFamily="34" charset="-122"/>
                <a:cs typeface="微软雅黑" panose="020B0503020204020204" pitchFamily="34" charset="-122"/>
              </a:rPr>
              <a:t>有效的 测试</a:t>
            </a:r>
            <a:endParaRPr sz="2200">
              <a:latin typeface="微软雅黑" panose="020B0503020204020204" pitchFamily="34" charset="-122"/>
              <a:cs typeface="微软雅黑" panose="020B0503020204020204" pitchFamily="34" charset="-122"/>
            </a:endParaRPr>
          </a:p>
        </p:txBody>
      </p:sp>
      <p:sp>
        <p:nvSpPr>
          <p:cNvPr id="9" name="object 9"/>
          <p:cNvSpPr/>
          <p:nvPr/>
        </p:nvSpPr>
        <p:spPr>
          <a:xfrm>
            <a:off x="4637252" y="3021272"/>
            <a:ext cx="2155190" cy="923925"/>
          </a:xfrm>
          <a:custGeom>
            <a:avLst/>
            <a:gdLst/>
            <a:ahLst/>
            <a:cxnLst/>
            <a:rect l="l" t="t" r="r" b="b"/>
            <a:pathLst>
              <a:path w="2155190" h="923925">
                <a:moveTo>
                  <a:pt x="28865" y="230925"/>
                </a:moveTo>
                <a:lnTo>
                  <a:pt x="0" y="230925"/>
                </a:lnTo>
                <a:lnTo>
                  <a:pt x="0" y="692776"/>
                </a:lnTo>
                <a:lnTo>
                  <a:pt x="28865" y="692776"/>
                </a:lnTo>
                <a:lnTo>
                  <a:pt x="28865" y="230925"/>
                </a:lnTo>
                <a:close/>
              </a:path>
              <a:path w="2155190" h="923925">
                <a:moveTo>
                  <a:pt x="115463" y="230925"/>
                </a:moveTo>
                <a:lnTo>
                  <a:pt x="57730" y="230925"/>
                </a:lnTo>
                <a:lnTo>
                  <a:pt x="57730" y="692776"/>
                </a:lnTo>
                <a:lnTo>
                  <a:pt x="115463" y="692776"/>
                </a:lnTo>
                <a:lnTo>
                  <a:pt x="115463" y="230925"/>
                </a:lnTo>
                <a:close/>
              </a:path>
              <a:path w="2155190" h="923925">
                <a:moveTo>
                  <a:pt x="1693216" y="0"/>
                </a:moveTo>
                <a:lnTo>
                  <a:pt x="1693216" y="230925"/>
                </a:lnTo>
                <a:lnTo>
                  <a:pt x="144327" y="230925"/>
                </a:lnTo>
                <a:lnTo>
                  <a:pt x="144327" y="692776"/>
                </a:lnTo>
                <a:lnTo>
                  <a:pt x="1693216" y="692776"/>
                </a:lnTo>
                <a:lnTo>
                  <a:pt x="1693216" y="923701"/>
                </a:lnTo>
                <a:lnTo>
                  <a:pt x="2155065" y="461850"/>
                </a:lnTo>
                <a:lnTo>
                  <a:pt x="1693216" y="0"/>
                </a:lnTo>
                <a:close/>
              </a:path>
            </a:pathLst>
          </a:custGeom>
          <a:solidFill>
            <a:srgbClr val="BDB9B9"/>
          </a:solidFill>
        </p:spPr>
        <p:txBody>
          <a:bodyPr wrap="square" lIns="0" tIns="0" rIns="0" bIns="0" rtlCol="0"/>
          <a:lstStyle/>
          <a:p>
            <a:endParaRPr/>
          </a:p>
        </p:txBody>
      </p:sp>
      <p:sp>
        <p:nvSpPr>
          <p:cNvPr id="10" name="object 10"/>
          <p:cNvSpPr txBox="1"/>
          <p:nvPr/>
        </p:nvSpPr>
        <p:spPr>
          <a:xfrm>
            <a:off x="4808353" y="2384524"/>
            <a:ext cx="1422400" cy="690880"/>
          </a:xfrm>
          <a:prstGeom prst="rect">
            <a:avLst/>
          </a:prstGeom>
        </p:spPr>
        <p:txBody>
          <a:bodyPr vert="horz" wrap="square" lIns="0" tIns="27939" rIns="0" bIns="0" rtlCol="0">
            <a:spAutoFit/>
          </a:bodyPr>
          <a:lstStyle/>
          <a:p>
            <a:pPr marL="151765" marR="5080" indent="-139700">
              <a:lnSpc>
                <a:spcPts val="2600"/>
              </a:lnSpc>
              <a:spcBef>
                <a:spcPts val="220"/>
              </a:spcBef>
            </a:pPr>
            <a:r>
              <a:rPr sz="2200" dirty="0">
                <a:solidFill>
                  <a:srgbClr val="0033CC"/>
                </a:solidFill>
                <a:latin typeface="微软雅黑" panose="020B0503020204020204" pitchFamily="34" charset="-122"/>
                <a:cs typeface="微软雅黑" panose="020B0503020204020204" pitchFamily="34" charset="-122"/>
              </a:rPr>
              <a:t>高质量软件 开发之道</a:t>
            </a:r>
            <a:endParaRPr sz="2200">
              <a:latin typeface="微软雅黑" panose="020B0503020204020204" pitchFamily="34" charset="-122"/>
              <a:cs typeface="微软雅黑" panose="020B0503020204020204" pitchFamily="34" charset="-122"/>
            </a:endParaRPr>
          </a:p>
        </p:txBody>
      </p:sp>
      <p:sp>
        <p:nvSpPr>
          <p:cNvPr id="12" name="标题 11"/>
          <p:cNvSpPr>
            <a:spLocks noGrp="1"/>
          </p:cNvSpPr>
          <p:nvPr>
            <p:ph type="title"/>
          </p:nvPr>
        </p:nvSpPr>
        <p:spPr/>
        <p:txBody>
          <a:bodyPr/>
          <a:lstStyle/>
          <a:p>
            <a:r>
              <a:rPr lang="zh-CN" altLang="en-US" dirty="0"/>
              <a:t>软件编程工作</a:t>
            </a:r>
          </a:p>
        </p:txBody>
      </p:sp>
      <p:sp>
        <p:nvSpPr>
          <p:cNvPr id="3" name="灯片编号占位符 2"/>
          <p:cNvSpPr>
            <a:spLocks noGrp="1"/>
          </p:cNvSpPr>
          <p:nvPr>
            <p:ph type="sldNum" sz="quarter" idx="12"/>
          </p:nvPr>
        </p:nvSpPr>
        <p:spPr/>
        <p:txBody>
          <a:bodyPr/>
          <a:lstStyle/>
          <a:p>
            <a:fld id="{74D2AB8B-5816-41F2-8B4B-CA5C3E4E6A65}" type="slidenum">
              <a:rPr lang="zh-CN" altLang="en-US" smtClean="0"/>
              <a:t>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8395"/>
    </mc:Choice>
    <mc:Fallback xmlns="">
      <p:transition spd="slow" advTm="3839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12190614" cy="6857999"/>
          </a:xfrm>
          <a:prstGeom prst="rect">
            <a:avLst/>
          </a:prstGeom>
          <a:blipFill>
            <a:blip r:embed="rId3" cstate="print"/>
            <a:stretch>
              <a:fillRect/>
            </a:stretch>
          </a:blipFill>
        </p:spPr>
        <p:txBody>
          <a:bodyPr wrap="square" lIns="0" tIns="0" rIns="0" bIns="0" rtlCol="0"/>
          <a:lstStyle/>
          <a:p>
            <a:endParaRPr/>
          </a:p>
        </p:txBody>
      </p:sp>
      <p:sp>
        <p:nvSpPr>
          <p:cNvPr id="3" name="object 3"/>
          <p:cNvSpPr txBox="1"/>
          <p:nvPr/>
        </p:nvSpPr>
        <p:spPr>
          <a:xfrm>
            <a:off x="906131" y="3578042"/>
            <a:ext cx="10312400" cy="2087880"/>
          </a:xfrm>
          <a:prstGeom prst="rect">
            <a:avLst/>
          </a:prstGeom>
        </p:spPr>
        <p:txBody>
          <a:bodyPr vert="horz" wrap="square" lIns="0" tIns="241300" rIns="0" bIns="0" rtlCol="0">
            <a:spAutoFit/>
          </a:bodyPr>
          <a:lstStyle/>
          <a:p>
            <a:pPr marL="12700">
              <a:lnSpc>
                <a:spcPct val="100000"/>
              </a:lnSpc>
              <a:spcBef>
                <a:spcPts val="1900"/>
              </a:spcBef>
            </a:pPr>
            <a:r>
              <a:rPr sz="3000" dirty="0">
                <a:latin typeface="微软雅黑" panose="020B0503020204020204" pitchFamily="34" charset="-122"/>
                <a:cs typeface="微软雅黑" panose="020B0503020204020204" pitchFamily="34" charset="-122"/>
              </a:rPr>
              <a:t>编程是软件工程师的基本能力</a:t>
            </a:r>
          </a:p>
          <a:p>
            <a:pPr marL="12700">
              <a:lnSpc>
                <a:spcPct val="100000"/>
              </a:lnSpc>
              <a:spcBef>
                <a:spcPts val="1800"/>
              </a:spcBef>
            </a:pPr>
            <a:r>
              <a:rPr sz="3000" dirty="0">
                <a:latin typeface="微软雅黑" panose="020B0503020204020204" pitchFamily="34" charset="-122"/>
                <a:cs typeface="微软雅黑" panose="020B0503020204020204" pitchFamily="34" charset="-122"/>
              </a:rPr>
              <a:t>编写优雅的代码是每一个程序员的不懈追求</a:t>
            </a:r>
          </a:p>
          <a:p>
            <a:pPr marL="12700">
              <a:lnSpc>
                <a:spcPct val="100000"/>
              </a:lnSpc>
              <a:spcBef>
                <a:spcPts val="1800"/>
              </a:spcBef>
            </a:pPr>
            <a:r>
              <a:rPr sz="3000" dirty="0">
                <a:latin typeface="微软雅黑" panose="020B0503020204020204" pitchFamily="34" charset="-122"/>
                <a:cs typeface="微软雅黑" panose="020B0503020204020204" pitchFamily="34" charset="-122"/>
              </a:rPr>
              <a:t>编程是一门艺术，它能够展示结构之美、构造之美、表达之美</a:t>
            </a:r>
          </a:p>
        </p:txBody>
      </p:sp>
      <p:sp>
        <p:nvSpPr>
          <p:cNvPr id="4" name="灯片编号占位符 3"/>
          <p:cNvSpPr>
            <a:spLocks noGrp="1"/>
          </p:cNvSpPr>
          <p:nvPr>
            <p:ph type="sldNum" sz="quarter" idx="7"/>
          </p:nvPr>
        </p:nvSpPr>
        <p:spPr/>
        <p:txBody>
          <a:bodyPr/>
          <a:lstStyle/>
          <a:p>
            <a:fld id="{B6F15528-21DE-4FAA-801E-634DDDAF4B2B}" type="slidenum">
              <a:rPr lang="en-US" altLang="zh-CN" smtClean="0"/>
              <a:t>4</a:t>
            </a:fld>
            <a:endParaRPr lang="zh-CN" altLang="en-US"/>
          </a:p>
        </p:txBody>
      </p:sp>
      <p:sp>
        <p:nvSpPr>
          <p:cNvPr id="5" name="文本框 4"/>
          <p:cNvSpPr txBox="1"/>
          <p:nvPr/>
        </p:nvSpPr>
        <p:spPr>
          <a:xfrm>
            <a:off x="3494405" y="1443990"/>
            <a:ext cx="5203825" cy="583565"/>
          </a:xfrm>
          <a:prstGeom prst="rect">
            <a:avLst/>
          </a:prstGeom>
          <a:noFill/>
        </p:spPr>
        <p:txBody>
          <a:bodyPr wrap="square" rtlCol="0">
            <a:spAutoFit/>
          </a:bodyPr>
          <a:lstStyle/>
          <a:p>
            <a:pPr algn="ctr"/>
            <a:r>
              <a:rPr lang="zh-CN" altLang="en-US" sz="3200">
                <a:latin typeface="微软雅黑" panose="020B0503020204020204" pitchFamily="34" charset="-122"/>
                <a:ea typeface="微软雅黑" panose="020B0503020204020204" pitchFamily="34" charset="-122"/>
              </a:rPr>
              <a:t>编程规范</a:t>
            </a:r>
          </a:p>
        </p:txBody>
      </p:sp>
    </p:spTree>
    <p:extLst>
      <p:ext uri="{BB962C8B-B14F-4D97-AF65-F5344CB8AC3E}">
        <p14:creationId xmlns:p14="http://schemas.microsoft.com/office/powerpoint/2010/main" val="3284681867"/>
      </p:ext>
    </p:extLst>
  </p:cSld>
  <p:clrMapOvr>
    <a:masterClrMapping/>
  </p:clrMapOvr>
  <mc:AlternateContent xmlns:mc="http://schemas.openxmlformats.org/markup-compatibility/2006" xmlns:p14="http://schemas.microsoft.com/office/powerpoint/2010/main">
    <mc:Choice Requires="p14">
      <p:transition spd="slow" p14:dur="2000" advTm="46425"/>
    </mc:Choice>
    <mc:Fallback xmlns="">
      <p:transition spd="slow" advTm="4642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34977" y="1637839"/>
            <a:ext cx="8867140" cy="3762375"/>
          </a:xfrm>
          <a:prstGeom prst="rect">
            <a:avLst/>
          </a:prstGeom>
        </p:spPr>
        <p:txBody>
          <a:bodyPr vert="horz" wrap="square" lIns="0" tIns="12700" rIns="0" bIns="0" rtlCol="0">
            <a:spAutoFit/>
          </a:bodyPr>
          <a:lstStyle/>
          <a:p>
            <a:pPr marL="14605">
              <a:lnSpc>
                <a:spcPct val="100000"/>
              </a:lnSpc>
              <a:spcBef>
                <a:spcPts val="100"/>
              </a:spcBef>
            </a:pPr>
            <a:r>
              <a:rPr sz="2400" dirty="0">
                <a:solidFill>
                  <a:srgbClr val="0033CC"/>
                </a:solidFill>
                <a:latin typeface="微软雅黑" panose="020B0503020204020204" pitchFamily="34" charset="-122"/>
                <a:cs typeface="微软雅黑" panose="020B0503020204020204" pitchFamily="34" charset="-122"/>
              </a:rPr>
              <a:t>软件编码规范</a:t>
            </a:r>
            <a:r>
              <a:rPr sz="2400" dirty="0">
                <a:latin typeface="微软雅黑" panose="020B0503020204020204" pitchFamily="34" charset="-122"/>
                <a:cs typeface="微软雅黑" panose="020B0503020204020204" pitchFamily="34" charset="-122"/>
              </a:rPr>
              <a:t>是与特定语言相关的描写如何编写代码的规则集合。</a:t>
            </a:r>
            <a:endParaRPr sz="2400">
              <a:latin typeface="微软雅黑" panose="020B0503020204020204" pitchFamily="34" charset="-122"/>
              <a:cs typeface="微软雅黑" panose="020B0503020204020204" pitchFamily="34" charset="-122"/>
            </a:endParaRPr>
          </a:p>
          <a:p>
            <a:pPr>
              <a:lnSpc>
                <a:spcPct val="100000"/>
              </a:lnSpc>
              <a:spcBef>
                <a:spcPts val="25"/>
              </a:spcBef>
            </a:pPr>
            <a:endParaRPr sz="3250">
              <a:latin typeface="Times New Roman" panose="02020603050405020304"/>
              <a:cs typeface="Times New Roman" panose="02020603050405020304"/>
            </a:endParaRPr>
          </a:p>
          <a:p>
            <a:pPr marL="12700">
              <a:lnSpc>
                <a:spcPct val="100000"/>
              </a:lnSpc>
            </a:pPr>
            <a:r>
              <a:rPr sz="2400" dirty="0">
                <a:latin typeface="微软雅黑" panose="020B0503020204020204" pitchFamily="34" charset="-122"/>
                <a:cs typeface="微软雅黑" panose="020B0503020204020204" pitchFamily="34" charset="-122"/>
              </a:rPr>
              <a:t>现实</a:t>
            </a:r>
            <a:endParaRPr sz="2400">
              <a:latin typeface="微软雅黑" panose="020B0503020204020204" pitchFamily="34" charset="-122"/>
              <a:cs typeface="微软雅黑" panose="020B0503020204020204" pitchFamily="34" charset="-122"/>
            </a:endParaRPr>
          </a:p>
          <a:p>
            <a:pPr marL="458470" indent="-370205">
              <a:lnSpc>
                <a:spcPct val="100000"/>
              </a:lnSpc>
              <a:spcBef>
                <a:spcPts val="820"/>
              </a:spcBef>
              <a:buFont typeface="Arial" panose="020B0604020202020204"/>
              <a:buChar char="•"/>
              <a:tabLst>
                <a:tab pos="458470" algn="l"/>
                <a:tab pos="459105" algn="l"/>
              </a:tabLst>
            </a:pPr>
            <a:r>
              <a:rPr sz="2400" dirty="0">
                <a:latin typeface="微软雅黑" panose="020B0503020204020204" pitchFamily="34" charset="-122"/>
                <a:cs typeface="微软雅黑" panose="020B0503020204020204" pitchFamily="34" charset="-122"/>
              </a:rPr>
              <a:t>软件全生命周期的</a:t>
            </a:r>
            <a:r>
              <a:rPr sz="2400" spc="-5" dirty="0">
                <a:latin typeface="微软雅黑" panose="020B0503020204020204" pitchFamily="34" charset="-122"/>
                <a:cs typeface="微软雅黑" panose="020B0503020204020204" pitchFamily="34" charset="-122"/>
              </a:rPr>
              <a:t> </a:t>
            </a:r>
            <a:r>
              <a:rPr sz="2400" dirty="0">
                <a:latin typeface="Arial" panose="020B0604020202020204"/>
                <a:cs typeface="Arial" panose="020B0604020202020204"/>
              </a:rPr>
              <a:t>70%</a:t>
            </a:r>
            <a:r>
              <a:rPr sz="2400" spc="40" dirty="0">
                <a:latin typeface="Arial" panose="020B0604020202020204"/>
                <a:cs typeface="Arial" panose="020B0604020202020204"/>
              </a:rPr>
              <a:t> </a:t>
            </a:r>
            <a:r>
              <a:rPr sz="2400" dirty="0">
                <a:latin typeface="微软雅黑" panose="020B0503020204020204" pitchFamily="34" charset="-122"/>
                <a:cs typeface="微软雅黑" panose="020B0503020204020204" pitchFamily="34" charset="-122"/>
              </a:rPr>
              <a:t>成本是维护</a:t>
            </a:r>
            <a:endParaRPr sz="2400">
              <a:latin typeface="微软雅黑" panose="020B0503020204020204" pitchFamily="34" charset="-122"/>
              <a:cs typeface="微软雅黑" panose="020B0503020204020204" pitchFamily="34" charset="-122"/>
            </a:endParaRPr>
          </a:p>
          <a:p>
            <a:pPr marL="458470" indent="-370205">
              <a:lnSpc>
                <a:spcPct val="100000"/>
              </a:lnSpc>
              <a:spcBef>
                <a:spcPts val="820"/>
              </a:spcBef>
              <a:buFont typeface="Arial" panose="020B0604020202020204"/>
              <a:buChar char="•"/>
              <a:tabLst>
                <a:tab pos="458470" algn="l"/>
                <a:tab pos="459105" algn="l"/>
              </a:tabLst>
            </a:pPr>
            <a:r>
              <a:rPr sz="2400" dirty="0">
                <a:latin typeface="微软雅黑" panose="020B0503020204020204" pitchFamily="34" charset="-122"/>
                <a:cs typeface="微软雅黑" panose="020B0503020204020204" pitchFamily="34" charset="-122"/>
              </a:rPr>
              <a:t>软件在其生命周期中很少由原编写人员进行维护</a:t>
            </a:r>
            <a:endParaRPr sz="2400">
              <a:latin typeface="微软雅黑" panose="020B0503020204020204" pitchFamily="34" charset="-122"/>
              <a:cs typeface="微软雅黑" panose="020B0503020204020204" pitchFamily="34" charset="-122"/>
            </a:endParaRPr>
          </a:p>
          <a:p>
            <a:pPr marL="12700">
              <a:lnSpc>
                <a:spcPct val="100000"/>
              </a:lnSpc>
              <a:spcBef>
                <a:spcPts val="2120"/>
              </a:spcBef>
            </a:pPr>
            <a:r>
              <a:rPr sz="2400" dirty="0">
                <a:latin typeface="微软雅黑" panose="020B0503020204020204" pitchFamily="34" charset="-122"/>
                <a:cs typeface="微软雅黑" panose="020B0503020204020204" pitchFamily="34" charset="-122"/>
              </a:rPr>
              <a:t>目的</a:t>
            </a:r>
            <a:endParaRPr sz="2400">
              <a:latin typeface="微软雅黑" panose="020B0503020204020204" pitchFamily="34" charset="-122"/>
              <a:cs typeface="微软雅黑" panose="020B0503020204020204" pitchFamily="34" charset="-122"/>
            </a:endParaRPr>
          </a:p>
          <a:p>
            <a:pPr marL="458470" indent="-370205">
              <a:lnSpc>
                <a:spcPct val="100000"/>
              </a:lnSpc>
              <a:spcBef>
                <a:spcPts val="820"/>
              </a:spcBef>
              <a:buFont typeface="Arial" panose="020B0604020202020204"/>
              <a:buChar char="•"/>
              <a:tabLst>
                <a:tab pos="458470" algn="l"/>
                <a:tab pos="459105" algn="l"/>
              </a:tabLst>
            </a:pPr>
            <a:r>
              <a:rPr sz="2400" dirty="0">
                <a:latin typeface="微软雅黑" panose="020B0503020204020204" pitchFamily="34" charset="-122"/>
                <a:cs typeface="微软雅黑" panose="020B0503020204020204" pitchFamily="34" charset="-122"/>
              </a:rPr>
              <a:t>提高编码质量，避免不必要的程序错误</a:t>
            </a:r>
            <a:endParaRPr sz="2400">
              <a:latin typeface="微软雅黑" panose="020B0503020204020204" pitchFamily="34" charset="-122"/>
              <a:cs typeface="微软雅黑" panose="020B0503020204020204" pitchFamily="34" charset="-122"/>
            </a:endParaRPr>
          </a:p>
          <a:p>
            <a:pPr marL="458470" indent="-370205">
              <a:lnSpc>
                <a:spcPct val="100000"/>
              </a:lnSpc>
              <a:spcBef>
                <a:spcPts val="920"/>
              </a:spcBef>
              <a:buFont typeface="Arial" panose="020B0604020202020204"/>
              <a:buChar char="•"/>
              <a:tabLst>
                <a:tab pos="458470" algn="l"/>
                <a:tab pos="459105" algn="l"/>
              </a:tabLst>
            </a:pPr>
            <a:r>
              <a:rPr sz="2400" dirty="0">
                <a:latin typeface="微软雅黑" panose="020B0503020204020204" pitchFamily="34" charset="-122"/>
                <a:cs typeface="微软雅黑" panose="020B0503020204020204" pitchFamily="34" charset="-122"/>
              </a:rPr>
              <a:t>增强程序代码的可读性、可重用性和可移植性</a:t>
            </a:r>
            <a:endParaRPr sz="2400">
              <a:latin typeface="微软雅黑" panose="020B0503020204020204" pitchFamily="34" charset="-122"/>
              <a:cs typeface="微软雅黑" panose="020B0503020204020204" pitchFamily="34" charset="-122"/>
            </a:endParaRPr>
          </a:p>
        </p:txBody>
      </p:sp>
      <p:sp>
        <p:nvSpPr>
          <p:cNvPr id="5" name="标题 4"/>
          <p:cNvSpPr>
            <a:spLocks noGrp="1"/>
          </p:cNvSpPr>
          <p:nvPr>
            <p:ph type="title"/>
          </p:nvPr>
        </p:nvSpPr>
        <p:spPr/>
        <p:txBody>
          <a:bodyPr/>
          <a:lstStyle/>
          <a:p>
            <a:r>
              <a:rPr lang="zh-CN" altLang="en-US" dirty="0"/>
              <a:t>软件编程规范</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5</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2514"/>
    </mc:Choice>
    <mc:Fallback xmlns="">
      <p:transition spd="slow" advTm="52514"/>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软件编程规范</a:t>
            </a:r>
          </a:p>
        </p:txBody>
      </p:sp>
      <p:sp>
        <p:nvSpPr>
          <p:cNvPr id="4" name="object 10"/>
          <p:cNvSpPr txBox="1"/>
          <p:nvPr/>
        </p:nvSpPr>
        <p:spPr>
          <a:xfrm>
            <a:off x="5526368" y="1944010"/>
            <a:ext cx="4888865" cy="391160"/>
          </a:xfrm>
          <a:prstGeom prst="rect">
            <a:avLst/>
          </a:prstGeom>
        </p:spPr>
        <p:txBody>
          <a:bodyPr vert="horz" wrap="square" lIns="0" tIns="12700" rIns="0" bIns="0" rtlCol="0">
            <a:spAutoFit/>
          </a:bodyPr>
          <a:lstStyle/>
          <a:p>
            <a:pPr marL="12700">
              <a:lnSpc>
                <a:spcPct val="100000"/>
              </a:lnSpc>
              <a:spcBef>
                <a:spcPts val="100"/>
              </a:spcBef>
            </a:pPr>
            <a:r>
              <a:rPr sz="2400" u="heavy" spc="-5" dirty="0">
                <a:solidFill>
                  <a:srgbClr val="0563C1"/>
                </a:solidFill>
                <a:uFill>
                  <a:solidFill>
                    <a:srgbClr val="0079CD"/>
                  </a:solidFill>
                </a:uFill>
                <a:latin typeface="Arial" panose="020B0604020202020204"/>
                <a:cs typeface="Arial" panose="020B0604020202020204"/>
              </a:rPr>
              <a:t>https://github.com/google/styleguide</a:t>
            </a:r>
            <a:endParaRPr sz="2400" dirty="0">
              <a:latin typeface="Arial" panose="020B0604020202020204"/>
              <a:cs typeface="Arial" panose="020B0604020202020204"/>
            </a:endParaRPr>
          </a:p>
        </p:txBody>
      </p:sp>
      <p:sp>
        <p:nvSpPr>
          <p:cNvPr id="6" name="object 11"/>
          <p:cNvSpPr/>
          <p:nvPr/>
        </p:nvSpPr>
        <p:spPr>
          <a:xfrm>
            <a:off x="1534494" y="1690688"/>
            <a:ext cx="2624987" cy="952039"/>
          </a:xfrm>
          <a:prstGeom prst="rect">
            <a:avLst/>
          </a:prstGeom>
          <a:blipFill>
            <a:blip r:embed="rId3" cstate="print"/>
            <a:stretch>
              <a:fillRect/>
            </a:stretch>
          </a:blipFill>
        </p:spPr>
        <p:txBody>
          <a:bodyPr wrap="square" lIns="0" tIns="0" rIns="0" bIns="0" rtlCol="0"/>
          <a:lstStyle/>
          <a:p>
            <a:endParaRPr/>
          </a:p>
        </p:txBody>
      </p:sp>
      <p:sp>
        <p:nvSpPr>
          <p:cNvPr id="7" name="object 12"/>
          <p:cNvSpPr/>
          <p:nvPr/>
        </p:nvSpPr>
        <p:spPr>
          <a:xfrm>
            <a:off x="1526230" y="3038418"/>
            <a:ext cx="9133052" cy="2554744"/>
          </a:xfrm>
          <a:prstGeom prst="rect">
            <a:avLst/>
          </a:prstGeom>
          <a:blipFill>
            <a:blip r:embed="rId4" cstate="print"/>
            <a:stretch>
              <a:fillRect/>
            </a:stretch>
          </a:blipFill>
        </p:spPr>
        <p:txBody>
          <a:bodyPr wrap="square" lIns="0" tIns="0" rIns="0" bIns="0" rtlCol="0"/>
          <a:lstStyle/>
          <a:p>
            <a:endParaRPr/>
          </a:p>
        </p:txBody>
      </p:sp>
      <p:sp>
        <p:nvSpPr>
          <p:cNvPr id="8" name="object 13"/>
          <p:cNvSpPr/>
          <p:nvPr/>
        </p:nvSpPr>
        <p:spPr>
          <a:xfrm>
            <a:off x="1334452" y="2846640"/>
            <a:ext cx="9523095" cy="2932430"/>
          </a:xfrm>
          <a:custGeom>
            <a:avLst/>
            <a:gdLst/>
            <a:ahLst/>
            <a:cxnLst/>
            <a:rect l="l" t="t" r="r" b="b"/>
            <a:pathLst>
              <a:path w="9523095" h="2932429">
                <a:moveTo>
                  <a:pt x="0" y="0"/>
                </a:moveTo>
                <a:lnTo>
                  <a:pt x="9523013" y="0"/>
                </a:lnTo>
                <a:lnTo>
                  <a:pt x="9523013" y="2932112"/>
                </a:lnTo>
                <a:lnTo>
                  <a:pt x="0" y="2932112"/>
                </a:lnTo>
                <a:lnTo>
                  <a:pt x="0" y="0"/>
                </a:lnTo>
                <a:close/>
              </a:path>
            </a:pathLst>
          </a:custGeom>
          <a:ln w="57149">
            <a:solidFill>
              <a:srgbClr val="D81E00"/>
            </a:solidFill>
          </a:ln>
        </p:spPr>
        <p:txBody>
          <a:bodyPr wrap="square" lIns="0" tIns="0" rIns="0" bIns="0" rtlCol="0"/>
          <a:lstStyle/>
          <a:p>
            <a:endParaRPr/>
          </a:p>
        </p:txBody>
      </p:sp>
      <p:sp>
        <p:nvSpPr>
          <p:cNvPr id="2" name="灯片编号占位符 1"/>
          <p:cNvSpPr>
            <a:spLocks noGrp="1"/>
          </p:cNvSpPr>
          <p:nvPr>
            <p:ph type="sldNum" sz="quarter" idx="12"/>
          </p:nvPr>
        </p:nvSpPr>
        <p:spPr/>
        <p:txBody>
          <a:bodyPr/>
          <a:lstStyle/>
          <a:p>
            <a:fld id="{74D2AB8B-5816-41F2-8B4B-CA5C3E4E6A65}" type="slidenum">
              <a:rPr lang="zh-CN" altLang="en-US" smtClean="0"/>
              <a:t>6</a:t>
            </a:fld>
            <a:endParaRPr lang="zh-CN" altLang="en-US"/>
          </a:p>
        </p:txBody>
      </p:sp>
      <p:sp>
        <p:nvSpPr>
          <p:cNvPr id="3" name="文本框 2">
            <a:extLst>
              <a:ext uri="{FF2B5EF4-FFF2-40B4-BE49-F238E27FC236}">
                <a16:creationId xmlns:a16="http://schemas.microsoft.com/office/drawing/2014/main" id="{AEEC39EC-EA78-4B24-9066-AB7B90229682}"/>
              </a:ext>
            </a:extLst>
          </p:cNvPr>
          <p:cNvSpPr txBox="1"/>
          <p:nvPr/>
        </p:nvSpPr>
        <p:spPr>
          <a:xfrm>
            <a:off x="8012430" y="891540"/>
            <a:ext cx="2845117" cy="923330"/>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接受的范围更广泛一些</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尽量解释了原因</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涵盖多种编程语言</a:t>
            </a:r>
          </a:p>
        </p:txBody>
      </p:sp>
    </p:spTree>
  </p:cSld>
  <p:clrMapOvr>
    <a:masterClrMapping/>
  </p:clrMapOvr>
  <mc:AlternateContent xmlns:mc="http://schemas.openxmlformats.org/markup-compatibility/2006" xmlns:p14="http://schemas.microsoft.com/office/powerpoint/2010/main">
    <mc:Choice Requires="p14">
      <p:transition spd="slow" p14:dur="2000" advTm="40992"/>
    </mc:Choice>
    <mc:Fallback xmlns="">
      <p:transition spd="slow" advTm="40992"/>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40" y="178435"/>
            <a:ext cx="4791075" cy="443230"/>
          </a:xfrm>
          <a:prstGeom prst="rect">
            <a:avLst/>
          </a:prstGeom>
        </p:spPr>
        <p:txBody>
          <a:bodyPr vert="horz" wrap="square" lIns="0" tIns="12700" rIns="0" bIns="0" rtlCol="0">
            <a:spAutoFit/>
          </a:bodyPr>
          <a:lstStyle/>
          <a:p>
            <a:pPr marL="12700">
              <a:lnSpc>
                <a:spcPct val="100000"/>
              </a:lnSpc>
              <a:spcBef>
                <a:spcPts val="100"/>
              </a:spcBef>
            </a:pPr>
            <a:r>
              <a:rPr dirty="0">
                <a:latin typeface="Arial" panose="020B0604020202020204"/>
                <a:cs typeface="Arial" panose="020B0604020202020204"/>
              </a:rPr>
              <a:t>Pyt</a:t>
            </a:r>
            <a:r>
              <a:rPr spc="-5" dirty="0">
                <a:latin typeface="Arial" panose="020B0604020202020204"/>
                <a:cs typeface="Arial" panose="020B0604020202020204"/>
              </a:rPr>
              <a:t>ho</a:t>
            </a:r>
            <a:r>
              <a:rPr dirty="0">
                <a:latin typeface="Arial" panose="020B0604020202020204"/>
                <a:cs typeface="Arial" panose="020B0604020202020204"/>
              </a:rPr>
              <a:t>n</a:t>
            </a:r>
            <a:r>
              <a:rPr dirty="0"/>
              <a:t>编程规范：程序模板</a:t>
            </a:r>
          </a:p>
        </p:txBody>
      </p:sp>
      <p:sp>
        <p:nvSpPr>
          <p:cNvPr id="3" name="object 3"/>
          <p:cNvSpPr txBox="1">
            <a:spLocks noGrp="1"/>
          </p:cNvSpPr>
          <p:nvPr>
            <p:ph sz="half" idx="2"/>
          </p:nvPr>
        </p:nvSpPr>
        <p:spPr>
          <a:xfrm>
            <a:off x="1207347" y="969198"/>
            <a:ext cx="3916172" cy="5018040"/>
          </a:xfrm>
          <a:prstGeom prst="rect">
            <a:avLst/>
          </a:prstGeom>
        </p:spPr>
        <p:txBody>
          <a:bodyPr vert="horz" wrap="square" lIns="0" tIns="13970" rIns="0" bIns="0" rtlCol="0">
            <a:spAutoFit/>
          </a:bodyPr>
          <a:lstStyle/>
          <a:p>
            <a:pPr marL="12700" marR="633095" algn="just">
              <a:lnSpc>
                <a:spcPct val="100000"/>
              </a:lnSpc>
              <a:spcBef>
                <a:spcPts val="110"/>
              </a:spcBef>
            </a:pPr>
            <a:r>
              <a:rPr i="1" dirty="0"/>
              <a:t>#</a:t>
            </a:r>
            <a:r>
              <a:rPr i="1" spc="-5" dirty="0"/>
              <a:t>!/usr/bin/env</a:t>
            </a:r>
            <a:r>
              <a:rPr lang="en-US" spc="-40" dirty="0"/>
              <a:t> </a:t>
            </a:r>
            <a:r>
              <a:rPr i="1" dirty="0"/>
              <a:t>python3  </a:t>
            </a:r>
            <a:endParaRPr lang="en-US" i="1" dirty="0"/>
          </a:p>
          <a:p>
            <a:pPr marL="12700" marR="633095" algn="just">
              <a:lnSpc>
                <a:spcPct val="100000"/>
              </a:lnSpc>
              <a:spcBef>
                <a:spcPts val="110"/>
              </a:spcBef>
            </a:pPr>
            <a:r>
              <a:rPr dirty="0"/>
              <a:t># </a:t>
            </a:r>
            <a:r>
              <a:rPr spc="-570" dirty="0"/>
              <a:t>-­‐*-­‐ </a:t>
            </a:r>
            <a:r>
              <a:rPr dirty="0"/>
              <a:t>coding: </a:t>
            </a:r>
            <a:r>
              <a:rPr spc="-285" dirty="0"/>
              <a:t>utf-­‐8 </a:t>
            </a:r>
            <a:r>
              <a:rPr spc="-570" dirty="0"/>
              <a:t>-­‐*-­‐ </a:t>
            </a:r>
            <a:endParaRPr lang="en-US" spc="-570" dirty="0"/>
          </a:p>
          <a:p>
            <a:pPr marL="12700" marR="633095" algn="just">
              <a:lnSpc>
                <a:spcPct val="100000"/>
              </a:lnSpc>
              <a:spcBef>
                <a:spcPts val="110"/>
              </a:spcBef>
            </a:pPr>
            <a:r>
              <a:rPr dirty="0"/>
              <a:t>#</a:t>
            </a:r>
            <a:r>
              <a:rPr lang="en" dirty="0"/>
              <a:t>_author = '</a:t>
            </a:r>
            <a:r>
              <a:rPr lang="en" dirty="0" err="1"/>
              <a:t>YourName</a:t>
            </a:r>
            <a:r>
              <a:rPr lang="en" i="0" dirty="0">
                <a:solidFill>
                  <a:srgbClr val="BA2121"/>
                </a:solidFill>
                <a:latin typeface="Consolas" panose="020B0609020204030204"/>
                <a:cs typeface="Consolas" panose="020B0609020204030204"/>
              </a:rPr>
              <a:t>'</a:t>
            </a:r>
          </a:p>
          <a:p>
            <a:pPr>
              <a:lnSpc>
                <a:spcPct val="100000"/>
              </a:lnSpc>
            </a:pPr>
            <a:endParaRPr sz="2000" dirty="0">
              <a:latin typeface="Times New Roman" panose="02020603050405020304"/>
              <a:cs typeface="Times New Roman" panose="02020603050405020304"/>
            </a:endParaRPr>
          </a:p>
          <a:p>
            <a:pPr>
              <a:lnSpc>
                <a:spcPct val="100000"/>
              </a:lnSpc>
              <a:spcBef>
                <a:spcPts val="25"/>
              </a:spcBef>
            </a:pPr>
            <a:endParaRPr sz="1750" dirty="0">
              <a:latin typeface="Times New Roman" panose="02020603050405020304"/>
              <a:cs typeface="Times New Roman" panose="02020603050405020304"/>
            </a:endParaRPr>
          </a:p>
          <a:p>
            <a:pPr marL="12700">
              <a:lnSpc>
                <a:spcPct val="100000"/>
              </a:lnSpc>
            </a:pPr>
            <a:r>
              <a:rPr b="1" i="0" dirty="0">
                <a:solidFill>
                  <a:srgbClr val="008000"/>
                </a:solidFill>
                <a:latin typeface="Consolas" panose="020B0609020204030204"/>
                <a:cs typeface="Consolas" panose="020B0609020204030204"/>
              </a:rPr>
              <a:t>import</a:t>
            </a:r>
            <a:r>
              <a:rPr b="1" i="0" spc="-15" dirty="0">
                <a:solidFill>
                  <a:srgbClr val="008000"/>
                </a:solidFill>
                <a:latin typeface="Consolas" panose="020B0609020204030204"/>
                <a:cs typeface="Consolas" panose="020B0609020204030204"/>
              </a:rPr>
              <a:t> </a:t>
            </a:r>
            <a:r>
              <a:rPr b="1" i="0" dirty="0">
                <a:solidFill>
                  <a:srgbClr val="0000FF"/>
                </a:solidFill>
                <a:latin typeface="Consolas" panose="020B0609020204030204"/>
                <a:cs typeface="Consolas" panose="020B0609020204030204"/>
              </a:rPr>
              <a:t>sys</a:t>
            </a:r>
          </a:p>
          <a:p>
            <a:pPr>
              <a:lnSpc>
                <a:spcPct val="100000"/>
              </a:lnSpc>
            </a:pPr>
            <a:endParaRPr b="1" i="0" dirty="0">
              <a:solidFill>
                <a:srgbClr val="0000FF"/>
              </a:solidFill>
              <a:latin typeface="Consolas" panose="020B0609020204030204"/>
              <a:cs typeface="Consolas" panose="020B0609020204030204"/>
            </a:endParaRPr>
          </a:p>
          <a:p>
            <a:pPr>
              <a:lnSpc>
                <a:spcPct val="100000"/>
              </a:lnSpc>
              <a:spcBef>
                <a:spcPts val="30"/>
              </a:spcBef>
            </a:pPr>
            <a:endParaRPr sz="1950" dirty="0">
              <a:latin typeface="Times New Roman" panose="02020603050405020304"/>
              <a:cs typeface="Times New Roman" panose="02020603050405020304"/>
            </a:endParaRPr>
          </a:p>
          <a:p>
            <a:pPr marL="12700">
              <a:lnSpc>
                <a:spcPct val="100000"/>
              </a:lnSpc>
            </a:pPr>
            <a:r>
              <a:rPr b="1" i="0" dirty="0">
                <a:solidFill>
                  <a:srgbClr val="008000"/>
                </a:solidFill>
                <a:latin typeface="Consolas" panose="020B0609020204030204"/>
                <a:cs typeface="Consolas" panose="020B0609020204030204"/>
              </a:rPr>
              <a:t>def</a:t>
            </a:r>
            <a:r>
              <a:rPr b="1" i="0" spc="-10" dirty="0">
                <a:solidFill>
                  <a:srgbClr val="008000"/>
                </a:solidFill>
                <a:latin typeface="Consolas" panose="020B0609020204030204"/>
                <a:cs typeface="Consolas" panose="020B0609020204030204"/>
              </a:rPr>
              <a:t> </a:t>
            </a:r>
            <a:r>
              <a:rPr b="1" i="0" dirty="0">
                <a:solidFill>
                  <a:srgbClr val="0000FF"/>
                </a:solidFill>
                <a:latin typeface="Consolas" panose="020B0609020204030204"/>
                <a:cs typeface="Consolas" panose="020B0609020204030204"/>
              </a:rPr>
              <a:t>main(argv):</a:t>
            </a:r>
          </a:p>
          <a:p>
            <a:pPr marL="514985">
              <a:lnSpc>
                <a:spcPts val="2130"/>
              </a:lnSpc>
              <a:spcBef>
                <a:spcPts val="40"/>
              </a:spcBef>
            </a:pPr>
            <a:r>
              <a:rPr i="1" dirty="0">
                <a:solidFill>
                  <a:srgbClr val="BA2121"/>
                </a:solidFill>
              </a:rPr>
              <a:t>"""Do</a:t>
            </a:r>
            <a:r>
              <a:rPr i="1" spc="-25" dirty="0">
                <a:solidFill>
                  <a:srgbClr val="BA2121"/>
                </a:solidFill>
              </a:rPr>
              <a:t> </a:t>
            </a:r>
            <a:r>
              <a:rPr i="1" dirty="0">
                <a:solidFill>
                  <a:srgbClr val="BA2121"/>
                </a:solidFill>
              </a:rPr>
              <a:t>something..."""</a:t>
            </a:r>
          </a:p>
          <a:p>
            <a:pPr marL="514985">
              <a:lnSpc>
                <a:spcPts val="2130"/>
              </a:lnSpc>
            </a:pPr>
            <a:r>
              <a:rPr b="1" i="0" dirty="0">
                <a:solidFill>
                  <a:srgbClr val="008000"/>
                </a:solidFill>
                <a:latin typeface="Consolas" panose="020B0609020204030204"/>
                <a:cs typeface="Consolas" panose="020B0609020204030204"/>
              </a:rPr>
              <a:t>return</a:t>
            </a:r>
            <a:r>
              <a:rPr b="1" i="0" spc="-15" dirty="0">
                <a:solidFill>
                  <a:srgbClr val="008000"/>
                </a:solidFill>
                <a:latin typeface="Consolas" panose="020B0609020204030204"/>
                <a:cs typeface="Consolas" panose="020B0609020204030204"/>
              </a:rPr>
              <a:t> </a:t>
            </a:r>
            <a:r>
              <a:rPr b="1" i="0" dirty="0">
                <a:solidFill>
                  <a:srgbClr val="666666"/>
                </a:solidFill>
                <a:latin typeface="Consolas" panose="020B0609020204030204"/>
                <a:cs typeface="Consolas" panose="020B0609020204030204"/>
              </a:rPr>
              <a:t>0</a:t>
            </a:r>
          </a:p>
          <a:p>
            <a:pPr>
              <a:lnSpc>
                <a:spcPct val="100000"/>
              </a:lnSpc>
            </a:pPr>
            <a:endParaRPr b="1" i="0" dirty="0">
              <a:solidFill>
                <a:srgbClr val="666666"/>
              </a:solidFill>
              <a:latin typeface="Consolas" panose="020B0609020204030204"/>
              <a:cs typeface="Consolas" panose="020B0609020204030204"/>
            </a:endParaRPr>
          </a:p>
          <a:p>
            <a:pPr>
              <a:lnSpc>
                <a:spcPct val="100000"/>
              </a:lnSpc>
              <a:spcBef>
                <a:spcPts val="25"/>
              </a:spcBef>
            </a:pPr>
            <a:endParaRPr sz="1950" dirty="0">
              <a:latin typeface="Times New Roman" panose="02020603050405020304"/>
              <a:cs typeface="Times New Roman" panose="02020603050405020304"/>
            </a:endParaRPr>
          </a:p>
          <a:p>
            <a:pPr marL="12700">
              <a:lnSpc>
                <a:spcPct val="100000"/>
              </a:lnSpc>
              <a:spcBef>
                <a:spcPts val="5"/>
              </a:spcBef>
              <a:tabLst>
                <a:tab pos="640715" algn="l"/>
                <a:tab pos="1395095" algn="l"/>
                <a:tab pos="2274570" algn="l"/>
                <a:tab pos="3028950" algn="l"/>
              </a:tabLst>
            </a:pPr>
            <a:r>
              <a:rPr b="1" i="0" dirty="0">
                <a:solidFill>
                  <a:srgbClr val="008000"/>
                </a:solidFill>
                <a:latin typeface="Consolas" panose="020B0609020204030204"/>
                <a:cs typeface="Consolas" panose="020B0609020204030204"/>
              </a:rPr>
              <a:t>if</a:t>
            </a:r>
            <a:r>
              <a:rPr b="1" i="0" u="heavy" dirty="0">
                <a:solidFill>
                  <a:srgbClr val="008000"/>
                </a:solidFill>
                <a:uFill>
                  <a:solidFill>
                    <a:srgbClr val="007F00"/>
                  </a:solidFill>
                </a:uFill>
                <a:latin typeface="Consolas" panose="020B0609020204030204"/>
                <a:cs typeface="Consolas" panose="020B0609020204030204"/>
              </a:rPr>
              <a:t> 	</a:t>
            </a:r>
            <a:r>
              <a:rPr b="1" i="0" dirty="0">
                <a:solidFill>
                  <a:srgbClr val="008000"/>
                </a:solidFill>
                <a:latin typeface="Consolas" panose="020B0609020204030204"/>
                <a:cs typeface="Consolas" panose="020B0609020204030204"/>
              </a:rPr>
              <a:t>name</a:t>
            </a:r>
            <a:r>
              <a:rPr b="1" i="0" u="heavy" dirty="0">
                <a:solidFill>
                  <a:srgbClr val="008000"/>
                </a:solidFill>
                <a:uFill>
                  <a:solidFill>
                    <a:srgbClr val="007F00"/>
                  </a:solidFill>
                </a:uFill>
                <a:latin typeface="Consolas" panose="020B0609020204030204"/>
                <a:cs typeface="Consolas" panose="020B0609020204030204"/>
              </a:rPr>
              <a:t> 	</a:t>
            </a:r>
            <a:r>
              <a:rPr b="1" i="0" dirty="0">
                <a:solidFill>
                  <a:srgbClr val="666666"/>
                </a:solidFill>
                <a:latin typeface="Consolas" panose="020B0609020204030204"/>
                <a:cs typeface="Consolas" panose="020B0609020204030204"/>
              </a:rPr>
              <a:t>==</a:t>
            </a:r>
            <a:r>
              <a:rPr b="1" i="0" spc="-5" dirty="0">
                <a:solidFill>
                  <a:srgbClr val="666666"/>
                </a:solidFill>
                <a:latin typeface="Consolas" panose="020B0609020204030204"/>
                <a:cs typeface="Consolas" panose="020B0609020204030204"/>
              </a:rPr>
              <a:t> </a:t>
            </a:r>
            <a:r>
              <a:rPr b="1" i="0" dirty="0">
                <a:solidFill>
                  <a:srgbClr val="BA2121"/>
                </a:solidFill>
                <a:latin typeface="Consolas" panose="020B0609020204030204"/>
                <a:cs typeface="Consolas" panose="020B0609020204030204"/>
              </a:rPr>
              <a:t>'</a:t>
            </a:r>
            <a:r>
              <a:rPr b="1" i="0" u="heavy" dirty="0">
                <a:solidFill>
                  <a:srgbClr val="BA2121"/>
                </a:solidFill>
                <a:uFill>
                  <a:solidFill>
                    <a:srgbClr val="B92020"/>
                  </a:solidFill>
                </a:uFill>
                <a:latin typeface="Consolas" panose="020B0609020204030204"/>
                <a:cs typeface="Consolas" panose="020B0609020204030204"/>
              </a:rPr>
              <a:t> 	</a:t>
            </a:r>
            <a:r>
              <a:rPr b="1" i="0" dirty="0">
                <a:solidFill>
                  <a:srgbClr val="BA2121"/>
                </a:solidFill>
                <a:latin typeface="Consolas" panose="020B0609020204030204"/>
                <a:cs typeface="Consolas" panose="020B0609020204030204"/>
              </a:rPr>
              <a:t>main</a:t>
            </a:r>
            <a:r>
              <a:rPr b="1" i="0" u="heavy" dirty="0">
                <a:solidFill>
                  <a:srgbClr val="BA2121"/>
                </a:solidFill>
                <a:uFill>
                  <a:solidFill>
                    <a:srgbClr val="B92020"/>
                  </a:solidFill>
                </a:uFill>
                <a:latin typeface="Consolas" panose="020B0609020204030204"/>
                <a:cs typeface="Consolas" panose="020B0609020204030204"/>
              </a:rPr>
              <a:t> 	</a:t>
            </a:r>
            <a:r>
              <a:rPr b="1" i="0" dirty="0">
                <a:solidFill>
                  <a:srgbClr val="BA2121"/>
                </a:solidFill>
                <a:latin typeface="Consolas" panose="020B0609020204030204"/>
                <a:cs typeface="Consolas" panose="020B0609020204030204"/>
              </a:rPr>
              <a:t>':</a:t>
            </a:r>
          </a:p>
          <a:p>
            <a:pPr marL="514985">
              <a:lnSpc>
                <a:spcPct val="100000"/>
              </a:lnSpc>
              <a:spcBef>
                <a:spcPts val="40"/>
              </a:spcBef>
            </a:pPr>
            <a:r>
              <a:rPr i="0" dirty="0">
                <a:solidFill>
                  <a:srgbClr val="008000"/>
                </a:solidFill>
                <a:latin typeface="Consolas" panose="020B0609020204030204"/>
                <a:cs typeface="Consolas" panose="020B0609020204030204"/>
              </a:rPr>
              <a:t>exit(main(sys</a:t>
            </a:r>
            <a:r>
              <a:rPr i="0" dirty="0">
                <a:solidFill>
                  <a:srgbClr val="666666"/>
                </a:solidFill>
                <a:latin typeface="Consolas" panose="020B0609020204030204"/>
                <a:cs typeface="Consolas" panose="020B0609020204030204"/>
              </a:rPr>
              <a:t>.argv[1:]))</a:t>
            </a:r>
          </a:p>
        </p:txBody>
      </p:sp>
      <p:sp>
        <p:nvSpPr>
          <p:cNvPr id="4" name="object 4"/>
          <p:cNvSpPr/>
          <p:nvPr/>
        </p:nvSpPr>
        <p:spPr>
          <a:xfrm>
            <a:off x="4566985" y="1124617"/>
            <a:ext cx="981075" cy="0"/>
          </a:xfrm>
          <a:custGeom>
            <a:avLst/>
            <a:gdLst/>
            <a:ahLst/>
            <a:cxnLst/>
            <a:rect l="l" t="t" r="r" b="b"/>
            <a:pathLst>
              <a:path w="981075">
                <a:moveTo>
                  <a:pt x="0" y="0"/>
                </a:moveTo>
                <a:lnTo>
                  <a:pt x="981074" y="0"/>
                </a:lnTo>
              </a:path>
            </a:pathLst>
          </a:custGeom>
          <a:ln w="19049">
            <a:solidFill>
              <a:srgbClr val="F2913F"/>
            </a:solidFill>
          </a:ln>
        </p:spPr>
        <p:txBody>
          <a:bodyPr wrap="square" lIns="0" tIns="0" rIns="0" bIns="0" rtlCol="0"/>
          <a:lstStyle/>
          <a:p>
            <a:endParaRPr/>
          </a:p>
        </p:txBody>
      </p:sp>
      <p:sp>
        <p:nvSpPr>
          <p:cNvPr id="5" name="object 5"/>
          <p:cNvSpPr/>
          <p:nvPr/>
        </p:nvSpPr>
        <p:spPr>
          <a:xfrm>
            <a:off x="5497260" y="1086517"/>
            <a:ext cx="76200" cy="76200"/>
          </a:xfrm>
          <a:custGeom>
            <a:avLst/>
            <a:gdLst/>
            <a:ahLst/>
            <a:cxnLst/>
            <a:rect l="l" t="t" r="r" b="b"/>
            <a:pathLst>
              <a:path w="76200" h="76200">
                <a:moveTo>
                  <a:pt x="0" y="0"/>
                </a:moveTo>
                <a:lnTo>
                  <a:pt x="0" y="76200"/>
                </a:lnTo>
                <a:lnTo>
                  <a:pt x="76200" y="38100"/>
                </a:lnTo>
                <a:lnTo>
                  <a:pt x="0" y="0"/>
                </a:lnTo>
                <a:close/>
              </a:path>
            </a:pathLst>
          </a:custGeom>
          <a:solidFill>
            <a:srgbClr val="F2913F"/>
          </a:solidFill>
        </p:spPr>
        <p:txBody>
          <a:bodyPr wrap="square" lIns="0" tIns="0" rIns="0" bIns="0" rtlCol="0"/>
          <a:lstStyle/>
          <a:p>
            <a:endParaRPr/>
          </a:p>
        </p:txBody>
      </p:sp>
      <p:sp>
        <p:nvSpPr>
          <p:cNvPr id="6" name="object 6"/>
          <p:cNvSpPr/>
          <p:nvPr/>
        </p:nvSpPr>
        <p:spPr>
          <a:xfrm>
            <a:off x="4566985" y="1502099"/>
            <a:ext cx="981075" cy="0"/>
          </a:xfrm>
          <a:custGeom>
            <a:avLst/>
            <a:gdLst/>
            <a:ahLst/>
            <a:cxnLst/>
            <a:rect l="l" t="t" r="r" b="b"/>
            <a:pathLst>
              <a:path w="981075">
                <a:moveTo>
                  <a:pt x="0" y="0"/>
                </a:moveTo>
                <a:lnTo>
                  <a:pt x="981074" y="0"/>
                </a:lnTo>
              </a:path>
            </a:pathLst>
          </a:custGeom>
          <a:ln w="19049">
            <a:solidFill>
              <a:srgbClr val="F2913F"/>
            </a:solidFill>
          </a:ln>
        </p:spPr>
        <p:txBody>
          <a:bodyPr wrap="square" lIns="0" tIns="0" rIns="0" bIns="0" rtlCol="0"/>
          <a:lstStyle/>
          <a:p>
            <a:endParaRPr/>
          </a:p>
        </p:txBody>
      </p:sp>
      <p:sp>
        <p:nvSpPr>
          <p:cNvPr id="7" name="object 7"/>
          <p:cNvSpPr/>
          <p:nvPr/>
        </p:nvSpPr>
        <p:spPr>
          <a:xfrm>
            <a:off x="5497260" y="1463999"/>
            <a:ext cx="76200" cy="76200"/>
          </a:xfrm>
          <a:custGeom>
            <a:avLst/>
            <a:gdLst/>
            <a:ahLst/>
            <a:cxnLst/>
            <a:rect l="l" t="t" r="r" b="b"/>
            <a:pathLst>
              <a:path w="76200" h="76200">
                <a:moveTo>
                  <a:pt x="0" y="0"/>
                </a:moveTo>
                <a:lnTo>
                  <a:pt x="0" y="76200"/>
                </a:lnTo>
                <a:lnTo>
                  <a:pt x="76200" y="38100"/>
                </a:lnTo>
                <a:lnTo>
                  <a:pt x="0" y="0"/>
                </a:lnTo>
                <a:close/>
              </a:path>
            </a:pathLst>
          </a:custGeom>
          <a:solidFill>
            <a:srgbClr val="F2913F"/>
          </a:solidFill>
        </p:spPr>
        <p:txBody>
          <a:bodyPr wrap="square" lIns="0" tIns="0" rIns="0" bIns="0" rtlCol="0"/>
          <a:lstStyle/>
          <a:p>
            <a:endParaRPr/>
          </a:p>
        </p:txBody>
      </p:sp>
      <p:sp>
        <p:nvSpPr>
          <p:cNvPr id="8" name="object 8"/>
          <p:cNvSpPr txBox="1"/>
          <p:nvPr/>
        </p:nvSpPr>
        <p:spPr>
          <a:xfrm>
            <a:off x="5783349" y="1061398"/>
            <a:ext cx="5512435" cy="780415"/>
          </a:xfrm>
          <a:prstGeom prst="rect">
            <a:avLst/>
          </a:prstGeom>
        </p:spPr>
        <p:txBody>
          <a:bodyPr vert="horz" wrap="square" lIns="0" tIns="12700" rIns="0" bIns="0" rtlCol="0">
            <a:spAutoFit/>
          </a:bodyPr>
          <a:lstStyle/>
          <a:p>
            <a:pPr marL="12700" marR="5080">
              <a:lnSpc>
                <a:spcPct val="138000"/>
              </a:lnSpc>
              <a:spcBef>
                <a:spcPts val="100"/>
              </a:spcBef>
            </a:pPr>
            <a:r>
              <a:rPr sz="1800" dirty="0">
                <a:latin typeface="微软雅黑" panose="020B0503020204020204" pitchFamily="34" charset="-122"/>
                <a:cs typeface="微软雅黑" panose="020B0503020204020204" pitchFamily="34" charset="-122"/>
              </a:rPr>
              <a:t>被直接执行的文件建议增加此行，被导入的模块请忽略 文件的基本头部</a:t>
            </a:r>
          </a:p>
        </p:txBody>
      </p:sp>
      <p:sp>
        <p:nvSpPr>
          <p:cNvPr id="9" name="object 9"/>
          <p:cNvSpPr/>
          <p:nvPr/>
        </p:nvSpPr>
        <p:spPr>
          <a:xfrm>
            <a:off x="4566985" y="2793985"/>
            <a:ext cx="981075" cy="0"/>
          </a:xfrm>
          <a:custGeom>
            <a:avLst/>
            <a:gdLst/>
            <a:ahLst/>
            <a:cxnLst/>
            <a:rect l="l" t="t" r="r" b="b"/>
            <a:pathLst>
              <a:path w="981075">
                <a:moveTo>
                  <a:pt x="0" y="0"/>
                </a:moveTo>
                <a:lnTo>
                  <a:pt x="981074" y="0"/>
                </a:lnTo>
              </a:path>
            </a:pathLst>
          </a:custGeom>
          <a:ln w="19049">
            <a:solidFill>
              <a:srgbClr val="F2913F"/>
            </a:solidFill>
          </a:ln>
        </p:spPr>
        <p:txBody>
          <a:bodyPr wrap="square" lIns="0" tIns="0" rIns="0" bIns="0" rtlCol="0"/>
          <a:lstStyle/>
          <a:p>
            <a:endParaRPr/>
          </a:p>
        </p:txBody>
      </p:sp>
      <p:sp>
        <p:nvSpPr>
          <p:cNvPr id="10" name="object 10"/>
          <p:cNvSpPr/>
          <p:nvPr/>
        </p:nvSpPr>
        <p:spPr>
          <a:xfrm>
            <a:off x="5497260" y="2755885"/>
            <a:ext cx="76200" cy="76200"/>
          </a:xfrm>
          <a:custGeom>
            <a:avLst/>
            <a:gdLst/>
            <a:ahLst/>
            <a:cxnLst/>
            <a:rect l="l" t="t" r="r" b="b"/>
            <a:pathLst>
              <a:path w="76200" h="76200">
                <a:moveTo>
                  <a:pt x="0" y="0"/>
                </a:moveTo>
                <a:lnTo>
                  <a:pt x="0" y="76200"/>
                </a:lnTo>
                <a:lnTo>
                  <a:pt x="76200" y="38100"/>
                </a:lnTo>
                <a:lnTo>
                  <a:pt x="0" y="0"/>
                </a:lnTo>
                <a:close/>
              </a:path>
            </a:pathLst>
          </a:custGeom>
          <a:solidFill>
            <a:srgbClr val="F2913F"/>
          </a:solidFill>
        </p:spPr>
        <p:txBody>
          <a:bodyPr wrap="square" lIns="0" tIns="0" rIns="0" bIns="0" rtlCol="0"/>
          <a:lstStyle/>
          <a:p>
            <a:endParaRPr/>
          </a:p>
        </p:txBody>
      </p:sp>
      <p:sp>
        <p:nvSpPr>
          <p:cNvPr id="11" name="object 11"/>
          <p:cNvSpPr/>
          <p:nvPr/>
        </p:nvSpPr>
        <p:spPr>
          <a:xfrm>
            <a:off x="4566985" y="3888921"/>
            <a:ext cx="981075" cy="0"/>
          </a:xfrm>
          <a:custGeom>
            <a:avLst/>
            <a:gdLst/>
            <a:ahLst/>
            <a:cxnLst/>
            <a:rect l="l" t="t" r="r" b="b"/>
            <a:pathLst>
              <a:path w="981075">
                <a:moveTo>
                  <a:pt x="0" y="0"/>
                </a:moveTo>
                <a:lnTo>
                  <a:pt x="981074" y="0"/>
                </a:lnTo>
              </a:path>
            </a:pathLst>
          </a:custGeom>
          <a:ln w="19049">
            <a:solidFill>
              <a:srgbClr val="F2913F"/>
            </a:solidFill>
          </a:ln>
        </p:spPr>
        <p:txBody>
          <a:bodyPr wrap="square" lIns="0" tIns="0" rIns="0" bIns="0" rtlCol="0"/>
          <a:lstStyle/>
          <a:p>
            <a:endParaRPr/>
          </a:p>
        </p:txBody>
      </p:sp>
      <p:sp>
        <p:nvSpPr>
          <p:cNvPr id="12" name="object 12"/>
          <p:cNvSpPr/>
          <p:nvPr/>
        </p:nvSpPr>
        <p:spPr>
          <a:xfrm>
            <a:off x="5497260" y="3850821"/>
            <a:ext cx="76200" cy="76200"/>
          </a:xfrm>
          <a:custGeom>
            <a:avLst/>
            <a:gdLst/>
            <a:ahLst/>
            <a:cxnLst/>
            <a:rect l="l" t="t" r="r" b="b"/>
            <a:pathLst>
              <a:path w="76200" h="76200">
                <a:moveTo>
                  <a:pt x="0" y="0"/>
                </a:moveTo>
                <a:lnTo>
                  <a:pt x="0" y="76200"/>
                </a:lnTo>
                <a:lnTo>
                  <a:pt x="76200" y="38100"/>
                </a:lnTo>
                <a:lnTo>
                  <a:pt x="0" y="0"/>
                </a:lnTo>
                <a:close/>
              </a:path>
            </a:pathLst>
          </a:custGeom>
          <a:solidFill>
            <a:srgbClr val="F2913F"/>
          </a:solidFill>
        </p:spPr>
        <p:txBody>
          <a:bodyPr wrap="square" lIns="0" tIns="0" rIns="0" bIns="0" rtlCol="0"/>
          <a:lstStyle/>
          <a:p>
            <a:endParaRPr/>
          </a:p>
        </p:txBody>
      </p:sp>
      <p:sp>
        <p:nvSpPr>
          <p:cNvPr id="13" name="object 13"/>
          <p:cNvSpPr/>
          <p:nvPr/>
        </p:nvSpPr>
        <p:spPr>
          <a:xfrm>
            <a:off x="4566985" y="4969788"/>
            <a:ext cx="981075" cy="0"/>
          </a:xfrm>
          <a:custGeom>
            <a:avLst/>
            <a:gdLst/>
            <a:ahLst/>
            <a:cxnLst/>
            <a:rect l="l" t="t" r="r" b="b"/>
            <a:pathLst>
              <a:path w="981075">
                <a:moveTo>
                  <a:pt x="0" y="0"/>
                </a:moveTo>
                <a:lnTo>
                  <a:pt x="981074" y="0"/>
                </a:lnTo>
              </a:path>
            </a:pathLst>
          </a:custGeom>
          <a:ln w="19049">
            <a:solidFill>
              <a:srgbClr val="F2913F"/>
            </a:solidFill>
          </a:ln>
        </p:spPr>
        <p:txBody>
          <a:bodyPr wrap="square" lIns="0" tIns="0" rIns="0" bIns="0" rtlCol="0"/>
          <a:lstStyle/>
          <a:p>
            <a:endParaRPr/>
          </a:p>
        </p:txBody>
      </p:sp>
      <p:sp>
        <p:nvSpPr>
          <p:cNvPr id="14" name="object 14"/>
          <p:cNvSpPr/>
          <p:nvPr/>
        </p:nvSpPr>
        <p:spPr>
          <a:xfrm>
            <a:off x="5497260" y="4931688"/>
            <a:ext cx="76200" cy="76200"/>
          </a:xfrm>
          <a:custGeom>
            <a:avLst/>
            <a:gdLst/>
            <a:ahLst/>
            <a:cxnLst/>
            <a:rect l="l" t="t" r="r" b="b"/>
            <a:pathLst>
              <a:path w="76200" h="76200">
                <a:moveTo>
                  <a:pt x="0" y="0"/>
                </a:moveTo>
                <a:lnTo>
                  <a:pt x="0" y="76200"/>
                </a:lnTo>
                <a:lnTo>
                  <a:pt x="76200" y="38100"/>
                </a:lnTo>
                <a:lnTo>
                  <a:pt x="0" y="0"/>
                </a:lnTo>
                <a:close/>
              </a:path>
            </a:pathLst>
          </a:custGeom>
          <a:solidFill>
            <a:srgbClr val="F2913F"/>
          </a:solidFill>
        </p:spPr>
        <p:txBody>
          <a:bodyPr wrap="square" lIns="0" tIns="0" rIns="0" bIns="0" rtlCol="0"/>
          <a:lstStyle/>
          <a:p>
            <a:endParaRPr/>
          </a:p>
        </p:txBody>
      </p:sp>
      <p:sp>
        <p:nvSpPr>
          <p:cNvPr id="15" name="object 15"/>
          <p:cNvSpPr txBox="1"/>
          <p:nvPr/>
        </p:nvSpPr>
        <p:spPr>
          <a:xfrm>
            <a:off x="5783349" y="4818143"/>
            <a:ext cx="4597400" cy="566420"/>
          </a:xfrm>
          <a:prstGeom prst="rect">
            <a:avLst/>
          </a:prstGeom>
        </p:spPr>
        <p:txBody>
          <a:bodyPr vert="horz" wrap="square" lIns="0" tIns="27940" rIns="0" bIns="0" rtlCol="0">
            <a:spAutoFit/>
          </a:bodyPr>
          <a:lstStyle/>
          <a:p>
            <a:pPr marL="12700" marR="5080">
              <a:lnSpc>
                <a:spcPts val="2100"/>
              </a:lnSpc>
              <a:spcBef>
                <a:spcPts val="220"/>
              </a:spcBef>
            </a:pPr>
            <a:r>
              <a:rPr sz="1800" dirty="0">
                <a:latin typeface="微软雅黑" panose="020B0503020204020204" pitchFamily="34" charset="-122"/>
                <a:cs typeface="微软雅黑" panose="020B0503020204020204" pitchFamily="34" charset="-122"/>
              </a:rPr>
              <a:t>即使打算被直接执行的文件也应是可导入的， 这样当模块被导入时主程序就不会被执行</a:t>
            </a:r>
          </a:p>
        </p:txBody>
      </p:sp>
      <p:sp>
        <p:nvSpPr>
          <p:cNvPr id="16" name="object 16"/>
          <p:cNvSpPr/>
          <p:nvPr/>
        </p:nvSpPr>
        <p:spPr>
          <a:xfrm>
            <a:off x="4566985" y="3574742"/>
            <a:ext cx="981075" cy="0"/>
          </a:xfrm>
          <a:custGeom>
            <a:avLst/>
            <a:gdLst/>
            <a:ahLst/>
            <a:cxnLst/>
            <a:rect l="l" t="t" r="r" b="b"/>
            <a:pathLst>
              <a:path w="981075">
                <a:moveTo>
                  <a:pt x="0" y="0"/>
                </a:moveTo>
                <a:lnTo>
                  <a:pt x="981074" y="0"/>
                </a:lnTo>
              </a:path>
            </a:pathLst>
          </a:custGeom>
          <a:ln w="19049">
            <a:solidFill>
              <a:srgbClr val="F2913F"/>
            </a:solidFill>
          </a:ln>
        </p:spPr>
        <p:txBody>
          <a:bodyPr wrap="square" lIns="0" tIns="0" rIns="0" bIns="0" rtlCol="0"/>
          <a:lstStyle/>
          <a:p>
            <a:endParaRPr/>
          </a:p>
        </p:txBody>
      </p:sp>
      <p:sp>
        <p:nvSpPr>
          <p:cNvPr id="17" name="object 17"/>
          <p:cNvSpPr/>
          <p:nvPr/>
        </p:nvSpPr>
        <p:spPr>
          <a:xfrm>
            <a:off x="5497260" y="3536642"/>
            <a:ext cx="76200" cy="76200"/>
          </a:xfrm>
          <a:custGeom>
            <a:avLst/>
            <a:gdLst/>
            <a:ahLst/>
            <a:cxnLst/>
            <a:rect l="l" t="t" r="r" b="b"/>
            <a:pathLst>
              <a:path w="76200" h="76200">
                <a:moveTo>
                  <a:pt x="0" y="0"/>
                </a:moveTo>
                <a:lnTo>
                  <a:pt x="0" y="76199"/>
                </a:lnTo>
                <a:lnTo>
                  <a:pt x="76200" y="38099"/>
                </a:lnTo>
                <a:lnTo>
                  <a:pt x="0" y="0"/>
                </a:lnTo>
                <a:close/>
              </a:path>
            </a:pathLst>
          </a:custGeom>
          <a:solidFill>
            <a:srgbClr val="F2913F"/>
          </a:solidFill>
        </p:spPr>
        <p:txBody>
          <a:bodyPr wrap="square" lIns="0" tIns="0" rIns="0" bIns="0" rtlCol="0"/>
          <a:lstStyle/>
          <a:p>
            <a:endParaRPr/>
          </a:p>
        </p:txBody>
      </p:sp>
      <p:sp>
        <p:nvSpPr>
          <p:cNvPr id="18" name="object 18"/>
          <p:cNvSpPr txBox="1"/>
          <p:nvPr/>
        </p:nvSpPr>
        <p:spPr>
          <a:xfrm>
            <a:off x="5783349" y="2642339"/>
            <a:ext cx="3454400" cy="1395095"/>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模块的导入总应该放在文件顶部</a:t>
            </a:r>
            <a:endParaRPr sz="1800">
              <a:latin typeface="微软雅黑" panose="020B0503020204020204" pitchFamily="34" charset="-122"/>
              <a:cs typeface="微软雅黑" panose="020B0503020204020204" pitchFamily="34" charset="-122"/>
            </a:endParaRPr>
          </a:p>
          <a:p>
            <a:pPr>
              <a:lnSpc>
                <a:spcPct val="100000"/>
              </a:lnSpc>
            </a:pPr>
            <a:endParaRPr sz="2400">
              <a:latin typeface="Times New Roman" panose="02020603050405020304"/>
              <a:cs typeface="Times New Roman" panose="02020603050405020304"/>
            </a:endParaRPr>
          </a:p>
          <a:p>
            <a:pPr marL="12700" marR="5080">
              <a:lnSpc>
                <a:spcPct val="103000"/>
              </a:lnSpc>
              <a:spcBef>
                <a:spcPts val="1430"/>
              </a:spcBef>
            </a:pPr>
            <a:r>
              <a:rPr sz="1800" dirty="0">
                <a:latin typeface="微软雅黑" panose="020B0503020204020204" pitchFamily="34" charset="-122"/>
                <a:cs typeface="微软雅黑" panose="020B0503020204020204" pitchFamily="34" charset="-122"/>
              </a:rPr>
              <a:t>主功能建议创建</a:t>
            </a:r>
            <a:r>
              <a:rPr sz="1800" spc="-5" dirty="0">
                <a:latin typeface="Arial" panose="020B0604020202020204"/>
                <a:cs typeface="Arial" panose="020B0604020202020204"/>
              </a:rPr>
              <a:t>main</a:t>
            </a:r>
            <a:r>
              <a:rPr sz="1800" dirty="0">
                <a:latin typeface="微软雅黑" panose="020B0503020204020204" pitchFamily="34" charset="-122"/>
                <a:cs typeface="微软雅黑" panose="020B0503020204020204" pitchFamily="34" charset="-122"/>
              </a:rPr>
              <a:t>函数来执行 函数、类等应遵循一定的注释规范</a:t>
            </a:r>
            <a:endParaRPr sz="1800">
              <a:latin typeface="微软雅黑" panose="020B0503020204020204" pitchFamily="34" charset="-122"/>
              <a:cs typeface="微软雅黑" panose="020B0503020204020204" pitchFamily="34" charset="-122"/>
            </a:endParaRPr>
          </a:p>
        </p:txBody>
      </p:sp>
      <p:sp>
        <p:nvSpPr>
          <p:cNvPr id="19" name="object 19"/>
          <p:cNvSpPr/>
          <p:nvPr/>
        </p:nvSpPr>
        <p:spPr>
          <a:xfrm>
            <a:off x="916940" y="816175"/>
            <a:ext cx="3996690" cy="4775200"/>
          </a:xfrm>
          <a:custGeom>
            <a:avLst/>
            <a:gdLst/>
            <a:ahLst/>
            <a:cxnLst/>
            <a:rect l="l" t="t" r="r" b="b"/>
            <a:pathLst>
              <a:path w="3996690" h="4775200">
                <a:moveTo>
                  <a:pt x="0" y="0"/>
                </a:moveTo>
                <a:lnTo>
                  <a:pt x="3996265" y="0"/>
                </a:lnTo>
                <a:lnTo>
                  <a:pt x="3996265" y="4775193"/>
                </a:lnTo>
                <a:lnTo>
                  <a:pt x="0" y="4775193"/>
                </a:lnTo>
                <a:lnTo>
                  <a:pt x="0" y="0"/>
                </a:lnTo>
                <a:close/>
              </a:path>
            </a:pathLst>
          </a:custGeom>
          <a:ln w="6349">
            <a:solidFill>
              <a:srgbClr val="4C4848"/>
            </a:solidFill>
          </a:ln>
        </p:spPr>
        <p:txBody>
          <a:bodyPr wrap="square" lIns="0" tIns="0" rIns="0" bIns="0" rtlCol="0"/>
          <a:lstStyle/>
          <a:p>
            <a:endParaRPr/>
          </a:p>
        </p:txBody>
      </p:sp>
      <p:sp>
        <p:nvSpPr>
          <p:cNvPr id="20" name="灯片编号占位符 19"/>
          <p:cNvSpPr>
            <a:spLocks noGrp="1"/>
          </p:cNvSpPr>
          <p:nvPr>
            <p:ph type="sldNum" sz="quarter" idx="7"/>
          </p:nvPr>
        </p:nvSpPr>
        <p:spPr/>
        <p:txBody>
          <a:bodyPr/>
          <a:lstStyle/>
          <a:p>
            <a:fld id="{B6F15528-21DE-4FAA-801E-634DDDAF4B2B}" type="slidenum">
              <a:rPr lang="en-US" altLang="zh-CN" smtClean="0"/>
              <a:t>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19850"/>
    </mc:Choice>
    <mc:Fallback xmlns="">
      <p:transition spd="slow" advTm="11985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65307"/>
            <a:ext cx="3719829" cy="452120"/>
          </a:xfrm>
          <a:prstGeom prst="rect">
            <a:avLst/>
          </a:prstGeom>
        </p:spPr>
        <p:txBody>
          <a:bodyPr vert="horz" wrap="square" lIns="0" tIns="12700" rIns="0" bIns="0" rtlCol="0">
            <a:spAutoFit/>
          </a:bodyPr>
          <a:lstStyle/>
          <a:p>
            <a:pPr marL="12700">
              <a:lnSpc>
                <a:spcPct val="100000"/>
              </a:lnSpc>
              <a:spcBef>
                <a:spcPts val="100"/>
              </a:spcBef>
            </a:pPr>
            <a:r>
              <a:rPr dirty="0">
                <a:latin typeface="Arial" panose="020B0604020202020204"/>
                <a:cs typeface="Arial" panose="020B0604020202020204"/>
              </a:rPr>
              <a:t>Pyt</a:t>
            </a:r>
            <a:r>
              <a:rPr spc="-5" dirty="0">
                <a:latin typeface="Arial" panose="020B0604020202020204"/>
                <a:cs typeface="Arial" panose="020B0604020202020204"/>
              </a:rPr>
              <a:t>ho</a:t>
            </a:r>
            <a:r>
              <a:rPr dirty="0">
                <a:latin typeface="Arial" panose="020B0604020202020204"/>
                <a:cs typeface="Arial" panose="020B0604020202020204"/>
              </a:rPr>
              <a:t>n</a:t>
            </a:r>
            <a:r>
              <a:rPr dirty="0"/>
              <a:t>编程规范：注释</a:t>
            </a:r>
          </a:p>
        </p:txBody>
      </p:sp>
      <p:sp>
        <p:nvSpPr>
          <p:cNvPr id="3" name="object 3"/>
          <p:cNvSpPr txBox="1"/>
          <p:nvPr/>
        </p:nvSpPr>
        <p:spPr>
          <a:xfrm>
            <a:off x="891543" y="1398996"/>
            <a:ext cx="4826000" cy="1295400"/>
          </a:xfrm>
          <a:prstGeom prst="rect">
            <a:avLst/>
          </a:prstGeom>
        </p:spPr>
        <p:txBody>
          <a:bodyPr vert="horz" wrap="square" lIns="0" tIns="6350" rIns="0" bIns="0" rtlCol="0">
            <a:spAutoFit/>
          </a:bodyPr>
          <a:lstStyle/>
          <a:p>
            <a:pPr marL="355600" marR="5080" indent="-342900">
              <a:lnSpc>
                <a:spcPct val="140000"/>
              </a:lnSpc>
              <a:spcBef>
                <a:spcPts val="50"/>
              </a:spcBef>
              <a:buFont typeface="Arial" panose="020B0604020202020204"/>
              <a:buChar char="•"/>
              <a:tabLst>
                <a:tab pos="354965" algn="l"/>
                <a:tab pos="355600" algn="l"/>
                <a:tab pos="1697355" algn="l"/>
                <a:tab pos="2018030" algn="l"/>
              </a:tabLst>
            </a:pPr>
            <a:r>
              <a:rPr sz="2000" dirty="0">
                <a:solidFill>
                  <a:srgbClr val="0033CC"/>
                </a:solidFill>
                <a:latin typeface="微软雅黑" panose="020B0503020204020204" pitchFamily="34" charset="-122"/>
                <a:cs typeface="微软雅黑" panose="020B0503020204020204" pitchFamily="34" charset="-122"/>
              </a:rPr>
              <a:t>形式</a:t>
            </a:r>
            <a:r>
              <a:rPr sz="2000" dirty="0">
                <a:solidFill>
                  <a:srgbClr val="0033CC"/>
                </a:solidFill>
                <a:latin typeface="Arial" panose="020B0604020202020204"/>
                <a:cs typeface="Arial" panose="020B0604020202020204"/>
              </a:rPr>
              <a:t>1</a:t>
            </a:r>
            <a:r>
              <a:rPr sz="2000" dirty="0">
                <a:solidFill>
                  <a:srgbClr val="0033CC"/>
                </a:solidFill>
                <a:latin typeface="微软雅黑" panose="020B0503020204020204" pitchFamily="34" charset="-122"/>
                <a:cs typeface="微软雅黑" panose="020B0503020204020204" pitchFamily="34" charset="-122"/>
              </a:rPr>
              <a:t>：</a:t>
            </a:r>
            <a:r>
              <a:rPr sz="2000" dirty="0">
                <a:solidFill>
                  <a:srgbClr val="CC0000"/>
                </a:solidFill>
                <a:latin typeface="微软雅黑" panose="020B0503020204020204" pitchFamily="34" charset="-122"/>
                <a:cs typeface="微软雅黑" panose="020B0503020204020204" pitchFamily="34" charset="-122"/>
              </a:rPr>
              <a:t>由	</a:t>
            </a:r>
            <a:r>
              <a:rPr sz="2000" dirty="0">
                <a:solidFill>
                  <a:srgbClr val="CC0000"/>
                </a:solidFill>
                <a:latin typeface="Arial" panose="020B0604020202020204"/>
                <a:cs typeface="Arial" panose="020B0604020202020204"/>
              </a:rPr>
              <a:t>#	</a:t>
            </a:r>
            <a:r>
              <a:rPr sz="2000" dirty="0">
                <a:solidFill>
                  <a:srgbClr val="CC0000"/>
                </a:solidFill>
                <a:latin typeface="微软雅黑" panose="020B0503020204020204" pitchFamily="34" charset="-122"/>
                <a:cs typeface="微软雅黑" panose="020B0503020204020204" pitchFamily="34" charset="-122"/>
              </a:rPr>
              <a:t>开头的“真正的”注释</a:t>
            </a:r>
            <a:r>
              <a:rPr sz="2000" dirty="0">
                <a:latin typeface="微软雅黑" panose="020B0503020204020204" pitchFamily="34" charset="-122"/>
                <a:cs typeface="微软雅黑" panose="020B0503020204020204" pitchFamily="34" charset="-122"/>
              </a:rPr>
              <a:t>， </a:t>
            </a:r>
            <a:r>
              <a:rPr sz="2000" spc="70" dirty="0">
                <a:latin typeface="微软雅黑" panose="020B0503020204020204" pitchFamily="34" charset="-122"/>
                <a:cs typeface="微软雅黑" panose="020B0503020204020204" pitchFamily="34" charset="-122"/>
              </a:rPr>
              <a:t>说明选择当前实现的原因以及这种实 </a:t>
            </a:r>
            <a:r>
              <a:rPr sz="2000" dirty="0">
                <a:latin typeface="微软雅黑" panose="020B0503020204020204" pitchFamily="34" charset="-122"/>
                <a:cs typeface="微软雅黑" panose="020B0503020204020204" pitchFamily="34" charset="-122"/>
              </a:rPr>
              <a:t>现的原理和难点；</a:t>
            </a:r>
          </a:p>
        </p:txBody>
      </p:sp>
      <p:sp>
        <p:nvSpPr>
          <p:cNvPr id="4" name="object 4"/>
          <p:cNvSpPr txBox="1"/>
          <p:nvPr/>
        </p:nvSpPr>
        <p:spPr>
          <a:xfrm>
            <a:off x="891541" y="3701930"/>
            <a:ext cx="4854575" cy="1295400"/>
          </a:xfrm>
          <a:prstGeom prst="rect">
            <a:avLst/>
          </a:prstGeom>
        </p:spPr>
        <p:txBody>
          <a:bodyPr vert="horz" wrap="square" lIns="0" tIns="6350" rIns="0" bIns="0" rtlCol="0">
            <a:spAutoFit/>
          </a:bodyPr>
          <a:lstStyle/>
          <a:p>
            <a:pPr marL="354965" marR="5080" indent="-342900">
              <a:lnSpc>
                <a:spcPct val="140000"/>
              </a:lnSpc>
              <a:spcBef>
                <a:spcPts val="50"/>
              </a:spcBef>
              <a:buFont typeface="Arial" panose="020B0604020202020204"/>
              <a:buChar char="•"/>
              <a:tabLst>
                <a:tab pos="356235" algn="l"/>
                <a:tab pos="356870" algn="l"/>
              </a:tabLst>
            </a:pPr>
            <a:r>
              <a:rPr sz="2000" spc="10" dirty="0">
                <a:solidFill>
                  <a:srgbClr val="0033CC"/>
                </a:solidFill>
                <a:latin typeface="微软雅黑" panose="020B0503020204020204" pitchFamily="34" charset="-122"/>
                <a:cs typeface="微软雅黑" panose="020B0503020204020204" pitchFamily="34" charset="-122"/>
              </a:rPr>
              <a:t>形式</a:t>
            </a:r>
            <a:r>
              <a:rPr sz="2000" spc="10" dirty="0">
                <a:solidFill>
                  <a:srgbClr val="0033CC"/>
                </a:solidFill>
                <a:latin typeface="Arial" panose="020B0604020202020204"/>
                <a:cs typeface="Arial" panose="020B0604020202020204"/>
              </a:rPr>
              <a:t>2</a:t>
            </a:r>
            <a:r>
              <a:rPr sz="2000" spc="10" dirty="0">
                <a:solidFill>
                  <a:srgbClr val="0033CC"/>
                </a:solidFill>
                <a:latin typeface="微软雅黑" panose="020B0503020204020204" pitchFamily="34" charset="-122"/>
                <a:cs typeface="微软雅黑" panose="020B0503020204020204" pitchFamily="34" charset="-122"/>
              </a:rPr>
              <a:t>：</a:t>
            </a:r>
            <a:r>
              <a:rPr sz="2000" spc="10" dirty="0">
                <a:solidFill>
                  <a:srgbClr val="CC0000"/>
                </a:solidFill>
                <a:latin typeface="微软雅黑" panose="020B0503020204020204" pitchFamily="34" charset="-122"/>
                <a:cs typeface="微软雅黑" panose="020B0503020204020204" pitchFamily="34" charset="-122"/>
              </a:rPr>
              <a:t>文档字符串</a:t>
            </a:r>
            <a:r>
              <a:rPr sz="2000" spc="10" dirty="0">
                <a:latin typeface="微软雅黑" panose="020B0503020204020204" pitchFamily="34" charset="-122"/>
                <a:cs typeface="微软雅黑" panose="020B0503020204020204" pitchFamily="34" charset="-122"/>
              </a:rPr>
              <a:t>，说明如何使用</a:t>
            </a:r>
            <a:r>
              <a:rPr sz="2000" dirty="0">
                <a:latin typeface="微软雅黑" panose="020B0503020204020204" pitchFamily="34" charset="-122"/>
                <a:cs typeface="微软雅黑" panose="020B0503020204020204" pitchFamily="34" charset="-122"/>
              </a:rPr>
              <a:t>包、 </a:t>
            </a:r>
            <a:r>
              <a:rPr sz="2000" spc="85" dirty="0">
                <a:latin typeface="微软雅黑" panose="020B0503020204020204" pitchFamily="34" charset="-122"/>
                <a:cs typeface="微软雅黑" panose="020B0503020204020204" pitchFamily="34" charset="-122"/>
              </a:rPr>
              <a:t>模块、类、函数（方法），甚至包括 </a:t>
            </a:r>
            <a:r>
              <a:rPr sz="2000" dirty="0">
                <a:latin typeface="微软雅黑" panose="020B0503020204020204" pitchFamily="34" charset="-122"/>
                <a:cs typeface="微软雅黑" panose="020B0503020204020204" pitchFamily="34" charset="-122"/>
              </a:rPr>
              <a:t>使用示例和单元测试。</a:t>
            </a:r>
            <a:endParaRPr sz="2000">
              <a:latin typeface="微软雅黑" panose="020B0503020204020204" pitchFamily="34" charset="-122"/>
              <a:cs typeface="微软雅黑" panose="020B0503020204020204" pitchFamily="34" charset="-122"/>
            </a:endParaRPr>
          </a:p>
        </p:txBody>
      </p:sp>
      <p:sp>
        <p:nvSpPr>
          <p:cNvPr id="5" name="object 5"/>
          <p:cNvSpPr txBox="1"/>
          <p:nvPr/>
        </p:nvSpPr>
        <p:spPr>
          <a:xfrm>
            <a:off x="6231466" y="1388537"/>
            <a:ext cx="5317490" cy="1287145"/>
          </a:xfrm>
          <a:prstGeom prst="rect">
            <a:avLst/>
          </a:prstGeom>
          <a:ln w="6349">
            <a:solidFill>
              <a:srgbClr val="4C4848"/>
            </a:solidFill>
          </a:ln>
        </p:spPr>
        <p:txBody>
          <a:bodyPr vert="horz" wrap="square" lIns="0" tIns="80645" rIns="0" bIns="0" rtlCol="0">
            <a:spAutoFit/>
          </a:bodyPr>
          <a:lstStyle/>
          <a:p>
            <a:pPr marL="141605">
              <a:lnSpc>
                <a:spcPts val="2105"/>
              </a:lnSpc>
              <a:spcBef>
                <a:spcPts val="635"/>
              </a:spcBef>
            </a:pPr>
            <a:r>
              <a:rPr sz="1800" b="1" dirty="0">
                <a:solidFill>
                  <a:srgbClr val="008000"/>
                </a:solidFill>
                <a:latin typeface="Consolas" panose="020B0609020204030204"/>
                <a:cs typeface="Consolas" panose="020B0609020204030204"/>
              </a:rPr>
              <a:t>def</a:t>
            </a:r>
            <a:r>
              <a:rPr sz="1800" b="1" spc="-5" dirty="0">
                <a:solidFill>
                  <a:srgbClr val="008000"/>
                </a:solidFill>
                <a:latin typeface="Consolas" panose="020B0609020204030204"/>
                <a:cs typeface="Consolas" panose="020B0609020204030204"/>
              </a:rPr>
              <a:t> </a:t>
            </a:r>
            <a:r>
              <a:rPr sz="1800" b="1" dirty="0">
                <a:solidFill>
                  <a:srgbClr val="0000FF"/>
                </a:solidFill>
                <a:latin typeface="Consolas" panose="020B0609020204030204"/>
                <a:cs typeface="Consolas" panose="020B0609020204030204"/>
              </a:rPr>
              <a:t>gold_divide(n):</a:t>
            </a:r>
            <a:endParaRPr sz="1800">
              <a:latin typeface="Consolas" panose="020B0609020204030204"/>
              <a:cs typeface="Consolas" panose="020B0609020204030204"/>
            </a:endParaRPr>
          </a:p>
          <a:p>
            <a:pPr marL="644525">
              <a:lnSpc>
                <a:spcPts val="2165"/>
              </a:lnSpc>
            </a:pPr>
            <a:r>
              <a:rPr sz="1800" i="1" dirty="0">
                <a:solidFill>
                  <a:srgbClr val="408080"/>
                </a:solidFill>
                <a:latin typeface="Consolas" panose="020B0609020204030204"/>
                <a:cs typeface="Consolas" panose="020B0609020204030204"/>
              </a:rPr>
              <a:t>#</a:t>
            </a:r>
            <a:r>
              <a:rPr sz="1800" i="1" spc="-20" dirty="0">
                <a:solidFill>
                  <a:srgbClr val="408080"/>
                </a:solidFill>
                <a:latin typeface="Consolas" panose="020B0609020204030204"/>
                <a:cs typeface="Consolas" panose="020B0609020204030204"/>
              </a:rPr>
              <a:t> </a:t>
            </a:r>
            <a:r>
              <a:rPr sz="1850" i="1" spc="-50" dirty="0">
                <a:solidFill>
                  <a:srgbClr val="408080"/>
                </a:solidFill>
                <a:latin typeface="微软雅黑" panose="020B0503020204020204" pitchFamily="34" charset="-122"/>
                <a:cs typeface="微软雅黑" panose="020B0503020204020204" pitchFamily="34" charset="-122"/>
              </a:rPr>
              <a:t>黄金分割点比例为</a:t>
            </a:r>
            <a:r>
              <a:rPr sz="1800" i="1" spc="-105" dirty="0">
                <a:solidFill>
                  <a:srgbClr val="408080"/>
                </a:solidFill>
                <a:latin typeface="Consolas" panose="020B0609020204030204"/>
                <a:cs typeface="Consolas" panose="020B0609020204030204"/>
              </a:rPr>
              <a:t>(√5-­‐1)/2≈0.618034</a:t>
            </a:r>
            <a:endParaRPr sz="1800">
              <a:latin typeface="Consolas" panose="020B0609020204030204"/>
              <a:cs typeface="Consolas" panose="020B0609020204030204"/>
            </a:endParaRPr>
          </a:p>
          <a:p>
            <a:pPr marL="644525">
              <a:lnSpc>
                <a:spcPct val="100000"/>
              </a:lnSpc>
              <a:spcBef>
                <a:spcPts val="2080"/>
              </a:spcBef>
            </a:pPr>
            <a:r>
              <a:rPr sz="1800" b="1" dirty="0">
                <a:solidFill>
                  <a:srgbClr val="008000"/>
                </a:solidFill>
                <a:latin typeface="Consolas" panose="020B0609020204030204"/>
                <a:cs typeface="Consolas" panose="020B0609020204030204"/>
              </a:rPr>
              <a:t>return</a:t>
            </a:r>
            <a:r>
              <a:rPr sz="1800" b="1" spc="-15" dirty="0">
                <a:solidFill>
                  <a:srgbClr val="008000"/>
                </a:solidFill>
                <a:latin typeface="Consolas" panose="020B0609020204030204"/>
                <a:cs typeface="Consolas" panose="020B0609020204030204"/>
              </a:rPr>
              <a:t> </a:t>
            </a:r>
            <a:r>
              <a:rPr sz="1800" b="1" dirty="0">
                <a:solidFill>
                  <a:srgbClr val="008000"/>
                </a:solidFill>
                <a:latin typeface="Consolas" panose="020B0609020204030204"/>
                <a:cs typeface="Consolas" panose="020B0609020204030204"/>
              </a:rPr>
              <a:t>n</a:t>
            </a:r>
            <a:r>
              <a:rPr sz="1800" b="1" spc="-15" dirty="0">
                <a:solidFill>
                  <a:srgbClr val="008000"/>
                </a:solidFill>
                <a:latin typeface="Consolas" panose="020B0609020204030204"/>
                <a:cs typeface="Consolas" panose="020B0609020204030204"/>
              </a:rPr>
              <a:t> </a:t>
            </a:r>
            <a:r>
              <a:rPr sz="1800" b="1" dirty="0">
                <a:solidFill>
                  <a:srgbClr val="666666"/>
                </a:solidFill>
                <a:latin typeface="Consolas" panose="020B0609020204030204"/>
                <a:cs typeface="Consolas" panose="020B0609020204030204"/>
              </a:rPr>
              <a:t>*</a:t>
            </a:r>
            <a:r>
              <a:rPr sz="1800" b="1" spc="-15" dirty="0">
                <a:solidFill>
                  <a:srgbClr val="666666"/>
                </a:solidFill>
                <a:latin typeface="Consolas" panose="020B0609020204030204"/>
                <a:cs typeface="Consolas" panose="020B0609020204030204"/>
              </a:rPr>
              <a:t> </a:t>
            </a:r>
            <a:r>
              <a:rPr sz="1800" b="1" dirty="0">
                <a:solidFill>
                  <a:srgbClr val="666666"/>
                </a:solidFill>
                <a:latin typeface="Consolas" panose="020B0609020204030204"/>
                <a:cs typeface="Consolas" panose="020B0609020204030204"/>
              </a:rPr>
              <a:t>0.618</a:t>
            </a:r>
            <a:r>
              <a:rPr sz="1800" b="1" spc="-15" dirty="0">
                <a:solidFill>
                  <a:srgbClr val="666666"/>
                </a:solidFill>
                <a:latin typeface="Consolas" panose="020B0609020204030204"/>
                <a:cs typeface="Consolas" panose="020B0609020204030204"/>
              </a:rPr>
              <a:t> </a:t>
            </a:r>
            <a:r>
              <a:rPr sz="1800" i="1" dirty="0">
                <a:solidFill>
                  <a:srgbClr val="408080"/>
                </a:solidFill>
                <a:latin typeface="Consolas" panose="020B0609020204030204"/>
                <a:cs typeface="Consolas" panose="020B0609020204030204"/>
              </a:rPr>
              <a:t>#</a:t>
            </a:r>
            <a:r>
              <a:rPr sz="1800" i="1" spc="-15" dirty="0">
                <a:solidFill>
                  <a:srgbClr val="408080"/>
                </a:solidFill>
                <a:latin typeface="Consolas" panose="020B0609020204030204"/>
                <a:cs typeface="Consolas" panose="020B0609020204030204"/>
              </a:rPr>
              <a:t> </a:t>
            </a:r>
            <a:r>
              <a:rPr sz="1850" i="1" spc="-50" dirty="0">
                <a:solidFill>
                  <a:srgbClr val="408080"/>
                </a:solidFill>
                <a:latin typeface="微软雅黑" panose="020B0503020204020204" pitchFamily="34" charset="-122"/>
                <a:cs typeface="微软雅黑" panose="020B0503020204020204" pitchFamily="34" charset="-122"/>
              </a:rPr>
              <a:t>直接取</a:t>
            </a:r>
            <a:r>
              <a:rPr sz="1800" i="1" dirty="0">
                <a:solidFill>
                  <a:srgbClr val="408080"/>
                </a:solidFill>
                <a:latin typeface="Consolas" panose="020B0609020204030204"/>
                <a:cs typeface="Consolas" panose="020B0609020204030204"/>
              </a:rPr>
              <a:t>0.618</a:t>
            </a:r>
            <a:r>
              <a:rPr sz="1850" i="1" spc="-50" dirty="0">
                <a:solidFill>
                  <a:srgbClr val="408080"/>
                </a:solidFill>
                <a:latin typeface="微软雅黑" panose="020B0503020204020204" pitchFamily="34" charset="-122"/>
                <a:cs typeface="微软雅黑" panose="020B0503020204020204" pitchFamily="34" charset="-122"/>
              </a:rPr>
              <a:t>以加速</a:t>
            </a:r>
            <a:endParaRPr sz="1850">
              <a:latin typeface="微软雅黑" panose="020B0503020204020204" pitchFamily="34" charset="-122"/>
              <a:cs typeface="微软雅黑" panose="020B0503020204020204" pitchFamily="34" charset="-122"/>
            </a:endParaRPr>
          </a:p>
        </p:txBody>
      </p:sp>
      <p:sp>
        <p:nvSpPr>
          <p:cNvPr id="6" name="object 6"/>
          <p:cNvSpPr/>
          <p:nvPr/>
        </p:nvSpPr>
        <p:spPr>
          <a:xfrm>
            <a:off x="5825066" y="1862673"/>
            <a:ext cx="406400" cy="372745"/>
          </a:xfrm>
          <a:custGeom>
            <a:avLst/>
            <a:gdLst/>
            <a:ahLst/>
            <a:cxnLst/>
            <a:rect l="l" t="t" r="r" b="b"/>
            <a:pathLst>
              <a:path w="406400" h="372744">
                <a:moveTo>
                  <a:pt x="220134" y="0"/>
                </a:moveTo>
                <a:lnTo>
                  <a:pt x="220134" y="93132"/>
                </a:lnTo>
                <a:lnTo>
                  <a:pt x="0" y="93132"/>
                </a:lnTo>
                <a:lnTo>
                  <a:pt x="0" y="279400"/>
                </a:lnTo>
                <a:lnTo>
                  <a:pt x="220134" y="279400"/>
                </a:lnTo>
                <a:lnTo>
                  <a:pt x="220134" y="372532"/>
                </a:lnTo>
                <a:lnTo>
                  <a:pt x="406400" y="186267"/>
                </a:lnTo>
                <a:lnTo>
                  <a:pt x="220134" y="0"/>
                </a:lnTo>
                <a:close/>
              </a:path>
            </a:pathLst>
          </a:custGeom>
          <a:solidFill>
            <a:srgbClr val="919191"/>
          </a:solidFill>
        </p:spPr>
        <p:txBody>
          <a:bodyPr wrap="square" lIns="0" tIns="0" rIns="0" bIns="0" rtlCol="0"/>
          <a:lstStyle/>
          <a:p>
            <a:endParaRPr/>
          </a:p>
        </p:txBody>
      </p:sp>
      <p:sp>
        <p:nvSpPr>
          <p:cNvPr id="7" name="object 7"/>
          <p:cNvSpPr txBox="1"/>
          <p:nvPr/>
        </p:nvSpPr>
        <p:spPr>
          <a:xfrm>
            <a:off x="6231466" y="2810939"/>
            <a:ext cx="5317490" cy="2980690"/>
          </a:xfrm>
          <a:prstGeom prst="rect">
            <a:avLst/>
          </a:prstGeom>
          <a:ln w="6349">
            <a:solidFill>
              <a:srgbClr val="4C4848"/>
            </a:solidFill>
          </a:ln>
        </p:spPr>
        <p:txBody>
          <a:bodyPr vert="horz" wrap="square" lIns="0" tIns="85090" rIns="0" bIns="0" rtlCol="0">
            <a:spAutoFit/>
          </a:bodyPr>
          <a:lstStyle/>
          <a:p>
            <a:pPr marR="2636520" algn="ctr">
              <a:lnSpc>
                <a:spcPts val="2130"/>
              </a:lnSpc>
              <a:spcBef>
                <a:spcPts val="670"/>
              </a:spcBef>
            </a:pPr>
            <a:r>
              <a:rPr sz="1800" b="1" dirty="0">
                <a:solidFill>
                  <a:srgbClr val="008000"/>
                </a:solidFill>
                <a:latin typeface="Consolas" panose="020B0609020204030204"/>
                <a:cs typeface="Consolas" panose="020B0609020204030204"/>
              </a:rPr>
              <a:t>def</a:t>
            </a:r>
            <a:r>
              <a:rPr sz="1800" b="1" spc="-50" dirty="0">
                <a:solidFill>
                  <a:srgbClr val="008000"/>
                </a:solidFill>
                <a:latin typeface="Consolas" panose="020B0609020204030204"/>
                <a:cs typeface="Consolas" panose="020B0609020204030204"/>
              </a:rPr>
              <a:t> </a:t>
            </a:r>
            <a:r>
              <a:rPr sz="1800" b="1" dirty="0">
                <a:solidFill>
                  <a:srgbClr val="0000FF"/>
                </a:solidFill>
                <a:latin typeface="Consolas" panose="020B0609020204030204"/>
                <a:cs typeface="Consolas" panose="020B0609020204030204"/>
              </a:rPr>
              <a:t>gold_divide(n):</a:t>
            </a:r>
            <a:endParaRPr sz="1800">
              <a:latin typeface="Consolas" panose="020B0609020204030204"/>
              <a:cs typeface="Consolas" panose="020B0609020204030204"/>
            </a:endParaRPr>
          </a:p>
          <a:p>
            <a:pPr marL="644525">
              <a:lnSpc>
                <a:spcPts val="2130"/>
              </a:lnSpc>
            </a:pPr>
            <a:r>
              <a:rPr sz="1800" i="1" dirty="0">
                <a:solidFill>
                  <a:srgbClr val="BA2121"/>
                </a:solidFill>
                <a:latin typeface="Consolas" panose="020B0609020204030204"/>
                <a:cs typeface="Consolas" panose="020B0609020204030204"/>
              </a:rPr>
              <a:t>""" Get gold divide value of</a:t>
            </a:r>
            <a:r>
              <a:rPr sz="1800" i="1" spc="-50" dirty="0">
                <a:solidFill>
                  <a:srgbClr val="BA2121"/>
                </a:solidFill>
                <a:latin typeface="Consolas" panose="020B0609020204030204"/>
                <a:cs typeface="Consolas" panose="020B0609020204030204"/>
              </a:rPr>
              <a:t> </a:t>
            </a:r>
            <a:r>
              <a:rPr sz="1800" i="1" dirty="0">
                <a:solidFill>
                  <a:srgbClr val="BA2121"/>
                </a:solidFill>
                <a:latin typeface="Consolas" panose="020B0609020204030204"/>
                <a:cs typeface="Consolas" panose="020B0609020204030204"/>
              </a:rPr>
              <a:t>n.</a:t>
            </a:r>
            <a:endParaRPr sz="1800">
              <a:latin typeface="Consolas" panose="020B0609020204030204"/>
              <a:cs typeface="Consolas" panose="020B0609020204030204"/>
            </a:endParaRPr>
          </a:p>
          <a:p>
            <a:pPr>
              <a:lnSpc>
                <a:spcPct val="100000"/>
              </a:lnSpc>
              <a:spcBef>
                <a:spcPts val="10"/>
              </a:spcBef>
            </a:pPr>
            <a:endParaRPr sz="1850">
              <a:latin typeface="Times New Roman" panose="02020603050405020304"/>
              <a:cs typeface="Times New Roman" panose="02020603050405020304"/>
            </a:endParaRPr>
          </a:p>
          <a:p>
            <a:pPr marL="644525">
              <a:lnSpc>
                <a:spcPct val="100000"/>
              </a:lnSpc>
              <a:spcBef>
                <a:spcPts val="5"/>
              </a:spcBef>
            </a:pPr>
            <a:r>
              <a:rPr sz="1800" i="1" dirty="0">
                <a:solidFill>
                  <a:srgbClr val="BA2121"/>
                </a:solidFill>
                <a:latin typeface="Consolas" panose="020B0609020204030204"/>
                <a:cs typeface="Consolas" panose="020B0609020204030204"/>
              </a:rPr>
              <a:t>Args:</a:t>
            </a:r>
            <a:endParaRPr sz="1800">
              <a:latin typeface="Consolas" panose="020B0609020204030204"/>
              <a:cs typeface="Consolas" panose="020B0609020204030204"/>
            </a:endParaRPr>
          </a:p>
          <a:p>
            <a:pPr marL="1147445">
              <a:lnSpc>
                <a:spcPct val="100000"/>
              </a:lnSpc>
              <a:spcBef>
                <a:spcPts val="40"/>
              </a:spcBef>
            </a:pPr>
            <a:r>
              <a:rPr sz="1800" i="1" dirty="0">
                <a:solidFill>
                  <a:srgbClr val="BA2121"/>
                </a:solidFill>
                <a:latin typeface="Consolas" panose="020B0609020204030204"/>
                <a:cs typeface="Consolas" panose="020B0609020204030204"/>
              </a:rPr>
              <a:t>n: input</a:t>
            </a:r>
            <a:r>
              <a:rPr sz="1800" i="1" spc="-10" dirty="0">
                <a:solidFill>
                  <a:srgbClr val="BA2121"/>
                </a:solidFill>
                <a:latin typeface="Consolas" panose="020B0609020204030204"/>
                <a:cs typeface="Consolas" panose="020B0609020204030204"/>
              </a:rPr>
              <a:t> </a:t>
            </a:r>
            <a:r>
              <a:rPr sz="1800" i="1" dirty="0">
                <a:solidFill>
                  <a:srgbClr val="BA2121"/>
                </a:solidFill>
                <a:latin typeface="Consolas" panose="020B0609020204030204"/>
                <a:cs typeface="Consolas" panose="020B0609020204030204"/>
              </a:rPr>
              <a:t>number</a:t>
            </a:r>
            <a:endParaRPr sz="1800">
              <a:latin typeface="Consolas" panose="020B0609020204030204"/>
              <a:cs typeface="Consolas" panose="020B0609020204030204"/>
            </a:endParaRPr>
          </a:p>
          <a:p>
            <a:pPr>
              <a:lnSpc>
                <a:spcPct val="100000"/>
              </a:lnSpc>
              <a:spcBef>
                <a:spcPts val="10"/>
              </a:spcBef>
            </a:pPr>
            <a:endParaRPr sz="1850">
              <a:latin typeface="Times New Roman" panose="02020603050405020304"/>
              <a:cs typeface="Times New Roman" panose="02020603050405020304"/>
            </a:endParaRPr>
          </a:p>
          <a:p>
            <a:pPr marL="644525">
              <a:lnSpc>
                <a:spcPct val="100000"/>
              </a:lnSpc>
            </a:pPr>
            <a:r>
              <a:rPr sz="1800" i="1" dirty="0">
                <a:solidFill>
                  <a:srgbClr val="BA2121"/>
                </a:solidFill>
                <a:latin typeface="Consolas" panose="020B0609020204030204"/>
                <a:cs typeface="Consolas" panose="020B0609020204030204"/>
              </a:rPr>
              <a:t>Returns:</a:t>
            </a:r>
            <a:endParaRPr sz="1800">
              <a:latin typeface="Consolas" panose="020B0609020204030204"/>
              <a:cs typeface="Consolas" panose="020B0609020204030204"/>
            </a:endParaRPr>
          </a:p>
          <a:p>
            <a:pPr marL="1147445">
              <a:lnSpc>
                <a:spcPts val="2130"/>
              </a:lnSpc>
              <a:spcBef>
                <a:spcPts val="40"/>
              </a:spcBef>
            </a:pPr>
            <a:r>
              <a:rPr sz="1800" i="1" dirty="0">
                <a:solidFill>
                  <a:srgbClr val="BA2121"/>
                </a:solidFill>
                <a:latin typeface="Consolas" panose="020B0609020204030204"/>
                <a:cs typeface="Consolas" panose="020B0609020204030204"/>
              </a:rPr>
              <a:t>A float</a:t>
            </a:r>
            <a:r>
              <a:rPr sz="1800" i="1" spc="-10" dirty="0">
                <a:solidFill>
                  <a:srgbClr val="BA2121"/>
                </a:solidFill>
                <a:latin typeface="Consolas" panose="020B0609020204030204"/>
                <a:cs typeface="Consolas" panose="020B0609020204030204"/>
              </a:rPr>
              <a:t> </a:t>
            </a:r>
            <a:r>
              <a:rPr sz="1800" i="1" dirty="0">
                <a:solidFill>
                  <a:srgbClr val="BA2121"/>
                </a:solidFill>
                <a:latin typeface="Consolas" panose="020B0609020204030204"/>
                <a:cs typeface="Consolas" panose="020B0609020204030204"/>
              </a:rPr>
              <a:t>value</a:t>
            </a:r>
            <a:endParaRPr sz="1800">
              <a:latin typeface="Consolas" panose="020B0609020204030204"/>
              <a:cs typeface="Consolas" panose="020B0609020204030204"/>
            </a:endParaRPr>
          </a:p>
          <a:p>
            <a:pPr marL="644525">
              <a:lnSpc>
                <a:spcPts val="2130"/>
              </a:lnSpc>
            </a:pPr>
            <a:r>
              <a:rPr sz="1800" i="1" dirty="0">
                <a:solidFill>
                  <a:srgbClr val="BA2121"/>
                </a:solidFill>
                <a:latin typeface="Consolas" panose="020B0609020204030204"/>
                <a:cs typeface="Consolas" panose="020B0609020204030204"/>
              </a:rPr>
              <a:t>"""</a:t>
            </a:r>
            <a:endParaRPr sz="1800">
              <a:latin typeface="Consolas" panose="020B0609020204030204"/>
              <a:cs typeface="Consolas" panose="020B0609020204030204"/>
            </a:endParaRPr>
          </a:p>
          <a:p>
            <a:pPr marL="644525">
              <a:lnSpc>
                <a:spcPct val="100000"/>
              </a:lnSpc>
              <a:spcBef>
                <a:spcPts val="40"/>
              </a:spcBef>
            </a:pPr>
            <a:r>
              <a:rPr sz="1800" b="1" dirty="0">
                <a:solidFill>
                  <a:srgbClr val="008000"/>
                </a:solidFill>
                <a:latin typeface="Consolas" panose="020B0609020204030204"/>
                <a:cs typeface="Consolas" panose="020B0609020204030204"/>
              </a:rPr>
              <a:t>return n </a:t>
            </a:r>
            <a:r>
              <a:rPr sz="1800" b="1" dirty="0">
                <a:solidFill>
                  <a:srgbClr val="666666"/>
                </a:solidFill>
                <a:latin typeface="Consolas" panose="020B0609020204030204"/>
                <a:cs typeface="Consolas" panose="020B0609020204030204"/>
              </a:rPr>
              <a:t>*</a:t>
            </a:r>
            <a:r>
              <a:rPr sz="1800" b="1" spc="-15" dirty="0">
                <a:solidFill>
                  <a:srgbClr val="666666"/>
                </a:solidFill>
                <a:latin typeface="Consolas" panose="020B0609020204030204"/>
                <a:cs typeface="Consolas" panose="020B0609020204030204"/>
              </a:rPr>
              <a:t> </a:t>
            </a:r>
            <a:r>
              <a:rPr sz="1800" b="1" dirty="0">
                <a:solidFill>
                  <a:srgbClr val="666666"/>
                </a:solidFill>
                <a:latin typeface="Consolas" panose="020B0609020204030204"/>
                <a:cs typeface="Consolas" panose="020B0609020204030204"/>
              </a:rPr>
              <a:t>0.618</a:t>
            </a:r>
            <a:endParaRPr sz="1800">
              <a:latin typeface="Consolas" panose="020B0609020204030204"/>
              <a:cs typeface="Consolas" panose="020B0609020204030204"/>
            </a:endParaRPr>
          </a:p>
        </p:txBody>
      </p:sp>
      <p:sp>
        <p:nvSpPr>
          <p:cNvPr id="8" name="object 8"/>
          <p:cNvSpPr/>
          <p:nvPr/>
        </p:nvSpPr>
        <p:spPr>
          <a:xfrm>
            <a:off x="5825069" y="4199473"/>
            <a:ext cx="406400" cy="372745"/>
          </a:xfrm>
          <a:custGeom>
            <a:avLst/>
            <a:gdLst/>
            <a:ahLst/>
            <a:cxnLst/>
            <a:rect l="l" t="t" r="r" b="b"/>
            <a:pathLst>
              <a:path w="406400" h="372745">
                <a:moveTo>
                  <a:pt x="220132" y="0"/>
                </a:moveTo>
                <a:lnTo>
                  <a:pt x="220132" y="93132"/>
                </a:lnTo>
                <a:lnTo>
                  <a:pt x="0" y="93132"/>
                </a:lnTo>
                <a:lnTo>
                  <a:pt x="0" y="279400"/>
                </a:lnTo>
                <a:lnTo>
                  <a:pt x="220132" y="279400"/>
                </a:lnTo>
                <a:lnTo>
                  <a:pt x="220132" y="372532"/>
                </a:lnTo>
                <a:lnTo>
                  <a:pt x="406400" y="186267"/>
                </a:lnTo>
                <a:lnTo>
                  <a:pt x="220132" y="0"/>
                </a:lnTo>
                <a:close/>
              </a:path>
            </a:pathLst>
          </a:custGeom>
          <a:solidFill>
            <a:srgbClr val="919191"/>
          </a:solidFill>
        </p:spPr>
        <p:txBody>
          <a:bodyPr wrap="square" lIns="0" tIns="0" rIns="0" bIns="0" rtlCol="0"/>
          <a:lstStyle/>
          <a:p>
            <a:endParaRPr/>
          </a:p>
        </p:txBody>
      </p:sp>
      <p:sp>
        <p:nvSpPr>
          <p:cNvPr id="9" name="灯片编号占位符 8"/>
          <p:cNvSpPr>
            <a:spLocks noGrp="1"/>
          </p:cNvSpPr>
          <p:nvPr>
            <p:ph type="sldNum" sz="quarter" idx="7"/>
          </p:nvPr>
        </p:nvSpPr>
        <p:spPr/>
        <p:txBody>
          <a:bodyPr/>
          <a:lstStyle/>
          <a:p>
            <a:fld id="{B6F15528-21DE-4FAA-801E-634DDDAF4B2B}" type="slidenum">
              <a:rPr lang="en-US" altLang="zh-CN" smtClean="0"/>
              <a:t>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90267"/>
    </mc:Choice>
    <mc:Fallback xmlns="">
      <p:transition spd="slow" advTm="90267"/>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472" y="119936"/>
            <a:ext cx="4301490" cy="1087477"/>
          </a:xfrm>
          <a:prstGeom prst="rect">
            <a:avLst/>
          </a:prstGeom>
        </p:spPr>
        <p:txBody>
          <a:bodyPr vert="horz" wrap="square" lIns="0" tIns="12700" rIns="0" bIns="0" rtlCol="0">
            <a:spAutoFit/>
          </a:bodyPr>
          <a:lstStyle/>
          <a:p>
            <a:pPr marL="12700">
              <a:lnSpc>
                <a:spcPts val="1640"/>
              </a:lnSpc>
              <a:spcBef>
                <a:spcPts val="100"/>
              </a:spcBef>
            </a:pPr>
            <a:r>
              <a:rPr sz="1400" b="1" dirty="0">
                <a:solidFill>
                  <a:srgbClr val="008000"/>
                </a:solidFill>
                <a:latin typeface="Consolas" panose="020B0609020204030204"/>
                <a:cs typeface="Consolas" panose="020B0609020204030204"/>
              </a:rPr>
              <a:t>def</a:t>
            </a:r>
            <a:r>
              <a:rPr sz="1400" b="1" spc="-5" dirty="0">
                <a:solidFill>
                  <a:srgbClr val="008000"/>
                </a:solidFill>
                <a:latin typeface="Consolas" panose="020B0609020204030204"/>
                <a:cs typeface="Consolas" panose="020B0609020204030204"/>
              </a:rPr>
              <a:t> </a:t>
            </a:r>
            <a:r>
              <a:rPr sz="1400" dirty="0">
                <a:solidFill>
                  <a:srgbClr val="0000FF"/>
                </a:solidFill>
                <a:latin typeface="Consolas" panose="020B0609020204030204"/>
                <a:cs typeface="Consolas" panose="020B0609020204030204"/>
              </a:rPr>
              <a:t>main</a:t>
            </a:r>
            <a:r>
              <a:rPr sz="1400" dirty="0">
                <a:latin typeface="Consolas" panose="020B0609020204030204"/>
                <a:cs typeface="Consolas" panose="020B0609020204030204"/>
              </a:rPr>
              <a:t>(argv):</a:t>
            </a:r>
          </a:p>
          <a:p>
            <a:pPr marL="403225">
              <a:lnSpc>
                <a:spcPts val="1640"/>
              </a:lnSpc>
            </a:pPr>
            <a:r>
              <a:rPr sz="1400" i="1" dirty="0">
                <a:solidFill>
                  <a:srgbClr val="BA2121"/>
                </a:solidFill>
                <a:latin typeface="Consolas" panose="020B0609020204030204"/>
                <a:cs typeface="Consolas" panose="020B0609020204030204"/>
              </a:rPr>
              <a:t>"""</a:t>
            </a:r>
            <a:endParaRPr sz="1400" dirty="0">
              <a:latin typeface="Consolas" panose="020B0609020204030204"/>
              <a:cs typeface="Consolas" panose="020B0609020204030204"/>
            </a:endParaRPr>
          </a:p>
          <a:p>
            <a:pPr marL="403225">
              <a:lnSpc>
                <a:spcPts val="1650"/>
              </a:lnSpc>
              <a:spcBef>
                <a:spcPts val="105"/>
              </a:spcBef>
            </a:pPr>
            <a:r>
              <a:rPr sz="1400" dirty="0">
                <a:solidFill>
                  <a:srgbClr val="C8352B"/>
                </a:solidFill>
                <a:latin typeface="华文细黑" panose="02010600040101010101" charset="-122"/>
                <a:cs typeface="华文细黑" panose="02010600040101010101" charset="-122"/>
              </a:rPr>
              <a:t>函数</a:t>
            </a:r>
            <a:r>
              <a:rPr sz="2100" i="1" baseline="4000" dirty="0">
                <a:solidFill>
                  <a:srgbClr val="C8352B"/>
                </a:solidFill>
                <a:latin typeface="Consolas" panose="020B0609020204030204"/>
                <a:cs typeface="Consolas" panose="020B0609020204030204"/>
              </a:rPr>
              <a:t>main</a:t>
            </a:r>
            <a:r>
              <a:rPr sz="1400" dirty="0">
                <a:solidFill>
                  <a:srgbClr val="C8352B"/>
                </a:solidFill>
                <a:latin typeface="华文细黑" panose="02010600040101010101" charset="-122"/>
                <a:cs typeface="华文细黑" panose="02010600040101010101" charset="-122"/>
              </a:rPr>
              <a:t>，返回</a:t>
            </a:r>
            <a:r>
              <a:rPr sz="2100" i="1" baseline="4000" dirty="0">
                <a:solidFill>
                  <a:srgbClr val="C8352B"/>
                </a:solidFill>
                <a:latin typeface="Consolas" panose="020B0609020204030204"/>
                <a:cs typeface="Consolas" panose="020B0609020204030204"/>
              </a:rPr>
              <a:t>0</a:t>
            </a:r>
            <a:r>
              <a:rPr sz="1400" dirty="0">
                <a:solidFill>
                  <a:srgbClr val="C8352B"/>
                </a:solidFill>
                <a:latin typeface="华文细黑" panose="02010600040101010101" charset="-122"/>
                <a:cs typeface="华文细黑" panose="02010600040101010101" charset="-122"/>
              </a:rPr>
              <a:t>表示操作成功，返回</a:t>
            </a:r>
            <a:r>
              <a:rPr sz="2100" i="1" baseline="4000" dirty="0">
                <a:solidFill>
                  <a:srgbClr val="C8352B"/>
                </a:solidFill>
                <a:latin typeface="Consolas" panose="020B0609020204030204"/>
                <a:cs typeface="Consolas" panose="020B0609020204030204"/>
              </a:rPr>
              <a:t>‐1</a:t>
            </a:r>
            <a:r>
              <a:rPr sz="1400" dirty="0">
                <a:solidFill>
                  <a:srgbClr val="C8352B"/>
                </a:solidFill>
                <a:latin typeface="华文细黑" panose="02010600040101010101" charset="-122"/>
                <a:cs typeface="华文细黑" panose="02010600040101010101" charset="-122"/>
              </a:rPr>
              <a:t>表示失败</a:t>
            </a:r>
            <a:endParaRPr sz="1400" dirty="0">
              <a:latin typeface="华文细黑" panose="02010600040101010101" charset="-122"/>
              <a:cs typeface="华文细黑" panose="02010600040101010101" charset="-122"/>
            </a:endParaRPr>
          </a:p>
          <a:p>
            <a:pPr marL="190500">
              <a:lnSpc>
                <a:spcPts val="1650"/>
              </a:lnSpc>
            </a:pPr>
            <a:r>
              <a:rPr sz="1400" i="1" dirty="0">
                <a:solidFill>
                  <a:srgbClr val="C8352B"/>
                </a:solidFill>
                <a:latin typeface="Consolas" panose="020B0609020204030204"/>
                <a:cs typeface="Consolas" panose="020B0609020204030204"/>
              </a:rPr>
              <a:t>"""</a:t>
            </a:r>
            <a:endParaRPr sz="1400" dirty="0">
              <a:latin typeface="Consolas" panose="020B0609020204030204"/>
              <a:cs typeface="Consolas" panose="020B0609020204030204"/>
            </a:endParaRPr>
          </a:p>
          <a:p>
            <a:pPr marL="190500">
              <a:lnSpc>
                <a:spcPct val="100000"/>
              </a:lnSpc>
              <a:spcBef>
                <a:spcPts val="20"/>
              </a:spcBef>
            </a:pPr>
            <a:r>
              <a:rPr sz="1400" b="1" dirty="0">
                <a:solidFill>
                  <a:srgbClr val="008000"/>
                </a:solidFill>
                <a:latin typeface="Consolas" panose="020B0609020204030204"/>
                <a:cs typeface="Consolas" panose="020B0609020204030204"/>
              </a:rPr>
              <a:t>try</a:t>
            </a:r>
            <a:r>
              <a:rPr sz="1400" dirty="0">
                <a:latin typeface="Consolas" panose="020B0609020204030204"/>
                <a:cs typeface="Consolas" panose="020B0609020204030204"/>
              </a:rPr>
              <a:t>:</a:t>
            </a:r>
          </a:p>
        </p:txBody>
      </p:sp>
      <p:sp>
        <p:nvSpPr>
          <p:cNvPr id="3" name="object 3"/>
          <p:cNvSpPr txBox="1"/>
          <p:nvPr/>
        </p:nvSpPr>
        <p:spPr>
          <a:xfrm>
            <a:off x="615732" y="1193114"/>
            <a:ext cx="5176520" cy="427040"/>
          </a:xfrm>
          <a:prstGeom prst="rect">
            <a:avLst/>
          </a:prstGeom>
          <a:ln w="19049">
            <a:solidFill>
              <a:srgbClr val="D81E00"/>
            </a:solidFill>
          </a:ln>
        </p:spPr>
        <p:txBody>
          <a:bodyPr vert="horz" wrap="square" lIns="0" tIns="16510" rIns="0" bIns="0" rtlCol="0">
            <a:spAutoFit/>
          </a:bodyPr>
          <a:lstStyle/>
          <a:p>
            <a:pPr marL="579120">
              <a:lnSpc>
                <a:spcPts val="1640"/>
              </a:lnSpc>
              <a:spcBef>
                <a:spcPts val="130"/>
              </a:spcBef>
            </a:pPr>
            <a:r>
              <a:rPr sz="2100" i="1" baseline="4000" dirty="0">
                <a:solidFill>
                  <a:srgbClr val="408080"/>
                </a:solidFill>
                <a:latin typeface="Consolas" panose="020B0609020204030204"/>
                <a:cs typeface="Consolas" panose="020B0609020204030204"/>
              </a:rPr>
              <a:t>#</a:t>
            </a:r>
            <a:r>
              <a:rPr sz="2100" i="1" spc="-7" baseline="4000" dirty="0">
                <a:solidFill>
                  <a:srgbClr val="408080"/>
                </a:solidFill>
                <a:latin typeface="Consolas" panose="020B0609020204030204"/>
                <a:cs typeface="Consolas" panose="020B0609020204030204"/>
              </a:rPr>
              <a:t> </a:t>
            </a:r>
            <a:r>
              <a:rPr sz="1400" dirty="0" err="1">
                <a:solidFill>
                  <a:srgbClr val="408080"/>
                </a:solidFill>
                <a:latin typeface="华文细黑" panose="02010600040101010101" charset="-122"/>
                <a:cs typeface="华文细黑" panose="02010600040101010101" charset="-122"/>
              </a:rPr>
              <a:t>以二进制只读方式打开⽂文件</a:t>
            </a:r>
            <a:endParaRPr sz="1400" dirty="0">
              <a:latin typeface="华文细黑" panose="02010600040101010101" charset="-122"/>
              <a:cs typeface="华文细黑" panose="02010600040101010101" charset="-122"/>
            </a:endParaRPr>
          </a:p>
          <a:p>
            <a:pPr marL="153035">
              <a:lnSpc>
                <a:spcPts val="1640"/>
              </a:lnSpc>
              <a:tabLst>
                <a:tab pos="3671570" algn="l"/>
              </a:tabLst>
            </a:pPr>
            <a:r>
              <a:rPr sz="2100" b="1" baseline="4000" dirty="0">
                <a:solidFill>
                  <a:srgbClr val="008000"/>
                </a:solidFill>
                <a:latin typeface="Consolas" panose="020B0609020204030204"/>
                <a:cs typeface="Consolas" panose="020B0609020204030204"/>
              </a:rPr>
              <a:t>with </a:t>
            </a:r>
            <a:r>
              <a:rPr sz="2100" baseline="4000" dirty="0">
                <a:solidFill>
                  <a:srgbClr val="008000"/>
                </a:solidFill>
                <a:latin typeface="Consolas" panose="020B0609020204030204"/>
                <a:cs typeface="Consolas" panose="020B0609020204030204"/>
              </a:rPr>
              <a:t>open</a:t>
            </a:r>
            <a:r>
              <a:rPr sz="2100" baseline="4000" dirty="0">
                <a:latin typeface="Consolas" panose="020B0609020204030204"/>
                <a:cs typeface="Consolas" panose="020B0609020204030204"/>
              </a:rPr>
              <a:t>(</a:t>
            </a:r>
            <a:r>
              <a:rPr sz="2100" baseline="4000" dirty="0">
                <a:solidFill>
                  <a:srgbClr val="BA2121"/>
                </a:solidFill>
                <a:latin typeface="Consolas" panose="020B0609020204030204"/>
                <a:cs typeface="Consolas" panose="020B0609020204030204"/>
              </a:rPr>
              <a:t>'cat.pic'</a:t>
            </a:r>
            <a:r>
              <a:rPr sz="2100" baseline="4000" dirty="0">
                <a:latin typeface="Consolas" panose="020B0609020204030204"/>
                <a:cs typeface="Consolas" panose="020B0609020204030204"/>
              </a:rPr>
              <a:t>, </a:t>
            </a:r>
            <a:r>
              <a:rPr sz="2100" baseline="4000" dirty="0">
                <a:solidFill>
                  <a:srgbClr val="BA2121"/>
                </a:solidFill>
                <a:latin typeface="Consolas" panose="020B0609020204030204"/>
                <a:cs typeface="Consolas" panose="020B0609020204030204"/>
              </a:rPr>
              <a:t>'rb'</a:t>
            </a:r>
            <a:r>
              <a:rPr sz="2100" baseline="4000" dirty="0">
                <a:latin typeface="Consolas" panose="020B0609020204030204"/>
                <a:cs typeface="Consolas" panose="020B0609020204030204"/>
              </a:rPr>
              <a:t>) </a:t>
            </a:r>
            <a:r>
              <a:rPr sz="2100" b="1" baseline="4000" dirty="0">
                <a:solidFill>
                  <a:srgbClr val="008000"/>
                </a:solidFill>
                <a:latin typeface="Consolas" panose="020B0609020204030204"/>
                <a:cs typeface="Consolas" panose="020B0609020204030204"/>
              </a:rPr>
              <a:t>as </a:t>
            </a:r>
            <a:r>
              <a:rPr sz="2100" baseline="4000" dirty="0">
                <a:latin typeface="Consolas" panose="020B0609020204030204"/>
                <a:cs typeface="Consolas" panose="020B0609020204030204"/>
              </a:rPr>
              <a:t>fin:	</a:t>
            </a:r>
            <a:r>
              <a:rPr sz="2100" i="1" baseline="4000" dirty="0">
                <a:solidFill>
                  <a:srgbClr val="408080"/>
                </a:solidFill>
                <a:latin typeface="Consolas" panose="020B0609020204030204"/>
                <a:cs typeface="Consolas" panose="020B0609020204030204"/>
              </a:rPr>
              <a:t># </a:t>
            </a:r>
            <a:r>
              <a:rPr sz="2100" i="1" baseline="4000" dirty="0" err="1">
                <a:solidFill>
                  <a:srgbClr val="408080"/>
                </a:solidFill>
                <a:latin typeface="Consolas" panose="020B0609020204030204"/>
                <a:cs typeface="Consolas" panose="020B0609020204030204"/>
              </a:rPr>
              <a:t>fin</a:t>
            </a:r>
            <a:r>
              <a:rPr sz="1400" dirty="0" err="1">
                <a:solidFill>
                  <a:srgbClr val="408080"/>
                </a:solidFill>
                <a:latin typeface="华文细黑" panose="02010600040101010101" charset="-122"/>
                <a:cs typeface="华文细黑" panose="02010600040101010101" charset="-122"/>
              </a:rPr>
              <a:t>是输</a:t>
            </a:r>
            <a:r>
              <a:rPr sz="1400" dirty="0">
                <a:solidFill>
                  <a:srgbClr val="408080"/>
                </a:solidFill>
                <a:latin typeface="华文细黑" panose="02010600040101010101" charset="-122"/>
                <a:cs typeface="华文细黑" panose="02010600040101010101" charset="-122"/>
              </a:rPr>
              <a:t>⼊⽂件</a:t>
            </a:r>
            <a:endParaRPr sz="1400" dirty="0">
              <a:latin typeface="华文细黑" panose="02010600040101010101" charset="-122"/>
              <a:cs typeface="华文细黑" panose="02010600040101010101" charset="-122"/>
            </a:endParaRPr>
          </a:p>
        </p:txBody>
      </p:sp>
      <p:sp>
        <p:nvSpPr>
          <p:cNvPr id="4" name="object 4"/>
          <p:cNvSpPr txBox="1"/>
          <p:nvPr/>
        </p:nvSpPr>
        <p:spPr>
          <a:xfrm>
            <a:off x="933871" y="1616504"/>
            <a:ext cx="7069305" cy="1290994"/>
          </a:xfrm>
          <a:prstGeom prst="rect">
            <a:avLst/>
          </a:prstGeom>
        </p:spPr>
        <p:txBody>
          <a:bodyPr vert="horz" wrap="square" lIns="0" tIns="12700" rIns="0" bIns="0" rtlCol="0">
            <a:spAutoFit/>
          </a:bodyPr>
          <a:lstStyle/>
          <a:p>
            <a:pPr marL="652145">
              <a:lnSpc>
                <a:spcPct val="100000"/>
              </a:lnSpc>
              <a:spcBef>
                <a:spcPts val="100"/>
              </a:spcBef>
            </a:pPr>
            <a:r>
              <a:rPr sz="2100" i="1" baseline="4000" dirty="0">
                <a:solidFill>
                  <a:srgbClr val="408080"/>
                </a:solidFill>
                <a:latin typeface="Consolas" panose="020B0609020204030204"/>
                <a:cs typeface="Consolas" panose="020B0609020204030204"/>
              </a:rPr>
              <a:t># </a:t>
            </a:r>
            <a:r>
              <a:rPr sz="1400" dirty="0" err="1">
                <a:solidFill>
                  <a:srgbClr val="408080"/>
                </a:solidFill>
                <a:latin typeface="华文细黑" panose="02010600040101010101" charset="-122"/>
                <a:cs typeface="华文细黑" panose="02010600040101010101" charset="-122"/>
              </a:rPr>
              <a:t>将⽂件指针移动到⽂件尾</a:t>
            </a:r>
            <a:endParaRPr sz="1400" dirty="0">
              <a:latin typeface="华文细黑" panose="02010600040101010101" charset="-122"/>
              <a:cs typeface="华文细黑" panose="02010600040101010101" charset="-122"/>
            </a:endParaRPr>
          </a:p>
          <a:p>
            <a:pPr marL="190500" marR="5080" indent="-177800">
              <a:lnSpc>
                <a:spcPct val="99000"/>
              </a:lnSpc>
              <a:spcBef>
                <a:spcPts val="40"/>
              </a:spcBef>
              <a:tabLst>
                <a:tab pos="4144645" algn="l"/>
              </a:tabLst>
            </a:pPr>
            <a:r>
              <a:rPr sz="2100" b="1" baseline="4000" dirty="0">
                <a:solidFill>
                  <a:srgbClr val="008000"/>
                </a:solidFill>
                <a:latin typeface="Consolas" panose="020B0609020204030204"/>
                <a:cs typeface="Consolas" panose="020B0609020204030204"/>
              </a:rPr>
              <a:t>if </a:t>
            </a:r>
            <a:r>
              <a:rPr sz="2100" baseline="4000" dirty="0">
                <a:latin typeface="Consolas" panose="020B0609020204030204"/>
                <a:cs typeface="Consolas" panose="020B0609020204030204"/>
              </a:rPr>
              <a:t>fin</a:t>
            </a:r>
            <a:r>
              <a:rPr sz="2100" baseline="4000" dirty="0">
                <a:solidFill>
                  <a:srgbClr val="666666"/>
                </a:solidFill>
                <a:latin typeface="Consolas" panose="020B0609020204030204"/>
                <a:cs typeface="Consolas" panose="020B0609020204030204"/>
              </a:rPr>
              <a:t>.</a:t>
            </a:r>
            <a:r>
              <a:rPr sz="2100" baseline="4000" dirty="0">
                <a:latin typeface="Consolas" panose="020B0609020204030204"/>
                <a:cs typeface="Consolas" panose="020B0609020204030204"/>
              </a:rPr>
              <a:t>seek(</a:t>
            </a:r>
            <a:r>
              <a:rPr sz="2100" baseline="4000" dirty="0">
                <a:solidFill>
                  <a:srgbClr val="666666"/>
                </a:solidFill>
                <a:latin typeface="Consolas" panose="020B0609020204030204"/>
                <a:cs typeface="Consolas" panose="020B0609020204030204"/>
              </a:rPr>
              <a:t>0</a:t>
            </a:r>
            <a:r>
              <a:rPr sz="2100" baseline="4000" dirty="0">
                <a:latin typeface="Consolas" panose="020B0609020204030204"/>
                <a:cs typeface="Consolas" panose="020B0609020204030204"/>
              </a:rPr>
              <a:t>, </a:t>
            </a:r>
            <a:r>
              <a:rPr sz="2100" baseline="4000" dirty="0">
                <a:solidFill>
                  <a:srgbClr val="666666"/>
                </a:solidFill>
                <a:latin typeface="Consolas" panose="020B0609020204030204"/>
                <a:cs typeface="Consolas" panose="020B0609020204030204"/>
              </a:rPr>
              <a:t>2</a:t>
            </a:r>
            <a:r>
              <a:rPr sz="2100" baseline="4000" dirty="0">
                <a:latin typeface="Consolas" panose="020B0609020204030204"/>
                <a:cs typeface="Consolas" panose="020B0609020204030204"/>
              </a:rPr>
              <a:t>) </a:t>
            </a:r>
            <a:r>
              <a:rPr sz="2100" baseline="4000" dirty="0">
                <a:solidFill>
                  <a:srgbClr val="666666"/>
                </a:solidFill>
                <a:latin typeface="Consolas" panose="020B0609020204030204"/>
                <a:cs typeface="Consolas" panose="020B0609020204030204"/>
              </a:rPr>
              <a:t>!= 400 </a:t>
            </a:r>
            <a:r>
              <a:rPr sz="1400" dirty="0">
                <a:solidFill>
                  <a:srgbClr val="666666"/>
                </a:solidFill>
                <a:latin typeface="华文细黑" panose="02010600040101010101" charset="-122"/>
                <a:cs typeface="华文细黑" panose="02010600040101010101" charset="-122"/>
              </a:rPr>
              <a:t>* </a:t>
            </a:r>
            <a:r>
              <a:rPr sz="2100" baseline="4000" dirty="0">
                <a:solidFill>
                  <a:srgbClr val="666666"/>
                </a:solidFill>
                <a:latin typeface="Consolas" panose="020B0609020204030204"/>
                <a:cs typeface="Consolas" panose="020B0609020204030204"/>
              </a:rPr>
              <a:t>400 </a:t>
            </a:r>
            <a:r>
              <a:rPr sz="1400" dirty="0">
                <a:solidFill>
                  <a:srgbClr val="666666"/>
                </a:solidFill>
                <a:latin typeface="华文细黑" panose="02010600040101010101" charset="-122"/>
                <a:cs typeface="华文细黑" panose="02010600040101010101" charset="-122"/>
              </a:rPr>
              <a:t>* </a:t>
            </a:r>
            <a:r>
              <a:rPr sz="2100" baseline="4000" dirty="0">
                <a:solidFill>
                  <a:srgbClr val="666666"/>
                </a:solidFill>
                <a:latin typeface="Consolas" panose="020B0609020204030204"/>
                <a:cs typeface="Consolas" panose="020B0609020204030204"/>
              </a:rPr>
              <a:t>3</a:t>
            </a:r>
            <a:r>
              <a:rPr sz="2100" baseline="4000" dirty="0">
                <a:latin typeface="Consolas" panose="020B0609020204030204"/>
                <a:cs typeface="Consolas" panose="020B0609020204030204"/>
              </a:rPr>
              <a:t>: </a:t>
            </a:r>
            <a:r>
              <a:rPr sz="2100" i="1" baseline="4000" dirty="0">
                <a:solidFill>
                  <a:srgbClr val="408080"/>
                </a:solidFill>
                <a:latin typeface="Consolas" panose="020B0609020204030204"/>
                <a:cs typeface="Consolas" panose="020B0609020204030204"/>
              </a:rPr>
              <a:t># </a:t>
            </a:r>
            <a:r>
              <a:rPr sz="1400" dirty="0">
                <a:solidFill>
                  <a:srgbClr val="408080"/>
                </a:solidFill>
                <a:latin typeface="华文细黑" panose="02010600040101010101" charset="-122"/>
                <a:cs typeface="华文细黑" panose="02010600040101010101" charset="-122"/>
              </a:rPr>
              <a:t>判断⽂件尾位置是否等于</a:t>
            </a:r>
            <a:r>
              <a:rPr sz="2100" i="1" baseline="4000" dirty="0">
                <a:solidFill>
                  <a:srgbClr val="408080"/>
                </a:solidFill>
                <a:latin typeface="Consolas" panose="020B0609020204030204"/>
                <a:cs typeface="Consolas" panose="020B0609020204030204"/>
              </a:rPr>
              <a:t>400*400*3  </a:t>
            </a:r>
            <a:r>
              <a:rPr sz="2100" b="1" baseline="4000" dirty="0">
                <a:solidFill>
                  <a:srgbClr val="008000"/>
                </a:solidFill>
                <a:latin typeface="Consolas" panose="020B0609020204030204"/>
                <a:cs typeface="Consolas" panose="020B0609020204030204"/>
              </a:rPr>
              <a:t>print</a:t>
            </a:r>
            <a:r>
              <a:rPr sz="2100" baseline="4000" dirty="0">
                <a:latin typeface="Consolas" panose="020B0609020204030204"/>
                <a:cs typeface="Consolas" panose="020B0609020204030204"/>
              </a:rPr>
              <a:t>(</a:t>
            </a:r>
            <a:r>
              <a:rPr sz="2100" baseline="4000" dirty="0">
                <a:solidFill>
                  <a:srgbClr val="BA2121"/>
                </a:solidFill>
                <a:latin typeface="Consolas" panose="020B0609020204030204"/>
                <a:cs typeface="Consolas" panose="020B0609020204030204"/>
              </a:rPr>
              <a:t>"</a:t>
            </a:r>
            <a:r>
              <a:rPr sz="1400" dirty="0">
                <a:solidFill>
                  <a:srgbClr val="C8352B"/>
                </a:solidFill>
                <a:latin typeface="华文细黑" panose="02010600040101010101" charset="-122"/>
                <a:cs typeface="华文细黑" panose="02010600040101010101" charset="-122"/>
              </a:rPr>
              <a:t>输⼊入⽂文件 </a:t>
            </a:r>
            <a:r>
              <a:rPr sz="2100" baseline="4000" dirty="0">
                <a:solidFill>
                  <a:srgbClr val="BA2121"/>
                </a:solidFill>
                <a:latin typeface="Consolas" panose="020B0609020204030204"/>
                <a:cs typeface="Consolas" panose="020B0609020204030204"/>
              </a:rPr>
              <a:t>cat.pic </a:t>
            </a:r>
            <a:r>
              <a:rPr sz="1400" dirty="0">
                <a:solidFill>
                  <a:srgbClr val="C8352B"/>
                </a:solidFill>
                <a:latin typeface="华文细黑" panose="02010600040101010101" charset="-122"/>
                <a:cs typeface="华文细黑" panose="02010600040101010101" charset="-122"/>
              </a:rPr>
              <a:t>不符合格式要求</a:t>
            </a:r>
            <a:r>
              <a:rPr sz="2100" baseline="4000" dirty="0">
                <a:solidFill>
                  <a:srgbClr val="BA2121"/>
                </a:solidFill>
                <a:latin typeface="Consolas" panose="020B0609020204030204"/>
                <a:cs typeface="Consolas" panose="020B0609020204030204"/>
              </a:rPr>
              <a:t>"</a:t>
            </a:r>
            <a:r>
              <a:rPr sz="2100" baseline="4000" dirty="0">
                <a:latin typeface="Consolas" panose="020B0609020204030204"/>
                <a:cs typeface="Consolas" panose="020B0609020204030204"/>
              </a:rPr>
              <a:t>)	</a:t>
            </a:r>
            <a:r>
              <a:rPr sz="2100" i="1" baseline="4000" dirty="0">
                <a:solidFill>
                  <a:srgbClr val="408080"/>
                </a:solidFill>
                <a:latin typeface="Consolas" panose="020B0609020204030204"/>
                <a:cs typeface="Consolas" panose="020B0609020204030204"/>
              </a:rPr>
              <a:t># </a:t>
            </a:r>
            <a:r>
              <a:rPr sz="1400" dirty="0" err="1">
                <a:solidFill>
                  <a:srgbClr val="408080"/>
                </a:solidFill>
                <a:latin typeface="华文细黑" panose="02010600040101010101" charset="-122"/>
                <a:cs typeface="华文细黑" panose="02010600040101010101" charset="-122"/>
              </a:rPr>
              <a:t>如果不等</a:t>
            </a:r>
            <a:r>
              <a:rPr sz="1400" dirty="0" err="1">
                <a:solidFill>
                  <a:srgbClr val="4F9192"/>
                </a:solidFill>
                <a:latin typeface="华文细黑" panose="02010600040101010101" charset="-122"/>
                <a:cs typeface="华文细黑" panose="02010600040101010101" charset="-122"/>
              </a:rPr>
              <a:t>，</a:t>
            </a:r>
            <a:r>
              <a:rPr sz="1400" dirty="0" err="1">
                <a:solidFill>
                  <a:srgbClr val="408080"/>
                </a:solidFill>
                <a:latin typeface="华文细黑" panose="02010600040101010101" charset="-122"/>
                <a:cs typeface="华文细黑" panose="02010600040101010101" charset="-122"/>
              </a:rPr>
              <a:t>显⽰错误信息</a:t>
            </a:r>
            <a:r>
              <a:rPr sz="1400" dirty="0">
                <a:solidFill>
                  <a:srgbClr val="408080"/>
                </a:solidFill>
                <a:latin typeface="华文细黑" panose="02010600040101010101" charset="-122"/>
                <a:cs typeface="华文细黑" panose="02010600040101010101" charset="-122"/>
              </a:rPr>
              <a:t> </a:t>
            </a:r>
            <a:r>
              <a:rPr sz="1400" b="1" dirty="0">
                <a:solidFill>
                  <a:srgbClr val="008000"/>
                </a:solidFill>
                <a:latin typeface="Consolas" panose="020B0609020204030204"/>
                <a:cs typeface="Consolas" panose="020B0609020204030204"/>
              </a:rPr>
              <a:t>return </a:t>
            </a:r>
            <a:r>
              <a:rPr sz="1400" dirty="0">
                <a:solidFill>
                  <a:srgbClr val="666666"/>
                </a:solidFill>
                <a:latin typeface="Consolas" panose="020B0609020204030204"/>
                <a:cs typeface="Consolas" panose="020B0609020204030204"/>
              </a:rPr>
              <a:t>-­‐1</a:t>
            </a:r>
            <a:endParaRPr lang="en-US" altLang="zh-CN" sz="1400" dirty="0">
              <a:solidFill>
                <a:srgbClr val="666666"/>
              </a:solidFill>
              <a:latin typeface="Consolas" panose="020B0609020204030204"/>
              <a:cs typeface="Consolas" panose="020B0609020204030204"/>
            </a:endParaRPr>
          </a:p>
          <a:p>
            <a:pPr marL="190500" marR="5080" indent="-177800">
              <a:lnSpc>
                <a:spcPct val="99000"/>
              </a:lnSpc>
              <a:spcBef>
                <a:spcPts val="40"/>
              </a:spcBef>
              <a:tabLst>
                <a:tab pos="4144645" algn="l"/>
              </a:tabLst>
            </a:pPr>
            <a:r>
              <a:rPr sz="2100" baseline="4000" dirty="0" err="1">
                <a:latin typeface="Consolas" panose="020B0609020204030204"/>
                <a:cs typeface="Consolas" panose="020B0609020204030204"/>
              </a:rPr>
              <a:t>fin</a:t>
            </a:r>
            <a:r>
              <a:rPr sz="2100" baseline="4000" dirty="0" err="1">
                <a:solidFill>
                  <a:srgbClr val="666666"/>
                </a:solidFill>
                <a:latin typeface="Consolas" panose="020B0609020204030204"/>
                <a:cs typeface="Consolas" panose="020B0609020204030204"/>
              </a:rPr>
              <a:t>.</a:t>
            </a:r>
            <a:r>
              <a:rPr sz="2100" baseline="4000" dirty="0" err="1">
                <a:latin typeface="Consolas" panose="020B0609020204030204"/>
                <a:cs typeface="Consolas" panose="020B0609020204030204"/>
              </a:rPr>
              <a:t>seek</a:t>
            </a:r>
            <a:r>
              <a:rPr sz="2100" baseline="4000" dirty="0">
                <a:latin typeface="Consolas" panose="020B0609020204030204"/>
                <a:cs typeface="Consolas" panose="020B0609020204030204"/>
              </a:rPr>
              <a:t>(</a:t>
            </a:r>
            <a:r>
              <a:rPr sz="2100" baseline="4000" dirty="0">
                <a:solidFill>
                  <a:srgbClr val="666666"/>
                </a:solidFill>
                <a:latin typeface="Consolas" panose="020B0609020204030204"/>
                <a:cs typeface="Consolas" panose="020B0609020204030204"/>
              </a:rPr>
              <a:t>0</a:t>
            </a:r>
            <a:r>
              <a:rPr sz="2100" baseline="4000" dirty="0">
                <a:latin typeface="Consolas" panose="020B0609020204030204"/>
                <a:cs typeface="Consolas" panose="020B0609020204030204"/>
              </a:rPr>
              <a:t>) </a:t>
            </a:r>
            <a:r>
              <a:rPr sz="2100" i="1" baseline="4000" dirty="0">
                <a:solidFill>
                  <a:srgbClr val="408080"/>
                </a:solidFill>
                <a:latin typeface="Consolas" panose="020B0609020204030204"/>
                <a:cs typeface="Consolas" panose="020B0609020204030204"/>
              </a:rPr>
              <a:t># </a:t>
            </a:r>
            <a:r>
              <a:rPr sz="1400" dirty="0" err="1">
                <a:solidFill>
                  <a:srgbClr val="408080"/>
                </a:solidFill>
                <a:latin typeface="华文细黑" panose="02010600040101010101" charset="-122"/>
                <a:cs typeface="华文细黑" panose="02010600040101010101" charset="-122"/>
              </a:rPr>
              <a:t>将⽂件指针移动到⽂件开头</a:t>
            </a:r>
            <a:endParaRPr sz="1400" dirty="0">
              <a:latin typeface="华文细黑" panose="02010600040101010101" charset="-122"/>
              <a:cs typeface="华文细黑" panose="02010600040101010101" charset="-122"/>
            </a:endParaRPr>
          </a:p>
          <a:p>
            <a:pPr marL="12700">
              <a:lnSpc>
                <a:spcPts val="1650"/>
              </a:lnSpc>
            </a:pPr>
            <a:r>
              <a:rPr sz="1400" b="1" dirty="0">
                <a:solidFill>
                  <a:srgbClr val="008000"/>
                </a:solidFill>
                <a:latin typeface="Consolas" panose="020B0609020204030204"/>
                <a:cs typeface="Consolas" panose="020B0609020204030204"/>
              </a:rPr>
              <a:t>try</a:t>
            </a:r>
            <a:r>
              <a:rPr sz="1400" dirty="0">
                <a:latin typeface="Consolas" panose="020B0609020204030204"/>
                <a:cs typeface="Consolas" panose="020B0609020204030204"/>
              </a:rPr>
              <a:t>:</a:t>
            </a:r>
          </a:p>
        </p:txBody>
      </p:sp>
      <p:sp>
        <p:nvSpPr>
          <p:cNvPr id="5" name="object 5"/>
          <p:cNvSpPr txBox="1"/>
          <p:nvPr/>
        </p:nvSpPr>
        <p:spPr>
          <a:xfrm>
            <a:off x="1111672" y="2899204"/>
            <a:ext cx="3545204" cy="440505"/>
          </a:xfrm>
          <a:prstGeom prst="rect">
            <a:avLst/>
          </a:prstGeom>
        </p:spPr>
        <p:txBody>
          <a:bodyPr vert="horz" wrap="square" lIns="0" tIns="12700" rIns="0" bIns="0" rtlCol="0">
            <a:spAutoFit/>
          </a:bodyPr>
          <a:lstStyle/>
          <a:p>
            <a:pPr marL="865505">
              <a:lnSpc>
                <a:spcPts val="1650"/>
              </a:lnSpc>
              <a:spcBef>
                <a:spcPts val="100"/>
              </a:spcBef>
            </a:pPr>
            <a:r>
              <a:rPr sz="2100" i="1" baseline="4000" dirty="0">
                <a:solidFill>
                  <a:srgbClr val="408080"/>
                </a:solidFill>
                <a:latin typeface="Consolas" panose="020B0609020204030204"/>
                <a:cs typeface="Consolas" panose="020B0609020204030204"/>
              </a:rPr>
              <a:t>#</a:t>
            </a:r>
            <a:r>
              <a:rPr sz="2100" i="1" spc="-30" baseline="4000" dirty="0">
                <a:solidFill>
                  <a:srgbClr val="408080"/>
                </a:solidFill>
                <a:latin typeface="Consolas" panose="020B0609020204030204"/>
                <a:cs typeface="Consolas" panose="020B0609020204030204"/>
              </a:rPr>
              <a:t> </a:t>
            </a:r>
            <a:r>
              <a:rPr sz="1400" dirty="0" err="1">
                <a:solidFill>
                  <a:srgbClr val="408080"/>
                </a:solidFill>
                <a:latin typeface="华文细黑" panose="02010600040101010101" charset="-122"/>
                <a:cs typeface="华文细黑" panose="02010600040101010101" charset="-122"/>
              </a:rPr>
              <a:t>以⼆进制写⽅式打开⽂件</a:t>
            </a:r>
            <a:endParaRPr sz="1400" dirty="0">
              <a:latin typeface="华文细黑" panose="02010600040101010101" charset="-122"/>
              <a:cs typeface="华文细黑" panose="02010600040101010101" charset="-122"/>
            </a:endParaRPr>
          </a:p>
          <a:p>
            <a:pPr marL="12700">
              <a:lnSpc>
                <a:spcPts val="1650"/>
              </a:lnSpc>
            </a:pPr>
            <a:r>
              <a:rPr sz="1400" b="1" dirty="0">
                <a:solidFill>
                  <a:srgbClr val="008000"/>
                </a:solidFill>
                <a:latin typeface="Consolas" panose="020B0609020204030204"/>
                <a:cs typeface="Consolas" panose="020B0609020204030204"/>
              </a:rPr>
              <a:t>with </a:t>
            </a:r>
            <a:r>
              <a:rPr sz="1400" dirty="0">
                <a:solidFill>
                  <a:srgbClr val="008000"/>
                </a:solidFill>
                <a:latin typeface="Consolas" panose="020B0609020204030204"/>
                <a:cs typeface="Consolas" panose="020B0609020204030204"/>
              </a:rPr>
              <a:t>open</a:t>
            </a:r>
            <a:r>
              <a:rPr sz="1400" dirty="0">
                <a:latin typeface="Consolas" panose="020B0609020204030204"/>
                <a:cs typeface="Consolas" panose="020B0609020204030204"/>
              </a:rPr>
              <a:t>(</a:t>
            </a:r>
            <a:r>
              <a:rPr sz="1400" dirty="0">
                <a:solidFill>
                  <a:srgbClr val="BA2121"/>
                </a:solidFill>
                <a:latin typeface="Consolas" panose="020B0609020204030204"/>
                <a:cs typeface="Consolas" panose="020B0609020204030204"/>
              </a:rPr>
              <a:t>'cat2.pic'</a:t>
            </a:r>
            <a:r>
              <a:rPr sz="1400" dirty="0">
                <a:latin typeface="Consolas" panose="020B0609020204030204"/>
                <a:cs typeface="Consolas" panose="020B0609020204030204"/>
              </a:rPr>
              <a:t>, </a:t>
            </a:r>
            <a:r>
              <a:rPr sz="1400" dirty="0">
                <a:solidFill>
                  <a:srgbClr val="BA2121"/>
                </a:solidFill>
                <a:latin typeface="Consolas" panose="020B0609020204030204"/>
                <a:cs typeface="Consolas" panose="020B0609020204030204"/>
              </a:rPr>
              <a:t>'wb'</a:t>
            </a:r>
            <a:r>
              <a:rPr sz="1400" dirty="0">
                <a:latin typeface="Consolas" panose="020B0609020204030204"/>
                <a:cs typeface="Consolas" panose="020B0609020204030204"/>
              </a:rPr>
              <a:t>) </a:t>
            </a:r>
            <a:r>
              <a:rPr sz="1400" b="1" dirty="0">
                <a:solidFill>
                  <a:srgbClr val="008000"/>
                </a:solidFill>
                <a:latin typeface="Consolas" panose="020B0609020204030204"/>
                <a:cs typeface="Consolas" panose="020B0609020204030204"/>
              </a:rPr>
              <a:t>as</a:t>
            </a:r>
            <a:r>
              <a:rPr sz="1400" b="1" spc="-100" dirty="0">
                <a:solidFill>
                  <a:srgbClr val="008000"/>
                </a:solidFill>
                <a:latin typeface="Consolas" panose="020B0609020204030204"/>
                <a:cs typeface="Consolas" panose="020B0609020204030204"/>
              </a:rPr>
              <a:t> </a:t>
            </a:r>
            <a:r>
              <a:rPr sz="1400" dirty="0">
                <a:latin typeface="Consolas" panose="020B0609020204030204"/>
                <a:cs typeface="Consolas" panose="020B0609020204030204"/>
              </a:rPr>
              <a:t>fout:</a:t>
            </a:r>
          </a:p>
        </p:txBody>
      </p:sp>
      <p:sp>
        <p:nvSpPr>
          <p:cNvPr id="6" name="object 6"/>
          <p:cNvSpPr txBox="1"/>
          <p:nvPr/>
        </p:nvSpPr>
        <p:spPr>
          <a:xfrm>
            <a:off x="5021883" y="3115104"/>
            <a:ext cx="1501140" cy="238760"/>
          </a:xfrm>
          <a:prstGeom prst="rect">
            <a:avLst/>
          </a:prstGeom>
        </p:spPr>
        <p:txBody>
          <a:bodyPr vert="horz" wrap="square" lIns="0" tIns="12700" rIns="0" bIns="0" rtlCol="0">
            <a:spAutoFit/>
          </a:bodyPr>
          <a:lstStyle/>
          <a:p>
            <a:pPr marL="12700">
              <a:lnSpc>
                <a:spcPct val="100000"/>
              </a:lnSpc>
              <a:spcBef>
                <a:spcPts val="100"/>
              </a:spcBef>
            </a:pPr>
            <a:r>
              <a:rPr sz="2100" i="1" baseline="4000" dirty="0">
                <a:solidFill>
                  <a:srgbClr val="408080"/>
                </a:solidFill>
                <a:latin typeface="Consolas" panose="020B0609020204030204"/>
                <a:cs typeface="Consolas" panose="020B0609020204030204"/>
              </a:rPr>
              <a:t>#</a:t>
            </a:r>
            <a:r>
              <a:rPr sz="2100" i="1" spc="-120" baseline="4000" dirty="0">
                <a:solidFill>
                  <a:srgbClr val="408080"/>
                </a:solidFill>
                <a:latin typeface="Consolas" panose="020B0609020204030204"/>
                <a:cs typeface="Consolas" panose="020B0609020204030204"/>
              </a:rPr>
              <a:t> </a:t>
            </a:r>
            <a:r>
              <a:rPr sz="2100" i="1" baseline="4000" dirty="0">
                <a:solidFill>
                  <a:srgbClr val="408080"/>
                </a:solidFill>
                <a:latin typeface="Consolas" panose="020B0609020204030204"/>
                <a:cs typeface="Consolas" panose="020B0609020204030204"/>
              </a:rPr>
              <a:t>fout</a:t>
            </a:r>
            <a:r>
              <a:rPr sz="1400" spc="-235" dirty="0">
                <a:solidFill>
                  <a:srgbClr val="408080"/>
                </a:solidFill>
                <a:latin typeface="华文细黑" panose="02010600040101010101" charset="-122"/>
                <a:cs typeface="华文细黑" panose="02010600040101010101" charset="-122"/>
              </a:rPr>
              <a:t>是输出⽂文件</a:t>
            </a:r>
            <a:endParaRPr sz="1400">
              <a:latin typeface="华文细黑" panose="02010600040101010101" charset="-122"/>
              <a:cs typeface="华文细黑" panose="02010600040101010101" charset="-122"/>
            </a:endParaRPr>
          </a:p>
        </p:txBody>
      </p:sp>
      <p:sp>
        <p:nvSpPr>
          <p:cNvPr id="7" name="object 7"/>
          <p:cNvSpPr txBox="1"/>
          <p:nvPr/>
        </p:nvSpPr>
        <p:spPr>
          <a:xfrm>
            <a:off x="1479972" y="3331004"/>
            <a:ext cx="5789930" cy="1722908"/>
          </a:xfrm>
          <a:prstGeom prst="rect">
            <a:avLst/>
          </a:prstGeom>
        </p:spPr>
        <p:txBody>
          <a:bodyPr vert="horz" wrap="square" lIns="0" tIns="12700" rIns="0" bIns="0" rtlCol="0">
            <a:spAutoFit/>
          </a:bodyPr>
          <a:lstStyle/>
          <a:p>
            <a:pPr marL="887730">
              <a:lnSpc>
                <a:spcPts val="1640"/>
              </a:lnSpc>
              <a:spcBef>
                <a:spcPts val="100"/>
              </a:spcBef>
              <a:tabLst>
                <a:tab pos="3234055" algn="l"/>
              </a:tabLst>
            </a:pPr>
            <a:r>
              <a:rPr sz="2100" b="1" baseline="4000" dirty="0">
                <a:solidFill>
                  <a:srgbClr val="008000"/>
                </a:solidFill>
                <a:latin typeface="Consolas" panose="020B0609020204030204"/>
                <a:cs typeface="Consolas" panose="020B0609020204030204"/>
              </a:rPr>
              <a:t>for </a:t>
            </a:r>
            <a:r>
              <a:rPr sz="2100" baseline="4000" dirty="0">
                <a:latin typeface="Consolas" panose="020B0609020204030204"/>
                <a:cs typeface="Consolas" panose="020B0609020204030204"/>
              </a:rPr>
              <a:t>i </a:t>
            </a:r>
            <a:r>
              <a:rPr sz="2100" b="1" baseline="4000" dirty="0">
                <a:solidFill>
                  <a:srgbClr val="AA22FF"/>
                </a:solidFill>
                <a:latin typeface="Consolas" panose="020B0609020204030204"/>
                <a:cs typeface="Consolas" panose="020B0609020204030204"/>
              </a:rPr>
              <a:t>in </a:t>
            </a:r>
            <a:r>
              <a:rPr sz="2100" baseline="4000" dirty="0">
                <a:solidFill>
                  <a:srgbClr val="008000"/>
                </a:solidFill>
                <a:latin typeface="Consolas" panose="020B0609020204030204"/>
                <a:cs typeface="Consolas" panose="020B0609020204030204"/>
              </a:rPr>
              <a:t>range</a:t>
            </a:r>
            <a:r>
              <a:rPr sz="2100" baseline="4000" dirty="0">
                <a:latin typeface="Consolas" panose="020B0609020204030204"/>
                <a:cs typeface="Consolas" panose="020B0609020204030204"/>
              </a:rPr>
              <a:t>(</a:t>
            </a:r>
            <a:r>
              <a:rPr sz="2100" baseline="4000" dirty="0">
                <a:solidFill>
                  <a:srgbClr val="666666"/>
                </a:solidFill>
                <a:latin typeface="Consolas" panose="020B0609020204030204"/>
                <a:cs typeface="Consolas" panose="020B0609020204030204"/>
              </a:rPr>
              <a:t>400</a:t>
            </a:r>
            <a:r>
              <a:rPr sz="2100" baseline="4000" dirty="0">
                <a:latin typeface="Consolas" panose="020B0609020204030204"/>
                <a:cs typeface="Consolas" panose="020B0609020204030204"/>
              </a:rPr>
              <a:t>):	</a:t>
            </a:r>
            <a:r>
              <a:rPr sz="2100" i="1" baseline="4000" dirty="0">
                <a:solidFill>
                  <a:srgbClr val="408080"/>
                </a:solidFill>
                <a:latin typeface="Consolas" panose="020B0609020204030204"/>
                <a:cs typeface="Consolas" panose="020B0609020204030204"/>
              </a:rPr>
              <a:t># </a:t>
            </a:r>
            <a:r>
              <a:rPr sz="1400" dirty="0">
                <a:solidFill>
                  <a:srgbClr val="408080"/>
                </a:solidFill>
                <a:latin typeface="华文细黑" panose="02010600040101010101" charset="-122"/>
                <a:cs typeface="华文细黑" panose="02010600040101010101" charset="-122"/>
              </a:rPr>
              <a:t>从图像的第</a:t>
            </a:r>
            <a:r>
              <a:rPr sz="2100" i="1" baseline="4000" dirty="0">
                <a:solidFill>
                  <a:srgbClr val="408080"/>
                </a:solidFill>
                <a:latin typeface="Consolas" panose="020B0609020204030204"/>
                <a:cs typeface="Consolas" panose="020B0609020204030204"/>
              </a:rPr>
              <a:t>1</a:t>
            </a:r>
            <a:r>
              <a:rPr sz="1400" dirty="0">
                <a:solidFill>
                  <a:srgbClr val="408080"/>
                </a:solidFill>
                <a:latin typeface="华文细黑" panose="02010600040101010101" charset="-122"/>
                <a:cs typeface="华文细黑" panose="02010600040101010101" charset="-122"/>
              </a:rPr>
              <a:t>⾏到第</a:t>
            </a:r>
            <a:r>
              <a:rPr sz="2100" i="1" baseline="4000" dirty="0">
                <a:solidFill>
                  <a:srgbClr val="408080"/>
                </a:solidFill>
                <a:latin typeface="Consolas" panose="020B0609020204030204"/>
                <a:cs typeface="Consolas" panose="020B0609020204030204"/>
              </a:rPr>
              <a:t>400</a:t>
            </a:r>
            <a:r>
              <a:rPr sz="1400" dirty="0">
                <a:solidFill>
                  <a:srgbClr val="408080"/>
                </a:solidFill>
                <a:latin typeface="华文细黑" panose="02010600040101010101" charset="-122"/>
                <a:cs typeface="华文细黑" panose="02010600040101010101" charset="-122"/>
              </a:rPr>
              <a:t>⾏循环</a:t>
            </a:r>
            <a:endParaRPr sz="1400" dirty="0">
              <a:latin typeface="华文细黑" panose="02010600040101010101" charset="-122"/>
              <a:cs typeface="华文细黑" panose="02010600040101010101" charset="-122"/>
            </a:endParaRPr>
          </a:p>
          <a:p>
            <a:pPr>
              <a:lnSpc>
                <a:spcPts val="1640"/>
              </a:lnSpc>
              <a:tabLst>
                <a:tab pos="2345690" algn="l"/>
              </a:tabLst>
            </a:pPr>
            <a:r>
              <a:rPr sz="2100" b="1" baseline="4000" dirty="0">
                <a:solidFill>
                  <a:srgbClr val="008000"/>
                </a:solidFill>
                <a:latin typeface="Consolas" panose="020B0609020204030204"/>
                <a:cs typeface="Consolas" panose="020B0609020204030204"/>
              </a:rPr>
              <a:t>for </a:t>
            </a:r>
            <a:r>
              <a:rPr sz="2100" baseline="4000" dirty="0">
                <a:latin typeface="Consolas" panose="020B0609020204030204"/>
                <a:cs typeface="Consolas" panose="020B0609020204030204"/>
              </a:rPr>
              <a:t>j </a:t>
            </a:r>
            <a:r>
              <a:rPr sz="2100" b="1" baseline="4000" dirty="0">
                <a:solidFill>
                  <a:srgbClr val="AA22FF"/>
                </a:solidFill>
                <a:latin typeface="Consolas" panose="020B0609020204030204"/>
                <a:cs typeface="Consolas" panose="020B0609020204030204"/>
              </a:rPr>
              <a:t>in </a:t>
            </a:r>
            <a:r>
              <a:rPr sz="2100" baseline="4000" dirty="0">
                <a:solidFill>
                  <a:srgbClr val="008000"/>
                </a:solidFill>
                <a:latin typeface="Consolas" panose="020B0609020204030204"/>
                <a:cs typeface="Consolas" panose="020B0609020204030204"/>
              </a:rPr>
              <a:t>range</a:t>
            </a:r>
            <a:r>
              <a:rPr sz="2100" baseline="4000" dirty="0">
                <a:latin typeface="Consolas" panose="020B0609020204030204"/>
                <a:cs typeface="Consolas" panose="020B0609020204030204"/>
              </a:rPr>
              <a:t>(</a:t>
            </a:r>
            <a:r>
              <a:rPr sz="2100" baseline="4000" dirty="0">
                <a:solidFill>
                  <a:srgbClr val="666666"/>
                </a:solidFill>
                <a:latin typeface="Consolas" panose="020B0609020204030204"/>
                <a:cs typeface="Consolas" panose="020B0609020204030204"/>
              </a:rPr>
              <a:t>400</a:t>
            </a:r>
            <a:r>
              <a:rPr sz="2100" baseline="4000" dirty="0">
                <a:latin typeface="Consolas" panose="020B0609020204030204"/>
                <a:cs typeface="Consolas" panose="020B0609020204030204"/>
              </a:rPr>
              <a:t>):	</a:t>
            </a:r>
            <a:r>
              <a:rPr sz="2100" i="1" baseline="4000" dirty="0">
                <a:solidFill>
                  <a:srgbClr val="408080"/>
                </a:solidFill>
                <a:latin typeface="Consolas" panose="020B0609020204030204"/>
                <a:cs typeface="Consolas" panose="020B0609020204030204"/>
              </a:rPr>
              <a:t># </a:t>
            </a:r>
            <a:r>
              <a:rPr sz="1400" dirty="0">
                <a:solidFill>
                  <a:srgbClr val="408080"/>
                </a:solidFill>
                <a:latin typeface="华文细黑" panose="02010600040101010101" charset="-122"/>
                <a:cs typeface="华文细黑" panose="02010600040101010101" charset="-122"/>
              </a:rPr>
              <a:t>从每行的第</a:t>
            </a:r>
            <a:r>
              <a:rPr sz="2100" i="1" baseline="4000" dirty="0">
                <a:solidFill>
                  <a:srgbClr val="408080"/>
                </a:solidFill>
                <a:latin typeface="Consolas" panose="020B0609020204030204"/>
                <a:cs typeface="Consolas" panose="020B0609020204030204"/>
              </a:rPr>
              <a:t>1</a:t>
            </a:r>
            <a:r>
              <a:rPr sz="1400" dirty="0">
                <a:solidFill>
                  <a:srgbClr val="408080"/>
                </a:solidFill>
                <a:latin typeface="华文细黑" panose="02010600040101010101" charset="-122"/>
                <a:cs typeface="华文细黑" panose="02010600040101010101" charset="-122"/>
              </a:rPr>
              <a:t>列到第</a:t>
            </a:r>
            <a:r>
              <a:rPr sz="2100" i="1" baseline="4000" dirty="0">
                <a:solidFill>
                  <a:srgbClr val="408080"/>
                </a:solidFill>
                <a:latin typeface="Consolas" panose="020B0609020204030204"/>
                <a:cs typeface="Consolas" panose="020B0609020204030204"/>
              </a:rPr>
              <a:t>400</a:t>
            </a:r>
            <a:r>
              <a:rPr sz="1400" dirty="0">
                <a:solidFill>
                  <a:srgbClr val="408080"/>
                </a:solidFill>
                <a:latin typeface="华文细黑" panose="02010600040101010101" charset="-122"/>
                <a:cs typeface="华文细黑" panose="02010600040101010101" charset="-122"/>
              </a:rPr>
              <a:t>列循环</a:t>
            </a:r>
            <a:endParaRPr sz="1400" dirty="0">
              <a:latin typeface="华文细黑" panose="02010600040101010101" charset="-122"/>
              <a:cs typeface="华文细黑" panose="02010600040101010101" charset="-122"/>
            </a:endParaRPr>
          </a:p>
          <a:p>
            <a:pPr marL="177800">
              <a:lnSpc>
                <a:spcPts val="1650"/>
              </a:lnSpc>
              <a:spcBef>
                <a:spcPts val="20"/>
              </a:spcBef>
            </a:pPr>
            <a:r>
              <a:rPr sz="2100" i="1" baseline="4000" dirty="0">
                <a:solidFill>
                  <a:srgbClr val="408080"/>
                </a:solidFill>
                <a:latin typeface="Consolas" panose="020B0609020204030204"/>
                <a:cs typeface="Consolas" panose="020B0609020204030204"/>
              </a:rPr>
              <a:t># </a:t>
            </a:r>
            <a:r>
              <a:rPr sz="1400" dirty="0" err="1">
                <a:solidFill>
                  <a:srgbClr val="408080"/>
                </a:solidFill>
                <a:latin typeface="华文细黑" panose="02010600040101010101" charset="-122"/>
                <a:cs typeface="华文细黑" panose="02010600040101010101" charset="-122"/>
              </a:rPr>
              <a:t>从输入文件中读入每像素的</a:t>
            </a:r>
            <a:r>
              <a:rPr sz="2100" i="1" baseline="4000" dirty="0" err="1">
                <a:solidFill>
                  <a:srgbClr val="408080"/>
                </a:solidFill>
                <a:latin typeface="Consolas" panose="020B0609020204030204"/>
                <a:cs typeface="Consolas" panose="020B0609020204030204"/>
              </a:rPr>
              <a:t>RGB</a:t>
            </a:r>
            <a:r>
              <a:rPr sz="1400" dirty="0" err="1">
                <a:solidFill>
                  <a:srgbClr val="408080"/>
                </a:solidFill>
                <a:latin typeface="华文细黑" panose="02010600040101010101" charset="-122"/>
                <a:cs typeface="华文细黑" panose="02010600040101010101" charset="-122"/>
              </a:rPr>
              <a:t>值</a:t>
            </a:r>
            <a:endParaRPr sz="1400" dirty="0">
              <a:latin typeface="华文细黑" panose="02010600040101010101" charset="-122"/>
              <a:cs typeface="华文细黑" panose="02010600040101010101" charset="-122"/>
            </a:endParaRPr>
          </a:p>
          <a:p>
            <a:pPr marL="1670050">
              <a:lnSpc>
                <a:spcPts val="1650"/>
              </a:lnSpc>
            </a:pPr>
            <a:r>
              <a:rPr sz="1400" dirty="0">
                <a:latin typeface="Consolas" panose="020B0609020204030204"/>
                <a:cs typeface="Consolas" panose="020B0609020204030204"/>
              </a:rPr>
              <a:t>b </a:t>
            </a:r>
            <a:r>
              <a:rPr sz="1400" dirty="0">
                <a:solidFill>
                  <a:srgbClr val="666666"/>
                </a:solidFill>
                <a:latin typeface="Consolas" panose="020B0609020204030204"/>
                <a:cs typeface="Consolas" panose="020B0609020204030204"/>
              </a:rPr>
              <a:t>=</a:t>
            </a:r>
            <a:r>
              <a:rPr sz="1400" spc="-100" dirty="0">
                <a:solidFill>
                  <a:srgbClr val="666666"/>
                </a:solidFill>
                <a:latin typeface="Consolas" panose="020B0609020204030204"/>
                <a:cs typeface="Consolas" panose="020B0609020204030204"/>
              </a:rPr>
              <a:t> </a:t>
            </a:r>
            <a:r>
              <a:rPr sz="1400" dirty="0">
                <a:solidFill>
                  <a:srgbClr val="008000"/>
                </a:solidFill>
                <a:latin typeface="Consolas" panose="020B0609020204030204"/>
                <a:cs typeface="Consolas" panose="020B0609020204030204"/>
              </a:rPr>
              <a:t>ord</a:t>
            </a:r>
            <a:r>
              <a:rPr sz="1400" dirty="0">
                <a:latin typeface="Consolas" panose="020B0609020204030204"/>
                <a:cs typeface="Consolas" panose="020B0609020204030204"/>
              </a:rPr>
              <a:t>(fin</a:t>
            </a:r>
            <a:r>
              <a:rPr sz="1400" dirty="0">
                <a:solidFill>
                  <a:srgbClr val="666666"/>
                </a:solidFill>
                <a:latin typeface="Consolas" panose="020B0609020204030204"/>
                <a:cs typeface="Consolas" panose="020B0609020204030204"/>
              </a:rPr>
              <a:t>.</a:t>
            </a:r>
            <a:r>
              <a:rPr sz="1400" dirty="0">
                <a:latin typeface="Consolas" panose="020B0609020204030204"/>
                <a:cs typeface="Consolas" panose="020B0609020204030204"/>
              </a:rPr>
              <a:t>read(</a:t>
            </a:r>
            <a:r>
              <a:rPr sz="1400" dirty="0">
                <a:solidFill>
                  <a:srgbClr val="666666"/>
                </a:solidFill>
                <a:latin typeface="Consolas" panose="020B0609020204030204"/>
                <a:cs typeface="Consolas" panose="020B0609020204030204"/>
              </a:rPr>
              <a:t>1</a:t>
            </a:r>
            <a:r>
              <a:rPr sz="1400" dirty="0">
                <a:latin typeface="Consolas" panose="020B0609020204030204"/>
                <a:cs typeface="Consolas" panose="020B0609020204030204"/>
              </a:rPr>
              <a:t>))</a:t>
            </a:r>
          </a:p>
          <a:p>
            <a:pPr marL="1670050" marR="2155825">
              <a:lnSpc>
                <a:spcPts val="1600"/>
              </a:lnSpc>
              <a:spcBef>
                <a:spcPts val="140"/>
              </a:spcBef>
            </a:pPr>
            <a:r>
              <a:rPr sz="1400" dirty="0">
                <a:latin typeface="Consolas" panose="020B0609020204030204"/>
                <a:cs typeface="Consolas" panose="020B0609020204030204"/>
              </a:rPr>
              <a:t>g </a:t>
            </a:r>
            <a:r>
              <a:rPr sz="1400" dirty="0">
                <a:solidFill>
                  <a:srgbClr val="666666"/>
                </a:solidFill>
                <a:latin typeface="Consolas" panose="020B0609020204030204"/>
                <a:cs typeface="Consolas" panose="020B0609020204030204"/>
              </a:rPr>
              <a:t>=</a:t>
            </a:r>
            <a:r>
              <a:rPr sz="1400" spc="-100" dirty="0">
                <a:solidFill>
                  <a:srgbClr val="666666"/>
                </a:solidFill>
                <a:latin typeface="Consolas" panose="020B0609020204030204"/>
                <a:cs typeface="Consolas" panose="020B0609020204030204"/>
              </a:rPr>
              <a:t> </a:t>
            </a:r>
            <a:r>
              <a:rPr sz="1400" dirty="0">
                <a:solidFill>
                  <a:srgbClr val="008000"/>
                </a:solidFill>
                <a:latin typeface="Consolas" panose="020B0609020204030204"/>
                <a:cs typeface="Consolas" panose="020B0609020204030204"/>
              </a:rPr>
              <a:t>ord</a:t>
            </a:r>
            <a:r>
              <a:rPr sz="1400" dirty="0">
                <a:latin typeface="Consolas" panose="020B0609020204030204"/>
                <a:cs typeface="Consolas" panose="020B0609020204030204"/>
              </a:rPr>
              <a:t>(fin</a:t>
            </a:r>
            <a:r>
              <a:rPr sz="1400" dirty="0">
                <a:solidFill>
                  <a:srgbClr val="666666"/>
                </a:solidFill>
                <a:latin typeface="Consolas" panose="020B0609020204030204"/>
                <a:cs typeface="Consolas" panose="020B0609020204030204"/>
              </a:rPr>
              <a:t>.</a:t>
            </a:r>
            <a:r>
              <a:rPr sz="1400" dirty="0">
                <a:latin typeface="Consolas" panose="020B0609020204030204"/>
                <a:cs typeface="Consolas" panose="020B0609020204030204"/>
              </a:rPr>
              <a:t>read(</a:t>
            </a:r>
            <a:r>
              <a:rPr sz="1400" dirty="0">
                <a:solidFill>
                  <a:srgbClr val="666666"/>
                </a:solidFill>
                <a:latin typeface="Consolas" panose="020B0609020204030204"/>
                <a:cs typeface="Consolas" panose="020B0609020204030204"/>
              </a:rPr>
              <a:t>1</a:t>
            </a:r>
            <a:r>
              <a:rPr sz="1400" dirty="0">
                <a:latin typeface="Consolas" panose="020B0609020204030204"/>
                <a:cs typeface="Consolas" panose="020B0609020204030204"/>
              </a:rPr>
              <a:t>))  r </a:t>
            </a:r>
            <a:r>
              <a:rPr sz="1400" dirty="0">
                <a:solidFill>
                  <a:srgbClr val="666666"/>
                </a:solidFill>
                <a:latin typeface="Consolas" panose="020B0609020204030204"/>
                <a:cs typeface="Consolas" panose="020B0609020204030204"/>
              </a:rPr>
              <a:t>=</a:t>
            </a:r>
            <a:r>
              <a:rPr sz="1400" spc="-100" dirty="0">
                <a:solidFill>
                  <a:srgbClr val="666666"/>
                </a:solidFill>
                <a:latin typeface="Consolas" panose="020B0609020204030204"/>
                <a:cs typeface="Consolas" panose="020B0609020204030204"/>
              </a:rPr>
              <a:t> </a:t>
            </a:r>
            <a:r>
              <a:rPr sz="1400" dirty="0">
                <a:solidFill>
                  <a:srgbClr val="008000"/>
                </a:solidFill>
                <a:latin typeface="Consolas" panose="020B0609020204030204"/>
                <a:cs typeface="Consolas" panose="020B0609020204030204"/>
              </a:rPr>
              <a:t>ord</a:t>
            </a:r>
            <a:r>
              <a:rPr sz="1400" dirty="0">
                <a:latin typeface="Consolas" panose="020B0609020204030204"/>
                <a:cs typeface="Consolas" panose="020B0609020204030204"/>
              </a:rPr>
              <a:t>(fin</a:t>
            </a:r>
            <a:r>
              <a:rPr sz="1400" dirty="0">
                <a:solidFill>
                  <a:srgbClr val="666666"/>
                </a:solidFill>
                <a:latin typeface="Consolas" panose="020B0609020204030204"/>
                <a:cs typeface="Consolas" panose="020B0609020204030204"/>
              </a:rPr>
              <a:t>.</a:t>
            </a:r>
            <a:r>
              <a:rPr sz="1400" dirty="0">
                <a:latin typeface="Consolas" panose="020B0609020204030204"/>
                <a:cs typeface="Consolas" panose="020B0609020204030204"/>
              </a:rPr>
              <a:t>read(</a:t>
            </a:r>
            <a:r>
              <a:rPr sz="1400" dirty="0">
                <a:solidFill>
                  <a:srgbClr val="666666"/>
                </a:solidFill>
                <a:latin typeface="Consolas" panose="020B0609020204030204"/>
                <a:cs typeface="Consolas" panose="020B0609020204030204"/>
              </a:rPr>
              <a:t>1</a:t>
            </a:r>
            <a:r>
              <a:rPr sz="1400" dirty="0">
                <a:latin typeface="Consolas" panose="020B0609020204030204"/>
                <a:cs typeface="Consolas" panose="020B0609020204030204"/>
              </a:rPr>
              <a:t>))</a:t>
            </a:r>
          </a:p>
          <a:p>
            <a:pPr marL="1670050">
              <a:lnSpc>
                <a:spcPts val="1650"/>
              </a:lnSpc>
              <a:spcBef>
                <a:spcPts val="60"/>
              </a:spcBef>
            </a:pPr>
            <a:r>
              <a:rPr sz="2100" i="1" baseline="4000" dirty="0">
                <a:solidFill>
                  <a:srgbClr val="408080"/>
                </a:solidFill>
                <a:latin typeface="Consolas" panose="020B0609020204030204"/>
                <a:cs typeface="Consolas" panose="020B0609020204030204"/>
              </a:rPr>
              <a:t>#</a:t>
            </a:r>
            <a:r>
              <a:rPr sz="2100" i="1" spc="-60" baseline="4000" dirty="0">
                <a:solidFill>
                  <a:srgbClr val="408080"/>
                </a:solidFill>
                <a:latin typeface="Consolas" panose="020B0609020204030204"/>
                <a:cs typeface="Consolas" panose="020B0609020204030204"/>
              </a:rPr>
              <a:t> </a:t>
            </a:r>
            <a:r>
              <a:rPr sz="1400" dirty="0">
                <a:solidFill>
                  <a:srgbClr val="408080"/>
                </a:solidFill>
                <a:latin typeface="华文细黑" panose="02010600040101010101" charset="-122"/>
                <a:cs typeface="华文细黑" panose="02010600040101010101" charset="-122"/>
              </a:rPr>
              <a:t>按照公式</a:t>
            </a:r>
            <a:r>
              <a:rPr sz="1400" spc="-15" dirty="0">
                <a:solidFill>
                  <a:srgbClr val="408080"/>
                </a:solidFill>
                <a:latin typeface="华文细黑" panose="02010600040101010101" charset="-122"/>
                <a:cs typeface="华文细黑" panose="02010600040101010101" charset="-122"/>
              </a:rPr>
              <a:t> </a:t>
            </a:r>
            <a:r>
              <a:rPr sz="2100" i="1" baseline="4000" dirty="0">
                <a:solidFill>
                  <a:srgbClr val="408080"/>
                </a:solidFill>
                <a:latin typeface="Consolas" panose="020B0609020204030204"/>
                <a:cs typeface="Consolas" panose="020B0609020204030204"/>
              </a:rPr>
              <a:t>Y=0.299R+0.587G+0.114B</a:t>
            </a:r>
            <a:r>
              <a:rPr sz="2100" i="1" spc="-67" baseline="4000" dirty="0">
                <a:solidFill>
                  <a:srgbClr val="408080"/>
                </a:solidFill>
                <a:latin typeface="Consolas" panose="020B0609020204030204"/>
                <a:cs typeface="Consolas" panose="020B0609020204030204"/>
              </a:rPr>
              <a:t> </a:t>
            </a:r>
            <a:r>
              <a:rPr sz="1400" dirty="0">
                <a:solidFill>
                  <a:srgbClr val="408080"/>
                </a:solidFill>
                <a:latin typeface="华文细黑" panose="02010600040101010101" charset="-122"/>
                <a:cs typeface="华文细黑" panose="02010600040101010101" charset="-122"/>
              </a:rPr>
              <a:t>计算灰度值</a:t>
            </a:r>
            <a:endParaRPr sz="1400" dirty="0">
              <a:latin typeface="华文细黑" panose="02010600040101010101" charset="-122"/>
              <a:cs typeface="华文细黑" panose="02010600040101010101" charset="-122"/>
            </a:endParaRPr>
          </a:p>
          <a:p>
            <a:pPr marL="1670050">
              <a:lnSpc>
                <a:spcPts val="1650"/>
              </a:lnSpc>
            </a:pPr>
            <a:r>
              <a:rPr sz="1400" dirty="0">
                <a:latin typeface="Consolas" panose="020B0609020204030204"/>
                <a:cs typeface="Consolas" panose="020B0609020204030204"/>
              </a:rPr>
              <a:t>y </a:t>
            </a:r>
            <a:r>
              <a:rPr sz="1400" dirty="0">
                <a:solidFill>
                  <a:srgbClr val="666666"/>
                </a:solidFill>
                <a:latin typeface="Consolas" panose="020B0609020204030204"/>
                <a:cs typeface="Consolas" panose="020B0609020204030204"/>
              </a:rPr>
              <a:t>= </a:t>
            </a:r>
            <a:r>
              <a:rPr sz="1400" dirty="0">
                <a:latin typeface="Consolas" panose="020B0609020204030204"/>
                <a:cs typeface="Consolas" panose="020B0609020204030204"/>
              </a:rPr>
              <a:t>(</a:t>
            </a:r>
            <a:r>
              <a:rPr sz="1400" dirty="0">
                <a:solidFill>
                  <a:srgbClr val="666666"/>
                </a:solidFill>
                <a:latin typeface="Consolas" panose="020B0609020204030204"/>
                <a:cs typeface="Consolas" panose="020B0609020204030204"/>
              </a:rPr>
              <a:t>299 * </a:t>
            </a:r>
            <a:r>
              <a:rPr sz="1400" dirty="0">
                <a:latin typeface="Consolas" panose="020B0609020204030204"/>
                <a:cs typeface="Consolas" panose="020B0609020204030204"/>
              </a:rPr>
              <a:t>r </a:t>
            </a:r>
            <a:r>
              <a:rPr sz="1400" dirty="0">
                <a:solidFill>
                  <a:srgbClr val="666666"/>
                </a:solidFill>
                <a:latin typeface="Consolas" panose="020B0609020204030204"/>
                <a:cs typeface="Consolas" panose="020B0609020204030204"/>
              </a:rPr>
              <a:t>+ 587 * </a:t>
            </a:r>
            <a:r>
              <a:rPr sz="1400" dirty="0">
                <a:latin typeface="Consolas" panose="020B0609020204030204"/>
                <a:cs typeface="Consolas" panose="020B0609020204030204"/>
              </a:rPr>
              <a:t>g </a:t>
            </a:r>
            <a:r>
              <a:rPr sz="1400" dirty="0">
                <a:solidFill>
                  <a:srgbClr val="666666"/>
                </a:solidFill>
                <a:latin typeface="Consolas" panose="020B0609020204030204"/>
                <a:cs typeface="Consolas" panose="020B0609020204030204"/>
              </a:rPr>
              <a:t>+ 114 * </a:t>
            </a:r>
            <a:r>
              <a:rPr sz="1400" dirty="0">
                <a:latin typeface="Consolas" panose="020B0609020204030204"/>
                <a:cs typeface="Consolas" panose="020B0609020204030204"/>
              </a:rPr>
              <a:t>b) </a:t>
            </a:r>
            <a:r>
              <a:rPr sz="1400" dirty="0">
                <a:solidFill>
                  <a:srgbClr val="666666"/>
                </a:solidFill>
                <a:latin typeface="Consolas" panose="020B0609020204030204"/>
                <a:cs typeface="Consolas" panose="020B0609020204030204"/>
              </a:rPr>
              <a:t>/</a:t>
            </a:r>
            <a:r>
              <a:rPr sz="1400" spc="-95" dirty="0">
                <a:solidFill>
                  <a:srgbClr val="666666"/>
                </a:solidFill>
                <a:latin typeface="Consolas" panose="020B0609020204030204"/>
                <a:cs typeface="Consolas" panose="020B0609020204030204"/>
              </a:rPr>
              <a:t> </a:t>
            </a:r>
            <a:r>
              <a:rPr sz="1400" dirty="0">
                <a:solidFill>
                  <a:srgbClr val="666666"/>
                </a:solidFill>
                <a:latin typeface="Consolas" panose="020B0609020204030204"/>
                <a:cs typeface="Consolas" panose="020B0609020204030204"/>
              </a:rPr>
              <a:t>1000</a:t>
            </a:r>
            <a:endParaRPr sz="1400" dirty="0">
              <a:latin typeface="Consolas" panose="020B0609020204030204"/>
              <a:cs typeface="Consolas" panose="020B0609020204030204"/>
            </a:endParaRPr>
          </a:p>
        </p:txBody>
      </p:sp>
      <p:sp>
        <p:nvSpPr>
          <p:cNvPr id="8" name="object 8"/>
          <p:cNvSpPr txBox="1"/>
          <p:nvPr/>
        </p:nvSpPr>
        <p:spPr>
          <a:xfrm>
            <a:off x="3137620" y="5032804"/>
            <a:ext cx="5198745" cy="228268"/>
          </a:xfrm>
          <a:prstGeom prst="rect">
            <a:avLst/>
          </a:prstGeom>
        </p:spPr>
        <p:txBody>
          <a:bodyPr vert="horz" wrap="square" lIns="0" tIns="12700" rIns="0" bIns="0" rtlCol="0">
            <a:spAutoFit/>
          </a:bodyPr>
          <a:lstStyle/>
          <a:p>
            <a:pPr marL="12700">
              <a:lnSpc>
                <a:spcPct val="100000"/>
              </a:lnSpc>
              <a:spcBef>
                <a:spcPts val="100"/>
              </a:spcBef>
              <a:tabLst>
                <a:tab pos="1967230" algn="l"/>
              </a:tabLst>
            </a:pPr>
            <a:r>
              <a:rPr sz="2100" baseline="4000" dirty="0">
                <a:latin typeface="Consolas" panose="020B0609020204030204"/>
                <a:cs typeface="Consolas" panose="020B0609020204030204"/>
              </a:rPr>
              <a:t>fout</a:t>
            </a:r>
            <a:r>
              <a:rPr sz="2100" baseline="4000" dirty="0">
                <a:solidFill>
                  <a:srgbClr val="666666"/>
                </a:solidFill>
                <a:latin typeface="Consolas" panose="020B0609020204030204"/>
                <a:cs typeface="Consolas" panose="020B0609020204030204"/>
              </a:rPr>
              <a:t>.</a:t>
            </a:r>
            <a:r>
              <a:rPr sz="2100" baseline="4000" dirty="0">
                <a:latin typeface="Consolas" panose="020B0609020204030204"/>
                <a:cs typeface="Consolas" panose="020B0609020204030204"/>
              </a:rPr>
              <a:t>write(</a:t>
            </a:r>
            <a:r>
              <a:rPr sz="2100" baseline="4000" dirty="0">
                <a:solidFill>
                  <a:srgbClr val="008000"/>
                </a:solidFill>
                <a:latin typeface="Consolas" panose="020B0609020204030204"/>
                <a:cs typeface="Consolas" panose="020B0609020204030204"/>
              </a:rPr>
              <a:t>chr</a:t>
            </a:r>
            <a:r>
              <a:rPr sz="2100" baseline="4000" dirty="0">
                <a:latin typeface="Consolas" panose="020B0609020204030204"/>
                <a:cs typeface="Consolas" panose="020B0609020204030204"/>
              </a:rPr>
              <a:t>(y))	</a:t>
            </a:r>
            <a:r>
              <a:rPr sz="2100" i="1" baseline="4000" dirty="0">
                <a:solidFill>
                  <a:srgbClr val="408080"/>
                </a:solidFill>
                <a:latin typeface="Consolas" panose="020B0609020204030204"/>
                <a:cs typeface="Consolas" panose="020B0609020204030204"/>
              </a:rPr>
              <a:t>#</a:t>
            </a:r>
            <a:r>
              <a:rPr sz="2100" i="1" spc="-82" baseline="4000" dirty="0">
                <a:solidFill>
                  <a:srgbClr val="408080"/>
                </a:solidFill>
                <a:latin typeface="Consolas" panose="020B0609020204030204"/>
                <a:cs typeface="Consolas" panose="020B0609020204030204"/>
              </a:rPr>
              <a:t> </a:t>
            </a:r>
            <a:r>
              <a:rPr sz="1400" spc="-80" dirty="0" err="1">
                <a:solidFill>
                  <a:srgbClr val="408080"/>
                </a:solidFill>
                <a:latin typeface="华文细黑" panose="02010600040101010101" charset="-122"/>
                <a:cs typeface="华文细黑" panose="02010600040101010101" charset="-122"/>
              </a:rPr>
              <a:t>将计算出来的灰度值写到输出文件中去</a:t>
            </a:r>
            <a:endParaRPr sz="1400" dirty="0">
              <a:latin typeface="华文细黑" panose="02010600040101010101" charset="-122"/>
              <a:cs typeface="华文细黑" panose="02010600040101010101" charset="-122"/>
            </a:endParaRPr>
          </a:p>
        </p:txBody>
      </p:sp>
      <p:sp>
        <p:nvSpPr>
          <p:cNvPr id="9" name="object 9"/>
          <p:cNvSpPr txBox="1"/>
          <p:nvPr/>
        </p:nvSpPr>
        <p:spPr>
          <a:xfrm>
            <a:off x="5208713" y="5451904"/>
            <a:ext cx="2532380" cy="228268"/>
          </a:xfrm>
          <a:prstGeom prst="rect">
            <a:avLst/>
          </a:prstGeom>
        </p:spPr>
        <p:txBody>
          <a:bodyPr vert="horz" wrap="square" lIns="0" tIns="12700" rIns="0" bIns="0" rtlCol="0">
            <a:spAutoFit/>
          </a:bodyPr>
          <a:lstStyle/>
          <a:p>
            <a:pPr marL="12700">
              <a:lnSpc>
                <a:spcPct val="100000"/>
              </a:lnSpc>
              <a:spcBef>
                <a:spcPts val="100"/>
              </a:spcBef>
            </a:pPr>
            <a:r>
              <a:rPr sz="2100" i="1" baseline="4000" dirty="0">
                <a:solidFill>
                  <a:srgbClr val="408080"/>
                </a:solidFill>
                <a:latin typeface="Consolas" panose="020B0609020204030204"/>
                <a:cs typeface="Consolas" panose="020B0609020204030204"/>
              </a:rPr>
              <a:t>#</a:t>
            </a:r>
            <a:r>
              <a:rPr sz="2100" i="1" spc="-135" baseline="4000" dirty="0">
                <a:solidFill>
                  <a:srgbClr val="408080"/>
                </a:solidFill>
                <a:latin typeface="Consolas" panose="020B0609020204030204"/>
                <a:cs typeface="Consolas" panose="020B0609020204030204"/>
              </a:rPr>
              <a:t> </a:t>
            </a:r>
            <a:r>
              <a:rPr sz="1400" spc="-100" dirty="0" err="1">
                <a:solidFill>
                  <a:srgbClr val="408080"/>
                </a:solidFill>
                <a:latin typeface="华文细黑" panose="02010600040101010101" charset="-122"/>
                <a:cs typeface="华文细黑" panose="02010600040101010101" charset="-122"/>
              </a:rPr>
              <a:t>如果打开失败则显示错误信息</a:t>
            </a:r>
            <a:endParaRPr sz="1400" dirty="0">
              <a:latin typeface="华文细黑" panose="02010600040101010101" charset="-122"/>
              <a:cs typeface="华文细黑" panose="02010600040101010101" charset="-122"/>
            </a:endParaRPr>
          </a:p>
        </p:txBody>
      </p:sp>
      <p:sp>
        <p:nvSpPr>
          <p:cNvPr id="10" name="object 10"/>
          <p:cNvSpPr txBox="1"/>
          <p:nvPr/>
        </p:nvSpPr>
        <p:spPr>
          <a:xfrm>
            <a:off x="791493" y="5238036"/>
            <a:ext cx="4247515" cy="873760"/>
          </a:xfrm>
          <a:prstGeom prst="rect">
            <a:avLst/>
          </a:prstGeom>
        </p:spPr>
        <p:txBody>
          <a:bodyPr vert="horz" wrap="square" lIns="0" tIns="12700" rIns="0" bIns="0" rtlCol="0">
            <a:spAutoFit/>
          </a:bodyPr>
          <a:lstStyle/>
          <a:p>
            <a:pPr marL="154940">
              <a:lnSpc>
                <a:spcPct val="100000"/>
              </a:lnSpc>
              <a:spcBef>
                <a:spcPts val="100"/>
              </a:spcBef>
            </a:pPr>
            <a:r>
              <a:rPr sz="1400" b="1" dirty="0">
                <a:solidFill>
                  <a:srgbClr val="008000"/>
                </a:solidFill>
                <a:latin typeface="Consolas" panose="020B0609020204030204"/>
                <a:cs typeface="Consolas" panose="020B0609020204030204"/>
              </a:rPr>
              <a:t>except </a:t>
            </a:r>
            <a:r>
              <a:rPr sz="1400" b="1" dirty="0">
                <a:solidFill>
                  <a:srgbClr val="D2413A"/>
                </a:solidFill>
                <a:latin typeface="Consolas" panose="020B0609020204030204"/>
                <a:cs typeface="Consolas" panose="020B0609020204030204"/>
              </a:rPr>
              <a:t>IOError </a:t>
            </a:r>
            <a:r>
              <a:rPr sz="1400" b="1" dirty="0">
                <a:solidFill>
                  <a:srgbClr val="008000"/>
                </a:solidFill>
                <a:latin typeface="Consolas" panose="020B0609020204030204"/>
                <a:cs typeface="Consolas" panose="020B0609020204030204"/>
              </a:rPr>
              <a:t>as</a:t>
            </a:r>
            <a:r>
              <a:rPr sz="1400" b="1" spc="-15" dirty="0">
                <a:solidFill>
                  <a:srgbClr val="008000"/>
                </a:solidFill>
                <a:latin typeface="Consolas" panose="020B0609020204030204"/>
                <a:cs typeface="Consolas" panose="020B0609020204030204"/>
              </a:rPr>
              <a:t> </a:t>
            </a:r>
            <a:r>
              <a:rPr sz="1400" dirty="0">
                <a:latin typeface="Consolas" panose="020B0609020204030204"/>
                <a:cs typeface="Consolas" panose="020B0609020204030204"/>
              </a:rPr>
              <a:t>e:</a:t>
            </a:r>
          </a:p>
          <a:p>
            <a:pPr marL="1185545">
              <a:lnSpc>
                <a:spcPts val="1650"/>
              </a:lnSpc>
            </a:pPr>
            <a:r>
              <a:rPr sz="2100" b="1" baseline="4000" dirty="0">
                <a:solidFill>
                  <a:srgbClr val="008000"/>
                </a:solidFill>
                <a:latin typeface="Consolas" panose="020B0609020204030204"/>
                <a:cs typeface="Consolas" panose="020B0609020204030204"/>
              </a:rPr>
              <a:t>print</a:t>
            </a:r>
            <a:r>
              <a:rPr sz="2100" baseline="4000" dirty="0">
                <a:latin typeface="Consolas" panose="020B0609020204030204"/>
                <a:cs typeface="Consolas" panose="020B0609020204030204"/>
              </a:rPr>
              <a:t>(</a:t>
            </a:r>
            <a:r>
              <a:rPr sz="2100" baseline="4000" dirty="0">
                <a:solidFill>
                  <a:srgbClr val="BA2121"/>
                </a:solidFill>
                <a:latin typeface="Consolas" panose="020B0609020204030204"/>
                <a:cs typeface="Consolas" panose="020B0609020204030204"/>
              </a:rPr>
              <a:t>"</a:t>
            </a:r>
            <a:r>
              <a:rPr sz="1400" spc="-280" dirty="0" err="1">
                <a:solidFill>
                  <a:srgbClr val="C8352B"/>
                </a:solidFill>
                <a:latin typeface="华文细黑" panose="02010600040101010101" charset="-122"/>
                <a:cs typeface="华文细黑" panose="02010600040101010101" charset="-122"/>
              </a:rPr>
              <a:t>打开文件</a:t>
            </a:r>
            <a:r>
              <a:rPr sz="1400" spc="-240" dirty="0">
                <a:solidFill>
                  <a:srgbClr val="C8352B"/>
                </a:solidFill>
                <a:latin typeface="华文细黑" panose="02010600040101010101" charset="-122"/>
                <a:cs typeface="华文细黑" panose="02010600040101010101" charset="-122"/>
              </a:rPr>
              <a:t> </a:t>
            </a:r>
            <a:r>
              <a:rPr sz="2100" baseline="4000" dirty="0">
                <a:solidFill>
                  <a:srgbClr val="BA2121"/>
                </a:solidFill>
                <a:latin typeface="Consolas" panose="020B0609020204030204"/>
                <a:cs typeface="Consolas" panose="020B0609020204030204"/>
              </a:rPr>
              <a:t>cat2.pic</a:t>
            </a:r>
            <a:r>
              <a:rPr sz="2100" spc="-104" baseline="4000" dirty="0">
                <a:solidFill>
                  <a:srgbClr val="BA2121"/>
                </a:solidFill>
                <a:latin typeface="Consolas" panose="020B0609020204030204"/>
                <a:cs typeface="Consolas" panose="020B0609020204030204"/>
              </a:rPr>
              <a:t> </a:t>
            </a:r>
            <a:r>
              <a:rPr sz="1400" dirty="0">
                <a:solidFill>
                  <a:srgbClr val="C8352B"/>
                </a:solidFill>
                <a:latin typeface="华文细黑" panose="02010600040101010101" charset="-122"/>
                <a:cs typeface="华文细黑" panose="02010600040101010101" charset="-122"/>
              </a:rPr>
              <a:t>时错误</a:t>
            </a:r>
            <a:r>
              <a:rPr sz="2100" baseline="4000" dirty="0">
                <a:solidFill>
                  <a:srgbClr val="BA2121"/>
                </a:solidFill>
                <a:latin typeface="Consolas" panose="020B0609020204030204"/>
                <a:cs typeface="Consolas" panose="020B0609020204030204"/>
              </a:rPr>
              <a:t>"</a:t>
            </a:r>
            <a:r>
              <a:rPr sz="2100" baseline="4000" dirty="0">
                <a:latin typeface="Consolas" panose="020B0609020204030204"/>
                <a:cs typeface="Consolas" panose="020B0609020204030204"/>
              </a:rPr>
              <a:t>)</a:t>
            </a:r>
          </a:p>
          <a:p>
            <a:pPr marL="332740">
              <a:lnSpc>
                <a:spcPts val="1650"/>
              </a:lnSpc>
            </a:pPr>
            <a:r>
              <a:rPr sz="1400" b="1" dirty="0">
                <a:solidFill>
                  <a:srgbClr val="008000"/>
                </a:solidFill>
                <a:latin typeface="Consolas" panose="020B0609020204030204"/>
                <a:cs typeface="Consolas" panose="020B0609020204030204"/>
              </a:rPr>
              <a:t>return</a:t>
            </a:r>
            <a:r>
              <a:rPr sz="1400" b="1" spc="-5" dirty="0">
                <a:solidFill>
                  <a:srgbClr val="008000"/>
                </a:solidFill>
                <a:latin typeface="Consolas" panose="020B0609020204030204"/>
                <a:cs typeface="Consolas" panose="020B0609020204030204"/>
              </a:rPr>
              <a:t> </a:t>
            </a:r>
            <a:r>
              <a:rPr sz="1400" spc="-385" dirty="0">
                <a:solidFill>
                  <a:srgbClr val="666666"/>
                </a:solidFill>
                <a:latin typeface="Consolas" panose="020B0609020204030204"/>
                <a:cs typeface="Consolas" panose="020B0609020204030204"/>
              </a:rPr>
              <a:t>-­‐1</a:t>
            </a:r>
            <a:endParaRPr sz="1400" dirty="0">
              <a:latin typeface="Consolas" panose="020B0609020204030204"/>
              <a:cs typeface="Consolas" panose="020B0609020204030204"/>
            </a:endParaRPr>
          </a:p>
          <a:p>
            <a:pPr marL="12700">
              <a:lnSpc>
                <a:spcPct val="100000"/>
              </a:lnSpc>
              <a:spcBef>
                <a:spcPts val="25"/>
              </a:spcBef>
            </a:pPr>
            <a:r>
              <a:rPr sz="1400" b="1" dirty="0">
                <a:solidFill>
                  <a:srgbClr val="008000"/>
                </a:solidFill>
                <a:latin typeface="Consolas" panose="020B0609020204030204"/>
                <a:cs typeface="Consolas" panose="020B0609020204030204"/>
              </a:rPr>
              <a:t>except </a:t>
            </a:r>
            <a:r>
              <a:rPr sz="1400" b="1" dirty="0">
                <a:solidFill>
                  <a:srgbClr val="D2413A"/>
                </a:solidFill>
                <a:latin typeface="Consolas" panose="020B0609020204030204"/>
                <a:cs typeface="Consolas" panose="020B0609020204030204"/>
              </a:rPr>
              <a:t>IOError </a:t>
            </a:r>
            <a:r>
              <a:rPr sz="1400" b="1" dirty="0">
                <a:solidFill>
                  <a:srgbClr val="008000"/>
                </a:solidFill>
                <a:latin typeface="Consolas" panose="020B0609020204030204"/>
                <a:cs typeface="Consolas" panose="020B0609020204030204"/>
              </a:rPr>
              <a:t>as</a:t>
            </a:r>
            <a:r>
              <a:rPr sz="1400" b="1" spc="-15" dirty="0">
                <a:solidFill>
                  <a:srgbClr val="008000"/>
                </a:solidFill>
                <a:latin typeface="Consolas" panose="020B0609020204030204"/>
                <a:cs typeface="Consolas" panose="020B0609020204030204"/>
              </a:rPr>
              <a:t> </a:t>
            </a:r>
            <a:r>
              <a:rPr sz="1400" dirty="0">
                <a:latin typeface="Consolas" panose="020B0609020204030204"/>
                <a:cs typeface="Consolas" panose="020B0609020204030204"/>
              </a:rPr>
              <a:t>e:</a:t>
            </a:r>
          </a:p>
        </p:txBody>
      </p:sp>
      <p:sp>
        <p:nvSpPr>
          <p:cNvPr id="11" name="object 11"/>
          <p:cNvSpPr txBox="1"/>
          <p:nvPr/>
        </p:nvSpPr>
        <p:spPr>
          <a:xfrm>
            <a:off x="756072" y="6099604"/>
            <a:ext cx="6203315" cy="657860"/>
          </a:xfrm>
          <a:prstGeom prst="rect">
            <a:avLst/>
          </a:prstGeom>
        </p:spPr>
        <p:txBody>
          <a:bodyPr vert="horz" wrap="square" lIns="0" tIns="12700" rIns="0" bIns="0" rtlCol="0">
            <a:spAutoFit/>
          </a:bodyPr>
          <a:lstStyle/>
          <a:p>
            <a:pPr marL="438785">
              <a:lnSpc>
                <a:spcPts val="1650"/>
              </a:lnSpc>
              <a:spcBef>
                <a:spcPts val="100"/>
              </a:spcBef>
              <a:tabLst>
                <a:tab pos="3683000" algn="l"/>
              </a:tabLst>
            </a:pPr>
            <a:r>
              <a:rPr sz="2100" b="1" baseline="4000" dirty="0">
                <a:solidFill>
                  <a:srgbClr val="008000"/>
                </a:solidFill>
                <a:latin typeface="Consolas" panose="020B0609020204030204"/>
                <a:cs typeface="Consolas" panose="020B0609020204030204"/>
              </a:rPr>
              <a:t>print</a:t>
            </a:r>
            <a:r>
              <a:rPr sz="2100" baseline="4000" dirty="0">
                <a:latin typeface="Consolas" panose="020B0609020204030204"/>
                <a:cs typeface="Consolas" panose="020B0609020204030204"/>
              </a:rPr>
              <a:t>(</a:t>
            </a:r>
            <a:r>
              <a:rPr sz="2100" baseline="4000" dirty="0">
                <a:solidFill>
                  <a:srgbClr val="BA2121"/>
                </a:solidFill>
                <a:latin typeface="Consolas" panose="020B0609020204030204"/>
                <a:cs typeface="Consolas" panose="020B0609020204030204"/>
              </a:rPr>
              <a:t>"</a:t>
            </a:r>
            <a:r>
              <a:rPr sz="1400" spc="-280" dirty="0" err="1">
                <a:solidFill>
                  <a:srgbClr val="C8352B"/>
                </a:solidFill>
                <a:latin typeface="华文细黑" panose="02010600040101010101" charset="-122"/>
                <a:cs typeface="华文细黑" panose="02010600040101010101" charset="-122"/>
              </a:rPr>
              <a:t>打开文件</a:t>
            </a:r>
            <a:r>
              <a:rPr sz="1400" spc="-280" dirty="0">
                <a:solidFill>
                  <a:srgbClr val="C8352B"/>
                </a:solidFill>
                <a:latin typeface="华文细黑" panose="02010600040101010101" charset="-122"/>
                <a:cs typeface="华文细黑" panose="02010600040101010101" charset="-122"/>
              </a:rPr>
              <a:t>   </a:t>
            </a:r>
            <a:r>
              <a:rPr sz="1400" spc="-210" dirty="0">
                <a:solidFill>
                  <a:srgbClr val="C8352B"/>
                </a:solidFill>
                <a:latin typeface="华文细黑" panose="02010600040101010101" charset="-122"/>
                <a:cs typeface="华文细黑" panose="02010600040101010101" charset="-122"/>
              </a:rPr>
              <a:t> </a:t>
            </a:r>
            <a:r>
              <a:rPr sz="2100" baseline="4000" dirty="0">
                <a:solidFill>
                  <a:srgbClr val="BA2121"/>
                </a:solidFill>
                <a:latin typeface="Consolas" panose="020B0609020204030204"/>
                <a:cs typeface="Consolas" panose="020B0609020204030204"/>
              </a:rPr>
              <a:t>cat.pic </a:t>
            </a:r>
            <a:r>
              <a:rPr sz="1400" dirty="0">
                <a:solidFill>
                  <a:srgbClr val="C8352B"/>
                </a:solidFill>
                <a:latin typeface="华文细黑" panose="02010600040101010101" charset="-122"/>
                <a:cs typeface="华文细黑" panose="02010600040101010101" charset="-122"/>
              </a:rPr>
              <a:t>时错误</a:t>
            </a:r>
            <a:r>
              <a:rPr sz="2100" baseline="4000" dirty="0">
                <a:solidFill>
                  <a:srgbClr val="BA2121"/>
                </a:solidFill>
                <a:latin typeface="Consolas" panose="020B0609020204030204"/>
                <a:cs typeface="Consolas" panose="020B0609020204030204"/>
              </a:rPr>
              <a:t>"</a:t>
            </a:r>
            <a:r>
              <a:rPr sz="2100" baseline="4000" dirty="0">
                <a:latin typeface="Consolas" panose="020B0609020204030204"/>
                <a:cs typeface="Consolas" panose="020B0609020204030204"/>
              </a:rPr>
              <a:t>)	</a:t>
            </a:r>
            <a:r>
              <a:rPr sz="2100" i="1" baseline="4000" dirty="0">
                <a:solidFill>
                  <a:srgbClr val="408080"/>
                </a:solidFill>
                <a:latin typeface="Consolas" panose="020B0609020204030204"/>
                <a:cs typeface="Consolas" panose="020B0609020204030204"/>
              </a:rPr>
              <a:t>#</a:t>
            </a:r>
            <a:r>
              <a:rPr sz="2100" i="1" spc="-135" baseline="4000" dirty="0">
                <a:solidFill>
                  <a:srgbClr val="408080"/>
                </a:solidFill>
                <a:latin typeface="Consolas" panose="020B0609020204030204"/>
                <a:cs typeface="Consolas" panose="020B0609020204030204"/>
              </a:rPr>
              <a:t> </a:t>
            </a:r>
            <a:r>
              <a:rPr sz="1400" spc="-100" dirty="0" err="1">
                <a:solidFill>
                  <a:srgbClr val="408080"/>
                </a:solidFill>
                <a:latin typeface="华文细黑" panose="02010600040101010101" charset="-122"/>
                <a:cs typeface="华文细黑" panose="02010600040101010101" charset="-122"/>
              </a:rPr>
              <a:t>如果打开失败则显示错误信息</a:t>
            </a:r>
            <a:endParaRPr sz="1400" dirty="0">
              <a:latin typeface="华文细黑" panose="02010600040101010101" charset="-122"/>
              <a:cs typeface="华文细黑" panose="02010600040101010101" charset="-122"/>
            </a:endParaRPr>
          </a:p>
          <a:p>
            <a:pPr marL="12700">
              <a:lnSpc>
                <a:spcPts val="1650"/>
              </a:lnSpc>
            </a:pPr>
            <a:r>
              <a:rPr sz="1400" b="1" dirty="0">
                <a:solidFill>
                  <a:srgbClr val="008000"/>
                </a:solidFill>
                <a:latin typeface="Consolas" panose="020B0609020204030204"/>
                <a:cs typeface="Consolas" panose="020B0609020204030204"/>
              </a:rPr>
              <a:t>return</a:t>
            </a:r>
            <a:r>
              <a:rPr sz="1400" b="1" spc="-5" dirty="0">
                <a:solidFill>
                  <a:srgbClr val="008000"/>
                </a:solidFill>
                <a:latin typeface="Consolas" panose="020B0609020204030204"/>
                <a:cs typeface="Consolas" panose="020B0609020204030204"/>
              </a:rPr>
              <a:t> </a:t>
            </a:r>
            <a:r>
              <a:rPr sz="1400" spc="-385" dirty="0">
                <a:solidFill>
                  <a:srgbClr val="666666"/>
                </a:solidFill>
                <a:latin typeface="Consolas" panose="020B0609020204030204"/>
                <a:cs typeface="Consolas" panose="020B0609020204030204"/>
              </a:rPr>
              <a:t>-­‐1</a:t>
            </a:r>
            <a:endParaRPr sz="1400" dirty="0">
              <a:latin typeface="Consolas" panose="020B0609020204030204"/>
              <a:cs typeface="Consolas" panose="020B0609020204030204"/>
            </a:endParaRPr>
          </a:p>
          <a:p>
            <a:pPr marL="47625">
              <a:lnSpc>
                <a:spcPct val="100000"/>
              </a:lnSpc>
              <a:tabLst>
                <a:tab pos="1221105" algn="l"/>
              </a:tabLst>
            </a:pPr>
            <a:r>
              <a:rPr sz="2100" b="1" baseline="4000" dirty="0">
                <a:solidFill>
                  <a:srgbClr val="008000"/>
                </a:solidFill>
                <a:latin typeface="Consolas" panose="020B0609020204030204"/>
                <a:cs typeface="Consolas" panose="020B0609020204030204"/>
              </a:rPr>
              <a:t>return </a:t>
            </a:r>
            <a:r>
              <a:rPr sz="2100" baseline="4000" dirty="0">
                <a:solidFill>
                  <a:srgbClr val="666666"/>
                </a:solidFill>
                <a:latin typeface="Consolas" panose="020B0609020204030204"/>
                <a:cs typeface="Consolas" panose="020B0609020204030204"/>
              </a:rPr>
              <a:t>0	</a:t>
            </a:r>
            <a:r>
              <a:rPr sz="2100" i="1" baseline="4000" dirty="0">
                <a:solidFill>
                  <a:srgbClr val="408080"/>
                </a:solidFill>
                <a:latin typeface="Consolas" panose="020B0609020204030204"/>
                <a:cs typeface="Consolas" panose="020B0609020204030204"/>
              </a:rPr>
              <a:t>#</a:t>
            </a:r>
            <a:r>
              <a:rPr sz="2100" i="1" spc="-7" baseline="4000" dirty="0">
                <a:solidFill>
                  <a:srgbClr val="408080"/>
                </a:solidFill>
                <a:latin typeface="Consolas" panose="020B0609020204030204"/>
                <a:cs typeface="Consolas" panose="020B0609020204030204"/>
              </a:rPr>
              <a:t> </a:t>
            </a:r>
            <a:r>
              <a:rPr sz="1400" dirty="0">
                <a:solidFill>
                  <a:srgbClr val="408080"/>
                </a:solidFill>
                <a:latin typeface="华文细黑" panose="02010600040101010101" charset="-122"/>
                <a:cs typeface="华文细黑" panose="02010600040101010101" charset="-122"/>
              </a:rPr>
              <a:t>返回</a:t>
            </a:r>
            <a:r>
              <a:rPr sz="2100" i="1" baseline="4000" dirty="0">
                <a:solidFill>
                  <a:srgbClr val="408080"/>
                </a:solidFill>
                <a:latin typeface="Consolas" panose="020B0609020204030204"/>
                <a:cs typeface="Consolas" panose="020B0609020204030204"/>
              </a:rPr>
              <a:t>0</a:t>
            </a:r>
            <a:r>
              <a:rPr sz="1400" spc="-160" dirty="0">
                <a:solidFill>
                  <a:srgbClr val="408080"/>
                </a:solidFill>
                <a:latin typeface="华文细黑" panose="02010600040101010101" charset="-122"/>
                <a:cs typeface="华文细黑" panose="02010600040101010101" charset="-122"/>
              </a:rPr>
              <a:t>表示正确处理完毕</a:t>
            </a:r>
            <a:endParaRPr sz="1400" dirty="0">
              <a:latin typeface="华文细黑" panose="02010600040101010101" charset="-122"/>
              <a:cs typeface="华文细黑" panose="02010600040101010101" charset="-122"/>
            </a:endParaRPr>
          </a:p>
        </p:txBody>
      </p:sp>
      <p:sp>
        <p:nvSpPr>
          <p:cNvPr id="12" name="object 12"/>
          <p:cNvSpPr/>
          <p:nvPr/>
        </p:nvSpPr>
        <p:spPr>
          <a:xfrm>
            <a:off x="9162421" y="1889650"/>
            <a:ext cx="2023432" cy="3162651"/>
          </a:xfrm>
          <a:prstGeom prst="rect">
            <a:avLst/>
          </a:prstGeom>
          <a:blipFill>
            <a:blip r:embed="rId3" cstate="print"/>
            <a:stretch>
              <a:fillRect/>
            </a:stretch>
          </a:blipFill>
        </p:spPr>
        <p:txBody>
          <a:bodyPr wrap="square" lIns="0" tIns="0" rIns="0" bIns="0" rtlCol="0"/>
          <a:lstStyle/>
          <a:p>
            <a:endParaRPr/>
          </a:p>
        </p:txBody>
      </p:sp>
      <p:sp>
        <p:nvSpPr>
          <p:cNvPr id="13" name="object 13"/>
          <p:cNvSpPr txBox="1"/>
          <p:nvPr/>
        </p:nvSpPr>
        <p:spPr>
          <a:xfrm>
            <a:off x="5928574" y="1256757"/>
            <a:ext cx="4851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CC0000"/>
                </a:solidFill>
                <a:latin typeface="微软雅黑" panose="020B0503020204020204" pitchFamily="34" charset="-122"/>
                <a:cs typeface="微软雅黑" panose="020B0503020204020204" pitchFamily="34" charset="-122"/>
              </a:rPr>
              <a:t>注释仅仅是语句的重复解释</a:t>
            </a:r>
            <a:r>
              <a:rPr sz="2000" dirty="0">
                <a:solidFill>
                  <a:srgbClr val="D81E00"/>
                </a:solidFill>
                <a:latin typeface="微软雅黑" panose="020B0503020204020204" pitchFamily="34" charset="-122"/>
                <a:cs typeface="微软雅黑" panose="020B0503020204020204" pitchFamily="34" charset="-122"/>
              </a:rPr>
              <a:t>，</a:t>
            </a:r>
            <a:r>
              <a:rPr sz="2000" dirty="0">
                <a:solidFill>
                  <a:srgbClr val="CC0000"/>
                </a:solidFill>
                <a:latin typeface="微软雅黑" panose="020B0503020204020204" pitchFamily="34" charset="-122"/>
                <a:cs typeface="微软雅黑" panose="020B0503020204020204" pitchFamily="34" charset="-122"/>
              </a:rPr>
              <a:t>没有任何价值</a:t>
            </a:r>
            <a:endParaRPr sz="2000">
              <a:latin typeface="微软雅黑" panose="020B0503020204020204" pitchFamily="34" charset="-122"/>
              <a:cs typeface="微软雅黑" panose="020B0503020204020204" pitchFamily="34" charset="-122"/>
            </a:endParaRPr>
          </a:p>
        </p:txBody>
      </p:sp>
      <p:sp>
        <p:nvSpPr>
          <p:cNvPr id="14" name="object 14"/>
          <p:cNvSpPr/>
          <p:nvPr/>
        </p:nvSpPr>
        <p:spPr>
          <a:xfrm>
            <a:off x="1345383" y="3346867"/>
            <a:ext cx="6178550" cy="1675764"/>
          </a:xfrm>
          <a:custGeom>
            <a:avLst/>
            <a:gdLst/>
            <a:ahLst/>
            <a:cxnLst/>
            <a:rect l="l" t="t" r="r" b="b"/>
            <a:pathLst>
              <a:path w="6178550" h="1675764">
                <a:moveTo>
                  <a:pt x="0" y="0"/>
                </a:moveTo>
                <a:lnTo>
                  <a:pt x="6178106" y="0"/>
                </a:lnTo>
                <a:lnTo>
                  <a:pt x="6178106" y="1675757"/>
                </a:lnTo>
                <a:lnTo>
                  <a:pt x="0" y="1675757"/>
                </a:lnTo>
                <a:lnTo>
                  <a:pt x="0" y="0"/>
                </a:lnTo>
                <a:close/>
              </a:path>
            </a:pathLst>
          </a:custGeom>
          <a:ln w="19049">
            <a:solidFill>
              <a:srgbClr val="D81E00"/>
            </a:solidFill>
          </a:ln>
        </p:spPr>
        <p:txBody>
          <a:bodyPr wrap="square" lIns="0" tIns="0" rIns="0" bIns="0" rtlCol="0"/>
          <a:lstStyle/>
          <a:p>
            <a:endParaRPr/>
          </a:p>
        </p:txBody>
      </p:sp>
      <p:sp>
        <p:nvSpPr>
          <p:cNvPr id="15" name="object 15"/>
          <p:cNvSpPr txBox="1"/>
          <p:nvPr/>
        </p:nvSpPr>
        <p:spPr>
          <a:xfrm>
            <a:off x="7658789" y="4026310"/>
            <a:ext cx="3073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CC0000"/>
                </a:solidFill>
                <a:latin typeface="微软雅黑" panose="020B0503020204020204" pitchFamily="34" charset="-122"/>
                <a:cs typeface="微软雅黑" panose="020B0503020204020204" pitchFamily="34" charset="-122"/>
              </a:rPr>
              <a:t>你明白这段代码的作用吗</a:t>
            </a:r>
            <a:r>
              <a:rPr sz="2000" dirty="0">
                <a:solidFill>
                  <a:srgbClr val="D81E00"/>
                </a:solidFill>
                <a:latin typeface="微软雅黑" panose="020B0503020204020204" pitchFamily="34" charset="-122"/>
                <a:cs typeface="微软雅黑" panose="020B0503020204020204" pitchFamily="34" charset="-122"/>
              </a:rPr>
              <a:t>？</a:t>
            </a:r>
            <a:endParaRPr sz="2000">
              <a:latin typeface="微软雅黑" panose="020B0503020204020204" pitchFamily="34" charset="-122"/>
              <a:cs typeface="微软雅黑" panose="020B0503020204020204" pitchFamily="34" charset="-122"/>
            </a:endParaRPr>
          </a:p>
        </p:txBody>
      </p:sp>
      <p:sp>
        <p:nvSpPr>
          <p:cNvPr id="17" name="灯片编号占位符 16"/>
          <p:cNvSpPr>
            <a:spLocks noGrp="1"/>
          </p:cNvSpPr>
          <p:nvPr>
            <p:ph type="sldNum" sz="quarter" idx="7"/>
          </p:nvPr>
        </p:nvSpPr>
        <p:spPr/>
        <p:txBody>
          <a:bodyPr/>
          <a:lstStyle/>
          <a:p>
            <a:fld id="{B6F15528-21DE-4FAA-801E-634DDDAF4B2B}" type="slidenum">
              <a:rPr lang="en-US" altLang="zh-CN" smtClean="0"/>
              <a:t>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93443"/>
    </mc:Choice>
    <mc:Fallback xmlns="">
      <p:transition spd="slow" advTm="9344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92980" y="1612003"/>
            <a:ext cx="9832975" cy="696595"/>
          </a:xfrm>
          <a:prstGeom prst="rect">
            <a:avLst/>
          </a:prstGeom>
          <a:solidFill>
            <a:srgbClr val="ECEBEB"/>
          </a:solidFill>
        </p:spPr>
        <p:txBody>
          <a:bodyPr vert="horz" wrap="square" lIns="0" tIns="168910" rIns="0" bIns="0" rtlCol="0">
            <a:spAutoFit/>
          </a:bodyPr>
          <a:lstStyle/>
          <a:p>
            <a:pPr marL="1108710">
              <a:lnSpc>
                <a:spcPct val="100000"/>
              </a:lnSpc>
              <a:spcBef>
                <a:spcPts val="1330"/>
              </a:spcBef>
            </a:pPr>
            <a:r>
              <a:rPr sz="2400" dirty="0">
                <a:solidFill>
                  <a:srgbClr val="3300CC"/>
                </a:solidFill>
                <a:latin typeface="微软雅黑" panose="020B0503020204020204" pitchFamily="34" charset="-122"/>
                <a:cs typeface="微软雅黑" panose="020B0503020204020204" pitchFamily="34" charset="-122"/>
              </a:rPr>
              <a:t>学会只编写够用的注释</a:t>
            </a:r>
            <a:r>
              <a:rPr sz="2400" dirty="0">
                <a:solidFill>
                  <a:srgbClr val="442AD6"/>
                </a:solidFill>
                <a:latin typeface="微软雅黑" panose="020B0503020204020204" pitchFamily="34" charset="-122"/>
                <a:cs typeface="微软雅黑" panose="020B0503020204020204" pitchFamily="34" charset="-122"/>
              </a:rPr>
              <a:t>，</a:t>
            </a:r>
            <a:r>
              <a:rPr sz="2400" dirty="0">
                <a:solidFill>
                  <a:srgbClr val="3300CC"/>
                </a:solidFill>
                <a:latin typeface="微软雅黑" panose="020B0503020204020204" pitchFamily="34" charset="-122"/>
                <a:cs typeface="微软雅黑" panose="020B0503020204020204" pitchFamily="34" charset="-122"/>
              </a:rPr>
              <a:t>过犹不及</a:t>
            </a:r>
            <a:r>
              <a:rPr sz="2400" dirty="0">
                <a:solidFill>
                  <a:srgbClr val="442AD6"/>
                </a:solidFill>
                <a:latin typeface="微软雅黑" panose="020B0503020204020204" pitchFamily="34" charset="-122"/>
                <a:cs typeface="微软雅黑" panose="020B0503020204020204" pitchFamily="34" charset="-122"/>
              </a:rPr>
              <a:t>，</a:t>
            </a:r>
            <a:r>
              <a:rPr sz="2400" dirty="0">
                <a:solidFill>
                  <a:srgbClr val="3300CC"/>
                </a:solidFill>
                <a:latin typeface="微软雅黑" panose="020B0503020204020204" pitchFamily="34" charset="-122"/>
                <a:cs typeface="微软雅黑" panose="020B0503020204020204" pitchFamily="34" charset="-122"/>
              </a:rPr>
              <a:t>重视质量而不是数量</a:t>
            </a:r>
            <a:r>
              <a:rPr sz="2400" dirty="0">
                <a:solidFill>
                  <a:srgbClr val="442AD6"/>
                </a:solidFill>
                <a:latin typeface="微软雅黑" panose="020B0503020204020204" pitchFamily="34" charset="-122"/>
                <a:cs typeface="微软雅黑" panose="020B0503020204020204" pitchFamily="34" charset="-122"/>
              </a:rPr>
              <a:t>。</a:t>
            </a:r>
            <a:endParaRPr sz="2400">
              <a:latin typeface="微软雅黑" panose="020B0503020204020204" pitchFamily="34" charset="-122"/>
              <a:cs typeface="微软雅黑" panose="020B0503020204020204" pitchFamily="34" charset="-122"/>
            </a:endParaRPr>
          </a:p>
        </p:txBody>
      </p:sp>
      <p:sp>
        <p:nvSpPr>
          <p:cNvPr id="4" name="object 4"/>
          <p:cNvSpPr txBox="1"/>
          <p:nvPr/>
        </p:nvSpPr>
        <p:spPr>
          <a:xfrm>
            <a:off x="1389495" y="2492642"/>
            <a:ext cx="9277350" cy="2857500"/>
          </a:xfrm>
          <a:prstGeom prst="rect">
            <a:avLst/>
          </a:prstGeom>
        </p:spPr>
        <p:txBody>
          <a:bodyPr vert="horz" wrap="square" lIns="0" tIns="177800" rIns="0" bIns="0" rtlCol="0">
            <a:spAutoFit/>
          </a:bodyPr>
          <a:lstStyle/>
          <a:p>
            <a:pPr marL="374650" indent="-361950">
              <a:lnSpc>
                <a:spcPct val="100000"/>
              </a:lnSpc>
              <a:spcBef>
                <a:spcPts val="1400"/>
              </a:spcBef>
              <a:buFont typeface="Arial" panose="020B0604020202020204"/>
              <a:buChar char="•"/>
              <a:tabLst>
                <a:tab pos="374015" algn="l"/>
                <a:tab pos="374650" algn="l"/>
              </a:tabLst>
            </a:pPr>
            <a:r>
              <a:rPr sz="2000" dirty="0">
                <a:latin typeface="微软雅黑" panose="020B0503020204020204" pitchFamily="34" charset="-122"/>
                <a:cs typeface="微软雅黑" panose="020B0503020204020204" pitchFamily="34" charset="-122"/>
              </a:rPr>
              <a:t>好的注释解释为什么，而不是怎么样</a:t>
            </a:r>
            <a:endParaRPr sz="2000">
              <a:latin typeface="微软雅黑" panose="020B0503020204020204" pitchFamily="34" charset="-122"/>
              <a:cs typeface="微软雅黑" panose="020B0503020204020204" pitchFamily="34" charset="-122"/>
            </a:endParaRPr>
          </a:p>
          <a:p>
            <a:pPr marL="374650" indent="-361950">
              <a:lnSpc>
                <a:spcPct val="100000"/>
              </a:lnSpc>
              <a:spcBef>
                <a:spcPts val="1300"/>
              </a:spcBef>
              <a:buFont typeface="Arial" panose="020B0604020202020204"/>
              <a:buChar char="•"/>
              <a:tabLst>
                <a:tab pos="374015" algn="l"/>
                <a:tab pos="374650" algn="l"/>
              </a:tabLst>
            </a:pPr>
            <a:r>
              <a:rPr sz="2000" dirty="0">
                <a:latin typeface="微软雅黑" panose="020B0503020204020204" pitchFamily="34" charset="-122"/>
                <a:cs typeface="微软雅黑" panose="020B0503020204020204" pitchFamily="34" charset="-122"/>
              </a:rPr>
              <a:t>不要在注释中重复描述代码</a:t>
            </a:r>
            <a:endParaRPr sz="2000">
              <a:latin typeface="微软雅黑" panose="020B0503020204020204" pitchFamily="34" charset="-122"/>
              <a:cs typeface="微软雅黑" panose="020B0503020204020204" pitchFamily="34" charset="-122"/>
            </a:endParaRPr>
          </a:p>
          <a:p>
            <a:pPr marL="374650" indent="-361950">
              <a:lnSpc>
                <a:spcPct val="100000"/>
              </a:lnSpc>
              <a:spcBef>
                <a:spcPts val="1300"/>
              </a:spcBef>
              <a:buFont typeface="Arial" panose="020B0604020202020204"/>
              <a:buChar char="•"/>
              <a:tabLst>
                <a:tab pos="374015" algn="l"/>
                <a:tab pos="374650" algn="l"/>
              </a:tabLst>
            </a:pPr>
            <a:r>
              <a:rPr sz="2000" dirty="0">
                <a:latin typeface="微软雅黑" panose="020B0503020204020204" pitchFamily="34" charset="-122"/>
                <a:cs typeface="微软雅黑" panose="020B0503020204020204" pitchFamily="34" charset="-122"/>
              </a:rPr>
              <a:t>当自己在编写密密麻麻的注释来解释代码时，需要停下来看是否存在更大的问题</a:t>
            </a:r>
            <a:endParaRPr sz="2000">
              <a:latin typeface="微软雅黑" panose="020B0503020204020204" pitchFamily="34" charset="-122"/>
              <a:cs typeface="微软雅黑" panose="020B0503020204020204" pitchFamily="34" charset="-122"/>
            </a:endParaRPr>
          </a:p>
          <a:p>
            <a:pPr marL="374650" indent="-361950">
              <a:lnSpc>
                <a:spcPct val="100000"/>
              </a:lnSpc>
              <a:spcBef>
                <a:spcPts val="1300"/>
              </a:spcBef>
              <a:buFont typeface="Arial" panose="020B0604020202020204"/>
              <a:buChar char="•"/>
              <a:tabLst>
                <a:tab pos="374015" algn="l"/>
                <a:tab pos="374650" algn="l"/>
              </a:tabLst>
            </a:pPr>
            <a:r>
              <a:rPr sz="2000" dirty="0">
                <a:latin typeface="微软雅黑" panose="020B0503020204020204" pitchFamily="34" charset="-122"/>
                <a:cs typeface="微软雅黑" panose="020B0503020204020204" pitchFamily="34" charset="-122"/>
              </a:rPr>
              <a:t>想一想在注释中写什么，不要不动脑筋就输入</a:t>
            </a:r>
            <a:endParaRPr sz="2000">
              <a:latin typeface="微软雅黑" panose="020B0503020204020204" pitchFamily="34" charset="-122"/>
              <a:cs typeface="微软雅黑" panose="020B0503020204020204" pitchFamily="34" charset="-122"/>
            </a:endParaRPr>
          </a:p>
          <a:p>
            <a:pPr marL="374650" indent="-361950">
              <a:lnSpc>
                <a:spcPct val="100000"/>
              </a:lnSpc>
              <a:spcBef>
                <a:spcPts val="1300"/>
              </a:spcBef>
              <a:buFont typeface="Arial" panose="020B0604020202020204"/>
              <a:buChar char="•"/>
              <a:tabLst>
                <a:tab pos="374015" algn="l"/>
                <a:tab pos="374650" algn="l"/>
              </a:tabLst>
            </a:pPr>
            <a:r>
              <a:rPr sz="2000" dirty="0">
                <a:latin typeface="微软雅黑" panose="020B0503020204020204" pitchFamily="34" charset="-122"/>
                <a:cs typeface="微软雅黑" panose="020B0503020204020204" pitchFamily="34" charset="-122"/>
              </a:rPr>
              <a:t>写完注释之后要在代码的上下文中回顾一下，它们是否包含正确的信息？</a:t>
            </a:r>
            <a:endParaRPr sz="2000">
              <a:latin typeface="微软雅黑" panose="020B0503020204020204" pitchFamily="34" charset="-122"/>
              <a:cs typeface="微软雅黑" panose="020B0503020204020204" pitchFamily="34" charset="-122"/>
            </a:endParaRPr>
          </a:p>
          <a:p>
            <a:pPr marL="374650" indent="-361950">
              <a:lnSpc>
                <a:spcPct val="100000"/>
              </a:lnSpc>
              <a:spcBef>
                <a:spcPts val="1400"/>
              </a:spcBef>
              <a:buFont typeface="Arial" panose="020B0604020202020204"/>
              <a:buChar char="•"/>
              <a:tabLst>
                <a:tab pos="374015" algn="l"/>
                <a:tab pos="374650" algn="l"/>
              </a:tabLst>
            </a:pPr>
            <a:r>
              <a:rPr sz="2000" dirty="0">
                <a:latin typeface="微软雅黑" panose="020B0503020204020204" pitchFamily="34" charset="-122"/>
                <a:cs typeface="微软雅黑" panose="020B0503020204020204" pitchFamily="34" charset="-122"/>
              </a:rPr>
              <a:t>当修改代码时，维护代码周围的所有注释</a:t>
            </a:r>
            <a:endParaRPr sz="2000">
              <a:latin typeface="微软雅黑" panose="020B0503020204020204" pitchFamily="34" charset="-122"/>
              <a:cs typeface="微软雅黑" panose="020B0503020204020204" pitchFamily="34" charset="-122"/>
            </a:endParaRPr>
          </a:p>
        </p:txBody>
      </p:sp>
      <p:sp>
        <p:nvSpPr>
          <p:cNvPr id="5" name="object 5"/>
          <p:cNvSpPr/>
          <p:nvPr/>
        </p:nvSpPr>
        <p:spPr>
          <a:xfrm>
            <a:off x="1710267" y="3064932"/>
            <a:ext cx="4182745" cy="0"/>
          </a:xfrm>
          <a:custGeom>
            <a:avLst/>
            <a:gdLst/>
            <a:ahLst/>
            <a:cxnLst/>
            <a:rect l="l" t="t" r="r" b="b"/>
            <a:pathLst>
              <a:path w="4182745">
                <a:moveTo>
                  <a:pt x="0" y="0"/>
                </a:moveTo>
                <a:lnTo>
                  <a:pt x="4182531" y="1"/>
                </a:lnTo>
              </a:path>
            </a:pathLst>
          </a:custGeom>
          <a:ln w="28574">
            <a:solidFill>
              <a:srgbClr val="D81E00"/>
            </a:solidFill>
          </a:ln>
        </p:spPr>
        <p:txBody>
          <a:bodyPr wrap="square" lIns="0" tIns="0" rIns="0" bIns="0" rtlCol="0"/>
          <a:lstStyle/>
          <a:p>
            <a:endParaRPr/>
          </a:p>
        </p:txBody>
      </p:sp>
      <p:sp>
        <p:nvSpPr>
          <p:cNvPr id="6" name="object 6"/>
          <p:cNvSpPr/>
          <p:nvPr/>
        </p:nvSpPr>
        <p:spPr>
          <a:xfrm>
            <a:off x="1744134" y="5418664"/>
            <a:ext cx="4657090" cy="0"/>
          </a:xfrm>
          <a:custGeom>
            <a:avLst/>
            <a:gdLst/>
            <a:ahLst/>
            <a:cxnLst/>
            <a:rect l="l" t="t" r="r" b="b"/>
            <a:pathLst>
              <a:path w="4657090">
                <a:moveTo>
                  <a:pt x="0" y="0"/>
                </a:moveTo>
                <a:lnTo>
                  <a:pt x="4656664" y="0"/>
                </a:lnTo>
              </a:path>
            </a:pathLst>
          </a:custGeom>
          <a:ln w="28574">
            <a:solidFill>
              <a:srgbClr val="D81E00"/>
            </a:solidFill>
          </a:ln>
        </p:spPr>
        <p:txBody>
          <a:bodyPr wrap="square" lIns="0" tIns="0" rIns="0" bIns="0" rtlCol="0"/>
          <a:lstStyle/>
          <a:p>
            <a:endParaRPr/>
          </a:p>
        </p:txBody>
      </p:sp>
      <p:sp>
        <p:nvSpPr>
          <p:cNvPr id="8" name="标题 7"/>
          <p:cNvSpPr>
            <a:spLocks noGrp="1"/>
          </p:cNvSpPr>
          <p:nvPr>
            <p:ph type="title"/>
          </p:nvPr>
        </p:nvSpPr>
        <p:spPr/>
        <p:txBody>
          <a:bodyPr/>
          <a:lstStyle/>
          <a:p>
            <a:r>
              <a:rPr lang="en-US" altLang="zh-CN" dirty="0">
                <a:latin typeface="Arial" panose="020B0604020202020204"/>
                <a:cs typeface="Arial" panose="020B0604020202020204"/>
              </a:rPr>
              <a:t>Pyt</a:t>
            </a:r>
            <a:r>
              <a:rPr lang="en-US" altLang="zh-CN" spc="-5" dirty="0">
                <a:latin typeface="Arial" panose="020B0604020202020204"/>
                <a:cs typeface="Arial" panose="020B0604020202020204"/>
              </a:rPr>
              <a:t>ho</a:t>
            </a:r>
            <a:r>
              <a:rPr lang="en-US" altLang="zh-CN" dirty="0">
                <a:latin typeface="Arial" panose="020B0604020202020204"/>
                <a:cs typeface="Arial" panose="020B0604020202020204"/>
              </a:rPr>
              <a:t>n</a:t>
            </a:r>
            <a:r>
              <a:rPr lang="zh-CN" altLang="en-US" dirty="0"/>
              <a:t>编程规范：注释</a:t>
            </a:r>
          </a:p>
        </p:txBody>
      </p:sp>
      <p:sp>
        <p:nvSpPr>
          <p:cNvPr id="7" name="灯片编号占位符 6"/>
          <p:cNvSpPr>
            <a:spLocks noGrp="1"/>
          </p:cNvSpPr>
          <p:nvPr>
            <p:ph type="sldNum" sz="quarter" idx="12"/>
          </p:nvPr>
        </p:nvSpPr>
        <p:spPr/>
        <p:txBody>
          <a:bodyPr/>
          <a:lstStyle/>
          <a:p>
            <a:fld id="{74D2AB8B-5816-41F2-8B4B-CA5C3E4E6A65}" type="slidenum">
              <a:rPr lang="zh-CN" altLang="en-US" smtClean="0"/>
              <a:t>10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65079"/>
    </mc:Choice>
    <mc:Fallback xmlns="">
      <p:transition spd="slow" advTm="65079"/>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1336" y="300876"/>
            <a:ext cx="7251700" cy="6207760"/>
          </a:xfrm>
          <a:prstGeom prst="rect">
            <a:avLst/>
          </a:prstGeom>
        </p:spPr>
        <p:txBody>
          <a:bodyPr vert="horz" wrap="square" lIns="0" tIns="12700" rIns="0" bIns="0" rtlCol="0">
            <a:spAutoFit/>
          </a:bodyPr>
          <a:lstStyle/>
          <a:p>
            <a:pPr marL="12700">
              <a:lnSpc>
                <a:spcPts val="1640"/>
              </a:lnSpc>
              <a:spcBef>
                <a:spcPts val="100"/>
              </a:spcBef>
            </a:pPr>
            <a:r>
              <a:rPr sz="1400" b="1" dirty="0">
                <a:solidFill>
                  <a:srgbClr val="008000"/>
                </a:solidFill>
                <a:latin typeface="Consolas" panose="020B0609020204030204"/>
                <a:cs typeface="Consolas" panose="020B0609020204030204"/>
              </a:rPr>
              <a:t>def</a:t>
            </a:r>
            <a:r>
              <a:rPr sz="1400" b="1" spc="-5" dirty="0">
                <a:solidFill>
                  <a:srgbClr val="008000"/>
                </a:solidFill>
                <a:latin typeface="Consolas" panose="020B0609020204030204"/>
                <a:cs typeface="Consolas" panose="020B0609020204030204"/>
              </a:rPr>
              <a:t> </a:t>
            </a:r>
            <a:r>
              <a:rPr sz="1400" dirty="0">
                <a:solidFill>
                  <a:srgbClr val="0000FF"/>
                </a:solidFill>
                <a:latin typeface="Consolas" panose="020B0609020204030204"/>
                <a:cs typeface="Consolas" panose="020B0609020204030204"/>
              </a:rPr>
              <a:t>main</a:t>
            </a:r>
            <a:r>
              <a:rPr sz="1400" dirty="0">
                <a:latin typeface="Consolas" panose="020B0609020204030204"/>
                <a:cs typeface="Consolas" panose="020B0609020204030204"/>
              </a:rPr>
              <a:t>(argv):</a:t>
            </a:r>
            <a:endParaRPr sz="1400">
              <a:latin typeface="Consolas" panose="020B0609020204030204"/>
              <a:cs typeface="Consolas" panose="020B0609020204030204"/>
            </a:endParaRPr>
          </a:p>
          <a:p>
            <a:pPr marL="403225">
              <a:lnSpc>
                <a:spcPts val="1640"/>
              </a:lnSpc>
            </a:pPr>
            <a:r>
              <a:rPr sz="1400" i="1" dirty="0">
                <a:solidFill>
                  <a:srgbClr val="BA2121"/>
                </a:solidFill>
                <a:latin typeface="Consolas" panose="020B0609020204030204"/>
                <a:cs typeface="Consolas" panose="020B0609020204030204"/>
              </a:rPr>
              <a:t>"""</a:t>
            </a:r>
            <a:endParaRPr sz="1400">
              <a:latin typeface="Consolas" panose="020B0609020204030204"/>
              <a:cs typeface="Consolas" panose="020B0609020204030204"/>
            </a:endParaRPr>
          </a:p>
          <a:p>
            <a:pPr marL="403225">
              <a:lnSpc>
                <a:spcPts val="1650"/>
              </a:lnSpc>
              <a:spcBef>
                <a:spcPts val="100"/>
              </a:spcBef>
            </a:pPr>
            <a:r>
              <a:rPr sz="1400" dirty="0">
                <a:solidFill>
                  <a:srgbClr val="C8352B"/>
                </a:solidFill>
                <a:latin typeface="华文细黑" panose="02010600040101010101" charset="-122"/>
                <a:cs typeface="华文细黑" panose="02010600040101010101" charset="-122"/>
              </a:rPr>
              <a:t>主函数，返回</a:t>
            </a:r>
            <a:r>
              <a:rPr sz="2100" i="1" baseline="4000" dirty="0">
                <a:solidFill>
                  <a:srgbClr val="C8352B"/>
                </a:solidFill>
                <a:latin typeface="Consolas" panose="020B0609020204030204"/>
                <a:cs typeface="Consolas" panose="020B0609020204030204"/>
              </a:rPr>
              <a:t>0</a:t>
            </a:r>
            <a:r>
              <a:rPr sz="1400" spc="-280" dirty="0">
                <a:solidFill>
                  <a:srgbClr val="C8352B"/>
                </a:solidFill>
                <a:latin typeface="华文细黑" panose="02010600040101010101" charset="-122"/>
                <a:cs typeface="华文细黑" panose="02010600040101010101" charset="-122"/>
              </a:rPr>
              <a:t>表⽰示成功</a:t>
            </a:r>
            <a:endParaRPr sz="1400">
              <a:latin typeface="华文细黑" panose="02010600040101010101" charset="-122"/>
              <a:cs typeface="华文细黑" panose="02010600040101010101" charset="-122"/>
            </a:endParaRPr>
          </a:p>
          <a:p>
            <a:pPr marL="190500">
              <a:lnSpc>
                <a:spcPts val="1650"/>
              </a:lnSpc>
            </a:pPr>
            <a:r>
              <a:rPr sz="1400" i="1" dirty="0">
                <a:solidFill>
                  <a:srgbClr val="C8352B"/>
                </a:solidFill>
                <a:latin typeface="Consolas" panose="020B0609020204030204"/>
                <a:cs typeface="Consolas" panose="020B0609020204030204"/>
              </a:rPr>
              <a:t>"""</a:t>
            </a:r>
            <a:endParaRPr sz="1400">
              <a:latin typeface="Consolas" panose="020B0609020204030204"/>
              <a:cs typeface="Consolas" panose="020B0609020204030204"/>
            </a:endParaRPr>
          </a:p>
          <a:p>
            <a:pPr marL="190500">
              <a:lnSpc>
                <a:spcPct val="100000"/>
              </a:lnSpc>
              <a:spcBef>
                <a:spcPts val="20"/>
              </a:spcBef>
            </a:pPr>
            <a:r>
              <a:rPr sz="1400" b="1" dirty="0">
                <a:solidFill>
                  <a:srgbClr val="008000"/>
                </a:solidFill>
                <a:latin typeface="Consolas" panose="020B0609020204030204"/>
                <a:cs typeface="Consolas" panose="020B0609020204030204"/>
              </a:rPr>
              <a:t>try</a:t>
            </a:r>
            <a:r>
              <a:rPr sz="1400" dirty="0">
                <a:latin typeface="Consolas" panose="020B0609020204030204"/>
                <a:cs typeface="Consolas" panose="020B0609020204030204"/>
              </a:rPr>
              <a:t>:</a:t>
            </a:r>
            <a:endParaRPr sz="1400">
              <a:latin typeface="Consolas" panose="020B0609020204030204"/>
              <a:cs typeface="Consolas" panose="020B0609020204030204"/>
            </a:endParaRPr>
          </a:p>
          <a:p>
            <a:pPr marL="794385">
              <a:lnSpc>
                <a:spcPct val="100000"/>
              </a:lnSpc>
              <a:spcBef>
                <a:spcPts val="20"/>
              </a:spcBef>
            </a:pPr>
            <a:r>
              <a:rPr sz="1400" b="1" dirty="0">
                <a:solidFill>
                  <a:srgbClr val="008000"/>
                </a:solidFill>
                <a:latin typeface="Consolas" panose="020B0609020204030204"/>
                <a:cs typeface="Consolas" panose="020B0609020204030204"/>
              </a:rPr>
              <a:t>with </a:t>
            </a:r>
            <a:r>
              <a:rPr sz="1400" dirty="0">
                <a:solidFill>
                  <a:srgbClr val="008000"/>
                </a:solidFill>
                <a:latin typeface="Consolas" panose="020B0609020204030204"/>
                <a:cs typeface="Consolas" panose="020B0609020204030204"/>
              </a:rPr>
              <a:t>open</a:t>
            </a:r>
            <a:r>
              <a:rPr sz="1400" dirty="0">
                <a:latin typeface="Consolas" panose="020B0609020204030204"/>
                <a:cs typeface="Consolas" panose="020B0609020204030204"/>
              </a:rPr>
              <a:t>(</a:t>
            </a:r>
            <a:r>
              <a:rPr sz="1400" dirty="0">
                <a:solidFill>
                  <a:srgbClr val="BA2121"/>
                </a:solidFill>
                <a:latin typeface="Consolas" panose="020B0609020204030204"/>
                <a:cs typeface="Consolas" panose="020B0609020204030204"/>
              </a:rPr>
              <a:t>'cat.pic'</a:t>
            </a:r>
            <a:r>
              <a:rPr sz="1400" dirty="0">
                <a:latin typeface="Consolas" panose="020B0609020204030204"/>
                <a:cs typeface="Consolas" panose="020B0609020204030204"/>
              </a:rPr>
              <a:t>, </a:t>
            </a:r>
            <a:r>
              <a:rPr sz="1400" dirty="0">
                <a:solidFill>
                  <a:srgbClr val="BA2121"/>
                </a:solidFill>
                <a:latin typeface="Consolas" panose="020B0609020204030204"/>
                <a:cs typeface="Consolas" panose="020B0609020204030204"/>
              </a:rPr>
              <a:t>'rb'</a:t>
            </a:r>
            <a:r>
              <a:rPr sz="1400" dirty="0">
                <a:latin typeface="Consolas" panose="020B0609020204030204"/>
                <a:cs typeface="Consolas" panose="020B0609020204030204"/>
              </a:rPr>
              <a:t>) </a:t>
            </a:r>
            <a:r>
              <a:rPr sz="1400" b="1" dirty="0">
                <a:solidFill>
                  <a:srgbClr val="008000"/>
                </a:solidFill>
                <a:latin typeface="Consolas" panose="020B0609020204030204"/>
                <a:cs typeface="Consolas" panose="020B0609020204030204"/>
              </a:rPr>
              <a:t>as</a:t>
            </a:r>
            <a:r>
              <a:rPr sz="1400" b="1" spc="-15" dirty="0">
                <a:solidFill>
                  <a:srgbClr val="008000"/>
                </a:solidFill>
                <a:latin typeface="Consolas" panose="020B0609020204030204"/>
                <a:cs typeface="Consolas" panose="020B0609020204030204"/>
              </a:rPr>
              <a:t> </a:t>
            </a:r>
            <a:r>
              <a:rPr sz="1400" dirty="0">
                <a:latin typeface="Consolas" panose="020B0609020204030204"/>
                <a:cs typeface="Consolas" panose="020B0609020204030204"/>
              </a:rPr>
              <a:t>fin:</a:t>
            </a:r>
            <a:endParaRPr sz="1400">
              <a:latin typeface="Consolas" panose="020B0609020204030204"/>
              <a:cs typeface="Consolas" panose="020B0609020204030204"/>
            </a:endParaRPr>
          </a:p>
          <a:p>
            <a:pPr marL="1185545">
              <a:lnSpc>
                <a:spcPct val="100000"/>
              </a:lnSpc>
              <a:spcBef>
                <a:spcPts val="5"/>
              </a:spcBef>
            </a:pPr>
            <a:r>
              <a:rPr sz="2100" b="1" baseline="4000" dirty="0">
                <a:solidFill>
                  <a:srgbClr val="008000"/>
                </a:solidFill>
                <a:latin typeface="Consolas" panose="020B0609020204030204"/>
                <a:cs typeface="Consolas" panose="020B0609020204030204"/>
              </a:rPr>
              <a:t>if</a:t>
            </a:r>
            <a:r>
              <a:rPr sz="2100" b="1" spc="-22" baseline="4000" dirty="0">
                <a:solidFill>
                  <a:srgbClr val="008000"/>
                </a:solidFill>
                <a:latin typeface="Consolas" panose="020B0609020204030204"/>
                <a:cs typeface="Consolas" panose="020B0609020204030204"/>
              </a:rPr>
              <a:t> </a:t>
            </a:r>
            <a:r>
              <a:rPr sz="2100" baseline="4000" dirty="0">
                <a:latin typeface="Consolas" panose="020B0609020204030204"/>
                <a:cs typeface="Consolas" panose="020B0609020204030204"/>
              </a:rPr>
              <a:t>fin</a:t>
            </a:r>
            <a:r>
              <a:rPr sz="2100" baseline="4000" dirty="0">
                <a:solidFill>
                  <a:srgbClr val="666666"/>
                </a:solidFill>
                <a:latin typeface="Consolas" panose="020B0609020204030204"/>
                <a:cs typeface="Consolas" panose="020B0609020204030204"/>
              </a:rPr>
              <a:t>.</a:t>
            </a:r>
            <a:r>
              <a:rPr sz="2100" baseline="4000" dirty="0">
                <a:latin typeface="Consolas" panose="020B0609020204030204"/>
                <a:cs typeface="Consolas" panose="020B0609020204030204"/>
              </a:rPr>
              <a:t>seek(</a:t>
            </a:r>
            <a:r>
              <a:rPr sz="2100" baseline="4000" dirty="0">
                <a:solidFill>
                  <a:srgbClr val="666666"/>
                </a:solidFill>
                <a:latin typeface="Consolas" panose="020B0609020204030204"/>
                <a:cs typeface="Consolas" panose="020B0609020204030204"/>
              </a:rPr>
              <a:t>0</a:t>
            </a:r>
            <a:r>
              <a:rPr sz="2100" baseline="4000" dirty="0">
                <a:latin typeface="Consolas" panose="020B0609020204030204"/>
                <a:cs typeface="Consolas" panose="020B0609020204030204"/>
              </a:rPr>
              <a:t>,</a:t>
            </a:r>
            <a:r>
              <a:rPr sz="2100" spc="-15" baseline="4000" dirty="0">
                <a:latin typeface="Consolas" panose="020B0609020204030204"/>
                <a:cs typeface="Consolas" panose="020B0609020204030204"/>
              </a:rPr>
              <a:t> </a:t>
            </a:r>
            <a:r>
              <a:rPr sz="2100" baseline="4000" dirty="0">
                <a:solidFill>
                  <a:srgbClr val="666666"/>
                </a:solidFill>
                <a:latin typeface="Consolas" panose="020B0609020204030204"/>
                <a:cs typeface="Consolas" panose="020B0609020204030204"/>
              </a:rPr>
              <a:t>2</a:t>
            </a:r>
            <a:r>
              <a:rPr sz="2100" baseline="4000" dirty="0">
                <a:latin typeface="Consolas" panose="020B0609020204030204"/>
                <a:cs typeface="Consolas" panose="020B0609020204030204"/>
              </a:rPr>
              <a:t>)</a:t>
            </a:r>
            <a:r>
              <a:rPr sz="2100" spc="-15" baseline="4000" dirty="0">
                <a:latin typeface="Consolas" panose="020B0609020204030204"/>
                <a:cs typeface="Consolas" panose="020B0609020204030204"/>
              </a:rPr>
              <a:t> </a:t>
            </a:r>
            <a:r>
              <a:rPr sz="2100" baseline="4000" dirty="0">
                <a:solidFill>
                  <a:srgbClr val="666666"/>
                </a:solidFill>
                <a:latin typeface="Consolas" panose="020B0609020204030204"/>
                <a:cs typeface="Consolas" panose="020B0609020204030204"/>
              </a:rPr>
              <a:t>!=</a:t>
            </a:r>
            <a:r>
              <a:rPr sz="2100" spc="-15" baseline="4000" dirty="0">
                <a:solidFill>
                  <a:srgbClr val="666666"/>
                </a:solidFill>
                <a:latin typeface="Consolas" panose="020B0609020204030204"/>
                <a:cs typeface="Consolas" panose="020B0609020204030204"/>
              </a:rPr>
              <a:t> </a:t>
            </a:r>
            <a:r>
              <a:rPr sz="2100" baseline="4000" dirty="0">
                <a:solidFill>
                  <a:srgbClr val="666666"/>
                </a:solidFill>
                <a:latin typeface="Consolas" panose="020B0609020204030204"/>
                <a:cs typeface="Consolas" panose="020B0609020204030204"/>
              </a:rPr>
              <a:t>400</a:t>
            </a:r>
            <a:r>
              <a:rPr sz="2100" spc="-22" baseline="4000" dirty="0">
                <a:solidFill>
                  <a:srgbClr val="666666"/>
                </a:solidFill>
                <a:latin typeface="Consolas" panose="020B0609020204030204"/>
                <a:cs typeface="Consolas" panose="020B0609020204030204"/>
              </a:rPr>
              <a:t> </a:t>
            </a:r>
            <a:r>
              <a:rPr sz="1400" dirty="0">
                <a:solidFill>
                  <a:srgbClr val="666666"/>
                </a:solidFill>
                <a:latin typeface="华文细黑" panose="02010600040101010101" charset="-122"/>
                <a:cs typeface="华文细黑" panose="02010600040101010101" charset="-122"/>
              </a:rPr>
              <a:t>*</a:t>
            </a:r>
            <a:r>
              <a:rPr sz="1400" spc="-5" dirty="0">
                <a:solidFill>
                  <a:srgbClr val="666666"/>
                </a:solidFill>
                <a:latin typeface="华文细黑" panose="02010600040101010101" charset="-122"/>
                <a:cs typeface="华文细黑" panose="02010600040101010101" charset="-122"/>
              </a:rPr>
              <a:t> </a:t>
            </a:r>
            <a:r>
              <a:rPr sz="2100" baseline="4000" dirty="0">
                <a:solidFill>
                  <a:srgbClr val="666666"/>
                </a:solidFill>
                <a:latin typeface="Consolas" panose="020B0609020204030204"/>
                <a:cs typeface="Consolas" panose="020B0609020204030204"/>
              </a:rPr>
              <a:t>400</a:t>
            </a:r>
            <a:r>
              <a:rPr sz="2100" spc="-15" baseline="4000" dirty="0">
                <a:solidFill>
                  <a:srgbClr val="666666"/>
                </a:solidFill>
                <a:latin typeface="Consolas" panose="020B0609020204030204"/>
                <a:cs typeface="Consolas" panose="020B0609020204030204"/>
              </a:rPr>
              <a:t> </a:t>
            </a:r>
            <a:r>
              <a:rPr sz="1400" dirty="0">
                <a:solidFill>
                  <a:srgbClr val="666666"/>
                </a:solidFill>
                <a:latin typeface="华文细黑" panose="02010600040101010101" charset="-122"/>
                <a:cs typeface="华文细黑" panose="02010600040101010101" charset="-122"/>
              </a:rPr>
              <a:t>*</a:t>
            </a:r>
            <a:r>
              <a:rPr sz="1400" spc="-5" dirty="0">
                <a:solidFill>
                  <a:srgbClr val="666666"/>
                </a:solidFill>
                <a:latin typeface="华文细黑" panose="02010600040101010101" charset="-122"/>
                <a:cs typeface="华文细黑" panose="02010600040101010101" charset="-122"/>
              </a:rPr>
              <a:t> </a:t>
            </a:r>
            <a:r>
              <a:rPr sz="2100" baseline="4000" dirty="0">
                <a:solidFill>
                  <a:srgbClr val="666666"/>
                </a:solidFill>
                <a:latin typeface="Consolas" panose="020B0609020204030204"/>
                <a:cs typeface="Consolas" panose="020B0609020204030204"/>
              </a:rPr>
              <a:t>3</a:t>
            </a:r>
            <a:r>
              <a:rPr sz="2100" baseline="4000" dirty="0">
                <a:latin typeface="Consolas" panose="020B0609020204030204"/>
                <a:cs typeface="Consolas" panose="020B0609020204030204"/>
              </a:rPr>
              <a:t>:</a:t>
            </a:r>
            <a:r>
              <a:rPr sz="2100" spc="-15" baseline="4000" dirty="0">
                <a:latin typeface="Consolas" panose="020B0609020204030204"/>
                <a:cs typeface="Consolas" panose="020B0609020204030204"/>
              </a:rPr>
              <a:t> </a:t>
            </a:r>
            <a:r>
              <a:rPr sz="2100" i="1" baseline="4000" dirty="0">
                <a:solidFill>
                  <a:srgbClr val="408080"/>
                </a:solidFill>
                <a:latin typeface="Consolas" panose="020B0609020204030204"/>
                <a:cs typeface="Consolas" panose="020B0609020204030204"/>
              </a:rPr>
              <a:t>#</a:t>
            </a:r>
            <a:r>
              <a:rPr sz="2100" i="1" spc="-15" baseline="4000" dirty="0">
                <a:solidFill>
                  <a:srgbClr val="408080"/>
                </a:solidFill>
                <a:latin typeface="Consolas" panose="020B0609020204030204"/>
                <a:cs typeface="Consolas" panose="020B0609020204030204"/>
              </a:rPr>
              <a:t> </a:t>
            </a:r>
            <a:r>
              <a:rPr sz="1400" spc="-175" dirty="0">
                <a:solidFill>
                  <a:srgbClr val="408080"/>
                </a:solidFill>
                <a:latin typeface="华文细黑" panose="02010600040101010101" charset="-122"/>
                <a:cs typeface="华文细黑" panose="02010600040101010101" charset="-122"/>
              </a:rPr>
              <a:t>判断⽂文件⻓长度是否符合格式要求</a:t>
            </a:r>
            <a:endParaRPr sz="1400">
              <a:latin typeface="华文细黑" panose="02010600040101010101" charset="-122"/>
              <a:cs typeface="华文细黑" panose="02010600040101010101" charset="-122"/>
            </a:endParaRPr>
          </a:p>
          <a:p>
            <a:pPr marL="723900">
              <a:lnSpc>
                <a:spcPts val="1650"/>
              </a:lnSpc>
              <a:spcBef>
                <a:spcPts val="20"/>
              </a:spcBef>
            </a:pPr>
            <a:r>
              <a:rPr sz="2100" b="1" baseline="4000" dirty="0">
                <a:solidFill>
                  <a:srgbClr val="008000"/>
                </a:solidFill>
                <a:latin typeface="Consolas" panose="020B0609020204030204"/>
                <a:cs typeface="Consolas" panose="020B0609020204030204"/>
              </a:rPr>
              <a:t>print</a:t>
            </a:r>
            <a:r>
              <a:rPr sz="2100" baseline="4000" dirty="0">
                <a:latin typeface="Consolas" panose="020B0609020204030204"/>
                <a:cs typeface="Consolas" panose="020B0609020204030204"/>
              </a:rPr>
              <a:t>(</a:t>
            </a:r>
            <a:r>
              <a:rPr sz="2100" baseline="4000" dirty="0">
                <a:solidFill>
                  <a:srgbClr val="BA2121"/>
                </a:solidFill>
                <a:latin typeface="Consolas" panose="020B0609020204030204"/>
                <a:cs typeface="Consolas" panose="020B0609020204030204"/>
              </a:rPr>
              <a:t>"</a:t>
            </a:r>
            <a:r>
              <a:rPr sz="1400" spc="-470" dirty="0">
                <a:solidFill>
                  <a:srgbClr val="C8352B"/>
                </a:solidFill>
                <a:latin typeface="华文细黑" panose="02010600040101010101" charset="-122"/>
                <a:cs typeface="华文细黑" panose="02010600040101010101" charset="-122"/>
              </a:rPr>
              <a:t>输⼊入⽂文件</a:t>
            </a:r>
            <a:r>
              <a:rPr sz="1400" spc="-5" dirty="0">
                <a:solidFill>
                  <a:srgbClr val="C8352B"/>
                </a:solidFill>
                <a:latin typeface="华文细黑" panose="02010600040101010101" charset="-122"/>
                <a:cs typeface="华文细黑" panose="02010600040101010101" charset="-122"/>
              </a:rPr>
              <a:t> </a:t>
            </a:r>
            <a:r>
              <a:rPr sz="2100" baseline="4000" dirty="0">
                <a:solidFill>
                  <a:srgbClr val="BA2121"/>
                </a:solidFill>
                <a:latin typeface="Consolas" panose="020B0609020204030204"/>
                <a:cs typeface="Consolas" panose="020B0609020204030204"/>
              </a:rPr>
              <a:t>cat.pic </a:t>
            </a:r>
            <a:r>
              <a:rPr sz="1400" dirty="0">
                <a:solidFill>
                  <a:srgbClr val="C8352B"/>
                </a:solidFill>
                <a:latin typeface="华文细黑" panose="02010600040101010101" charset="-122"/>
                <a:cs typeface="华文细黑" panose="02010600040101010101" charset="-122"/>
              </a:rPr>
              <a:t>不符合格式要求</a:t>
            </a:r>
            <a:r>
              <a:rPr sz="2100" baseline="4000" dirty="0">
                <a:solidFill>
                  <a:srgbClr val="BA2121"/>
                </a:solidFill>
                <a:latin typeface="Consolas" panose="020B0609020204030204"/>
                <a:cs typeface="Consolas" panose="020B0609020204030204"/>
              </a:rPr>
              <a:t>"</a:t>
            </a:r>
            <a:r>
              <a:rPr sz="2100" baseline="4000" dirty="0">
                <a:latin typeface="Consolas" panose="020B0609020204030204"/>
                <a:cs typeface="Consolas" panose="020B0609020204030204"/>
              </a:rPr>
              <a:t>)</a:t>
            </a:r>
            <a:endParaRPr sz="2100" baseline="4000">
              <a:latin typeface="Consolas" panose="020B0609020204030204"/>
              <a:cs typeface="Consolas" panose="020B0609020204030204"/>
            </a:endParaRPr>
          </a:p>
          <a:p>
            <a:pPr marL="1185545" marR="4786630" indent="390525">
              <a:lnSpc>
                <a:spcPts val="1700"/>
              </a:lnSpc>
              <a:spcBef>
                <a:spcPts val="10"/>
              </a:spcBef>
            </a:pPr>
            <a:r>
              <a:rPr sz="1400" b="1" dirty="0">
                <a:solidFill>
                  <a:srgbClr val="008000"/>
                </a:solidFill>
                <a:latin typeface="Consolas" panose="020B0609020204030204"/>
                <a:cs typeface="Consolas" panose="020B0609020204030204"/>
              </a:rPr>
              <a:t>return</a:t>
            </a:r>
            <a:r>
              <a:rPr sz="1400" b="1" spc="-100" dirty="0">
                <a:solidFill>
                  <a:srgbClr val="008000"/>
                </a:solidFill>
                <a:latin typeface="Consolas" panose="020B0609020204030204"/>
                <a:cs typeface="Consolas" panose="020B0609020204030204"/>
              </a:rPr>
              <a:t> </a:t>
            </a:r>
            <a:r>
              <a:rPr sz="1400" spc="-385" dirty="0">
                <a:solidFill>
                  <a:srgbClr val="666666"/>
                </a:solidFill>
                <a:latin typeface="Consolas" panose="020B0609020204030204"/>
                <a:cs typeface="Consolas" panose="020B0609020204030204"/>
              </a:rPr>
              <a:t>-­‐1  </a:t>
            </a:r>
            <a:r>
              <a:rPr sz="1400" dirty="0">
                <a:latin typeface="Consolas" panose="020B0609020204030204"/>
                <a:cs typeface="Consolas" panose="020B0609020204030204"/>
              </a:rPr>
              <a:t>fin</a:t>
            </a:r>
            <a:r>
              <a:rPr sz="1400" dirty="0">
                <a:solidFill>
                  <a:srgbClr val="666666"/>
                </a:solidFill>
                <a:latin typeface="Consolas" panose="020B0609020204030204"/>
                <a:cs typeface="Consolas" panose="020B0609020204030204"/>
              </a:rPr>
              <a:t>.</a:t>
            </a:r>
            <a:r>
              <a:rPr sz="1400" dirty="0">
                <a:latin typeface="Consolas" panose="020B0609020204030204"/>
                <a:cs typeface="Consolas" panose="020B0609020204030204"/>
              </a:rPr>
              <a:t>seek(</a:t>
            </a:r>
            <a:r>
              <a:rPr sz="1400" dirty="0">
                <a:solidFill>
                  <a:srgbClr val="666666"/>
                </a:solidFill>
                <a:latin typeface="Consolas" panose="020B0609020204030204"/>
                <a:cs typeface="Consolas" panose="020B0609020204030204"/>
              </a:rPr>
              <a:t>0</a:t>
            </a:r>
            <a:r>
              <a:rPr sz="1400" dirty="0">
                <a:latin typeface="Consolas" panose="020B0609020204030204"/>
                <a:cs typeface="Consolas" panose="020B0609020204030204"/>
              </a:rPr>
              <a:t>)  </a:t>
            </a:r>
            <a:r>
              <a:rPr sz="1400" b="1" dirty="0">
                <a:solidFill>
                  <a:srgbClr val="008000"/>
                </a:solidFill>
                <a:latin typeface="Consolas" panose="020B0609020204030204"/>
                <a:cs typeface="Consolas" panose="020B0609020204030204"/>
              </a:rPr>
              <a:t>try</a:t>
            </a:r>
            <a:r>
              <a:rPr sz="1400" dirty="0">
                <a:latin typeface="Consolas" panose="020B0609020204030204"/>
                <a:cs typeface="Consolas" panose="020B0609020204030204"/>
              </a:rPr>
              <a:t>:</a:t>
            </a:r>
            <a:endParaRPr sz="1400">
              <a:latin typeface="Consolas" panose="020B0609020204030204"/>
              <a:cs typeface="Consolas" panose="020B0609020204030204"/>
            </a:endParaRPr>
          </a:p>
          <a:p>
            <a:pPr marL="1576705">
              <a:lnSpc>
                <a:spcPts val="1540"/>
              </a:lnSpc>
            </a:pPr>
            <a:r>
              <a:rPr sz="1400" b="1" dirty="0">
                <a:solidFill>
                  <a:srgbClr val="008000"/>
                </a:solidFill>
                <a:latin typeface="Consolas" panose="020B0609020204030204"/>
                <a:cs typeface="Consolas" panose="020B0609020204030204"/>
              </a:rPr>
              <a:t>with </a:t>
            </a:r>
            <a:r>
              <a:rPr sz="1400" dirty="0">
                <a:solidFill>
                  <a:srgbClr val="008000"/>
                </a:solidFill>
                <a:latin typeface="Consolas" panose="020B0609020204030204"/>
                <a:cs typeface="Consolas" panose="020B0609020204030204"/>
              </a:rPr>
              <a:t>open</a:t>
            </a:r>
            <a:r>
              <a:rPr sz="1400" dirty="0">
                <a:latin typeface="Consolas" panose="020B0609020204030204"/>
                <a:cs typeface="Consolas" panose="020B0609020204030204"/>
              </a:rPr>
              <a:t>(</a:t>
            </a:r>
            <a:r>
              <a:rPr sz="1400" dirty="0">
                <a:solidFill>
                  <a:srgbClr val="BA2121"/>
                </a:solidFill>
                <a:latin typeface="Consolas" panose="020B0609020204030204"/>
                <a:cs typeface="Consolas" panose="020B0609020204030204"/>
              </a:rPr>
              <a:t>'cat2.pic'</a:t>
            </a:r>
            <a:r>
              <a:rPr sz="1400" dirty="0">
                <a:latin typeface="Consolas" panose="020B0609020204030204"/>
                <a:cs typeface="Consolas" panose="020B0609020204030204"/>
              </a:rPr>
              <a:t>, </a:t>
            </a:r>
            <a:r>
              <a:rPr sz="1400" dirty="0">
                <a:solidFill>
                  <a:srgbClr val="BA2121"/>
                </a:solidFill>
                <a:latin typeface="Consolas" panose="020B0609020204030204"/>
                <a:cs typeface="Consolas" panose="020B0609020204030204"/>
              </a:rPr>
              <a:t>'wb'</a:t>
            </a:r>
            <a:r>
              <a:rPr sz="1400" dirty="0">
                <a:latin typeface="Consolas" panose="020B0609020204030204"/>
                <a:cs typeface="Consolas" panose="020B0609020204030204"/>
              </a:rPr>
              <a:t>) </a:t>
            </a:r>
            <a:r>
              <a:rPr sz="1400" b="1" dirty="0">
                <a:solidFill>
                  <a:srgbClr val="008000"/>
                </a:solidFill>
                <a:latin typeface="Consolas" panose="020B0609020204030204"/>
                <a:cs typeface="Consolas" panose="020B0609020204030204"/>
              </a:rPr>
              <a:t>as</a:t>
            </a:r>
            <a:r>
              <a:rPr sz="1400" b="1" spc="-20" dirty="0">
                <a:solidFill>
                  <a:srgbClr val="008000"/>
                </a:solidFill>
                <a:latin typeface="Consolas" panose="020B0609020204030204"/>
                <a:cs typeface="Consolas" panose="020B0609020204030204"/>
              </a:rPr>
              <a:t> </a:t>
            </a:r>
            <a:r>
              <a:rPr sz="1400" dirty="0">
                <a:latin typeface="Consolas" panose="020B0609020204030204"/>
                <a:cs typeface="Consolas" panose="020B0609020204030204"/>
              </a:rPr>
              <a:t>fout:</a:t>
            </a:r>
            <a:endParaRPr sz="1400">
              <a:latin typeface="Consolas" panose="020B0609020204030204"/>
              <a:cs typeface="Consolas" panose="020B0609020204030204"/>
            </a:endParaRPr>
          </a:p>
          <a:p>
            <a:pPr marL="80645" algn="ctr">
              <a:lnSpc>
                <a:spcPct val="100000"/>
              </a:lnSpc>
              <a:spcBef>
                <a:spcPts val="105"/>
              </a:spcBef>
            </a:pPr>
            <a:r>
              <a:rPr sz="2100" i="1" baseline="4000" dirty="0">
                <a:solidFill>
                  <a:srgbClr val="408080"/>
                </a:solidFill>
                <a:latin typeface="Consolas" panose="020B0609020204030204"/>
                <a:cs typeface="Consolas" panose="020B0609020204030204"/>
              </a:rPr>
              <a:t># </a:t>
            </a:r>
            <a:r>
              <a:rPr sz="1400" spc="-110" dirty="0">
                <a:solidFill>
                  <a:srgbClr val="408080"/>
                </a:solidFill>
                <a:latin typeface="华文细黑" panose="02010600040101010101" charset="-122"/>
                <a:cs typeface="华文细黑" panose="02010600040101010101" charset="-122"/>
              </a:rPr>
              <a:t>下⾯面是图像转换的算法实现</a:t>
            </a:r>
            <a:r>
              <a:rPr sz="1400" dirty="0">
                <a:solidFill>
                  <a:srgbClr val="4F9192"/>
                </a:solidFill>
                <a:latin typeface="华文细黑" panose="02010600040101010101" charset="-122"/>
                <a:cs typeface="华文细黑" panose="02010600040101010101" charset="-122"/>
              </a:rPr>
              <a:t>。</a:t>
            </a:r>
            <a:r>
              <a:rPr sz="1400" spc="-160" dirty="0">
                <a:solidFill>
                  <a:srgbClr val="408080"/>
                </a:solidFill>
                <a:latin typeface="华文细黑" panose="02010600040101010101" charset="-122"/>
                <a:cs typeface="华文细黑" panose="02010600040101010101" charset="-122"/>
              </a:rPr>
              <a:t>彩⾊色图像到灰度图像的转换主要利⽤用</a:t>
            </a:r>
            <a:endParaRPr sz="1400">
              <a:latin typeface="华文细黑" panose="02010600040101010101" charset="-122"/>
              <a:cs typeface="华文细黑" panose="02010600040101010101" charset="-122"/>
            </a:endParaRPr>
          </a:p>
          <a:p>
            <a:pPr marL="901700" marR="1194435" algn="just">
              <a:lnSpc>
                <a:spcPts val="1620"/>
              </a:lnSpc>
              <a:spcBef>
                <a:spcPts val="120"/>
              </a:spcBef>
            </a:pPr>
            <a:r>
              <a:rPr sz="2100" i="1" baseline="4000" dirty="0">
                <a:solidFill>
                  <a:srgbClr val="408080"/>
                </a:solidFill>
                <a:latin typeface="Consolas" panose="020B0609020204030204"/>
                <a:cs typeface="Consolas" panose="020B0609020204030204"/>
              </a:rPr>
              <a:t>#</a:t>
            </a:r>
            <a:r>
              <a:rPr sz="2100" i="1" spc="-60" baseline="4000" dirty="0">
                <a:solidFill>
                  <a:srgbClr val="408080"/>
                </a:solidFill>
                <a:latin typeface="Consolas" panose="020B0609020204030204"/>
                <a:cs typeface="Consolas" panose="020B0609020204030204"/>
              </a:rPr>
              <a:t> </a:t>
            </a:r>
            <a:r>
              <a:rPr sz="2100" i="1" spc="-7" baseline="4000" dirty="0">
                <a:solidFill>
                  <a:srgbClr val="408080"/>
                </a:solidFill>
                <a:latin typeface="Consolas" panose="020B0609020204030204"/>
                <a:cs typeface="Consolas" panose="020B0609020204030204"/>
              </a:rPr>
              <a:t>RGB</a:t>
            </a:r>
            <a:r>
              <a:rPr sz="1400" spc="-235" dirty="0">
                <a:solidFill>
                  <a:srgbClr val="408080"/>
                </a:solidFill>
                <a:latin typeface="华文细黑" panose="02010600040101010101" charset="-122"/>
                <a:cs typeface="华文细黑" panose="02010600040101010101" charset="-122"/>
              </a:rPr>
              <a:t>⾊色彩空间到</a:t>
            </a:r>
            <a:r>
              <a:rPr sz="2100" i="1" baseline="4000" dirty="0">
                <a:solidFill>
                  <a:srgbClr val="408080"/>
                </a:solidFill>
                <a:latin typeface="Consolas" panose="020B0609020204030204"/>
                <a:cs typeface="Consolas" panose="020B0609020204030204"/>
              </a:rPr>
              <a:t>YUV</a:t>
            </a:r>
            <a:r>
              <a:rPr sz="1400" spc="-90" dirty="0">
                <a:solidFill>
                  <a:srgbClr val="408080"/>
                </a:solidFill>
                <a:latin typeface="华文细黑" panose="02010600040101010101" charset="-122"/>
                <a:cs typeface="华文细黑" panose="02010600040101010101" charset="-122"/>
              </a:rPr>
              <a:t>⾊色彩空间的变换公式来取得灰度值</a:t>
            </a:r>
            <a:r>
              <a:rPr sz="2100" i="1" baseline="4000" dirty="0">
                <a:solidFill>
                  <a:srgbClr val="408080"/>
                </a:solidFill>
                <a:latin typeface="Consolas" panose="020B0609020204030204"/>
                <a:cs typeface="Consolas" panose="020B0609020204030204"/>
              </a:rPr>
              <a:t>Y</a:t>
            </a:r>
            <a:r>
              <a:rPr sz="1400" dirty="0">
                <a:solidFill>
                  <a:srgbClr val="4F9192"/>
                </a:solidFill>
                <a:latin typeface="华文细黑" panose="02010600040101010101" charset="-122"/>
                <a:cs typeface="华文细黑" panose="02010600040101010101" charset="-122"/>
              </a:rPr>
              <a:t>，</a:t>
            </a:r>
            <a:r>
              <a:rPr sz="1400" dirty="0">
                <a:solidFill>
                  <a:srgbClr val="408080"/>
                </a:solidFill>
                <a:latin typeface="华文细黑" panose="02010600040101010101" charset="-122"/>
                <a:cs typeface="华文细黑" panose="02010600040101010101" charset="-122"/>
              </a:rPr>
              <a:t>公式是 </a:t>
            </a:r>
            <a:r>
              <a:rPr sz="1400" i="1" dirty="0">
                <a:solidFill>
                  <a:srgbClr val="408080"/>
                </a:solidFill>
                <a:latin typeface="Consolas" panose="020B0609020204030204"/>
                <a:cs typeface="Consolas" panose="020B0609020204030204"/>
              </a:rPr>
              <a:t># Y = 0.299R + 0.587G +</a:t>
            </a:r>
            <a:r>
              <a:rPr sz="1400" i="1" spc="-25" dirty="0">
                <a:solidFill>
                  <a:srgbClr val="408080"/>
                </a:solidFill>
                <a:latin typeface="Consolas" panose="020B0609020204030204"/>
                <a:cs typeface="Consolas" panose="020B0609020204030204"/>
              </a:rPr>
              <a:t> </a:t>
            </a:r>
            <a:r>
              <a:rPr sz="1400" i="1" dirty="0">
                <a:solidFill>
                  <a:srgbClr val="408080"/>
                </a:solidFill>
                <a:latin typeface="Consolas" panose="020B0609020204030204"/>
                <a:cs typeface="Consolas" panose="020B0609020204030204"/>
              </a:rPr>
              <a:t>0.114B</a:t>
            </a:r>
            <a:endParaRPr sz="1400">
              <a:latin typeface="Consolas" panose="020B0609020204030204"/>
              <a:cs typeface="Consolas" panose="020B0609020204030204"/>
            </a:endParaRPr>
          </a:p>
          <a:p>
            <a:pPr marL="901700" algn="just">
              <a:lnSpc>
                <a:spcPts val="1610"/>
              </a:lnSpc>
            </a:pPr>
            <a:r>
              <a:rPr sz="1400" b="1" dirty="0">
                <a:solidFill>
                  <a:srgbClr val="008000"/>
                </a:solidFill>
                <a:latin typeface="Consolas" panose="020B0609020204030204"/>
                <a:cs typeface="Consolas" panose="020B0609020204030204"/>
              </a:rPr>
              <a:t>for </a:t>
            </a:r>
            <a:r>
              <a:rPr sz="1400" dirty="0">
                <a:latin typeface="Consolas" panose="020B0609020204030204"/>
                <a:cs typeface="Consolas" panose="020B0609020204030204"/>
              </a:rPr>
              <a:t>i </a:t>
            </a:r>
            <a:r>
              <a:rPr sz="1400" b="1" dirty="0">
                <a:solidFill>
                  <a:srgbClr val="AA22FF"/>
                </a:solidFill>
                <a:latin typeface="Consolas" panose="020B0609020204030204"/>
                <a:cs typeface="Consolas" panose="020B0609020204030204"/>
              </a:rPr>
              <a:t>in</a:t>
            </a:r>
            <a:r>
              <a:rPr sz="1400" b="1" spc="-10" dirty="0">
                <a:solidFill>
                  <a:srgbClr val="AA22FF"/>
                </a:solidFill>
                <a:latin typeface="Consolas" panose="020B0609020204030204"/>
                <a:cs typeface="Consolas" panose="020B0609020204030204"/>
              </a:rPr>
              <a:t> </a:t>
            </a:r>
            <a:r>
              <a:rPr sz="1400" dirty="0">
                <a:solidFill>
                  <a:srgbClr val="008000"/>
                </a:solidFill>
                <a:latin typeface="Consolas" panose="020B0609020204030204"/>
                <a:cs typeface="Consolas" panose="020B0609020204030204"/>
              </a:rPr>
              <a:t>range</a:t>
            </a:r>
            <a:r>
              <a:rPr sz="1400" dirty="0">
                <a:latin typeface="Consolas" panose="020B0609020204030204"/>
                <a:cs typeface="Consolas" panose="020B0609020204030204"/>
              </a:rPr>
              <a:t>(</a:t>
            </a:r>
            <a:r>
              <a:rPr sz="1400" dirty="0">
                <a:solidFill>
                  <a:srgbClr val="666666"/>
                </a:solidFill>
                <a:latin typeface="Consolas" panose="020B0609020204030204"/>
                <a:cs typeface="Consolas" panose="020B0609020204030204"/>
              </a:rPr>
              <a:t>400</a:t>
            </a:r>
            <a:r>
              <a:rPr sz="1400" dirty="0">
                <a:latin typeface="Consolas" panose="020B0609020204030204"/>
                <a:cs typeface="Consolas" panose="020B0609020204030204"/>
              </a:rPr>
              <a:t>):</a:t>
            </a:r>
            <a:endParaRPr sz="1400">
              <a:latin typeface="Consolas" panose="020B0609020204030204"/>
              <a:cs typeface="Consolas" panose="020B0609020204030204"/>
            </a:endParaRPr>
          </a:p>
          <a:p>
            <a:pPr marL="2358390" algn="just">
              <a:lnSpc>
                <a:spcPts val="1640"/>
              </a:lnSpc>
            </a:pPr>
            <a:r>
              <a:rPr sz="1400" b="1" dirty="0">
                <a:solidFill>
                  <a:srgbClr val="008000"/>
                </a:solidFill>
                <a:latin typeface="Consolas" panose="020B0609020204030204"/>
                <a:cs typeface="Consolas" panose="020B0609020204030204"/>
              </a:rPr>
              <a:t>for </a:t>
            </a:r>
            <a:r>
              <a:rPr sz="1400" dirty="0">
                <a:latin typeface="Consolas" panose="020B0609020204030204"/>
                <a:cs typeface="Consolas" panose="020B0609020204030204"/>
              </a:rPr>
              <a:t>j </a:t>
            </a:r>
            <a:r>
              <a:rPr sz="1400" b="1" dirty="0">
                <a:solidFill>
                  <a:srgbClr val="AA22FF"/>
                </a:solidFill>
                <a:latin typeface="Consolas" panose="020B0609020204030204"/>
                <a:cs typeface="Consolas" panose="020B0609020204030204"/>
              </a:rPr>
              <a:t>in</a:t>
            </a:r>
            <a:r>
              <a:rPr sz="1400" b="1" spc="-10" dirty="0">
                <a:solidFill>
                  <a:srgbClr val="AA22FF"/>
                </a:solidFill>
                <a:latin typeface="Consolas" panose="020B0609020204030204"/>
                <a:cs typeface="Consolas" panose="020B0609020204030204"/>
              </a:rPr>
              <a:t> </a:t>
            </a:r>
            <a:r>
              <a:rPr sz="1400" dirty="0">
                <a:solidFill>
                  <a:srgbClr val="008000"/>
                </a:solidFill>
                <a:latin typeface="Consolas" panose="020B0609020204030204"/>
                <a:cs typeface="Consolas" panose="020B0609020204030204"/>
              </a:rPr>
              <a:t>range</a:t>
            </a:r>
            <a:r>
              <a:rPr sz="1400" dirty="0">
                <a:latin typeface="Consolas" panose="020B0609020204030204"/>
                <a:cs typeface="Consolas" panose="020B0609020204030204"/>
              </a:rPr>
              <a:t>(</a:t>
            </a:r>
            <a:r>
              <a:rPr sz="1400" dirty="0">
                <a:solidFill>
                  <a:srgbClr val="666666"/>
                </a:solidFill>
                <a:latin typeface="Consolas" panose="020B0609020204030204"/>
                <a:cs typeface="Consolas" panose="020B0609020204030204"/>
              </a:rPr>
              <a:t>400</a:t>
            </a:r>
            <a:r>
              <a:rPr sz="1400" dirty="0">
                <a:latin typeface="Consolas" panose="020B0609020204030204"/>
                <a:cs typeface="Consolas" panose="020B0609020204030204"/>
              </a:rPr>
              <a:t>):</a:t>
            </a:r>
            <a:endParaRPr sz="1400">
              <a:latin typeface="Consolas" panose="020B0609020204030204"/>
              <a:cs typeface="Consolas" panose="020B0609020204030204"/>
            </a:endParaRPr>
          </a:p>
          <a:p>
            <a:pPr marL="2749550" marR="2539365" algn="just">
              <a:lnSpc>
                <a:spcPct val="101000"/>
              </a:lnSpc>
            </a:pPr>
            <a:r>
              <a:rPr sz="1400" dirty="0">
                <a:latin typeface="Consolas" panose="020B0609020204030204"/>
                <a:cs typeface="Consolas" panose="020B0609020204030204"/>
              </a:rPr>
              <a:t>b</a:t>
            </a:r>
            <a:r>
              <a:rPr sz="1400" spc="-50" dirty="0">
                <a:latin typeface="Consolas" panose="020B0609020204030204"/>
                <a:cs typeface="Consolas" panose="020B0609020204030204"/>
              </a:rPr>
              <a:t> </a:t>
            </a:r>
            <a:r>
              <a:rPr sz="1400" dirty="0">
                <a:solidFill>
                  <a:srgbClr val="666666"/>
                </a:solidFill>
                <a:latin typeface="Consolas" panose="020B0609020204030204"/>
                <a:cs typeface="Consolas" panose="020B0609020204030204"/>
              </a:rPr>
              <a:t>=</a:t>
            </a:r>
            <a:r>
              <a:rPr sz="1400" spc="-50" dirty="0">
                <a:solidFill>
                  <a:srgbClr val="666666"/>
                </a:solidFill>
                <a:latin typeface="Consolas" panose="020B0609020204030204"/>
                <a:cs typeface="Consolas" panose="020B0609020204030204"/>
              </a:rPr>
              <a:t> </a:t>
            </a:r>
            <a:r>
              <a:rPr sz="1400" dirty="0">
                <a:solidFill>
                  <a:srgbClr val="008000"/>
                </a:solidFill>
                <a:latin typeface="Consolas" panose="020B0609020204030204"/>
                <a:cs typeface="Consolas" panose="020B0609020204030204"/>
              </a:rPr>
              <a:t>ord</a:t>
            </a:r>
            <a:r>
              <a:rPr sz="1400" dirty="0">
                <a:latin typeface="Consolas" panose="020B0609020204030204"/>
                <a:cs typeface="Consolas" panose="020B0609020204030204"/>
              </a:rPr>
              <a:t>(fin</a:t>
            </a:r>
            <a:r>
              <a:rPr sz="1400" dirty="0">
                <a:solidFill>
                  <a:srgbClr val="666666"/>
                </a:solidFill>
                <a:latin typeface="Consolas" panose="020B0609020204030204"/>
                <a:cs typeface="Consolas" panose="020B0609020204030204"/>
              </a:rPr>
              <a:t>.</a:t>
            </a:r>
            <a:r>
              <a:rPr sz="1400" dirty="0">
                <a:latin typeface="Consolas" panose="020B0609020204030204"/>
                <a:cs typeface="Consolas" panose="020B0609020204030204"/>
              </a:rPr>
              <a:t>read(</a:t>
            </a:r>
            <a:r>
              <a:rPr sz="1400" dirty="0">
                <a:solidFill>
                  <a:srgbClr val="666666"/>
                </a:solidFill>
                <a:latin typeface="Consolas" panose="020B0609020204030204"/>
                <a:cs typeface="Consolas" panose="020B0609020204030204"/>
              </a:rPr>
              <a:t>1</a:t>
            </a:r>
            <a:r>
              <a:rPr sz="1400" dirty="0">
                <a:latin typeface="Consolas" panose="020B0609020204030204"/>
                <a:cs typeface="Consolas" panose="020B0609020204030204"/>
              </a:rPr>
              <a:t>))  g</a:t>
            </a:r>
            <a:r>
              <a:rPr sz="1400" spc="-50" dirty="0">
                <a:latin typeface="Consolas" panose="020B0609020204030204"/>
                <a:cs typeface="Consolas" panose="020B0609020204030204"/>
              </a:rPr>
              <a:t> </a:t>
            </a:r>
            <a:r>
              <a:rPr sz="1400" dirty="0">
                <a:solidFill>
                  <a:srgbClr val="666666"/>
                </a:solidFill>
                <a:latin typeface="Consolas" panose="020B0609020204030204"/>
                <a:cs typeface="Consolas" panose="020B0609020204030204"/>
              </a:rPr>
              <a:t>=</a:t>
            </a:r>
            <a:r>
              <a:rPr sz="1400" spc="-50" dirty="0">
                <a:solidFill>
                  <a:srgbClr val="666666"/>
                </a:solidFill>
                <a:latin typeface="Consolas" panose="020B0609020204030204"/>
                <a:cs typeface="Consolas" panose="020B0609020204030204"/>
              </a:rPr>
              <a:t> </a:t>
            </a:r>
            <a:r>
              <a:rPr sz="1400" dirty="0">
                <a:solidFill>
                  <a:srgbClr val="008000"/>
                </a:solidFill>
                <a:latin typeface="Consolas" panose="020B0609020204030204"/>
                <a:cs typeface="Consolas" panose="020B0609020204030204"/>
              </a:rPr>
              <a:t>ord</a:t>
            </a:r>
            <a:r>
              <a:rPr sz="1400" dirty="0">
                <a:latin typeface="Consolas" panose="020B0609020204030204"/>
                <a:cs typeface="Consolas" panose="020B0609020204030204"/>
              </a:rPr>
              <a:t>(fin</a:t>
            </a:r>
            <a:r>
              <a:rPr sz="1400" dirty="0">
                <a:solidFill>
                  <a:srgbClr val="666666"/>
                </a:solidFill>
                <a:latin typeface="Consolas" panose="020B0609020204030204"/>
                <a:cs typeface="Consolas" panose="020B0609020204030204"/>
              </a:rPr>
              <a:t>.</a:t>
            </a:r>
            <a:r>
              <a:rPr sz="1400" dirty="0">
                <a:latin typeface="Consolas" panose="020B0609020204030204"/>
                <a:cs typeface="Consolas" panose="020B0609020204030204"/>
              </a:rPr>
              <a:t>read(</a:t>
            </a:r>
            <a:r>
              <a:rPr sz="1400" dirty="0">
                <a:solidFill>
                  <a:srgbClr val="666666"/>
                </a:solidFill>
                <a:latin typeface="Consolas" panose="020B0609020204030204"/>
                <a:cs typeface="Consolas" panose="020B0609020204030204"/>
              </a:rPr>
              <a:t>1</a:t>
            </a:r>
            <a:r>
              <a:rPr sz="1400" dirty="0">
                <a:latin typeface="Consolas" panose="020B0609020204030204"/>
                <a:cs typeface="Consolas" panose="020B0609020204030204"/>
              </a:rPr>
              <a:t>))  r </a:t>
            </a:r>
            <a:r>
              <a:rPr sz="1400" dirty="0">
                <a:solidFill>
                  <a:srgbClr val="666666"/>
                </a:solidFill>
                <a:latin typeface="Consolas" panose="020B0609020204030204"/>
                <a:cs typeface="Consolas" panose="020B0609020204030204"/>
              </a:rPr>
              <a:t>=</a:t>
            </a:r>
            <a:r>
              <a:rPr sz="1400" spc="-100" dirty="0">
                <a:solidFill>
                  <a:srgbClr val="666666"/>
                </a:solidFill>
                <a:latin typeface="Consolas" panose="020B0609020204030204"/>
                <a:cs typeface="Consolas" panose="020B0609020204030204"/>
              </a:rPr>
              <a:t> </a:t>
            </a:r>
            <a:r>
              <a:rPr sz="1400" dirty="0">
                <a:solidFill>
                  <a:srgbClr val="008000"/>
                </a:solidFill>
                <a:latin typeface="Consolas" panose="020B0609020204030204"/>
                <a:cs typeface="Consolas" panose="020B0609020204030204"/>
              </a:rPr>
              <a:t>ord</a:t>
            </a:r>
            <a:r>
              <a:rPr sz="1400" dirty="0">
                <a:latin typeface="Consolas" panose="020B0609020204030204"/>
                <a:cs typeface="Consolas" panose="020B0609020204030204"/>
              </a:rPr>
              <a:t>(fin</a:t>
            </a:r>
            <a:r>
              <a:rPr sz="1400" dirty="0">
                <a:solidFill>
                  <a:srgbClr val="666666"/>
                </a:solidFill>
                <a:latin typeface="Consolas" panose="020B0609020204030204"/>
                <a:cs typeface="Consolas" panose="020B0609020204030204"/>
              </a:rPr>
              <a:t>.</a:t>
            </a:r>
            <a:r>
              <a:rPr sz="1400" dirty="0">
                <a:latin typeface="Consolas" panose="020B0609020204030204"/>
                <a:cs typeface="Consolas" panose="020B0609020204030204"/>
              </a:rPr>
              <a:t>read(</a:t>
            </a:r>
            <a:r>
              <a:rPr sz="1400" dirty="0">
                <a:solidFill>
                  <a:srgbClr val="666666"/>
                </a:solidFill>
                <a:latin typeface="Consolas" panose="020B0609020204030204"/>
                <a:cs typeface="Consolas" panose="020B0609020204030204"/>
              </a:rPr>
              <a:t>1</a:t>
            </a:r>
            <a:r>
              <a:rPr sz="1400" dirty="0">
                <a:latin typeface="Consolas" panose="020B0609020204030204"/>
                <a:cs typeface="Consolas" panose="020B0609020204030204"/>
              </a:rPr>
              <a:t>))</a:t>
            </a:r>
            <a:endParaRPr sz="1400">
              <a:latin typeface="Consolas" panose="020B0609020204030204"/>
              <a:cs typeface="Consolas" panose="020B0609020204030204"/>
            </a:endParaRPr>
          </a:p>
          <a:p>
            <a:pPr marL="2749550">
              <a:lnSpc>
                <a:spcPts val="1600"/>
              </a:lnSpc>
            </a:pPr>
            <a:r>
              <a:rPr sz="1400" dirty="0">
                <a:latin typeface="Consolas" panose="020B0609020204030204"/>
                <a:cs typeface="Consolas" panose="020B0609020204030204"/>
              </a:rPr>
              <a:t>y </a:t>
            </a:r>
            <a:r>
              <a:rPr sz="1400" dirty="0">
                <a:solidFill>
                  <a:srgbClr val="666666"/>
                </a:solidFill>
                <a:latin typeface="Consolas" panose="020B0609020204030204"/>
                <a:cs typeface="Consolas" panose="020B0609020204030204"/>
              </a:rPr>
              <a:t>= </a:t>
            </a:r>
            <a:r>
              <a:rPr sz="1400" dirty="0">
                <a:latin typeface="Consolas" panose="020B0609020204030204"/>
                <a:cs typeface="Consolas" panose="020B0609020204030204"/>
              </a:rPr>
              <a:t>(</a:t>
            </a:r>
            <a:r>
              <a:rPr sz="1400" dirty="0">
                <a:solidFill>
                  <a:srgbClr val="666666"/>
                </a:solidFill>
                <a:latin typeface="Consolas" panose="020B0609020204030204"/>
                <a:cs typeface="Consolas" panose="020B0609020204030204"/>
              </a:rPr>
              <a:t>299 * </a:t>
            </a:r>
            <a:r>
              <a:rPr sz="1400" dirty="0">
                <a:latin typeface="Consolas" panose="020B0609020204030204"/>
                <a:cs typeface="Consolas" panose="020B0609020204030204"/>
              </a:rPr>
              <a:t>r </a:t>
            </a:r>
            <a:r>
              <a:rPr sz="1400" dirty="0">
                <a:solidFill>
                  <a:srgbClr val="666666"/>
                </a:solidFill>
                <a:latin typeface="Consolas" panose="020B0609020204030204"/>
                <a:cs typeface="Consolas" panose="020B0609020204030204"/>
              </a:rPr>
              <a:t>+ 587 * </a:t>
            </a:r>
            <a:r>
              <a:rPr sz="1400" dirty="0">
                <a:latin typeface="Consolas" panose="020B0609020204030204"/>
                <a:cs typeface="Consolas" panose="020B0609020204030204"/>
              </a:rPr>
              <a:t>g </a:t>
            </a:r>
            <a:r>
              <a:rPr sz="1400" dirty="0">
                <a:solidFill>
                  <a:srgbClr val="666666"/>
                </a:solidFill>
                <a:latin typeface="Consolas" panose="020B0609020204030204"/>
                <a:cs typeface="Consolas" panose="020B0609020204030204"/>
              </a:rPr>
              <a:t>+ 114 * </a:t>
            </a:r>
            <a:r>
              <a:rPr sz="1400" dirty="0">
                <a:latin typeface="Consolas" panose="020B0609020204030204"/>
                <a:cs typeface="Consolas" panose="020B0609020204030204"/>
              </a:rPr>
              <a:t>b) </a:t>
            </a:r>
            <a:r>
              <a:rPr sz="1400" dirty="0">
                <a:solidFill>
                  <a:srgbClr val="666666"/>
                </a:solidFill>
                <a:latin typeface="Consolas" panose="020B0609020204030204"/>
                <a:cs typeface="Consolas" panose="020B0609020204030204"/>
              </a:rPr>
              <a:t>/</a:t>
            </a:r>
            <a:r>
              <a:rPr sz="1400" spc="-75" dirty="0">
                <a:solidFill>
                  <a:srgbClr val="666666"/>
                </a:solidFill>
                <a:latin typeface="Consolas" panose="020B0609020204030204"/>
                <a:cs typeface="Consolas" panose="020B0609020204030204"/>
              </a:rPr>
              <a:t> </a:t>
            </a:r>
            <a:r>
              <a:rPr sz="1400" dirty="0">
                <a:solidFill>
                  <a:srgbClr val="666666"/>
                </a:solidFill>
                <a:latin typeface="Consolas" panose="020B0609020204030204"/>
                <a:cs typeface="Consolas" panose="020B0609020204030204"/>
              </a:rPr>
              <a:t>1000</a:t>
            </a:r>
            <a:endParaRPr sz="1400">
              <a:latin typeface="Consolas" panose="020B0609020204030204"/>
              <a:cs typeface="Consolas" panose="020B0609020204030204"/>
            </a:endParaRPr>
          </a:p>
          <a:p>
            <a:pPr marL="2749550">
              <a:lnSpc>
                <a:spcPct val="100000"/>
              </a:lnSpc>
              <a:spcBef>
                <a:spcPts val="20"/>
              </a:spcBef>
            </a:pPr>
            <a:r>
              <a:rPr sz="1400" dirty="0">
                <a:latin typeface="Consolas" panose="020B0609020204030204"/>
                <a:cs typeface="Consolas" panose="020B0609020204030204"/>
              </a:rPr>
              <a:t>fout</a:t>
            </a:r>
            <a:r>
              <a:rPr sz="1400" dirty="0">
                <a:solidFill>
                  <a:srgbClr val="666666"/>
                </a:solidFill>
                <a:latin typeface="Consolas" panose="020B0609020204030204"/>
                <a:cs typeface="Consolas" panose="020B0609020204030204"/>
              </a:rPr>
              <a:t>.</a:t>
            </a:r>
            <a:r>
              <a:rPr sz="1400" dirty="0">
                <a:latin typeface="Consolas" panose="020B0609020204030204"/>
                <a:cs typeface="Consolas" panose="020B0609020204030204"/>
              </a:rPr>
              <a:t>write(</a:t>
            </a:r>
            <a:r>
              <a:rPr sz="1400" dirty="0">
                <a:solidFill>
                  <a:srgbClr val="008000"/>
                </a:solidFill>
                <a:latin typeface="Consolas" panose="020B0609020204030204"/>
                <a:cs typeface="Consolas" panose="020B0609020204030204"/>
              </a:rPr>
              <a:t>chr</a:t>
            </a:r>
            <a:r>
              <a:rPr sz="1400" dirty="0">
                <a:latin typeface="Consolas" panose="020B0609020204030204"/>
                <a:cs typeface="Consolas" panose="020B0609020204030204"/>
              </a:rPr>
              <a:t>(y))</a:t>
            </a:r>
            <a:endParaRPr sz="1400">
              <a:latin typeface="Consolas" panose="020B0609020204030204"/>
              <a:cs typeface="Consolas" panose="020B0609020204030204"/>
            </a:endParaRPr>
          </a:p>
          <a:p>
            <a:pPr marL="1185545">
              <a:lnSpc>
                <a:spcPct val="100000"/>
              </a:lnSpc>
              <a:spcBef>
                <a:spcPts val="20"/>
              </a:spcBef>
            </a:pPr>
            <a:r>
              <a:rPr sz="1400" b="1" dirty="0">
                <a:solidFill>
                  <a:srgbClr val="008000"/>
                </a:solidFill>
                <a:latin typeface="Consolas" panose="020B0609020204030204"/>
                <a:cs typeface="Consolas" panose="020B0609020204030204"/>
              </a:rPr>
              <a:t>except </a:t>
            </a:r>
            <a:r>
              <a:rPr sz="1400" b="1" dirty="0">
                <a:solidFill>
                  <a:srgbClr val="D2413A"/>
                </a:solidFill>
                <a:latin typeface="Consolas" panose="020B0609020204030204"/>
                <a:cs typeface="Consolas" panose="020B0609020204030204"/>
              </a:rPr>
              <a:t>IOError </a:t>
            </a:r>
            <a:r>
              <a:rPr sz="1400" b="1" dirty="0">
                <a:solidFill>
                  <a:srgbClr val="008000"/>
                </a:solidFill>
                <a:latin typeface="Consolas" panose="020B0609020204030204"/>
                <a:cs typeface="Consolas" panose="020B0609020204030204"/>
              </a:rPr>
              <a:t>as</a:t>
            </a:r>
            <a:r>
              <a:rPr sz="1400" b="1" spc="-10" dirty="0">
                <a:solidFill>
                  <a:srgbClr val="008000"/>
                </a:solidFill>
                <a:latin typeface="Consolas" panose="020B0609020204030204"/>
                <a:cs typeface="Consolas" panose="020B0609020204030204"/>
              </a:rPr>
              <a:t> </a:t>
            </a:r>
            <a:r>
              <a:rPr sz="1400" dirty="0">
                <a:latin typeface="Consolas" panose="020B0609020204030204"/>
                <a:cs typeface="Consolas" panose="020B0609020204030204"/>
              </a:rPr>
              <a:t>e:</a:t>
            </a:r>
            <a:endParaRPr sz="1400">
              <a:latin typeface="Consolas" panose="020B0609020204030204"/>
              <a:cs typeface="Consolas" panose="020B0609020204030204"/>
            </a:endParaRPr>
          </a:p>
          <a:p>
            <a:pPr marL="1576705">
              <a:lnSpc>
                <a:spcPts val="1650"/>
              </a:lnSpc>
              <a:spcBef>
                <a:spcPts val="105"/>
              </a:spcBef>
            </a:pPr>
            <a:r>
              <a:rPr sz="2100" b="1" baseline="4000" dirty="0">
                <a:solidFill>
                  <a:srgbClr val="008000"/>
                </a:solidFill>
                <a:latin typeface="Consolas" panose="020B0609020204030204"/>
                <a:cs typeface="Consolas" panose="020B0609020204030204"/>
              </a:rPr>
              <a:t>print</a:t>
            </a:r>
            <a:r>
              <a:rPr sz="2100" baseline="4000" dirty="0">
                <a:latin typeface="Consolas" panose="020B0609020204030204"/>
                <a:cs typeface="Consolas" panose="020B0609020204030204"/>
              </a:rPr>
              <a:t>(</a:t>
            </a:r>
            <a:r>
              <a:rPr sz="2100" baseline="4000" dirty="0">
                <a:solidFill>
                  <a:srgbClr val="BA2121"/>
                </a:solidFill>
                <a:latin typeface="Consolas" panose="020B0609020204030204"/>
                <a:cs typeface="Consolas" panose="020B0609020204030204"/>
              </a:rPr>
              <a:t>"</a:t>
            </a:r>
            <a:r>
              <a:rPr sz="1400" spc="-280" dirty="0">
                <a:solidFill>
                  <a:srgbClr val="C8352B"/>
                </a:solidFill>
                <a:latin typeface="华文细黑" panose="02010600040101010101" charset="-122"/>
                <a:cs typeface="华文细黑" panose="02010600040101010101" charset="-122"/>
              </a:rPr>
              <a:t>打开⽂文件</a:t>
            </a:r>
            <a:r>
              <a:rPr sz="1400" spc="-215" dirty="0">
                <a:solidFill>
                  <a:srgbClr val="C8352B"/>
                </a:solidFill>
                <a:latin typeface="华文细黑" panose="02010600040101010101" charset="-122"/>
                <a:cs typeface="华文细黑" panose="02010600040101010101" charset="-122"/>
              </a:rPr>
              <a:t> </a:t>
            </a:r>
            <a:r>
              <a:rPr sz="2100" baseline="4000" dirty="0">
                <a:solidFill>
                  <a:srgbClr val="BA2121"/>
                </a:solidFill>
                <a:latin typeface="Consolas" panose="020B0609020204030204"/>
                <a:cs typeface="Consolas" panose="020B0609020204030204"/>
              </a:rPr>
              <a:t>cat2.pic</a:t>
            </a:r>
            <a:r>
              <a:rPr sz="2100" spc="-15" baseline="4000" dirty="0">
                <a:solidFill>
                  <a:srgbClr val="BA2121"/>
                </a:solidFill>
                <a:latin typeface="Consolas" panose="020B0609020204030204"/>
                <a:cs typeface="Consolas" panose="020B0609020204030204"/>
              </a:rPr>
              <a:t> </a:t>
            </a:r>
            <a:r>
              <a:rPr sz="1400" dirty="0">
                <a:solidFill>
                  <a:srgbClr val="C8352B"/>
                </a:solidFill>
                <a:latin typeface="华文细黑" panose="02010600040101010101" charset="-122"/>
                <a:cs typeface="华文细黑" panose="02010600040101010101" charset="-122"/>
              </a:rPr>
              <a:t>时错误</a:t>
            </a:r>
            <a:r>
              <a:rPr sz="2100" baseline="4000" dirty="0">
                <a:solidFill>
                  <a:srgbClr val="BA2121"/>
                </a:solidFill>
                <a:latin typeface="Consolas" panose="020B0609020204030204"/>
                <a:cs typeface="Consolas" panose="020B0609020204030204"/>
              </a:rPr>
              <a:t>"</a:t>
            </a:r>
            <a:r>
              <a:rPr sz="2100" baseline="4000" dirty="0">
                <a:latin typeface="Consolas" panose="020B0609020204030204"/>
                <a:cs typeface="Consolas" panose="020B0609020204030204"/>
              </a:rPr>
              <a:t>)</a:t>
            </a:r>
            <a:endParaRPr sz="2100" baseline="4000">
              <a:latin typeface="Consolas" panose="020B0609020204030204"/>
              <a:cs typeface="Consolas" panose="020B0609020204030204"/>
            </a:endParaRPr>
          </a:p>
          <a:p>
            <a:pPr marL="1576705">
              <a:lnSpc>
                <a:spcPts val="1610"/>
              </a:lnSpc>
            </a:pPr>
            <a:r>
              <a:rPr sz="1400" b="1" dirty="0">
                <a:solidFill>
                  <a:srgbClr val="008000"/>
                </a:solidFill>
                <a:latin typeface="Consolas" panose="020B0609020204030204"/>
                <a:cs typeface="Consolas" panose="020B0609020204030204"/>
              </a:rPr>
              <a:t>return</a:t>
            </a:r>
            <a:r>
              <a:rPr sz="1400" b="1" spc="-5" dirty="0">
                <a:solidFill>
                  <a:srgbClr val="008000"/>
                </a:solidFill>
                <a:latin typeface="Consolas" panose="020B0609020204030204"/>
                <a:cs typeface="Consolas" panose="020B0609020204030204"/>
              </a:rPr>
              <a:t> </a:t>
            </a:r>
            <a:r>
              <a:rPr sz="1400" spc="-385" dirty="0">
                <a:solidFill>
                  <a:srgbClr val="666666"/>
                </a:solidFill>
                <a:latin typeface="Consolas" panose="020B0609020204030204"/>
                <a:cs typeface="Consolas" panose="020B0609020204030204"/>
              </a:rPr>
              <a:t>-­‐1</a:t>
            </a:r>
            <a:endParaRPr sz="1400">
              <a:latin typeface="Consolas" panose="020B0609020204030204"/>
              <a:cs typeface="Consolas" panose="020B0609020204030204"/>
            </a:endParaRPr>
          </a:p>
          <a:p>
            <a:pPr marL="403225">
              <a:lnSpc>
                <a:spcPts val="1640"/>
              </a:lnSpc>
            </a:pPr>
            <a:r>
              <a:rPr sz="1400" b="1" dirty="0">
                <a:solidFill>
                  <a:srgbClr val="008000"/>
                </a:solidFill>
                <a:latin typeface="Consolas" panose="020B0609020204030204"/>
                <a:cs typeface="Consolas" panose="020B0609020204030204"/>
              </a:rPr>
              <a:t>except </a:t>
            </a:r>
            <a:r>
              <a:rPr sz="1400" b="1" dirty="0">
                <a:solidFill>
                  <a:srgbClr val="D2413A"/>
                </a:solidFill>
                <a:latin typeface="Consolas" panose="020B0609020204030204"/>
                <a:cs typeface="Consolas" panose="020B0609020204030204"/>
              </a:rPr>
              <a:t>IOError </a:t>
            </a:r>
            <a:r>
              <a:rPr sz="1400" b="1" dirty="0">
                <a:solidFill>
                  <a:srgbClr val="008000"/>
                </a:solidFill>
                <a:latin typeface="Consolas" panose="020B0609020204030204"/>
                <a:cs typeface="Consolas" panose="020B0609020204030204"/>
              </a:rPr>
              <a:t>as</a:t>
            </a:r>
            <a:r>
              <a:rPr sz="1400" b="1" spc="-10" dirty="0">
                <a:solidFill>
                  <a:srgbClr val="008000"/>
                </a:solidFill>
                <a:latin typeface="Consolas" panose="020B0609020204030204"/>
                <a:cs typeface="Consolas" panose="020B0609020204030204"/>
              </a:rPr>
              <a:t> </a:t>
            </a:r>
            <a:r>
              <a:rPr sz="1400" dirty="0">
                <a:latin typeface="Consolas" panose="020B0609020204030204"/>
                <a:cs typeface="Consolas" panose="020B0609020204030204"/>
              </a:rPr>
              <a:t>e:</a:t>
            </a:r>
            <a:endParaRPr sz="1400">
              <a:latin typeface="Consolas" panose="020B0609020204030204"/>
              <a:cs typeface="Consolas" panose="020B0609020204030204"/>
            </a:endParaRPr>
          </a:p>
          <a:p>
            <a:pPr marL="794385">
              <a:lnSpc>
                <a:spcPts val="1650"/>
              </a:lnSpc>
              <a:spcBef>
                <a:spcPts val="105"/>
              </a:spcBef>
            </a:pPr>
            <a:r>
              <a:rPr sz="2100" b="1" baseline="4000" dirty="0">
                <a:solidFill>
                  <a:srgbClr val="008000"/>
                </a:solidFill>
                <a:latin typeface="Consolas" panose="020B0609020204030204"/>
                <a:cs typeface="Consolas" panose="020B0609020204030204"/>
              </a:rPr>
              <a:t>print</a:t>
            </a:r>
            <a:r>
              <a:rPr sz="2100" baseline="4000" dirty="0">
                <a:latin typeface="Consolas" panose="020B0609020204030204"/>
                <a:cs typeface="Consolas" panose="020B0609020204030204"/>
              </a:rPr>
              <a:t>(</a:t>
            </a:r>
            <a:r>
              <a:rPr sz="2100" baseline="4000" dirty="0">
                <a:solidFill>
                  <a:srgbClr val="BA2121"/>
                </a:solidFill>
                <a:latin typeface="Consolas" panose="020B0609020204030204"/>
                <a:cs typeface="Consolas" panose="020B0609020204030204"/>
              </a:rPr>
              <a:t>"</a:t>
            </a:r>
            <a:r>
              <a:rPr sz="1400" spc="-280" dirty="0">
                <a:solidFill>
                  <a:srgbClr val="C8352B"/>
                </a:solidFill>
                <a:latin typeface="华文细黑" panose="02010600040101010101" charset="-122"/>
                <a:cs typeface="华文细黑" panose="02010600040101010101" charset="-122"/>
              </a:rPr>
              <a:t>打开⽂文件</a:t>
            </a:r>
            <a:r>
              <a:rPr sz="1400" spc="-215" dirty="0">
                <a:solidFill>
                  <a:srgbClr val="C8352B"/>
                </a:solidFill>
                <a:latin typeface="华文细黑" panose="02010600040101010101" charset="-122"/>
                <a:cs typeface="华文细黑" panose="02010600040101010101" charset="-122"/>
              </a:rPr>
              <a:t> </a:t>
            </a:r>
            <a:r>
              <a:rPr sz="2100" baseline="4000" dirty="0">
                <a:solidFill>
                  <a:srgbClr val="BA2121"/>
                </a:solidFill>
                <a:latin typeface="Consolas" panose="020B0609020204030204"/>
                <a:cs typeface="Consolas" panose="020B0609020204030204"/>
              </a:rPr>
              <a:t>cat.pic </a:t>
            </a:r>
            <a:r>
              <a:rPr sz="1400" dirty="0">
                <a:solidFill>
                  <a:srgbClr val="C8352B"/>
                </a:solidFill>
                <a:latin typeface="华文细黑" panose="02010600040101010101" charset="-122"/>
                <a:cs typeface="华文细黑" panose="02010600040101010101" charset="-122"/>
              </a:rPr>
              <a:t>时错误</a:t>
            </a:r>
            <a:r>
              <a:rPr sz="2100" baseline="4000" dirty="0">
                <a:solidFill>
                  <a:srgbClr val="BA2121"/>
                </a:solidFill>
                <a:latin typeface="Consolas" panose="020B0609020204030204"/>
                <a:cs typeface="Consolas" panose="020B0609020204030204"/>
              </a:rPr>
              <a:t>"</a:t>
            </a:r>
            <a:r>
              <a:rPr sz="2100" baseline="4000" dirty="0">
                <a:latin typeface="Consolas" panose="020B0609020204030204"/>
                <a:cs typeface="Consolas" panose="020B0609020204030204"/>
              </a:rPr>
              <a:t>)</a:t>
            </a:r>
            <a:endParaRPr sz="2100" baseline="4000">
              <a:latin typeface="Consolas" panose="020B0609020204030204"/>
              <a:cs typeface="Consolas" panose="020B0609020204030204"/>
            </a:endParaRPr>
          </a:p>
          <a:p>
            <a:pPr marL="794385">
              <a:lnSpc>
                <a:spcPts val="1650"/>
              </a:lnSpc>
            </a:pPr>
            <a:r>
              <a:rPr sz="1400" b="1" dirty="0">
                <a:solidFill>
                  <a:srgbClr val="008000"/>
                </a:solidFill>
                <a:latin typeface="Consolas" panose="020B0609020204030204"/>
                <a:cs typeface="Consolas" panose="020B0609020204030204"/>
              </a:rPr>
              <a:t>return</a:t>
            </a:r>
            <a:r>
              <a:rPr sz="1400" b="1" spc="-5" dirty="0">
                <a:solidFill>
                  <a:srgbClr val="008000"/>
                </a:solidFill>
                <a:latin typeface="Consolas" panose="020B0609020204030204"/>
                <a:cs typeface="Consolas" panose="020B0609020204030204"/>
              </a:rPr>
              <a:t> </a:t>
            </a:r>
            <a:r>
              <a:rPr sz="1400" spc="-385" dirty="0">
                <a:solidFill>
                  <a:srgbClr val="666666"/>
                </a:solidFill>
                <a:latin typeface="Consolas" panose="020B0609020204030204"/>
                <a:cs typeface="Consolas" panose="020B0609020204030204"/>
              </a:rPr>
              <a:t>-­‐1</a:t>
            </a:r>
            <a:endParaRPr sz="1400">
              <a:latin typeface="Consolas" panose="020B0609020204030204"/>
              <a:cs typeface="Consolas" panose="020B0609020204030204"/>
            </a:endParaRPr>
          </a:p>
          <a:p>
            <a:pPr marL="403225">
              <a:lnSpc>
                <a:spcPct val="100000"/>
              </a:lnSpc>
              <a:spcBef>
                <a:spcPts val="20"/>
              </a:spcBef>
            </a:pPr>
            <a:r>
              <a:rPr sz="1400" b="1" dirty="0">
                <a:solidFill>
                  <a:srgbClr val="008000"/>
                </a:solidFill>
                <a:latin typeface="Consolas" panose="020B0609020204030204"/>
                <a:cs typeface="Consolas" panose="020B0609020204030204"/>
              </a:rPr>
              <a:t>return</a:t>
            </a:r>
            <a:r>
              <a:rPr sz="1400" b="1" spc="-5" dirty="0">
                <a:solidFill>
                  <a:srgbClr val="008000"/>
                </a:solidFill>
                <a:latin typeface="Consolas" panose="020B0609020204030204"/>
                <a:cs typeface="Consolas" panose="020B0609020204030204"/>
              </a:rPr>
              <a:t> </a:t>
            </a:r>
            <a:r>
              <a:rPr sz="1400" dirty="0">
                <a:solidFill>
                  <a:srgbClr val="666666"/>
                </a:solidFill>
                <a:latin typeface="Consolas" panose="020B0609020204030204"/>
                <a:cs typeface="Consolas" panose="020B0609020204030204"/>
              </a:rPr>
              <a:t>0</a:t>
            </a:r>
            <a:endParaRPr sz="1400">
              <a:latin typeface="Consolas" panose="020B0609020204030204"/>
              <a:cs typeface="Consolas" panose="020B0609020204030204"/>
            </a:endParaRPr>
          </a:p>
        </p:txBody>
      </p:sp>
      <p:sp>
        <p:nvSpPr>
          <p:cNvPr id="3" name="object 3"/>
          <p:cNvSpPr/>
          <p:nvPr/>
        </p:nvSpPr>
        <p:spPr>
          <a:xfrm>
            <a:off x="8918705" y="2336803"/>
            <a:ext cx="2045606" cy="2071136"/>
          </a:xfrm>
          <a:prstGeom prst="rect">
            <a:avLst/>
          </a:prstGeom>
          <a:blipFill>
            <a:blip r:embed="rId3" cstate="print"/>
            <a:stretch>
              <a:fillRect/>
            </a:stretch>
          </a:blipFill>
        </p:spPr>
        <p:txBody>
          <a:bodyPr wrap="square" lIns="0" tIns="0" rIns="0" bIns="0" rtlCol="0"/>
          <a:lstStyle/>
          <a:p>
            <a:endParaRPr/>
          </a:p>
        </p:txBody>
      </p:sp>
      <p:sp>
        <p:nvSpPr>
          <p:cNvPr id="4" name="灯片编号占位符 3"/>
          <p:cNvSpPr>
            <a:spLocks noGrp="1"/>
          </p:cNvSpPr>
          <p:nvPr>
            <p:ph type="sldNum" sz="quarter" idx="7"/>
          </p:nvPr>
        </p:nvSpPr>
        <p:spPr/>
        <p:txBody>
          <a:bodyPr/>
          <a:lstStyle/>
          <a:p>
            <a:fld id="{B6F15528-21DE-4FAA-801E-634DDDAF4B2B}" type="slidenum">
              <a:rPr lang="en-US" altLang="zh-CN" smtClean="0"/>
              <a:t>11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2356"/>
    </mc:Choice>
    <mc:Fallback xmlns="">
      <p:transition spd="slow" advTm="52356"/>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855132" y="1504575"/>
            <a:ext cx="5800090" cy="4709160"/>
          </a:xfrm>
          <a:custGeom>
            <a:avLst/>
            <a:gdLst/>
            <a:ahLst/>
            <a:cxnLst/>
            <a:rect l="l" t="t" r="r" b="b"/>
            <a:pathLst>
              <a:path w="5800090" h="4709160">
                <a:moveTo>
                  <a:pt x="0" y="0"/>
                </a:moveTo>
                <a:lnTo>
                  <a:pt x="5799665" y="0"/>
                </a:lnTo>
                <a:lnTo>
                  <a:pt x="5799665" y="4708979"/>
                </a:lnTo>
                <a:lnTo>
                  <a:pt x="0" y="4708979"/>
                </a:lnTo>
                <a:lnTo>
                  <a:pt x="0" y="0"/>
                </a:lnTo>
                <a:close/>
              </a:path>
            </a:pathLst>
          </a:custGeom>
          <a:ln w="9524">
            <a:solidFill>
              <a:srgbClr val="4C4848"/>
            </a:solidFill>
          </a:ln>
        </p:spPr>
        <p:txBody>
          <a:bodyPr wrap="square" lIns="0" tIns="0" rIns="0" bIns="0" rtlCol="0"/>
          <a:lstStyle/>
          <a:p>
            <a:endParaRPr/>
          </a:p>
        </p:txBody>
      </p:sp>
      <p:sp>
        <p:nvSpPr>
          <p:cNvPr id="4" name="object 4"/>
          <p:cNvSpPr txBox="1"/>
          <p:nvPr/>
        </p:nvSpPr>
        <p:spPr>
          <a:xfrm>
            <a:off x="933872" y="1537595"/>
            <a:ext cx="1771650" cy="787400"/>
          </a:xfrm>
          <a:prstGeom prst="rect">
            <a:avLst/>
          </a:prstGeom>
        </p:spPr>
        <p:txBody>
          <a:bodyPr vert="horz" wrap="square" lIns="0" tIns="12700" rIns="0" bIns="0" rtlCol="0">
            <a:spAutoFit/>
          </a:bodyPr>
          <a:lstStyle/>
          <a:p>
            <a:pPr marL="12700">
              <a:lnSpc>
                <a:spcPct val="100000"/>
              </a:lnSpc>
              <a:spcBef>
                <a:spcPts val="100"/>
              </a:spcBef>
            </a:pPr>
            <a:r>
              <a:rPr sz="1000" i="1" dirty="0">
                <a:solidFill>
                  <a:srgbClr val="408080"/>
                </a:solidFill>
                <a:latin typeface="Consolas" panose="020B0609020204030204"/>
                <a:cs typeface="Consolas" panose="020B0609020204030204"/>
              </a:rPr>
              <a:t># </a:t>
            </a:r>
            <a:r>
              <a:rPr sz="1000" i="1" spc="-315" dirty="0">
                <a:solidFill>
                  <a:srgbClr val="408080"/>
                </a:solidFill>
                <a:latin typeface="Consolas" panose="020B0609020204030204"/>
                <a:cs typeface="Consolas" panose="020B0609020204030204"/>
              </a:rPr>
              <a:t>-­‐*-­‐ </a:t>
            </a:r>
            <a:r>
              <a:rPr sz="1000" i="1" dirty="0">
                <a:solidFill>
                  <a:srgbClr val="408080"/>
                </a:solidFill>
                <a:latin typeface="Consolas" panose="020B0609020204030204"/>
                <a:cs typeface="Consolas" panose="020B0609020204030204"/>
              </a:rPr>
              <a:t>encoding: </a:t>
            </a:r>
            <a:r>
              <a:rPr sz="1000" i="1" spc="-160" dirty="0">
                <a:solidFill>
                  <a:srgbClr val="408080"/>
                </a:solidFill>
                <a:latin typeface="Consolas" panose="020B0609020204030204"/>
                <a:cs typeface="Consolas" panose="020B0609020204030204"/>
              </a:rPr>
              <a:t>utf-­‐8</a:t>
            </a:r>
            <a:r>
              <a:rPr sz="1000" i="1" spc="10" dirty="0">
                <a:solidFill>
                  <a:srgbClr val="408080"/>
                </a:solidFill>
                <a:latin typeface="Consolas" panose="020B0609020204030204"/>
                <a:cs typeface="Consolas" panose="020B0609020204030204"/>
              </a:rPr>
              <a:t> </a:t>
            </a:r>
            <a:r>
              <a:rPr sz="1000" i="1" spc="-315" dirty="0">
                <a:solidFill>
                  <a:srgbClr val="408080"/>
                </a:solidFill>
                <a:latin typeface="Consolas" panose="020B0609020204030204"/>
                <a:cs typeface="Consolas" panose="020B0609020204030204"/>
              </a:rPr>
              <a:t>-­‐*-­‐</a:t>
            </a:r>
            <a:endParaRPr sz="1000">
              <a:latin typeface="Consolas" panose="020B0609020204030204"/>
              <a:cs typeface="Consolas" panose="020B0609020204030204"/>
            </a:endParaRPr>
          </a:p>
          <a:p>
            <a:pPr>
              <a:lnSpc>
                <a:spcPct val="100000"/>
              </a:lnSpc>
              <a:spcBef>
                <a:spcPts val="50"/>
              </a:spcBef>
            </a:pPr>
            <a:endParaRPr sz="1000">
              <a:latin typeface="Times New Roman" panose="02020603050405020304"/>
              <a:cs typeface="Times New Roman" panose="02020603050405020304"/>
            </a:endParaRPr>
          </a:p>
          <a:p>
            <a:pPr marL="12700">
              <a:lnSpc>
                <a:spcPct val="100000"/>
              </a:lnSpc>
            </a:pPr>
            <a:r>
              <a:rPr sz="1000" i="1" dirty="0">
                <a:solidFill>
                  <a:srgbClr val="BA2121"/>
                </a:solidFill>
                <a:latin typeface="Consolas" panose="020B0609020204030204"/>
                <a:cs typeface="Consolas" panose="020B0609020204030204"/>
              </a:rPr>
              <a:t>"""</a:t>
            </a:r>
            <a:endParaRPr sz="1000">
              <a:latin typeface="Consolas" panose="020B0609020204030204"/>
              <a:cs typeface="Consolas" panose="020B0609020204030204"/>
            </a:endParaRPr>
          </a:p>
          <a:p>
            <a:pPr marL="12700">
              <a:lnSpc>
                <a:spcPct val="100000"/>
              </a:lnSpc>
            </a:pPr>
            <a:r>
              <a:rPr sz="1000" i="1" dirty="0">
                <a:solidFill>
                  <a:srgbClr val="BA2121"/>
                </a:solidFill>
                <a:latin typeface="微软雅黑" panose="020B0503020204020204" pitchFamily="34" charset="-122"/>
                <a:cs typeface="微软雅黑" panose="020B0503020204020204" pitchFamily="34" charset="-122"/>
              </a:rPr>
              <a:t>斐波那契数列</a:t>
            </a:r>
            <a:endParaRPr sz="1000">
              <a:latin typeface="微软雅黑" panose="020B0503020204020204" pitchFamily="34" charset="-122"/>
              <a:cs typeface="微软雅黑" panose="020B0503020204020204" pitchFamily="34" charset="-122"/>
            </a:endParaRPr>
          </a:p>
          <a:p>
            <a:pPr marL="12700">
              <a:lnSpc>
                <a:spcPct val="100000"/>
              </a:lnSpc>
            </a:pPr>
            <a:r>
              <a:rPr sz="1000" i="1" dirty="0">
                <a:solidFill>
                  <a:srgbClr val="BA2121"/>
                </a:solidFill>
                <a:latin typeface="Consolas" panose="020B0609020204030204"/>
                <a:cs typeface="Consolas" panose="020B0609020204030204"/>
              </a:rPr>
              <a:t>"""</a:t>
            </a:r>
            <a:endParaRPr sz="1000">
              <a:latin typeface="Consolas" panose="020B0609020204030204"/>
              <a:cs typeface="Consolas" panose="020B0609020204030204"/>
            </a:endParaRPr>
          </a:p>
        </p:txBody>
      </p:sp>
      <p:sp>
        <p:nvSpPr>
          <p:cNvPr id="5" name="object 5"/>
          <p:cNvSpPr txBox="1"/>
          <p:nvPr/>
        </p:nvSpPr>
        <p:spPr>
          <a:xfrm>
            <a:off x="933872" y="2604395"/>
            <a:ext cx="3719195" cy="3530600"/>
          </a:xfrm>
          <a:prstGeom prst="rect">
            <a:avLst/>
          </a:prstGeom>
        </p:spPr>
        <p:txBody>
          <a:bodyPr vert="horz" wrap="square" lIns="0" tIns="12700" rIns="0" bIns="0" rtlCol="0">
            <a:spAutoFit/>
          </a:bodyPr>
          <a:lstStyle/>
          <a:p>
            <a:pPr marL="12700">
              <a:lnSpc>
                <a:spcPct val="100000"/>
              </a:lnSpc>
              <a:spcBef>
                <a:spcPts val="100"/>
              </a:spcBef>
            </a:pPr>
            <a:r>
              <a:rPr sz="1000" b="1" dirty="0">
                <a:solidFill>
                  <a:srgbClr val="008000"/>
                </a:solidFill>
                <a:latin typeface="Consolas" panose="020B0609020204030204"/>
                <a:cs typeface="Consolas" panose="020B0609020204030204"/>
              </a:rPr>
              <a:t>def</a:t>
            </a:r>
            <a:r>
              <a:rPr sz="1000" b="1" spc="-5" dirty="0">
                <a:solidFill>
                  <a:srgbClr val="008000"/>
                </a:solidFill>
                <a:latin typeface="Consolas" panose="020B0609020204030204"/>
                <a:cs typeface="Consolas" panose="020B0609020204030204"/>
              </a:rPr>
              <a:t> </a:t>
            </a:r>
            <a:r>
              <a:rPr sz="1000" b="1" dirty="0">
                <a:solidFill>
                  <a:srgbClr val="0000FF"/>
                </a:solidFill>
                <a:latin typeface="Consolas" panose="020B0609020204030204"/>
                <a:cs typeface="Consolas" panose="020B0609020204030204"/>
              </a:rPr>
              <a:t>fibonacci(position):</a:t>
            </a:r>
            <a:endParaRPr sz="1000">
              <a:latin typeface="Consolas" panose="020B0609020204030204"/>
              <a:cs typeface="Consolas" panose="020B0609020204030204"/>
            </a:endParaRPr>
          </a:p>
          <a:p>
            <a:pPr marL="291465">
              <a:lnSpc>
                <a:spcPct val="100000"/>
              </a:lnSpc>
            </a:pPr>
            <a:r>
              <a:rPr sz="1000" i="1" dirty="0">
                <a:solidFill>
                  <a:srgbClr val="BA2121"/>
                </a:solidFill>
                <a:latin typeface="Consolas" panose="020B0609020204030204"/>
                <a:cs typeface="Consolas" panose="020B0609020204030204"/>
              </a:rPr>
              <a:t>"""</a:t>
            </a:r>
            <a:r>
              <a:rPr sz="1000" i="1" dirty="0">
                <a:solidFill>
                  <a:srgbClr val="BA2121"/>
                </a:solidFill>
                <a:latin typeface="微软雅黑" panose="020B0503020204020204" pitchFamily="34" charset="-122"/>
                <a:cs typeface="微软雅黑" panose="020B0503020204020204" pitchFamily="34" charset="-122"/>
              </a:rPr>
              <a:t>获得斐波那契数列指定位置上的数</a:t>
            </a:r>
            <a:r>
              <a:rPr sz="1000" i="1" dirty="0">
                <a:solidFill>
                  <a:srgbClr val="C8352B"/>
                </a:solidFill>
                <a:latin typeface="微软雅黑" panose="020B0503020204020204" pitchFamily="34" charset="-122"/>
                <a:cs typeface="微软雅黑" panose="020B0503020204020204" pitchFamily="34" charset="-122"/>
              </a:rPr>
              <a:t>。</a:t>
            </a:r>
            <a:endParaRPr sz="1000">
              <a:latin typeface="微软雅黑" panose="020B0503020204020204" pitchFamily="34" charset="-122"/>
              <a:cs typeface="微软雅黑" panose="020B0503020204020204" pitchFamily="34" charset="-122"/>
            </a:endParaRPr>
          </a:p>
          <a:p>
            <a:pPr>
              <a:lnSpc>
                <a:spcPct val="100000"/>
              </a:lnSpc>
              <a:spcBef>
                <a:spcPts val="50"/>
              </a:spcBef>
            </a:pPr>
            <a:endParaRPr sz="1000">
              <a:latin typeface="Times New Roman" panose="02020603050405020304"/>
              <a:cs typeface="Times New Roman" panose="02020603050405020304"/>
            </a:endParaRPr>
          </a:p>
          <a:p>
            <a:pPr marL="162560">
              <a:lnSpc>
                <a:spcPct val="100000"/>
              </a:lnSpc>
            </a:pPr>
            <a:r>
              <a:rPr sz="1000" i="1" dirty="0">
                <a:solidFill>
                  <a:srgbClr val="BA2121"/>
                </a:solidFill>
                <a:latin typeface="微软雅黑" panose="020B0503020204020204" pitchFamily="34" charset="-122"/>
                <a:cs typeface="微软雅黑" panose="020B0503020204020204" pitchFamily="34" charset="-122"/>
              </a:rPr>
              <a:t>斐波那契数列是形如</a:t>
            </a:r>
            <a:r>
              <a:rPr sz="1000" i="1" dirty="0">
                <a:solidFill>
                  <a:srgbClr val="BA2121"/>
                </a:solidFill>
                <a:latin typeface="Consolas" panose="020B0609020204030204"/>
                <a:cs typeface="Consolas" panose="020B0609020204030204"/>
              </a:rPr>
              <a:t>1,1,2,3,5,8,11,...</a:t>
            </a:r>
            <a:r>
              <a:rPr sz="1000" i="1" dirty="0">
                <a:solidFill>
                  <a:srgbClr val="BA2121"/>
                </a:solidFill>
                <a:latin typeface="微软雅黑" panose="020B0503020204020204" pitchFamily="34" charset="-122"/>
                <a:cs typeface="微软雅黑" panose="020B0503020204020204" pitchFamily="34" charset="-122"/>
              </a:rPr>
              <a:t>的数列</a:t>
            </a:r>
            <a:r>
              <a:rPr sz="1000" i="1" dirty="0">
                <a:solidFill>
                  <a:srgbClr val="C8352B"/>
                </a:solidFill>
                <a:latin typeface="微软雅黑" panose="020B0503020204020204" pitchFamily="34" charset="-122"/>
                <a:cs typeface="微软雅黑" panose="020B0503020204020204" pitchFamily="34" charset="-122"/>
              </a:rPr>
              <a:t>，</a:t>
            </a:r>
            <a:r>
              <a:rPr sz="1000" i="1" dirty="0">
                <a:solidFill>
                  <a:srgbClr val="BA2121"/>
                </a:solidFill>
                <a:latin typeface="微软雅黑" panose="020B0503020204020204" pitchFamily="34" charset="-122"/>
                <a:cs typeface="微软雅黑" panose="020B0503020204020204" pitchFamily="34" charset="-122"/>
              </a:rPr>
              <a:t>通项公式为</a:t>
            </a:r>
            <a:endParaRPr sz="1000">
              <a:latin typeface="微软雅黑" panose="020B0503020204020204" pitchFamily="34" charset="-122"/>
              <a:cs typeface="微软雅黑" panose="020B0503020204020204" pitchFamily="34" charset="-122"/>
            </a:endParaRPr>
          </a:p>
          <a:p>
            <a:pPr marL="12700">
              <a:lnSpc>
                <a:spcPct val="100000"/>
              </a:lnSpc>
            </a:pPr>
            <a:r>
              <a:rPr sz="1000" i="1" spc="-60" dirty="0">
                <a:solidFill>
                  <a:srgbClr val="BA2121"/>
                </a:solidFill>
                <a:latin typeface="Consolas" panose="020B0609020204030204"/>
                <a:cs typeface="Consolas" panose="020B0609020204030204"/>
              </a:rPr>
              <a:t>F_0=F_1=1,F_n=F_{n-­‐1}+F_{n-­‐2},n&gt;=2</a:t>
            </a:r>
            <a:r>
              <a:rPr sz="1000" i="1" dirty="0">
                <a:solidFill>
                  <a:srgbClr val="C8352B"/>
                </a:solidFill>
                <a:latin typeface="微软雅黑" panose="020B0503020204020204" pitchFamily="34" charset="-122"/>
                <a:cs typeface="微软雅黑" panose="020B0503020204020204" pitchFamily="34" charset="-122"/>
              </a:rPr>
              <a:t>。</a:t>
            </a:r>
            <a:endParaRPr sz="1000">
              <a:latin typeface="微软雅黑" panose="020B0503020204020204" pitchFamily="34" charset="-122"/>
              <a:cs typeface="微软雅黑" panose="020B0503020204020204" pitchFamily="34" charset="-122"/>
            </a:endParaRPr>
          </a:p>
          <a:p>
            <a:pPr>
              <a:lnSpc>
                <a:spcPct val="100000"/>
              </a:lnSpc>
              <a:spcBef>
                <a:spcPts val="50"/>
              </a:spcBef>
            </a:pPr>
            <a:endParaRPr sz="1000">
              <a:latin typeface="Times New Roman" panose="02020603050405020304"/>
              <a:cs typeface="Times New Roman" panose="02020603050405020304"/>
            </a:endParaRPr>
          </a:p>
          <a:p>
            <a:pPr marL="291465">
              <a:lnSpc>
                <a:spcPct val="100000"/>
              </a:lnSpc>
            </a:pPr>
            <a:r>
              <a:rPr sz="1000" i="1" dirty="0">
                <a:solidFill>
                  <a:srgbClr val="BA2121"/>
                </a:solidFill>
                <a:latin typeface="Consolas" panose="020B0609020204030204"/>
                <a:cs typeface="Consolas" panose="020B0609020204030204"/>
              </a:rPr>
              <a:t>Args:</a:t>
            </a:r>
            <a:endParaRPr sz="1000">
              <a:latin typeface="Consolas" panose="020B0609020204030204"/>
              <a:cs typeface="Consolas" panose="020B0609020204030204"/>
            </a:endParaRPr>
          </a:p>
          <a:p>
            <a:pPr marL="570865">
              <a:lnSpc>
                <a:spcPct val="100000"/>
              </a:lnSpc>
            </a:pPr>
            <a:r>
              <a:rPr sz="1000" i="1" dirty="0">
                <a:solidFill>
                  <a:srgbClr val="BA2121"/>
                </a:solidFill>
                <a:latin typeface="Consolas" panose="020B0609020204030204"/>
                <a:cs typeface="Consolas" panose="020B0609020204030204"/>
              </a:rPr>
              <a:t>position:</a:t>
            </a:r>
            <a:r>
              <a:rPr sz="1000" i="1" spc="-10" dirty="0">
                <a:solidFill>
                  <a:srgbClr val="BA2121"/>
                </a:solidFill>
                <a:latin typeface="Consolas" panose="020B0609020204030204"/>
                <a:cs typeface="Consolas" panose="020B0609020204030204"/>
              </a:rPr>
              <a:t> </a:t>
            </a:r>
            <a:r>
              <a:rPr sz="1000" i="1" dirty="0">
                <a:solidFill>
                  <a:srgbClr val="BA2121"/>
                </a:solidFill>
                <a:latin typeface="微软雅黑" panose="020B0503020204020204" pitchFamily="34" charset="-122"/>
                <a:cs typeface="微软雅黑" panose="020B0503020204020204" pitchFamily="34" charset="-122"/>
              </a:rPr>
              <a:t>需要获得的指定位置</a:t>
            </a:r>
            <a:endParaRPr sz="1000">
              <a:latin typeface="微软雅黑" panose="020B0503020204020204" pitchFamily="34" charset="-122"/>
              <a:cs typeface="微软雅黑" panose="020B0503020204020204" pitchFamily="34" charset="-122"/>
            </a:endParaRPr>
          </a:p>
          <a:p>
            <a:pPr>
              <a:lnSpc>
                <a:spcPct val="100000"/>
              </a:lnSpc>
              <a:spcBef>
                <a:spcPts val="50"/>
              </a:spcBef>
            </a:pPr>
            <a:endParaRPr sz="1000">
              <a:latin typeface="Times New Roman" panose="02020603050405020304"/>
              <a:cs typeface="Times New Roman" panose="02020603050405020304"/>
            </a:endParaRPr>
          </a:p>
          <a:p>
            <a:pPr marL="291465">
              <a:lnSpc>
                <a:spcPct val="100000"/>
              </a:lnSpc>
            </a:pPr>
            <a:r>
              <a:rPr sz="1000" i="1" dirty="0">
                <a:solidFill>
                  <a:srgbClr val="BA2121"/>
                </a:solidFill>
                <a:latin typeface="Consolas" panose="020B0609020204030204"/>
                <a:cs typeface="Consolas" panose="020B0609020204030204"/>
              </a:rPr>
              <a:t>Returns:</a:t>
            </a:r>
            <a:endParaRPr sz="1000">
              <a:latin typeface="Consolas" panose="020B0609020204030204"/>
              <a:cs typeface="Consolas" panose="020B0609020204030204"/>
            </a:endParaRPr>
          </a:p>
          <a:p>
            <a:pPr marL="291465" marR="1924050" indent="20955">
              <a:lnSpc>
                <a:spcPct val="100000"/>
              </a:lnSpc>
            </a:pPr>
            <a:r>
              <a:rPr sz="1000" i="1" dirty="0">
                <a:solidFill>
                  <a:srgbClr val="BA2121"/>
                </a:solidFill>
                <a:latin typeface="微软雅黑" panose="020B0503020204020204" pitchFamily="34" charset="-122"/>
                <a:cs typeface="微软雅黑" panose="020B0503020204020204" pitchFamily="34" charset="-122"/>
              </a:rPr>
              <a:t>一个数</a:t>
            </a:r>
            <a:r>
              <a:rPr sz="1000" i="1" dirty="0">
                <a:solidFill>
                  <a:srgbClr val="C8352B"/>
                </a:solidFill>
                <a:latin typeface="微软雅黑" panose="020B0503020204020204" pitchFamily="34" charset="-122"/>
                <a:cs typeface="微软雅黑" panose="020B0503020204020204" pitchFamily="34" charset="-122"/>
              </a:rPr>
              <a:t>，</a:t>
            </a:r>
            <a:r>
              <a:rPr sz="1000" i="1" dirty="0">
                <a:solidFill>
                  <a:srgbClr val="BA2121"/>
                </a:solidFill>
                <a:latin typeface="微软雅黑" panose="020B0503020204020204" pitchFamily="34" charset="-122"/>
                <a:cs typeface="微软雅黑" panose="020B0503020204020204" pitchFamily="34" charset="-122"/>
              </a:rPr>
              <a:t>即</a:t>
            </a:r>
            <a:r>
              <a:rPr sz="1000" i="1" dirty="0">
                <a:solidFill>
                  <a:srgbClr val="BA2121"/>
                </a:solidFill>
                <a:latin typeface="Consolas" panose="020B0609020204030204"/>
                <a:cs typeface="Consolas" panose="020B0609020204030204"/>
              </a:rPr>
              <a:t>F_{position}  """</a:t>
            </a:r>
            <a:endParaRPr sz="1000">
              <a:latin typeface="Consolas" panose="020B0609020204030204"/>
              <a:cs typeface="Consolas" panose="020B0609020204030204"/>
            </a:endParaRPr>
          </a:p>
          <a:p>
            <a:pPr marL="570865" marR="2301240" indent="-279400">
              <a:lnSpc>
                <a:spcPct val="100000"/>
              </a:lnSpc>
            </a:pPr>
            <a:r>
              <a:rPr sz="1000" b="1" dirty="0">
                <a:solidFill>
                  <a:srgbClr val="008000"/>
                </a:solidFill>
                <a:latin typeface="Consolas" panose="020B0609020204030204"/>
                <a:cs typeface="Consolas" panose="020B0609020204030204"/>
              </a:rPr>
              <a:t>if position </a:t>
            </a:r>
            <a:r>
              <a:rPr sz="1000" b="1" dirty="0">
                <a:solidFill>
                  <a:srgbClr val="666666"/>
                </a:solidFill>
                <a:latin typeface="Consolas" panose="020B0609020204030204"/>
                <a:cs typeface="Consolas" panose="020B0609020204030204"/>
              </a:rPr>
              <a:t>&lt;</a:t>
            </a:r>
            <a:r>
              <a:rPr sz="1000" b="1" spc="-105" dirty="0">
                <a:solidFill>
                  <a:srgbClr val="666666"/>
                </a:solidFill>
                <a:latin typeface="Consolas" panose="020B0609020204030204"/>
                <a:cs typeface="Consolas" panose="020B0609020204030204"/>
              </a:rPr>
              <a:t> </a:t>
            </a:r>
            <a:r>
              <a:rPr sz="1000" b="1" dirty="0">
                <a:solidFill>
                  <a:srgbClr val="666666"/>
                </a:solidFill>
                <a:latin typeface="Consolas" panose="020B0609020204030204"/>
                <a:cs typeface="Consolas" panose="020B0609020204030204"/>
              </a:rPr>
              <a:t>2:  </a:t>
            </a:r>
            <a:r>
              <a:rPr sz="1000" b="1" dirty="0">
                <a:solidFill>
                  <a:srgbClr val="008000"/>
                </a:solidFill>
                <a:latin typeface="Consolas" panose="020B0609020204030204"/>
                <a:cs typeface="Consolas" panose="020B0609020204030204"/>
              </a:rPr>
              <a:t>return</a:t>
            </a:r>
            <a:r>
              <a:rPr sz="1000" b="1" spc="-25" dirty="0">
                <a:solidFill>
                  <a:srgbClr val="008000"/>
                </a:solidFill>
                <a:latin typeface="Consolas" panose="020B0609020204030204"/>
                <a:cs typeface="Consolas" panose="020B0609020204030204"/>
              </a:rPr>
              <a:t> </a:t>
            </a:r>
            <a:r>
              <a:rPr sz="1000" b="1" dirty="0">
                <a:solidFill>
                  <a:srgbClr val="666666"/>
                </a:solidFill>
                <a:latin typeface="Consolas" panose="020B0609020204030204"/>
                <a:cs typeface="Consolas" panose="020B0609020204030204"/>
              </a:rPr>
              <a:t>1</a:t>
            </a:r>
            <a:endParaRPr sz="1000">
              <a:latin typeface="Consolas" panose="020B0609020204030204"/>
              <a:cs typeface="Consolas" panose="020B0609020204030204"/>
            </a:endParaRPr>
          </a:p>
          <a:p>
            <a:pPr>
              <a:lnSpc>
                <a:spcPct val="100000"/>
              </a:lnSpc>
              <a:spcBef>
                <a:spcPts val="50"/>
              </a:spcBef>
            </a:pPr>
            <a:endParaRPr sz="1000">
              <a:latin typeface="Times New Roman" panose="02020603050405020304"/>
              <a:cs typeface="Times New Roman" panose="02020603050405020304"/>
            </a:endParaRPr>
          </a:p>
          <a:p>
            <a:pPr marL="291465">
              <a:lnSpc>
                <a:spcPct val="100000"/>
              </a:lnSpc>
            </a:pPr>
            <a:r>
              <a:rPr sz="1000" dirty="0">
                <a:latin typeface="Consolas" panose="020B0609020204030204"/>
                <a:cs typeface="Consolas" panose="020B0609020204030204"/>
              </a:rPr>
              <a:t>previousButOne </a:t>
            </a:r>
            <a:r>
              <a:rPr sz="1000" dirty="0">
                <a:solidFill>
                  <a:srgbClr val="666666"/>
                </a:solidFill>
                <a:latin typeface="Consolas" panose="020B0609020204030204"/>
                <a:cs typeface="Consolas" panose="020B0609020204030204"/>
              </a:rPr>
              <a:t>=</a:t>
            </a:r>
            <a:r>
              <a:rPr sz="1000" spc="-10" dirty="0">
                <a:solidFill>
                  <a:srgbClr val="666666"/>
                </a:solidFill>
                <a:latin typeface="Consolas" panose="020B0609020204030204"/>
                <a:cs typeface="Consolas" panose="020B0609020204030204"/>
              </a:rPr>
              <a:t> </a:t>
            </a:r>
            <a:r>
              <a:rPr sz="1000" dirty="0">
                <a:solidFill>
                  <a:srgbClr val="666666"/>
                </a:solidFill>
                <a:latin typeface="Consolas" panose="020B0609020204030204"/>
                <a:cs typeface="Consolas" panose="020B0609020204030204"/>
              </a:rPr>
              <a:t>1</a:t>
            </a:r>
            <a:endParaRPr sz="1000">
              <a:latin typeface="Consolas" panose="020B0609020204030204"/>
              <a:cs typeface="Consolas" panose="020B0609020204030204"/>
            </a:endParaRPr>
          </a:p>
          <a:p>
            <a:pPr marL="291465">
              <a:lnSpc>
                <a:spcPct val="100000"/>
              </a:lnSpc>
            </a:pPr>
            <a:r>
              <a:rPr sz="1000" dirty="0">
                <a:latin typeface="Consolas" panose="020B0609020204030204"/>
                <a:cs typeface="Consolas" panose="020B0609020204030204"/>
              </a:rPr>
              <a:t>previous </a:t>
            </a:r>
            <a:r>
              <a:rPr sz="1000" dirty="0">
                <a:solidFill>
                  <a:srgbClr val="666666"/>
                </a:solidFill>
                <a:latin typeface="Consolas" panose="020B0609020204030204"/>
                <a:cs typeface="Consolas" panose="020B0609020204030204"/>
              </a:rPr>
              <a:t>=</a:t>
            </a:r>
            <a:r>
              <a:rPr sz="1000" spc="-15" dirty="0">
                <a:solidFill>
                  <a:srgbClr val="666666"/>
                </a:solidFill>
                <a:latin typeface="Consolas" panose="020B0609020204030204"/>
                <a:cs typeface="Consolas" panose="020B0609020204030204"/>
              </a:rPr>
              <a:t> </a:t>
            </a:r>
            <a:r>
              <a:rPr sz="1000" dirty="0">
                <a:solidFill>
                  <a:srgbClr val="666666"/>
                </a:solidFill>
                <a:latin typeface="Consolas" panose="020B0609020204030204"/>
                <a:cs typeface="Consolas" panose="020B0609020204030204"/>
              </a:rPr>
              <a:t>1</a:t>
            </a:r>
            <a:endParaRPr sz="1000">
              <a:latin typeface="Consolas" panose="020B0609020204030204"/>
              <a:cs typeface="Consolas" panose="020B0609020204030204"/>
            </a:endParaRPr>
          </a:p>
          <a:p>
            <a:pPr marL="291465">
              <a:lnSpc>
                <a:spcPct val="100000"/>
              </a:lnSpc>
            </a:pPr>
            <a:r>
              <a:rPr sz="1000" dirty="0">
                <a:latin typeface="Consolas" panose="020B0609020204030204"/>
                <a:cs typeface="Consolas" panose="020B0609020204030204"/>
              </a:rPr>
              <a:t>result </a:t>
            </a:r>
            <a:r>
              <a:rPr sz="1000" dirty="0">
                <a:solidFill>
                  <a:srgbClr val="666666"/>
                </a:solidFill>
                <a:latin typeface="Consolas" panose="020B0609020204030204"/>
                <a:cs typeface="Consolas" panose="020B0609020204030204"/>
              </a:rPr>
              <a:t>=</a:t>
            </a:r>
            <a:r>
              <a:rPr sz="1000" spc="-10" dirty="0">
                <a:solidFill>
                  <a:srgbClr val="666666"/>
                </a:solidFill>
                <a:latin typeface="Consolas" panose="020B0609020204030204"/>
                <a:cs typeface="Consolas" panose="020B0609020204030204"/>
              </a:rPr>
              <a:t> </a:t>
            </a:r>
            <a:r>
              <a:rPr sz="1000" dirty="0">
                <a:solidFill>
                  <a:srgbClr val="666666"/>
                </a:solidFill>
                <a:latin typeface="Consolas" panose="020B0609020204030204"/>
                <a:cs typeface="Consolas" panose="020B0609020204030204"/>
              </a:rPr>
              <a:t>2</a:t>
            </a:r>
            <a:endParaRPr sz="1000">
              <a:latin typeface="Consolas" panose="020B0609020204030204"/>
              <a:cs typeface="Consolas" panose="020B0609020204030204"/>
            </a:endParaRPr>
          </a:p>
          <a:p>
            <a:pPr marL="570865" marR="1393190" indent="-279400">
              <a:lnSpc>
                <a:spcPct val="100000"/>
              </a:lnSpc>
            </a:pPr>
            <a:r>
              <a:rPr sz="1000" b="1" dirty="0">
                <a:solidFill>
                  <a:srgbClr val="008000"/>
                </a:solidFill>
                <a:latin typeface="Consolas" panose="020B0609020204030204"/>
                <a:cs typeface="Consolas" panose="020B0609020204030204"/>
              </a:rPr>
              <a:t>for n </a:t>
            </a:r>
            <a:r>
              <a:rPr sz="1000" b="1" dirty="0">
                <a:solidFill>
                  <a:srgbClr val="AA22FF"/>
                </a:solidFill>
                <a:latin typeface="Consolas" panose="020B0609020204030204"/>
                <a:cs typeface="Consolas" panose="020B0609020204030204"/>
              </a:rPr>
              <a:t>in </a:t>
            </a:r>
            <a:r>
              <a:rPr sz="1000" b="1" dirty="0">
                <a:solidFill>
                  <a:srgbClr val="008000"/>
                </a:solidFill>
                <a:latin typeface="Consolas" panose="020B0609020204030204"/>
                <a:cs typeface="Consolas" panose="020B0609020204030204"/>
              </a:rPr>
              <a:t>range(</a:t>
            </a:r>
            <a:r>
              <a:rPr sz="1000" b="1" dirty="0">
                <a:solidFill>
                  <a:srgbClr val="666666"/>
                </a:solidFill>
                <a:latin typeface="Consolas" panose="020B0609020204030204"/>
                <a:cs typeface="Consolas" panose="020B0609020204030204"/>
              </a:rPr>
              <a:t>2, position):  </a:t>
            </a:r>
            <a:r>
              <a:rPr sz="1000" dirty="0">
                <a:latin typeface="Consolas" panose="020B0609020204030204"/>
                <a:cs typeface="Consolas" panose="020B0609020204030204"/>
              </a:rPr>
              <a:t>previousButOne </a:t>
            </a:r>
            <a:r>
              <a:rPr sz="1000" dirty="0">
                <a:solidFill>
                  <a:srgbClr val="666666"/>
                </a:solidFill>
                <a:latin typeface="Consolas" panose="020B0609020204030204"/>
                <a:cs typeface="Consolas" panose="020B0609020204030204"/>
              </a:rPr>
              <a:t>=</a:t>
            </a:r>
            <a:r>
              <a:rPr sz="1000" spc="-100" dirty="0">
                <a:solidFill>
                  <a:srgbClr val="666666"/>
                </a:solidFill>
                <a:latin typeface="Consolas" panose="020B0609020204030204"/>
                <a:cs typeface="Consolas" panose="020B0609020204030204"/>
              </a:rPr>
              <a:t> </a:t>
            </a:r>
            <a:r>
              <a:rPr sz="1000" dirty="0">
                <a:solidFill>
                  <a:srgbClr val="666666"/>
                </a:solidFill>
                <a:latin typeface="Consolas" panose="020B0609020204030204"/>
                <a:cs typeface="Consolas" panose="020B0609020204030204"/>
              </a:rPr>
              <a:t>previous  </a:t>
            </a:r>
            <a:r>
              <a:rPr sz="1000" dirty="0">
                <a:latin typeface="Consolas" panose="020B0609020204030204"/>
                <a:cs typeface="Consolas" panose="020B0609020204030204"/>
              </a:rPr>
              <a:t>previous </a:t>
            </a:r>
            <a:r>
              <a:rPr sz="1000" dirty="0">
                <a:solidFill>
                  <a:srgbClr val="666666"/>
                </a:solidFill>
                <a:latin typeface="Consolas" panose="020B0609020204030204"/>
                <a:cs typeface="Consolas" panose="020B0609020204030204"/>
              </a:rPr>
              <a:t>=</a:t>
            </a:r>
            <a:r>
              <a:rPr sz="1000" spc="-25" dirty="0">
                <a:solidFill>
                  <a:srgbClr val="666666"/>
                </a:solidFill>
                <a:latin typeface="Consolas" panose="020B0609020204030204"/>
                <a:cs typeface="Consolas" panose="020B0609020204030204"/>
              </a:rPr>
              <a:t> </a:t>
            </a:r>
            <a:r>
              <a:rPr sz="1000" dirty="0">
                <a:solidFill>
                  <a:srgbClr val="666666"/>
                </a:solidFill>
                <a:latin typeface="Consolas" panose="020B0609020204030204"/>
                <a:cs typeface="Consolas" panose="020B0609020204030204"/>
              </a:rPr>
              <a:t>result</a:t>
            </a:r>
            <a:endParaRPr sz="1000">
              <a:latin typeface="Consolas" panose="020B0609020204030204"/>
              <a:cs typeface="Consolas" panose="020B0609020204030204"/>
            </a:endParaRPr>
          </a:p>
          <a:p>
            <a:pPr marL="570865">
              <a:lnSpc>
                <a:spcPct val="100000"/>
              </a:lnSpc>
            </a:pPr>
            <a:r>
              <a:rPr sz="1000" dirty="0">
                <a:latin typeface="Consolas" panose="020B0609020204030204"/>
                <a:cs typeface="Consolas" panose="020B0609020204030204"/>
              </a:rPr>
              <a:t>result </a:t>
            </a:r>
            <a:r>
              <a:rPr sz="1000" dirty="0">
                <a:solidFill>
                  <a:srgbClr val="666666"/>
                </a:solidFill>
                <a:latin typeface="Consolas" panose="020B0609020204030204"/>
                <a:cs typeface="Consolas" panose="020B0609020204030204"/>
              </a:rPr>
              <a:t>= previous +</a:t>
            </a:r>
            <a:r>
              <a:rPr sz="1000" spc="-40" dirty="0">
                <a:solidFill>
                  <a:srgbClr val="666666"/>
                </a:solidFill>
                <a:latin typeface="Consolas" panose="020B0609020204030204"/>
                <a:cs typeface="Consolas" panose="020B0609020204030204"/>
              </a:rPr>
              <a:t> </a:t>
            </a:r>
            <a:r>
              <a:rPr sz="1000" dirty="0">
                <a:solidFill>
                  <a:srgbClr val="666666"/>
                </a:solidFill>
                <a:latin typeface="Consolas" panose="020B0609020204030204"/>
                <a:cs typeface="Consolas" panose="020B0609020204030204"/>
              </a:rPr>
              <a:t>previousButOne</a:t>
            </a:r>
            <a:endParaRPr sz="1000">
              <a:latin typeface="Consolas" panose="020B0609020204030204"/>
              <a:cs typeface="Consolas" panose="020B0609020204030204"/>
            </a:endParaRPr>
          </a:p>
          <a:p>
            <a:pPr marL="291465">
              <a:lnSpc>
                <a:spcPct val="100000"/>
              </a:lnSpc>
            </a:pPr>
            <a:r>
              <a:rPr sz="1000" b="1" dirty="0">
                <a:solidFill>
                  <a:srgbClr val="008000"/>
                </a:solidFill>
                <a:latin typeface="Consolas" panose="020B0609020204030204"/>
                <a:cs typeface="Consolas" panose="020B0609020204030204"/>
              </a:rPr>
              <a:t>return</a:t>
            </a:r>
            <a:r>
              <a:rPr sz="1000" b="1" spc="-5" dirty="0">
                <a:solidFill>
                  <a:srgbClr val="008000"/>
                </a:solidFill>
                <a:latin typeface="Consolas" panose="020B0609020204030204"/>
                <a:cs typeface="Consolas" panose="020B0609020204030204"/>
              </a:rPr>
              <a:t> </a:t>
            </a:r>
            <a:r>
              <a:rPr sz="1000" b="1" dirty="0">
                <a:solidFill>
                  <a:srgbClr val="008000"/>
                </a:solidFill>
                <a:latin typeface="Consolas" panose="020B0609020204030204"/>
                <a:cs typeface="Consolas" panose="020B0609020204030204"/>
              </a:rPr>
              <a:t>result</a:t>
            </a:r>
            <a:endParaRPr sz="1000">
              <a:latin typeface="Consolas" panose="020B0609020204030204"/>
              <a:cs typeface="Consolas" panose="020B0609020204030204"/>
            </a:endParaRPr>
          </a:p>
        </p:txBody>
      </p:sp>
      <p:sp>
        <p:nvSpPr>
          <p:cNvPr id="6" name="object 6"/>
          <p:cNvSpPr/>
          <p:nvPr/>
        </p:nvSpPr>
        <p:spPr>
          <a:xfrm>
            <a:off x="5130798" y="3553438"/>
            <a:ext cx="6316132" cy="2758675"/>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5291926" y="2395123"/>
            <a:ext cx="2873375" cy="1083310"/>
          </a:xfrm>
          <a:custGeom>
            <a:avLst/>
            <a:gdLst/>
            <a:ahLst/>
            <a:cxnLst/>
            <a:rect l="l" t="t" r="r" b="b"/>
            <a:pathLst>
              <a:path w="2873375" h="1083310">
                <a:moveTo>
                  <a:pt x="0" y="0"/>
                </a:moveTo>
                <a:lnTo>
                  <a:pt x="269874" y="6349"/>
                </a:lnTo>
                <a:lnTo>
                  <a:pt x="538162" y="26193"/>
                </a:lnTo>
                <a:lnTo>
                  <a:pt x="801687" y="57149"/>
                </a:lnTo>
                <a:lnTo>
                  <a:pt x="1058862" y="99218"/>
                </a:lnTo>
                <a:lnTo>
                  <a:pt x="1308099" y="152399"/>
                </a:lnTo>
                <a:lnTo>
                  <a:pt x="1546224" y="213518"/>
                </a:lnTo>
                <a:lnTo>
                  <a:pt x="1772443" y="284162"/>
                </a:lnTo>
                <a:lnTo>
                  <a:pt x="1982787" y="361949"/>
                </a:lnTo>
                <a:lnTo>
                  <a:pt x="2177255" y="446881"/>
                </a:lnTo>
                <a:lnTo>
                  <a:pt x="2266949" y="491331"/>
                </a:lnTo>
                <a:lnTo>
                  <a:pt x="2351880" y="537368"/>
                </a:lnTo>
                <a:lnTo>
                  <a:pt x="2432049" y="584993"/>
                </a:lnTo>
                <a:lnTo>
                  <a:pt x="2505868" y="633412"/>
                </a:lnTo>
                <a:lnTo>
                  <a:pt x="2574130" y="682624"/>
                </a:lnTo>
                <a:lnTo>
                  <a:pt x="2636837" y="732631"/>
                </a:lnTo>
                <a:lnTo>
                  <a:pt x="2692399" y="784224"/>
                </a:lnTo>
                <a:lnTo>
                  <a:pt x="2741611" y="836612"/>
                </a:lnTo>
                <a:lnTo>
                  <a:pt x="2784474" y="888999"/>
                </a:lnTo>
                <a:lnTo>
                  <a:pt x="2819399" y="942181"/>
                </a:lnTo>
                <a:lnTo>
                  <a:pt x="2847974" y="996156"/>
                </a:lnTo>
                <a:lnTo>
                  <a:pt x="2867818" y="1049337"/>
                </a:lnTo>
                <a:lnTo>
                  <a:pt x="2872941" y="1082760"/>
                </a:lnTo>
              </a:path>
            </a:pathLst>
          </a:custGeom>
          <a:ln w="76199">
            <a:solidFill>
              <a:srgbClr val="F2913F"/>
            </a:solidFill>
          </a:ln>
        </p:spPr>
        <p:txBody>
          <a:bodyPr wrap="square" lIns="0" tIns="0" rIns="0" bIns="0" rtlCol="0"/>
          <a:lstStyle/>
          <a:p>
            <a:endParaRPr/>
          </a:p>
        </p:txBody>
      </p:sp>
      <p:sp>
        <p:nvSpPr>
          <p:cNvPr id="8" name="object 8"/>
          <p:cNvSpPr/>
          <p:nvPr/>
        </p:nvSpPr>
        <p:spPr>
          <a:xfrm>
            <a:off x="8028797" y="3309926"/>
            <a:ext cx="226060" cy="243840"/>
          </a:xfrm>
          <a:custGeom>
            <a:avLst/>
            <a:gdLst/>
            <a:ahLst/>
            <a:cxnLst/>
            <a:rect l="l" t="t" r="r" b="b"/>
            <a:pathLst>
              <a:path w="226059" h="243839">
                <a:moveTo>
                  <a:pt x="225960" y="0"/>
                </a:moveTo>
                <a:lnTo>
                  <a:pt x="0" y="34635"/>
                </a:lnTo>
                <a:lnTo>
                  <a:pt x="147615" y="243278"/>
                </a:lnTo>
                <a:lnTo>
                  <a:pt x="225960" y="0"/>
                </a:lnTo>
                <a:close/>
              </a:path>
            </a:pathLst>
          </a:custGeom>
          <a:solidFill>
            <a:srgbClr val="F2913F"/>
          </a:solidFill>
        </p:spPr>
        <p:txBody>
          <a:bodyPr wrap="square" lIns="0" tIns="0" rIns="0" bIns="0" rtlCol="0"/>
          <a:lstStyle/>
          <a:p>
            <a:endParaRPr/>
          </a:p>
        </p:txBody>
      </p:sp>
      <p:sp>
        <p:nvSpPr>
          <p:cNvPr id="9" name="object 9"/>
          <p:cNvSpPr txBox="1"/>
          <p:nvPr/>
        </p:nvSpPr>
        <p:spPr>
          <a:xfrm>
            <a:off x="7132905" y="2289796"/>
            <a:ext cx="70358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Arial" panose="020B0604020202020204"/>
                <a:cs typeface="Arial" panose="020B0604020202020204"/>
              </a:rPr>
              <a:t>pydoc</a:t>
            </a:r>
            <a:endParaRPr sz="2000">
              <a:latin typeface="Arial" panose="020B0604020202020204"/>
              <a:cs typeface="Arial" panose="020B0604020202020204"/>
            </a:endParaRPr>
          </a:p>
        </p:txBody>
      </p:sp>
      <p:sp>
        <p:nvSpPr>
          <p:cNvPr id="11" name="标题 10"/>
          <p:cNvSpPr>
            <a:spLocks noGrp="1"/>
          </p:cNvSpPr>
          <p:nvPr>
            <p:ph type="title"/>
          </p:nvPr>
        </p:nvSpPr>
        <p:spPr/>
        <p:txBody>
          <a:bodyPr/>
          <a:lstStyle/>
          <a:p>
            <a:r>
              <a:rPr lang="en-US" altLang="zh-CN" dirty="0">
                <a:latin typeface="Arial" panose="020B0604020202020204"/>
                <a:cs typeface="Arial" panose="020B0604020202020204"/>
              </a:rPr>
              <a:t>Pyt</a:t>
            </a:r>
            <a:r>
              <a:rPr lang="en-US" altLang="zh-CN" spc="-5" dirty="0">
                <a:latin typeface="Arial" panose="020B0604020202020204"/>
                <a:cs typeface="Arial" panose="020B0604020202020204"/>
              </a:rPr>
              <a:t>ho</a:t>
            </a:r>
            <a:r>
              <a:rPr lang="en-US" altLang="zh-CN" dirty="0">
                <a:latin typeface="Arial" panose="020B0604020202020204"/>
                <a:cs typeface="Arial" panose="020B0604020202020204"/>
              </a:rPr>
              <a:t>n</a:t>
            </a:r>
            <a:r>
              <a:rPr lang="zh-CN" altLang="en-US" dirty="0"/>
              <a:t>编程规范：注释</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12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3896"/>
    </mc:Choice>
    <mc:Fallback xmlns="">
      <p:transition spd="slow" advTm="43896"/>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888186" y="2961411"/>
            <a:ext cx="5671185" cy="2146300"/>
          </a:xfrm>
          <a:prstGeom prst="rect">
            <a:avLst/>
          </a:prstGeom>
        </p:spPr>
        <p:txBody>
          <a:bodyPr vert="horz" wrap="square" lIns="0" tIns="12700" rIns="0" bIns="0" rtlCol="0">
            <a:spAutoFit/>
          </a:bodyPr>
          <a:lstStyle/>
          <a:p>
            <a:pPr marL="380365" marR="6985" indent="-368300" algn="just">
              <a:lnSpc>
                <a:spcPct val="129000"/>
              </a:lnSpc>
              <a:spcBef>
                <a:spcPts val="100"/>
              </a:spcBef>
              <a:buChar char="•"/>
              <a:tabLst>
                <a:tab pos="378460" algn="l"/>
              </a:tabLst>
            </a:pPr>
            <a:r>
              <a:rPr sz="2000" spc="55" dirty="0">
                <a:latin typeface="Arial" panose="020B0604020202020204"/>
                <a:cs typeface="Arial" panose="020B0604020202020204"/>
              </a:rPr>
              <a:t>Python</a:t>
            </a:r>
            <a:r>
              <a:rPr sz="2000" spc="55" dirty="0">
                <a:latin typeface="微软雅黑" panose="020B0503020204020204" pitchFamily="34" charset="-122"/>
                <a:cs typeface="微软雅黑" panose="020B0503020204020204" pitchFamily="34" charset="-122"/>
              </a:rPr>
              <a:t>库的命名约定有点混乱，因此很难使之 </a:t>
            </a:r>
            <a:r>
              <a:rPr sz="2000" dirty="0">
                <a:latin typeface="微软雅黑" panose="020B0503020204020204" pitchFamily="34" charset="-122"/>
                <a:cs typeface="微软雅黑" panose="020B0503020204020204" pitchFamily="34" charset="-122"/>
              </a:rPr>
              <a:t>变得完全一致，不过还是有公认的命名规范。</a:t>
            </a:r>
            <a:endParaRPr sz="2000">
              <a:latin typeface="微软雅黑" panose="020B0503020204020204" pitchFamily="34" charset="-122"/>
              <a:cs typeface="微软雅黑" panose="020B0503020204020204" pitchFamily="34" charset="-122"/>
            </a:endParaRPr>
          </a:p>
          <a:p>
            <a:pPr marL="380365" marR="5080" indent="-368300" algn="just">
              <a:lnSpc>
                <a:spcPct val="129000"/>
              </a:lnSpc>
              <a:spcBef>
                <a:spcPts val="1195"/>
              </a:spcBef>
              <a:buFont typeface="Arial" panose="020B0604020202020204"/>
              <a:buChar char="•"/>
              <a:tabLst>
                <a:tab pos="379730" algn="l"/>
              </a:tabLst>
            </a:pPr>
            <a:r>
              <a:rPr sz="2000" spc="75" dirty="0">
                <a:latin typeface="微软雅黑" panose="020B0503020204020204" pitchFamily="34" charset="-122"/>
                <a:cs typeface="微软雅黑" panose="020B0503020204020204" pitchFamily="34" charset="-122"/>
              </a:rPr>
              <a:t>新的模块和包（包括第三方的框架）必须符合 </a:t>
            </a:r>
            <a:r>
              <a:rPr sz="2000" spc="80" dirty="0">
                <a:latin typeface="微软雅黑" panose="020B0503020204020204" pitchFamily="34" charset="-122"/>
                <a:cs typeface="微软雅黑" panose="020B0503020204020204" pitchFamily="34" charset="-122"/>
              </a:rPr>
              <a:t>这些标准，但对已有的库存在不同风格的，</a:t>
            </a:r>
            <a:r>
              <a:rPr sz="2000" dirty="0">
                <a:latin typeface="微软雅黑" panose="020B0503020204020204" pitchFamily="34" charset="-122"/>
                <a:cs typeface="微软雅黑" panose="020B0503020204020204" pitchFamily="34" charset="-122"/>
              </a:rPr>
              <a:t>保 持内部的一致性是首选的。</a:t>
            </a:r>
            <a:endParaRPr sz="2000">
              <a:latin typeface="微软雅黑" panose="020B0503020204020204" pitchFamily="34" charset="-122"/>
              <a:cs typeface="微软雅黑" panose="020B0503020204020204" pitchFamily="34" charset="-122"/>
            </a:endParaRPr>
          </a:p>
        </p:txBody>
      </p:sp>
      <p:sp>
        <p:nvSpPr>
          <p:cNvPr id="4" name="object 4"/>
          <p:cNvSpPr txBox="1"/>
          <p:nvPr/>
        </p:nvSpPr>
        <p:spPr>
          <a:xfrm>
            <a:off x="1192980" y="1739778"/>
            <a:ext cx="9832975" cy="696595"/>
          </a:xfrm>
          <a:prstGeom prst="rect">
            <a:avLst/>
          </a:prstGeom>
          <a:solidFill>
            <a:srgbClr val="ECEBEB"/>
          </a:solidFill>
        </p:spPr>
        <p:txBody>
          <a:bodyPr vert="horz" wrap="square" lIns="0" tIns="168910" rIns="0" bIns="0" rtlCol="0">
            <a:spAutoFit/>
          </a:bodyPr>
          <a:lstStyle/>
          <a:p>
            <a:pPr marL="309880" algn="ctr">
              <a:lnSpc>
                <a:spcPct val="100000"/>
              </a:lnSpc>
              <a:spcBef>
                <a:spcPts val="1330"/>
              </a:spcBef>
            </a:pPr>
            <a:r>
              <a:rPr sz="2400" dirty="0">
                <a:solidFill>
                  <a:srgbClr val="0033CC"/>
                </a:solidFill>
                <a:latin typeface="微软雅黑" panose="020B0503020204020204" pitchFamily="34" charset="-122"/>
                <a:cs typeface="微软雅黑" panose="020B0503020204020204" pitchFamily="34" charset="-122"/>
              </a:rPr>
              <a:t>好的名字一目了然</a:t>
            </a:r>
            <a:r>
              <a:rPr sz="2400" dirty="0">
                <a:solidFill>
                  <a:srgbClr val="004DD6"/>
                </a:solidFill>
                <a:latin typeface="微软雅黑" panose="020B0503020204020204" pitchFamily="34" charset="-122"/>
                <a:cs typeface="微软雅黑" panose="020B0503020204020204" pitchFamily="34" charset="-122"/>
              </a:rPr>
              <a:t>，</a:t>
            </a:r>
            <a:r>
              <a:rPr sz="2400" dirty="0">
                <a:solidFill>
                  <a:srgbClr val="0033CC"/>
                </a:solidFill>
                <a:latin typeface="微软雅黑" panose="020B0503020204020204" pitchFamily="34" charset="-122"/>
                <a:cs typeface="微软雅黑" panose="020B0503020204020204" pitchFamily="34" charset="-122"/>
              </a:rPr>
              <a:t>不需要读者去猜</a:t>
            </a:r>
            <a:r>
              <a:rPr sz="2400" dirty="0">
                <a:solidFill>
                  <a:srgbClr val="004DD6"/>
                </a:solidFill>
                <a:latin typeface="微软雅黑" panose="020B0503020204020204" pitchFamily="34" charset="-122"/>
                <a:cs typeface="微软雅黑" panose="020B0503020204020204" pitchFamily="34" charset="-122"/>
              </a:rPr>
              <a:t>，</a:t>
            </a:r>
            <a:r>
              <a:rPr sz="2400" dirty="0">
                <a:solidFill>
                  <a:srgbClr val="0033CC"/>
                </a:solidFill>
                <a:latin typeface="微软雅黑" panose="020B0503020204020204" pitchFamily="34" charset="-122"/>
                <a:cs typeface="微软雅黑" panose="020B0503020204020204" pitchFamily="34" charset="-122"/>
              </a:rPr>
              <a:t>甚至不需要注释</a:t>
            </a:r>
            <a:r>
              <a:rPr sz="2400" dirty="0">
                <a:solidFill>
                  <a:srgbClr val="004DD6"/>
                </a:solidFill>
                <a:latin typeface="微软雅黑" panose="020B0503020204020204" pitchFamily="34" charset="-122"/>
                <a:cs typeface="微软雅黑" panose="020B0503020204020204" pitchFamily="34" charset="-122"/>
              </a:rPr>
              <a:t>。</a:t>
            </a:r>
            <a:endParaRPr sz="2400">
              <a:latin typeface="微软雅黑" panose="020B0503020204020204" pitchFamily="34" charset="-122"/>
              <a:cs typeface="微软雅黑" panose="020B0503020204020204" pitchFamily="34" charset="-122"/>
            </a:endParaRPr>
          </a:p>
        </p:txBody>
      </p:sp>
      <p:sp>
        <p:nvSpPr>
          <p:cNvPr id="5" name="object 5"/>
          <p:cNvSpPr/>
          <p:nvPr/>
        </p:nvSpPr>
        <p:spPr>
          <a:xfrm>
            <a:off x="1818119" y="3208535"/>
            <a:ext cx="2321113" cy="1861068"/>
          </a:xfrm>
          <a:prstGeom prst="rect">
            <a:avLst/>
          </a:prstGeom>
          <a:blipFill>
            <a:blip r:embed="rId3" cstate="print"/>
            <a:stretch>
              <a:fillRect/>
            </a:stretch>
          </a:blipFill>
        </p:spPr>
        <p:txBody>
          <a:bodyPr wrap="square" lIns="0" tIns="0" rIns="0" bIns="0" rtlCol="0"/>
          <a:lstStyle/>
          <a:p>
            <a:endParaRPr/>
          </a:p>
        </p:txBody>
      </p:sp>
      <p:sp>
        <p:nvSpPr>
          <p:cNvPr id="7" name="标题 6"/>
          <p:cNvSpPr>
            <a:spLocks noGrp="1"/>
          </p:cNvSpPr>
          <p:nvPr>
            <p:ph type="title"/>
          </p:nvPr>
        </p:nvSpPr>
        <p:spPr/>
        <p:txBody>
          <a:bodyPr/>
          <a:lstStyle/>
          <a:p>
            <a:r>
              <a:rPr lang="en-US" altLang="zh-CN" dirty="0">
                <a:latin typeface="Arial" panose="020B0604020202020204"/>
                <a:cs typeface="Arial" panose="020B0604020202020204"/>
              </a:rPr>
              <a:t>Pyt</a:t>
            </a:r>
            <a:r>
              <a:rPr lang="en-US" altLang="zh-CN" spc="-5" dirty="0">
                <a:latin typeface="Arial" panose="020B0604020202020204"/>
                <a:cs typeface="Arial" panose="020B0604020202020204"/>
              </a:rPr>
              <a:t>ho</a:t>
            </a:r>
            <a:r>
              <a:rPr lang="en-US" altLang="zh-CN" dirty="0">
                <a:latin typeface="Arial" panose="020B0604020202020204"/>
                <a:cs typeface="Arial" panose="020B0604020202020204"/>
              </a:rPr>
              <a:t>n</a:t>
            </a:r>
            <a:r>
              <a:rPr lang="zh-CN" altLang="en-US" dirty="0"/>
              <a:t>编程规范：命名</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13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5103"/>
    </mc:Choice>
    <mc:Fallback xmlns="">
      <p:transition spd="slow" advTm="55103"/>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92980" y="1645113"/>
            <a:ext cx="9832975" cy="1019810"/>
          </a:xfrm>
          <a:prstGeom prst="rect">
            <a:avLst/>
          </a:prstGeom>
          <a:solidFill>
            <a:srgbClr val="ECEBEB"/>
          </a:solidFill>
        </p:spPr>
        <p:txBody>
          <a:bodyPr vert="horz" wrap="square" lIns="0" tIns="105410" rIns="0" bIns="0" rtlCol="0">
            <a:spAutoFit/>
          </a:bodyPr>
          <a:lstStyle/>
          <a:p>
            <a:pPr marL="215900" marR="196850">
              <a:lnSpc>
                <a:spcPct val="117000"/>
              </a:lnSpc>
              <a:spcBef>
                <a:spcPts val="830"/>
              </a:spcBef>
            </a:pPr>
            <a:r>
              <a:rPr sz="2200" spc="45" dirty="0">
                <a:latin typeface="微软雅黑" panose="020B0503020204020204" pitchFamily="34" charset="-122"/>
                <a:cs typeface="微软雅黑" panose="020B0503020204020204" pitchFamily="34" charset="-122"/>
              </a:rPr>
              <a:t>不要编写需要外部文档支持的代</a:t>
            </a:r>
            <a:r>
              <a:rPr sz="2200" spc="40" dirty="0">
                <a:latin typeface="微软雅黑" panose="020B0503020204020204" pitchFamily="34" charset="-122"/>
                <a:cs typeface="微软雅黑" panose="020B0503020204020204" pitchFamily="34" charset="-122"/>
              </a:rPr>
              <a:t>码</a:t>
            </a:r>
            <a:r>
              <a:rPr sz="2200" spc="45" dirty="0">
                <a:latin typeface="微软雅黑" panose="020B0503020204020204" pitchFamily="34" charset="-122"/>
                <a:cs typeface="微软雅黑" panose="020B0503020204020204" pitchFamily="34" charset="-122"/>
              </a:rPr>
              <a:t>，这样的代码是脆弱的，要确保你的代码 </a:t>
            </a:r>
            <a:r>
              <a:rPr sz="2200" dirty="0">
                <a:latin typeface="微软雅黑" panose="020B0503020204020204" pitchFamily="34" charset="-122"/>
                <a:cs typeface="微软雅黑" panose="020B0503020204020204" pitchFamily="34" charset="-122"/>
              </a:rPr>
              <a:t>本身读起来就很清晰。</a:t>
            </a:r>
            <a:endParaRPr sz="2200">
              <a:latin typeface="微软雅黑" panose="020B0503020204020204" pitchFamily="34" charset="-122"/>
              <a:cs typeface="微软雅黑" panose="020B0503020204020204" pitchFamily="34" charset="-122"/>
            </a:endParaRPr>
          </a:p>
        </p:txBody>
      </p:sp>
      <p:sp>
        <p:nvSpPr>
          <p:cNvPr id="4" name="object 4"/>
          <p:cNvSpPr txBox="1"/>
          <p:nvPr/>
        </p:nvSpPr>
        <p:spPr>
          <a:xfrm>
            <a:off x="1339471" y="3450656"/>
            <a:ext cx="6254750" cy="145288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0033CC"/>
                </a:solidFill>
                <a:latin typeface="微软雅黑" panose="020B0503020204020204" pitchFamily="34" charset="-122"/>
                <a:cs typeface="微软雅黑" panose="020B0503020204020204" pitchFamily="34" charset="-122"/>
              </a:rPr>
              <a:t>编写自文档化的代码</a:t>
            </a:r>
            <a:endParaRPr sz="2200">
              <a:latin typeface="微软雅黑" panose="020B0503020204020204" pitchFamily="34" charset="-122"/>
              <a:cs typeface="微软雅黑" panose="020B0503020204020204" pitchFamily="34" charset="-122"/>
            </a:endParaRPr>
          </a:p>
          <a:p>
            <a:pPr marL="374650" indent="-361950">
              <a:lnSpc>
                <a:spcPct val="100000"/>
              </a:lnSpc>
              <a:spcBef>
                <a:spcPts val="1960"/>
              </a:spcBef>
              <a:buFont typeface="Arial" panose="020B0604020202020204"/>
              <a:buChar char="•"/>
              <a:tabLst>
                <a:tab pos="374015" algn="l"/>
                <a:tab pos="374650" algn="l"/>
              </a:tabLst>
            </a:pPr>
            <a:r>
              <a:rPr sz="2200" dirty="0">
                <a:latin typeface="微软雅黑" panose="020B0503020204020204" pitchFamily="34" charset="-122"/>
                <a:cs typeface="微软雅黑" panose="020B0503020204020204" pitchFamily="34" charset="-122"/>
              </a:rPr>
              <a:t>唯一能完整并正确地描述代码的文档是代码本身</a:t>
            </a:r>
            <a:endParaRPr sz="2200">
              <a:latin typeface="微软雅黑" panose="020B0503020204020204" pitchFamily="34" charset="-122"/>
              <a:cs typeface="微软雅黑" panose="020B0503020204020204" pitchFamily="34" charset="-122"/>
            </a:endParaRPr>
          </a:p>
          <a:p>
            <a:pPr marL="374650" indent="-361950">
              <a:lnSpc>
                <a:spcPct val="100000"/>
              </a:lnSpc>
              <a:spcBef>
                <a:spcPts val="1360"/>
              </a:spcBef>
              <a:buFont typeface="Arial" panose="020B0604020202020204"/>
              <a:buChar char="•"/>
              <a:tabLst>
                <a:tab pos="374015" algn="l"/>
                <a:tab pos="374650" algn="l"/>
              </a:tabLst>
            </a:pPr>
            <a:r>
              <a:rPr sz="2200" dirty="0">
                <a:latin typeface="微软雅黑" panose="020B0503020204020204" pitchFamily="34" charset="-122"/>
                <a:cs typeface="微软雅黑" panose="020B0503020204020204" pitchFamily="34" charset="-122"/>
              </a:rPr>
              <a:t>编写可以阅读的代码，其本身简单易懂</a:t>
            </a:r>
            <a:endParaRPr sz="2200">
              <a:latin typeface="微软雅黑" panose="020B0503020204020204" pitchFamily="34" charset="-122"/>
              <a:cs typeface="微软雅黑" panose="020B0503020204020204" pitchFamily="34" charset="-122"/>
            </a:endParaRPr>
          </a:p>
        </p:txBody>
      </p:sp>
      <p:sp>
        <p:nvSpPr>
          <p:cNvPr id="5" name="object 5"/>
          <p:cNvSpPr/>
          <p:nvPr/>
        </p:nvSpPr>
        <p:spPr>
          <a:xfrm>
            <a:off x="8004531" y="3403127"/>
            <a:ext cx="2855735" cy="1608451"/>
          </a:xfrm>
          <a:prstGeom prst="rect">
            <a:avLst/>
          </a:prstGeom>
          <a:blipFill>
            <a:blip r:embed="rId3" cstate="print"/>
            <a:stretch>
              <a:fillRect/>
            </a:stretch>
          </a:blipFill>
        </p:spPr>
        <p:txBody>
          <a:bodyPr wrap="square" lIns="0" tIns="0" rIns="0" bIns="0" rtlCol="0"/>
          <a:lstStyle/>
          <a:p>
            <a:endParaRPr/>
          </a:p>
        </p:txBody>
      </p:sp>
      <p:sp>
        <p:nvSpPr>
          <p:cNvPr id="7" name="标题 6"/>
          <p:cNvSpPr>
            <a:spLocks noGrp="1"/>
          </p:cNvSpPr>
          <p:nvPr>
            <p:ph type="title"/>
          </p:nvPr>
        </p:nvSpPr>
        <p:spPr/>
        <p:txBody>
          <a:bodyPr/>
          <a:lstStyle/>
          <a:p>
            <a:r>
              <a:rPr lang="en-US" altLang="zh-CN" dirty="0">
                <a:latin typeface="Arial" panose="020B0604020202020204"/>
                <a:cs typeface="Arial" panose="020B0604020202020204"/>
              </a:rPr>
              <a:t>Pyt</a:t>
            </a:r>
            <a:r>
              <a:rPr lang="en-US" altLang="zh-CN" spc="-5" dirty="0">
                <a:latin typeface="Arial" panose="020B0604020202020204"/>
                <a:cs typeface="Arial" panose="020B0604020202020204"/>
              </a:rPr>
              <a:t>ho</a:t>
            </a:r>
            <a:r>
              <a:rPr lang="en-US" altLang="zh-CN" dirty="0">
                <a:latin typeface="Arial" panose="020B0604020202020204"/>
                <a:cs typeface="Arial" panose="020B0604020202020204"/>
              </a:rPr>
              <a:t>n</a:t>
            </a:r>
            <a:r>
              <a:rPr lang="zh-CN" altLang="en-US" dirty="0"/>
              <a:t>编程规范：命名</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14</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70784"/>
    </mc:Choice>
    <mc:Fallback xmlns="">
      <p:transition spd="slow" advTm="70784"/>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97468" y="1642533"/>
            <a:ext cx="4284345" cy="3759200"/>
          </a:xfrm>
          <a:prstGeom prst="rect">
            <a:avLst/>
          </a:prstGeom>
          <a:ln w="6349">
            <a:solidFill>
              <a:srgbClr val="4C4848"/>
            </a:solidFill>
          </a:ln>
        </p:spPr>
        <p:txBody>
          <a:bodyPr vert="horz" wrap="square" lIns="0" tIns="3810" rIns="0" bIns="0" rtlCol="0">
            <a:spAutoFit/>
          </a:bodyPr>
          <a:lstStyle/>
          <a:p>
            <a:pPr>
              <a:lnSpc>
                <a:spcPct val="100000"/>
              </a:lnSpc>
              <a:spcBef>
                <a:spcPts val="30"/>
              </a:spcBef>
            </a:pPr>
            <a:endParaRPr sz="2200">
              <a:latin typeface="Times New Roman" panose="02020603050405020304"/>
              <a:cs typeface="Times New Roman" panose="02020603050405020304"/>
            </a:endParaRPr>
          </a:p>
          <a:p>
            <a:pPr marL="262890">
              <a:lnSpc>
                <a:spcPts val="2130"/>
              </a:lnSpc>
            </a:pPr>
            <a:r>
              <a:rPr sz="1800" b="1" dirty="0">
                <a:solidFill>
                  <a:srgbClr val="008000"/>
                </a:solidFill>
                <a:latin typeface="Consolas" panose="020B0609020204030204"/>
                <a:cs typeface="Consolas" panose="020B0609020204030204"/>
              </a:rPr>
              <a:t>def</a:t>
            </a:r>
            <a:r>
              <a:rPr sz="1800" b="1" spc="-5" dirty="0">
                <a:solidFill>
                  <a:srgbClr val="008000"/>
                </a:solidFill>
                <a:latin typeface="Consolas" panose="020B0609020204030204"/>
                <a:cs typeface="Consolas" panose="020B0609020204030204"/>
              </a:rPr>
              <a:t> </a:t>
            </a:r>
            <a:r>
              <a:rPr sz="1800" b="1" dirty="0">
                <a:solidFill>
                  <a:srgbClr val="0000FF"/>
                </a:solidFill>
                <a:latin typeface="Consolas" panose="020B0609020204030204"/>
                <a:cs typeface="Consolas" panose="020B0609020204030204"/>
              </a:rPr>
              <a:t>fval(i):</a:t>
            </a:r>
            <a:endParaRPr sz="1800">
              <a:latin typeface="Consolas" panose="020B0609020204030204"/>
              <a:cs typeface="Consolas" panose="020B0609020204030204"/>
            </a:endParaRPr>
          </a:p>
          <a:p>
            <a:pPr marL="765810">
              <a:lnSpc>
                <a:spcPts val="2130"/>
              </a:lnSpc>
            </a:pPr>
            <a:r>
              <a:rPr sz="1800" dirty="0">
                <a:latin typeface="Consolas" panose="020B0609020204030204"/>
                <a:cs typeface="Consolas" panose="020B0609020204030204"/>
              </a:rPr>
              <a:t>ret </a:t>
            </a:r>
            <a:r>
              <a:rPr sz="1800" dirty="0">
                <a:solidFill>
                  <a:srgbClr val="666666"/>
                </a:solidFill>
                <a:latin typeface="Consolas" panose="020B0609020204030204"/>
                <a:cs typeface="Consolas" panose="020B0609020204030204"/>
              </a:rPr>
              <a:t>=</a:t>
            </a:r>
            <a:r>
              <a:rPr sz="1800" spc="-15" dirty="0">
                <a:solidFill>
                  <a:srgbClr val="666666"/>
                </a:solidFill>
                <a:latin typeface="Consolas" panose="020B0609020204030204"/>
                <a:cs typeface="Consolas" panose="020B0609020204030204"/>
              </a:rPr>
              <a:t> </a:t>
            </a:r>
            <a:r>
              <a:rPr sz="1800" dirty="0">
                <a:solidFill>
                  <a:srgbClr val="666666"/>
                </a:solidFill>
                <a:latin typeface="Consolas" panose="020B0609020204030204"/>
                <a:cs typeface="Consolas" panose="020B0609020204030204"/>
              </a:rPr>
              <a:t>2</a:t>
            </a:r>
            <a:endParaRPr sz="1800">
              <a:latin typeface="Consolas" panose="020B0609020204030204"/>
              <a:cs typeface="Consolas" panose="020B0609020204030204"/>
            </a:endParaRPr>
          </a:p>
          <a:p>
            <a:pPr marL="765810">
              <a:lnSpc>
                <a:spcPts val="2130"/>
              </a:lnSpc>
              <a:spcBef>
                <a:spcPts val="40"/>
              </a:spcBef>
            </a:pPr>
            <a:r>
              <a:rPr sz="1800" dirty="0">
                <a:latin typeface="Consolas" panose="020B0609020204030204"/>
                <a:cs typeface="Consolas" panose="020B0609020204030204"/>
              </a:rPr>
              <a:t>n1 </a:t>
            </a:r>
            <a:r>
              <a:rPr sz="1800" dirty="0">
                <a:solidFill>
                  <a:srgbClr val="666666"/>
                </a:solidFill>
                <a:latin typeface="Consolas" panose="020B0609020204030204"/>
                <a:cs typeface="Consolas" panose="020B0609020204030204"/>
              </a:rPr>
              <a:t>=</a:t>
            </a:r>
            <a:r>
              <a:rPr sz="1800" spc="-105" dirty="0">
                <a:solidFill>
                  <a:srgbClr val="666666"/>
                </a:solidFill>
                <a:latin typeface="Consolas" panose="020B0609020204030204"/>
                <a:cs typeface="Consolas" panose="020B0609020204030204"/>
              </a:rPr>
              <a:t> </a:t>
            </a:r>
            <a:r>
              <a:rPr sz="1800" dirty="0">
                <a:solidFill>
                  <a:srgbClr val="666666"/>
                </a:solidFill>
                <a:latin typeface="Consolas" panose="020B0609020204030204"/>
                <a:cs typeface="Consolas" panose="020B0609020204030204"/>
              </a:rPr>
              <a:t>1</a:t>
            </a:r>
            <a:endParaRPr sz="1800">
              <a:latin typeface="Consolas" panose="020B0609020204030204"/>
              <a:cs typeface="Consolas" panose="020B0609020204030204"/>
            </a:endParaRPr>
          </a:p>
          <a:p>
            <a:pPr marL="765810">
              <a:lnSpc>
                <a:spcPts val="2130"/>
              </a:lnSpc>
            </a:pPr>
            <a:r>
              <a:rPr sz="1800" dirty="0">
                <a:latin typeface="Consolas" panose="020B0609020204030204"/>
                <a:cs typeface="Consolas" panose="020B0609020204030204"/>
              </a:rPr>
              <a:t>n2 </a:t>
            </a:r>
            <a:r>
              <a:rPr sz="1800" dirty="0">
                <a:solidFill>
                  <a:srgbClr val="666666"/>
                </a:solidFill>
                <a:latin typeface="Consolas" panose="020B0609020204030204"/>
                <a:cs typeface="Consolas" panose="020B0609020204030204"/>
              </a:rPr>
              <a:t>=</a:t>
            </a:r>
            <a:r>
              <a:rPr sz="1800" spc="-105" dirty="0">
                <a:solidFill>
                  <a:srgbClr val="666666"/>
                </a:solidFill>
                <a:latin typeface="Consolas" panose="020B0609020204030204"/>
                <a:cs typeface="Consolas" panose="020B0609020204030204"/>
              </a:rPr>
              <a:t> </a:t>
            </a:r>
            <a:r>
              <a:rPr sz="1800" dirty="0">
                <a:solidFill>
                  <a:srgbClr val="666666"/>
                </a:solidFill>
                <a:latin typeface="Consolas" panose="020B0609020204030204"/>
                <a:cs typeface="Consolas" panose="020B0609020204030204"/>
              </a:rPr>
              <a:t>1</a:t>
            </a:r>
            <a:endParaRPr sz="1800">
              <a:latin typeface="Consolas" panose="020B0609020204030204"/>
              <a:cs typeface="Consolas" panose="020B0609020204030204"/>
            </a:endParaRPr>
          </a:p>
          <a:p>
            <a:pPr marL="765810">
              <a:lnSpc>
                <a:spcPts val="2130"/>
              </a:lnSpc>
              <a:spcBef>
                <a:spcPts val="40"/>
              </a:spcBef>
            </a:pPr>
            <a:r>
              <a:rPr sz="1800" dirty="0">
                <a:latin typeface="Consolas" panose="020B0609020204030204"/>
                <a:cs typeface="Consolas" panose="020B0609020204030204"/>
              </a:rPr>
              <a:t>i2 </a:t>
            </a:r>
            <a:r>
              <a:rPr sz="1800" dirty="0">
                <a:solidFill>
                  <a:srgbClr val="666666"/>
                </a:solidFill>
                <a:latin typeface="Consolas" panose="020B0609020204030204"/>
                <a:cs typeface="Consolas" panose="020B0609020204030204"/>
              </a:rPr>
              <a:t>= i </a:t>
            </a:r>
            <a:r>
              <a:rPr sz="1800" spc="-660" dirty="0">
                <a:solidFill>
                  <a:srgbClr val="666666"/>
                </a:solidFill>
                <a:latin typeface="Consolas" panose="020B0609020204030204"/>
                <a:cs typeface="Consolas" panose="020B0609020204030204"/>
              </a:rPr>
              <a:t>-­‐</a:t>
            </a:r>
            <a:r>
              <a:rPr sz="1800" spc="-355" dirty="0">
                <a:solidFill>
                  <a:srgbClr val="666666"/>
                </a:solidFill>
                <a:latin typeface="Consolas" panose="020B0609020204030204"/>
                <a:cs typeface="Consolas" panose="020B0609020204030204"/>
              </a:rPr>
              <a:t> </a:t>
            </a:r>
            <a:r>
              <a:rPr sz="1800" dirty="0">
                <a:solidFill>
                  <a:srgbClr val="666666"/>
                </a:solidFill>
                <a:latin typeface="Consolas" panose="020B0609020204030204"/>
                <a:cs typeface="Consolas" panose="020B0609020204030204"/>
              </a:rPr>
              <a:t>3</a:t>
            </a:r>
            <a:endParaRPr sz="1800">
              <a:latin typeface="Consolas" panose="020B0609020204030204"/>
              <a:cs typeface="Consolas" panose="020B0609020204030204"/>
            </a:endParaRPr>
          </a:p>
          <a:p>
            <a:pPr marL="1268730" marR="1750060" indent="-502920">
              <a:lnSpc>
                <a:spcPts val="2200"/>
              </a:lnSpc>
              <a:spcBef>
                <a:spcPts val="10"/>
              </a:spcBef>
            </a:pPr>
            <a:r>
              <a:rPr sz="1800" b="1" dirty="0">
                <a:solidFill>
                  <a:srgbClr val="008000"/>
                </a:solidFill>
                <a:latin typeface="Consolas" panose="020B0609020204030204"/>
                <a:cs typeface="Consolas" panose="020B0609020204030204"/>
              </a:rPr>
              <a:t>while i2 </a:t>
            </a:r>
            <a:r>
              <a:rPr sz="1800" b="1" dirty="0">
                <a:solidFill>
                  <a:srgbClr val="666666"/>
                </a:solidFill>
                <a:latin typeface="Consolas" panose="020B0609020204030204"/>
                <a:cs typeface="Consolas" panose="020B0609020204030204"/>
              </a:rPr>
              <a:t>&gt;=</a:t>
            </a:r>
            <a:r>
              <a:rPr sz="1800" b="1" spc="-105" dirty="0">
                <a:solidFill>
                  <a:srgbClr val="666666"/>
                </a:solidFill>
                <a:latin typeface="Consolas" panose="020B0609020204030204"/>
                <a:cs typeface="Consolas" panose="020B0609020204030204"/>
              </a:rPr>
              <a:t> </a:t>
            </a:r>
            <a:r>
              <a:rPr sz="1800" b="1" dirty="0">
                <a:solidFill>
                  <a:srgbClr val="666666"/>
                </a:solidFill>
                <a:latin typeface="Consolas" panose="020B0609020204030204"/>
                <a:cs typeface="Consolas" panose="020B0609020204030204"/>
              </a:rPr>
              <a:t>0:  </a:t>
            </a:r>
            <a:r>
              <a:rPr sz="1800" dirty="0">
                <a:latin typeface="Consolas" panose="020B0609020204030204"/>
                <a:cs typeface="Consolas" panose="020B0609020204030204"/>
              </a:rPr>
              <a:t>n1 </a:t>
            </a:r>
            <a:r>
              <a:rPr sz="1800" dirty="0">
                <a:solidFill>
                  <a:srgbClr val="666666"/>
                </a:solidFill>
                <a:latin typeface="Consolas" panose="020B0609020204030204"/>
                <a:cs typeface="Consolas" panose="020B0609020204030204"/>
              </a:rPr>
              <a:t>= n2 </a:t>
            </a:r>
            <a:r>
              <a:rPr sz="1800" dirty="0">
                <a:latin typeface="Consolas" panose="020B0609020204030204"/>
                <a:cs typeface="Consolas" panose="020B0609020204030204"/>
              </a:rPr>
              <a:t> n2 </a:t>
            </a:r>
            <a:r>
              <a:rPr sz="1800" dirty="0">
                <a:solidFill>
                  <a:srgbClr val="666666"/>
                </a:solidFill>
                <a:latin typeface="Consolas" panose="020B0609020204030204"/>
                <a:cs typeface="Consolas" panose="020B0609020204030204"/>
              </a:rPr>
              <a:t>=</a:t>
            </a:r>
            <a:r>
              <a:rPr sz="1800" spc="-55" dirty="0">
                <a:solidFill>
                  <a:srgbClr val="666666"/>
                </a:solidFill>
                <a:latin typeface="Consolas" panose="020B0609020204030204"/>
                <a:cs typeface="Consolas" panose="020B0609020204030204"/>
              </a:rPr>
              <a:t> </a:t>
            </a:r>
            <a:r>
              <a:rPr sz="1800" dirty="0">
                <a:solidFill>
                  <a:srgbClr val="666666"/>
                </a:solidFill>
                <a:latin typeface="Consolas" panose="020B0609020204030204"/>
                <a:cs typeface="Consolas" panose="020B0609020204030204"/>
              </a:rPr>
              <a:t>ret</a:t>
            </a:r>
            <a:endParaRPr sz="1800">
              <a:latin typeface="Consolas" panose="020B0609020204030204"/>
              <a:cs typeface="Consolas" panose="020B0609020204030204"/>
            </a:endParaRPr>
          </a:p>
          <a:p>
            <a:pPr marL="1268730">
              <a:lnSpc>
                <a:spcPts val="2020"/>
              </a:lnSpc>
            </a:pPr>
            <a:r>
              <a:rPr sz="1800" dirty="0">
                <a:latin typeface="Consolas" panose="020B0609020204030204"/>
                <a:cs typeface="Consolas" panose="020B0609020204030204"/>
              </a:rPr>
              <a:t>ret </a:t>
            </a:r>
            <a:r>
              <a:rPr sz="1800" dirty="0">
                <a:solidFill>
                  <a:srgbClr val="666666"/>
                </a:solidFill>
                <a:latin typeface="Consolas" panose="020B0609020204030204"/>
                <a:cs typeface="Consolas" panose="020B0609020204030204"/>
              </a:rPr>
              <a:t>= n2 +</a:t>
            </a:r>
            <a:r>
              <a:rPr sz="1800" spc="-35" dirty="0">
                <a:solidFill>
                  <a:srgbClr val="666666"/>
                </a:solidFill>
                <a:latin typeface="Consolas" panose="020B0609020204030204"/>
                <a:cs typeface="Consolas" panose="020B0609020204030204"/>
              </a:rPr>
              <a:t> </a:t>
            </a:r>
            <a:r>
              <a:rPr sz="1800" dirty="0">
                <a:solidFill>
                  <a:srgbClr val="666666"/>
                </a:solidFill>
                <a:latin typeface="Consolas" panose="020B0609020204030204"/>
                <a:cs typeface="Consolas" panose="020B0609020204030204"/>
              </a:rPr>
              <a:t>n1</a:t>
            </a:r>
            <a:endParaRPr sz="1800">
              <a:latin typeface="Consolas" panose="020B0609020204030204"/>
              <a:cs typeface="Consolas" panose="020B0609020204030204"/>
            </a:endParaRPr>
          </a:p>
          <a:p>
            <a:pPr marL="1268730">
              <a:lnSpc>
                <a:spcPct val="100000"/>
              </a:lnSpc>
              <a:spcBef>
                <a:spcPts val="40"/>
              </a:spcBef>
            </a:pPr>
            <a:r>
              <a:rPr sz="1800" dirty="0">
                <a:latin typeface="Consolas" panose="020B0609020204030204"/>
                <a:cs typeface="Consolas" panose="020B0609020204030204"/>
              </a:rPr>
              <a:t>i2 </a:t>
            </a:r>
            <a:r>
              <a:rPr sz="1800" spc="-495" dirty="0">
                <a:solidFill>
                  <a:srgbClr val="666666"/>
                </a:solidFill>
                <a:latin typeface="Consolas" panose="020B0609020204030204"/>
                <a:cs typeface="Consolas" panose="020B0609020204030204"/>
              </a:rPr>
              <a:t>-­‐=</a:t>
            </a:r>
            <a:r>
              <a:rPr sz="1800" spc="-20" dirty="0">
                <a:solidFill>
                  <a:srgbClr val="666666"/>
                </a:solidFill>
                <a:latin typeface="Consolas" panose="020B0609020204030204"/>
                <a:cs typeface="Consolas" panose="020B0609020204030204"/>
              </a:rPr>
              <a:t> </a:t>
            </a:r>
            <a:r>
              <a:rPr sz="1800" dirty="0">
                <a:solidFill>
                  <a:srgbClr val="666666"/>
                </a:solidFill>
                <a:latin typeface="Consolas" panose="020B0609020204030204"/>
                <a:cs typeface="Consolas" panose="020B0609020204030204"/>
              </a:rPr>
              <a:t>1</a:t>
            </a:r>
            <a:endParaRPr sz="1800">
              <a:latin typeface="Consolas" panose="020B0609020204030204"/>
              <a:cs typeface="Consolas" panose="020B0609020204030204"/>
            </a:endParaRPr>
          </a:p>
          <a:p>
            <a:pPr marL="765810">
              <a:lnSpc>
                <a:spcPct val="100000"/>
              </a:lnSpc>
              <a:spcBef>
                <a:spcPts val="40"/>
              </a:spcBef>
            </a:pPr>
            <a:r>
              <a:rPr sz="1800" b="1" dirty="0">
                <a:solidFill>
                  <a:srgbClr val="008000"/>
                </a:solidFill>
                <a:latin typeface="Consolas" panose="020B0609020204030204"/>
                <a:cs typeface="Consolas" panose="020B0609020204030204"/>
              </a:rPr>
              <a:t>return </a:t>
            </a:r>
            <a:r>
              <a:rPr sz="1800" b="1" dirty="0">
                <a:solidFill>
                  <a:srgbClr val="666666"/>
                </a:solidFill>
                <a:latin typeface="Consolas" panose="020B0609020204030204"/>
                <a:cs typeface="Consolas" panose="020B0609020204030204"/>
              </a:rPr>
              <a:t>1 </a:t>
            </a:r>
            <a:r>
              <a:rPr sz="1800" b="1" dirty="0">
                <a:solidFill>
                  <a:srgbClr val="008000"/>
                </a:solidFill>
                <a:latin typeface="Consolas" panose="020B0609020204030204"/>
                <a:cs typeface="Consolas" panose="020B0609020204030204"/>
              </a:rPr>
              <a:t>if i </a:t>
            </a:r>
            <a:r>
              <a:rPr sz="1800" b="1" dirty="0">
                <a:solidFill>
                  <a:srgbClr val="666666"/>
                </a:solidFill>
                <a:latin typeface="Consolas" panose="020B0609020204030204"/>
                <a:cs typeface="Consolas" panose="020B0609020204030204"/>
              </a:rPr>
              <a:t>&lt; 2 </a:t>
            </a:r>
            <a:r>
              <a:rPr sz="1800" b="1" dirty="0">
                <a:solidFill>
                  <a:srgbClr val="008000"/>
                </a:solidFill>
                <a:latin typeface="Consolas" panose="020B0609020204030204"/>
                <a:cs typeface="Consolas" panose="020B0609020204030204"/>
              </a:rPr>
              <a:t>else</a:t>
            </a:r>
            <a:r>
              <a:rPr sz="1800" b="1" spc="-90" dirty="0">
                <a:solidFill>
                  <a:srgbClr val="008000"/>
                </a:solidFill>
                <a:latin typeface="Consolas" panose="020B0609020204030204"/>
                <a:cs typeface="Consolas" panose="020B0609020204030204"/>
              </a:rPr>
              <a:t> </a:t>
            </a:r>
            <a:r>
              <a:rPr sz="1800" b="1" dirty="0">
                <a:solidFill>
                  <a:srgbClr val="008000"/>
                </a:solidFill>
                <a:latin typeface="Consolas" panose="020B0609020204030204"/>
                <a:cs typeface="Consolas" panose="020B0609020204030204"/>
              </a:rPr>
              <a:t>ret</a:t>
            </a:r>
            <a:endParaRPr sz="1800">
              <a:latin typeface="Consolas" panose="020B0609020204030204"/>
              <a:cs typeface="Consolas" panose="020B0609020204030204"/>
            </a:endParaRPr>
          </a:p>
        </p:txBody>
      </p:sp>
      <p:sp>
        <p:nvSpPr>
          <p:cNvPr id="4" name="object 4"/>
          <p:cNvSpPr/>
          <p:nvPr/>
        </p:nvSpPr>
        <p:spPr>
          <a:xfrm>
            <a:off x="7575305" y="2032807"/>
            <a:ext cx="2023431" cy="3162651"/>
          </a:xfrm>
          <a:prstGeom prst="rect">
            <a:avLst/>
          </a:prstGeom>
          <a:blipFill>
            <a:blip r:embed="rId3" cstate="print"/>
            <a:stretch>
              <a:fillRect/>
            </a:stretch>
          </a:blipFill>
        </p:spPr>
        <p:txBody>
          <a:bodyPr wrap="square" lIns="0" tIns="0" rIns="0" bIns="0" rtlCol="0"/>
          <a:lstStyle/>
          <a:p>
            <a:endParaRPr/>
          </a:p>
        </p:txBody>
      </p:sp>
      <p:sp>
        <p:nvSpPr>
          <p:cNvPr id="6" name="标题 5"/>
          <p:cNvSpPr>
            <a:spLocks noGrp="1"/>
          </p:cNvSpPr>
          <p:nvPr>
            <p:ph type="title"/>
          </p:nvPr>
        </p:nvSpPr>
        <p:spPr/>
        <p:txBody>
          <a:bodyPr/>
          <a:lstStyle/>
          <a:p>
            <a:r>
              <a:rPr lang="en-US" altLang="zh-CN" dirty="0">
                <a:latin typeface="Arial" panose="020B0604020202020204"/>
                <a:cs typeface="Arial" panose="020B0604020202020204"/>
              </a:rPr>
              <a:t>Pyt</a:t>
            </a:r>
            <a:r>
              <a:rPr lang="en-US" altLang="zh-CN" spc="-5" dirty="0">
                <a:latin typeface="Arial" panose="020B0604020202020204"/>
                <a:cs typeface="Arial" panose="020B0604020202020204"/>
              </a:rPr>
              <a:t>ho</a:t>
            </a:r>
            <a:r>
              <a:rPr lang="en-US" altLang="zh-CN" dirty="0">
                <a:latin typeface="Arial" panose="020B0604020202020204"/>
                <a:cs typeface="Arial" panose="020B0604020202020204"/>
              </a:rPr>
              <a:t>n</a:t>
            </a:r>
            <a:r>
              <a:rPr lang="zh-CN" altLang="en-US" dirty="0"/>
              <a:t>编程规范：命名</a:t>
            </a:r>
          </a:p>
        </p:txBody>
      </p:sp>
      <p:sp>
        <p:nvSpPr>
          <p:cNvPr id="5" name="灯片编号占位符 4"/>
          <p:cNvSpPr>
            <a:spLocks noGrp="1"/>
          </p:cNvSpPr>
          <p:nvPr>
            <p:ph type="sldNum" sz="quarter" idx="12"/>
          </p:nvPr>
        </p:nvSpPr>
        <p:spPr/>
        <p:txBody>
          <a:bodyPr/>
          <a:lstStyle/>
          <a:p>
            <a:fld id="{74D2AB8B-5816-41F2-8B4B-CA5C3E4E6A65}" type="slidenum">
              <a:rPr lang="zh-CN" altLang="en-US" smtClean="0"/>
              <a:t>15</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1366"/>
    </mc:Choice>
    <mc:Fallback xmlns="">
      <p:transition spd="slow" advTm="31366"/>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48144" y="1954972"/>
            <a:ext cx="3796665" cy="3042920"/>
          </a:xfrm>
          <a:prstGeom prst="rect">
            <a:avLst/>
          </a:prstGeom>
        </p:spPr>
        <p:txBody>
          <a:bodyPr vert="horz" wrap="square" lIns="0" tIns="12700" rIns="0" bIns="0" rtlCol="0">
            <a:spAutoFit/>
          </a:bodyPr>
          <a:lstStyle/>
          <a:p>
            <a:pPr marL="12700">
              <a:lnSpc>
                <a:spcPts val="2130"/>
              </a:lnSpc>
              <a:spcBef>
                <a:spcPts val="100"/>
              </a:spcBef>
            </a:pPr>
            <a:r>
              <a:rPr sz="1800" b="1" dirty="0">
                <a:solidFill>
                  <a:srgbClr val="008000"/>
                </a:solidFill>
                <a:latin typeface="Consolas" panose="020B0609020204030204"/>
                <a:cs typeface="Consolas" panose="020B0609020204030204"/>
              </a:rPr>
              <a:t>def</a:t>
            </a:r>
            <a:r>
              <a:rPr sz="1800" b="1" spc="-10" dirty="0">
                <a:solidFill>
                  <a:srgbClr val="008000"/>
                </a:solidFill>
                <a:latin typeface="Consolas" panose="020B0609020204030204"/>
                <a:cs typeface="Consolas" panose="020B0609020204030204"/>
              </a:rPr>
              <a:t> </a:t>
            </a:r>
            <a:r>
              <a:rPr sz="1800" b="1" dirty="0">
                <a:solidFill>
                  <a:srgbClr val="0000FF"/>
                </a:solidFill>
                <a:latin typeface="Consolas" panose="020B0609020204030204"/>
                <a:cs typeface="Consolas" panose="020B0609020204030204"/>
              </a:rPr>
              <a:t>fval(i):</a:t>
            </a:r>
            <a:endParaRPr sz="1800">
              <a:latin typeface="Consolas" panose="020B0609020204030204"/>
              <a:cs typeface="Consolas" panose="020B0609020204030204"/>
            </a:endParaRPr>
          </a:p>
          <a:p>
            <a:pPr marL="514985">
              <a:lnSpc>
                <a:spcPts val="2130"/>
              </a:lnSpc>
            </a:pPr>
            <a:r>
              <a:rPr sz="1800" dirty="0">
                <a:latin typeface="Consolas" panose="020B0609020204030204"/>
                <a:cs typeface="Consolas" panose="020B0609020204030204"/>
              </a:rPr>
              <a:t>ret </a:t>
            </a:r>
            <a:r>
              <a:rPr sz="1800" dirty="0">
                <a:solidFill>
                  <a:srgbClr val="666666"/>
                </a:solidFill>
                <a:latin typeface="Consolas" panose="020B0609020204030204"/>
                <a:cs typeface="Consolas" panose="020B0609020204030204"/>
              </a:rPr>
              <a:t>=</a:t>
            </a:r>
            <a:r>
              <a:rPr sz="1800" spc="-15" dirty="0">
                <a:solidFill>
                  <a:srgbClr val="666666"/>
                </a:solidFill>
                <a:latin typeface="Consolas" panose="020B0609020204030204"/>
                <a:cs typeface="Consolas" panose="020B0609020204030204"/>
              </a:rPr>
              <a:t> </a:t>
            </a:r>
            <a:r>
              <a:rPr sz="1800" dirty="0">
                <a:solidFill>
                  <a:srgbClr val="666666"/>
                </a:solidFill>
                <a:latin typeface="Consolas" panose="020B0609020204030204"/>
                <a:cs typeface="Consolas" panose="020B0609020204030204"/>
              </a:rPr>
              <a:t>2</a:t>
            </a:r>
            <a:endParaRPr sz="1800">
              <a:latin typeface="Consolas" panose="020B0609020204030204"/>
              <a:cs typeface="Consolas" panose="020B0609020204030204"/>
            </a:endParaRPr>
          </a:p>
          <a:p>
            <a:pPr marL="514985">
              <a:lnSpc>
                <a:spcPts val="2130"/>
              </a:lnSpc>
              <a:spcBef>
                <a:spcPts val="40"/>
              </a:spcBef>
            </a:pPr>
            <a:r>
              <a:rPr sz="1800" dirty="0">
                <a:latin typeface="Consolas" panose="020B0609020204030204"/>
                <a:cs typeface="Consolas" panose="020B0609020204030204"/>
              </a:rPr>
              <a:t>n1 </a:t>
            </a:r>
            <a:r>
              <a:rPr sz="1800" dirty="0">
                <a:solidFill>
                  <a:srgbClr val="666666"/>
                </a:solidFill>
                <a:latin typeface="Consolas" panose="020B0609020204030204"/>
                <a:cs typeface="Consolas" panose="020B0609020204030204"/>
              </a:rPr>
              <a:t>=</a:t>
            </a:r>
            <a:r>
              <a:rPr sz="1800" spc="-105" dirty="0">
                <a:solidFill>
                  <a:srgbClr val="666666"/>
                </a:solidFill>
                <a:latin typeface="Consolas" panose="020B0609020204030204"/>
                <a:cs typeface="Consolas" panose="020B0609020204030204"/>
              </a:rPr>
              <a:t> </a:t>
            </a:r>
            <a:r>
              <a:rPr sz="1800" dirty="0">
                <a:solidFill>
                  <a:srgbClr val="666666"/>
                </a:solidFill>
                <a:latin typeface="Consolas" panose="020B0609020204030204"/>
                <a:cs typeface="Consolas" panose="020B0609020204030204"/>
              </a:rPr>
              <a:t>1</a:t>
            </a:r>
            <a:endParaRPr sz="1800">
              <a:latin typeface="Consolas" panose="020B0609020204030204"/>
              <a:cs typeface="Consolas" panose="020B0609020204030204"/>
            </a:endParaRPr>
          </a:p>
          <a:p>
            <a:pPr marL="514985">
              <a:lnSpc>
                <a:spcPts val="2130"/>
              </a:lnSpc>
            </a:pPr>
            <a:r>
              <a:rPr sz="1800" dirty="0">
                <a:latin typeface="Consolas" panose="020B0609020204030204"/>
                <a:cs typeface="Consolas" panose="020B0609020204030204"/>
              </a:rPr>
              <a:t>n2 </a:t>
            </a:r>
            <a:r>
              <a:rPr sz="1800" dirty="0">
                <a:solidFill>
                  <a:srgbClr val="666666"/>
                </a:solidFill>
                <a:latin typeface="Consolas" panose="020B0609020204030204"/>
                <a:cs typeface="Consolas" panose="020B0609020204030204"/>
              </a:rPr>
              <a:t>=</a:t>
            </a:r>
            <a:r>
              <a:rPr sz="1800" spc="-105" dirty="0">
                <a:solidFill>
                  <a:srgbClr val="666666"/>
                </a:solidFill>
                <a:latin typeface="Consolas" panose="020B0609020204030204"/>
                <a:cs typeface="Consolas" panose="020B0609020204030204"/>
              </a:rPr>
              <a:t> </a:t>
            </a:r>
            <a:r>
              <a:rPr sz="1800" dirty="0">
                <a:solidFill>
                  <a:srgbClr val="666666"/>
                </a:solidFill>
                <a:latin typeface="Consolas" panose="020B0609020204030204"/>
                <a:cs typeface="Consolas" panose="020B0609020204030204"/>
              </a:rPr>
              <a:t>1</a:t>
            </a:r>
            <a:endParaRPr sz="1800">
              <a:latin typeface="Consolas" panose="020B0609020204030204"/>
              <a:cs typeface="Consolas" panose="020B0609020204030204"/>
            </a:endParaRPr>
          </a:p>
          <a:p>
            <a:pPr marL="514985">
              <a:lnSpc>
                <a:spcPts val="2130"/>
              </a:lnSpc>
              <a:spcBef>
                <a:spcPts val="40"/>
              </a:spcBef>
            </a:pPr>
            <a:r>
              <a:rPr sz="1800" dirty="0">
                <a:latin typeface="Consolas" panose="020B0609020204030204"/>
                <a:cs typeface="Consolas" panose="020B0609020204030204"/>
              </a:rPr>
              <a:t>i2 </a:t>
            </a:r>
            <a:r>
              <a:rPr sz="1800" dirty="0">
                <a:solidFill>
                  <a:srgbClr val="666666"/>
                </a:solidFill>
                <a:latin typeface="Consolas" panose="020B0609020204030204"/>
                <a:cs typeface="Consolas" panose="020B0609020204030204"/>
              </a:rPr>
              <a:t>= i </a:t>
            </a:r>
            <a:r>
              <a:rPr sz="1800" spc="-660" dirty="0">
                <a:solidFill>
                  <a:srgbClr val="666666"/>
                </a:solidFill>
                <a:latin typeface="Consolas" panose="020B0609020204030204"/>
                <a:cs typeface="Consolas" panose="020B0609020204030204"/>
              </a:rPr>
              <a:t>-­‐</a:t>
            </a:r>
            <a:r>
              <a:rPr sz="1800" spc="-355" dirty="0">
                <a:solidFill>
                  <a:srgbClr val="666666"/>
                </a:solidFill>
                <a:latin typeface="Consolas" panose="020B0609020204030204"/>
                <a:cs typeface="Consolas" panose="020B0609020204030204"/>
              </a:rPr>
              <a:t> </a:t>
            </a:r>
            <a:r>
              <a:rPr sz="1800" dirty="0">
                <a:solidFill>
                  <a:srgbClr val="666666"/>
                </a:solidFill>
                <a:latin typeface="Consolas" panose="020B0609020204030204"/>
                <a:cs typeface="Consolas" panose="020B0609020204030204"/>
              </a:rPr>
              <a:t>3</a:t>
            </a:r>
            <a:endParaRPr sz="1800">
              <a:latin typeface="Consolas" panose="020B0609020204030204"/>
              <a:cs typeface="Consolas" panose="020B0609020204030204"/>
            </a:endParaRPr>
          </a:p>
          <a:p>
            <a:pPr marL="1017905" marR="1513205" indent="-502920">
              <a:lnSpc>
                <a:spcPts val="2200"/>
              </a:lnSpc>
              <a:spcBef>
                <a:spcPts val="10"/>
              </a:spcBef>
            </a:pPr>
            <a:r>
              <a:rPr sz="1800" b="1" dirty="0">
                <a:solidFill>
                  <a:srgbClr val="008000"/>
                </a:solidFill>
                <a:latin typeface="Consolas" panose="020B0609020204030204"/>
                <a:cs typeface="Consolas" panose="020B0609020204030204"/>
              </a:rPr>
              <a:t>while i2 </a:t>
            </a:r>
            <a:r>
              <a:rPr sz="1800" b="1" dirty="0">
                <a:solidFill>
                  <a:srgbClr val="666666"/>
                </a:solidFill>
                <a:latin typeface="Consolas" panose="020B0609020204030204"/>
                <a:cs typeface="Consolas" panose="020B0609020204030204"/>
              </a:rPr>
              <a:t>&gt;=</a:t>
            </a:r>
            <a:r>
              <a:rPr sz="1800" b="1" spc="-105" dirty="0">
                <a:solidFill>
                  <a:srgbClr val="666666"/>
                </a:solidFill>
                <a:latin typeface="Consolas" panose="020B0609020204030204"/>
                <a:cs typeface="Consolas" panose="020B0609020204030204"/>
              </a:rPr>
              <a:t> </a:t>
            </a:r>
            <a:r>
              <a:rPr sz="1800" b="1" dirty="0">
                <a:solidFill>
                  <a:srgbClr val="666666"/>
                </a:solidFill>
                <a:latin typeface="Consolas" panose="020B0609020204030204"/>
                <a:cs typeface="Consolas" panose="020B0609020204030204"/>
              </a:rPr>
              <a:t>0:  </a:t>
            </a:r>
            <a:r>
              <a:rPr sz="1800" dirty="0">
                <a:latin typeface="Consolas" panose="020B0609020204030204"/>
                <a:cs typeface="Consolas" panose="020B0609020204030204"/>
              </a:rPr>
              <a:t>n1 </a:t>
            </a:r>
            <a:r>
              <a:rPr sz="1800" dirty="0">
                <a:solidFill>
                  <a:srgbClr val="666666"/>
                </a:solidFill>
                <a:latin typeface="Consolas" panose="020B0609020204030204"/>
                <a:cs typeface="Consolas" panose="020B0609020204030204"/>
              </a:rPr>
              <a:t>= n2 </a:t>
            </a:r>
            <a:r>
              <a:rPr sz="1800" dirty="0">
                <a:latin typeface="Consolas" panose="020B0609020204030204"/>
                <a:cs typeface="Consolas" panose="020B0609020204030204"/>
              </a:rPr>
              <a:t> n2 </a:t>
            </a:r>
            <a:r>
              <a:rPr sz="1800" dirty="0">
                <a:solidFill>
                  <a:srgbClr val="666666"/>
                </a:solidFill>
                <a:latin typeface="Consolas" panose="020B0609020204030204"/>
                <a:cs typeface="Consolas" panose="020B0609020204030204"/>
              </a:rPr>
              <a:t>=</a:t>
            </a:r>
            <a:r>
              <a:rPr sz="1800" spc="-55" dirty="0">
                <a:solidFill>
                  <a:srgbClr val="666666"/>
                </a:solidFill>
                <a:latin typeface="Consolas" panose="020B0609020204030204"/>
                <a:cs typeface="Consolas" panose="020B0609020204030204"/>
              </a:rPr>
              <a:t> </a:t>
            </a:r>
            <a:r>
              <a:rPr sz="1800" dirty="0">
                <a:solidFill>
                  <a:srgbClr val="666666"/>
                </a:solidFill>
                <a:latin typeface="Consolas" panose="020B0609020204030204"/>
                <a:cs typeface="Consolas" panose="020B0609020204030204"/>
              </a:rPr>
              <a:t>ret</a:t>
            </a:r>
            <a:endParaRPr sz="1800">
              <a:latin typeface="Consolas" panose="020B0609020204030204"/>
              <a:cs typeface="Consolas" panose="020B0609020204030204"/>
            </a:endParaRPr>
          </a:p>
          <a:p>
            <a:pPr marL="1017905">
              <a:lnSpc>
                <a:spcPts val="2020"/>
              </a:lnSpc>
            </a:pPr>
            <a:r>
              <a:rPr sz="1800" dirty="0">
                <a:latin typeface="Consolas" panose="020B0609020204030204"/>
                <a:cs typeface="Consolas" panose="020B0609020204030204"/>
              </a:rPr>
              <a:t>ret </a:t>
            </a:r>
            <a:r>
              <a:rPr sz="1800" dirty="0">
                <a:solidFill>
                  <a:srgbClr val="666666"/>
                </a:solidFill>
                <a:latin typeface="Consolas" panose="020B0609020204030204"/>
                <a:cs typeface="Consolas" panose="020B0609020204030204"/>
              </a:rPr>
              <a:t>= n2 +</a:t>
            </a:r>
            <a:r>
              <a:rPr sz="1800" spc="-40" dirty="0">
                <a:solidFill>
                  <a:srgbClr val="666666"/>
                </a:solidFill>
                <a:latin typeface="Consolas" panose="020B0609020204030204"/>
                <a:cs typeface="Consolas" panose="020B0609020204030204"/>
              </a:rPr>
              <a:t> </a:t>
            </a:r>
            <a:r>
              <a:rPr sz="1800" dirty="0">
                <a:solidFill>
                  <a:srgbClr val="666666"/>
                </a:solidFill>
                <a:latin typeface="Consolas" panose="020B0609020204030204"/>
                <a:cs typeface="Consolas" panose="020B0609020204030204"/>
              </a:rPr>
              <a:t>n1</a:t>
            </a:r>
            <a:endParaRPr sz="1800">
              <a:latin typeface="Consolas" panose="020B0609020204030204"/>
              <a:cs typeface="Consolas" panose="020B0609020204030204"/>
            </a:endParaRPr>
          </a:p>
          <a:p>
            <a:pPr marL="1017905">
              <a:lnSpc>
                <a:spcPct val="100000"/>
              </a:lnSpc>
              <a:spcBef>
                <a:spcPts val="40"/>
              </a:spcBef>
            </a:pPr>
            <a:r>
              <a:rPr sz="1800" dirty="0">
                <a:latin typeface="Consolas" panose="020B0609020204030204"/>
                <a:cs typeface="Consolas" panose="020B0609020204030204"/>
              </a:rPr>
              <a:t>i2 </a:t>
            </a:r>
            <a:r>
              <a:rPr sz="1800" spc="-495" dirty="0">
                <a:solidFill>
                  <a:srgbClr val="666666"/>
                </a:solidFill>
                <a:latin typeface="Consolas" panose="020B0609020204030204"/>
                <a:cs typeface="Consolas" panose="020B0609020204030204"/>
              </a:rPr>
              <a:t>-­‐=</a:t>
            </a:r>
            <a:r>
              <a:rPr sz="1800" spc="-20" dirty="0">
                <a:solidFill>
                  <a:srgbClr val="666666"/>
                </a:solidFill>
                <a:latin typeface="Consolas" panose="020B0609020204030204"/>
                <a:cs typeface="Consolas" panose="020B0609020204030204"/>
              </a:rPr>
              <a:t> </a:t>
            </a:r>
            <a:r>
              <a:rPr sz="1800" dirty="0">
                <a:solidFill>
                  <a:srgbClr val="666666"/>
                </a:solidFill>
                <a:latin typeface="Consolas" panose="020B0609020204030204"/>
                <a:cs typeface="Consolas" panose="020B0609020204030204"/>
              </a:rPr>
              <a:t>1</a:t>
            </a:r>
            <a:endParaRPr sz="1800">
              <a:latin typeface="Consolas" panose="020B0609020204030204"/>
              <a:cs typeface="Consolas" panose="020B0609020204030204"/>
            </a:endParaRPr>
          </a:p>
          <a:p>
            <a:pPr marL="514985">
              <a:lnSpc>
                <a:spcPct val="100000"/>
              </a:lnSpc>
              <a:spcBef>
                <a:spcPts val="40"/>
              </a:spcBef>
            </a:pPr>
            <a:r>
              <a:rPr sz="1800" b="1" dirty="0">
                <a:solidFill>
                  <a:srgbClr val="008000"/>
                </a:solidFill>
                <a:latin typeface="Consolas" panose="020B0609020204030204"/>
                <a:cs typeface="Consolas" panose="020B0609020204030204"/>
              </a:rPr>
              <a:t>return </a:t>
            </a:r>
            <a:r>
              <a:rPr sz="1800" b="1" dirty="0">
                <a:solidFill>
                  <a:srgbClr val="666666"/>
                </a:solidFill>
                <a:latin typeface="Consolas" panose="020B0609020204030204"/>
                <a:cs typeface="Consolas" panose="020B0609020204030204"/>
              </a:rPr>
              <a:t>1 </a:t>
            </a:r>
            <a:r>
              <a:rPr sz="1800" b="1" dirty="0">
                <a:solidFill>
                  <a:srgbClr val="008000"/>
                </a:solidFill>
                <a:latin typeface="Consolas" panose="020B0609020204030204"/>
                <a:cs typeface="Consolas" panose="020B0609020204030204"/>
              </a:rPr>
              <a:t>if i </a:t>
            </a:r>
            <a:r>
              <a:rPr sz="1800" b="1" dirty="0">
                <a:solidFill>
                  <a:srgbClr val="666666"/>
                </a:solidFill>
                <a:latin typeface="Consolas" panose="020B0609020204030204"/>
                <a:cs typeface="Consolas" panose="020B0609020204030204"/>
              </a:rPr>
              <a:t>&lt; 2 </a:t>
            </a:r>
            <a:r>
              <a:rPr sz="1800" b="1" dirty="0">
                <a:solidFill>
                  <a:srgbClr val="008000"/>
                </a:solidFill>
                <a:latin typeface="Consolas" panose="020B0609020204030204"/>
                <a:cs typeface="Consolas" panose="020B0609020204030204"/>
              </a:rPr>
              <a:t>else</a:t>
            </a:r>
            <a:r>
              <a:rPr sz="1800" b="1" spc="-110" dirty="0">
                <a:solidFill>
                  <a:srgbClr val="008000"/>
                </a:solidFill>
                <a:latin typeface="Consolas" panose="020B0609020204030204"/>
                <a:cs typeface="Consolas" panose="020B0609020204030204"/>
              </a:rPr>
              <a:t> </a:t>
            </a:r>
            <a:r>
              <a:rPr sz="1800" b="1" dirty="0">
                <a:solidFill>
                  <a:srgbClr val="008000"/>
                </a:solidFill>
                <a:latin typeface="Consolas" panose="020B0609020204030204"/>
                <a:cs typeface="Consolas" panose="020B0609020204030204"/>
              </a:rPr>
              <a:t>ret</a:t>
            </a:r>
            <a:endParaRPr sz="1800">
              <a:latin typeface="Consolas" panose="020B0609020204030204"/>
              <a:cs typeface="Consolas" panose="020B0609020204030204"/>
            </a:endParaRPr>
          </a:p>
        </p:txBody>
      </p:sp>
      <p:sp>
        <p:nvSpPr>
          <p:cNvPr id="4" name="object 4"/>
          <p:cNvSpPr/>
          <p:nvPr/>
        </p:nvSpPr>
        <p:spPr>
          <a:xfrm>
            <a:off x="897468" y="1642533"/>
            <a:ext cx="4284345" cy="3759200"/>
          </a:xfrm>
          <a:custGeom>
            <a:avLst/>
            <a:gdLst/>
            <a:ahLst/>
            <a:cxnLst/>
            <a:rect l="l" t="t" r="r" b="b"/>
            <a:pathLst>
              <a:path w="4284345" h="3759200">
                <a:moveTo>
                  <a:pt x="0" y="0"/>
                </a:moveTo>
                <a:lnTo>
                  <a:pt x="4284130" y="0"/>
                </a:lnTo>
                <a:lnTo>
                  <a:pt x="4284130" y="3759198"/>
                </a:lnTo>
                <a:lnTo>
                  <a:pt x="0" y="3759198"/>
                </a:lnTo>
                <a:lnTo>
                  <a:pt x="0" y="0"/>
                </a:lnTo>
                <a:close/>
              </a:path>
            </a:pathLst>
          </a:custGeom>
          <a:ln w="6349">
            <a:solidFill>
              <a:srgbClr val="4C4848"/>
            </a:solidFill>
          </a:ln>
        </p:spPr>
        <p:txBody>
          <a:bodyPr wrap="square" lIns="0" tIns="0" rIns="0" bIns="0" rtlCol="0"/>
          <a:lstStyle/>
          <a:p>
            <a:endParaRPr/>
          </a:p>
        </p:txBody>
      </p:sp>
      <p:sp>
        <p:nvSpPr>
          <p:cNvPr id="5" name="object 5"/>
          <p:cNvSpPr txBox="1"/>
          <p:nvPr/>
        </p:nvSpPr>
        <p:spPr>
          <a:xfrm>
            <a:off x="5418668" y="1642533"/>
            <a:ext cx="5994400" cy="3759200"/>
          </a:xfrm>
          <a:prstGeom prst="rect">
            <a:avLst/>
          </a:prstGeom>
          <a:ln w="6349">
            <a:solidFill>
              <a:srgbClr val="4C4848"/>
            </a:solidFill>
          </a:ln>
        </p:spPr>
        <p:txBody>
          <a:bodyPr vert="horz" wrap="square" lIns="0" tIns="187960" rIns="0" bIns="0" rtlCol="0">
            <a:spAutoFit/>
          </a:bodyPr>
          <a:lstStyle/>
          <a:p>
            <a:pPr marL="243205" marR="2725420" algn="ctr">
              <a:lnSpc>
                <a:spcPts val="2100"/>
              </a:lnSpc>
              <a:spcBef>
                <a:spcPts val="1480"/>
              </a:spcBef>
            </a:pPr>
            <a:r>
              <a:rPr sz="1800" b="1" dirty="0">
                <a:solidFill>
                  <a:srgbClr val="008000"/>
                </a:solidFill>
                <a:latin typeface="Consolas" panose="020B0609020204030204"/>
                <a:cs typeface="Consolas" panose="020B0609020204030204"/>
              </a:rPr>
              <a:t>def</a:t>
            </a:r>
            <a:r>
              <a:rPr sz="1800" b="1" spc="-100" dirty="0">
                <a:solidFill>
                  <a:srgbClr val="008000"/>
                </a:solidFill>
                <a:latin typeface="Consolas" panose="020B0609020204030204"/>
                <a:cs typeface="Consolas" panose="020B0609020204030204"/>
              </a:rPr>
              <a:t> </a:t>
            </a:r>
            <a:r>
              <a:rPr sz="1800" b="1" dirty="0">
                <a:solidFill>
                  <a:srgbClr val="0000FF"/>
                </a:solidFill>
                <a:latin typeface="Consolas" panose="020B0609020204030204"/>
                <a:cs typeface="Consolas" panose="020B0609020204030204"/>
              </a:rPr>
              <a:t>fibonacci(position):  </a:t>
            </a:r>
            <a:r>
              <a:rPr sz="1800" b="1" dirty="0">
                <a:solidFill>
                  <a:srgbClr val="008000"/>
                </a:solidFill>
                <a:latin typeface="Consolas" panose="020B0609020204030204"/>
                <a:cs typeface="Consolas" panose="020B0609020204030204"/>
              </a:rPr>
              <a:t>if position </a:t>
            </a:r>
            <a:r>
              <a:rPr sz="1800" b="1" dirty="0">
                <a:solidFill>
                  <a:srgbClr val="666666"/>
                </a:solidFill>
                <a:latin typeface="Consolas" panose="020B0609020204030204"/>
                <a:cs typeface="Consolas" panose="020B0609020204030204"/>
              </a:rPr>
              <a:t>&lt;</a:t>
            </a:r>
            <a:r>
              <a:rPr sz="1800" b="1" spc="-50" dirty="0">
                <a:solidFill>
                  <a:srgbClr val="666666"/>
                </a:solidFill>
                <a:latin typeface="Consolas" panose="020B0609020204030204"/>
                <a:cs typeface="Consolas" panose="020B0609020204030204"/>
              </a:rPr>
              <a:t> </a:t>
            </a:r>
            <a:r>
              <a:rPr sz="1800" b="1" dirty="0">
                <a:solidFill>
                  <a:srgbClr val="666666"/>
                </a:solidFill>
                <a:latin typeface="Consolas" panose="020B0609020204030204"/>
                <a:cs typeface="Consolas" panose="020B0609020204030204"/>
              </a:rPr>
              <a:t>2:</a:t>
            </a:r>
            <a:endParaRPr sz="1800" dirty="0">
              <a:latin typeface="Consolas" panose="020B0609020204030204"/>
              <a:cs typeface="Consolas" panose="020B0609020204030204"/>
            </a:endParaRPr>
          </a:p>
          <a:p>
            <a:pPr marR="2482215" algn="ctr">
              <a:lnSpc>
                <a:spcPts val="2140"/>
              </a:lnSpc>
            </a:pPr>
            <a:r>
              <a:rPr sz="1800" b="1" dirty="0">
                <a:solidFill>
                  <a:srgbClr val="008000"/>
                </a:solidFill>
                <a:latin typeface="Consolas" panose="020B0609020204030204"/>
                <a:cs typeface="Consolas" panose="020B0609020204030204"/>
              </a:rPr>
              <a:t>return</a:t>
            </a:r>
            <a:r>
              <a:rPr sz="1800" b="1" spc="-15" dirty="0">
                <a:solidFill>
                  <a:srgbClr val="008000"/>
                </a:solidFill>
                <a:latin typeface="Consolas" panose="020B0609020204030204"/>
                <a:cs typeface="Consolas" panose="020B0609020204030204"/>
              </a:rPr>
              <a:t> </a:t>
            </a:r>
            <a:r>
              <a:rPr sz="1800" b="1" dirty="0">
                <a:solidFill>
                  <a:srgbClr val="666666"/>
                </a:solidFill>
                <a:latin typeface="Consolas" panose="020B0609020204030204"/>
                <a:cs typeface="Consolas" panose="020B0609020204030204"/>
              </a:rPr>
              <a:t>1</a:t>
            </a:r>
            <a:endParaRPr sz="1800" dirty="0">
              <a:latin typeface="Consolas" panose="020B0609020204030204"/>
              <a:cs typeface="Consolas" panose="020B0609020204030204"/>
            </a:endParaRPr>
          </a:p>
          <a:p>
            <a:pPr>
              <a:lnSpc>
                <a:spcPct val="100000"/>
              </a:lnSpc>
              <a:spcBef>
                <a:spcPts val="10"/>
              </a:spcBef>
            </a:pPr>
            <a:endParaRPr sz="1850" dirty="0">
              <a:latin typeface="Times New Roman" panose="02020603050405020304"/>
              <a:cs typeface="Times New Roman" panose="02020603050405020304"/>
            </a:endParaRPr>
          </a:p>
          <a:p>
            <a:pPr marL="746125">
              <a:lnSpc>
                <a:spcPts val="2130"/>
              </a:lnSpc>
            </a:pPr>
            <a:r>
              <a:rPr sz="1800" dirty="0">
                <a:latin typeface="Consolas" panose="020B0609020204030204"/>
                <a:cs typeface="Consolas" panose="020B0609020204030204"/>
              </a:rPr>
              <a:t>previous_but_one </a:t>
            </a:r>
            <a:r>
              <a:rPr sz="1800" dirty="0">
                <a:solidFill>
                  <a:srgbClr val="666666"/>
                </a:solidFill>
                <a:latin typeface="Consolas" panose="020B0609020204030204"/>
                <a:cs typeface="Consolas" panose="020B0609020204030204"/>
              </a:rPr>
              <a:t>=</a:t>
            </a:r>
            <a:r>
              <a:rPr sz="1800" spc="-10" dirty="0">
                <a:solidFill>
                  <a:srgbClr val="666666"/>
                </a:solidFill>
                <a:latin typeface="Consolas" panose="020B0609020204030204"/>
                <a:cs typeface="Consolas" panose="020B0609020204030204"/>
              </a:rPr>
              <a:t> </a:t>
            </a:r>
            <a:r>
              <a:rPr sz="1800" dirty="0">
                <a:solidFill>
                  <a:srgbClr val="666666"/>
                </a:solidFill>
                <a:latin typeface="Consolas" panose="020B0609020204030204"/>
                <a:cs typeface="Consolas" panose="020B0609020204030204"/>
              </a:rPr>
              <a:t>1</a:t>
            </a:r>
            <a:endParaRPr sz="1800" dirty="0">
              <a:latin typeface="Consolas" panose="020B0609020204030204"/>
              <a:cs typeface="Consolas" panose="020B0609020204030204"/>
            </a:endParaRPr>
          </a:p>
          <a:p>
            <a:pPr marL="746125">
              <a:lnSpc>
                <a:spcPts val="2130"/>
              </a:lnSpc>
            </a:pPr>
            <a:r>
              <a:rPr sz="1800" dirty="0">
                <a:latin typeface="Consolas" panose="020B0609020204030204"/>
                <a:cs typeface="Consolas" panose="020B0609020204030204"/>
              </a:rPr>
              <a:t>previous </a:t>
            </a:r>
            <a:r>
              <a:rPr sz="1800" dirty="0">
                <a:solidFill>
                  <a:srgbClr val="666666"/>
                </a:solidFill>
                <a:latin typeface="Consolas" panose="020B0609020204030204"/>
                <a:cs typeface="Consolas" panose="020B0609020204030204"/>
              </a:rPr>
              <a:t>=</a:t>
            </a:r>
            <a:r>
              <a:rPr sz="1800" spc="-15" dirty="0">
                <a:solidFill>
                  <a:srgbClr val="666666"/>
                </a:solidFill>
                <a:latin typeface="Consolas" panose="020B0609020204030204"/>
                <a:cs typeface="Consolas" panose="020B0609020204030204"/>
              </a:rPr>
              <a:t> </a:t>
            </a:r>
            <a:r>
              <a:rPr sz="1800" dirty="0">
                <a:solidFill>
                  <a:srgbClr val="666666"/>
                </a:solidFill>
                <a:latin typeface="Consolas" panose="020B0609020204030204"/>
                <a:cs typeface="Consolas" panose="020B0609020204030204"/>
              </a:rPr>
              <a:t>1</a:t>
            </a:r>
            <a:endParaRPr sz="1800" dirty="0">
              <a:latin typeface="Consolas" panose="020B0609020204030204"/>
              <a:cs typeface="Consolas" panose="020B0609020204030204"/>
            </a:endParaRPr>
          </a:p>
          <a:p>
            <a:pPr marL="746125">
              <a:lnSpc>
                <a:spcPct val="100000"/>
              </a:lnSpc>
              <a:spcBef>
                <a:spcPts val="40"/>
              </a:spcBef>
            </a:pPr>
            <a:r>
              <a:rPr sz="1800" dirty="0">
                <a:latin typeface="Consolas" panose="020B0609020204030204"/>
                <a:cs typeface="Consolas" panose="020B0609020204030204"/>
              </a:rPr>
              <a:t>result </a:t>
            </a:r>
            <a:r>
              <a:rPr sz="1800" dirty="0">
                <a:solidFill>
                  <a:srgbClr val="666666"/>
                </a:solidFill>
                <a:latin typeface="Consolas" panose="020B0609020204030204"/>
                <a:cs typeface="Consolas" panose="020B0609020204030204"/>
              </a:rPr>
              <a:t>=</a:t>
            </a:r>
            <a:r>
              <a:rPr sz="1800" spc="-15" dirty="0">
                <a:solidFill>
                  <a:srgbClr val="666666"/>
                </a:solidFill>
                <a:latin typeface="Consolas" panose="020B0609020204030204"/>
                <a:cs typeface="Consolas" panose="020B0609020204030204"/>
              </a:rPr>
              <a:t> </a:t>
            </a:r>
            <a:r>
              <a:rPr sz="1800" dirty="0">
                <a:solidFill>
                  <a:srgbClr val="666666"/>
                </a:solidFill>
                <a:latin typeface="Consolas" panose="020B0609020204030204"/>
                <a:cs typeface="Consolas" panose="020B0609020204030204"/>
              </a:rPr>
              <a:t>2</a:t>
            </a:r>
            <a:endParaRPr sz="1800" dirty="0">
              <a:latin typeface="Consolas" panose="020B0609020204030204"/>
              <a:cs typeface="Consolas" panose="020B0609020204030204"/>
            </a:endParaRPr>
          </a:p>
          <a:p>
            <a:pPr marL="1249045" marR="1343025" indent="-502920">
              <a:lnSpc>
                <a:spcPct val="100000"/>
              </a:lnSpc>
              <a:spcBef>
                <a:spcPts val="50"/>
              </a:spcBef>
            </a:pPr>
            <a:r>
              <a:rPr sz="1800" b="1" dirty="0">
                <a:solidFill>
                  <a:srgbClr val="008000"/>
                </a:solidFill>
                <a:latin typeface="Consolas" panose="020B0609020204030204"/>
                <a:cs typeface="Consolas" panose="020B0609020204030204"/>
              </a:rPr>
              <a:t>for n </a:t>
            </a:r>
            <a:r>
              <a:rPr sz="1800" b="1" dirty="0">
                <a:solidFill>
                  <a:srgbClr val="AA22FF"/>
                </a:solidFill>
                <a:latin typeface="Consolas" panose="020B0609020204030204"/>
                <a:cs typeface="Consolas" panose="020B0609020204030204"/>
              </a:rPr>
              <a:t>in </a:t>
            </a:r>
            <a:r>
              <a:rPr sz="1800" b="1" dirty="0">
                <a:solidFill>
                  <a:srgbClr val="008000"/>
                </a:solidFill>
                <a:latin typeface="Consolas" panose="020B0609020204030204"/>
                <a:cs typeface="Consolas" panose="020B0609020204030204"/>
              </a:rPr>
              <a:t>range(</a:t>
            </a:r>
            <a:r>
              <a:rPr sz="1800" b="1" dirty="0">
                <a:solidFill>
                  <a:srgbClr val="666666"/>
                </a:solidFill>
                <a:latin typeface="Consolas" panose="020B0609020204030204"/>
                <a:cs typeface="Consolas" panose="020B0609020204030204"/>
              </a:rPr>
              <a:t>2, position):  </a:t>
            </a:r>
            <a:r>
              <a:rPr sz="1800" dirty="0">
                <a:latin typeface="Consolas" panose="020B0609020204030204"/>
                <a:cs typeface="Consolas" panose="020B0609020204030204"/>
              </a:rPr>
              <a:t>previous_but_one </a:t>
            </a:r>
            <a:r>
              <a:rPr sz="1800" dirty="0">
                <a:solidFill>
                  <a:srgbClr val="666666"/>
                </a:solidFill>
                <a:latin typeface="Consolas" panose="020B0609020204030204"/>
                <a:cs typeface="Consolas" panose="020B0609020204030204"/>
              </a:rPr>
              <a:t>=</a:t>
            </a:r>
            <a:r>
              <a:rPr sz="1800" spc="-100" dirty="0">
                <a:solidFill>
                  <a:srgbClr val="666666"/>
                </a:solidFill>
                <a:latin typeface="Consolas" panose="020B0609020204030204"/>
                <a:cs typeface="Consolas" panose="020B0609020204030204"/>
              </a:rPr>
              <a:t> </a:t>
            </a:r>
            <a:r>
              <a:rPr sz="1800" dirty="0">
                <a:solidFill>
                  <a:srgbClr val="666666"/>
                </a:solidFill>
                <a:latin typeface="Consolas" panose="020B0609020204030204"/>
                <a:cs typeface="Consolas" panose="020B0609020204030204"/>
              </a:rPr>
              <a:t>previous  </a:t>
            </a:r>
            <a:r>
              <a:rPr sz="1800" dirty="0">
                <a:latin typeface="Consolas" panose="020B0609020204030204"/>
                <a:cs typeface="Consolas" panose="020B0609020204030204"/>
              </a:rPr>
              <a:t>previous </a:t>
            </a:r>
            <a:r>
              <a:rPr sz="1800" dirty="0">
                <a:solidFill>
                  <a:srgbClr val="666666"/>
                </a:solidFill>
                <a:latin typeface="Consolas" panose="020B0609020204030204"/>
                <a:cs typeface="Consolas" panose="020B0609020204030204"/>
              </a:rPr>
              <a:t>=</a:t>
            </a:r>
            <a:r>
              <a:rPr sz="1800" spc="-25" dirty="0">
                <a:solidFill>
                  <a:srgbClr val="666666"/>
                </a:solidFill>
                <a:latin typeface="Consolas" panose="020B0609020204030204"/>
                <a:cs typeface="Consolas" panose="020B0609020204030204"/>
              </a:rPr>
              <a:t> </a:t>
            </a:r>
            <a:r>
              <a:rPr sz="1800" dirty="0">
                <a:solidFill>
                  <a:srgbClr val="666666"/>
                </a:solidFill>
                <a:latin typeface="Consolas" panose="020B0609020204030204"/>
                <a:cs typeface="Consolas" panose="020B0609020204030204"/>
              </a:rPr>
              <a:t>result</a:t>
            </a:r>
            <a:endParaRPr sz="1800" dirty="0">
              <a:latin typeface="Consolas" panose="020B0609020204030204"/>
              <a:cs typeface="Consolas" panose="020B0609020204030204"/>
            </a:endParaRPr>
          </a:p>
          <a:p>
            <a:pPr marL="1249045">
              <a:lnSpc>
                <a:spcPts val="2130"/>
              </a:lnSpc>
              <a:spcBef>
                <a:spcPts val="40"/>
              </a:spcBef>
            </a:pPr>
            <a:r>
              <a:rPr sz="1800" dirty="0">
                <a:latin typeface="Consolas" panose="020B0609020204030204"/>
                <a:cs typeface="Consolas" panose="020B0609020204030204"/>
              </a:rPr>
              <a:t>result </a:t>
            </a:r>
            <a:r>
              <a:rPr sz="1800" dirty="0">
                <a:solidFill>
                  <a:srgbClr val="666666"/>
                </a:solidFill>
                <a:latin typeface="Consolas" panose="020B0609020204030204"/>
                <a:cs typeface="Consolas" panose="020B0609020204030204"/>
              </a:rPr>
              <a:t>= previous +</a:t>
            </a:r>
            <a:r>
              <a:rPr sz="1800" spc="-80" dirty="0">
                <a:solidFill>
                  <a:srgbClr val="666666"/>
                </a:solidFill>
                <a:latin typeface="Consolas" panose="020B0609020204030204"/>
                <a:cs typeface="Consolas" panose="020B0609020204030204"/>
              </a:rPr>
              <a:t> </a:t>
            </a:r>
            <a:r>
              <a:rPr sz="1800" dirty="0">
                <a:solidFill>
                  <a:srgbClr val="666666"/>
                </a:solidFill>
                <a:latin typeface="Consolas" panose="020B0609020204030204"/>
                <a:cs typeface="Consolas" panose="020B0609020204030204"/>
              </a:rPr>
              <a:t>previous_but_one</a:t>
            </a:r>
            <a:endParaRPr sz="1800" dirty="0">
              <a:latin typeface="Consolas" panose="020B0609020204030204"/>
              <a:cs typeface="Consolas" panose="020B0609020204030204"/>
            </a:endParaRPr>
          </a:p>
          <a:p>
            <a:pPr marL="746125">
              <a:lnSpc>
                <a:spcPts val="2130"/>
              </a:lnSpc>
            </a:pPr>
            <a:r>
              <a:rPr sz="1800" b="1" dirty="0">
                <a:solidFill>
                  <a:srgbClr val="008000"/>
                </a:solidFill>
                <a:latin typeface="Consolas" panose="020B0609020204030204"/>
                <a:cs typeface="Consolas" panose="020B0609020204030204"/>
              </a:rPr>
              <a:t>return</a:t>
            </a:r>
            <a:r>
              <a:rPr sz="1800" b="1" spc="-5" dirty="0">
                <a:solidFill>
                  <a:srgbClr val="008000"/>
                </a:solidFill>
                <a:latin typeface="Consolas" panose="020B0609020204030204"/>
                <a:cs typeface="Consolas" panose="020B0609020204030204"/>
              </a:rPr>
              <a:t> </a:t>
            </a:r>
            <a:r>
              <a:rPr sz="1800" b="1" dirty="0">
                <a:solidFill>
                  <a:srgbClr val="008000"/>
                </a:solidFill>
                <a:latin typeface="Consolas" panose="020B0609020204030204"/>
                <a:cs typeface="Consolas" panose="020B0609020204030204"/>
              </a:rPr>
              <a:t>result</a:t>
            </a:r>
            <a:endParaRPr sz="1800" dirty="0">
              <a:latin typeface="Consolas" panose="020B0609020204030204"/>
              <a:cs typeface="Consolas" panose="020B0609020204030204"/>
            </a:endParaRPr>
          </a:p>
        </p:txBody>
      </p:sp>
      <p:sp>
        <p:nvSpPr>
          <p:cNvPr id="6" name="object 6"/>
          <p:cNvSpPr/>
          <p:nvPr/>
        </p:nvSpPr>
        <p:spPr>
          <a:xfrm>
            <a:off x="5012269" y="3386673"/>
            <a:ext cx="406400" cy="372745"/>
          </a:xfrm>
          <a:custGeom>
            <a:avLst/>
            <a:gdLst/>
            <a:ahLst/>
            <a:cxnLst/>
            <a:rect l="l" t="t" r="r" b="b"/>
            <a:pathLst>
              <a:path w="406400" h="372745">
                <a:moveTo>
                  <a:pt x="220134" y="0"/>
                </a:moveTo>
                <a:lnTo>
                  <a:pt x="220134" y="93132"/>
                </a:lnTo>
                <a:lnTo>
                  <a:pt x="0" y="93132"/>
                </a:lnTo>
                <a:lnTo>
                  <a:pt x="0" y="279400"/>
                </a:lnTo>
                <a:lnTo>
                  <a:pt x="220134" y="279400"/>
                </a:lnTo>
                <a:lnTo>
                  <a:pt x="220134" y="372532"/>
                </a:lnTo>
                <a:lnTo>
                  <a:pt x="406400" y="186267"/>
                </a:lnTo>
                <a:lnTo>
                  <a:pt x="220134" y="0"/>
                </a:lnTo>
                <a:close/>
              </a:path>
            </a:pathLst>
          </a:custGeom>
          <a:solidFill>
            <a:srgbClr val="797BA9"/>
          </a:solidFill>
        </p:spPr>
        <p:txBody>
          <a:bodyPr wrap="square" lIns="0" tIns="0" rIns="0" bIns="0" rtlCol="0"/>
          <a:lstStyle/>
          <a:p>
            <a:endParaRPr/>
          </a:p>
        </p:txBody>
      </p:sp>
      <p:sp>
        <p:nvSpPr>
          <p:cNvPr id="8" name="标题 7"/>
          <p:cNvSpPr>
            <a:spLocks noGrp="1"/>
          </p:cNvSpPr>
          <p:nvPr>
            <p:ph type="title"/>
          </p:nvPr>
        </p:nvSpPr>
        <p:spPr/>
        <p:txBody>
          <a:bodyPr/>
          <a:lstStyle/>
          <a:p>
            <a:r>
              <a:rPr lang="en-US" altLang="zh-CN" dirty="0">
                <a:latin typeface="Arial" panose="020B0604020202020204"/>
                <a:cs typeface="Arial" panose="020B0604020202020204"/>
              </a:rPr>
              <a:t>Pyt</a:t>
            </a:r>
            <a:r>
              <a:rPr lang="en-US" altLang="zh-CN" spc="-5" dirty="0">
                <a:latin typeface="Arial" panose="020B0604020202020204"/>
                <a:cs typeface="Arial" panose="020B0604020202020204"/>
              </a:rPr>
              <a:t>ho</a:t>
            </a:r>
            <a:r>
              <a:rPr lang="en-US" altLang="zh-CN" dirty="0">
                <a:latin typeface="Arial" panose="020B0604020202020204"/>
                <a:cs typeface="Arial" panose="020B0604020202020204"/>
              </a:rPr>
              <a:t>n</a:t>
            </a:r>
            <a:r>
              <a:rPr lang="zh-CN" altLang="en-US" dirty="0"/>
              <a:t>编程规范：命名</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16</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1552"/>
    </mc:Choice>
    <mc:Fallback xmlns="">
      <p:transition spd="slow" advTm="41552"/>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74541" y="1490087"/>
            <a:ext cx="291719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008000"/>
                </a:solidFill>
                <a:latin typeface="Consolas" panose="020B0609020204030204"/>
                <a:cs typeface="Consolas" panose="020B0609020204030204"/>
              </a:rPr>
              <a:t>print(</a:t>
            </a:r>
            <a:r>
              <a:rPr sz="1800" b="1" dirty="0">
                <a:solidFill>
                  <a:srgbClr val="BA2121"/>
                </a:solidFill>
                <a:latin typeface="Consolas" panose="020B0609020204030204"/>
                <a:cs typeface="Consolas" panose="020B0609020204030204"/>
              </a:rPr>
              <a:t>"Hello,</a:t>
            </a:r>
            <a:r>
              <a:rPr sz="1800" b="1" spc="-95" dirty="0">
                <a:solidFill>
                  <a:srgbClr val="BA2121"/>
                </a:solidFill>
                <a:latin typeface="Consolas" panose="020B0609020204030204"/>
                <a:cs typeface="Consolas" panose="020B0609020204030204"/>
              </a:rPr>
              <a:t> </a:t>
            </a:r>
            <a:r>
              <a:rPr sz="1800" b="1" dirty="0">
                <a:solidFill>
                  <a:srgbClr val="BA2121"/>
                </a:solidFill>
                <a:latin typeface="Consolas" panose="020B0609020204030204"/>
                <a:cs typeface="Consolas" panose="020B0609020204030204"/>
              </a:rPr>
              <a:t>world!");</a:t>
            </a:r>
            <a:endParaRPr sz="1800">
              <a:latin typeface="Consolas" panose="020B0609020204030204"/>
              <a:cs typeface="Consolas" panose="020B0609020204030204"/>
            </a:endParaRPr>
          </a:p>
        </p:txBody>
      </p:sp>
      <p:sp>
        <p:nvSpPr>
          <p:cNvPr id="4" name="object 4"/>
          <p:cNvSpPr txBox="1"/>
          <p:nvPr/>
        </p:nvSpPr>
        <p:spPr>
          <a:xfrm>
            <a:off x="874541" y="3550252"/>
            <a:ext cx="2162175" cy="566420"/>
          </a:xfrm>
          <a:prstGeom prst="rect">
            <a:avLst/>
          </a:prstGeom>
        </p:spPr>
        <p:txBody>
          <a:bodyPr vert="horz" wrap="square" lIns="0" tIns="27939" rIns="0" bIns="0" rtlCol="0">
            <a:spAutoFit/>
          </a:bodyPr>
          <a:lstStyle/>
          <a:p>
            <a:pPr marL="514985" marR="5080" indent="-502920">
              <a:lnSpc>
                <a:spcPts val="2100"/>
              </a:lnSpc>
              <a:spcBef>
                <a:spcPts val="220"/>
              </a:spcBef>
            </a:pPr>
            <a:r>
              <a:rPr sz="1800" b="1" dirty="0">
                <a:solidFill>
                  <a:srgbClr val="008000"/>
                </a:solidFill>
                <a:latin typeface="Consolas" panose="020B0609020204030204"/>
                <a:cs typeface="Consolas" panose="020B0609020204030204"/>
              </a:rPr>
              <a:t>class</a:t>
            </a:r>
            <a:r>
              <a:rPr sz="1800" b="1" spc="-105" dirty="0">
                <a:solidFill>
                  <a:srgbClr val="008000"/>
                </a:solidFill>
                <a:latin typeface="Consolas" panose="020B0609020204030204"/>
                <a:cs typeface="Consolas" panose="020B0609020204030204"/>
              </a:rPr>
              <a:t> </a:t>
            </a:r>
            <a:r>
              <a:rPr sz="1800" b="1" u="heavy" dirty="0">
                <a:solidFill>
                  <a:srgbClr val="0000FF"/>
                </a:solidFill>
                <a:uFill>
                  <a:solidFill>
                    <a:srgbClr val="FF2600"/>
                  </a:solidFill>
                </a:uFill>
                <a:latin typeface="Consolas" panose="020B0609020204030204"/>
                <a:cs typeface="Consolas" panose="020B0609020204030204"/>
              </a:rPr>
              <a:t>book_shelf</a:t>
            </a:r>
            <a:r>
              <a:rPr sz="1800" b="1" dirty="0">
                <a:solidFill>
                  <a:srgbClr val="008000"/>
                </a:solidFill>
                <a:latin typeface="Consolas" panose="020B0609020204030204"/>
                <a:cs typeface="Consolas" panose="020B0609020204030204"/>
              </a:rPr>
              <a:t>:  pass</a:t>
            </a:r>
            <a:endParaRPr sz="1800">
              <a:latin typeface="Consolas" panose="020B0609020204030204"/>
              <a:cs typeface="Consolas" panose="020B0609020204030204"/>
            </a:endParaRPr>
          </a:p>
        </p:txBody>
      </p:sp>
      <p:sp>
        <p:nvSpPr>
          <p:cNvPr id="5" name="object 5"/>
          <p:cNvSpPr txBox="1"/>
          <p:nvPr/>
        </p:nvSpPr>
        <p:spPr>
          <a:xfrm>
            <a:off x="874541" y="5089906"/>
            <a:ext cx="341947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onsolas" panose="020B0609020204030204"/>
                <a:cs typeface="Consolas" panose="020B0609020204030204"/>
              </a:rPr>
              <a:t>f </a:t>
            </a:r>
            <a:r>
              <a:rPr sz="1800" dirty="0">
                <a:solidFill>
                  <a:srgbClr val="666666"/>
                </a:solidFill>
                <a:latin typeface="Consolas" panose="020B0609020204030204"/>
                <a:cs typeface="Consolas" panose="020B0609020204030204"/>
              </a:rPr>
              <a:t>= </a:t>
            </a:r>
            <a:r>
              <a:rPr sz="1800" dirty="0">
                <a:solidFill>
                  <a:srgbClr val="008000"/>
                </a:solidFill>
                <a:latin typeface="Consolas" panose="020B0609020204030204"/>
                <a:cs typeface="Consolas" panose="020B0609020204030204"/>
              </a:rPr>
              <a:t>open(</a:t>
            </a:r>
            <a:r>
              <a:rPr sz="1800" dirty="0">
                <a:solidFill>
                  <a:srgbClr val="BA2121"/>
                </a:solidFill>
                <a:latin typeface="Consolas" panose="020B0609020204030204"/>
                <a:cs typeface="Consolas" panose="020B0609020204030204"/>
              </a:rPr>
              <a:t>'output.txt',</a:t>
            </a:r>
            <a:r>
              <a:rPr sz="1800" spc="-100" dirty="0">
                <a:solidFill>
                  <a:srgbClr val="BA2121"/>
                </a:solidFill>
                <a:latin typeface="Consolas" panose="020B0609020204030204"/>
                <a:cs typeface="Consolas" panose="020B0609020204030204"/>
              </a:rPr>
              <a:t> </a:t>
            </a:r>
            <a:r>
              <a:rPr sz="1800" dirty="0">
                <a:solidFill>
                  <a:srgbClr val="BA2121"/>
                </a:solidFill>
                <a:latin typeface="Consolas" panose="020B0609020204030204"/>
                <a:cs typeface="Consolas" panose="020B0609020204030204"/>
              </a:rPr>
              <a:t>'w')</a:t>
            </a:r>
            <a:endParaRPr sz="1800">
              <a:latin typeface="Consolas" panose="020B0609020204030204"/>
              <a:cs typeface="Consolas" panose="020B0609020204030204"/>
            </a:endParaRPr>
          </a:p>
        </p:txBody>
      </p:sp>
      <p:sp>
        <p:nvSpPr>
          <p:cNvPr id="6" name="object 6"/>
          <p:cNvSpPr txBox="1"/>
          <p:nvPr/>
        </p:nvSpPr>
        <p:spPr>
          <a:xfrm>
            <a:off x="838200" y="5721234"/>
            <a:ext cx="2324735" cy="566420"/>
          </a:xfrm>
          <a:prstGeom prst="rect">
            <a:avLst/>
          </a:prstGeom>
        </p:spPr>
        <p:txBody>
          <a:bodyPr vert="horz" wrap="square" lIns="0" tIns="12700" rIns="0" bIns="0" rtlCol="0">
            <a:spAutoFit/>
          </a:bodyPr>
          <a:lstStyle/>
          <a:p>
            <a:pPr marL="12700">
              <a:lnSpc>
                <a:spcPts val="2130"/>
              </a:lnSpc>
              <a:spcBef>
                <a:spcPts val="100"/>
              </a:spcBef>
            </a:pPr>
            <a:r>
              <a:rPr sz="1800" u="heavy" spc="-165" dirty="0">
                <a:solidFill>
                  <a:srgbClr val="008000"/>
                </a:solidFill>
                <a:uFill>
                  <a:solidFill>
                    <a:srgbClr val="FF2600"/>
                  </a:solidFill>
                </a:uFill>
                <a:latin typeface="Times New Roman" panose="02020603050405020304"/>
                <a:cs typeface="Times New Roman" panose="02020603050405020304"/>
              </a:rPr>
              <a:t> </a:t>
            </a:r>
            <a:r>
              <a:rPr sz="1800" b="1" u="heavy" dirty="0">
                <a:solidFill>
                  <a:srgbClr val="008000"/>
                </a:solidFill>
                <a:uFill>
                  <a:solidFill>
                    <a:srgbClr val="FF2600"/>
                  </a:solidFill>
                </a:uFill>
                <a:latin typeface="Consolas" panose="020B0609020204030204"/>
                <a:cs typeface="Consolas" panose="020B0609020204030204"/>
              </a:rPr>
              <a:t>if n </a:t>
            </a:r>
            <a:r>
              <a:rPr sz="1800" b="1" u="heavy" dirty="0">
                <a:solidFill>
                  <a:srgbClr val="666666"/>
                </a:solidFill>
                <a:uFill>
                  <a:solidFill>
                    <a:srgbClr val="FF2600"/>
                  </a:solidFill>
                </a:uFill>
                <a:latin typeface="Consolas" panose="020B0609020204030204"/>
                <a:cs typeface="Consolas" panose="020B0609020204030204"/>
              </a:rPr>
              <a:t>&gt; 5:</a:t>
            </a:r>
            <a:r>
              <a:rPr sz="1800" b="1" u="heavy" spc="-105" dirty="0">
                <a:solidFill>
                  <a:srgbClr val="666666"/>
                </a:solidFill>
                <a:uFill>
                  <a:solidFill>
                    <a:srgbClr val="FF2600"/>
                  </a:solidFill>
                </a:uFill>
                <a:latin typeface="Consolas" panose="020B0609020204030204"/>
                <a:cs typeface="Consolas" panose="020B0609020204030204"/>
              </a:rPr>
              <a:t> </a:t>
            </a:r>
            <a:r>
              <a:rPr sz="1800" b="1" u="heavy" dirty="0">
                <a:solidFill>
                  <a:srgbClr val="008000"/>
                </a:solidFill>
                <a:uFill>
                  <a:solidFill>
                    <a:srgbClr val="FF2600"/>
                  </a:solidFill>
                </a:uFill>
                <a:latin typeface="Consolas" panose="020B0609020204030204"/>
                <a:cs typeface="Consolas" panose="020B0609020204030204"/>
              </a:rPr>
              <a:t>print(n)</a:t>
            </a:r>
            <a:endParaRPr sz="1800">
              <a:latin typeface="Consolas" panose="020B0609020204030204"/>
              <a:cs typeface="Consolas" panose="020B0609020204030204"/>
            </a:endParaRPr>
          </a:p>
          <a:p>
            <a:pPr marL="12700">
              <a:lnSpc>
                <a:spcPts val="2130"/>
              </a:lnSpc>
            </a:pPr>
            <a:r>
              <a:rPr sz="1800" u="heavy" spc="-165" dirty="0">
                <a:solidFill>
                  <a:srgbClr val="008000"/>
                </a:solidFill>
                <a:uFill>
                  <a:solidFill>
                    <a:srgbClr val="FF2600"/>
                  </a:solidFill>
                </a:uFill>
                <a:latin typeface="Times New Roman" panose="02020603050405020304"/>
                <a:cs typeface="Times New Roman" panose="02020603050405020304"/>
              </a:rPr>
              <a:t> </a:t>
            </a:r>
            <a:r>
              <a:rPr sz="1800" b="1" u="heavy" dirty="0">
                <a:solidFill>
                  <a:srgbClr val="008000"/>
                </a:solidFill>
                <a:uFill>
                  <a:solidFill>
                    <a:srgbClr val="FF2600"/>
                  </a:solidFill>
                </a:uFill>
                <a:latin typeface="Consolas" panose="020B0609020204030204"/>
                <a:cs typeface="Consolas" panose="020B0609020204030204"/>
              </a:rPr>
              <a:t>else: n </a:t>
            </a:r>
            <a:r>
              <a:rPr sz="1800" b="1" u="heavy" dirty="0">
                <a:solidFill>
                  <a:srgbClr val="666666"/>
                </a:solidFill>
                <a:uFill>
                  <a:solidFill>
                    <a:srgbClr val="FF2600"/>
                  </a:solidFill>
                </a:uFill>
                <a:latin typeface="Consolas" panose="020B0609020204030204"/>
                <a:cs typeface="Consolas" panose="020B0609020204030204"/>
              </a:rPr>
              <a:t>=</a:t>
            </a:r>
            <a:r>
              <a:rPr sz="1800" b="1" u="heavy" spc="-35" dirty="0">
                <a:solidFill>
                  <a:srgbClr val="666666"/>
                </a:solidFill>
                <a:uFill>
                  <a:solidFill>
                    <a:srgbClr val="FF2600"/>
                  </a:solidFill>
                </a:uFill>
                <a:latin typeface="Consolas" panose="020B0609020204030204"/>
                <a:cs typeface="Consolas" panose="020B0609020204030204"/>
              </a:rPr>
              <a:t> </a:t>
            </a:r>
            <a:r>
              <a:rPr sz="1800" b="1" u="heavy" dirty="0">
                <a:solidFill>
                  <a:srgbClr val="666666"/>
                </a:solidFill>
                <a:uFill>
                  <a:solidFill>
                    <a:srgbClr val="FF2600"/>
                  </a:solidFill>
                </a:uFill>
                <a:latin typeface="Consolas" panose="020B0609020204030204"/>
                <a:cs typeface="Consolas" panose="020B0609020204030204"/>
              </a:rPr>
              <a:t>6</a:t>
            </a:r>
            <a:endParaRPr sz="1800">
              <a:latin typeface="Consolas" panose="020B0609020204030204"/>
              <a:cs typeface="Consolas" panose="020B0609020204030204"/>
            </a:endParaRPr>
          </a:p>
        </p:txBody>
      </p:sp>
      <p:sp>
        <p:nvSpPr>
          <p:cNvPr id="7" name="object 7"/>
          <p:cNvSpPr txBox="1"/>
          <p:nvPr/>
        </p:nvSpPr>
        <p:spPr>
          <a:xfrm>
            <a:off x="838200" y="4458579"/>
            <a:ext cx="2952750" cy="299720"/>
          </a:xfrm>
          <a:prstGeom prst="rect">
            <a:avLst/>
          </a:prstGeom>
        </p:spPr>
        <p:txBody>
          <a:bodyPr vert="horz" wrap="square" lIns="0" tIns="12700" rIns="0" bIns="0" rtlCol="0">
            <a:spAutoFit/>
          </a:bodyPr>
          <a:lstStyle/>
          <a:p>
            <a:pPr marL="12700">
              <a:lnSpc>
                <a:spcPct val="100000"/>
              </a:lnSpc>
              <a:spcBef>
                <a:spcPts val="100"/>
              </a:spcBef>
            </a:pPr>
            <a:r>
              <a:rPr sz="1800" u="heavy" spc="-165" dirty="0">
                <a:uFill>
                  <a:solidFill>
                    <a:srgbClr val="FF2600"/>
                  </a:solidFill>
                </a:uFill>
                <a:latin typeface="Times New Roman" panose="02020603050405020304"/>
                <a:cs typeface="Times New Roman" panose="02020603050405020304"/>
              </a:rPr>
              <a:t> </a:t>
            </a:r>
            <a:r>
              <a:rPr sz="1800" u="heavy" dirty="0">
                <a:uFill>
                  <a:solidFill>
                    <a:srgbClr val="FF2600"/>
                  </a:solidFill>
                </a:uFill>
                <a:latin typeface="Consolas" panose="020B0609020204030204"/>
                <a:cs typeface="Consolas" panose="020B0609020204030204"/>
              </a:rPr>
              <a:t>bookShelf</a:t>
            </a:r>
            <a:r>
              <a:rPr sz="1800" dirty="0">
                <a:latin typeface="Consolas" panose="020B0609020204030204"/>
                <a:cs typeface="Consolas" panose="020B0609020204030204"/>
              </a:rPr>
              <a:t> </a:t>
            </a:r>
            <a:r>
              <a:rPr sz="1800" dirty="0">
                <a:solidFill>
                  <a:srgbClr val="666666"/>
                </a:solidFill>
                <a:latin typeface="Consolas" panose="020B0609020204030204"/>
                <a:cs typeface="Consolas" panose="020B0609020204030204"/>
              </a:rPr>
              <a:t>=</a:t>
            </a:r>
            <a:r>
              <a:rPr sz="1800" spc="-95" dirty="0">
                <a:solidFill>
                  <a:srgbClr val="666666"/>
                </a:solidFill>
                <a:latin typeface="Consolas" panose="020B0609020204030204"/>
                <a:cs typeface="Consolas" panose="020B0609020204030204"/>
              </a:rPr>
              <a:t> </a:t>
            </a:r>
            <a:r>
              <a:rPr sz="1800" dirty="0">
                <a:solidFill>
                  <a:srgbClr val="666666"/>
                </a:solidFill>
                <a:latin typeface="Consolas" panose="020B0609020204030204"/>
                <a:cs typeface="Consolas" panose="020B0609020204030204"/>
              </a:rPr>
              <a:t>BookShelf()</a:t>
            </a:r>
            <a:endParaRPr sz="1800">
              <a:latin typeface="Consolas" panose="020B0609020204030204"/>
              <a:cs typeface="Consolas" panose="020B0609020204030204"/>
            </a:endParaRPr>
          </a:p>
        </p:txBody>
      </p:sp>
      <p:sp>
        <p:nvSpPr>
          <p:cNvPr id="8" name="object 8"/>
          <p:cNvSpPr/>
          <p:nvPr/>
        </p:nvSpPr>
        <p:spPr>
          <a:xfrm>
            <a:off x="900135" y="2693496"/>
            <a:ext cx="490855" cy="175895"/>
          </a:xfrm>
          <a:custGeom>
            <a:avLst/>
            <a:gdLst/>
            <a:ahLst/>
            <a:cxnLst/>
            <a:rect l="l" t="t" r="r" b="b"/>
            <a:pathLst>
              <a:path w="490855" h="175894">
                <a:moveTo>
                  <a:pt x="490504" y="0"/>
                </a:moveTo>
                <a:lnTo>
                  <a:pt x="489354" y="34184"/>
                </a:lnTo>
                <a:lnTo>
                  <a:pt x="486218" y="62099"/>
                </a:lnTo>
                <a:lnTo>
                  <a:pt x="481565" y="80920"/>
                </a:lnTo>
                <a:lnTo>
                  <a:pt x="475868" y="87822"/>
                </a:lnTo>
                <a:lnTo>
                  <a:pt x="259889" y="87822"/>
                </a:lnTo>
                <a:lnTo>
                  <a:pt x="254192" y="94723"/>
                </a:lnTo>
                <a:lnTo>
                  <a:pt x="249539" y="113544"/>
                </a:lnTo>
                <a:lnTo>
                  <a:pt x="246403" y="141459"/>
                </a:lnTo>
                <a:lnTo>
                  <a:pt x="245252" y="175643"/>
                </a:lnTo>
                <a:lnTo>
                  <a:pt x="244102" y="141459"/>
                </a:lnTo>
                <a:lnTo>
                  <a:pt x="240966" y="113544"/>
                </a:lnTo>
                <a:lnTo>
                  <a:pt x="236313" y="94723"/>
                </a:lnTo>
                <a:lnTo>
                  <a:pt x="230617" y="87822"/>
                </a:lnTo>
                <a:lnTo>
                  <a:pt x="14636" y="87822"/>
                </a:lnTo>
                <a:lnTo>
                  <a:pt x="8939" y="80920"/>
                </a:lnTo>
                <a:lnTo>
                  <a:pt x="4286" y="62099"/>
                </a:lnTo>
                <a:lnTo>
                  <a:pt x="1150" y="34184"/>
                </a:lnTo>
                <a:lnTo>
                  <a:pt x="0" y="0"/>
                </a:lnTo>
              </a:path>
            </a:pathLst>
          </a:custGeom>
          <a:ln w="38099">
            <a:solidFill>
              <a:srgbClr val="F2913F"/>
            </a:solidFill>
          </a:ln>
        </p:spPr>
        <p:txBody>
          <a:bodyPr wrap="square" lIns="0" tIns="0" rIns="0" bIns="0" rtlCol="0"/>
          <a:lstStyle/>
          <a:p>
            <a:endParaRPr/>
          </a:p>
        </p:txBody>
      </p:sp>
      <p:sp>
        <p:nvSpPr>
          <p:cNvPr id="9" name="object 9"/>
          <p:cNvSpPr txBox="1"/>
          <p:nvPr/>
        </p:nvSpPr>
        <p:spPr>
          <a:xfrm>
            <a:off x="874541" y="2121414"/>
            <a:ext cx="8630920" cy="1193165"/>
          </a:xfrm>
          <a:prstGeom prst="rect">
            <a:avLst/>
          </a:prstGeom>
        </p:spPr>
        <p:txBody>
          <a:bodyPr vert="horz" wrap="square" lIns="0" tIns="12700" rIns="0" bIns="0" rtlCol="0">
            <a:spAutoFit/>
          </a:bodyPr>
          <a:lstStyle/>
          <a:p>
            <a:pPr marL="12700">
              <a:lnSpc>
                <a:spcPts val="2130"/>
              </a:lnSpc>
              <a:spcBef>
                <a:spcPts val="100"/>
              </a:spcBef>
            </a:pPr>
            <a:r>
              <a:rPr sz="1800" b="1" dirty="0">
                <a:solidFill>
                  <a:srgbClr val="008000"/>
                </a:solidFill>
                <a:latin typeface="Consolas" panose="020B0609020204030204"/>
                <a:cs typeface="Consolas" panose="020B0609020204030204"/>
              </a:rPr>
              <a:t>for i </a:t>
            </a:r>
            <a:r>
              <a:rPr sz="1800" b="1" dirty="0">
                <a:solidFill>
                  <a:srgbClr val="AA22FF"/>
                </a:solidFill>
                <a:latin typeface="Consolas" panose="020B0609020204030204"/>
                <a:cs typeface="Consolas" panose="020B0609020204030204"/>
              </a:rPr>
              <a:t>in</a:t>
            </a:r>
            <a:r>
              <a:rPr sz="1800" b="1" spc="-20" dirty="0">
                <a:solidFill>
                  <a:srgbClr val="AA22FF"/>
                </a:solidFill>
                <a:latin typeface="Consolas" panose="020B0609020204030204"/>
                <a:cs typeface="Consolas" panose="020B0609020204030204"/>
              </a:rPr>
              <a:t> </a:t>
            </a:r>
            <a:r>
              <a:rPr sz="1800" b="1" dirty="0">
                <a:solidFill>
                  <a:srgbClr val="008000"/>
                </a:solidFill>
                <a:latin typeface="Consolas" panose="020B0609020204030204"/>
                <a:cs typeface="Consolas" panose="020B0609020204030204"/>
              </a:rPr>
              <a:t>range(n):</a:t>
            </a:r>
            <a:endParaRPr sz="1800">
              <a:latin typeface="Consolas" panose="020B0609020204030204"/>
              <a:cs typeface="Consolas" panose="020B0609020204030204"/>
            </a:endParaRPr>
          </a:p>
          <a:p>
            <a:pPr marL="514985">
              <a:lnSpc>
                <a:spcPts val="2130"/>
              </a:lnSpc>
            </a:pPr>
            <a:r>
              <a:rPr sz="1800" dirty="0">
                <a:latin typeface="Consolas" panose="020B0609020204030204"/>
                <a:cs typeface="Consolas" panose="020B0609020204030204"/>
              </a:rPr>
              <a:t>result </a:t>
            </a:r>
            <a:r>
              <a:rPr sz="1800" dirty="0">
                <a:solidFill>
                  <a:srgbClr val="666666"/>
                </a:solidFill>
                <a:latin typeface="Consolas" panose="020B0609020204030204"/>
                <a:cs typeface="Consolas" panose="020B0609020204030204"/>
              </a:rPr>
              <a:t>+=</a:t>
            </a:r>
            <a:r>
              <a:rPr sz="1800" spc="-15" dirty="0">
                <a:solidFill>
                  <a:srgbClr val="666666"/>
                </a:solidFill>
                <a:latin typeface="Consolas" panose="020B0609020204030204"/>
                <a:cs typeface="Consolas" panose="020B0609020204030204"/>
              </a:rPr>
              <a:t> </a:t>
            </a:r>
            <a:r>
              <a:rPr sz="1800" dirty="0">
                <a:solidFill>
                  <a:srgbClr val="666666"/>
                </a:solidFill>
                <a:latin typeface="Consolas" panose="020B0609020204030204"/>
                <a:cs typeface="Consolas" panose="020B0609020204030204"/>
              </a:rPr>
              <a:t>i</a:t>
            </a:r>
            <a:endParaRPr sz="1800">
              <a:latin typeface="Consolas" panose="020B0609020204030204"/>
              <a:cs typeface="Consolas" panose="020B0609020204030204"/>
            </a:endParaRPr>
          </a:p>
          <a:p>
            <a:pPr>
              <a:lnSpc>
                <a:spcPct val="100000"/>
              </a:lnSpc>
              <a:spcBef>
                <a:spcPts val="10"/>
              </a:spcBef>
            </a:pPr>
            <a:endParaRPr sz="2400">
              <a:latin typeface="Times New Roman" panose="02020603050405020304"/>
              <a:cs typeface="Times New Roman" panose="02020603050405020304"/>
            </a:endParaRPr>
          </a:p>
          <a:p>
            <a:pPr marL="116840">
              <a:lnSpc>
                <a:spcPct val="100000"/>
              </a:lnSpc>
            </a:pPr>
            <a:r>
              <a:rPr sz="1800" dirty="0">
                <a:latin typeface="微软雅黑" panose="020B0503020204020204" pitchFamily="34" charset="-122"/>
                <a:cs typeface="微软雅黑" panose="020B0503020204020204" pitchFamily="34" charset="-122"/>
              </a:rPr>
              <a:t>不要使用制表符</a:t>
            </a:r>
            <a:r>
              <a:rPr sz="1800" spc="-5" dirty="0">
                <a:latin typeface="微软雅黑" panose="020B0503020204020204" pitchFamily="34" charset="-122"/>
                <a:cs typeface="微软雅黑" panose="020B0503020204020204" pitchFamily="34" charset="-122"/>
              </a:rPr>
              <a:t>（</a:t>
            </a:r>
            <a:r>
              <a:rPr sz="1800" spc="-5" dirty="0">
                <a:latin typeface="Calibri" panose="020F0502020204030204"/>
                <a:cs typeface="Calibri" panose="020F0502020204030204"/>
              </a:rPr>
              <a:t>tab</a:t>
            </a:r>
            <a:r>
              <a:rPr sz="1800" spc="-5" dirty="0">
                <a:latin typeface="微软雅黑" panose="020B0503020204020204" pitchFamily="34" charset="-122"/>
                <a:cs typeface="微软雅黑" panose="020B0503020204020204" pitchFamily="34" charset="-122"/>
              </a:rPr>
              <a:t>）</a:t>
            </a:r>
            <a:r>
              <a:rPr sz="1800" dirty="0">
                <a:latin typeface="微软雅黑" panose="020B0503020204020204" pitchFamily="34" charset="-122"/>
                <a:cs typeface="微软雅黑" panose="020B0503020204020204" pitchFamily="34" charset="-122"/>
              </a:rPr>
              <a:t>进行缩进，千万不要混用</a:t>
            </a:r>
            <a:r>
              <a:rPr sz="1800" spc="-5" dirty="0">
                <a:latin typeface="Calibri" panose="020F0502020204030204"/>
                <a:cs typeface="Calibri" panose="020F0502020204030204"/>
              </a:rPr>
              <a:t>tab</a:t>
            </a:r>
            <a:r>
              <a:rPr sz="1800" dirty="0">
                <a:latin typeface="微软雅黑" panose="020B0503020204020204" pitchFamily="34" charset="-122"/>
                <a:cs typeface="微软雅黑" panose="020B0503020204020204" pitchFamily="34" charset="-122"/>
              </a:rPr>
              <a:t>与空格，应使用</a:t>
            </a:r>
            <a:r>
              <a:rPr sz="1800" dirty="0">
                <a:latin typeface="Calibri" panose="020F0502020204030204"/>
                <a:cs typeface="Calibri" panose="020F0502020204030204"/>
              </a:rPr>
              <a:t>4</a:t>
            </a:r>
            <a:r>
              <a:rPr sz="1800" dirty="0">
                <a:latin typeface="微软雅黑" panose="020B0503020204020204" pitchFamily="34" charset="-122"/>
                <a:cs typeface="微软雅黑" panose="020B0503020204020204" pitchFamily="34" charset="-122"/>
              </a:rPr>
              <a:t>个空格进行缩进</a:t>
            </a:r>
            <a:endParaRPr sz="1800">
              <a:latin typeface="微软雅黑" panose="020B0503020204020204" pitchFamily="34" charset="-122"/>
              <a:cs typeface="微软雅黑" panose="020B0503020204020204" pitchFamily="34" charset="-122"/>
            </a:endParaRPr>
          </a:p>
        </p:txBody>
      </p:sp>
      <p:sp>
        <p:nvSpPr>
          <p:cNvPr id="10" name="object 10"/>
          <p:cNvSpPr txBox="1"/>
          <p:nvPr/>
        </p:nvSpPr>
        <p:spPr>
          <a:xfrm>
            <a:off x="4939216" y="1490087"/>
            <a:ext cx="18542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不要在行尾加分号</a:t>
            </a:r>
            <a:endParaRPr sz="1800">
              <a:latin typeface="微软雅黑" panose="020B0503020204020204" pitchFamily="34" charset="-122"/>
              <a:cs typeface="微软雅黑" panose="020B0503020204020204" pitchFamily="34" charset="-122"/>
            </a:endParaRPr>
          </a:p>
        </p:txBody>
      </p:sp>
      <p:sp>
        <p:nvSpPr>
          <p:cNvPr id="11" name="object 11"/>
          <p:cNvSpPr/>
          <p:nvPr/>
        </p:nvSpPr>
        <p:spPr>
          <a:xfrm>
            <a:off x="3615202" y="1826399"/>
            <a:ext cx="140970" cy="0"/>
          </a:xfrm>
          <a:custGeom>
            <a:avLst/>
            <a:gdLst/>
            <a:ahLst/>
            <a:cxnLst/>
            <a:rect l="l" t="t" r="r" b="b"/>
            <a:pathLst>
              <a:path w="140970">
                <a:moveTo>
                  <a:pt x="0" y="0"/>
                </a:moveTo>
                <a:lnTo>
                  <a:pt x="140677" y="1"/>
                </a:lnTo>
              </a:path>
            </a:pathLst>
          </a:custGeom>
          <a:ln w="38099">
            <a:solidFill>
              <a:srgbClr val="FF2600"/>
            </a:solidFill>
          </a:ln>
        </p:spPr>
        <p:txBody>
          <a:bodyPr wrap="square" lIns="0" tIns="0" rIns="0" bIns="0" rtlCol="0"/>
          <a:lstStyle/>
          <a:p>
            <a:endParaRPr/>
          </a:p>
        </p:txBody>
      </p:sp>
      <p:sp>
        <p:nvSpPr>
          <p:cNvPr id="12" name="object 12"/>
          <p:cNvSpPr txBox="1"/>
          <p:nvPr/>
        </p:nvSpPr>
        <p:spPr>
          <a:xfrm>
            <a:off x="4939216" y="3670021"/>
            <a:ext cx="552894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类名应为驼峰风格且首字母大写，这里应该是</a:t>
            </a:r>
            <a:r>
              <a:rPr sz="1800" spc="-5" dirty="0">
                <a:latin typeface="Calibri" panose="020F0502020204030204"/>
                <a:cs typeface="Calibri" panose="020F0502020204030204"/>
              </a:rPr>
              <a:t>BookShelf</a:t>
            </a:r>
            <a:endParaRPr sz="1800">
              <a:latin typeface="Calibri" panose="020F0502020204030204"/>
              <a:cs typeface="Calibri" panose="020F0502020204030204"/>
            </a:endParaRPr>
          </a:p>
        </p:txBody>
      </p:sp>
      <p:sp>
        <p:nvSpPr>
          <p:cNvPr id="13" name="object 13"/>
          <p:cNvSpPr txBox="1"/>
          <p:nvPr/>
        </p:nvSpPr>
        <p:spPr>
          <a:xfrm>
            <a:off x="4929838" y="4458579"/>
            <a:ext cx="5164455" cy="289823"/>
          </a:xfrm>
          <a:prstGeom prst="rect">
            <a:avLst/>
          </a:prstGeom>
        </p:spPr>
        <p:txBody>
          <a:bodyPr vert="horz" wrap="square" lIns="0" tIns="12700" rIns="0" bIns="0" rtlCol="0">
            <a:spAutoFit/>
          </a:bodyPr>
          <a:lstStyle/>
          <a:p>
            <a:pPr marL="12700">
              <a:lnSpc>
                <a:spcPct val="100000"/>
              </a:lnSpc>
              <a:spcBef>
                <a:spcPts val="100"/>
              </a:spcBef>
            </a:pPr>
            <a:r>
              <a:rPr sz="1800" dirty="0" err="1">
                <a:latin typeface="微软雅黑" panose="020B0503020204020204" pitchFamily="34" charset="-122"/>
                <a:cs typeface="微软雅黑" panose="020B0503020204020204" pitchFamily="34" charset="-122"/>
              </a:rPr>
              <a:t>变量名应为下划线风格，这里应该是</a:t>
            </a:r>
            <a:r>
              <a:rPr sz="1800" spc="-5" dirty="0" err="1">
                <a:latin typeface="Calibri" panose="020F0502020204030204"/>
                <a:cs typeface="Calibri" panose="020F0502020204030204"/>
              </a:rPr>
              <a:t>boo</a:t>
            </a:r>
            <a:r>
              <a:rPr lang="en-US" sz="1800" spc="-5" dirty="0" err="1">
                <a:latin typeface="Calibri" panose="020F0502020204030204"/>
                <a:cs typeface="Calibri" panose="020F0502020204030204"/>
              </a:rPr>
              <a:t>k</a:t>
            </a:r>
            <a:r>
              <a:rPr sz="1800" spc="-5" dirty="0" err="1">
                <a:latin typeface="Calibri" panose="020F0502020204030204"/>
                <a:cs typeface="Calibri" panose="020F0502020204030204"/>
              </a:rPr>
              <a:t>_shelf</a:t>
            </a:r>
            <a:endParaRPr sz="1800" dirty="0">
              <a:latin typeface="Calibri" panose="020F0502020204030204"/>
              <a:cs typeface="Calibri" panose="020F0502020204030204"/>
            </a:endParaRPr>
          </a:p>
        </p:txBody>
      </p:sp>
      <p:sp>
        <p:nvSpPr>
          <p:cNvPr id="14" name="object 14"/>
          <p:cNvSpPr txBox="1"/>
          <p:nvPr/>
        </p:nvSpPr>
        <p:spPr>
          <a:xfrm>
            <a:off x="4939216" y="5089906"/>
            <a:ext cx="516445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使用文件时应注意显式地调用</a:t>
            </a:r>
            <a:r>
              <a:rPr sz="1800" spc="-5" dirty="0">
                <a:latin typeface="Calibri" panose="020F0502020204030204"/>
                <a:cs typeface="Calibri" panose="020F0502020204030204"/>
              </a:rPr>
              <a:t>close()</a:t>
            </a:r>
            <a:r>
              <a:rPr sz="1800" spc="-5" dirty="0">
                <a:latin typeface="微软雅黑" panose="020B0503020204020204" pitchFamily="34" charset="-122"/>
                <a:cs typeface="微软雅黑" panose="020B0503020204020204" pitchFamily="34" charset="-122"/>
              </a:rPr>
              <a:t>，</a:t>
            </a:r>
            <a:r>
              <a:rPr sz="1800" dirty="0">
                <a:latin typeface="微软雅黑" panose="020B0503020204020204" pitchFamily="34" charset="-122"/>
                <a:cs typeface="微软雅黑" panose="020B0503020204020204" pitchFamily="34" charset="-122"/>
              </a:rPr>
              <a:t>或使用</a:t>
            </a:r>
            <a:r>
              <a:rPr sz="1800" spc="-5" dirty="0">
                <a:latin typeface="Calibri" panose="020F0502020204030204"/>
                <a:cs typeface="Calibri" panose="020F0502020204030204"/>
              </a:rPr>
              <a:t>with</a:t>
            </a:r>
            <a:r>
              <a:rPr sz="1800" spc="-5" dirty="0">
                <a:latin typeface="微软雅黑" panose="020B0503020204020204" pitchFamily="34" charset="-122"/>
                <a:cs typeface="微软雅黑" panose="020B0503020204020204" pitchFamily="34" charset="-122"/>
              </a:rPr>
              <a:t>：</a:t>
            </a:r>
            <a:endParaRPr sz="1800">
              <a:latin typeface="微软雅黑" panose="020B0503020204020204" pitchFamily="34" charset="-122"/>
              <a:cs typeface="微软雅黑" panose="020B0503020204020204" pitchFamily="34" charset="-122"/>
            </a:endParaRPr>
          </a:p>
        </p:txBody>
      </p:sp>
      <p:sp>
        <p:nvSpPr>
          <p:cNvPr id="15" name="object 15"/>
          <p:cNvSpPr txBox="1"/>
          <p:nvPr/>
        </p:nvSpPr>
        <p:spPr>
          <a:xfrm>
            <a:off x="7062093" y="5471519"/>
            <a:ext cx="4478020" cy="646430"/>
          </a:xfrm>
          <a:prstGeom prst="rect">
            <a:avLst/>
          </a:prstGeom>
          <a:ln w="9524">
            <a:solidFill>
              <a:srgbClr val="4C4848"/>
            </a:solidFill>
          </a:ln>
        </p:spPr>
        <p:txBody>
          <a:bodyPr vert="horz" wrap="square" lIns="0" tIns="60960" rIns="0" bIns="0" rtlCol="0">
            <a:spAutoFit/>
          </a:bodyPr>
          <a:lstStyle/>
          <a:p>
            <a:pPr marL="593725" marR="104775" indent="-502920">
              <a:lnSpc>
                <a:spcPts val="2100"/>
              </a:lnSpc>
              <a:spcBef>
                <a:spcPts val="480"/>
              </a:spcBef>
            </a:pPr>
            <a:r>
              <a:rPr sz="1800" b="1" dirty="0">
                <a:solidFill>
                  <a:srgbClr val="008000"/>
                </a:solidFill>
                <a:latin typeface="Consolas" panose="020B0609020204030204"/>
                <a:cs typeface="Consolas" panose="020B0609020204030204"/>
              </a:rPr>
              <a:t>with </a:t>
            </a:r>
            <a:r>
              <a:rPr sz="1800" b="1" spc="-5" dirty="0">
                <a:solidFill>
                  <a:srgbClr val="008000"/>
                </a:solidFill>
                <a:latin typeface="Consolas" panose="020B0609020204030204"/>
                <a:cs typeface="Consolas" panose="020B0609020204030204"/>
              </a:rPr>
              <a:t>open(</a:t>
            </a:r>
            <a:r>
              <a:rPr sz="1800" b="1" spc="-5" dirty="0">
                <a:solidFill>
                  <a:srgbClr val="BA2121"/>
                </a:solidFill>
                <a:latin typeface="Consolas" panose="020B0609020204030204"/>
                <a:cs typeface="Consolas" panose="020B0609020204030204"/>
              </a:rPr>
              <a:t>'output.txt', </a:t>
            </a:r>
            <a:r>
              <a:rPr sz="1800" b="1" dirty="0">
                <a:solidFill>
                  <a:srgbClr val="BA2121"/>
                </a:solidFill>
                <a:latin typeface="Consolas" panose="020B0609020204030204"/>
                <a:cs typeface="Consolas" panose="020B0609020204030204"/>
              </a:rPr>
              <a:t>'w') </a:t>
            </a:r>
            <a:r>
              <a:rPr sz="1800" b="1" dirty="0">
                <a:solidFill>
                  <a:srgbClr val="008000"/>
                </a:solidFill>
                <a:latin typeface="Consolas" panose="020B0609020204030204"/>
                <a:cs typeface="Consolas" panose="020B0609020204030204"/>
              </a:rPr>
              <a:t>as f:  pass</a:t>
            </a:r>
            <a:endParaRPr sz="1800">
              <a:latin typeface="Consolas" panose="020B0609020204030204"/>
              <a:cs typeface="Consolas" panose="020B0609020204030204"/>
            </a:endParaRPr>
          </a:p>
        </p:txBody>
      </p:sp>
      <p:sp>
        <p:nvSpPr>
          <p:cNvPr id="16" name="object 16"/>
          <p:cNvSpPr txBox="1"/>
          <p:nvPr/>
        </p:nvSpPr>
        <p:spPr>
          <a:xfrm>
            <a:off x="4939214" y="5721234"/>
            <a:ext cx="18542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每行只写一条语句</a:t>
            </a:r>
            <a:endParaRPr sz="1800">
              <a:latin typeface="微软雅黑" panose="020B0503020204020204" pitchFamily="34" charset="-122"/>
              <a:cs typeface="微软雅黑" panose="020B0503020204020204" pitchFamily="34" charset="-122"/>
            </a:endParaRPr>
          </a:p>
        </p:txBody>
      </p:sp>
      <p:sp>
        <p:nvSpPr>
          <p:cNvPr id="18" name="标题 17"/>
          <p:cNvSpPr>
            <a:spLocks noGrp="1"/>
          </p:cNvSpPr>
          <p:nvPr>
            <p:ph type="title"/>
          </p:nvPr>
        </p:nvSpPr>
        <p:spPr/>
        <p:txBody>
          <a:bodyPr/>
          <a:lstStyle/>
          <a:p>
            <a:r>
              <a:rPr lang="en-US" altLang="zh-CN" dirty="0">
                <a:latin typeface="Arial" panose="020B0604020202020204"/>
                <a:cs typeface="Arial" panose="020B0604020202020204"/>
              </a:rPr>
              <a:t>Pyt</a:t>
            </a:r>
            <a:r>
              <a:rPr lang="en-US" altLang="zh-CN" spc="-5" dirty="0">
                <a:latin typeface="Arial" panose="020B0604020202020204"/>
                <a:cs typeface="Arial" panose="020B0604020202020204"/>
              </a:rPr>
              <a:t>ho</a:t>
            </a:r>
            <a:r>
              <a:rPr lang="en-US" altLang="zh-CN" dirty="0">
                <a:latin typeface="Arial" panose="020B0604020202020204"/>
                <a:cs typeface="Arial" panose="020B0604020202020204"/>
              </a:rPr>
              <a:t>n</a:t>
            </a:r>
            <a:r>
              <a:rPr lang="zh-CN" altLang="en-US" dirty="0"/>
              <a:t>编程规范：语句</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17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73314"/>
    </mc:Choice>
    <mc:Fallback xmlns="">
      <p:transition spd="slow" advTm="73314"/>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85772" y="1655126"/>
            <a:ext cx="9888855" cy="3710940"/>
          </a:xfrm>
          <a:prstGeom prst="rect">
            <a:avLst/>
          </a:prstGeom>
        </p:spPr>
        <p:txBody>
          <a:bodyPr vert="horz" wrap="square" lIns="0" tIns="12700" rIns="0" bIns="0" rtlCol="0">
            <a:spAutoFit/>
          </a:bodyPr>
          <a:lstStyle/>
          <a:p>
            <a:pPr marL="12700">
              <a:lnSpc>
                <a:spcPct val="100000"/>
              </a:lnSpc>
              <a:spcBef>
                <a:spcPts val="100"/>
              </a:spcBef>
            </a:pPr>
            <a:r>
              <a:rPr sz="2400" dirty="0">
                <a:latin typeface="Arial" panose="020B0604020202020204"/>
                <a:cs typeface="Arial" panose="020B0604020202020204"/>
              </a:rPr>
              <a:t>import</a:t>
            </a:r>
            <a:r>
              <a:rPr sz="2400" spc="35" dirty="0">
                <a:latin typeface="Arial" panose="020B0604020202020204"/>
                <a:cs typeface="Arial" panose="020B0604020202020204"/>
              </a:rPr>
              <a:t> </a:t>
            </a:r>
            <a:r>
              <a:rPr sz="2400" dirty="0">
                <a:latin typeface="微软雅黑" panose="020B0503020204020204" pitchFamily="34" charset="-122"/>
                <a:cs typeface="微软雅黑" panose="020B0503020204020204" pitchFamily="34" charset="-122"/>
              </a:rPr>
              <a:t>语句应遵循的原则：</a:t>
            </a:r>
            <a:endParaRPr sz="2400">
              <a:latin typeface="微软雅黑" panose="020B0503020204020204" pitchFamily="34" charset="-122"/>
              <a:cs typeface="微软雅黑" panose="020B0503020204020204" pitchFamily="34" charset="-122"/>
            </a:endParaRPr>
          </a:p>
          <a:p>
            <a:pPr marL="469265" marR="5080" indent="-381000">
              <a:lnSpc>
                <a:spcPct val="121000"/>
              </a:lnSpc>
              <a:spcBef>
                <a:spcPts val="1140"/>
              </a:spcBef>
              <a:buChar char="•"/>
              <a:tabLst>
                <a:tab pos="458470" algn="l"/>
                <a:tab pos="459105" algn="l"/>
              </a:tabLst>
            </a:pPr>
            <a:r>
              <a:rPr sz="2000" dirty="0">
                <a:latin typeface="Arial" panose="020B0604020202020204"/>
                <a:cs typeface="Arial" panose="020B0604020202020204"/>
              </a:rPr>
              <a:t>import</a:t>
            </a:r>
            <a:r>
              <a:rPr sz="2000" spc="160" dirty="0">
                <a:latin typeface="Arial" panose="020B0604020202020204"/>
                <a:cs typeface="Arial" panose="020B0604020202020204"/>
              </a:rPr>
              <a:t> </a:t>
            </a:r>
            <a:r>
              <a:rPr sz="2000" dirty="0">
                <a:latin typeface="微软雅黑" panose="020B0503020204020204" pitchFamily="34" charset="-122"/>
                <a:cs typeface="微软雅黑" panose="020B0503020204020204" pitchFamily="34" charset="-122"/>
              </a:rPr>
              <a:t>次序：先</a:t>
            </a:r>
            <a:r>
              <a:rPr sz="2000" spc="125" dirty="0">
                <a:latin typeface="微软雅黑" panose="020B0503020204020204" pitchFamily="34" charset="-122"/>
                <a:cs typeface="微软雅黑" panose="020B0503020204020204" pitchFamily="34" charset="-122"/>
              </a:rPr>
              <a:t> </a:t>
            </a:r>
            <a:r>
              <a:rPr sz="2000" dirty="0">
                <a:latin typeface="Arial" panose="020B0604020202020204"/>
                <a:cs typeface="Arial" panose="020B0604020202020204"/>
              </a:rPr>
              <a:t>import</a:t>
            </a:r>
            <a:r>
              <a:rPr sz="2000" spc="125" dirty="0">
                <a:latin typeface="Arial" panose="020B0604020202020204"/>
                <a:cs typeface="Arial" panose="020B0604020202020204"/>
              </a:rPr>
              <a:t> </a:t>
            </a:r>
            <a:r>
              <a:rPr sz="2000" spc="-5" dirty="0">
                <a:latin typeface="Arial" panose="020B0604020202020204"/>
                <a:cs typeface="Arial" panose="020B0604020202020204"/>
              </a:rPr>
              <a:t>Python</a:t>
            </a:r>
            <a:r>
              <a:rPr sz="2000" spc="125" dirty="0">
                <a:latin typeface="Arial" panose="020B0604020202020204"/>
                <a:cs typeface="Arial" panose="020B0604020202020204"/>
              </a:rPr>
              <a:t> </a:t>
            </a:r>
            <a:r>
              <a:rPr sz="2000" dirty="0">
                <a:latin typeface="微软雅黑" panose="020B0503020204020204" pitchFamily="34" charset="-122"/>
                <a:cs typeface="微软雅黑" panose="020B0503020204020204" pitchFamily="34" charset="-122"/>
              </a:rPr>
              <a:t>内置模块，再</a:t>
            </a:r>
            <a:r>
              <a:rPr sz="2000" spc="125" dirty="0">
                <a:latin typeface="微软雅黑" panose="020B0503020204020204" pitchFamily="34" charset="-122"/>
                <a:cs typeface="微软雅黑" panose="020B0503020204020204" pitchFamily="34" charset="-122"/>
              </a:rPr>
              <a:t> </a:t>
            </a:r>
            <a:r>
              <a:rPr sz="2000" dirty="0">
                <a:latin typeface="Arial" panose="020B0604020202020204"/>
                <a:cs typeface="Arial" panose="020B0604020202020204"/>
              </a:rPr>
              <a:t>import</a:t>
            </a:r>
            <a:r>
              <a:rPr sz="2000" spc="125" dirty="0">
                <a:latin typeface="Arial" panose="020B0604020202020204"/>
                <a:cs typeface="Arial" panose="020B0604020202020204"/>
              </a:rPr>
              <a:t> </a:t>
            </a:r>
            <a:r>
              <a:rPr sz="2000" dirty="0">
                <a:latin typeface="微软雅黑" panose="020B0503020204020204" pitchFamily="34" charset="-122"/>
                <a:cs typeface="微软雅黑" panose="020B0503020204020204" pitchFamily="34" charset="-122"/>
              </a:rPr>
              <a:t>第三方模块，最后</a:t>
            </a:r>
            <a:r>
              <a:rPr sz="2000" spc="125" dirty="0">
                <a:latin typeface="微软雅黑" panose="020B0503020204020204" pitchFamily="34" charset="-122"/>
                <a:cs typeface="微软雅黑" panose="020B0503020204020204" pitchFamily="34" charset="-122"/>
              </a:rPr>
              <a:t> </a:t>
            </a:r>
            <a:r>
              <a:rPr sz="2000" dirty="0">
                <a:latin typeface="Arial" panose="020B0604020202020204"/>
                <a:cs typeface="Arial" panose="020B0604020202020204"/>
              </a:rPr>
              <a:t>import</a:t>
            </a:r>
            <a:r>
              <a:rPr sz="2000" spc="130" dirty="0">
                <a:latin typeface="Arial" panose="020B0604020202020204"/>
                <a:cs typeface="Arial" panose="020B0604020202020204"/>
              </a:rPr>
              <a:t> </a:t>
            </a:r>
            <a:r>
              <a:rPr sz="2000" dirty="0">
                <a:latin typeface="微软雅黑" panose="020B0503020204020204" pitchFamily="34" charset="-122"/>
                <a:cs typeface="微软雅黑" panose="020B0503020204020204" pitchFamily="34" charset="-122"/>
              </a:rPr>
              <a:t>自己 开发的项目中的其它模块；这几种模块中用空行分隔开来。</a:t>
            </a:r>
            <a:endParaRPr sz="2000">
              <a:latin typeface="微软雅黑" panose="020B0503020204020204" pitchFamily="34" charset="-122"/>
              <a:cs typeface="微软雅黑" panose="020B0503020204020204" pitchFamily="34" charset="-122"/>
            </a:endParaRPr>
          </a:p>
          <a:p>
            <a:pPr marL="458470" indent="-370840">
              <a:lnSpc>
                <a:spcPct val="100000"/>
              </a:lnSpc>
              <a:spcBef>
                <a:spcPts val="1700"/>
              </a:spcBef>
              <a:buFont typeface="Arial" panose="020B0604020202020204"/>
              <a:buChar char="•"/>
              <a:tabLst>
                <a:tab pos="458470" algn="l"/>
                <a:tab pos="459105" algn="l"/>
              </a:tabLst>
            </a:pPr>
            <a:r>
              <a:rPr sz="2000" dirty="0">
                <a:latin typeface="微软雅黑" panose="020B0503020204020204" pitchFamily="34" charset="-122"/>
                <a:cs typeface="微软雅黑" panose="020B0503020204020204" pitchFamily="34" charset="-122"/>
              </a:rPr>
              <a:t>一条</a:t>
            </a:r>
            <a:r>
              <a:rPr sz="2000" spc="-5" dirty="0">
                <a:latin typeface="微软雅黑" panose="020B0503020204020204" pitchFamily="34" charset="-122"/>
                <a:cs typeface="微软雅黑" panose="020B0503020204020204" pitchFamily="34" charset="-122"/>
              </a:rPr>
              <a:t> </a:t>
            </a:r>
            <a:r>
              <a:rPr sz="2000" dirty="0">
                <a:latin typeface="Arial" panose="020B0604020202020204"/>
                <a:cs typeface="Arial" panose="020B0604020202020204"/>
              </a:rPr>
              <a:t>import</a:t>
            </a:r>
            <a:r>
              <a:rPr sz="2000" spc="-5" dirty="0">
                <a:latin typeface="Arial" panose="020B0604020202020204"/>
                <a:cs typeface="Arial" panose="020B0604020202020204"/>
              </a:rPr>
              <a:t> </a:t>
            </a:r>
            <a:r>
              <a:rPr sz="2000" dirty="0">
                <a:latin typeface="微软雅黑" panose="020B0503020204020204" pitchFamily="34" charset="-122"/>
                <a:cs typeface="微软雅黑" panose="020B0503020204020204" pitchFamily="34" charset="-122"/>
              </a:rPr>
              <a:t>语句 </a:t>
            </a:r>
            <a:r>
              <a:rPr sz="2000" dirty="0">
                <a:latin typeface="Arial" panose="020B0604020202020204"/>
                <a:cs typeface="Arial" panose="020B0604020202020204"/>
              </a:rPr>
              <a:t>import</a:t>
            </a:r>
            <a:r>
              <a:rPr sz="2000" spc="-10" dirty="0">
                <a:latin typeface="Arial" panose="020B0604020202020204"/>
                <a:cs typeface="Arial" panose="020B0604020202020204"/>
              </a:rPr>
              <a:t> </a:t>
            </a:r>
            <a:r>
              <a:rPr sz="2000" dirty="0">
                <a:latin typeface="微软雅黑" panose="020B0503020204020204" pitchFamily="34" charset="-122"/>
                <a:cs typeface="微软雅黑" panose="020B0503020204020204" pitchFamily="34" charset="-122"/>
              </a:rPr>
              <a:t>一个模块。</a:t>
            </a:r>
            <a:endParaRPr sz="2000">
              <a:latin typeface="微软雅黑" panose="020B0503020204020204" pitchFamily="34" charset="-122"/>
              <a:cs typeface="微软雅黑" panose="020B0503020204020204" pitchFamily="34" charset="-122"/>
            </a:endParaRPr>
          </a:p>
          <a:p>
            <a:pPr marL="458470" indent="-370840">
              <a:lnSpc>
                <a:spcPct val="100000"/>
              </a:lnSpc>
              <a:spcBef>
                <a:spcPts val="1600"/>
              </a:spcBef>
              <a:buFont typeface="Arial" panose="020B0604020202020204"/>
              <a:buChar char="•"/>
              <a:tabLst>
                <a:tab pos="458470" algn="l"/>
                <a:tab pos="459105" algn="l"/>
              </a:tabLst>
            </a:pPr>
            <a:r>
              <a:rPr sz="2000" dirty="0">
                <a:latin typeface="微软雅黑" panose="020B0503020204020204" pitchFamily="34" charset="-122"/>
                <a:cs typeface="微软雅黑" panose="020B0503020204020204" pitchFamily="34" charset="-122"/>
              </a:rPr>
              <a:t>当从模块中</a:t>
            </a:r>
            <a:r>
              <a:rPr sz="2000" spc="-15" dirty="0">
                <a:latin typeface="微软雅黑" panose="020B0503020204020204" pitchFamily="34" charset="-122"/>
                <a:cs typeface="微软雅黑" panose="020B0503020204020204" pitchFamily="34" charset="-122"/>
              </a:rPr>
              <a:t> </a:t>
            </a:r>
            <a:r>
              <a:rPr sz="2000" dirty="0">
                <a:latin typeface="Arial" panose="020B0604020202020204"/>
                <a:cs typeface="Arial" panose="020B0604020202020204"/>
              </a:rPr>
              <a:t>import</a:t>
            </a:r>
            <a:r>
              <a:rPr sz="2000" spc="-15" dirty="0">
                <a:latin typeface="Arial" panose="020B0604020202020204"/>
                <a:cs typeface="Arial" panose="020B0604020202020204"/>
              </a:rPr>
              <a:t> </a:t>
            </a:r>
            <a:r>
              <a:rPr sz="2000" dirty="0">
                <a:latin typeface="微软雅黑" panose="020B0503020204020204" pitchFamily="34" charset="-122"/>
                <a:cs typeface="微软雅黑" panose="020B0503020204020204" pitchFamily="34" charset="-122"/>
              </a:rPr>
              <a:t>多个对象且超过一行时，使用如下断行法</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py2.5</a:t>
            </a:r>
            <a:r>
              <a:rPr sz="2000" dirty="0">
                <a:latin typeface="微软雅黑" panose="020B0503020204020204" pitchFamily="34" charset="-122"/>
                <a:cs typeface="微软雅黑" panose="020B0503020204020204" pitchFamily="34" charset="-122"/>
              </a:rPr>
              <a:t>以上版本）：</a:t>
            </a:r>
            <a:endParaRPr sz="2000">
              <a:latin typeface="微软雅黑" panose="020B0503020204020204" pitchFamily="34" charset="-122"/>
              <a:cs typeface="微软雅黑" panose="020B0503020204020204" pitchFamily="34" charset="-122"/>
            </a:endParaRPr>
          </a:p>
          <a:p>
            <a:pPr marL="476250">
              <a:lnSpc>
                <a:spcPct val="100000"/>
              </a:lnSpc>
              <a:spcBef>
                <a:spcPts val="1740"/>
              </a:spcBef>
            </a:pPr>
            <a:r>
              <a:rPr sz="1800" b="1" dirty="0">
                <a:solidFill>
                  <a:srgbClr val="008000"/>
                </a:solidFill>
                <a:latin typeface="Consolas" panose="020B0609020204030204"/>
                <a:cs typeface="Consolas" panose="020B0609020204030204"/>
              </a:rPr>
              <a:t>from </a:t>
            </a:r>
            <a:r>
              <a:rPr sz="1800" b="1" dirty="0">
                <a:solidFill>
                  <a:srgbClr val="0000FF"/>
                </a:solidFill>
                <a:latin typeface="Consolas" panose="020B0609020204030204"/>
                <a:cs typeface="Consolas" panose="020B0609020204030204"/>
              </a:rPr>
              <a:t>module </a:t>
            </a:r>
            <a:r>
              <a:rPr sz="1800" b="1" dirty="0">
                <a:solidFill>
                  <a:srgbClr val="008000"/>
                </a:solidFill>
                <a:latin typeface="Consolas" panose="020B0609020204030204"/>
                <a:cs typeface="Consolas" panose="020B0609020204030204"/>
              </a:rPr>
              <a:t>import (obj1, obj2, obj3, obj4, obj5,</a:t>
            </a:r>
            <a:r>
              <a:rPr sz="1800" b="1" spc="-40" dirty="0">
                <a:solidFill>
                  <a:srgbClr val="008000"/>
                </a:solidFill>
                <a:latin typeface="Consolas" panose="020B0609020204030204"/>
                <a:cs typeface="Consolas" panose="020B0609020204030204"/>
              </a:rPr>
              <a:t> </a:t>
            </a:r>
            <a:r>
              <a:rPr sz="1800" b="1" dirty="0">
                <a:solidFill>
                  <a:srgbClr val="008000"/>
                </a:solidFill>
                <a:latin typeface="Consolas" panose="020B0609020204030204"/>
                <a:cs typeface="Consolas" panose="020B0609020204030204"/>
              </a:rPr>
              <a:t>obj6)</a:t>
            </a:r>
            <a:endParaRPr sz="1800">
              <a:latin typeface="Consolas" panose="020B0609020204030204"/>
              <a:cs typeface="Consolas" panose="020B0609020204030204"/>
            </a:endParaRPr>
          </a:p>
          <a:p>
            <a:pPr marL="431165" marR="5080" indent="-342900">
              <a:lnSpc>
                <a:spcPct val="121000"/>
              </a:lnSpc>
              <a:spcBef>
                <a:spcPts val="1400"/>
              </a:spcBef>
              <a:buFont typeface="Arial" panose="020B0604020202020204"/>
              <a:buChar char="•"/>
              <a:tabLst>
                <a:tab pos="431165" algn="l"/>
                <a:tab pos="431800" algn="l"/>
              </a:tabLst>
            </a:pPr>
            <a:r>
              <a:rPr sz="2000" dirty="0">
                <a:latin typeface="微软雅黑" panose="020B0503020204020204" pitchFamily="34" charset="-122"/>
                <a:cs typeface="微软雅黑" panose="020B0503020204020204" pitchFamily="34" charset="-122"/>
              </a:rPr>
              <a:t>不要使用</a:t>
            </a:r>
            <a:r>
              <a:rPr sz="2000" spc="65" dirty="0">
                <a:latin typeface="微软雅黑" panose="020B0503020204020204" pitchFamily="34" charset="-122"/>
                <a:cs typeface="微软雅黑" panose="020B0503020204020204" pitchFamily="34" charset="-122"/>
              </a:rPr>
              <a:t> </a:t>
            </a:r>
            <a:r>
              <a:rPr sz="2000" spc="-5" dirty="0">
                <a:latin typeface="Arial" panose="020B0604020202020204"/>
                <a:cs typeface="Arial" panose="020B0604020202020204"/>
              </a:rPr>
              <a:t>from</a:t>
            </a:r>
            <a:r>
              <a:rPr sz="2000" spc="65" dirty="0">
                <a:latin typeface="Arial" panose="020B0604020202020204"/>
                <a:cs typeface="Arial" panose="020B0604020202020204"/>
              </a:rPr>
              <a:t> </a:t>
            </a:r>
            <a:r>
              <a:rPr sz="2000" dirty="0">
                <a:latin typeface="Arial" panose="020B0604020202020204"/>
                <a:cs typeface="Arial" panose="020B0604020202020204"/>
              </a:rPr>
              <a:t>module</a:t>
            </a:r>
            <a:r>
              <a:rPr sz="2000" spc="70" dirty="0">
                <a:latin typeface="Arial" panose="020B0604020202020204"/>
                <a:cs typeface="Arial" panose="020B0604020202020204"/>
              </a:rPr>
              <a:t> </a:t>
            </a:r>
            <a:r>
              <a:rPr sz="2000" dirty="0">
                <a:latin typeface="Arial" panose="020B0604020202020204"/>
                <a:cs typeface="Arial" panose="020B0604020202020204"/>
              </a:rPr>
              <a:t>import</a:t>
            </a:r>
            <a:r>
              <a:rPr sz="2000" spc="65" dirty="0">
                <a:latin typeface="Arial" panose="020B0604020202020204"/>
                <a:cs typeface="Arial" panose="020B0604020202020204"/>
              </a:rPr>
              <a:t> </a:t>
            </a:r>
            <a:r>
              <a:rPr sz="2000" spc="-5" dirty="0">
                <a:latin typeface="Arial" panose="020B0604020202020204"/>
                <a:cs typeface="Arial" panose="020B0604020202020204"/>
              </a:rPr>
              <a:t>*</a:t>
            </a:r>
            <a:r>
              <a:rPr sz="2000" spc="-5" dirty="0">
                <a:latin typeface="微软雅黑" panose="020B0503020204020204" pitchFamily="34" charset="-122"/>
                <a:cs typeface="微软雅黑" panose="020B0503020204020204" pitchFamily="34" charset="-122"/>
              </a:rPr>
              <a:t>，</a:t>
            </a:r>
            <a:r>
              <a:rPr sz="2000" dirty="0">
                <a:latin typeface="微软雅黑" panose="020B0503020204020204" pitchFamily="34" charset="-122"/>
                <a:cs typeface="微软雅黑" panose="020B0503020204020204" pitchFamily="34" charset="-122"/>
              </a:rPr>
              <a:t>除非是</a:t>
            </a:r>
            <a:r>
              <a:rPr sz="2000" spc="65" dirty="0">
                <a:latin typeface="微软雅黑" panose="020B0503020204020204" pitchFamily="34" charset="-122"/>
                <a:cs typeface="微软雅黑" panose="020B0503020204020204" pitchFamily="34" charset="-122"/>
              </a:rPr>
              <a:t> </a:t>
            </a:r>
            <a:r>
              <a:rPr sz="2000" dirty="0">
                <a:latin typeface="Arial" panose="020B0604020202020204"/>
                <a:cs typeface="Arial" panose="020B0604020202020204"/>
              </a:rPr>
              <a:t>import</a:t>
            </a:r>
            <a:r>
              <a:rPr sz="2000" spc="70" dirty="0">
                <a:latin typeface="Arial" panose="020B0604020202020204"/>
                <a:cs typeface="Arial" panose="020B0604020202020204"/>
              </a:rPr>
              <a:t> </a:t>
            </a:r>
            <a:r>
              <a:rPr sz="2000" dirty="0">
                <a:latin typeface="微软雅黑" panose="020B0503020204020204" pitchFamily="34" charset="-122"/>
                <a:cs typeface="微软雅黑" panose="020B0503020204020204" pitchFamily="34" charset="-122"/>
              </a:rPr>
              <a:t>常量定义模块或其它你确保不会出现 命名空间冲突的模块。</a:t>
            </a:r>
            <a:endParaRPr sz="2000">
              <a:latin typeface="微软雅黑" panose="020B0503020204020204" pitchFamily="34" charset="-122"/>
              <a:cs typeface="微软雅黑" panose="020B0503020204020204" pitchFamily="34" charset="-122"/>
            </a:endParaRPr>
          </a:p>
        </p:txBody>
      </p:sp>
      <p:sp>
        <p:nvSpPr>
          <p:cNvPr id="5" name="标题 4"/>
          <p:cNvSpPr>
            <a:spLocks noGrp="1"/>
          </p:cNvSpPr>
          <p:nvPr>
            <p:ph type="title"/>
          </p:nvPr>
        </p:nvSpPr>
        <p:spPr/>
        <p:txBody>
          <a:bodyPr/>
          <a:lstStyle/>
          <a:p>
            <a:r>
              <a:rPr lang="en-US" altLang="zh-CN" dirty="0">
                <a:latin typeface="Arial" panose="020B0604020202020204"/>
                <a:cs typeface="Arial" panose="020B0604020202020204"/>
              </a:rPr>
              <a:t>Pyt</a:t>
            </a:r>
            <a:r>
              <a:rPr lang="en-US" altLang="zh-CN" spc="-5" dirty="0">
                <a:latin typeface="Arial" panose="020B0604020202020204"/>
                <a:cs typeface="Arial" panose="020B0604020202020204"/>
              </a:rPr>
              <a:t>ho</a:t>
            </a:r>
            <a:r>
              <a:rPr lang="en-US" altLang="zh-CN" dirty="0">
                <a:latin typeface="Arial" panose="020B0604020202020204"/>
                <a:cs typeface="Arial" panose="020B0604020202020204"/>
              </a:rPr>
              <a:t>n</a:t>
            </a:r>
            <a:r>
              <a:rPr lang="zh-CN" altLang="en-US" dirty="0"/>
              <a:t>编程规范：语句</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18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77247"/>
    </mc:Choice>
    <mc:Fallback xmlns="">
      <p:transition spd="slow" advTm="77247"/>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body" idx="1"/>
          </p:nvPr>
        </p:nvSpPr>
        <p:spPr>
          <a:xfrm>
            <a:off x="801700" y="1607911"/>
            <a:ext cx="10515600" cy="4649991"/>
          </a:xfrm>
          <a:prstGeom prst="rect">
            <a:avLst/>
          </a:prstGeom>
        </p:spPr>
        <p:txBody>
          <a:bodyPr vert="horz" wrap="square" lIns="0" tIns="12700" rIns="0" bIns="0" rtlCol="0">
            <a:spAutoFit/>
          </a:bodyPr>
          <a:lstStyle/>
          <a:p>
            <a:pPr marL="798195" indent="0">
              <a:lnSpc>
                <a:spcPct val="100000"/>
              </a:lnSpc>
              <a:spcBef>
                <a:spcPts val="100"/>
              </a:spcBef>
              <a:buNone/>
            </a:pPr>
            <a:r>
              <a:rPr spc="-5" dirty="0">
                <a:latin typeface="Arial" panose="020B0604020202020204"/>
                <a:cs typeface="Arial" panose="020B0604020202020204"/>
              </a:rPr>
              <a:t>Python</a:t>
            </a:r>
            <a:r>
              <a:rPr dirty="0"/>
              <a:t>还有很多灵活的用法</a:t>
            </a:r>
            <a:r>
              <a:rPr dirty="0">
                <a:solidFill>
                  <a:srgbClr val="004DD6"/>
                </a:solidFill>
              </a:rPr>
              <a:t>，</a:t>
            </a:r>
            <a:r>
              <a:rPr dirty="0"/>
              <a:t>使用时应注意删繁就简</a:t>
            </a:r>
            <a:r>
              <a:rPr dirty="0">
                <a:solidFill>
                  <a:srgbClr val="004DD6"/>
                </a:solidFill>
              </a:rPr>
              <a:t>。</a:t>
            </a:r>
          </a:p>
          <a:p>
            <a:pPr marL="1472565" indent="-370840">
              <a:lnSpc>
                <a:spcPct val="100000"/>
              </a:lnSpc>
              <a:spcBef>
                <a:spcPts val="1640"/>
              </a:spcBef>
              <a:buChar char="•"/>
              <a:tabLst>
                <a:tab pos="1473200" algn="l"/>
                <a:tab pos="1473835" algn="l"/>
              </a:tabLst>
            </a:pPr>
            <a:r>
              <a:rPr sz="2000" spc="-5" dirty="0">
                <a:solidFill>
                  <a:srgbClr val="000000"/>
                </a:solidFill>
                <a:latin typeface="Arial" panose="020B0604020202020204"/>
                <a:cs typeface="Arial" panose="020B0604020202020204"/>
              </a:rPr>
              <a:t>Python</a:t>
            </a:r>
            <a:r>
              <a:rPr sz="2000" dirty="0">
                <a:solidFill>
                  <a:srgbClr val="000000"/>
                </a:solidFill>
              </a:rPr>
              <a:t>的列表推导简洁方便，但仅应在简单的情况下使用</a:t>
            </a:r>
            <a:endParaRPr sz="2000" dirty="0">
              <a:latin typeface="Arial" panose="020B0604020202020204"/>
              <a:cs typeface="Arial" panose="020B0604020202020204"/>
            </a:endParaRPr>
          </a:p>
          <a:p>
            <a:pPr marL="1026795">
              <a:lnSpc>
                <a:spcPct val="100000"/>
              </a:lnSpc>
              <a:spcBef>
                <a:spcPts val="1440"/>
              </a:spcBef>
            </a:pPr>
            <a:r>
              <a:rPr sz="1800" dirty="0">
                <a:solidFill>
                  <a:srgbClr val="000000"/>
                </a:solidFill>
                <a:latin typeface="Consolas" panose="020B0609020204030204"/>
                <a:cs typeface="Consolas" panose="020B0609020204030204"/>
              </a:rPr>
              <a:t>[s[</a:t>
            </a:r>
            <a:r>
              <a:rPr sz="1800" dirty="0">
                <a:solidFill>
                  <a:srgbClr val="BA2121"/>
                </a:solidFill>
                <a:latin typeface="Consolas" panose="020B0609020204030204"/>
                <a:cs typeface="Consolas" panose="020B0609020204030204"/>
              </a:rPr>
              <a:t>'name'] </a:t>
            </a:r>
            <a:r>
              <a:rPr sz="1800" b="1" dirty="0">
                <a:solidFill>
                  <a:srgbClr val="008000"/>
                </a:solidFill>
                <a:latin typeface="Consolas" panose="020B0609020204030204"/>
                <a:cs typeface="Consolas" panose="020B0609020204030204"/>
              </a:rPr>
              <a:t>for s </a:t>
            </a:r>
            <a:r>
              <a:rPr sz="1800" b="1" dirty="0">
                <a:solidFill>
                  <a:srgbClr val="AA22FF"/>
                </a:solidFill>
                <a:latin typeface="Consolas" panose="020B0609020204030204"/>
                <a:cs typeface="Consolas" panose="020B0609020204030204"/>
              </a:rPr>
              <a:t>in students </a:t>
            </a:r>
            <a:r>
              <a:rPr sz="1800" b="1" dirty="0">
                <a:solidFill>
                  <a:srgbClr val="008000"/>
                </a:solidFill>
                <a:latin typeface="Consolas" panose="020B0609020204030204"/>
                <a:cs typeface="Consolas" panose="020B0609020204030204"/>
              </a:rPr>
              <a:t>if </a:t>
            </a:r>
            <a:r>
              <a:rPr sz="1800" b="1" spc="-5" dirty="0">
                <a:solidFill>
                  <a:srgbClr val="008000"/>
                </a:solidFill>
                <a:latin typeface="Consolas" panose="020B0609020204030204"/>
                <a:cs typeface="Consolas" panose="020B0609020204030204"/>
              </a:rPr>
              <a:t>s[</a:t>
            </a:r>
            <a:r>
              <a:rPr sz="1800" b="1" spc="-5" dirty="0">
                <a:solidFill>
                  <a:srgbClr val="BA2121"/>
                </a:solidFill>
                <a:latin typeface="Consolas" panose="020B0609020204030204"/>
                <a:cs typeface="Consolas" panose="020B0609020204030204"/>
              </a:rPr>
              <a:t>'age'] </a:t>
            </a:r>
            <a:r>
              <a:rPr sz="1800" b="1" dirty="0">
                <a:solidFill>
                  <a:srgbClr val="666666"/>
                </a:solidFill>
                <a:latin typeface="Consolas" panose="020B0609020204030204"/>
                <a:cs typeface="Consolas" panose="020B0609020204030204"/>
              </a:rPr>
              <a:t>&gt;</a:t>
            </a:r>
            <a:r>
              <a:rPr sz="1800" b="1" spc="-30" dirty="0">
                <a:solidFill>
                  <a:srgbClr val="666666"/>
                </a:solidFill>
                <a:latin typeface="Consolas" panose="020B0609020204030204"/>
                <a:cs typeface="Consolas" panose="020B0609020204030204"/>
              </a:rPr>
              <a:t> </a:t>
            </a:r>
            <a:r>
              <a:rPr sz="1800" b="1" dirty="0">
                <a:solidFill>
                  <a:srgbClr val="666666"/>
                </a:solidFill>
                <a:latin typeface="Consolas" panose="020B0609020204030204"/>
                <a:cs typeface="Consolas" panose="020B0609020204030204"/>
              </a:rPr>
              <a:t>18]</a:t>
            </a:r>
            <a:endParaRPr sz="1800" dirty="0">
              <a:latin typeface="Consolas" panose="020B0609020204030204"/>
              <a:cs typeface="Consolas" panose="020B0609020204030204"/>
            </a:endParaRPr>
          </a:p>
          <a:p>
            <a:pPr marL="1014095">
              <a:lnSpc>
                <a:spcPct val="100000"/>
              </a:lnSpc>
              <a:spcBef>
                <a:spcPts val="5"/>
              </a:spcBef>
            </a:pPr>
            <a:endParaRPr sz="1500" dirty="0">
              <a:latin typeface="Times New Roman" panose="02020603050405020304"/>
              <a:cs typeface="Times New Roman" panose="02020603050405020304"/>
            </a:endParaRPr>
          </a:p>
          <a:p>
            <a:pPr marL="1026795">
              <a:lnSpc>
                <a:spcPct val="100000"/>
              </a:lnSpc>
            </a:pPr>
            <a:r>
              <a:rPr sz="1800" dirty="0">
                <a:solidFill>
                  <a:srgbClr val="000000"/>
                </a:solidFill>
                <a:latin typeface="Consolas" panose="020B0609020204030204"/>
                <a:cs typeface="Consolas" panose="020B0609020204030204"/>
              </a:rPr>
              <a:t>[(x, y) </a:t>
            </a:r>
            <a:r>
              <a:rPr sz="1800" b="1" dirty="0">
                <a:solidFill>
                  <a:srgbClr val="008000"/>
                </a:solidFill>
                <a:latin typeface="Consolas" panose="020B0609020204030204"/>
                <a:cs typeface="Consolas" panose="020B0609020204030204"/>
              </a:rPr>
              <a:t>for x </a:t>
            </a:r>
            <a:r>
              <a:rPr sz="1800" b="1" dirty="0">
                <a:solidFill>
                  <a:srgbClr val="AA22FF"/>
                </a:solidFill>
                <a:latin typeface="Consolas" panose="020B0609020204030204"/>
                <a:cs typeface="Consolas" panose="020B0609020204030204"/>
              </a:rPr>
              <a:t>in </a:t>
            </a:r>
            <a:r>
              <a:rPr sz="1800" b="1" dirty="0">
                <a:solidFill>
                  <a:srgbClr val="008000"/>
                </a:solidFill>
                <a:latin typeface="Consolas" panose="020B0609020204030204"/>
                <a:cs typeface="Consolas" panose="020B0609020204030204"/>
              </a:rPr>
              <a:t>range(m) for y </a:t>
            </a:r>
            <a:r>
              <a:rPr sz="1800" b="1" dirty="0">
                <a:solidFill>
                  <a:srgbClr val="AA22FF"/>
                </a:solidFill>
                <a:latin typeface="Consolas" panose="020B0609020204030204"/>
                <a:cs typeface="Consolas" panose="020B0609020204030204"/>
              </a:rPr>
              <a:t>in </a:t>
            </a:r>
            <a:r>
              <a:rPr sz="1800" b="1" dirty="0">
                <a:solidFill>
                  <a:srgbClr val="008000"/>
                </a:solidFill>
                <a:latin typeface="Consolas" panose="020B0609020204030204"/>
                <a:cs typeface="Consolas" panose="020B0609020204030204"/>
              </a:rPr>
              <a:t>range(n) if x </a:t>
            </a:r>
            <a:r>
              <a:rPr sz="1800" b="1" dirty="0">
                <a:solidFill>
                  <a:srgbClr val="666666"/>
                </a:solidFill>
                <a:latin typeface="Consolas" panose="020B0609020204030204"/>
                <a:cs typeface="Consolas" panose="020B0609020204030204"/>
              </a:rPr>
              <a:t>** 2 + y ** 2 &gt;=</a:t>
            </a:r>
            <a:r>
              <a:rPr sz="1800" b="1" spc="-85" dirty="0">
                <a:solidFill>
                  <a:srgbClr val="666666"/>
                </a:solidFill>
                <a:latin typeface="Consolas" panose="020B0609020204030204"/>
                <a:cs typeface="Consolas" panose="020B0609020204030204"/>
              </a:rPr>
              <a:t> </a:t>
            </a:r>
            <a:r>
              <a:rPr sz="1800" b="1" dirty="0">
                <a:solidFill>
                  <a:srgbClr val="666666"/>
                </a:solidFill>
                <a:latin typeface="Consolas" panose="020B0609020204030204"/>
                <a:cs typeface="Consolas" panose="020B0609020204030204"/>
              </a:rPr>
              <a:t>4]</a:t>
            </a:r>
            <a:endParaRPr sz="1800" dirty="0">
              <a:latin typeface="Consolas" panose="020B0609020204030204"/>
              <a:cs typeface="Consolas" panose="020B0609020204030204"/>
            </a:endParaRPr>
          </a:p>
          <a:p>
            <a:pPr marL="1014095">
              <a:lnSpc>
                <a:spcPct val="100000"/>
              </a:lnSpc>
              <a:spcBef>
                <a:spcPts val="10"/>
              </a:spcBef>
            </a:pPr>
            <a:endParaRPr sz="2000" dirty="0">
              <a:latin typeface="Times New Roman" panose="02020603050405020304"/>
              <a:cs typeface="Times New Roman" panose="02020603050405020304"/>
            </a:endParaRPr>
          </a:p>
          <a:p>
            <a:pPr marL="1472565" indent="-370840">
              <a:lnSpc>
                <a:spcPct val="100000"/>
              </a:lnSpc>
              <a:buChar char="•"/>
              <a:tabLst>
                <a:tab pos="1473200" algn="l"/>
                <a:tab pos="1473835" algn="l"/>
              </a:tabLst>
            </a:pPr>
            <a:r>
              <a:rPr sz="2000" spc="-5" dirty="0">
                <a:solidFill>
                  <a:srgbClr val="000000"/>
                </a:solidFill>
                <a:latin typeface="Arial" panose="020B0604020202020204"/>
                <a:cs typeface="Arial" panose="020B0604020202020204"/>
              </a:rPr>
              <a:t>Python</a:t>
            </a:r>
            <a:r>
              <a:rPr sz="2000" dirty="0">
                <a:solidFill>
                  <a:srgbClr val="000000"/>
                </a:solidFill>
              </a:rPr>
              <a:t>的条件表达式是</a:t>
            </a:r>
            <a:r>
              <a:rPr sz="2000" spc="-5" dirty="0">
                <a:solidFill>
                  <a:srgbClr val="000000"/>
                </a:solidFill>
                <a:latin typeface="Arial" panose="020B0604020202020204"/>
                <a:cs typeface="Arial" panose="020B0604020202020204"/>
              </a:rPr>
              <a:t>if</a:t>
            </a:r>
            <a:r>
              <a:rPr sz="2000" dirty="0">
                <a:solidFill>
                  <a:srgbClr val="000000"/>
                </a:solidFill>
              </a:rPr>
              <a:t>语句的简短语法规则，但同样仅应在简单的情况下使用</a:t>
            </a:r>
            <a:endParaRPr sz="2000" dirty="0">
              <a:latin typeface="Arial" panose="020B0604020202020204"/>
              <a:cs typeface="Arial" panose="020B0604020202020204"/>
            </a:endParaRPr>
          </a:p>
          <a:p>
            <a:pPr marL="1026795">
              <a:lnSpc>
                <a:spcPct val="100000"/>
              </a:lnSpc>
              <a:spcBef>
                <a:spcPts val="1430"/>
              </a:spcBef>
            </a:pPr>
            <a:r>
              <a:rPr sz="1800" b="1" dirty="0">
                <a:solidFill>
                  <a:srgbClr val="008000"/>
                </a:solidFill>
                <a:latin typeface="Consolas" panose="020B0609020204030204"/>
                <a:cs typeface="Consolas" panose="020B0609020204030204"/>
              </a:rPr>
              <a:t>return </a:t>
            </a:r>
            <a:r>
              <a:rPr sz="1800" b="1" spc="-5" dirty="0">
                <a:solidFill>
                  <a:srgbClr val="008000"/>
                </a:solidFill>
                <a:latin typeface="Consolas" panose="020B0609020204030204"/>
                <a:cs typeface="Consolas" panose="020B0609020204030204"/>
              </a:rPr>
              <a:t>s[</a:t>
            </a:r>
            <a:r>
              <a:rPr sz="1800" b="1" spc="-5" dirty="0">
                <a:solidFill>
                  <a:srgbClr val="BA2121"/>
                </a:solidFill>
                <a:latin typeface="Consolas" panose="020B0609020204030204"/>
                <a:cs typeface="Consolas" panose="020B0609020204030204"/>
              </a:rPr>
              <a:t>'name'] </a:t>
            </a:r>
            <a:r>
              <a:rPr sz="1800" b="1" dirty="0">
                <a:solidFill>
                  <a:srgbClr val="008000"/>
                </a:solidFill>
                <a:latin typeface="Consolas" panose="020B0609020204030204"/>
                <a:cs typeface="Consolas" panose="020B0609020204030204"/>
              </a:rPr>
              <a:t>if </a:t>
            </a:r>
            <a:r>
              <a:rPr sz="1800" b="1" spc="-5" dirty="0">
                <a:solidFill>
                  <a:srgbClr val="008000"/>
                </a:solidFill>
                <a:latin typeface="Consolas" panose="020B0609020204030204"/>
                <a:cs typeface="Consolas" panose="020B0609020204030204"/>
              </a:rPr>
              <a:t>s[</a:t>
            </a:r>
            <a:r>
              <a:rPr sz="1800" b="1" spc="-5" dirty="0">
                <a:solidFill>
                  <a:srgbClr val="BA2121"/>
                </a:solidFill>
                <a:latin typeface="Consolas" panose="020B0609020204030204"/>
                <a:cs typeface="Consolas" panose="020B0609020204030204"/>
              </a:rPr>
              <a:t>'age'] </a:t>
            </a:r>
            <a:r>
              <a:rPr sz="1800" b="1" dirty="0">
                <a:solidFill>
                  <a:srgbClr val="666666"/>
                </a:solidFill>
                <a:latin typeface="Consolas" panose="020B0609020204030204"/>
                <a:cs typeface="Consolas" panose="020B0609020204030204"/>
              </a:rPr>
              <a:t>&gt; 18 </a:t>
            </a:r>
            <a:r>
              <a:rPr sz="1800" b="1" dirty="0">
                <a:solidFill>
                  <a:srgbClr val="008000"/>
                </a:solidFill>
                <a:latin typeface="Consolas" panose="020B0609020204030204"/>
                <a:cs typeface="Consolas" panose="020B0609020204030204"/>
              </a:rPr>
              <a:t>else </a:t>
            </a:r>
            <a:r>
              <a:rPr sz="1800" b="1" spc="-5" dirty="0">
                <a:solidFill>
                  <a:srgbClr val="008000"/>
                </a:solidFill>
                <a:latin typeface="Consolas" panose="020B0609020204030204"/>
                <a:cs typeface="Consolas" panose="020B0609020204030204"/>
              </a:rPr>
              <a:t>s[</a:t>
            </a:r>
            <a:r>
              <a:rPr sz="1800" b="1" spc="-5" dirty="0">
                <a:solidFill>
                  <a:srgbClr val="BA2121"/>
                </a:solidFill>
                <a:latin typeface="Consolas" panose="020B0609020204030204"/>
                <a:cs typeface="Consolas" panose="020B0609020204030204"/>
              </a:rPr>
              <a:t>'nickname']</a:t>
            </a:r>
            <a:endParaRPr sz="1800" dirty="0">
              <a:latin typeface="Consolas" panose="020B0609020204030204"/>
              <a:cs typeface="Consolas" panose="020B0609020204030204"/>
            </a:endParaRPr>
          </a:p>
          <a:p>
            <a:pPr marL="1014095">
              <a:lnSpc>
                <a:spcPct val="100000"/>
              </a:lnSpc>
              <a:spcBef>
                <a:spcPts val="50"/>
              </a:spcBef>
            </a:pPr>
            <a:endParaRPr sz="1750" dirty="0">
              <a:latin typeface="Times New Roman" panose="02020603050405020304"/>
              <a:cs typeface="Times New Roman" panose="02020603050405020304"/>
            </a:endParaRPr>
          </a:p>
          <a:p>
            <a:pPr marL="1026795">
              <a:lnSpc>
                <a:spcPct val="100000"/>
              </a:lnSpc>
            </a:pPr>
            <a:r>
              <a:rPr sz="1800" b="1" dirty="0">
                <a:solidFill>
                  <a:srgbClr val="008000"/>
                </a:solidFill>
                <a:latin typeface="Consolas" panose="020B0609020204030204"/>
                <a:cs typeface="Consolas" panose="020B0609020204030204"/>
              </a:rPr>
              <a:t>return </a:t>
            </a:r>
            <a:r>
              <a:rPr sz="1800" b="1" spc="-5" dirty="0">
                <a:solidFill>
                  <a:srgbClr val="008000"/>
                </a:solidFill>
                <a:latin typeface="Consolas" panose="020B0609020204030204"/>
                <a:cs typeface="Consolas" panose="020B0609020204030204"/>
              </a:rPr>
              <a:t>s[</a:t>
            </a:r>
            <a:r>
              <a:rPr sz="1800" b="1" spc="-5" dirty="0">
                <a:solidFill>
                  <a:srgbClr val="BA2121"/>
                </a:solidFill>
                <a:latin typeface="Consolas" panose="020B0609020204030204"/>
                <a:cs typeface="Consolas" panose="020B0609020204030204"/>
              </a:rPr>
              <a:t>'name'] </a:t>
            </a:r>
            <a:r>
              <a:rPr sz="1800" b="1" dirty="0">
                <a:solidFill>
                  <a:srgbClr val="008000"/>
                </a:solidFill>
                <a:latin typeface="Consolas" panose="020B0609020204030204"/>
                <a:cs typeface="Consolas" panose="020B0609020204030204"/>
              </a:rPr>
              <a:t>if </a:t>
            </a:r>
            <a:r>
              <a:rPr sz="1800" b="1" spc="-5" dirty="0">
                <a:solidFill>
                  <a:srgbClr val="008000"/>
                </a:solidFill>
                <a:latin typeface="Consolas" panose="020B0609020204030204"/>
                <a:cs typeface="Consolas" panose="020B0609020204030204"/>
              </a:rPr>
              <a:t>s[</a:t>
            </a:r>
            <a:r>
              <a:rPr sz="1800" b="1" spc="-5" dirty="0">
                <a:solidFill>
                  <a:srgbClr val="BA2121"/>
                </a:solidFill>
                <a:latin typeface="Consolas" panose="020B0609020204030204"/>
                <a:cs typeface="Consolas" panose="020B0609020204030204"/>
              </a:rPr>
              <a:t>'age'] </a:t>
            </a:r>
            <a:r>
              <a:rPr sz="1800" b="1" dirty="0">
                <a:solidFill>
                  <a:srgbClr val="666666"/>
                </a:solidFill>
                <a:latin typeface="Consolas" panose="020B0609020204030204"/>
                <a:cs typeface="Consolas" panose="020B0609020204030204"/>
              </a:rPr>
              <a:t>&gt; 18 </a:t>
            </a:r>
            <a:r>
              <a:rPr sz="1800" b="1" dirty="0">
                <a:solidFill>
                  <a:srgbClr val="008000"/>
                </a:solidFill>
                <a:latin typeface="Consolas" panose="020B0609020204030204"/>
                <a:cs typeface="Consolas" panose="020B0609020204030204"/>
              </a:rPr>
              <a:t>else </a:t>
            </a:r>
            <a:r>
              <a:rPr sz="1800" b="1" spc="-5" dirty="0">
                <a:solidFill>
                  <a:srgbClr val="008000"/>
                </a:solidFill>
                <a:latin typeface="Consolas" panose="020B0609020204030204"/>
                <a:cs typeface="Consolas" panose="020B0609020204030204"/>
              </a:rPr>
              <a:t>s[</a:t>
            </a:r>
            <a:r>
              <a:rPr sz="1800" b="1" spc="-5" dirty="0">
                <a:solidFill>
                  <a:srgbClr val="BA2121"/>
                </a:solidFill>
                <a:latin typeface="Consolas" panose="020B0609020204030204"/>
                <a:cs typeface="Consolas" panose="020B0609020204030204"/>
              </a:rPr>
              <a:t>'nickname'] </a:t>
            </a:r>
            <a:r>
              <a:rPr sz="1800" b="1" dirty="0">
                <a:solidFill>
                  <a:srgbClr val="008000"/>
                </a:solidFill>
                <a:latin typeface="Consolas" panose="020B0609020204030204"/>
                <a:cs typeface="Consolas" panose="020B0609020204030204"/>
              </a:rPr>
              <a:t>if </a:t>
            </a:r>
            <a:r>
              <a:rPr sz="1800" b="1" spc="-5" dirty="0">
                <a:solidFill>
                  <a:srgbClr val="008000"/>
                </a:solidFill>
                <a:latin typeface="Consolas" panose="020B0609020204030204"/>
                <a:cs typeface="Consolas" panose="020B0609020204030204"/>
              </a:rPr>
              <a:t>s[</a:t>
            </a:r>
            <a:r>
              <a:rPr sz="1800" b="1" spc="-5" dirty="0">
                <a:solidFill>
                  <a:srgbClr val="BA2121"/>
                </a:solidFill>
                <a:latin typeface="Consolas" panose="020B0609020204030204"/>
                <a:cs typeface="Consolas" panose="020B0609020204030204"/>
              </a:rPr>
              <a:t>'age'] </a:t>
            </a:r>
            <a:r>
              <a:rPr sz="1800" b="1" dirty="0">
                <a:solidFill>
                  <a:srgbClr val="666666"/>
                </a:solidFill>
                <a:latin typeface="Consolas" panose="020B0609020204030204"/>
                <a:cs typeface="Consolas" panose="020B0609020204030204"/>
              </a:rPr>
              <a:t>&gt; 14 </a:t>
            </a:r>
            <a:r>
              <a:rPr sz="1800" b="1" dirty="0">
                <a:solidFill>
                  <a:srgbClr val="008000"/>
                </a:solidFill>
                <a:latin typeface="Consolas" panose="020B0609020204030204"/>
                <a:cs typeface="Consolas" panose="020B0609020204030204"/>
              </a:rPr>
              <a:t>else</a:t>
            </a:r>
            <a:r>
              <a:rPr sz="1800" b="1" spc="50" dirty="0">
                <a:solidFill>
                  <a:srgbClr val="008000"/>
                </a:solidFill>
                <a:latin typeface="Consolas" panose="020B0609020204030204"/>
                <a:cs typeface="Consolas" panose="020B0609020204030204"/>
              </a:rPr>
              <a:t> </a:t>
            </a:r>
            <a:r>
              <a:rPr sz="1800" b="1" dirty="0">
                <a:solidFill>
                  <a:srgbClr val="BA2121"/>
                </a:solidFill>
                <a:latin typeface="Consolas" panose="020B0609020204030204"/>
                <a:cs typeface="Consolas" panose="020B0609020204030204"/>
              </a:rPr>
              <a:t>'anonymous'</a:t>
            </a:r>
            <a:endParaRPr sz="1800" dirty="0">
              <a:latin typeface="Consolas" panose="020B0609020204030204"/>
              <a:cs typeface="Consolas" panose="020B0609020204030204"/>
            </a:endParaRPr>
          </a:p>
          <a:p>
            <a:pPr marL="1472565" indent="-370840">
              <a:lnSpc>
                <a:spcPct val="100000"/>
              </a:lnSpc>
              <a:buChar char="•"/>
              <a:tabLst>
                <a:tab pos="1473200" algn="l"/>
                <a:tab pos="1473835" algn="l"/>
              </a:tabLst>
            </a:pPr>
            <a:r>
              <a:rPr sz="2000" spc="-5" dirty="0" err="1">
                <a:solidFill>
                  <a:srgbClr val="000000"/>
                </a:solidFill>
                <a:latin typeface="Arial" panose="020B0604020202020204"/>
                <a:cs typeface="Arial" panose="020B0604020202020204"/>
              </a:rPr>
              <a:t>Python</a:t>
            </a:r>
            <a:r>
              <a:rPr sz="2000" dirty="0" err="1">
                <a:solidFill>
                  <a:srgbClr val="000000"/>
                </a:solidFill>
              </a:rPr>
              <a:t>还有一些很“酷”的特性，但奇技淫巧的代码会难以开发、调试、维护</a:t>
            </a:r>
            <a:endParaRPr sz="2000" dirty="0">
              <a:latin typeface="Arial" panose="020B0604020202020204"/>
              <a:cs typeface="Arial" panose="020B0604020202020204"/>
            </a:endParaRPr>
          </a:p>
        </p:txBody>
      </p:sp>
      <p:sp>
        <p:nvSpPr>
          <p:cNvPr id="4" name="object 4"/>
          <p:cNvSpPr/>
          <p:nvPr/>
        </p:nvSpPr>
        <p:spPr>
          <a:xfrm>
            <a:off x="660642" y="3190897"/>
            <a:ext cx="355600" cy="355600"/>
          </a:xfrm>
          <a:custGeom>
            <a:avLst/>
            <a:gdLst/>
            <a:ahLst/>
            <a:cxnLst/>
            <a:rect l="l" t="t" r="r" b="b"/>
            <a:pathLst>
              <a:path w="355600" h="355600">
                <a:moveTo>
                  <a:pt x="49539" y="0"/>
                </a:moveTo>
                <a:lnTo>
                  <a:pt x="0" y="49540"/>
                </a:lnTo>
                <a:lnTo>
                  <a:pt x="128017" y="177557"/>
                </a:lnTo>
                <a:lnTo>
                  <a:pt x="0" y="305574"/>
                </a:lnTo>
                <a:lnTo>
                  <a:pt x="49539" y="355114"/>
                </a:lnTo>
                <a:lnTo>
                  <a:pt x="177557" y="227097"/>
                </a:lnTo>
                <a:lnTo>
                  <a:pt x="276637" y="227097"/>
                </a:lnTo>
                <a:lnTo>
                  <a:pt x="227097" y="177557"/>
                </a:lnTo>
                <a:lnTo>
                  <a:pt x="276637" y="128017"/>
                </a:lnTo>
                <a:lnTo>
                  <a:pt x="177557" y="128017"/>
                </a:lnTo>
                <a:lnTo>
                  <a:pt x="49539" y="0"/>
                </a:lnTo>
                <a:close/>
              </a:path>
              <a:path w="355600" h="355600">
                <a:moveTo>
                  <a:pt x="276637" y="227097"/>
                </a:moveTo>
                <a:lnTo>
                  <a:pt x="177557" y="227097"/>
                </a:lnTo>
                <a:lnTo>
                  <a:pt x="305574" y="355114"/>
                </a:lnTo>
                <a:lnTo>
                  <a:pt x="355114" y="305574"/>
                </a:lnTo>
                <a:lnTo>
                  <a:pt x="276637" y="227097"/>
                </a:lnTo>
                <a:close/>
              </a:path>
              <a:path w="355600" h="355600">
                <a:moveTo>
                  <a:pt x="305574" y="0"/>
                </a:moveTo>
                <a:lnTo>
                  <a:pt x="177557" y="128017"/>
                </a:lnTo>
                <a:lnTo>
                  <a:pt x="276637" y="128017"/>
                </a:lnTo>
                <a:lnTo>
                  <a:pt x="355114" y="49540"/>
                </a:lnTo>
                <a:lnTo>
                  <a:pt x="305574" y="0"/>
                </a:lnTo>
                <a:close/>
              </a:path>
            </a:pathLst>
          </a:custGeom>
          <a:solidFill>
            <a:srgbClr val="FF2600"/>
          </a:solidFill>
        </p:spPr>
        <p:txBody>
          <a:bodyPr wrap="square" lIns="0" tIns="0" rIns="0" bIns="0" rtlCol="0"/>
          <a:lstStyle/>
          <a:p>
            <a:endParaRPr/>
          </a:p>
        </p:txBody>
      </p:sp>
      <p:sp>
        <p:nvSpPr>
          <p:cNvPr id="5" name="object 5"/>
          <p:cNvSpPr/>
          <p:nvPr/>
        </p:nvSpPr>
        <p:spPr>
          <a:xfrm>
            <a:off x="660642" y="3190898"/>
            <a:ext cx="355600" cy="355600"/>
          </a:xfrm>
          <a:custGeom>
            <a:avLst/>
            <a:gdLst/>
            <a:ahLst/>
            <a:cxnLst/>
            <a:rect l="l" t="t" r="r" b="b"/>
            <a:pathLst>
              <a:path w="355600" h="355600">
                <a:moveTo>
                  <a:pt x="0" y="305574"/>
                </a:moveTo>
                <a:lnTo>
                  <a:pt x="128017" y="177557"/>
                </a:lnTo>
                <a:lnTo>
                  <a:pt x="0" y="49540"/>
                </a:lnTo>
                <a:lnTo>
                  <a:pt x="49539" y="0"/>
                </a:lnTo>
                <a:lnTo>
                  <a:pt x="177557" y="128017"/>
                </a:lnTo>
                <a:lnTo>
                  <a:pt x="305574" y="0"/>
                </a:lnTo>
                <a:lnTo>
                  <a:pt x="355114" y="49540"/>
                </a:lnTo>
                <a:lnTo>
                  <a:pt x="227097" y="177557"/>
                </a:lnTo>
                <a:lnTo>
                  <a:pt x="355114" y="305574"/>
                </a:lnTo>
                <a:lnTo>
                  <a:pt x="305574" y="355114"/>
                </a:lnTo>
                <a:lnTo>
                  <a:pt x="177557" y="227097"/>
                </a:lnTo>
                <a:lnTo>
                  <a:pt x="49539" y="355114"/>
                </a:lnTo>
                <a:lnTo>
                  <a:pt x="0" y="305574"/>
                </a:lnTo>
                <a:close/>
              </a:path>
            </a:pathLst>
          </a:custGeom>
          <a:ln w="12699">
            <a:solidFill>
              <a:srgbClr val="FF2600"/>
            </a:solidFill>
          </a:ln>
        </p:spPr>
        <p:txBody>
          <a:bodyPr wrap="square" lIns="0" tIns="0" rIns="0" bIns="0" rtlCol="0"/>
          <a:lstStyle/>
          <a:p>
            <a:endParaRPr/>
          </a:p>
        </p:txBody>
      </p:sp>
      <p:sp>
        <p:nvSpPr>
          <p:cNvPr id="6" name="object 6"/>
          <p:cNvSpPr/>
          <p:nvPr/>
        </p:nvSpPr>
        <p:spPr>
          <a:xfrm>
            <a:off x="587400" y="5154556"/>
            <a:ext cx="355600" cy="355600"/>
          </a:xfrm>
          <a:custGeom>
            <a:avLst/>
            <a:gdLst/>
            <a:ahLst/>
            <a:cxnLst/>
            <a:rect l="l" t="t" r="r" b="b"/>
            <a:pathLst>
              <a:path w="355600" h="355600">
                <a:moveTo>
                  <a:pt x="49539" y="0"/>
                </a:moveTo>
                <a:lnTo>
                  <a:pt x="0" y="49540"/>
                </a:lnTo>
                <a:lnTo>
                  <a:pt x="128017" y="177557"/>
                </a:lnTo>
                <a:lnTo>
                  <a:pt x="0" y="305574"/>
                </a:lnTo>
                <a:lnTo>
                  <a:pt x="49539" y="355114"/>
                </a:lnTo>
                <a:lnTo>
                  <a:pt x="177557" y="227097"/>
                </a:lnTo>
                <a:lnTo>
                  <a:pt x="276637" y="227097"/>
                </a:lnTo>
                <a:lnTo>
                  <a:pt x="227097" y="177557"/>
                </a:lnTo>
                <a:lnTo>
                  <a:pt x="276637" y="128017"/>
                </a:lnTo>
                <a:lnTo>
                  <a:pt x="177557" y="128017"/>
                </a:lnTo>
                <a:lnTo>
                  <a:pt x="49539" y="0"/>
                </a:lnTo>
                <a:close/>
              </a:path>
              <a:path w="355600" h="355600">
                <a:moveTo>
                  <a:pt x="276637" y="227097"/>
                </a:moveTo>
                <a:lnTo>
                  <a:pt x="177557" y="227097"/>
                </a:lnTo>
                <a:lnTo>
                  <a:pt x="305574" y="355114"/>
                </a:lnTo>
                <a:lnTo>
                  <a:pt x="355114" y="305574"/>
                </a:lnTo>
                <a:lnTo>
                  <a:pt x="276637" y="227097"/>
                </a:lnTo>
                <a:close/>
              </a:path>
              <a:path w="355600" h="355600">
                <a:moveTo>
                  <a:pt x="305574" y="0"/>
                </a:moveTo>
                <a:lnTo>
                  <a:pt x="177557" y="128017"/>
                </a:lnTo>
                <a:lnTo>
                  <a:pt x="276637" y="128017"/>
                </a:lnTo>
                <a:lnTo>
                  <a:pt x="355114" y="49540"/>
                </a:lnTo>
                <a:lnTo>
                  <a:pt x="305574" y="0"/>
                </a:lnTo>
                <a:close/>
              </a:path>
            </a:pathLst>
          </a:custGeom>
          <a:solidFill>
            <a:srgbClr val="FF2600"/>
          </a:solidFill>
        </p:spPr>
        <p:txBody>
          <a:bodyPr wrap="square" lIns="0" tIns="0" rIns="0" bIns="0" rtlCol="0"/>
          <a:lstStyle/>
          <a:p>
            <a:endParaRPr/>
          </a:p>
        </p:txBody>
      </p:sp>
      <p:sp>
        <p:nvSpPr>
          <p:cNvPr id="7" name="object 7"/>
          <p:cNvSpPr/>
          <p:nvPr/>
        </p:nvSpPr>
        <p:spPr>
          <a:xfrm>
            <a:off x="587400" y="5154556"/>
            <a:ext cx="355600" cy="355600"/>
          </a:xfrm>
          <a:custGeom>
            <a:avLst/>
            <a:gdLst/>
            <a:ahLst/>
            <a:cxnLst/>
            <a:rect l="l" t="t" r="r" b="b"/>
            <a:pathLst>
              <a:path w="355600" h="355600">
                <a:moveTo>
                  <a:pt x="0" y="305574"/>
                </a:moveTo>
                <a:lnTo>
                  <a:pt x="128017" y="177557"/>
                </a:lnTo>
                <a:lnTo>
                  <a:pt x="0" y="49540"/>
                </a:lnTo>
                <a:lnTo>
                  <a:pt x="49539" y="0"/>
                </a:lnTo>
                <a:lnTo>
                  <a:pt x="177557" y="128017"/>
                </a:lnTo>
                <a:lnTo>
                  <a:pt x="305574" y="0"/>
                </a:lnTo>
                <a:lnTo>
                  <a:pt x="355114" y="49540"/>
                </a:lnTo>
                <a:lnTo>
                  <a:pt x="227097" y="177557"/>
                </a:lnTo>
                <a:lnTo>
                  <a:pt x="355114" y="305574"/>
                </a:lnTo>
                <a:lnTo>
                  <a:pt x="305574" y="355114"/>
                </a:lnTo>
                <a:lnTo>
                  <a:pt x="177557" y="227097"/>
                </a:lnTo>
                <a:lnTo>
                  <a:pt x="49539" y="355114"/>
                </a:lnTo>
                <a:lnTo>
                  <a:pt x="0" y="305574"/>
                </a:lnTo>
                <a:close/>
              </a:path>
            </a:pathLst>
          </a:custGeom>
          <a:ln w="12699">
            <a:solidFill>
              <a:srgbClr val="FF2600"/>
            </a:solidFill>
          </a:ln>
        </p:spPr>
        <p:txBody>
          <a:bodyPr wrap="square" lIns="0" tIns="0" rIns="0" bIns="0" rtlCol="0"/>
          <a:lstStyle/>
          <a:p>
            <a:endParaRPr/>
          </a:p>
        </p:txBody>
      </p:sp>
      <p:sp>
        <p:nvSpPr>
          <p:cNvPr id="8" name="object 8"/>
          <p:cNvSpPr/>
          <p:nvPr/>
        </p:nvSpPr>
        <p:spPr>
          <a:xfrm>
            <a:off x="684585" y="2735258"/>
            <a:ext cx="363220" cy="316865"/>
          </a:xfrm>
          <a:custGeom>
            <a:avLst/>
            <a:gdLst/>
            <a:ahLst/>
            <a:cxnLst/>
            <a:rect l="l" t="t" r="r" b="b"/>
            <a:pathLst>
              <a:path w="363219" h="316864">
                <a:moveTo>
                  <a:pt x="50928" y="162339"/>
                </a:moveTo>
                <a:lnTo>
                  <a:pt x="0" y="214802"/>
                </a:lnTo>
                <a:lnTo>
                  <a:pt x="104929" y="316659"/>
                </a:lnTo>
                <a:lnTo>
                  <a:pt x="205293" y="213267"/>
                </a:lnTo>
                <a:lnTo>
                  <a:pt x="103393" y="213267"/>
                </a:lnTo>
                <a:lnTo>
                  <a:pt x="50928" y="162339"/>
                </a:lnTo>
                <a:close/>
              </a:path>
              <a:path w="363219" h="316864">
                <a:moveTo>
                  <a:pt x="310414" y="0"/>
                </a:moveTo>
                <a:lnTo>
                  <a:pt x="103393" y="213267"/>
                </a:lnTo>
                <a:lnTo>
                  <a:pt x="205293" y="213267"/>
                </a:lnTo>
                <a:lnTo>
                  <a:pt x="362879" y="50928"/>
                </a:lnTo>
                <a:lnTo>
                  <a:pt x="310414" y="0"/>
                </a:lnTo>
                <a:close/>
              </a:path>
            </a:pathLst>
          </a:custGeom>
          <a:solidFill>
            <a:srgbClr val="A1D562"/>
          </a:solidFill>
        </p:spPr>
        <p:txBody>
          <a:bodyPr wrap="square" lIns="0" tIns="0" rIns="0" bIns="0" rtlCol="0"/>
          <a:lstStyle/>
          <a:p>
            <a:endParaRPr/>
          </a:p>
        </p:txBody>
      </p:sp>
      <p:sp>
        <p:nvSpPr>
          <p:cNvPr id="9" name="object 9"/>
          <p:cNvSpPr/>
          <p:nvPr/>
        </p:nvSpPr>
        <p:spPr>
          <a:xfrm>
            <a:off x="684585" y="2735258"/>
            <a:ext cx="363220" cy="316865"/>
          </a:xfrm>
          <a:custGeom>
            <a:avLst/>
            <a:gdLst/>
            <a:ahLst/>
            <a:cxnLst/>
            <a:rect l="l" t="t" r="r" b="b"/>
            <a:pathLst>
              <a:path w="363219" h="316864">
                <a:moveTo>
                  <a:pt x="0" y="214803"/>
                </a:moveTo>
                <a:lnTo>
                  <a:pt x="50928" y="162338"/>
                </a:lnTo>
                <a:lnTo>
                  <a:pt x="103393" y="213267"/>
                </a:lnTo>
                <a:lnTo>
                  <a:pt x="310414" y="0"/>
                </a:lnTo>
                <a:lnTo>
                  <a:pt x="362879" y="50928"/>
                </a:lnTo>
                <a:lnTo>
                  <a:pt x="104929" y="316660"/>
                </a:lnTo>
                <a:lnTo>
                  <a:pt x="0" y="214803"/>
                </a:lnTo>
                <a:close/>
              </a:path>
            </a:pathLst>
          </a:custGeom>
          <a:ln w="12699">
            <a:solidFill>
              <a:srgbClr val="A1D562"/>
            </a:solidFill>
          </a:ln>
        </p:spPr>
        <p:txBody>
          <a:bodyPr wrap="square" lIns="0" tIns="0" rIns="0" bIns="0" rtlCol="0"/>
          <a:lstStyle/>
          <a:p>
            <a:endParaRPr/>
          </a:p>
        </p:txBody>
      </p:sp>
      <p:sp>
        <p:nvSpPr>
          <p:cNvPr id="10" name="object 10"/>
          <p:cNvSpPr/>
          <p:nvPr/>
        </p:nvSpPr>
        <p:spPr>
          <a:xfrm>
            <a:off x="617604" y="4631366"/>
            <a:ext cx="363220" cy="316865"/>
          </a:xfrm>
          <a:custGeom>
            <a:avLst/>
            <a:gdLst/>
            <a:ahLst/>
            <a:cxnLst/>
            <a:rect l="l" t="t" r="r" b="b"/>
            <a:pathLst>
              <a:path w="363219" h="316864">
                <a:moveTo>
                  <a:pt x="50928" y="162339"/>
                </a:moveTo>
                <a:lnTo>
                  <a:pt x="0" y="214802"/>
                </a:lnTo>
                <a:lnTo>
                  <a:pt x="104929" y="316659"/>
                </a:lnTo>
                <a:lnTo>
                  <a:pt x="205293" y="213267"/>
                </a:lnTo>
                <a:lnTo>
                  <a:pt x="103392" y="213267"/>
                </a:lnTo>
                <a:lnTo>
                  <a:pt x="50928" y="162339"/>
                </a:lnTo>
                <a:close/>
              </a:path>
              <a:path w="363219" h="316864">
                <a:moveTo>
                  <a:pt x="310414" y="0"/>
                </a:moveTo>
                <a:lnTo>
                  <a:pt x="103392" y="213267"/>
                </a:lnTo>
                <a:lnTo>
                  <a:pt x="205293" y="213267"/>
                </a:lnTo>
                <a:lnTo>
                  <a:pt x="362879" y="50928"/>
                </a:lnTo>
                <a:lnTo>
                  <a:pt x="310414" y="0"/>
                </a:lnTo>
                <a:close/>
              </a:path>
            </a:pathLst>
          </a:custGeom>
          <a:solidFill>
            <a:srgbClr val="A1D562"/>
          </a:solidFill>
        </p:spPr>
        <p:txBody>
          <a:bodyPr wrap="square" lIns="0" tIns="0" rIns="0" bIns="0" rtlCol="0"/>
          <a:lstStyle/>
          <a:p>
            <a:endParaRPr/>
          </a:p>
        </p:txBody>
      </p:sp>
      <p:sp>
        <p:nvSpPr>
          <p:cNvPr id="11" name="object 11"/>
          <p:cNvSpPr/>
          <p:nvPr/>
        </p:nvSpPr>
        <p:spPr>
          <a:xfrm>
            <a:off x="617604" y="4631365"/>
            <a:ext cx="363220" cy="316865"/>
          </a:xfrm>
          <a:custGeom>
            <a:avLst/>
            <a:gdLst/>
            <a:ahLst/>
            <a:cxnLst/>
            <a:rect l="l" t="t" r="r" b="b"/>
            <a:pathLst>
              <a:path w="363219" h="316864">
                <a:moveTo>
                  <a:pt x="0" y="214803"/>
                </a:moveTo>
                <a:lnTo>
                  <a:pt x="50928" y="162338"/>
                </a:lnTo>
                <a:lnTo>
                  <a:pt x="103393" y="213267"/>
                </a:lnTo>
                <a:lnTo>
                  <a:pt x="310414" y="0"/>
                </a:lnTo>
                <a:lnTo>
                  <a:pt x="362879" y="50928"/>
                </a:lnTo>
                <a:lnTo>
                  <a:pt x="104929" y="316660"/>
                </a:lnTo>
                <a:lnTo>
                  <a:pt x="0" y="214803"/>
                </a:lnTo>
                <a:close/>
              </a:path>
            </a:pathLst>
          </a:custGeom>
          <a:ln w="12699">
            <a:solidFill>
              <a:srgbClr val="A1D562"/>
            </a:solidFill>
          </a:ln>
        </p:spPr>
        <p:txBody>
          <a:bodyPr wrap="square" lIns="0" tIns="0" rIns="0" bIns="0" rtlCol="0"/>
          <a:lstStyle/>
          <a:p>
            <a:endParaRPr/>
          </a:p>
        </p:txBody>
      </p:sp>
      <p:sp>
        <p:nvSpPr>
          <p:cNvPr id="13" name="标题 12"/>
          <p:cNvSpPr>
            <a:spLocks noGrp="1"/>
          </p:cNvSpPr>
          <p:nvPr>
            <p:ph type="title"/>
          </p:nvPr>
        </p:nvSpPr>
        <p:spPr/>
        <p:txBody>
          <a:bodyPr/>
          <a:lstStyle/>
          <a:p>
            <a:r>
              <a:rPr lang="en-US" altLang="zh-CN" dirty="0">
                <a:latin typeface="Arial" panose="020B0604020202020204"/>
                <a:cs typeface="Arial" panose="020B0604020202020204"/>
              </a:rPr>
              <a:t>Pyt</a:t>
            </a:r>
            <a:r>
              <a:rPr lang="en-US" altLang="zh-CN" spc="-5" dirty="0">
                <a:latin typeface="Arial" panose="020B0604020202020204"/>
                <a:cs typeface="Arial" panose="020B0604020202020204"/>
              </a:rPr>
              <a:t>ho</a:t>
            </a:r>
            <a:r>
              <a:rPr lang="en-US" altLang="zh-CN" dirty="0">
                <a:latin typeface="Arial" panose="020B0604020202020204"/>
                <a:cs typeface="Arial" panose="020B0604020202020204"/>
              </a:rPr>
              <a:t>n</a:t>
            </a:r>
            <a:r>
              <a:rPr lang="zh-CN" altLang="en-US" dirty="0"/>
              <a:t>编程规范：语句</a:t>
            </a:r>
          </a:p>
        </p:txBody>
      </p:sp>
      <p:sp>
        <p:nvSpPr>
          <p:cNvPr id="12" name="灯片编号占位符 11"/>
          <p:cNvSpPr>
            <a:spLocks noGrp="1"/>
          </p:cNvSpPr>
          <p:nvPr>
            <p:ph type="sldNum" sz="quarter" idx="12"/>
          </p:nvPr>
        </p:nvSpPr>
        <p:spPr/>
        <p:txBody>
          <a:bodyPr/>
          <a:lstStyle/>
          <a:p>
            <a:fld id="{74D2AB8B-5816-41F2-8B4B-CA5C3E4E6A65}" type="slidenum">
              <a:rPr lang="zh-CN" altLang="en-US" smtClean="0"/>
              <a:t>19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9155"/>
    </mc:Choice>
    <mc:Fallback xmlns="">
      <p:transition spd="slow" advTm="49155"/>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85772" y="1655126"/>
            <a:ext cx="6210935" cy="9753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pitchFamily="34" charset="-122"/>
                <a:cs typeface="微软雅黑" panose="020B0503020204020204" pitchFamily="34" charset="-122"/>
              </a:rPr>
              <a:t>请参考</a:t>
            </a:r>
            <a:r>
              <a:rPr sz="2400" spc="-5" dirty="0">
                <a:latin typeface="Arial" panose="020B0604020202020204"/>
                <a:cs typeface="Arial" panose="020B0604020202020204"/>
              </a:rPr>
              <a:t>Google Python</a:t>
            </a:r>
            <a:r>
              <a:rPr sz="2400" dirty="0">
                <a:latin typeface="Arial" panose="020B0604020202020204"/>
                <a:cs typeface="Arial" panose="020B0604020202020204"/>
              </a:rPr>
              <a:t> </a:t>
            </a:r>
            <a:r>
              <a:rPr sz="2400" spc="-5" dirty="0">
                <a:latin typeface="Arial" panose="020B0604020202020204"/>
                <a:cs typeface="Arial" panose="020B0604020202020204"/>
              </a:rPr>
              <a:t>Style Guide</a:t>
            </a:r>
            <a:r>
              <a:rPr sz="2400" spc="-5" dirty="0">
                <a:latin typeface="微软雅黑" panose="020B0503020204020204" pitchFamily="34" charset="-122"/>
                <a:cs typeface="微软雅黑" panose="020B0503020204020204" pitchFamily="34" charset="-122"/>
              </a:rPr>
              <a:t>：</a:t>
            </a:r>
            <a:endParaRPr sz="2400">
              <a:latin typeface="微软雅黑" panose="020B0503020204020204" pitchFamily="34" charset="-122"/>
              <a:cs typeface="微软雅黑" panose="020B0503020204020204" pitchFamily="34" charset="-122"/>
            </a:endParaRPr>
          </a:p>
          <a:p>
            <a:pPr marL="12700">
              <a:lnSpc>
                <a:spcPct val="100000"/>
              </a:lnSpc>
              <a:spcBef>
                <a:spcPts val="1720"/>
              </a:spcBef>
            </a:pPr>
            <a:r>
              <a:rPr sz="2400" u="heavy" spc="-5" dirty="0">
                <a:solidFill>
                  <a:srgbClr val="0563C1"/>
                </a:solidFill>
                <a:uFill>
                  <a:solidFill>
                    <a:srgbClr val="0079CD"/>
                  </a:solidFill>
                </a:uFill>
                <a:latin typeface="Arial" panose="020B0604020202020204"/>
                <a:cs typeface="Arial" panose="020B0604020202020204"/>
                <a:hlinkClick r:id="rId3"/>
              </a:rPr>
              <a:t>http://google.github.io/styleguide/pyguide.html</a:t>
            </a:r>
            <a:endParaRPr sz="2400">
              <a:latin typeface="Arial" panose="020B0604020202020204"/>
              <a:cs typeface="Arial" panose="020B0604020202020204"/>
            </a:endParaRPr>
          </a:p>
        </p:txBody>
      </p:sp>
      <p:sp>
        <p:nvSpPr>
          <p:cNvPr id="4" name="object 4"/>
          <p:cNvSpPr/>
          <p:nvPr/>
        </p:nvSpPr>
        <p:spPr>
          <a:xfrm>
            <a:off x="7188198" y="2877033"/>
            <a:ext cx="3949698" cy="304800"/>
          </a:xfrm>
          <a:prstGeom prst="rect">
            <a:avLst/>
          </a:prstGeom>
          <a:blipFill>
            <a:blip r:embed="rId4" cstate="print"/>
            <a:stretch>
              <a:fillRect/>
            </a:stretch>
          </a:blipFill>
        </p:spPr>
        <p:txBody>
          <a:bodyPr wrap="square" lIns="0" tIns="0" rIns="0" bIns="0" rtlCol="0"/>
          <a:lstStyle/>
          <a:p>
            <a:endParaRPr/>
          </a:p>
        </p:txBody>
      </p:sp>
      <p:sp>
        <p:nvSpPr>
          <p:cNvPr id="5" name="object 5"/>
          <p:cNvSpPr txBox="1"/>
          <p:nvPr/>
        </p:nvSpPr>
        <p:spPr>
          <a:xfrm>
            <a:off x="1185772" y="4017326"/>
            <a:ext cx="7299325" cy="1419225"/>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pitchFamily="34" charset="-122"/>
                <a:cs typeface="微软雅黑" panose="020B0503020204020204" pitchFamily="34" charset="-122"/>
              </a:rPr>
              <a:t>以及</a:t>
            </a:r>
            <a:r>
              <a:rPr sz="2400" spc="-5" dirty="0">
                <a:latin typeface="Arial" panose="020B0604020202020204"/>
                <a:cs typeface="Arial" panose="020B0604020202020204"/>
              </a:rPr>
              <a:t>Python</a:t>
            </a:r>
            <a:r>
              <a:rPr sz="2400" dirty="0">
                <a:latin typeface="微软雅黑" panose="020B0503020204020204" pitchFamily="34" charset="-122"/>
                <a:cs typeface="微软雅黑" panose="020B0503020204020204" pitchFamily="34" charset="-122"/>
              </a:rPr>
              <a:t>之禅道</a:t>
            </a:r>
            <a:r>
              <a:rPr sz="2400" spc="-5" dirty="0">
                <a:latin typeface="微软雅黑" panose="020B0503020204020204" pitchFamily="34" charset="-122"/>
                <a:cs typeface="微软雅黑" panose="020B0503020204020204" pitchFamily="34" charset="-122"/>
              </a:rPr>
              <a:t>（</a:t>
            </a:r>
            <a:r>
              <a:rPr sz="2400" spc="-5" dirty="0">
                <a:latin typeface="Arial" panose="020B0604020202020204"/>
                <a:cs typeface="Arial" panose="020B0604020202020204"/>
              </a:rPr>
              <a:t>The Zen</a:t>
            </a:r>
            <a:r>
              <a:rPr sz="2400" dirty="0">
                <a:latin typeface="Arial" panose="020B0604020202020204"/>
                <a:cs typeface="Arial" panose="020B0604020202020204"/>
              </a:rPr>
              <a:t> of</a:t>
            </a:r>
            <a:r>
              <a:rPr sz="2400" spc="-5" dirty="0">
                <a:latin typeface="Arial" panose="020B0604020202020204"/>
                <a:cs typeface="Arial" panose="020B0604020202020204"/>
              </a:rPr>
              <a:t> Python</a:t>
            </a:r>
            <a:r>
              <a:rPr sz="2400" spc="-5" dirty="0">
                <a:latin typeface="微软雅黑" panose="020B0503020204020204" pitchFamily="34" charset="-122"/>
                <a:cs typeface="微软雅黑" panose="020B0503020204020204" pitchFamily="34" charset="-122"/>
              </a:rPr>
              <a:t>）：</a:t>
            </a:r>
            <a:endParaRPr sz="2400">
              <a:latin typeface="微软雅黑" panose="020B0503020204020204" pitchFamily="34" charset="-122"/>
              <a:cs typeface="微软雅黑" panose="020B0503020204020204" pitchFamily="34" charset="-122"/>
            </a:endParaRPr>
          </a:p>
          <a:p>
            <a:pPr marL="12700">
              <a:lnSpc>
                <a:spcPct val="100000"/>
              </a:lnSpc>
              <a:spcBef>
                <a:spcPts val="1720"/>
              </a:spcBef>
            </a:pPr>
            <a:r>
              <a:rPr sz="2400" dirty="0">
                <a:latin typeface="微软雅黑" panose="020B0503020204020204" pitchFamily="34" charset="-122"/>
                <a:cs typeface="微软雅黑" panose="020B0503020204020204" pitchFamily="34" charset="-122"/>
              </a:rPr>
              <a:t>打开</a:t>
            </a:r>
            <a:r>
              <a:rPr sz="2400" spc="-5" dirty="0">
                <a:latin typeface="Arial" panose="020B0604020202020204"/>
                <a:cs typeface="Arial" panose="020B0604020202020204"/>
              </a:rPr>
              <a:t>Python</a:t>
            </a:r>
            <a:r>
              <a:rPr sz="2400" dirty="0">
                <a:latin typeface="微软雅黑" panose="020B0503020204020204" pitchFamily="34" charset="-122"/>
                <a:cs typeface="微软雅黑" panose="020B0503020204020204" pitchFamily="34" charset="-122"/>
              </a:rPr>
              <a:t>交互式解释器并输入</a:t>
            </a:r>
            <a:r>
              <a:rPr sz="2400" dirty="0">
                <a:latin typeface="Arial" panose="020B0604020202020204"/>
                <a:cs typeface="Arial" panose="020B0604020202020204"/>
              </a:rPr>
              <a:t>import</a:t>
            </a:r>
            <a:r>
              <a:rPr sz="2400" spc="-50" dirty="0">
                <a:latin typeface="Arial" panose="020B0604020202020204"/>
                <a:cs typeface="Arial" panose="020B0604020202020204"/>
              </a:rPr>
              <a:t> </a:t>
            </a:r>
            <a:r>
              <a:rPr sz="2400" spc="-5" dirty="0">
                <a:latin typeface="Arial" panose="020B0604020202020204"/>
                <a:cs typeface="Arial" panose="020B0604020202020204"/>
              </a:rPr>
              <a:t>this</a:t>
            </a:r>
            <a:r>
              <a:rPr sz="2400" dirty="0">
                <a:latin typeface="微软雅黑" panose="020B0503020204020204" pitchFamily="34" charset="-122"/>
                <a:cs typeface="微软雅黑" panose="020B0503020204020204" pitchFamily="34" charset="-122"/>
              </a:rPr>
              <a:t>即可查看。</a:t>
            </a:r>
            <a:endParaRPr sz="2400">
              <a:latin typeface="微软雅黑" panose="020B0503020204020204" pitchFamily="34" charset="-122"/>
              <a:cs typeface="微软雅黑" panose="020B0503020204020204" pitchFamily="34" charset="-122"/>
            </a:endParaRPr>
          </a:p>
          <a:p>
            <a:pPr marR="5080" algn="r">
              <a:lnSpc>
                <a:spcPct val="100000"/>
              </a:lnSpc>
              <a:spcBef>
                <a:spcPts val="1330"/>
              </a:spcBef>
            </a:pPr>
            <a:r>
              <a:rPr sz="1800" b="1" dirty="0">
                <a:solidFill>
                  <a:srgbClr val="008000"/>
                </a:solidFill>
                <a:latin typeface="Consolas" panose="020B0609020204030204"/>
                <a:cs typeface="Consolas" panose="020B0609020204030204"/>
              </a:rPr>
              <a:t>import</a:t>
            </a:r>
            <a:r>
              <a:rPr sz="1800" b="1" spc="-105" dirty="0">
                <a:solidFill>
                  <a:srgbClr val="008000"/>
                </a:solidFill>
                <a:latin typeface="Consolas" panose="020B0609020204030204"/>
                <a:cs typeface="Consolas" panose="020B0609020204030204"/>
              </a:rPr>
              <a:t> </a:t>
            </a:r>
            <a:r>
              <a:rPr sz="1800" b="1" dirty="0">
                <a:solidFill>
                  <a:srgbClr val="0000FF"/>
                </a:solidFill>
                <a:latin typeface="Consolas" panose="020B0609020204030204"/>
                <a:cs typeface="Consolas" panose="020B0609020204030204"/>
              </a:rPr>
              <a:t>this</a:t>
            </a:r>
            <a:endParaRPr sz="1800">
              <a:latin typeface="Consolas" panose="020B0609020204030204"/>
              <a:cs typeface="Consolas" panose="020B0609020204030204"/>
            </a:endParaRPr>
          </a:p>
        </p:txBody>
      </p:sp>
      <p:sp>
        <p:nvSpPr>
          <p:cNvPr id="7" name="标题 6"/>
          <p:cNvSpPr>
            <a:spLocks noGrp="1"/>
          </p:cNvSpPr>
          <p:nvPr>
            <p:ph type="title"/>
          </p:nvPr>
        </p:nvSpPr>
        <p:spPr/>
        <p:txBody>
          <a:bodyPr/>
          <a:lstStyle/>
          <a:p>
            <a:r>
              <a:rPr lang="en-US" altLang="zh-CN" dirty="0">
                <a:latin typeface="Arial" panose="020B0604020202020204"/>
                <a:cs typeface="Arial" panose="020B0604020202020204"/>
              </a:rPr>
              <a:t>Pyt</a:t>
            </a:r>
            <a:r>
              <a:rPr lang="en-US" altLang="zh-CN" spc="-5" dirty="0">
                <a:latin typeface="Arial" panose="020B0604020202020204"/>
                <a:cs typeface="Arial" panose="020B0604020202020204"/>
              </a:rPr>
              <a:t>ho</a:t>
            </a:r>
            <a:r>
              <a:rPr lang="en-US" altLang="zh-CN" dirty="0">
                <a:latin typeface="Arial" panose="020B0604020202020204"/>
                <a:cs typeface="Arial" panose="020B0604020202020204"/>
              </a:rPr>
              <a:t>n</a:t>
            </a:r>
            <a:r>
              <a:rPr lang="zh-CN" altLang="en-US" dirty="0"/>
              <a:t>编程规范：更多完整内容</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20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0496"/>
    </mc:Choice>
    <mc:Fallback xmlns="">
      <p:transition spd="slow" advTm="40496"/>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12190614" cy="6857999"/>
          </a:xfrm>
          <a:prstGeom prst="rect">
            <a:avLst/>
          </a:prstGeom>
          <a:blipFill>
            <a:blip r:embed="rId3" cstate="print"/>
            <a:stretch>
              <a:fillRect/>
            </a:stretch>
          </a:blipFill>
        </p:spPr>
        <p:txBody>
          <a:bodyPr wrap="square" lIns="0" tIns="0" rIns="0" bIns="0" rtlCol="0"/>
          <a:lstStyle/>
          <a:p>
            <a:endParaRPr/>
          </a:p>
        </p:txBody>
      </p:sp>
      <p:sp>
        <p:nvSpPr>
          <p:cNvPr id="3" name="object 3"/>
          <p:cNvSpPr txBox="1"/>
          <p:nvPr/>
        </p:nvSpPr>
        <p:spPr>
          <a:xfrm>
            <a:off x="906131" y="3583121"/>
            <a:ext cx="8682355" cy="2977738"/>
          </a:xfrm>
          <a:prstGeom prst="rect">
            <a:avLst/>
          </a:prstGeom>
        </p:spPr>
        <p:txBody>
          <a:bodyPr vert="horz" wrap="square" lIns="0" tIns="248920" rIns="0" bIns="0" rtlCol="0">
            <a:spAutoFit/>
          </a:bodyPr>
          <a:lstStyle/>
          <a:p>
            <a:pPr marL="469900" indent="-457200">
              <a:lnSpc>
                <a:spcPct val="100000"/>
              </a:lnSpc>
              <a:spcBef>
                <a:spcPts val="1960"/>
              </a:spcBef>
              <a:buFont typeface="Arial" panose="020B0604020202020204"/>
              <a:buChar char="•"/>
              <a:tabLst>
                <a:tab pos="469265" algn="l"/>
                <a:tab pos="469900" algn="l"/>
              </a:tabLst>
            </a:pPr>
            <a:r>
              <a:rPr sz="3200" dirty="0">
                <a:latin typeface="微软雅黑" panose="020B0503020204020204" pitchFamily="34" charset="-122"/>
                <a:cs typeface="微软雅黑" panose="020B0503020204020204" pitchFamily="34" charset="-122"/>
              </a:rPr>
              <a:t>看：阅读优秀的代码，学习别人的代码</a:t>
            </a:r>
          </a:p>
          <a:p>
            <a:pPr marL="469900" indent="-457200">
              <a:lnSpc>
                <a:spcPct val="100000"/>
              </a:lnSpc>
              <a:spcBef>
                <a:spcPts val="1860"/>
              </a:spcBef>
              <a:buFont typeface="Arial" panose="020B0604020202020204"/>
              <a:buChar char="•"/>
              <a:tabLst>
                <a:tab pos="469265" algn="l"/>
                <a:tab pos="469900" algn="l"/>
              </a:tabLst>
            </a:pPr>
            <a:r>
              <a:rPr sz="3200" dirty="0">
                <a:latin typeface="微软雅黑" panose="020B0503020204020204" pitchFamily="34" charset="-122"/>
                <a:cs typeface="微软雅黑" panose="020B0503020204020204" pitchFamily="34" charset="-122"/>
              </a:rPr>
              <a:t>问</a:t>
            </a:r>
            <a:r>
              <a:rPr sz="3200" spc="-5" dirty="0">
                <a:latin typeface="微软雅黑" panose="020B0503020204020204" pitchFamily="34" charset="-122"/>
                <a:cs typeface="微软雅黑" panose="020B0503020204020204" pitchFamily="34" charset="-122"/>
              </a:rPr>
              <a:t>：</a:t>
            </a:r>
            <a:r>
              <a:rPr sz="3200" u="heavy" spc="-5" dirty="0">
                <a:solidFill>
                  <a:srgbClr val="0563C1"/>
                </a:solidFill>
                <a:uFill>
                  <a:solidFill>
                    <a:srgbClr val="0079CD"/>
                  </a:solidFill>
                </a:uFill>
                <a:latin typeface="Arial" panose="020B0604020202020204"/>
                <a:cs typeface="Arial" panose="020B0604020202020204"/>
              </a:rPr>
              <a:t>https://github.com/seajs/seajs/issues/545</a:t>
            </a:r>
            <a:endParaRPr sz="3200" dirty="0">
              <a:latin typeface="Arial" panose="020B0604020202020204"/>
              <a:cs typeface="Arial" panose="020B0604020202020204"/>
            </a:endParaRPr>
          </a:p>
          <a:p>
            <a:pPr marL="469900" indent="-457200">
              <a:lnSpc>
                <a:spcPct val="100000"/>
              </a:lnSpc>
              <a:spcBef>
                <a:spcPts val="1960"/>
              </a:spcBef>
              <a:buFont typeface="Arial" panose="020B0604020202020204"/>
              <a:buChar char="•"/>
              <a:tabLst>
                <a:tab pos="469265" algn="l"/>
                <a:tab pos="469900" algn="l"/>
              </a:tabLst>
            </a:pPr>
            <a:r>
              <a:rPr sz="3200" dirty="0" err="1">
                <a:latin typeface="微软雅黑" panose="020B0503020204020204" pitchFamily="34" charset="-122"/>
                <a:cs typeface="微软雅黑" panose="020B0503020204020204" pitchFamily="34" charset="-122"/>
              </a:rPr>
              <a:t>练：亲自动手编写代码，实践、实践、再实践</a:t>
            </a:r>
            <a:endParaRPr lang="en-US" altLang="zh-CN" sz="3200" dirty="0">
              <a:latin typeface="微软雅黑" panose="020B0503020204020204" pitchFamily="34" charset="-122"/>
              <a:cs typeface="微软雅黑" panose="020B0503020204020204" pitchFamily="34" charset="-122"/>
            </a:endParaRPr>
          </a:p>
          <a:p>
            <a:pPr marL="469900" indent="-457200">
              <a:lnSpc>
                <a:spcPct val="100000"/>
              </a:lnSpc>
              <a:spcBef>
                <a:spcPts val="1960"/>
              </a:spcBef>
              <a:buFont typeface="Arial" panose="020B0604020202020204"/>
              <a:buChar char="•"/>
              <a:tabLst>
                <a:tab pos="469265" algn="l"/>
                <a:tab pos="469900" algn="l"/>
              </a:tabLst>
            </a:pPr>
            <a:endParaRPr lang="en-US" altLang="zh-CN" sz="3200" dirty="0">
              <a:latin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7"/>
          </p:nvPr>
        </p:nvSpPr>
        <p:spPr/>
        <p:txBody>
          <a:bodyPr/>
          <a:lstStyle/>
          <a:p>
            <a:fld id="{B6F15528-21DE-4FAA-801E-634DDDAF4B2B}" type="slidenum">
              <a:rPr lang="en-US" altLang="zh-CN" smtClean="0"/>
              <a:t>21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89982"/>
    </mc:Choice>
    <mc:Fallback xmlns="">
      <p:transition spd="slow" advTm="89982"/>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下面的（ ）不是良好编码的原则。</a:t>
            </a:r>
          </a:p>
        </p:txBody>
      </p:sp>
      <p:sp>
        <p:nvSpPr>
          <p:cNvPr id="7" name="文本框 6"/>
          <p:cNvSpPr txBox="1"/>
          <p:nvPr>
            <p:custDataLst>
              <p:tags r:id="rId3"/>
            </p:custDataLst>
          </p:nvPr>
        </p:nvSpPr>
        <p:spPr>
          <a:xfrm>
            <a:off x="2614613" y="2191152"/>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在开始编码之前建立单元测试</a:t>
            </a:r>
          </a:p>
        </p:txBody>
      </p:sp>
      <p:sp>
        <p:nvSpPr>
          <p:cNvPr id="8" name="文本框 7"/>
          <p:cNvSpPr txBox="1"/>
          <p:nvPr>
            <p:custDataLst>
              <p:tags r:id="rId4"/>
            </p:custDataLst>
          </p:nvPr>
        </p:nvSpPr>
        <p:spPr>
          <a:xfrm>
            <a:off x="2614613" y="3048402"/>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建立一种有助于理解的直观布局</a:t>
            </a:r>
          </a:p>
        </p:txBody>
      </p:sp>
      <p:sp>
        <p:nvSpPr>
          <p:cNvPr id="9" name="文本框 8"/>
          <p:cNvSpPr txBox="1"/>
          <p:nvPr>
            <p:custDataLst>
              <p:tags r:id="rId5"/>
            </p:custDataLst>
          </p:nvPr>
        </p:nvSpPr>
        <p:spPr>
          <a:xfrm>
            <a:off x="2614613" y="3905652"/>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确保注释与代码保持同步</a:t>
            </a:r>
          </a:p>
        </p:txBody>
      </p:sp>
      <p:sp>
        <p:nvSpPr>
          <p:cNvPr id="10" name="文本框 9"/>
          <p:cNvSpPr txBox="1"/>
          <p:nvPr>
            <p:custDataLst>
              <p:tags r:id="rId6"/>
            </p:custDataLst>
          </p:nvPr>
        </p:nvSpPr>
        <p:spPr>
          <a:xfrm>
            <a:off x="2614613" y="4762902"/>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保持变量名简短以便代码紧凑</a:t>
            </a:r>
          </a:p>
        </p:txBody>
      </p:sp>
      <p:sp>
        <p:nvSpPr>
          <p:cNvPr id="15" name="矩形: 圆角 14"/>
          <p:cNvSpPr/>
          <p:nvPr>
            <p:custDataLst>
              <p:tags r:id="rId7"/>
            </p:custDataLst>
          </p:nvPr>
        </p:nvSpPr>
        <p:spPr>
          <a:xfrm>
            <a:off x="7648460" y="150939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20" name="组合 19"/>
          <p:cNvGrpSpPr/>
          <p:nvPr>
            <p:custDataLst>
              <p:tags r:id="rId8"/>
            </p:custDataLst>
          </p:nvPr>
        </p:nvGrpSpPr>
        <p:grpSpPr>
          <a:xfrm>
            <a:off x="0" y="0"/>
            <a:ext cx="12192000" cy="635000"/>
            <a:chOff x="0" y="0"/>
            <a:chExt cx="12192000" cy="635000"/>
          </a:xfrm>
        </p:grpSpPr>
        <p:sp>
          <p:nvSpPr>
            <p:cNvPr id="16"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9"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sp>
        <p:nvSpPr>
          <p:cNvPr id="2" name="文本框 1">
            <a:extLst>
              <a:ext uri="{FF2B5EF4-FFF2-40B4-BE49-F238E27FC236}">
                <a16:creationId xmlns:a16="http://schemas.microsoft.com/office/drawing/2014/main" id="{6C5F40FE-C335-8A4E-A57A-4BC60E5B96A7}"/>
              </a:ext>
            </a:extLst>
          </p:cNvPr>
          <p:cNvSpPr txBox="1"/>
          <p:nvPr/>
        </p:nvSpPr>
        <p:spPr>
          <a:xfrm>
            <a:off x="1694383" y="2297297"/>
            <a:ext cx="405880" cy="3108543"/>
          </a:xfrm>
          <a:prstGeom prst="rect">
            <a:avLst/>
          </a:prstGeom>
          <a:noFill/>
        </p:spPr>
        <p:txBody>
          <a:bodyPr wrap="none" rtlCol="0">
            <a:spAutoFit/>
          </a:bodyPr>
          <a:lstStyle/>
          <a:p>
            <a:r>
              <a:rPr kumimoji="1" lang="en-US" altLang="zh-CN" sz="2800" dirty="0"/>
              <a:t>A</a:t>
            </a:r>
          </a:p>
          <a:p>
            <a:endParaRPr kumimoji="1" lang="en-US" altLang="zh-CN" sz="2800" dirty="0"/>
          </a:p>
          <a:p>
            <a:r>
              <a:rPr kumimoji="1" lang="en-US" altLang="zh-CN" sz="2800" dirty="0"/>
              <a:t>B</a:t>
            </a:r>
          </a:p>
          <a:p>
            <a:endParaRPr kumimoji="1" lang="en-US" altLang="zh-CN" sz="2800" dirty="0"/>
          </a:p>
          <a:p>
            <a:r>
              <a:rPr kumimoji="1" lang="en-US" altLang="zh-CN" sz="2800" dirty="0"/>
              <a:t>C</a:t>
            </a:r>
          </a:p>
          <a:p>
            <a:endParaRPr kumimoji="1" lang="en-US" altLang="zh-CN" sz="2800" dirty="0"/>
          </a:p>
          <a:p>
            <a:r>
              <a:rPr kumimoji="1" lang="en-US" altLang="zh-CN" sz="2800" dirty="0"/>
              <a:t>D</a:t>
            </a:r>
            <a:endParaRPr kumimoji="1" lang="zh-CN" altLang="en-US" sz="2800" dirty="0"/>
          </a:p>
        </p:txBody>
      </p:sp>
      <p:pic>
        <p:nvPicPr>
          <p:cNvPr id="5" name="图片 4"/>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为了保证软件的质量，使其具有较好的可维护性，关键在于（ ）。</a:t>
            </a:r>
          </a:p>
        </p:txBody>
      </p:sp>
      <p:sp>
        <p:nvSpPr>
          <p:cNvPr id="5" name="文本框 4"/>
          <p:cNvSpPr txBox="1"/>
          <p:nvPr>
            <p:custDataLst>
              <p:tags r:id="rId3"/>
            </p:custDataLst>
          </p:nvPr>
        </p:nvSpPr>
        <p:spPr>
          <a:xfrm>
            <a:off x="2846024" y="226827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选择合适的程序设计语言</a:t>
            </a:r>
          </a:p>
        </p:txBody>
      </p:sp>
      <p:sp>
        <p:nvSpPr>
          <p:cNvPr id="6" name="文本框 5"/>
          <p:cNvSpPr txBox="1"/>
          <p:nvPr>
            <p:custDataLst>
              <p:tags r:id="rId4"/>
            </p:custDataLst>
          </p:nvPr>
        </p:nvSpPr>
        <p:spPr>
          <a:xfrm>
            <a:off x="2846024" y="312552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选择好的程序设计风格</a:t>
            </a:r>
          </a:p>
        </p:txBody>
      </p:sp>
      <p:sp>
        <p:nvSpPr>
          <p:cNvPr id="7" name="文本框 6"/>
          <p:cNvSpPr txBox="1"/>
          <p:nvPr>
            <p:custDataLst>
              <p:tags r:id="rId5"/>
            </p:custDataLst>
          </p:nvPr>
        </p:nvSpPr>
        <p:spPr>
          <a:xfrm>
            <a:off x="2846024" y="398277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具有好的数据结构</a:t>
            </a:r>
          </a:p>
        </p:txBody>
      </p:sp>
      <p:sp>
        <p:nvSpPr>
          <p:cNvPr id="8" name="文本框 7"/>
          <p:cNvSpPr txBox="1"/>
          <p:nvPr>
            <p:custDataLst>
              <p:tags r:id="rId6"/>
            </p:custDataLst>
          </p:nvPr>
        </p:nvSpPr>
        <p:spPr>
          <a:xfrm>
            <a:off x="2846024" y="484002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选择好的运行环境</a:t>
            </a:r>
          </a:p>
        </p:txBody>
      </p:sp>
      <p:sp>
        <p:nvSpPr>
          <p:cNvPr id="13" name="矩形: 圆角 12"/>
          <p:cNvSpPr/>
          <p:nvPr>
            <p:custDataLst>
              <p:tags r:id="rId7"/>
            </p:custDataLst>
          </p:nvPr>
        </p:nvSpPr>
        <p:spPr>
          <a:xfrm>
            <a:off x="8574451" y="212682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19" name="文本框 18">
            <a:extLst>
              <a:ext uri="{FF2B5EF4-FFF2-40B4-BE49-F238E27FC236}">
                <a16:creationId xmlns:a16="http://schemas.microsoft.com/office/drawing/2014/main" id="{7AFFA801-138A-B344-B8E6-F57EEE6DE9CF}"/>
              </a:ext>
            </a:extLst>
          </p:cNvPr>
          <p:cNvSpPr txBox="1"/>
          <p:nvPr/>
        </p:nvSpPr>
        <p:spPr>
          <a:xfrm>
            <a:off x="1913042" y="2297297"/>
            <a:ext cx="405880" cy="3108543"/>
          </a:xfrm>
          <a:prstGeom prst="rect">
            <a:avLst/>
          </a:prstGeom>
          <a:noFill/>
        </p:spPr>
        <p:txBody>
          <a:bodyPr wrap="none" rtlCol="0">
            <a:spAutoFit/>
          </a:bodyPr>
          <a:lstStyle/>
          <a:p>
            <a:r>
              <a:rPr kumimoji="1" lang="en-US" altLang="zh-CN" sz="2800" dirty="0"/>
              <a:t>A</a:t>
            </a:r>
          </a:p>
          <a:p>
            <a:endParaRPr kumimoji="1" lang="en-US" altLang="zh-CN" sz="2800" dirty="0"/>
          </a:p>
          <a:p>
            <a:r>
              <a:rPr kumimoji="1" lang="en-US" altLang="zh-CN" sz="2800" dirty="0"/>
              <a:t>B</a:t>
            </a:r>
          </a:p>
          <a:p>
            <a:endParaRPr kumimoji="1" lang="en-US" altLang="zh-CN" sz="2800" dirty="0"/>
          </a:p>
          <a:p>
            <a:r>
              <a:rPr kumimoji="1" lang="en-US" altLang="zh-CN" sz="2800" dirty="0"/>
              <a:t>C</a:t>
            </a:r>
          </a:p>
          <a:p>
            <a:endParaRPr kumimoji="1" lang="en-US" altLang="zh-CN" sz="2800" dirty="0"/>
          </a:p>
          <a:p>
            <a:r>
              <a:rPr kumimoji="1" lang="en-US" altLang="zh-CN" sz="2800" dirty="0"/>
              <a:t>D</a:t>
            </a:r>
            <a:endParaRPr kumimoji="1" lang="zh-CN" altLang="en-US" sz="2800" dirty="0"/>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下面的（ ）不是一种好的做法。</a:t>
            </a:r>
          </a:p>
        </p:txBody>
      </p:sp>
      <p:sp>
        <p:nvSpPr>
          <p:cNvPr id="5" name="文本框 4"/>
          <p:cNvSpPr txBox="1"/>
          <p:nvPr>
            <p:custDataLst>
              <p:tags r:id="rId3"/>
            </p:custDataLst>
          </p:nvPr>
        </p:nvSpPr>
        <p:spPr>
          <a:xfrm>
            <a:off x="2614613" y="2323354"/>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好的注释应解释为什么，而不是怎么样。</a:t>
            </a:r>
          </a:p>
        </p:txBody>
      </p:sp>
      <p:sp>
        <p:nvSpPr>
          <p:cNvPr id="6" name="文本框 5"/>
          <p:cNvSpPr txBox="1"/>
          <p:nvPr>
            <p:custDataLst>
              <p:tags r:id="rId4"/>
            </p:custDataLst>
          </p:nvPr>
        </p:nvSpPr>
        <p:spPr>
          <a:xfrm>
            <a:off x="2614613" y="3180604"/>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好的命名应一目了然，不需要读者去猜，甚至不需要注释。</a:t>
            </a:r>
          </a:p>
        </p:txBody>
      </p:sp>
      <p:sp>
        <p:nvSpPr>
          <p:cNvPr id="7" name="文本框 6"/>
          <p:cNvSpPr txBox="1"/>
          <p:nvPr>
            <p:custDataLst>
              <p:tags r:id="rId5"/>
            </p:custDataLst>
          </p:nvPr>
        </p:nvSpPr>
        <p:spPr>
          <a:xfrm>
            <a:off x="2614613" y="4037854"/>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如果项目中原有代码不符合新的规范，应允许其存在，同时在新的代码中要延续原有的风格。</a:t>
            </a:r>
          </a:p>
        </p:txBody>
      </p:sp>
      <p:sp>
        <p:nvSpPr>
          <p:cNvPr id="8" name="文本框 7"/>
          <p:cNvSpPr txBox="1"/>
          <p:nvPr>
            <p:custDataLst>
              <p:tags r:id="rId6"/>
            </p:custDataLst>
          </p:nvPr>
        </p:nvSpPr>
        <p:spPr>
          <a:xfrm>
            <a:off x="2614613" y="5019254"/>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如果项目中原有代码不符合新的规范，应允许其存在，但不应在新的代码中延续旧的风格。</a:t>
            </a:r>
          </a:p>
        </p:txBody>
      </p:sp>
      <p:sp>
        <p:nvSpPr>
          <p:cNvPr id="13" name="矩形: 圆角 12"/>
          <p:cNvSpPr/>
          <p:nvPr>
            <p:custDataLst>
              <p:tags r:id="rId7"/>
            </p:custDataLst>
          </p:nvPr>
        </p:nvSpPr>
        <p:spPr>
          <a:xfrm>
            <a:off x="7846764" y="1517277"/>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19" name="文本框 18">
            <a:extLst>
              <a:ext uri="{FF2B5EF4-FFF2-40B4-BE49-F238E27FC236}">
                <a16:creationId xmlns:a16="http://schemas.microsoft.com/office/drawing/2014/main" id="{09DBDC49-715F-9547-815F-FA51B83C1C83}"/>
              </a:ext>
            </a:extLst>
          </p:cNvPr>
          <p:cNvSpPr txBox="1"/>
          <p:nvPr/>
        </p:nvSpPr>
        <p:spPr>
          <a:xfrm>
            <a:off x="1873285" y="2396687"/>
            <a:ext cx="405880" cy="3108543"/>
          </a:xfrm>
          <a:prstGeom prst="rect">
            <a:avLst/>
          </a:prstGeom>
          <a:noFill/>
        </p:spPr>
        <p:txBody>
          <a:bodyPr wrap="none" rtlCol="0">
            <a:spAutoFit/>
          </a:bodyPr>
          <a:lstStyle/>
          <a:p>
            <a:r>
              <a:rPr kumimoji="1" lang="en-US" altLang="zh-CN" sz="2800" dirty="0"/>
              <a:t>A</a:t>
            </a:r>
          </a:p>
          <a:p>
            <a:endParaRPr kumimoji="1" lang="en-US" altLang="zh-CN" sz="2800" dirty="0"/>
          </a:p>
          <a:p>
            <a:r>
              <a:rPr kumimoji="1" lang="en-US" altLang="zh-CN" sz="2800" dirty="0"/>
              <a:t>B</a:t>
            </a:r>
          </a:p>
          <a:p>
            <a:endParaRPr kumimoji="1" lang="en-US" altLang="zh-CN" sz="2800" dirty="0"/>
          </a:p>
          <a:p>
            <a:r>
              <a:rPr kumimoji="1" lang="en-US" altLang="zh-CN" sz="2800" dirty="0"/>
              <a:t>C</a:t>
            </a:r>
          </a:p>
          <a:p>
            <a:endParaRPr kumimoji="1" lang="en-US" altLang="zh-CN" sz="2800" dirty="0"/>
          </a:p>
          <a:p>
            <a:r>
              <a:rPr kumimoji="1" lang="en-US" altLang="zh-CN" sz="2800" dirty="0"/>
              <a:t>D</a:t>
            </a:r>
            <a:endParaRPr kumimoji="1" lang="zh-CN" altLang="en-US" sz="2800" dirty="0"/>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下面的</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Python</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语句中，（ ）是没有错误且写得最规范的。</a:t>
            </a:r>
          </a:p>
        </p:txBody>
      </p:sp>
      <p:sp>
        <p:nvSpPr>
          <p:cNvPr id="5" name="文本框 4"/>
          <p:cNvSpPr txBox="1"/>
          <p:nvPr>
            <p:custDataLst>
              <p:tags r:id="rId3"/>
            </p:custDataLst>
          </p:nvPr>
        </p:nvSpPr>
        <p:spPr>
          <a:xfrm>
            <a:off x="2614613" y="2202169"/>
            <a:ext cx="8534400" cy="642938"/>
          </a:xfrm>
          <a:prstGeom prst="rect">
            <a:avLst/>
          </a:prstGeom>
          <a:noFill/>
        </p:spPr>
        <p:txBody>
          <a:bodyPr vert="horz" rtlCol="0" anchor="ctr" anchorCtr="0">
            <a:noAutofit/>
          </a:bodyPr>
          <a:lstStyle/>
          <a:p>
            <a:r>
              <a:rPr lang="en-US" altLang="zh-CN" sz="2600" dirty="0" err="1">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i</a:t>
            </a:r>
            <a:r>
              <a:rPr lang="sv-SE"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mport os, sys, random, math</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custDataLst>
              <p:tags r:id="rId4"/>
            </p:custDataLst>
          </p:nvPr>
        </p:nvSpPr>
        <p:spPr>
          <a:xfrm>
            <a:off x="2614613" y="3059419"/>
            <a:ext cx="8534400" cy="642938"/>
          </a:xfrm>
          <a:prstGeom prst="rect">
            <a:avLst/>
          </a:prstGeom>
          <a:noFill/>
        </p:spPr>
        <p:txBody>
          <a:bodyPr vert="horz" rtlCol="0" anchor="ctr" anchorCtr="0">
            <a:noAutofit/>
          </a:bodyPr>
          <a:lstStyle/>
          <a:p>
            <a:r>
              <a:rPr lang="pt-BR"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n += 1; m += n; print(m)</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custDataLst>
              <p:tags r:id="rId5"/>
            </p:custDataLst>
          </p:nvPr>
        </p:nvSpPr>
        <p:spPr>
          <a:xfrm>
            <a:off x="2614613" y="3916669"/>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class = Class()</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文本框 7"/>
          <p:cNvSpPr txBox="1"/>
          <p:nvPr>
            <p:custDataLst>
              <p:tags r:id="rId6"/>
            </p:custDataLst>
          </p:nvPr>
        </p:nvSpPr>
        <p:spPr>
          <a:xfrm>
            <a:off x="2614613" y="4773919"/>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return [</a:t>
            </a:r>
            <a:r>
              <a:rPr lang="en-US" altLang="zh-CN" sz="2600" dirty="0" err="1">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i</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 2 for </a:t>
            </a:r>
            <a:r>
              <a:rPr lang="en-US" altLang="zh-CN" sz="2600" dirty="0" err="1">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i</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in range(n)] </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圆角 12"/>
          <p:cNvSpPr/>
          <p:nvPr>
            <p:custDataLst>
              <p:tags r:id="rId7"/>
            </p:custDataLst>
          </p:nvPr>
        </p:nvSpPr>
        <p:spPr>
          <a:xfrm>
            <a:off x="8573877" y="2087239"/>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19" name="文本框 18">
            <a:extLst>
              <a:ext uri="{FF2B5EF4-FFF2-40B4-BE49-F238E27FC236}">
                <a16:creationId xmlns:a16="http://schemas.microsoft.com/office/drawing/2014/main" id="{BEA29EB2-B5A9-E44E-815A-BADFC45B55AE}"/>
              </a:ext>
            </a:extLst>
          </p:cNvPr>
          <p:cNvSpPr txBox="1"/>
          <p:nvPr/>
        </p:nvSpPr>
        <p:spPr>
          <a:xfrm>
            <a:off x="1853407" y="2277419"/>
            <a:ext cx="405880" cy="3108543"/>
          </a:xfrm>
          <a:prstGeom prst="rect">
            <a:avLst/>
          </a:prstGeom>
          <a:noFill/>
        </p:spPr>
        <p:txBody>
          <a:bodyPr wrap="none" rtlCol="0">
            <a:spAutoFit/>
          </a:bodyPr>
          <a:lstStyle/>
          <a:p>
            <a:r>
              <a:rPr kumimoji="1" lang="en-US" altLang="zh-CN" sz="2800" dirty="0"/>
              <a:t>A</a:t>
            </a:r>
          </a:p>
          <a:p>
            <a:endParaRPr kumimoji="1" lang="en-US" altLang="zh-CN" sz="2800" dirty="0"/>
          </a:p>
          <a:p>
            <a:r>
              <a:rPr kumimoji="1" lang="en-US" altLang="zh-CN" sz="2800" dirty="0"/>
              <a:t>B</a:t>
            </a:r>
          </a:p>
          <a:p>
            <a:endParaRPr kumimoji="1" lang="en-US" altLang="zh-CN" sz="2800" dirty="0"/>
          </a:p>
          <a:p>
            <a:r>
              <a:rPr kumimoji="1" lang="en-US" altLang="zh-CN" sz="2800" dirty="0"/>
              <a:t>C</a:t>
            </a:r>
          </a:p>
          <a:p>
            <a:endParaRPr kumimoji="1" lang="en-US" altLang="zh-CN" sz="2800" dirty="0"/>
          </a:p>
          <a:p>
            <a:r>
              <a:rPr kumimoji="1" lang="en-US" altLang="zh-CN" sz="2800" dirty="0"/>
              <a:t>D</a:t>
            </a:r>
            <a:endParaRPr kumimoji="1" lang="zh-CN" altLang="en-US" sz="2800" dirty="0"/>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4758268" y="1480159"/>
            <a:ext cx="6387166" cy="4260239"/>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883073" y="1658613"/>
            <a:ext cx="3378200" cy="3773804"/>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3300CC"/>
                </a:solidFill>
                <a:latin typeface="微软雅黑" panose="020B0503020204020204" pitchFamily="34" charset="-122"/>
                <a:cs typeface="微软雅黑" panose="020B0503020204020204" pitchFamily="34" charset="-122"/>
              </a:rPr>
              <a:t>高楼大厦可能是这样建成的</a:t>
            </a:r>
            <a:endParaRPr sz="2200">
              <a:latin typeface="微软雅黑" panose="020B0503020204020204" pitchFamily="34" charset="-122"/>
              <a:cs typeface="微软雅黑" panose="020B0503020204020204" pitchFamily="34" charset="-122"/>
            </a:endParaRPr>
          </a:p>
          <a:p>
            <a:pPr>
              <a:lnSpc>
                <a:spcPct val="100000"/>
              </a:lnSpc>
              <a:spcBef>
                <a:spcPts val="10"/>
              </a:spcBef>
            </a:pPr>
            <a:endParaRPr sz="2400">
              <a:latin typeface="Times New Roman" panose="02020603050405020304"/>
              <a:cs typeface="Times New Roman" panose="02020603050405020304"/>
            </a:endParaRPr>
          </a:p>
          <a:p>
            <a:pPr marL="570230" indent="-287655">
              <a:lnSpc>
                <a:spcPct val="100000"/>
              </a:lnSpc>
              <a:buFont typeface="Arial" panose="020B0604020202020204"/>
              <a:buAutoNum type="arabicPeriod"/>
              <a:tabLst>
                <a:tab pos="570865" algn="l"/>
              </a:tabLst>
            </a:pPr>
            <a:r>
              <a:rPr sz="2000" dirty="0">
                <a:latin typeface="微软雅黑" panose="020B0503020204020204" pitchFamily="34" charset="-122"/>
                <a:cs typeface="微软雅黑" panose="020B0503020204020204" pitchFamily="34" charset="-122"/>
              </a:rPr>
              <a:t>分析问题</a:t>
            </a:r>
            <a:endParaRPr sz="2000">
              <a:latin typeface="微软雅黑" panose="020B0503020204020204" pitchFamily="34" charset="-122"/>
              <a:cs typeface="微软雅黑" panose="020B0503020204020204" pitchFamily="34" charset="-122"/>
            </a:endParaRPr>
          </a:p>
          <a:p>
            <a:pPr marL="570230" indent="-287655">
              <a:lnSpc>
                <a:spcPct val="100000"/>
              </a:lnSpc>
              <a:spcBef>
                <a:spcPts val="2025"/>
              </a:spcBef>
              <a:buFont typeface="Arial" panose="020B0604020202020204"/>
              <a:buAutoNum type="arabicPeriod"/>
              <a:tabLst>
                <a:tab pos="570865" algn="l"/>
              </a:tabLst>
            </a:pPr>
            <a:r>
              <a:rPr sz="2000" dirty="0">
                <a:latin typeface="微软雅黑" panose="020B0503020204020204" pitchFamily="34" charset="-122"/>
                <a:cs typeface="微软雅黑" panose="020B0503020204020204" pitchFamily="34" charset="-122"/>
              </a:rPr>
              <a:t>初步设计</a:t>
            </a:r>
            <a:endParaRPr sz="2000">
              <a:latin typeface="微软雅黑" panose="020B0503020204020204" pitchFamily="34" charset="-122"/>
              <a:cs typeface="微软雅黑" panose="020B0503020204020204" pitchFamily="34" charset="-122"/>
            </a:endParaRPr>
          </a:p>
          <a:p>
            <a:pPr marL="570230" indent="-287655">
              <a:lnSpc>
                <a:spcPct val="100000"/>
              </a:lnSpc>
              <a:spcBef>
                <a:spcPts val="1885"/>
              </a:spcBef>
              <a:buFont typeface="Arial" panose="020B0604020202020204"/>
              <a:buAutoNum type="arabicPeriod"/>
              <a:tabLst>
                <a:tab pos="570865" algn="l"/>
              </a:tabLst>
            </a:pPr>
            <a:r>
              <a:rPr sz="2000" dirty="0">
                <a:latin typeface="微软雅黑" panose="020B0503020204020204" pitchFamily="34" charset="-122"/>
                <a:cs typeface="微软雅黑" panose="020B0503020204020204" pitchFamily="34" charset="-122"/>
              </a:rPr>
              <a:t>模型评估与测试</a:t>
            </a:r>
            <a:endParaRPr sz="2000">
              <a:latin typeface="微软雅黑" panose="020B0503020204020204" pitchFamily="34" charset="-122"/>
              <a:cs typeface="微软雅黑" panose="020B0503020204020204" pitchFamily="34" charset="-122"/>
            </a:endParaRPr>
          </a:p>
          <a:p>
            <a:pPr marL="570230" indent="-287655">
              <a:lnSpc>
                <a:spcPct val="100000"/>
              </a:lnSpc>
              <a:spcBef>
                <a:spcPts val="1885"/>
              </a:spcBef>
              <a:buFont typeface="Arial" panose="020B0604020202020204"/>
              <a:buAutoNum type="arabicPeriod"/>
              <a:tabLst>
                <a:tab pos="570865" algn="l"/>
              </a:tabLst>
            </a:pPr>
            <a:r>
              <a:rPr sz="2000" dirty="0">
                <a:latin typeface="微软雅黑" panose="020B0503020204020204" pitchFamily="34" charset="-122"/>
                <a:cs typeface="微软雅黑" panose="020B0503020204020204" pitchFamily="34" charset="-122"/>
              </a:rPr>
              <a:t>搭建框架</a:t>
            </a:r>
            <a:endParaRPr sz="2000">
              <a:latin typeface="微软雅黑" panose="020B0503020204020204" pitchFamily="34" charset="-122"/>
              <a:cs typeface="微软雅黑" panose="020B0503020204020204" pitchFamily="34" charset="-122"/>
            </a:endParaRPr>
          </a:p>
          <a:p>
            <a:pPr marL="570230" indent="-287655">
              <a:lnSpc>
                <a:spcPct val="100000"/>
              </a:lnSpc>
              <a:spcBef>
                <a:spcPts val="2020"/>
              </a:spcBef>
              <a:buFont typeface="Arial" panose="020B0604020202020204"/>
              <a:buAutoNum type="arabicPeriod"/>
              <a:tabLst>
                <a:tab pos="570865" algn="l"/>
              </a:tabLst>
            </a:pPr>
            <a:r>
              <a:rPr sz="2000" dirty="0">
                <a:latin typeface="微软雅黑" panose="020B0503020204020204" pitchFamily="34" charset="-122"/>
                <a:cs typeface="微软雅黑" panose="020B0503020204020204" pitchFamily="34" charset="-122"/>
              </a:rPr>
              <a:t>建造</a:t>
            </a:r>
            <a:endParaRPr sz="2000">
              <a:latin typeface="微软雅黑" panose="020B0503020204020204" pitchFamily="34" charset="-122"/>
              <a:cs typeface="微软雅黑" panose="020B0503020204020204" pitchFamily="34" charset="-122"/>
            </a:endParaRPr>
          </a:p>
          <a:p>
            <a:pPr marL="570230" indent="-287655">
              <a:lnSpc>
                <a:spcPct val="100000"/>
              </a:lnSpc>
              <a:spcBef>
                <a:spcPts val="1890"/>
              </a:spcBef>
              <a:buFont typeface="Arial" panose="020B0604020202020204"/>
              <a:buAutoNum type="arabicPeriod"/>
              <a:tabLst>
                <a:tab pos="570865" algn="l"/>
              </a:tabLst>
            </a:pPr>
            <a:r>
              <a:rPr sz="2000" dirty="0">
                <a:latin typeface="微软雅黑" panose="020B0503020204020204" pitchFamily="34" charset="-122"/>
                <a:cs typeface="微软雅黑" panose="020B0503020204020204" pitchFamily="34" charset="-122"/>
              </a:rPr>
              <a:t>测试与验收</a:t>
            </a:r>
            <a:endParaRPr sz="2000">
              <a:latin typeface="微软雅黑" panose="020B0503020204020204" pitchFamily="34" charset="-122"/>
              <a:cs typeface="微软雅黑" panose="020B0503020204020204" pitchFamily="34" charset="-122"/>
            </a:endParaRPr>
          </a:p>
        </p:txBody>
      </p:sp>
      <p:sp>
        <p:nvSpPr>
          <p:cNvPr id="6" name="标题 5"/>
          <p:cNvSpPr>
            <a:spLocks noGrp="1"/>
          </p:cNvSpPr>
          <p:nvPr>
            <p:ph type="title"/>
          </p:nvPr>
        </p:nvSpPr>
        <p:spPr/>
        <p:txBody>
          <a:bodyPr/>
          <a:lstStyle/>
          <a:p>
            <a:r>
              <a:rPr lang="zh-CN" altLang="en-US" dirty="0"/>
              <a:t>软件开发的工程思维</a:t>
            </a:r>
          </a:p>
        </p:txBody>
      </p:sp>
      <p:sp>
        <p:nvSpPr>
          <p:cNvPr id="5" name="灯片编号占位符 4"/>
          <p:cNvSpPr>
            <a:spLocks noGrp="1"/>
          </p:cNvSpPr>
          <p:nvPr>
            <p:ph type="sldNum" sz="quarter" idx="12"/>
          </p:nvPr>
        </p:nvSpPr>
        <p:spPr/>
        <p:txBody>
          <a:bodyPr/>
          <a:lstStyle/>
          <a:p>
            <a:fld id="{74D2AB8B-5816-41F2-8B4B-CA5C3E4E6A65}" type="slidenum">
              <a:rPr lang="zh-CN" altLang="en-US" smtClean="0"/>
              <a:t>26</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7698"/>
    </mc:Choice>
    <mc:Fallback xmlns="">
      <p:transition spd="slow" advTm="47698"/>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319872" y="1811875"/>
            <a:ext cx="2322830" cy="860425"/>
          </a:xfrm>
          <a:prstGeom prst="rect">
            <a:avLst/>
          </a:prstGeom>
          <a:solidFill>
            <a:srgbClr val="ECEBEB"/>
          </a:solidFill>
          <a:ln w="6451">
            <a:solidFill>
              <a:srgbClr val="898484"/>
            </a:solidFill>
          </a:ln>
        </p:spPr>
        <p:txBody>
          <a:bodyPr vert="horz" wrap="square" lIns="0" tIns="270510" rIns="0" bIns="0" rtlCol="0">
            <a:spAutoFit/>
          </a:bodyPr>
          <a:lstStyle/>
          <a:p>
            <a:pPr marR="23495" algn="ctr">
              <a:lnSpc>
                <a:spcPct val="100000"/>
              </a:lnSpc>
              <a:spcBef>
                <a:spcPts val="2130"/>
              </a:spcBef>
            </a:pPr>
            <a:r>
              <a:rPr sz="2000" dirty="0">
                <a:latin typeface="微软雅黑" panose="020B0503020204020204" pitchFamily="34" charset="-122"/>
                <a:cs typeface="微软雅黑" panose="020B0503020204020204" pitchFamily="34" charset="-122"/>
              </a:rPr>
              <a:t>问题</a:t>
            </a:r>
            <a:endParaRPr sz="2000">
              <a:latin typeface="微软雅黑" panose="020B0503020204020204" pitchFamily="34" charset="-122"/>
              <a:cs typeface="微软雅黑" panose="020B0503020204020204" pitchFamily="34" charset="-122"/>
            </a:endParaRPr>
          </a:p>
        </p:txBody>
      </p:sp>
      <p:sp>
        <p:nvSpPr>
          <p:cNvPr id="4" name="object 4"/>
          <p:cNvSpPr/>
          <p:nvPr/>
        </p:nvSpPr>
        <p:spPr>
          <a:xfrm>
            <a:off x="3285073" y="2861741"/>
            <a:ext cx="355600" cy="389890"/>
          </a:xfrm>
          <a:custGeom>
            <a:avLst/>
            <a:gdLst/>
            <a:ahLst/>
            <a:cxnLst/>
            <a:rect l="l" t="t" r="r" b="b"/>
            <a:pathLst>
              <a:path w="355600" h="389889">
                <a:moveTo>
                  <a:pt x="355600" y="170638"/>
                </a:moveTo>
                <a:lnTo>
                  <a:pt x="0" y="170638"/>
                </a:lnTo>
                <a:lnTo>
                  <a:pt x="177800" y="389467"/>
                </a:lnTo>
                <a:lnTo>
                  <a:pt x="355600" y="170638"/>
                </a:lnTo>
                <a:close/>
              </a:path>
              <a:path w="355600" h="389889">
                <a:moveTo>
                  <a:pt x="266700" y="0"/>
                </a:moveTo>
                <a:lnTo>
                  <a:pt x="88900" y="0"/>
                </a:lnTo>
                <a:lnTo>
                  <a:pt x="88900" y="170638"/>
                </a:lnTo>
                <a:lnTo>
                  <a:pt x="266700" y="170638"/>
                </a:lnTo>
                <a:lnTo>
                  <a:pt x="266700" y="0"/>
                </a:lnTo>
                <a:close/>
              </a:path>
            </a:pathLst>
          </a:custGeom>
          <a:solidFill>
            <a:srgbClr val="898484"/>
          </a:solidFill>
        </p:spPr>
        <p:txBody>
          <a:bodyPr wrap="square" lIns="0" tIns="0" rIns="0" bIns="0" rtlCol="0"/>
          <a:lstStyle/>
          <a:p>
            <a:endParaRPr/>
          </a:p>
        </p:txBody>
      </p:sp>
      <p:sp>
        <p:nvSpPr>
          <p:cNvPr id="5" name="object 5"/>
          <p:cNvSpPr/>
          <p:nvPr/>
        </p:nvSpPr>
        <p:spPr>
          <a:xfrm>
            <a:off x="2319872" y="3420540"/>
            <a:ext cx="1116330" cy="372745"/>
          </a:xfrm>
          <a:custGeom>
            <a:avLst/>
            <a:gdLst/>
            <a:ahLst/>
            <a:cxnLst/>
            <a:rect l="l" t="t" r="r" b="b"/>
            <a:pathLst>
              <a:path w="1116329" h="372745">
                <a:moveTo>
                  <a:pt x="0" y="0"/>
                </a:moveTo>
                <a:lnTo>
                  <a:pt x="1115998" y="0"/>
                </a:lnTo>
                <a:lnTo>
                  <a:pt x="1115998" y="372527"/>
                </a:lnTo>
                <a:lnTo>
                  <a:pt x="0" y="372527"/>
                </a:lnTo>
                <a:lnTo>
                  <a:pt x="0" y="0"/>
                </a:lnTo>
                <a:close/>
              </a:path>
            </a:pathLst>
          </a:custGeom>
          <a:solidFill>
            <a:srgbClr val="ECEBEB"/>
          </a:solidFill>
        </p:spPr>
        <p:txBody>
          <a:bodyPr wrap="square" lIns="0" tIns="0" rIns="0" bIns="0" rtlCol="0"/>
          <a:lstStyle/>
          <a:p>
            <a:endParaRPr/>
          </a:p>
        </p:txBody>
      </p:sp>
      <p:sp>
        <p:nvSpPr>
          <p:cNvPr id="6" name="object 6"/>
          <p:cNvSpPr/>
          <p:nvPr/>
        </p:nvSpPr>
        <p:spPr>
          <a:xfrm>
            <a:off x="2319872" y="3420540"/>
            <a:ext cx="1134110" cy="379095"/>
          </a:xfrm>
          <a:custGeom>
            <a:avLst/>
            <a:gdLst/>
            <a:ahLst/>
            <a:cxnLst/>
            <a:rect l="l" t="t" r="r" b="b"/>
            <a:pathLst>
              <a:path w="1134110" h="379095">
                <a:moveTo>
                  <a:pt x="0" y="0"/>
                </a:moveTo>
                <a:lnTo>
                  <a:pt x="1133856" y="0"/>
                </a:lnTo>
                <a:lnTo>
                  <a:pt x="1133856" y="378488"/>
                </a:lnTo>
                <a:lnTo>
                  <a:pt x="0" y="378488"/>
                </a:lnTo>
                <a:lnTo>
                  <a:pt x="0" y="0"/>
                </a:lnTo>
                <a:close/>
              </a:path>
            </a:pathLst>
          </a:custGeom>
          <a:ln w="6451">
            <a:solidFill>
              <a:srgbClr val="898484"/>
            </a:solidFill>
          </a:ln>
        </p:spPr>
        <p:txBody>
          <a:bodyPr wrap="square" lIns="0" tIns="0" rIns="0" bIns="0" rtlCol="0"/>
          <a:lstStyle/>
          <a:p>
            <a:endParaRPr/>
          </a:p>
        </p:txBody>
      </p:sp>
      <p:sp>
        <p:nvSpPr>
          <p:cNvPr id="7" name="object 7"/>
          <p:cNvSpPr/>
          <p:nvPr/>
        </p:nvSpPr>
        <p:spPr>
          <a:xfrm>
            <a:off x="3488272" y="3403607"/>
            <a:ext cx="1134110" cy="533400"/>
          </a:xfrm>
          <a:custGeom>
            <a:avLst/>
            <a:gdLst/>
            <a:ahLst/>
            <a:cxnLst/>
            <a:rect l="l" t="t" r="r" b="b"/>
            <a:pathLst>
              <a:path w="1134110" h="533400">
                <a:moveTo>
                  <a:pt x="0" y="0"/>
                </a:moveTo>
                <a:lnTo>
                  <a:pt x="1133855" y="0"/>
                </a:lnTo>
                <a:lnTo>
                  <a:pt x="1133855" y="533326"/>
                </a:lnTo>
                <a:lnTo>
                  <a:pt x="0" y="533326"/>
                </a:lnTo>
                <a:lnTo>
                  <a:pt x="0" y="0"/>
                </a:lnTo>
                <a:close/>
              </a:path>
            </a:pathLst>
          </a:custGeom>
          <a:ln w="6451">
            <a:solidFill>
              <a:srgbClr val="898484"/>
            </a:solidFill>
          </a:ln>
        </p:spPr>
        <p:txBody>
          <a:bodyPr wrap="square" lIns="0" tIns="0" rIns="0" bIns="0" rtlCol="0"/>
          <a:lstStyle/>
          <a:p>
            <a:endParaRPr/>
          </a:p>
        </p:txBody>
      </p:sp>
      <p:sp>
        <p:nvSpPr>
          <p:cNvPr id="8" name="object 8"/>
          <p:cNvSpPr/>
          <p:nvPr/>
        </p:nvSpPr>
        <p:spPr>
          <a:xfrm>
            <a:off x="3860806" y="3996272"/>
            <a:ext cx="756285" cy="254000"/>
          </a:xfrm>
          <a:custGeom>
            <a:avLst/>
            <a:gdLst/>
            <a:ahLst/>
            <a:cxnLst/>
            <a:rect l="l" t="t" r="r" b="b"/>
            <a:pathLst>
              <a:path w="756285" h="254000">
                <a:moveTo>
                  <a:pt x="0" y="0"/>
                </a:moveTo>
                <a:lnTo>
                  <a:pt x="755999" y="0"/>
                </a:lnTo>
                <a:lnTo>
                  <a:pt x="755999" y="253994"/>
                </a:lnTo>
                <a:lnTo>
                  <a:pt x="0" y="253994"/>
                </a:lnTo>
                <a:lnTo>
                  <a:pt x="0" y="0"/>
                </a:lnTo>
                <a:close/>
              </a:path>
            </a:pathLst>
          </a:custGeom>
          <a:solidFill>
            <a:srgbClr val="ECEBEB"/>
          </a:solidFill>
        </p:spPr>
        <p:txBody>
          <a:bodyPr wrap="square" lIns="0" tIns="0" rIns="0" bIns="0" rtlCol="0"/>
          <a:lstStyle/>
          <a:p>
            <a:endParaRPr/>
          </a:p>
        </p:txBody>
      </p:sp>
      <p:sp>
        <p:nvSpPr>
          <p:cNvPr id="9" name="object 9"/>
          <p:cNvSpPr/>
          <p:nvPr/>
        </p:nvSpPr>
        <p:spPr>
          <a:xfrm>
            <a:off x="3860806" y="3996272"/>
            <a:ext cx="768350" cy="258445"/>
          </a:xfrm>
          <a:custGeom>
            <a:avLst/>
            <a:gdLst/>
            <a:ahLst/>
            <a:cxnLst/>
            <a:rect l="l" t="t" r="r" b="b"/>
            <a:pathLst>
              <a:path w="768350" h="258445">
                <a:moveTo>
                  <a:pt x="0" y="0"/>
                </a:moveTo>
                <a:lnTo>
                  <a:pt x="768094" y="0"/>
                </a:lnTo>
                <a:lnTo>
                  <a:pt x="768094" y="258058"/>
                </a:lnTo>
                <a:lnTo>
                  <a:pt x="0" y="258058"/>
                </a:lnTo>
                <a:lnTo>
                  <a:pt x="0" y="0"/>
                </a:lnTo>
                <a:close/>
              </a:path>
            </a:pathLst>
          </a:custGeom>
          <a:ln w="6451">
            <a:solidFill>
              <a:srgbClr val="898484"/>
            </a:solidFill>
          </a:ln>
        </p:spPr>
        <p:txBody>
          <a:bodyPr wrap="square" lIns="0" tIns="0" rIns="0" bIns="0" rtlCol="0"/>
          <a:lstStyle/>
          <a:p>
            <a:endParaRPr/>
          </a:p>
        </p:txBody>
      </p:sp>
      <p:sp>
        <p:nvSpPr>
          <p:cNvPr id="10" name="object 10"/>
          <p:cNvSpPr/>
          <p:nvPr/>
        </p:nvSpPr>
        <p:spPr>
          <a:xfrm>
            <a:off x="2319872" y="3843872"/>
            <a:ext cx="1134110" cy="413384"/>
          </a:xfrm>
          <a:custGeom>
            <a:avLst/>
            <a:gdLst/>
            <a:ahLst/>
            <a:cxnLst/>
            <a:rect l="l" t="t" r="r" b="b"/>
            <a:pathLst>
              <a:path w="1134110" h="413385">
                <a:moveTo>
                  <a:pt x="0" y="0"/>
                </a:moveTo>
                <a:lnTo>
                  <a:pt x="1133856" y="0"/>
                </a:lnTo>
                <a:lnTo>
                  <a:pt x="1133856" y="412897"/>
                </a:lnTo>
                <a:lnTo>
                  <a:pt x="0" y="412897"/>
                </a:lnTo>
                <a:lnTo>
                  <a:pt x="0" y="0"/>
                </a:lnTo>
                <a:close/>
              </a:path>
            </a:pathLst>
          </a:custGeom>
          <a:ln w="6451">
            <a:solidFill>
              <a:srgbClr val="898484"/>
            </a:solidFill>
          </a:ln>
        </p:spPr>
        <p:txBody>
          <a:bodyPr wrap="square" lIns="0" tIns="0" rIns="0" bIns="0" rtlCol="0"/>
          <a:lstStyle/>
          <a:p>
            <a:endParaRPr/>
          </a:p>
        </p:txBody>
      </p:sp>
      <p:sp>
        <p:nvSpPr>
          <p:cNvPr id="11" name="object 11"/>
          <p:cNvSpPr/>
          <p:nvPr/>
        </p:nvSpPr>
        <p:spPr>
          <a:xfrm>
            <a:off x="3369738" y="3996272"/>
            <a:ext cx="467995" cy="254000"/>
          </a:xfrm>
          <a:custGeom>
            <a:avLst/>
            <a:gdLst/>
            <a:ahLst/>
            <a:cxnLst/>
            <a:rect l="l" t="t" r="r" b="b"/>
            <a:pathLst>
              <a:path w="467995" h="254000">
                <a:moveTo>
                  <a:pt x="0" y="0"/>
                </a:moveTo>
                <a:lnTo>
                  <a:pt x="467998" y="0"/>
                </a:lnTo>
                <a:lnTo>
                  <a:pt x="467998" y="253994"/>
                </a:lnTo>
                <a:lnTo>
                  <a:pt x="0" y="253994"/>
                </a:lnTo>
                <a:lnTo>
                  <a:pt x="0" y="0"/>
                </a:lnTo>
                <a:close/>
              </a:path>
            </a:pathLst>
          </a:custGeom>
          <a:solidFill>
            <a:srgbClr val="FFFFFF"/>
          </a:solidFill>
        </p:spPr>
        <p:txBody>
          <a:bodyPr wrap="square" lIns="0" tIns="0" rIns="0" bIns="0" rtlCol="0"/>
          <a:lstStyle/>
          <a:p>
            <a:endParaRPr/>
          </a:p>
        </p:txBody>
      </p:sp>
      <p:sp>
        <p:nvSpPr>
          <p:cNvPr id="12" name="object 12"/>
          <p:cNvSpPr/>
          <p:nvPr/>
        </p:nvSpPr>
        <p:spPr>
          <a:xfrm>
            <a:off x="3369738" y="3996272"/>
            <a:ext cx="475615" cy="258445"/>
          </a:xfrm>
          <a:custGeom>
            <a:avLst/>
            <a:gdLst/>
            <a:ahLst/>
            <a:cxnLst/>
            <a:rect l="l" t="t" r="r" b="b"/>
            <a:pathLst>
              <a:path w="475614" h="258445">
                <a:moveTo>
                  <a:pt x="0" y="0"/>
                </a:moveTo>
                <a:lnTo>
                  <a:pt x="475486" y="0"/>
                </a:lnTo>
                <a:lnTo>
                  <a:pt x="475486" y="258058"/>
                </a:lnTo>
                <a:lnTo>
                  <a:pt x="0" y="258058"/>
                </a:lnTo>
                <a:lnTo>
                  <a:pt x="0" y="0"/>
                </a:lnTo>
                <a:close/>
              </a:path>
            </a:pathLst>
          </a:custGeom>
          <a:ln w="6451">
            <a:solidFill>
              <a:srgbClr val="898484"/>
            </a:solidFill>
          </a:ln>
        </p:spPr>
        <p:txBody>
          <a:bodyPr wrap="square" lIns="0" tIns="0" rIns="0" bIns="0" rtlCol="0"/>
          <a:lstStyle/>
          <a:p>
            <a:endParaRPr/>
          </a:p>
        </p:txBody>
      </p:sp>
      <p:sp>
        <p:nvSpPr>
          <p:cNvPr id="13" name="object 13"/>
          <p:cNvSpPr/>
          <p:nvPr/>
        </p:nvSpPr>
        <p:spPr>
          <a:xfrm>
            <a:off x="2823637" y="3989922"/>
            <a:ext cx="608330" cy="254000"/>
          </a:xfrm>
          <a:custGeom>
            <a:avLst/>
            <a:gdLst/>
            <a:ahLst/>
            <a:cxnLst/>
            <a:rect l="l" t="t" r="r" b="b"/>
            <a:pathLst>
              <a:path w="608329" h="254000">
                <a:moveTo>
                  <a:pt x="0" y="0"/>
                </a:moveTo>
                <a:lnTo>
                  <a:pt x="607998" y="0"/>
                </a:lnTo>
                <a:lnTo>
                  <a:pt x="607998" y="253994"/>
                </a:lnTo>
                <a:lnTo>
                  <a:pt x="0" y="253994"/>
                </a:lnTo>
                <a:lnTo>
                  <a:pt x="0" y="0"/>
                </a:lnTo>
                <a:close/>
              </a:path>
            </a:pathLst>
          </a:custGeom>
          <a:solidFill>
            <a:srgbClr val="FFFFFF"/>
          </a:solidFill>
        </p:spPr>
        <p:txBody>
          <a:bodyPr wrap="square" lIns="0" tIns="0" rIns="0" bIns="0" rtlCol="0"/>
          <a:lstStyle/>
          <a:p>
            <a:endParaRPr/>
          </a:p>
        </p:txBody>
      </p:sp>
      <p:sp>
        <p:nvSpPr>
          <p:cNvPr id="14" name="object 14"/>
          <p:cNvSpPr/>
          <p:nvPr/>
        </p:nvSpPr>
        <p:spPr>
          <a:xfrm>
            <a:off x="3268140" y="4453469"/>
            <a:ext cx="355600" cy="389890"/>
          </a:xfrm>
          <a:custGeom>
            <a:avLst/>
            <a:gdLst/>
            <a:ahLst/>
            <a:cxnLst/>
            <a:rect l="l" t="t" r="r" b="b"/>
            <a:pathLst>
              <a:path w="355600" h="389889">
                <a:moveTo>
                  <a:pt x="355600" y="170637"/>
                </a:moveTo>
                <a:lnTo>
                  <a:pt x="0" y="170637"/>
                </a:lnTo>
                <a:lnTo>
                  <a:pt x="177800" y="389467"/>
                </a:lnTo>
                <a:lnTo>
                  <a:pt x="355600" y="170637"/>
                </a:lnTo>
                <a:close/>
              </a:path>
              <a:path w="355600" h="389889">
                <a:moveTo>
                  <a:pt x="266700" y="0"/>
                </a:moveTo>
                <a:lnTo>
                  <a:pt x="88900" y="0"/>
                </a:lnTo>
                <a:lnTo>
                  <a:pt x="88900" y="170637"/>
                </a:lnTo>
                <a:lnTo>
                  <a:pt x="266700" y="170637"/>
                </a:lnTo>
                <a:lnTo>
                  <a:pt x="266700" y="0"/>
                </a:lnTo>
                <a:close/>
              </a:path>
            </a:pathLst>
          </a:custGeom>
          <a:solidFill>
            <a:srgbClr val="898484"/>
          </a:solidFill>
        </p:spPr>
        <p:txBody>
          <a:bodyPr wrap="square" lIns="0" tIns="0" rIns="0" bIns="0" rtlCol="0"/>
          <a:lstStyle/>
          <a:p>
            <a:endParaRPr/>
          </a:p>
        </p:txBody>
      </p:sp>
      <p:sp>
        <p:nvSpPr>
          <p:cNvPr id="15" name="object 15"/>
          <p:cNvSpPr/>
          <p:nvPr/>
        </p:nvSpPr>
        <p:spPr>
          <a:xfrm>
            <a:off x="6096000" y="1473200"/>
            <a:ext cx="0" cy="4197985"/>
          </a:xfrm>
          <a:custGeom>
            <a:avLst/>
            <a:gdLst/>
            <a:ahLst/>
            <a:cxnLst/>
            <a:rect l="l" t="t" r="r" b="b"/>
            <a:pathLst>
              <a:path h="4197985">
                <a:moveTo>
                  <a:pt x="0" y="0"/>
                </a:moveTo>
                <a:lnTo>
                  <a:pt x="1" y="4197840"/>
                </a:lnTo>
              </a:path>
            </a:pathLst>
          </a:custGeom>
          <a:ln w="29032">
            <a:solidFill>
              <a:srgbClr val="898484"/>
            </a:solidFill>
          </a:ln>
        </p:spPr>
        <p:txBody>
          <a:bodyPr wrap="square" lIns="0" tIns="0" rIns="0" bIns="0" rtlCol="0"/>
          <a:lstStyle/>
          <a:p>
            <a:endParaRPr/>
          </a:p>
        </p:txBody>
      </p:sp>
      <p:sp>
        <p:nvSpPr>
          <p:cNvPr id="16" name="object 16"/>
          <p:cNvSpPr/>
          <p:nvPr/>
        </p:nvSpPr>
        <p:spPr>
          <a:xfrm>
            <a:off x="3843871" y="5198544"/>
            <a:ext cx="768350" cy="258445"/>
          </a:xfrm>
          <a:custGeom>
            <a:avLst/>
            <a:gdLst/>
            <a:ahLst/>
            <a:cxnLst/>
            <a:rect l="l" t="t" r="r" b="b"/>
            <a:pathLst>
              <a:path w="768350" h="258445">
                <a:moveTo>
                  <a:pt x="0" y="0"/>
                </a:moveTo>
                <a:lnTo>
                  <a:pt x="768094" y="0"/>
                </a:lnTo>
                <a:lnTo>
                  <a:pt x="768094" y="258058"/>
                </a:lnTo>
                <a:lnTo>
                  <a:pt x="0" y="258058"/>
                </a:lnTo>
                <a:lnTo>
                  <a:pt x="0" y="0"/>
                </a:lnTo>
                <a:close/>
              </a:path>
            </a:pathLst>
          </a:custGeom>
          <a:ln w="6451">
            <a:solidFill>
              <a:srgbClr val="898484"/>
            </a:solidFill>
          </a:ln>
        </p:spPr>
        <p:txBody>
          <a:bodyPr wrap="square" lIns="0" tIns="0" rIns="0" bIns="0" rtlCol="0"/>
          <a:lstStyle/>
          <a:p>
            <a:endParaRPr/>
          </a:p>
        </p:txBody>
      </p:sp>
      <p:sp>
        <p:nvSpPr>
          <p:cNvPr id="17" name="object 17"/>
          <p:cNvSpPr/>
          <p:nvPr/>
        </p:nvSpPr>
        <p:spPr>
          <a:xfrm>
            <a:off x="2286005" y="5046144"/>
            <a:ext cx="1134110" cy="413384"/>
          </a:xfrm>
          <a:custGeom>
            <a:avLst/>
            <a:gdLst/>
            <a:ahLst/>
            <a:cxnLst/>
            <a:rect l="l" t="t" r="r" b="b"/>
            <a:pathLst>
              <a:path w="1134110" h="413385">
                <a:moveTo>
                  <a:pt x="0" y="0"/>
                </a:moveTo>
                <a:lnTo>
                  <a:pt x="1133856" y="0"/>
                </a:lnTo>
                <a:lnTo>
                  <a:pt x="1133856" y="412897"/>
                </a:lnTo>
                <a:lnTo>
                  <a:pt x="0" y="412897"/>
                </a:lnTo>
                <a:lnTo>
                  <a:pt x="0" y="0"/>
                </a:lnTo>
                <a:close/>
              </a:path>
            </a:pathLst>
          </a:custGeom>
          <a:ln w="6451">
            <a:solidFill>
              <a:srgbClr val="898484"/>
            </a:solidFill>
          </a:ln>
        </p:spPr>
        <p:txBody>
          <a:bodyPr wrap="square" lIns="0" tIns="0" rIns="0" bIns="0" rtlCol="0"/>
          <a:lstStyle/>
          <a:p>
            <a:endParaRPr/>
          </a:p>
        </p:txBody>
      </p:sp>
      <p:sp>
        <p:nvSpPr>
          <p:cNvPr id="18" name="object 18"/>
          <p:cNvSpPr/>
          <p:nvPr/>
        </p:nvSpPr>
        <p:spPr>
          <a:xfrm>
            <a:off x="3335870" y="5198544"/>
            <a:ext cx="467995" cy="254000"/>
          </a:xfrm>
          <a:custGeom>
            <a:avLst/>
            <a:gdLst/>
            <a:ahLst/>
            <a:cxnLst/>
            <a:rect l="l" t="t" r="r" b="b"/>
            <a:pathLst>
              <a:path w="467995" h="254000">
                <a:moveTo>
                  <a:pt x="0" y="0"/>
                </a:moveTo>
                <a:lnTo>
                  <a:pt x="467997" y="0"/>
                </a:lnTo>
                <a:lnTo>
                  <a:pt x="467997" y="253994"/>
                </a:lnTo>
                <a:lnTo>
                  <a:pt x="0" y="253994"/>
                </a:lnTo>
                <a:lnTo>
                  <a:pt x="0" y="0"/>
                </a:lnTo>
                <a:close/>
              </a:path>
            </a:pathLst>
          </a:custGeom>
          <a:solidFill>
            <a:srgbClr val="FFFFFF"/>
          </a:solidFill>
        </p:spPr>
        <p:txBody>
          <a:bodyPr wrap="square" lIns="0" tIns="0" rIns="0" bIns="0" rtlCol="0"/>
          <a:lstStyle/>
          <a:p>
            <a:endParaRPr/>
          </a:p>
        </p:txBody>
      </p:sp>
      <p:sp>
        <p:nvSpPr>
          <p:cNvPr id="19" name="object 19"/>
          <p:cNvSpPr/>
          <p:nvPr/>
        </p:nvSpPr>
        <p:spPr>
          <a:xfrm>
            <a:off x="3335870" y="5198544"/>
            <a:ext cx="475615" cy="258445"/>
          </a:xfrm>
          <a:custGeom>
            <a:avLst/>
            <a:gdLst/>
            <a:ahLst/>
            <a:cxnLst/>
            <a:rect l="l" t="t" r="r" b="b"/>
            <a:pathLst>
              <a:path w="475614" h="258445">
                <a:moveTo>
                  <a:pt x="0" y="0"/>
                </a:moveTo>
                <a:lnTo>
                  <a:pt x="475485" y="0"/>
                </a:lnTo>
                <a:lnTo>
                  <a:pt x="475485" y="258058"/>
                </a:lnTo>
                <a:lnTo>
                  <a:pt x="0" y="258058"/>
                </a:lnTo>
                <a:lnTo>
                  <a:pt x="0" y="0"/>
                </a:lnTo>
                <a:close/>
              </a:path>
            </a:pathLst>
          </a:custGeom>
          <a:ln w="6451">
            <a:solidFill>
              <a:srgbClr val="898484"/>
            </a:solidFill>
          </a:ln>
        </p:spPr>
        <p:txBody>
          <a:bodyPr wrap="square" lIns="0" tIns="0" rIns="0" bIns="0" rtlCol="0"/>
          <a:lstStyle/>
          <a:p>
            <a:endParaRPr/>
          </a:p>
        </p:txBody>
      </p:sp>
      <p:sp>
        <p:nvSpPr>
          <p:cNvPr id="20" name="object 20"/>
          <p:cNvSpPr/>
          <p:nvPr/>
        </p:nvSpPr>
        <p:spPr>
          <a:xfrm>
            <a:off x="2789770" y="5192194"/>
            <a:ext cx="608330" cy="254000"/>
          </a:xfrm>
          <a:custGeom>
            <a:avLst/>
            <a:gdLst/>
            <a:ahLst/>
            <a:cxnLst/>
            <a:rect l="l" t="t" r="r" b="b"/>
            <a:pathLst>
              <a:path w="608329" h="254000">
                <a:moveTo>
                  <a:pt x="0" y="0"/>
                </a:moveTo>
                <a:lnTo>
                  <a:pt x="607998" y="0"/>
                </a:lnTo>
                <a:lnTo>
                  <a:pt x="607998" y="253994"/>
                </a:lnTo>
                <a:lnTo>
                  <a:pt x="0" y="253994"/>
                </a:lnTo>
                <a:lnTo>
                  <a:pt x="0" y="0"/>
                </a:lnTo>
                <a:close/>
              </a:path>
            </a:pathLst>
          </a:custGeom>
          <a:solidFill>
            <a:srgbClr val="FFFFFF"/>
          </a:solidFill>
        </p:spPr>
        <p:txBody>
          <a:bodyPr wrap="square" lIns="0" tIns="0" rIns="0" bIns="0" rtlCol="0"/>
          <a:lstStyle/>
          <a:p>
            <a:endParaRPr/>
          </a:p>
        </p:txBody>
      </p:sp>
      <p:sp>
        <p:nvSpPr>
          <p:cNvPr id="21" name="object 21"/>
          <p:cNvSpPr txBox="1"/>
          <p:nvPr/>
        </p:nvSpPr>
        <p:spPr>
          <a:xfrm>
            <a:off x="1100671" y="5063078"/>
            <a:ext cx="1134110" cy="379095"/>
          </a:xfrm>
          <a:prstGeom prst="rect">
            <a:avLst/>
          </a:prstGeom>
          <a:solidFill>
            <a:srgbClr val="ECEBEB"/>
          </a:solidFill>
          <a:ln w="6451">
            <a:solidFill>
              <a:srgbClr val="898484"/>
            </a:solidFill>
          </a:ln>
        </p:spPr>
        <p:txBody>
          <a:bodyPr vert="horz" wrap="square" lIns="0" tIns="55879" rIns="0" bIns="0" rtlCol="0">
            <a:spAutoFit/>
          </a:bodyPr>
          <a:lstStyle/>
          <a:p>
            <a:pPr marL="193040">
              <a:lnSpc>
                <a:spcPct val="100000"/>
              </a:lnSpc>
              <a:spcBef>
                <a:spcPts val="440"/>
              </a:spcBef>
            </a:pPr>
            <a:r>
              <a:rPr sz="1600" dirty="0">
                <a:latin typeface="微软雅黑" panose="020B0503020204020204" pitchFamily="34" charset="-122"/>
                <a:cs typeface="微软雅黑" panose="020B0503020204020204" pitchFamily="34" charset="-122"/>
              </a:rPr>
              <a:t>子问题</a:t>
            </a:r>
            <a:r>
              <a:rPr sz="1600" dirty="0">
                <a:latin typeface="Arial" panose="020B0604020202020204"/>
                <a:cs typeface="Arial" panose="020B0604020202020204"/>
              </a:rPr>
              <a:t>1</a:t>
            </a:r>
            <a:endParaRPr sz="1600">
              <a:latin typeface="Arial" panose="020B0604020202020204"/>
              <a:cs typeface="Arial" panose="020B0604020202020204"/>
            </a:endParaRPr>
          </a:p>
        </p:txBody>
      </p:sp>
      <p:sp>
        <p:nvSpPr>
          <p:cNvPr id="22" name="object 22"/>
          <p:cNvSpPr txBox="1"/>
          <p:nvPr/>
        </p:nvSpPr>
        <p:spPr>
          <a:xfrm>
            <a:off x="2466374" y="5106155"/>
            <a:ext cx="74803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微软雅黑" panose="020B0503020204020204" pitchFamily="34" charset="-122"/>
                <a:cs typeface="微软雅黑" panose="020B0503020204020204" pitchFamily="34" charset="-122"/>
              </a:rPr>
              <a:t>子问题</a:t>
            </a:r>
            <a:r>
              <a:rPr sz="1600" dirty="0">
                <a:latin typeface="Arial" panose="020B0604020202020204"/>
                <a:cs typeface="Arial" panose="020B0604020202020204"/>
              </a:rPr>
              <a:t>2</a:t>
            </a:r>
            <a:endParaRPr sz="1600">
              <a:latin typeface="Arial" panose="020B0604020202020204"/>
              <a:cs typeface="Arial" panose="020B0604020202020204"/>
            </a:endParaRPr>
          </a:p>
        </p:txBody>
      </p:sp>
      <p:sp>
        <p:nvSpPr>
          <p:cNvPr id="23" name="object 23"/>
          <p:cNvSpPr txBox="1"/>
          <p:nvPr/>
        </p:nvSpPr>
        <p:spPr>
          <a:xfrm>
            <a:off x="3830840" y="5201770"/>
            <a:ext cx="778510" cy="254635"/>
          </a:xfrm>
          <a:prstGeom prst="rect">
            <a:avLst/>
          </a:prstGeom>
          <a:solidFill>
            <a:srgbClr val="ECEBEB"/>
          </a:solidFill>
        </p:spPr>
        <p:txBody>
          <a:bodyPr vert="horz" wrap="square" lIns="0" tIns="1270" rIns="0" bIns="0" rtlCol="0">
            <a:spAutoFit/>
          </a:bodyPr>
          <a:lstStyle/>
          <a:p>
            <a:pPr marL="40640">
              <a:lnSpc>
                <a:spcPct val="100000"/>
              </a:lnSpc>
              <a:spcBef>
                <a:spcPts val="10"/>
              </a:spcBef>
            </a:pPr>
            <a:r>
              <a:rPr sz="1600" dirty="0">
                <a:latin typeface="微软雅黑" panose="020B0503020204020204" pitchFamily="34" charset="-122"/>
                <a:cs typeface="微软雅黑" panose="020B0503020204020204" pitchFamily="34" charset="-122"/>
              </a:rPr>
              <a:t>子问题</a:t>
            </a:r>
            <a:r>
              <a:rPr sz="1600" dirty="0">
                <a:latin typeface="Arial" panose="020B0604020202020204"/>
                <a:cs typeface="Arial" panose="020B0604020202020204"/>
              </a:rPr>
              <a:t>3</a:t>
            </a:r>
            <a:endParaRPr sz="1600">
              <a:latin typeface="Arial" panose="020B0604020202020204"/>
              <a:cs typeface="Arial" panose="020B0604020202020204"/>
            </a:endParaRPr>
          </a:p>
        </p:txBody>
      </p:sp>
      <p:sp>
        <p:nvSpPr>
          <p:cNvPr id="24" name="object 24"/>
          <p:cNvSpPr txBox="1"/>
          <p:nvPr/>
        </p:nvSpPr>
        <p:spPr>
          <a:xfrm>
            <a:off x="4673606" y="4927612"/>
            <a:ext cx="1134110" cy="533400"/>
          </a:xfrm>
          <a:prstGeom prst="rect">
            <a:avLst/>
          </a:prstGeom>
          <a:ln w="6451">
            <a:solidFill>
              <a:srgbClr val="898484"/>
            </a:solidFill>
          </a:ln>
        </p:spPr>
        <p:txBody>
          <a:bodyPr vert="horz" wrap="square" lIns="0" tIns="140335" rIns="0" bIns="0" rtlCol="0">
            <a:spAutoFit/>
          </a:bodyPr>
          <a:lstStyle/>
          <a:p>
            <a:pPr marL="260350">
              <a:lnSpc>
                <a:spcPct val="100000"/>
              </a:lnSpc>
              <a:spcBef>
                <a:spcPts val="1105"/>
              </a:spcBef>
            </a:pPr>
            <a:r>
              <a:rPr sz="1600" dirty="0">
                <a:latin typeface="微软雅黑" panose="020B0503020204020204" pitchFamily="34" charset="-122"/>
                <a:cs typeface="微软雅黑" panose="020B0503020204020204" pitchFamily="34" charset="-122"/>
              </a:rPr>
              <a:t>子问题</a:t>
            </a:r>
            <a:r>
              <a:rPr sz="1600" dirty="0">
                <a:latin typeface="Arial" panose="020B0604020202020204"/>
                <a:cs typeface="Arial" panose="020B0604020202020204"/>
              </a:rPr>
              <a:t>4</a:t>
            </a:r>
            <a:endParaRPr sz="1600">
              <a:latin typeface="Arial" panose="020B0604020202020204"/>
              <a:cs typeface="Arial" panose="020B0604020202020204"/>
            </a:endParaRPr>
          </a:p>
        </p:txBody>
      </p:sp>
      <p:sp>
        <p:nvSpPr>
          <p:cNvPr id="25" name="object 25"/>
          <p:cNvSpPr txBox="1"/>
          <p:nvPr/>
        </p:nvSpPr>
        <p:spPr>
          <a:xfrm>
            <a:off x="7619993" y="4538138"/>
            <a:ext cx="2322830" cy="860425"/>
          </a:xfrm>
          <a:prstGeom prst="rect">
            <a:avLst/>
          </a:prstGeom>
          <a:solidFill>
            <a:srgbClr val="ECEBEB"/>
          </a:solidFill>
          <a:ln w="6451">
            <a:solidFill>
              <a:srgbClr val="898484"/>
            </a:solidFill>
          </a:ln>
        </p:spPr>
        <p:txBody>
          <a:bodyPr vert="horz" wrap="square" lIns="0" tIns="270510" rIns="0" bIns="0" rtlCol="0">
            <a:spAutoFit/>
          </a:bodyPr>
          <a:lstStyle/>
          <a:p>
            <a:pPr marL="637540">
              <a:lnSpc>
                <a:spcPct val="100000"/>
              </a:lnSpc>
              <a:spcBef>
                <a:spcPts val="2130"/>
              </a:spcBef>
            </a:pPr>
            <a:r>
              <a:rPr sz="2000" dirty="0">
                <a:latin typeface="微软雅黑" panose="020B0503020204020204" pitchFamily="34" charset="-122"/>
                <a:cs typeface="微软雅黑" panose="020B0503020204020204" pitchFamily="34" charset="-122"/>
              </a:rPr>
              <a:t>解决方案</a:t>
            </a:r>
            <a:endParaRPr sz="2000">
              <a:latin typeface="微软雅黑" panose="020B0503020204020204" pitchFamily="34" charset="-122"/>
              <a:cs typeface="微软雅黑" panose="020B0503020204020204" pitchFamily="34" charset="-122"/>
            </a:endParaRPr>
          </a:p>
        </p:txBody>
      </p:sp>
      <p:sp>
        <p:nvSpPr>
          <p:cNvPr id="26" name="object 26"/>
          <p:cNvSpPr/>
          <p:nvPr/>
        </p:nvSpPr>
        <p:spPr>
          <a:xfrm>
            <a:off x="8585192" y="2556946"/>
            <a:ext cx="355600" cy="389890"/>
          </a:xfrm>
          <a:custGeom>
            <a:avLst/>
            <a:gdLst/>
            <a:ahLst/>
            <a:cxnLst/>
            <a:rect l="l" t="t" r="r" b="b"/>
            <a:pathLst>
              <a:path w="355600" h="389889">
                <a:moveTo>
                  <a:pt x="355600" y="170638"/>
                </a:moveTo>
                <a:lnTo>
                  <a:pt x="0" y="170638"/>
                </a:lnTo>
                <a:lnTo>
                  <a:pt x="177800" y="389467"/>
                </a:lnTo>
                <a:lnTo>
                  <a:pt x="355600" y="170638"/>
                </a:lnTo>
                <a:close/>
              </a:path>
              <a:path w="355600" h="389889">
                <a:moveTo>
                  <a:pt x="266700" y="0"/>
                </a:moveTo>
                <a:lnTo>
                  <a:pt x="88900" y="0"/>
                </a:lnTo>
                <a:lnTo>
                  <a:pt x="88900" y="170638"/>
                </a:lnTo>
                <a:lnTo>
                  <a:pt x="266700" y="170638"/>
                </a:lnTo>
                <a:lnTo>
                  <a:pt x="266700" y="0"/>
                </a:lnTo>
                <a:close/>
              </a:path>
            </a:pathLst>
          </a:custGeom>
          <a:solidFill>
            <a:srgbClr val="898484"/>
          </a:solidFill>
        </p:spPr>
        <p:txBody>
          <a:bodyPr wrap="square" lIns="0" tIns="0" rIns="0" bIns="0" rtlCol="0"/>
          <a:lstStyle/>
          <a:p>
            <a:endParaRPr/>
          </a:p>
        </p:txBody>
      </p:sp>
      <p:sp>
        <p:nvSpPr>
          <p:cNvPr id="27" name="object 27"/>
          <p:cNvSpPr/>
          <p:nvPr/>
        </p:nvSpPr>
        <p:spPr>
          <a:xfrm>
            <a:off x="8585193" y="4064006"/>
            <a:ext cx="355600" cy="389890"/>
          </a:xfrm>
          <a:custGeom>
            <a:avLst/>
            <a:gdLst/>
            <a:ahLst/>
            <a:cxnLst/>
            <a:rect l="l" t="t" r="r" b="b"/>
            <a:pathLst>
              <a:path w="355600" h="389889">
                <a:moveTo>
                  <a:pt x="355600" y="170638"/>
                </a:moveTo>
                <a:lnTo>
                  <a:pt x="0" y="170638"/>
                </a:lnTo>
                <a:lnTo>
                  <a:pt x="177800" y="389467"/>
                </a:lnTo>
                <a:lnTo>
                  <a:pt x="355600" y="170638"/>
                </a:lnTo>
                <a:close/>
              </a:path>
              <a:path w="355600" h="389889">
                <a:moveTo>
                  <a:pt x="266700" y="0"/>
                </a:moveTo>
                <a:lnTo>
                  <a:pt x="88900" y="0"/>
                </a:lnTo>
                <a:lnTo>
                  <a:pt x="88900" y="170638"/>
                </a:lnTo>
                <a:lnTo>
                  <a:pt x="266700" y="170638"/>
                </a:lnTo>
                <a:lnTo>
                  <a:pt x="266700" y="0"/>
                </a:lnTo>
                <a:close/>
              </a:path>
            </a:pathLst>
          </a:custGeom>
          <a:solidFill>
            <a:srgbClr val="898484"/>
          </a:solidFill>
        </p:spPr>
        <p:txBody>
          <a:bodyPr wrap="square" lIns="0" tIns="0" rIns="0" bIns="0" rtlCol="0"/>
          <a:lstStyle/>
          <a:p>
            <a:endParaRPr/>
          </a:p>
        </p:txBody>
      </p:sp>
      <p:sp>
        <p:nvSpPr>
          <p:cNvPr id="28" name="object 28"/>
          <p:cNvSpPr/>
          <p:nvPr/>
        </p:nvSpPr>
        <p:spPr>
          <a:xfrm>
            <a:off x="9144001" y="2116674"/>
            <a:ext cx="768350" cy="258445"/>
          </a:xfrm>
          <a:custGeom>
            <a:avLst/>
            <a:gdLst/>
            <a:ahLst/>
            <a:cxnLst/>
            <a:rect l="l" t="t" r="r" b="b"/>
            <a:pathLst>
              <a:path w="768350" h="258444">
                <a:moveTo>
                  <a:pt x="0" y="0"/>
                </a:moveTo>
                <a:lnTo>
                  <a:pt x="768094" y="0"/>
                </a:lnTo>
                <a:lnTo>
                  <a:pt x="768094" y="258058"/>
                </a:lnTo>
                <a:lnTo>
                  <a:pt x="0" y="258058"/>
                </a:lnTo>
                <a:lnTo>
                  <a:pt x="0" y="0"/>
                </a:lnTo>
                <a:close/>
              </a:path>
            </a:pathLst>
          </a:custGeom>
          <a:ln w="6451">
            <a:solidFill>
              <a:srgbClr val="898484"/>
            </a:solidFill>
          </a:ln>
        </p:spPr>
        <p:txBody>
          <a:bodyPr wrap="square" lIns="0" tIns="0" rIns="0" bIns="0" rtlCol="0"/>
          <a:lstStyle/>
          <a:p>
            <a:endParaRPr/>
          </a:p>
        </p:txBody>
      </p:sp>
      <p:sp>
        <p:nvSpPr>
          <p:cNvPr id="29" name="object 29"/>
          <p:cNvSpPr/>
          <p:nvPr/>
        </p:nvSpPr>
        <p:spPr>
          <a:xfrm>
            <a:off x="7586132" y="1964274"/>
            <a:ext cx="1134110" cy="413384"/>
          </a:xfrm>
          <a:custGeom>
            <a:avLst/>
            <a:gdLst/>
            <a:ahLst/>
            <a:cxnLst/>
            <a:rect l="l" t="t" r="r" b="b"/>
            <a:pathLst>
              <a:path w="1134109" h="413385">
                <a:moveTo>
                  <a:pt x="0" y="0"/>
                </a:moveTo>
                <a:lnTo>
                  <a:pt x="1133856" y="0"/>
                </a:lnTo>
                <a:lnTo>
                  <a:pt x="1133856" y="412897"/>
                </a:lnTo>
                <a:lnTo>
                  <a:pt x="0" y="412897"/>
                </a:lnTo>
                <a:lnTo>
                  <a:pt x="0" y="0"/>
                </a:lnTo>
                <a:close/>
              </a:path>
            </a:pathLst>
          </a:custGeom>
          <a:ln w="6451">
            <a:solidFill>
              <a:srgbClr val="898484"/>
            </a:solidFill>
          </a:ln>
        </p:spPr>
        <p:txBody>
          <a:bodyPr wrap="square" lIns="0" tIns="0" rIns="0" bIns="0" rtlCol="0"/>
          <a:lstStyle/>
          <a:p>
            <a:endParaRPr/>
          </a:p>
        </p:txBody>
      </p:sp>
      <p:sp>
        <p:nvSpPr>
          <p:cNvPr id="30" name="object 30"/>
          <p:cNvSpPr/>
          <p:nvPr/>
        </p:nvSpPr>
        <p:spPr>
          <a:xfrm>
            <a:off x="8635998" y="2116674"/>
            <a:ext cx="467995" cy="254000"/>
          </a:xfrm>
          <a:custGeom>
            <a:avLst/>
            <a:gdLst/>
            <a:ahLst/>
            <a:cxnLst/>
            <a:rect l="l" t="t" r="r" b="b"/>
            <a:pathLst>
              <a:path w="467995" h="254000">
                <a:moveTo>
                  <a:pt x="0" y="0"/>
                </a:moveTo>
                <a:lnTo>
                  <a:pt x="467998" y="0"/>
                </a:lnTo>
                <a:lnTo>
                  <a:pt x="467998" y="253994"/>
                </a:lnTo>
                <a:lnTo>
                  <a:pt x="0" y="253994"/>
                </a:lnTo>
                <a:lnTo>
                  <a:pt x="0" y="0"/>
                </a:lnTo>
                <a:close/>
              </a:path>
            </a:pathLst>
          </a:custGeom>
          <a:solidFill>
            <a:srgbClr val="FFFFFF"/>
          </a:solidFill>
        </p:spPr>
        <p:txBody>
          <a:bodyPr wrap="square" lIns="0" tIns="0" rIns="0" bIns="0" rtlCol="0"/>
          <a:lstStyle/>
          <a:p>
            <a:endParaRPr/>
          </a:p>
        </p:txBody>
      </p:sp>
      <p:sp>
        <p:nvSpPr>
          <p:cNvPr id="31" name="object 31"/>
          <p:cNvSpPr/>
          <p:nvPr/>
        </p:nvSpPr>
        <p:spPr>
          <a:xfrm>
            <a:off x="8635998" y="2116674"/>
            <a:ext cx="475615" cy="258445"/>
          </a:xfrm>
          <a:custGeom>
            <a:avLst/>
            <a:gdLst/>
            <a:ahLst/>
            <a:cxnLst/>
            <a:rect l="l" t="t" r="r" b="b"/>
            <a:pathLst>
              <a:path w="475615" h="258444">
                <a:moveTo>
                  <a:pt x="0" y="0"/>
                </a:moveTo>
                <a:lnTo>
                  <a:pt x="475485" y="0"/>
                </a:lnTo>
                <a:lnTo>
                  <a:pt x="475485" y="258058"/>
                </a:lnTo>
                <a:lnTo>
                  <a:pt x="0" y="258058"/>
                </a:lnTo>
                <a:lnTo>
                  <a:pt x="0" y="0"/>
                </a:lnTo>
                <a:close/>
              </a:path>
            </a:pathLst>
          </a:custGeom>
          <a:ln w="6451">
            <a:solidFill>
              <a:srgbClr val="898484"/>
            </a:solidFill>
          </a:ln>
        </p:spPr>
        <p:txBody>
          <a:bodyPr wrap="square" lIns="0" tIns="0" rIns="0" bIns="0" rtlCol="0"/>
          <a:lstStyle/>
          <a:p>
            <a:endParaRPr/>
          </a:p>
        </p:txBody>
      </p:sp>
      <p:sp>
        <p:nvSpPr>
          <p:cNvPr id="32" name="object 32"/>
          <p:cNvSpPr/>
          <p:nvPr/>
        </p:nvSpPr>
        <p:spPr>
          <a:xfrm>
            <a:off x="8089898" y="2110324"/>
            <a:ext cx="608330" cy="254000"/>
          </a:xfrm>
          <a:custGeom>
            <a:avLst/>
            <a:gdLst/>
            <a:ahLst/>
            <a:cxnLst/>
            <a:rect l="l" t="t" r="r" b="b"/>
            <a:pathLst>
              <a:path w="608329" h="254000">
                <a:moveTo>
                  <a:pt x="0" y="0"/>
                </a:moveTo>
                <a:lnTo>
                  <a:pt x="607998" y="0"/>
                </a:lnTo>
                <a:lnTo>
                  <a:pt x="607998" y="253994"/>
                </a:lnTo>
                <a:lnTo>
                  <a:pt x="0" y="253994"/>
                </a:lnTo>
                <a:lnTo>
                  <a:pt x="0" y="0"/>
                </a:lnTo>
                <a:close/>
              </a:path>
            </a:pathLst>
          </a:custGeom>
          <a:solidFill>
            <a:srgbClr val="FFFFFF"/>
          </a:solidFill>
        </p:spPr>
        <p:txBody>
          <a:bodyPr wrap="square" lIns="0" tIns="0" rIns="0" bIns="0" rtlCol="0"/>
          <a:lstStyle/>
          <a:p>
            <a:endParaRPr/>
          </a:p>
        </p:txBody>
      </p:sp>
      <p:sp>
        <p:nvSpPr>
          <p:cNvPr id="33" name="object 33"/>
          <p:cNvSpPr txBox="1"/>
          <p:nvPr/>
        </p:nvSpPr>
        <p:spPr>
          <a:xfrm>
            <a:off x="6400800" y="1981208"/>
            <a:ext cx="1134110" cy="379095"/>
          </a:xfrm>
          <a:prstGeom prst="rect">
            <a:avLst/>
          </a:prstGeom>
          <a:solidFill>
            <a:srgbClr val="ECEBEB"/>
          </a:solidFill>
          <a:ln w="6451">
            <a:solidFill>
              <a:srgbClr val="898484"/>
            </a:solidFill>
          </a:ln>
        </p:spPr>
        <p:txBody>
          <a:bodyPr vert="horz" wrap="square" lIns="0" tIns="55879" rIns="0" bIns="0" rtlCol="0">
            <a:spAutoFit/>
          </a:bodyPr>
          <a:lstStyle/>
          <a:p>
            <a:pPr marL="295275">
              <a:lnSpc>
                <a:spcPct val="100000"/>
              </a:lnSpc>
              <a:spcBef>
                <a:spcPts val="440"/>
              </a:spcBef>
            </a:pPr>
            <a:r>
              <a:rPr sz="1600" dirty="0">
                <a:latin typeface="微软雅黑" panose="020B0503020204020204" pitchFamily="34" charset="-122"/>
                <a:cs typeface="微软雅黑" panose="020B0503020204020204" pitchFamily="34" charset="-122"/>
              </a:rPr>
              <a:t>方案</a:t>
            </a:r>
            <a:r>
              <a:rPr sz="1600" dirty="0">
                <a:latin typeface="Arial" panose="020B0604020202020204"/>
                <a:cs typeface="Arial" panose="020B0604020202020204"/>
              </a:rPr>
              <a:t>1</a:t>
            </a:r>
            <a:endParaRPr sz="1600">
              <a:latin typeface="Arial" panose="020B0604020202020204"/>
              <a:cs typeface="Arial" panose="020B0604020202020204"/>
            </a:endParaRPr>
          </a:p>
        </p:txBody>
      </p:sp>
      <p:sp>
        <p:nvSpPr>
          <p:cNvPr id="34" name="object 34"/>
          <p:cNvSpPr txBox="1"/>
          <p:nvPr/>
        </p:nvSpPr>
        <p:spPr>
          <a:xfrm>
            <a:off x="7869096" y="2024284"/>
            <a:ext cx="54483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微软雅黑" panose="020B0503020204020204" pitchFamily="34" charset="-122"/>
                <a:cs typeface="微软雅黑" panose="020B0503020204020204" pitchFamily="34" charset="-122"/>
              </a:rPr>
              <a:t>方案</a:t>
            </a:r>
            <a:r>
              <a:rPr sz="1600" dirty="0">
                <a:latin typeface="Arial" panose="020B0604020202020204"/>
                <a:cs typeface="Arial" panose="020B0604020202020204"/>
              </a:rPr>
              <a:t>2</a:t>
            </a:r>
            <a:endParaRPr sz="1600">
              <a:latin typeface="Arial" panose="020B0604020202020204"/>
              <a:cs typeface="Arial" panose="020B0604020202020204"/>
            </a:endParaRPr>
          </a:p>
        </p:txBody>
      </p:sp>
      <p:sp>
        <p:nvSpPr>
          <p:cNvPr id="35" name="object 35"/>
          <p:cNvSpPr txBox="1"/>
          <p:nvPr/>
        </p:nvSpPr>
        <p:spPr>
          <a:xfrm>
            <a:off x="9130968" y="2119900"/>
            <a:ext cx="778510" cy="254635"/>
          </a:xfrm>
          <a:prstGeom prst="rect">
            <a:avLst/>
          </a:prstGeom>
          <a:solidFill>
            <a:srgbClr val="ECEBEB"/>
          </a:solidFill>
        </p:spPr>
        <p:txBody>
          <a:bodyPr vert="horz" wrap="square" lIns="0" tIns="1270" rIns="0" bIns="0" rtlCol="0">
            <a:spAutoFit/>
          </a:bodyPr>
          <a:lstStyle/>
          <a:p>
            <a:pPr marL="133985">
              <a:lnSpc>
                <a:spcPct val="100000"/>
              </a:lnSpc>
              <a:spcBef>
                <a:spcPts val="10"/>
              </a:spcBef>
            </a:pPr>
            <a:r>
              <a:rPr sz="1600" dirty="0">
                <a:latin typeface="微软雅黑" panose="020B0503020204020204" pitchFamily="34" charset="-122"/>
                <a:cs typeface="微软雅黑" panose="020B0503020204020204" pitchFamily="34" charset="-122"/>
              </a:rPr>
              <a:t>方案</a:t>
            </a:r>
            <a:r>
              <a:rPr sz="1600" dirty="0">
                <a:latin typeface="Arial" panose="020B0604020202020204"/>
                <a:cs typeface="Arial" panose="020B0604020202020204"/>
              </a:rPr>
              <a:t>3</a:t>
            </a:r>
            <a:endParaRPr sz="1600">
              <a:latin typeface="Arial" panose="020B0604020202020204"/>
              <a:cs typeface="Arial" panose="020B0604020202020204"/>
            </a:endParaRPr>
          </a:p>
        </p:txBody>
      </p:sp>
      <p:sp>
        <p:nvSpPr>
          <p:cNvPr id="36" name="object 36"/>
          <p:cNvSpPr txBox="1"/>
          <p:nvPr/>
        </p:nvSpPr>
        <p:spPr>
          <a:xfrm>
            <a:off x="9973735" y="1845743"/>
            <a:ext cx="1134110" cy="533400"/>
          </a:xfrm>
          <a:prstGeom prst="rect">
            <a:avLst/>
          </a:prstGeom>
          <a:ln w="6451">
            <a:solidFill>
              <a:srgbClr val="898484"/>
            </a:solidFill>
          </a:ln>
        </p:spPr>
        <p:txBody>
          <a:bodyPr vert="horz" wrap="square" lIns="0" tIns="140335" rIns="0" bIns="0" rtlCol="0">
            <a:spAutoFit/>
          </a:bodyPr>
          <a:lstStyle/>
          <a:p>
            <a:pPr marL="363220">
              <a:lnSpc>
                <a:spcPct val="100000"/>
              </a:lnSpc>
              <a:spcBef>
                <a:spcPts val="1105"/>
              </a:spcBef>
            </a:pPr>
            <a:r>
              <a:rPr sz="1600" dirty="0">
                <a:latin typeface="微软雅黑" panose="020B0503020204020204" pitchFamily="34" charset="-122"/>
                <a:cs typeface="微软雅黑" panose="020B0503020204020204" pitchFamily="34" charset="-122"/>
              </a:rPr>
              <a:t>方案</a:t>
            </a:r>
            <a:r>
              <a:rPr sz="1600" dirty="0">
                <a:latin typeface="Arial" panose="020B0604020202020204"/>
                <a:cs typeface="Arial" panose="020B0604020202020204"/>
              </a:rPr>
              <a:t>4</a:t>
            </a:r>
            <a:endParaRPr sz="1600">
              <a:latin typeface="Arial" panose="020B0604020202020204"/>
              <a:cs typeface="Arial" panose="020B0604020202020204"/>
            </a:endParaRPr>
          </a:p>
        </p:txBody>
      </p:sp>
      <p:sp>
        <p:nvSpPr>
          <p:cNvPr id="37" name="object 37"/>
          <p:cNvSpPr/>
          <p:nvPr/>
        </p:nvSpPr>
        <p:spPr>
          <a:xfrm>
            <a:off x="7620002" y="2997207"/>
            <a:ext cx="1116330" cy="372745"/>
          </a:xfrm>
          <a:custGeom>
            <a:avLst/>
            <a:gdLst/>
            <a:ahLst/>
            <a:cxnLst/>
            <a:rect l="l" t="t" r="r" b="b"/>
            <a:pathLst>
              <a:path w="1116329" h="372745">
                <a:moveTo>
                  <a:pt x="0" y="0"/>
                </a:moveTo>
                <a:lnTo>
                  <a:pt x="1115999" y="0"/>
                </a:lnTo>
                <a:lnTo>
                  <a:pt x="1115999" y="372527"/>
                </a:lnTo>
                <a:lnTo>
                  <a:pt x="0" y="372527"/>
                </a:lnTo>
                <a:lnTo>
                  <a:pt x="0" y="0"/>
                </a:lnTo>
                <a:close/>
              </a:path>
            </a:pathLst>
          </a:custGeom>
          <a:solidFill>
            <a:srgbClr val="ECEBEB"/>
          </a:solidFill>
        </p:spPr>
        <p:txBody>
          <a:bodyPr wrap="square" lIns="0" tIns="0" rIns="0" bIns="0" rtlCol="0"/>
          <a:lstStyle/>
          <a:p>
            <a:endParaRPr/>
          </a:p>
        </p:txBody>
      </p:sp>
      <p:sp>
        <p:nvSpPr>
          <p:cNvPr id="38" name="object 38"/>
          <p:cNvSpPr/>
          <p:nvPr/>
        </p:nvSpPr>
        <p:spPr>
          <a:xfrm>
            <a:off x="7620002" y="2997207"/>
            <a:ext cx="1134110" cy="379095"/>
          </a:xfrm>
          <a:custGeom>
            <a:avLst/>
            <a:gdLst/>
            <a:ahLst/>
            <a:cxnLst/>
            <a:rect l="l" t="t" r="r" b="b"/>
            <a:pathLst>
              <a:path w="1134109" h="379095">
                <a:moveTo>
                  <a:pt x="0" y="0"/>
                </a:moveTo>
                <a:lnTo>
                  <a:pt x="1133855" y="0"/>
                </a:lnTo>
                <a:lnTo>
                  <a:pt x="1133855" y="378488"/>
                </a:lnTo>
                <a:lnTo>
                  <a:pt x="0" y="378488"/>
                </a:lnTo>
                <a:lnTo>
                  <a:pt x="0" y="0"/>
                </a:lnTo>
                <a:close/>
              </a:path>
            </a:pathLst>
          </a:custGeom>
          <a:ln w="6451">
            <a:solidFill>
              <a:srgbClr val="898484"/>
            </a:solidFill>
          </a:ln>
        </p:spPr>
        <p:txBody>
          <a:bodyPr wrap="square" lIns="0" tIns="0" rIns="0" bIns="0" rtlCol="0"/>
          <a:lstStyle/>
          <a:p>
            <a:endParaRPr/>
          </a:p>
        </p:txBody>
      </p:sp>
      <p:sp>
        <p:nvSpPr>
          <p:cNvPr id="39" name="object 39"/>
          <p:cNvSpPr/>
          <p:nvPr/>
        </p:nvSpPr>
        <p:spPr>
          <a:xfrm>
            <a:off x="8788402" y="2980274"/>
            <a:ext cx="1134110" cy="533400"/>
          </a:xfrm>
          <a:custGeom>
            <a:avLst/>
            <a:gdLst/>
            <a:ahLst/>
            <a:cxnLst/>
            <a:rect l="l" t="t" r="r" b="b"/>
            <a:pathLst>
              <a:path w="1134109" h="533400">
                <a:moveTo>
                  <a:pt x="0" y="0"/>
                </a:moveTo>
                <a:lnTo>
                  <a:pt x="1133856" y="0"/>
                </a:lnTo>
                <a:lnTo>
                  <a:pt x="1133856" y="533326"/>
                </a:lnTo>
                <a:lnTo>
                  <a:pt x="0" y="533326"/>
                </a:lnTo>
                <a:lnTo>
                  <a:pt x="0" y="0"/>
                </a:lnTo>
                <a:close/>
              </a:path>
            </a:pathLst>
          </a:custGeom>
          <a:ln w="6451">
            <a:solidFill>
              <a:srgbClr val="898484"/>
            </a:solidFill>
          </a:ln>
        </p:spPr>
        <p:txBody>
          <a:bodyPr wrap="square" lIns="0" tIns="0" rIns="0" bIns="0" rtlCol="0"/>
          <a:lstStyle/>
          <a:p>
            <a:endParaRPr/>
          </a:p>
        </p:txBody>
      </p:sp>
      <p:sp>
        <p:nvSpPr>
          <p:cNvPr id="40" name="object 40"/>
          <p:cNvSpPr/>
          <p:nvPr/>
        </p:nvSpPr>
        <p:spPr>
          <a:xfrm>
            <a:off x="9160936" y="3572939"/>
            <a:ext cx="756285" cy="254000"/>
          </a:xfrm>
          <a:custGeom>
            <a:avLst/>
            <a:gdLst/>
            <a:ahLst/>
            <a:cxnLst/>
            <a:rect l="l" t="t" r="r" b="b"/>
            <a:pathLst>
              <a:path w="756284" h="254000">
                <a:moveTo>
                  <a:pt x="0" y="0"/>
                </a:moveTo>
                <a:lnTo>
                  <a:pt x="755999" y="0"/>
                </a:lnTo>
                <a:lnTo>
                  <a:pt x="755999" y="253994"/>
                </a:lnTo>
                <a:lnTo>
                  <a:pt x="0" y="253994"/>
                </a:lnTo>
                <a:lnTo>
                  <a:pt x="0" y="0"/>
                </a:lnTo>
                <a:close/>
              </a:path>
            </a:pathLst>
          </a:custGeom>
          <a:solidFill>
            <a:srgbClr val="ECEBEB"/>
          </a:solidFill>
        </p:spPr>
        <p:txBody>
          <a:bodyPr wrap="square" lIns="0" tIns="0" rIns="0" bIns="0" rtlCol="0"/>
          <a:lstStyle/>
          <a:p>
            <a:endParaRPr/>
          </a:p>
        </p:txBody>
      </p:sp>
      <p:sp>
        <p:nvSpPr>
          <p:cNvPr id="41" name="object 41"/>
          <p:cNvSpPr/>
          <p:nvPr/>
        </p:nvSpPr>
        <p:spPr>
          <a:xfrm>
            <a:off x="9160936" y="3572939"/>
            <a:ext cx="768350" cy="258445"/>
          </a:xfrm>
          <a:custGeom>
            <a:avLst/>
            <a:gdLst/>
            <a:ahLst/>
            <a:cxnLst/>
            <a:rect l="l" t="t" r="r" b="b"/>
            <a:pathLst>
              <a:path w="768350" h="258445">
                <a:moveTo>
                  <a:pt x="0" y="0"/>
                </a:moveTo>
                <a:lnTo>
                  <a:pt x="768094" y="0"/>
                </a:lnTo>
                <a:lnTo>
                  <a:pt x="768094" y="258058"/>
                </a:lnTo>
                <a:lnTo>
                  <a:pt x="0" y="258058"/>
                </a:lnTo>
                <a:lnTo>
                  <a:pt x="0" y="0"/>
                </a:lnTo>
                <a:close/>
              </a:path>
            </a:pathLst>
          </a:custGeom>
          <a:ln w="6451">
            <a:solidFill>
              <a:srgbClr val="898484"/>
            </a:solidFill>
          </a:ln>
        </p:spPr>
        <p:txBody>
          <a:bodyPr wrap="square" lIns="0" tIns="0" rIns="0" bIns="0" rtlCol="0"/>
          <a:lstStyle/>
          <a:p>
            <a:endParaRPr/>
          </a:p>
        </p:txBody>
      </p:sp>
      <p:sp>
        <p:nvSpPr>
          <p:cNvPr id="42" name="object 42"/>
          <p:cNvSpPr/>
          <p:nvPr/>
        </p:nvSpPr>
        <p:spPr>
          <a:xfrm>
            <a:off x="7620002" y="3420539"/>
            <a:ext cx="1134110" cy="413384"/>
          </a:xfrm>
          <a:custGeom>
            <a:avLst/>
            <a:gdLst/>
            <a:ahLst/>
            <a:cxnLst/>
            <a:rect l="l" t="t" r="r" b="b"/>
            <a:pathLst>
              <a:path w="1134109" h="413385">
                <a:moveTo>
                  <a:pt x="0" y="0"/>
                </a:moveTo>
                <a:lnTo>
                  <a:pt x="1133855" y="0"/>
                </a:lnTo>
                <a:lnTo>
                  <a:pt x="1133855" y="412897"/>
                </a:lnTo>
                <a:lnTo>
                  <a:pt x="0" y="412897"/>
                </a:lnTo>
                <a:lnTo>
                  <a:pt x="0" y="0"/>
                </a:lnTo>
                <a:close/>
              </a:path>
            </a:pathLst>
          </a:custGeom>
          <a:ln w="6451">
            <a:solidFill>
              <a:srgbClr val="898484"/>
            </a:solidFill>
          </a:ln>
        </p:spPr>
        <p:txBody>
          <a:bodyPr wrap="square" lIns="0" tIns="0" rIns="0" bIns="0" rtlCol="0"/>
          <a:lstStyle/>
          <a:p>
            <a:endParaRPr/>
          </a:p>
        </p:txBody>
      </p:sp>
      <p:sp>
        <p:nvSpPr>
          <p:cNvPr id="43" name="object 43"/>
          <p:cNvSpPr/>
          <p:nvPr/>
        </p:nvSpPr>
        <p:spPr>
          <a:xfrm>
            <a:off x="8669866" y="3572939"/>
            <a:ext cx="467995" cy="254000"/>
          </a:xfrm>
          <a:custGeom>
            <a:avLst/>
            <a:gdLst/>
            <a:ahLst/>
            <a:cxnLst/>
            <a:rect l="l" t="t" r="r" b="b"/>
            <a:pathLst>
              <a:path w="467995" h="254000">
                <a:moveTo>
                  <a:pt x="0" y="0"/>
                </a:moveTo>
                <a:lnTo>
                  <a:pt x="467998" y="0"/>
                </a:lnTo>
                <a:lnTo>
                  <a:pt x="467998" y="253994"/>
                </a:lnTo>
                <a:lnTo>
                  <a:pt x="0" y="253994"/>
                </a:lnTo>
                <a:lnTo>
                  <a:pt x="0" y="0"/>
                </a:lnTo>
                <a:close/>
              </a:path>
            </a:pathLst>
          </a:custGeom>
          <a:solidFill>
            <a:srgbClr val="FFFFFF"/>
          </a:solidFill>
        </p:spPr>
        <p:txBody>
          <a:bodyPr wrap="square" lIns="0" tIns="0" rIns="0" bIns="0" rtlCol="0"/>
          <a:lstStyle/>
          <a:p>
            <a:endParaRPr/>
          </a:p>
        </p:txBody>
      </p:sp>
      <p:sp>
        <p:nvSpPr>
          <p:cNvPr id="44" name="object 44"/>
          <p:cNvSpPr/>
          <p:nvPr/>
        </p:nvSpPr>
        <p:spPr>
          <a:xfrm>
            <a:off x="8669866" y="3572939"/>
            <a:ext cx="475615" cy="258445"/>
          </a:xfrm>
          <a:custGeom>
            <a:avLst/>
            <a:gdLst/>
            <a:ahLst/>
            <a:cxnLst/>
            <a:rect l="l" t="t" r="r" b="b"/>
            <a:pathLst>
              <a:path w="475615" h="258445">
                <a:moveTo>
                  <a:pt x="0" y="0"/>
                </a:moveTo>
                <a:lnTo>
                  <a:pt x="475486" y="0"/>
                </a:lnTo>
                <a:lnTo>
                  <a:pt x="475486" y="258058"/>
                </a:lnTo>
                <a:lnTo>
                  <a:pt x="0" y="258058"/>
                </a:lnTo>
                <a:lnTo>
                  <a:pt x="0" y="0"/>
                </a:lnTo>
                <a:close/>
              </a:path>
            </a:pathLst>
          </a:custGeom>
          <a:ln w="6451">
            <a:solidFill>
              <a:srgbClr val="898484"/>
            </a:solidFill>
          </a:ln>
        </p:spPr>
        <p:txBody>
          <a:bodyPr wrap="square" lIns="0" tIns="0" rIns="0" bIns="0" rtlCol="0"/>
          <a:lstStyle/>
          <a:p>
            <a:endParaRPr/>
          </a:p>
        </p:txBody>
      </p:sp>
      <p:sp>
        <p:nvSpPr>
          <p:cNvPr id="45" name="object 45"/>
          <p:cNvSpPr/>
          <p:nvPr/>
        </p:nvSpPr>
        <p:spPr>
          <a:xfrm>
            <a:off x="8123766" y="3566589"/>
            <a:ext cx="608330" cy="254000"/>
          </a:xfrm>
          <a:custGeom>
            <a:avLst/>
            <a:gdLst/>
            <a:ahLst/>
            <a:cxnLst/>
            <a:rect l="l" t="t" r="r" b="b"/>
            <a:pathLst>
              <a:path w="608329" h="254000">
                <a:moveTo>
                  <a:pt x="0" y="0"/>
                </a:moveTo>
                <a:lnTo>
                  <a:pt x="607998" y="0"/>
                </a:lnTo>
                <a:lnTo>
                  <a:pt x="607998" y="253994"/>
                </a:lnTo>
                <a:lnTo>
                  <a:pt x="0" y="253994"/>
                </a:lnTo>
                <a:lnTo>
                  <a:pt x="0" y="0"/>
                </a:lnTo>
                <a:close/>
              </a:path>
            </a:pathLst>
          </a:custGeom>
          <a:solidFill>
            <a:srgbClr val="FFFFFF"/>
          </a:solidFill>
        </p:spPr>
        <p:txBody>
          <a:bodyPr wrap="square" lIns="0" tIns="0" rIns="0" bIns="0" rtlCol="0"/>
          <a:lstStyle/>
          <a:p>
            <a:endParaRPr/>
          </a:p>
        </p:txBody>
      </p:sp>
      <p:sp>
        <p:nvSpPr>
          <p:cNvPr id="46" name="object 46"/>
          <p:cNvSpPr txBox="1"/>
          <p:nvPr/>
        </p:nvSpPr>
        <p:spPr>
          <a:xfrm>
            <a:off x="1093307" y="2125888"/>
            <a:ext cx="1041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分析过程</a:t>
            </a:r>
            <a:endParaRPr sz="2000">
              <a:latin typeface="微软雅黑" panose="020B0503020204020204" pitchFamily="34" charset="-122"/>
              <a:cs typeface="微软雅黑" panose="020B0503020204020204" pitchFamily="34" charset="-122"/>
            </a:endParaRPr>
          </a:p>
        </p:txBody>
      </p:sp>
      <p:sp>
        <p:nvSpPr>
          <p:cNvPr id="47" name="object 47"/>
          <p:cNvSpPr txBox="1"/>
          <p:nvPr/>
        </p:nvSpPr>
        <p:spPr>
          <a:xfrm>
            <a:off x="10051043" y="4056287"/>
            <a:ext cx="1041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合成过程</a:t>
            </a:r>
            <a:endParaRPr sz="2000">
              <a:latin typeface="微软雅黑" panose="020B0503020204020204" pitchFamily="34" charset="-122"/>
              <a:cs typeface="微软雅黑" panose="020B0503020204020204" pitchFamily="34" charset="-122"/>
            </a:endParaRPr>
          </a:p>
        </p:txBody>
      </p:sp>
      <p:sp>
        <p:nvSpPr>
          <p:cNvPr id="49" name="标题 48"/>
          <p:cNvSpPr>
            <a:spLocks noGrp="1"/>
          </p:cNvSpPr>
          <p:nvPr>
            <p:ph type="title"/>
          </p:nvPr>
        </p:nvSpPr>
        <p:spPr/>
        <p:txBody>
          <a:bodyPr/>
          <a:lstStyle/>
          <a:p>
            <a:r>
              <a:rPr lang="zh-CN" altLang="en-US" dirty="0"/>
              <a:t>软件开发的工程思维</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27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1622"/>
    </mc:Choice>
    <mc:Fallback xmlns="">
      <p:transition spd="slow" advTm="41622"/>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363291" y="2001360"/>
            <a:ext cx="2984194" cy="2944291"/>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8173308" y="1856030"/>
            <a:ext cx="2814955" cy="1594485"/>
          </a:xfrm>
          <a:custGeom>
            <a:avLst/>
            <a:gdLst/>
            <a:ahLst/>
            <a:cxnLst/>
            <a:rect l="l" t="t" r="r" b="b"/>
            <a:pathLst>
              <a:path w="2814954" h="1594485">
                <a:moveTo>
                  <a:pt x="1876257" y="0"/>
                </a:moveTo>
                <a:lnTo>
                  <a:pt x="0" y="0"/>
                </a:lnTo>
                <a:lnTo>
                  <a:pt x="938128" y="1594176"/>
                </a:lnTo>
                <a:lnTo>
                  <a:pt x="2814386" y="1594176"/>
                </a:lnTo>
                <a:lnTo>
                  <a:pt x="1876257" y="0"/>
                </a:lnTo>
                <a:close/>
              </a:path>
            </a:pathLst>
          </a:custGeom>
          <a:solidFill>
            <a:srgbClr val="CBCBCB"/>
          </a:solidFill>
        </p:spPr>
        <p:txBody>
          <a:bodyPr wrap="square" lIns="0" tIns="0" rIns="0" bIns="0" rtlCol="0"/>
          <a:lstStyle/>
          <a:p>
            <a:endParaRPr/>
          </a:p>
        </p:txBody>
      </p:sp>
      <p:sp>
        <p:nvSpPr>
          <p:cNvPr id="5" name="object 5"/>
          <p:cNvSpPr/>
          <p:nvPr/>
        </p:nvSpPr>
        <p:spPr>
          <a:xfrm>
            <a:off x="8159405" y="3550911"/>
            <a:ext cx="2814955" cy="1598295"/>
          </a:xfrm>
          <a:custGeom>
            <a:avLst/>
            <a:gdLst/>
            <a:ahLst/>
            <a:cxnLst/>
            <a:rect l="l" t="t" r="r" b="b"/>
            <a:pathLst>
              <a:path w="2814954" h="1598295">
                <a:moveTo>
                  <a:pt x="2814386" y="0"/>
                </a:moveTo>
                <a:lnTo>
                  <a:pt x="938128" y="0"/>
                </a:lnTo>
                <a:lnTo>
                  <a:pt x="0" y="1597976"/>
                </a:lnTo>
                <a:lnTo>
                  <a:pt x="1876257" y="1597976"/>
                </a:lnTo>
                <a:lnTo>
                  <a:pt x="2814386" y="0"/>
                </a:lnTo>
                <a:close/>
              </a:path>
            </a:pathLst>
          </a:custGeom>
          <a:solidFill>
            <a:srgbClr val="CBCBCB"/>
          </a:solidFill>
        </p:spPr>
        <p:txBody>
          <a:bodyPr wrap="square" lIns="0" tIns="0" rIns="0" bIns="0" rtlCol="0"/>
          <a:lstStyle/>
          <a:p>
            <a:endParaRPr/>
          </a:p>
        </p:txBody>
      </p:sp>
      <p:sp>
        <p:nvSpPr>
          <p:cNvPr id="6" name="object 6"/>
          <p:cNvSpPr/>
          <p:nvPr/>
        </p:nvSpPr>
        <p:spPr>
          <a:xfrm>
            <a:off x="7144477" y="1886431"/>
            <a:ext cx="1876920" cy="3190251"/>
          </a:xfrm>
          <a:prstGeom prst="rect">
            <a:avLst/>
          </a:prstGeom>
          <a:blipFill>
            <a:blip r:embed="rId4" cstate="print"/>
            <a:stretch>
              <a:fillRect/>
            </a:stretch>
          </a:blipFill>
        </p:spPr>
        <p:txBody>
          <a:bodyPr wrap="square" lIns="0" tIns="0" rIns="0" bIns="0" rtlCol="0"/>
          <a:lstStyle/>
          <a:p>
            <a:endParaRPr/>
          </a:p>
        </p:txBody>
      </p:sp>
      <p:sp>
        <p:nvSpPr>
          <p:cNvPr id="7" name="object 7"/>
          <p:cNvSpPr txBox="1"/>
          <p:nvPr/>
        </p:nvSpPr>
        <p:spPr>
          <a:xfrm>
            <a:off x="7498182" y="3191021"/>
            <a:ext cx="1143000" cy="690880"/>
          </a:xfrm>
          <a:prstGeom prst="rect">
            <a:avLst/>
          </a:prstGeom>
        </p:spPr>
        <p:txBody>
          <a:bodyPr vert="horz" wrap="square" lIns="0" tIns="27939" rIns="0" bIns="0" rtlCol="0">
            <a:spAutoFit/>
          </a:bodyPr>
          <a:lstStyle/>
          <a:p>
            <a:pPr marL="292100" marR="5080" indent="-279400">
              <a:lnSpc>
                <a:spcPts val="2600"/>
              </a:lnSpc>
              <a:spcBef>
                <a:spcPts val="220"/>
              </a:spcBef>
            </a:pPr>
            <a:r>
              <a:rPr sz="2200" dirty="0">
                <a:latin typeface="微软雅黑" panose="020B0503020204020204" pitchFamily="34" charset="-122"/>
                <a:cs typeface="微软雅黑" panose="020B0503020204020204" pitchFamily="34" charset="-122"/>
              </a:rPr>
              <a:t>高质量的 设计</a:t>
            </a:r>
            <a:endParaRPr sz="2200">
              <a:latin typeface="微软雅黑" panose="020B0503020204020204" pitchFamily="34" charset="-122"/>
              <a:cs typeface="微软雅黑" panose="020B0503020204020204" pitchFamily="34" charset="-122"/>
            </a:endParaRPr>
          </a:p>
        </p:txBody>
      </p:sp>
      <p:sp>
        <p:nvSpPr>
          <p:cNvPr id="8" name="object 8"/>
          <p:cNvSpPr txBox="1"/>
          <p:nvPr/>
        </p:nvSpPr>
        <p:spPr>
          <a:xfrm>
            <a:off x="9120868" y="2247519"/>
            <a:ext cx="863600" cy="690880"/>
          </a:xfrm>
          <a:prstGeom prst="rect">
            <a:avLst/>
          </a:prstGeom>
        </p:spPr>
        <p:txBody>
          <a:bodyPr vert="horz" wrap="square" lIns="0" tIns="27939" rIns="0" bIns="0" rtlCol="0">
            <a:spAutoFit/>
          </a:bodyPr>
          <a:lstStyle/>
          <a:p>
            <a:pPr marL="152400" marR="5080" indent="-139700">
              <a:lnSpc>
                <a:spcPts val="2600"/>
              </a:lnSpc>
              <a:spcBef>
                <a:spcPts val="220"/>
              </a:spcBef>
            </a:pPr>
            <a:r>
              <a:rPr sz="2200" dirty="0">
                <a:latin typeface="微软雅黑" panose="020B0503020204020204" pitchFamily="34" charset="-122"/>
                <a:cs typeface="微软雅黑" panose="020B0503020204020204" pitchFamily="34" charset="-122"/>
              </a:rPr>
              <a:t>规范的 编码</a:t>
            </a:r>
            <a:endParaRPr sz="2200">
              <a:latin typeface="微软雅黑" panose="020B0503020204020204" pitchFamily="34" charset="-122"/>
              <a:cs typeface="微软雅黑" panose="020B0503020204020204" pitchFamily="34" charset="-122"/>
            </a:endParaRPr>
          </a:p>
        </p:txBody>
      </p:sp>
      <p:sp>
        <p:nvSpPr>
          <p:cNvPr id="9" name="object 9"/>
          <p:cNvSpPr txBox="1"/>
          <p:nvPr/>
        </p:nvSpPr>
        <p:spPr>
          <a:xfrm>
            <a:off x="9194806" y="3995611"/>
            <a:ext cx="863600" cy="690880"/>
          </a:xfrm>
          <a:prstGeom prst="rect">
            <a:avLst/>
          </a:prstGeom>
        </p:spPr>
        <p:txBody>
          <a:bodyPr vert="horz" wrap="square" lIns="0" tIns="27939" rIns="0" bIns="0" rtlCol="0">
            <a:spAutoFit/>
          </a:bodyPr>
          <a:lstStyle/>
          <a:p>
            <a:pPr marL="152400" marR="5080" indent="-139700">
              <a:lnSpc>
                <a:spcPts val="2600"/>
              </a:lnSpc>
              <a:spcBef>
                <a:spcPts val="220"/>
              </a:spcBef>
            </a:pPr>
            <a:r>
              <a:rPr sz="2200" dirty="0">
                <a:latin typeface="微软雅黑" panose="020B0503020204020204" pitchFamily="34" charset="-122"/>
                <a:cs typeface="微软雅黑" panose="020B0503020204020204" pitchFamily="34" charset="-122"/>
              </a:rPr>
              <a:t>有效的 测试</a:t>
            </a:r>
            <a:endParaRPr sz="2200">
              <a:latin typeface="微软雅黑" panose="020B0503020204020204" pitchFamily="34" charset="-122"/>
              <a:cs typeface="微软雅黑" panose="020B0503020204020204" pitchFamily="34" charset="-122"/>
            </a:endParaRPr>
          </a:p>
        </p:txBody>
      </p:sp>
      <p:sp>
        <p:nvSpPr>
          <p:cNvPr id="10" name="object 10"/>
          <p:cNvSpPr/>
          <p:nvPr/>
        </p:nvSpPr>
        <p:spPr>
          <a:xfrm>
            <a:off x="4637252" y="3021272"/>
            <a:ext cx="2155190" cy="923925"/>
          </a:xfrm>
          <a:custGeom>
            <a:avLst/>
            <a:gdLst/>
            <a:ahLst/>
            <a:cxnLst/>
            <a:rect l="l" t="t" r="r" b="b"/>
            <a:pathLst>
              <a:path w="2155190" h="923925">
                <a:moveTo>
                  <a:pt x="28865" y="230925"/>
                </a:moveTo>
                <a:lnTo>
                  <a:pt x="0" y="230925"/>
                </a:lnTo>
                <a:lnTo>
                  <a:pt x="0" y="692776"/>
                </a:lnTo>
                <a:lnTo>
                  <a:pt x="28865" y="692776"/>
                </a:lnTo>
                <a:lnTo>
                  <a:pt x="28865" y="230925"/>
                </a:lnTo>
                <a:close/>
              </a:path>
              <a:path w="2155190" h="923925">
                <a:moveTo>
                  <a:pt x="115463" y="230925"/>
                </a:moveTo>
                <a:lnTo>
                  <a:pt x="57730" y="230925"/>
                </a:lnTo>
                <a:lnTo>
                  <a:pt x="57730" y="692776"/>
                </a:lnTo>
                <a:lnTo>
                  <a:pt x="115463" y="692776"/>
                </a:lnTo>
                <a:lnTo>
                  <a:pt x="115463" y="230925"/>
                </a:lnTo>
                <a:close/>
              </a:path>
              <a:path w="2155190" h="923925">
                <a:moveTo>
                  <a:pt x="1693216" y="0"/>
                </a:moveTo>
                <a:lnTo>
                  <a:pt x="1693216" y="230925"/>
                </a:lnTo>
                <a:lnTo>
                  <a:pt x="144327" y="230925"/>
                </a:lnTo>
                <a:lnTo>
                  <a:pt x="144327" y="692776"/>
                </a:lnTo>
                <a:lnTo>
                  <a:pt x="1693216" y="692776"/>
                </a:lnTo>
                <a:lnTo>
                  <a:pt x="1693216" y="923701"/>
                </a:lnTo>
                <a:lnTo>
                  <a:pt x="2155065" y="461850"/>
                </a:lnTo>
                <a:lnTo>
                  <a:pt x="1693216" y="0"/>
                </a:lnTo>
                <a:close/>
              </a:path>
            </a:pathLst>
          </a:custGeom>
          <a:solidFill>
            <a:srgbClr val="BDB9B9"/>
          </a:solidFill>
        </p:spPr>
        <p:txBody>
          <a:bodyPr wrap="square" lIns="0" tIns="0" rIns="0" bIns="0" rtlCol="0"/>
          <a:lstStyle/>
          <a:p>
            <a:endParaRPr/>
          </a:p>
        </p:txBody>
      </p:sp>
      <p:sp>
        <p:nvSpPr>
          <p:cNvPr id="11" name="object 11"/>
          <p:cNvSpPr txBox="1"/>
          <p:nvPr/>
        </p:nvSpPr>
        <p:spPr>
          <a:xfrm>
            <a:off x="4808353" y="2384524"/>
            <a:ext cx="1422400" cy="690880"/>
          </a:xfrm>
          <a:prstGeom prst="rect">
            <a:avLst/>
          </a:prstGeom>
        </p:spPr>
        <p:txBody>
          <a:bodyPr vert="horz" wrap="square" lIns="0" tIns="27939" rIns="0" bIns="0" rtlCol="0">
            <a:spAutoFit/>
          </a:bodyPr>
          <a:lstStyle/>
          <a:p>
            <a:pPr marL="152400" marR="5080" indent="-139700">
              <a:lnSpc>
                <a:spcPts val="2600"/>
              </a:lnSpc>
              <a:spcBef>
                <a:spcPts val="220"/>
              </a:spcBef>
            </a:pPr>
            <a:r>
              <a:rPr sz="2200" dirty="0">
                <a:solidFill>
                  <a:srgbClr val="0033CC"/>
                </a:solidFill>
                <a:latin typeface="微软雅黑" panose="020B0503020204020204" pitchFamily="34" charset="-122"/>
                <a:cs typeface="微软雅黑" panose="020B0503020204020204" pitchFamily="34" charset="-122"/>
              </a:rPr>
              <a:t>高质量软件 开发之道</a:t>
            </a:r>
            <a:endParaRPr sz="2200">
              <a:latin typeface="微软雅黑" panose="020B0503020204020204" pitchFamily="34" charset="-122"/>
              <a:cs typeface="微软雅黑" panose="020B0503020204020204" pitchFamily="34" charset="-122"/>
            </a:endParaRPr>
          </a:p>
        </p:txBody>
      </p:sp>
      <p:sp>
        <p:nvSpPr>
          <p:cNvPr id="12" name="object 12"/>
          <p:cNvSpPr/>
          <p:nvPr/>
        </p:nvSpPr>
        <p:spPr>
          <a:xfrm>
            <a:off x="4758266" y="3816082"/>
            <a:ext cx="2903220" cy="1912620"/>
          </a:xfrm>
          <a:custGeom>
            <a:avLst/>
            <a:gdLst/>
            <a:ahLst/>
            <a:cxnLst/>
            <a:rect l="l" t="t" r="r" b="b"/>
            <a:pathLst>
              <a:path w="2903220" h="1912620">
                <a:moveTo>
                  <a:pt x="0" y="535782"/>
                </a:moveTo>
                <a:lnTo>
                  <a:pt x="1595696" y="535782"/>
                </a:lnTo>
                <a:lnTo>
                  <a:pt x="2902972" y="0"/>
                </a:lnTo>
                <a:lnTo>
                  <a:pt x="2279565" y="535782"/>
                </a:lnTo>
                <a:lnTo>
                  <a:pt x="2735478" y="535782"/>
                </a:lnTo>
                <a:lnTo>
                  <a:pt x="2735478" y="765172"/>
                </a:lnTo>
                <a:lnTo>
                  <a:pt x="2735478" y="1109258"/>
                </a:lnTo>
                <a:lnTo>
                  <a:pt x="2735478" y="1912124"/>
                </a:lnTo>
                <a:lnTo>
                  <a:pt x="2279565" y="1912124"/>
                </a:lnTo>
                <a:lnTo>
                  <a:pt x="1595696" y="1912124"/>
                </a:lnTo>
                <a:lnTo>
                  <a:pt x="0" y="1912124"/>
                </a:lnTo>
                <a:lnTo>
                  <a:pt x="0" y="1109258"/>
                </a:lnTo>
                <a:lnTo>
                  <a:pt x="0" y="765172"/>
                </a:lnTo>
                <a:lnTo>
                  <a:pt x="0" y="535782"/>
                </a:lnTo>
                <a:close/>
              </a:path>
            </a:pathLst>
          </a:custGeom>
          <a:ln w="19354">
            <a:solidFill>
              <a:srgbClr val="D16F13"/>
            </a:solidFill>
          </a:ln>
        </p:spPr>
        <p:txBody>
          <a:bodyPr wrap="square" lIns="0" tIns="0" rIns="0" bIns="0" rtlCol="0"/>
          <a:lstStyle/>
          <a:p>
            <a:endParaRPr/>
          </a:p>
        </p:txBody>
      </p:sp>
      <p:sp>
        <p:nvSpPr>
          <p:cNvPr id="13" name="object 13"/>
          <p:cNvSpPr txBox="1"/>
          <p:nvPr/>
        </p:nvSpPr>
        <p:spPr>
          <a:xfrm>
            <a:off x="5014805" y="4425599"/>
            <a:ext cx="2159000" cy="1104900"/>
          </a:xfrm>
          <a:prstGeom prst="rect">
            <a:avLst/>
          </a:prstGeom>
        </p:spPr>
        <p:txBody>
          <a:bodyPr vert="horz" wrap="square" lIns="0" tIns="63500" rIns="0" bIns="0" rtlCol="0">
            <a:spAutoFit/>
          </a:bodyPr>
          <a:lstStyle/>
          <a:p>
            <a:pPr marL="368300" indent="-355600">
              <a:lnSpc>
                <a:spcPct val="100000"/>
              </a:lnSpc>
              <a:spcBef>
                <a:spcPts val="500"/>
              </a:spcBef>
              <a:buClr>
                <a:srgbClr val="3B3838"/>
              </a:buClr>
              <a:buFont typeface="Arial" panose="020B0604020202020204"/>
              <a:buChar char="•"/>
              <a:tabLst>
                <a:tab pos="367665" algn="l"/>
                <a:tab pos="368300" algn="l"/>
              </a:tabLst>
            </a:pPr>
            <a:r>
              <a:rPr sz="2000" dirty="0">
                <a:solidFill>
                  <a:srgbClr val="4C4848"/>
                </a:solidFill>
                <a:latin typeface="微软雅黑" panose="020B0503020204020204" pitchFamily="34" charset="-122"/>
                <a:cs typeface="微软雅黑" panose="020B0503020204020204" pitchFamily="34" charset="-122"/>
              </a:rPr>
              <a:t>模块化设计</a:t>
            </a:r>
            <a:endParaRPr sz="2000">
              <a:latin typeface="微软雅黑" panose="020B0503020204020204" pitchFamily="34" charset="-122"/>
              <a:cs typeface="微软雅黑" panose="020B0503020204020204" pitchFamily="34" charset="-122"/>
            </a:endParaRPr>
          </a:p>
          <a:p>
            <a:pPr marL="368300" indent="-355600">
              <a:lnSpc>
                <a:spcPct val="100000"/>
              </a:lnSpc>
              <a:spcBef>
                <a:spcPts val="400"/>
              </a:spcBef>
              <a:buClr>
                <a:srgbClr val="3B3838"/>
              </a:buClr>
              <a:buFont typeface="Arial" panose="020B0604020202020204"/>
              <a:buChar char="•"/>
              <a:tabLst>
                <a:tab pos="367665" algn="l"/>
                <a:tab pos="368300" algn="l"/>
              </a:tabLst>
            </a:pPr>
            <a:r>
              <a:rPr sz="2000" dirty="0">
                <a:solidFill>
                  <a:srgbClr val="4C4848"/>
                </a:solidFill>
                <a:latin typeface="微软雅黑" panose="020B0503020204020204" pitchFamily="34" charset="-122"/>
                <a:cs typeface="微软雅黑" panose="020B0503020204020204" pitchFamily="34" charset="-122"/>
              </a:rPr>
              <a:t>面向抽象编程</a:t>
            </a:r>
            <a:endParaRPr sz="2000">
              <a:latin typeface="微软雅黑" panose="020B0503020204020204" pitchFamily="34" charset="-122"/>
              <a:cs typeface="微软雅黑" panose="020B0503020204020204" pitchFamily="34" charset="-122"/>
            </a:endParaRPr>
          </a:p>
          <a:p>
            <a:pPr marL="368300" indent="-355600">
              <a:lnSpc>
                <a:spcPct val="100000"/>
              </a:lnSpc>
              <a:spcBef>
                <a:spcPts val="500"/>
              </a:spcBef>
              <a:buClr>
                <a:srgbClr val="3B3838"/>
              </a:buClr>
              <a:buFont typeface="Arial" panose="020B0604020202020204"/>
              <a:buChar char="•"/>
              <a:tabLst>
                <a:tab pos="367665" algn="l"/>
                <a:tab pos="368300" algn="l"/>
              </a:tabLst>
            </a:pPr>
            <a:r>
              <a:rPr sz="2000" dirty="0">
                <a:solidFill>
                  <a:srgbClr val="4C4848"/>
                </a:solidFill>
                <a:latin typeface="微软雅黑" panose="020B0503020204020204" pitchFamily="34" charset="-122"/>
                <a:cs typeface="微软雅黑" panose="020B0503020204020204" pitchFamily="34" charset="-122"/>
              </a:rPr>
              <a:t>错误与异常处理</a:t>
            </a:r>
            <a:endParaRPr sz="2000">
              <a:latin typeface="微软雅黑" panose="020B0503020204020204" pitchFamily="34" charset="-122"/>
              <a:cs typeface="微软雅黑" panose="020B0503020204020204" pitchFamily="34" charset="-122"/>
            </a:endParaRPr>
          </a:p>
        </p:txBody>
      </p:sp>
      <p:sp>
        <p:nvSpPr>
          <p:cNvPr id="15" name="标题 14"/>
          <p:cNvSpPr>
            <a:spLocks noGrp="1"/>
          </p:cNvSpPr>
          <p:nvPr>
            <p:ph type="title"/>
          </p:nvPr>
        </p:nvSpPr>
        <p:spPr/>
        <p:txBody>
          <a:bodyPr/>
          <a:lstStyle/>
          <a:p>
            <a:r>
              <a:rPr lang="zh-CN" altLang="en-US" dirty="0"/>
              <a:t>软件开发的工程思维</a:t>
            </a:r>
          </a:p>
        </p:txBody>
      </p:sp>
      <p:sp>
        <p:nvSpPr>
          <p:cNvPr id="3" name="灯片编号占位符 2"/>
          <p:cNvSpPr>
            <a:spLocks noGrp="1"/>
          </p:cNvSpPr>
          <p:nvPr>
            <p:ph type="sldNum" sz="quarter" idx="12"/>
          </p:nvPr>
        </p:nvSpPr>
        <p:spPr/>
        <p:txBody>
          <a:bodyPr/>
          <a:lstStyle/>
          <a:p>
            <a:fld id="{74D2AB8B-5816-41F2-8B4B-CA5C3E4E6A65}" type="slidenum">
              <a:rPr lang="zh-CN" altLang="en-US" smtClean="0"/>
              <a:t>28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3637"/>
    </mc:Choice>
    <mc:Fallback xmlns="">
      <p:transition spd="slow" advTm="33637"/>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456264" y="2671229"/>
            <a:ext cx="4639732" cy="2899832"/>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1168398" y="1615572"/>
            <a:ext cx="10058400" cy="667385"/>
          </a:xfrm>
          <a:prstGeom prst="rect">
            <a:avLst/>
          </a:prstGeom>
          <a:solidFill>
            <a:srgbClr val="ECEBEB"/>
          </a:solidFill>
        </p:spPr>
        <p:txBody>
          <a:bodyPr vert="horz" wrap="square" lIns="0" tIns="154305" rIns="0" bIns="0" rtlCol="0">
            <a:spAutoFit/>
          </a:bodyPr>
          <a:lstStyle/>
          <a:p>
            <a:pPr marL="5080" algn="ctr">
              <a:lnSpc>
                <a:spcPct val="100000"/>
              </a:lnSpc>
              <a:spcBef>
                <a:spcPts val="1215"/>
              </a:spcBef>
            </a:pPr>
            <a:r>
              <a:rPr sz="2400" dirty="0">
                <a:latin typeface="微软雅黑" panose="020B0503020204020204" pitchFamily="34" charset="-122"/>
                <a:cs typeface="微软雅黑" panose="020B0503020204020204" pitchFamily="34" charset="-122"/>
              </a:rPr>
              <a:t>活字印刷术可以称得上是古代产品领域的模块化设计</a:t>
            </a:r>
            <a:endParaRPr sz="2400">
              <a:latin typeface="微软雅黑" panose="020B0503020204020204" pitchFamily="34" charset="-122"/>
              <a:cs typeface="微软雅黑" panose="020B0503020204020204" pitchFamily="34" charset="-122"/>
            </a:endParaRPr>
          </a:p>
        </p:txBody>
      </p:sp>
      <p:sp>
        <p:nvSpPr>
          <p:cNvPr id="5" name="object 5"/>
          <p:cNvSpPr txBox="1"/>
          <p:nvPr/>
        </p:nvSpPr>
        <p:spPr>
          <a:xfrm>
            <a:off x="6773938" y="3104859"/>
            <a:ext cx="4244975" cy="1701800"/>
          </a:xfrm>
          <a:prstGeom prst="rect">
            <a:avLst/>
          </a:prstGeom>
        </p:spPr>
        <p:txBody>
          <a:bodyPr vert="horz" wrap="square" lIns="0" tIns="12700" rIns="0" bIns="0" rtlCol="0">
            <a:spAutoFit/>
          </a:bodyPr>
          <a:lstStyle/>
          <a:p>
            <a:pPr marL="355600" marR="5080" indent="-342900">
              <a:lnSpc>
                <a:spcPct val="117000"/>
              </a:lnSpc>
              <a:spcBef>
                <a:spcPts val="100"/>
              </a:spcBef>
              <a:buFont typeface="Arial" panose="020B0604020202020204"/>
              <a:buChar char="•"/>
              <a:tabLst>
                <a:tab pos="357505" algn="l"/>
                <a:tab pos="358140" algn="l"/>
              </a:tabLst>
            </a:pPr>
            <a:r>
              <a:rPr sz="2000" spc="35" dirty="0">
                <a:latin typeface="微软雅黑" panose="020B0503020204020204" pitchFamily="34" charset="-122"/>
                <a:cs typeface="微软雅黑" panose="020B0503020204020204" pitchFamily="34" charset="-122"/>
              </a:rPr>
              <a:t>每个汉字代表一个文字“模块</a:t>
            </a:r>
            <a:r>
              <a:rPr sz="2000" dirty="0">
                <a:latin typeface="微软雅黑" panose="020B0503020204020204" pitchFamily="34" charset="-122"/>
                <a:cs typeface="微软雅黑" panose="020B0503020204020204" pitchFamily="34" charset="-122"/>
              </a:rPr>
              <a:t>”， 具有特定的功能和含义</a:t>
            </a:r>
            <a:endParaRPr sz="2000">
              <a:latin typeface="微软雅黑" panose="020B0503020204020204" pitchFamily="34" charset="-122"/>
              <a:cs typeface="微软雅黑" panose="020B0503020204020204" pitchFamily="34" charset="-122"/>
            </a:endParaRPr>
          </a:p>
          <a:p>
            <a:pPr marL="355600" marR="5080" indent="-342900">
              <a:lnSpc>
                <a:spcPct val="121000"/>
              </a:lnSpc>
              <a:spcBef>
                <a:spcPts val="1800"/>
              </a:spcBef>
              <a:buFont typeface="Arial" panose="020B0604020202020204"/>
              <a:buChar char="•"/>
              <a:tabLst>
                <a:tab pos="357505" algn="l"/>
                <a:tab pos="358140" algn="l"/>
              </a:tabLst>
            </a:pPr>
            <a:r>
              <a:rPr sz="2000" spc="35" dirty="0">
                <a:latin typeface="微软雅黑" panose="020B0503020204020204" pitchFamily="34" charset="-122"/>
                <a:cs typeface="微软雅黑" panose="020B0503020204020204" pitchFamily="34" charset="-122"/>
              </a:rPr>
              <a:t>语法是连接汉字模块的“接口</a:t>
            </a:r>
            <a:r>
              <a:rPr sz="2000" dirty="0">
                <a:latin typeface="微软雅黑" panose="020B0503020204020204" pitchFamily="34" charset="-122"/>
                <a:cs typeface="微软雅黑" panose="020B0503020204020204" pitchFamily="34" charset="-122"/>
              </a:rPr>
              <a:t>”， 通过它构成了最终的文章“产品”</a:t>
            </a:r>
            <a:endParaRPr sz="2000">
              <a:latin typeface="微软雅黑" panose="020B0503020204020204" pitchFamily="34" charset="-122"/>
              <a:cs typeface="微软雅黑" panose="020B0503020204020204" pitchFamily="34" charset="-122"/>
            </a:endParaRPr>
          </a:p>
        </p:txBody>
      </p:sp>
      <p:sp>
        <p:nvSpPr>
          <p:cNvPr id="7" name="标题 6"/>
          <p:cNvSpPr>
            <a:spLocks noGrp="1"/>
          </p:cNvSpPr>
          <p:nvPr>
            <p:ph type="title"/>
          </p:nvPr>
        </p:nvSpPr>
        <p:spPr/>
        <p:txBody>
          <a:bodyPr/>
          <a:lstStyle/>
          <a:p>
            <a:r>
              <a:rPr lang="zh-CN" altLang="en-US" dirty="0"/>
              <a:t>模块化设计</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29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0665"/>
    </mc:Choice>
    <mc:Fallback xmlns="">
      <p:transition spd="slow" advTm="40665"/>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4979039" y="1335405"/>
            <a:ext cx="6180693" cy="4443494"/>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1226501" y="2911819"/>
            <a:ext cx="3073400" cy="1348740"/>
          </a:xfrm>
          <a:prstGeom prst="rect">
            <a:avLst/>
          </a:prstGeom>
        </p:spPr>
        <p:txBody>
          <a:bodyPr vert="horz" wrap="square" lIns="0" tIns="12700" rIns="0" bIns="0" rtlCol="0">
            <a:spAutoFit/>
          </a:bodyPr>
          <a:lstStyle/>
          <a:p>
            <a:pPr algn="ctr">
              <a:lnSpc>
                <a:spcPct val="100000"/>
              </a:lnSpc>
              <a:spcBef>
                <a:spcPts val="100"/>
              </a:spcBef>
            </a:pPr>
            <a:r>
              <a:rPr sz="2400" dirty="0">
                <a:latin typeface="微软雅黑" panose="020B0503020204020204" pitchFamily="34" charset="-122"/>
                <a:cs typeface="微软雅黑" panose="020B0503020204020204" pitchFamily="34" charset="-122"/>
              </a:rPr>
              <a:t>集装箱酒店</a:t>
            </a:r>
            <a:endParaRPr sz="2400">
              <a:latin typeface="微软雅黑" panose="020B0503020204020204" pitchFamily="34" charset="-122"/>
              <a:cs typeface="微软雅黑" panose="020B0503020204020204" pitchFamily="34" charset="-122"/>
            </a:endParaRPr>
          </a:p>
          <a:p>
            <a:pPr marL="12065" marR="5080" algn="ctr">
              <a:lnSpc>
                <a:spcPct val="121000"/>
              </a:lnSpc>
              <a:spcBef>
                <a:spcPts val="1740"/>
              </a:spcBef>
            </a:pPr>
            <a:r>
              <a:rPr sz="2000" dirty="0">
                <a:latin typeface="微软雅黑" panose="020B0503020204020204" pitchFamily="34" charset="-122"/>
                <a:cs typeface="微软雅黑" panose="020B0503020204020204" pitchFamily="34" charset="-122"/>
              </a:rPr>
              <a:t>迪拜集团在伦敦西部建立的 第一家模块化酒店</a:t>
            </a:r>
            <a:endParaRPr sz="2000">
              <a:latin typeface="微软雅黑" panose="020B0503020204020204" pitchFamily="34" charset="-122"/>
              <a:cs typeface="微软雅黑" panose="020B0503020204020204" pitchFamily="34" charset="-122"/>
            </a:endParaRPr>
          </a:p>
        </p:txBody>
      </p:sp>
      <p:sp>
        <p:nvSpPr>
          <p:cNvPr id="6" name="标题 5"/>
          <p:cNvSpPr>
            <a:spLocks noGrp="1"/>
          </p:cNvSpPr>
          <p:nvPr>
            <p:ph type="title"/>
          </p:nvPr>
        </p:nvSpPr>
        <p:spPr/>
        <p:txBody>
          <a:bodyPr/>
          <a:lstStyle/>
          <a:p>
            <a:r>
              <a:rPr lang="zh-CN" altLang="en-US" dirty="0"/>
              <a:t>模块化设计</a:t>
            </a:r>
          </a:p>
        </p:txBody>
      </p:sp>
      <p:sp>
        <p:nvSpPr>
          <p:cNvPr id="5" name="灯片编号占位符 4"/>
          <p:cNvSpPr>
            <a:spLocks noGrp="1"/>
          </p:cNvSpPr>
          <p:nvPr>
            <p:ph type="sldNum" sz="quarter" idx="12"/>
          </p:nvPr>
        </p:nvSpPr>
        <p:spPr/>
        <p:txBody>
          <a:bodyPr/>
          <a:lstStyle/>
          <a:p>
            <a:fld id="{74D2AB8B-5816-41F2-8B4B-CA5C3E4E6A65}" type="slidenum">
              <a:rPr lang="zh-CN" altLang="en-US" smtClean="0"/>
              <a:t>30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2377"/>
    </mc:Choice>
    <mc:Fallback xmlns="">
      <p:transition spd="slow" advTm="42377"/>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6045211" y="2709329"/>
            <a:ext cx="4318000" cy="3150349"/>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1192980" y="1742089"/>
            <a:ext cx="9832975" cy="711835"/>
          </a:xfrm>
          <a:prstGeom prst="rect">
            <a:avLst/>
          </a:prstGeom>
          <a:solidFill>
            <a:srgbClr val="ECEBEB"/>
          </a:solidFill>
        </p:spPr>
        <p:txBody>
          <a:bodyPr vert="horz" wrap="square" lIns="0" tIns="184150" rIns="0" bIns="0" rtlCol="0">
            <a:spAutoFit/>
          </a:bodyPr>
          <a:lstStyle/>
          <a:p>
            <a:pPr marL="5080" algn="ctr">
              <a:lnSpc>
                <a:spcPct val="100000"/>
              </a:lnSpc>
              <a:spcBef>
                <a:spcPts val="1450"/>
              </a:spcBef>
            </a:pPr>
            <a:r>
              <a:rPr sz="2400" dirty="0">
                <a:solidFill>
                  <a:srgbClr val="CC0000"/>
                </a:solidFill>
                <a:latin typeface="微软雅黑" panose="020B0503020204020204" pitchFamily="34" charset="-122"/>
                <a:cs typeface="微软雅黑" panose="020B0503020204020204" pitchFamily="34" charset="-122"/>
              </a:rPr>
              <a:t>基本思想</a:t>
            </a:r>
            <a:r>
              <a:rPr sz="2400" dirty="0">
                <a:solidFill>
                  <a:srgbClr val="D81E00"/>
                </a:solidFill>
                <a:latin typeface="微软雅黑" panose="020B0503020204020204" pitchFamily="34" charset="-122"/>
                <a:cs typeface="微软雅黑" panose="020B0503020204020204" pitchFamily="34" charset="-122"/>
              </a:rPr>
              <a:t>：</a:t>
            </a:r>
            <a:r>
              <a:rPr sz="2400" dirty="0">
                <a:latin typeface="微软雅黑" panose="020B0503020204020204" pitchFamily="34" charset="-122"/>
                <a:cs typeface="微软雅黑" panose="020B0503020204020204" pitchFamily="34" charset="-122"/>
              </a:rPr>
              <a:t>将一个大的程序按功能分拆成一系列小模块</a:t>
            </a:r>
            <a:endParaRPr sz="2400">
              <a:latin typeface="微软雅黑" panose="020B0503020204020204" pitchFamily="34" charset="-122"/>
              <a:cs typeface="微软雅黑" panose="020B0503020204020204" pitchFamily="34" charset="-122"/>
            </a:endParaRPr>
          </a:p>
        </p:txBody>
      </p:sp>
      <p:sp>
        <p:nvSpPr>
          <p:cNvPr id="5" name="object 5"/>
          <p:cNvSpPr txBox="1"/>
          <p:nvPr/>
        </p:nvSpPr>
        <p:spPr>
          <a:xfrm>
            <a:off x="1812470" y="3075226"/>
            <a:ext cx="3721100" cy="2087880"/>
          </a:xfrm>
          <a:prstGeom prst="rect">
            <a:avLst/>
          </a:prstGeom>
        </p:spPr>
        <p:txBody>
          <a:bodyPr vert="horz" wrap="square" lIns="0" tIns="12700" rIns="0" bIns="0" rtlCol="0">
            <a:spAutoFit/>
          </a:bodyPr>
          <a:lstStyle/>
          <a:p>
            <a:pPr marL="355600" indent="-342900">
              <a:lnSpc>
                <a:spcPct val="100000"/>
              </a:lnSpc>
              <a:spcBef>
                <a:spcPts val="100"/>
              </a:spcBef>
              <a:buFont typeface="Arial" panose="020B0604020202020204"/>
              <a:buChar char="•"/>
              <a:tabLst>
                <a:tab pos="354965" algn="l"/>
                <a:tab pos="355600" algn="l"/>
              </a:tabLst>
            </a:pPr>
            <a:r>
              <a:rPr sz="2200" dirty="0">
                <a:latin typeface="微软雅黑" panose="020B0503020204020204" pitchFamily="34" charset="-122"/>
                <a:cs typeface="微软雅黑" panose="020B0503020204020204" pitchFamily="34" charset="-122"/>
              </a:rPr>
              <a:t>降低程序设计的复杂性</a:t>
            </a:r>
            <a:endParaRPr sz="2200">
              <a:latin typeface="微软雅黑" panose="020B0503020204020204" pitchFamily="34" charset="-122"/>
              <a:cs typeface="微软雅黑" panose="020B0503020204020204" pitchFamily="34" charset="-122"/>
            </a:endParaRPr>
          </a:p>
          <a:p>
            <a:pPr marL="355600" indent="-342900">
              <a:lnSpc>
                <a:spcPct val="100000"/>
              </a:lnSpc>
              <a:spcBef>
                <a:spcPts val="1860"/>
              </a:spcBef>
              <a:buFont typeface="Arial" panose="020B0604020202020204"/>
              <a:buChar char="•"/>
              <a:tabLst>
                <a:tab pos="354965" algn="l"/>
                <a:tab pos="355600" algn="l"/>
              </a:tabLst>
            </a:pPr>
            <a:r>
              <a:rPr sz="2200" dirty="0">
                <a:latin typeface="微软雅黑" panose="020B0503020204020204" pitchFamily="34" charset="-122"/>
                <a:cs typeface="微软雅黑" panose="020B0503020204020204" pitchFamily="34" charset="-122"/>
              </a:rPr>
              <a:t>提高模块的可靠性和复用性</a:t>
            </a:r>
            <a:endParaRPr sz="2200">
              <a:latin typeface="微软雅黑" panose="020B0503020204020204" pitchFamily="34" charset="-122"/>
              <a:cs typeface="微软雅黑" panose="020B0503020204020204" pitchFamily="34" charset="-122"/>
            </a:endParaRPr>
          </a:p>
          <a:p>
            <a:pPr marL="355600" indent="-342900">
              <a:lnSpc>
                <a:spcPct val="100000"/>
              </a:lnSpc>
              <a:spcBef>
                <a:spcPts val="1960"/>
              </a:spcBef>
              <a:buFont typeface="Arial" panose="020B0604020202020204"/>
              <a:buChar char="•"/>
              <a:tabLst>
                <a:tab pos="354965" algn="l"/>
                <a:tab pos="355600" algn="l"/>
              </a:tabLst>
            </a:pPr>
            <a:r>
              <a:rPr sz="2200" dirty="0">
                <a:latin typeface="微软雅黑" panose="020B0503020204020204" pitchFamily="34" charset="-122"/>
                <a:cs typeface="微软雅黑" panose="020B0503020204020204" pitchFamily="34" charset="-122"/>
              </a:rPr>
              <a:t>缩短产品的开发周期</a:t>
            </a:r>
            <a:endParaRPr sz="2200">
              <a:latin typeface="微软雅黑" panose="020B0503020204020204" pitchFamily="34" charset="-122"/>
              <a:cs typeface="微软雅黑" panose="020B0503020204020204" pitchFamily="34" charset="-122"/>
            </a:endParaRPr>
          </a:p>
          <a:p>
            <a:pPr marL="355600" indent="-342900">
              <a:lnSpc>
                <a:spcPct val="100000"/>
              </a:lnSpc>
              <a:spcBef>
                <a:spcPts val="1860"/>
              </a:spcBef>
              <a:buFont typeface="Arial" panose="020B0604020202020204"/>
              <a:buChar char="•"/>
              <a:tabLst>
                <a:tab pos="354965" algn="l"/>
                <a:tab pos="355600" algn="l"/>
              </a:tabLst>
            </a:pPr>
            <a:r>
              <a:rPr sz="2200" dirty="0">
                <a:latin typeface="微软雅黑" panose="020B0503020204020204" pitchFamily="34" charset="-122"/>
                <a:cs typeface="微软雅黑" panose="020B0503020204020204" pitchFamily="34" charset="-122"/>
              </a:rPr>
              <a:t>易于维护和功能扩展</a:t>
            </a:r>
            <a:endParaRPr sz="2200">
              <a:latin typeface="微软雅黑" panose="020B0503020204020204" pitchFamily="34" charset="-122"/>
              <a:cs typeface="微软雅黑" panose="020B0503020204020204" pitchFamily="34" charset="-122"/>
            </a:endParaRPr>
          </a:p>
        </p:txBody>
      </p:sp>
      <p:sp>
        <p:nvSpPr>
          <p:cNvPr id="7" name="标题 6"/>
          <p:cNvSpPr>
            <a:spLocks noGrp="1"/>
          </p:cNvSpPr>
          <p:nvPr>
            <p:ph type="title"/>
          </p:nvPr>
        </p:nvSpPr>
        <p:spPr/>
        <p:txBody>
          <a:bodyPr/>
          <a:lstStyle/>
          <a:p>
            <a:r>
              <a:rPr lang="zh-CN" altLang="en-US" dirty="0"/>
              <a:t>模块化程序设计</a:t>
            </a:r>
          </a:p>
        </p:txBody>
      </p:sp>
      <p:sp>
        <p:nvSpPr>
          <p:cNvPr id="6" name="灯片编号占位符 5"/>
          <p:cNvSpPr>
            <a:spLocks noGrp="1"/>
          </p:cNvSpPr>
          <p:nvPr>
            <p:ph type="sldNum" sz="quarter" idx="12"/>
          </p:nvPr>
        </p:nvSpPr>
        <p:spPr/>
        <p:txBody>
          <a:bodyPr/>
          <a:lstStyle/>
          <a:p>
            <a:fld id="{74D2AB8B-5816-41F2-8B4B-CA5C3E4E6A65}" type="slidenum">
              <a:rPr lang="zh-CN" altLang="en-US" smtClean="0"/>
              <a:t>31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9821"/>
    </mc:Choice>
    <mc:Fallback xmlns="">
      <p:transition spd="slow" advTm="39821"/>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755408" y="5125134"/>
            <a:ext cx="2997200" cy="609600"/>
          </a:xfrm>
          <a:prstGeom prst="rect">
            <a:avLst/>
          </a:prstGeom>
        </p:spPr>
        <p:txBody>
          <a:bodyPr vert="horz" wrap="square" lIns="0" tIns="12700" rIns="0" bIns="0" rtlCol="0">
            <a:spAutoFit/>
          </a:bodyPr>
          <a:lstStyle/>
          <a:p>
            <a:pPr marL="12700" marR="5080" indent="228600">
              <a:lnSpc>
                <a:spcPct val="107000"/>
              </a:lnSpc>
              <a:spcBef>
                <a:spcPts val="100"/>
              </a:spcBef>
            </a:pPr>
            <a:r>
              <a:rPr sz="1800" dirty="0">
                <a:latin typeface="微软雅黑" panose="020B0503020204020204" pitchFamily="34" charset="-122"/>
                <a:cs typeface="微软雅黑" panose="020B0503020204020204" pitchFamily="34" charset="-122"/>
              </a:rPr>
              <a:t>将一个系统按照业务类型 进行水平划分成多个功能模块</a:t>
            </a:r>
            <a:endParaRPr sz="1800">
              <a:latin typeface="微软雅黑" panose="020B0503020204020204" pitchFamily="34" charset="-122"/>
              <a:cs typeface="微软雅黑" panose="020B0503020204020204" pitchFamily="34" charset="-122"/>
            </a:endParaRPr>
          </a:p>
        </p:txBody>
      </p:sp>
      <p:sp>
        <p:nvSpPr>
          <p:cNvPr id="4" name="object 4"/>
          <p:cNvSpPr txBox="1"/>
          <p:nvPr/>
        </p:nvSpPr>
        <p:spPr>
          <a:xfrm>
            <a:off x="8071262" y="5125138"/>
            <a:ext cx="2540000" cy="609600"/>
          </a:xfrm>
          <a:prstGeom prst="rect">
            <a:avLst/>
          </a:prstGeom>
        </p:spPr>
        <p:txBody>
          <a:bodyPr vert="horz" wrap="square" lIns="0" tIns="12700" rIns="0" bIns="0" rtlCol="0">
            <a:spAutoFit/>
          </a:bodyPr>
          <a:lstStyle/>
          <a:p>
            <a:pPr marL="12700" marR="5080">
              <a:lnSpc>
                <a:spcPct val="107000"/>
              </a:lnSpc>
              <a:spcBef>
                <a:spcPts val="100"/>
              </a:spcBef>
            </a:pPr>
            <a:r>
              <a:rPr sz="1800" dirty="0">
                <a:latin typeface="微软雅黑" panose="020B0503020204020204" pitchFamily="34" charset="-122"/>
                <a:cs typeface="微软雅黑" panose="020B0503020204020204" pitchFamily="34" charset="-122"/>
              </a:rPr>
              <a:t>将一个系统按照系统层次 进行垂直划分成多个模块</a:t>
            </a:r>
            <a:endParaRPr sz="1800">
              <a:latin typeface="微软雅黑" panose="020B0503020204020204" pitchFamily="34" charset="-122"/>
              <a:cs typeface="微软雅黑" panose="020B0503020204020204" pitchFamily="34" charset="-122"/>
            </a:endParaRPr>
          </a:p>
        </p:txBody>
      </p:sp>
      <p:sp>
        <p:nvSpPr>
          <p:cNvPr id="5" name="object 5"/>
          <p:cNvSpPr txBox="1"/>
          <p:nvPr/>
        </p:nvSpPr>
        <p:spPr>
          <a:xfrm>
            <a:off x="4944531" y="1540933"/>
            <a:ext cx="2697480" cy="1153160"/>
          </a:xfrm>
          <a:prstGeom prst="rect">
            <a:avLst/>
          </a:prstGeom>
          <a:solidFill>
            <a:srgbClr val="E4EFF9"/>
          </a:solidFill>
          <a:ln w="6451">
            <a:solidFill>
              <a:srgbClr val="6C6C6C"/>
            </a:solidFill>
          </a:ln>
        </p:spPr>
        <p:txBody>
          <a:bodyPr vert="horz" wrap="square" lIns="0" tIns="5080" rIns="0" bIns="0" rtlCol="0">
            <a:spAutoFit/>
          </a:bodyPr>
          <a:lstStyle/>
          <a:p>
            <a:pPr>
              <a:lnSpc>
                <a:spcPct val="100000"/>
              </a:lnSpc>
              <a:spcBef>
                <a:spcPts val="40"/>
              </a:spcBef>
            </a:pPr>
            <a:endParaRPr sz="2700">
              <a:latin typeface="Times New Roman" panose="02020603050405020304"/>
              <a:cs typeface="Times New Roman" panose="02020603050405020304"/>
            </a:endParaRPr>
          </a:p>
          <a:p>
            <a:pPr marL="463550">
              <a:lnSpc>
                <a:spcPct val="100000"/>
              </a:lnSpc>
            </a:pPr>
            <a:r>
              <a:rPr sz="2200" spc="-5" dirty="0">
                <a:solidFill>
                  <a:srgbClr val="3B3838"/>
                </a:solidFill>
                <a:latin typeface="Arial" panose="020B0604020202020204"/>
                <a:cs typeface="Arial" panose="020B0604020202020204"/>
              </a:rPr>
              <a:t>WEB</a:t>
            </a:r>
            <a:r>
              <a:rPr sz="2200" dirty="0">
                <a:solidFill>
                  <a:srgbClr val="4C4848"/>
                </a:solidFill>
                <a:latin typeface="微软雅黑" panose="020B0503020204020204" pitchFamily="34" charset="-122"/>
                <a:cs typeface="微软雅黑" panose="020B0503020204020204" pitchFamily="34" charset="-122"/>
              </a:rPr>
              <a:t>应用系统</a:t>
            </a:r>
            <a:endParaRPr sz="2200">
              <a:latin typeface="微软雅黑" panose="020B0503020204020204" pitchFamily="34" charset="-122"/>
              <a:cs typeface="微软雅黑" panose="020B0503020204020204" pitchFamily="34" charset="-122"/>
            </a:endParaRPr>
          </a:p>
        </p:txBody>
      </p:sp>
      <p:sp>
        <p:nvSpPr>
          <p:cNvPr id="6" name="object 6"/>
          <p:cNvSpPr txBox="1"/>
          <p:nvPr/>
        </p:nvSpPr>
        <p:spPr>
          <a:xfrm>
            <a:off x="1422401" y="3217336"/>
            <a:ext cx="805180" cy="1565910"/>
          </a:xfrm>
          <a:prstGeom prst="rect">
            <a:avLst/>
          </a:prstGeom>
          <a:solidFill>
            <a:srgbClr val="ECEBEB"/>
          </a:solidFill>
          <a:ln w="6451">
            <a:solidFill>
              <a:srgbClr val="6C6C6C"/>
            </a:solidFill>
          </a:ln>
        </p:spPr>
        <p:txBody>
          <a:bodyPr vert="horz" wrap="square" lIns="0" tIns="0" rIns="0" bIns="0" rtlCol="0">
            <a:spAutoFit/>
          </a:bodyPr>
          <a:lstStyle/>
          <a:p>
            <a:pPr>
              <a:lnSpc>
                <a:spcPct val="100000"/>
              </a:lnSpc>
            </a:pPr>
            <a:endParaRPr sz="3500">
              <a:latin typeface="Times New Roman" panose="02020603050405020304"/>
              <a:cs typeface="Times New Roman" panose="02020603050405020304"/>
            </a:endParaRPr>
          </a:p>
          <a:p>
            <a:pPr marL="169545" marR="169545">
              <a:lnSpc>
                <a:spcPts val="2100"/>
              </a:lnSpc>
            </a:pPr>
            <a:r>
              <a:rPr sz="1800" dirty="0">
                <a:solidFill>
                  <a:srgbClr val="3B3838"/>
                </a:solidFill>
                <a:latin typeface="微软雅黑" panose="020B0503020204020204" pitchFamily="34" charset="-122"/>
                <a:cs typeface="微软雅黑" panose="020B0503020204020204" pitchFamily="34" charset="-122"/>
              </a:rPr>
              <a:t>用户 管理</a:t>
            </a:r>
            <a:endParaRPr sz="1800">
              <a:latin typeface="微软雅黑" panose="020B0503020204020204" pitchFamily="34" charset="-122"/>
              <a:cs typeface="微软雅黑" panose="020B0503020204020204" pitchFamily="34" charset="-122"/>
            </a:endParaRPr>
          </a:p>
        </p:txBody>
      </p:sp>
      <p:sp>
        <p:nvSpPr>
          <p:cNvPr id="7" name="object 7"/>
          <p:cNvSpPr txBox="1"/>
          <p:nvPr/>
        </p:nvSpPr>
        <p:spPr>
          <a:xfrm>
            <a:off x="2421468" y="3217336"/>
            <a:ext cx="805180" cy="1565910"/>
          </a:xfrm>
          <a:prstGeom prst="rect">
            <a:avLst/>
          </a:prstGeom>
          <a:solidFill>
            <a:srgbClr val="ECEBEB"/>
          </a:solidFill>
          <a:ln w="6451">
            <a:solidFill>
              <a:srgbClr val="6C6C6C"/>
            </a:solidFill>
          </a:ln>
        </p:spPr>
        <p:txBody>
          <a:bodyPr vert="horz" wrap="square" lIns="0" tIns="0" rIns="0" bIns="0" rtlCol="0">
            <a:spAutoFit/>
          </a:bodyPr>
          <a:lstStyle/>
          <a:p>
            <a:pPr>
              <a:lnSpc>
                <a:spcPct val="100000"/>
              </a:lnSpc>
            </a:pPr>
            <a:endParaRPr sz="3500">
              <a:latin typeface="Times New Roman" panose="02020603050405020304"/>
              <a:cs typeface="Times New Roman" panose="02020603050405020304"/>
            </a:endParaRPr>
          </a:p>
          <a:p>
            <a:pPr marL="169545" marR="169545">
              <a:lnSpc>
                <a:spcPts val="2100"/>
              </a:lnSpc>
            </a:pPr>
            <a:r>
              <a:rPr sz="1800" dirty="0">
                <a:solidFill>
                  <a:srgbClr val="3B3838"/>
                </a:solidFill>
                <a:latin typeface="微软雅黑" panose="020B0503020204020204" pitchFamily="34" charset="-122"/>
                <a:cs typeface="微软雅黑" panose="020B0503020204020204" pitchFamily="34" charset="-122"/>
              </a:rPr>
              <a:t>权限 管理</a:t>
            </a:r>
            <a:endParaRPr sz="1800">
              <a:latin typeface="微软雅黑" panose="020B0503020204020204" pitchFamily="34" charset="-122"/>
              <a:cs typeface="微软雅黑" panose="020B0503020204020204" pitchFamily="34" charset="-122"/>
            </a:endParaRPr>
          </a:p>
        </p:txBody>
      </p:sp>
      <p:sp>
        <p:nvSpPr>
          <p:cNvPr id="8" name="object 8"/>
          <p:cNvSpPr txBox="1"/>
          <p:nvPr/>
        </p:nvSpPr>
        <p:spPr>
          <a:xfrm>
            <a:off x="3510537" y="3734556"/>
            <a:ext cx="520700" cy="330200"/>
          </a:xfrm>
          <a:prstGeom prst="rect">
            <a:avLst/>
          </a:prstGeom>
        </p:spPr>
        <p:txBody>
          <a:bodyPr vert="horz" wrap="square" lIns="0" tIns="12700" rIns="0" bIns="0" rtlCol="0">
            <a:spAutoFit/>
          </a:bodyPr>
          <a:lstStyle/>
          <a:p>
            <a:pPr>
              <a:lnSpc>
                <a:spcPct val="100000"/>
              </a:lnSpc>
              <a:spcBef>
                <a:spcPts val="100"/>
              </a:spcBef>
            </a:pPr>
            <a:r>
              <a:rPr sz="2000" b="1" dirty="0">
                <a:solidFill>
                  <a:srgbClr val="3B3838"/>
                </a:solidFill>
                <a:latin typeface="Arial" panose="020B0604020202020204"/>
                <a:cs typeface="Arial" panose="020B0604020202020204"/>
              </a:rPr>
              <a:t>……</a:t>
            </a:r>
            <a:endParaRPr sz="2000">
              <a:latin typeface="Arial" panose="020B0604020202020204"/>
              <a:cs typeface="Arial" panose="020B0604020202020204"/>
            </a:endParaRPr>
          </a:p>
        </p:txBody>
      </p:sp>
      <p:sp>
        <p:nvSpPr>
          <p:cNvPr id="9" name="object 9"/>
          <p:cNvSpPr txBox="1"/>
          <p:nvPr/>
        </p:nvSpPr>
        <p:spPr>
          <a:xfrm>
            <a:off x="4267201" y="3217336"/>
            <a:ext cx="805180" cy="1565910"/>
          </a:xfrm>
          <a:prstGeom prst="rect">
            <a:avLst/>
          </a:prstGeom>
          <a:solidFill>
            <a:srgbClr val="ECEBEB"/>
          </a:solidFill>
          <a:ln w="6451">
            <a:solidFill>
              <a:srgbClr val="6C6C6C"/>
            </a:solidFill>
          </a:ln>
        </p:spPr>
        <p:txBody>
          <a:bodyPr vert="horz" wrap="square" lIns="0" tIns="0" rIns="0" bIns="0" rtlCol="0">
            <a:spAutoFit/>
          </a:bodyPr>
          <a:lstStyle/>
          <a:p>
            <a:pPr>
              <a:lnSpc>
                <a:spcPct val="100000"/>
              </a:lnSpc>
            </a:pPr>
            <a:endParaRPr sz="3500">
              <a:latin typeface="Times New Roman" panose="02020603050405020304"/>
              <a:cs typeface="Times New Roman" panose="02020603050405020304"/>
            </a:endParaRPr>
          </a:p>
          <a:p>
            <a:pPr marL="169545" marR="169545">
              <a:lnSpc>
                <a:spcPts val="2100"/>
              </a:lnSpc>
            </a:pPr>
            <a:r>
              <a:rPr sz="1800" dirty="0">
                <a:solidFill>
                  <a:srgbClr val="3B3838"/>
                </a:solidFill>
                <a:latin typeface="微软雅黑" panose="020B0503020204020204" pitchFamily="34" charset="-122"/>
                <a:cs typeface="微软雅黑" panose="020B0503020204020204" pitchFamily="34" charset="-122"/>
              </a:rPr>
              <a:t>业务 功能</a:t>
            </a:r>
            <a:endParaRPr sz="1800">
              <a:latin typeface="微软雅黑" panose="020B0503020204020204" pitchFamily="34" charset="-122"/>
              <a:cs typeface="微软雅黑" panose="020B0503020204020204" pitchFamily="34" charset="-122"/>
            </a:endParaRPr>
          </a:p>
        </p:txBody>
      </p:sp>
      <p:sp>
        <p:nvSpPr>
          <p:cNvPr id="10" name="object 10"/>
          <p:cNvSpPr txBox="1"/>
          <p:nvPr/>
        </p:nvSpPr>
        <p:spPr>
          <a:xfrm>
            <a:off x="7941726" y="3115738"/>
            <a:ext cx="2850515" cy="548640"/>
          </a:xfrm>
          <a:prstGeom prst="rect">
            <a:avLst/>
          </a:prstGeom>
          <a:solidFill>
            <a:srgbClr val="ECEBEB"/>
          </a:solidFill>
          <a:ln w="6451">
            <a:solidFill>
              <a:srgbClr val="6C6C6C"/>
            </a:solidFill>
          </a:ln>
        </p:spPr>
        <p:txBody>
          <a:bodyPr vert="horz" wrap="square" lIns="0" tIns="132715" rIns="0" bIns="0" rtlCol="0">
            <a:spAutoFit/>
          </a:bodyPr>
          <a:lstStyle/>
          <a:p>
            <a:pPr marL="845185">
              <a:lnSpc>
                <a:spcPct val="100000"/>
              </a:lnSpc>
              <a:spcBef>
                <a:spcPts val="1045"/>
              </a:spcBef>
            </a:pPr>
            <a:r>
              <a:rPr sz="1800" dirty="0">
                <a:solidFill>
                  <a:srgbClr val="3B3838"/>
                </a:solidFill>
                <a:latin typeface="微软雅黑" panose="020B0503020204020204" pitchFamily="34" charset="-122"/>
                <a:cs typeface="微软雅黑" panose="020B0503020204020204" pitchFamily="34" charset="-122"/>
              </a:rPr>
              <a:t>应用服务层</a:t>
            </a:r>
            <a:endParaRPr sz="1800">
              <a:latin typeface="微软雅黑" panose="020B0503020204020204" pitchFamily="34" charset="-122"/>
              <a:cs typeface="微软雅黑" panose="020B0503020204020204" pitchFamily="34" charset="-122"/>
            </a:endParaRPr>
          </a:p>
        </p:txBody>
      </p:sp>
      <p:sp>
        <p:nvSpPr>
          <p:cNvPr id="11" name="object 11"/>
          <p:cNvSpPr txBox="1"/>
          <p:nvPr/>
        </p:nvSpPr>
        <p:spPr>
          <a:xfrm>
            <a:off x="7941726" y="3725338"/>
            <a:ext cx="2850515" cy="548640"/>
          </a:xfrm>
          <a:prstGeom prst="rect">
            <a:avLst/>
          </a:prstGeom>
          <a:solidFill>
            <a:srgbClr val="ECEBEB"/>
          </a:solidFill>
          <a:ln w="6451">
            <a:solidFill>
              <a:srgbClr val="6C6C6C"/>
            </a:solidFill>
          </a:ln>
        </p:spPr>
        <p:txBody>
          <a:bodyPr vert="horz" wrap="square" lIns="0" tIns="132715" rIns="0" bIns="0" rtlCol="0">
            <a:spAutoFit/>
          </a:bodyPr>
          <a:lstStyle/>
          <a:p>
            <a:pPr marL="845185">
              <a:lnSpc>
                <a:spcPct val="100000"/>
              </a:lnSpc>
              <a:spcBef>
                <a:spcPts val="1045"/>
              </a:spcBef>
            </a:pPr>
            <a:r>
              <a:rPr sz="1800" dirty="0">
                <a:solidFill>
                  <a:srgbClr val="3B3838"/>
                </a:solidFill>
                <a:latin typeface="微软雅黑" panose="020B0503020204020204" pitchFamily="34" charset="-122"/>
                <a:cs typeface="微软雅黑" panose="020B0503020204020204" pitchFamily="34" charset="-122"/>
              </a:rPr>
              <a:t>业务逻辑层</a:t>
            </a:r>
            <a:endParaRPr sz="1800">
              <a:latin typeface="微软雅黑" panose="020B0503020204020204" pitchFamily="34" charset="-122"/>
              <a:cs typeface="微软雅黑" panose="020B0503020204020204" pitchFamily="34" charset="-122"/>
            </a:endParaRPr>
          </a:p>
        </p:txBody>
      </p:sp>
      <p:sp>
        <p:nvSpPr>
          <p:cNvPr id="12" name="object 12"/>
          <p:cNvSpPr txBox="1"/>
          <p:nvPr/>
        </p:nvSpPr>
        <p:spPr>
          <a:xfrm>
            <a:off x="7941726" y="4334937"/>
            <a:ext cx="2850515" cy="548640"/>
          </a:xfrm>
          <a:prstGeom prst="rect">
            <a:avLst/>
          </a:prstGeom>
          <a:solidFill>
            <a:srgbClr val="ECEBEB"/>
          </a:solidFill>
          <a:ln w="6451">
            <a:solidFill>
              <a:srgbClr val="6C6C6C"/>
            </a:solidFill>
          </a:ln>
        </p:spPr>
        <p:txBody>
          <a:bodyPr vert="horz" wrap="square" lIns="0" tIns="132715" rIns="0" bIns="0" rtlCol="0">
            <a:spAutoFit/>
          </a:bodyPr>
          <a:lstStyle/>
          <a:p>
            <a:pPr marL="845185">
              <a:lnSpc>
                <a:spcPct val="100000"/>
              </a:lnSpc>
              <a:spcBef>
                <a:spcPts val="1045"/>
              </a:spcBef>
            </a:pPr>
            <a:r>
              <a:rPr sz="1800" dirty="0">
                <a:solidFill>
                  <a:srgbClr val="3B3838"/>
                </a:solidFill>
                <a:latin typeface="微软雅黑" panose="020B0503020204020204" pitchFamily="34" charset="-122"/>
                <a:cs typeface="微软雅黑" panose="020B0503020204020204" pitchFamily="34" charset="-122"/>
              </a:rPr>
              <a:t>数据存储层</a:t>
            </a:r>
            <a:endParaRPr sz="1800">
              <a:latin typeface="微软雅黑" panose="020B0503020204020204" pitchFamily="34" charset="-122"/>
              <a:cs typeface="微软雅黑" panose="020B0503020204020204" pitchFamily="34" charset="-122"/>
            </a:endParaRPr>
          </a:p>
        </p:txBody>
      </p:sp>
      <p:sp>
        <p:nvSpPr>
          <p:cNvPr id="13" name="object 13"/>
          <p:cNvSpPr/>
          <p:nvPr/>
        </p:nvSpPr>
        <p:spPr>
          <a:xfrm>
            <a:off x="1219199" y="3048000"/>
            <a:ext cx="4129404" cy="1910080"/>
          </a:xfrm>
          <a:custGeom>
            <a:avLst/>
            <a:gdLst/>
            <a:ahLst/>
            <a:cxnLst/>
            <a:rect l="l" t="t" r="r" b="b"/>
            <a:pathLst>
              <a:path w="4129404" h="1910079">
                <a:moveTo>
                  <a:pt x="0" y="0"/>
                </a:moveTo>
                <a:lnTo>
                  <a:pt x="4129025" y="0"/>
                </a:lnTo>
                <a:lnTo>
                  <a:pt x="4129025" y="1909674"/>
                </a:lnTo>
                <a:lnTo>
                  <a:pt x="0" y="1909674"/>
                </a:lnTo>
                <a:lnTo>
                  <a:pt x="0" y="0"/>
                </a:lnTo>
                <a:close/>
              </a:path>
            </a:pathLst>
          </a:custGeom>
          <a:ln w="6451">
            <a:solidFill>
              <a:srgbClr val="919191"/>
            </a:solidFill>
          </a:ln>
        </p:spPr>
        <p:txBody>
          <a:bodyPr wrap="square" lIns="0" tIns="0" rIns="0" bIns="0" rtlCol="0"/>
          <a:lstStyle/>
          <a:p>
            <a:endParaRPr/>
          </a:p>
        </p:txBody>
      </p:sp>
      <p:sp>
        <p:nvSpPr>
          <p:cNvPr id="14" name="object 14"/>
          <p:cNvSpPr/>
          <p:nvPr/>
        </p:nvSpPr>
        <p:spPr>
          <a:xfrm>
            <a:off x="3224108" y="2108200"/>
            <a:ext cx="1720850" cy="929640"/>
          </a:xfrm>
          <a:custGeom>
            <a:avLst/>
            <a:gdLst/>
            <a:ahLst/>
            <a:cxnLst/>
            <a:rect l="l" t="t" r="r" b="b"/>
            <a:pathLst>
              <a:path w="1720850" h="929639">
                <a:moveTo>
                  <a:pt x="1720424" y="0"/>
                </a:moveTo>
                <a:lnTo>
                  <a:pt x="0" y="0"/>
                </a:lnTo>
                <a:lnTo>
                  <a:pt x="0" y="929228"/>
                </a:lnTo>
              </a:path>
            </a:pathLst>
          </a:custGeom>
          <a:ln w="12903">
            <a:solidFill>
              <a:srgbClr val="000000"/>
            </a:solidFill>
          </a:ln>
        </p:spPr>
        <p:txBody>
          <a:bodyPr wrap="square" lIns="0" tIns="0" rIns="0" bIns="0" rtlCol="0"/>
          <a:lstStyle/>
          <a:p>
            <a:endParaRPr/>
          </a:p>
        </p:txBody>
      </p:sp>
      <p:sp>
        <p:nvSpPr>
          <p:cNvPr id="15" name="object 15"/>
          <p:cNvSpPr/>
          <p:nvPr/>
        </p:nvSpPr>
        <p:spPr>
          <a:xfrm>
            <a:off x="3192247" y="2932090"/>
            <a:ext cx="117908" cy="115909"/>
          </a:xfrm>
          <a:prstGeom prst="rect">
            <a:avLst/>
          </a:prstGeom>
          <a:blipFill>
            <a:blip r:embed="rId3" cstate="print"/>
            <a:stretch>
              <a:fillRect/>
            </a:stretch>
          </a:blipFill>
        </p:spPr>
        <p:txBody>
          <a:bodyPr wrap="square" lIns="0" tIns="0" rIns="0" bIns="0" rtlCol="0"/>
          <a:lstStyle/>
          <a:p>
            <a:endParaRPr/>
          </a:p>
        </p:txBody>
      </p:sp>
      <p:sp>
        <p:nvSpPr>
          <p:cNvPr id="16" name="object 16"/>
          <p:cNvSpPr txBox="1"/>
          <p:nvPr/>
        </p:nvSpPr>
        <p:spPr>
          <a:xfrm>
            <a:off x="3307111" y="1668690"/>
            <a:ext cx="154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CC0000"/>
                </a:solidFill>
                <a:latin typeface="微软雅黑" panose="020B0503020204020204" pitchFamily="34" charset="-122"/>
                <a:cs typeface="微软雅黑" panose="020B0503020204020204" pitchFamily="34" charset="-122"/>
              </a:rPr>
              <a:t>基于水平划分</a:t>
            </a:r>
            <a:endParaRPr sz="2000">
              <a:latin typeface="微软雅黑" panose="020B0503020204020204" pitchFamily="34" charset="-122"/>
              <a:cs typeface="微软雅黑" panose="020B0503020204020204" pitchFamily="34" charset="-122"/>
            </a:endParaRPr>
          </a:p>
        </p:txBody>
      </p:sp>
      <p:sp>
        <p:nvSpPr>
          <p:cNvPr id="17" name="object 17"/>
          <p:cNvSpPr/>
          <p:nvPr/>
        </p:nvSpPr>
        <p:spPr>
          <a:xfrm>
            <a:off x="7772397" y="2980265"/>
            <a:ext cx="3200400" cy="2047875"/>
          </a:xfrm>
          <a:custGeom>
            <a:avLst/>
            <a:gdLst/>
            <a:ahLst/>
            <a:cxnLst/>
            <a:rect l="l" t="t" r="r" b="b"/>
            <a:pathLst>
              <a:path w="3200400" h="2047875">
                <a:moveTo>
                  <a:pt x="0" y="0"/>
                </a:moveTo>
                <a:lnTo>
                  <a:pt x="3199993" y="0"/>
                </a:lnTo>
                <a:lnTo>
                  <a:pt x="3199993" y="2047309"/>
                </a:lnTo>
                <a:lnTo>
                  <a:pt x="0" y="2047309"/>
                </a:lnTo>
                <a:lnTo>
                  <a:pt x="0" y="0"/>
                </a:lnTo>
                <a:close/>
              </a:path>
            </a:pathLst>
          </a:custGeom>
          <a:ln w="6451">
            <a:solidFill>
              <a:srgbClr val="919191"/>
            </a:solidFill>
          </a:ln>
        </p:spPr>
        <p:txBody>
          <a:bodyPr wrap="square" lIns="0" tIns="0" rIns="0" bIns="0" rtlCol="0"/>
          <a:lstStyle/>
          <a:p>
            <a:endParaRPr/>
          </a:p>
        </p:txBody>
      </p:sp>
      <p:sp>
        <p:nvSpPr>
          <p:cNvPr id="18" name="object 18"/>
          <p:cNvSpPr/>
          <p:nvPr/>
        </p:nvSpPr>
        <p:spPr>
          <a:xfrm>
            <a:off x="7619999" y="2108200"/>
            <a:ext cx="1755139" cy="861060"/>
          </a:xfrm>
          <a:custGeom>
            <a:avLst/>
            <a:gdLst/>
            <a:ahLst/>
            <a:cxnLst/>
            <a:rect l="l" t="t" r="r" b="b"/>
            <a:pathLst>
              <a:path w="1755140" h="861060">
                <a:moveTo>
                  <a:pt x="0" y="0"/>
                </a:moveTo>
                <a:lnTo>
                  <a:pt x="1754835" y="0"/>
                </a:lnTo>
                <a:lnTo>
                  <a:pt x="1754835" y="860680"/>
                </a:lnTo>
              </a:path>
            </a:pathLst>
          </a:custGeom>
          <a:ln w="12903">
            <a:solidFill>
              <a:srgbClr val="000000"/>
            </a:solidFill>
          </a:ln>
        </p:spPr>
        <p:txBody>
          <a:bodyPr wrap="square" lIns="0" tIns="0" rIns="0" bIns="0" rtlCol="0"/>
          <a:lstStyle/>
          <a:p>
            <a:endParaRPr/>
          </a:p>
        </p:txBody>
      </p:sp>
      <p:sp>
        <p:nvSpPr>
          <p:cNvPr id="19" name="object 19"/>
          <p:cNvSpPr/>
          <p:nvPr/>
        </p:nvSpPr>
        <p:spPr>
          <a:xfrm>
            <a:off x="9288243" y="2864622"/>
            <a:ext cx="117908" cy="115909"/>
          </a:xfrm>
          <a:prstGeom prst="rect">
            <a:avLst/>
          </a:prstGeom>
          <a:blipFill>
            <a:blip r:embed="rId4" cstate="print"/>
            <a:stretch>
              <a:fillRect/>
            </a:stretch>
          </a:blipFill>
        </p:spPr>
        <p:txBody>
          <a:bodyPr wrap="square" lIns="0" tIns="0" rIns="0" bIns="0" rtlCol="0"/>
          <a:lstStyle/>
          <a:p>
            <a:endParaRPr/>
          </a:p>
        </p:txBody>
      </p:sp>
      <p:sp>
        <p:nvSpPr>
          <p:cNvPr id="20" name="object 20"/>
          <p:cNvSpPr txBox="1"/>
          <p:nvPr/>
        </p:nvSpPr>
        <p:spPr>
          <a:xfrm>
            <a:off x="7709772" y="1668690"/>
            <a:ext cx="154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CC0000"/>
                </a:solidFill>
                <a:latin typeface="微软雅黑" panose="020B0503020204020204" pitchFamily="34" charset="-122"/>
                <a:cs typeface="微软雅黑" panose="020B0503020204020204" pitchFamily="34" charset="-122"/>
              </a:rPr>
              <a:t>基于垂直划分</a:t>
            </a:r>
            <a:endParaRPr sz="2000">
              <a:latin typeface="微软雅黑" panose="020B0503020204020204" pitchFamily="34" charset="-122"/>
              <a:cs typeface="微软雅黑" panose="020B0503020204020204" pitchFamily="34" charset="-122"/>
            </a:endParaRPr>
          </a:p>
        </p:txBody>
      </p:sp>
      <p:sp>
        <p:nvSpPr>
          <p:cNvPr id="22" name="标题 21"/>
          <p:cNvSpPr>
            <a:spLocks noGrp="1"/>
          </p:cNvSpPr>
          <p:nvPr>
            <p:ph type="title"/>
          </p:nvPr>
        </p:nvSpPr>
        <p:spPr/>
        <p:txBody>
          <a:bodyPr/>
          <a:lstStyle/>
          <a:p>
            <a:r>
              <a:rPr lang="zh-CN" altLang="en-US" dirty="0"/>
              <a:t>模块化程序设计</a:t>
            </a:r>
          </a:p>
        </p:txBody>
      </p:sp>
      <p:sp>
        <p:nvSpPr>
          <p:cNvPr id="21" name="灯片编号占位符 20"/>
          <p:cNvSpPr>
            <a:spLocks noGrp="1"/>
          </p:cNvSpPr>
          <p:nvPr>
            <p:ph type="sldNum" sz="quarter" idx="12"/>
          </p:nvPr>
        </p:nvSpPr>
        <p:spPr/>
        <p:txBody>
          <a:bodyPr/>
          <a:lstStyle/>
          <a:p>
            <a:fld id="{74D2AB8B-5816-41F2-8B4B-CA5C3E4E6A65}" type="slidenum">
              <a:rPr lang="zh-CN" altLang="en-US" smtClean="0"/>
              <a:t>32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3164"/>
    </mc:Choice>
    <mc:Fallback xmlns="">
      <p:transition spd="slow" advTm="43164"/>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92980" y="1725156"/>
            <a:ext cx="9832975" cy="711835"/>
          </a:xfrm>
          <a:prstGeom prst="rect">
            <a:avLst/>
          </a:prstGeom>
          <a:solidFill>
            <a:srgbClr val="ECEBEB"/>
          </a:solidFill>
        </p:spPr>
        <p:txBody>
          <a:bodyPr vert="horz" wrap="square" lIns="0" tIns="184150" rIns="0" bIns="0" rtlCol="0">
            <a:spAutoFit/>
          </a:bodyPr>
          <a:lstStyle/>
          <a:p>
            <a:pPr marL="346710">
              <a:lnSpc>
                <a:spcPct val="100000"/>
              </a:lnSpc>
              <a:spcBef>
                <a:spcPts val="1450"/>
              </a:spcBef>
            </a:pPr>
            <a:r>
              <a:rPr sz="2400" dirty="0">
                <a:solidFill>
                  <a:srgbClr val="CC0000"/>
                </a:solidFill>
                <a:latin typeface="微软雅黑" panose="020B0503020204020204" pitchFamily="34" charset="-122"/>
                <a:cs typeface="微软雅黑" panose="020B0503020204020204" pitchFamily="34" charset="-122"/>
              </a:rPr>
              <a:t>基于易变与稳定</a:t>
            </a:r>
            <a:r>
              <a:rPr sz="2400" dirty="0">
                <a:solidFill>
                  <a:srgbClr val="D81E00"/>
                </a:solidFill>
                <a:latin typeface="微软雅黑" panose="020B0503020204020204" pitchFamily="34" charset="-122"/>
                <a:cs typeface="微软雅黑" panose="020B0503020204020204" pitchFamily="34" charset="-122"/>
              </a:rPr>
              <a:t>：</a:t>
            </a:r>
            <a:r>
              <a:rPr sz="2400" dirty="0">
                <a:latin typeface="微软雅黑" panose="020B0503020204020204" pitchFamily="34" charset="-122"/>
                <a:cs typeface="微软雅黑" panose="020B0503020204020204" pitchFamily="34" charset="-122"/>
              </a:rPr>
              <a:t>认识和识别变与不变的部分，并将之科学地分离开。</a:t>
            </a:r>
            <a:endParaRPr sz="2400">
              <a:latin typeface="微软雅黑" panose="020B0503020204020204" pitchFamily="34" charset="-122"/>
              <a:cs typeface="微软雅黑" panose="020B0503020204020204" pitchFamily="34" charset="-122"/>
            </a:endParaRPr>
          </a:p>
        </p:txBody>
      </p:sp>
      <p:sp>
        <p:nvSpPr>
          <p:cNvPr id="4" name="object 4"/>
          <p:cNvSpPr/>
          <p:nvPr/>
        </p:nvSpPr>
        <p:spPr>
          <a:xfrm>
            <a:off x="5304590" y="3809991"/>
            <a:ext cx="673100" cy="901700"/>
          </a:xfrm>
          <a:custGeom>
            <a:avLst/>
            <a:gdLst/>
            <a:ahLst/>
            <a:cxnLst/>
            <a:rect l="l" t="t" r="r" b="b"/>
            <a:pathLst>
              <a:path w="673100" h="901700">
                <a:moveTo>
                  <a:pt x="672851" y="0"/>
                </a:moveTo>
                <a:lnTo>
                  <a:pt x="0" y="901529"/>
                </a:lnTo>
              </a:path>
            </a:pathLst>
          </a:custGeom>
          <a:ln w="12903">
            <a:solidFill>
              <a:srgbClr val="000000"/>
            </a:solidFill>
          </a:ln>
        </p:spPr>
        <p:txBody>
          <a:bodyPr wrap="square" lIns="0" tIns="0" rIns="0" bIns="0" rtlCol="0"/>
          <a:lstStyle/>
          <a:p>
            <a:endParaRPr/>
          </a:p>
        </p:txBody>
      </p:sp>
      <p:sp>
        <p:nvSpPr>
          <p:cNvPr id="5" name="object 5"/>
          <p:cNvSpPr/>
          <p:nvPr/>
        </p:nvSpPr>
        <p:spPr>
          <a:xfrm>
            <a:off x="5300111" y="4596259"/>
            <a:ext cx="110705" cy="121263"/>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5977441" y="3809991"/>
            <a:ext cx="3726179" cy="915669"/>
          </a:xfrm>
          <a:custGeom>
            <a:avLst/>
            <a:gdLst/>
            <a:ahLst/>
            <a:cxnLst/>
            <a:rect l="l" t="t" r="r" b="b"/>
            <a:pathLst>
              <a:path w="3726179" h="915670">
                <a:moveTo>
                  <a:pt x="0" y="0"/>
                </a:moveTo>
                <a:lnTo>
                  <a:pt x="3725930" y="915661"/>
                </a:lnTo>
              </a:path>
            </a:pathLst>
          </a:custGeom>
          <a:ln w="12903">
            <a:solidFill>
              <a:srgbClr val="000000"/>
            </a:solidFill>
          </a:ln>
        </p:spPr>
        <p:txBody>
          <a:bodyPr wrap="square" lIns="0" tIns="0" rIns="0" bIns="0" rtlCol="0"/>
          <a:lstStyle/>
          <a:p>
            <a:endParaRPr/>
          </a:p>
        </p:txBody>
      </p:sp>
      <p:sp>
        <p:nvSpPr>
          <p:cNvPr id="7" name="object 7"/>
          <p:cNvSpPr/>
          <p:nvPr/>
        </p:nvSpPr>
        <p:spPr>
          <a:xfrm>
            <a:off x="9545924" y="4635877"/>
            <a:ext cx="123248" cy="114501"/>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6955928" y="3809989"/>
            <a:ext cx="1629410" cy="909955"/>
          </a:xfrm>
          <a:custGeom>
            <a:avLst/>
            <a:gdLst/>
            <a:ahLst/>
            <a:cxnLst/>
            <a:rect l="l" t="t" r="r" b="b"/>
            <a:pathLst>
              <a:path w="1629409" h="909954">
                <a:moveTo>
                  <a:pt x="1629250" y="0"/>
                </a:moveTo>
                <a:lnTo>
                  <a:pt x="0" y="909570"/>
                </a:lnTo>
              </a:path>
            </a:pathLst>
          </a:custGeom>
          <a:ln w="12903">
            <a:solidFill>
              <a:srgbClr val="000000"/>
            </a:solidFill>
          </a:ln>
        </p:spPr>
        <p:txBody>
          <a:bodyPr wrap="square" lIns="0" tIns="0" rIns="0" bIns="0" rtlCol="0"/>
          <a:lstStyle/>
          <a:p>
            <a:endParaRPr/>
          </a:p>
        </p:txBody>
      </p:sp>
      <p:sp>
        <p:nvSpPr>
          <p:cNvPr id="9" name="object 9"/>
          <p:cNvSpPr/>
          <p:nvPr/>
        </p:nvSpPr>
        <p:spPr>
          <a:xfrm>
            <a:off x="6959579" y="4614778"/>
            <a:ext cx="123038" cy="104955"/>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8585178" y="3809989"/>
            <a:ext cx="1081405" cy="905510"/>
          </a:xfrm>
          <a:custGeom>
            <a:avLst/>
            <a:gdLst/>
            <a:ahLst/>
            <a:cxnLst/>
            <a:rect l="l" t="t" r="r" b="b"/>
            <a:pathLst>
              <a:path w="1081404" h="905510">
                <a:moveTo>
                  <a:pt x="0" y="0"/>
                </a:moveTo>
                <a:lnTo>
                  <a:pt x="1081170" y="905331"/>
                </a:lnTo>
              </a:path>
            </a:pathLst>
          </a:custGeom>
          <a:ln w="12903">
            <a:solidFill>
              <a:srgbClr val="000000"/>
            </a:solidFill>
          </a:ln>
        </p:spPr>
        <p:txBody>
          <a:bodyPr wrap="square" lIns="0" tIns="0" rIns="0" bIns="0" rtlCol="0"/>
          <a:lstStyle/>
          <a:p>
            <a:endParaRPr/>
          </a:p>
        </p:txBody>
      </p:sp>
      <p:sp>
        <p:nvSpPr>
          <p:cNvPr id="11" name="object 11"/>
          <p:cNvSpPr/>
          <p:nvPr/>
        </p:nvSpPr>
        <p:spPr>
          <a:xfrm>
            <a:off x="9548663" y="4603738"/>
            <a:ext cx="119983" cy="113507"/>
          </a:xfrm>
          <a:prstGeom prst="rect">
            <a:avLst/>
          </a:prstGeom>
          <a:blipFill>
            <a:blip r:embed="rId6" cstate="print"/>
            <a:stretch>
              <a:fillRect/>
            </a:stretch>
          </a:blipFill>
        </p:spPr>
        <p:txBody>
          <a:bodyPr wrap="square" lIns="0" tIns="0" rIns="0" bIns="0" rtlCol="0"/>
          <a:lstStyle/>
          <a:p>
            <a:endParaRPr/>
          </a:p>
        </p:txBody>
      </p:sp>
      <p:sp>
        <p:nvSpPr>
          <p:cNvPr id="12" name="object 12"/>
          <p:cNvSpPr txBox="1"/>
          <p:nvPr/>
        </p:nvSpPr>
        <p:spPr>
          <a:xfrm>
            <a:off x="1895099" y="3193525"/>
            <a:ext cx="1779905" cy="616585"/>
          </a:xfrm>
          <a:prstGeom prst="rect">
            <a:avLst/>
          </a:prstGeom>
          <a:solidFill>
            <a:srgbClr val="AB4642"/>
          </a:solidFill>
        </p:spPr>
        <p:txBody>
          <a:bodyPr vert="horz" wrap="square" lIns="0" tIns="140335" rIns="0" bIns="0" rtlCol="0">
            <a:spAutoFit/>
          </a:bodyPr>
          <a:lstStyle/>
          <a:p>
            <a:pPr algn="ctr">
              <a:lnSpc>
                <a:spcPct val="100000"/>
              </a:lnSpc>
              <a:spcBef>
                <a:spcPts val="1105"/>
              </a:spcBef>
            </a:pPr>
            <a:r>
              <a:rPr sz="2200" dirty="0">
                <a:solidFill>
                  <a:srgbClr val="FFFFFF"/>
                </a:solidFill>
                <a:latin typeface="微软雅黑" panose="020B0503020204020204" pitchFamily="34" charset="-122"/>
                <a:cs typeface="微软雅黑" panose="020B0503020204020204" pitchFamily="34" charset="-122"/>
              </a:rPr>
              <a:t>易变</a:t>
            </a:r>
            <a:endParaRPr sz="2200">
              <a:latin typeface="微软雅黑" panose="020B0503020204020204" pitchFamily="34" charset="-122"/>
              <a:cs typeface="微软雅黑" panose="020B0503020204020204" pitchFamily="34" charset="-122"/>
            </a:endParaRPr>
          </a:p>
        </p:txBody>
      </p:sp>
      <p:sp>
        <p:nvSpPr>
          <p:cNvPr id="13" name="object 13"/>
          <p:cNvSpPr txBox="1"/>
          <p:nvPr/>
        </p:nvSpPr>
        <p:spPr>
          <a:xfrm>
            <a:off x="5232374" y="3193525"/>
            <a:ext cx="1514475" cy="626745"/>
          </a:xfrm>
          <a:prstGeom prst="rect">
            <a:avLst/>
          </a:prstGeom>
          <a:ln w="9677">
            <a:solidFill>
              <a:srgbClr val="000000"/>
            </a:solidFill>
          </a:ln>
        </p:spPr>
        <p:txBody>
          <a:bodyPr vert="horz" wrap="square" lIns="0" tIns="155575" rIns="0" bIns="0" rtlCol="0">
            <a:spAutoFit/>
          </a:bodyPr>
          <a:lstStyle/>
          <a:p>
            <a:pPr marL="166370">
              <a:lnSpc>
                <a:spcPct val="100000"/>
              </a:lnSpc>
              <a:spcBef>
                <a:spcPts val="1225"/>
              </a:spcBef>
            </a:pPr>
            <a:r>
              <a:rPr sz="2000" dirty="0">
                <a:latin typeface="微软雅黑" panose="020B0503020204020204" pitchFamily="34" charset="-122"/>
                <a:cs typeface="微软雅黑" panose="020B0503020204020204" pitchFamily="34" charset="-122"/>
              </a:rPr>
              <a:t>业务逻辑</a:t>
            </a:r>
            <a:r>
              <a:rPr sz="2000" dirty="0">
                <a:latin typeface="Arial" panose="020B0604020202020204"/>
                <a:cs typeface="Arial" panose="020B0604020202020204"/>
              </a:rPr>
              <a:t>1</a:t>
            </a:r>
            <a:endParaRPr sz="2000">
              <a:latin typeface="Arial" panose="020B0604020202020204"/>
              <a:cs typeface="Arial" panose="020B0604020202020204"/>
            </a:endParaRPr>
          </a:p>
        </p:txBody>
      </p:sp>
      <p:sp>
        <p:nvSpPr>
          <p:cNvPr id="14" name="object 14"/>
          <p:cNvSpPr txBox="1"/>
          <p:nvPr/>
        </p:nvSpPr>
        <p:spPr>
          <a:xfrm>
            <a:off x="7840109" y="3193524"/>
            <a:ext cx="1514475" cy="626745"/>
          </a:xfrm>
          <a:prstGeom prst="rect">
            <a:avLst/>
          </a:prstGeom>
          <a:ln w="9677">
            <a:solidFill>
              <a:srgbClr val="000000"/>
            </a:solidFill>
          </a:ln>
        </p:spPr>
        <p:txBody>
          <a:bodyPr vert="horz" wrap="square" lIns="0" tIns="155575" rIns="0" bIns="0" rtlCol="0">
            <a:spAutoFit/>
          </a:bodyPr>
          <a:lstStyle/>
          <a:p>
            <a:pPr marL="130810">
              <a:lnSpc>
                <a:spcPct val="100000"/>
              </a:lnSpc>
              <a:spcBef>
                <a:spcPts val="1225"/>
              </a:spcBef>
            </a:pPr>
            <a:r>
              <a:rPr sz="2000" dirty="0">
                <a:latin typeface="微软雅黑" panose="020B0503020204020204" pitchFamily="34" charset="-122"/>
                <a:cs typeface="微软雅黑" panose="020B0503020204020204" pitchFamily="34" charset="-122"/>
              </a:rPr>
              <a:t>业务逻辑</a:t>
            </a:r>
            <a:r>
              <a:rPr sz="2000" dirty="0">
                <a:latin typeface="Arial" panose="020B0604020202020204"/>
                <a:cs typeface="Arial" panose="020B0604020202020204"/>
              </a:rPr>
              <a:t>M</a:t>
            </a:r>
            <a:endParaRPr sz="2000">
              <a:latin typeface="Arial" panose="020B0604020202020204"/>
              <a:cs typeface="Arial" panose="020B0604020202020204"/>
            </a:endParaRPr>
          </a:p>
        </p:txBody>
      </p:sp>
      <p:sp>
        <p:nvSpPr>
          <p:cNvPr id="15" name="object 15"/>
          <p:cNvSpPr/>
          <p:nvPr/>
        </p:nvSpPr>
        <p:spPr>
          <a:xfrm>
            <a:off x="3911596" y="3301997"/>
            <a:ext cx="423545" cy="355600"/>
          </a:xfrm>
          <a:custGeom>
            <a:avLst/>
            <a:gdLst/>
            <a:ahLst/>
            <a:cxnLst/>
            <a:rect l="l" t="t" r="r" b="b"/>
            <a:pathLst>
              <a:path w="423545" h="355600">
                <a:moveTo>
                  <a:pt x="194734" y="0"/>
                </a:moveTo>
                <a:lnTo>
                  <a:pt x="194734" y="88900"/>
                </a:lnTo>
                <a:lnTo>
                  <a:pt x="0" y="88900"/>
                </a:lnTo>
                <a:lnTo>
                  <a:pt x="0" y="266698"/>
                </a:lnTo>
                <a:lnTo>
                  <a:pt x="194734" y="266698"/>
                </a:lnTo>
                <a:lnTo>
                  <a:pt x="194734" y="355598"/>
                </a:lnTo>
                <a:lnTo>
                  <a:pt x="423334" y="177800"/>
                </a:lnTo>
                <a:lnTo>
                  <a:pt x="194734" y="0"/>
                </a:lnTo>
                <a:close/>
              </a:path>
            </a:pathLst>
          </a:custGeom>
          <a:solidFill>
            <a:srgbClr val="919191"/>
          </a:solidFill>
        </p:spPr>
        <p:txBody>
          <a:bodyPr wrap="square" lIns="0" tIns="0" rIns="0" bIns="0" rtlCol="0"/>
          <a:lstStyle/>
          <a:p>
            <a:endParaRPr/>
          </a:p>
        </p:txBody>
      </p:sp>
      <p:sp>
        <p:nvSpPr>
          <p:cNvPr id="16" name="object 16"/>
          <p:cNvSpPr/>
          <p:nvPr/>
        </p:nvSpPr>
        <p:spPr>
          <a:xfrm>
            <a:off x="4555044" y="4717522"/>
            <a:ext cx="1490345" cy="616585"/>
          </a:xfrm>
          <a:custGeom>
            <a:avLst/>
            <a:gdLst/>
            <a:ahLst/>
            <a:cxnLst/>
            <a:rect l="l" t="t" r="r" b="b"/>
            <a:pathLst>
              <a:path w="1490345" h="616585">
                <a:moveTo>
                  <a:pt x="0" y="0"/>
                </a:moveTo>
                <a:lnTo>
                  <a:pt x="1490135" y="0"/>
                </a:lnTo>
                <a:lnTo>
                  <a:pt x="1490135" y="616465"/>
                </a:lnTo>
                <a:lnTo>
                  <a:pt x="0" y="616465"/>
                </a:lnTo>
                <a:lnTo>
                  <a:pt x="0" y="0"/>
                </a:lnTo>
                <a:close/>
              </a:path>
            </a:pathLst>
          </a:custGeom>
          <a:solidFill>
            <a:srgbClr val="FFFFFF"/>
          </a:solidFill>
        </p:spPr>
        <p:txBody>
          <a:bodyPr wrap="square" lIns="0" tIns="0" rIns="0" bIns="0" rtlCol="0"/>
          <a:lstStyle/>
          <a:p>
            <a:endParaRPr/>
          </a:p>
        </p:txBody>
      </p:sp>
      <p:sp>
        <p:nvSpPr>
          <p:cNvPr id="17" name="object 17"/>
          <p:cNvSpPr txBox="1"/>
          <p:nvPr/>
        </p:nvSpPr>
        <p:spPr>
          <a:xfrm>
            <a:off x="4555044" y="4717522"/>
            <a:ext cx="1514475" cy="626745"/>
          </a:xfrm>
          <a:prstGeom prst="rect">
            <a:avLst/>
          </a:prstGeom>
          <a:ln w="9677">
            <a:solidFill>
              <a:srgbClr val="000000"/>
            </a:solidFill>
          </a:ln>
        </p:spPr>
        <p:txBody>
          <a:bodyPr vert="horz" wrap="square" lIns="0" tIns="155575" rIns="0" bIns="0" rtlCol="0">
            <a:spAutoFit/>
          </a:bodyPr>
          <a:lstStyle/>
          <a:p>
            <a:pPr marL="166370">
              <a:lnSpc>
                <a:spcPct val="100000"/>
              </a:lnSpc>
              <a:spcBef>
                <a:spcPts val="1225"/>
              </a:spcBef>
            </a:pPr>
            <a:r>
              <a:rPr sz="2000" dirty="0">
                <a:latin typeface="微软雅黑" panose="020B0503020204020204" pitchFamily="34" charset="-122"/>
                <a:cs typeface="微软雅黑" panose="020B0503020204020204" pitchFamily="34" charset="-122"/>
              </a:rPr>
              <a:t>通用功能</a:t>
            </a:r>
            <a:r>
              <a:rPr sz="2000" dirty="0">
                <a:latin typeface="Arial" panose="020B0604020202020204"/>
                <a:cs typeface="Arial" panose="020B0604020202020204"/>
              </a:rPr>
              <a:t>1</a:t>
            </a:r>
            <a:endParaRPr sz="2000">
              <a:latin typeface="Arial" panose="020B0604020202020204"/>
              <a:cs typeface="Arial" panose="020B0604020202020204"/>
            </a:endParaRPr>
          </a:p>
        </p:txBody>
      </p:sp>
      <p:sp>
        <p:nvSpPr>
          <p:cNvPr id="18" name="object 18"/>
          <p:cNvSpPr/>
          <p:nvPr/>
        </p:nvSpPr>
        <p:spPr>
          <a:xfrm>
            <a:off x="6214510" y="4717522"/>
            <a:ext cx="1490345" cy="616585"/>
          </a:xfrm>
          <a:custGeom>
            <a:avLst/>
            <a:gdLst/>
            <a:ahLst/>
            <a:cxnLst/>
            <a:rect l="l" t="t" r="r" b="b"/>
            <a:pathLst>
              <a:path w="1490345" h="616585">
                <a:moveTo>
                  <a:pt x="0" y="0"/>
                </a:moveTo>
                <a:lnTo>
                  <a:pt x="1490135" y="0"/>
                </a:lnTo>
                <a:lnTo>
                  <a:pt x="1490135" y="616465"/>
                </a:lnTo>
                <a:lnTo>
                  <a:pt x="0" y="616465"/>
                </a:lnTo>
                <a:lnTo>
                  <a:pt x="0" y="0"/>
                </a:lnTo>
                <a:close/>
              </a:path>
            </a:pathLst>
          </a:custGeom>
          <a:solidFill>
            <a:srgbClr val="FFFFFF"/>
          </a:solidFill>
        </p:spPr>
        <p:txBody>
          <a:bodyPr wrap="square" lIns="0" tIns="0" rIns="0" bIns="0" rtlCol="0"/>
          <a:lstStyle/>
          <a:p>
            <a:endParaRPr/>
          </a:p>
        </p:txBody>
      </p:sp>
      <p:sp>
        <p:nvSpPr>
          <p:cNvPr id="19" name="object 19"/>
          <p:cNvSpPr txBox="1"/>
          <p:nvPr/>
        </p:nvSpPr>
        <p:spPr>
          <a:xfrm>
            <a:off x="6214509" y="4717522"/>
            <a:ext cx="1514475" cy="626745"/>
          </a:xfrm>
          <a:prstGeom prst="rect">
            <a:avLst/>
          </a:prstGeom>
          <a:ln w="9677">
            <a:solidFill>
              <a:srgbClr val="000000"/>
            </a:solidFill>
          </a:ln>
        </p:spPr>
        <p:txBody>
          <a:bodyPr vert="horz" wrap="square" lIns="0" tIns="155575" rIns="0" bIns="0" rtlCol="0">
            <a:spAutoFit/>
          </a:bodyPr>
          <a:lstStyle/>
          <a:p>
            <a:pPr marL="166370">
              <a:lnSpc>
                <a:spcPct val="100000"/>
              </a:lnSpc>
              <a:spcBef>
                <a:spcPts val="1225"/>
              </a:spcBef>
            </a:pPr>
            <a:r>
              <a:rPr sz="2000" dirty="0">
                <a:latin typeface="微软雅黑" panose="020B0503020204020204" pitchFamily="34" charset="-122"/>
                <a:cs typeface="微软雅黑" panose="020B0503020204020204" pitchFamily="34" charset="-122"/>
              </a:rPr>
              <a:t>通用功能</a:t>
            </a:r>
            <a:r>
              <a:rPr sz="2000" dirty="0">
                <a:latin typeface="Arial" panose="020B0604020202020204"/>
                <a:cs typeface="Arial" panose="020B0604020202020204"/>
              </a:rPr>
              <a:t>2</a:t>
            </a:r>
            <a:endParaRPr sz="2000">
              <a:latin typeface="Arial" panose="020B0604020202020204"/>
              <a:cs typeface="Arial" panose="020B0604020202020204"/>
            </a:endParaRPr>
          </a:p>
        </p:txBody>
      </p:sp>
      <p:sp>
        <p:nvSpPr>
          <p:cNvPr id="20" name="object 20"/>
          <p:cNvSpPr/>
          <p:nvPr/>
        </p:nvSpPr>
        <p:spPr>
          <a:xfrm>
            <a:off x="8923848" y="4717522"/>
            <a:ext cx="1490345" cy="616585"/>
          </a:xfrm>
          <a:custGeom>
            <a:avLst/>
            <a:gdLst/>
            <a:ahLst/>
            <a:cxnLst/>
            <a:rect l="l" t="t" r="r" b="b"/>
            <a:pathLst>
              <a:path w="1490345" h="616585">
                <a:moveTo>
                  <a:pt x="0" y="0"/>
                </a:moveTo>
                <a:lnTo>
                  <a:pt x="1490135" y="0"/>
                </a:lnTo>
                <a:lnTo>
                  <a:pt x="1490135" y="616465"/>
                </a:lnTo>
                <a:lnTo>
                  <a:pt x="0" y="616465"/>
                </a:lnTo>
                <a:lnTo>
                  <a:pt x="0" y="0"/>
                </a:lnTo>
                <a:close/>
              </a:path>
            </a:pathLst>
          </a:custGeom>
          <a:solidFill>
            <a:srgbClr val="FFFFFF"/>
          </a:solidFill>
        </p:spPr>
        <p:txBody>
          <a:bodyPr wrap="square" lIns="0" tIns="0" rIns="0" bIns="0" rtlCol="0"/>
          <a:lstStyle/>
          <a:p>
            <a:endParaRPr/>
          </a:p>
        </p:txBody>
      </p:sp>
      <p:sp>
        <p:nvSpPr>
          <p:cNvPr id="21" name="object 21"/>
          <p:cNvSpPr txBox="1"/>
          <p:nvPr/>
        </p:nvSpPr>
        <p:spPr>
          <a:xfrm>
            <a:off x="8923848" y="4717522"/>
            <a:ext cx="1514475" cy="626745"/>
          </a:xfrm>
          <a:prstGeom prst="rect">
            <a:avLst/>
          </a:prstGeom>
          <a:ln w="9677">
            <a:solidFill>
              <a:srgbClr val="000000"/>
            </a:solidFill>
          </a:ln>
        </p:spPr>
        <p:txBody>
          <a:bodyPr vert="horz" wrap="square" lIns="0" tIns="155575" rIns="0" bIns="0" rtlCol="0">
            <a:spAutoFit/>
          </a:bodyPr>
          <a:lstStyle/>
          <a:p>
            <a:pPr marL="144780">
              <a:lnSpc>
                <a:spcPct val="100000"/>
              </a:lnSpc>
              <a:spcBef>
                <a:spcPts val="1225"/>
              </a:spcBef>
            </a:pPr>
            <a:r>
              <a:rPr sz="2000" dirty="0">
                <a:latin typeface="微软雅黑" panose="020B0503020204020204" pitchFamily="34" charset="-122"/>
                <a:cs typeface="微软雅黑" panose="020B0503020204020204" pitchFamily="34" charset="-122"/>
              </a:rPr>
              <a:t>通用功能</a:t>
            </a:r>
            <a:r>
              <a:rPr sz="2000" dirty="0">
                <a:latin typeface="Arial" panose="020B0604020202020204"/>
                <a:cs typeface="Arial" panose="020B0604020202020204"/>
              </a:rPr>
              <a:t>N</a:t>
            </a:r>
            <a:endParaRPr sz="2000">
              <a:latin typeface="Arial" panose="020B0604020202020204"/>
              <a:cs typeface="Arial" panose="020B0604020202020204"/>
            </a:endParaRPr>
          </a:p>
        </p:txBody>
      </p:sp>
      <p:sp>
        <p:nvSpPr>
          <p:cNvPr id="22" name="object 22"/>
          <p:cNvSpPr txBox="1"/>
          <p:nvPr/>
        </p:nvSpPr>
        <p:spPr>
          <a:xfrm>
            <a:off x="8086752" y="4801353"/>
            <a:ext cx="533400" cy="330200"/>
          </a:xfrm>
          <a:prstGeom prst="rect">
            <a:avLst/>
          </a:prstGeom>
        </p:spPr>
        <p:txBody>
          <a:bodyPr vert="horz" wrap="square" lIns="0" tIns="12700" rIns="0" bIns="0" rtlCol="0">
            <a:spAutoFit/>
          </a:bodyPr>
          <a:lstStyle/>
          <a:p>
            <a:pPr marL="12700">
              <a:lnSpc>
                <a:spcPct val="100000"/>
              </a:lnSpc>
              <a:spcBef>
                <a:spcPts val="100"/>
              </a:spcBef>
            </a:pPr>
            <a:r>
              <a:rPr sz="2000" b="1" dirty="0">
                <a:solidFill>
                  <a:srgbClr val="3B3838"/>
                </a:solidFill>
                <a:latin typeface="Arial" panose="020B0604020202020204"/>
                <a:cs typeface="Arial" panose="020B0604020202020204"/>
              </a:rPr>
              <a:t>……</a:t>
            </a:r>
            <a:endParaRPr sz="2000">
              <a:latin typeface="Arial" panose="020B0604020202020204"/>
              <a:cs typeface="Arial" panose="020B0604020202020204"/>
            </a:endParaRPr>
          </a:p>
        </p:txBody>
      </p:sp>
      <p:sp>
        <p:nvSpPr>
          <p:cNvPr id="23" name="object 23"/>
          <p:cNvSpPr txBox="1"/>
          <p:nvPr/>
        </p:nvSpPr>
        <p:spPr>
          <a:xfrm>
            <a:off x="1896530" y="4717524"/>
            <a:ext cx="1778000" cy="616585"/>
          </a:xfrm>
          <a:prstGeom prst="rect">
            <a:avLst/>
          </a:prstGeom>
          <a:solidFill>
            <a:srgbClr val="407AAA"/>
          </a:solidFill>
        </p:spPr>
        <p:txBody>
          <a:bodyPr vert="horz" wrap="square" lIns="0" tIns="140335" rIns="0" bIns="0" rtlCol="0">
            <a:spAutoFit/>
          </a:bodyPr>
          <a:lstStyle/>
          <a:p>
            <a:pPr algn="ctr">
              <a:lnSpc>
                <a:spcPct val="100000"/>
              </a:lnSpc>
              <a:spcBef>
                <a:spcPts val="1105"/>
              </a:spcBef>
            </a:pPr>
            <a:r>
              <a:rPr sz="2200" dirty="0">
                <a:solidFill>
                  <a:srgbClr val="FFFFFF"/>
                </a:solidFill>
                <a:latin typeface="微软雅黑" panose="020B0503020204020204" pitchFamily="34" charset="-122"/>
                <a:cs typeface="微软雅黑" panose="020B0503020204020204" pitchFamily="34" charset="-122"/>
              </a:rPr>
              <a:t>稳定</a:t>
            </a:r>
            <a:endParaRPr sz="2200">
              <a:latin typeface="微软雅黑" panose="020B0503020204020204" pitchFamily="34" charset="-122"/>
              <a:cs typeface="微软雅黑" panose="020B0503020204020204" pitchFamily="34" charset="-122"/>
            </a:endParaRPr>
          </a:p>
        </p:txBody>
      </p:sp>
      <p:sp>
        <p:nvSpPr>
          <p:cNvPr id="24" name="object 24"/>
          <p:cNvSpPr/>
          <p:nvPr/>
        </p:nvSpPr>
        <p:spPr>
          <a:xfrm>
            <a:off x="3911596" y="4842927"/>
            <a:ext cx="423545" cy="355600"/>
          </a:xfrm>
          <a:custGeom>
            <a:avLst/>
            <a:gdLst/>
            <a:ahLst/>
            <a:cxnLst/>
            <a:rect l="l" t="t" r="r" b="b"/>
            <a:pathLst>
              <a:path w="423545" h="355600">
                <a:moveTo>
                  <a:pt x="194734" y="0"/>
                </a:moveTo>
                <a:lnTo>
                  <a:pt x="194734" y="88900"/>
                </a:lnTo>
                <a:lnTo>
                  <a:pt x="0" y="88900"/>
                </a:lnTo>
                <a:lnTo>
                  <a:pt x="0" y="266700"/>
                </a:lnTo>
                <a:lnTo>
                  <a:pt x="194734" y="266700"/>
                </a:lnTo>
                <a:lnTo>
                  <a:pt x="194734" y="355600"/>
                </a:lnTo>
                <a:lnTo>
                  <a:pt x="423334" y="177800"/>
                </a:lnTo>
                <a:lnTo>
                  <a:pt x="194734" y="0"/>
                </a:lnTo>
                <a:close/>
              </a:path>
            </a:pathLst>
          </a:custGeom>
          <a:solidFill>
            <a:srgbClr val="919191"/>
          </a:solidFill>
        </p:spPr>
        <p:txBody>
          <a:bodyPr wrap="square" lIns="0" tIns="0" rIns="0" bIns="0" rtlCol="0"/>
          <a:lstStyle/>
          <a:p>
            <a:endParaRPr/>
          </a:p>
        </p:txBody>
      </p:sp>
      <p:sp>
        <p:nvSpPr>
          <p:cNvPr id="26" name="标题 25"/>
          <p:cNvSpPr>
            <a:spLocks noGrp="1"/>
          </p:cNvSpPr>
          <p:nvPr>
            <p:ph type="title"/>
          </p:nvPr>
        </p:nvSpPr>
        <p:spPr/>
        <p:txBody>
          <a:bodyPr/>
          <a:lstStyle/>
          <a:p>
            <a:r>
              <a:rPr lang="zh-CN" altLang="en-US" dirty="0"/>
              <a:t>模块化程序设计</a:t>
            </a:r>
          </a:p>
        </p:txBody>
      </p:sp>
      <p:sp>
        <p:nvSpPr>
          <p:cNvPr id="25" name="灯片编号占位符 24"/>
          <p:cNvSpPr>
            <a:spLocks noGrp="1"/>
          </p:cNvSpPr>
          <p:nvPr>
            <p:ph type="sldNum" sz="quarter" idx="12"/>
          </p:nvPr>
        </p:nvSpPr>
        <p:spPr/>
        <p:txBody>
          <a:bodyPr/>
          <a:lstStyle/>
          <a:p>
            <a:fld id="{74D2AB8B-5816-41F2-8B4B-CA5C3E4E6A65}" type="slidenum">
              <a:rPr lang="zh-CN" altLang="en-US" smtClean="0"/>
              <a:t>33</a:t>
            </a:fld>
            <a:endParaRPr lang="zh-CN" altLang="en-US"/>
          </a:p>
        </p:txBody>
      </p:sp>
      <p:sp>
        <p:nvSpPr>
          <p:cNvPr id="2" name="矩形 1">
            <a:extLst>
              <a:ext uri="{FF2B5EF4-FFF2-40B4-BE49-F238E27FC236}">
                <a16:creationId xmlns:a16="http://schemas.microsoft.com/office/drawing/2014/main" id="{65F41DBB-2510-4200-BBF6-B0956356714B}"/>
              </a:ext>
            </a:extLst>
          </p:cNvPr>
          <p:cNvSpPr/>
          <p:nvPr/>
        </p:nvSpPr>
        <p:spPr>
          <a:xfrm>
            <a:off x="3698435" y="5711247"/>
            <a:ext cx="5670142" cy="369332"/>
          </a:xfrm>
          <a:prstGeom prst="rect">
            <a:avLst/>
          </a:prstGeom>
        </p:spPr>
        <p:txBody>
          <a:bodyPr wrap="none">
            <a:spAutoFit/>
          </a:bodyPr>
          <a:lstStyle/>
          <a:p>
            <a:r>
              <a:rPr lang="zh-CN" altLang="en-US" b="1" dirty="0">
                <a:latin typeface="微软雅黑" panose="020B0503020204020204" pitchFamily="34" charset="-122"/>
                <a:ea typeface="微软雅黑" panose="020B0503020204020204" pitchFamily="34" charset="-122"/>
              </a:rPr>
              <a:t>易变代码在修改的时候就不会影响到那些不变的代码</a:t>
            </a:r>
          </a:p>
        </p:txBody>
      </p:sp>
    </p:spTree>
  </p:cSld>
  <p:clrMapOvr>
    <a:masterClrMapping/>
  </p:clrMapOvr>
  <mc:AlternateContent xmlns:mc="http://schemas.openxmlformats.org/markup-compatibility/2006" xmlns:p14="http://schemas.microsoft.com/office/powerpoint/2010/main">
    <mc:Choice Requires="p14">
      <p:transition spd="slow" p14:dur="2000" advTm="40823"/>
    </mc:Choice>
    <mc:Fallback xmlns="">
      <p:transition spd="slow" advTm="40823"/>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92980" y="1742089"/>
            <a:ext cx="9832975" cy="711835"/>
          </a:xfrm>
          <a:prstGeom prst="rect">
            <a:avLst/>
          </a:prstGeom>
          <a:solidFill>
            <a:srgbClr val="ECEBEB"/>
          </a:solidFill>
        </p:spPr>
        <p:txBody>
          <a:bodyPr vert="horz" wrap="square" lIns="0" tIns="184150" rIns="0" bIns="0" rtlCol="0">
            <a:spAutoFit/>
          </a:bodyPr>
          <a:lstStyle/>
          <a:p>
            <a:pPr marL="803910">
              <a:lnSpc>
                <a:spcPct val="100000"/>
              </a:lnSpc>
              <a:spcBef>
                <a:spcPts val="1450"/>
              </a:spcBef>
            </a:pPr>
            <a:r>
              <a:rPr sz="2400" dirty="0">
                <a:solidFill>
                  <a:srgbClr val="CC0000"/>
                </a:solidFill>
                <a:latin typeface="微软雅黑" panose="020B0503020204020204" pitchFamily="34" charset="-122"/>
                <a:cs typeface="微软雅黑" panose="020B0503020204020204" pitchFamily="34" charset="-122"/>
              </a:rPr>
              <a:t>基于单一职责</a:t>
            </a:r>
            <a:r>
              <a:rPr sz="2400" dirty="0">
                <a:solidFill>
                  <a:srgbClr val="D81E00"/>
                </a:solidFill>
                <a:latin typeface="微软雅黑" panose="020B0503020204020204" pitchFamily="34" charset="-122"/>
                <a:cs typeface="微软雅黑" panose="020B0503020204020204" pitchFamily="34" charset="-122"/>
              </a:rPr>
              <a:t>：</a:t>
            </a:r>
            <a:r>
              <a:rPr sz="2400" dirty="0">
                <a:latin typeface="微软雅黑" panose="020B0503020204020204" pitchFamily="34" charset="-122"/>
                <a:cs typeface="微软雅黑" panose="020B0503020204020204" pitchFamily="34" charset="-122"/>
              </a:rPr>
              <a:t>类或者函数应该只做一件事，并且做好这件事。</a:t>
            </a:r>
            <a:endParaRPr sz="2400">
              <a:latin typeface="微软雅黑" panose="020B0503020204020204" pitchFamily="34" charset="-122"/>
              <a:cs typeface="微软雅黑" panose="020B0503020204020204" pitchFamily="34" charset="-122"/>
            </a:endParaRPr>
          </a:p>
        </p:txBody>
      </p:sp>
      <p:sp>
        <p:nvSpPr>
          <p:cNvPr id="4" name="object 4"/>
          <p:cNvSpPr/>
          <p:nvPr/>
        </p:nvSpPr>
        <p:spPr>
          <a:xfrm>
            <a:off x="1405467" y="2988732"/>
            <a:ext cx="3640665" cy="2609618"/>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5395807" y="3687992"/>
            <a:ext cx="5245100" cy="965200"/>
          </a:xfrm>
          <a:prstGeom prst="rect">
            <a:avLst/>
          </a:prstGeom>
        </p:spPr>
        <p:txBody>
          <a:bodyPr vert="horz" wrap="square" lIns="0" tIns="116840" rIns="0" bIns="0" rtlCol="0">
            <a:spAutoFit/>
          </a:bodyPr>
          <a:lstStyle/>
          <a:p>
            <a:pPr marL="355600" indent="-342900">
              <a:lnSpc>
                <a:spcPct val="100000"/>
              </a:lnSpc>
              <a:spcBef>
                <a:spcPts val="920"/>
              </a:spcBef>
              <a:buFont typeface="Arial" panose="020B0604020202020204"/>
              <a:buChar char="•"/>
              <a:tabLst>
                <a:tab pos="354965" algn="l"/>
                <a:tab pos="355600" algn="l"/>
              </a:tabLst>
            </a:pPr>
            <a:r>
              <a:rPr sz="2400" dirty="0">
                <a:latin typeface="微软雅黑" panose="020B0503020204020204" pitchFamily="34" charset="-122"/>
                <a:cs typeface="微软雅黑" panose="020B0503020204020204" pitchFamily="34" charset="-122"/>
              </a:rPr>
              <a:t>单一职责</a:t>
            </a:r>
            <a:r>
              <a:rPr sz="2400" spc="-5" dirty="0">
                <a:latin typeface="微软雅黑" panose="020B0503020204020204" pitchFamily="34" charset="-122"/>
                <a:cs typeface="微软雅黑" panose="020B0503020204020204" pitchFamily="34" charset="-122"/>
              </a:rPr>
              <a:t> </a:t>
            </a:r>
            <a:r>
              <a:rPr sz="2400" dirty="0">
                <a:latin typeface="微软雅黑" panose="020B0503020204020204" pitchFamily="34" charset="-122"/>
                <a:cs typeface="微软雅黑" panose="020B0503020204020204" pitchFamily="34" charset="-122"/>
              </a:rPr>
              <a:t>≠</a:t>
            </a:r>
            <a:r>
              <a:rPr sz="2400" spc="-5" dirty="0">
                <a:latin typeface="微软雅黑" panose="020B0503020204020204" pitchFamily="34" charset="-122"/>
                <a:cs typeface="微软雅黑" panose="020B0503020204020204" pitchFamily="34" charset="-122"/>
              </a:rPr>
              <a:t> </a:t>
            </a:r>
            <a:r>
              <a:rPr sz="2400" dirty="0">
                <a:latin typeface="微软雅黑" panose="020B0503020204020204" pitchFamily="34" charset="-122"/>
                <a:cs typeface="微软雅黑" panose="020B0503020204020204" pitchFamily="34" charset="-122"/>
              </a:rPr>
              <a:t>单一功能</a:t>
            </a:r>
          </a:p>
          <a:p>
            <a:pPr marL="355600" indent="-342900">
              <a:lnSpc>
                <a:spcPct val="100000"/>
              </a:lnSpc>
              <a:spcBef>
                <a:spcPts val="820"/>
              </a:spcBef>
              <a:buFont typeface="Arial" panose="020B0604020202020204"/>
              <a:buChar char="•"/>
              <a:tabLst>
                <a:tab pos="354965" algn="l"/>
                <a:tab pos="355600" algn="l"/>
              </a:tabLst>
            </a:pPr>
            <a:r>
              <a:rPr sz="2400" b="1" dirty="0">
                <a:latin typeface="微软雅黑" panose="020B0503020204020204" pitchFamily="34" charset="-122"/>
                <a:cs typeface="微软雅黑" panose="020B0503020204020204" pitchFamily="34" charset="-122"/>
              </a:rPr>
              <a:t>单一职责：只有一个引起变化的原因</a:t>
            </a:r>
          </a:p>
        </p:txBody>
      </p:sp>
      <p:sp>
        <p:nvSpPr>
          <p:cNvPr id="7" name="标题 6"/>
          <p:cNvSpPr>
            <a:spLocks noGrp="1"/>
          </p:cNvSpPr>
          <p:nvPr>
            <p:ph type="title"/>
          </p:nvPr>
        </p:nvSpPr>
        <p:spPr/>
        <p:txBody>
          <a:bodyPr/>
          <a:lstStyle/>
          <a:p>
            <a:r>
              <a:rPr lang="zh-CN" altLang="en-US" dirty="0"/>
              <a:t>模块化程序设计</a:t>
            </a:r>
          </a:p>
        </p:txBody>
      </p:sp>
      <p:sp>
        <p:nvSpPr>
          <p:cNvPr id="6" name="灯片编号占位符 5"/>
          <p:cNvSpPr>
            <a:spLocks noGrp="1"/>
          </p:cNvSpPr>
          <p:nvPr>
            <p:ph type="sldNum" sz="quarter" idx="12"/>
          </p:nvPr>
        </p:nvSpPr>
        <p:spPr/>
        <p:txBody>
          <a:bodyPr/>
          <a:lstStyle/>
          <a:p>
            <a:fld id="{74D2AB8B-5816-41F2-8B4B-CA5C3E4E6A65}" type="slidenum">
              <a:rPr lang="zh-CN" altLang="en-US" smtClean="0"/>
              <a:t>34</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79164"/>
    </mc:Choice>
    <mc:Fallback xmlns="">
      <p:transition spd="slow" advTm="79164"/>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838999" y="1863388"/>
            <a:ext cx="4372763" cy="1166682"/>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4035828" y="3345872"/>
            <a:ext cx="2011679" cy="1862051"/>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4060768" y="3370811"/>
            <a:ext cx="2011679" cy="1866206"/>
          </a:xfrm>
          <a:prstGeom prst="rect">
            <a:avLst/>
          </a:prstGeom>
          <a:blipFill>
            <a:blip r:embed="rId5" cstate="print"/>
            <a:stretch>
              <a:fillRect/>
            </a:stretch>
          </a:blipFill>
        </p:spPr>
        <p:txBody>
          <a:bodyPr wrap="square" lIns="0" tIns="0" rIns="0" bIns="0" rtlCol="0"/>
          <a:lstStyle/>
          <a:p>
            <a:endParaRPr/>
          </a:p>
        </p:txBody>
      </p:sp>
      <p:sp>
        <p:nvSpPr>
          <p:cNvPr id="6" name="object 6"/>
          <p:cNvSpPr/>
          <p:nvPr/>
        </p:nvSpPr>
        <p:spPr>
          <a:xfrm>
            <a:off x="4081721" y="3389784"/>
            <a:ext cx="1943999" cy="1800000"/>
          </a:xfrm>
          <a:prstGeom prst="rect">
            <a:avLst/>
          </a:prstGeom>
          <a:blipFill>
            <a:blip r:embed="rId6" cstate="print"/>
            <a:stretch>
              <a:fillRect/>
            </a:stretch>
          </a:blipFill>
        </p:spPr>
        <p:txBody>
          <a:bodyPr wrap="square" lIns="0" tIns="0" rIns="0" bIns="0" rtlCol="0"/>
          <a:lstStyle/>
          <a:p>
            <a:endParaRPr/>
          </a:p>
        </p:txBody>
      </p:sp>
      <p:sp>
        <p:nvSpPr>
          <p:cNvPr id="7" name="object 7"/>
          <p:cNvSpPr/>
          <p:nvPr/>
        </p:nvSpPr>
        <p:spPr>
          <a:xfrm>
            <a:off x="4081721" y="3389784"/>
            <a:ext cx="1975485" cy="1828800"/>
          </a:xfrm>
          <a:custGeom>
            <a:avLst/>
            <a:gdLst/>
            <a:ahLst/>
            <a:cxnLst/>
            <a:rect l="l" t="t" r="r" b="b"/>
            <a:pathLst>
              <a:path w="1975485" h="1828800">
                <a:moveTo>
                  <a:pt x="0" y="535600"/>
                </a:moveTo>
                <a:lnTo>
                  <a:pt x="535600" y="0"/>
                </a:lnTo>
                <a:lnTo>
                  <a:pt x="1439502" y="0"/>
                </a:lnTo>
                <a:lnTo>
                  <a:pt x="1975102" y="535600"/>
                </a:lnTo>
                <a:lnTo>
                  <a:pt x="1975102" y="1293199"/>
                </a:lnTo>
                <a:lnTo>
                  <a:pt x="1439502" y="1828799"/>
                </a:lnTo>
                <a:lnTo>
                  <a:pt x="535600" y="1828799"/>
                </a:lnTo>
                <a:lnTo>
                  <a:pt x="0" y="1293199"/>
                </a:lnTo>
                <a:lnTo>
                  <a:pt x="0" y="535600"/>
                </a:lnTo>
                <a:close/>
              </a:path>
            </a:pathLst>
          </a:custGeom>
          <a:ln w="58064">
            <a:solidFill>
              <a:srgbClr val="D6E3ED"/>
            </a:solidFill>
          </a:ln>
        </p:spPr>
        <p:txBody>
          <a:bodyPr wrap="square" lIns="0" tIns="0" rIns="0" bIns="0" rtlCol="0"/>
          <a:lstStyle/>
          <a:p>
            <a:endParaRPr/>
          </a:p>
        </p:txBody>
      </p:sp>
      <p:sp>
        <p:nvSpPr>
          <p:cNvPr id="8" name="object 8"/>
          <p:cNvSpPr txBox="1"/>
          <p:nvPr/>
        </p:nvSpPr>
        <p:spPr>
          <a:xfrm>
            <a:off x="4843143" y="4033245"/>
            <a:ext cx="431800" cy="513080"/>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FFFFFF"/>
                </a:solidFill>
                <a:latin typeface="微软雅黑" panose="020B0503020204020204" pitchFamily="34" charset="-122"/>
                <a:cs typeface="微软雅黑" panose="020B0503020204020204" pitchFamily="34" charset="-122"/>
              </a:rPr>
              <a:t>类</a:t>
            </a:r>
            <a:endParaRPr sz="3200">
              <a:latin typeface="微软雅黑" panose="020B0503020204020204" pitchFamily="34" charset="-122"/>
              <a:cs typeface="微软雅黑" panose="020B0503020204020204" pitchFamily="34" charset="-122"/>
            </a:endParaRPr>
          </a:p>
        </p:txBody>
      </p:sp>
      <p:sp>
        <p:nvSpPr>
          <p:cNvPr id="9" name="object 9"/>
          <p:cNvSpPr/>
          <p:nvPr/>
        </p:nvSpPr>
        <p:spPr>
          <a:xfrm>
            <a:off x="6059977" y="3354185"/>
            <a:ext cx="2007523" cy="1866206"/>
          </a:xfrm>
          <a:prstGeom prst="rect">
            <a:avLst/>
          </a:prstGeom>
          <a:blipFill>
            <a:blip r:embed="rId7" cstate="print"/>
            <a:stretch>
              <a:fillRect/>
            </a:stretch>
          </a:blipFill>
        </p:spPr>
        <p:txBody>
          <a:bodyPr wrap="square" lIns="0" tIns="0" rIns="0" bIns="0" rtlCol="0"/>
          <a:lstStyle/>
          <a:p>
            <a:endParaRPr/>
          </a:p>
        </p:txBody>
      </p:sp>
      <p:sp>
        <p:nvSpPr>
          <p:cNvPr id="10" name="object 10"/>
          <p:cNvSpPr/>
          <p:nvPr/>
        </p:nvSpPr>
        <p:spPr>
          <a:xfrm>
            <a:off x="6084916" y="3379124"/>
            <a:ext cx="2007523" cy="1866206"/>
          </a:xfrm>
          <a:prstGeom prst="rect">
            <a:avLst/>
          </a:prstGeom>
          <a:blipFill>
            <a:blip r:embed="rId8" cstate="print"/>
            <a:stretch>
              <a:fillRect/>
            </a:stretch>
          </a:blipFill>
        </p:spPr>
        <p:txBody>
          <a:bodyPr wrap="square" lIns="0" tIns="0" rIns="0" bIns="0" rtlCol="0"/>
          <a:lstStyle/>
          <a:p>
            <a:endParaRPr/>
          </a:p>
        </p:txBody>
      </p:sp>
      <p:sp>
        <p:nvSpPr>
          <p:cNvPr id="11" name="object 11"/>
          <p:cNvSpPr/>
          <p:nvPr/>
        </p:nvSpPr>
        <p:spPr>
          <a:xfrm>
            <a:off x="6104765" y="3399308"/>
            <a:ext cx="1943997" cy="1799998"/>
          </a:xfrm>
          <a:prstGeom prst="rect">
            <a:avLst/>
          </a:prstGeom>
          <a:blipFill>
            <a:blip r:embed="rId9" cstate="print"/>
            <a:stretch>
              <a:fillRect/>
            </a:stretch>
          </a:blipFill>
        </p:spPr>
        <p:txBody>
          <a:bodyPr wrap="square" lIns="0" tIns="0" rIns="0" bIns="0" rtlCol="0"/>
          <a:lstStyle/>
          <a:p>
            <a:endParaRPr/>
          </a:p>
        </p:txBody>
      </p:sp>
      <p:sp>
        <p:nvSpPr>
          <p:cNvPr id="12" name="object 12"/>
          <p:cNvSpPr/>
          <p:nvPr/>
        </p:nvSpPr>
        <p:spPr>
          <a:xfrm>
            <a:off x="6104765" y="3399308"/>
            <a:ext cx="1975485" cy="1828800"/>
          </a:xfrm>
          <a:custGeom>
            <a:avLst/>
            <a:gdLst/>
            <a:ahLst/>
            <a:cxnLst/>
            <a:rect l="l" t="t" r="r" b="b"/>
            <a:pathLst>
              <a:path w="1975484" h="1828800">
                <a:moveTo>
                  <a:pt x="0" y="535600"/>
                </a:moveTo>
                <a:lnTo>
                  <a:pt x="535600" y="0"/>
                </a:lnTo>
                <a:lnTo>
                  <a:pt x="1439502" y="0"/>
                </a:lnTo>
                <a:lnTo>
                  <a:pt x="1975102" y="535600"/>
                </a:lnTo>
                <a:lnTo>
                  <a:pt x="1975102" y="1293199"/>
                </a:lnTo>
                <a:lnTo>
                  <a:pt x="1439502" y="1828799"/>
                </a:lnTo>
                <a:lnTo>
                  <a:pt x="535600" y="1828799"/>
                </a:lnTo>
                <a:lnTo>
                  <a:pt x="0" y="1293199"/>
                </a:lnTo>
                <a:lnTo>
                  <a:pt x="0" y="535600"/>
                </a:lnTo>
                <a:close/>
              </a:path>
            </a:pathLst>
          </a:custGeom>
          <a:ln w="58064">
            <a:solidFill>
              <a:srgbClr val="D6E3ED"/>
            </a:solidFill>
          </a:ln>
        </p:spPr>
        <p:txBody>
          <a:bodyPr wrap="square" lIns="0" tIns="0" rIns="0" bIns="0" rtlCol="0"/>
          <a:lstStyle/>
          <a:p>
            <a:endParaRPr/>
          </a:p>
        </p:txBody>
      </p:sp>
      <p:sp>
        <p:nvSpPr>
          <p:cNvPr id="13" name="object 13"/>
          <p:cNvSpPr txBox="1"/>
          <p:nvPr/>
        </p:nvSpPr>
        <p:spPr>
          <a:xfrm>
            <a:off x="6662987" y="4042767"/>
            <a:ext cx="838200" cy="513080"/>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FFFFFF"/>
                </a:solidFill>
                <a:latin typeface="微软雅黑" panose="020B0503020204020204" pitchFamily="34" charset="-122"/>
                <a:cs typeface="微软雅黑" panose="020B0503020204020204" pitchFamily="34" charset="-122"/>
              </a:rPr>
              <a:t>模块</a:t>
            </a:r>
            <a:endParaRPr sz="3200">
              <a:latin typeface="微软雅黑" panose="020B0503020204020204" pitchFamily="34" charset="-122"/>
              <a:cs typeface="微软雅黑" panose="020B0503020204020204" pitchFamily="34" charset="-122"/>
            </a:endParaRPr>
          </a:p>
        </p:txBody>
      </p:sp>
      <p:sp>
        <p:nvSpPr>
          <p:cNvPr id="14" name="object 14"/>
          <p:cNvSpPr/>
          <p:nvPr/>
        </p:nvSpPr>
        <p:spPr>
          <a:xfrm>
            <a:off x="2003367" y="3354185"/>
            <a:ext cx="2007523" cy="1866206"/>
          </a:xfrm>
          <a:prstGeom prst="rect">
            <a:avLst/>
          </a:prstGeom>
          <a:blipFill>
            <a:blip r:embed="rId10" cstate="print"/>
            <a:stretch>
              <a:fillRect/>
            </a:stretch>
          </a:blipFill>
        </p:spPr>
        <p:txBody>
          <a:bodyPr wrap="square" lIns="0" tIns="0" rIns="0" bIns="0" rtlCol="0"/>
          <a:lstStyle/>
          <a:p>
            <a:endParaRPr/>
          </a:p>
        </p:txBody>
      </p:sp>
      <p:sp>
        <p:nvSpPr>
          <p:cNvPr id="15" name="object 15"/>
          <p:cNvSpPr/>
          <p:nvPr/>
        </p:nvSpPr>
        <p:spPr>
          <a:xfrm>
            <a:off x="2028305" y="3379124"/>
            <a:ext cx="2011680" cy="1866206"/>
          </a:xfrm>
          <a:prstGeom prst="rect">
            <a:avLst/>
          </a:prstGeom>
          <a:blipFill>
            <a:blip r:embed="rId11" cstate="print"/>
            <a:stretch>
              <a:fillRect/>
            </a:stretch>
          </a:blipFill>
        </p:spPr>
        <p:txBody>
          <a:bodyPr wrap="square" lIns="0" tIns="0" rIns="0" bIns="0" rtlCol="0"/>
          <a:lstStyle/>
          <a:p>
            <a:endParaRPr/>
          </a:p>
        </p:txBody>
      </p:sp>
      <p:sp>
        <p:nvSpPr>
          <p:cNvPr id="16" name="object 16"/>
          <p:cNvSpPr/>
          <p:nvPr/>
        </p:nvSpPr>
        <p:spPr>
          <a:xfrm>
            <a:off x="2048932" y="3399309"/>
            <a:ext cx="1943999" cy="1800000"/>
          </a:xfrm>
          <a:prstGeom prst="rect">
            <a:avLst/>
          </a:prstGeom>
          <a:blipFill>
            <a:blip r:embed="rId12" cstate="print"/>
            <a:stretch>
              <a:fillRect/>
            </a:stretch>
          </a:blipFill>
        </p:spPr>
        <p:txBody>
          <a:bodyPr wrap="square" lIns="0" tIns="0" rIns="0" bIns="0" rtlCol="0"/>
          <a:lstStyle/>
          <a:p>
            <a:endParaRPr/>
          </a:p>
        </p:txBody>
      </p:sp>
      <p:sp>
        <p:nvSpPr>
          <p:cNvPr id="17" name="object 17"/>
          <p:cNvSpPr/>
          <p:nvPr/>
        </p:nvSpPr>
        <p:spPr>
          <a:xfrm>
            <a:off x="2048932" y="3399309"/>
            <a:ext cx="1975485" cy="1828800"/>
          </a:xfrm>
          <a:custGeom>
            <a:avLst/>
            <a:gdLst/>
            <a:ahLst/>
            <a:cxnLst/>
            <a:rect l="l" t="t" r="r" b="b"/>
            <a:pathLst>
              <a:path w="1975485" h="1828800">
                <a:moveTo>
                  <a:pt x="0" y="535600"/>
                </a:moveTo>
                <a:lnTo>
                  <a:pt x="535600" y="0"/>
                </a:lnTo>
                <a:lnTo>
                  <a:pt x="1439502" y="0"/>
                </a:lnTo>
                <a:lnTo>
                  <a:pt x="1975102" y="535600"/>
                </a:lnTo>
                <a:lnTo>
                  <a:pt x="1975102" y="1293199"/>
                </a:lnTo>
                <a:lnTo>
                  <a:pt x="1439502" y="1828799"/>
                </a:lnTo>
                <a:lnTo>
                  <a:pt x="535600" y="1828799"/>
                </a:lnTo>
                <a:lnTo>
                  <a:pt x="0" y="1293199"/>
                </a:lnTo>
                <a:lnTo>
                  <a:pt x="0" y="535600"/>
                </a:lnTo>
                <a:close/>
              </a:path>
            </a:pathLst>
          </a:custGeom>
          <a:ln w="58064">
            <a:solidFill>
              <a:srgbClr val="D6E3ED"/>
            </a:solidFill>
          </a:ln>
        </p:spPr>
        <p:txBody>
          <a:bodyPr wrap="square" lIns="0" tIns="0" rIns="0" bIns="0" rtlCol="0"/>
          <a:lstStyle/>
          <a:p>
            <a:endParaRPr/>
          </a:p>
        </p:txBody>
      </p:sp>
      <p:sp>
        <p:nvSpPr>
          <p:cNvPr id="18" name="object 18"/>
          <p:cNvSpPr txBox="1"/>
          <p:nvPr/>
        </p:nvSpPr>
        <p:spPr>
          <a:xfrm>
            <a:off x="2607155" y="4042770"/>
            <a:ext cx="838200" cy="513080"/>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FFFFFF"/>
                </a:solidFill>
                <a:latin typeface="微软雅黑" panose="020B0503020204020204" pitchFamily="34" charset="-122"/>
                <a:cs typeface="微软雅黑" panose="020B0503020204020204" pitchFamily="34" charset="-122"/>
              </a:rPr>
              <a:t>函数</a:t>
            </a:r>
            <a:endParaRPr sz="3200">
              <a:latin typeface="微软雅黑" panose="020B0503020204020204" pitchFamily="34" charset="-122"/>
              <a:cs typeface="微软雅黑" panose="020B0503020204020204" pitchFamily="34" charset="-122"/>
            </a:endParaRPr>
          </a:p>
        </p:txBody>
      </p:sp>
      <p:sp>
        <p:nvSpPr>
          <p:cNvPr id="19" name="object 19"/>
          <p:cNvSpPr/>
          <p:nvPr/>
        </p:nvSpPr>
        <p:spPr>
          <a:xfrm>
            <a:off x="8084126" y="3395750"/>
            <a:ext cx="2007523" cy="1866206"/>
          </a:xfrm>
          <a:prstGeom prst="rect">
            <a:avLst/>
          </a:prstGeom>
          <a:blipFill>
            <a:blip r:embed="rId13" cstate="print"/>
            <a:stretch>
              <a:fillRect/>
            </a:stretch>
          </a:blipFill>
        </p:spPr>
        <p:txBody>
          <a:bodyPr wrap="square" lIns="0" tIns="0" rIns="0" bIns="0" rtlCol="0"/>
          <a:lstStyle/>
          <a:p>
            <a:endParaRPr/>
          </a:p>
        </p:txBody>
      </p:sp>
      <p:sp>
        <p:nvSpPr>
          <p:cNvPr id="20" name="object 20"/>
          <p:cNvSpPr/>
          <p:nvPr/>
        </p:nvSpPr>
        <p:spPr>
          <a:xfrm>
            <a:off x="8109065" y="3420687"/>
            <a:ext cx="2007523" cy="1866206"/>
          </a:xfrm>
          <a:prstGeom prst="rect">
            <a:avLst/>
          </a:prstGeom>
          <a:blipFill>
            <a:blip r:embed="rId14" cstate="print"/>
            <a:stretch>
              <a:fillRect/>
            </a:stretch>
          </a:blipFill>
        </p:spPr>
        <p:txBody>
          <a:bodyPr wrap="square" lIns="0" tIns="0" rIns="0" bIns="0" rtlCol="0"/>
          <a:lstStyle/>
          <a:p>
            <a:endParaRPr/>
          </a:p>
        </p:txBody>
      </p:sp>
      <p:sp>
        <p:nvSpPr>
          <p:cNvPr id="21" name="object 21"/>
          <p:cNvSpPr/>
          <p:nvPr/>
        </p:nvSpPr>
        <p:spPr>
          <a:xfrm>
            <a:off x="8128006" y="3442170"/>
            <a:ext cx="1943999" cy="1800000"/>
          </a:xfrm>
          <a:prstGeom prst="rect">
            <a:avLst/>
          </a:prstGeom>
          <a:blipFill>
            <a:blip r:embed="rId15" cstate="print"/>
            <a:stretch>
              <a:fillRect/>
            </a:stretch>
          </a:blipFill>
        </p:spPr>
        <p:txBody>
          <a:bodyPr wrap="square" lIns="0" tIns="0" rIns="0" bIns="0" rtlCol="0"/>
          <a:lstStyle/>
          <a:p>
            <a:endParaRPr/>
          </a:p>
        </p:txBody>
      </p:sp>
      <p:sp>
        <p:nvSpPr>
          <p:cNvPr id="22" name="object 22"/>
          <p:cNvSpPr/>
          <p:nvPr/>
        </p:nvSpPr>
        <p:spPr>
          <a:xfrm>
            <a:off x="8128007" y="3442169"/>
            <a:ext cx="1975485" cy="1828800"/>
          </a:xfrm>
          <a:custGeom>
            <a:avLst/>
            <a:gdLst/>
            <a:ahLst/>
            <a:cxnLst/>
            <a:rect l="l" t="t" r="r" b="b"/>
            <a:pathLst>
              <a:path w="1975484" h="1828800">
                <a:moveTo>
                  <a:pt x="0" y="535600"/>
                </a:moveTo>
                <a:lnTo>
                  <a:pt x="535601" y="0"/>
                </a:lnTo>
                <a:lnTo>
                  <a:pt x="1439502" y="0"/>
                </a:lnTo>
                <a:lnTo>
                  <a:pt x="1975102" y="535600"/>
                </a:lnTo>
                <a:lnTo>
                  <a:pt x="1975102" y="1293199"/>
                </a:lnTo>
                <a:lnTo>
                  <a:pt x="1439502" y="1828799"/>
                </a:lnTo>
                <a:lnTo>
                  <a:pt x="535601" y="1828799"/>
                </a:lnTo>
                <a:lnTo>
                  <a:pt x="0" y="1293199"/>
                </a:lnTo>
                <a:lnTo>
                  <a:pt x="0" y="535600"/>
                </a:lnTo>
                <a:close/>
              </a:path>
            </a:pathLst>
          </a:custGeom>
          <a:ln w="58064">
            <a:solidFill>
              <a:srgbClr val="D6E3ED"/>
            </a:solidFill>
          </a:ln>
        </p:spPr>
        <p:txBody>
          <a:bodyPr wrap="square" lIns="0" tIns="0" rIns="0" bIns="0" rtlCol="0"/>
          <a:lstStyle/>
          <a:p>
            <a:endParaRPr/>
          </a:p>
        </p:txBody>
      </p:sp>
      <p:sp>
        <p:nvSpPr>
          <p:cNvPr id="23" name="object 23"/>
          <p:cNvSpPr txBox="1"/>
          <p:nvPr/>
        </p:nvSpPr>
        <p:spPr>
          <a:xfrm>
            <a:off x="8889431" y="4085630"/>
            <a:ext cx="431800" cy="513080"/>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FFFFFF"/>
                </a:solidFill>
                <a:latin typeface="微软雅黑" panose="020B0503020204020204" pitchFamily="34" charset="-122"/>
                <a:cs typeface="微软雅黑" panose="020B0503020204020204" pitchFamily="34" charset="-122"/>
              </a:rPr>
              <a:t>包</a:t>
            </a:r>
            <a:endParaRPr sz="3200">
              <a:latin typeface="微软雅黑" panose="020B0503020204020204" pitchFamily="34" charset="-122"/>
              <a:cs typeface="微软雅黑" panose="020B0503020204020204" pitchFamily="34" charset="-122"/>
            </a:endParaRPr>
          </a:p>
        </p:txBody>
      </p:sp>
      <p:sp>
        <p:nvSpPr>
          <p:cNvPr id="25" name="标题 24"/>
          <p:cNvSpPr>
            <a:spLocks noGrp="1"/>
          </p:cNvSpPr>
          <p:nvPr>
            <p:ph type="title"/>
          </p:nvPr>
        </p:nvSpPr>
        <p:spPr/>
        <p:txBody>
          <a:bodyPr/>
          <a:lstStyle/>
          <a:p>
            <a:r>
              <a:rPr lang="en-US" altLang="zh-CN" dirty="0">
                <a:latin typeface="Arial" panose="020B0604020202020204"/>
                <a:cs typeface="Arial" panose="020B0604020202020204"/>
              </a:rPr>
              <a:t>Pyt</a:t>
            </a:r>
            <a:r>
              <a:rPr lang="en-US" altLang="zh-CN" spc="-5" dirty="0">
                <a:latin typeface="Arial" panose="020B0604020202020204"/>
                <a:cs typeface="Arial" panose="020B0604020202020204"/>
              </a:rPr>
              <a:t>ho</a:t>
            </a:r>
            <a:r>
              <a:rPr lang="en-US" altLang="zh-CN" dirty="0">
                <a:latin typeface="Arial" panose="020B0604020202020204"/>
                <a:cs typeface="Arial" panose="020B0604020202020204"/>
              </a:rPr>
              <a:t>n</a:t>
            </a:r>
            <a:r>
              <a:rPr lang="zh-CN" altLang="en-US" dirty="0"/>
              <a:t>的模块化设计</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35</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4108"/>
    </mc:Choice>
    <mc:Fallback xmlns="">
      <p:transition spd="slow" advTm="34108"/>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13456" y="1466813"/>
            <a:ext cx="9910445" cy="588010"/>
          </a:xfrm>
          <a:prstGeom prst="rect">
            <a:avLst/>
          </a:prstGeom>
          <a:solidFill>
            <a:srgbClr val="ECEBEB"/>
          </a:solidFill>
        </p:spPr>
        <p:txBody>
          <a:bodyPr vert="horz" wrap="square" lIns="0" tIns="127635" rIns="0" bIns="0" rtlCol="0">
            <a:spAutoFit/>
          </a:bodyPr>
          <a:lstStyle/>
          <a:p>
            <a:pPr marL="921385">
              <a:lnSpc>
                <a:spcPct val="100000"/>
              </a:lnSpc>
              <a:spcBef>
                <a:spcPts val="1005"/>
              </a:spcBef>
            </a:pPr>
            <a:r>
              <a:rPr sz="2200" dirty="0">
                <a:latin typeface="微软雅黑" panose="020B0503020204020204" pitchFamily="34" charset="-122"/>
                <a:cs typeface="微软雅黑" panose="020B0503020204020204" pitchFamily="34" charset="-122"/>
              </a:rPr>
              <a:t>生命游戏是英国数学家约翰</a:t>
            </a:r>
            <a:r>
              <a:rPr sz="2200" dirty="0">
                <a:latin typeface="Arial" panose="020B0604020202020204"/>
                <a:cs typeface="Arial" panose="020B0604020202020204"/>
              </a:rPr>
              <a:t>·</a:t>
            </a:r>
            <a:r>
              <a:rPr sz="2200" dirty="0">
                <a:latin typeface="微软雅黑" panose="020B0503020204020204" pitchFamily="34" charset="-122"/>
                <a:cs typeface="微软雅黑" panose="020B0503020204020204" pitchFamily="34" charset="-122"/>
              </a:rPr>
              <a:t>何顿</a:t>
            </a:r>
            <a:r>
              <a:rPr sz="2200" dirty="0">
                <a:latin typeface="Arial" panose="020B0604020202020204"/>
                <a:cs typeface="Arial" panose="020B0604020202020204"/>
              </a:rPr>
              <a:t>·</a:t>
            </a:r>
            <a:r>
              <a:rPr sz="2200" dirty="0">
                <a:latin typeface="微软雅黑" panose="020B0503020204020204" pitchFamily="34" charset="-122"/>
                <a:cs typeface="微软雅黑" panose="020B0503020204020204" pitchFamily="34" charset="-122"/>
              </a:rPr>
              <a:t>康威在</a:t>
            </a:r>
            <a:r>
              <a:rPr sz="2200" spc="-5" dirty="0">
                <a:latin typeface="Arial" panose="020B0604020202020204"/>
                <a:cs typeface="Arial" panose="020B0604020202020204"/>
              </a:rPr>
              <a:t>1970</a:t>
            </a:r>
            <a:r>
              <a:rPr sz="2200" dirty="0">
                <a:latin typeface="微软雅黑" panose="020B0503020204020204" pitchFamily="34" charset="-122"/>
                <a:cs typeface="微软雅黑" panose="020B0503020204020204" pitchFamily="34" charset="-122"/>
              </a:rPr>
              <a:t>年发明的细胞自动机。</a:t>
            </a:r>
            <a:endParaRPr sz="2200">
              <a:latin typeface="微软雅黑" panose="020B0503020204020204" pitchFamily="34" charset="-122"/>
              <a:cs typeface="微软雅黑" panose="020B0503020204020204" pitchFamily="34" charset="-122"/>
            </a:endParaRPr>
          </a:p>
        </p:txBody>
      </p:sp>
      <p:sp>
        <p:nvSpPr>
          <p:cNvPr id="4" name="object 4"/>
          <p:cNvSpPr/>
          <p:nvPr/>
        </p:nvSpPr>
        <p:spPr>
          <a:xfrm>
            <a:off x="2180235" y="2457523"/>
            <a:ext cx="502284" cy="502284"/>
          </a:xfrm>
          <a:custGeom>
            <a:avLst/>
            <a:gdLst/>
            <a:ahLst/>
            <a:cxnLst/>
            <a:rect l="l" t="t" r="r" b="b"/>
            <a:pathLst>
              <a:path w="502285"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6CACDD"/>
            </a:solidFill>
          </a:ln>
        </p:spPr>
        <p:txBody>
          <a:bodyPr wrap="square" lIns="0" tIns="0" rIns="0" bIns="0" rtlCol="0"/>
          <a:lstStyle/>
          <a:p>
            <a:endParaRPr/>
          </a:p>
        </p:txBody>
      </p:sp>
      <p:sp>
        <p:nvSpPr>
          <p:cNvPr id="5" name="object 5"/>
          <p:cNvSpPr/>
          <p:nvPr/>
        </p:nvSpPr>
        <p:spPr>
          <a:xfrm>
            <a:off x="2674011" y="2457523"/>
            <a:ext cx="494030" cy="494030"/>
          </a:xfrm>
          <a:custGeom>
            <a:avLst/>
            <a:gdLst/>
            <a:ahLst/>
            <a:cxnLst/>
            <a:rect l="l" t="t" r="r" b="b"/>
            <a:pathLst>
              <a:path w="494030" h="494030">
                <a:moveTo>
                  <a:pt x="411477" y="0"/>
                </a:moveTo>
                <a:lnTo>
                  <a:pt x="82298" y="0"/>
                </a:lnTo>
                <a:lnTo>
                  <a:pt x="50264" y="6467"/>
                </a:lnTo>
                <a:lnTo>
                  <a:pt x="24104" y="24104"/>
                </a:lnTo>
                <a:lnTo>
                  <a:pt x="6467" y="50264"/>
                </a:lnTo>
                <a:lnTo>
                  <a:pt x="0" y="82298"/>
                </a:lnTo>
                <a:lnTo>
                  <a:pt x="0" y="411477"/>
                </a:lnTo>
                <a:lnTo>
                  <a:pt x="6467" y="443511"/>
                </a:lnTo>
                <a:lnTo>
                  <a:pt x="24104" y="469671"/>
                </a:lnTo>
                <a:lnTo>
                  <a:pt x="50264" y="487308"/>
                </a:lnTo>
                <a:lnTo>
                  <a:pt x="82298" y="493775"/>
                </a:lnTo>
                <a:lnTo>
                  <a:pt x="411477" y="493775"/>
                </a:lnTo>
                <a:lnTo>
                  <a:pt x="443511" y="487308"/>
                </a:lnTo>
                <a:lnTo>
                  <a:pt x="469671" y="469671"/>
                </a:lnTo>
                <a:lnTo>
                  <a:pt x="487308" y="443511"/>
                </a:lnTo>
                <a:lnTo>
                  <a:pt x="493775" y="411477"/>
                </a:lnTo>
                <a:lnTo>
                  <a:pt x="493775" y="82298"/>
                </a:lnTo>
                <a:lnTo>
                  <a:pt x="487308" y="50264"/>
                </a:lnTo>
                <a:lnTo>
                  <a:pt x="469671" y="24104"/>
                </a:lnTo>
                <a:lnTo>
                  <a:pt x="443511" y="6467"/>
                </a:lnTo>
                <a:lnTo>
                  <a:pt x="411477" y="0"/>
                </a:lnTo>
                <a:close/>
              </a:path>
            </a:pathLst>
          </a:custGeom>
          <a:solidFill>
            <a:srgbClr val="FFFFFF"/>
          </a:solidFill>
        </p:spPr>
        <p:txBody>
          <a:bodyPr wrap="square" lIns="0" tIns="0" rIns="0" bIns="0" rtlCol="0"/>
          <a:lstStyle/>
          <a:p>
            <a:endParaRPr/>
          </a:p>
        </p:txBody>
      </p:sp>
      <p:sp>
        <p:nvSpPr>
          <p:cNvPr id="6" name="object 6"/>
          <p:cNvSpPr/>
          <p:nvPr/>
        </p:nvSpPr>
        <p:spPr>
          <a:xfrm>
            <a:off x="2674011" y="2457523"/>
            <a:ext cx="502284" cy="502284"/>
          </a:xfrm>
          <a:custGeom>
            <a:avLst/>
            <a:gdLst/>
            <a:ahLst/>
            <a:cxnLst/>
            <a:rect l="l" t="t" r="r" b="b"/>
            <a:pathLst>
              <a:path w="502285"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6CACDD"/>
            </a:solidFill>
          </a:ln>
        </p:spPr>
        <p:txBody>
          <a:bodyPr wrap="square" lIns="0" tIns="0" rIns="0" bIns="0" rtlCol="0"/>
          <a:lstStyle/>
          <a:p>
            <a:endParaRPr/>
          </a:p>
        </p:txBody>
      </p:sp>
      <p:sp>
        <p:nvSpPr>
          <p:cNvPr id="7" name="object 7"/>
          <p:cNvSpPr/>
          <p:nvPr/>
        </p:nvSpPr>
        <p:spPr>
          <a:xfrm>
            <a:off x="3167787" y="2457523"/>
            <a:ext cx="494030" cy="494030"/>
          </a:xfrm>
          <a:custGeom>
            <a:avLst/>
            <a:gdLst/>
            <a:ahLst/>
            <a:cxnLst/>
            <a:rect l="l" t="t" r="r" b="b"/>
            <a:pathLst>
              <a:path w="494029" h="494030">
                <a:moveTo>
                  <a:pt x="411477" y="0"/>
                </a:moveTo>
                <a:lnTo>
                  <a:pt x="82298" y="0"/>
                </a:lnTo>
                <a:lnTo>
                  <a:pt x="50264" y="6467"/>
                </a:lnTo>
                <a:lnTo>
                  <a:pt x="24104" y="24104"/>
                </a:lnTo>
                <a:lnTo>
                  <a:pt x="6467" y="50264"/>
                </a:lnTo>
                <a:lnTo>
                  <a:pt x="0" y="82298"/>
                </a:lnTo>
                <a:lnTo>
                  <a:pt x="0" y="411477"/>
                </a:lnTo>
                <a:lnTo>
                  <a:pt x="6467" y="443511"/>
                </a:lnTo>
                <a:lnTo>
                  <a:pt x="24104" y="469671"/>
                </a:lnTo>
                <a:lnTo>
                  <a:pt x="50264" y="487308"/>
                </a:lnTo>
                <a:lnTo>
                  <a:pt x="82298" y="493775"/>
                </a:lnTo>
                <a:lnTo>
                  <a:pt x="411477" y="493775"/>
                </a:lnTo>
                <a:lnTo>
                  <a:pt x="443511" y="487308"/>
                </a:lnTo>
                <a:lnTo>
                  <a:pt x="469671" y="469671"/>
                </a:lnTo>
                <a:lnTo>
                  <a:pt x="487308" y="443511"/>
                </a:lnTo>
                <a:lnTo>
                  <a:pt x="493775" y="411477"/>
                </a:lnTo>
                <a:lnTo>
                  <a:pt x="493775" y="82298"/>
                </a:lnTo>
                <a:lnTo>
                  <a:pt x="487308" y="50264"/>
                </a:lnTo>
                <a:lnTo>
                  <a:pt x="469671" y="24104"/>
                </a:lnTo>
                <a:lnTo>
                  <a:pt x="443511" y="6467"/>
                </a:lnTo>
                <a:lnTo>
                  <a:pt x="411477" y="0"/>
                </a:lnTo>
                <a:close/>
              </a:path>
            </a:pathLst>
          </a:custGeom>
          <a:solidFill>
            <a:srgbClr val="FFFFFF"/>
          </a:solidFill>
        </p:spPr>
        <p:txBody>
          <a:bodyPr wrap="square" lIns="0" tIns="0" rIns="0" bIns="0" rtlCol="0"/>
          <a:lstStyle/>
          <a:p>
            <a:endParaRPr/>
          </a:p>
        </p:txBody>
      </p:sp>
      <p:sp>
        <p:nvSpPr>
          <p:cNvPr id="8" name="object 8"/>
          <p:cNvSpPr/>
          <p:nvPr/>
        </p:nvSpPr>
        <p:spPr>
          <a:xfrm>
            <a:off x="3167787" y="2457523"/>
            <a:ext cx="502284" cy="502284"/>
          </a:xfrm>
          <a:custGeom>
            <a:avLst/>
            <a:gdLst/>
            <a:ahLst/>
            <a:cxnLst/>
            <a:rect l="l" t="t" r="r" b="b"/>
            <a:pathLst>
              <a:path w="502285"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6CACDD"/>
            </a:solidFill>
          </a:ln>
        </p:spPr>
        <p:txBody>
          <a:bodyPr wrap="square" lIns="0" tIns="0" rIns="0" bIns="0" rtlCol="0"/>
          <a:lstStyle/>
          <a:p>
            <a:endParaRPr/>
          </a:p>
        </p:txBody>
      </p:sp>
      <p:sp>
        <p:nvSpPr>
          <p:cNvPr id="9" name="object 9"/>
          <p:cNvSpPr/>
          <p:nvPr/>
        </p:nvSpPr>
        <p:spPr>
          <a:xfrm>
            <a:off x="2180235" y="2951299"/>
            <a:ext cx="494030" cy="494030"/>
          </a:xfrm>
          <a:custGeom>
            <a:avLst/>
            <a:gdLst/>
            <a:ahLst/>
            <a:cxnLst/>
            <a:rect l="l" t="t" r="r" b="b"/>
            <a:pathLst>
              <a:path w="494030" h="494029">
                <a:moveTo>
                  <a:pt x="411477" y="0"/>
                </a:moveTo>
                <a:lnTo>
                  <a:pt x="82298" y="0"/>
                </a:lnTo>
                <a:lnTo>
                  <a:pt x="50264" y="6467"/>
                </a:lnTo>
                <a:lnTo>
                  <a:pt x="24104" y="24104"/>
                </a:lnTo>
                <a:lnTo>
                  <a:pt x="6467" y="50263"/>
                </a:lnTo>
                <a:lnTo>
                  <a:pt x="0" y="82297"/>
                </a:lnTo>
                <a:lnTo>
                  <a:pt x="0" y="411477"/>
                </a:lnTo>
                <a:lnTo>
                  <a:pt x="6467" y="443511"/>
                </a:lnTo>
                <a:lnTo>
                  <a:pt x="24104" y="469671"/>
                </a:lnTo>
                <a:lnTo>
                  <a:pt x="50264" y="487308"/>
                </a:lnTo>
                <a:lnTo>
                  <a:pt x="82298" y="493775"/>
                </a:lnTo>
                <a:lnTo>
                  <a:pt x="411477" y="493775"/>
                </a:lnTo>
                <a:lnTo>
                  <a:pt x="443511" y="487308"/>
                </a:lnTo>
                <a:lnTo>
                  <a:pt x="469671" y="469671"/>
                </a:lnTo>
                <a:lnTo>
                  <a:pt x="487308" y="443511"/>
                </a:lnTo>
                <a:lnTo>
                  <a:pt x="493775" y="411477"/>
                </a:lnTo>
                <a:lnTo>
                  <a:pt x="493775" y="82297"/>
                </a:lnTo>
                <a:lnTo>
                  <a:pt x="487308" y="50263"/>
                </a:lnTo>
                <a:lnTo>
                  <a:pt x="469671" y="24104"/>
                </a:lnTo>
                <a:lnTo>
                  <a:pt x="443511" y="6467"/>
                </a:lnTo>
                <a:lnTo>
                  <a:pt x="411477" y="0"/>
                </a:lnTo>
                <a:close/>
              </a:path>
            </a:pathLst>
          </a:custGeom>
          <a:solidFill>
            <a:srgbClr val="6CACDD"/>
          </a:solidFill>
        </p:spPr>
        <p:txBody>
          <a:bodyPr wrap="square" lIns="0" tIns="0" rIns="0" bIns="0" rtlCol="0"/>
          <a:lstStyle/>
          <a:p>
            <a:endParaRPr/>
          </a:p>
        </p:txBody>
      </p:sp>
      <p:sp>
        <p:nvSpPr>
          <p:cNvPr id="10" name="object 10"/>
          <p:cNvSpPr/>
          <p:nvPr/>
        </p:nvSpPr>
        <p:spPr>
          <a:xfrm>
            <a:off x="2180235" y="2951299"/>
            <a:ext cx="502284" cy="502284"/>
          </a:xfrm>
          <a:custGeom>
            <a:avLst/>
            <a:gdLst/>
            <a:ahLst/>
            <a:cxnLst/>
            <a:rect l="l" t="t" r="r" b="b"/>
            <a:pathLst>
              <a:path w="502285"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5185AC"/>
            </a:solidFill>
          </a:ln>
        </p:spPr>
        <p:txBody>
          <a:bodyPr wrap="square" lIns="0" tIns="0" rIns="0" bIns="0" rtlCol="0"/>
          <a:lstStyle/>
          <a:p>
            <a:endParaRPr/>
          </a:p>
        </p:txBody>
      </p:sp>
      <p:sp>
        <p:nvSpPr>
          <p:cNvPr id="11" name="object 11"/>
          <p:cNvSpPr/>
          <p:nvPr/>
        </p:nvSpPr>
        <p:spPr>
          <a:xfrm>
            <a:off x="2674011" y="2951299"/>
            <a:ext cx="494030" cy="494030"/>
          </a:xfrm>
          <a:custGeom>
            <a:avLst/>
            <a:gdLst/>
            <a:ahLst/>
            <a:cxnLst/>
            <a:rect l="l" t="t" r="r" b="b"/>
            <a:pathLst>
              <a:path w="494030" h="494029">
                <a:moveTo>
                  <a:pt x="411477" y="0"/>
                </a:moveTo>
                <a:lnTo>
                  <a:pt x="82298" y="0"/>
                </a:lnTo>
                <a:lnTo>
                  <a:pt x="50264" y="6467"/>
                </a:lnTo>
                <a:lnTo>
                  <a:pt x="24104" y="24104"/>
                </a:lnTo>
                <a:lnTo>
                  <a:pt x="6467" y="50263"/>
                </a:lnTo>
                <a:lnTo>
                  <a:pt x="0" y="82297"/>
                </a:lnTo>
                <a:lnTo>
                  <a:pt x="0" y="411477"/>
                </a:lnTo>
                <a:lnTo>
                  <a:pt x="6467" y="443511"/>
                </a:lnTo>
                <a:lnTo>
                  <a:pt x="24104" y="469671"/>
                </a:lnTo>
                <a:lnTo>
                  <a:pt x="50264" y="487308"/>
                </a:lnTo>
                <a:lnTo>
                  <a:pt x="82298" y="493775"/>
                </a:lnTo>
                <a:lnTo>
                  <a:pt x="411477" y="493775"/>
                </a:lnTo>
                <a:lnTo>
                  <a:pt x="443511" y="487308"/>
                </a:lnTo>
                <a:lnTo>
                  <a:pt x="469671" y="469671"/>
                </a:lnTo>
                <a:lnTo>
                  <a:pt x="487308" y="443511"/>
                </a:lnTo>
                <a:lnTo>
                  <a:pt x="493775" y="411477"/>
                </a:lnTo>
                <a:lnTo>
                  <a:pt x="493775" y="82297"/>
                </a:lnTo>
                <a:lnTo>
                  <a:pt x="487308" y="50263"/>
                </a:lnTo>
                <a:lnTo>
                  <a:pt x="469671" y="24104"/>
                </a:lnTo>
                <a:lnTo>
                  <a:pt x="443511" y="6467"/>
                </a:lnTo>
                <a:lnTo>
                  <a:pt x="411477" y="0"/>
                </a:lnTo>
                <a:close/>
              </a:path>
            </a:pathLst>
          </a:custGeom>
          <a:solidFill>
            <a:srgbClr val="F2913F"/>
          </a:solidFill>
        </p:spPr>
        <p:txBody>
          <a:bodyPr wrap="square" lIns="0" tIns="0" rIns="0" bIns="0" rtlCol="0"/>
          <a:lstStyle/>
          <a:p>
            <a:endParaRPr/>
          </a:p>
        </p:txBody>
      </p:sp>
      <p:sp>
        <p:nvSpPr>
          <p:cNvPr id="12" name="object 12"/>
          <p:cNvSpPr/>
          <p:nvPr/>
        </p:nvSpPr>
        <p:spPr>
          <a:xfrm>
            <a:off x="2674011" y="2951299"/>
            <a:ext cx="502284" cy="502284"/>
          </a:xfrm>
          <a:custGeom>
            <a:avLst/>
            <a:gdLst/>
            <a:ahLst/>
            <a:cxnLst/>
            <a:rect l="l" t="t" r="r" b="b"/>
            <a:pathLst>
              <a:path w="502285"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BD6E2B"/>
            </a:solidFill>
          </a:ln>
        </p:spPr>
        <p:txBody>
          <a:bodyPr wrap="square" lIns="0" tIns="0" rIns="0" bIns="0" rtlCol="0"/>
          <a:lstStyle/>
          <a:p>
            <a:endParaRPr/>
          </a:p>
        </p:txBody>
      </p:sp>
      <p:sp>
        <p:nvSpPr>
          <p:cNvPr id="13" name="object 13"/>
          <p:cNvSpPr/>
          <p:nvPr/>
        </p:nvSpPr>
        <p:spPr>
          <a:xfrm>
            <a:off x="3167787" y="2951299"/>
            <a:ext cx="494030" cy="494030"/>
          </a:xfrm>
          <a:custGeom>
            <a:avLst/>
            <a:gdLst/>
            <a:ahLst/>
            <a:cxnLst/>
            <a:rect l="l" t="t" r="r" b="b"/>
            <a:pathLst>
              <a:path w="494029" h="494029">
                <a:moveTo>
                  <a:pt x="411477" y="0"/>
                </a:moveTo>
                <a:lnTo>
                  <a:pt x="82298" y="0"/>
                </a:lnTo>
                <a:lnTo>
                  <a:pt x="50264" y="6467"/>
                </a:lnTo>
                <a:lnTo>
                  <a:pt x="24104" y="24104"/>
                </a:lnTo>
                <a:lnTo>
                  <a:pt x="6467" y="50263"/>
                </a:lnTo>
                <a:lnTo>
                  <a:pt x="0" y="82297"/>
                </a:lnTo>
                <a:lnTo>
                  <a:pt x="0" y="411477"/>
                </a:lnTo>
                <a:lnTo>
                  <a:pt x="6467" y="443511"/>
                </a:lnTo>
                <a:lnTo>
                  <a:pt x="24104" y="469671"/>
                </a:lnTo>
                <a:lnTo>
                  <a:pt x="50264" y="487308"/>
                </a:lnTo>
                <a:lnTo>
                  <a:pt x="82298" y="493775"/>
                </a:lnTo>
                <a:lnTo>
                  <a:pt x="411477" y="493775"/>
                </a:lnTo>
                <a:lnTo>
                  <a:pt x="443511" y="487308"/>
                </a:lnTo>
                <a:lnTo>
                  <a:pt x="469671" y="469671"/>
                </a:lnTo>
                <a:lnTo>
                  <a:pt x="487308" y="443511"/>
                </a:lnTo>
                <a:lnTo>
                  <a:pt x="493775" y="411477"/>
                </a:lnTo>
                <a:lnTo>
                  <a:pt x="493775" y="82297"/>
                </a:lnTo>
                <a:lnTo>
                  <a:pt x="487308" y="50263"/>
                </a:lnTo>
                <a:lnTo>
                  <a:pt x="469671" y="24104"/>
                </a:lnTo>
                <a:lnTo>
                  <a:pt x="443511" y="6467"/>
                </a:lnTo>
                <a:lnTo>
                  <a:pt x="411477" y="0"/>
                </a:lnTo>
                <a:close/>
              </a:path>
            </a:pathLst>
          </a:custGeom>
          <a:solidFill>
            <a:srgbClr val="6CACDD"/>
          </a:solidFill>
        </p:spPr>
        <p:txBody>
          <a:bodyPr wrap="square" lIns="0" tIns="0" rIns="0" bIns="0" rtlCol="0"/>
          <a:lstStyle/>
          <a:p>
            <a:endParaRPr/>
          </a:p>
        </p:txBody>
      </p:sp>
      <p:sp>
        <p:nvSpPr>
          <p:cNvPr id="14" name="object 14"/>
          <p:cNvSpPr/>
          <p:nvPr/>
        </p:nvSpPr>
        <p:spPr>
          <a:xfrm>
            <a:off x="3167787" y="2951299"/>
            <a:ext cx="502284" cy="502284"/>
          </a:xfrm>
          <a:custGeom>
            <a:avLst/>
            <a:gdLst/>
            <a:ahLst/>
            <a:cxnLst/>
            <a:rect l="l" t="t" r="r" b="b"/>
            <a:pathLst>
              <a:path w="502285"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5185AC"/>
            </a:solidFill>
          </a:ln>
        </p:spPr>
        <p:txBody>
          <a:bodyPr wrap="square" lIns="0" tIns="0" rIns="0" bIns="0" rtlCol="0"/>
          <a:lstStyle/>
          <a:p>
            <a:endParaRPr/>
          </a:p>
        </p:txBody>
      </p:sp>
      <p:sp>
        <p:nvSpPr>
          <p:cNvPr id="15" name="object 15"/>
          <p:cNvSpPr/>
          <p:nvPr/>
        </p:nvSpPr>
        <p:spPr>
          <a:xfrm>
            <a:off x="2180235" y="3445075"/>
            <a:ext cx="494030" cy="494030"/>
          </a:xfrm>
          <a:custGeom>
            <a:avLst/>
            <a:gdLst/>
            <a:ahLst/>
            <a:cxnLst/>
            <a:rect l="l" t="t" r="r" b="b"/>
            <a:pathLst>
              <a:path w="494030" h="494029">
                <a:moveTo>
                  <a:pt x="411477" y="0"/>
                </a:moveTo>
                <a:lnTo>
                  <a:pt x="82298" y="0"/>
                </a:lnTo>
                <a:lnTo>
                  <a:pt x="50264" y="6467"/>
                </a:lnTo>
                <a:lnTo>
                  <a:pt x="24104" y="24104"/>
                </a:lnTo>
                <a:lnTo>
                  <a:pt x="6467" y="50263"/>
                </a:lnTo>
                <a:lnTo>
                  <a:pt x="0" y="82297"/>
                </a:lnTo>
                <a:lnTo>
                  <a:pt x="0" y="411477"/>
                </a:lnTo>
                <a:lnTo>
                  <a:pt x="6467" y="443511"/>
                </a:lnTo>
                <a:lnTo>
                  <a:pt x="24104" y="469671"/>
                </a:lnTo>
                <a:lnTo>
                  <a:pt x="50264" y="487308"/>
                </a:lnTo>
                <a:lnTo>
                  <a:pt x="82298" y="493775"/>
                </a:lnTo>
                <a:lnTo>
                  <a:pt x="411477" y="493775"/>
                </a:lnTo>
                <a:lnTo>
                  <a:pt x="443511" y="487308"/>
                </a:lnTo>
                <a:lnTo>
                  <a:pt x="469671" y="469671"/>
                </a:lnTo>
                <a:lnTo>
                  <a:pt x="487308" y="443511"/>
                </a:lnTo>
                <a:lnTo>
                  <a:pt x="493775" y="411477"/>
                </a:lnTo>
                <a:lnTo>
                  <a:pt x="493775" y="82297"/>
                </a:lnTo>
                <a:lnTo>
                  <a:pt x="487308" y="50263"/>
                </a:lnTo>
                <a:lnTo>
                  <a:pt x="469671" y="24104"/>
                </a:lnTo>
                <a:lnTo>
                  <a:pt x="443511" y="6467"/>
                </a:lnTo>
                <a:lnTo>
                  <a:pt x="411477" y="0"/>
                </a:lnTo>
                <a:close/>
              </a:path>
            </a:pathLst>
          </a:custGeom>
          <a:solidFill>
            <a:srgbClr val="FFFFFF"/>
          </a:solidFill>
        </p:spPr>
        <p:txBody>
          <a:bodyPr wrap="square" lIns="0" tIns="0" rIns="0" bIns="0" rtlCol="0"/>
          <a:lstStyle/>
          <a:p>
            <a:endParaRPr/>
          </a:p>
        </p:txBody>
      </p:sp>
      <p:sp>
        <p:nvSpPr>
          <p:cNvPr id="16" name="object 16"/>
          <p:cNvSpPr/>
          <p:nvPr/>
        </p:nvSpPr>
        <p:spPr>
          <a:xfrm>
            <a:off x="2180235" y="3445075"/>
            <a:ext cx="502284" cy="502284"/>
          </a:xfrm>
          <a:custGeom>
            <a:avLst/>
            <a:gdLst/>
            <a:ahLst/>
            <a:cxnLst/>
            <a:rect l="l" t="t" r="r" b="b"/>
            <a:pathLst>
              <a:path w="502285"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6CACDD"/>
            </a:solidFill>
          </a:ln>
        </p:spPr>
        <p:txBody>
          <a:bodyPr wrap="square" lIns="0" tIns="0" rIns="0" bIns="0" rtlCol="0"/>
          <a:lstStyle/>
          <a:p>
            <a:endParaRPr/>
          </a:p>
        </p:txBody>
      </p:sp>
      <p:sp>
        <p:nvSpPr>
          <p:cNvPr id="17" name="object 17"/>
          <p:cNvSpPr/>
          <p:nvPr/>
        </p:nvSpPr>
        <p:spPr>
          <a:xfrm>
            <a:off x="2674011" y="3445075"/>
            <a:ext cx="494030" cy="494030"/>
          </a:xfrm>
          <a:custGeom>
            <a:avLst/>
            <a:gdLst/>
            <a:ahLst/>
            <a:cxnLst/>
            <a:rect l="l" t="t" r="r" b="b"/>
            <a:pathLst>
              <a:path w="494030" h="494029">
                <a:moveTo>
                  <a:pt x="411477" y="0"/>
                </a:moveTo>
                <a:lnTo>
                  <a:pt x="82298" y="0"/>
                </a:lnTo>
                <a:lnTo>
                  <a:pt x="50264" y="6467"/>
                </a:lnTo>
                <a:lnTo>
                  <a:pt x="24104" y="24104"/>
                </a:lnTo>
                <a:lnTo>
                  <a:pt x="6467" y="50263"/>
                </a:lnTo>
                <a:lnTo>
                  <a:pt x="0" y="82297"/>
                </a:lnTo>
                <a:lnTo>
                  <a:pt x="0" y="411477"/>
                </a:lnTo>
                <a:lnTo>
                  <a:pt x="6467" y="443511"/>
                </a:lnTo>
                <a:lnTo>
                  <a:pt x="24104" y="469671"/>
                </a:lnTo>
                <a:lnTo>
                  <a:pt x="50264" y="487308"/>
                </a:lnTo>
                <a:lnTo>
                  <a:pt x="82298" y="493775"/>
                </a:lnTo>
                <a:lnTo>
                  <a:pt x="411477" y="493775"/>
                </a:lnTo>
                <a:lnTo>
                  <a:pt x="443511" y="487308"/>
                </a:lnTo>
                <a:lnTo>
                  <a:pt x="469671" y="469671"/>
                </a:lnTo>
                <a:lnTo>
                  <a:pt x="487308" y="443511"/>
                </a:lnTo>
                <a:lnTo>
                  <a:pt x="493775" y="411477"/>
                </a:lnTo>
                <a:lnTo>
                  <a:pt x="493775" y="82297"/>
                </a:lnTo>
                <a:lnTo>
                  <a:pt x="487308" y="50263"/>
                </a:lnTo>
                <a:lnTo>
                  <a:pt x="469671" y="24104"/>
                </a:lnTo>
                <a:lnTo>
                  <a:pt x="443511" y="6467"/>
                </a:lnTo>
                <a:lnTo>
                  <a:pt x="411477" y="0"/>
                </a:lnTo>
                <a:close/>
              </a:path>
            </a:pathLst>
          </a:custGeom>
          <a:solidFill>
            <a:srgbClr val="6CACDD"/>
          </a:solidFill>
        </p:spPr>
        <p:txBody>
          <a:bodyPr wrap="square" lIns="0" tIns="0" rIns="0" bIns="0" rtlCol="0"/>
          <a:lstStyle/>
          <a:p>
            <a:endParaRPr/>
          </a:p>
        </p:txBody>
      </p:sp>
      <p:sp>
        <p:nvSpPr>
          <p:cNvPr id="18" name="object 18"/>
          <p:cNvSpPr/>
          <p:nvPr/>
        </p:nvSpPr>
        <p:spPr>
          <a:xfrm>
            <a:off x="2674011" y="3445075"/>
            <a:ext cx="502284" cy="502284"/>
          </a:xfrm>
          <a:custGeom>
            <a:avLst/>
            <a:gdLst/>
            <a:ahLst/>
            <a:cxnLst/>
            <a:rect l="l" t="t" r="r" b="b"/>
            <a:pathLst>
              <a:path w="502285"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5185AC"/>
            </a:solidFill>
          </a:ln>
        </p:spPr>
        <p:txBody>
          <a:bodyPr wrap="square" lIns="0" tIns="0" rIns="0" bIns="0" rtlCol="0"/>
          <a:lstStyle/>
          <a:p>
            <a:endParaRPr/>
          </a:p>
        </p:txBody>
      </p:sp>
      <p:sp>
        <p:nvSpPr>
          <p:cNvPr id="19" name="object 19"/>
          <p:cNvSpPr/>
          <p:nvPr/>
        </p:nvSpPr>
        <p:spPr>
          <a:xfrm>
            <a:off x="3167787" y="3445075"/>
            <a:ext cx="494030" cy="494030"/>
          </a:xfrm>
          <a:custGeom>
            <a:avLst/>
            <a:gdLst/>
            <a:ahLst/>
            <a:cxnLst/>
            <a:rect l="l" t="t" r="r" b="b"/>
            <a:pathLst>
              <a:path w="494029" h="494029">
                <a:moveTo>
                  <a:pt x="411477" y="0"/>
                </a:moveTo>
                <a:lnTo>
                  <a:pt x="82298" y="0"/>
                </a:lnTo>
                <a:lnTo>
                  <a:pt x="50264" y="6467"/>
                </a:lnTo>
                <a:lnTo>
                  <a:pt x="24104" y="24104"/>
                </a:lnTo>
                <a:lnTo>
                  <a:pt x="6467" y="50263"/>
                </a:lnTo>
                <a:lnTo>
                  <a:pt x="0" y="82297"/>
                </a:lnTo>
                <a:lnTo>
                  <a:pt x="0" y="411477"/>
                </a:lnTo>
                <a:lnTo>
                  <a:pt x="6467" y="443511"/>
                </a:lnTo>
                <a:lnTo>
                  <a:pt x="24104" y="469671"/>
                </a:lnTo>
                <a:lnTo>
                  <a:pt x="50264" y="487308"/>
                </a:lnTo>
                <a:lnTo>
                  <a:pt x="82298" y="493775"/>
                </a:lnTo>
                <a:lnTo>
                  <a:pt x="411477" y="493775"/>
                </a:lnTo>
                <a:lnTo>
                  <a:pt x="443511" y="487308"/>
                </a:lnTo>
                <a:lnTo>
                  <a:pt x="469671" y="469671"/>
                </a:lnTo>
                <a:lnTo>
                  <a:pt x="487308" y="443511"/>
                </a:lnTo>
                <a:lnTo>
                  <a:pt x="493775" y="411477"/>
                </a:lnTo>
                <a:lnTo>
                  <a:pt x="493775" y="82297"/>
                </a:lnTo>
                <a:lnTo>
                  <a:pt x="487308" y="50263"/>
                </a:lnTo>
                <a:lnTo>
                  <a:pt x="469671" y="24104"/>
                </a:lnTo>
                <a:lnTo>
                  <a:pt x="443511" y="6467"/>
                </a:lnTo>
                <a:lnTo>
                  <a:pt x="411477" y="0"/>
                </a:lnTo>
                <a:close/>
              </a:path>
            </a:pathLst>
          </a:custGeom>
          <a:solidFill>
            <a:srgbClr val="6CACDD"/>
          </a:solidFill>
        </p:spPr>
        <p:txBody>
          <a:bodyPr wrap="square" lIns="0" tIns="0" rIns="0" bIns="0" rtlCol="0"/>
          <a:lstStyle/>
          <a:p>
            <a:endParaRPr/>
          </a:p>
        </p:txBody>
      </p:sp>
      <p:sp>
        <p:nvSpPr>
          <p:cNvPr id="20" name="object 20"/>
          <p:cNvSpPr/>
          <p:nvPr/>
        </p:nvSpPr>
        <p:spPr>
          <a:xfrm>
            <a:off x="3167787" y="3445075"/>
            <a:ext cx="502284" cy="502284"/>
          </a:xfrm>
          <a:custGeom>
            <a:avLst/>
            <a:gdLst/>
            <a:ahLst/>
            <a:cxnLst/>
            <a:rect l="l" t="t" r="r" b="b"/>
            <a:pathLst>
              <a:path w="502285"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5185AC"/>
            </a:solidFill>
          </a:ln>
        </p:spPr>
        <p:txBody>
          <a:bodyPr wrap="square" lIns="0" tIns="0" rIns="0" bIns="0" rtlCol="0"/>
          <a:lstStyle/>
          <a:p>
            <a:endParaRPr/>
          </a:p>
        </p:txBody>
      </p:sp>
      <p:sp>
        <p:nvSpPr>
          <p:cNvPr id="21" name="object 21"/>
          <p:cNvSpPr/>
          <p:nvPr/>
        </p:nvSpPr>
        <p:spPr>
          <a:xfrm>
            <a:off x="4307737" y="2457523"/>
            <a:ext cx="494030" cy="494030"/>
          </a:xfrm>
          <a:custGeom>
            <a:avLst/>
            <a:gdLst/>
            <a:ahLst/>
            <a:cxnLst/>
            <a:rect l="l" t="t" r="r" b="b"/>
            <a:pathLst>
              <a:path w="494029" h="494030">
                <a:moveTo>
                  <a:pt x="411477" y="0"/>
                </a:moveTo>
                <a:lnTo>
                  <a:pt x="82297" y="0"/>
                </a:lnTo>
                <a:lnTo>
                  <a:pt x="50263" y="6467"/>
                </a:lnTo>
                <a:lnTo>
                  <a:pt x="24104" y="24104"/>
                </a:lnTo>
                <a:lnTo>
                  <a:pt x="6467" y="50264"/>
                </a:lnTo>
                <a:lnTo>
                  <a:pt x="0" y="82298"/>
                </a:lnTo>
                <a:lnTo>
                  <a:pt x="0" y="411477"/>
                </a:lnTo>
                <a:lnTo>
                  <a:pt x="6467" y="443511"/>
                </a:lnTo>
                <a:lnTo>
                  <a:pt x="24104" y="469671"/>
                </a:lnTo>
                <a:lnTo>
                  <a:pt x="50263" y="487308"/>
                </a:lnTo>
                <a:lnTo>
                  <a:pt x="82297" y="493775"/>
                </a:lnTo>
                <a:lnTo>
                  <a:pt x="411477" y="493775"/>
                </a:lnTo>
                <a:lnTo>
                  <a:pt x="443511" y="487308"/>
                </a:lnTo>
                <a:lnTo>
                  <a:pt x="469671" y="469671"/>
                </a:lnTo>
                <a:lnTo>
                  <a:pt x="487308" y="443511"/>
                </a:lnTo>
                <a:lnTo>
                  <a:pt x="493776" y="411477"/>
                </a:lnTo>
                <a:lnTo>
                  <a:pt x="493776" y="82298"/>
                </a:lnTo>
                <a:lnTo>
                  <a:pt x="487308" y="50264"/>
                </a:lnTo>
                <a:lnTo>
                  <a:pt x="469671" y="24104"/>
                </a:lnTo>
                <a:lnTo>
                  <a:pt x="443511" y="6467"/>
                </a:lnTo>
                <a:lnTo>
                  <a:pt x="411477" y="0"/>
                </a:lnTo>
                <a:close/>
              </a:path>
            </a:pathLst>
          </a:custGeom>
          <a:solidFill>
            <a:srgbClr val="6CACDD"/>
          </a:solidFill>
        </p:spPr>
        <p:txBody>
          <a:bodyPr wrap="square" lIns="0" tIns="0" rIns="0" bIns="0" rtlCol="0"/>
          <a:lstStyle/>
          <a:p>
            <a:endParaRPr/>
          </a:p>
        </p:txBody>
      </p:sp>
      <p:sp>
        <p:nvSpPr>
          <p:cNvPr id="22" name="object 22"/>
          <p:cNvSpPr/>
          <p:nvPr/>
        </p:nvSpPr>
        <p:spPr>
          <a:xfrm>
            <a:off x="4307737" y="2457523"/>
            <a:ext cx="502284" cy="502284"/>
          </a:xfrm>
          <a:custGeom>
            <a:avLst/>
            <a:gdLst/>
            <a:ahLst/>
            <a:cxnLst/>
            <a:rect l="l" t="t" r="r" b="b"/>
            <a:pathLst>
              <a:path w="502285"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5185AC"/>
            </a:solidFill>
          </a:ln>
        </p:spPr>
        <p:txBody>
          <a:bodyPr wrap="square" lIns="0" tIns="0" rIns="0" bIns="0" rtlCol="0"/>
          <a:lstStyle/>
          <a:p>
            <a:endParaRPr/>
          </a:p>
        </p:txBody>
      </p:sp>
      <p:sp>
        <p:nvSpPr>
          <p:cNvPr id="23" name="object 23"/>
          <p:cNvSpPr/>
          <p:nvPr/>
        </p:nvSpPr>
        <p:spPr>
          <a:xfrm>
            <a:off x="4801511" y="2457523"/>
            <a:ext cx="494030" cy="494030"/>
          </a:xfrm>
          <a:custGeom>
            <a:avLst/>
            <a:gdLst/>
            <a:ahLst/>
            <a:cxnLst/>
            <a:rect l="l" t="t" r="r" b="b"/>
            <a:pathLst>
              <a:path w="494029" h="494030">
                <a:moveTo>
                  <a:pt x="411477" y="0"/>
                </a:moveTo>
                <a:lnTo>
                  <a:pt x="82298" y="0"/>
                </a:lnTo>
                <a:lnTo>
                  <a:pt x="50264" y="6467"/>
                </a:lnTo>
                <a:lnTo>
                  <a:pt x="24104" y="24104"/>
                </a:lnTo>
                <a:lnTo>
                  <a:pt x="6467" y="50264"/>
                </a:lnTo>
                <a:lnTo>
                  <a:pt x="0" y="82298"/>
                </a:lnTo>
                <a:lnTo>
                  <a:pt x="0" y="411477"/>
                </a:lnTo>
                <a:lnTo>
                  <a:pt x="6467" y="443511"/>
                </a:lnTo>
                <a:lnTo>
                  <a:pt x="24104" y="469671"/>
                </a:lnTo>
                <a:lnTo>
                  <a:pt x="50264" y="487308"/>
                </a:lnTo>
                <a:lnTo>
                  <a:pt x="82298" y="493775"/>
                </a:lnTo>
                <a:lnTo>
                  <a:pt x="411477" y="493775"/>
                </a:lnTo>
                <a:lnTo>
                  <a:pt x="443511" y="487308"/>
                </a:lnTo>
                <a:lnTo>
                  <a:pt x="469671" y="469671"/>
                </a:lnTo>
                <a:lnTo>
                  <a:pt x="487308" y="443511"/>
                </a:lnTo>
                <a:lnTo>
                  <a:pt x="493775" y="411477"/>
                </a:lnTo>
                <a:lnTo>
                  <a:pt x="493775" y="82298"/>
                </a:lnTo>
                <a:lnTo>
                  <a:pt x="487308" y="50264"/>
                </a:lnTo>
                <a:lnTo>
                  <a:pt x="469671" y="24104"/>
                </a:lnTo>
                <a:lnTo>
                  <a:pt x="443511" y="6467"/>
                </a:lnTo>
                <a:lnTo>
                  <a:pt x="411477" y="0"/>
                </a:lnTo>
                <a:close/>
              </a:path>
            </a:pathLst>
          </a:custGeom>
          <a:solidFill>
            <a:srgbClr val="FFFFFF"/>
          </a:solidFill>
        </p:spPr>
        <p:txBody>
          <a:bodyPr wrap="square" lIns="0" tIns="0" rIns="0" bIns="0" rtlCol="0"/>
          <a:lstStyle/>
          <a:p>
            <a:endParaRPr/>
          </a:p>
        </p:txBody>
      </p:sp>
      <p:sp>
        <p:nvSpPr>
          <p:cNvPr id="24" name="object 24"/>
          <p:cNvSpPr/>
          <p:nvPr/>
        </p:nvSpPr>
        <p:spPr>
          <a:xfrm>
            <a:off x="4801511" y="2457523"/>
            <a:ext cx="502284" cy="502284"/>
          </a:xfrm>
          <a:custGeom>
            <a:avLst/>
            <a:gdLst/>
            <a:ahLst/>
            <a:cxnLst/>
            <a:rect l="l" t="t" r="r" b="b"/>
            <a:pathLst>
              <a:path w="502285"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6CACDD"/>
            </a:solidFill>
          </a:ln>
        </p:spPr>
        <p:txBody>
          <a:bodyPr wrap="square" lIns="0" tIns="0" rIns="0" bIns="0" rtlCol="0"/>
          <a:lstStyle/>
          <a:p>
            <a:endParaRPr/>
          </a:p>
        </p:txBody>
      </p:sp>
      <p:sp>
        <p:nvSpPr>
          <p:cNvPr id="25" name="object 25"/>
          <p:cNvSpPr/>
          <p:nvPr/>
        </p:nvSpPr>
        <p:spPr>
          <a:xfrm>
            <a:off x="5295288" y="2457523"/>
            <a:ext cx="494030" cy="494030"/>
          </a:xfrm>
          <a:custGeom>
            <a:avLst/>
            <a:gdLst/>
            <a:ahLst/>
            <a:cxnLst/>
            <a:rect l="l" t="t" r="r" b="b"/>
            <a:pathLst>
              <a:path w="494029" h="494030">
                <a:moveTo>
                  <a:pt x="411478" y="0"/>
                </a:moveTo>
                <a:lnTo>
                  <a:pt x="82298" y="0"/>
                </a:lnTo>
                <a:lnTo>
                  <a:pt x="50264" y="6467"/>
                </a:lnTo>
                <a:lnTo>
                  <a:pt x="24104" y="24104"/>
                </a:lnTo>
                <a:lnTo>
                  <a:pt x="6467" y="50264"/>
                </a:lnTo>
                <a:lnTo>
                  <a:pt x="0" y="82298"/>
                </a:lnTo>
                <a:lnTo>
                  <a:pt x="0" y="411477"/>
                </a:lnTo>
                <a:lnTo>
                  <a:pt x="6467" y="443511"/>
                </a:lnTo>
                <a:lnTo>
                  <a:pt x="24104" y="469671"/>
                </a:lnTo>
                <a:lnTo>
                  <a:pt x="50264" y="487308"/>
                </a:lnTo>
                <a:lnTo>
                  <a:pt x="82298" y="493775"/>
                </a:lnTo>
                <a:lnTo>
                  <a:pt x="411478" y="493775"/>
                </a:lnTo>
                <a:lnTo>
                  <a:pt x="443512" y="487308"/>
                </a:lnTo>
                <a:lnTo>
                  <a:pt x="469671" y="469671"/>
                </a:lnTo>
                <a:lnTo>
                  <a:pt x="487308" y="443511"/>
                </a:lnTo>
                <a:lnTo>
                  <a:pt x="493775" y="411477"/>
                </a:lnTo>
                <a:lnTo>
                  <a:pt x="493775" y="82298"/>
                </a:lnTo>
                <a:lnTo>
                  <a:pt x="487308" y="50264"/>
                </a:lnTo>
                <a:lnTo>
                  <a:pt x="469671" y="24104"/>
                </a:lnTo>
                <a:lnTo>
                  <a:pt x="443512" y="6467"/>
                </a:lnTo>
                <a:lnTo>
                  <a:pt x="411478" y="0"/>
                </a:lnTo>
                <a:close/>
              </a:path>
            </a:pathLst>
          </a:custGeom>
          <a:solidFill>
            <a:srgbClr val="FFFFFF"/>
          </a:solidFill>
        </p:spPr>
        <p:txBody>
          <a:bodyPr wrap="square" lIns="0" tIns="0" rIns="0" bIns="0" rtlCol="0"/>
          <a:lstStyle/>
          <a:p>
            <a:endParaRPr/>
          </a:p>
        </p:txBody>
      </p:sp>
      <p:sp>
        <p:nvSpPr>
          <p:cNvPr id="26" name="object 26"/>
          <p:cNvSpPr/>
          <p:nvPr/>
        </p:nvSpPr>
        <p:spPr>
          <a:xfrm>
            <a:off x="5295287" y="2457523"/>
            <a:ext cx="502284" cy="502284"/>
          </a:xfrm>
          <a:custGeom>
            <a:avLst/>
            <a:gdLst/>
            <a:ahLst/>
            <a:cxnLst/>
            <a:rect l="l" t="t" r="r" b="b"/>
            <a:pathLst>
              <a:path w="502285"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6CACDD"/>
            </a:solidFill>
          </a:ln>
        </p:spPr>
        <p:txBody>
          <a:bodyPr wrap="square" lIns="0" tIns="0" rIns="0" bIns="0" rtlCol="0"/>
          <a:lstStyle/>
          <a:p>
            <a:endParaRPr/>
          </a:p>
        </p:txBody>
      </p:sp>
      <p:sp>
        <p:nvSpPr>
          <p:cNvPr id="27" name="object 27"/>
          <p:cNvSpPr/>
          <p:nvPr/>
        </p:nvSpPr>
        <p:spPr>
          <a:xfrm>
            <a:off x="4307737" y="2951299"/>
            <a:ext cx="494030" cy="494030"/>
          </a:xfrm>
          <a:custGeom>
            <a:avLst/>
            <a:gdLst/>
            <a:ahLst/>
            <a:cxnLst/>
            <a:rect l="l" t="t" r="r" b="b"/>
            <a:pathLst>
              <a:path w="494029" h="494029">
                <a:moveTo>
                  <a:pt x="411477" y="0"/>
                </a:moveTo>
                <a:lnTo>
                  <a:pt x="82297" y="0"/>
                </a:lnTo>
                <a:lnTo>
                  <a:pt x="50263" y="6467"/>
                </a:lnTo>
                <a:lnTo>
                  <a:pt x="24104" y="24104"/>
                </a:lnTo>
                <a:lnTo>
                  <a:pt x="6467" y="50263"/>
                </a:lnTo>
                <a:lnTo>
                  <a:pt x="0" y="82297"/>
                </a:lnTo>
                <a:lnTo>
                  <a:pt x="0" y="411477"/>
                </a:lnTo>
                <a:lnTo>
                  <a:pt x="6467" y="443511"/>
                </a:lnTo>
                <a:lnTo>
                  <a:pt x="24104" y="469671"/>
                </a:lnTo>
                <a:lnTo>
                  <a:pt x="50263" y="487308"/>
                </a:lnTo>
                <a:lnTo>
                  <a:pt x="82297" y="493775"/>
                </a:lnTo>
                <a:lnTo>
                  <a:pt x="411477" y="493775"/>
                </a:lnTo>
                <a:lnTo>
                  <a:pt x="443511" y="487308"/>
                </a:lnTo>
                <a:lnTo>
                  <a:pt x="469671" y="469671"/>
                </a:lnTo>
                <a:lnTo>
                  <a:pt x="487308" y="443511"/>
                </a:lnTo>
                <a:lnTo>
                  <a:pt x="493776" y="411477"/>
                </a:lnTo>
                <a:lnTo>
                  <a:pt x="493776" y="82297"/>
                </a:lnTo>
                <a:lnTo>
                  <a:pt x="487308" y="50263"/>
                </a:lnTo>
                <a:lnTo>
                  <a:pt x="469671" y="24104"/>
                </a:lnTo>
                <a:lnTo>
                  <a:pt x="443511" y="6467"/>
                </a:lnTo>
                <a:lnTo>
                  <a:pt x="411477" y="0"/>
                </a:lnTo>
                <a:close/>
              </a:path>
            </a:pathLst>
          </a:custGeom>
          <a:solidFill>
            <a:srgbClr val="6CACDD"/>
          </a:solidFill>
        </p:spPr>
        <p:txBody>
          <a:bodyPr wrap="square" lIns="0" tIns="0" rIns="0" bIns="0" rtlCol="0"/>
          <a:lstStyle/>
          <a:p>
            <a:endParaRPr/>
          </a:p>
        </p:txBody>
      </p:sp>
      <p:sp>
        <p:nvSpPr>
          <p:cNvPr id="28" name="object 28"/>
          <p:cNvSpPr/>
          <p:nvPr/>
        </p:nvSpPr>
        <p:spPr>
          <a:xfrm>
            <a:off x="4307737" y="2951299"/>
            <a:ext cx="502284" cy="502284"/>
          </a:xfrm>
          <a:custGeom>
            <a:avLst/>
            <a:gdLst/>
            <a:ahLst/>
            <a:cxnLst/>
            <a:rect l="l" t="t" r="r" b="b"/>
            <a:pathLst>
              <a:path w="502285"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5185AC"/>
            </a:solidFill>
          </a:ln>
        </p:spPr>
        <p:txBody>
          <a:bodyPr wrap="square" lIns="0" tIns="0" rIns="0" bIns="0" rtlCol="0"/>
          <a:lstStyle/>
          <a:p>
            <a:endParaRPr/>
          </a:p>
        </p:txBody>
      </p:sp>
      <p:sp>
        <p:nvSpPr>
          <p:cNvPr id="29" name="object 29"/>
          <p:cNvSpPr/>
          <p:nvPr/>
        </p:nvSpPr>
        <p:spPr>
          <a:xfrm>
            <a:off x="4801511" y="2951299"/>
            <a:ext cx="494030" cy="494030"/>
          </a:xfrm>
          <a:custGeom>
            <a:avLst/>
            <a:gdLst/>
            <a:ahLst/>
            <a:cxnLst/>
            <a:rect l="l" t="t" r="r" b="b"/>
            <a:pathLst>
              <a:path w="494029" h="494029">
                <a:moveTo>
                  <a:pt x="411477" y="0"/>
                </a:moveTo>
                <a:lnTo>
                  <a:pt x="82298" y="0"/>
                </a:lnTo>
                <a:lnTo>
                  <a:pt x="50264" y="6467"/>
                </a:lnTo>
                <a:lnTo>
                  <a:pt x="24104" y="24104"/>
                </a:lnTo>
                <a:lnTo>
                  <a:pt x="6467" y="50263"/>
                </a:lnTo>
                <a:lnTo>
                  <a:pt x="0" y="82297"/>
                </a:lnTo>
                <a:lnTo>
                  <a:pt x="0" y="411477"/>
                </a:lnTo>
                <a:lnTo>
                  <a:pt x="6467" y="443511"/>
                </a:lnTo>
                <a:lnTo>
                  <a:pt x="24104" y="469671"/>
                </a:lnTo>
                <a:lnTo>
                  <a:pt x="50264" y="487308"/>
                </a:lnTo>
                <a:lnTo>
                  <a:pt x="82298" y="493775"/>
                </a:lnTo>
                <a:lnTo>
                  <a:pt x="411477" y="493775"/>
                </a:lnTo>
                <a:lnTo>
                  <a:pt x="443511" y="487308"/>
                </a:lnTo>
                <a:lnTo>
                  <a:pt x="469671" y="469671"/>
                </a:lnTo>
                <a:lnTo>
                  <a:pt x="487308" y="443511"/>
                </a:lnTo>
                <a:lnTo>
                  <a:pt x="493775" y="411477"/>
                </a:lnTo>
                <a:lnTo>
                  <a:pt x="493775" y="82297"/>
                </a:lnTo>
                <a:lnTo>
                  <a:pt x="487308" y="50263"/>
                </a:lnTo>
                <a:lnTo>
                  <a:pt x="469671" y="24104"/>
                </a:lnTo>
                <a:lnTo>
                  <a:pt x="443511" y="6467"/>
                </a:lnTo>
                <a:lnTo>
                  <a:pt x="411477" y="0"/>
                </a:lnTo>
                <a:close/>
              </a:path>
            </a:pathLst>
          </a:custGeom>
          <a:solidFill>
            <a:srgbClr val="F2913F"/>
          </a:solidFill>
        </p:spPr>
        <p:txBody>
          <a:bodyPr wrap="square" lIns="0" tIns="0" rIns="0" bIns="0" rtlCol="0"/>
          <a:lstStyle/>
          <a:p>
            <a:endParaRPr/>
          </a:p>
        </p:txBody>
      </p:sp>
      <p:sp>
        <p:nvSpPr>
          <p:cNvPr id="30" name="object 30"/>
          <p:cNvSpPr/>
          <p:nvPr/>
        </p:nvSpPr>
        <p:spPr>
          <a:xfrm>
            <a:off x="4801511" y="2951299"/>
            <a:ext cx="502284" cy="502284"/>
          </a:xfrm>
          <a:custGeom>
            <a:avLst/>
            <a:gdLst/>
            <a:ahLst/>
            <a:cxnLst/>
            <a:rect l="l" t="t" r="r" b="b"/>
            <a:pathLst>
              <a:path w="502285"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BD6E2B"/>
            </a:solidFill>
          </a:ln>
        </p:spPr>
        <p:txBody>
          <a:bodyPr wrap="square" lIns="0" tIns="0" rIns="0" bIns="0" rtlCol="0"/>
          <a:lstStyle/>
          <a:p>
            <a:endParaRPr/>
          </a:p>
        </p:txBody>
      </p:sp>
      <p:sp>
        <p:nvSpPr>
          <p:cNvPr id="31" name="object 31"/>
          <p:cNvSpPr/>
          <p:nvPr/>
        </p:nvSpPr>
        <p:spPr>
          <a:xfrm>
            <a:off x="5295288" y="2951299"/>
            <a:ext cx="494030" cy="494030"/>
          </a:xfrm>
          <a:custGeom>
            <a:avLst/>
            <a:gdLst/>
            <a:ahLst/>
            <a:cxnLst/>
            <a:rect l="l" t="t" r="r" b="b"/>
            <a:pathLst>
              <a:path w="494029" h="494029">
                <a:moveTo>
                  <a:pt x="411478" y="0"/>
                </a:moveTo>
                <a:lnTo>
                  <a:pt x="82298" y="0"/>
                </a:lnTo>
                <a:lnTo>
                  <a:pt x="50264" y="6467"/>
                </a:lnTo>
                <a:lnTo>
                  <a:pt x="24104" y="24104"/>
                </a:lnTo>
                <a:lnTo>
                  <a:pt x="6467" y="50263"/>
                </a:lnTo>
                <a:lnTo>
                  <a:pt x="0" y="82297"/>
                </a:lnTo>
                <a:lnTo>
                  <a:pt x="0" y="411477"/>
                </a:lnTo>
                <a:lnTo>
                  <a:pt x="6467" y="443511"/>
                </a:lnTo>
                <a:lnTo>
                  <a:pt x="24104" y="469671"/>
                </a:lnTo>
                <a:lnTo>
                  <a:pt x="50264" y="487308"/>
                </a:lnTo>
                <a:lnTo>
                  <a:pt x="82298" y="493775"/>
                </a:lnTo>
                <a:lnTo>
                  <a:pt x="411478" y="493775"/>
                </a:lnTo>
                <a:lnTo>
                  <a:pt x="443512" y="487308"/>
                </a:lnTo>
                <a:lnTo>
                  <a:pt x="469671" y="469671"/>
                </a:lnTo>
                <a:lnTo>
                  <a:pt x="487308" y="443511"/>
                </a:lnTo>
                <a:lnTo>
                  <a:pt x="493775" y="411477"/>
                </a:lnTo>
                <a:lnTo>
                  <a:pt x="493775" y="82297"/>
                </a:lnTo>
                <a:lnTo>
                  <a:pt x="487308" y="50263"/>
                </a:lnTo>
                <a:lnTo>
                  <a:pt x="469671" y="24104"/>
                </a:lnTo>
                <a:lnTo>
                  <a:pt x="443512" y="6467"/>
                </a:lnTo>
                <a:lnTo>
                  <a:pt x="411478" y="0"/>
                </a:lnTo>
                <a:close/>
              </a:path>
            </a:pathLst>
          </a:custGeom>
          <a:solidFill>
            <a:srgbClr val="FFFFFF"/>
          </a:solidFill>
        </p:spPr>
        <p:txBody>
          <a:bodyPr wrap="square" lIns="0" tIns="0" rIns="0" bIns="0" rtlCol="0"/>
          <a:lstStyle/>
          <a:p>
            <a:endParaRPr/>
          </a:p>
        </p:txBody>
      </p:sp>
      <p:sp>
        <p:nvSpPr>
          <p:cNvPr id="32" name="object 32"/>
          <p:cNvSpPr/>
          <p:nvPr/>
        </p:nvSpPr>
        <p:spPr>
          <a:xfrm>
            <a:off x="5295287" y="2951299"/>
            <a:ext cx="502284" cy="502284"/>
          </a:xfrm>
          <a:custGeom>
            <a:avLst/>
            <a:gdLst/>
            <a:ahLst/>
            <a:cxnLst/>
            <a:rect l="l" t="t" r="r" b="b"/>
            <a:pathLst>
              <a:path w="502285"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6CACDD"/>
            </a:solidFill>
          </a:ln>
        </p:spPr>
        <p:txBody>
          <a:bodyPr wrap="square" lIns="0" tIns="0" rIns="0" bIns="0" rtlCol="0"/>
          <a:lstStyle/>
          <a:p>
            <a:endParaRPr/>
          </a:p>
        </p:txBody>
      </p:sp>
      <p:sp>
        <p:nvSpPr>
          <p:cNvPr id="33" name="object 33"/>
          <p:cNvSpPr/>
          <p:nvPr/>
        </p:nvSpPr>
        <p:spPr>
          <a:xfrm>
            <a:off x="4307737" y="3445075"/>
            <a:ext cx="494030" cy="494030"/>
          </a:xfrm>
          <a:custGeom>
            <a:avLst/>
            <a:gdLst/>
            <a:ahLst/>
            <a:cxnLst/>
            <a:rect l="l" t="t" r="r" b="b"/>
            <a:pathLst>
              <a:path w="494029" h="494029">
                <a:moveTo>
                  <a:pt x="411477" y="0"/>
                </a:moveTo>
                <a:lnTo>
                  <a:pt x="82297" y="0"/>
                </a:lnTo>
                <a:lnTo>
                  <a:pt x="50263" y="6467"/>
                </a:lnTo>
                <a:lnTo>
                  <a:pt x="24104" y="24104"/>
                </a:lnTo>
                <a:lnTo>
                  <a:pt x="6467" y="50263"/>
                </a:lnTo>
                <a:lnTo>
                  <a:pt x="0" y="82297"/>
                </a:lnTo>
                <a:lnTo>
                  <a:pt x="0" y="411477"/>
                </a:lnTo>
                <a:lnTo>
                  <a:pt x="6467" y="443511"/>
                </a:lnTo>
                <a:lnTo>
                  <a:pt x="24104" y="469671"/>
                </a:lnTo>
                <a:lnTo>
                  <a:pt x="50263" y="487308"/>
                </a:lnTo>
                <a:lnTo>
                  <a:pt x="82297" y="493775"/>
                </a:lnTo>
                <a:lnTo>
                  <a:pt x="411477" y="493775"/>
                </a:lnTo>
                <a:lnTo>
                  <a:pt x="443511" y="487308"/>
                </a:lnTo>
                <a:lnTo>
                  <a:pt x="469671" y="469671"/>
                </a:lnTo>
                <a:lnTo>
                  <a:pt x="487308" y="443511"/>
                </a:lnTo>
                <a:lnTo>
                  <a:pt x="493776" y="411477"/>
                </a:lnTo>
                <a:lnTo>
                  <a:pt x="493776" y="82297"/>
                </a:lnTo>
                <a:lnTo>
                  <a:pt x="487308" y="50263"/>
                </a:lnTo>
                <a:lnTo>
                  <a:pt x="469671" y="24104"/>
                </a:lnTo>
                <a:lnTo>
                  <a:pt x="443511" y="6467"/>
                </a:lnTo>
                <a:lnTo>
                  <a:pt x="411477" y="0"/>
                </a:lnTo>
                <a:close/>
              </a:path>
            </a:pathLst>
          </a:custGeom>
          <a:solidFill>
            <a:srgbClr val="FFFFFF"/>
          </a:solidFill>
        </p:spPr>
        <p:txBody>
          <a:bodyPr wrap="square" lIns="0" tIns="0" rIns="0" bIns="0" rtlCol="0"/>
          <a:lstStyle/>
          <a:p>
            <a:endParaRPr/>
          </a:p>
        </p:txBody>
      </p:sp>
      <p:sp>
        <p:nvSpPr>
          <p:cNvPr id="34" name="object 34"/>
          <p:cNvSpPr/>
          <p:nvPr/>
        </p:nvSpPr>
        <p:spPr>
          <a:xfrm>
            <a:off x="4307737" y="3445075"/>
            <a:ext cx="502284" cy="502284"/>
          </a:xfrm>
          <a:custGeom>
            <a:avLst/>
            <a:gdLst/>
            <a:ahLst/>
            <a:cxnLst/>
            <a:rect l="l" t="t" r="r" b="b"/>
            <a:pathLst>
              <a:path w="502285"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6CACDD"/>
            </a:solidFill>
          </a:ln>
        </p:spPr>
        <p:txBody>
          <a:bodyPr wrap="square" lIns="0" tIns="0" rIns="0" bIns="0" rtlCol="0"/>
          <a:lstStyle/>
          <a:p>
            <a:endParaRPr/>
          </a:p>
        </p:txBody>
      </p:sp>
      <p:sp>
        <p:nvSpPr>
          <p:cNvPr id="35" name="object 35"/>
          <p:cNvSpPr/>
          <p:nvPr/>
        </p:nvSpPr>
        <p:spPr>
          <a:xfrm>
            <a:off x="4801511" y="3445075"/>
            <a:ext cx="494030" cy="494030"/>
          </a:xfrm>
          <a:custGeom>
            <a:avLst/>
            <a:gdLst/>
            <a:ahLst/>
            <a:cxnLst/>
            <a:rect l="l" t="t" r="r" b="b"/>
            <a:pathLst>
              <a:path w="494029" h="494029">
                <a:moveTo>
                  <a:pt x="411477" y="0"/>
                </a:moveTo>
                <a:lnTo>
                  <a:pt x="82298" y="0"/>
                </a:lnTo>
                <a:lnTo>
                  <a:pt x="50264" y="6467"/>
                </a:lnTo>
                <a:lnTo>
                  <a:pt x="24104" y="24104"/>
                </a:lnTo>
                <a:lnTo>
                  <a:pt x="6467" y="50263"/>
                </a:lnTo>
                <a:lnTo>
                  <a:pt x="0" y="82297"/>
                </a:lnTo>
                <a:lnTo>
                  <a:pt x="0" y="411477"/>
                </a:lnTo>
                <a:lnTo>
                  <a:pt x="6467" y="443511"/>
                </a:lnTo>
                <a:lnTo>
                  <a:pt x="24104" y="469671"/>
                </a:lnTo>
                <a:lnTo>
                  <a:pt x="50264" y="487308"/>
                </a:lnTo>
                <a:lnTo>
                  <a:pt x="82298" y="493775"/>
                </a:lnTo>
                <a:lnTo>
                  <a:pt x="411477" y="493775"/>
                </a:lnTo>
                <a:lnTo>
                  <a:pt x="443511" y="487308"/>
                </a:lnTo>
                <a:lnTo>
                  <a:pt x="469671" y="469671"/>
                </a:lnTo>
                <a:lnTo>
                  <a:pt x="487308" y="443511"/>
                </a:lnTo>
                <a:lnTo>
                  <a:pt x="493775" y="411477"/>
                </a:lnTo>
                <a:lnTo>
                  <a:pt x="493775" y="82297"/>
                </a:lnTo>
                <a:lnTo>
                  <a:pt x="487308" y="50263"/>
                </a:lnTo>
                <a:lnTo>
                  <a:pt x="469671" y="24104"/>
                </a:lnTo>
                <a:lnTo>
                  <a:pt x="443511" y="6467"/>
                </a:lnTo>
                <a:lnTo>
                  <a:pt x="411477" y="0"/>
                </a:lnTo>
                <a:close/>
              </a:path>
            </a:pathLst>
          </a:custGeom>
          <a:solidFill>
            <a:srgbClr val="FFFFFF"/>
          </a:solidFill>
        </p:spPr>
        <p:txBody>
          <a:bodyPr wrap="square" lIns="0" tIns="0" rIns="0" bIns="0" rtlCol="0"/>
          <a:lstStyle/>
          <a:p>
            <a:endParaRPr/>
          </a:p>
        </p:txBody>
      </p:sp>
      <p:sp>
        <p:nvSpPr>
          <p:cNvPr id="36" name="object 36"/>
          <p:cNvSpPr/>
          <p:nvPr/>
        </p:nvSpPr>
        <p:spPr>
          <a:xfrm>
            <a:off x="4801511" y="3445075"/>
            <a:ext cx="502284" cy="502284"/>
          </a:xfrm>
          <a:custGeom>
            <a:avLst/>
            <a:gdLst/>
            <a:ahLst/>
            <a:cxnLst/>
            <a:rect l="l" t="t" r="r" b="b"/>
            <a:pathLst>
              <a:path w="502285"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6CACDD"/>
            </a:solidFill>
          </a:ln>
        </p:spPr>
        <p:txBody>
          <a:bodyPr wrap="square" lIns="0" tIns="0" rIns="0" bIns="0" rtlCol="0"/>
          <a:lstStyle/>
          <a:p>
            <a:endParaRPr/>
          </a:p>
        </p:txBody>
      </p:sp>
      <p:sp>
        <p:nvSpPr>
          <p:cNvPr id="37" name="object 37"/>
          <p:cNvSpPr/>
          <p:nvPr/>
        </p:nvSpPr>
        <p:spPr>
          <a:xfrm>
            <a:off x="5295288" y="3445075"/>
            <a:ext cx="494030" cy="494030"/>
          </a:xfrm>
          <a:custGeom>
            <a:avLst/>
            <a:gdLst/>
            <a:ahLst/>
            <a:cxnLst/>
            <a:rect l="l" t="t" r="r" b="b"/>
            <a:pathLst>
              <a:path w="494029" h="494029">
                <a:moveTo>
                  <a:pt x="411478" y="0"/>
                </a:moveTo>
                <a:lnTo>
                  <a:pt x="82298" y="0"/>
                </a:lnTo>
                <a:lnTo>
                  <a:pt x="50264" y="6467"/>
                </a:lnTo>
                <a:lnTo>
                  <a:pt x="24104" y="24104"/>
                </a:lnTo>
                <a:lnTo>
                  <a:pt x="6467" y="50263"/>
                </a:lnTo>
                <a:lnTo>
                  <a:pt x="0" y="82297"/>
                </a:lnTo>
                <a:lnTo>
                  <a:pt x="0" y="411477"/>
                </a:lnTo>
                <a:lnTo>
                  <a:pt x="6467" y="443511"/>
                </a:lnTo>
                <a:lnTo>
                  <a:pt x="24104" y="469671"/>
                </a:lnTo>
                <a:lnTo>
                  <a:pt x="50264" y="487308"/>
                </a:lnTo>
                <a:lnTo>
                  <a:pt x="82298" y="493775"/>
                </a:lnTo>
                <a:lnTo>
                  <a:pt x="411478" y="493775"/>
                </a:lnTo>
                <a:lnTo>
                  <a:pt x="443512" y="487308"/>
                </a:lnTo>
                <a:lnTo>
                  <a:pt x="469671" y="469671"/>
                </a:lnTo>
                <a:lnTo>
                  <a:pt x="487308" y="443511"/>
                </a:lnTo>
                <a:lnTo>
                  <a:pt x="493775" y="411477"/>
                </a:lnTo>
                <a:lnTo>
                  <a:pt x="493775" y="82297"/>
                </a:lnTo>
                <a:lnTo>
                  <a:pt x="487308" y="50263"/>
                </a:lnTo>
                <a:lnTo>
                  <a:pt x="469671" y="24104"/>
                </a:lnTo>
                <a:lnTo>
                  <a:pt x="443512" y="6467"/>
                </a:lnTo>
                <a:lnTo>
                  <a:pt x="411478" y="0"/>
                </a:lnTo>
                <a:close/>
              </a:path>
            </a:pathLst>
          </a:custGeom>
          <a:solidFill>
            <a:srgbClr val="6CACDD"/>
          </a:solidFill>
        </p:spPr>
        <p:txBody>
          <a:bodyPr wrap="square" lIns="0" tIns="0" rIns="0" bIns="0" rtlCol="0"/>
          <a:lstStyle/>
          <a:p>
            <a:endParaRPr/>
          </a:p>
        </p:txBody>
      </p:sp>
      <p:sp>
        <p:nvSpPr>
          <p:cNvPr id="38" name="object 38"/>
          <p:cNvSpPr/>
          <p:nvPr/>
        </p:nvSpPr>
        <p:spPr>
          <a:xfrm>
            <a:off x="5295287" y="3445075"/>
            <a:ext cx="502284" cy="502284"/>
          </a:xfrm>
          <a:custGeom>
            <a:avLst/>
            <a:gdLst/>
            <a:ahLst/>
            <a:cxnLst/>
            <a:rect l="l" t="t" r="r" b="b"/>
            <a:pathLst>
              <a:path w="502285"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5185AC"/>
            </a:solidFill>
          </a:ln>
        </p:spPr>
        <p:txBody>
          <a:bodyPr wrap="square" lIns="0" tIns="0" rIns="0" bIns="0" rtlCol="0"/>
          <a:lstStyle/>
          <a:p>
            <a:endParaRPr/>
          </a:p>
        </p:txBody>
      </p:sp>
      <p:sp>
        <p:nvSpPr>
          <p:cNvPr id="39" name="object 39"/>
          <p:cNvSpPr/>
          <p:nvPr/>
        </p:nvSpPr>
        <p:spPr>
          <a:xfrm>
            <a:off x="6381312" y="2457523"/>
            <a:ext cx="502284" cy="502284"/>
          </a:xfrm>
          <a:custGeom>
            <a:avLst/>
            <a:gdLst/>
            <a:ahLst/>
            <a:cxnLst/>
            <a:rect l="l" t="t" r="r" b="b"/>
            <a:pathLst>
              <a:path w="502284"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6CACDD"/>
            </a:solidFill>
          </a:ln>
        </p:spPr>
        <p:txBody>
          <a:bodyPr wrap="square" lIns="0" tIns="0" rIns="0" bIns="0" rtlCol="0"/>
          <a:lstStyle/>
          <a:p>
            <a:endParaRPr/>
          </a:p>
        </p:txBody>
      </p:sp>
      <p:sp>
        <p:nvSpPr>
          <p:cNvPr id="40" name="object 40"/>
          <p:cNvSpPr/>
          <p:nvPr/>
        </p:nvSpPr>
        <p:spPr>
          <a:xfrm>
            <a:off x="6875088" y="2457523"/>
            <a:ext cx="494030" cy="494030"/>
          </a:xfrm>
          <a:custGeom>
            <a:avLst/>
            <a:gdLst/>
            <a:ahLst/>
            <a:cxnLst/>
            <a:rect l="l" t="t" r="r" b="b"/>
            <a:pathLst>
              <a:path w="494029" h="494030">
                <a:moveTo>
                  <a:pt x="411478" y="0"/>
                </a:moveTo>
                <a:lnTo>
                  <a:pt x="82298" y="0"/>
                </a:lnTo>
                <a:lnTo>
                  <a:pt x="50264" y="6467"/>
                </a:lnTo>
                <a:lnTo>
                  <a:pt x="24104" y="24104"/>
                </a:lnTo>
                <a:lnTo>
                  <a:pt x="6467" y="50264"/>
                </a:lnTo>
                <a:lnTo>
                  <a:pt x="0" y="82298"/>
                </a:lnTo>
                <a:lnTo>
                  <a:pt x="0" y="411477"/>
                </a:lnTo>
                <a:lnTo>
                  <a:pt x="6467" y="443511"/>
                </a:lnTo>
                <a:lnTo>
                  <a:pt x="24104" y="469671"/>
                </a:lnTo>
                <a:lnTo>
                  <a:pt x="50264" y="487308"/>
                </a:lnTo>
                <a:lnTo>
                  <a:pt x="82298" y="493775"/>
                </a:lnTo>
                <a:lnTo>
                  <a:pt x="411478" y="493775"/>
                </a:lnTo>
                <a:lnTo>
                  <a:pt x="443512" y="487308"/>
                </a:lnTo>
                <a:lnTo>
                  <a:pt x="469671" y="469671"/>
                </a:lnTo>
                <a:lnTo>
                  <a:pt x="487308" y="443511"/>
                </a:lnTo>
                <a:lnTo>
                  <a:pt x="493775" y="411477"/>
                </a:lnTo>
                <a:lnTo>
                  <a:pt x="493775" y="82298"/>
                </a:lnTo>
                <a:lnTo>
                  <a:pt x="487308" y="50264"/>
                </a:lnTo>
                <a:lnTo>
                  <a:pt x="469671" y="24104"/>
                </a:lnTo>
                <a:lnTo>
                  <a:pt x="443512" y="6467"/>
                </a:lnTo>
                <a:lnTo>
                  <a:pt x="411478" y="0"/>
                </a:lnTo>
                <a:close/>
              </a:path>
            </a:pathLst>
          </a:custGeom>
          <a:solidFill>
            <a:srgbClr val="6CACDD"/>
          </a:solidFill>
        </p:spPr>
        <p:txBody>
          <a:bodyPr wrap="square" lIns="0" tIns="0" rIns="0" bIns="0" rtlCol="0"/>
          <a:lstStyle/>
          <a:p>
            <a:endParaRPr/>
          </a:p>
        </p:txBody>
      </p:sp>
      <p:sp>
        <p:nvSpPr>
          <p:cNvPr id="41" name="object 41"/>
          <p:cNvSpPr/>
          <p:nvPr/>
        </p:nvSpPr>
        <p:spPr>
          <a:xfrm>
            <a:off x="6875088" y="2457523"/>
            <a:ext cx="502284" cy="502284"/>
          </a:xfrm>
          <a:custGeom>
            <a:avLst/>
            <a:gdLst/>
            <a:ahLst/>
            <a:cxnLst/>
            <a:rect l="l" t="t" r="r" b="b"/>
            <a:pathLst>
              <a:path w="502284"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5185AC"/>
            </a:solidFill>
          </a:ln>
        </p:spPr>
        <p:txBody>
          <a:bodyPr wrap="square" lIns="0" tIns="0" rIns="0" bIns="0" rtlCol="0"/>
          <a:lstStyle/>
          <a:p>
            <a:endParaRPr/>
          </a:p>
        </p:txBody>
      </p:sp>
      <p:sp>
        <p:nvSpPr>
          <p:cNvPr id="42" name="object 42"/>
          <p:cNvSpPr/>
          <p:nvPr/>
        </p:nvSpPr>
        <p:spPr>
          <a:xfrm>
            <a:off x="7368864" y="2457523"/>
            <a:ext cx="494030" cy="494030"/>
          </a:xfrm>
          <a:custGeom>
            <a:avLst/>
            <a:gdLst/>
            <a:ahLst/>
            <a:cxnLst/>
            <a:rect l="l" t="t" r="r" b="b"/>
            <a:pathLst>
              <a:path w="494029" h="494030">
                <a:moveTo>
                  <a:pt x="411477" y="0"/>
                </a:moveTo>
                <a:lnTo>
                  <a:pt x="82297" y="0"/>
                </a:lnTo>
                <a:lnTo>
                  <a:pt x="50263" y="6467"/>
                </a:lnTo>
                <a:lnTo>
                  <a:pt x="24104" y="24104"/>
                </a:lnTo>
                <a:lnTo>
                  <a:pt x="6467" y="50264"/>
                </a:lnTo>
                <a:lnTo>
                  <a:pt x="0" y="82298"/>
                </a:lnTo>
                <a:lnTo>
                  <a:pt x="0" y="411477"/>
                </a:lnTo>
                <a:lnTo>
                  <a:pt x="6467" y="443511"/>
                </a:lnTo>
                <a:lnTo>
                  <a:pt x="24104" y="469671"/>
                </a:lnTo>
                <a:lnTo>
                  <a:pt x="50263" y="487308"/>
                </a:lnTo>
                <a:lnTo>
                  <a:pt x="82297" y="493775"/>
                </a:lnTo>
                <a:lnTo>
                  <a:pt x="411477" y="493775"/>
                </a:lnTo>
                <a:lnTo>
                  <a:pt x="443511" y="487308"/>
                </a:lnTo>
                <a:lnTo>
                  <a:pt x="469671" y="469671"/>
                </a:lnTo>
                <a:lnTo>
                  <a:pt x="487308" y="443511"/>
                </a:lnTo>
                <a:lnTo>
                  <a:pt x="493775" y="411477"/>
                </a:lnTo>
                <a:lnTo>
                  <a:pt x="493775" y="82298"/>
                </a:lnTo>
                <a:lnTo>
                  <a:pt x="487308" y="50264"/>
                </a:lnTo>
                <a:lnTo>
                  <a:pt x="469671" y="24104"/>
                </a:lnTo>
                <a:lnTo>
                  <a:pt x="443511" y="6467"/>
                </a:lnTo>
                <a:lnTo>
                  <a:pt x="411477" y="0"/>
                </a:lnTo>
                <a:close/>
              </a:path>
            </a:pathLst>
          </a:custGeom>
          <a:solidFill>
            <a:srgbClr val="6CACDD"/>
          </a:solidFill>
        </p:spPr>
        <p:txBody>
          <a:bodyPr wrap="square" lIns="0" tIns="0" rIns="0" bIns="0" rtlCol="0"/>
          <a:lstStyle/>
          <a:p>
            <a:endParaRPr/>
          </a:p>
        </p:txBody>
      </p:sp>
      <p:sp>
        <p:nvSpPr>
          <p:cNvPr id="43" name="object 43"/>
          <p:cNvSpPr/>
          <p:nvPr/>
        </p:nvSpPr>
        <p:spPr>
          <a:xfrm>
            <a:off x="7368864" y="2457523"/>
            <a:ext cx="502284" cy="502284"/>
          </a:xfrm>
          <a:custGeom>
            <a:avLst/>
            <a:gdLst/>
            <a:ahLst/>
            <a:cxnLst/>
            <a:rect l="l" t="t" r="r" b="b"/>
            <a:pathLst>
              <a:path w="502284"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5185AC"/>
            </a:solidFill>
          </a:ln>
        </p:spPr>
        <p:txBody>
          <a:bodyPr wrap="square" lIns="0" tIns="0" rIns="0" bIns="0" rtlCol="0"/>
          <a:lstStyle/>
          <a:p>
            <a:endParaRPr/>
          </a:p>
        </p:txBody>
      </p:sp>
      <p:sp>
        <p:nvSpPr>
          <p:cNvPr id="44" name="object 44"/>
          <p:cNvSpPr/>
          <p:nvPr/>
        </p:nvSpPr>
        <p:spPr>
          <a:xfrm>
            <a:off x="6381313" y="2951299"/>
            <a:ext cx="494030" cy="494030"/>
          </a:xfrm>
          <a:custGeom>
            <a:avLst/>
            <a:gdLst/>
            <a:ahLst/>
            <a:cxnLst/>
            <a:rect l="l" t="t" r="r" b="b"/>
            <a:pathLst>
              <a:path w="494029" h="494029">
                <a:moveTo>
                  <a:pt x="411477" y="0"/>
                </a:moveTo>
                <a:lnTo>
                  <a:pt x="82298" y="0"/>
                </a:lnTo>
                <a:lnTo>
                  <a:pt x="50264" y="6467"/>
                </a:lnTo>
                <a:lnTo>
                  <a:pt x="24104" y="24104"/>
                </a:lnTo>
                <a:lnTo>
                  <a:pt x="6467" y="50263"/>
                </a:lnTo>
                <a:lnTo>
                  <a:pt x="0" y="82297"/>
                </a:lnTo>
                <a:lnTo>
                  <a:pt x="0" y="411477"/>
                </a:lnTo>
                <a:lnTo>
                  <a:pt x="6467" y="443511"/>
                </a:lnTo>
                <a:lnTo>
                  <a:pt x="24104" y="469671"/>
                </a:lnTo>
                <a:lnTo>
                  <a:pt x="50264" y="487308"/>
                </a:lnTo>
                <a:lnTo>
                  <a:pt x="82298" y="493775"/>
                </a:lnTo>
                <a:lnTo>
                  <a:pt x="411477" y="493775"/>
                </a:lnTo>
                <a:lnTo>
                  <a:pt x="443511" y="487308"/>
                </a:lnTo>
                <a:lnTo>
                  <a:pt x="469671" y="469671"/>
                </a:lnTo>
                <a:lnTo>
                  <a:pt x="487308" y="443511"/>
                </a:lnTo>
                <a:lnTo>
                  <a:pt x="493775" y="411477"/>
                </a:lnTo>
                <a:lnTo>
                  <a:pt x="493775" y="82297"/>
                </a:lnTo>
                <a:lnTo>
                  <a:pt x="487308" y="50263"/>
                </a:lnTo>
                <a:lnTo>
                  <a:pt x="469671" y="24104"/>
                </a:lnTo>
                <a:lnTo>
                  <a:pt x="443511" y="6467"/>
                </a:lnTo>
                <a:lnTo>
                  <a:pt x="411477" y="0"/>
                </a:lnTo>
                <a:close/>
              </a:path>
            </a:pathLst>
          </a:custGeom>
          <a:solidFill>
            <a:srgbClr val="FFFFFF"/>
          </a:solidFill>
        </p:spPr>
        <p:txBody>
          <a:bodyPr wrap="square" lIns="0" tIns="0" rIns="0" bIns="0" rtlCol="0"/>
          <a:lstStyle/>
          <a:p>
            <a:endParaRPr/>
          </a:p>
        </p:txBody>
      </p:sp>
      <p:sp>
        <p:nvSpPr>
          <p:cNvPr id="45" name="object 45"/>
          <p:cNvSpPr/>
          <p:nvPr/>
        </p:nvSpPr>
        <p:spPr>
          <a:xfrm>
            <a:off x="6381312" y="2951299"/>
            <a:ext cx="502284" cy="502284"/>
          </a:xfrm>
          <a:custGeom>
            <a:avLst/>
            <a:gdLst/>
            <a:ahLst/>
            <a:cxnLst/>
            <a:rect l="l" t="t" r="r" b="b"/>
            <a:pathLst>
              <a:path w="502284"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6CACDD"/>
            </a:solidFill>
          </a:ln>
        </p:spPr>
        <p:txBody>
          <a:bodyPr wrap="square" lIns="0" tIns="0" rIns="0" bIns="0" rtlCol="0"/>
          <a:lstStyle/>
          <a:p>
            <a:endParaRPr/>
          </a:p>
        </p:txBody>
      </p:sp>
      <p:sp>
        <p:nvSpPr>
          <p:cNvPr id="46" name="object 46"/>
          <p:cNvSpPr/>
          <p:nvPr/>
        </p:nvSpPr>
        <p:spPr>
          <a:xfrm>
            <a:off x="6875088" y="2951299"/>
            <a:ext cx="494030" cy="494030"/>
          </a:xfrm>
          <a:custGeom>
            <a:avLst/>
            <a:gdLst/>
            <a:ahLst/>
            <a:cxnLst/>
            <a:rect l="l" t="t" r="r" b="b"/>
            <a:pathLst>
              <a:path w="494029" h="494029">
                <a:moveTo>
                  <a:pt x="411478" y="0"/>
                </a:moveTo>
                <a:lnTo>
                  <a:pt x="82298" y="0"/>
                </a:lnTo>
                <a:lnTo>
                  <a:pt x="50264" y="6467"/>
                </a:lnTo>
                <a:lnTo>
                  <a:pt x="24104" y="24104"/>
                </a:lnTo>
                <a:lnTo>
                  <a:pt x="6467" y="50263"/>
                </a:lnTo>
                <a:lnTo>
                  <a:pt x="0" y="82297"/>
                </a:lnTo>
                <a:lnTo>
                  <a:pt x="0" y="411477"/>
                </a:lnTo>
                <a:lnTo>
                  <a:pt x="6467" y="443511"/>
                </a:lnTo>
                <a:lnTo>
                  <a:pt x="24104" y="469671"/>
                </a:lnTo>
                <a:lnTo>
                  <a:pt x="50264" y="487308"/>
                </a:lnTo>
                <a:lnTo>
                  <a:pt x="82298" y="493775"/>
                </a:lnTo>
                <a:lnTo>
                  <a:pt x="411478" y="493775"/>
                </a:lnTo>
                <a:lnTo>
                  <a:pt x="443512" y="487308"/>
                </a:lnTo>
                <a:lnTo>
                  <a:pt x="469671" y="469671"/>
                </a:lnTo>
                <a:lnTo>
                  <a:pt x="487308" y="443511"/>
                </a:lnTo>
                <a:lnTo>
                  <a:pt x="493775" y="411477"/>
                </a:lnTo>
                <a:lnTo>
                  <a:pt x="493775" y="82297"/>
                </a:lnTo>
                <a:lnTo>
                  <a:pt x="487308" y="50263"/>
                </a:lnTo>
                <a:lnTo>
                  <a:pt x="469671" y="24104"/>
                </a:lnTo>
                <a:lnTo>
                  <a:pt x="443512" y="6467"/>
                </a:lnTo>
                <a:lnTo>
                  <a:pt x="411478" y="0"/>
                </a:lnTo>
                <a:close/>
              </a:path>
            </a:pathLst>
          </a:custGeom>
          <a:solidFill>
            <a:srgbClr val="F2913F"/>
          </a:solidFill>
        </p:spPr>
        <p:txBody>
          <a:bodyPr wrap="square" lIns="0" tIns="0" rIns="0" bIns="0" rtlCol="0"/>
          <a:lstStyle/>
          <a:p>
            <a:endParaRPr/>
          </a:p>
        </p:txBody>
      </p:sp>
      <p:sp>
        <p:nvSpPr>
          <p:cNvPr id="47" name="object 47"/>
          <p:cNvSpPr/>
          <p:nvPr/>
        </p:nvSpPr>
        <p:spPr>
          <a:xfrm>
            <a:off x="6875088" y="2951299"/>
            <a:ext cx="502284" cy="502284"/>
          </a:xfrm>
          <a:custGeom>
            <a:avLst/>
            <a:gdLst/>
            <a:ahLst/>
            <a:cxnLst/>
            <a:rect l="l" t="t" r="r" b="b"/>
            <a:pathLst>
              <a:path w="502284"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BD6E2B"/>
            </a:solidFill>
          </a:ln>
        </p:spPr>
        <p:txBody>
          <a:bodyPr wrap="square" lIns="0" tIns="0" rIns="0" bIns="0" rtlCol="0"/>
          <a:lstStyle/>
          <a:p>
            <a:endParaRPr/>
          </a:p>
        </p:txBody>
      </p:sp>
      <p:sp>
        <p:nvSpPr>
          <p:cNvPr id="48" name="object 48"/>
          <p:cNvSpPr/>
          <p:nvPr/>
        </p:nvSpPr>
        <p:spPr>
          <a:xfrm>
            <a:off x="7368864" y="2951299"/>
            <a:ext cx="494030" cy="494030"/>
          </a:xfrm>
          <a:custGeom>
            <a:avLst/>
            <a:gdLst/>
            <a:ahLst/>
            <a:cxnLst/>
            <a:rect l="l" t="t" r="r" b="b"/>
            <a:pathLst>
              <a:path w="494029" h="494029">
                <a:moveTo>
                  <a:pt x="411477" y="0"/>
                </a:moveTo>
                <a:lnTo>
                  <a:pt x="82297" y="0"/>
                </a:lnTo>
                <a:lnTo>
                  <a:pt x="50263" y="6467"/>
                </a:lnTo>
                <a:lnTo>
                  <a:pt x="24104" y="24104"/>
                </a:lnTo>
                <a:lnTo>
                  <a:pt x="6467" y="50263"/>
                </a:lnTo>
                <a:lnTo>
                  <a:pt x="0" y="82297"/>
                </a:lnTo>
                <a:lnTo>
                  <a:pt x="0" y="411477"/>
                </a:lnTo>
                <a:lnTo>
                  <a:pt x="6467" y="443511"/>
                </a:lnTo>
                <a:lnTo>
                  <a:pt x="24104" y="469671"/>
                </a:lnTo>
                <a:lnTo>
                  <a:pt x="50263" y="487308"/>
                </a:lnTo>
                <a:lnTo>
                  <a:pt x="82297" y="493775"/>
                </a:lnTo>
                <a:lnTo>
                  <a:pt x="411477" y="493775"/>
                </a:lnTo>
                <a:lnTo>
                  <a:pt x="443511" y="487308"/>
                </a:lnTo>
                <a:lnTo>
                  <a:pt x="469671" y="469671"/>
                </a:lnTo>
                <a:lnTo>
                  <a:pt x="487308" y="443511"/>
                </a:lnTo>
                <a:lnTo>
                  <a:pt x="493775" y="411477"/>
                </a:lnTo>
                <a:lnTo>
                  <a:pt x="493775" y="82297"/>
                </a:lnTo>
                <a:lnTo>
                  <a:pt x="487308" y="50263"/>
                </a:lnTo>
                <a:lnTo>
                  <a:pt x="469671" y="24104"/>
                </a:lnTo>
                <a:lnTo>
                  <a:pt x="443511" y="6467"/>
                </a:lnTo>
                <a:lnTo>
                  <a:pt x="411477" y="0"/>
                </a:lnTo>
                <a:close/>
              </a:path>
            </a:pathLst>
          </a:custGeom>
          <a:solidFill>
            <a:srgbClr val="FFFFFF"/>
          </a:solidFill>
        </p:spPr>
        <p:txBody>
          <a:bodyPr wrap="square" lIns="0" tIns="0" rIns="0" bIns="0" rtlCol="0"/>
          <a:lstStyle/>
          <a:p>
            <a:endParaRPr/>
          </a:p>
        </p:txBody>
      </p:sp>
      <p:sp>
        <p:nvSpPr>
          <p:cNvPr id="49" name="object 49"/>
          <p:cNvSpPr/>
          <p:nvPr/>
        </p:nvSpPr>
        <p:spPr>
          <a:xfrm>
            <a:off x="7368864" y="2951299"/>
            <a:ext cx="502284" cy="502284"/>
          </a:xfrm>
          <a:custGeom>
            <a:avLst/>
            <a:gdLst/>
            <a:ahLst/>
            <a:cxnLst/>
            <a:rect l="l" t="t" r="r" b="b"/>
            <a:pathLst>
              <a:path w="502284"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6CACDD"/>
            </a:solidFill>
          </a:ln>
        </p:spPr>
        <p:txBody>
          <a:bodyPr wrap="square" lIns="0" tIns="0" rIns="0" bIns="0" rtlCol="0"/>
          <a:lstStyle/>
          <a:p>
            <a:endParaRPr/>
          </a:p>
        </p:txBody>
      </p:sp>
      <p:sp>
        <p:nvSpPr>
          <p:cNvPr id="50" name="object 50"/>
          <p:cNvSpPr/>
          <p:nvPr/>
        </p:nvSpPr>
        <p:spPr>
          <a:xfrm>
            <a:off x="6381313" y="3445075"/>
            <a:ext cx="494030" cy="494030"/>
          </a:xfrm>
          <a:custGeom>
            <a:avLst/>
            <a:gdLst/>
            <a:ahLst/>
            <a:cxnLst/>
            <a:rect l="l" t="t" r="r" b="b"/>
            <a:pathLst>
              <a:path w="494029" h="494029">
                <a:moveTo>
                  <a:pt x="411477" y="0"/>
                </a:moveTo>
                <a:lnTo>
                  <a:pt x="82298" y="0"/>
                </a:lnTo>
                <a:lnTo>
                  <a:pt x="50264" y="6467"/>
                </a:lnTo>
                <a:lnTo>
                  <a:pt x="24104" y="24104"/>
                </a:lnTo>
                <a:lnTo>
                  <a:pt x="6467" y="50263"/>
                </a:lnTo>
                <a:lnTo>
                  <a:pt x="0" y="82297"/>
                </a:lnTo>
                <a:lnTo>
                  <a:pt x="0" y="411477"/>
                </a:lnTo>
                <a:lnTo>
                  <a:pt x="6467" y="443511"/>
                </a:lnTo>
                <a:lnTo>
                  <a:pt x="24104" y="469671"/>
                </a:lnTo>
                <a:lnTo>
                  <a:pt x="50264" y="487308"/>
                </a:lnTo>
                <a:lnTo>
                  <a:pt x="82298" y="493775"/>
                </a:lnTo>
                <a:lnTo>
                  <a:pt x="411477" y="493775"/>
                </a:lnTo>
                <a:lnTo>
                  <a:pt x="443511" y="487308"/>
                </a:lnTo>
                <a:lnTo>
                  <a:pt x="469671" y="469671"/>
                </a:lnTo>
                <a:lnTo>
                  <a:pt x="487308" y="443511"/>
                </a:lnTo>
                <a:lnTo>
                  <a:pt x="493775" y="411477"/>
                </a:lnTo>
                <a:lnTo>
                  <a:pt x="493775" y="82297"/>
                </a:lnTo>
                <a:lnTo>
                  <a:pt x="487308" y="50263"/>
                </a:lnTo>
                <a:lnTo>
                  <a:pt x="469671" y="24104"/>
                </a:lnTo>
                <a:lnTo>
                  <a:pt x="443511" y="6467"/>
                </a:lnTo>
                <a:lnTo>
                  <a:pt x="411477" y="0"/>
                </a:lnTo>
                <a:close/>
              </a:path>
            </a:pathLst>
          </a:custGeom>
          <a:solidFill>
            <a:srgbClr val="FFFFFF"/>
          </a:solidFill>
        </p:spPr>
        <p:txBody>
          <a:bodyPr wrap="square" lIns="0" tIns="0" rIns="0" bIns="0" rtlCol="0"/>
          <a:lstStyle/>
          <a:p>
            <a:endParaRPr/>
          </a:p>
        </p:txBody>
      </p:sp>
      <p:sp>
        <p:nvSpPr>
          <p:cNvPr id="51" name="object 51"/>
          <p:cNvSpPr/>
          <p:nvPr/>
        </p:nvSpPr>
        <p:spPr>
          <a:xfrm>
            <a:off x="6381312" y="3445075"/>
            <a:ext cx="502284" cy="502284"/>
          </a:xfrm>
          <a:custGeom>
            <a:avLst/>
            <a:gdLst/>
            <a:ahLst/>
            <a:cxnLst/>
            <a:rect l="l" t="t" r="r" b="b"/>
            <a:pathLst>
              <a:path w="502284"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6CACDD"/>
            </a:solidFill>
          </a:ln>
        </p:spPr>
        <p:txBody>
          <a:bodyPr wrap="square" lIns="0" tIns="0" rIns="0" bIns="0" rtlCol="0"/>
          <a:lstStyle/>
          <a:p>
            <a:endParaRPr/>
          </a:p>
        </p:txBody>
      </p:sp>
      <p:sp>
        <p:nvSpPr>
          <p:cNvPr id="52" name="object 52"/>
          <p:cNvSpPr/>
          <p:nvPr/>
        </p:nvSpPr>
        <p:spPr>
          <a:xfrm>
            <a:off x="6875088" y="3445075"/>
            <a:ext cx="494030" cy="494030"/>
          </a:xfrm>
          <a:custGeom>
            <a:avLst/>
            <a:gdLst/>
            <a:ahLst/>
            <a:cxnLst/>
            <a:rect l="l" t="t" r="r" b="b"/>
            <a:pathLst>
              <a:path w="494029" h="494029">
                <a:moveTo>
                  <a:pt x="411478" y="0"/>
                </a:moveTo>
                <a:lnTo>
                  <a:pt x="82298" y="0"/>
                </a:lnTo>
                <a:lnTo>
                  <a:pt x="50264" y="6467"/>
                </a:lnTo>
                <a:lnTo>
                  <a:pt x="24104" y="24104"/>
                </a:lnTo>
                <a:lnTo>
                  <a:pt x="6467" y="50263"/>
                </a:lnTo>
                <a:lnTo>
                  <a:pt x="0" y="82297"/>
                </a:lnTo>
                <a:lnTo>
                  <a:pt x="0" y="411477"/>
                </a:lnTo>
                <a:lnTo>
                  <a:pt x="6467" y="443511"/>
                </a:lnTo>
                <a:lnTo>
                  <a:pt x="24104" y="469671"/>
                </a:lnTo>
                <a:lnTo>
                  <a:pt x="50264" y="487308"/>
                </a:lnTo>
                <a:lnTo>
                  <a:pt x="82298" y="493775"/>
                </a:lnTo>
                <a:lnTo>
                  <a:pt x="411478" y="493775"/>
                </a:lnTo>
                <a:lnTo>
                  <a:pt x="443512" y="487308"/>
                </a:lnTo>
                <a:lnTo>
                  <a:pt x="469671" y="469671"/>
                </a:lnTo>
                <a:lnTo>
                  <a:pt x="487308" y="443511"/>
                </a:lnTo>
                <a:lnTo>
                  <a:pt x="493775" y="411477"/>
                </a:lnTo>
                <a:lnTo>
                  <a:pt x="493775" y="82297"/>
                </a:lnTo>
                <a:lnTo>
                  <a:pt x="487308" y="50263"/>
                </a:lnTo>
                <a:lnTo>
                  <a:pt x="469671" y="24104"/>
                </a:lnTo>
                <a:lnTo>
                  <a:pt x="443512" y="6467"/>
                </a:lnTo>
                <a:lnTo>
                  <a:pt x="411478" y="0"/>
                </a:lnTo>
                <a:close/>
              </a:path>
            </a:pathLst>
          </a:custGeom>
          <a:solidFill>
            <a:srgbClr val="FFFFFF"/>
          </a:solidFill>
        </p:spPr>
        <p:txBody>
          <a:bodyPr wrap="square" lIns="0" tIns="0" rIns="0" bIns="0" rtlCol="0"/>
          <a:lstStyle/>
          <a:p>
            <a:endParaRPr/>
          </a:p>
        </p:txBody>
      </p:sp>
      <p:sp>
        <p:nvSpPr>
          <p:cNvPr id="53" name="object 53"/>
          <p:cNvSpPr/>
          <p:nvPr/>
        </p:nvSpPr>
        <p:spPr>
          <a:xfrm>
            <a:off x="6875088" y="3445075"/>
            <a:ext cx="502284" cy="502284"/>
          </a:xfrm>
          <a:custGeom>
            <a:avLst/>
            <a:gdLst/>
            <a:ahLst/>
            <a:cxnLst/>
            <a:rect l="l" t="t" r="r" b="b"/>
            <a:pathLst>
              <a:path w="502284"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6CACDD"/>
            </a:solidFill>
          </a:ln>
        </p:spPr>
        <p:txBody>
          <a:bodyPr wrap="square" lIns="0" tIns="0" rIns="0" bIns="0" rtlCol="0"/>
          <a:lstStyle/>
          <a:p>
            <a:endParaRPr/>
          </a:p>
        </p:txBody>
      </p:sp>
      <p:sp>
        <p:nvSpPr>
          <p:cNvPr id="54" name="object 54"/>
          <p:cNvSpPr/>
          <p:nvPr/>
        </p:nvSpPr>
        <p:spPr>
          <a:xfrm>
            <a:off x="7368864" y="3445075"/>
            <a:ext cx="494030" cy="494030"/>
          </a:xfrm>
          <a:custGeom>
            <a:avLst/>
            <a:gdLst/>
            <a:ahLst/>
            <a:cxnLst/>
            <a:rect l="l" t="t" r="r" b="b"/>
            <a:pathLst>
              <a:path w="494029" h="494029">
                <a:moveTo>
                  <a:pt x="411477" y="0"/>
                </a:moveTo>
                <a:lnTo>
                  <a:pt x="82297" y="0"/>
                </a:lnTo>
                <a:lnTo>
                  <a:pt x="50263" y="6467"/>
                </a:lnTo>
                <a:lnTo>
                  <a:pt x="24104" y="24104"/>
                </a:lnTo>
                <a:lnTo>
                  <a:pt x="6467" y="50263"/>
                </a:lnTo>
                <a:lnTo>
                  <a:pt x="0" y="82297"/>
                </a:lnTo>
                <a:lnTo>
                  <a:pt x="0" y="411477"/>
                </a:lnTo>
                <a:lnTo>
                  <a:pt x="6467" y="443511"/>
                </a:lnTo>
                <a:lnTo>
                  <a:pt x="24104" y="469671"/>
                </a:lnTo>
                <a:lnTo>
                  <a:pt x="50263" y="487308"/>
                </a:lnTo>
                <a:lnTo>
                  <a:pt x="82297" y="493775"/>
                </a:lnTo>
                <a:lnTo>
                  <a:pt x="411477" y="493775"/>
                </a:lnTo>
                <a:lnTo>
                  <a:pt x="443511" y="487308"/>
                </a:lnTo>
                <a:lnTo>
                  <a:pt x="469671" y="469671"/>
                </a:lnTo>
                <a:lnTo>
                  <a:pt x="487308" y="443511"/>
                </a:lnTo>
                <a:lnTo>
                  <a:pt x="493775" y="411477"/>
                </a:lnTo>
                <a:lnTo>
                  <a:pt x="493775" y="82297"/>
                </a:lnTo>
                <a:lnTo>
                  <a:pt x="487308" y="50263"/>
                </a:lnTo>
                <a:lnTo>
                  <a:pt x="469671" y="24104"/>
                </a:lnTo>
                <a:lnTo>
                  <a:pt x="443511" y="6467"/>
                </a:lnTo>
                <a:lnTo>
                  <a:pt x="411477" y="0"/>
                </a:lnTo>
                <a:close/>
              </a:path>
            </a:pathLst>
          </a:custGeom>
          <a:solidFill>
            <a:srgbClr val="FFFFFF"/>
          </a:solidFill>
        </p:spPr>
        <p:txBody>
          <a:bodyPr wrap="square" lIns="0" tIns="0" rIns="0" bIns="0" rtlCol="0"/>
          <a:lstStyle/>
          <a:p>
            <a:endParaRPr/>
          </a:p>
        </p:txBody>
      </p:sp>
      <p:sp>
        <p:nvSpPr>
          <p:cNvPr id="55" name="object 55"/>
          <p:cNvSpPr/>
          <p:nvPr/>
        </p:nvSpPr>
        <p:spPr>
          <a:xfrm>
            <a:off x="7368864" y="3445075"/>
            <a:ext cx="502284" cy="502284"/>
          </a:xfrm>
          <a:custGeom>
            <a:avLst/>
            <a:gdLst/>
            <a:ahLst/>
            <a:cxnLst/>
            <a:rect l="l" t="t" r="r" b="b"/>
            <a:pathLst>
              <a:path w="502284"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6CACDD"/>
            </a:solidFill>
          </a:ln>
        </p:spPr>
        <p:txBody>
          <a:bodyPr wrap="square" lIns="0" tIns="0" rIns="0" bIns="0" rtlCol="0"/>
          <a:lstStyle/>
          <a:p>
            <a:endParaRPr/>
          </a:p>
        </p:txBody>
      </p:sp>
      <p:sp>
        <p:nvSpPr>
          <p:cNvPr id="56" name="object 56"/>
          <p:cNvSpPr/>
          <p:nvPr/>
        </p:nvSpPr>
        <p:spPr>
          <a:xfrm>
            <a:off x="8455304" y="2440590"/>
            <a:ext cx="502284" cy="502284"/>
          </a:xfrm>
          <a:custGeom>
            <a:avLst/>
            <a:gdLst/>
            <a:ahLst/>
            <a:cxnLst/>
            <a:rect l="l" t="t" r="r" b="b"/>
            <a:pathLst>
              <a:path w="502284"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6CACDD"/>
            </a:solidFill>
          </a:ln>
        </p:spPr>
        <p:txBody>
          <a:bodyPr wrap="square" lIns="0" tIns="0" rIns="0" bIns="0" rtlCol="0"/>
          <a:lstStyle/>
          <a:p>
            <a:endParaRPr/>
          </a:p>
        </p:txBody>
      </p:sp>
      <p:sp>
        <p:nvSpPr>
          <p:cNvPr id="57" name="object 57"/>
          <p:cNvSpPr/>
          <p:nvPr/>
        </p:nvSpPr>
        <p:spPr>
          <a:xfrm>
            <a:off x="8949080" y="2440590"/>
            <a:ext cx="494030" cy="494030"/>
          </a:xfrm>
          <a:custGeom>
            <a:avLst/>
            <a:gdLst/>
            <a:ahLst/>
            <a:cxnLst/>
            <a:rect l="l" t="t" r="r" b="b"/>
            <a:pathLst>
              <a:path w="494029" h="494030">
                <a:moveTo>
                  <a:pt x="411478" y="0"/>
                </a:moveTo>
                <a:lnTo>
                  <a:pt x="82298" y="0"/>
                </a:lnTo>
                <a:lnTo>
                  <a:pt x="50264" y="6467"/>
                </a:lnTo>
                <a:lnTo>
                  <a:pt x="24104" y="24104"/>
                </a:lnTo>
                <a:lnTo>
                  <a:pt x="6467" y="50263"/>
                </a:lnTo>
                <a:lnTo>
                  <a:pt x="0" y="82297"/>
                </a:lnTo>
                <a:lnTo>
                  <a:pt x="0" y="411477"/>
                </a:lnTo>
                <a:lnTo>
                  <a:pt x="6467" y="443511"/>
                </a:lnTo>
                <a:lnTo>
                  <a:pt x="24104" y="469671"/>
                </a:lnTo>
                <a:lnTo>
                  <a:pt x="50264" y="487308"/>
                </a:lnTo>
                <a:lnTo>
                  <a:pt x="82298" y="493775"/>
                </a:lnTo>
                <a:lnTo>
                  <a:pt x="411478" y="493775"/>
                </a:lnTo>
                <a:lnTo>
                  <a:pt x="443512" y="487308"/>
                </a:lnTo>
                <a:lnTo>
                  <a:pt x="469671" y="469671"/>
                </a:lnTo>
                <a:lnTo>
                  <a:pt x="487308" y="443511"/>
                </a:lnTo>
                <a:lnTo>
                  <a:pt x="493775" y="411477"/>
                </a:lnTo>
                <a:lnTo>
                  <a:pt x="493775" y="82297"/>
                </a:lnTo>
                <a:lnTo>
                  <a:pt x="487308" y="50263"/>
                </a:lnTo>
                <a:lnTo>
                  <a:pt x="469671" y="24104"/>
                </a:lnTo>
                <a:lnTo>
                  <a:pt x="443512" y="6467"/>
                </a:lnTo>
                <a:lnTo>
                  <a:pt x="411478" y="0"/>
                </a:lnTo>
                <a:close/>
              </a:path>
            </a:pathLst>
          </a:custGeom>
          <a:solidFill>
            <a:srgbClr val="FFFFFF"/>
          </a:solidFill>
        </p:spPr>
        <p:txBody>
          <a:bodyPr wrap="square" lIns="0" tIns="0" rIns="0" bIns="0" rtlCol="0"/>
          <a:lstStyle/>
          <a:p>
            <a:endParaRPr/>
          </a:p>
        </p:txBody>
      </p:sp>
      <p:sp>
        <p:nvSpPr>
          <p:cNvPr id="58" name="object 58"/>
          <p:cNvSpPr/>
          <p:nvPr/>
        </p:nvSpPr>
        <p:spPr>
          <a:xfrm>
            <a:off x="8949080" y="2440590"/>
            <a:ext cx="502284" cy="502284"/>
          </a:xfrm>
          <a:custGeom>
            <a:avLst/>
            <a:gdLst/>
            <a:ahLst/>
            <a:cxnLst/>
            <a:rect l="l" t="t" r="r" b="b"/>
            <a:pathLst>
              <a:path w="502284"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6CACDD"/>
            </a:solidFill>
          </a:ln>
        </p:spPr>
        <p:txBody>
          <a:bodyPr wrap="square" lIns="0" tIns="0" rIns="0" bIns="0" rtlCol="0"/>
          <a:lstStyle/>
          <a:p>
            <a:endParaRPr/>
          </a:p>
        </p:txBody>
      </p:sp>
      <p:sp>
        <p:nvSpPr>
          <p:cNvPr id="59" name="object 59"/>
          <p:cNvSpPr/>
          <p:nvPr/>
        </p:nvSpPr>
        <p:spPr>
          <a:xfrm>
            <a:off x="9442856" y="2440590"/>
            <a:ext cx="494030" cy="494030"/>
          </a:xfrm>
          <a:custGeom>
            <a:avLst/>
            <a:gdLst/>
            <a:ahLst/>
            <a:cxnLst/>
            <a:rect l="l" t="t" r="r" b="b"/>
            <a:pathLst>
              <a:path w="494029" h="494030">
                <a:moveTo>
                  <a:pt x="411478" y="0"/>
                </a:moveTo>
                <a:lnTo>
                  <a:pt x="82298" y="0"/>
                </a:lnTo>
                <a:lnTo>
                  <a:pt x="50264" y="6467"/>
                </a:lnTo>
                <a:lnTo>
                  <a:pt x="24104" y="24104"/>
                </a:lnTo>
                <a:lnTo>
                  <a:pt x="6467" y="50263"/>
                </a:lnTo>
                <a:lnTo>
                  <a:pt x="0" y="82297"/>
                </a:lnTo>
                <a:lnTo>
                  <a:pt x="0" y="411477"/>
                </a:lnTo>
                <a:lnTo>
                  <a:pt x="6467" y="443511"/>
                </a:lnTo>
                <a:lnTo>
                  <a:pt x="24104" y="469671"/>
                </a:lnTo>
                <a:lnTo>
                  <a:pt x="50264" y="487308"/>
                </a:lnTo>
                <a:lnTo>
                  <a:pt x="82298" y="493775"/>
                </a:lnTo>
                <a:lnTo>
                  <a:pt x="411478" y="493775"/>
                </a:lnTo>
                <a:lnTo>
                  <a:pt x="443512" y="487308"/>
                </a:lnTo>
                <a:lnTo>
                  <a:pt x="469671" y="469671"/>
                </a:lnTo>
                <a:lnTo>
                  <a:pt x="487308" y="443511"/>
                </a:lnTo>
                <a:lnTo>
                  <a:pt x="493775" y="411477"/>
                </a:lnTo>
                <a:lnTo>
                  <a:pt x="493775" y="82297"/>
                </a:lnTo>
                <a:lnTo>
                  <a:pt x="487308" y="50263"/>
                </a:lnTo>
                <a:lnTo>
                  <a:pt x="469671" y="24104"/>
                </a:lnTo>
                <a:lnTo>
                  <a:pt x="443512" y="6467"/>
                </a:lnTo>
                <a:lnTo>
                  <a:pt x="411478" y="0"/>
                </a:lnTo>
                <a:close/>
              </a:path>
            </a:pathLst>
          </a:custGeom>
          <a:solidFill>
            <a:srgbClr val="FFFFFF"/>
          </a:solidFill>
        </p:spPr>
        <p:txBody>
          <a:bodyPr wrap="square" lIns="0" tIns="0" rIns="0" bIns="0" rtlCol="0"/>
          <a:lstStyle/>
          <a:p>
            <a:endParaRPr/>
          </a:p>
        </p:txBody>
      </p:sp>
      <p:sp>
        <p:nvSpPr>
          <p:cNvPr id="60" name="object 60"/>
          <p:cNvSpPr/>
          <p:nvPr/>
        </p:nvSpPr>
        <p:spPr>
          <a:xfrm>
            <a:off x="9442856" y="2440590"/>
            <a:ext cx="502284" cy="502284"/>
          </a:xfrm>
          <a:custGeom>
            <a:avLst/>
            <a:gdLst/>
            <a:ahLst/>
            <a:cxnLst/>
            <a:rect l="l" t="t" r="r" b="b"/>
            <a:pathLst>
              <a:path w="502284"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6CACDD"/>
            </a:solidFill>
          </a:ln>
        </p:spPr>
        <p:txBody>
          <a:bodyPr wrap="square" lIns="0" tIns="0" rIns="0" bIns="0" rtlCol="0"/>
          <a:lstStyle/>
          <a:p>
            <a:endParaRPr/>
          </a:p>
        </p:txBody>
      </p:sp>
      <p:sp>
        <p:nvSpPr>
          <p:cNvPr id="61" name="object 61"/>
          <p:cNvSpPr/>
          <p:nvPr/>
        </p:nvSpPr>
        <p:spPr>
          <a:xfrm>
            <a:off x="8455304" y="2934366"/>
            <a:ext cx="494030" cy="494030"/>
          </a:xfrm>
          <a:custGeom>
            <a:avLst/>
            <a:gdLst/>
            <a:ahLst/>
            <a:cxnLst/>
            <a:rect l="l" t="t" r="r" b="b"/>
            <a:pathLst>
              <a:path w="494029" h="494029">
                <a:moveTo>
                  <a:pt x="411478" y="0"/>
                </a:moveTo>
                <a:lnTo>
                  <a:pt x="82298" y="0"/>
                </a:lnTo>
                <a:lnTo>
                  <a:pt x="50264" y="6467"/>
                </a:lnTo>
                <a:lnTo>
                  <a:pt x="24104" y="24104"/>
                </a:lnTo>
                <a:lnTo>
                  <a:pt x="6467" y="50264"/>
                </a:lnTo>
                <a:lnTo>
                  <a:pt x="0" y="82298"/>
                </a:lnTo>
                <a:lnTo>
                  <a:pt x="0" y="411477"/>
                </a:lnTo>
                <a:lnTo>
                  <a:pt x="6467" y="443511"/>
                </a:lnTo>
                <a:lnTo>
                  <a:pt x="24104" y="469671"/>
                </a:lnTo>
                <a:lnTo>
                  <a:pt x="50264" y="487308"/>
                </a:lnTo>
                <a:lnTo>
                  <a:pt x="82298" y="493775"/>
                </a:lnTo>
                <a:lnTo>
                  <a:pt x="411478" y="493775"/>
                </a:lnTo>
                <a:lnTo>
                  <a:pt x="443512" y="487308"/>
                </a:lnTo>
                <a:lnTo>
                  <a:pt x="469671" y="469671"/>
                </a:lnTo>
                <a:lnTo>
                  <a:pt x="487308" y="443511"/>
                </a:lnTo>
                <a:lnTo>
                  <a:pt x="493775" y="411477"/>
                </a:lnTo>
                <a:lnTo>
                  <a:pt x="493775" y="82298"/>
                </a:lnTo>
                <a:lnTo>
                  <a:pt x="487308" y="50264"/>
                </a:lnTo>
                <a:lnTo>
                  <a:pt x="469671" y="24104"/>
                </a:lnTo>
                <a:lnTo>
                  <a:pt x="443512" y="6467"/>
                </a:lnTo>
                <a:lnTo>
                  <a:pt x="411478" y="0"/>
                </a:lnTo>
                <a:close/>
              </a:path>
            </a:pathLst>
          </a:custGeom>
          <a:solidFill>
            <a:srgbClr val="FFFFFF"/>
          </a:solidFill>
        </p:spPr>
        <p:txBody>
          <a:bodyPr wrap="square" lIns="0" tIns="0" rIns="0" bIns="0" rtlCol="0"/>
          <a:lstStyle/>
          <a:p>
            <a:endParaRPr/>
          </a:p>
        </p:txBody>
      </p:sp>
      <p:sp>
        <p:nvSpPr>
          <p:cNvPr id="62" name="object 62"/>
          <p:cNvSpPr/>
          <p:nvPr/>
        </p:nvSpPr>
        <p:spPr>
          <a:xfrm>
            <a:off x="8455304" y="2934366"/>
            <a:ext cx="502284" cy="502284"/>
          </a:xfrm>
          <a:custGeom>
            <a:avLst/>
            <a:gdLst/>
            <a:ahLst/>
            <a:cxnLst/>
            <a:rect l="l" t="t" r="r" b="b"/>
            <a:pathLst>
              <a:path w="502284"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6CACDD"/>
            </a:solidFill>
          </a:ln>
        </p:spPr>
        <p:txBody>
          <a:bodyPr wrap="square" lIns="0" tIns="0" rIns="0" bIns="0" rtlCol="0"/>
          <a:lstStyle/>
          <a:p>
            <a:endParaRPr/>
          </a:p>
        </p:txBody>
      </p:sp>
      <p:sp>
        <p:nvSpPr>
          <p:cNvPr id="63" name="object 63"/>
          <p:cNvSpPr/>
          <p:nvPr/>
        </p:nvSpPr>
        <p:spPr>
          <a:xfrm>
            <a:off x="8949080" y="2934366"/>
            <a:ext cx="494030" cy="494030"/>
          </a:xfrm>
          <a:custGeom>
            <a:avLst/>
            <a:gdLst/>
            <a:ahLst/>
            <a:cxnLst/>
            <a:rect l="l" t="t" r="r" b="b"/>
            <a:pathLst>
              <a:path w="494029" h="494029">
                <a:moveTo>
                  <a:pt x="411478" y="0"/>
                </a:moveTo>
                <a:lnTo>
                  <a:pt x="82298" y="0"/>
                </a:lnTo>
                <a:lnTo>
                  <a:pt x="50264" y="6467"/>
                </a:lnTo>
                <a:lnTo>
                  <a:pt x="24104" y="24104"/>
                </a:lnTo>
                <a:lnTo>
                  <a:pt x="6467" y="50264"/>
                </a:lnTo>
                <a:lnTo>
                  <a:pt x="0" y="82298"/>
                </a:lnTo>
                <a:lnTo>
                  <a:pt x="0" y="411477"/>
                </a:lnTo>
                <a:lnTo>
                  <a:pt x="6467" y="443511"/>
                </a:lnTo>
                <a:lnTo>
                  <a:pt x="24104" y="469671"/>
                </a:lnTo>
                <a:lnTo>
                  <a:pt x="50264" y="487308"/>
                </a:lnTo>
                <a:lnTo>
                  <a:pt x="82298" y="493775"/>
                </a:lnTo>
                <a:lnTo>
                  <a:pt x="411478" y="493775"/>
                </a:lnTo>
                <a:lnTo>
                  <a:pt x="443512" y="487308"/>
                </a:lnTo>
                <a:lnTo>
                  <a:pt x="469671" y="469671"/>
                </a:lnTo>
                <a:lnTo>
                  <a:pt x="487308" y="443511"/>
                </a:lnTo>
                <a:lnTo>
                  <a:pt x="493775" y="411477"/>
                </a:lnTo>
                <a:lnTo>
                  <a:pt x="493775" y="82298"/>
                </a:lnTo>
                <a:lnTo>
                  <a:pt x="487308" y="50264"/>
                </a:lnTo>
                <a:lnTo>
                  <a:pt x="469671" y="24104"/>
                </a:lnTo>
                <a:lnTo>
                  <a:pt x="443512" y="6467"/>
                </a:lnTo>
                <a:lnTo>
                  <a:pt x="411478" y="0"/>
                </a:lnTo>
                <a:close/>
              </a:path>
            </a:pathLst>
          </a:custGeom>
          <a:solidFill>
            <a:srgbClr val="F2913F"/>
          </a:solidFill>
        </p:spPr>
        <p:txBody>
          <a:bodyPr wrap="square" lIns="0" tIns="0" rIns="0" bIns="0" rtlCol="0"/>
          <a:lstStyle/>
          <a:p>
            <a:endParaRPr/>
          </a:p>
        </p:txBody>
      </p:sp>
      <p:sp>
        <p:nvSpPr>
          <p:cNvPr id="64" name="object 64"/>
          <p:cNvSpPr/>
          <p:nvPr/>
        </p:nvSpPr>
        <p:spPr>
          <a:xfrm>
            <a:off x="8949080" y="2934366"/>
            <a:ext cx="502284" cy="502284"/>
          </a:xfrm>
          <a:custGeom>
            <a:avLst/>
            <a:gdLst/>
            <a:ahLst/>
            <a:cxnLst/>
            <a:rect l="l" t="t" r="r" b="b"/>
            <a:pathLst>
              <a:path w="502284"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BD6E2B"/>
            </a:solidFill>
          </a:ln>
        </p:spPr>
        <p:txBody>
          <a:bodyPr wrap="square" lIns="0" tIns="0" rIns="0" bIns="0" rtlCol="0"/>
          <a:lstStyle/>
          <a:p>
            <a:endParaRPr/>
          </a:p>
        </p:txBody>
      </p:sp>
      <p:sp>
        <p:nvSpPr>
          <p:cNvPr id="65" name="object 65"/>
          <p:cNvSpPr/>
          <p:nvPr/>
        </p:nvSpPr>
        <p:spPr>
          <a:xfrm>
            <a:off x="9442856" y="2934366"/>
            <a:ext cx="494030" cy="494030"/>
          </a:xfrm>
          <a:custGeom>
            <a:avLst/>
            <a:gdLst/>
            <a:ahLst/>
            <a:cxnLst/>
            <a:rect l="l" t="t" r="r" b="b"/>
            <a:pathLst>
              <a:path w="494029" h="494029">
                <a:moveTo>
                  <a:pt x="411478" y="0"/>
                </a:moveTo>
                <a:lnTo>
                  <a:pt x="82298" y="0"/>
                </a:lnTo>
                <a:lnTo>
                  <a:pt x="50264" y="6467"/>
                </a:lnTo>
                <a:lnTo>
                  <a:pt x="24104" y="24104"/>
                </a:lnTo>
                <a:lnTo>
                  <a:pt x="6467" y="50264"/>
                </a:lnTo>
                <a:lnTo>
                  <a:pt x="0" y="82298"/>
                </a:lnTo>
                <a:lnTo>
                  <a:pt x="0" y="411477"/>
                </a:lnTo>
                <a:lnTo>
                  <a:pt x="6467" y="443511"/>
                </a:lnTo>
                <a:lnTo>
                  <a:pt x="24104" y="469671"/>
                </a:lnTo>
                <a:lnTo>
                  <a:pt x="50264" y="487308"/>
                </a:lnTo>
                <a:lnTo>
                  <a:pt x="82298" y="493775"/>
                </a:lnTo>
                <a:lnTo>
                  <a:pt x="411478" y="493775"/>
                </a:lnTo>
                <a:lnTo>
                  <a:pt x="443512" y="487308"/>
                </a:lnTo>
                <a:lnTo>
                  <a:pt x="469671" y="469671"/>
                </a:lnTo>
                <a:lnTo>
                  <a:pt x="487308" y="443511"/>
                </a:lnTo>
                <a:lnTo>
                  <a:pt x="493775" y="411477"/>
                </a:lnTo>
                <a:lnTo>
                  <a:pt x="493775" y="82298"/>
                </a:lnTo>
                <a:lnTo>
                  <a:pt x="487308" y="50264"/>
                </a:lnTo>
                <a:lnTo>
                  <a:pt x="469671" y="24104"/>
                </a:lnTo>
                <a:lnTo>
                  <a:pt x="443512" y="6467"/>
                </a:lnTo>
                <a:lnTo>
                  <a:pt x="411478" y="0"/>
                </a:lnTo>
                <a:close/>
              </a:path>
            </a:pathLst>
          </a:custGeom>
          <a:solidFill>
            <a:srgbClr val="FFFFFF"/>
          </a:solidFill>
        </p:spPr>
        <p:txBody>
          <a:bodyPr wrap="square" lIns="0" tIns="0" rIns="0" bIns="0" rtlCol="0"/>
          <a:lstStyle/>
          <a:p>
            <a:endParaRPr/>
          </a:p>
        </p:txBody>
      </p:sp>
      <p:sp>
        <p:nvSpPr>
          <p:cNvPr id="66" name="object 66"/>
          <p:cNvSpPr/>
          <p:nvPr/>
        </p:nvSpPr>
        <p:spPr>
          <a:xfrm>
            <a:off x="9442856" y="2934366"/>
            <a:ext cx="502284" cy="502284"/>
          </a:xfrm>
          <a:custGeom>
            <a:avLst/>
            <a:gdLst/>
            <a:ahLst/>
            <a:cxnLst/>
            <a:rect l="l" t="t" r="r" b="b"/>
            <a:pathLst>
              <a:path w="502284"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6CACDD"/>
            </a:solidFill>
          </a:ln>
        </p:spPr>
        <p:txBody>
          <a:bodyPr wrap="square" lIns="0" tIns="0" rIns="0" bIns="0" rtlCol="0"/>
          <a:lstStyle/>
          <a:p>
            <a:endParaRPr/>
          </a:p>
        </p:txBody>
      </p:sp>
      <p:sp>
        <p:nvSpPr>
          <p:cNvPr id="67" name="object 67"/>
          <p:cNvSpPr/>
          <p:nvPr/>
        </p:nvSpPr>
        <p:spPr>
          <a:xfrm>
            <a:off x="8455304" y="3428142"/>
            <a:ext cx="494030" cy="494030"/>
          </a:xfrm>
          <a:custGeom>
            <a:avLst/>
            <a:gdLst/>
            <a:ahLst/>
            <a:cxnLst/>
            <a:rect l="l" t="t" r="r" b="b"/>
            <a:pathLst>
              <a:path w="494029" h="494029">
                <a:moveTo>
                  <a:pt x="411478" y="0"/>
                </a:moveTo>
                <a:lnTo>
                  <a:pt x="82298" y="0"/>
                </a:lnTo>
                <a:lnTo>
                  <a:pt x="50264" y="6467"/>
                </a:lnTo>
                <a:lnTo>
                  <a:pt x="24104" y="24104"/>
                </a:lnTo>
                <a:lnTo>
                  <a:pt x="6467" y="50263"/>
                </a:lnTo>
                <a:lnTo>
                  <a:pt x="0" y="82297"/>
                </a:lnTo>
                <a:lnTo>
                  <a:pt x="0" y="411477"/>
                </a:lnTo>
                <a:lnTo>
                  <a:pt x="6467" y="443511"/>
                </a:lnTo>
                <a:lnTo>
                  <a:pt x="24104" y="469671"/>
                </a:lnTo>
                <a:lnTo>
                  <a:pt x="50264" y="487308"/>
                </a:lnTo>
                <a:lnTo>
                  <a:pt x="82298" y="493775"/>
                </a:lnTo>
                <a:lnTo>
                  <a:pt x="411478" y="493775"/>
                </a:lnTo>
                <a:lnTo>
                  <a:pt x="443512" y="487308"/>
                </a:lnTo>
                <a:lnTo>
                  <a:pt x="469671" y="469671"/>
                </a:lnTo>
                <a:lnTo>
                  <a:pt x="487308" y="443511"/>
                </a:lnTo>
                <a:lnTo>
                  <a:pt x="493775" y="411477"/>
                </a:lnTo>
                <a:lnTo>
                  <a:pt x="493775" y="82297"/>
                </a:lnTo>
                <a:lnTo>
                  <a:pt x="487308" y="50263"/>
                </a:lnTo>
                <a:lnTo>
                  <a:pt x="469671" y="24104"/>
                </a:lnTo>
                <a:lnTo>
                  <a:pt x="443512" y="6467"/>
                </a:lnTo>
                <a:lnTo>
                  <a:pt x="411478" y="0"/>
                </a:lnTo>
                <a:close/>
              </a:path>
            </a:pathLst>
          </a:custGeom>
          <a:solidFill>
            <a:srgbClr val="6CACDD"/>
          </a:solidFill>
        </p:spPr>
        <p:txBody>
          <a:bodyPr wrap="square" lIns="0" tIns="0" rIns="0" bIns="0" rtlCol="0"/>
          <a:lstStyle/>
          <a:p>
            <a:endParaRPr/>
          </a:p>
        </p:txBody>
      </p:sp>
      <p:sp>
        <p:nvSpPr>
          <p:cNvPr id="68" name="object 68"/>
          <p:cNvSpPr/>
          <p:nvPr/>
        </p:nvSpPr>
        <p:spPr>
          <a:xfrm>
            <a:off x="8455304" y="3428142"/>
            <a:ext cx="502284" cy="502284"/>
          </a:xfrm>
          <a:custGeom>
            <a:avLst/>
            <a:gdLst/>
            <a:ahLst/>
            <a:cxnLst/>
            <a:rect l="l" t="t" r="r" b="b"/>
            <a:pathLst>
              <a:path w="502284"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5185AC"/>
            </a:solidFill>
          </a:ln>
        </p:spPr>
        <p:txBody>
          <a:bodyPr wrap="square" lIns="0" tIns="0" rIns="0" bIns="0" rtlCol="0"/>
          <a:lstStyle/>
          <a:p>
            <a:endParaRPr/>
          </a:p>
        </p:txBody>
      </p:sp>
      <p:sp>
        <p:nvSpPr>
          <p:cNvPr id="69" name="object 69"/>
          <p:cNvSpPr/>
          <p:nvPr/>
        </p:nvSpPr>
        <p:spPr>
          <a:xfrm>
            <a:off x="8949080" y="3428142"/>
            <a:ext cx="494030" cy="494030"/>
          </a:xfrm>
          <a:custGeom>
            <a:avLst/>
            <a:gdLst/>
            <a:ahLst/>
            <a:cxnLst/>
            <a:rect l="l" t="t" r="r" b="b"/>
            <a:pathLst>
              <a:path w="494029" h="494029">
                <a:moveTo>
                  <a:pt x="411478" y="0"/>
                </a:moveTo>
                <a:lnTo>
                  <a:pt x="82298" y="0"/>
                </a:lnTo>
                <a:lnTo>
                  <a:pt x="50264" y="6467"/>
                </a:lnTo>
                <a:lnTo>
                  <a:pt x="24104" y="24104"/>
                </a:lnTo>
                <a:lnTo>
                  <a:pt x="6467" y="50263"/>
                </a:lnTo>
                <a:lnTo>
                  <a:pt x="0" y="82297"/>
                </a:lnTo>
                <a:lnTo>
                  <a:pt x="0" y="411477"/>
                </a:lnTo>
                <a:lnTo>
                  <a:pt x="6467" y="443511"/>
                </a:lnTo>
                <a:lnTo>
                  <a:pt x="24104" y="469671"/>
                </a:lnTo>
                <a:lnTo>
                  <a:pt x="50264" y="487308"/>
                </a:lnTo>
                <a:lnTo>
                  <a:pt x="82298" y="493775"/>
                </a:lnTo>
                <a:lnTo>
                  <a:pt x="411478" y="493775"/>
                </a:lnTo>
                <a:lnTo>
                  <a:pt x="443512" y="487308"/>
                </a:lnTo>
                <a:lnTo>
                  <a:pt x="469671" y="469671"/>
                </a:lnTo>
                <a:lnTo>
                  <a:pt x="487308" y="443511"/>
                </a:lnTo>
                <a:lnTo>
                  <a:pt x="493775" y="411477"/>
                </a:lnTo>
                <a:lnTo>
                  <a:pt x="493775" y="82297"/>
                </a:lnTo>
                <a:lnTo>
                  <a:pt x="487308" y="50263"/>
                </a:lnTo>
                <a:lnTo>
                  <a:pt x="469671" y="24104"/>
                </a:lnTo>
                <a:lnTo>
                  <a:pt x="443512" y="6467"/>
                </a:lnTo>
                <a:lnTo>
                  <a:pt x="411478" y="0"/>
                </a:lnTo>
                <a:close/>
              </a:path>
            </a:pathLst>
          </a:custGeom>
          <a:solidFill>
            <a:srgbClr val="FFFFFF"/>
          </a:solidFill>
        </p:spPr>
        <p:txBody>
          <a:bodyPr wrap="square" lIns="0" tIns="0" rIns="0" bIns="0" rtlCol="0"/>
          <a:lstStyle/>
          <a:p>
            <a:endParaRPr/>
          </a:p>
        </p:txBody>
      </p:sp>
      <p:sp>
        <p:nvSpPr>
          <p:cNvPr id="70" name="object 70"/>
          <p:cNvSpPr/>
          <p:nvPr/>
        </p:nvSpPr>
        <p:spPr>
          <a:xfrm>
            <a:off x="8949080" y="3428142"/>
            <a:ext cx="502284" cy="502284"/>
          </a:xfrm>
          <a:custGeom>
            <a:avLst/>
            <a:gdLst/>
            <a:ahLst/>
            <a:cxnLst/>
            <a:rect l="l" t="t" r="r" b="b"/>
            <a:pathLst>
              <a:path w="502284"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6CACDD"/>
            </a:solidFill>
          </a:ln>
        </p:spPr>
        <p:txBody>
          <a:bodyPr wrap="square" lIns="0" tIns="0" rIns="0" bIns="0" rtlCol="0"/>
          <a:lstStyle/>
          <a:p>
            <a:endParaRPr/>
          </a:p>
        </p:txBody>
      </p:sp>
      <p:sp>
        <p:nvSpPr>
          <p:cNvPr id="71" name="object 71"/>
          <p:cNvSpPr/>
          <p:nvPr/>
        </p:nvSpPr>
        <p:spPr>
          <a:xfrm>
            <a:off x="9442856" y="3428142"/>
            <a:ext cx="494030" cy="494030"/>
          </a:xfrm>
          <a:custGeom>
            <a:avLst/>
            <a:gdLst/>
            <a:ahLst/>
            <a:cxnLst/>
            <a:rect l="l" t="t" r="r" b="b"/>
            <a:pathLst>
              <a:path w="494029" h="494029">
                <a:moveTo>
                  <a:pt x="411478" y="0"/>
                </a:moveTo>
                <a:lnTo>
                  <a:pt x="82298" y="0"/>
                </a:lnTo>
                <a:lnTo>
                  <a:pt x="50264" y="6467"/>
                </a:lnTo>
                <a:lnTo>
                  <a:pt x="24104" y="24104"/>
                </a:lnTo>
                <a:lnTo>
                  <a:pt x="6467" y="50263"/>
                </a:lnTo>
                <a:lnTo>
                  <a:pt x="0" y="82297"/>
                </a:lnTo>
                <a:lnTo>
                  <a:pt x="0" y="411477"/>
                </a:lnTo>
                <a:lnTo>
                  <a:pt x="6467" y="443511"/>
                </a:lnTo>
                <a:lnTo>
                  <a:pt x="24104" y="469671"/>
                </a:lnTo>
                <a:lnTo>
                  <a:pt x="50264" y="487308"/>
                </a:lnTo>
                <a:lnTo>
                  <a:pt x="82298" y="493775"/>
                </a:lnTo>
                <a:lnTo>
                  <a:pt x="411478" y="493775"/>
                </a:lnTo>
                <a:lnTo>
                  <a:pt x="443512" y="487308"/>
                </a:lnTo>
                <a:lnTo>
                  <a:pt x="469671" y="469671"/>
                </a:lnTo>
                <a:lnTo>
                  <a:pt x="487308" y="443511"/>
                </a:lnTo>
                <a:lnTo>
                  <a:pt x="493775" y="411477"/>
                </a:lnTo>
                <a:lnTo>
                  <a:pt x="493775" y="82297"/>
                </a:lnTo>
                <a:lnTo>
                  <a:pt x="487308" y="50263"/>
                </a:lnTo>
                <a:lnTo>
                  <a:pt x="469671" y="24104"/>
                </a:lnTo>
                <a:lnTo>
                  <a:pt x="443512" y="6467"/>
                </a:lnTo>
                <a:lnTo>
                  <a:pt x="411478" y="0"/>
                </a:lnTo>
                <a:close/>
              </a:path>
            </a:pathLst>
          </a:custGeom>
          <a:solidFill>
            <a:srgbClr val="FFFFFF"/>
          </a:solidFill>
        </p:spPr>
        <p:txBody>
          <a:bodyPr wrap="square" lIns="0" tIns="0" rIns="0" bIns="0" rtlCol="0"/>
          <a:lstStyle/>
          <a:p>
            <a:endParaRPr/>
          </a:p>
        </p:txBody>
      </p:sp>
      <p:sp>
        <p:nvSpPr>
          <p:cNvPr id="72" name="object 72"/>
          <p:cNvSpPr/>
          <p:nvPr/>
        </p:nvSpPr>
        <p:spPr>
          <a:xfrm>
            <a:off x="9442856" y="3428142"/>
            <a:ext cx="502284" cy="502284"/>
          </a:xfrm>
          <a:custGeom>
            <a:avLst/>
            <a:gdLst/>
            <a:ahLst/>
            <a:cxnLst/>
            <a:rect l="l" t="t" r="r" b="b"/>
            <a:pathLst>
              <a:path w="502284"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6CACDD"/>
            </a:solidFill>
          </a:ln>
        </p:spPr>
        <p:txBody>
          <a:bodyPr wrap="square" lIns="0" tIns="0" rIns="0" bIns="0" rtlCol="0"/>
          <a:lstStyle/>
          <a:p>
            <a:endParaRPr/>
          </a:p>
        </p:txBody>
      </p:sp>
      <p:sp>
        <p:nvSpPr>
          <p:cNvPr id="73" name="object 73"/>
          <p:cNvSpPr/>
          <p:nvPr/>
        </p:nvSpPr>
        <p:spPr>
          <a:xfrm>
            <a:off x="2129450" y="5324001"/>
            <a:ext cx="494030" cy="494030"/>
          </a:xfrm>
          <a:custGeom>
            <a:avLst/>
            <a:gdLst/>
            <a:ahLst/>
            <a:cxnLst/>
            <a:rect l="l" t="t" r="r" b="b"/>
            <a:pathLst>
              <a:path w="494030" h="494029">
                <a:moveTo>
                  <a:pt x="411477" y="0"/>
                </a:moveTo>
                <a:lnTo>
                  <a:pt x="82297" y="0"/>
                </a:lnTo>
                <a:lnTo>
                  <a:pt x="50263" y="6467"/>
                </a:lnTo>
                <a:lnTo>
                  <a:pt x="24104" y="24104"/>
                </a:lnTo>
                <a:lnTo>
                  <a:pt x="6467" y="50263"/>
                </a:lnTo>
                <a:lnTo>
                  <a:pt x="0" y="82297"/>
                </a:lnTo>
                <a:lnTo>
                  <a:pt x="0" y="411477"/>
                </a:lnTo>
                <a:lnTo>
                  <a:pt x="6467" y="443511"/>
                </a:lnTo>
                <a:lnTo>
                  <a:pt x="24104" y="469671"/>
                </a:lnTo>
                <a:lnTo>
                  <a:pt x="50263" y="487308"/>
                </a:lnTo>
                <a:lnTo>
                  <a:pt x="82297" y="493775"/>
                </a:lnTo>
                <a:lnTo>
                  <a:pt x="411477" y="493775"/>
                </a:lnTo>
                <a:lnTo>
                  <a:pt x="443511" y="487308"/>
                </a:lnTo>
                <a:lnTo>
                  <a:pt x="469671" y="469671"/>
                </a:lnTo>
                <a:lnTo>
                  <a:pt x="487308" y="443511"/>
                </a:lnTo>
                <a:lnTo>
                  <a:pt x="493775" y="411477"/>
                </a:lnTo>
                <a:lnTo>
                  <a:pt x="493775" y="82297"/>
                </a:lnTo>
                <a:lnTo>
                  <a:pt x="487308" y="50263"/>
                </a:lnTo>
                <a:lnTo>
                  <a:pt x="469671" y="24104"/>
                </a:lnTo>
                <a:lnTo>
                  <a:pt x="443511" y="6467"/>
                </a:lnTo>
                <a:lnTo>
                  <a:pt x="411477" y="0"/>
                </a:lnTo>
                <a:close/>
              </a:path>
            </a:pathLst>
          </a:custGeom>
          <a:solidFill>
            <a:srgbClr val="6CACDD"/>
          </a:solidFill>
        </p:spPr>
        <p:txBody>
          <a:bodyPr wrap="square" lIns="0" tIns="0" rIns="0" bIns="0" rtlCol="0"/>
          <a:lstStyle/>
          <a:p>
            <a:endParaRPr/>
          </a:p>
        </p:txBody>
      </p:sp>
      <p:sp>
        <p:nvSpPr>
          <p:cNvPr id="74" name="object 74"/>
          <p:cNvSpPr/>
          <p:nvPr/>
        </p:nvSpPr>
        <p:spPr>
          <a:xfrm>
            <a:off x="2129450" y="5324001"/>
            <a:ext cx="502284" cy="502284"/>
          </a:xfrm>
          <a:custGeom>
            <a:avLst/>
            <a:gdLst/>
            <a:ahLst/>
            <a:cxnLst/>
            <a:rect l="l" t="t" r="r" b="b"/>
            <a:pathLst>
              <a:path w="502285"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5185AC"/>
            </a:solidFill>
          </a:ln>
        </p:spPr>
        <p:txBody>
          <a:bodyPr wrap="square" lIns="0" tIns="0" rIns="0" bIns="0" rtlCol="0"/>
          <a:lstStyle/>
          <a:p>
            <a:endParaRPr/>
          </a:p>
        </p:txBody>
      </p:sp>
      <p:sp>
        <p:nvSpPr>
          <p:cNvPr id="75" name="object 75"/>
          <p:cNvSpPr/>
          <p:nvPr/>
        </p:nvSpPr>
        <p:spPr>
          <a:xfrm>
            <a:off x="4104554" y="5324001"/>
            <a:ext cx="502284" cy="502284"/>
          </a:xfrm>
          <a:custGeom>
            <a:avLst/>
            <a:gdLst/>
            <a:ahLst/>
            <a:cxnLst/>
            <a:rect l="l" t="t" r="r" b="b"/>
            <a:pathLst>
              <a:path w="502285"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6CACDD"/>
            </a:solidFill>
          </a:ln>
        </p:spPr>
        <p:txBody>
          <a:bodyPr wrap="square" lIns="0" tIns="0" rIns="0" bIns="0" rtlCol="0"/>
          <a:lstStyle/>
          <a:p>
            <a:endParaRPr/>
          </a:p>
        </p:txBody>
      </p:sp>
      <p:sp>
        <p:nvSpPr>
          <p:cNvPr id="76" name="object 76"/>
          <p:cNvSpPr/>
          <p:nvPr/>
        </p:nvSpPr>
        <p:spPr>
          <a:xfrm>
            <a:off x="6081734" y="5324001"/>
            <a:ext cx="494030" cy="494030"/>
          </a:xfrm>
          <a:custGeom>
            <a:avLst/>
            <a:gdLst/>
            <a:ahLst/>
            <a:cxnLst/>
            <a:rect l="l" t="t" r="r" b="b"/>
            <a:pathLst>
              <a:path w="494029" h="494029">
                <a:moveTo>
                  <a:pt x="411478" y="0"/>
                </a:moveTo>
                <a:lnTo>
                  <a:pt x="82298" y="0"/>
                </a:lnTo>
                <a:lnTo>
                  <a:pt x="50264" y="6467"/>
                </a:lnTo>
                <a:lnTo>
                  <a:pt x="24104" y="24104"/>
                </a:lnTo>
                <a:lnTo>
                  <a:pt x="6467" y="50263"/>
                </a:lnTo>
                <a:lnTo>
                  <a:pt x="0" y="82297"/>
                </a:lnTo>
                <a:lnTo>
                  <a:pt x="0" y="411477"/>
                </a:lnTo>
                <a:lnTo>
                  <a:pt x="6467" y="443511"/>
                </a:lnTo>
                <a:lnTo>
                  <a:pt x="24104" y="469671"/>
                </a:lnTo>
                <a:lnTo>
                  <a:pt x="50264" y="487308"/>
                </a:lnTo>
                <a:lnTo>
                  <a:pt x="82298" y="493775"/>
                </a:lnTo>
                <a:lnTo>
                  <a:pt x="411478" y="493775"/>
                </a:lnTo>
                <a:lnTo>
                  <a:pt x="443512" y="487308"/>
                </a:lnTo>
                <a:lnTo>
                  <a:pt x="469671" y="469671"/>
                </a:lnTo>
                <a:lnTo>
                  <a:pt x="487308" y="443511"/>
                </a:lnTo>
                <a:lnTo>
                  <a:pt x="493775" y="411477"/>
                </a:lnTo>
                <a:lnTo>
                  <a:pt x="493775" y="82297"/>
                </a:lnTo>
                <a:lnTo>
                  <a:pt x="487308" y="50263"/>
                </a:lnTo>
                <a:lnTo>
                  <a:pt x="469671" y="24104"/>
                </a:lnTo>
                <a:lnTo>
                  <a:pt x="443512" y="6467"/>
                </a:lnTo>
                <a:lnTo>
                  <a:pt x="411478" y="0"/>
                </a:lnTo>
                <a:close/>
              </a:path>
            </a:pathLst>
          </a:custGeom>
          <a:solidFill>
            <a:srgbClr val="F2913F"/>
          </a:solidFill>
        </p:spPr>
        <p:txBody>
          <a:bodyPr wrap="square" lIns="0" tIns="0" rIns="0" bIns="0" rtlCol="0"/>
          <a:lstStyle/>
          <a:p>
            <a:endParaRPr/>
          </a:p>
        </p:txBody>
      </p:sp>
      <p:sp>
        <p:nvSpPr>
          <p:cNvPr id="77" name="object 77"/>
          <p:cNvSpPr/>
          <p:nvPr/>
        </p:nvSpPr>
        <p:spPr>
          <a:xfrm>
            <a:off x="6081734" y="5324001"/>
            <a:ext cx="502284" cy="502284"/>
          </a:xfrm>
          <a:custGeom>
            <a:avLst/>
            <a:gdLst/>
            <a:ahLst/>
            <a:cxnLst/>
            <a:rect l="l" t="t" r="r" b="b"/>
            <a:pathLst>
              <a:path w="502284"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BD6E2B"/>
            </a:solidFill>
          </a:ln>
        </p:spPr>
        <p:txBody>
          <a:bodyPr wrap="square" lIns="0" tIns="0" rIns="0" bIns="0" rtlCol="0"/>
          <a:lstStyle/>
          <a:p>
            <a:endParaRPr/>
          </a:p>
        </p:txBody>
      </p:sp>
      <p:sp>
        <p:nvSpPr>
          <p:cNvPr id="78" name="object 78"/>
          <p:cNvSpPr txBox="1"/>
          <p:nvPr/>
        </p:nvSpPr>
        <p:spPr>
          <a:xfrm>
            <a:off x="2764594" y="5419243"/>
            <a:ext cx="7112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活细胞</a:t>
            </a:r>
            <a:endParaRPr sz="1800">
              <a:latin typeface="微软雅黑" panose="020B0503020204020204" pitchFamily="34" charset="-122"/>
              <a:cs typeface="微软雅黑" panose="020B0503020204020204" pitchFamily="34" charset="-122"/>
            </a:endParaRPr>
          </a:p>
        </p:txBody>
      </p:sp>
      <p:sp>
        <p:nvSpPr>
          <p:cNvPr id="79" name="object 79"/>
          <p:cNvSpPr txBox="1"/>
          <p:nvPr/>
        </p:nvSpPr>
        <p:spPr>
          <a:xfrm>
            <a:off x="4757571" y="5419243"/>
            <a:ext cx="7112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死细胞</a:t>
            </a:r>
            <a:endParaRPr sz="1800">
              <a:latin typeface="微软雅黑" panose="020B0503020204020204" pitchFamily="34" charset="-122"/>
              <a:cs typeface="微软雅黑" panose="020B0503020204020204" pitchFamily="34" charset="-122"/>
            </a:endParaRPr>
          </a:p>
        </p:txBody>
      </p:sp>
      <p:sp>
        <p:nvSpPr>
          <p:cNvPr id="80" name="object 80"/>
          <p:cNvSpPr txBox="1"/>
          <p:nvPr/>
        </p:nvSpPr>
        <p:spPr>
          <a:xfrm>
            <a:off x="6733984" y="5419243"/>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当前细胞</a:t>
            </a:r>
            <a:endParaRPr sz="1800">
              <a:latin typeface="微软雅黑" panose="020B0503020204020204" pitchFamily="34" charset="-122"/>
              <a:cs typeface="微软雅黑" panose="020B0503020204020204" pitchFamily="34" charset="-122"/>
            </a:endParaRPr>
          </a:p>
        </p:txBody>
      </p:sp>
      <p:sp>
        <p:nvSpPr>
          <p:cNvPr id="81" name="object 81"/>
          <p:cNvSpPr/>
          <p:nvPr/>
        </p:nvSpPr>
        <p:spPr>
          <a:xfrm>
            <a:off x="2179405" y="4329626"/>
            <a:ext cx="494030" cy="494030"/>
          </a:xfrm>
          <a:custGeom>
            <a:avLst/>
            <a:gdLst/>
            <a:ahLst/>
            <a:cxnLst/>
            <a:rect l="l" t="t" r="r" b="b"/>
            <a:pathLst>
              <a:path w="494030" h="494029">
                <a:moveTo>
                  <a:pt x="411478" y="0"/>
                </a:moveTo>
                <a:lnTo>
                  <a:pt x="82298" y="0"/>
                </a:lnTo>
                <a:lnTo>
                  <a:pt x="50264" y="6467"/>
                </a:lnTo>
                <a:lnTo>
                  <a:pt x="24104" y="24104"/>
                </a:lnTo>
                <a:lnTo>
                  <a:pt x="6467" y="50263"/>
                </a:lnTo>
                <a:lnTo>
                  <a:pt x="0" y="82297"/>
                </a:lnTo>
                <a:lnTo>
                  <a:pt x="0" y="411477"/>
                </a:lnTo>
                <a:lnTo>
                  <a:pt x="6467" y="443511"/>
                </a:lnTo>
                <a:lnTo>
                  <a:pt x="24104" y="469670"/>
                </a:lnTo>
                <a:lnTo>
                  <a:pt x="50264" y="487307"/>
                </a:lnTo>
                <a:lnTo>
                  <a:pt x="82298" y="493774"/>
                </a:lnTo>
                <a:lnTo>
                  <a:pt x="411478" y="493774"/>
                </a:lnTo>
                <a:lnTo>
                  <a:pt x="443512" y="487307"/>
                </a:lnTo>
                <a:lnTo>
                  <a:pt x="469671" y="469670"/>
                </a:lnTo>
                <a:lnTo>
                  <a:pt x="487308" y="443511"/>
                </a:lnTo>
                <a:lnTo>
                  <a:pt x="493776" y="411477"/>
                </a:lnTo>
                <a:lnTo>
                  <a:pt x="493776" y="82297"/>
                </a:lnTo>
                <a:lnTo>
                  <a:pt x="487308" y="50263"/>
                </a:lnTo>
                <a:lnTo>
                  <a:pt x="469671" y="24104"/>
                </a:lnTo>
                <a:lnTo>
                  <a:pt x="443512" y="6467"/>
                </a:lnTo>
                <a:lnTo>
                  <a:pt x="411478" y="0"/>
                </a:lnTo>
                <a:close/>
              </a:path>
            </a:pathLst>
          </a:custGeom>
          <a:solidFill>
            <a:srgbClr val="F2913F"/>
          </a:solidFill>
        </p:spPr>
        <p:txBody>
          <a:bodyPr wrap="square" lIns="0" tIns="0" rIns="0" bIns="0" rtlCol="0"/>
          <a:lstStyle/>
          <a:p>
            <a:endParaRPr/>
          </a:p>
        </p:txBody>
      </p:sp>
      <p:sp>
        <p:nvSpPr>
          <p:cNvPr id="82" name="object 82"/>
          <p:cNvSpPr/>
          <p:nvPr/>
        </p:nvSpPr>
        <p:spPr>
          <a:xfrm>
            <a:off x="2179404" y="4329626"/>
            <a:ext cx="502284" cy="502284"/>
          </a:xfrm>
          <a:custGeom>
            <a:avLst/>
            <a:gdLst/>
            <a:ahLst/>
            <a:cxnLst/>
            <a:rect l="l" t="t" r="r" b="b"/>
            <a:pathLst>
              <a:path w="502285"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BD6E2B"/>
            </a:solidFill>
          </a:ln>
        </p:spPr>
        <p:txBody>
          <a:bodyPr wrap="square" lIns="0" tIns="0" rIns="0" bIns="0" rtlCol="0"/>
          <a:lstStyle/>
          <a:p>
            <a:endParaRPr/>
          </a:p>
        </p:txBody>
      </p:sp>
      <p:sp>
        <p:nvSpPr>
          <p:cNvPr id="83" name="object 83"/>
          <p:cNvSpPr/>
          <p:nvPr/>
        </p:nvSpPr>
        <p:spPr>
          <a:xfrm>
            <a:off x="3167787" y="4329626"/>
            <a:ext cx="502284" cy="502284"/>
          </a:xfrm>
          <a:custGeom>
            <a:avLst/>
            <a:gdLst/>
            <a:ahLst/>
            <a:cxnLst/>
            <a:rect l="l" t="t" r="r" b="b"/>
            <a:pathLst>
              <a:path w="502285"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6CACDD"/>
            </a:solidFill>
          </a:ln>
        </p:spPr>
        <p:txBody>
          <a:bodyPr wrap="square" lIns="0" tIns="0" rIns="0" bIns="0" rtlCol="0"/>
          <a:lstStyle/>
          <a:p>
            <a:endParaRPr/>
          </a:p>
        </p:txBody>
      </p:sp>
      <p:sp>
        <p:nvSpPr>
          <p:cNvPr id="84" name="object 84"/>
          <p:cNvSpPr/>
          <p:nvPr/>
        </p:nvSpPr>
        <p:spPr>
          <a:xfrm>
            <a:off x="2741693" y="4432627"/>
            <a:ext cx="358775" cy="274320"/>
          </a:xfrm>
          <a:custGeom>
            <a:avLst/>
            <a:gdLst/>
            <a:ahLst/>
            <a:cxnLst/>
            <a:rect l="l" t="t" r="r" b="b"/>
            <a:pathLst>
              <a:path w="358775" h="274320">
                <a:moveTo>
                  <a:pt x="221250" y="0"/>
                </a:moveTo>
                <a:lnTo>
                  <a:pt x="221250" y="68580"/>
                </a:lnTo>
                <a:lnTo>
                  <a:pt x="0" y="68580"/>
                </a:lnTo>
                <a:lnTo>
                  <a:pt x="0" y="205739"/>
                </a:lnTo>
                <a:lnTo>
                  <a:pt x="221250" y="205739"/>
                </a:lnTo>
                <a:lnTo>
                  <a:pt x="221250" y="274318"/>
                </a:lnTo>
                <a:lnTo>
                  <a:pt x="358410" y="137159"/>
                </a:lnTo>
                <a:lnTo>
                  <a:pt x="221250" y="0"/>
                </a:lnTo>
                <a:close/>
              </a:path>
            </a:pathLst>
          </a:custGeom>
          <a:solidFill>
            <a:srgbClr val="000000"/>
          </a:solidFill>
        </p:spPr>
        <p:txBody>
          <a:bodyPr wrap="square" lIns="0" tIns="0" rIns="0" bIns="0" rtlCol="0"/>
          <a:lstStyle/>
          <a:p>
            <a:endParaRPr/>
          </a:p>
        </p:txBody>
      </p:sp>
      <p:sp>
        <p:nvSpPr>
          <p:cNvPr id="85" name="object 85"/>
          <p:cNvSpPr/>
          <p:nvPr/>
        </p:nvSpPr>
        <p:spPr>
          <a:xfrm>
            <a:off x="2741693" y="4432627"/>
            <a:ext cx="364490" cy="278765"/>
          </a:xfrm>
          <a:custGeom>
            <a:avLst/>
            <a:gdLst/>
            <a:ahLst/>
            <a:cxnLst/>
            <a:rect l="l" t="t" r="r" b="b"/>
            <a:pathLst>
              <a:path w="364489" h="278764">
                <a:moveTo>
                  <a:pt x="0" y="69677"/>
                </a:moveTo>
                <a:lnTo>
                  <a:pt x="224791" y="69677"/>
                </a:lnTo>
                <a:lnTo>
                  <a:pt x="224791" y="0"/>
                </a:lnTo>
                <a:lnTo>
                  <a:pt x="364145" y="139354"/>
                </a:lnTo>
                <a:lnTo>
                  <a:pt x="224791" y="278709"/>
                </a:lnTo>
                <a:lnTo>
                  <a:pt x="224791" y="209031"/>
                </a:lnTo>
                <a:lnTo>
                  <a:pt x="0" y="209031"/>
                </a:lnTo>
                <a:lnTo>
                  <a:pt x="0" y="69677"/>
                </a:lnTo>
                <a:close/>
              </a:path>
            </a:pathLst>
          </a:custGeom>
          <a:ln w="12903">
            <a:solidFill>
              <a:srgbClr val="000000"/>
            </a:solidFill>
          </a:ln>
        </p:spPr>
        <p:txBody>
          <a:bodyPr wrap="square" lIns="0" tIns="0" rIns="0" bIns="0" rtlCol="0"/>
          <a:lstStyle/>
          <a:p>
            <a:endParaRPr/>
          </a:p>
        </p:txBody>
      </p:sp>
      <p:sp>
        <p:nvSpPr>
          <p:cNvPr id="86" name="object 86"/>
          <p:cNvSpPr/>
          <p:nvPr/>
        </p:nvSpPr>
        <p:spPr>
          <a:xfrm>
            <a:off x="4307737" y="4335542"/>
            <a:ext cx="494030" cy="494030"/>
          </a:xfrm>
          <a:custGeom>
            <a:avLst/>
            <a:gdLst/>
            <a:ahLst/>
            <a:cxnLst/>
            <a:rect l="l" t="t" r="r" b="b"/>
            <a:pathLst>
              <a:path w="494029" h="494029">
                <a:moveTo>
                  <a:pt x="411477" y="0"/>
                </a:moveTo>
                <a:lnTo>
                  <a:pt x="82297" y="0"/>
                </a:lnTo>
                <a:lnTo>
                  <a:pt x="50263" y="6467"/>
                </a:lnTo>
                <a:lnTo>
                  <a:pt x="24104" y="24104"/>
                </a:lnTo>
                <a:lnTo>
                  <a:pt x="6467" y="50264"/>
                </a:lnTo>
                <a:lnTo>
                  <a:pt x="0" y="82298"/>
                </a:lnTo>
                <a:lnTo>
                  <a:pt x="0" y="411478"/>
                </a:lnTo>
                <a:lnTo>
                  <a:pt x="6467" y="443512"/>
                </a:lnTo>
                <a:lnTo>
                  <a:pt x="24104" y="469671"/>
                </a:lnTo>
                <a:lnTo>
                  <a:pt x="50263" y="487308"/>
                </a:lnTo>
                <a:lnTo>
                  <a:pt x="82297" y="493775"/>
                </a:lnTo>
                <a:lnTo>
                  <a:pt x="411477" y="493775"/>
                </a:lnTo>
                <a:lnTo>
                  <a:pt x="443511" y="487308"/>
                </a:lnTo>
                <a:lnTo>
                  <a:pt x="469671" y="469671"/>
                </a:lnTo>
                <a:lnTo>
                  <a:pt x="487308" y="443512"/>
                </a:lnTo>
                <a:lnTo>
                  <a:pt x="493776" y="411478"/>
                </a:lnTo>
                <a:lnTo>
                  <a:pt x="493776" y="82298"/>
                </a:lnTo>
                <a:lnTo>
                  <a:pt x="487308" y="50264"/>
                </a:lnTo>
                <a:lnTo>
                  <a:pt x="469671" y="24104"/>
                </a:lnTo>
                <a:lnTo>
                  <a:pt x="443511" y="6467"/>
                </a:lnTo>
                <a:lnTo>
                  <a:pt x="411477" y="0"/>
                </a:lnTo>
                <a:close/>
              </a:path>
            </a:pathLst>
          </a:custGeom>
          <a:solidFill>
            <a:srgbClr val="F2913F"/>
          </a:solidFill>
        </p:spPr>
        <p:txBody>
          <a:bodyPr wrap="square" lIns="0" tIns="0" rIns="0" bIns="0" rtlCol="0"/>
          <a:lstStyle/>
          <a:p>
            <a:endParaRPr/>
          </a:p>
        </p:txBody>
      </p:sp>
      <p:sp>
        <p:nvSpPr>
          <p:cNvPr id="87" name="object 87"/>
          <p:cNvSpPr/>
          <p:nvPr/>
        </p:nvSpPr>
        <p:spPr>
          <a:xfrm>
            <a:off x="4307737" y="4335542"/>
            <a:ext cx="502284" cy="502284"/>
          </a:xfrm>
          <a:custGeom>
            <a:avLst/>
            <a:gdLst/>
            <a:ahLst/>
            <a:cxnLst/>
            <a:rect l="l" t="t" r="r" b="b"/>
            <a:pathLst>
              <a:path w="502285"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BD6E2B"/>
            </a:solidFill>
          </a:ln>
        </p:spPr>
        <p:txBody>
          <a:bodyPr wrap="square" lIns="0" tIns="0" rIns="0" bIns="0" rtlCol="0"/>
          <a:lstStyle/>
          <a:p>
            <a:endParaRPr/>
          </a:p>
        </p:txBody>
      </p:sp>
      <p:sp>
        <p:nvSpPr>
          <p:cNvPr id="88" name="object 88"/>
          <p:cNvSpPr/>
          <p:nvPr/>
        </p:nvSpPr>
        <p:spPr>
          <a:xfrm>
            <a:off x="4870024" y="4438544"/>
            <a:ext cx="358775" cy="274320"/>
          </a:xfrm>
          <a:custGeom>
            <a:avLst/>
            <a:gdLst/>
            <a:ahLst/>
            <a:cxnLst/>
            <a:rect l="l" t="t" r="r" b="b"/>
            <a:pathLst>
              <a:path w="358775" h="274320">
                <a:moveTo>
                  <a:pt x="221250" y="0"/>
                </a:moveTo>
                <a:lnTo>
                  <a:pt x="221250" y="68578"/>
                </a:lnTo>
                <a:lnTo>
                  <a:pt x="0" y="68578"/>
                </a:lnTo>
                <a:lnTo>
                  <a:pt x="0" y="205739"/>
                </a:lnTo>
                <a:lnTo>
                  <a:pt x="221250" y="205739"/>
                </a:lnTo>
                <a:lnTo>
                  <a:pt x="221250" y="274318"/>
                </a:lnTo>
                <a:lnTo>
                  <a:pt x="358410" y="137159"/>
                </a:lnTo>
                <a:lnTo>
                  <a:pt x="221250" y="0"/>
                </a:lnTo>
                <a:close/>
              </a:path>
            </a:pathLst>
          </a:custGeom>
          <a:solidFill>
            <a:srgbClr val="000000"/>
          </a:solidFill>
        </p:spPr>
        <p:txBody>
          <a:bodyPr wrap="square" lIns="0" tIns="0" rIns="0" bIns="0" rtlCol="0"/>
          <a:lstStyle/>
          <a:p>
            <a:endParaRPr/>
          </a:p>
        </p:txBody>
      </p:sp>
      <p:sp>
        <p:nvSpPr>
          <p:cNvPr id="89" name="object 89"/>
          <p:cNvSpPr/>
          <p:nvPr/>
        </p:nvSpPr>
        <p:spPr>
          <a:xfrm>
            <a:off x="4870024" y="4438544"/>
            <a:ext cx="364490" cy="278765"/>
          </a:xfrm>
          <a:custGeom>
            <a:avLst/>
            <a:gdLst/>
            <a:ahLst/>
            <a:cxnLst/>
            <a:rect l="l" t="t" r="r" b="b"/>
            <a:pathLst>
              <a:path w="364489" h="278764">
                <a:moveTo>
                  <a:pt x="0" y="69677"/>
                </a:moveTo>
                <a:lnTo>
                  <a:pt x="224790" y="69677"/>
                </a:lnTo>
                <a:lnTo>
                  <a:pt x="224790" y="0"/>
                </a:lnTo>
                <a:lnTo>
                  <a:pt x="364145" y="139354"/>
                </a:lnTo>
                <a:lnTo>
                  <a:pt x="224790" y="278709"/>
                </a:lnTo>
                <a:lnTo>
                  <a:pt x="224790" y="209031"/>
                </a:lnTo>
                <a:lnTo>
                  <a:pt x="0" y="209031"/>
                </a:lnTo>
                <a:lnTo>
                  <a:pt x="0" y="69677"/>
                </a:lnTo>
                <a:close/>
              </a:path>
            </a:pathLst>
          </a:custGeom>
          <a:ln w="12903">
            <a:solidFill>
              <a:srgbClr val="000000"/>
            </a:solidFill>
          </a:ln>
        </p:spPr>
        <p:txBody>
          <a:bodyPr wrap="square" lIns="0" tIns="0" rIns="0" bIns="0" rtlCol="0"/>
          <a:lstStyle/>
          <a:p>
            <a:endParaRPr/>
          </a:p>
        </p:txBody>
      </p:sp>
      <p:sp>
        <p:nvSpPr>
          <p:cNvPr id="90" name="object 90"/>
          <p:cNvSpPr/>
          <p:nvPr/>
        </p:nvSpPr>
        <p:spPr>
          <a:xfrm>
            <a:off x="6420379" y="4335542"/>
            <a:ext cx="494030" cy="494030"/>
          </a:xfrm>
          <a:custGeom>
            <a:avLst/>
            <a:gdLst/>
            <a:ahLst/>
            <a:cxnLst/>
            <a:rect l="l" t="t" r="r" b="b"/>
            <a:pathLst>
              <a:path w="494029" h="494029">
                <a:moveTo>
                  <a:pt x="411478" y="0"/>
                </a:moveTo>
                <a:lnTo>
                  <a:pt x="82298" y="0"/>
                </a:lnTo>
                <a:lnTo>
                  <a:pt x="50264" y="6467"/>
                </a:lnTo>
                <a:lnTo>
                  <a:pt x="24104" y="24104"/>
                </a:lnTo>
                <a:lnTo>
                  <a:pt x="6467" y="50264"/>
                </a:lnTo>
                <a:lnTo>
                  <a:pt x="0" y="82298"/>
                </a:lnTo>
                <a:lnTo>
                  <a:pt x="0" y="411478"/>
                </a:lnTo>
                <a:lnTo>
                  <a:pt x="6467" y="443512"/>
                </a:lnTo>
                <a:lnTo>
                  <a:pt x="24104" y="469671"/>
                </a:lnTo>
                <a:lnTo>
                  <a:pt x="50264" y="487308"/>
                </a:lnTo>
                <a:lnTo>
                  <a:pt x="82298" y="493775"/>
                </a:lnTo>
                <a:lnTo>
                  <a:pt x="411478" y="493775"/>
                </a:lnTo>
                <a:lnTo>
                  <a:pt x="443512" y="487308"/>
                </a:lnTo>
                <a:lnTo>
                  <a:pt x="469672" y="469671"/>
                </a:lnTo>
                <a:lnTo>
                  <a:pt x="487309" y="443512"/>
                </a:lnTo>
                <a:lnTo>
                  <a:pt x="493777" y="411478"/>
                </a:lnTo>
                <a:lnTo>
                  <a:pt x="493777" y="82298"/>
                </a:lnTo>
                <a:lnTo>
                  <a:pt x="487309" y="50264"/>
                </a:lnTo>
                <a:lnTo>
                  <a:pt x="469672" y="24104"/>
                </a:lnTo>
                <a:lnTo>
                  <a:pt x="443512" y="6467"/>
                </a:lnTo>
                <a:lnTo>
                  <a:pt x="411478" y="0"/>
                </a:lnTo>
                <a:close/>
              </a:path>
            </a:pathLst>
          </a:custGeom>
          <a:solidFill>
            <a:srgbClr val="F2913F"/>
          </a:solidFill>
        </p:spPr>
        <p:txBody>
          <a:bodyPr wrap="square" lIns="0" tIns="0" rIns="0" bIns="0" rtlCol="0"/>
          <a:lstStyle/>
          <a:p>
            <a:endParaRPr/>
          </a:p>
        </p:txBody>
      </p:sp>
      <p:sp>
        <p:nvSpPr>
          <p:cNvPr id="91" name="object 91"/>
          <p:cNvSpPr/>
          <p:nvPr/>
        </p:nvSpPr>
        <p:spPr>
          <a:xfrm>
            <a:off x="6420379" y="4335542"/>
            <a:ext cx="502284" cy="502284"/>
          </a:xfrm>
          <a:custGeom>
            <a:avLst/>
            <a:gdLst/>
            <a:ahLst/>
            <a:cxnLst/>
            <a:rect l="l" t="t" r="r" b="b"/>
            <a:pathLst>
              <a:path w="502284"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BD6E2B"/>
            </a:solidFill>
          </a:ln>
        </p:spPr>
        <p:txBody>
          <a:bodyPr wrap="square" lIns="0" tIns="0" rIns="0" bIns="0" rtlCol="0"/>
          <a:lstStyle/>
          <a:p>
            <a:endParaRPr/>
          </a:p>
        </p:txBody>
      </p:sp>
      <p:sp>
        <p:nvSpPr>
          <p:cNvPr id="92" name="object 92"/>
          <p:cNvSpPr/>
          <p:nvPr/>
        </p:nvSpPr>
        <p:spPr>
          <a:xfrm>
            <a:off x="6982668" y="4438544"/>
            <a:ext cx="358775" cy="274320"/>
          </a:xfrm>
          <a:custGeom>
            <a:avLst/>
            <a:gdLst/>
            <a:ahLst/>
            <a:cxnLst/>
            <a:rect l="l" t="t" r="r" b="b"/>
            <a:pathLst>
              <a:path w="358775" h="274320">
                <a:moveTo>
                  <a:pt x="221250" y="0"/>
                </a:moveTo>
                <a:lnTo>
                  <a:pt x="221250" y="68578"/>
                </a:lnTo>
                <a:lnTo>
                  <a:pt x="0" y="68578"/>
                </a:lnTo>
                <a:lnTo>
                  <a:pt x="0" y="205739"/>
                </a:lnTo>
                <a:lnTo>
                  <a:pt x="221250" y="205739"/>
                </a:lnTo>
                <a:lnTo>
                  <a:pt x="221250" y="274318"/>
                </a:lnTo>
                <a:lnTo>
                  <a:pt x="358410" y="137159"/>
                </a:lnTo>
                <a:lnTo>
                  <a:pt x="221250" y="0"/>
                </a:lnTo>
                <a:close/>
              </a:path>
            </a:pathLst>
          </a:custGeom>
          <a:solidFill>
            <a:srgbClr val="000000"/>
          </a:solidFill>
        </p:spPr>
        <p:txBody>
          <a:bodyPr wrap="square" lIns="0" tIns="0" rIns="0" bIns="0" rtlCol="0"/>
          <a:lstStyle/>
          <a:p>
            <a:endParaRPr/>
          </a:p>
        </p:txBody>
      </p:sp>
      <p:sp>
        <p:nvSpPr>
          <p:cNvPr id="93" name="object 93"/>
          <p:cNvSpPr/>
          <p:nvPr/>
        </p:nvSpPr>
        <p:spPr>
          <a:xfrm>
            <a:off x="6982668" y="4438544"/>
            <a:ext cx="364490" cy="278765"/>
          </a:xfrm>
          <a:custGeom>
            <a:avLst/>
            <a:gdLst/>
            <a:ahLst/>
            <a:cxnLst/>
            <a:rect l="l" t="t" r="r" b="b"/>
            <a:pathLst>
              <a:path w="364490" h="278764">
                <a:moveTo>
                  <a:pt x="0" y="69677"/>
                </a:moveTo>
                <a:lnTo>
                  <a:pt x="224790" y="69677"/>
                </a:lnTo>
                <a:lnTo>
                  <a:pt x="224790" y="0"/>
                </a:lnTo>
                <a:lnTo>
                  <a:pt x="364145" y="139354"/>
                </a:lnTo>
                <a:lnTo>
                  <a:pt x="224790" y="278709"/>
                </a:lnTo>
                <a:lnTo>
                  <a:pt x="224790" y="209031"/>
                </a:lnTo>
                <a:lnTo>
                  <a:pt x="0" y="209031"/>
                </a:lnTo>
                <a:lnTo>
                  <a:pt x="0" y="69677"/>
                </a:lnTo>
                <a:close/>
              </a:path>
            </a:pathLst>
          </a:custGeom>
          <a:ln w="12903">
            <a:solidFill>
              <a:srgbClr val="000000"/>
            </a:solidFill>
          </a:ln>
        </p:spPr>
        <p:txBody>
          <a:bodyPr wrap="square" lIns="0" tIns="0" rIns="0" bIns="0" rtlCol="0"/>
          <a:lstStyle/>
          <a:p>
            <a:endParaRPr/>
          </a:p>
        </p:txBody>
      </p:sp>
      <p:sp>
        <p:nvSpPr>
          <p:cNvPr id="94" name="object 94"/>
          <p:cNvSpPr/>
          <p:nvPr/>
        </p:nvSpPr>
        <p:spPr>
          <a:xfrm>
            <a:off x="8460237" y="4312692"/>
            <a:ext cx="494030" cy="494030"/>
          </a:xfrm>
          <a:custGeom>
            <a:avLst/>
            <a:gdLst/>
            <a:ahLst/>
            <a:cxnLst/>
            <a:rect l="l" t="t" r="r" b="b"/>
            <a:pathLst>
              <a:path w="494029" h="494029">
                <a:moveTo>
                  <a:pt x="411477" y="0"/>
                </a:moveTo>
                <a:lnTo>
                  <a:pt x="82298" y="0"/>
                </a:lnTo>
                <a:lnTo>
                  <a:pt x="50263" y="6467"/>
                </a:lnTo>
                <a:lnTo>
                  <a:pt x="24104" y="24104"/>
                </a:lnTo>
                <a:lnTo>
                  <a:pt x="6467" y="50264"/>
                </a:lnTo>
                <a:lnTo>
                  <a:pt x="0" y="82298"/>
                </a:lnTo>
                <a:lnTo>
                  <a:pt x="0" y="411478"/>
                </a:lnTo>
                <a:lnTo>
                  <a:pt x="6467" y="443512"/>
                </a:lnTo>
                <a:lnTo>
                  <a:pt x="24104" y="469671"/>
                </a:lnTo>
                <a:lnTo>
                  <a:pt x="50263" y="487308"/>
                </a:lnTo>
                <a:lnTo>
                  <a:pt x="82298" y="493776"/>
                </a:lnTo>
                <a:lnTo>
                  <a:pt x="411477" y="493776"/>
                </a:lnTo>
                <a:lnTo>
                  <a:pt x="443511" y="487308"/>
                </a:lnTo>
                <a:lnTo>
                  <a:pt x="469671" y="469671"/>
                </a:lnTo>
                <a:lnTo>
                  <a:pt x="487308" y="443512"/>
                </a:lnTo>
                <a:lnTo>
                  <a:pt x="493775" y="411478"/>
                </a:lnTo>
                <a:lnTo>
                  <a:pt x="493775" y="82298"/>
                </a:lnTo>
                <a:lnTo>
                  <a:pt x="487308" y="50264"/>
                </a:lnTo>
                <a:lnTo>
                  <a:pt x="469671" y="24104"/>
                </a:lnTo>
                <a:lnTo>
                  <a:pt x="443511" y="6467"/>
                </a:lnTo>
                <a:lnTo>
                  <a:pt x="411477" y="0"/>
                </a:lnTo>
                <a:close/>
              </a:path>
            </a:pathLst>
          </a:custGeom>
          <a:solidFill>
            <a:srgbClr val="F2913F"/>
          </a:solidFill>
        </p:spPr>
        <p:txBody>
          <a:bodyPr wrap="square" lIns="0" tIns="0" rIns="0" bIns="0" rtlCol="0"/>
          <a:lstStyle/>
          <a:p>
            <a:endParaRPr/>
          </a:p>
        </p:txBody>
      </p:sp>
      <p:sp>
        <p:nvSpPr>
          <p:cNvPr id="95" name="object 95"/>
          <p:cNvSpPr/>
          <p:nvPr/>
        </p:nvSpPr>
        <p:spPr>
          <a:xfrm>
            <a:off x="8460236" y="4312692"/>
            <a:ext cx="502284" cy="502284"/>
          </a:xfrm>
          <a:custGeom>
            <a:avLst/>
            <a:gdLst/>
            <a:ahLst/>
            <a:cxnLst/>
            <a:rect l="l" t="t" r="r" b="b"/>
            <a:pathLst>
              <a:path w="502284"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BD6E2B"/>
            </a:solidFill>
          </a:ln>
        </p:spPr>
        <p:txBody>
          <a:bodyPr wrap="square" lIns="0" tIns="0" rIns="0" bIns="0" rtlCol="0"/>
          <a:lstStyle/>
          <a:p>
            <a:endParaRPr/>
          </a:p>
        </p:txBody>
      </p:sp>
      <p:sp>
        <p:nvSpPr>
          <p:cNvPr id="96" name="object 96"/>
          <p:cNvSpPr/>
          <p:nvPr/>
        </p:nvSpPr>
        <p:spPr>
          <a:xfrm>
            <a:off x="9022524" y="4415693"/>
            <a:ext cx="358775" cy="274320"/>
          </a:xfrm>
          <a:custGeom>
            <a:avLst/>
            <a:gdLst/>
            <a:ahLst/>
            <a:cxnLst/>
            <a:rect l="l" t="t" r="r" b="b"/>
            <a:pathLst>
              <a:path w="358775" h="274320">
                <a:moveTo>
                  <a:pt x="221250" y="0"/>
                </a:moveTo>
                <a:lnTo>
                  <a:pt x="221250" y="68579"/>
                </a:lnTo>
                <a:lnTo>
                  <a:pt x="0" y="68579"/>
                </a:lnTo>
                <a:lnTo>
                  <a:pt x="0" y="205739"/>
                </a:lnTo>
                <a:lnTo>
                  <a:pt x="221250" y="205739"/>
                </a:lnTo>
                <a:lnTo>
                  <a:pt x="221250" y="274319"/>
                </a:lnTo>
                <a:lnTo>
                  <a:pt x="358410" y="137159"/>
                </a:lnTo>
                <a:lnTo>
                  <a:pt x="221250" y="0"/>
                </a:lnTo>
                <a:close/>
              </a:path>
            </a:pathLst>
          </a:custGeom>
          <a:solidFill>
            <a:srgbClr val="000000"/>
          </a:solidFill>
        </p:spPr>
        <p:txBody>
          <a:bodyPr wrap="square" lIns="0" tIns="0" rIns="0" bIns="0" rtlCol="0"/>
          <a:lstStyle/>
          <a:p>
            <a:endParaRPr/>
          </a:p>
        </p:txBody>
      </p:sp>
      <p:sp>
        <p:nvSpPr>
          <p:cNvPr id="97" name="object 97"/>
          <p:cNvSpPr/>
          <p:nvPr/>
        </p:nvSpPr>
        <p:spPr>
          <a:xfrm>
            <a:off x="9022524" y="4415693"/>
            <a:ext cx="364490" cy="278765"/>
          </a:xfrm>
          <a:custGeom>
            <a:avLst/>
            <a:gdLst/>
            <a:ahLst/>
            <a:cxnLst/>
            <a:rect l="l" t="t" r="r" b="b"/>
            <a:pathLst>
              <a:path w="364490" h="278764">
                <a:moveTo>
                  <a:pt x="0" y="69677"/>
                </a:moveTo>
                <a:lnTo>
                  <a:pt x="224790" y="69677"/>
                </a:lnTo>
                <a:lnTo>
                  <a:pt x="224790" y="0"/>
                </a:lnTo>
                <a:lnTo>
                  <a:pt x="364145" y="139354"/>
                </a:lnTo>
                <a:lnTo>
                  <a:pt x="224790" y="278709"/>
                </a:lnTo>
                <a:lnTo>
                  <a:pt x="224790" y="209031"/>
                </a:lnTo>
                <a:lnTo>
                  <a:pt x="0" y="209031"/>
                </a:lnTo>
                <a:lnTo>
                  <a:pt x="0" y="69677"/>
                </a:lnTo>
                <a:close/>
              </a:path>
            </a:pathLst>
          </a:custGeom>
          <a:ln w="12903">
            <a:solidFill>
              <a:srgbClr val="000000"/>
            </a:solidFill>
          </a:ln>
        </p:spPr>
        <p:txBody>
          <a:bodyPr wrap="square" lIns="0" tIns="0" rIns="0" bIns="0" rtlCol="0"/>
          <a:lstStyle/>
          <a:p>
            <a:endParaRPr/>
          </a:p>
        </p:txBody>
      </p:sp>
      <p:sp>
        <p:nvSpPr>
          <p:cNvPr id="98" name="object 98"/>
          <p:cNvSpPr/>
          <p:nvPr/>
        </p:nvSpPr>
        <p:spPr>
          <a:xfrm>
            <a:off x="5295288" y="4329626"/>
            <a:ext cx="494030" cy="494030"/>
          </a:xfrm>
          <a:custGeom>
            <a:avLst/>
            <a:gdLst/>
            <a:ahLst/>
            <a:cxnLst/>
            <a:rect l="l" t="t" r="r" b="b"/>
            <a:pathLst>
              <a:path w="494029" h="494029">
                <a:moveTo>
                  <a:pt x="411478" y="0"/>
                </a:moveTo>
                <a:lnTo>
                  <a:pt x="82298" y="0"/>
                </a:lnTo>
                <a:lnTo>
                  <a:pt x="50264" y="6467"/>
                </a:lnTo>
                <a:lnTo>
                  <a:pt x="24104" y="24104"/>
                </a:lnTo>
                <a:lnTo>
                  <a:pt x="6467" y="50263"/>
                </a:lnTo>
                <a:lnTo>
                  <a:pt x="0" y="82297"/>
                </a:lnTo>
                <a:lnTo>
                  <a:pt x="0" y="411477"/>
                </a:lnTo>
                <a:lnTo>
                  <a:pt x="6467" y="443511"/>
                </a:lnTo>
                <a:lnTo>
                  <a:pt x="24104" y="469670"/>
                </a:lnTo>
                <a:lnTo>
                  <a:pt x="50264" y="487307"/>
                </a:lnTo>
                <a:lnTo>
                  <a:pt x="82298" y="493774"/>
                </a:lnTo>
                <a:lnTo>
                  <a:pt x="411478" y="493774"/>
                </a:lnTo>
                <a:lnTo>
                  <a:pt x="443512" y="487307"/>
                </a:lnTo>
                <a:lnTo>
                  <a:pt x="469671" y="469670"/>
                </a:lnTo>
                <a:lnTo>
                  <a:pt x="487308" y="443511"/>
                </a:lnTo>
                <a:lnTo>
                  <a:pt x="493775" y="411477"/>
                </a:lnTo>
                <a:lnTo>
                  <a:pt x="493775" y="82297"/>
                </a:lnTo>
                <a:lnTo>
                  <a:pt x="487308" y="50263"/>
                </a:lnTo>
                <a:lnTo>
                  <a:pt x="469671" y="24104"/>
                </a:lnTo>
                <a:lnTo>
                  <a:pt x="443512" y="6467"/>
                </a:lnTo>
                <a:lnTo>
                  <a:pt x="411478" y="0"/>
                </a:lnTo>
                <a:close/>
              </a:path>
            </a:pathLst>
          </a:custGeom>
          <a:solidFill>
            <a:srgbClr val="6CACDD"/>
          </a:solidFill>
        </p:spPr>
        <p:txBody>
          <a:bodyPr wrap="square" lIns="0" tIns="0" rIns="0" bIns="0" rtlCol="0"/>
          <a:lstStyle/>
          <a:p>
            <a:endParaRPr/>
          </a:p>
        </p:txBody>
      </p:sp>
      <p:sp>
        <p:nvSpPr>
          <p:cNvPr id="99" name="object 99"/>
          <p:cNvSpPr/>
          <p:nvPr/>
        </p:nvSpPr>
        <p:spPr>
          <a:xfrm>
            <a:off x="5295287" y="4329626"/>
            <a:ext cx="502284" cy="502284"/>
          </a:xfrm>
          <a:custGeom>
            <a:avLst/>
            <a:gdLst/>
            <a:ahLst/>
            <a:cxnLst/>
            <a:rect l="l" t="t" r="r" b="b"/>
            <a:pathLst>
              <a:path w="502285"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5185AC"/>
            </a:solidFill>
          </a:ln>
        </p:spPr>
        <p:txBody>
          <a:bodyPr wrap="square" lIns="0" tIns="0" rIns="0" bIns="0" rtlCol="0"/>
          <a:lstStyle/>
          <a:p>
            <a:endParaRPr/>
          </a:p>
        </p:txBody>
      </p:sp>
      <p:sp>
        <p:nvSpPr>
          <p:cNvPr id="100" name="object 100"/>
          <p:cNvSpPr/>
          <p:nvPr/>
        </p:nvSpPr>
        <p:spPr>
          <a:xfrm>
            <a:off x="7368864" y="4338637"/>
            <a:ext cx="494030" cy="494030"/>
          </a:xfrm>
          <a:custGeom>
            <a:avLst/>
            <a:gdLst/>
            <a:ahLst/>
            <a:cxnLst/>
            <a:rect l="l" t="t" r="r" b="b"/>
            <a:pathLst>
              <a:path w="494029" h="494029">
                <a:moveTo>
                  <a:pt x="411477" y="0"/>
                </a:moveTo>
                <a:lnTo>
                  <a:pt x="82297" y="0"/>
                </a:lnTo>
                <a:lnTo>
                  <a:pt x="50263" y="6467"/>
                </a:lnTo>
                <a:lnTo>
                  <a:pt x="24104" y="24104"/>
                </a:lnTo>
                <a:lnTo>
                  <a:pt x="6467" y="50264"/>
                </a:lnTo>
                <a:lnTo>
                  <a:pt x="0" y="82298"/>
                </a:lnTo>
                <a:lnTo>
                  <a:pt x="0" y="411478"/>
                </a:lnTo>
                <a:lnTo>
                  <a:pt x="6467" y="443512"/>
                </a:lnTo>
                <a:lnTo>
                  <a:pt x="24104" y="469671"/>
                </a:lnTo>
                <a:lnTo>
                  <a:pt x="50263" y="487308"/>
                </a:lnTo>
                <a:lnTo>
                  <a:pt x="82297" y="493775"/>
                </a:lnTo>
                <a:lnTo>
                  <a:pt x="411477" y="493775"/>
                </a:lnTo>
                <a:lnTo>
                  <a:pt x="443511" y="487308"/>
                </a:lnTo>
                <a:lnTo>
                  <a:pt x="469671" y="469671"/>
                </a:lnTo>
                <a:lnTo>
                  <a:pt x="487308" y="443512"/>
                </a:lnTo>
                <a:lnTo>
                  <a:pt x="493775" y="411478"/>
                </a:lnTo>
                <a:lnTo>
                  <a:pt x="493775" y="82298"/>
                </a:lnTo>
                <a:lnTo>
                  <a:pt x="487308" y="50264"/>
                </a:lnTo>
                <a:lnTo>
                  <a:pt x="469671" y="24104"/>
                </a:lnTo>
                <a:lnTo>
                  <a:pt x="443511" y="6467"/>
                </a:lnTo>
                <a:lnTo>
                  <a:pt x="411477" y="0"/>
                </a:lnTo>
                <a:close/>
              </a:path>
            </a:pathLst>
          </a:custGeom>
          <a:solidFill>
            <a:srgbClr val="F2913F"/>
          </a:solidFill>
        </p:spPr>
        <p:txBody>
          <a:bodyPr wrap="square" lIns="0" tIns="0" rIns="0" bIns="0" rtlCol="0"/>
          <a:lstStyle/>
          <a:p>
            <a:endParaRPr/>
          </a:p>
        </p:txBody>
      </p:sp>
      <p:sp>
        <p:nvSpPr>
          <p:cNvPr id="101" name="object 101"/>
          <p:cNvSpPr/>
          <p:nvPr/>
        </p:nvSpPr>
        <p:spPr>
          <a:xfrm>
            <a:off x="7368864" y="4338637"/>
            <a:ext cx="502284" cy="502284"/>
          </a:xfrm>
          <a:custGeom>
            <a:avLst/>
            <a:gdLst/>
            <a:ahLst/>
            <a:cxnLst/>
            <a:rect l="l" t="t" r="r" b="b"/>
            <a:pathLst>
              <a:path w="502284"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BD6E2B"/>
            </a:solidFill>
          </a:ln>
        </p:spPr>
        <p:txBody>
          <a:bodyPr wrap="square" lIns="0" tIns="0" rIns="0" bIns="0" rtlCol="0"/>
          <a:lstStyle/>
          <a:p>
            <a:endParaRPr/>
          </a:p>
        </p:txBody>
      </p:sp>
      <p:sp>
        <p:nvSpPr>
          <p:cNvPr id="102" name="object 102"/>
          <p:cNvSpPr/>
          <p:nvPr/>
        </p:nvSpPr>
        <p:spPr>
          <a:xfrm>
            <a:off x="9449447" y="4321704"/>
            <a:ext cx="502284" cy="502284"/>
          </a:xfrm>
          <a:custGeom>
            <a:avLst/>
            <a:gdLst/>
            <a:ahLst/>
            <a:cxnLst/>
            <a:rect l="l" t="t" r="r" b="b"/>
            <a:pathLst>
              <a:path w="502284" h="502285">
                <a:moveTo>
                  <a:pt x="0" y="83614"/>
                </a:moveTo>
                <a:lnTo>
                  <a:pt x="6570" y="51068"/>
                </a:lnTo>
                <a:lnTo>
                  <a:pt x="24490" y="24490"/>
                </a:lnTo>
                <a:lnTo>
                  <a:pt x="51068" y="6570"/>
                </a:lnTo>
                <a:lnTo>
                  <a:pt x="83614" y="0"/>
                </a:lnTo>
                <a:lnTo>
                  <a:pt x="418061" y="0"/>
                </a:lnTo>
                <a:lnTo>
                  <a:pt x="450608" y="6570"/>
                </a:lnTo>
                <a:lnTo>
                  <a:pt x="477186" y="24490"/>
                </a:lnTo>
                <a:lnTo>
                  <a:pt x="495105" y="51068"/>
                </a:lnTo>
                <a:lnTo>
                  <a:pt x="501676" y="83614"/>
                </a:lnTo>
                <a:lnTo>
                  <a:pt x="501676" y="418061"/>
                </a:lnTo>
                <a:lnTo>
                  <a:pt x="495105" y="450608"/>
                </a:lnTo>
                <a:lnTo>
                  <a:pt x="477186" y="477186"/>
                </a:lnTo>
                <a:lnTo>
                  <a:pt x="450608" y="495105"/>
                </a:lnTo>
                <a:lnTo>
                  <a:pt x="418061" y="501676"/>
                </a:lnTo>
                <a:lnTo>
                  <a:pt x="83614" y="501676"/>
                </a:lnTo>
                <a:lnTo>
                  <a:pt x="51068" y="495105"/>
                </a:lnTo>
                <a:lnTo>
                  <a:pt x="24490" y="477186"/>
                </a:lnTo>
                <a:lnTo>
                  <a:pt x="6570" y="450608"/>
                </a:lnTo>
                <a:lnTo>
                  <a:pt x="0" y="418061"/>
                </a:lnTo>
                <a:lnTo>
                  <a:pt x="0" y="83614"/>
                </a:lnTo>
                <a:close/>
              </a:path>
            </a:pathLst>
          </a:custGeom>
          <a:ln w="12903">
            <a:solidFill>
              <a:srgbClr val="6CACDD"/>
            </a:solidFill>
          </a:ln>
        </p:spPr>
        <p:txBody>
          <a:bodyPr wrap="square" lIns="0" tIns="0" rIns="0" bIns="0" rtlCol="0"/>
          <a:lstStyle/>
          <a:p>
            <a:endParaRPr/>
          </a:p>
        </p:txBody>
      </p:sp>
      <p:sp>
        <p:nvSpPr>
          <p:cNvPr id="103" name="object 103"/>
          <p:cNvSpPr/>
          <p:nvPr/>
        </p:nvSpPr>
        <p:spPr>
          <a:xfrm>
            <a:off x="2040442" y="2358662"/>
            <a:ext cx="1794510" cy="2681605"/>
          </a:xfrm>
          <a:custGeom>
            <a:avLst/>
            <a:gdLst/>
            <a:ahLst/>
            <a:cxnLst/>
            <a:rect l="l" t="t" r="r" b="b"/>
            <a:pathLst>
              <a:path w="1794510" h="2681604">
                <a:moveTo>
                  <a:pt x="0" y="0"/>
                </a:moveTo>
                <a:lnTo>
                  <a:pt x="1794361" y="0"/>
                </a:lnTo>
                <a:lnTo>
                  <a:pt x="1794361" y="2681252"/>
                </a:lnTo>
                <a:lnTo>
                  <a:pt x="0" y="2681252"/>
                </a:lnTo>
                <a:lnTo>
                  <a:pt x="0" y="0"/>
                </a:lnTo>
                <a:close/>
              </a:path>
            </a:pathLst>
          </a:custGeom>
          <a:ln w="38709">
            <a:solidFill>
              <a:srgbClr val="FF2600"/>
            </a:solidFill>
          </a:ln>
        </p:spPr>
        <p:txBody>
          <a:bodyPr wrap="square" lIns="0" tIns="0" rIns="0" bIns="0" rtlCol="0"/>
          <a:lstStyle/>
          <a:p>
            <a:endParaRPr/>
          </a:p>
        </p:txBody>
      </p:sp>
      <p:sp>
        <p:nvSpPr>
          <p:cNvPr id="104" name="object 104"/>
          <p:cNvSpPr/>
          <p:nvPr/>
        </p:nvSpPr>
        <p:spPr>
          <a:xfrm>
            <a:off x="4152241" y="2358662"/>
            <a:ext cx="1794510" cy="2681605"/>
          </a:xfrm>
          <a:custGeom>
            <a:avLst/>
            <a:gdLst/>
            <a:ahLst/>
            <a:cxnLst/>
            <a:rect l="l" t="t" r="r" b="b"/>
            <a:pathLst>
              <a:path w="1794510" h="2681604">
                <a:moveTo>
                  <a:pt x="0" y="0"/>
                </a:moveTo>
                <a:lnTo>
                  <a:pt x="1794361" y="0"/>
                </a:lnTo>
                <a:lnTo>
                  <a:pt x="1794361" y="2681252"/>
                </a:lnTo>
                <a:lnTo>
                  <a:pt x="0" y="2681252"/>
                </a:lnTo>
                <a:lnTo>
                  <a:pt x="0" y="0"/>
                </a:lnTo>
                <a:close/>
              </a:path>
            </a:pathLst>
          </a:custGeom>
          <a:ln w="38709">
            <a:solidFill>
              <a:srgbClr val="FF2600"/>
            </a:solidFill>
          </a:ln>
        </p:spPr>
        <p:txBody>
          <a:bodyPr wrap="square" lIns="0" tIns="0" rIns="0" bIns="0" rtlCol="0"/>
          <a:lstStyle/>
          <a:p>
            <a:endParaRPr/>
          </a:p>
        </p:txBody>
      </p:sp>
      <p:sp>
        <p:nvSpPr>
          <p:cNvPr id="105" name="object 105"/>
          <p:cNvSpPr/>
          <p:nvPr/>
        </p:nvSpPr>
        <p:spPr>
          <a:xfrm>
            <a:off x="6242177" y="2358662"/>
            <a:ext cx="1794510" cy="2681605"/>
          </a:xfrm>
          <a:custGeom>
            <a:avLst/>
            <a:gdLst/>
            <a:ahLst/>
            <a:cxnLst/>
            <a:rect l="l" t="t" r="r" b="b"/>
            <a:pathLst>
              <a:path w="1794509" h="2681604">
                <a:moveTo>
                  <a:pt x="0" y="0"/>
                </a:moveTo>
                <a:lnTo>
                  <a:pt x="1794361" y="0"/>
                </a:lnTo>
                <a:lnTo>
                  <a:pt x="1794361" y="2681252"/>
                </a:lnTo>
                <a:lnTo>
                  <a:pt x="0" y="2681252"/>
                </a:lnTo>
                <a:lnTo>
                  <a:pt x="0" y="0"/>
                </a:lnTo>
                <a:close/>
              </a:path>
            </a:pathLst>
          </a:custGeom>
          <a:ln w="38709">
            <a:solidFill>
              <a:srgbClr val="FF2600"/>
            </a:solidFill>
          </a:ln>
        </p:spPr>
        <p:txBody>
          <a:bodyPr wrap="square" lIns="0" tIns="0" rIns="0" bIns="0" rtlCol="0"/>
          <a:lstStyle/>
          <a:p>
            <a:endParaRPr/>
          </a:p>
        </p:txBody>
      </p:sp>
      <p:sp>
        <p:nvSpPr>
          <p:cNvPr id="106" name="object 106"/>
          <p:cNvSpPr/>
          <p:nvPr/>
        </p:nvSpPr>
        <p:spPr>
          <a:xfrm>
            <a:off x="8335579" y="2338747"/>
            <a:ext cx="1794510" cy="2681605"/>
          </a:xfrm>
          <a:custGeom>
            <a:avLst/>
            <a:gdLst/>
            <a:ahLst/>
            <a:cxnLst/>
            <a:rect l="l" t="t" r="r" b="b"/>
            <a:pathLst>
              <a:path w="1794509" h="2681604">
                <a:moveTo>
                  <a:pt x="0" y="0"/>
                </a:moveTo>
                <a:lnTo>
                  <a:pt x="1794361" y="0"/>
                </a:lnTo>
                <a:lnTo>
                  <a:pt x="1794361" y="2681252"/>
                </a:lnTo>
                <a:lnTo>
                  <a:pt x="0" y="2681252"/>
                </a:lnTo>
                <a:lnTo>
                  <a:pt x="0" y="0"/>
                </a:lnTo>
                <a:close/>
              </a:path>
            </a:pathLst>
          </a:custGeom>
          <a:ln w="38709">
            <a:solidFill>
              <a:srgbClr val="FF2600"/>
            </a:solidFill>
          </a:ln>
        </p:spPr>
        <p:txBody>
          <a:bodyPr wrap="square" lIns="0" tIns="0" rIns="0" bIns="0" rtlCol="0"/>
          <a:lstStyle/>
          <a:p>
            <a:endParaRPr/>
          </a:p>
        </p:txBody>
      </p:sp>
      <p:sp>
        <p:nvSpPr>
          <p:cNvPr id="108" name="标题 107"/>
          <p:cNvSpPr>
            <a:spLocks noGrp="1"/>
          </p:cNvSpPr>
          <p:nvPr>
            <p:ph type="title"/>
          </p:nvPr>
        </p:nvSpPr>
        <p:spPr/>
        <p:txBody>
          <a:bodyPr/>
          <a:lstStyle/>
          <a:p>
            <a:r>
              <a:rPr lang="zh-CN" altLang="en-US" dirty="0"/>
              <a:t>案例：生命游戏</a:t>
            </a:r>
          </a:p>
        </p:txBody>
      </p:sp>
      <p:sp>
        <p:nvSpPr>
          <p:cNvPr id="107" name="灯片编号占位符 106"/>
          <p:cNvSpPr>
            <a:spLocks noGrp="1"/>
          </p:cNvSpPr>
          <p:nvPr>
            <p:ph type="sldNum" sz="quarter" idx="12"/>
          </p:nvPr>
        </p:nvSpPr>
        <p:spPr/>
        <p:txBody>
          <a:bodyPr/>
          <a:lstStyle/>
          <a:p>
            <a:fld id="{74D2AB8B-5816-41F2-8B4B-CA5C3E4E6A65}" type="slidenum">
              <a:rPr lang="zh-CN" altLang="en-US" smtClean="0"/>
              <a:t>36</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87149"/>
    </mc:Choice>
    <mc:Fallback xmlns="">
      <p:transition spd="slow" advTm="87149"/>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1827371" y="5600412"/>
            <a:ext cx="8868410" cy="574040"/>
          </a:xfrm>
          <a:prstGeom prst="rect">
            <a:avLst/>
          </a:prstGeom>
        </p:spPr>
        <p:txBody>
          <a:bodyPr vert="horz" wrap="square" lIns="0" tIns="12700" rIns="0" bIns="0" rtlCol="0">
            <a:spAutoFit/>
          </a:bodyPr>
          <a:lstStyle/>
          <a:p>
            <a:pPr marL="21590" algn="ctr">
              <a:lnSpc>
                <a:spcPct val="100000"/>
              </a:lnSpc>
              <a:spcBef>
                <a:spcPts val="100"/>
              </a:spcBef>
            </a:pPr>
            <a:r>
              <a:rPr sz="2000" dirty="0">
                <a:latin typeface="微软雅黑" panose="020B0503020204020204" pitchFamily="34" charset="-122"/>
                <a:cs typeface="微软雅黑" panose="020B0503020204020204" pitchFamily="34" charset="-122"/>
              </a:rPr>
              <a:t>动态图来自维基百科</a:t>
            </a:r>
          </a:p>
          <a:p>
            <a:pPr algn="ctr">
              <a:lnSpc>
                <a:spcPct val="100000"/>
              </a:lnSpc>
            </a:pPr>
            <a:r>
              <a:rPr sz="1600" u="sng" spc="-5" dirty="0">
                <a:solidFill>
                  <a:srgbClr val="0563C1"/>
                </a:solidFill>
                <a:uFill>
                  <a:solidFill>
                    <a:srgbClr val="0079CD"/>
                  </a:solidFill>
                </a:uFill>
                <a:latin typeface="Calibri" panose="020F0502020204030204"/>
                <a:cs typeface="Calibri" panose="020F0502020204030204"/>
              </a:rPr>
              <a:t>https://zh.wikipedia.org/wiki/%E5%BA%B7%E5%A8%81%E7%94%9F%E5%91%BD%E6%B8%B8%E6%88%8F</a:t>
            </a:r>
            <a:endParaRPr sz="1600" dirty="0">
              <a:latin typeface="Calibri" panose="020F0502020204030204"/>
              <a:cs typeface="Calibri" panose="020F0502020204030204"/>
            </a:endParaRPr>
          </a:p>
        </p:txBody>
      </p:sp>
      <p:sp>
        <p:nvSpPr>
          <p:cNvPr id="7" name="标题 6"/>
          <p:cNvSpPr>
            <a:spLocks noGrp="1"/>
          </p:cNvSpPr>
          <p:nvPr>
            <p:ph type="title"/>
          </p:nvPr>
        </p:nvSpPr>
        <p:spPr/>
        <p:txBody>
          <a:bodyPr/>
          <a:lstStyle/>
          <a:p>
            <a:r>
              <a:rPr lang="zh-CN" altLang="en-US" dirty="0"/>
              <a:t>案例：生命游戏</a:t>
            </a:r>
          </a:p>
        </p:txBody>
      </p:sp>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75621" y="2756740"/>
            <a:ext cx="3074904" cy="2213931"/>
          </a:xfrm>
          <a:prstGeom prst="rect">
            <a:avLst/>
          </a:prstGeom>
        </p:spPr>
      </p:pic>
      <p:pic>
        <p:nvPicPr>
          <p:cNvPr id="12" name="图片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95927" y="1997076"/>
            <a:ext cx="5653115" cy="2863847"/>
          </a:xfrm>
          <a:prstGeom prst="rect">
            <a:avLst/>
          </a:prstGeom>
        </p:spPr>
      </p:pic>
      <p:sp>
        <p:nvSpPr>
          <p:cNvPr id="2" name="灯片编号占位符 1"/>
          <p:cNvSpPr>
            <a:spLocks noGrp="1"/>
          </p:cNvSpPr>
          <p:nvPr>
            <p:ph type="sldNum" sz="quarter" idx="12"/>
          </p:nvPr>
        </p:nvSpPr>
        <p:spPr/>
        <p:txBody>
          <a:bodyPr/>
          <a:lstStyle/>
          <a:p>
            <a:fld id="{74D2AB8B-5816-41F2-8B4B-CA5C3E4E6A65}" type="slidenum">
              <a:rPr lang="zh-CN" altLang="en-US" smtClean="0"/>
              <a:t>37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4429"/>
    </mc:Choice>
    <mc:Fallback xmlns="">
      <p:transition spd="slow" advTm="34429"/>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CEFF4E-FE40-454D-94E5-C9320168E06F}"/>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CE7D8DF3-E259-4129-927A-199DD92CB39D}"/>
              </a:ext>
            </a:extLst>
          </p:cNvPr>
          <p:cNvSpPr>
            <a:spLocks noGrp="1"/>
          </p:cNvSpPr>
          <p:nvPr>
            <p:ph idx="1"/>
          </p:nvPr>
        </p:nvSpPr>
        <p:spPr/>
        <p:txBody>
          <a:bodyPr/>
          <a:lstStyle/>
          <a:p>
            <a:r>
              <a:rPr lang="zh-CN" altLang="en-US" dirty="0"/>
              <a:t>同学们想一想设计思路</a:t>
            </a:r>
            <a:r>
              <a:rPr lang="en-US" altLang="zh-CN" dirty="0"/>
              <a:t>…</a:t>
            </a:r>
            <a:endParaRPr lang="zh-CN" altLang="en-US" dirty="0"/>
          </a:p>
        </p:txBody>
      </p:sp>
      <p:sp>
        <p:nvSpPr>
          <p:cNvPr id="4" name="灯片编号占位符 3">
            <a:extLst>
              <a:ext uri="{FF2B5EF4-FFF2-40B4-BE49-F238E27FC236}">
                <a16:creationId xmlns:a16="http://schemas.microsoft.com/office/drawing/2014/main" id="{453F6B8F-9CA0-4669-8018-2B25DCDE3145}"/>
              </a:ext>
            </a:extLst>
          </p:cNvPr>
          <p:cNvSpPr>
            <a:spLocks noGrp="1"/>
          </p:cNvSpPr>
          <p:nvPr>
            <p:ph type="sldNum" sz="quarter" idx="12"/>
          </p:nvPr>
        </p:nvSpPr>
        <p:spPr/>
        <p:txBody>
          <a:bodyPr/>
          <a:lstStyle/>
          <a:p>
            <a:fld id="{74D2AB8B-5816-41F2-8B4B-CA5C3E4E6A65}" type="slidenum">
              <a:rPr lang="zh-CN" altLang="en-US" smtClean="0"/>
              <a:t>38</a:t>
            </a:fld>
            <a:endParaRPr lang="zh-CN" altLang="en-US"/>
          </a:p>
        </p:txBody>
      </p:sp>
    </p:spTree>
    <p:extLst>
      <p:ext uri="{BB962C8B-B14F-4D97-AF65-F5344CB8AC3E}">
        <p14:creationId xmlns:p14="http://schemas.microsoft.com/office/powerpoint/2010/main" val="24917527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98805" y="2319869"/>
            <a:ext cx="6300792" cy="3200402"/>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1204806" y="1987078"/>
            <a:ext cx="42926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CC0000"/>
                </a:solidFill>
                <a:latin typeface="微软雅黑" panose="020B0503020204020204" pitchFamily="34" charset="-122"/>
                <a:cs typeface="微软雅黑" panose="020B0503020204020204" pitchFamily="34" charset="-122"/>
              </a:rPr>
              <a:t>想一想</a:t>
            </a:r>
            <a:r>
              <a:rPr sz="2400" dirty="0">
                <a:solidFill>
                  <a:srgbClr val="D81E00"/>
                </a:solidFill>
                <a:latin typeface="微软雅黑" panose="020B0503020204020204" pitchFamily="34" charset="-122"/>
                <a:cs typeface="微软雅黑" panose="020B0503020204020204" pitchFamily="34" charset="-122"/>
              </a:rPr>
              <a:t>，</a:t>
            </a:r>
            <a:r>
              <a:rPr sz="2400" dirty="0">
                <a:solidFill>
                  <a:srgbClr val="CC0000"/>
                </a:solidFill>
                <a:latin typeface="微软雅黑" panose="020B0503020204020204" pitchFamily="34" charset="-122"/>
                <a:cs typeface="微软雅黑" panose="020B0503020204020204" pitchFamily="34" charset="-122"/>
              </a:rPr>
              <a:t>生命游戏有哪些要素</a:t>
            </a:r>
            <a:r>
              <a:rPr sz="2400" dirty="0">
                <a:solidFill>
                  <a:srgbClr val="D81E00"/>
                </a:solidFill>
                <a:latin typeface="微软雅黑" panose="020B0503020204020204" pitchFamily="34" charset="-122"/>
                <a:cs typeface="微软雅黑" panose="020B0503020204020204" pitchFamily="34" charset="-122"/>
              </a:rPr>
              <a:t>？</a:t>
            </a:r>
            <a:endParaRPr sz="2400">
              <a:latin typeface="微软雅黑" panose="020B0503020204020204" pitchFamily="34" charset="-122"/>
              <a:cs typeface="微软雅黑" panose="020B0503020204020204" pitchFamily="34" charset="-122"/>
            </a:endParaRPr>
          </a:p>
        </p:txBody>
      </p:sp>
      <p:sp>
        <p:nvSpPr>
          <p:cNvPr id="5" name="object 5"/>
          <p:cNvSpPr/>
          <p:nvPr/>
        </p:nvSpPr>
        <p:spPr>
          <a:xfrm>
            <a:off x="7620006" y="1574800"/>
            <a:ext cx="2426539" cy="1376509"/>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6894441" y="3776133"/>
            <a:ext cx="1451913" cy="1947331"/>
          </a:xfrm>
          <a:prstGeom prst="rect">
            <a:avLst/>
          </a:prstGeom>
          <a:blipFill>
            <a:blip r:embed="rId5" cstate="print"/>
            <a:stretch>
              <a:fillRect/>
            </a:stretch>
          </a:blipFill>
        </p:spPr>
        <p:txBody>
          <a:bodyPr wrap="square" lIns="0" tIns="0" rIns="0" bIns="0" rtlCol="0"/>
          <a:lstStyle/>
          <a:p>
            <a:endParaRPr/>
          </a:p>
        </p:txBody>
      </p:sp>
      <p:sp>
        <p:nvSpPr>
          <p:cNvPr id="7" name="object 7"/>
          <p:cNvSpPr txBox="1"/>
          <p:nvPr/>
        </p:nvSpPr>
        <p:spPr>
          <a:xfrm>
            <a:off x="8036067" y="5213661"/>
            <a:ext cx="533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微软雅黑" panose="020B0503020204020204" pitchFamily="34" charset="-122"/>
                <a:cs typeface="微软雅黑" panose="020B0503020204020204" pitchFamily="34" charset="-122"/>
              </a:rPr>
              <a:t>逻辑</a:t>
            </a:r>
            <a:endParaRPr sz="2000">
              <a:latin typeface="微软雅黑" panose="020B0503020204020204" pitchFamily="34" charset="-122"/>
              <a:cs typeface="微软雅黑" panose="020B0503020204020204" pitchFamily="34" charset="-122"/>
            </a:endParaRPr>
          </a:p>
        </p:txBody>
      </p:sp>
      <p:sp>
        <p:nvSpPr>
          <p:cNvPr id="8" name="object 8"/>
          <p:cNvSpPr/>
          <p:nvPr/>
        </p:nvSpPr>
        <p:spPr>
          <a:xfrm>
            <a:off x="9085628" y="3790103"/>
            <a:ext cx="1483019" cy="1993306"/>
          </a:xfrm>
          <a:prstGeom prst="rect">
            <a:avLst/>
          </a:prstGeom>
          <a:blipFill>
            <a:blip r:embed="rId6" cstate="print"/>
            <a:stretch>
              <a:fillRect/>
            </a:stretch>
          </a:blipFill>
        </p:spPr>
        <p:txBody>
          <a:bodyPr wrap="square" lIns="0" tIns="0" rIns="0" bIns="0" rtlCol="0"/>
          <a:lstStyle/>
          <a:p>
            <a:endParaRPr/>
          </a:p>
        </p:txBody>
      </p:sp>
      <p:sp>
        <p:nvSpPr>
          <p:cNvPr id="9" name="object 9"/>
          <p:cNvSpPr txBox="1"/>
          <p:nvPr/>
        </p:nvSpPr>
        <p:spPr>
          <a:xfrm>
            <a:off x="8568212" y="3005756"/>
            <a:ext cx="2359025" cy="1299845"/>
          </a:xfrm>
          <a:prstGeom prst="rect">
            <a:avLst/>
          </a:prstGeom>
        </p:spPr>
        <p:txBody>
          <a:bodyPr vert="horz" wrap="square" lIns="0" tIns="12700" rIns="0" bIns="0" rtlCol="0">
            <a:spAutoFit/>
          </a:bodyPr>
          <a:lstStyle/>
          <a:p>
            <a:pPr marL="12700">
              <a:lnSpc>
                <a:spcPct val="100000"/>
              </a:lnSpc>
              <a:spcBef>
                <a:spcPts val="100"/>
              </a:spcBef>
            </a:pPr>
            <a:r>
              <a:rPr sz="2000" dirty="0">
                <a:latin typeface="微软雅黑" panose="020B0503020204020204" pitchFamily="34" charset="-122"/>
                <a:cs typeface="微软雅黑" panose="020B0503020204020204" pitchFamily="34" charset="-122"/>
              </a:rPr>
              <a:t>地图</a:t>
            </a:r>
            <a:endParaRPr sz="2000">
              <a:latin typeface="微软雅黑" panose="020B0503020204020204" pitchFamily="34" charset="-122"/>
              <a:cs typeface="微软雅黑" panose="020B0503020204020204" pitchFamily="34" charset="-122"/>
            </a:endParaRPr>
          </a:p>
          <a:p>
            <a:pPr>
              <a:lnSpc>
                <a:spcPct val="100000"/>
              </a:lnSpc>
            </a:pPr>
            <a:endParaRPr sz="2600">
              <a:latin typeface="Times New Roman" panose="02020603050405020304"/>
              <a:cs typeface="Times New Roman" panose="02020603050405020304"/>
            </a:endParaRPr>
          </a:p>
          <a:p>
            <a:pPr marR="5080" algn="r">
              <a:lnSpc>
                <a:spcPct val="100000"/>
              </a:lnSpc>
              <a:spcBef>
                <a:spcPts val="2240"/>
              </a:spcBef>
            </a:pPr>
            <a:r>
              <a:rPr sz="2000" dirty="0">
                <a:latin typeface="微软雅黑" panose="020B0503020204020204" pitchFamily="34" charset="-122"/>
                <a:cs typeface="微软雅黑" panose="020B0503020204020204" pitchFamily="34" charset="-122"/>
              </a:rPr>
              <a:t>计时</a:t>
            </a:r>
            <a:endParaRPr sz="2000">
              <a:latin typeface="微软雅黑" panose="020B0503020204020204" pitchFamily="34" charset="-122"/>
              <a:cs typeface="微软雅黑" panose="020B0503020204020204" pitchFamily="34" charset="-122"/>
            </a:endParaRPr>
          </a:p>
        </p:txBody>
      </p:sp>
      <p:sp>
        <p:nvSpPr>
          <p:cNvPr id="11" name="标题 10"/>
          <p:cNvSpPr>
            <a:spLocks noGrp="1"/>
          </p:cNvSpPr>
          <p:nvPr>
            <p:ph type="title"/>
          </p:nvPr>
        </p:nvSpPr>
        <p:spPr/>
        <p:txBody>
          <a:bodyPr/>
          <a:lstStyle/>
          <a:p>
            <a:r>
              <a:rPr lang="zh-CN" altLang="en-US" dirty="0"/>
              <a:t>案例：生命游戏的模块划分</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39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1088"/>
    </mc:Choice>
    <mc:Fallback xmlns="">
      <p:transition spd="slow" advTm="41088"/>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78638" y="1845053"/>
            <a:ext cx="2823940" cy="1601943"/>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2269238" y="3572685"/>
            <a:ext cx="6350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00CC"/>
                </a:solidFill>
                <a:latin typeface="微软雅黑" panose="020B0503020204020204" pitchFamily="34" charset="-122"/>
                <a:cs typeface="微软雅黑" panose="020B0503020204020204" pitchFamily="34" charset="-122"/>
              </a:rPr>
              <a:t>地图</a:t>
            </a:r>
            <a:endParaRPr sz="2400">
              <a:latin typeface="微软雅黑" panose="020B0503020204020204" pitchFamily="34" charset="-122"/>
              <a:cs typeface="微软雅黑" panose="020B0503020204020204" pitchFamily="34" charset="-122"/>
            </a:endParaRPr>
          </a:p>
        </p:txBody>
      </p:sp>
      <p:sp>
        <p:nvSpPr>
          <p:cNvPr id="5" name="object 5"/>
          <p:cNvSpPr/>
          <p:nvPr/>
        </p:nvSpPr>
        <p:spPr>
          <a:xfrm>
            <a:off x="5007180" y="1794261"/>
            <a:ext cx="2246636" cy="2406176"/>
          </a:xfrm>
          <a:prstGeom prst="rect">
            <a:avLst/>
          </a:prstGeom>
          <a:blipFill>
            <a:blip r:embed="rId4" cstate="print"/>
            <a:stretch>
              <a:fillRect/>
            </a:stretch>
          </a:blipFill>
        </p:spPr>
        <p:txBody>
          <a:bodyPr wrap="square" lIns="0" tIns="0" rIns="0" bIns="0" rtlCol="0"/>
          <a:lstStyle/>
          <a:p>
            <a:endParaRPr/>
          </a:p>
        </p:txBody>
      </p:sp>
      <p:sp>
        <p:nvSpPr>
          <p:cNvPr id="6" name="object 6"/>
          <p:cNvSpPr txBox="1"/>
          <p:nvPr/>
        </p:nvSpPr>
        <p:spPr>
          <a:xfrm>
            <a:off x="5787319" y="2114019"/>
            <a:ext cx="6350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00CC"/>
                </a:solidFill>
                <a:latin typeface="微软雅黑" panose="020B0503020204020204" pitchFamily="34" charset="-122"/>
                <a:cs typeface="微软雅黑" panose="020B0503020204020204" pitchFamily="34" charset="-122"/>
              </a:rPr>
              <a:t>逻辑</a:t>
            </a:r>
            <a:endParaRPr sz="2400">
              <a:latin typeface="微软雅黑" panose="020B0503020204020204" pitchFamily="34" charset="-122"/>
              <a:cs typeface="微软雅黑" panose="020B0503020204020204" pitchFamily="34" charset="-122"/>
            </a:endParaRPr>
          </a:p>
        </p:txBody>
      </p:sp>
      <p:sp>
        <p:nvSpPr>
          <p:cNvPr id="7" name="object 7"/>
          <p:cNvSpPr/>
          <p:nvPr/>
        </p:nvSpPr>
        <p:spPr>
          <a:xfrm>
            <a:off x="8129543" y="1786035"/>
            <a:ext cx="1845042" cy="2479897"/>
          </a:xfrm>
          <a:prstGeom prst="rect">
            <a:avLst/>
          </a:prstGeom>
          <a:blipFill>
            <a:blip r:embed="rId5" cstate="print"/>
            <a:stretch>
              <a:fillRect/>
            </a:stretch>
          </a:blipFill>
        </p:spPr>
        <p:txBody>
          <a:bodyPr wrap="square" lIns="0" tIns="0" rIns="0" bIns="0" rtlCol="0"/>
          <a:lstStyle/>
          <a:p>
            <a:endParaRPr/>
          </a:p>
        </p:txBody>
      </p:sp>
      <p:sp>
        <p:nvSpPr>
          <p:cNvPr id="8" name="object 8"/>
          <p:cNvSpPr txBox="1"/>
          <p:nvPr/>
        </p:nvSpPr>
        <p:spPr>
          <a:xfrm>
            <a:off x="9737532" y="2007979"/>
            <a:ext cx="6350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00CC"/>
                </a:solidFill>
                <a:latin typeface="微软雅黑" panose="020B0503020204020204" pitchFamily="34" charset="-122"/>
                <a:cs typeface="微软雅黑" panose="020B0503020204020204" pitchFamily="34" charset="-122"/>
              </a:rPr>
              <a:t>计时</a:t>
            </a:r>
            <a:endParaRPr sz="2400">
              <a:latin typeface="微软雅黑" panose="020B0503020204020204" pitchFamily="34" charset="-122"/>
              <a:cs typeface="微软雅黑" panose="020B0503020204020204" pitchFamily="34" charset="-122"/>
            </a:endParaRPr>
          </a:p>
        </p:txBody>
      </p:sp>
      <p:sp>
        <p:nvSpPr>
          <p:cNvPr id="9" name="object 9"/>
          <p:cNvSpPr txBox="1"/>
          <p:nvPr/>
        </p:nvSpPr>
        <p:spPr>
          <a:xfrm>
            <a:off x="1251446" y="5575109"/>
            <a:ext cx="9558020" cy="605790"/>
          </a:xfrm>
          <a:prstGeom prst="rect">
            <a:avLst/>
          </a:prstGeom>
          <a:solidFill>
            <a:srgbClr val="ECEBEB"/>
          </a:solidFill>
        </p:spPr>
        <p:txBody>
          <a:bodyPr vert="horz" wrap="square" lIns="0" tIns="96520" rIns="0" bIns="0" rtlCol="0">
            <a:spAutoFit/>
          </a:bodyPr>
          <a:lstStyle/>
          <a:p>
            <a:pPr marL="511175">
              <a:lnSpc>
                <a:spcPct val="100000"/>
              </a:lnSpc>
              <a:spcBef>
                <a:spcPts val="760"/>
              </a:spcBef>
            </a:pPr>
            <a:r>
              <a:rPr sz="2400" dirty="0">
                <a:latin typeface="微软雅黑" panose="020B0503020204020204" pitchFamily="34" charset="-122"/>
                <a:cs typeface="微软雅黑" panose="020B0503020204020204" pitchFamily="34" charset="-122"/>
              </a:rPr>
              <a:t>模块化设计的好处：</a:t>
            </a:r>
            <a:r>
              <a:rPr sz="2400" dirty="0">
                <a:solidFill>
                  <a:srgbClr val="CC0000"/>
                </a:solidFill>
                <a:latin typeface="微软雅黑" panose="020B0503020204020204" pitchFamily="34" charset="-122"/>
                <a:cs typeface="微软雅黑" panose="020B0503020204020204" pitchFamily="34" charset="-122"/>
              </a:rPr>
              <a:t>思路清晰</a:t>
            </a:r>
            <a:r>
              <a:rPr sz="2400" dirty="0">
                <a:solidFill>
                  <a:srgbClr val="D81E00"/>
                </a:solidFill>
                <a:latin typeface="微软雅黑" panose="020B0503020204020204" pitchFamily="34" charset="-122"/>
                <a:cs typeface="微软雅黑" panose="020B0503020204020204" pitchFamily="34" charset="-122"/>
              </a:rPr>
              <a:t>，</a:t>
            </a:r>
            <a:r>
              <a:rPr sz="2400" dirty="0">
                <a:solidFill>
                  <a:srgbClr val="CC0000"/>
                </a:solidFill>
                <a:latin typeface="微软雅黑" panose="020B0503020204020204" pitchFamily="34" charset="-122"/>
                <a:cs typeface="微软雅黑" panose="020B0503020204020204" pitchFamily="34" charset="-122"/>
              </a:rPr>
              <a:t>易于测试</a:t>
            </a:r>
            <a:r>
              <a:rPr sz="2400" dirty="0">
                <a:solidFill>
                  <a:srgbClr val="D81E00"/>
                </a:solidFill>
                <a:latin typeface="微软雅黑" panose="020B0503020204020204" pitchFamily="34" charset="-122"/>
                <a:cs typeface="微软雅黑" panose="020B0503020204020204" pitchFamily="34" charset="-122"/>
              </a:rPr>
              <a:t>，</a:t>
            </a:r>
            <a:r>
              <a:rPr sz="2400" dirty="0">
                <a:solidFill>
                  <a:srgbClr val="CC0000"/>
                </a:solidFill>
                <a:latin typeface="微软雅黑" panose="020B0503020204020204" pitchFamily="34" charset="-122"/>
                <a:cs typeface="微软雅黑" panose="020B0503020204020204" pitchFamily="34" charset="-122"/>
              </a:rPr>
              <a:t>适应未来可能的变化</a:t>
            </a:r>
            <a:endParaRPr sz="2400">
              <a:latin typeface="微软雅黑" panose="020B0503020204020204" pitchFamily="34" charset="-122"/>
              <a:cs typeface="微软雅黑" panose="020B0503020204020204" pitchFamily="34" charset="-122"/>
            </a:endParaRPr>
          </a:p>
        </p:txBody>
      </p:sp>
      <p:sp>
        <p:nvSpPr>
          <p:cNvPr id="10" name="object 10"/>
          <p:cNvSpPr txBox="1"/>
          <p:nvPr/>
        </p:nvSpPr>
        <p:spPr>
          <a:xfrm>
            <a:off x="1236000" y="4343245"/>
            <a:ext cx="2819400" cy="635000"/>
          </a:xfrm>
          <a:prstGeom prst="rect">
            <a:avLst/>
          </a:prstGeom>
        </p:spPr>
        <p:txBody>
          <a:bodyPr vert="horz" wrap="square" lIns="0" tIns="12700" rIns="0" bIns="0" rtlCol="0">
            <a:spAutoFit/>
          </a:bodyPr>
          <a:lstStyle/>
          <a:p>
            <a:pPr marL="12700" marR="5080">
              <a:lnSpc>
                <a:spcPct val="100000"/>
              </a:lnSpc>
              <a:spcBef>
                <a:spcPts val="100"/>
              </a:spcBef>
            </a:pPr>
            <a:r>
              <a:rPr sz="2000" dirty="0">
                <a:latin typeface="微软雅黑" panose="020B0503020204020204" pitchFamily="34" charset="-122"/>
                <a:cs typeface="微软雅黑" panose="020B0503020204020204" pitchFamily="34" charset="-122"/>
              </a:rPr>
              <a:t>管理与地图相关一切数据 的初始化、获取、更新等</a:t>
            </a:r>
            <a:endParaRPr sz="2000">
              <a:latin typeface="微软雅黑" panose="020B0503020204020204" pitchFamily="34" charset="-122"/>
              <a:cs typeface="微软雅黑" panose="020B0503020204020204" pitchFamily="34" charset="-122"/>
            </a:endParaRPr>
          </a:p>
        </p:txBody>
      </p:sp>
      <p:sp>
        <p:nvSpPr>
          <p:cNvPr id="11" name="object 11"/>
          <p:cNvSpPr txBox="1"/>
          <p:nvPr/>
        </p:nvSpPr>
        <p:spPr>
          <a:xfrm>
            <a:off x="5082903" y="4381205"/>
            <a:ext cx="2311400" cy="939800"/>
          </a:xfrm>
          <a:prstGeom prst="rect">
            <a:avLst/>
          </a:prstGeom>
        </p:spPr>
        <p:txBody>
          <a:bodyPr vert="horz" wrap="square" lIns="0" tIns="12700" rIns="0" bIns="0" rtlCol="0">
            <a:spAutoFit/>
          </a:bodyPr>
          <a:lstStyle/>
          <a:p>
            <a:pPr marL="12700" marR="5080">
              <a:lnSpc>
                <a:spcPct val="100000"/>
              </a:lnSpc>
              <a:spcBef>
                <a:spcPts val="100"/>
              </a:spcBef>
            </a:pPr>
            <a:r>
              <a:rPr sz="2000" dirty="0">
                <a:latin typeface="微软雅黑" panose="020B0503020204020204" pitchFamily="34" charset="-122"/>
                <a:cs typeface="微软雅黑" panose="020B0503020204020204" pitchFamily="34" charset="-122"/>
              </a:rPr>
              <a:t>控制完整游戏逻辑， 根据地图数据依照 逻辑进行相应更新</a:t>
            </a:r>
            <a:endParaRPr sz="2000">
              <a:latin typeface="微软雅黑" panose="020B0503020204020204" pitchFamily="34" charset="-122"/>
              <a:cs typeface="微软雅黑" panose="020B0503020204020204" pitchFamily="34" charset="-122"/>
            </a:endParaRPr>
          </a:p>
        </p:txBody>
      </p:sp>
      <p:sp>
        <p:nvSpPr>
          <p:cNvPr id="12" name="object 12"/>
          <p:cNvSpPr txBox="1"/>
          <p:nvPr/>
        </p:nvSpPr>
        <p:spPr>
          <a:xfrm>
            <a:off x="8155459" y="4346272"/>
            <a:ext cx="2565400" cy="939800"/>
          </a:xfrm>
          <a:prstGeom prst="rect">
            <a:avLst/>
          </a:prstGeom>
        </p:spPr>
        <p:txBody>
          <a:bodyPr vert="horz" wrap="square" lIns="0" tIns="12700" rIns="0" bIns="0" rtlCol="0">
            <a:spAutoFit/>
          </a:bodyPr>
          <a:lstStyle/>
          <a:p>
            <a:pPr marL="12700" marR="5080" algn="just">
              <a:lnSpc>
                <a:spcPct val="100000"/>
              </a:lnSpc>
              <a:spcBef>
                <a:spcPts val="100"/>
              </a:spcBef>
            </a:pPr>
            <a:r>
              <a:rPr sz="2000" dirty="0">
                <a:latin typeface="微软雅黑" panose="020B0503020204020204" pitchFamily="34" charset="-122"/>
                <a:cs typeface="微软雅黑" panose="020B0503020204020204" pitchFamily="34" charset="-122"/>
              </a:rPr>
              <a:t>负责时间相关的功能， 在适当的时机触发游戏 逻辑模块对地图的更新</a:t>
            </a:r>
            <a:endParaRPr sz="2000">
              <a:latin typeface="微软雅黑" panose="020B0503020204020204" pitchFamily="34" charset="-122"/>
              <a:cs typeface="微软雅黑" panose="020B0503020204020204" pitchFamily="34" charset="-122"/>
            </a:endParaRPr>
          </a:p>
        </p:txBody>
      </p:sp>
      <p:sp>
        <p:nvSpPr>
          <p:cNvPr id="14" name="标题 13"/>
          <p:cNvSpPr>
            <a:spLocks noGrp="1"/>
          </p:cNvSpPr>
          <p:nvPr>
            <p:ph type="title"/>
          </p:nvPr>
        </p:nvSpPr>
        <p:spPr/>
        <p:txBody>
          <a:bodyPr/>
          <a:lstStyle/>
          <a:p>
            <a:r>
              <a:rPr lang="zh-CN" altLang="en-US" dirty="0"/>
              <a:t>案例：生命游戏的模块划分</a:t>
            </a:r>
          </a:p>
        </p:txBody>
      </p:sp>
      <p:sp>
        <p:nvSpPr>
          <p:cNvPr id="13" name="灯片编号占位符 12"/>
          <p:cNvSpPr>
            <a:spLocks noGrp="1"/>
          </p:cNvSpPr>
          <p:nvPr>
            <p:ph type="sldNum" sz="quarter" idx="12"/>
          </p:nvPr>
        </p:nvSpPr>
        <p:spPr/>
        <p:txBody>
          <a:bodyPr/>
          <a:lstStyle/>
          <a:p>
            <a:fld id="{74D2AB8B-5816-41F2-8B4B-CA5C3E4E6A65}" type="slidenum">
              <a:rPr lang="zh-CN" altLang="en-US" smtClean="0"/>
              <a:t>40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83738"/>
    </mc:Choice>
    <mc:Fallback xmlns="">
      <p:transition spd="slow" advTm="83738"/>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047749" y="3286605"/>
            <a:ext cx="1968992" cy="1212898"/>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9881594" y="2964031"/>
            <a:ext cx="29781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panose="020F0502020204030204"/>
                <a:cs typeface="Calibri" panose="020F0502020204030204"/>
              </a:rPr>
              <a:t>UI</a:t>
            </a:r>
            <a:endParaRPr sz="2400">
              <a:latin typeface="Calibri" panose="020F0502020204030204"/>
              <a:cs typeface="Calibri" panose="020F0502020204030204"/>
            </a:endParaRPr>
          </a:p>
        </p:txBody>
      </p:sp>
      <p:sp>
        <p:nvSpPr>
          <p:cNvPr id="5" name="object 5"/>
          <p:cNvSpPr txBox="1"/>
          <p:nvPr/>
        </p:nvSpPr>
        <p:spPr>
          <a:xfrm>
            <a:off x="1138682" y="1505913"/>
            <a:ext cx="10083800" cy="812800"/>
          </a:xfrm>
          <a:prstGeom prst="rect">
            <a:avLst/>
          </a:prstGeom>
        </p:spPr>
        <p:txBody>
          <a:bodyPr vert="horz" wrap="square" lIns="0" tIns="12700" rIns="0" bIns="0" rtlCol="0">
            <a:spAutoFit/>
          </a:bodyPr>
          <a:lstStyle/>
          <a:p>
            <a:pPr marL="12700" marR="5080">
              <a:lnSpc>
                <a:spcPct val="117000"/>
              </a:lnSpc>
              <a:spcBef>
                <a:spcPts val="100"/>
              </a:spcBef>
            </a:pPr>
            <a:r>
              <a:rPr sz="2200" dirty="0">
                <a:latin typeface="微软雅黑" panose="020B0503020204020204" pitchFamily="34" charset="-122"/>
                <a:cs typeface="微软雅黑" panose="020B0503020204020204" pitchFamily="34" charset="-122"/>
              </a:rPr>
              <a:t>实际上，模块化设计可以有多种不同的方案，应该选择利于理清思路、方便测试、 容易调整的方案，同时避免“过度设计”。</a:t>
            </a:r>
            <a:endParaRPr sz="2200">
              <a:latin typeface="微软雅黑" panose="020B0503020204020204" pitchFamily="34" charset="-122"/>
              <a:cs typeface="微软雅黑" panose="020B0503020204020204" pitchFamily="34" charset="-122"/>
            </a:endParaRPr>
          </a:p>
        </p:txBody>
      </p:sp>
      <p:sp>
        <p:nvSpPr>
          <p:cNvPr id="6" name="object 6"/>
          <p:cNvSpPr/>
          <p:nvPr/>
        </p:nvSpPr>
        <p:spPr>
          <a:xfrm>
            <a:off x="1426842" y="2767046"/>
            <a:ext cx="2396655" cy="1359556"/>
          </a:xfrm>
          <a:prstGeom prst="rect">
            <a:avLst/>
          </a:prstGeom>
          <a:blipFill>
            <a:blip r:embed="rId4" cstate="print"/>
            <a:stretch>
              <a:fillRect/>
            </a:stretch>
          </a:blipFill>
        </p:spPr>
        <p:txBody>
          <a:bodyPr wrap="square" lIns="0" tIns="0" rIns="0" bIns="0" rtlCol="0"/>
          <a:lstStyle/>
          <a:p>
            <a:endParaRPr/>
          </a:p>
        </p:txBody>
      </p:sp>
      <p:sp>
        <p:nvSpPr>
          <p:cNvPr id="7" name="object 7"/>
          <p:cNvSpPr txBox="1"/>
          <p:nvPr/>
        </p:nvSpPr>
        <p:spPr>
          <a:xfrm>
            <a:off x="2364339" y="4180786"/>
            <a:ext cx="533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微软雅黑" panose="020B0503020204020204" pitchFamily="34" charset="-122"/>
                <a:cs typeface="微软雅黑" panose="020B0503020204020204" pitchFamily="34" charset="-122"/>
              </a:rPr>
              <a:t>地图</a:t>
            </a:r>
            <a:endParaRPr sz="2000">
              <a:latin typeface="微软雅黑" panose="020B0503020204020204" pitchFamily="34" charset="-122"/>
              <a:cs typeface="微软雅黑" panose="020B0503020204020204" pitchFamily="34" charset="-122"/>
            </a:endParaRPr>
          </a:p>
        </p:txBody>
      </p:sp>
      <p:sp>
        <p:nvSpPr>
          <p:cNvPr id="8" name="object 8"/>
          <p:cNvSpPr/>
          <p:nvPr/>
        </p:nvSpPr>
        <p:spPr>
          <a:xfrm>
            <a:off x="4453469" y="2779854"/>
            <a:ext cx="1744696" cy="1809083"/>
          </a:xfrm>
          <a:prstGeom prst="rect">
            <a:avLst/>
          </a:prstGeom>
          <a:blipFill>
            <a:blip r:embed="rId5" cstate="print"/>
            <a:stretch>
              <a:fillRect/>
            </a:stretch>
          </a:blipFill>
        </p:spPr>
        <p:txBody>
          <a:bodyPr wrap="square" lIns="0" tIns="0" rIns="0" bIns="0" rtlCol="0"/>
          <a:lstStyle/>
          <a:p>
            <a:endParaRPr/>
          </a:p>
        </p:txBody>
      </p:sp>
      <p:sp>
        <p:nvSpPr>
          <p:cNvPr id="9" name="object 9"/>
          <p:cNvSpPr txBox="1"/>
          <p:nvPr/>
        </p:nvSpPr>
        <p:spPr>
          <a:xfrm>
            <a:off x="5076902" y="3035548"/>
            <a:ext cx="533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微软雅黑" panose="020B0503020204020204" pitchFamily="34" charset="-122"/>
                <a:cs typeface="微软雅黑" panose="020B0503020204020204" pitchFamily="34" charset="-122"/>
              </a:rPr>
              <a:t>逻辑</a:t>
            </a:r>
            <a:endParaRPr sz="2000">
              <a:latin typeface="微软雅黑" panose="020B0503020204020204" pitchFamily="34" charset="-122"/>
              <a:cs typeface="微软雅黑" panose="020B0503020204020204" pitchFamily="34" charset="-122"/>
            </a:endParaRPr>
          </a:p>
        </p:txBody>
      </p:sp>
      <p:sp>
        <p:nvSpPr>
          <p:cNvPr id="10" name="object 10"/>
          <p:cNvSpPr/>
          <p:nvPr/>
        </p:nvSpPr>
        <p:spPr>
          <a:xfrm>
            <a:off x="6703187" y="2757528"/>
            <a:ext cx="1493957" cy="2008008"/>
          </a:xfrm>
          <a:prstGeom prst="rect">
            <a:avLst/>
          </a:prstGeom>
          <a:blipFill>
            <a:blip r:embed="rId6" cstate="print"/>
            <a:stretch>
              <a:fillRect/>
            </a:stretch>
          </a:blipFill>
        </p:spPr>
        <p:txBody>
          <a:bodyPr wrap="square" lIns="0" tIns="0" rIns="0" bIns="0" rtlCol="0"/>
          <a:lstStyle/>
          <a:p>
            <a:endParaRPr/>
          </a:p>
        </p:txBody>
      </p:sp>
      <p:sp>
        <p:nvSpPr>
          <p:cNvPr id="11" name="object 11"/>
          <p:cNvSpPr txBox="1"/>
          <p:nvPr/>
        </p:nvSpPr>
        <p:spPr>
          <a:xfrm>
            <a:off x="8020183" y="2943523"/>
            <a:ext cx="533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微软雅黑" panose="020B0503020204020204" pitchFamily="34" charset="-122"/>
                <a:cs typeface="微软雅黑" panose="020B0503020204020204" pitchFamily="34" charset="-122"/>
              </a:rPr>
              <a:t>计时</a:t>
            </a:r>
            <a:endParaRPr sz="2000">
              <a:latin typeface="微软雅黑" panose="020B0503020204020204" pitchFamily="34" charset="-122"/>
              <a:cs typeface="微软雅黑" panose="020B0503020204020204" pitchFamily="34" charset="-122"/>
            </a:endParaRPr>
          </a:p>
        </p:txBody>
      </p:sp>
      <p:sp>
        <p:nvSpPr>
          <p:cNvPr id="12" name="object 12"/>
          <p:cNvSpPr txBox="1"/>
          <p:nvPr/>
        </p:nvSpPr>
        <p:spPr>
          <a:xfrm>
            <a:off x="1352034" y="5291425"/>
            <a:ext cx="9865360" cy="345440"/>
          </a:xfrm>
          <a:prstGeom prst="rect">
            <a:avLst/>
          </a:prstGeom>
        </p:spPr>
        <p:txBody>
          <a:bodyPr vert="horz" wrap="square" lIns="0" tIns="12700" rIns="0" bIns="0" rtlCol="0">
            <a:spAutoFit/>
          </a:bodyPr>
          <a:lstStyle/>
          <a:p>
            <a:pPr marL="12700">
              <a:lnSpc>
                <a:spcPct val="100000"/>
              </a:lnSpc>
              <a:spcBef>
                <a:spcPts val="100"/>
              </a:spcBef>
            </a:pPr>
            <a:r>
              <a:rPr sz="2100" dirty="0">
                <a:latin typeface="微软雅黑" panose="020B0503020204020204" pitchFamily="34" charset="-122"/>
                <a:cs typeface="微软雅黑" panose="020B0503020204020204" pitchFamily="34" charset="-122"/>
              </a:rPr>
              <a:t>例如：如果你愿意的话，加一个</a:t>
            </a:r>
            <a:r>
              <a:rPr sz="2100" dirty="0">
                <a:latin typeface="Calibri" panose="020F0502020204030204"/>
                <a:cs typeface="Calibri" panose="020F0502020204030204"/>
              </a:rPr>
              <a:t>UI</a:t>
            </a:r>
            <a:r>
              <a:rPr sz="2100" dirty="0">
                <a:latin typeface="微软雅黑" panose="020B0503020204020204" pitchFamily="34" charset="-122"/>
                <a:cs typeface="微软雅黑" panose="020B0503020204020204" pitchFamily="34" charset="-122"/>
              </a:rPr>
              <a:t>模块专门负责将游戏状态呈现给用户也是可以的。</a:t>
            </a:r>
            <a:endParaRPr sz="2100">
              <a:latin typeface="微软雅黑" panose="020B0503020204020204" pitchFamily="34" charset="-122"/>
              <a:cs typeface="微软雅黑" panose="020B0503020204020204" pitchFamily="34" charset="-122"/>
            </a:endParaRPr>
          </a:p>
        </p:txBody>
      </p:sp>
      <p:sp>
        <p:nvSpPr>
          <p:cNvPr id="14" name="标题 13"/>
          <p:cNvSpPr>
            <a:spLocks noGrp="1"/>
          </p:cNvSpPr>
          <p:nvPr>
            <p:ph type="title"/>
          </p:nvPr>
        </p:nvSpPr>
        <p:spPr/>
        <p:txBody>
          <a:bodyPr/>
          <a:lstStyle/>
          <a:p>
            <a:r>
              <a:rPr lang="zh-CN" altLang="en-US" dirty="0"/>
              <a:t>案例：生命游戏的模块划分</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41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8359"/>
    </mc:Choice>
    <mc:Fallback xmlns="">
      <p:transition spd="slow" advTm="28359"/>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28609" y="1562224"/>
            <a:ext cx="9997440" cy="1473200"/>
          </a:xfrm>
          <a:prstGeom prst="rect">
            <a:avLst/>
          </a:prstGeom>
        </p:spPr>
        <p:txBody>
          <a:bodyPr vert="horz" wrap="square" lIns="0" tIns="12700" rIns="0" bIns="0" rtlCol="0">
            <a:spAutoFit/>
          </a:bodyPr>
          <a:lstStyle/>
          <a:p>
            <a:pPr marL="12700" marR="5080">
              <a:lnSpc>
                <a:spcPct val="129000"/>
              </a:lnSpc>
              <a:spcBef>
                <a:spcPts val="100"/>
              </a:spcBef>
            </a:pPr>
            <a:r>
              <a:rPr sz="2200" spc="40" dirty="0">
                <a:latin typeface="微软雅黑" panose="020B0503020204020204" pitchFamily="34" charset="-122"/>
                <a:cs typeface="微软雅黑" panose="020B0503020204020204" pitchFamily="34" charset="-122"/>
              </a:rPr>
              <a:t>在模块化设计的基础上，我们可以先设计出各个模块的“骨架”，或者说对各个 </a:t>
            </a:r>
            <a:r>
              <a:rPr sz="2200" dirty="0">
                <a:latin typeface="微软雅黑" panose="020B0503020204020204" pitchFamily="34" charset="-122"/>
                <a:cs typeface="微软雅黑" panose="020B0503020204020204" pitchFamily="34" charset="-122"/>
              </a:rPr>
              <a:t>模块进行“抽象”，定义它们之间的“接口”。</a:t>
            </a:r>
            <a:endParaRPr sz="2200">
              <a:latin typeface="微软雅黑" panose="020B0503020204020204" pitchFamily="34" charset="-122"/>
              <a:cs typeface="微软雅黑" panose="020B0503020204020204" pitchFamily="34" charset="-122"/>
            </a:endParaRPr>
          </a:p>
          <a:p>
            <a:pPr marL="12700">
              <a:lnSpc>
                <a:spcPct val="100000"/>
              </a:lnSpc>
              <a:spcBef>
                <a:spcPts val="1960"/>
              </a:spcBef>
            </a:pPr>
            <a:r>
              <a:rPr sz="2200" dirty="0">
                <a:latin typeface="微软雅黑" panose="020B0503020204020204" pitchFamily="34" charset="-122"/>
                <a:cs typeface="微软雅黑" panose="020B0503020204020204" pitchFamily="34" charset="-122"/>
              </a:rPr>
              <a:t>定义各个模块互相关联的部分，这些部分在未来开发中不应该发生改变。</a:t>
            </a:r>
            <a:endParaRPr sz="2200">
              <a:latin typeface="微软雅黑" panose="020B0503020204020204" pitchFamily="34" charset="-122"/>
              <a:cs typeface="微软雅黑" panose="020B0503020204020204" pitchFamily="34" charset="-122"/>
            </a:endParaRPr>
          </a:p>
        </p:txBody>
      </p:sp>
      <p:sp>
        <p:nvSpPr>
          <p:cNvPr id="4" name="object 4"/>
          <p:cNvSpPr/>
          <p:nvPr/>
        </p:nvSpPr>
        <p:spPr>
          <a:xfrm>
            <a:off x="1549776" y="3570268"/>
            <a:ext cx="2877794" cy="1829106"/>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5582081" y="3813384"/>
            <a:ext cx="5346700" cy="1206500"/>
          </a:xfrm>
          <a:prstGeom prst="rect">
            <a:avLst/>
          </a:prstGeom>
        </p:spPr>
        <p:txBody>
          <a:bodyPr vert="horz" wrap="square" lIns="0" tIns="12700" rIns="0" bIns="0" rtlCol="0">
            <a:spAutoFit/>
          </a:bodyPr>
          <a:lstStyle/>
          <a:p>
            <a:pPr marL="12700" marR="5080">
              <a:lnSpc>
                <a:spcPct val="129000"/>
              </a:lnSpc>
              <a:spcBef>
                <a:spcPts val="100"/>
              </a:spcBef>
            </a:pPr>
            <a:r>
              <a:rPr sz="2000" dirty="0">
                <a:solidFill>
                  <a:srgbClr val="CC0000"/>
                </a:solidFill>
                <a:latin typeface="微软雅黑" panose="020B0503020204020204" pitchFamily="34" charset="-122"/>
                <a:cs typeface="微软雅黑" panose="020B0503020204020204" pitchFamily="34" charset="-122"/>
              </a:rPr>
              <a:t>注</a:t>
            </a:r>
            <a:r>
              <a:rPr sz="2000" dirty="0">
                <a:solidFill>
                  <a:srgbClr val="D81E00"/>
                </a:solidFill>
                <a:latin typeface="微软雅黑" panose="020B0503020204020204" pitchFamily="34" charset="-122"/>
                <a:cs typeface="微软雅黑" panose="020B0503020204020204" pitchFamily="34" charset="-122"/>
              </a:rPr>
              <a:t>：</a:t>
            </a:r>
            <a:r>
              <a:rPr sz="2000" dirty="0">
                <a:latin typeface="微软雅黑" panose="020B0503020204020204" pitchFamily="34" charset="-122"/>
                <a:cs typeface="微软雅黑" panose="020B0503020204020204" pitchFamily="34" charset="-122"/>
              </a:rPr>
              <a:t>这里所说“接口”与</a:t>
            </a:r>
            <a:r>
              <a:rPr sz="2000" dirty="0">
                <a:latin typeface="Arial" panose="020B0604020202020204"/>
                <a:cs typeface="Arial" panose="020B0604020202020204"/>
              </a:rPr>
              <a:t>Jav</a:t>
            </a:r>
            <a:r>
              <a:rPr sz="2000" spc="-5" dirty="0">
                <a:latin typeface="Arial" panose="020B0604020202020204"/>
                <a:cs typeface="Arial" panose="020B0604020202020204"/>
              </a:rPr>
              <a:t>a</a:t>
            </a:r>
            <a:r>
              <a:rPr sz="2000" dirty="0">
                <a:latin typeface="微软雅黑" panose="020B0503020204020204" pitchFamily="34" charset="-122"/>
                <a:cs typeface="微软雅黑" panose="020B0503020204020204" pitchFamily="34" charset="-122"/>
              </a:rPr>
              <a:t>的</a:t>
            </a:r>
            <a:r>
              <a:rPr sz="2000" dirty="0">
                <a:latin typeface="Arial" panose="020B0604020202020204"/>
                <a:cs typeface="Arial" panose="020B0604020202020204"/>
              </a:rPr>
              <a:t>in</a:t>
            </a:r>
            <a:r>
              <a:rPr sz="2000" spc="-5" dirty="0">
                <a:latin typeface="Arial" panose="020B0604020202020204"/>
                <a:cs typeface="Arial" panose="020B0604020202020204"/>
              </a:rPr>
              <a:t>t</a:t>
            </a:r>
            <a:r>
              <a:rPr sz="2000" dirty="0">
                <a:latin typeface="Arial" panose="020B0604020202020204"/>
                <a:cs typeface="Arial" panose="020B0604020202020204"/>
              </a:rPr>
              <a:t>er</a:t>
            </a:r>
            <a:r>
              <a:rPr sz="2000" spc="-5" dirty="0">
                <a:latin typeface="Arial" panose="020B0604020202020204"/>
                <a:cs typeface="Arial" panose="020B0604020202020204"/>
              </a:rPr>
              <a:t>f</a:t>
            </a:r>
            <a:r>
              <a:rPr sz="2000" dirty="0">
                <a:latin typeface="Arial" panose="020B0604020202020204"/>
                <a:cs typeface="Arial" panose="020B0604020202020204"/>
              </a:rPr>
              <a:t>ace</a:t>
            </a:r>
            <a:r>
              <a:rPr sz="2000" dirty="0">
                <a:latin typeface="微软雅黑" panose="020B0503020204020204" pitchFamily="34" charset="-122"/>
                <a:cs typeface="微软雅黑" panose="020B0503020204020204" pitchFamily="34" charset="-122"/>
              </a:rPr>
              <a:t>类似， 但不一定需要显式地定义出来，</a:t>
            </a:r>
            <a:r>
              <a:rPr sz="2000" b="1" dirty="0">
                <a:latin typeface="微软雅黑" panose="020B0503020204020204" pitchFamily="34" charset="-122"/>
                <a:cs typeface="微软雅黑" panose="020B0503020204020204" pitchFamily="34" charset="-122"/>
              </a:rPr>
              <a:t>也可以是开发 人员之间的约定</a:t>
            </a:r>
            <a:r>
              <a:rPr sz="2000" dirty="0">
                <a:latin typeface="微软雅黑" panose="020B0503020204020204" pitchFamily="34" charset="-122"/>
                <a:cs typeface="微软雅黑" panose="020B0503020204020204" pitchFamily="34" charset="-122"/>
              </a:rPr>
              <a:t>。</a:t>
            </a:r>
          </a:p>
        </p:txBody>
      </p:sp>
      <p:sp>
        <p:nvSpPr>
          <p:cNvPr id="7" name="标题 6"/>
          <p:cNvSpPr>
            <a:spLocks noGrp="1"/>
          </p:cNvSpPr>
          <p:nvPr>
            <p:ph type="title"/>
          </p:nvPr>
        </p:nvSpPr>
        <p:spPr/>
        <p:txBody>
          <a:bodyPr/>
          <a:lstStyle/>
          <a:p>
            <a:r>
              <a:rPr lang="zh-CN" altLang="en-US" dirty="0"/>
              <a:t>面向抽象编程</a:t>
            </a:r>
          </a:p>
        </p:txBody>
      </p:sp>
      <p:sp>
        <p:nvSpPr>
          <p:cNvPr id="6" name="灯片编号占位符 5"/>
          <p:cNvSpPr>
            <a:spLocks noGrp="1"/>
          </p:cNvSpPr>
          <p:nvPr>
            <p:ph type="sldNum" sz="quarter" idx="12"/>
          </p:nvPr>
        </p:nvSpPr>
        <p:spPr/>
        <p:txBody>
          <a:bodyPr/>
          <a:lstStyle/>
          <a:p>
            <a:fld id="{74D2AB8B-5816-41F2-8B4B-CA5C3E4E6A65}" type="slidenum">
              <a:rPr lang="zh-CN" altLang="en-US" smtClean="0"/>
              <a:t>42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7034"/>
    </mc:Choice>
    <mc:Fallback xmlns="">
      <p:transition spd="slow" advTm="37034"/>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75269" y="2445310"/>
            <a:ext cx="2823939" cy="1601943"/>
          </a:xfrm>
          <a:prstGeom prst="rect">
            <a:avLst/>
          </a:prstGeom>
          <a:blipFill>
            <a:blip r:embed="rId3" cstate="print"/>
            <a:stretch>
              <a:fillRect/>
            </a:stretch>
          </a:blipFill>
        </p:spPr>
        <p:txBody>
          <a:bodyPr wrap="square" lIns="0" tIns="0" rIns="0" bIns="0" rtlCol="0"/>
          <a:lstStyle/>
          <a:p>
            <a:endParaRPr/>
          </a:p>
        </p:txBody>
      </p:sp>
      <p:sp>
        <p:nvSpPr>
          <p:cNvPr id="3" name="object 3"/>
          <p:cNvSpPr txBox="1"/>
          <p:nvPr/>
        </p:nvSpPr>
        <p:spPr>
          <a:xfrm>
            <a:off x="2165869" y="4105210"/>
            <a:ext cx="6350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pitchFamily="34" charset="-122"/>
                <a:cs typeface="微软雅黑" panose="020B0503020204020204" pitchFamily="34" charset="-122"/>
              </a:rPr>
              <a:t>地图</a:t>
            </a:r>
            <a:endParaRPr sz="2400">
              <a:latin typeface="微软雅黑" panose="020B0503020204020204" pitchFamily="34" charset="-122"/>
              <a:cs typeface="微软雅黑" panose="020B0503020204020204" pitchFamily="34" charset="-122"/>
            </a:endParaRPr>
          </a:p>
        </p:txBody>
      </p:sp>
      <p:sp>
        <p:nvSpPr>
          <p:cNvPr id="4" name="object 4"/>
          <p:cNvSpPr txBox="1"/>
          <p:nvPr/>
        </p:nvSpPr>
        <p:spPr>
          <a:xfrm>
            <a:off x="4058068" y="603010"/>
            <a:ext cx="2484120" cy="510540"/>
          </a:xfrm>
          <a:prstGeom prst="rect">
            <a:avLst/>
          </a:prstGeom>
        </p:spPr>
        <p:txBody>
          <a:bodyPr vert="horz" wrap="square" lIns="0" tIns="12700" rIns="0" bIns="0" rtlCol="0">
            <a:spAutoFit/>
          </a:bodyPr>
          <a:lstStyle/>
          <a:p>
            <a:pPr marL="12700">
              <a:lnSpc>
                <a:spcPts val="1910"/>
              </a:lnSpc>
              <a:spcBef>
                <a:spcPts val="100"/>
              </a:spcBef>
            </a:pPr>
            <a:r>
              <a:rPr sz="1600" i="1" dirty="0">
                <a:solidFill>
                  <a:srgbClr val="408080"/>
                </a:solidFill>
                <a:latin typeface="Consolas" panose="020B0609020204030204"/>
                <a:cs typeface="Consolas" panose="020B0609020204030204"/>
              </a:rPr>
              <a:t>#</a:t>
            </a:r>
            <a:r>
              <a:rPr sz="1600" i="1" spc="-10" dirty="0">
                <a:solidFill>
                  <a:srgbClr val="408080"/>
                </a:solidFill>
                <a:latin typeface="Consolas" panose="020B0609020204030204"/>
                <a:cs typeface="Consolas" panose="020B0609020204030204"/>
              </a:rPr>
              <a:t> </a:t>
            </a:r>
            <a:r>
              <a:rPr sz="1600" i="1" dirty="0">
                <a:solidFill>
                  <a:srgbClr val="408080"/>
                </a:solidFill>
                <a:latin typeface="Consolas" panose="020B0609020204030204"/>
                <a:cs typeface="Consolas" panose="020B0609020204030204"/>
              </a:rPr>
              <a:t>game_map.py</a:t>
            </a:r>
            <a:endParaRPr sz="1600">
              <a:latin typeface="Consolas" panose="020B0609020204030204"/>
              <a:cs typeface="Consolas" panose="020B0609020204030204"/>
            </a:endParaRPr>
          </a:p>
          <a:p>
            <a:pPr marL="12700">
              <a:lnSpc>
                <a:spcPts val="1910"/>
              </a:lnSpc>
            </a:pPr>
            <a:r>
              <a:rPr sz="1600" b="1" dirty="0">
                <a:solidFill>
                  <a:srgbClr val="008000"/>
                </a:solidFill>
                <a:latin typeface="Consolas" panose="020B0609020204030204"/>
                <a:cs typeface="Consolas" panose="020B0609020204030204"/>
              </a:rPr>
              <a:t>class</a:t>
            </a:r>
            <a:r>
              <a:rPr sz="1600" b="1" spc="-95" dirty="0">
                <a:solidFill>
                  <a:srgbClr val="008000"/>
                </a:solidFill>
                <a:latin typeface="Consolas" panose="020B0609020204030204"/>
                <a:cs typeface="Consolas" panose="020B0609020204030204"/>
              </a:rPr>
              <a:t> </a:t>
            </a:r>
            <a:r>
              <a:rPr sz="1600" b="1" dirty="0">
                <a:solidFill>
                  <a:srgbClr val="0000FF"/>
                </a:solidFill>
                <a:latin typeface="Consolas" panose="020B0609020204030204"/>
                <a:cs typeface="Consolas" panose="020B0609020204030204"/>
              </a:rPr>
              <a:t>GameMap(</a:t>
            </a:r>
            <a:r>
              <a:rPr sz="1600" b="1" dirty="0">
                <a:solidFill>
                  <a:srgbClr val="008000"/>
                </a:solidFill>
                <a:latin typeface="Consolas" panose="020B0609020204030204"/>
                <a:cs typeface="Consolas" panose="020B0609020204030204"/>
              </a:rPr>
              <a:t>object):</a:t>
            </a:r>
            <a:endParaRPr sz="1600">
              <a:latin typeface="Consolas" panose="020B0609020204030204"/>
              <a:cs typeface="Consolas" panose="020B0609020204030204"/>
            </a:endParaRPr>
          </a:p>
        </p:txBody>
      </p:sp>
      <p:sp>
        <p:nvSpPr>
          <p:cNvPr id="5" name="object 5"/>
          <p:cNvSpPr txBox="1"/>
          <p:nvPr/>
        </p:nvSpPr>
        <p:spPr>
          <a:xfrm>
            <a:off x="4504950" y="1326910"/>
            <a:ext cx="3784600" cy="764540"/>
          </a:xfrm>
          <a:prstGeom prst="rect">
            <a:avLst/>
          </a:prstGeom>
        </p:spPr>
        <p:txBody>
          <a:bodyPr vert="horz" wrap="square" lIns="0" tIns="12700" rIns="0" bIns="0" rtlCol="0">
            <a:spAutoFit/>
          </a:bodyPr>
          <a:lstStyle/>
          <a:p>
            <a:pPr marL="459105" marR="5080" indent="-447040">
              <a:lnSpc>
                <a:spcPct val="100000"/>
              </a:lnSpc>
              <a:spcBef>
                <a:spcPts val="100"/>
              </a:spcBef>
              <a:tabLst>
                <a:tab pos="682625" algn="l"/>
                <a:tab pos="1353185" algn="l"/>
              </a:tabLst>
            </a:pPr>
            <a:r>
              <a:rPr sz="1600" b="1" dirty="0">
                <a:solidFill>
                  <a:srgbClr val="008000"/>
                </a:solidFill>
                <a:latin typeface="Consolas" panose="020B0609020204030204"/>
                <a:cs typeface="Consolas" panose="020B0609020204030204"/>
              </a:rPr>
              <a:t>def</a:t>
            </a:r>
            <a:r>
              <a:rPr sz="1600" b="1" u="heavy" dirty="0">
                <a:solidFill>
                  <a:srgbClr val="008000"/>
                </a:solidFill>
                <a:uFill>
                  <a:solidFill>
                    <a:srgbClr val="0000FE"/>
                  </a:solidFill>
                </a:uFill>
                <a:latin typeface="Consolas" panose="020B0609020204030204"/>
                <a:cs typeface="Consolas" panose="020B0609020204030204"/>
              </a:rPr>
              <a:t> 	</a:t>
            </a:r>
            <a:r>
              <a:rPr sz="1600" b="1" dirty="0">
                <a:solidFill>
                  <a:srgbClr val="0000FF"/>
                </a:solidFill>
                <a:latin typeface="Consolas" panose="020B0609020204030204"/>
                <a:cs typeface="Consolas" panose="020B0609020204030204"/>
              </a:rPr>
              <a:t>init</a:t>
            </a:r>
            <a:r>
              <a:rPr sz="1600" b="1" u="heavy" dirty="0">
                <a:solidFill>
                  <a:srgbClr val="0000FF"/>
                </a:solidFill>
                <a:uFill>
                  <a:solidFill>
                    <a:srgbClr val="0000FE"/>
                  </a:solidFill>
                </a:uFill>
                <a:latin typeface="Consolas" panose="020B0609020204030204"/>
                <a:cs typeface="Consolas" panose="020B0609020204030204"/>
              </a:rPr>
              <a:t> 	</a:t>
            </a:r>
            <a:r>
              <a:rPr sz="1600" b="1" dirty="0">
                <a:solidFill>
                  <a:srgbClr val="0000FF"/>
                </a:solidFill>
                <a:latin typeface="Consolas" panose="020B0609020204030204"/>
                <a:cs typeface="Consolas" panose="020B0609020204030204"/>
              </a:rPr>
              <a:t>(</a:t>
            </a:r>
            <a:r>
              <a:rPr sz="1600" b="1" dirty="0">
                <a:solidFill>
                  <a:srgbClr val="008000"/>
                </a:solidFill>
                <a:latin typeface="Consolas" panose="020B0609020204030204"/>
                <a:cs typeface="Consolas" panose="020B0609020204030204"/>
              </a:rPr>
              <a:t>self, rows, cols):  </a:t>
            </a:r>
            <a:r>
              <a:rPr sz="1600" i="1" dirty="0">
                <a:solidFill>
                  <a:srgbClr val="BA2121"/>
                </a:solidFill>
                <a:latin typeface="Consolas" panose="020B0609020204030204"/>
                <a:cs typeface="Consolas" panose="020B0609020204030204"/>
              </a:rPr>
              <a:t>"""</a:t>
            </a:r>
            <a:r>
              <a:rPr sz="1650" i="1" spc="-50" dirty="0">
                <a:solidFill>
                  <a:srgbClr val="BA2121"/>
                </a:solidFill>
                <a:latin typeface="微软雅黑" panose="020B0503020204020204" pitchFamily="34" charset="-122"/>
                <a:cs typeface="微软雅黑" panose="020B0503020204020204" pitchFamily="34" charset="-122"/>
              </a:rPr>
              <a:t>地图将在逻辑模块进行初始化</a:t>
            </a:r>
            <a:r>
              <a:rPr sz="1600" i="1" spc="-50" dirty="0">
                <a:solidFill>
                  <a:srgbClr val="BA2121"/>
                </a:solidFill>
                <a:latin typeface="Consolas" panose="020B0609020204030204"/>
                <a:cs typeface="Consolas" panose="020B0609020204030204"/>
              </a:rPr>
              <a:t>"""  </a:t>
            </a:r>
            <a:r>
              <a:rPr sz="1600" b="1" spc="-50" dirty="0">
                <a:solidFill>
                  <a:srgbClr val="008000"/>
                </a:solidFill>
                <a:latin typeface="Consolas" panose="020B0609020204030204"/>
                <a:cs typeface="Consolas" panose="020B0609020204030204"/>
              </a:rPr>
              <a:t>pass</a:t>
            </a:r>
            <a:endParaRPr sz="1600">
              <a:latin typeface="Consolas" panose="020B0609020204030204"/>
              <a:cs typeface="Consolas" panose="020B0609020204030204"/>
            </a:endParaRPr>
          </a:p>
        </p:txBody>
      </p:sp>
      <p:sp>
        <p:nvSpPr>
          <p:cNvPr id="6" name="object 6"/>
          <p:cNvSpPr txBox="1"/>
          <p:nvPr/>
        </p:nvSpPr>
        <p:spPr>
          <a:xfrm>
            <a:off x="4504950" y="2304810"/>
            <a:ext cx="6019800" cy="1729739"/>
          </a:xfrm>
          <a:prstGeom prst="rect">
            <a:avLst/>
          </a:prstGeom>
        </p:spPr>
        <p:txBody>
          <a:bodyPr vert="horz" wrap="square" lIns="0" tIns="12700" rIns="0" bIns="0" rtlCol="0">
            <a:spAutoFit/>
          </a:bodyPr>
          <a:lstStyle/>
          <a:p>
            <a:pPr marL="12700">
              <a:lnSpc>
                <a:spcPts val="1885"/>
              </a:lnSpc>
              <a:spcBef>
                <a:spcPts val="100"/>
              </a:spcBef>
            </a:pPr>
            <a:r>
              <a:rPr sz="1600" b="1" dirty="0">
                <a:solidFill>
                  <a:srgbClr val="008000"/>
                </a:solidFill>
                <a:latin typeface="Consolas" panose="020B0609020204030204"/>
                <a:cs typeface="Consolas" panose="020B0609020204030204"/>
              </a:rPr>
              <a:t>def </a:t>
            </a:r>
            <a:r>
              <a:rPr sz="1600" b="1" dirty="0">
                <a:solidFill>
                  <a:srgbClr val="0000FF"/>
                </a:solidFill>
                <a:latin typeface="Consolas" panose="020B0609020204030204"/>
                <a:cs typeface="Consolas" panose="020B0609020204030204"/>
              </a:rPr>
              <a:t>reset(</a:t>
            </a:r>
            <a:r>
              <a:rPr sz="1600" b="1" dirty="0">
                <a:solidFill>
                  <a:srgbClr val="008000"/>
                </a:solidFill>
                <a:latin typeface="Consolas" panose="020B0609020204030204"/>
                <a:cs typeface="Consolas" panose="020B0609020204030204"/>
              </a:rPr>
              <a:t>self,</a:t>
            </a:r>
            <a:r>
              <a:rPr sz="1600" b="1" spc="-15" dirty="0">
                <a:solidFill>
                  <a:srgbClr val="008000"/>
                </a:solidFill>
                <a:latin typeface="Consolas" panose="020B0609020204030204"/>
                <a:cs typeface="Consolas" panose="020B0609020204030204"/>
              </a:rPr>
              <a:t> </a:t>
            </a:r>
            <a:r>
              <a:rPr sz="1600" b="1" dirty="0">
                <a:solidFill>
                  <a:srgbClr val="008000"/>
                </a:solidFill>
                <a:latin typeface="Consolas" panose="020B0609020204030204"/>
                <a:cs typeface="Consolas" panose="020B0609020204030204"/>
              </a:rPr>
              <a:t>life_ratio):</a:t>
            </a:r>
            <a:endParaRPr sz="1600">
              <a:latin typeface="Consolas" panose="020B0609020204030204"/>
              <a:cs typeface="Consolas" panose="020B0609020204030204"/>
            </a:endParaRPr>
          </a:p>
          <a:p>
            <a:pPr marL="459105">
              <a:lnSpc>
                <a:spcPts val="1930"/>
              </a:lnSpc>
            </a:pPr>
            <a:r>
              <a:rPr sz="1600" i="1" dirty="0">
                <a:solidFill>
                  <a:srgbClr val="BA2121"/>
                </a:solidFill>
                <a:latin typeface="Consolas" panose="020B0609020204030204"/>
                <a:cs typeface="Consolas" panose="020B0609020204030204"/>
              </a:rPr>
              <a:t>"""</a:t>
            </a:r>
            <a:r>
              <a:rPr sz="1650" i="1" spc="-50" dirty="0">
                <a:solidFill>
                  <a:srgbClr val="BA2121"/>
                </a:solidFill>
                <a:latin typeface="微软雅黑" panose="020B0503020204020204" pitchFamily="34" charset="-122"/>
                <a:cs typeface="微软雅黑" panose="020B0503020204020204" pitchFamily="34" charset="-122"/>
              </a:rPr>
              <a:t>重置地图并按</a:t>
            </a:r>
            <a:r>
              <a:rPr sz="1600" i="1" dirty="0">
                <a:solidFill>
                  <a:srgbClr val="BA2121"/>
                </a:solidFill>
                <a:latin typeface="Consolas" panose="020B0609020204030204"/>
                <a:cs typeface="Consolas" panose="020B0609020204030204"/>
              </a:rPr>
              <a:t>life_ratio</a:t>
            </a:r>
            <a:r>
              <a:rPr sz="1650" i="1" spc="-50" dirty="0">
                <a:solidFill>
                  <a:srgbClr val="BA2121"/>
                </a:solidFill>
                <a:latin typeface="微软雅黑" panose="020B0503020204020204" pitchFamily="34" charset="-122"/>
                <a:cs typeface="微软雅黑" panose="020B0503020204020204" pitchFamily="34" charset="-122"/>
              </a:rPr>
              <a:t>随机地填充一些活细胞</a:t>
            </a:r>
            <a:r>
              <a:rPr sz="1600" i="1" dirty="0">
                <a:solidFill>
                  <a:srgbClr val="BA2121"/>
                </a:solidFill>
                <a:latin typeface="Consolas" panose="020B0609020204030204"/>
                <a:cs typeface="Consolas" panose="020B0609020204030204"/>
              </a:rPr>
              <a:t>"""</a:t>
            </a:r>
            <a:endParaRPr sz="1600">
              <a:latin typeface="Consolas" panose="020B0609020204030204"/>
              <a:cs typeface="Consolas" panose="020B0609020204030204"/>
            </a:endParaRPr>
          </a:p>
          <a:p>
            <a:pPr marL="459105">
              <a:lnSpc>
                <a:spcPts val="1905"/>
              </a:lnSpc>
            </a:pPr>
            <a:r>
              <a:rPr sz="1600" b="1" dirty="0">
                <a:solidFill>
                  <a:srgbClr val="008000"/>
                </a:solidFill>
                <a:latin typeface="Consolas" panose="020B0609020204030204"/>
                <a:cs typeface="Consolas" panose="020B0609020204030204"/>
              </a:rPr>
              <a:t>pass</a:t>
            </a:r>
            <a:endParaRPr sz="1600">
              <a:latin typeface="Consolas" panose="020B0609020204030204"/>
              <a:cs typeface="Consolas" panose="020B0609020204030204"/>
            </a:endParaRPr>
          </a:p>
          <a:p>
            <a:pPr>
              <a:lnSpc>
                <a:spcPct val="100000"/>
              </a:lnSpc>
              <a:spcBef>
                <a:spcPts val="25"/>
              </a:spcBef>
            </a:pPr>
            <a:endParaRPr sz="1700">
              <a:latin typeface="Times New Roman" panose="02020603050405020304"/>
              <a:cs typeface="Times New Roman" panose="02020603050405020304"/>
            </a:endParaRPr>
          </a:p>
          <a:p>
            <a:pPr marL="12700">
              <a:lnSpc>
                <a:spcPts val="1885"/>
              </a:lnSpc>
            </a:pPr>
            <a:r>
              <a:rPr sz="1600" b="1" dirty="0">
                <a:solidFill>
                  <a:srgbClr val="008000"/>
                </a:solidFill>
                <a:latin typeface="Consolas" panose="020B0609020204030204"/>
                <a:cs typeface="Consolas" panose="020B0609020204030204"/>
              </a:rPr>
              <a:t>def </a:t>
            </a:r>
            <a:r>
              <a:rPr sz="1600" b="1" dirty="0">
                <a:solidFill>
                  <a:srgbClr val="0000FF"/>
                </a:solidFill>
                <a:latin typeface="Consolas" panose="020B0609020204030204"/>
                <a:cs typeface="Consolas" panose="020B0609020204030204"/>
              </a:rPr>
              <a:t>get_neighbor_count(</a:t>
            </a:r>
            <a:r>
              <a:rPr sz="1600" b="1" dirty="0">
                <a:solidFill>
                  <a:srgbClr val="008000"/>
                </a:solidFill>
                <a:latin typeface="Consolas" panose="020B0609020204030204"/>
                <a:cs typeface="Consolas" panose="020B0609020204030204"/>
              </a:rPr>
              <a:t>self, row,</a:t>
            </a:r>
            <a:r>
              <a:rPr sz="1600" b="1" spc="-20" dirty="0">
                <a:solidFill>
                  <a:srgbClr val="008000"/>
                </a:solidFill>
                <a:latin typeface="Consolas" panose="020B0609020204030204"/>
                <a:cs typeface="Consolas" panose="020B0609020204030204"/>
              </a:rPr>
              <a:t> </a:t>
            </a:r>
            <a:r>
              <a:rPr sz="1600" b="1" dirty="0">
                <a:solidFill>
                  <a:srgbClr val="008000"/>
                </a:solidFill>
                <a:latin typeface="Consolas" panose="020B0609020204030204"/>
                <a:cs typeface="Consolas" panose="020B0609020204030204"/>
              </a:rPr>
              <a:t>col):</a:t>
            </a:r>
            <a:endParaRPr sz="1600">
              <a:latin typeface="Consolas" panose="020B0609020204030204"/>
              <a:cs typeface="Consolas" panose="020B0609020204030204"/>
            </a:endParaRPr>
          </a:p>
          <a:p>
            <a:pPr marL="459105">
              <a:lnSpc>
                <a:spcPts val="1930"/>
              </a:lnSpc>
            </a:pPr>
            <a:r>
              <a:rPr sz="1600" i="1" dirty="0">
                <a:solidFill>
                  <a:srgbClr val="BA2121"/>
                </a:solidFill>
                <a:latin typeface="Consolas" panose="020B0609020204030204"/>
                <a:cs typeface="Consolas" panose="020B0609020204030204"/>
              </a:rPr>
              <a:t>"""</a:t>
            </a:r>
            <a:r>
              <a:rPr sz="1650" i="1" spc="-50" dirty="0">
                <a:solidFill>
                  <a:srgbClr val="BA2121"/>
                </a:solidFill>
                <a:latin typeface="微软雅黑" panose="020B0503020204020204" pitchFamily="34" charset="-122"/>
                <a:cs typeface="微软雅黑" panose="020B0503020204020204" pitchFamily="34" charset="-122"/>
              </a:rPr>
              <a:t>地图上一个方格周围活细胞数是游戏逻辑里的重要数据</a:t>
            </a:r>
            <a:r>
              <a:rPr sz="1600" i="1" spc="-50" dirty="0">
                <a:solidFill>
                  <a:srgbClr val="BA2121"/>
                </a:solidFill>
                <a:latin typeface="Consolas" panose="020B0609020204030204"/>
                <a:cs typeface="Consolas" panose="020B0609020204030204"/>
              </a:rPr>
              <a:t>"""</a:t>
            </a:r>
            <a:endParaRPr sz="1600">
              <a:latin typeface="Consolas" panose="020B0609020204030204"/>
              <a:cs typeface="Consolas" panose="020B0609020204030204"/>
            </a:endParaRPr>
          </a:p>
          <a:p>
            <a:pPr marL="459105">
              <a:lnSpc>
                <a:spcPts val="1905"/>
              </a:lnSpc>
            </a:pPr>
            <a:r>
              <a:rPr sz="1600" b="1" dirty="0">
                <a:solidFill>
                  <a:srgbClr val="008000"/>
                </a:solidFill>
                <a:latin typeface="Consolas" panose="020B0609020204030204"/>
                <a:cs typeface="Consolas" panose="020B0609020204030204"/>
              </a:rPr>
              <a:t>pass</a:t>
            </a:r>
            <a:endParaRPr sz="1600">
              <a:latin typeface="Consolas" panose="020B0609020204030204"/>
              <a:cs typeface="Consolas" panose="020B0609020204030204"/>
            </a:endParaRPr>
          </a:p>
        </p:txBody>
      </p:sp>
      <p:sp>
        <p:nvSpPr>
          <p:cNvPr id="7" name="object 7"/>
          <p:cNvSpPr txBox="1"/>
          <p:nvPr/>
        </p:nvSpPr>
        <p:spPr>
          <a:xfrm>
            <a:off x="4504950" y="4260608"/>
            <a:ext cx="5410200" cy="751840"/>
          </a:xfrm>
          <a:prstGeom prst="rect">
            <a:avLst/>
          </a:prstGeom>
        </p:spPr>
        <p:txBody>
          <a:bodyPr vert="horz" wrap="square" lIns="0" tIns="12700" rIns="0" bIns="0" rtlCol="0">
            <a:spAutoFit/>
          </a:bodyPr>
          <a:lstStyle/>
          <a:p>
            <a:pPr marL="12700">
              <a:lnSpc>
                <a:spcPts val="1885"/>
              </a:lnSpc>
              <a:spcBef>
                <a:spcPts val="100"/>
              </a:spcBef>
            </a:pPr>
            <a:r>
              <a:rPr sz="1600" b="1" dirty="0">
                <a:solidFill>
                  <a:srgbClr val="008000"/>
                </a:solidFill>
                <a:latin typeface="Consolas" panose="020B0609020204030204"/>
                <a:cs typeface="Consolas" panose="020B0609020204030204"/>
              </a:rPr>
              <a:t>def </a:t>
            </a:r>
            <a:r>
              <a:rPr sz="1600" b="1" dirty="0">
                <a:solidFill>
                  <a:srgbClr val="0000FF"/>
                </a:solidFill>
                <a:latin typeface="Consolas" panose="020B0609020204030204"/>
                <a:cs typeface="Consolas" panose="020B0609020204030204"/>
              </a:rPr>
              <a:t>set(</a:t>
            </a:r>
            <a:r>
              <a:rPr sz="1600" b="1" dirty="0">
                <a:solidFill>
                  <a:srgbClr val="008000"/>
                </a:solidFill>
                <a:latin typeface="Consolas" panose="020B0609020204030204"/>
                <a:cs typeface="Consolas" panose="020B0609020204030204"/>
              </a:rPr>
              <a:t>self, row, col,</a:t>
            </a:r>
            <a:r>
              <a:rPr sz="1600" b="1" spc="-25" dirty="0">
                <a:solidFill>
                  <a:srgbClr val="008000"/>
                </a:solidFill>
                <a:latin typeface="Consolas" panose="020B0609020204030204"/>
                <a:cs typeface="Consolas" panose="020B0609020204030204"/>
              </a:rPr>
              <a:t> </a:t>
            </a:r>
            <a:r>
              <a:rPr sz="1600" b="1" dirty="0">
                <a:solidFill>
                  <a:srgbClr val="008000"/>
                </a:solidFill>
                <a:latin typeface="Consolas" panose="020B0609020204030204"/>
                <a:cs typeface="Consolas" panose="020B0609020204030204"/>
              </a:rPr>
              <a:t>val):</a:t>
            </a:r>
            <a:endParaRPr sz="1600">
              <a:latin typeface="Consolas" panose="020B0609020204030204"/>
              <a:cs typeface="Consolas" panose="020B0609020204030204"/>
            </a:endParaRPr>
          </a:p>
          <a:p>
            <a:pPr marL="459105">
              <a:lnSpc>
                <a:spcPts val="1930"/>
              </a:lnSpc>
            </a:pPr>
            <a:r>
              <a:rPr sz="1600" i="1" dirty="0">
                <a:solidFill>
                  <a:srgbClr val="BA2121"/>
                </a:solidFill>
                <a:latin typeface="Consolas" panose="020B0609020204030204"/>
                <a:cs typeface="Consolas" panose="020B0609020204030204"/>
              </a:rPr>
              <a:t>"""</a:t>
            </a:r>
            <a:r>
              <a:rPr sz="1650" i="1" spc="-50" dirty="0">
                <a:solidFill>
                  <a:srgbClr val="BA2121"/>
                </a:solidFill>
                <a:latin typeface="微软雅黑" panose="020B0503020204020204" pitchFamily="34" charset="-122"/>
                <a:cs typeface="微软雅黑" panose="020B0503020204020204" pitchFamily="34" charset="-122"/>
              </a:rPr>
              <a:t>当游戏进行中</a:t>
            </a:r>
            <a:r>
              <a:rPr sz="1650" i="1" spc="-50" dirty="0">
                <a:solidFill>
                  <a:srgbClr val="C8352B"/>
                </a:solidFill>
                <a:latin typeface="微软雅黑" panose="020B0503020204020204" pitchFamily="34" charset="-122"/>
                <a:cs typeface="微软雅黑" panose="020B0503020204020204" pitchFamily="34" charset="-122"/>
              </a:rPr>
              <a:t>，</a:t>
            </a:r>
            <a:r>
              <a:rPr sz="1650" i="1" spc="-50" dirty="0">
                <a:solidFill>
                  <a:srgbClr val="BA2121"/>
                </a:solidFill>
                <a:latin typeface="微软雅黑" panose="020B0503020204020204" pitchFamily="34" charset="-122"/>
                <a:cs typeface="微软雅黑" panose="020B0503020204020204" pitchFamily="34" charset="-122"/>
              </a:rPr>
              <a:t>需要常常更新地图上方格的状态</a:t>
            </a:r>
            <a:r>
              <a:rPr sz="1600" i="1" spc="-50" dirty="0">
                <a:solidFill>
                  <a:srgbClr val="BA2121"/>
                </a:solidFill>
                <a:latin typeface="Consolas" panose="020B0609020204030204"/>
                <a:cs typeface="Consolas" panose="020B0609020204030204"/>
              </a:rPr>
              <a:t>"""</a:t>
            </a:r>
            <a:endParaRPr sz="1600">
              <a:latin typeface="Consolas" panose="020B0609020204030204"/>
              <a:cs typeface="Consolas" panose="020B0609020204030204"/>
            </a:endParaRPr>
          </a:p>
          <a:p>
            <a:pPr marL="459105">
              <a:lnSpc>
                <a:spcPts val="1905"/>
              </a:lnSpc>
            </a:pPr>
            <a:r>
              <a:rPr sz="1600" b="1" dirty="0">
                <a:solidFill>
                  <a:srgbClr val="008000"/>
                </a:solidFill>
                <a:latin typeface="Consolas" panose="020B0609020204030204"/>
                <a:cs typeface="Consolas" panose="020B0609020204030204"/>
              </a:rPr>
              <a:t>pass</a:t>
            </a:r>
            <a:endParaRPr sz="1600">
              <a:latin typeface="Consolas" panose="020B0609020204030204"/>
              <a:cs typeface="Consolas" panose="020B0609020204030204"/>
            </a:endParaRPr>
          </a:p>
        </p:txBody>
      </p:sp>
      <p:sp>
        <p:nvSpPr>
          <p:cNvPr id="8" name="object 8"/>
          <p:cNvSpPr txBox="1"/>
          <p:nvPr/>
        </p:nvSpPr>
        <p:spPr>
          <a:xfrm>
            <a:off x="4504950" y="5225808"/>
            <a:ext cx="6832600" cy="764540"/>
          </a:xfrm>
          <a:prstGeom prst="rect">
            <a:avLst/>
          </a:prstGeom>
        </p:spPr>
        <p:txBody>
          <a:bodyPr vert="horz" wrap="square" lIns="0" tIns="12700" rIns="0" bIns="0" rtlCol="0">
            <a:spAutoFit/>
          </a:bodyPr>
          <a:lstStyle/>
          <a:p>
            <a:pPr marL="12700">
              <a:lnSpc>
                <a:spcPct val="100000"/>
              </a:lnSpc>
              <a:spcBef>
                <a:spcPts val="100"/>
              </a:spcBef>
            </a:pPr>
            <a:r>
              <a:rPr sz="1600" b="1" dirty="0">
                <a:solidFill>
                  <a:srgbClr val="008000"/>
                </a:solidFill>
                <a:latin typeface="Consolas" panose="020B0609020204030204"/>
                <a:cs typeface="Consolas" panose="020B0609020204030204"/>
              </a:rPr>
              <a:t>def </a:t>
            </a:r>
            <a:r>
              <a:rPr sz="1600" b="1" dirty="0">
                <a:solidFill>
                  <a:srgbClr val="0000FF"/>
                </a:solidFill>
                <a:latin typeface="Consolas" panose="020B0609020204030204"/>
                <a:cs typeface="Consolas" panose="020B0609020204030204"/>
              </a:rPr>
              <a:t>get(</a:t>
            </a:r>
            <a:r>
              <a:rPr sz="1600" b="1" dirty="0">
                <a:solidFill>
                  <a:srgbClr val="008000"/>
                </a:solidFill>
                <a:latin typeface="Consolas" panose="020B0609020204030204"/>
                <a:cs typeface="Consolas" panose="020B0609020204030204"/>
              </a:rPr>
              <a:t>self, row,</a:t>
            </a:r>
            <a:r>
              <a:rPr sz="1600" b="1" spc="-10" dirty="0">
                <a:solidFill>
                  <a:srgbClr val="008000"/>
                </a:solidFill>
                <a:latin typeface="Consolas" panose="020B0609020204030204"/>
                <a:cs typeface="Consolas" panose="020B0609020204030204"/>
              </a:rPr>
              <a:t> </a:t>
            </a:r>
            <a:r>
              <a:rPr sz="1600" b="1" dirty="0">
                <a:solidFill>
                  <a:srgbClr val="008000"/>
                </a:solidFill>
                <a:latin typeface="Consolas" panose="020B0609020204030204"/>
                <a:cs typeface="Consolas" panose="020B0609020204030204"/>
              </a:rPr>
              <a:t>col):</a:t>
            </a:r>
            <a:endParaRPr sz="1600">
              <a:latin typeface="Consolas" panose="020B0609020204030204"/>
              <a:cs typeface="Consolas" panose="020B0609020204030204"/>
            </a:endParaRPr>
          </a:p>
          <a:p>
            <a:pPr marL="459105">
              <a:lnSpc>
                <a:spcPts val="1965"/>
              </a:lnSpc>
              <a:spcBef>
                <a:spcPts val="30"/>
              </a:spcBef>
            </a:pPr>
            <a:r>
              <a:rPr sz="1600" i="1" dirty="0">
                <a:solidFill>
                  <a:srgbClr val="BA2121"/>
                </a:solidFill>
                <a:latin typeface="Consolas" panose="020B0609020204030204"/>
                <a:cs typeface="Consolas" panose="020B0609020204030204"/>
              </a:rPr>
              <a:t>"""</a:t>
            </a:r>
            <a:r>
              <a:rPr sz="1650" i="1" spc="-50" dirty="0">
                <a:solidFill>
                  <a:srgbClr val="BA2121"/>
                </a:solidFill>
                <a:latin typeface="微软雅黑" panose="020B0503020204020204" pitchFamily="34" charset="-122"/>
                <a:cs typeface="微软雅黑" panose="020B0503020204020204" pitchFamily="34" charset="-122"/>
              </a:rPr>
              <a:t>当需要将游戏状态呈现给用户时</a:t>
            </a:r>
            <a:r>
              <a:rPr sz="1650" i="1" spc="-50" dirty="0">
                <a:solidFill>
                  <a:srgbClr val="C8352B"/>
                </a:solidFill>
                <a:latin typeface="微软雅黑" panose="020B0503020204020204" pitchFamily="34" charset="-122"/>
                <a:cs typeface="微软雅黑" panose="020B0503020204020204" pitchFamily="34" charset="-122"/>
              </a:rPr>
              <a:t>，</a:t>
            </a:r>
            <a:r>
              <a:rPr sz="1650" i="1" spc="-50" dirty="0">
                <a:solidFill>
                  <a:srgbClr val="BA2121"/>
                </a:solidFill>
                <a:latin typeface="微软雅黑" panose="020B0503020204020204" pitchFamily="34" charset="-122"/>
                <a:cs typeface="微软雅黑" panose="020B0503020204020204" pitchFamily="34" charset="-122"/>
              </a:rPr>
              <a:t>就需要获取地图上方格的状态</a:t>
            </a:r>
            <a:r>
              <a:rPr sz="1600" i="1" spc="-50" dirty="0">
                <a:solidFill>
                  <a:srgbClr val="BA2121"/>
                </a:solidFill>
                <a:latin typeface="Consolas" panose="020B0609020204030204"/>
                <a:cs typeface="Consolas" panose="020B0609020204030204"/>
              </a:rPr>
              <a:t>"""</a:t>
            </a:r>
            <a:endParaRPr sz="1600">
              <a:latin typeface="Consolas" panose="020B0609020204030204"/>
              <a:cs typeface="Consolas" panose="020B0609020204030204"/>
            </a:endParaRPr>
          </a:p>
          <a:p>
            <a:pPr marL="459105">
              <a:lnSpc>
                <a:spcPts val="1905"/>
              </a:lnSpc>
            </a:pPr>
            <a:r>
              <a:rPr sz="1600" b="1" dirty="0">
                <a:solidFill>
                  <a:srgbClr val="008000"/>
                </a:solidFill>
                <a:latin typeface="Consolas" panose="020B0609020204030204"/>
                <a:cs typeface="Consolas" panose="020B0609020204030204"/>
              </a:rPr>
              <a:t>pass</a:t>
            </a:r>
            <a:endParaRPr sz="1600">
              <a:latin typeface="Consolas" panose="020B0609020204030204"/>
              <a:cs typeface="Consolas" panose="020B0609020204030204"/>
            </a:endParaRPr>
          </a:p>
        </p:txBody>
      </p:sp>
      <p:sp>
        <p:nvSpPr>
          <p:cNvPr id="9" name="object 9"/>
          <p:cNvSpPr txBox="1"/>
          <p:nvPr/>
        </p:nvSpPr>
        <p:spPr>
          <a:xfrm>
            <a:off x="1066797" y="1727203"/>
            <a:ext cx="2844165" cy="612140"/>
          </a:xfrm>
          <a:prstGeom prst="rect">
            <a:avLst/>
          </a:prstGeom>
          <a:solidFill>
            <a:srgbClr val="424579"/>
          </a:solidFill>
        </p:spPr>
        <p:txBody>
          <a:bodyPr vert="horz" wrap="square" lIns="0" tIns="138430" rIns="0" bIns="0" rtlCol="0">
            <a:spAutoFit/>
          </a:bodyPr>
          <a:lstStyle/>
          <a:p>
            <a:pPr marL="447040">
              <a:lnSpc>
                <a:spcPct val="100000"/>
              </a:lnSpc>
              <a:spcBef>
                <a:spcPts val="1090"/>
              </a:spcBef>
            </a:pPr>
            <a:r>
              <a:rPr sz="2200" dirty="0">
                <a:solidFill>
                  <a:srgbClr val="FFFFFF"/>
                </a:solidFill>
                <a:latin typeface="微软雅黑" panose="020B0503020204020204" pitchFamily="34" charset="-122"/>
                <a:cs typeface="微软雅黑" panose="020B0503020204020204" pitchFamily="34" charset="-122"/>
              </a:rPr>
              <a:t>案例：生命游戏</a:t>
            </a:r>
            <a:endParaRPr sz="2200">
              <a:latin typeface="微软雅黑" panose="020B0503020204020204" pitchFamily="34" charset="-122"/>
              <a:cs typeface="微软雅黑" panose="020B0503020204020204" pitchFamily="34" charset="-122"/>
            </a:endParaRPr>
          </a:p>
        </p:txBody>
      </p:sp>
      <p:sp>
        <p:nvSpPr>
          <p:cNvPr id="11" name="灯片编号占位符 10"/>
          <p:cNvSpPr>
            <a:spLocks noGrp="1"/>
          </p:cNvSpPr>
          <p:nvPr>
            <p:ph type="sldNum" sz="quarter" idx="7"/>
          </p:nvPr>
        </p:nvSpPr>
        <p:spPr/>
        <p:txBody>
          <a:bodyPr/>
          <a:lstStyle/>
          <a:p>
            <a:fld id="{B6F15528-21DE-4FAA-801E-634DDDAF4B2B}" type="slidenum">
              <a:rPr lang="en-US" altLang="zh-CN" smtClean="0"/>
              <a:t>43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9570"/>
    </mc:Choice>
    <mc:Fallback xmlns="">
      <p:transition spd="slow" advTm="2957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64739" y="2428373"/>
            <a:ext cx="2027530" cy="2719357"/>
          </a:xfrm>
          <a:prstGeom prst="rect">
            <a:avLst/>
          </a:prstGeom>
          <a:blipFill>
            <a:blip r:embed="rId3" cstate="print"/>
            <a:stretch>
              <a:fillRect/>
            </a:stretch>
          </a:blipFill>
        </p:spPr>
        <p:txBody>
          <a:bodyPr wrap="square" lIns="0" tIns="0" rIns="0" bIns="0" rtlCol="0"/>
          <a:lstStyle/>
          <a:p>
            <a:endParaRPr/>
          </a:p>
        </p:txBody>
      </p:sp>
      <p:sp>
        <p:nvSpPr>
          <p:cNvPr id="3" name="object 3"/>
          <p:cNvSpPr txBox="1"/>
          <p:nvPr/>
        </p:nvSpPr>
        <p:spPr>
          <a:xfrm>
            <a:off x="2176475" y="2720167"/>
            <a:ext cx="6350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pitchFamily="34" charset="-122"/>
                <a:cs typeface="微软雅黑" panose="020B0503020204020204" pitchFamily="34" charset="-122"/>
              </a:rPr>
              <a:t>逻辑</a:t>
            </a:r>
            <a:endParaRPr sz="2400">
              <a:latin typeface="微软雅黑" panose="020B0503020204020204" pitchFamily="34" charset="-122"/>
              <a:cs typeface="微软雅黑" panose="020B0503020204020204" pitchFamily="34" charset="-122"/>
            </a:endParaRPr>
          </a:p>
        </p:txBody>
      </p:sp>
      <p:sp>
        <p:nvSpPr>
          <p:cNvPr id="4" name="object 4"/>
          <p:cNvSpPr txBox="1"/>
          <p:nvPr/>
        </p:nvSpPr>
        <p:spPr>
          <a:xfrm>
            <a:off x="3821007" y="1038994"/>
            <a:ext cx="2916555" cy="566420"/>
          </a:xfrm>
          <a:prstGeom prst="rect">
            <a:avLst/>
          </a:prstGeom>
        </p:spPr>
        <p:txBody>
          <a:bodyPr vert="horz" wrap="square" lIns="0" tIns="12700" rIns="0" bIns="0" rtlCol="0">
            <a:spAutoFit/>
          </a:bodyPr>
          <a:lstStyle/>
          <a:p>
            <a:pPr marL="12700">
              <a:lnSpc>
                <a:spcPts val="2130"/>
              </a:lnSpc>
              <a:spcBef>
                <a:spcPts val="100"/>
              </a:spcBef>
            </a:pPr>
            <a:r>
              <a:rPr sz="1800" i="1" dirty="0">
                <a:solidFill>
                  <a:srgbClr val="408080"/>
                </a:solidFill>
                <a:latin typeface="Consolas" panose="020B0609020204030204"/>
                <a:cs typeface="Consolas" panose="020B0609020204030204"/>
              </a:rPr>
              <a:t>#</a:t>
            </a:r>
            <a:r>
              <a:rPr sz="1800" i="1" spc="-10" dirty="0">
                <a:solidFill>
                  <a:srgbClr val="408080"/>
                </a:solidFill>
                <a:latin typeface="Consolas" panose="020B0609020204030204"/>
                <a:cs typeface="Consolas" panose="020B0609020204030204"/>
              </a:rPr>
              <a:t> </a:t>
            </a:r>
            <a:r>
              <a:rPr sz="1800" i="1" dirty="0">
                <a:solidFill>
                  <a:srgbClr val="408080"/>
                </a:solidFill>
                <a:latin typeface="Consolas" panose="020B0609020204030204"/>
                <a:cs typeface="Consolas" panose="020B0609020204030204"/>
              </a:rPr>
              <a:t>life_game.py</a:t>
            </a:r>
            <a:endParaRPr sz="1800">
              <a:latin typeface="Consolas" panose="020B0609020204030204"/>
              <a:cs typeface="Consolas" panose="020B0609020204030204"/>
            </a:endParaRPr>
          </a:p>
          <a:p>
            <a:pPr marL="12700">
              <a:lnSpc>
                <a:spcPts val="2130"/>
              </a:lnSpc>
            </a:pPr>
            <a:r>
              <a:rPr sz="1800" b="1" dirty="0">
                <a:solidFill>
                  <a:srgbClr val="008000"/>
                </a:solidFill>
                <a:latin typeface="Consolas" panose="020B0609020204030204"/>
                <a:cs typeface="Consolas" panose="020B0609020204030204"/>
              </a:rPr>
              <a:t>class</a:t>
            </a:r>
            <a:r>
              <a:rPr sz="1800" b="1" spc="-100" dirty="0">
                <a:solidFill>
                  <a:srgbClr val="008000"/>
                </a:solidFill>
                <a:latin typeface="Consolas" panose="020B0609020204030204"/>
                <a:cs typeface="Consolas" panose="020B0609020204030204"/>
              </a:rPr>
              <a:t> </a:t>
            </a:r>
            <a:r>
              <a:rPr sz="1800" b="1" dirty="0">
                <a:solidFill>
                  <a:srgbClr val="0000FF"/>
                </a:solidFill>
                <a:latin typeface="Consolas" panose="020B0609020204030204"/>
                <a:cs typeface="Consolas" panose="020B0609020204030204"/>
              </a:rPr>
              <a:t>LifeGame(</a:t>
            </a:r>
            <a:r>
              <a:rPr sz="1800" b="1" dirty="0">
                <a:solidFill>
                  <a:srgbClr val="008000"/>
                </a:solidFill>
                <a:latin typeface="Consolas" panose="020B0609020204030204"/>
                <a:cs typeface="Consolas" panose="020B0609020204030204"/>
              </a:rPr>
              <a:t>object):</a:t>
            </a:r>
            <a:endParaRPr sz="1800">
              <a:latin typeface="Consolas" panose="020B0609020204030204"/>
              <a:cs typeface="Consolas" panose="020B0609020204030204"/>
            </a:endParaRPr>
          </a:p>
        </p:txBody>
      </p:sp>
      <p:sp>
        <p:nvSpPr>
          <p:cNvPr id="5" name="object 5"/>
          <p:cNvSpPr txBox="1"/>
          <p:nvPr/>
        </p:nvSpPr>
        <p:spPr>
          <a:xfrm>
            <a:off x="4323748" y="1851794"/>
            <a:ext cx="7064375" cy="845819"/>
          </a:xfrm>
          <a:prstGeom prst="rect">
            <a:avLst/>
          </a:prstGeom>
        </p:spPr>
        <p:txBody>
          <a:bodyPr vert="horz" wrap="square" lIns="0" tIns="12700" rIns="0" bIns="0" rtlCol="0">
            <a:spAutoFit/>
          </a:bodyPr>
          <a:lstStyle/>
          <a:p>
            <a:pPr marL="12700">
              <a:lnSpc>
                <a:spcPts val="2155"/>
              </a:lnSpc>
              <a:spcBef>
                <a:spcPts val="100"/>
              </a:spcBef>
              <a:tabLst>
                <a:tab pos="766445" algn="l"/>
                <a:tab pos="1520825" algn="l"/>
              </a:tabLst>
            </a:pPr>
            <a:r>
              <a:rPr sz="1800" b="1" dirty="0">
                <a:solidFill>
                  <a:srgbClr val="008000"/>
                </a:solidFill>
                <a:latin typeface="Consolas" panose="020B0609020204030204"/>
                <a:cs typeface="Consolas" panose="020B0609020204030204"/>
              </a:rPr>
              <a:t>def</a:t>
            </a:r>
            <a:r>
              <a:rPr sz="1800" b="1" u="heavy" dirty="0">
                <a:solidFill>
                  <a:srgbClr val="008000"/>
                </a:solidFill>
                <a:uFill>
                  <a:solidFill>
                    <a:srgbClr val="0000FE"/>
                  </a:solidFill>
                </a:uFill>
                <a:latin typeface="Consolas" panose="020B0609020204030204"/>
                <a:cs typeface="Consolas" panose="020B0609020204030204"/>
              </a:rPr>
              <a:t> 	</a:t>
            </a:r>
            <a:r>
              <a:rPr sz="1800" b="1" dirty="0">
                <a:solidFill>
                  <a:srgbClr val="0000FF"/>
                </a:solidFill>
                <a:latin typeface="Consolas" panose="020B0609020204030204"/>
                <a:cs typeface="Consolas" panose="020B0609020204030204"/>
              </a:rPr>
              <a:t>init</a:t>
            </a:r>
            <a:r>
              <a:rPr sz="1800" b="1" u="heavy" dirty="0">
                <a:solidFill>
                  <a:srgbClr val="0000FF"/>
                </a:solidFill>
                <a:uFill>
                  <a:solidFill>
                    <a:srgbClr val="0000FE"/>
                  </a:solidFill>
                </a:uFill>
                <a:latin typeface="Consolas" panose="020B0609020204030204"/>
                <a:cs typeface="Consolas" panose="020B0609020204030204"/>
              </a:rPr>
              <a:t> 	</a:t>
            </a:r>
            <a:r>
              <a:rPr sz="1800" b="1" dirty="0">
                <a:solidFill>
                  <a:srgbClr val="0000FF"/>
                </a:solidFill>
                <a:latin typeface="Consolas" panose="020B0609020204030204"/>
                <a:cs typeface="Consolas" panose="020B0609020204030204"/>
              </a:rPr>
              <a:t>(</a:t>
            </a:r>
            <a:r>
              <a:rPr sz="1800" b="1" dirty="0">
                <a:solidFill>
                  <a:srgbClr val="008000"/>
                </a:solidFill>
                <a:latin typeface="Consolas" panose="020B0609020204030204"/>
                <a:cs typeface="Consolas" panose="020B0609020204030204"/>
              </a:rPr>
              <a:t>self, map_rows, map_cols,</a:t>
            </a:r>
            <a:r>
              <a:rPr sz="1800" b="1" spc="-105" dirty="0">
                <a:solidFill>
                  <a:srgbClr val="008000"/>
                </a:solidFill>
                <a:latin typeface="Consolas" panose="020B0609020204030204"/>
                <a:cs typeface="Consolas" panose="020B0609020204030204"/>
              </a:rPr>
              <a:t> </a:t>
            </a:r>
            <a:r>
              <a:rPr sz="1800" b="1" dirty="0">
                <a:solidFill>
                  <a:srgbClr val="008000"/>
                </a:solidFill>
                <a:latin typeface="Consolas" panose="020B0609020204030204"/>
                <a:cs typeface="Consolas" panose="020B0609020204030204"/>
              </a:rPr>
              <a:t>life_init_ratio):</a:t>
            </a:r>
            <a:endParaRPr sz="1800">
              <a:latin typeface="Consolas" panose="020B0609020204030204"/>
              <a:cs typeface="Consolas" panose="020B0609020204030204"/>
            </a:endParaRPr>
          </a:p>
          <a:p>
            <a:pPr marL="514985">
              <a:lnSpc>
                <a:spcPts val="2180"/>
              </a:lnSpc>
            </a:pPr>
            <a:r>
              <a:rPr sz="1800" i="1" dirty="0">
                <a:solidFill>
                  <a:srgbClr val="BA2121"/>
                </a:solidFill>
                <a:latin typeface="Consolas" panose="020B0609020204030204"/>
                <a:cs typeface="Consolas" panose="020B0609020204030204"/>
              </a:rPr>
              <a:t>"""</a:t>
            </a:r>
            <a:r>
              <a:rPr sz="1850" i="1" spc="-50" dirty="0">
                <a:solidFill>
                  <a:srgbClr val="BA2121"/>
                </a:solidFill>
                <a:latin typeface="微软雅黑" panose="020B0503020204020204" pitchFamily="34" charset="-122"/>
                <a:cs typeface="微软雅黑" panose="020B0503020204020204" pitchFamily="34" charset="-122"/>
              </a:rPr>
              <a:t>将在主程序中初始化实例</a:t>
            </a:r>
            <a:r>
              <a:rPr sz="1800" i="1" dirty="0">
                <a:solidFill>
                  <a:srgbClr val="BA2121"/>
                </a:solidFill>
                <a:latin typeface="Consolas" panose="020B0609020204030204"/>
                <a:cs typeface="Consolas" panose="020B0609020204030204"/>
              </a:rPr>
              <a:t>"""</a:t>
            </a:r>
            <a:endParaRPr sz="1800">
              <a:latin typeface="Consolas" panose="020B0609020204030204"/>
              <a:cs typeface="Consolas" panose="020B0609020204030204"/>
            </a:endParaRPr>
          </a:p>
          <a:p>
            <a:pPr marL="514985">
              <a:lnSpc>
                <a:spcPts val="2125"/>
              </a:lnSpc>
            </a:pPr>
            <a:r>
              <a:rPr sz="1800" b="1" dirty="0">
                <a:solidFill>
                  <a:srgbClr val="008000"/>
                </a:solidFill>
                <a:latin typeface="Consolas" panose="020B0609020204030204"/>
                <a:cs typeface="Consolas" panose="020B0609020204030204"/>
              </a:rPr>
              <a:t>pass</a:t>
            </a:r>
            <a:endParaRPr sz="1800">
              <a:latin typeface="Consolas" panose="020B0609020204030204"/>
              <a:cs typeface="Consolas" panose="020B0609020204030204"/>
            </a:endParaRPr>
          </a:p>
        </p:txBody>
      </p:sp>
      <p:sp>
        <p:nvSpPr>
          <p:cNvPr id="6" name="object 6"/>
          <p:cNvSpPr txBox="1"/>
          <p:nvPr/>
        </p:nvSpPr>
        <p:spPr>
          <a:xfrm>
            <a:off x="4323748" y="2956694"/>
            <a:ext cx="4407535" cy="1671320"/>
          </a:xfrm>
          <a:prstGeom prst="rect">
            <a:avLst/>
          </a:prstGeom>
        </p:spPr>
        <p:txBody>
          <a:bodyPr vert="horz" wrap="square" lIns="0" tIns="12700" rIns="0" bIns="0" rtlCol="0">
            <a:spAutoFit/>
          </a:bodyPr>
          <a:lstStyle/>
          <a:p>
            <a:pPr marL="12700">
              <a:lnSpc>
                <a:spcPts val="2130"/>
              </a:lnSpc>
              <a:spcBef>
                <a:spcPts val="100"/>
              </a:spcBef>
            </a:pPr>
            <a:r>
              <a:rPr sz="1800" b="1" dirty="0">
                <a:solidFill>
                  <a:srgbClr val="008000"/>
                </a:solidFill>
                <a:latin typeface="Consolas" panose="020B0609020204030204"/>
                <a:cs typeface="Consolas" panose="020B0609020204030204"/>
              </a:rPr>
              <a:t>def</a:t>
            </a:r>
            <a:r>
              <a:rPr sz="1800" b="1" spc="-10" dirty="0">
                <a:solidFill>
                  <a:srgbClr val="008000"/>
                </a:solidFill>
                <a:latin typeface="Consolas" panose="020B0609020204030204"/>
                <a:cs typeface="Consolas" panose="020B0609020204030204"/>
              </a:rPr>
              <a:t> </a:t>
            </a:r>
            <a:r>
              <a:rPr sz="1800" b="1" dirty="0">
                <a:solidFill>
                  <a:srgbClr val="0000FF"/>
                </a:solidFill>
                <a:latin typeface="Consolas" panose="020B0609020204030204"/>
                <a:cs typeface="Consolas" panose="020B0609020204030204"/>
              </a:rPr>
              <a:t>game_cycle(</a:t>
            </a:r>
            <a:r>
              <a:rPr sz="1800" b="1" dirty="0">
                <a:solidFill>
                  <a:srgbClr val="008000"/>
                </a:solidFill>
                <a:latin typeface="Consolas" panose="020B0609020204030204"/>
                <a:cs typeface="Consolas" panose="020B0609020204030204"/>
              </a:rPr>
              <a:t>self):</a:t>
            </a:r>
            <a:endParaRPr sz="1800">
              <a:latin typeface="Consolas" panose="020B0609020204030204"/>
              <a:cs typeface="Consolas" panose="020B0609020204030204"/>
            </a:endParaRPr>
          </a:p>
          <a:p>
            <a:pPr marL="514985">
              <a:lnSpc>
                <a:spcPts val="2125"/>
              </a:lnSpc>
            </a:pPr>
            <a:r>
              <a:rPr sz="1800" i="1" dirty="0">
                <a:solidFill>
                  <a:srgbClr val="BA2121"/>
                </a:solidFill>
                <a:latin typeface="Consolas" panose="020B0609020204030204"/>
                <a:cs typeface="Consolas" panose="020B0609020204030204"/>
              </a:rPr>
              <a:t>"""</a:t>
            </a:r>
            <a:endParaRPr sz="1800">
              <a:latin typeface="Consolas" panose="020B0609020204030204"/>
              <a:cs typeface="Consolas" panose="020B0609020204030204"/>
            </a:endParaRPr>
          </a:p>
          <a:p>
            <a:pPr marL="50800" marR="5080">
              <a:lnSpc>
                <a:spcPts val="2200"/>
              </a:lnSpc>
              <a:spcBef>
                <a:spcPts val="85"/>
              </a:spcBef>
            </a:pPr>
            <a:r>
              <a:rPr sz="1850" i="1" spc="-50" dirty="0">
                <a:solidFill>
                  <a:srgbClr val="BA2121"/>
                </a:solidFill>
                <a:latin typeface="微软雅黑" panose="020B0503020204020204" pitchFamily="34" charset="-122"/>
                <a:cs typeface="微软雅黑" panose="020B0503020204020204" pitchFamily="34" charset="-122"/>
              </a:rPr>
              <a:t>进行一次游戏循环</a:t>
            </a:r>
            <a:r>
              <a:rPr sz="1850" i="1" spc="-50" dirty="0">
                <a:solidFill>
                  <a:srgbClr val="C8352B"/>
                </a:solidFill>
                <a:latin typeface="微软雅黑" panose="020B0503020204020204" pitchFamily="34" charset="-122"/>
                <a:cs typeface="微软雅黑" panose="020B0503020204020204" pitchFamily="34" charset="-122"/>
              </a:rPr>
              <a:t>，</a:t>
            </a:r>
            <a:r>
              <a:rPr sz="1850" i="1" spc="-50" dirty="0">
                <a:solidFill>
                  <a:srgbClr val="BA2121"/>
                </a:solidFill>
                <a:latin typeface="微软雅黑" panose="020B0503020204020204" pitchFamily="34" charset="-122"/>
                <a:cs typeface="微软雅黑" panose="020B0503020204020204" pitchFamily="34" charset="-122"/>
              </a:rPr>
              <a:t>将在此完成地图的更新 将在计时器触发时被调用</a:t>
            </a:r>
            <a:endParaRPr sz="1850">
              <a:latin typeface="微软雅黑" panose="020B0503020204020204" pitchFamily="34" charset="-122"/>
              <a:cs typeface="微软雅黑" panose="020B0503020204020204" pitchFamily="34" charset="-122"/>
            </a:endParaRPr>
          </a:p>
          <a:p>
            <a:pPr marL="50800">
              <a:lnSpc>
                <a:spcPts val="2020"/>
              </a:lnSpc>
            </a:pPr>
            <a:r>
              <a:rPr sz="1800" i="1" dirty="0">
                <a:solidFill>
                  <a:srgbClr val="BA2121"/>
                </a:solidFill>
                <a:latin typeface="Consolas" panose="020B0609020204030204"/>
                <a:cs typeface="Consolas" panose="020B0609020204030204"/>
              </a:rPr>
              <a:t>"""</a:t>
            </a:r>
            <a:endParaRPr sz="1800">
              <a:latin typeface="Consolas" panose="020B0609020204030204"/>
              <a:cs typeface="Consolas" panose="020B0609020204030204"/>
            </a:endParaRPr>
          </a:p>
          <a:p>
            <a:pPr marL="514985">
              <a:lnSpc>
                <a:spcPct val="100000"/>
              </a:lnSpc>
              <a:spcBef>
                <a:spcPts val="40"/>
              </a:spcBef>
            </a:pPr>
            <a:r>
              <a:rPr sz="1800" b="1" dirty="0">
                <a:solidFill>
                  <a:srgbClr val="008000"/>
                </a:solidFill>
                <a:latin typeface="Consolas" panose="020B0609020204030204"/>
                <a:cs typeface="Consolas" panose="020B0609020204030204"/>
              </a:rPr>
              <a:t>pass</a:t>
            </a:r>
            <a:endParaRPr sz="1800">
              <a:latin typeface="Consolas" panose="020B0609020204030204"/>
              <a:cs typeface="Consolas" panose="020B0609020204030204"/>
            </a:endParaRPr>
          </a:p>
        </p:txBody>
      </p:sp>
      <p:sp>
        <p:nvSpPr>
          <p:cNvPr id="7" name="object 7"/>
          <p:cNvSpPr txBox="1"/>
          <p:nvPr/>
        </p:nvSpPr>
        <p:spPr>
          <a:xfrm>
            <a:off x="4323748" y="4874394"/>
            <a:ext cx="7020559" cy="845819"/>
          </a:xfrm>
          <a:prstGeom prst="rect">
            <a:avLst/>
          </a:prstGeom>
        </p:spPr>
        <p:txBody>
          <a:bodyPr vert="horz" wrap="square" lIns="0" tIns="12700" rIns="0" bIns="0" rtlCol="0">
            <a:spAutoFit/>
          </a:bodyPr>
          <a:lstStyle/>
          <a:p>
            <a:pPr marL="12700">
              <a:lnSpc>
                <a:spcPts val="2155"/>
              </a:lnSpc>
              <a:spcBef>
                <a:spcPts val="100"/>
              </a:spcBef>
            </a:pPr>
            <a:r>
              <a:rPr sz="1800" b="1" dirty="0">
                <a:solidFill>
                  <a:srgbClr val="008000"/>
                </a:solidFill>
                <a:latin typeface="Consolas" panose="020B0609020204030204"/>
                <a:cs typeface="Consolas" panose="020B0609020204030204"/>
              </a:rPr>
              <a:t>def</a:t>
            </a:r>
            <a:r>
              <a:rPr sz="1800" b="1" spc="-5" dirty="0">
                <a:solidFill>
                  <a:srgbClr val="008000"/>
                </a:solidFill>
                <a:latin typeface="Consolas" panose="020B0609020204030204"/>
                <a:cs typeface="Consolas" panose="020B0609020204030204"/>
              </a:rPr>
              <a:t> </a:t>
            </a:r>
            <a:r>
              <a:rPr sz="1800" b="1" dirty="0">
                <a:solidFill>
                  <a:srgbClr val="0000FF"/>
                </a:solidFill>
                <a:latin typeface="Consolas" panose="020B0609020204030204"/>
                <a:cs typeface="Consolas" panose="020B0609020204030204"/>
              </a:rPr>
              <a:t>print_map(</a:t>
            </a:r>
            <a:r>
              <a:rPr sz="1800" b="1" dirty="0">
                <a:solidFill>
                  <a:srgbClr val="008000"/>
                </a:solidFill>
                <a:latin typeface="Consolas" panose="020B0609020204030204"/>
                <a:cs typeface="Consolas" panose="020B0609020204030204"/>
              </a:rPr>
              <a:t>self):</a:t>
            </a:r>
            <a:endParaRPr sz="1800">
              <a:latin typeface="Consolas" panose="020B0609020204030204"/>
              <a:cs typeface="Consolas" panose="020B0609020204030204"/>
            </a:endParaRPr>
          </a:p>
          <a:p>
            <a:pPr marL="514985">
              <a:lnSpc>
                <a:spcPts val="2180"/>
              </a:lnSpc>
            </a:pPr>
            <a:r>
              <a:rPr sz="1800" i="1" dirty="0">
                <a:solidFill>
                  <a:srgbClr val="BA2121"/>
                </a:solidFill>
                <a:latin typeface="Consolas" panose="020B0609020204030204"/>
                <a:cs typeface="Consolas" panose="020B0609020204030204"/>
              </a:rPr>
              <a:t>"""</a:t>
            </a:r>
            <a:r>
              <a:rPr sz="1850" i="1" spc="-50" dirty="0">
                <a:solidFill>
                  <a:srgbClr val="BA2121"/>
                </a:solidFill>
                <a:latin typeface="微软雅黑" panose="020B0503020204020204" pitchFamily="34" charset="-122"/>
                <a:cs typeface="微软雅黑" panose="020B0503020204020204" pitchFamily="34" charset="-122"/>
              </a:rPr>
              <a:t>由于暂时没有</a:t>
            </a:r>
            <a:r>
              <a:rPr sz="1800" i="1" spc="-50" dirty="0">
                <a:solidFill>
                  <a:srgbClr val="BA2121"/>
                </a:solidFill>
                <a:latin typeface="Consolas" panose="020B0609020204030204"/>
                <a:cs typeface="Consolas" panose="020B0609020204030204"/>
              </a:rPr>
              <a:t>UI</a:t>
            </a:r>
            <a:r>
              <a:rPr sz="1850" i="1" spc="-50" dirty="0">
                <a:solidFill>
                  <a:srgbClr val="BA2121"/>
                </a:solidFill>
                <a:latin typeface="微软雅黑" panose="020B0503020204020204" pitchFamily="34" charset="-122"/>
                <a:cs typeface="微软雅黑" panose="020B0503020204020204" pitchFamily="34" charset="-122"/>
              </a:rPr>
              <a:t>模块</a:t>
            </a:r>
            <a:r>
              <a:rPr sz="1850" i="1" spc="-50" dirty="0">
                <a:solidFill>
                  <a:srgbClr val="C8352B"/>
                </a:solidFill>
                <a:latin typeface="微软雅黑" panose="020B0503020204020204" pitchFamily="34" charset="-122"/>
                <a:cs typeface="微软雅黑" panose="020B0503020204020204" pitchFamily="34" charset="-122"/>
              </a:rPr>
              <a:t>，</a:t>
            </a:r>
            <a:r>
              <a:rPr sz="1850" i="1" spc="-50" dirty="0">
                <a:solidFill>
                  <a:srgbClr val="BA2121"/>
                </a:solidFill>
                <a:latin typeface="微软雅黑" panose="020B0503020204020204" pitchFamily="34" charset="-122"/>
                <a:cs typeface="微软雅黑" panose="020B0503020204020204" pitchFamily="34" charset="-122"/>
              </a:rPr>
              <a:t>因此先在逻辑模块进行地图的呈现</a:t>
            </a:r>
            <a:r>
              <a:rPr sz="1800" i="1" spc="-50" dirty="0">
                <a:solidFill>
                  <a:srgbClr val="BA2121"/>
                </a:solidFill>
                <a:latin typeface="Consolas" panose="020B0609020204030204"/>
                <a:cs typeface="Consolas" panose="020B0609020204030204"/>
              </a:rPr>
              <a:t>"""</a:t>
            </a:r>
            <a:endParaRPr sz="1800">
              <a:latin typeface="Consolas" panose="020B0609020204030204"/>
              <a:cs typeface="Consolas" panose="020B0609020204030204"/>
            </a:endParaRPr>
          </a:p>
          <a:p>
            <a:pPr marL="514985">
              <a:lnSpc>
                <a:spcPts val="2125"/>
              </a:lnSpc>
            </a:pPr>
            <a:r>
              <a:rPr sz="1800" b="1" dirty="0">
                <a:solidFill>
                  <a:srgbClr val="008000"/>
                </a:solidFill>
                <a:latin typeface="Consolas" panose="020B0609020204030204"/>
                <a:cs typeface="Consolas" panose="020B0609020204030204"/>
              </a:rPr>
              <a:t>pass</a:t>
            </a:r>
            <a:endParaRPr sz="1800">
              <a:latin typeface="Consolas" panose="020B0609020204030204"/>
              <a:cs typeface="Consolas" panose="020B0609020204030204"/>
            </a:endParaRPr>
          </a:p>
        </p:txBody>
      </p:sp>
      <p:sp>
        <p:nvSpPr>
          <p:cNvPr id="8" name="object 8"/>
          <p:cNvSpPr txBox="1"/>
          <p:nvPr/>
        </p:nvSpPr>
        <p:spPr>
          <a:xfrm>
            <a:off x="1066797" y="1727203"/>
            <a:ext cx="2844165" cy="612140"/>
          </a:xfrm>
          <a:prstGeom prst="rect">
            <a:avLst/>
          </a:prstGeom>
          <a:solidFill>
            <a:srgbClr val="424579"/>
          </a:solidFill>
        </p:spPr>
        <p:txBody>
          <a:bodyPr vert="horz" wrap="square" lIns="0" tIns="138430" rIns="0" bIns="0" rtlCol="0">
            <a:spAutoFit/>
          </a:bodyPr>
          <a:lstStyle/>
          <a:p>
            <a:pPr marL="447040">
              <a:lnSpc>
                <a:spcPct val="100000"/>
              </a:lnSpc>
              <a:spcBef>
                <a:spcPts val="1090"/>
              </a:spcBef>
            </a:pPr>
            <a:r>
              <a:rPr sz="2200" dirty="0">
                <a:solidFill>
                  <a:srgbClr val="FFFFFF"/>
                </a:solidFill>
                <a:latin typeface="微软雅黑" panose="020B0503020204020204" pitchFamily="34" charset="-122"/>
                <a:cs typeface="微软雅黑" panose="020B0503020204020204" pitchFamily="34" charset="-122"/>
              </a:rPr>
              <a:t>案例：生命游戏</a:t>
            </a:r>
            <a:endParaRPr sz="2200" dirty="0">
              <a:latin typeface="微软雅黑" panose="020B0503020204020204" pitchFamily="34" charset="-122"/>
              <a:cs typeface="微软雅黑" panose="020B0503020204020204" pitchFamily="34" charset="-122"/>
            </a:endParaRPr>
          </a:p>
        </p:txBody>
      </p:sp>
      <p:sp>
        <p:nvSpPr>
          <p:cNvPr id="10" name="灯片编号占位符 9"/>
          <p:cNvSpPr>
            <a:spLocks noGrp="1"/>
          </p:cNvSpPr>
          <p:nvPr>
            <p:ph type="sldNum" sz="quarter" idx="7"/>
          </p:nvPr>
        </p:nvSpPr>
        <p:spPr/>
        <p:txBody>
          <a:bodyPr/>
          <a:lstStyle/>
          <a:p>
            <a:fld id="{B6F15528-21DE-4FAA-801E-634DDDAF4B2B}" type="slidenum">
              <a:rPr lang="en-US" altLang="zh-CN" smtClean="0"/>
              <a:t>44</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7750"/>
    </mc:Choice>
    <mc:Fallback xmlns="">
      <p:transition spd="slow" advTm="2775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7"/>
          </p:nvPr>
        </p:nvSpPr>
        <p:spPr/>
        <p:txBody>
          <a:bodyPr/>
          <a:lstStyle/>
          <a:p>
            <a:fld id="{B6F15528-21DE-4FAA-801E-634DDDAF4B2B}" type="slidenum">
              <a:rPr lang="en-US" altLang="zh-CN" smtClean="0"/>
              <a:t>45</a:t>
            </a:fld>
            <a:endParaRPr lang="zh-CN" altLang="en-US"/>
          </a:p>
        </p:txBody>
      </p:sp>
      <p:sp>
        <p:nvSpPr>
          <p:cNvPr id="3" name="object 2"/>
          <p:cNvSpPr/>
          <p:nvPr/>
        </p:nvSpPr>
        <p:spPr>
          <a:xfrm>
            <a:off x="1527155" y="2420164"/>
            <a:ext cx="1845043" cy="2479897"/>
          </a:xfrm>
          <a:prstGeom prst="rect">
            <a:avLst/>
          </a:prstGeom>
          <a:blipFill>
            <a:blip r:embed="rId3" cstate="print"/>
            <a:stretch>
              <a:fillRect/>
            </a:stretch>
          </a:blipFill>
        </p:spPr>
        <p:txBody>
          <a:bodyPr wrap="square" lIns="0" tIns="0" rIns="0" bIns="0" rtlCol="0"/>
          <a:lstStyle/>
          <a:p>
            <a:endParaRPr/>
          </a:p>
        </p:txBody>
      </p:sp>
      <p:sp>
        <p:nvSpPr>
          <p:cNvPr id="4" name="object 3"/>
          <p:cNvSpPr txBox="1"/>
          <p:nvPr/>
        </p:nvSpPr>
        <p:spPr>
          <a:xfrm>
            <a:off x="2153013" y="4945040"/>
            <a:ext cx="63500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panose="020B0503020204020204" pitchFamily="34" charset="-122"/>
                <a:cs typeface="微软雅黑" panose="020B0503020204020204" pitchFamily="34" charset="-122"/>
              </a:rPr>
              <a:t>计时</a:t>
            </a:r>
            <a:endParaRPr sz="2400">
              <a:latin typeface="微软雅黑" panose="020B0503020204020204" pitchFamily="34" charset="-122"/>
              <a:cs typeface="微软雅黑" panose="020B0503020204020204" pitchFamily="34" charset="-122"/>
            </a:endParaRPr>
          </a:p>
        </p:txBody>
      </p:sp>
      <p:sp>
        <p:nvSpPr>
          <p:cNvPr id="5" name="object 4"/>
          <p:cNvSpPr txBox="1"/>
          <p:nvPr/>
        </p:nvSpPr>
        <p:spPr>
          <a:xfrm>
            <a:off x="4362860" y="1614723"/>
            <a:ext cx="3042285" cy="566420"/>
          </a:xfrm>
          <a:prstGeom prst="rect">
            <a:avLst/>
          </a:prstGeom>
        </p:spPr>
        <p:txBody>
          <a:bodyPr vert="horz" wrap="square" lIns="0" tIns="12700" rIns="0" bIns="0" rtlCol="0">
            <a:spAutoFit/>
          </a:bodyPr>
          <a:lstStyle/>
          <a:p>
            <a:pPr marL="12700">
              <a:lnSpc>
                <a:spcPts val="2130"/>
              </a:lnSpc>
              <a:spcBef>
                <a:spcPts val="100"/>
              </a:spcBef>
            </a:pPr>
            <a:r>
              <a:rPr sz="1800" i="1" dirty="0">
                <a:solidFill>
                  <a:srgbClr val="408080"/>
                </a:solidFill>
                <a:latin typeface="Consolas" panose="020B0609020204030204"/>
                <a:cs typeface="Consolas" panose="020B0609020204030204"/>
              </a:rPr>
              <a:t>#</a:t>
            </a:r>
            <a:r>
              <a:rPr sz="1800" i="1" spc="-10" dirty="0">
                <a:solidFill>
                  <a:srgbClr val="408080"/>
                </a:solidFill>
                <a:latin typeface="Consolas" panose="020B0609020204030204"/>
                <a:cs typeface="Consolas" panose="020B0609020204030204"/>
              </a:rPr>
              <a:t> </a:t>
            </a:r>
            <a:r>
              <a:rPr sz="1800" i="1" dirty="0">
                <a:solidFill>
                  <a:srgbClr val="408080"/>
                </a:solidFill>
                <a:latin typeface="Consolas" panose="020B0609020204030204"/>
                <a:cs typeface="Consolas" panose="020B0609020204030204"/>
              </a:rPr>
              <a:t>game_timer.py</a:t>
            </a:r>
            <a:endParaRPr sz="1800">
              <a:latin typeface="Consolas" panose="020B0609020204030204"/>
              <a:cs typeface="Consolas" panose="020B0609020204030204"/>
            </a:endParaRPr>
          </a:p>
          <a:p>
            <a:pPr marL="12700">
              <a:lnSpc>
                <a:spcPts val="2130"/>
              </a:lnSpc>
            </a:pPr>
            <a:r>
              <a:rPr sz="1800" b="1" dirty="0">
                <a:solidFill>
                  <a:srgbClr val="008000"/>
                </a:solidFill>
                <a:latin typeface="Consolas" panose="020B0609020204030204"/>
                <a:cs typeface="Consolas" panose="020B0609020204030204"/>
              </a:rPr>
              <a:t>class</a:t>
            </a:r>
            <a:r>
              <a:rPr sz="1800" b="1" spc="-100" dirty="0">
                <a:solidFill>
                  <a:srgbClr val="008000"/>
                </a:solidFill>
                <a:latin typeface="Consolas" panose="020B0609020204030204"/>
                <a:cs typeface="Consolas" panose="020B0609020204030204"/>
              </a:rPr>
              <a:t> </a:t>
            </a:r>
            <a:r>
              <a:rPr sz="1800" b="1" dirty="0">
                <a:solidFill>
                  <a:srgbClr val="0000FF"/>
                </a:solidFill>
                <a:latin typeface="Consolas" panose="020B0609020204030204"/>
                <a:cs typeface="Consolas" panose="020B0609020204030204"/>
              </a:rPr>
              <a:t>GameTimer(</a:t>
            </a:r>
            <a:r>
              <a:rPr sz="1800" b="1" dirty="0">
                <a:solidFill>
                  <a:srgbClr val="008000"/>
                </a:solidFill>
                <a:latin typeface="Consolas" panose="020B0609020204030204"/>
                <a:cs typeface="Consolas" panose="020B0609020204030204"/>
              </a:rPr>
              <a:t>object):</a:t>
            </a:r>
            <a:endParaRPr sz="1800">
              <a:latin typeface="Consolas" panose="020B0609020204030204"/>
              <a:cs typeface="Consolas" panose="020B0609020204030204"/>
            </a:endParaRPr>
          </a:p>
        </p:txBody>
      </p:sp>
      <p:sp>
        <p:nvSpPr>
          <p:cNvPr id="6" name="object 5"/>
          <p:cNvSpPr txBox="1"/>
          <p:nvPr/>
        </p:nvSpPr>
        <p:spPr>
          <a:xfrm>
            <a:off x="4865601" y="2427523"/>
            <a:ext cx="4829810" cy="1950720"/>
          </a:xfrm>
          <a:prstGeom prst="rect">
            <a:avLst/>
          </a:prstGeom>
        </p:spPr>
        <p:txBody>
          <a:bodyPr vert="horz" wrap="square" lIns="0" tIns="12700" rIns="0" bIns="0" rtlCol="0">
            <a:spAutoFit/>
          </a:bodyPr>
          <a:lstStyle/>
          <a:p>
            <a:pPr marL="12700">
              <a:lnSpc>
                <a:spcPct val="100000"/>
              </a:lnSpc>
              <a:spcBef>
                <a:spcPts val="100"/>
              </a:spcBef>
              <a:tabLst>
                <a:tab pos="766445" algn="l"/>
                <a:tab pos="1520825" algn="l"/>
              </a:tabLst>
            </a:pPr>
            <a:r>
              <a:rPr sz="1800" b="1" dirty="0">
                <a:solidFill>
                  <a:srgbClr val="008000"/>
                </a:solidFill>
                <a:latin typeface="Consolas" panose="020B0609020204030204"/>
                <a:cs typeface="Consolas" panose="020B0609020204030204"/>
              </a:rPr>
              <a:t>def</a:t>
            </a:r>
            <a:r>
              <a:rPr sz="1800" b="1" u="heavy" dirty="0">
                <a:solidFill>
                  <a:srgbClr val="008000"/>
                </a:solidFill>
                <a:uFill>
                  <a:solidFill>
                    <a:srgbClr val="0000FE"/>
                  </a:solidFill>
                </a:uFill>
                <a:latin typeface="Consolas" panose="020B0609020204030204"/>
                <a:cs typeface="Consolas" panose="020B0609020204030204"/>
              </a:rPr>
              <a:t> 	</a:t>
            </a:r>
            <a:r>
              <a:rPr sz="1800" b="1" dirty="0">
                <a:solidFill>
                  <a:srgbClr val="0000FF"/>
                </a:solidFill>
                <a:latin typeface="Consolas" panose="020B0609020204030204"/>
                <a:cs typeface="Consolas" panose="020B0609020204030204"/>
              </a:rPr>
              <a:t>init</a:t>
            </a:r>
            <a:r>
              <a:rPr sz="1800" b="1" u="heavy" dirty="0">
                <a:solidFill>
                  <a:srgbClr val="0000FF"/>
                </a:solidFill>
                <a:uFill>
                  <a:solidFill>
                    <a:srgbClr val="0000FE"/>
                  </a:solidFill>
                </a:uFill>
                <a:latin typeface="Consolas" panose="020B0609020204030204"/>
                <a:cs typeface="Consolas" panose="020B0609020204030204"/>
              </a:rPr>
              <a:t> 	</a:t>
            </a:r>
            <a:r>
              <a:rPr sz="1800" b="1" dirty="0">
                <a:solidFill>
                  <a:srgbClr val="0000FF"/>
                </a:solidFill>
                <a:latin typeface="Consolas" panose="020B0609020204030204"/>
                <a:cs typeface="Consolas" panose="020B0609020204030204"/>
              </a:rPr>
              <a:t>(</a:t>
            </a:r>
            <a:r>
              <a:rPr sz="1800" b="1" dirty="0">
                <a:solidFill>
                  <a:srgbClr val="008000"/>
                </a:solidFill>
                <a:latin typeface="Consolas" panose="020B0609020204030204"/>
                <a:cs typeface="Consolas" panose="020B0609020204030204"/>
              </a:rPr>
              <a:t>self, trigger,</a:t>
            </a:r>
            <a:r>
              <a:rPr sz="1800" b="1" spc="-90" dirty="0">
                <a:solidFill>
                  <a:srgbClr val="008000"/>
                </a:solidFill>
                <a:latin typeface="Consolas" panose="020B0609020204030204"/>
                <a:cs typeface="Consolas" panose="020B0609020204030204"/>
              </a:rPr>
              <a:t> </a:t>
            </a:r>
            <a:r>
              <a:rPr sz="1800" b="1" dirty="0">
                <a:solidFill>
                  <a:srgbClr val="008000"/>
                </a:solidFill>
                <a:latin typeface="Consolas" panose="020B0609020204030204"/>
                <a:cs typeface="Consolas" panose="020B0609020204030204"/>
              </a:rPr>
              <a:t>interval):</a:t>
            </a:r>
            <a:endParaRPr sz="1800">
              <a:latin typeface="Consolas" panose="020B0609020204030204"/>
              <a:cs typeface="Consolas" panose="020B0609020204030204"/>
            </a:endParaRPr>
          </a:p>
          <a:p>
            <a:pPr marL="514985">
              <a:lnSpc>
                <a:spcPts val="2105"/>
              </a:lnSpc>
              <a:spcBef>
                <a:spcPts val="40"/>
              </a:spcBef>
            </a:pPr>
            <a:r>
              <a:rPr sz="1800" i="1" dirty="0">
                <a:solidFill>
                  <a:srgbClr val="BA2121"/>
                </a:solidFill>
                <a:latin typeface="Consolas" panose="020B0609020204030204"/>
                <a:cs typeface="Consolas" panose="020B0609020204030204"/>
              </a:rPr>
              <a:t>"""</a:t>
            </a:r>
            <a:endParaRPr sz="1800">
              <a:latin typeface="Consolas" panose="020B0609020204030204"/>
              <a:cs typeface="Consolas" panose="020B0609020204030204"/>
            </a:endParaRPr>
          </a:p>
          <a:p>
            <a:pPr marL="50800">
              <a:lnSpc>
                <a:spcPts val="2155"/>
              </a:lnSpc>
            </a:pPr>
            <a:r>
              <a:rPr sz="1850" i="1" spc="-50" dirty="0">
                <a:solidFill>
                  <a:srgbClr val="BA2121"/>
                </a:solidFill>
                <a:latin typeface="微软雅黑" panose="020B0503020204020204" pitchFamily="34" charset="-122"/>
                <a:cs typeface="微软雅黑" panose="020B0503020204020204" pitchFamily="34" charset="-122"/>
              </a:rPr>
              <a:t>将在主程序中初始化实例</a:t>
            </a:r>
            <a:endParaRPr sz="1850">
              <a:latin typeface="微软雅黑" panose="020B0503020204020204" pitchFamily="34" charset="-122"/>
              <a:cs typeface="微软雅黑" panose="020B0503020204020204" pitchFamily="34" charset="-122"/>
            </a:endParaRPr>
          </a:p>
          <a:p>
            <a:pPr marL="50800">
              <a:lnSpc>
                <a:spcPts val="2200"/>
              </a:lnSpc>
            </a:pPr>
            <a:r>
              <a:rPr sz="1850" i="1" spc="-50" dirty="0">
                <a:solidFill>
                  <a:srgbClr val="BA2121"/>
                </a:solidFill>
                <a:latin typeface="微软雅黑" panose="020B0503020204020204" pitchFamily="34" charset="-122"/>
                <a:cs typeface="微软雅黑" panose="020B0503020204020204" pitchFamily="34" charset="-122"/>
              </a:rPr>
              <a:t>计时器以</a:t>
            </a:r>
            <a:r>
              <a:rPr sz="1800" i="1" dirty="0">
                <a:solidFill>
                  <a:srgbClr val="BA2121"/>
                </a:solidFill>
                <a:latin typeface="Consolas" panose="020B0609020204030204"/>
                <a:cs typeface="Consolas" panose="020B0609020204030204"/>
              </a:rPr>
              <a:t>interval</a:t>
            </a:r>
            <a:r>
              <a:rPr sz="1850" i="1" spc="-50" dirty="0">
                <a:solidFill>
                  <a:srgbClr val="BA2121"/>
                </a:solidFill>
                <a:latin typeface="微软雅黑" panose="020B0503020204020204" pitchFamily="34" charset="-122"/>
                <a:cs typeface="微软雅黑" panose="020B0503020204020204" pitchFamily="34" charset="-122"/>
              </a:rPr>
              <a:t>秒的频率触发</a:t>
            </a:r>
            <a:endParaRPr sz="1850">
              <a:latin typeface="微软雅黑" panose="020B0503020204020204" pitchFamily="34" charset="-122"/>
              <a:cs typeface="微软雅黑" panose="020B0503020204020204" pitchFamily="34" charset="-122"/>
            </a:endParaRPr>
          </a:p>
          <a:p>
            <a:pPr marL="50800" marR="5080">
              <a:lnSpc>
                <a:spcPts val="2100"/>
              </a:lnSpc>
              <a:spcBef>
                <a:spcPts val="160"/>
              </a:spcBef>
            </a:pPr>
            <a:r>
              <a:rPr sz="1800" i="1" dirty="0">
                <a:solidFill>
                  <a:srgbClr val="BA2121"/>
                </a:solidFill>
                <a:latin typeface="Consolas" panose="020B0609020204030204"/>
                <a:cs typeface="Consolas" panose="020B0609020204030204"/>
              </a:rPr>
              <a:t>trigger</a:t>
            </a:r>
            <a:r>
              <a:rPr sz="1850" i="1" spc="-50" dirty="0">
                <a:solidFill>
                  <a:srgbClr val="BA2121"/>
                </a:solidFill>
                <a:latin typeface="微软雅黑" panose="020B0503020204020204" pitchFamily="34" charset="-122"/>
                <a:cs typeface="微软雅黑" panose="020B0503020204020204" pitchFamily="34" charset="-122"/>
              </a:rPr>
              <a:t>是个函数</a:t>
            </a:r>
            <a:r>
              <a:rPr sz="1850" i="1" spc="-50" dirty="0">
                <a:solidFill>
                  <a:srgbClr val="C8352B"/>
                </a:solidFill>
                <a:latin typeface="微软雅黑" panose="020B0503020204020204" pitchFamily="34" charset="-122"/>
                <a:cs typeface="微软雅黑" panose="020B0503020204020204" pitchFamily="34" charset="-122"/>
              </a:rPr>
              <a:t>，</a:t>
            </a:r>
            <a:r>
              <a:rPr sz="1850" i="1" spc="-45" dirty="0">
                <a:solidFill>
                  <a:srgbClr val="BA2121"/>
                </a:solidFill>
                <a:latin typeface="微软雅黑" panose="020B0503020204020204" pitchFamily="34" charset="-122"/>
                <a:cs typeface="微软雅黑" panose="020B0503020204020204" pitchFamily="34" charset="-122"/>
              </a:rPr>
              <a:t>计时器被触发时调用该函数  </a:t>
            </a:r>
            <a:r>
              <a:rPr sz="1800" i="1" spc="-45" dirty="0">
                <a:solidFill>
                  <a:srgbClr val="BA2121"/>
                </a:solidFill>
                <a:latin typeface="Consolas" panose="020B0609020204030204"/>
                <a:cs typeface="Consolas" panose="020B0609020204030204"/>
              </a:rPr>
              <a:t>"""</a:t>
            </a:r>
            <a:endParaRPr sz="1800">
              <a:latin typeface="Consolas" panose="020B0609020204030204"/>
              <a:cs typeface="Consolas" panose="020B0609020204030204"/>
            </a:endParaRPr>
          </a:p>
          <a:p>
            <a:pPr marL="514985">
              <a:lnSpc>
                <a:spcPts val="2140"/>
              </a:lnSpc>
            </a:pPr>
            <a:r>
              <a:rPr sz="1800" b="1" dirty="0">
                <a:solidFill>
                  <a:srgbClr val="008000"/>
                </a:solidFill>
                <a:latin typeface="Consolas" panose="020B0609020204030204"/>
                <a:cs typeface="Consolas" panose="020B0609020204030204"/>
              </a:rPr>
              <a:t>pass</a:t>
            </a:r>
            <a:endParaRPr sz="1800">
              <a:latin typeface="Consolas" panose="020B0609020204030204"/>
              <a:cs typeface="Consolas" panose="020B0609020204030204"/>
            </a:endParaRPr>
          </a:p>
        </p:txBody>
      </p:sp>
      <p:sp>
        <p:nvSpPr>
          <p:cNvPr id="7" name="object 6"/>
          <p:cNvSpPr txBox="1"/>
          <p:nvPr/>
        </p:nvSpPr>
        <p:spPr>
          <a:xfrm>
            <a:off x="4865601" y="4624623"/>
            <a:ext cx="6402705" cy="845819"/>
          </a:xfrm>
          <a:prstGeom prst="rect">
            <a:avLst/>
          </a:prstGeom>
        </p:spPr>
        <p:txBody>
          <a:bodyPr vert="horz" wrap="square" lIns="0" tIns="12700" rIns="0" bIns="0" rtlCol="0">
            <a:spAutoFit/>
          </a:bodyPr>
          <a:lstStyle/>
          <a:p>
            <a:pPr marL="12700">
              <a:lnSpc>
                <a:spcPts val="2155"/>
              </a:lnSpc>
              <a:spcBef>
                <a:spcPts val="100"/>
              </a:spcBef>
            </a:pPr>
            <a:r>
              <a:rPr sz="1800" b="1" dirty="0">
                <a:solidFill>
                  <a:srgbClr val="008000"/>
                </a:solidFill>
                <a:latin typeface="Consolas" panose="020B0609020204030204"/>
                <a:cs typeface="Consolas" panose="020B0609020204030204"/>
              </a:rPr>
              <a:t>def</a:t>
            </a:r>
            <a:r>
              <a:rPr sz="1800" b="1" spc="-5" dirty="0">
                <a:solidFill>
                  <a:srgbClr val="008000"/>
                </a:solidFill>
                <a:latin typeface="Consolas" panose="020B0609020204030204"/>
                <a:cs typeface="Consolas" panose="020B0609020204030204"/>
              </a:rPr>
              <a:t> </a:t>
            </a:r>
            <a:r>
              <a:rPr sz="1800" b="1" dirty="0">
                <a:solidFill>
                  <a:srgbClr val="0000FF"/>
                </a:solidFill>
                <a:latin typeface="Consolas" panose="020B0609020204030204"/>
                <a:cs typeface="Consolas" panose="020B0609020204030204"/>
              </a:rPr>
              <a:t>start(</a:t>
            </a:r>
            <a:r>
              <a:rPr sz="1800" b="1" dirty="0">
                <a:solidFill>
                  <a:srgbClr val="008000"/>
                </a:solidFill>
                <a:latin typeface="Consolas" panose="020B0609020204030204"/>
                <a:cs typeface="Consolas" panose="020B0609020204030204"/>
              </a:rPr>
              <a:t>self):</a:t>
            </a:r>
            <a:endParaRPr sz="1800">
              <a:latin typeface="Consolas" panose="020B0609020204030204"/>
              <a:cs typeface="Consolas" panose="020B0609020204030204"/>
            </a:endParaRPr>
          </a:p>
          <a:p>
            <a:pPr marL="514985">
              <a:lnSpc>
                <a:spcPts val="2180"/>
              </a:lnSpc>
            </a:pPr>
            <a:r>
              <a:rPr sz="1800" i="1" dirty="0">
                <a:solidFill>
                  <a:srgbClr val="BA2121"/>
                </a:solidFill>
                <a:latin typeface="Consolas" panose="020B0609020204030204"/>
                <a:cs typeface="Consolas" panose="020B0609020204030204"/>
              </a:rPr>
              <a:t>"""</a:t>
            </a:r>
            <a:r>
              <a:rPr sz="1850" i="1" spc="-50" dirty="0">
                <a:solidFill>
                  <a:srgbClr val="BA2121"/>
                </a:solidFill>
                <a:latin typeface="微软雅黑" panose="020B0503020204020204" pitchFamily="34" charset="-122"/>
                <a:cs typeface="微软雅黑" panose="020B0503020204020204" pitchFamily="34" charset="-122"/>
              </a:rPr>
              <a:t>启动计时器</a:t>
            </a:r>
            <a:r>
              <a:rPr sz="1850" i="1" spc="-50" dirty="0">
                <a:solidFill>
                  <a:srgbClr val="C8352B"/>
                </a:solidFill>
                <a:latin typeface="微软雅黑" panose="020B0503020204020204" pitchFamily="34" charset="-122"/>
                <a:cs typeface="微软雅黑" panose="020B0503020204020204" pitchFamily="34" charset="-122"/>
              </a:rPr>
              <a:t>，</a:t>
            </a:r>
            <a:r>
              <a:rPr sz="1850" i="1" spc="-50" dirty="0">
                <a:solidFill>
                  <a:srgbClr val="BA2121"/>
                </a:solidFill>
                <a:latin typeface="微软雅黑" panose="020B0503020204020204" pitchFamily="34" charset="-122"/>
                <a:cs typeface="微软雅黑" panose="020B0503020204020204" pitchFamily="34" charset="-122"/>
              </a:rPr>
              <a:t>之后将以</a:t>
            </a:r>
            <a:r>
              <a:rPr sz="1800" i="1" spc="-50" dirty="0">
                <a:solidFill>
                  <a:srgbClr val="BA2121"/>
                </a:solidFill>
                <a:latin typeface="Consolas" panose="020B0609020204030204"/>
                <a:cs typeface="Consolas" panose="020B0609020204030204"/>
              </a:rPr>
              <a:t>interval</a:t>
            </a:r>
            <a:r>
              <a:rPr sz="1850" i="1" spc="-50" dirty="0">
                <a:solidFill>
                  <a:srgbClr val="BA2121"/>
                </a:solidFill>
                <a:latin typeface="微软雅黑" panose="020B0503020204020204" pitchFamily="34" charset="-122"/>
                <a:cs typeface="微软雅黑" panose="020B0503020204020204" pitchFamily="34" charset="-122"/>
              </a:rPr>
              <a:t>秒的间隔持续触发</a:t>
            </a:r>
            <a:r>
              <a:rPr sz="1800" i="1" spc="-50" dirty="0">
                <a:solidFill>
                  <a:srgbClr val="BA2121"/>
                </a:solidFill>
                <a:latin typeface="Consolas" panose="020B0609020204030204"/>
                <a:cs typeface="Consolas" panose="020B0609020204030204"/>
              </a:rPr>
              <a:t>"""</a:t>
            </a:r>
            <a:endParaRPr sz="1800">
              <a:latin typeface="Consolas" panose="020B0609020204030204"/>
              <a:cs typeface="Consolas" panose="020B0609020204030204"/>
            </a:endParaRPr>
          </a:p>
          <a:p>
            <a:pPr marL="514985">
              <a:lnSpc>
                <a:spcPts val="2125"/>
              </a:lnSpc>
            </a:pPr>
            <a:r>
              <a:rPr sz="1800" b="1" dirty="0">
                <a:solidFill>
                  <a:srgbClr val="008000"/>
                </a:solidFill>
                <a:latin typeface="Consolas" panose="020B0609020204030204"/>
                <a:cs typeface="Consolas" panose="020B0609020204030204"/>
              </a:rPr>
              <a:t>pass</a:t>
            </a:r>
            <a:endParaRPr sz="1800">
              <a:latin typeface="Consolas" panose="020B0609020204030204"/>
              <a:cs typeface="Consolas" panose="020B0609020204030204"/>
            </a:endParaRPr>
          </a:p>
        </p:txBody>
      </p:sp>
      <p:sp>
        <p:nvSpPr>
          <p:cNvPr id="8" name="object 7"/>
          <p:cNvSpPr txBox="1"/>
          <p:nvPr/>
        </p:nvSpPr>
        <p:spPr>
          <a:xfrm>
            <a:off x="1066797" y="1727203"/>
            <a:ext cx="2844165" cy="478336"/>
          </a:xfrm>
          <a:prstGeom prst="rect">
            <a:avLst/>
          </a:prstGeom>
          <a:solidFill>
            <a:srgbClr val="424579"/>
          </a:solidFill>
        </p:spPr>
        <p:txBody>
          <a:bodyPr vert="horz" wrap="square" lIns="0" tIns="138430"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47040">
              <a:lnSpc>
                <a:spcPct val="100000"/>
              </a:lnSpc>
              <a:spcBef>
                <a:spcPts val="1090"/>
              </a:spcBef>
            </a:pPr>
            <a:r>
              <a:rPr lang="zh-CN" altLang="en-US" sz="2200" dirty="0">
                <a:solidFill>
                  <a:srgbClr val="FFFFFF"/>
                </a:solidFill>
                <a:latin typeface="微软雅黑" panose="020B0503020204020204" pitchFamily="34" charset="-122"/>
                <a:ea typeface="微软雅黑" panose="020B0503020204020204" pitchFamily="34" charset="-122"/>
              </a:rPr>
              <a:t>案例：生命游戏</a:t>
            </a:r>
          </a:p>
        </p:txBody>
      </p:sp>
    </p:spTree>
  </p:cSld>
  <p:clrMapOvr>
    <a:masterClrMapping/>
  </p:clrMapOvr>
  <mc:AlternateContent xmlns:mc="http://schemas.openxmlformats.org/markup-compatibility/2006" xmlns:p14="http://schemas.microsoft.com/office/powerpoint/2010/main">
    <mc:Choice Requires="p14">
      <p:transition spd="slow" p14:dur="2000" advTm="30076"/>
    </mc:Choice>
    <mc:Fallback xmlns="">
      <p:transition spd="slow" advTm="30076"/>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284180" y="1759079"/>
            <a:ext cx="2532661" cy="2423446"/>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4786209" y="1920147"/>
            <a:ext cx="6172200" cy="1778000"/>
          </a:xfrm>
          <a:prstGeom prst="rect">
            <a:avLst/>
          </a:prstGeom>
        </p:spPr>
        <p:txBody>
          <a:bodyPr vert="horz" wrap="square" lIns="0" tIns="6350" rIns="0" bIns="0" rtlCol="0">
            <a:spAutoFit/>
          </a:bodyPr>
          <a:lstStyle/>
          <a:p>
            <a:pPr marL="12700" marR="177165" algn="just">
              <a:lnSpc>
                <a:spcPct val="119000"/>
              </a:lnSpc>
              <a:spcBef>
                <a:spcPts val="50"/>
              </a:spcBef>
            </a:pPr>
            <a:r>
              <a:rPr sz="2200" spc="40" dirty="0">
                <a:latin typeface="微软雅黑" panose="020B0503020204020204" pitchFamily="34" charset="-122"/>
                <a:cs typeface="微软雅黑" panose="020B0503020204020204" pitchFamily="34" charset="-122"/>
              </a:rPr>
              <a:t>在模块化分解之</a:t>
            </a:r>
            <a:r>
              <a:rPr sz="2200" spc="35" dirty="0">
                <a:latin typeface="微软雅黑" panose="020B0503020204020204" pitchFamily="34" charset="-122"/>
                <a:cs typeface="微软雅黑" panose="020B0503020204020204" pitchFamily="34" charset="-122"/>
              </a:rPr>
              <a:t>后</a:t>
            </a:r>
            <a:r>
              <a:rPr sz="2200" spc="40" dirty="0">
                <a:latin typeface="微软雅黑" panose="020B0503020204020204" pitchFamily="34" charset="-122"/>
                <a:cs typeface="微软雅黑" panose="020B0503020204020204" pitchFamily="34" charset="-122"/>
              </a:rPr>
              <a:t>，开发人员可以分别实现各个 模块。根据函数单一职责的原</a:t>
            </a:r>
            <a:r>
              <a:rPr sz="2200" spc="35" dirty="0">
                <a:latin typeface="微软雅黑" panose="020B0503020204020204" pitchFamily="34" charset="-122"/>
                <a:cs typeface="微软雅黑" panose="020B0503020204020204" pitchFamily="34" charset="-122"/>
              </a:rPr>
              <a:t>则</a:t>
            </a:r>
            <a:r>
              <a:rPr sz="2200" spc="40" dirty="0">
                <a:latin typeface="微软雅黑" panose="020B0503020204020204" pitchFamily="34" charset="-122"/>
                <a:cs typeface="微软雅黑" panose="020B0503020204020204" pitchFamily="34" charset="-122"/>
              </a:rPr>
              <a:t>，各个模块内部 </a:t>
            </a:r>
            <a:r>
              <a:rPr sz="2200" dirty="0">
                <a:latin typeface="微软雅黑" panose="020B0503020204020204" pitchFamily="34" charset="-122"/>
                <a:cs typeface="微软雅黑" panose="020B0503020204020204" pitchFamily="34" charset="-122"/>
              </a:rPr>
              <a:t>还会定义更多的函数。</a:t>
            </a:r>
            <a:endParaRPr sz="2200">
              <a:latin typeface="微软雅黑" panose="020B0503020204020204" pitchFamily="34" charset="-122"/>
              <a:cs typeface="微软雅黑" panose="020B0503020204020204" pitchFamily="34" charset="-122"/>
            </a:endParaRPr>
          </a:p>
          <a:p>
            <a:pPr marL="12700">
              <a:lnSpc>
                <a:spcPct val="100000"/>
              </a:lnSpc>
              <a:spcBef>
                <a:spcPts val="1760"/>
              </a:spcBef>
            </a:pPr>
            <a:r>
              <a:rPr sz="2200" dirty="0">
                <a:latin typeface="微软雅黑" panose="020B0503020204020204" pitchFamily="34" charset="-122"/>
                <a:cs typeface="微软雅黑" panose="020B0503020204020204" pitchFamily="34" charset="-122"/>
              </a:rPr>
              <a:t>与此同时，模块测试的设计工作也可以开始进行。</a:t>
            </a:r>
            <a:endParaRPr sz="2200">
              <a:latin typeface="微软雅黑" panose="020B0503020204020204" pitchFamily="34" charset="-122"/>
              <a:cs typeface="微软雅黑" panose="020B0503020204020204" pitchFamily="34" charset="-122"/>
            </a:endParaRPr>
          </a:p>
        </p:txBody>
      </p:sp>
      <p:sp>
        <p:nvSpPr>
          <p:cNvPr id="5" name="object 5"/>
          <p:cNvSpPr txBox="1"/>
          <p:nvPr/>
        </p:nvSpPr>
        <p:spPr>
          <a:xfrm>
            <a:off x="2940472" y="4481821"/>
            <a:ext cx="8095615" cy="736600"/>
          </a:xfrm>
          <a:prstGeom prst="rect">
            <a:avLst/>
          </a:prstGeom>
        </p:spPr>
        <p:txBody>
          <a:bodyPr vert="horz" wrap="square" lIns="0" tIns="12700" rIns="0" bIns="0" rtlCol="0">
            <a:spAutoFit/>
          </a:bodyPr>
          <a:lstStyle/>
          <a:p>
            <a:pPr marL="12700" marR="5080">
              <a:lnSpc>
                <a:spcPct val="117000"/>
              </a:lnSpc>
              <a:spcBef>
                <a:spcPts val="100"/>
              </a:spcBef>
            </a:pPr>
            <a:r>
              <a:rPr sz="2000" spc="35" dirty="0">
                <a:latin typeface="微软雅黑" panose="020B0503020204020204" pitchFamily="34" charset="-122"/>
                <a:cs typeface="微软雅黑" panose="020B0503020204020204" pitchFamily="34" charset="-122"/>
              </a:rPr>
              <a:t>前面抽象得到的</a:t>
            </a:r>
            <a:r>
              <a:rPr sz="2000" b="1" spc="35" dirty="0">
                <a:solidFill>
                  <a:srgbClr val="FF0000"/>
                </a:solidFill>
                <a:latin typeface="微软雅黑" panose="020B0503020204020204" pitchFamily="34" charset="-122"/>
                <a:cs typeface="微软雅黑" panose="020B0503020204020204" pitchFamily="34" charset="-122"/>
              </a:rPr>
              <a:t>各模块关键函数在后续开发中不应发生改变</a:t>
            </a:r>
            <a:r>
              <a:rPr sz="2000" spc="35" dirty="0">
                <a:latin typeface="微软雅黑" panose="020B0503020204020204" pitchFamily="34" charset="-122"/>
                <a:cs typeface="微软雅黑" panose="020B0503020204020204" pitchFamily="34" charset="-122"/>
              </a:rPr>
              <a:t>，这些函数 </a:t>
            </a:r>
            <a:r>
              <a:rPr sz="2000" dirty="0">
                <a:latin typeface="微软雅黑" panose="020B0503020204020204" pitchFamily="34" charset="-122"/>
                <a:cs typeface="微软雅黑" panose="020B0503020204020204" pitchFamily="34" charset="-122"/>
              </a:rPr>
              <a:t>一旦参数列表</a:t>
            </a:r>
            <a:r>
              <a:rPr sz="2000" dirty="0">
                <a:latin typeface="Calibri" panose="020F0502020204030204"/>
                <a:cs typeface="Calibri" panose="020F0502020204030204"/>
              </a:rPr>
              <a:t>/</a:t>
            </a:r>
            <a:r>
              <a:rPr sz="2000" dirty="0">
                <a:latin typeface="微软雅黑" panose="020B0503020204020204" pitchFamily="34" charset="-122"/>
                <a:cs typeface="微软雅黑" panose="020B0503020204020204" pitchFamily="34" charset="-122"/>
              </a:rPr>
              <a:t>名称</a:t>
            </a:r>
            <a:r>
              <a:rPr sz="2000" dirty="0">
                <a:latin typeface="Calibri" panose="020F0502020204030204"/>
                <a:cs typeface="Calibri" panose="020F0502020204030204"/>
              </a:rPr>
              <a:t>/</a:t>
            </a:r>
            <a:r>
              <a:rPr sz="2000" dirty="0">
                <a:latin typeface="微软雅黑" panose="020B0503020204020204" pitchFamily="34" charset="-122"/>
                <a:cs typeface="微软雅黑" panose="020B0503020204020204" pitchFamily="34" charset="-122"/>
              </a:rPr>
              <a:t>返回值等发生变化，可能造成连带性的一系列修改。</a:t>
            </a:r>
          </a:p>
        </p:txBody>
      </p:sp>
      <p:sp>
        <p:nvSpPr>
          <p:cNvPr id="6" name="object 6"/>
          <p:cNvSpPr txBox="1"/>
          <p:nvPr/>
        </p:nvSpPr>
        <p:spPr>
          <a:xfrm>
            <a:off x="1302424" y="4514331"/>
            <a:ext cx="1288415" cy="768985"/>
          </a:xfrm>
          <a:prstGeom prst="rect">
            <a:avLst/>
          </a:prstGeom>
          <a:solidFill>
            <a:srgbClr val="AB1500"/>
          </a:solidFill>
        </p:spPr>
        <p:txBody>
          <a:bodyPr vert="horz" wrap="square" lIns="0" tIns="201295" rIns="0" bIns="0" rtlCol="0">
            <a:spAutoFit/>
          </a:bodyPr>
          <a:lstStyle/>
          <a:p>
            <a:pPr marL="339090">
              <a:lnSpc>
                <a:spcPct val="100000"/>
              </a:lnSpc>
              <a:spcBef>
                <a:spcPts val="1585"/>
              </a:spcBef>
            </a:pPr>
            <a:r>
              <a:rPr sz="2400" dirty="0">
                <a:solidFill>
                  <a:srgbClr val="FFFFFF"/>
                </a:solidFill>
                <a:latin typeface="微软雅黑" panose="020B0503020204020204" pitchFamily="34" charset="-122"/>
                <a:cs typeface="微软雅黑" panose="020B0503020204020204" pitchFamily="34" charset="-122"/>
              </a:rPr>
              <a:t>关键</a:t>
            </a:r>
            <a:endParaRPr sz="2400">
              <a:latin typeface="微软雅黑" panose="020B0503020204020204" pitchFamily="34" charset="-122"/>
              <a:cs typeface="微软雅黑" panose="020B0503020204020204" pitchFamily="34" charset="-122"/>
            </a:endParaRPr>
          </a:p>
        </p:txBody>
      </p:sp>
      <p:sp>
        <p:nvSpPr>
          <p:cNvPr id="8" name="标题 7"/>
          <p:cNvSpPr>
            <a:spLocks noGrp="1"/>
          </p:cNvSpPr>
          <p:nvPr>
            <p:ph type="title"/>
          </p:nvPr>
        </p:nvSpPr>
        <p:spPr/>
        <p:txBody>
          <a:bodyPr/>
          <a:lstStyle/>
          <a:p>
            <a:r>
              <a:rPr lang="zh-CN" altLang="en-US" dirty="0"/>
              <a:t>案例：生命游戏的实现</a:t>
            </a:r>
          </a:p>
        </p:txBody>
      </p:sp>
      <p:sp>
        <p:nvSpPr>
          <p:cNvPr id="7" name="灯片编号占位符 6"/>
          <p:cNvSpPr>
            <a:spLocks noGrp="1"/>
          </p:cNvSpPr>
          <p:nvPr>
            <p:ph type="sldNum" sz="quarter" idx="12"/>
          </p:nvPr>
        </p:nvSpPr>
        <p:spPr/>
        <p:txBody>
          <a:bodyPr/>
          <a:lstStyle/>
          <a:p>
            <a:fld id="{74D2AB8B-5816-41F2-8B4B-CA5C3E4E6A65}" type="slidenum">
              <a:rPr lang="zh-CN" altLang="en-US" smtClean="0"/>
              <a:t>46</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6063"/>
    </mc:Choice>
    <mc:Fallback xmlns="">
      <p:transition spd="slow" advTm="36063"/>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8156D8-DC45-4351-8C59-3CDC20BA9147}"/>
              </a:ext>
            </a:extLst>
          </p:cNvPr>
          <p:cNvSpPr>
            <a:spLocks noGrp="1"/>
          </p:cNvSpPr>
          <p:nvPr>
            <p:ph type="title"/>
          </p:nvPr>
        </p:nvSpPr>
        <p:spPr/>
        <p:txBody>
          <a:bodyPr/>
          <a:lstStyle/>
          <a:p>
            <a:r>
              <a:rPr lang="zh-CN" altLang="en-US" dirty="0"/>
              <a:t>思考</a:t>
            </a:r>
          </a:p>
        </p:txBody>
      </p:sp>
      <p:sp>
        <p:nvSpPr>
          <p:cNvPr id="3" name="内容占位符 2">
            <a:extLst>
              <a:ext uri="{FF2B5EF4-FFF2-40B4-BE49-F238E27FC236}">
                <a16:creationId xmlns:a16="http://schemas.microsoft.com/office/drawing/2014/main" id="{8BA5F814-3344-4934-A1A1-D2E416B295A3}"/>
              </a:ext>
            </a:extLst>
          </p:cNvPr>
          <p:cNvSpPr>
            <a:spLocks noGrp="1"/>
          </p:cNvSpPr>
          <p:nvPr>
            <p:ph idx="1"/>
          </p:nvPr>
        </p:nvSpPr>
        <p:spPr/>
        <p:txBody>
          <a:bodyPr/>
          <a:lstStyle/>
          <a:p>
            <a:r>
              <a:rPr lang="zh-CN" altLang="en-US" dirty="0"/>
              <a:t>象棋游戏的实现</a:t>
            </a:r>
            <a:r>
              <a:rPr lang="en-US" altLang="zh-CN" dirty="0"/>
              <a:t>…</a:t>
            </a:r>
            <a:endParaRPr lang="zh-CN" altLang="en-US" dirty="0"/>
          </a:p>
        </p:txBody>
      </p:sp>
      <p:sp>
        <p:nvSpPr>
          <p:cNvPr id="4" name="灯片编号占位符 3">
            <a:extLst>
              <a:ext uri="{FF2B5EF4-FFF2-40B4-BE49-F238E27FC236}">
                <a16:creationId xmlns:a16="http://schemas.microsoft.com/office/drawing/2014/main" id="{B24C499B-4D5F-4090-8321-A45EC2F6162D}"/>
              </a:ext>
            </a:extLst>
          </p:cNvPr>
          <p:cNvSpPr>
            <a:spLocks noGrp="1"/>
          </p:cNvSpPr>
          <p:nvPr>
            <p:ph type="sldNum" sz="quarter" idx="12"/>
          </p:nvPr>
        </p:nvSpPr>
        <p:spPr/>
        <p:txBody>
          <a:bodyPr/>
          <a:lstStyle/>
          <a:p>
            <a:fld id="{74D2AB8B-5816-41F2-8B4B-CA5C3E4E6A65}" type="slidenum">
              <a:rPr lang="zh-CN" altLang="en-US" smtClean="0"/>
              <a:t>47</a:t>
            </a:fld>
            <a:endParaRPr lang="zh-CN" altLang="en-US"/>
          </a:p>
        </p:txBody>
      </p:sp>
      <p:sp>
        <p:nvSpPr>
          <p:cNvPr id="6" name="文本框 5">
            <a:extLst>
              <a:ext uri="{FF2B5EF4-FFF2-40B4-BE49-F238E27FC236}">
                <a16:creationId xmlns:a16="http://schemas.microsoft.com/office/drawing/2014/main" id="{21031BA3-3290-4988-BA85-A3104C94D5B1}"/>
              </a:ext>
            </a:extLst>
          </p:cNvPr>
          <p:cNvSpPr txBox="1"/>
          <p:nvPr/>
        </p:nvSpPr>
        <p:spPr>
          <a:xfrm>
            <a:off x="999459" y="3211033"/>
            <a:ext cx="6485861"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棋盘状态、下棋规则、控制逻辑（轮换下棋、胜利判断）、</a:t>
            </a:r>
            <a:r>
              <a:rPr lang="en-US" altLang="zh-CN" dirty="0">
                <a:latin typeface="微软雅黑" panose="020B0503020204020204" pitchFamily="34" charset="-122"/>
                <a:ea typeface="微软雅黑" panose="020B0503020204020204" pitchFamily="34" charset="-122"/>
              </a:rPr>
              <a:t>UI</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52146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230283" y="1571105"/>
            <a:ext cx="2169621" cy="1446414"/>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1507068" y="3098808"/>
            <a:ext cx="1762512" cy="1497112"/>
          </a:xfrm>
          <a:prstGeom prst="rect">
            <a:avLst/>
          </a:prstGeom>
          <a:blipFill>
            <a:blip r:embed="rId4" cstate="print"/>
            <a:stretch>
              <a:fillRect/>
            </a:stretch>
          </a:blipFill>
        </p:spPr>
        <p:txBody>
          <a:bodyPr wrap="square" lIns="0" tIns="0" rIns="0" bIns="0" rtlCol="0"/>
          <a:lstStyle/>
          <a:p>
            <a:endParaRPr/>
          </a:p>
        </p:txBody>
      </p:sp>
      <p:sp>
        <p:nvSpPr>
          <p:cNvPr id="5" name="object 5"/>
          <p:cNvSpPr txBox="1">
            <a:spLocks noGrp="1"/>
          </p:cNvSpPr>
          <p:nvPr>
            <p:ph type="body" idx="1"/>
          </p:nvPr>
        </p:nvSpPr>
        <p:spPr>
          <a:xfrm>
            <a:off x="838200" y="1825625"/>
            <a:ext cx="10866120" cy="3728970"/>
          </a:xfrm>
          <a:prstGeom prst="rect">
            <a:avLst/>
          </a:prstGeom>
        </p:spPr>
        <p:txBody>
          <a:bodyPr vert="horz" wrap="square" lIns="0" tIns="109220" rIns="0" bIns="0" rtlCol="0">
            <a:spAutoFit/>
          </a:bodyPr>
          <a:lstStyle/>
          <a:p>
            <a:pPr marL="2813685">
              <a:lnSpc>
                <a:spcPct val="100000"/>
              </a:lnSpc>
              <a:spcBef>
                <a:spcPts val="860"/>
              </a:spcBef>
            </a:pPr>
            <a:r>
              <a:rPr sz="2400" spc="15" dirty="0">
                <a:solidFill>
                  <a:srgbClr val="CC0000"/>
                </a:solidFill>
              </a:rPr>
              <a:t>错误</a:t>
            </a:r>
            <a:r>
              <a:rPr sz="2400" spc="15" dirty="0"/>
              <a:t>是导致程序崩溃的问题，例如</a:t>
            </a:r>
            <a:r>
              <a:rPr sz="2400" spc="15" dirty="0">
                <a:cs typeface="Arial" panose="020B0604020202020204"/>
              </a:rPr>
              <a:t>Python</a:t>
            </a:r>
            <a:r>
              <a:rPr sz="2400" spc="15" dirty="0"/>
              <a:t>程序的语法错误</a:t>
            </a:r>
          </a:p>
          <a:p>
            <a:pPr marL="2813685">
              <a:lnSpc>
                <a:spcPct val="100000"/>
              </a:lnSpc>
              <a:spcBef>
                <a:spcPts val="760"/>
              </a:spcBef>
            </a:pPr>
            <a:r>
              <a:rPr sz="2400" dirty="0"/>
              <a:t>（解析错误）或者未捕获的异常（运行错误）等。</a:t>
            </a:r>
          </a:p>
          <a:p>
            <a:pPr marL="112395">
              <a:lnSpc>
                <a:spcPct val="100000"/>
              </a:lnSpc>
              <a:spcBef>
                <a:spcPts val="45"/>
              </a:spcBef>
            </a:pPr>
            <a:endParaRPr sz="2400" dirty="0">
              <a:cs typeface="Times New Roman" panose="02020603050405020304"/>
            </a:endParaRPr>
          </a:p>
          <a:p>
            <a:pPr marL="2813685" marR="87630">
              <a:lnSpc>
                <a:spcPct val="129000"/>
              </a:lnSpc>
            </a:pPr>
            <a:r>
              <a:rPr sz="2400" spc="25" dirty="0">
                <a:solidFill>
                  <a:srgbClr val="CC0000"/>
                </a:solidFill>
              </a:rPr>
              <a:t>异常</a:t>
            </a:r>
            <a:r>
              <a:rPr sz="2400" spc="25" dirty="0"/>
              <a:t>是运行时期检测到的错误，即使一条语句或者表达式 </a:t>
            </a:r>
            <a:r>
              <a:rPr sz="2400" dirty="0"/>
              <a:t>在语法上是正确的，当试图执行它时也可能会引发错误。</a:t>
            </a:r>
          </a:p>
          <a:p>
            <a:pPr marL="112395">
              <a:lnSpc>
                <a:spcPct val="100000"/>
              </a:lnSpc>
              <a:spcBef>
                <a:spcPts val="25"/>
              </a:spcBef>
            </a:pPr>
            <a:endParaRPr sz="2400" dirty="0">
              <a:cs typeface="Times New Roman" panose="02020603050405020304"/>
            </a:endParaRPr>
          </a:p>
          <a:p>
            <a:pPr marL="125095" marR="5080">
              <a:lnSpc>
                <a:spcPct val="117000"/>
              </a:lnSpc>
            </a:pPr>
            <a:r>
              <a:rPr sz="2400" spc="15" dirty="0" err="1"/>
              <a:t>异常处理是用于管理程序运行期间错误的一种方</a:t>
            </a:r>
            <a:r>
              <a:rPr sz="2400" spc="10" dirty="0" err="1"/>
              <a:t>法</a:t>
            </a:r>
            <a:r>
              <a:rPr sz="2400" spc="15" dirty="0" err="1"/>
              <a:t>，这种机制将程序中的正常处</a:t>
            </a:r>
            <a:r>
              <a:rPr sz="2400" dirty="0" err="1"/>
              <a:t>理代码和异常处理代码显式地区别开来，提高了程序的可读性</a:t>
            </a:r>
            <a:r>
              <a:rPr sz="2400" dirty="0"/>
              <a:t>。</a:t>
            </a:r>
          </a:p>
        </p:txBody>
      </p:sp>
      <p:sp>
        <p:nvSpPr>
          <p:cNvPr id="7" name="标题 6"/>
          <p:cNvSpPr>
            <a:spLocks noGrp="1"/>
          </p:cNvSpPr>
          <p:nvPr>
            <p:ph type="title"/>
          </p:nvPr>
        </p:nvSpPr>
        <p:spPr/>
        <p:txBody>
          <a:bodyPr/>
          <a:lstStyle/>
          <a:p>
            <a:r>
              <a:rPr lang="zh-CN" altLang="en-US" dirty="0"/>
              <a:t>错误与异常处理</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48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8807"/>
    </mc:Choice>
    <mc:Fallback xmlns="">
      <p:transition spd="slow" advTm="38807"/>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416470" y="1495637"/>
            <a:ext cx="3294379" cy="1658620"/>
          </a:xfrm>
          <a:prstGeom prst="rect">
            <a:avLst/>
          </a:prstGeom>
        </p:spPr>
        <p:txBody>
          <a:bodyPr vert="horz" wrap="square" lIns="0" tIns="12700" rIns="0" bIns="0" rtlCol="0">
            <a:spAutoFit/>
          </a:bodyPr>
          <a:lstStyle/>
          <a:p>
            <a:pPr marL="12700">
              <a:lnSpc>
                <a:spcPts val="2130"/>
              </a:lnSpc>
              <a:spcBef>
                <a:spcPts val="100"/>
              </a:spcBef>
            </a:pPr>
            <a:r>
              <a:rPr sz="1800" b="1" dirty="0">
                <a:solidFill>
                  <a:srgbClr val="008000"/>
                </a:solidFill>
                <a:latin typeface="Consolas" panose="020B0609020204030204"/>
                <a:cs typeface="Consolas" panose="020B0609020204030204"/>
              </a:rPr>
              <a:t>try:</a:t>
            </a:r>
            <a:endParaRPr sz="1800">
              <a:latin typeface="Consolas" panose="020B0609020204030204"/>
              <a:cs typeface="Consolas" panose="020B0609020204030204"/>
            </a:endParaRPr>
          </a:p>
          <a:p>
            <a:pPr marL="514985">
              <a:lnSpc>
                <a:spcPts val="2130"/>
              </a:lnSpc>
            </a:pPr>
            <a:r>
              <a:rPr sz="1800" dirty="0">
                <a:latin typeface="Consolas" panose="020B0609020204030204"/>
                <a:cs typeface="Consolas" panose="020B0609020204030204"/>
              </a:rPr>
              <a:t>do_something()</a:t>
            </a:r>
            <a:endParaRPr sz="1800">
              <a:latin typeface="Consolas" panose="020B0609020204030204"/>
              <a:cs typeface="Consolas" panose="020B0609020204030204"/>
            </a:endParaRPr>
          </a:p>
          <a:p>
            <a:pPr marL="12700">
              <a:lnSpc>
                <a:spcPts val="2130"/>
              </a:lnSpc>
              <a:spcBef>
                <a:spcPts val="40"/>
              </a:spcBef>
            </a:pPr>
            <a:r>
              <a:rPr sz="1800" b="1" dirty="0">
                <a:solidFill>
                  <a:srgbClr val="008000"/>
                </a:solidFill>
                <a:latin typeface="Consolas" panose="020B0609020204030204"/>
                <a:cs typeface="Consolas" panose="020B0609020204030204"/>
              </a:rPr>
              <a:t>except</a:t>
            </a:r>
            <a:r>
              <a:rPr sz="1800" b="1" spc="-55" dirty="0">
                <a:solidFill>
                  <a:srgbClr val="008000"/>
                </a:solidFill>
                <a:latin typeface="Consolas" panose="020B0609020204030204"/>
                <a:cs typeface="Consolas" panose="020B0609020204030204"/>
              </a:rPr>
              <a:t> </a:t>
            </a:r>
            <a:r>
              <a:rPr sz="1800" b="1" dirty="0">
                <a:solidFill>
                  <a:srgbClr val="D2413A"/>
                </a:solidFill>
                <a:latin typeface="Consolas" panose="020B0609020204030204"/>
                <a:cs typeface="Consolas" panose="020B0609020204030204"/>
              </a:rPr>
              <a:t>KeyboardInterrupt:</a:t>
            </a:r>
            <a:endParaRPr sz="1800">
              <a:latin typeface="Consolas" panose="020B0609020204030204"/>
              <a:cs typeface="Consolas" panose="020B0609020204030204"/>
            </a:endParaRPr>
          </a:p>
          <a:p>
            <a:pPr marL="514985">
              <a:lnSpc>
                <a:spcPts val="2130"/>
              </a:lnSpc>
            </a:pPr>
            <a:r>
              <a:rPr sz="1800" dirty="0">
                <a:solidFill>
                  <a:srgbClr val="008000"/>
                </a:solidFill>
                <a:latin typeface="Consolas" panose="020B0609020204030204"/>
                <a:cs typeface="Consolas" panose="020B0609020204030204"/>
              </a:rPr>
              <a:t>exit(</a:t>
            </a:r>
            <a:r>
              <a:rPr sz="1800" dirty="0">
                <a:solidFill>
                  <a:srgbClr val="666666"/>
                </a:solidFill>
                <a:latin typeface="Consolas" panose="020B0609020204030204"/>
                <a:cs typeface="Consolas" panose="020B0609020204030204"/>
              </a:rPr>
              <a:t>0)</a:t>
            </a:r>
            <a:endParaRPr sz="1800">
              <a:latin typeface="Consolas" panose="020B0609020204030204"/>
              <a:cs typeface="Consolas" panose="020B0609020204030204"/>
            </a:endParaRPr>
          </a:p>
          <a:p>
            <a:pPr marL="514985" marR="5080" indent="-502920">
              <a:lnSpc>
                <a:spcPts val="2100"/>
              </a:lnSpc>
              <a:spcBef>
                <a:spcPts val="160"/>
              </a:spcBef>
            </a:pPr>
            <a:r>
              <a:rPr sz="1800" b="1" dirty="0">
                <a:solidFill>
                  <a:srgbClr val="008000"/>
                </a:solidFill>
                <a:latin typeface="Consolas" panose="020B0609020204030204"/>
                <a:cs typeface="Consolas" panose="020B0609020204030204"/>
              </a:rPr>
              <a:t>except </a:t>
            </a:r>
            <a:r>
              <a:rPr sz="1800" b="1" dirty="0">
                <a:solidFill>
                  <a:srgbClr val="D2413A"/>
                </a:solidFill>
                <a:latin typeface="Consolas" panose="020B0609020204030204"/>
                <a:cs typeface="Consolas" panose="020B0609020204030204"/>
              </a:rPr>
              <a:t>IOError </a:t>
            </a:r>
            <a:r>
              <a:rPr sz="1800" b="1" dirty="0">
                <a:solidFill>
                  <a:srgbClr val="008000"/>
                </a:solidFill>
                <a:latin typeface="Consolas" panose="020B0609020204030204"/>
                <a:cs typeface="Consolas" panose="020B0609020204030204"/>
              </a:rPr>
              <a:t>as e:  print(</a:t>
            </a:r>
            <a:r>
              <a:rPr sz="1800" b="1" dirty="0">
                <a:solidFill>
                  <a:srgbClr val="BA2121"/>
                </a:solidFill>
                <a:latin typeface="Consolas" panose="020B0609020204030204"/>
                <a:cs typeface="Consolas" panose="020B0609020204030204"/>
              </a:rPr>
              <a:t>"IO failed:",</a:t>
            </a:r>
            <a:r>
              <a:rPr sz="1800" b="1" spc="-100" dirty="0">
                <a:solidFill>
                  <a:srgbClr val="BA2121"/>
                </a:solidFill>
                <a:latin typeface="Consolas" panose="020B0609020204030204"/>
                <a:cs typeface="Consolas" panose="020B0609020204030204"/>
              </a:rPr>
              <a:t> </a:t>
            </a:r>
            <a:r>
              <a:rPr sz="1800" b="1" dirty="0">
                <a:solidFill>
                  <a:srgbClr val="BA2121"/>
                </a:solidFill>
                <a:latin typeface="Consolas" panose="020B0609020204030204"/>
                <a:cs typeface="Consolas" panose="020B0609020204030204"/>
              </a:rPr>
              <a:t>e)</a:t>
            </a:r>
            <a:endParaRPr sz="1800">
              <a:latin typeface="Consolas" panose="020B0609020204030204"/>
              <a:cs typeface="Consolas" panose="020B0609020204030204"/>
            </a:endParaRPr>
          </a:p>
        </p:txBody>
      </p:sp>
      <p:sp>
        <p:nvSpPr>
          <p:cNvPr id="4" name="object 4"/>
          <p:cNvSpPr txBox="1"/>
          <p:nvPr/>
        </p:nvSpPr>
        <p:spPr>
          <a:xfrm>
            <a:off x="1196338" y="3552216"/>
            <a:ext cx="9867900" cy="1841500"/>
          </a:xfrm>
          <a:prstGeom prst="rect">
            <a:avLst/>
          </a:prstGeom>
        </p:spPr>
        <p:txBody>
          <a:bodyPr vert="horz" wrap="square" lIns="0" tIns="12700" rIns="0" bIns="0" rtlCol="0">
            <a:spAutoFit/>
          </a:bodyPr>
          <a:lstStyle/>
          <a:p>
            <a:pPr marL="355600" indent="-342900">
              <a:lnSpc>
                <a:spcPct val="100000"/>
              </a:lnSpc>
              <a:spcBef>
                <a:spcPts val="100"/>
              </a:spcBef>
              <a:buFont typeface="Arial" panose="020B0604020202020204"/>
              <a:buChar char="•"/>
              <a:tabLst>
                <a:tab pos="354965" algn="l"/>
                <a:tab pos="355600" algn="l"/>
              </a:tabLst>
            </a:pPr>
            <a:r>
              <a:rPr sz="2200" dirty="0">
                <a:latin typeface="微软雅黑" panose="020B0503020204020204" pitchFamily="34" charset="-122"/>
                <a:cs typeface="微软雅黑" panose="020B0503020204020204" pitchFamily="34" charset="-122"/>
              </a:rPr>
              <a:t>在关键部分应该检查变量合法性，包括类型和取值范围等，避免“雪球效应”</a:t>
            </a:r>
          </a:p>
          <a:p>
            <a:pPr>
              <a:lnSpc>
                <a:spcPct val="100000"/>
              </a:lnSpc>
              <a:spcBef>
                <a:spcPts val="45"/>
              </a:spcBef>
            </a:pPr>
            <a:endParaRPr sz="2650" dirty="0">
              <a:latin typeface="Times New Roman" panose="02020603050405020304"/>
              <a:cs typeface="Times New Roman" panose="02020603050405020304"/>
            </a:endParaRPr>
          </a:p>
          <a:p>
            <a:pPr marL="232410">
              <a:lnSpc>
                <a:spcPts val="2130"/>
              </a:lnSpc>
            </a:pPr>
            <a:r>
              <a:rPr sz="1800" b="1" dirty="0">
                <a:solidFill>
                  <a:srgbClr val="008000"/>
                </a:solidFill>
                <a:latin typeface="Consolas" panose="020B0609020204030204"/>
                <a:cs typeface="Consolas" panose="020B0609020204030204"/>
              </a:rPr>
              <a:t>def</a:t>
            </a:r>
            <a:r>
              <a:rPr sz="1800" b="1" spc="-5" dirty="0">
                <a:solidFill>
                  <a:srgbClr val="008000"/>
                </a:solidFill>
                <a:latin typeface="Consolas" panose="020B0609020204030204"/>
                <a:cs typeface="Consolas" panose="020B0609020204030204"/>
              </a:rPr>
              <a:t> </a:t>
            </a:r>
            <a:r>
              <a:rPr sz="1800" b="1" dirty="0">
                <a:solidFill>
                  <a:srgbClr val="0000FF"/>
                </a:solidFill>
                <a:latin typeface="Consolas" panose="020B0609020204030204"/>
                <a:cs typeface="Consolas" panose="020B0609020204030204"/>
              </a:rPr>
              <a:t>sqrt(n):</a:t>
            </a:r>
            <a:endParaRPr sz="1800" dirty="0">
              <a:latin typeface="Consolas" panose="020B0609020204030204"/>
              <a:cs typeface="Consolas" panose="020B0609020204030204"/>
            </a:endParaRPr>
          </a:p>
          <a:p>
            <a:pPr marL="735330" marR="4599305">
              <a:lnSpc>
                <a:spcPts val="2200"/>
              </a:lnSpc>
              <a:spcBef>
                <a:spcPts val="10"/>
              </a:spcBef>
            </a:pPr>
            <a:r>
              <a:rPr sz="1800" b="1" dirty="0">
                <a:solidFill>
                  <a:srgbClr val="008000"/>
                </a:solidFill>
                <a:latin typeface="Consolas" panose="020B0609020204030204"/>
                <a:cs typeface="Consolas" panose="020B0609020204030204"/>
              </a:rPr>
              <a:t>assert isinstance(n, (float, int,</a:t>
            </a:r>
            <a:r>
              <a:rPr sz="1800" b="1" spc="-110" dirty="0">
                <a:solidFill>
                  <a:srgbClr val="008000"/>
                </a:solidFill>
                <a:latin typeface="Consolas" panose="020B0609020204030204"/>
                <a:cs typeface="Consolas" panose="020B0609020204030204"/>
              </a:rPr>
              <a:t> </a:t>
            </a:r>
            <a:r>
              <a:rPr sz="1800" b="1" dirty="0">
                <a:solidFill>
                  <a:srgbClr val="008000"/>
                </a:solidFill>
                <a:latin typeface="Consolas" panose="020B0609020204030204"/>
                <a:cs typeface="Consolas" panose="020B0609020204030204"/>
              </a:rPr>
              <a:t>))  assert n </a:t>
            </a:r>
            <a:r>
              <a:rPr sz="1800" b="1" dirty="0">
                <a:solidFill>
                  <a:srgbClr val="666666"/>
                </a:solidFill>
                <a:latin typeface="Consolas" panose="020B0609020204030204"/>
                <a:cs typeface="Consolas" panose="020B0609020204030204"/>
              </a:rPr>
              <a:t>&gt;</a:t>
            </a:r>
            <a:r>
              <a:rPr sz="1800" b="1" spc="-15" dirty="0">
                <a:solidFill>
                  <a:srgbClr val="666666"/>
                </a:solidFill>
                <a:latin typeface="Consolas" panose="020B0609020204030204"/>
                <a:cs typeface="Consolas" panose="020B0609020204030204"/>
              </a:rPr>
              <a:t> </a:t>
            </a:r>
            <a:r>
              <a:rPr sz="1800" b="1" dirty="0">
                <a:solidFill>
                  <a:srgbClr val="666666"/>
                </a:solidFill>
                <a:latin typeface="Consolas" panose="020B0609020204030204"/>
                <a:cs typeface="Consolas" panose="020B0609020204030204"/>
              </a:rPr>
              <a:t>0</a:t>
            </a:r>
            <a:endParaRPr sz="1800" dirty="0">
              <a:latin typeface="Consolas" panose="020B0609020204030204"/>
              <a:cs typeface="Consolas" panose="020B0609020204030204"/>
            </a:endParaRPr>
          </a:p>
          <a:p>
            <a:pPr marL="735330">
              <a:lnSpc>
                <a:spcPts val="2020"/>
              </a:lnSpc>
            </a:pPr>
            <a:r>
              <a:rPr sz="1800" b="1" dirty="0">
                <a:solidFill>
                  <a:srgbClr val="008000"/>
                </a:solidFill>
                <a:latin typeface="Consolas" panose="020B0609020204030204"/>
                <a:cs typeface="Consolas" panose="020B0609020204030204"/>
              </a:rPr>
              <a:t>return</a:t>
            </a:r>
            <a:r>
              <a:rPr sz="1800" b="1" spc="-5" dirty="0">
                <a:solidFill>
                  <a:srgbClr val="008000"/>
                </a:solidFill>
                <a:latin typeface="Consolas" panose="020B0609020204030204"/>
                <a:cs typeface="Consolas" panose="020B0609020204030204"/>
              </a:rPr>
              <a:t> </a:t>
            </a:r>
            <a:r>
              <a:rPr sz="1800" b="1" dirty="0">
                <a:solidFill>
                  <a:srgbClr val="008000"/>
                </a:solidFill>
                <a:latin typeface="Consolas" panose="020B0609020204030204"/>
                <a:cs typeface="Consolas" panose="020B0609020204030204"/>
              </a:rPr>
              <a:t>math</a:t>
            </a:r>
            <a:r>
              <a:rPr sz="1800" b="1" dirty="0">
                <a:solidFill>
                  <a:srgbClr val="666666"/>
                </a:solidFill>
                <a:latin typeface="Consolas" panose="020B0609020204030204"/>
                <a:cs typeface="Consolas" panose="020B0609020204030204"/>
              </a:rPr>
              <a:t>.sqrt(n)</a:t>
            </a:r>
            <a:endParaRPr sz="1800" dirty="0">
              <a:latin typeface="Consolas" panose="020B0609020204030204"/>
              <a:cs typeface="Consolas" panose="020B0609020204030204"/>
            </a:endParaRPr>
          </a:p>
        </p:txBody>
      </p:sp>
      <p:sp>
        <p:nvSpPr>
          <p:cNvPr id="5" name="object 5"/>
          <p:cNvSpPr txBox="1"/>
          <p:nvPr/>
        </p:nvSpPr>
        <p:spPr>
          <a:xfrm>
            <a:off x="5611283" y="1788535"/>
            <a:ext cx="5137150" cy="965200"/>
          </a:xfrm>
          <a:prstGeom prst="rect">
            <a:avLst/>
          </a:prstGeom>
        </p:spPr>
        <p:txBody>
          <a:bodyPr vert="horz" wrap="square" lIns="0" tIns="147320" rIns="0" bIns="0" rtlCol="0">
            <a:spAutoFit/>
          </a:bodyPr>
          <a:lstStyle/>
          <a:p>
            <a:pPr marL="374650" indent="-361950">
              <a:lnSpc>
                <a:spcPct val="100000"/>
              </a:lnSpc>
              <a:spcBef>
                <a:spcPts val="1160"/>
              </a:spcBef>
              <a:buFont typeface="Arial" panose="020B0604020202020204"/>
              <a:buChar char="•"/>
              <a:tabLst>
                <a:tab pos="374015" algn="l"/>
                <a:tab pos="374650" algn="l"/>
              </a:tabLst>
            </a:pPr>
            <a:r>
              <a:rPr sz="2200" dirty="0">
                <a:latin typeface="微软雅黑" panose="020B0503020204020204" pitchFamily="34" charset="-122"/>
                <a:cs typeface="微软雅黑" panose="020B0503020204020204" pitchFamily="34" charset="-122"/>
              </a:rPr>
              <a:t>细化具体的异常类型，更有针对地处理</a:t>
            </a:r>
            <a:endParaRPr sz="2200">
              <a:latin typeface="微软雅黑" panose="020B0503020204020204" pitchFamily="34" charset="-122"/>
              <a:cs typeface="微软雅黑" panose="020B0503020204020204" pitchFamily="34" charset="-122"/>
            </a:endParaRPr>
          </a:p>
          <a:p>
            <a:pPr marL="374650" indent="-361950">
              <a:lnSpc>
                <a:spcPct val="100000"/>
              </a:lnSpc>
              <a:spcBef>
                <a:spcPts val="1060"/>
              </a:spcBef>
              <a:buFont typeface="Arial" panose="020B0604020202020204"/>
              <a:buChar char="•"/>
              <a:tabLst>
                <a:tab pos="374015" algn="l"/>
                <a:tab pos="374650" algn="l"/>
              </a:tabLst>
            </a:pPr>
            <a:r>
              <a:rPr sz="2200" dirty="0">
                <a:latin typeface="微软雅黑" panose="020B0503020204020204" pitchFamily="34" charset="-122"/>
                <a:cs typeface="微软雅黑" panose="020B0503020204020204" pitchFamily="34" charset="-122"/>
              </a:rPr>
              <a:t>减少</a:t>
            </a:r>
            <a:r>
              <a:rPr sz="2200" spc="-5" dirty="0">
                <a:latin typeface="微软雅黑" panose="020B0503020204020204" pitchFamily="34" charset="-122"/>
                <a:cs typeface="微软雅黑" panose="020B0503020204020204" pitchFamily="34" charset="-122"/>
              </a:rPr>
              <a:t> </a:t>
            </a:r>
            <a:r>
              <a:rPr sz="2200" spc="-5" dirty="0">
                <a:latin typeface="Arial" panose="020B0604020202020204"/>
                <a:cs typeface="Arial" panose="020B0604020202020204"/>
              </a:rPr>
              <a:t>try/except</a:t>
            </a:r>
            <a:r>
              <a:rPr sz="2200" spc="30" dirty="0">
                <a:latin typeface="Arial" panose="020B0604020202020204"/>
                <a:cs typeface="Arial" panose="020B0604020202020204"/>
              </a:rPr>
              <a:t> </a:t>
            </a:r>
            <a:r>
              <a:rPr sz="2200" dirty="0">
                <a:latin typeface="微软雅黑" panose="020B0503020204020204" pitchFamily="34" charset="-122"/>
                <a:cs typeface="微软雅黑" panose="020B0503020204020204" pitchFamily="34" charset="-122"/>
              </a:rPr>
              <a:t>块中的代码量</a:t>
            </a:r>
            <a:endParaRPr sz="2200">
              <a:latin typeface="微软雅黑" panose="020B0503020204020204" pitchFamily="34" charset="-122"/>
              <a:cs typeface="微软雅黑" panose="020B0503020204020204" pitchFamily="34" charset="-122"/>
            </a:endParaRPr>
          </a:p>
        </p:txBody>
      </p:sp>
      <p:sp>
        <p:nvSpPr>
          <p:cNvPr id="7" name="标题 6"/>
          <p:cNvSpPr>
            <a:spLocks noGrp="1"/>
          </p:cNvSpPr>
          <p:nvPr>
            <p:ph type="title"/>
          </p:nvPr>
        </p:nvSpPr>
        <p:spPr/>
        <p:txBody>
          <a:bodyPr/>
          <a:lstStyle/>
          <a:p>
            <a:r>
              <a:rPr lang="en-US" altLang="zh-CN" dirty="0">
                <a:latin typeface="Arial" panose="020B0604020202020204"/>
                <a:cs typeface="Arial" panose="020B0604020202020204"/>
              </a:rPr>
              <a:t>Pyt</a:t>
            </a:r>
            <a:r>
              <a:rPr lang="en-US" altLang="zh-CN" spc="-5" dirty="0">
                <a:latin typeface="Arial" panose="020B0604020202020204"/>
                <a:cs typeface="Arial" panose="020B0604020202020204"/>
              </a:rPr>
              <a:t>ho</a:t>
            </a:r>
            <a:r>
              <a:rPr lang="en-US" altLang="zh-CN" dirty="0">
                <a:latin typeface="Arial" panose="020B0604020202020204"/>
                <a:cs typeface="Arial" panose="020B0604020202020204"/>
              </a:rPr>
              <a:t>n</a:t>
            </a:r>
            <a:r>
              <a:rPr lang="zh-CN" altLang="en-US" dirty="0"/>
              <a:t>程序异常处理</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49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7336"/>
    </mc:Choice>
    <mc:Fallback xmlns="">
      <p:transition spd="slow" advTm="57336"/>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253276" y="3064386"/>
            <a:ext cx="1816099" cy="2438400"/>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3347232" y="3450165"/>
            <a:ext cx="7607298" cy="1549399"/>
          </a:xfrm>
          <a:prstGeom prst="rect">
            <a:avLst/>
          </a:prstGeom>
          <a:blipFill>
            <a:blip r:embed="rId4" cstate="print"/>
            <a:stretch>
              <a:fillRect/>
            </a:stretch>
          </a:blipFill>
        </p:spPr>
        <p:txBody>
          <a:bodyPr wrap="square" lIns="0" tIns="0" rIns="0" bIns="0" rtlCol="0"/>
          <a:lstStyle/>
          <a:p>
            <a:endParaRPr/>
          </a:p>
        </p:txBody>
      </p:sp>
      <p:sp>
        <p:nvSpPr>
          <p:cNvPr id="5" name="object 5"/>
          <p:cNvSpPr txBox="1"/>
          <p:nvPr/>
        </p:nvSpPr>
        <p:spPr>
          <a:xfrm>
            <a:off x="1191681" y="1653066"/>
            <a:ext cx="9879965" cy="965200"/>
          </a:xfrm>
          <a:prstGeom prst="rect">
            <a:avLst/>
          </a:prstGeom>
        </p:spPr>
        <p:txBody>
          <a:bodyPr vert="horz" wrap="square" lIns="0" tIns="147320" rIns="0" bIns="0" rtlCol="0">
            <a:spAutoFit/>
          </a:bodyPr>
          <a:lstStyle/>
          <a:p>
            <a:pPr marL="374650" indent="-361950">
              <a:lnSpc>
                <a:spcPct val="100000"/>
              </a:lnSpc>
              <a:spcBef>
                <a:spcPts val="1160"/>
              </a:spcBef>
              <a:buFont typeface="Arial" panose="020B0604020202020204"/>
              <a:buChar char="•"/>
              <a:tabLst>
                <a:tab pos="374015" algn="l"/>
                <a:tab pos="374650" algn="l"/>
              </a:tabLst>
            </a:pPr>
            <a:r>
              <a:rPr sz="2200" dirty="0">
                <a:latin typeface="微软雅黑" panose="020B0503020204020204" pitchFamily="34" charset="-122"/>
                <a:cs typeface="微软雅黑" panose="020B0503020204020204" pitchFamily="34" charset="-122"/>
              </a:rPr>
              <a:t>目前给出的版本是通过命令行的方式运行并且用控制台打印出地图状态。</a:t>
            </a:r>
          </a:p>
          <a:p>
            <a:pPr marL="374650" indent="-361950">
              <a:lnSpc>
                <a:spcPct val="100000"/>
              </a:lnSpc>
              <a:spcBef>
                <a:spcPts val="1060"/>
              </a:spcBef>
              <a:buFont typeface="Arial" panose="020B0604020202020204"/>
              <a:buChar char="•"/>
              <a:tabLst>
                <a:tab pos="374015" algn="l"/>
                <a:tab pos="374650" algn="l"/>
              </a:tabLst>
            </a:pPr>
            <a:r>
              <a:rPr sz="2200" dirty="0">
                <a:latin typeface="微软雅黑" panose="020B0503020204020204" pitchFamily="34" charset="-122"/>
                <a:cs typeface="微软雅黑" panose="020B0503020204020204" pitchFamily="34" charset="-122"/>
              </a:rPr>
              <a:t>可以通过常见的</a:t>
            </a:r>
            <a:r>
              <a:rPr sz="2200" spc="-5" dirty="0">
                <a:latin typeface="Arial" panose="020B0604020202020204"/>
                <a:cs typeface="Arial" panose="020B0604020202020204"/>
              </a:rPr>
              <a:t>Ctrl+C</a:t>
            </a:r>
            <a:r>
              <a:rPr sz="2200" dirty="0">
                <a:latin typeface="微软雅黑" panose="020B0503020204020204" pitchFamily="34" charset="-122"/>
                <a:cs typeface="微软雅黑" panose="020B0503020204020204" pitchFamily="34" charset="-122"/>
              </a:rPr>
              <a:t>方式来终止命令行程序，但这会在</a:t>
            </a:r>
            <a:r>
              <a:rPr sz="2200" spc="-5" dirty="0">
                <a:latin typeface="Arial" panose="020B0604020202020204"/>
                <a:cs typeface="Arial" panose="020B0604020202020204"/>
              </a:rPr>
              <a:t>Python</a:t>
            </a:r>
            <a:r>
              <a:rPr sz="2200" dirty="0">
                <a:latin typeface="微软雅黑" panose="020B0503020204020204" pitchFamily="34" charset="-122"/>
                <a:cs typeface="微软雅黑" panose="020B0503020204020204" pitchFamily="34" charset="-122"/>
              </a:rPr>
              <a:t>中引发异常。</a:t>
            </a:r>
          </a:p>
        </p:txBody>
      </p:sp>
      <p:sp>
        <p:nvSpPr>
          <p:cNvPr id="7" name="标题 6"/>
          <p:cNvSpPr>
            <a:spLocks noGrp="1"/>
          </p:cNvSpPr>
          <p:nvPr>
            <p:ph type="title"/>
          </p:nvPr>
        </p:nvSpPr>
        <p:spPr/>
        <p:txBody>
          <a:bodyPr/>
          <a:lstStyle/>
          <a:p>
            <a:r>
              <a:rPr lang="zh-CN" altLang="en-US" dirty="0"/>
              <a:t>案例：生命游戏</a:t>
            </a:r>
          </a:p>
        </p:txBody>
      </p:sp>
      <p:sp>
        <p:nvSpPr>
          <p:cNvPr id="6" name="灯片编号占位符 5"/>
          <p:cNvSpPr>
            <a:spLocks noGrp="1"/>
          </p:cNvSpPr>
          <p:nvPr>
            <p:ph type="sldNum" sz="quarter" idx="12"/>
          </p:nvPr>
        </p:nvSpPr>
        <p:spPr/>
        <p:txBody>
          <a:bodyPr/>
          <a:lstStyle/>
          <a:p>
            <a:fld id="{74D2AB8B-5816-41F2-8B4B-CA5C3E4E6A65}" type="slidenum">
              <a:rPr lang="zh-CN" altLang="en-US" smtClean="0"/>
              <a:t>50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6795"/>
    </mc:Choice>
    <mc:Fallback xmlns="">
      <p:transition spd="slow" advTm="36795"/>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395807" y="1468146"/>
            <a:ext cx="4048125" cy="1391920"/>
          </a:xfrm>
          <a:prstGeom prst="rect">
            <a:avLst/>
          </a:prstGeom>
        </p:spPr>
        <p:txBody>
          <a:bodyPr vert="horz" wrap="square" lIns="0" tIns="27939" rIns="0" bIns="0" rtlCol="0">
            <a:spAutoFit/>
          </a:bodyPr>
          <a:lstStyle/>
          <a:p>
            <a:pPr marL="514985" marR="758825" indent="-502920">
              <a:lnSpc>
                <a:spcPts val="2100"/>
              </a:lnSpc>
              <a:spcBef>
                <a:spcPts val="220"/>
              </a:spcBef>
              <a:tabLst>
                <a:tab pos="640715" algn="l"/>
                <a:tab pos="1395095" algn="l"/>
                <a:tab pos="2274570" algn="l"/>
                <a:tab pos="3028950" algn="l"/>
              </a:tabLst>
            </a:pPr>
            <a:r>
              <a:rPr sz="1800" b="1" dirty="0">
                <a:solidFill>
                  <a:srgbClr val="008000"/>
                </a:solidFill>
                <a:latin typeface="Consolas" panose="020B0609020204030204"/>
                <a:cs typeface="Consolas" panose="020B0609020204030204"/>
              </a:rPr>
              <a:t>if </a:t>
            </a:r>
            <a:r>
              <a:rPr sz="1800" u="heavy" dirty="0">
                <a:solidFill>
                  <a:srgbClr val="008000"/>
                </a:solidFill>
                <a:uFill>
                  <a:solidFill>
                    <a:srgbClr val="007F00"/>
                  </a:solidFill>
                </a:uFill>
                <a:latin typeface="Times New Roman" panose="02020603050405020304"/>
                <a:cs typeface="Times New Roman" panose="02020603050405020304"/>
              </a:rPr>
              <a:t> 		</a:t>
            </a:r>
            <a:r>
              <a:rPr sz="1800" b="1" dirty="0">
                <a:solidFill>
                  <a:srgbClr val="008000"/>
                </a:solidFill>
                <a:latin typeface="Consolas" panose="020B0609020204030204"/>
                <a:cs typeface="Consolas" panose="020B0609020204030204"/>
              </a:rPr>
              <a:t>name</a:t>
            </a:r>
            <a:r>
              <a:rPr sz="1800" u="heavy" dirty="0">
                <a:solidFill>
                  <a:srgbClr val="008000"/>
                </a:solidFill>
                <a:uFill>
                  <a:solidFill>
                    <a:srgbClr val="007F00"/>
                  </a:solidFill>
                </a:uFill>
                <a:latin typeface="Times New Roman" panose="02020603050405020304"/>
                <a:cs typeface="Times New Roman" panose="02020603050405020304"/>
              </a:rPr>
              <a:t> 	</a:t>
            </a:r>
            <a:r>
              <a:rPr sz="1800" dirty="0">
                <a:solidFill>
                  <a:srgbClr val="008000"/>
                </a:solidFill>
                <a:latin typeface="Times New Roman" panose="02020603050405020304"/>
                <a:cs typeface="Times New Roman" panose="02020603050405020304"/>
              </a:rPr>
              <a:t> </a:t>
            </a:r>
            <a:r>
              <a:rPr sz="1800" spc="85" dirty="0">
                <a:solidFill>
                  <a:srgbClr val="008000"/>
                </a:solidFill>
                <a:latin typeface="Times New Roman" panose="02020603050405020304"/>
                <a:cs typeface="Times New Roman" panose="02020603050405020304"/>
              </a:rPr>
              <a:t> </a:t>
            </a:r>
            <a:r>
              <a:rPr sz="1800" b="1" dirty="0">
                <a:solidFill>
                  <a:srgbClr val="666666"/>
                </a:solidFill>
                <a:latin typeface="Consolas" panose="020B0609020204030204"/>
                <a:cs typeface="Consolas" panose="020B0609020204030204"/>
              </a:rPr>
              <a:t>==</a:t>
            </a:r>
            <a:r>
              <a:rPr sz="1800" b="1" spc="-5" dirty="0">
                <a:solidFill>
                  <a:srgbClr val="666666"/>
                </a:solidFill>
                <a:latin typeface="Consolas" panose="020B0609020204030204"/>
                <a:cs typeface="Consolas" panose="020B0609020204030204"/>
              </a:rPr>
              <a:t> </a:t>
            </a:r>
            <a:r>
              <a:rPr sz="1800" b="1" dirty="0">
                <a:solidFill>
                  <a:srgbClr val="BA2121"/>
                </a:solidFill>
                <a:latin typeface="Consolas" panose="020B0609020204030204"/>
                <a:cs typeface="Consolas" panose="020B0609020204030204"/>
              </a:rPr>
              <a:t>'</a:t>
            </a:r>
            <a:r>
              <a:rPr sz="1800" u="heavy" dirty="0">
                <a:solidFill>
                  <a:srgbClr val="BA2121"/>
                </a:solidFill>
                <a:uFill>
                  <a:solidFill>
                    <a:srgbClr val="B92020"/>
                  </a:solidFill>
                </a:uFill>
                <a:latin typeface="Times New Roman" panose="02020603050405020304"/>
                <a:cs typeface="Times New Roman" panose="02020603050405020304"/>
              </a:rPr>
              <a:t> 	</a:t>
            </a:r>
            <a:r>
              <a:rPr sz="1800" b="1" dirty="0">
                <a:solidFill>
                  <a:srgbClr val="BA2121"/>
                </a:solidFill>
                <a:latin typeface="Consolas" panose="020B0609020204030204"/>
                <a:cs typeface="Consolas" panose="020B0609020204030204"/>
              </a:rPr>
              <a:t>main</a:t>
            </a:r>
            <a:r>
              <a:rPr sz="1800" u="heavy" dirty="0">
                <a:solidFill>
                  <a:srgbClr val="BA2121"/>
                </a:solidFill>
                <a:uFill>
                  <a:solidFill>
                    <a:srgbClr val="B92020"/>
                  </a:solidFill>
                </a:uFill>
                <a:latin typeface="Times New Roman" panose="02020603050405020304"/>
                <a:cs typeface="Times New Roman" panose="02020603050405020304"/>
              </a:rPr>
              <a:t> 	</a:t>
            </a:r>
            <a:r>
              <a:rPr sz="1800" b="1" dirty="0">
                <a:solidFill>
                  <a:srgbClr val="BA2121"/>
                </a:solidFill>
                <a:latin typeface="Consolas" panose="020B0609020204030204"/>
                <a:cs typeface="Consolas" panose="020B0609020204030204"/>
              </a:rPr>
              <a:t>':  </a:t>
            </a:r>
            <a:r>
              <a:rPr sz="1800" b="1" dirty="0">
                <a:solidFill>
                  <a:srgbClr val="008000"/>
                </a:solidFill>
                <a:latin typeface="Consolas" panose="020B0609020204030204"/>
                <a:cs typeface="Consolas" panose="020B0609020204030204"/>
              </a:rPr>
              <a:t>try:</a:t>
            </a:r>
            <a:endParaRPr sz="1800">
              <a:latin typeface="Consolas" panose="020B0609020204030204"/>
              <a:cs typeface="Consolas" panose="020B0609020204030204"/>
            </a:endParaRPr>
          </a:p>
          <a:p>
            <a:pPr marL="1017905">
              <a:lnSpc>
                <a:spcPts val="2110"/>
              </a:lnSpc>
            </a:pPr>
            <a:r>
              <a:rPr sz="1800" dirty="0">
                <a:solidFill>
                  <a:srgbClr val="008000"/>
                </a:solidFill>
                <a:latin typeface="Consolas" panose="020B0609020204030204"/>
                <a:cs typeface="Consolas" panose="020B0609020204030204"/>
              </a:rPr>
              <a:t>exit(main(sys</a:t>
            </a:r>
            <a:r>
              <a:rPr sz="1800" dirty="0">
                <a:solidFill>
                  <a:srgbClr val="666666"/>
                </a:solidFill>
                <a:latin typeface="Consolas" panose="020B0609020204030204"/>
                <a:cs typeface="Consolas" panose="020B0609020204030204"/>
              </a:rPr>
              <a:t>.argv[1:]))</a:t>
            </a:r>
            <a:endParaRPr sz="1800">
              <a:latin typeface="Consolas" panose="020B0609020204030204"/>
              <a:cs typeface="Consolas" panose="020B0609020204030204"/>
            </a:endParaRPr>
          </a:p>
          <a:p>
            <a:pPr marL="514985">
              <a:lnSpc>
                <a:spcPts val="2130"/>
              </a:lnSpc>
            </a:pPr>
            <a:r>
              <a:rPr sz="1800" b="1" dirty="0">
                <a:solidFill>
                  <a:srgbClr val="008000"/>
                </a:solidFill>
                <a:latin typeface="Consolas" panose="020B0609020204030204"/>
                <a:cs typeface="Consolas" panose="020B0609020204030204"/>
              </a:rPr>
              <a:t>except</a:t>
            </a:r>
            <a:r>
              <a:rPr sz="1800" b="1" spc="-25" dirty="0">
                <a:solidFill>
                  <a:srgbClr val="008000"/>
                </a:solidFill>
                <a:latin typeface="Consolas" panose="020B0609020204030204"/>
                <a:cs typeface="Consolas" panose="020B0609020204030204"/>
              </a:rPr>
              <a:t> </a:t>
            </a:r>
            <a:r>
              <a:rPr sz="1800" b="1" dirty="0">
                <a:solidFill>
                  <a:srgbClr val="D2413A"/>
                </a:solidFill>
                <a:latin typeface="Consolas" panose="020B0609020204030204"/>
                <a:cs typeface="Consolas" panose="020B0609020204030204"/>
              </a:rPr>
              <a:t>KeyboardInterrupt:</a:t>
            </a:r>
            <a:endParaRPr sz="1800">
              <a:latin typeface="Consolas" panose="020B0609020204030204"/>
              <a:cs typeface="Consolas" panose="020B0609020204030204"/>
            </a:endParaRPr>
          </a:p>
          <a:p>
            <a:pPr marL="1017905">
              <a:lnSpc>
                <a:spcPct val="100000"/>
              </a:lnSpc>
              <a:spcBef>
                <a:spcPts val="40"/>
              </a:spcBef>
            </a:pPr>
            <a:r>
              <a:rPr sz="1800" dirty="0">
                <a:solidFill>
                  <a:srgbClr val="008000"/>
                </a:solidFill>
                <a:latin typeface="Consolas" panose="020B0609020204030204"/>
                <a:cs typeface="Consolas" panose="020B0609020204030204"/>
              </a:rPr>
              <a:t>exit(</a:t>
            </a:r>
            <a:r>
              <a:rPr sz="1800" dirty="0">
                <a:solidFill>
                  <a:srgbClr val="666666"/>
                </a:solidFill>
                <a:latin typeface="Consolas" panose="020B0609020204030204"/>
                <a:cs typeface="Consolas" panose="020B0609020204030204"/>
              </a:rPr>
              <a:t>0)</a:t>
            </a:r>
            <a:endParaRPr sz="1800">
              <a:latin typeface="Consolas" panose="020B0609020204030204"/>
              <a:cs typeface="Consolas" panose="020B0609020204030204"/>
            </a:endParaRPr>
          </a:p>
        </p:txBody>
      </p:sp>
      <p:sp>
        <p:nvSpPr>
          <p:cNvPr id="4" name="object 4"/>
          <p:cNvSpPr txBox="1"/>
          <p:nvPr/>
        </p:nvSpPr>
        <p:spPr>
          <a:xfrm>
            <a:off x="5395803" y="3227148"/>
            <a:ext cx="2790825" cy="845819"/>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008000"/>
                </a:solidFill>
                <a:latin typeface="Consolas" panose="020B0609020204030204"/>
                <a:cs typeface="Consolas" panose="020B0609020204030204"/>
              </a:rPr>
              <a:t>class</a:t>
            </a:r>
            <a:r>
              <a:rPr sz="1800" b="1" spc="-105" dirty="0">
                <a:solidFill>
                  <a:srgbClr val="008000"/>
                </a:solidFill>
                <a:latin typeface="Consolas" panose="020B0609020204030204"/>
                <a:cs typeface="Consolas" panose="020B0609020204030204"/>
              </a:rPr>
              <a:t> </a:t>
            </a:r>
            <a:r>
              <a:rPr sz="1800" b="1" dirty="0">
                <a:solidFill>
                  <a:srgbClr val="0000FF"/>
                </a:solidFill>
                <a:latin typeface="Consolas" panose="020B0609020204030204"/>
                <a:cs typeface="Consolas" panose="020B0609020204030204"/>
              </a:rPr>
              <a:t>GameMap(</a:t>
            </a:r>
            <a:r>
              <a:rPr sz="1800" b="1" dirty="0">
                <a:solidFill>
                  <a:srgbClr val="008000"/>
                </a:solidFill>
                <a:latin typeface="Consolas" panose="020B0609020204030204"/>
                <a:cs typeface="Consolas" panose="020B0609020204030204"/>
              </a:rPr>
              <a:t>object):</a:t>
            </a:r>
            <a:endParaRPr sz="1800">
              <a:latin typeface="Consolas" panose="020B0609020204030204"/>
              <a:cs typeface="Consolas" panose="020B0609020204030204"/>
            </a:endParaRPr>
          </a:p>
          <a:p>
            <a:pPr>
              <a:lnSpc>
                <a:spcPct val="100000"/>
              </a:lnSpc>
              <a:spcBef>
                <a:spcPts val="10"/>
              </a:spcBef>
            </a:pPr>
            <a:endParaRPr sz="1850">
              <a:latin typeface="Times New Roman" panose="02020603050405020304"/>
              <a:cs typeface="Times New Roman" panose="02020603050405020304"/>
            </a:endParaRPr>
          </a:p>
          <a:p>
            <a:pPr marL="514985">
              <a:lnSpc>
                <a:spcPct val="100000"/>
              </a:lnSpc>
            </a:pPr>
            <a:r>
              <a:rPr sz="1800" dirty="0">
                <a:latin typeface="Consolas" panose="020B0609020204030204"/>
                <a:cs typeface="Consolas" panose="020B0609020204030204"/>
              </a:rPr>
              <a:t>MAX_MAP_SIZE </a:t>
            </a:r>
            <a:r>
              <a:rPr sz="1800" dirty="0">
                <a:solidFill>
                  <a:srgbClr val="666666"/>
                </a:solidFill>
                <a:latin typeface="Consolas" panose="020B0609020204030204"/>
                <a:cs typeface="Consolas" panose="020B0609020204030204"/>
              </a:rPr>
              <a:t>=</a:t>
            </a:r>
            <a:r>
              <a:rPr sz="1800" spc="-105" dirty="0">
                <a:solidFill>
                  <a:srgbClr val="666666"/>
                </a:solidFill>
                <a:latin typeface="Consolas" panose="020B0609020204030204"/>
                <a:cs typeface="Consolas" panose="020B0609020204030204"/>
              </a:rPr>
              <a:t> </a:t>
            </a:r>
            <a:r>
              <a:rPr sz="1800" dirty="0">
                <a:solidFill>
                  <a:srgbClr val="666666"/>
                </a:solidFill>
                <a:latin typeface="Consolas" panose="020B0609020204030204"/>
                <a:cs typeface="Consolas" panose="020B0609020204030204"/>
              </a:rPr>
              <a:t>100</a:t>
            </a:r>
            <a:endParaRPr sz="1800">
              <a:latin typeface="Consolas" panose="020B0609020204030204"/>
              <a:cs typeface="Consolas" panose="020B0609020204030204"/>
            </a:endParaRPr>
          </a:p>
        </p:txBody>
      </p:sp>
      <p:sp>
        <p:nvSpPr>
          <p:cNvPr id="5" name="object 5"/>
          <p:cNvSpPr txBox="1"/>
          <p:nvPr/>
        </p:nvSpPr>
        <p:spPr>
          <a:xfrm>
            <a:off x="5898544" y="4319348"/>
            <a:ext cx="5053330" cy="1391920"/>
          </a:xfrm>
          <a:prstGeom prst="rect">
            <a:avLst/>
          </a:prstGeom>
        </p:spPr>
        <p:txBody>
          <a:bodyPr vert="horz" wrap="square" lIns="0" tIns="13970" rIns="0" bIns="0" rtlCol="0">
            <a:spAutoFit/>
          </a:bodyPr>
          <a:lstStyle/>
          <a:p>
            <a:pPr marL="514985" marR="1010285" indent="-502920">
              <a:lnSpc>
                <a:spcPct val="100000"/>
              </a:lnSpc>
              <a:spcBef>
                <a:spcPts val="110"/>
              </a:spcBef>
              <a:tabLst>
                <a:tab pos="766445" algn="l"/>
                <a:tab pos="1520825" algn="l"/>
              </a:tabLst>
            </a:pPr>
            <a:r>
              <a:rPr sz="1800" b="1" dirty="0">
                <a:solidFill>
                  <a:srgbClr val="008000"/>
                </a:solidFill>
                <a:latin typeface="Consolas" panose="020B0609020204030204"/>
                <a:cs typeface="Consolas" panose="020B0609020204030204"/>
              </a:rPr>
              <a:t>def</a:t>
            </a:r>
            <a:r>
              <a:rPr sz="1800" b="1" u="heavy" dirty="0">
                <a:solidFill>
                  <a:srgbClr val="008000"/>
                </a:solidFill>
                <a:uFill>
                  <a:solidFill>
                    <a:srgbClr val="0000FE"/>
                  </a:solidFill>
                </a:uFill>
                <a:latin typeface="Consolas" panose="020B0609020204030204"/>
                <a:cs typeface="Consolas" panose="020B0609020204030204"/>
              </a:rPr>
              <a:t> 	</a:t>
            </a:r>
            <a:r>
              <a:rPr sz="1800" b="1" dirty="0">
                <a:solidFill>
                  <a:srgbClr val="0000FF"/>
                </a:solidFill>
                <a:latin typeface="Consolas" panose="020B0609020204030204"/>
                <a:cs typeface="Consolas" panose="020B0609020204030204"/>
              </a:rPr>
              <a:t>init</a:t>
            </a:r>
            <a:r>
              <a:rPr sz="1800" b="1" u="heavy" dirty="0">
                <a:solidFill>
                  <a:srgbClr val="0000FF"/>
                </a:solidFill>
                <a:uFill>
                  <a:solidFill>
                    <a:srgbClr val="0000FE"/>
                  </a:solidFill>
                </a:uFill>
                <a:latin typeface="Consolas" panose="020B0609020204030204"/>
                <a:cs typeface="Consolas" panose="020B0609020204030204"/>
              </a:rPr>
              <a:t> 	</a:t>
            </a:r>
            <a:r>
              <a:rPr sz="1800" b="1" dirty="0">
                <a:solidFill>
                  <a:srgbClr val="0000FF"/>
                </a:solidFill>
                <a:latin typeface="Consolas" panose="020B0609020204030204"/>
                <a:cs typeface="Consolas" panose="020B0609020204030204"/>
              </a:rPr>
              <a:t>(</a:t>
            </a:r>
            <a:r>
              <a:rPr sz="1800" b="1" dirty="0">
                <a:solidFill>
                  <a:srgbClr val="008000"/>
                </a:solidFill>
                <a:latin typeface="Consolas" panose="020B0609020204030204"/>
                <a:cs typeface="Consolas" panose="020B0609020204030204"/>
              </a:rPr>
              <a:t>self, rows, cols):  assert isinstance(rows,</a:t>
            </a:r>
            <a:r>
              <a:rPr sz="1800" b="1" spc="-110" dirty="0">
                <a:solidFill>
                  <a:srgbClr val="008000"/>
                </a:solidFill>
                <a:latin typeface="Consolas" panose="020B0609020204030204"/>
                <a:cs typeface="Consolas" panose="020B0609020204030204"/>
              </a:rPr>
              <a:t> </a:t>
            </a:r>
            <a:r>
              <a:rPr sz="1800" b="1" dirty="0">
                <a:solidFill>
                  <a:srgbClr val="008000"/>
                </a:solidFill>
                <a:latin typeface="Consolas" panose="020B0609020204030204"/>
                <a:cs typeface="Consolas" panose="020B0609020204030204"/>
              </a:rPr>
              <a:t>int)  assert isinstance(cols,</a:t>
            </a:r>
            <a:r>
              <a:rPr sz="1800" b="1" spc="-110" dirty="0">
                <a:solidFill>
                  <a:srgbClr val="008000"/>
                </a:solidFill>
                <a:latin typeface="Consolas" panose="020B0609020204030204"/>
                <a:cs typeface="Consolas" panose="020B0609020204030204"/>
              </a:rPr>
              <a:t> </a:t>
            </a:r>
            <a:r>
              <a:rPr sz="1800" b="1" dirty="0">
                <a:solidFill>
                  <a:srgbClr val="008000"/>
                </a:solidFill>
                <a:latin typeface="Consolas" panose="020B0609020204030204"/>
                <a:cs typeface="Consolas" panose="020B0609020204030204"/>
              </a:rPr>
              <a:t>int)</a:t>
            </a:r>
            <a:endParaRPr sz="1800">
              <a:latin typeface="Consolas" panose="020B0609020204030204"/>
              <a:cs typeface="Consolas" panose="020B0609020204030204"/>
            </a:endParaRPr>
          </a:p>
          <a:p>
            <a:pPr marL="514985" marR="5080">
              <a:lnSpc>
                <a:spcPts val="2100"/>
              </a:lnSpc>
              <a:spcBef>
                <a:spcPts val="160"/>
              </a:spcBef>
            </a:pPr>
            <a:r>
              <a:rPr sz="1800" b="1" dirty="0">
                <a:solidFill>
                  <a:srgbClr val="008000"/>
                </a:solidFill>
                <a:latin typeface="Consolas" panose="020B0609020204030204"/>
                <a:cs typeface="Consolas" panose="020B0609020204030204"/>
              </a:rPr>
              <a:t>assert </a:t>
            </a:r>
            <a:r>
              <a:rPr sz="1800" b="1" dirty="0">
                <a:solidFill>
                  <a:srgbClr val="666666"/>
                </a:solidFill>
                <a:latin typeface="Consolas" panose="020B0609020204030204"/>
                <a:cs typeface="Consolas" panose="020B0609020204030204"/>
              </a:rPr>
              <a:t>0 &lt; rows &lt;=</a:t>
            </a:r>
            <a:r>
              <a:rPr sz="1800" b="1" spc="-110" dirty="0">
                <a:solidFill>
                  <a:srgbClr val="666666"/>
                </a:solidFill>
                <a:latin typeface="Consolas" panose="020B0609020204030204"/>
                <a:cs typeface="Consolas" panose="020B0609020204030204"/>
              </a:rPr>
              <a:t> </a:t>
            </a:r>
            <a:r>
              <a:rPr sz="1800" b="1" dirty="0">
                <a:solidFill>
                  <a:srgbClr val="008000"/>
                </a:solidFill>
                <a:latin typeface="Consolas" panose="020B0609020204030204"/>
                <a:cs typeface="Consolas" panose="020B0609020204030204"/>
              </a:rPr>
              <a:t>self</a:t>
            </a:r>
            <a:r>
              <a:rPr sz="1800" b="1" dirty="0">
                <a:solidFill>
                  <a:srgbClr val="666666"/>
                </a:solidFill>
                <a:latin typeface="Consolas" panose="020B0609020204030204"/>
                <a:cs typeface="Consolas" panose="020B0609020204030204"/>
              </a:rPr>
              <a:t>.MAX_MAP_SIZE  </a:t>
            </a:r>
            <a:r>
              <a:rPr sz="1800" b="1" dirty="0">
                <a:solidFill>
                  <a:srgbClr val="008000"/>
                </a:solidFill>
                <a:latin typeface="Consolas" panose="020B0609020204030204"/>
                <a:cs typeface="Consolas" panose="020B0609020204030204"/>
              </a:rPr>
              <a:t>assert </a:t>
            </a:r>
            <a:r>
              <a:rPr sz="1800" b="1" dirty="0">
                <a:solidFill>
                  <a:srgbClr val="666666"/>
                </a:solidFill>
                <a:latin typeface="Consolas" panose="020B0609020204030204"/>
                <a:cs typeface="Consolas" panose="020B0609020204030204"/>
              </a:rPr>
              <a:t>0 &lt; cols &lt;=</a:t>
            </a:r>
            <a:r>
              <a:rPr sz="1800" b="1" spc="-110" dirty="0">
                <a:solidFill>
                  <a:srgbClr val="666666"/>
                </a:solidFill>
                <a:latin typeface="Consolas" panose="020B0609020204030204"/>
                <a:cs typeface="Consolas" panose="020B0609020204030204"/>
              </a:rPr>
              <a:t> </a:t>
            </a:r>
            <a:r>
              <a:rPr sz="1800" b="1" dirty="0">
                <a:solidFill>
                  <a:srgbClr val="008000"/>
                </a:solidFill>
                <a:latin typeface="Consolas" panose="020B0609020204030204"/>
                <a:cs typeface="Consolas" panose="020B0609020204030204"/>
              </a:rPr>
              <a:t>self</a:t>
            </a:r>
            <a:r>
              <a:rPr sz="1800" b="1" dirty="0">
                <a:solidFill>
                  <a:srgbClr val="666666"/>
                </a:solidFill>
                <a:latin typeface="Consolas" panose="020B0609020204030204"/>
                <a:cs typeface="Consolas" panose="020B0609020204030204"/>
              </a:rPr>
              <a:t>.MAX_MAP_SIZE</a:t>
            </a:r>
            <a:endParaRPr sz="1800">
              <a:latin typeface="Consolas" panose="020B0609020204030204"/>
              <a:cs typeface="Consolas" panose="020B0609020204030204"/>
            </a:endParaRPr>
          </a:p>
        </p:txBody>
      </p:sp>
      <p:sp>
        <p:nvSpPr>
          <p:cNvPr id="6" name="object 6"/>
          <p:cNvSpPr txBox="1"/>
          <p:nvPr/>
        </p:nvSpPr>
        <p:spPr>
          <a:xfrm>
            <a:off x="1608663" y="1879603"/>
            <a:ext cx="2472690" cy="612140"/>
          </a:xfrm>
          <a:prstGeom prst="rect">
            <a:avLst/>
          </a:prstGeom>
          <a:solidFill>
            <a:srgbClr val="797BA9"/>
          </a:solidFill>
        </p:spPr>
        <p:txBody>
          <a:bodyPr vert="horz" wrap="square" lIns="0" tIns="138430" rIns="0" bIns="0" rtlCol="0">
            <a:spAutoFit/>
          </a:bodyPr>
          <a:lstStyle/>
          <a:p>
            <a:pPr marL="400685">
              <a:lnSpc>
                <a:spcPct val="100000"/>
              </a:lnSpc>
              <a:spcBef>
                <a:spcPts val="1090"/>
              </a:spcBef>
            </a:pPr>
            <a:r>
              <a:rPr sz="2200" dirty="0">
                <a:solidFill>
                  <a:srgbClr val="FFFFFF"/>
                </a:solidFill>
                <a:latin typeface="微软雅黑" panose="020B0503020204020204" pitchFamily="34" charset="-122"/>
                <a:cs typeface="微软雅黑" panose="020B0503020204020204" pitchFamily="34" charset="-122"/>
              </a:rPr>
              <a:t>游戏启动部分</a:t>
            </a:r>
            <a:endParaRPr sz="2200">
              <a:latin typeface="微软雅黑" panose="020B0503020204020204" pitchFamily="34" charset="-122"/>
              <a:cs typeface="微软雅黑" panose="020B0503020204020204" pitchFamily="34" charset="-122"/>
            </a:endParaRPr>
          </a:p>
        </p:txBody>
      </p:sp>
      <p:sp>
        <p:nvSpPr>
          <p:cNvPr id="7" name="object 7"/>
          <p:cNvSpPr/>
          <p:nvPr/>
        </p:nvSpPr>
        <p:spPr>
          <a:xfrm>
            <a:off x="4453468" y="1998134"/>
            <a:ext cx="423545" cy="355600"/>
          </a:xfrm>
          <a:custGeom>
            <a:avLst/>
            <a:gdLst/>
            <a:ahLst/>
            <a:cxnLst/>
            <a:rect l="l" t="t" r="r" b="b"/>
            <a:pathLst>
              <a:path w="423545" h="355600">
                <a:moveTo>
                  <a:pt x="245532" y="0"/>
                </a:moveTo>
                <a:lnTo>
                  <a:pt x="245532" y="88900"/>
                </a:lnTo>
                <a:lnTo>
                  <a:pt x="0" y="88900"/>
                </a:lnTo>
                <a:lnTo>
                  <a:pt x="0" y="266700"/>
                </a:lnTo>
                <a:lnTo>
                  <a:pt x="245532" y="266700"/>
                </a:lnTo>
                <a:lnTo>
                  <a:pt x="245532" y="355600"/>
                </a:lnTo>
                <a:lnTo>
                  <a:pt x="423332" y="177800"/>
                </a:lnTo>
                <a:lnTo>
                  <a:pt x="245532" y="0"/>
                </a:lnTo>
                <a:close/>
              </a:path>
            </a:pathLst>
          </a:custGeom>
          <a:solidFill>
            <a:srgbClr val="6C6C6C"/>
          </a:solidFill>
        </p:spPr>
        <p:txBody>
          <a:bodyPr wrap="square" lIns="0" tIns="0" rIns="0" bIns="0" rtlCol="0"/>
          <a:lstStyle/>
          <a:p>
            <a:endParaRPr/>
          </a:p>
        </p:txBody>
      </p:sp>
      <p:sp>
        <p:nvSpPr>
          <p:cNvPr id="8" name="object 8"/>
          <p:cNvSpPr txBox="1"/>
          <p:nvPr/>
        </p:nvSpPr>
        <p:spPr>
          <a:xfrm>
            <a:off x="1608663" y="4351872"/>
            <a:ext cx="2472690" cy="612140"/>
          </a:xfrm>
          <a:prstGeom prst="rect">
            <a:avLst/>
          </a:prstGeom>
          <a:solidFill>
            <a:srgbClr val="797BA9"/>
          </a:solidFill>
        </p:spPr>
        <p:txBody>
          <a:bodyPr vert="horz" wrap="square" lIns="0" tIns="153670" rIns="0" bIns="0" rtlCol="0">
            <a:spAutoFit/>
          </a:bodyPr>
          <a:lstStyle/>
          <a:p>
            <a:pPr marL="264795">
              <a:lnSpc>
                <a:spcPct val="100000"/>
              </a:lnSpc>
              <a:spcBef>
                <a:spcPts val="1210"/>
              </a:spcBef>
            </a:pPr>
            <a:r>
              <a:rPr sz="2000" spc="-5" dirty="0">
                <a:solidFill>
                  <a:srgbClr val="FFFFFF"/>
                </a:solidFill>
                <a:latin typeface="Arial" panose="020B0604020202020204"/>
                <a:cs typeface="Arial" panose="020B0604020202020204"/>
              </a:rPr>
              <a:t>GameMap</a:t>
            </a:r>
            <a:r>
              <a:rPr sz="2000" dirty="0">
                <a:solidFill>
                  <a:srgbClr val="FFFFFF"/>
                </a:solidFill>
                <a:latin typeface="微软雅黑" panose="020B0503020204020204" pitchFamily="34" charset="-122"/>
                <a:cs typeface="微软雅黑" panose="020B0503020204020204" pitchFamily="34" charset="-122"/>
              </a:rPr>
              <a:t>初始化</a:t>
            </a:r>
            <a:endParaRPr sz="2000">
              <a:latin typeface="微软雅黑" panose="020B0503020204020204" pitchFamily="34" charset="-122"/>
              <a:cs typeface="微软雅黑" panose="020B0503020204020204" pitchFamily="34" charset="-122"/>
            </a:endParaRPr>
          </a:p>
        </p:txBody>
      </p:sp>
      <p:sp>
        <p:nvSpPr>
          <p:cNvPr id="9" name="object 9"/>
          <p:cNvSpPr/>
          <p:nvPr/>
        </p:nvSpPr>
        <p:spPr>
          <a:xfrm>
            <a:off x="4453468" y="4436536"/>
            <a:ext cx="423545" cy="355600"/>
          </a:xfrm>
          <a:custGeom>
            <a:avLst/>
            <a:gdLst/>
            <a:ahLst/>
            <a:cxnLst/>
            <a:rect l="l" t="t" r="r" b="b"/>
            <a:pathLst>
              <a:path w="423545" h="355600">
                <a:moveTo>
                  <a:pt x="245532" y="0"/>
                </a:moveTo>
                <a:lnTo>
                  <a:pt x="245532" y="88900"/>
                </a:lnTo>
                <a:lnTo>
                  <a:pt x="0" y="88900"/>
                </a:lnTo>
                <a:lnTo>
                  <a:pt x="0" y="266700"/>
                </a:lnTo>
                <a:lnTo>
                  <a:pt x="245532" y="266700"/>
                </a:lnTo>
                <a:lnTo>
                  <a:pt x="245532" y="355600"/>
                </a:lnTo>
                <a:lnTo>
                  <a:pt x="423332" y="177800"/>
                </a:lnTo>
                <a:lnTo>
                  <a:pt x="245532" y="0"/>
                </a:lnTo>
                <a:close/>
              </a:path>
            </a:pathLst>
          </a:custGeom>
          <a:solidFill>
            <a:srgbClr val="6C6C6C"/>
          </a:solidFill>
        </p:spPr>
        <p:txBody>
          <a:bodyPr wrap="square" lIns="0" tIns="0" rIns="0" bIns="0" rtlCol="0"/>
          <a:lstStyle/>
          <a:p>
            <a:endParaRPr/>
          </a:p>
        </p:txBody>
      </p:sp>
      <p:sp>
        <p:nvSpPr>
          <p:cNvPr id="11" name="标题 10"/>
          <p:cNvSpPr>
            <a:spLocks noGrp="1"/>
          </p:cNvSpPr>
          <p:nvPr>
            <p:ph type="title"/>
          </p:nvPr>
        </p:nvSpPr>
        <p:spPr/>
        <p:txBody>
          <a:bodyPr/>
          <a:lstStyle/>
          <a:p>
            <a:r>
              <a:rPr lang="zh-CN" altLang="en-US" dirty="0"/>
              <a:t>案例：生命游戏</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51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5814"/>
    </mc:Choice>
    <mc:Fallback xmlns="">
      <p:transition spd="slow" advTm="35814"/>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lstStyle/>
          <a:p>
            <a:pPr algn="ctr"/>
            <a:r>
              <a:rPr lang="zh-CN" altLang="en-US" dirty="0"/>
              <a:t>代码静态检查</a:t>
            </a:r>
          </a:p>
        </p:txBody>
      </p:sp>
      <p:sp>
        <p:nvSpPr>
          <p:cNvPr id="3" name="文本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74D2AB8B-5816-41F2-8B4B-CA5C3E4E6A65}" type="slidenum">
              <a:rPr lang="zh-CN" altLang="en-US" smtClean="0"/>
              <a:t>52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8881"/>
    </mc:Choice>
    <mc:Fallback xmlns="">
      <p:transition spd="slow" advTm="8881"/>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92980" y="1548893"/>
            <a:ext cx="9832975" cy="1050925"/>
          </a:xfrm>
          <a:prstGeom prst="rect">
            <a:avLst/>
          </a:prstGeom>
          <a:solidFill>
            <a:srgbClr val="ECEBEB"/>
          </a:solidFill>
        </p:spPr>
        <p:txBody>
          <a:bodyPr vert="horz" wrap="square" lIns="0" tIns="93980" rIns="0" bIns="0" rtlCol="0">
            <a:spAutoFit/>
          </a:bodyPr>
          <a:lstStyle/>
          <a:p>
            <a:pPr marL="215900" marR="201295">
              <a:lnSpc>
                <a:spcPct val="125000"/>
              </a:lnSpc>
              <a:spcBef>
                <a:spcPts val="740"/>
              </a:spcBef>
              <a:tabLst>
                <a:tab pos="2513330" algn="l"/>
              </a:tabLst>
            </a:pPr>
            <a:r>
              <a:rPr sz="2200" spc="10" dirty="0">
                <a:solidFill>
                  <a:srgbClr val="0033CC"/>
                </a:solidFill>
                <a:latin typeface="微软雅黑" panose="020B0503020204020204" pitchFamily="34" charset="-122"/>
                <a:cs typeface="微软雅黑" panose="020B0503020204020204" pitchFamily="34" charset="-122"/>
              </a:rPr>
              <a:t>代码审查（</a:t>
            </a:r>
            <a:r>
              <a:rPr sz="2200" spc="10" dirty="0">
                <a:solidFill>
                  <a:srgbClr val="0033CC"/>
                </a:solidFill>
                <a:latin typeface="Arial" panose="020B0604020202020204"/>
                <a:cs typeface="Arial" panose="020B0604020202020204"/>
              </a:rPr>
              <a:t>Cod</a:t>
            </a:r>
            <a:r>
              <a:rPr sz="2200" dirty="0">
                <a:solidFill>
                  <a:srgbClr val="0033CC"/>
                </a:solidFill>
                <a:latin typeface="Arial" panose="020B0604020202020204"/>
                <a:cs typeface="Arial" panose="020B0604020202020204"/>
              </a:rPr>
              <a:t>e	</a:t>
            </a:r>
            <a:r>
              <a:rPr sz="2200" spc="10" dirty="0">
                <a:solidFill>
                  <a:srgbClr val="0033CC"/>
                </a:solidFill>
                <a:latin typeface="Arial" panose="020B0604020202020204"/>
                <a:cs typeface="Arial" panose="020B0604020202020204"/>
              </a:rPr>
              <a:t>Review</a:t>
            </a:r>
            <a:r>
              <a:rPr sz="2200" spc="10" dirty="0">
                <a:solidFill>
                  <a:srgbClr val="0033CC"/>
                </a:solidFill>
                <a:latin typeface="微软雅黑" panose="020B0503020204020204" pitchFamily="34" charset="-122"/>
                <a:cs typeface="微软雅黑" panose="020B0503020204020204" pitchFamily="34" charset="-122"/>
              </a:rPr>
              <a:t>）</a:t>
            </a:r>
            <a:r>
              <a:rPr sz="2200" spc="10" dirty="0">
                <a:latin typeface="微软雅黑" panose="020B0503020204020204" pitchFamily="34" charset="-122"/>
                <a:cs typeface="微软雅黑" panose="020B0503020204020204" pitchFamily="34" charset="-122"/>
              </a:rPr>
              <a:t>是一种用来确认方案设计和代码实现的质量保证 </a:t>
            </a:r>
            <a:r>
              <a:rPr sz="2200" dirty="0">
                <a:latin typeface="微软雅黑" panose="020B0503020204020204" pitchFamily="34" charset="-122"/>
                <a:cs typeface="微软雅黑" panose="020B0503020204020204" pitchFamily="34" charset="-122"/>
              </a:rPr>
              <a:t>机制，它通过阅读代码来检查源代码与编码规范的符合性以及代码的质量。</a:t>
            </a:r>
            <a:endParaRPr sz="2200">
              <a:latin typeface="微软雅黑" panose="020B0503020204020204" pitchFamily="34" charset="-122"/>
              <a:cs typeface="微软雅黑" panose="020B0503020204020204" pitchFamily="34" charset="-122"/>
            </a:endParaRPr>
          </a:p>
        </p:txBody>
      </p:sp>
      <p:sp>
        <p:nvSpPr>
          <p:cNvPr id="4" name="object 4"/>
          <p:cNvSpPr txBox="1"/>
          <p:nvPr/>
        </p:nvSpPr>
        <p:spPr>
          <a:xfrm>
            <a:off x="1438121" y="2976169"/>
            <a:ext cx="3545204" cy="263398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0033CC"/>
                </a:solidFill>
                <a:latin typeface="微软雅黑" panose="020B0503020204020204" pitchFamily="34" charset="-122"/>
                <a:cs typeface="微软雅黑" panose="020B0503020204020204" pitchFamily="34" charset="-122"/>
              </a:rPr>
              <a:t>代码审查的作用</a:t>
            </a:r>
            <a:endParaRPr sz="2200">
              <a:latin typeface="微软雅黑" panose="020B0503020204020204" pitchFamily="34" charset="-122"/>
              <a:cs typeface="微软雅黑" panose="020B0503020204020204" pitchFamily="34" charset="-122"/>
            </a:endParaRPr>
          </a:p>
          <a:p>
            <a:pPr marL="458470" indent="-370205">
              <a:lnSpc>
                <a:spcPct val="100000"/>
              </a:lnSpc>
              <a:spcBef>
                <a:spcPts val="1560"/>
              </a:spcBef>
              <a:buFont typeface="Arial" panose="020B0604020202020204"/>
              <a:buChar char="•"/>
              <a:tabLst>
                <a:tab pos="458470" algn="l"/>
                <a:tab pos="459105" algn="l"/>
              </a:tabLst>
            </a:pPr>
            <a:r>
              <a:rPr sz="2200" dirty="0">
                <a:latin typeface="微软雅黑" panose="020B0503020204020204" pitchFamily="34" charset="-122"/>
                <a:cs typeface="微软雅黑" panose="020B0503020204020204" pitchFamily="34" charset="-122"/>
              </a:rPr>
              <a:t>检查设计的合理性</a:t>
            </a:r>
            <a:endParaRPr sz="2200">
              <a:latin typeface="微软雅黑" panose="020B0503020204020204" pitchFamily="34" charset="-122"/>
              <a:cs typeface="微软雅黑" panose="020B0503020204020204" pitchFamily="34" charset="-122"/>
            </a:endParaRPr>
          </a:p>
          <a:p>
            <a:pPr marL="458470" indent="-370205">
              <a:lnSpc>
                <a:spcPct val="100000"/>
              </a:lnSpc>
              <a:spcBef>
                <a:spcPts val="760"/>
              </a:spcBef>
              <a:buFont typeface="Arial" panose="020B0604020202020204"/>
              <a:buChar char="•"/>
              <a:tabLst>
                <a:tab pos="458470" algn="l"/>
                <a:tab pos="459105" algn="l"/>
              </a:tabLst>
            </a:pPr>
            <a:r>
              <a:rPr sz="2200" dirty="0">
                <a:latin typeface="微软雅黑" panose="020B0503020204020204" pitchFamily="34" charset="-122"/>
                <a:cs typeface="微软雅黑" panose="020B0503020204020204" pitchFamily="34" charset="-122"/>
              </a:rPr>
              <a:t>互为</a:t>
            </a:r>
            <a:r>
              <a:rPr sz="2200" spc="-10" dirty="0">
                <a:latin typeface="微软雅黑" panose="020B0503020204020204" pitchFamily="34" charset="-122"/>
                <a:cs typeface="微软雅黑" panose="020B0503020204020204" pitchFamily="34" charset="-122"/>
              </a:rPr>
              <a:t> </a:t>
            </a:r>
            <a:r>
              <a:rPr sz="2200" dirty="0">
                <a:latin typeface="Arial" panose="020B0604020202020204"/>
                <a:cs typeface="Arial" panose="020B0604020202020204"/>
              </a:rPr>
              <a:t>Backup</a:t>
            </a:r>
            <a:endParaRPr sz="2200">
              <a:latin typeface="Arial" panose="020B0604020202020204"/>
              <a:cs typeface="Arial" panose="020B0604020202020204"/>
            </a:endParaRPr>
          </a:p>
          <a:p>
            <a:pPr marL="458470" indent="-370205">
              <a:lnSpc>
                <a:spcPct val="100000"/>
              </a:lnSpc>
              <a:spcBef>
                <a:spcPts val="760"/>
              </a:spcBef>
              <a:buFont typeface="Arial" panose="020B0604020202020204"/>
              <a:buChar char="•"/>
              <a:tabLst>
                <a:tab pos="458470" algn="l"/>
                <a:tab pos="459105" algn="l"/>
              </a:tabLst>
            </a:pPr>
            <a:r>
              <a:rPr sz="2200" dirty="0">
                <a:latin typeface="微软雅黑" panose="020B0503020204020204" pitchFamily="34" charset="-122"/>
                <a:cs typeface="微软雅黑" panose="020B0503020204020204" pitchFamily="34" charset="-122"/>
              </a:rPr>
              <a:t>分享知识、设计、技术</a:t>
            </a:r>
            <a:endParaRPr sz="2200">
              <a:latin typeface="微软雅黑" panose="020B0503020204020204" pitchFamily="34" charset="-122"/>
              <a:cs typeface="微软雅黑" panose="020B0503020204020204" pitchFamily="34" charset="-122"/>
            </a:endParaRPr>
          </a:p>
          <a:p>
            <a:pPr marL="458470" indent="-370205">
              <a:lnSpc>
                <a:spcPct val="100000"/>
              </a:lnSpc>
              <a:spcBef>
                <a:spcPts val="860"/>
              </a:spcBef>
              <a:buFont typeface="Arial" panose="020B0604020202020204"/>
              <a:buChar char="•"/>
              <a:tabLst>
                <a:tab pos="458470" algn="l"/>
                <a:tab pos="459105" algn="l"/>
              </a:tabLst>
            </a:pPr>
            <a:r>
              <a:rPr sz="2200" dirty="0">
                <a:latin typeface="微软雅黑" panose="020B0503020204020204" pitchFamily="34" charset="-122"/>
                <a:cs typeface="微软雅黑" panose="020B0503020204020204" pitchFamily="34" charset="-122"/>
              </a:rPr>
              <a:t>增加代码可读性</a:t>
            </a:r>
            <a:endParaRPr sz="2200">
              <a:latin typeface="微软雅黑" panose="020B0503020204020204" pitchFamily="34" charset="-122"/>
              <a:cs typeface="微软雅黑" panose="020B0503020204020204" pitchFamily="34" charset="-122"/>
            </a:endParaRPr>
          </a:p>
          <a:p>
            <a:pPr marL="458470" indent="-370205">
              <a:lnSpc>
                <a:spcPct val="100000"/>
              </a:lnSpc>
              <a:spcBef>
                <a:spcPts val="760"/>
              </a:spcBef>
              <a:buFont typeface="Arial" panose="020B0604020202020204"/>
              <a:buChar char="•"/>
              <a:tabLst>
                <a:tab pos="458470" algn="l"/>
                <a:tab pos="459105" algn="l"/>
              </a:tabLst>
            </a:pPr>
            <a:r>
              <a:rPr sz="2200" dirty="0">
                <a:latin typeface="微软雅黑" panose="020B0503020204020204" pitchFamily="34" charset="-122"/>
                <a:cs typeface="微软雅黑" panose="020B0503020204020204" pitchFamily="34" charset="-122"/>
              </a:rPr>
              <a:t>处理代码中的“地雷区”</a:t>
            </a:r>
            <a:endParaRPr sz="2200">
              <a:latin typeface="微软雅黑" panose="020B0503020204020204" pitchFamily="34" charset="-122"/>
              <a:cs typeface="微软雅黑" panose="020B0503020204020204" pitchFamily="34" charset="-122"/>
            </a:endParaRPr>
          </a:p>
        </p:txBody>
      </p:sp>
      <p:sp>
        <p:nvSpPr>
          <p:cNvPr id="5" name="object 5"/>
          <p:cNvSpPr/>
          <p:nvPr/>
        </p:nvSpPr>
        <p:spPr>
          <a:xfrm>
            <a:off x="6905680" y="3391911"/>
            <a:ext cx="3679732" cy="2148242"/>
          </a:xfrm>
          <a:prstGeom prst="rect">
            <a:avLst/>
          </a:prstGeom>
          <a:blipFill>
            <a:blip r:embed="rId3" cstate="print"/>
            <a:stretch>
              <a:fillRect/>
            </a:stretch>
          </a:blipFill>
        </p:spPr>
        <p:txBody>
          <a:bodyPr wrap="square" lIns="0" tIns="0" rIns="0" bIns="0" rtlCol="0"/>
          <a:lstStyle/>
          <a:p>
            <a:endParaRPr/>
          </a:p>
        </p:txBody>
      </p:sp>
      <p:sp>
        <p:nvSpPr>
          <p:cNvPr id="7" name="标题 6"/>
          <p:cNvSpPr>
            <a:spLocks noGrp="1"/>
          </p:cNvSpPr>
          <p:nvPr>
            <p:ph type="title"/>
          </p:nvPr>
        </p:nvSpPr>
        <p:spPr/>
        <p:txBody>
          <a:bodyPr/>
          <a:lstStyle/>
          <a:p>
            <a:r>
              <a:rPr lang="zh-CN" altLang="en-US" dirty="0"/>
              <a:t>代码评审技术</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53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7848"/>
    </mc:Choice>
    <mc:Fallback xmlns="">
      <p:transition spd="slow" advTm="37848"/>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65307"/>
            <a:ext cx="1803400" cy="452120"/>
          </a:xfrm>
          <a:prstGeom prst="rect">
            <a:avLst/>
          </a:prstGeom>
        </p:spPr>
        <p:txBody>
          <a:bodyPr vert="horz" wrap="square" lIns="0" tIns="12700" rIns="0" bIns="0" rtlCol="0">
            <a:spAutoFit/>
          </a:bodyPr>
          <a:lstStyle/>
          <a:p>
            <a:pPr marL="12700">
              <a:lnSpc>
                <a:spcPct val="100000"/>
              </a:lnSpc>
              <a:spcBef>
                <a:spcPts val="100"/>
              </a:spcBef>
            </a:pPr>
            <a:r>
              <a:rPr dirty="0"/>
              <a:t>缺陷检查表</a:t>
            </a:r>
          </a:p>
        </p:txBody>
      </p:sp>
      <p:sp>
        <p:nvSpPr>
          <p:cNvPr id="3" name="object 3"/>
          <p:cNvSpPr/>
          <p:nvPr/>
        </p:nvSpPr>
        <p:spPr>
          <a:xfrm>
            <a:off x="384830" y="1187134"/>
            <a:ext cx="5724525" cy="4936490"/>
          </a:xfrm>
          <a:custGeom>
            <a:avLst/>
            <a:gdLst/>
            <a:ahLst/>
            <a:cxnLst/>
            <a:rect l="l" t="t" r="r" b="b"/>
            <a:pathLst>
              <a:path w="5724525" h="4936490">
                <a:moveTo>
                  <a:pt x="0" y="0"/>
                </a:moveTo>
                <a:lnTo>
                  <a:pt x="5724396" y="0"/>
                </a:lnTo>
                <a:lnTo>
                  <a:pt x="5724396" y="4936234"/>
                </a:lnTo>
                <a:lnTo>
                  <a:pt x="0" y="4936234"/>
                </a:lnTo>
                <a:lnTo>
                  <a:pt x="0" y="0"/>
                </a:lnTo>
                <a:close/>
              </a:path>
            </a:pathLst>
          </a:custGeom>
          <a:solidFill>
            <a:srgbClr val="F5F5F5"/>
          </a:solidFill>
        </p:spPr>
        <p:txBody>
          <a:bodyPr wrap="square" lIns="0" tIns="0" rIns="0" bIns="0" rtlCol="0"/>
          <a:lstStyle/>
          <a:p>
            <a:endParaRPr/>
          </a:p>
        </p:txBody>
      </p:sp>
      <p:sp>
        <p:nvSpPr>
          <p:cNvPr id="4" name="object 4"/>
          <p:cNvSpPr/>
          <p:nvPr/>
        </p:nvSpPr>
        <p:spPr>
          <a:xfrm>
            <a:off x="6109227" y="1187134"/>
            <a:ext cx="5724525" cy="4936490"/>
          </a:xfrm>
          <a:custGeom>
            <a:avLst/>
            <a:gdLst/>
            <a:ahLst/>
            <a:cxnLst/>
            <a:rect l="l" t="t" r="r" b="b"/>
            <a:pathLst>
              <a:path w="5724525" h="4936490">
                <a:moveTo>
                  <a:pt x="0" y="0"/>
                </a:moveTo>
                <a:lnTo>
                  <a:pt x="5724394" y="0"/>
                </a:lnTo>
                <a:lnTo>
                  <a:pt x="5724394" y="4936234"/>
                </a:lnTo>
                <a:lnTo>
                  <a:pt x="0" y="4936234"/>
                </a:lnTo>
                <a:lnTo>
                  <a:pt x="0" y="0"/>
                </a:lnTo>
                <a:close/>
              </a:path>
            </a:pathLst>
          </a:custGeom>
          <a:solidFill>
            <a:srgbClr val="F5F5F5"/>
          </a:solidFill>
        </p:spPr>
        <p:txBody>
          <a:bodyPr wrap="square" lIns="0" tIns="0" rIns="0" bIns="0" rtlCol="0"/>
          <a:lstStyle/>
          <a:p>
            <a:endParaRPr/>
          </a:p>
        </p:txBody>
      </p:sp>
      <p:sp>
        <p:nvSpPr>
          <p:cNvPr id="5" name="object 5"/>
          <p:cNvSpPr/>
          <p:nvPr/>
        </p:nvSpPr>
        <p:spPr>
          <a:xfrm>
            <a:off x="6109226" y="1177609"/>
            <a:ext cx="0" cy="4960620"/>
          </a:xfrm>
          <a:custGeom>
            <a:avLst/>
            <a:gdLst/>
            <a:ahLst/>
            <a:cxnLst/>
            <a:rect l="l" t="t" r="r" b="b"/>
            <a:pathLst>
              <a:path h="4960620">
                <a:moveTo>
                  <a:pt x="0" y="0"/>
                </a:moveTo>
                <a:lnTo>
                  <a:pt x="0" y="4960046"/>
                </a:lnTo>
              </a:path>
            </a:pathLst>
          </a:custGeom>
          <a:ln w="19049">
            <a:solidFill>
              <a:srgbClr val="000000"/>
            </a:solidFill>
          </a:ln>
        </p:spPr>
        <p:txBody>
          <a:bodyPr wrap="square" lIns="0" tIns="0" rIns="0" bIns="0" rtlCol="0"/>
          <a:lstStyle/>
          <a:p>
            <a:endParaRPr/>
          </a:p>
        </p:txBody>
      </p:sp>
      <p:sp>
        <p:nvSpPr>
          <p:cNvPr id="6" name="object 6"/>
          <p:cNvSpPr/>
          <p:nvPr/>
        </p:nvSpPr>
        <p:spPr>
          <a:xfrm>
            <a:off x="384830" y="1187134"/>
            <a:ext cx="11449050" cy="0"/>
          </a:xfrm>
          <a:custGeom>
            <a:avLst/>
            <a:gdLst/>
            <a:ahLst/>
            <a:cxnLst/>
            <a:rect l="l" t="t" r="r" b="b"/>
            <a:pathLst>
              <a:path w="11449050">
                <a:moveTo>
                  <a:pt x="0" y="0"/>
                </a:moveTo>
                <a:lnTo>
                  <a:pt x="11448791" y="0"/>
                </a:lnTo>
              </a:path>
            </a:pathLst>
          </a:custGeom>
          <a:ln w="19049">
            <a:solidFill>
              <a:srgbClr val="000000"/>
            </a:solidFill>
          </a:ln>
        </p:spPr>
        <p:txBody>
          <a:bodyPr wrap="square" lIns="0" tIns="0" rIns="0" bIns="0" rtlCol="0"/>
          <a:lstStyle/>
          <a:p>
            <a:endParaRPr/>
          </a:p>
        </p:txBody>
      </p:sp>
      <p:sp>
        <p:nvSpPr>
          <p:cNvPr id="7" name="object 7"/>
          <p:cNvSpPr/>
          <p:nvPr/>
        </p:nvSpPr>
        <p:spPr>
          <a:xfrm>
            <a:off x="384830" y="6123369"/>
            <a:ext cx="11449050" cy="0"/>
          </a:xfrm>
          <a:custGeom>
            <a:avLst/>
            <a:gdLst/>
            <a:ahLst/>
            <a:cxnLst/>
            <a:rect l="l" t="t" r="r" b="b"/>
            <a:pathLst>
              <a:path w="11449050">
                <a:moveTo>
                  <a:pt x="0" y="0"/>
                </a:moveTo>
                <a:lnTo>
                  <a:pt x="11448791" y="0"/>
                </a:lnTo>
              </a:path>
            </a:pathLst>
          </a:custGeom>
          <a:ln w="28574">
            <a:solidFill>
              <a:srgbClr val="000000"/>
            </a:solidFill>
          </a:ln>
        </p:spPr>
        <p:txBody>
          <a:bodyPr wrap="square" lIns="0" tIns="0" rIns="0" bIns="0" rtlCol="0"/>
          <a:lstStyle/>
          <a:p>
            <a:endParaRPr/>
          </a:p>
        </p:txBody>
      </p:sp>
      <p:sp>
        <p:nvSpPr>
          <p:cNvPr id="8" name="object 8"/>
          <p:cNvSpPr txBox="1"/>
          <p:nvPr/>
        </p:nvSpPr>
        <p:spPr>
          <a:xfrm>
            <a:off x="463570" y="1311596"/>
            <a:ext cx="838200" cy="269240"/>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0033CC"/>
                </a:solidFill>
                <a:latin typeface="微软雅黑" panose="020B0503020204020204" pitchFamily="34" charset="-122"/>
                <a:cs typeface="微软雅黑" panose="020B0503020204020204" pitchFamily="34" charset="-122"/>
              </a:rPr>
              <a:t>编程规范</a:t>
            </a:r>
            <a:endParaRPr sz="1600">
              <a:latin typeface="微软雅黑" panose="020B0503020204020204" pitchFamily="34" charset="-122"/>
              <a:cs typeface="微软雅黑" panose="020B0503020204020204" pitchFamily="34" charset="-122"/>
            </a:endParaRPr>
          </a:p>
        </p:txBody>
      </p:sp>
      <p:sp>
        <p:nvSpPr>
          <p:cNvPr id="9" name="object 9"/>
          <p:cNvSpPr txBox="1"/>
          <p:nvPr/>
        </p:nvSpPr>
        <p:spPr>
          <a:xfrm>
            <a:off x="641370" y="1719266"/>
            <a:ext cx="5561330" cy="238760"/>
          </a:xfrm>
          <a:prstGeom prst="rect">
            <a:avLst/>
          </a:prstGeom>
        </p:spPr>
        <p:txBody>
          <a:bodyPr vert="horz" wrap="square" lIns="0" tIns="12700" rIns="0" bIns="0" rtlCol="0">
            <a:spAutoFit/>
          </a:bodyPr>
          <a:lstStyle/>
          <a:p>
            <a:pPr marL="187325" indent="-175260">
              <a:lnSpc>
                <a:spcPct val="100000"/>
              </a:lnSpc>
              <a:spcBef>
                <a:spcPts val="100"/>
              </a:spcBef>
              <a:buFont typeface="Arial" panose="020B0604020202020204"/>
              <a:buChar char="•"/>
              <a:tabLst>
                <a:tab pos="187960" algn="l"/>
              </a:tabLst>
            </a:pPr>
            <a:r>
              <a:rPr sz="1400" spc="5" dirty="0">
                <a:latin typeface="微软雅黑" panose="020B0503020204020204" pitchFamily="34" charset="-122"/>
                <a:cs typeface="微软雅黑" panose="020B0503020204020204" pitchFamily="34" charset="-122"/>
              </a:rPr>
              <a:t>按照具体编程语言的编码规范进行检查，包括命名规则、程序注</a:t>
            </a:r>
            <a:r>
              <a:rPr sz="1400" dirty="0">
                <a:latin typeface="微软雅黑" panose="020B0503020204020204" pitchFamily="34" charset="-122"/>
                <a:cs typeface="微软雅黑" panose="020B0503020204020204" pitchFamily="34" charset="-122"/>
              </a:rPr>
              <a:t>释、</a:t>
            </a:r>
            <a:endParaRPr sz="1400">
              <a:latin typeface="微软雅黑" panose="020B0503020204020204" pitchFamily="34" charset="-122"/>
              <a:cs typeface="微软雅黑" panose="020B0503020204020204" pitchFamily="34" charset="-122"/>
            </a:endParaRPr>
          </a:p>
        </p:txBody>
      </p:sp>
      <p:sp>
        <p:nvSpPr>
          <p:cNvPr id="10" name="object 10"/>
          <p:cNvSpPr txBox="1"/>
          <p:nvPr/>
        </p:nvSpPr>
        <p:spPr>
          <a:xfrm>
            <a:off x="463570" y="2036764"/>
            <a:ext cx="5561965" cy="4036060"/>
          </a:xfrm>
          <a:prstGeom prst="rect">
            <a:avLst/>
          </a:prstGeom>
        </p:spPr>
        <p:txBody>
          <a:bodyPr vert="horz" wrap="square" lIns="0" tIns="12700" rIns="0" bIns="0" rtlCol="0">
            <a:spAutoFit/>
          </a:bodyPr>
          <a:lstStyle/>
          <a:p>
            <a:pPr marL="367665">
              <a:lnSpc>
                <a:spcPct val="100000"/>
              </a:lnSpc>
              <a:spcBef>
                <a:spcPts val="100"/>
              </a:spcBef>
            </a:pPr>
            <a:r>
              <a:rPr sz="1400" dirty="0">
                <a:latin typeface="微软雅黑" panose="020B0503020204020204" pitchFamily="34" charset="-122"/>
                <a:cs typeface="微软雅黑" panose="020B0503020204020204" pitchFamily="34" charset="-122"/>
              </a:rPr>
              <a:t>缩进排版、声明与初始化、语句格式等。</a:t>
            </a:r>
          </a:p>
          <a:p>
            <a:pPr marL="12700">
              <a:lnSpc>
                <a:spcPct val="100000"/>
              </a:lnSpc>
              <a:spcBef>
                <a:spcPts val="1410"/>
              </a:spcBef>
            </a:pPr>
            <a:r>
              <a:rPr sz="1600" dirty="0">
                <a:solidFill>
                  <a:srgbClr val="0033CC"/>
                </a:solidFill>
                <a:latin typeface="微软雅黑" panose="020B0503020204020204" pitchFamily="34" charset="-122"/>
                <a:cs typeface="微软雅黑" panose="020B0503020204020204" pitchFamily="34" charset="-122"/>
              </a:rPr>
              <a:t>面向对象设计</a:t>
            </a:r>
            <a:endParaRPr sz="1600" dirty="0">
              <a:latin typeface="微软雅黑" panose="020B0503020204020204" pitchFamily="34" charset="-122"/>
              <a:cs typeface="微软雅黑" panose="020B0503020204020204" pitchFamily="34" charset="-122"/>
            </a:endParaRPr>
          </a:p>
          <a:p>
            <a:pPr marL="365125" indent="-174625">
              <a:lnSpc>
                <a:spcPct val="100000"/>
              </a:lnSpc>
              <a:spcBef>
                <a:spcPts val="139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类的设计和抽象是否合适</a:t>
            </a:r>
          </a:p>
          <a:p>
            <a:pPr marL="365125" indent="-174625">
              <a:lnSpc>
                <a:spcPct val="100000"/>
              </a:lnSpc>
              <a:spcBef>
                <a:spcPts val="72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是否符合面向接口编程的思想</a:t>
            </a:r>
          </a:p>
          <a:p>
            <a:pPr marL="365125" indent="-174625">
              <a:lnSpc>
                <a:spcPct val="100000"/>
              </a:lnSpc>
              <a:spcBef>
                <a:spcPts val="82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是否使用合适的设计模式</a:t>
            </a:r>
          </a:p>
          <a:p>
            <a:pPr marL="12700">
              <a:lnSpc>
                <a:spcPct val="100000"/>
              </a:lnSpc>
              <a:spcBef>
                <a:spcPts val="1410"/>
              </a:spcBef>
            </a:pPr>
            <a:r>
              <a:rPr sz="1600" dirty="0">
                <a:solidFill>
                  <a:srgbClr val="0033CC"/>
                </a:solidFill>
                <a:latin typeface="微软雅黑" panose="020B0503020204020204" pitchFamily="34" charset="-122"/>
                <a:cs typeface="微软雅黑" panose="020B0503020204020204" pitchFamily="34" charset="-122"/>
              </a:rPr>
              <a:t>性能方面</a:t>
            </a:r>
            <a:endParaRPr sz="1600" dirty="0">
              <a:latin typeface="微软雅黑" panose="020B0503020204020204" pitchFamily="34" charset="-122"/>
              <a:cs typeface="微软雅黑" panose="020B0503020204020204" pitchFamily="34" charset="-122"/>
            </a:endParaRPr>
          </a:p>
          <a:p>
            <a:pPr marL="367665" marR="5080" indent="-177800">
              <a:lnSpc>
                <a:spcPct val="143000"/>
              </a:lnSpc>
              <a:spcBef>
                <a:spcPts val="670"/>
              </a:spcBef>
              <a:buFont typeface="Arial" panose="020B0604020202020204"/>
              <a:buChar char="•"/>
              <a:tabLst>
                <a:tab pos="365760" algn="l"/>
              </a:tabLst>
            </a:pPr>
            <a:r>
              <a:rPr sz="1400" spc="5" dirty="0">
                <a:latin typeface="微软雅黑" panose="020B0503020204020204" pitchFamily="34" charset="-122"/>
                <a:cs typeface="微软雅黑" panose="020B0503020204020204" pitchFamily="34" charset="-122"/>
              </a:rPr>
              <a:t>在出现海量数据时，队列、表、文件在传输、上载等方面是否会出 </a:t>
            </a:r>
            <a:r>
              <a:rPr sz="1400" dirty="0">
                <a:latin typeface="微软雅黑" panose="020B0503020204020204" pitchFamily="34" charset="-122"/>
                <a:cs typeface="微软雅黑" panose="020B0503020204020204" pitchFamily="34" charset="-122"/>
              </a:rPr>
              <a:t>现问题，是否控制如分配的内存块大小、队列长度等</a:t>
            </a:r>
          </a:p>
          <a:p>
            <a:pPr marL="365125" indent="-174625">
              <a:lnSpc>
                <a:spcPct val="100000"/>
              </a:lnSpc>
              <a:spcBef>
                <a:spcPts val="82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对</a:t>
            </a:r>
            <a:r>
              <a:rPr sz="1400" spc="-10" dirty="0">
                <a:latin typeface="微软雅黑" panose="020B0503020204020204" pitchFamily="34" charset="-122"/>
                <a:cs typeface="微软雅黑" panose="020B0503020204020204" pitchFamily="34" charset="-122"/>
              </a:rPr>
              <a:t> </a:t>
            </a:r>
            <a:r>
              <a:rPr sz="1400" spc="-5" dirty="0">
                <a:latin typeface="Arial" panose="020B0604020202020204"/>
                <a:cs typeface="Arial" panose="020B0604020202020204"/>
              </a:rPr>
              <a:t>Hashtable</a:t>
            </a:r>
            <a:r>
              <a:rPr sz="1400" dirty="0">
                <a:latin typeface="微软雅黑" panose="020B0503020204020204" pitchFamily="34" charset="-122"/>
                <a:cs typeface="微软雅黑" panose="020B0503020204020204" pitchFamily="34" charset="-122"/>
              </a:rPr>
              <a:t>、</a:t>
            </a:r>
            <a:r>
              <a:rPr sz="1400" spc="-15" dirty="0">
                <a:latin typeface="Arial" panose="020B0604020202020204"/>
                <a:cs typeface="Arial" panose="020B0604020202020204"/>
              </a:rPr>
              <a:t>Vector</a:t>
            </a:r>
            <a:r>
              <a:rPr sz="1400" spc="-10" dirty="0">
                <a:latin typeface="Arial" panose="020B0604020202020204"/>
                <a:cs typeface="Arial" panose="020B0604020202020204"/>
              </a:rPr>
              <a:t> </a:t>
            </a:r>
            <a:r>
              <a:rPr sz="1400" dirty="0">
                <a:latin typeface="微软雅黑" panose="020B0503020204020204" pitchFamily="34" charset="-122"/>
                <a:cs typeface="微软雅黑" panose="020B0503020204020204" pitchFamily="34" charset="-122"/>
              </a:rPr>
              <a:t>等集合类数据结构的选择和设置是否合适</a:t>
            </a:r>
          </a:p>
          <a:p>
            <a:pPr marL="365125" indent="-174625">
              <a:lnSpc>
                <a:spcPct val="100000"/>
              </a:lnSpc>
              <a:spcBef>
                <a:spcPts val="72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有无滥用</a:t>
            </a:r>
            <a:r>
              <a:rPr sz="1400" spc="-5" dirty="0">
                <a:latin typeface="微软雅黑" panose="020B0503020204020204" pitchFamily="34" charset="-122"/>
                <a:cs typeface="微软雅黑" panose="020B0503020204020204" pitchFamily="34" charset="-122"/>
              </a:rPr>
              <a:t> </a:t>
            </a:r>
            <a:r>
              <a:rPr sz="1400" spc="-5" dirty="0">
                <a:latin typeface="Arial" panose="020B0604020202020204"/>
                <a:cs typeface="Arial" panose="020B0604020202020204"/>
              </a:rPr>
              <a:t>String </a:t>
            </a:r>
            <a:r>
              <a:rPr sz="1400" dirty="0">
                <a:latin typeface="微软雅黑" panose="020B0503020204020204" pitchFamily="34" charset="-122"/>
                <a:cs typeface="微软雅黑" panose="020B0503020204020204" pitchFamily="34" charset="-122"/>
              </a:rPr>
              <a:t>对象的现象</a:t>
            </a:r>
          </a:p>
          <a:p>
            <a:pPr marL="365125" indent="-174625">
              <a:lnSpc>
                <a:spcPct val="100000"/>
              </a:lnSpc>
              <a:spcBef>
                <a:spcPts val="72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是否采用通用的线程池、对象池等高速缓存技术以提高性能</a:t>
            </a:r>
          </a:p>
          <a:p>
            <a:pPr marL="365125" indent="-174625">
              <a:lnSpc>
                <a:spcPct val="100000"/>
              </a:lnSpc>
              <a:spcBef>
                <a:spcPts val="82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类的接口是否定义良好，如参数类型等应避免内部转换</a:t>
            </a:r>
          </a:p>
        </p:txBody>
      </p:sp>
      <p:sp>
        <p:nvSpPr>
          <p:cNvPr id="11" name="object 11"/>
          <p:cNvSpPr txBox="1"/>
          <p:nvPr/>
        </p:nvSpPr>
        <p:spPr>
          <a:xfrm>
            <a:off x="6187965" y="1311596"/>
            <a:ext cx="5561965" cy="4558030"/>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0033CC"/>
                </a:solidFill>
                <a:latin typeface="微软雅黑" panose="020B0503020204020204" pitchFamily="34" charset="-122"/>
                <a:cs typeface="微软雅黑" panose="020B0503020204020204" pitchFamily="34" charset="-122"/>
              </a:rPr>
              <a:t>性能方面（续</a:t>
            </a:r>
            <a:r>
              <a:rPr sz="1600" dirty="0">
                <a:solidFill>
                  <a:srgbClr val="004DD6"/>
                </a:solidFill>
                <a:latin typeface="微软雅黑" panose="020B0503020204020204" pitchFamily="34" charset="-122"/>
                <a:cs typeface="微软雅黑" panose="020B0503020204020204" pitchFamily="34" charset="-122"/>
              </a:rPr>
              <a:t>）</a:t>
            </a:r>
            <a:endParaRPr sz="1600">
              <a:latin typeface="微软雅黑" panose="020B0503020204020204" pitchFamily="34" charset="-122"/>
              <a:cs typeface="微软雅黑" panose="020B0503020204020204" pitchFamily="34" charset="-122"/>
            </a:endParaRPr>
          </a:p>
          <a:p>
            <a:pPr marL="365125" indent="-174625">
              <a:lnSpc>
                <a:spcPct val="100000"/>
              </a:lnSpc>
              <a:spcBef>
                <a:spcPts val="129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是否采用内存或硬盘缓冲机制以提高效率？</a:t>
            </a:r>
            <a:endParaRPr sz="1400">
              <a:latin typeface="微软雅黑" panose="020B0503020204020204" pitchFamily="34" charset="-122"/>
              <a:cs typeface="微软雅黑" panose="020B0503020204020204" pitchFamily="34" charset="-122"/>
            </a:endParaRPr>
          </a:p>
          <a:p>
            <a:pPr marL="365125" indent="-174625">
              <a:lnSpc>
                <a:spcPct val="100000"/>
              </a:lnSpc>
              <a:spcBef>
                <a:spcPts val="82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并发访问时的应对策略</a:t>
            </a:r>
            <a:endParaRPr sz="1400">
              <a:latin typeface="微软雅黑" panose="020B0503020204020204" pitchFamily="34" charset="-122"/>
              <a:cs typeface="微软雅黑" panose="020B0503020204020204" pitchFamily="34" charset="-122"/>
            </a:endParaRPr>
          </a:p>
          <a:p>
            <a:pPr marL="368300" marR="5080" indent="-177800">
              <a:lnSpc>
                <a:spcPct val="143000"/>
              </a:lnSpc>
              <a:buChar char="•"/>
              <a:tabLst>
                <a:tab pos="365760" algn="l"/>
                <a:tab pos="741045" algn="l"/>
              </a:tabLst>
            </a:pPr>
            <a:r>
              <a:rPr sz="1400" dirty="0">
                <a:latin typeface="Arial" panose="020B0604020202020204"/>
                <a:cs typeface="Arial" panose="020B0604020202020204"/>
              </a:rPr>
              <a:t>I/O	</a:t>
            </a:r>
            <a:r>
              <a:rPr sz="1400" dirty="0">
                <a:latin typeface="微软雅黑" panose="020B0503020204020204" pitchFamily="34" charset="-122"/>
                <a:cs typeface="微软雅黑" panose="020B0503020204020204" pitchFamily="34" charset="-122"/>
              </a:rPr>
              <a:t>方面是否使用了合适的类或采用良好的方法以提高性能（如减 少序列化、使用</a:t>
            </a:r>
            <a:r>
              <a:rPr sz="1400" spc="-5" dirty="0">
                <a:latin typeface="微软雅黑" panose="020B0503020204020204" pitchFamily="34" charset="-122"/>
                <a:cs typeface="微软雅黑" panose="020B0503020204020204" pitchFamily="34" charset="-122"/>
              </a:rPr>
              <a:t> </a:t>
            </a:r>
            <a:r>
              <a:rPr sz="1400" spc="-5" dirty="0">
                <a:latin typeface="Arial" panose="020B0604020202020204"/>
                <a:cs typeface="Arial" panose="020B0604020202020204"/>
              </a:rPr>
              <a:t>buffer </a:t>
            </a:r>
            <a:r>
              <a:rPr sz="1400" dirty="0">
                <a:latin typeface="微软雅黑" panose="020B0503020204020204" pitchFamily="34" charset="-122"/>
                <a:cs typeface="微软雅黑" panose="020B0503020204020204" pitchFamily="34" charset="-122"/>
              </a:rPr>
              <a:t>类封装流等）</a:t>
            </a:r>
            <a:endParaRPr sz="1400">
              <a:latin typeface="微软雅黑" panose="020B0503020204020204" pitchFamily="34" charset="-122"/>
              <a:cs typeface="微软雅黑" panose="020B0503020204020204" pitchFamily="34" charset="-122"/>
            </a:endParaRPr>
          </a:p>
          <a:p>
            <a:pPr marL="365125" indent="-174625">
              <a:lnSpc>
                <a:spcPct val="100000"/>
              </a:lnSpc>
              <a:spcBef>
                <a:spcPts val="82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同步方法的使用是否得当，是否过度使用？</a:t>
            </a:r>
            <a:endParaRPr sz="1400">
              <a:latin typeface="微软雅黑" panose="020B0503020204020204" pitchFamily="34" charset="-122"/>
              <a:cs typeface="微软雅黑" panose="020B0503020204020204" pitchFamily="34" charset="-122"/>
            </a:endParaRPr>
          </a:p>
          <a:p>
            <a:pPr marL="365125" indent="-174625">
              <a:lnSpc>
                <a:spcPct val="100000"/>
              </a:lnSpc>
              <a:spcBef>
                <a:spcPts val="72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递归方法中的迭代次数是否合适（应保证在合理的栈空间范围内）</a:t>
            </a:r>
            <a:endParaRPr sz="1400">
              <a:latin typeface="微软雅黑" panose="020B0503020204020204" pitchFamily="34" charset="-122"/>
              <a:cs typeface="微软雅黑" panose="020B0503020204020204" pitchFamily="34" charset="-122"/>
            </a:endParaRPr>
          </a:p>
          <a:p>
            <a:pPr marL="365125" indent="-174625">
              <a:lnSpc>
                <a:spcPct val="100000"/>
              </a:lnSpc>
              <a:spcBef>
                <a:spcPts val="82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如果调用了阻塞方法，是否考虑了保证性能的措施</a:t>
            </a:r>
            <a:endParaRPr sz="1400">
              <a:latin typeface="微软雅黑" panose="020B0503020204020204" pitchFamily="34" charset="-122"/>
              <a:cs typeface="微软雅黑" panose="020B0503020204020204" pitchFamily="34" charset="-122"/>
            </a:endParaRPr>
          </a:p>
          <a:p>
            <a:pPr marL="365125" indent="-174625">
              <a:lnSpc>
                <a:spcPct val="100000"/>
              </a:lnSpc>
              <a:spcBef>
                <a:spcPts val="72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避免过度优化，对性能要求高的代码是否使用</a:t>
            </a:r>
            <a:r>
              <a:rPr sz="1400" spc="-5" dirty="0">
                <a:latin typeface="Arial" panose="020B0604020202020204"/>
                <a:cs typeface="Arial" panose="020B0604020202020204"/>
              </a:rPr>
              <a:t>profile</a:t>
            </a:r>
            <a:r>
              <a:rPr sz="1400" dirty="0">
                <a:latin typeface="微软雅黑" panose="020B0503020204020204" pitchFamily="34" charset="-122"/>
                <a:cs typeface="微软雅黑" panose="020B0503020204020204" pitchFamily="34" charset="-122"/>
              </a:rPr>
              <a:t>工具</a:t>
            </a:r>
            <a:endParaRPr sz="1400">
              <a:latin typeface="微软雅黑" panose="020B0503020204020204" pitchFamily="34" charset="-122"/>
              <a:cs typeface="微软雅黑" panose="020B0503020204020204" pitchFamily="34" charset="-122"/>
            </a:endParaRPr>
          </a:p>
          <a:p>
            <a:pPr marL="12700">
              <a:lnSpc>
                <a:spcPct val="100000"/>
              </a:lnSpc>
              <a:spcBef>
                <a:spcPts val="1410"/>
              </a:spcBef>
            </a:pPr>
            <a:r>
              <a:rPr sz="1600" dirty="0">
                <a:solidFill>
                  <a:srgbClr val="0033CC"/>
                </a:solidFill>
                <a:latin typeface="微软雅黑" panose="020B0503020204020204" pitchFamily="34" charset="-122"/>
                <a:cs typeface="微软雅黑" panose="020B0503020204020204" pitchFamily="34" charset="-122"/>
              </a:rPr>
              <a:t>资源释放处理</a:t>
            </a:r>
            <a:endParaRPr sz="1600">
              <a:latin typeface="微软雅黑" panose="020B0503020204020204" pitchFamily="34" charset="-122"/>
              <a:cs typeface="微软雅黑" panose="020B0503020204020204" pitchFamily="34" charset="-122"/>
            </a:endParaRPr>
          </a:p>
          <a:p>
            <a:pPr marL="365125" indent="-174625">
              <a:lnSpc>
                <a:spcPct val="100000"/>
              </a:lnSpc>
              <a:spcBef>
                <a:spcPts val="139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分配的内存是否释放，尤其在错误处理路径上（如</a:t>
            </a:r>
            <a:r>
              <a:rPr sz="1400" spc="-10" dirty="0">
                <a:latin typeface="微软雅黑" panose="020B0503020204020204" pitchFamily="34" charset="-122"/>
                <a:cs typeface="微软雅黑" panose="020B0503020204020204" pitchFamily="34" charset="-122"/>
              </a:rPr>
              <a:t> </a:t>
            </a:r>
            <a:r>
              <a:rPr sz="1400" spc="-5" dirty="0">
                <a:latin typeface="Arial" panose="020B0604020202020204"/>
                <a:cs typeface="Arial" panose="020B0604020202020204"/>
              </a:rPr>
              <a:t>C/C++</a:t>
            </a:r>
            <a:r>
              <a:rPr sz="1400" spc="-5" dirty="0">
                <a:latin typeface="微软雅黑" panose="020B0503020204020204" pitchFamily="34" charset="-122"/>
                <a:cs typeface="微软雅黑" panose="020B0503020204020204" pitchFamily="34" charset="-122"/>
              </a:rPr>
              <a:t>）</a:t>
            </a:r>
            <a:endParaRPr sz="1400">
              <a:latin typeface="微软雅黑" panose="020B0503020204020204" pitchFamily="34" charset="-122"/>
              <a:cs typeface="微软雅黑" panose="020B0503020204020204" pitchFamily="34" charset="-122"/>
            </a:endParaRPr>
          </a:p>
          <a:p>
            <a:pPr marL="365125" indent="-174625">
              <a:lnSpc>
                <a:spcPct val="100000"/>
              </a:lnSpc>
              <a:spcBef>
                <a:spcPts val="72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错误发生时是否所有对象被释放，如数据库连接、</a:t>
            </a:r>
            <a:r>
              <a:rPr sz="1400" spc="-5" dirty="0">
                <a:latin typeface="Arial" panose="020B0604020202020204"/>
                <a:cs typeface="Arial" panose="020B0604020202020204"/>
              </a:rPr>
              <a:t>Socket</a:t>
            </a:r>
            <a:r>
              <a:rPr sz="1400" dirty="0">
                <a:latin typeface="微软雅黑" panose="020B0503020204020204" pitchFamily="34" charset="-122"/>
                <a:cs typeface="微软雅黑" panose="020B0503020204020204" pitchFamily="34" charset="-122"/>
              </a:rPr>
              <a:t>、文件等</a:t>
            </a:r>
            <a:endParaRPr sz="1400">
              <a:latin typeface="微软雅黑" panose="020B0503020204020204" pitchFamily="34" charset="-122"/>
              <a:cs typeface="微软雅黑" panose="020B0503020204020204" pitchFamily="34" charset="-122"/>
            </a:endParaRPr>
          </a:p>
          <a:p>
            <a:pPr marL="365125" indent="-174625">
              <a:lnSpc>
                <a:spcPct val="100000"/>
              </a:lnSpc>
              <a:spcBef>
                <a:spcPts val="82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是否同一个对象被释放多次（如</a:t>
            </a:r>
            <a:r>
              <a:rPr sz="1400" spc="-5" dirty="0">
                <a:latin typeface="微软雅黑" panose="020B0503020204020204" pitchFamily="34" charset="-122"/>
                <a:cs typeface="微软雅黑" panose="020B0503020204020204" pitchFamily="34" charset="-122"/>
              </a:rPr>
              <a:t> </a:t>
            </a:r>
            <a:r>
              <a:rPr sz="1400" spc="-5" dirty="0">
                <a:latin typeface="Arial" panose="020B0604020202020204"/>
                <a:cs typeface="Arial" panose="020B0604020202020204"/>
              </a:rPr>
              <a:t>C/C++</a:t>
            </a:r>
            <a:r>
              <a:rPr sz="1400" spc="-5" dirty="0">
                <a:latin typeface="微软雅黑" panose="020B0503020204020204" pitchFamily="34" charset="-122"/>
                <a:cs typeface="微软雅黑" panose="020B0503020204020204" pitchFamily="34" charset="-122"/>
              </a:rPr>
              <a:t>）</a:t>
            </a:r>
            <a:endParaRPr sz="1400">
              <a:latin typeface="微软雅黑" panose="020B0503020204020204" pitchFamily="34" charset="-122"/>
              <a:cs typeface="微软雅黑" panose="020B0503020204020204" pitchFamily="34" charset="-122"/>
            </a:endParaRPr>
          </a:p>
          <a:p>
            <a:pPr marL="365125" indent="-174625">
              <a:lnSpc>
                <a:spcPct val="100000"/>
              </a:lnSpc>
              <a:spcBef>
                <a:spcPts val="72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代码是否保存准确的对象引用计数</a:t>
            </a:r>
            <a:endParaRPr sz="1400">
              <a:latin typeface="微软雅黑" panose="020B0503020204020204" pitchFamily="34" charset="-122"/>
              <a:cs typeface="微软雅黑" panose="020B0503020204020204" pitchFamily="34" charset="-122"/>
            </a:endParaRPr>
          </a:p>
        </p:txBody>
      </p:sp>
      <p:sp>
        <p:nvSpPr>
          <p:cNvPr id="13" name="灯片编号占位符 12"/>
          <p:cNvSpPr>
            <a:spLocks noGrp="1"/>
          </p:cNvSpPr>
          <p:nvPr>
            <p:ph type="sldNum" sz="quarter" idx="7"/>
          </p:nvPr>
        </p:nvSpPr>
        <p:spPr/>
        <p:txBody>
          <a:bodyPr/>
          <a:lstStyle/>
          <a:p>
            <a:fld id="{B6F15528-21DE-4FAA-801E-634DDDAF4B2B}" type="slidenum">
              <a:rPr lang="en-US" altLang="zh-CN" smtClean="0"/>
              <a:t>54</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83532"/>
    </mc:Choice>
    <mc:Fallback xmlns="">
      <p:transition spd="slow" advTm="83532"/>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65307"/>
            <a:ext cx="1803400" cy="452120"/>
          </a:xfrm>
          <a:prstGeom prst="rect">
            <a:avLst/>
          </a:prstGeom>
        </p:spPr>
        <p:txBody>
          <a:bodyPr vert="horz" wrap="square" lIns="0" tIns="12700" rIns="0" bIns="0" rtlCol="0">
            <a:spAutoFit/>
          </a:bodyPr>
          <a:lstStyle/>
          <a:p>
            <a:pPr marL="12700">
              <a:lnSpc>
                <a:spcPct val="100000"/>
              </a:lnSpc>
              <a:spcBef>
                <a:spcPts val="100"/>
              </a:spcBef>
            </a:pPr>
            <a:r>
              <a:rPr dirty="0"/>
              <a:t>缺陷检查表</a:t>
            </a:r>
          </a:p>
        </p:txBody>
      </p:sp>
      <p:sp>
        <p:nvSpPr>
          <p:cNvPr id="3" name="object 3"/>
          <p:cNvSpPr/>
          <p:nvPr/>
        </p:nvSpPr>
        <p:spPr>
          <a:xfrm>
            <a:off x="384831" y="1125400"/>
            <a:ext cx="5614035" cy="5029200"/>
          </a:xfrm>
          <a:custGeom>
            <a:avLst/>
            <a:gdLst/>
            <a:ahLst/>
            <a:cxnLst/>
            <a:rect l="l" t="t" r="r" b="b"/>
            <a:pathLst>
              <a:path w="5614035" h="5029200">
                <a:moveTo>
                  <a:pt x="0" y="0"/>
                </a:moveTo>
                <a:lnTo>
                  <a:pt x="5614004" y="0"/>
                </a:lnTo>
                <a:lnTo>
                  <a:pt x="5614004" y="5029200"/>
                </a:lnTo>
                <a:lnTo>
                  <a:pt x="0" y="5029200"/>
                </a:lnTo>
                <a:lnTo>
                  <a:pt x="0" y="0"/>
                </a:lnTo>
                <a:close/>
              </a:path>
            </a:pathLst>
          </a:custGeom>
          <a:solidFill>
            <a:srgbClr val="F5F5F5"/>
          </a:solidFill>
        </p:spPr>
        <p:txBody>
          <a:bodyPr wrap="square" lIns="0" tIns="0" rIns="0" bIns="0" rtlCol="0"/>
          <a:lstStyle/>
          <a:p>
            <a:endParaRPr/>
          </a:p>
        </p:txBody>
      </p:sp>
      <p:sp>
        <p:nvSpPr>
          <p:cNvPr id="4" name="object 4"/>
          <p:cNvSpPr/>
          <p:nvPr/>
        </p:nvSpPr>
        <p:spPr>
          <a:xfrm>
            <a:off x="5998836" y="1125400"/>
            <a:ext cx="5815965" cy="5029200"/>
          </a:xfrm>
          <a:custGeom>
            <a:avLst/>
            <a:gdLst/>
            <a:ahLst/>
            <a:cxnLst/>
            <a:rect l="l" t="t" r="r" b="b"/>
            <a:pathLst>
              <a:path w="5815965" h="5029200">
                <a:moveTo>
                  <a:pt x="0" y="0"/>
                </a:moveTo>
                <a:lnTo>
                  <a:pt x="5815544" y="0"/>
                </a:lnTo>
                <a:lnTo>
                  <a:pt x="5815544" y="5029200"/>
                </a:lnTo>
                <a:lnTo>
                  <a:pt x="0" y="5029200"/>
                </a:lnTo>
                <a:lnTo>
                  <a:pt x="0" y="0"/>
                </a:lnTo>
                <a:close/>
              </a:path>
            </a:pathLst>
          </a:custGeom>
          <a:solidFill>
            <a:srgbClr val="F5F5F5"/>
          </a:solidFill>
        </p:spPr>
        <p:txBody>
          <a:bodyPr wrap="square" lIns="0" tIns="0" rIns="0" bIns="0" rtlCol="0"/>
          <a:lstStyle/>
          <a:p>
            <a:endParaRPr/>
          </a:p>
        </p:txBody>
      </p:sp>
      <p:sp>
        <p:nvSpPr>
          <p:cNvPr id="5" name="object 5"/>
          <p:cNvSpPr/>
          <p:nvPr/>
        </p:nvSpPr>
        <p:spPr>
          <a:xfrm>
            <a:off x="5998836" y="1111113"/>
            <a:ext cx="0" cy="5053330"/>
          </a:xfrm>
          <a:custGeom>
            <a:avLst/>
            <a:gdLst/>
            <a:ahLst/>
            <a:cxnLst/>
            <a:rect l="l" t="t" r="r" b="b"/>
            <a:pathLst>
              <a:path h="5053330">
                <a:moveTo>
                  <a:pt x="0" y="0"/>
                </a:moveTo>
                <a:lnTo>
                  <a:pt x="0" y="5053012"/>
                </a:lnTo>
              </a:path>
            </a:pathLst>
          </a:custGeom>
          <a:ln w="19049">
            <a:solidFill>
              <a:srgbClr val="000000"/>
            </a:solidFill>
          </a:ln>
        </p:spPr>
        <p:txBody>
          <a:bodyPr wrap="square" lIns="0" tIns="0" rIns="0" bIns="0" rtlCol="0"/>
          <a:lstStyle/>
          <a:p>
            <a:endParaRPr/>
          </a:p>
        </p:txBody>
      </p:sp>
      <p:sp>
        <p:nvSpPr>
          <p:cNvPr id="6" name="object 6"/>
          <p:cNvSpPr/>
          <p:nvPr/>
        </p:nvSpPr>
        <p:spPr>
          <a:xfrm>
            <a:off x="384831" y="1125400"/>
            <a:ext cx="11430000" cy="0"/>
          </a:xfrm>
          <a:custGeom>
            <a:avLst/>
            <a:gdLst/>
            <a:ahLst/>
            <a:cxnLst/>
            <a:rect l="l" t="t" r="r" b="b"/>
            <a:pathLst>
              <a:path w="11430000">
                <a:moveTo>
                  <a:pt x="0" y="0"/>
                </a:moveTo>
                <a:lnTo>
                  <a:pt x="11429548" y="0"/>
                </a:lnTo>
              </a:path>
            </a:pathLst>
          </a:custGeom>
          <a:ln w="28574">
            <a:solidFill>
              <a:srgbClr val="000000"/>
            </a:solidFill>
          </a:ln>
        </p:spPr>
        <p:txBody>
          <a:bodyPr wrap="square" lIns="0" tIns="0" rIns="0" bIns="0" rtlCol="0"/>
          <a:lstStyle/>
          <a:p>
            <a:endParaRPr/>
          </a:p>
        </p:txBody>
      </p:sp>
      <p:sp>
        <p:nvSpPr>
          <p:cNvPr id="7" name="object 7"/>
          <p:cNvSpPr/>
          <p:nvPr/>
        </p:nvSpPr>
        <p:spPr>
          <a:xfrm>
            <a:off x="384831" y="6154601"/>
            <a:ext cx="11430000" cy="0"/>
          </a:xfrm>
          <a:custGeom>
            <a:avLst/>
            <a:gdLst/>
            <a:ahLst/>
            <a:cxnLst/>
            <a:rect l="l" t="t" r="r" b="b"/>
            <a:pathLst>
              <a:path w="11430000">
                <a:moveTo>
                  <a:pt x="0" y="0"/>
                </a:moveTo>
                <a:lnTo>
                  <a:pt x="11429548" y="0"/>
                </a:lnTo>
              </a:path>
            </a:pathLst>
          </a:custGeom>
          <a:ln w="19049">
            <a:solidFill>
              <a:srgbClr val="000000"/>
            </a:solidFill>
          </a:ln>
        </p:spPr>
        <p:txBody>
          <a:bodyPr wrap="square" lIns="0" tIns="0" rIns="0" bIns="0" rtlCol="0"/>
          <a:lstStyle/>
          <a:p>
            <a:endParaRPr/>
          </a:p>
        </p:txBody>
      </p:sp>
      <p:sp>
        <p:nvSpPr>
          <p:cNvPr id="8" name="object 8"/>
          <p:cNvSpPr txBox="1"/>
          <p:nvPr/>
        </p:nvSpPr>
        <p:spPr>
          <a:xfrm>
            <a:off x="463571" y="1219380"/>
            <a:ext cx="5455285" cy="4879340"/>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0033CC"/>
                </a:solidFill>
                <a:latin typeface="微软雅黑" panose="020B0503020204020204" pitchFamily="34" charset="-122"/>
                <a:cs typeface="微软雅黑" panose="020B0503020204020204" pitchFamily="34" charset="-122"/>
              </a:rPr>
              <a:t>程序流程</a:t>
            </a:r>
            <a:endParaRPr sz="1600" dirty="0">
              <a:latin typeface="微软雅黑" panose="020B0503020204020204" pitchFamily="34" charset="-122"/>
              <a:cs typeface="微软雅黑" panose="020B0503020204020204" pitchFamily="34" charset="-122"/>
            </a:endParaRPr>
          </a:p>
          <a:p>
            <a:pPr marL="365125" indent="-174625">
              <a:lnSpc>
                <a:spcPct val="100000"/>
              </a:lnSpc>
              <a:spcBef>
                <a:spcPts val="1020"/>
              </a:spcBef>
              <a:buFont typeface="Arial" panose="020B0604020202020204"/>
              <a:buChar char="•"/>
              <a:tabLst>
                <a:tab pos="365125" algn="l"/>
              </a:tabLst>
            </a:pPr>
            <a:r>
              <a:rPr sz="1400" b="1" dirty="0">
                <a:latin typeface="微软雅黑" panose="020B0503020204020204" pitchFamily="34" charset="-122"/>
                <a:cs typeface="微软雅黑" panose="020B0503020204020204" pitchFamily="34" charset="-122"/>
              </a:rPr>
              <a:t>循环结束条件</a:t>
            </a:r>
            <a:r>
              <a:rPr sz="1400" dirty="0">
                <a:latin typeface="微软雅黑" panose="020B0503020204020204" pitchFamily="34" charset="-122"/>
                <a:cs typeface="微软雅黑" panose="020B0503020204020204" pitchFamily="34" charset="-122"/>
              </a:rPr>
              <a:t>是否准确</a:t>
            </a:r>
          </a:p>
          <a:p>
            <a:pPr marL="365125" indent="-174625">
              <a:lnSpc>
                <a:spcPct val="100000"/>
              </a:lnSpc>
              <a:spcBef>
                <a:spcPts val="52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是否避免了死循环的产生</a:t>
            </a:r>
          </a:p>
          <a:p>
            <a:pPr marL="365125" indent="-174625">
              <a:lnSpc>
                <a:spcPct val="100000"/>
              </a:lnSpc>
              <a:spcBef>
                <a:spcPts val="52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对循环的处理是否合适，应考虑到性能方面的影响</a:t>
            </a:r>
          </a:p>
          <a:p>
            <a:pPr marL="12700">
              <a:lnSpc>
                <a:spcPct val="100000"/>
              </a:lnSpc>
              <a:spcBef>
                <a:spcPts val="1180"/>
              </a:spcBef>
            </a:pPr>
            <a:r>
              <a:rPr sz="1600" dirty="0">
                <a:solidFill>
                  <a:srgbClr val="0033CC"/>
                </a:solidFill>
                <a:latin typeface="微软雅黑" panose="020B0503020204020204" pitchFamily="34" charset="-122"/>
                <a:cs typeface="微软雅黑" panose="020B0503020204020204" pitchFamily="34" charset="-122"/>
              </a:rPr>
              <a:t>线程安全</a:t>
            </a:r>
            <a:endParaRPr sz="1600" dirty="0">
              <a:latin typeface="微软雅黑" panose="020B0503020204020204" pitchFamily="34" charset="-122"/>
              <a:cs typeface="微软雅黑" panose="020B0503020204020204" pitchFamily="34" charset="-122"/>
            </a:endParaRPr>
          </a:p>
          <a:p>
            <a:pPr marL="365125" indent="-174625">
              <a:lnSpc>
                <a:spcPct val="100000"/>
              </a:lnSpc>
              <a:spcBef>
                <a:spcPts val="112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代码中所有的全局变量是否是线程安全的</a:t>
            </a:r>
          </a:p>
          <a:p>
            <a:pPr marL="368300" marR="5080" indent="-177800">
              <a:lnSpc>
                <a:spcPct val="131000"/>
              </a:lnSpc>
              <a:buFont typeface="Arial" panose="020B0604020202020204"/>
              <a:buChar char="•"/>
              <a:tabLst>
                <a:tab pos="367030" algn="l"/>
              </a:tabLst>
            </a:pPr>
            <a:r>
              <a:rPr sz="1400" spc="25" dirty="0" err="1">
                <a:latin typeface="微软雅黑" panose="020B0503020204020204" pitchFamily="34" charset="-122"/>
                <a:cs typeface="微软雅黑" panose="020B0503020204020204" pitchFamily="34" charset="-122"/>
              </a:rPr>
              <a:t>需要被多个线程访问的对象是否</a:t>
            </a:r>
            <a:r>
              <a:rPr sz="1400" b="1" spc="25" dirty="0" err="1">
                <a:latin typeface="微软雅黑" panose="020B0503020204020204" pitchFamily="34" charset="-122"/>
                <a:cs typeface="微软雅黑" panose="020B0503020204020204" pitchFamily="34" charset="-122"/>
              </a:rPr>
              <a:t>线程安全</a:t>
            </a:r>
            <a:r>
              <a:rPr sz="1400" spc="25" dirty="0" err="1">
                <a:latin typeface="微软雅黑" panose="020B0503020204020204" pitchFamily="34" charset="-122"/>
                <a:cs typeface="微软雅黑" panose="020B0503020204020204" pitchFamily="34" charset="-122"/>
              </a:rPr>
              <a:t>，检查有无通过同步方</a:t>
            </a:r>
            <a:r>
              <a:rPr sz="1400" spc="25" dirty="0">
                <a:latin typeface="微软雅黑" panose="020B0503020204020204" pitchFamily="34" charset="-122"/>
                <a:cs typeface="微软雅黑" panose="020B0503020204020204" pitchFamily="34" charset="-122"/>
              </a:rPr>
              <a:t> </a:t>
            </a:r>
            <a:r>
              <a:rPr sz="1400" dirty="0" err="1">
                <a:latin typeface="微软雅黑" panose="020B0503020204020204" pitchFamily="34" charset="-122"/>
                <a:cs typeface="微软雅黑" panose="020B0503020204020204" pitchFamily="34" charset="-122"/>
              </a:rPr>
              <a:t>法保护</a:t>
            </a:r>
            <a:endParaRPr sz="1400" dirty="0">
              <a:latin typeface="微软雅黑" panose="020B0503020204020204" pitchFamily="34" charset="-122"/>
              <a:cs typeface="微软雅黑" panose="020B0503020204020204" pitchFamily="34" charset="-122"/>
            </a:endParaRPr>
          </a:p>
          <a:p>
            <a:pPr marL="368300" marR="5080" indent="-177800">
              <a:lnSpc>
                <a:spcPts val="2200"/>
              </a:lnSpc>
              <a:spcBef>
                <a:spcPts val="60"/>
              </a:spcBef>
              <a:buFont typeface="Arial" panose="020B0604020202020204"/>
              <a:buChar char="•"/>
              <a:tabLst>
                <a:tab pos="367030" algn="l"/>
              </a:tabLst>
            </a:pPr>
            <a:r>
              <a:rPr sz="1400" spc="25" dirty="0" err="1">
                <a:latin typeface="微软雅黑" panose="020B0503020204020204" pitchFamily="34" charset="-122"/>
                <a:cs typeface="微软雅黑" panose="020B0503020204020204" pitchFamily="34" charset="-122"/>
              </a:rPr>
              <a:t>同步对象上的锁是否按相同的顺序获得和释放以</a:t>
            </a:r>
            <a:r>
              <a:rPr sz="1400" b="1" spc="25" dirty="0" err="1">
                <a:latin typeface="微软雅黑" panose="020B0503020204020204" pitchFamily="34" charset="-122"/>
                <a:cs typeface="微软雅黑" panose="020B0503020204020204" pitchFamily="34" charset="-122"/>
              </a:rPr>
              <a:t>避免死锁</a:t>
            </a:r>
            <a:r>
              <a:rPr sz="1400" spc="25" dirty="0" err="1">
                <a:latin typeface="微软雅黑" panose="020B0503020204020204" pitchFamily="34" charset="-122"/>
                <a:cs typeface="微软雅黑" panose="020B0503020204020204" pitchFamily="34" charset="-122"/>
              </a:rPr>
              <a:t>，注意</a:t>
            </a:r>
            <a:r>
              <a:rPr sz="1400" spc="25" dirty="0">
                <a:latin typeface="微软雅黑" panose="020B0503020204020204" pitchFamily="34" charset="-122"/>
                <a:cs typeface="微软雅黑" panose="020B0503020204020204" pitchFamily="34" charset="-122"/>
              </a:rPr>
              <a:t> </a:t>
            </a:r>
            <a:r>
              <a:rPr sz="1400" dirty="0" err="1">
                <a:latin typeface="微软雅黑" panose="020B0503020204020204" pitchFamily="34" charset="-122"/>
                <a:cs typeface="微软雅黑" panose="020B0503020204020204" pitchFamily="34" charset="-122"/>
              </a:rPr>
              <a:t>错误处理代码</a:t>
            </a:r>
            <a:endParaRPr sz="1400" dirty="0">
              <a:latin typeface="微软雅黑" panose="020B0503020204020204" pitchFamily="34" charset="-122"/>
              <a:cs typeface="微软雅黑" panose="020B0503020204020204" pitchFamily="34" charset="-122"/>
            </a:endParaRPr>
          </a:p>
          <a:p>
            <a:pPr marL="368300" marR="5080" indent="-177800">
              <a:lnSpc>
                <a:spcPts val="2200"/>
              </a:lnSpc>
              <a:buFont typeface="Arial" panose="020B0604020202020204"/>
              <a:buChar char="•"/>
              <a:tabLst>
                <a:tab pos="367030" algn="l"/>
              </a:tabLst>
            </a:pPr>
            <a:r>
              <a:rPr sz="1400" spc="25" dirty="0" err="1">
                <a:latin typeface="微软雅黑" panose="020B0503020204020204" pitchFamily="34" charset="-122"/>
                <a:cs typeface="微软雅黑" panose="020B0503020204020204" pitchFamily="34" charset="-122"/>
              </a:rPr>
              <a:t>是否存在可能的死锁或是竞争，当用到多个锁时，避免出现类似</a:t>
            </a:r>
            <a:r>
              <a:rPr sz="1400" spc="25" dirty="0">
                <a:latin typeface="微软雅黑" panose="020B0503020204020204" pitchFamily="34" charset="-122"/>
                <a:cs typeface="微软雅黑" panose="020B0503020204020204" pitchFamily="34" charset="-122"/>
              </a:rPr>
              <a:t> </a:t>
            </a:r>
            <a:r>
              <a:rPr sz="1400" dirty="0">
                <a:latin typeface="微软雅黑" panose="020B0503020204020204" pitchFamily="34" charset="-122"/>
                <a:cs typeface="微软雅黑" panose="020B0503020204020204" pitchFamily="34" charset="-122"/>
              </a:rPr>
              <a:t>情况：线程</a:t>
            </a:r>
            <a:r>
              <a:rPr sz="1400" dirty="0">
                <a:latin typeface="Arial" panose="020B0604020202020204"/>
                <a:cs typeface="Arial" panose="020B0604020202020204"/>
              </a:rPr>
              <a:t>A</a:t>
            </a:r>
            <a:r>
              <a:rPr sz="1400" dirty="0">
                <a:latin typeface="微软雅黑" panose="020B0503020204020204" pitchFamily="34" charset="-122"/>
                <a:cs typeface="微软雅黑" panose="020B0503020204020204" pitchFamily="34" charset="-122"/>
              </a:rPr>
              <a:t>获得锁</a:t>
            </a:r>
            <a:r>
              <a:rPr sz="1400" dirty="0">
                <a:latin typeface="Arial" panose="020B0604020202020204"/>
                <a:cs typeface="Arial" panose="020B0604020202020204"/>
              </a:rPr>
              <a:t>1</a:t>
            </a:r>
            <a:r>
              <a:rPr sz="1400" dirty="0">
                <a:latin typeface="微软雅黑" panose="020B0503020204020204" pitchFamily="34" charset="-122"/>
                <a:cs typeface="微软雅黑" panose="020B0503020204020204" pitchFamily="34" charset="-122"/>
              </a:rPr>
              <a:t>，然后锁</a:t>
            </a:r>
            <a:r>
              <a:rPr sz="1400" dirty="0">
                <a:latin typeface="Arial" panose="020B0604020202020204"/>
                <a:cs typeface="Arial" panose="020B0604020202020204"/>
              </a:rPr>
              <a:t>2</a:t>
            </a:r>
            <a:r>
              <a:rPr sz="1400" dirty="0">
                <a:latin typeface="微软雅黑" panose="020B0503020204020204" pitchFamily="34" charset="-122"/>
                <a:cs typeface="微软雅黑" panose="020B0503020204020204" pitchFamily="34" charset="-122"/>
              </a:rPr>
              <a:t>，线程</a:t>
            </a:r>
            <a:r>
              <a:rPr sz="1400" dirty="0">
                <a:latin typeface="Arial" panose="020B0604020202020204"/>
                <a:cs typeface="Arial" panose="020B0604020202020204"/>
              </a:rPr>
              <a:t>B</a:t>
            </a:r>
            <a:r>
              <a:rPr sz="1400" dirty="0">
                <a:latin typeface="微软雅黑" panose="020B0503020204020204" pitchFamily="34" charset="-122"/>
                <a:cs typeface="微软雅黑" panose="020B0503020204020204" pitchFamily="34" charset="-122"/>
              </a:rPr>
              <a:t>获得锁</a:t>
            </a:r>
            <a:r>
              <a:rPr sz="1400" dirty="0">
                <a:latin typeface="Arial" panose="020B0604020202020204"/>
                <a:cs typeface="Arial" panose="020B0604020202020204"/>
              </a:rPr>
              <a:t>2</a:t>
            </a:r>
            <a:r>
              <a:rPr sz="1400" dirty="0">
                <a:latin typeface="微软雅黑" panose="020B0503020204020204" pitchFamily="34" charset="-122"/>
                <a:cs typeface="微软雅黑" panose="020B0503020204020204" pitchFamily="34" charset="-122"/>
              </a:rPr>
              <a:t>，然后锁</a:t>
            </a:r>
            <a:r>
              <a:rPr sz="1400" dirty="0">
                <a:latin typeface="Arial" panose="020B0604020202020204"/>
                <a:cs typeface="Arial" panose="020B0604020202020204"/>
              </a:rPr>
              <a:t>1</a:t>
            </a:r>
          </a:p>
          <a:p>
            <a:pPr marL="365125" indent="-174625">
              <a:lnSpc>
                <a:spcPct val="100000"/>
              </a:lnSpc>
              <a:spcBef>
                <a:spcPts val="36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在保证线程安全的同时，注意避免过度使用同步，导致性能降低</a:t>
            </a:r>
          </a:p>
          <a:p>
            <a:pPr marL="12700">
              <a:lnSpc>
                <a:spcPct val="100000"/>
              </a:lnSpc>
              <a:spcBef>
                <a:spcPts val="1180"/>
              </a:spcBef>
            </a:pPr>
            <a:r>
              <a:rPr sz="1600" dirty="0">
                <a:solidFill>
                  <a:srgbClr val="0033CC"/>
                </a:solidFill>
                <a:latin typeface="微软雅黑" panose="020B0503020204020204" pitchFamily="34" charset="-122"/>
                <a:cs typeface="微软雅黑" panose="020B0503020204020204" pitchFamily="34" charset="-122"/>
              </a:rPr>
              <a:t>数据库处理</a:t>
            </a:r>
            <a:endParaRPr sz="1600" dirty="0">
              <a:latin typeface="微软雅黑" panose="020B0503020204020204" pitchFamily="34" charset="-122"/>
              <a:cs typeface="微软雅黑" panose="020B0503020204020204" pitchFamily="34" charset="-122"/>
            </a:endParaRPr>
          </a:p>
          <a:p>
            <a:pPr marL="365125" indent="-174625">
              <a:lnSpc>
                <a:spcPct val="100000"/>
              </a:lnSpc>
              <a:spcBef>
                <a:spcPts val="112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数据库设计或</a:t>
            </a:r>
            <a:r>
              <a:rPr sz="1400" spc="-5" dirty="0">
                <a:latin typeface="Arial" panose="020B0604020202020204"/>
                <a:cs typeface="Arial" panose="020B0604020202020204"/>
              </a:rPr>
              <a:t>SQL</a:t>
            </a:r>
            <a:r>
              <a:rPr sz="1400" dirty="0">
                <a:latin typeface="微软雅黑" panose="020B0503020204020204" pitchFamily="34" charset="-122"/>
                <a:cs typeface="微软雅黑" panose="020B0503020204020204" pitchFamily="34" charset="-122"/>
              </a:rPr>
              <a:t>语句是否便于移植（注意与性能会存在冲突）</a:t>
            </a:r>
          </a:p>
          <a:p>
            <a:pPr marL="365125" indent="-174625">
              <a:lnSpc>
                <a:spcPct val="100000"/>
              </a:lnSpc>
              <a:spcBef>
                <a:spcPts val="42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数据库资源是否正常关闭和释放</a:t>
            </a:r>
          </a:p>
        </p:txBody>
      </p:sp>
      <p:sp>
        <p:nvSpPr>
          <p:cNvPr id="9" name="object 9"/>
          <p:cNvSpPr txBox="1"/>
          <p:nvPr/>
        </p:nvSpPr>
        <p:spPr>
          <a:xfrm>
            <a:off x="6077575" y="1219380"/>
            <a:ext cx="5528310" cy="4879340"/>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0033CC"/>
                </a:solidFill>
                <a:latin typeface="微软雅黑" panose="020B0503020204020204" pitchFamily="34" charset="-122"/>
                <a:cs typeface="微软雅黑" panose="020B0503020204020204" pitchFamily="34" charset="-122"/>
              </a:rPr>
              <a:t>数据库处理（续</a:t>
            </a:r>
            <a:r>
              <a:rPr sz="1600" dirty="0">
                <a:solidFill>
                  <a:srgbClr val="004DD6"/>
                </a:solidFill>
                <a:latin typeface="微软雅黑" panose="020B0503020204020204" pitchFamily="34" charset="-122"/>
                <a:cs typeface="微软雅黑" panose="020B0503020204020204" pitchFamily="34" charset="-122"/>
              </a:rPr>
              <a:t>）</a:t>
            </a:r>
            <a:endParaRPr sz="1600" dirty="0">
              <a:latin typeface="微软雅黑" panose="020B0503020204020204" pitchFamily="34" charset="-122"/>
              <a:cs typeface="微软雅黑" panose="020B0503020204020204" pitchFamily="34" charset="-122"/>
            </a:endParaRPr>
          </a:p>
          <a:p>
            <a:pPr marL="365125" indent="-174625">
              <a:lnSpc>
                <a:spcPct val="100000"/>
              </a:lnSpc>
              <a:spcBef>
                <a:spcPts val="102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数据库访问模块是否正确封装，便于管理和提高性能</a:t>
            </a:r>
          </a:p>
          <a:p>
            <a:pPr marL="365125" indent="-174625">
              <a:lnSpc>
                <a:spcPct val="100000"/>
              </a:lnSpc>
              <a:spcBef>
                <a:spcPts val="52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是否采用合适的事务隔离级别</a:t>
            </a:r>
          </a:p>
          <a:p>
            <a:pPr marL="365125" indent="-174625">
              <a:lnSpc>
                <a:spcPct val="100000"/>
              </a:lnSpc>
              <a:spcBef>
                <a:spcPts val="52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是否采用存储过程以提高性能</a:t>
            </a:r>
          </a:p>
          <a:p>
            <a:pPr marL="365125" indent="-174625">
              <a:lnSpc>
                <a:spcPct val="100000"/>
              </a:lnSpc>
              <a:spcBef>
                <a:spcPts val="52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是否采用</a:t>
            </a:r>
            <a:r>
              <a:rPr sz="1400" spc="-5" dirty="0">
                <a:latin typeface="微软雅黑" panose="020B0503020204020204" pitchFamily="34" charset="-122"/>
                <a:cs typeface="微软雅黑" panose="020B0503020204020204" pitchFamily="34" charset="-122"/>
              </a:rPr>
              <a:t> </a:t>
            </a:r>
            <a:r>
              <a:rPr sz="1400" spc="-5" dirty="0">
                <a:latin typeface="Arial" panose="020B0604020202020204"/>
                <a:cs typeface="Arial" panose="020B0604020202020204"/>
              </a:rPr>
              <a:t>PreparedStatement </a:t>
            </a:r>
            <a:r>
              <a:rPr sz="1400" dirty="0">
                <a:latin typeface="微软雅黑" panose="020B0503020204020204" pitchFamily="34" charset="-122"/>
                <a:cs typeface="微软雅黑" panose="020B0503020204020204" pitchFamily="34" charset="-122"/>
              </a:rPr>
              <a:t>以提高性能</a:t>
            </a:r>
          </a:p>
          <a:p>
            <a:pPr marL="12700">
              <a:lnSpc>
                <a:spcPct val="100000"/>
              </a:lnSpc>
              <a:spcBef>
                <a:spcPts val="1180"/>
              </a:spcBef>
            </a:pPr>
            <a:r>
              <a:rPr sz="1600" dirty="0">
                <a:solidFill>
                  <a:srgbClr val="0033CC"/>
                </a:solidFill>
                <a:latin typeface="微软雅黑" panose="020B0503020204020204" pitchFamily="34" charset="-122"/>
                <a:cs typeface="微软雅黑" panose="020B0503020204020204" pitchFamily="34" charset="-122"/>
              </a:rPr>
              <a:t>通讯方面</a:t>
            </a:r>
            <a:endParaRPr sz="1600" dirty="0">
              <a:latin typeface="微软雅黑" panose="020B0503020204020204" pitchFamily="34" charset="-122"/>
              <a:cs typeface="微软雅黑" panose="020B0503020204020204" pitchFamily="34" charset="-122"/>
            </a:endParaRPr>
          </a:p>
          <a:p>
            <a:pPr marL="372745" indent="-182880">
              <a:lnSpc>
                <a:spcPct val="100000"/>
              </a:lnSpc>
              <a:spcBef>
                <a:spcPts val="1120"/>
              </a:spcBef>
              <a:buChar char="•"/>
              <a:tabLst>
                <a:tab pos="373380" algn="l"/>
              </a:tabLst>
            </a:pPr>
            <a:r>
              <a:rPr sz="1400" dirty="0">
                <a:latin typeface="Arial" panose="020B0604020202020204"/>
                <a:cs typeface="Arial" panose="020B0604020202020204"/>
              </a:rPr>
              <a:t>Socket</a:t>
            </a:r>
            <a:r>
              <a:rPr sz="1400" spc="-10" dirty="0">
                <a:latin typeface="Arial" panose="020B0604020202020204"/>
                <a:cs typeface="Arial" panose="020B0604020202020204"/>
              </a:rPr>
              <a:t> </a:t>
            </a:r>
            <a:r>
              <a:rPr sz="1400" dirty="0">
                <a:latin typeface="微软雅黑" panose="020B0503020204020204" pitchFamily="34" charset="-122"/>
                <a:cs typeface="微软雅黑" panose="020B0503020204020204" pitchFamily="34" charset="-122"/>
              </a:rPr>
              <a:t>通讯是否存在长期阻塞问题</a:t>
            </a:r>
          </a:p>
          <a:p>
            <a:pPr marL="372745" indent="-182880">
              <a:lnSpc>
                <a:spcPct val="100000"/>
              </a:lnSpc>
              <a:spcBef>
                <a:spcPts val="520"/>
              </a:spcBef>
              <a:buFont typeface="Arial" panose="020B0604020202020204"/>
              <a:buChar char="•"/>
              <a:tabLst>
                <a:tab pos="373380" algn="l"/>
              </a:tabLst>
            </a:pPr>
            <a:r>
              <a:rPr sz="1400" dirty="0">
                <a:latin typeface="微软雅黑" panose="020B0503020204020204" pitchFamily="34" charset="-122"/>
                <a:cs typeface="微软雅黑" panose="020B0503020204020204" pitchFamily="34" charset="-122"/>
              </a:rPr>
              <a:t>发送接收的数据流是否采用缓冲机制</a:t>
            </a:r>
          </a:p>
          <a:p>
            <a:pPr marL="372745" indent="-182880">
              <a:lnSpc>
                <a:spcPct val="100000"/>
              </a:lnSpc>
              <a:spcBef>
                <a:spcPts val="420"/>
              </a:spcBef>
              <a:buChar char="•"/>
              <a:tabLst>
                <a:tab pos="373380" algn="l"/>
              </a:tabLst>
            </a:pPr>
            <a:r>
              <a:rPr sz="1400" dirty="0">
                <a:latin typeface="Arial" panose="020B0604020202020204"/>
                <a:cs typeface="Arial" panose="020B0604020202020204"/>
              </a:rPr>
              <a:t>Socket</a:t>
            </a:r>
            <a:r>
              <a:rPr sz="1400" spc="-10" dirty="0">
                <a:latin typeface="Arial" panose="020B0604020202020204"/>
                <a:cs typeface="Arial" panose="020B0604020202020204"/>
              </a:rPr>
              <a:t> </a:t>
            </a:r>
            <a:r>
              <a:rPr sz="1400" dirty="0">
                <a:latin typeface="微软雅黑" panose="020B0503020204020204" pitchFamily="34" charset="-122"/>
                <a:cs typeface="微软雅黑" panose="020B0503020204020204" pitchFamily="34" charset="-122"/>
              </a:rPr>
              <a:t>超时处理和异常处理</a:t>
            </a:r>
          </a:p>
          <a:p>
            <a:pPr marL="372745" indent="-182880">
              <a:lnSpc>
                <a:spcPct val="100000"/>
              </a:lnSpc>
              <a:spcBef>
                <a:spcPts val="520"/>
              </a:spcBef>
              <a:buFont typeface="Arial" panose="020B0604020202020204"/>
              <a:buChar char="•"/>
              <a:tabLst>
                <a:tab pos="373380" algn="l"/>
              </a:tabLst>
            </a:pPr>
            <a:r>
              <a:rPr sz="1400" dirty="0">
                <a:latin typeface="微软雅黑" panose="020B0503020204020204" pitchFamily="34" charset="-122"/>
                <a:cs typeface="微软雅黑" panose="020B0503020204020204" pitchFamily="34" charset="-122"/>
              </a:rPr>
              <a:t>数据传输的流量控制问题</a:t>
            </a:r>
          </a:p>
          <a:p>
            <a:pPr marL="12700">
              <a:lnSpc>
                <a:spcPct val="100000"/>
              </a:lnSpc>
              <a:spcBef>
                <a:spcPts val="1180"/>
              </a:spcBef>
            </a:pPr>
            <a:r>
              <a:rPr sz="1600" spc="-65" dirty="0">
                <a:solidFill>
                  <a:srgbClr val="0033CC"/>
                </a:solidFill>
                <a:latin typeface="Arial" panose="020B0604020202020204"/>
                <a:cs typeface="Arial" panose="020B0604020202020204"/>
              </a:rPr>
              <a:t>JAVA</a:t>
            </a:r>
            <a:r>
              <a:rPr sz="1600" dirty="0">
                <a:solidFill>
                  <a:srgbClr val="0033CC"/>
                </a:solidFill>
                <a:latin typeface="微软雅黑" panose="020B0503020204020204" pitchFamily="34" charset="-122"/>
                <a:cs typeface="微软雅黑" panose="020B0503020204020204" pitchFamily="34" charset="-122"/>
              </a:rPr>
              <a:t>对象处理</a:t>
            </a:r>
            <a:endParaRPr sz="1600" dirty="0">
              <a:latin typeface="微软雅黑" panose="020B0503020204020204" pitchFamily="34" charset="-122"/>
              <a:cs typeface="微软雅黑" panose="020B0503020204020204" pitchFamily="34" charset="-122"/>
            </a:endParaRPr>
          </a:p>
          <a:p>
            <a:pPr marL="365125" indent="-174625">
              <a:lnSpc>
                <a:spcPct val="100000"/>
              </a:lnSpc>
              <a:spcBef>
                <a:spcPts val="112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对象生命周期的处理，是否对象引用已失效可设置</a:t>
            </a:r>
            <a:r>
              <a:rPr sz="1400" spc="-50" dirty="0">
                <a:latin typeface="微软雅黑" panose="020B0503020204020204" pitchFamily="34" charset="-122"/>
                <a:cs typeface="微软雅黑" panose="020B0503020204020204" pitchFamily="34" charset="-122"/>
              </a:rPr>
              <a:t> </a:t>
            </a:r>
            <a:r>
              <a:rPr sz="1400" spc="-5" dirty="0">
                <a:latin typeface="Arial" panose="020B0604020202020204"/>
                <a:cs typeface="Arial" panose="020B0604020202020204"/>
              </a:rPr>
              <a:t>null</a:t>
            </a:r>
            <a:r>
              <a:rPr sz="1400" spc="-45" dirty="0">
                <a:latin typeface="Arial" panose="020B0604020202020204"/>
                <a:cs typeface="Arial" panose="020B0604020202020204"/>
              </a:rPr>
              <a:t> </a:t>
            </a:r>
            <a:r>
              <a:rPr sz="1400" dirty="0">
                <a:latin typeface="微软雅黑" panose="020B0503020204020204" pitchFamily="34" charset="-122"/>
                <a:cs typeface="微软雅黑" panose="020B0503020204020204" pitchFamily="34" charset="-122"/>
              </a:rPr>
              <a:t>并被回收</a:t>
            </a:r>
          </a:p>
          <a:p>
            <a:pPr marL="365125" indent="-174625">
              <a:lnSpc>
                <a:spcPct val="100000"/>
              </a:lnSpc>
              <a:spcBef>
                <a:spcPts val="52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在对象传值和传参方面有无问题，对象的</a:t>
            </a:r>
            <a:r>
              <a:rPr sz="1400" spc="-55" dirty="0">
                <a:latin typeface="微软雅黑" panose="020B0503020204020204" pitchFamily="34" charset="-122"/>
                <a:cs typeface="微软雅黑" panose="020B0503020204020204" pitchFamily="34" charset="-122"/>
              </a:rPr>
              <a:t> </a:t>
            </a:r>
            <a:r>
              <a:rPr sz="1400" dirty="0">
                <a:latin typeface="Arial" panose="020B0604020202020204"/>
                <a:cs typeface="Arial" panose="020B0604020202020204"/>
              </a:rPr>
              <a:t>clone</a:t>
            </a:r>
            <a:r>
              <a:rPr sz="1400" spc="-50" dirty="0">
                <a:latin typeface="Arial" panose="020B0604020202020204"/>
                <a:cs typeface="Arial" panose="020B0604020202020204"/>
              </a:rPr>
              <a:t> </a:t>
            </a:r>
            <a:r>
              <a:rPr sz="1400" dirty="0">
                <a:latin typeface="微软雅黑" panose="020B0503020204020204" pitchFamily="34" charset="-122"/>
                <a:cs typeface="微软雅黑" panose="020B0503020204020204" pitchFamily="34" charset="-122"/>
              </a:rPr>
              <a:t>方法使用是否过度</a:t>
            </a:r>
          </a:p>
          <a:p>
            <a:pPr marL="365125" indent="-174625">
              <a:lnSpc>
                <a:spcPct val="100000"/>
              </a:lnSpc>
              <a:spcBef>
                <a:spcPts val="52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是否大量经常地创建临时对象</a:t>
            </a:r>
          </a:p>
          <a:p>
            <a:pPr marL="365125" indent="-174625">
              <a:lnSpc>
                <a:spcPct val="100000"/>
              </a:lnSpc>
              <a:spcBef>
                <a:spcPts val="52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是否尽量使用局部对象（堆栈对象）</a:t>
            </a:r>
          </a:p>
          <a:p>
            <a:pPr marL="365125" indent="-174625">
              <a:lnSpc>
                <a:spcPct val="100000"/>
              </a:lnSpc>
              <a:spcBef>
                <a:spcPts val="42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在只需要对象引用的地方是否创建了新的对象实例</a:t>
            </a:r>
          </a:p>
        </p:txBody>
      </p:sp>
      <p:sp>
        <p:nvSpPr>
          <p:cNvPr id="11" name="灯片编号占位符 10"/>
          <p:cNvSpPr>
            <a:spLocks noGrp="1"/>
          </p:cNvSpPr>
          <p:nvPr>
            <p:ph type="sldNum" sz="quarter" idx="7"/>
          </p:nvPr>
        </p:nvSpPr>
        <p:spPr/>
        <p:txBody>
          <a:bodyPr/>
          <a:lstStyle/>
          <a:p>
            <a:fld id="{B6F15528-21DE-4FAA-801E-634DDDAF4B2B}" type="slidenum">
              <a:rPr lang="en-US" altLang="zh-CN" smtClean="0"/>
              <a:t>55</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8188"/>
    </mc:Choice>
    <mc:Fallback xmlns="">
      <p:transition spd="slow" advTm="38188"/>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65307"/>
            <a:ext cx="1803400" cy="452120"/>
          </a:xfrm>
          <a:prstGeom prst="rect">
            <a:avLst/>
          </a:prstGeom>
        </p:spPr>
        <p:txBody>
          <a:bodyPr vert="horz" wrap="square" lIns="0" tIns="12700" rIns="0" bIns="0" rtlCol="0">
            <a:spAutoFit/>
          </a:bodyPr>
          <a:lstStyle/>
          <a:p>
            <a:pPr marL="12700">
              <a:lnSpc>
                <a:spcPct val="100000"/>
              </a:lnSpc>
              <a:spcBef>
                <a:spcPts val="100"/>
              </a:spcBef>
            </a:pPr>
            <a:r>
              <a:rPr dirty="0"/>
              <a:t>缺陷检查表</a:t>
            </a:r>
          </a:p>
        </p:txBody>
      </p:sp>
      <p:sp>
        <p:nvSpPr>
          <p:cNvPr id="3" name="object 3"/>
          <p:cNvSpPr/>
          <p:nvPr/>
        </p:nvSpPr>
        <p:spPr>
          <a:xfrm>
            <a:off x="405047" y="1183129"/>
            <a:ext cx="5714365" cy="4913630"/>
          </a:xfrm>
          <a:custGeom>
            <a:avLst/>
            <a:gdLst/>
            <a:ahLst/>
            <a:cxnLst/>
            <a:rect l="l" t="t" r="r" b="b"/>
            <a:pathLst>
              <a:path w="5714365" h="4913630">
                <a:moveTo>
                  <a:pt x="0" y="0"/>
                </a:moveTo>
                <a:lnTo>
                  <a:pt x="5714287" y="0"/>
                </a:lnTo>
                <a:lnTo>
                  <a:pt x="5714287" y="4913375"/>
                </a:lnTo>
                <a:lnTo>
                  <a:pt x="0" y="4913375"/>
                </a:lnTo>
                <a:lnTo>
                  <a:pt x="0" y="0"/>
                </a:lnTo>
                <a:close/>
              </a:path>
            </a:pathLst>
          </a:custGeom>
          <a:solidFill>
            <a:srgbClr val="F5F5F5"/>
          </a:solidFill>
        </p:spPr>
        <p:txBody>
          <a:bodyPr wrap="square" lIns="0" tIns="0" rIns="0" bIns="0" rtlCol="0"/>
          <a:lstStyle/>
          <a:p>
            <a:endParaRPr/>
          </a:p>
        </p:txBody>
      </p:sp>
      <p:sp>
        <p:nvSpPr>
          <p:cNvPr id="4" name="object 4"/>
          <p:cNvSpPr/>
          <p:nvPr/>
        </p:nvSpPr>
        <p:spPr>
          <a:xfrm>
            <a:off x="6119335" y="1183129"/>
            <a:ext cx="5714365" cy="4913630"/>
          </a:xfrm>
          <a:custGeom>
            <a:avLst/>
            <a:gdLst/>
            <a:ahLst/>
            <a:cxnLst/>
            <a:rect l="l" t="t" r="r" b="b"/>
            <a:pathLst>
              <a:path w="5714365" h="4913630">
                <a:moveTo>
                  <a:pt x="0" y="0"/>
                </a:moveTo>
                <a:lnTo>
                  <a:pt x="5714286" y="0"/>
                </a:lnTo>
                <a:lnTo>
                  <a:pt x="5714286" y="4913375"/>
                </a:lnTo>
                <a:lnTo>
                  <a:pt x="0" y="4913375"/>
                </a:lnTo>
                <a:lnTo>
                  <a:pt x="0" y="0"/>
                </a:lnTo>
                <a:close/>
              </a:path>
            </a:pathLst>
          </a:custGeom>
          <a:solidFill>
            <a:srgbClr val="F5F5F5"/>
          </a:solidFill>
        </p:spPr>
        <p:txBody>
          <a:bodyPr wrap="square" lIns="0" tIns="0" rIns="0" bIns="0" rtlCol="0"/>
          <a:lstStyle/>
          <a:p>
            <a:endParaRPr/>
          </a:p>
        </p:txBody>
      </p:sp>
      <p:sp>
        <p:nvSpPr>
          <p:cNvPr id="5" name="object 5"/>
          <p:cNvSpPr/>
          <p:nvPr/>
        </p:nvSpPr>
        <p:spPr>
          <a:xfrm>
            <a:off x="6119334" y="1168842"/>
            <a:ext cx="0" cy="4937760"/>
          </a:xfrm>
          <a:custGeom>
            <a:avLst/>
            <a:gdLst/>
            <a:ahLst/>
            <a:cxnLst/>
            <a:rect l="l" t="t" r="r" b="b"/>
            <a:pathLst>
              <a:path h="4937760">
                <a:moveTo>
                  <a:pt x="0" y="0"/>
                </a:moveTo>
                <a:lnTo>
                  <a:pt x="0" y="4937187"/>
                </a:lnTo>
              </a:path>
            </a:pathLst>
          </a:custGeom>
          <a:ln w="19049">
            <a:solidFill>
              <a:srgbClr val="000000"/>
            </a:solidFill>
          </a:ln>
        </p:spPr>
        <p:txBody>
          <a:bodyPr wrap="square" lIns="0" tIns="0" rIns="0" bIns="0" rtlCol="0"/>
          <a:lstStyle/>
          <a:p>
            <a:endParaRPr/>
          </a:p>
        </p:txBody>
      </p:sp>
      <p:sp>
        <p:nvSpPr>
          <p:cNvPr id="6" name="object 6"/>
          <p:cNvSpPr/>
          <p:nvPr/>
        </p:nvSpPr>
        <p:spPr>
          <a:xfrm>
            <a:off x="405047" y="1183129"/>
            <a:ext cx="11428730" cy="0"/>
          </a:xfrm>
          <a:custGeom>
            <a:avLst/>
            <a:gdLst/>
            <a:ahLst/>
            <a:cxnLst/>
            <a:rect l="l" t="t" r="r" b="b"/>
            <a:pathLst>
              <a:path w="11428730">
                <a:moveTo>
                  <a:pt x="0" y="0"/>
                </a:moveTo>
                <a:lnTo>
                  <a:pt x="11428575" y="0"/>
                </a:lnTo>
              </a:path>
            </a:pathLst>
          </a:custGeom>
          <a:ln w="28574">
            <a:solidFill>
              <a:srgbClr val="000000"/>
            </a:solidFill>
          </a:ln>
        </p:spPr>
        <p:txBody>
          <a:bodyPr wrap="square" lIns="0" tIns="0" rIns="0" bIns="0" rtlCol="0"/>
          <a:lstStyle/>
          <a:p>
            <a:endParaRPr/>
          </a:p>
        </p:txBody>
      </p:sp>
      <p:sp>
        <p:nvSpPr>
          <p:cNvPr id="7" name="object 7"/>
          <p:cNvSpPr/>
          <p:nvPr/>
        </p:nvSpPr>
        <p:spPr>
          <a:xfrm>
            <a:off x="405047" y="6096505"/>
            <a:ext cx="11428730" cy="0"/>
          </a:xfrm>
          <a:custGeom>
            <a:avLst/>
            <a:gdLst/>
            <a:ahLst/>
            <a:cxnLst/>
            <a:rect l="l" t="t" r="r" b="b"/>
            <a:pathLst>
              <a:path w="11428730">
                <a:moveTo>
                  <a:pt x="0" y="0"/>
                </a:moveTo>
                <a:lnTo>
                  <a:pt x="11428575" y="0"/>
                </a:lnTo>
              </a:path>
            </a:pathLst>
          </a:custGeom>
          <a:ln w="19049">
            <a:solidFill>
              <a:srgbClr val="000000"/>
            </a:solidFill>
          </a:ln>
        </p:spPr>
        <p:txBody>
          <a:bodyPr wrap="square" lIns="0" tIns="0" rIns="0" bIns="0" rtlCol="0"/>
          <a:lstStyle/>
          <a:p>
            <a:endParaRPr/>
          </a:p>
        </p:txBody>
      </p:sp>
      <p:sp>
        <p:nvSpPr>
          <p:cNvPr id="8" name="object 8"/>
          <p:cNvSpPr txBox="1"/>
          <p:nvPr/>
        </p:nvSpPr>
        <p:spPr>
          <a:xfrm>
            <a:off x="483786" y="1327909"/>
            <a:ext cx="5552440" cy="4504690"/>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0033CC"/>
                </a:solidFill>
                <a:latin typeface="微软雅黑" panose="020B0503020204020204" pitchFamily="34" charset="-122"/>
                <a:cs typeface="微软雅黑" panose="020B0503020204020204" pitchFamily="34" charset="-122"/>
              </a:rPr>
              <a:t>异常处理</a:t>
            </a:r>
            <a:endParaRPr sz="1600" dirty="0">
              <a:latin typeface="微软雅黑" panose="020B0503020204020204" pitchFamily="34" charset="-122"/>
              <a:cs typeface="微软雅黑" panose="020B0503020204020204" pitchFamily="34" charset="-122"/>
            </a:endParaRPr>
          </a:p>
          <a:p>
            <a:pPr marL="367665" marR="5080" indent="-177800">
              <a:lnSpc>
                <a:spcPct val="155000"/>
              </a:lnSpc>
              <a:spcBef>
                <a:spcPts val="550"/>
              </a:spcBef>
              <a:buFont typeface="Arial" panose="020B0604020202020204"/>
              <a:buChar char="•"/>
              <a:tabLst>
                <a:tab pos="365760" algn="l"/>
              </a:tabLst>
            </a:pPr>
            <a:r>
              <a:rPr sz="1400" dirty="0">
                <a:latin typeface="微软雅黑" panose="020B0503020204020204" pitchFamily="34" charset="-122"/>
                <a:cs typeface="微软雅黑" panose="020B0503020204020204" pitchFamily="34" charset="-122"/>
              </a:rPr>
              <a:t>每次当方法返回时是否正确处理了异</a:t>
            </a:r>
            <a:r>
              <a:rPr sz="1400" spc="5" dirty="0">
                <a:latin typeface="微软雅黑" panose="020B0503020204020204" pitchFamily="34" charset="-122"/>
                <a:cs typeface="微软雅黑" panose="020B0503020204020204" pitchFamily="34" charset="-122"/>
              </a:rPr>
              <a:t>常</a:t>
            </a:r>
            <a:r>
              <a:rPr sz="1400" dirty="0">
                <a:latin typeface="微软雅黑" panose="020B0503020204020204" pitchFamily="34" charset="-122"/>
                <a:cs typeface="微软雅黑" panose="020B0503020204020204" pitchFamily="34" charset="-122"/>
              </a:rPr>
              <a:t>，如最简单的处理是记录日 志到日志文件中</a:t>
            </a:r>
          </a:p>
          <a:p>
            <a:pPr marL="365125" indent="-174625">
              <a:lnSpc>
                <a:spcPct val="100000"/>
              </a:lnSpc>
              <a:spcBef>
                <a:spcPts val="92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是否对数据的值和范围是否合法进行校验，包括使用断言</a:t>
            </a:r>
          </a:p>
          <a:p>
            <a:pPr marL="365125" indent="-174625">
              <a:lnSpc>
                <a:spcPct val="100000"/>
              </a:lnSpc>
              <a:spcBef>
                <a:spcPts val="92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在出错路径上是否所有的资源和内存都已经释放</a:t>
            </a:r>
          </a:p>
          <a:p>
            <a:pPr marL="367665" marR="5080" indent="-177800">
              <a:lnSpc>
                <a:spcPct val="155000"/>
              </a:lnSpc>
              <a:buFont typeface="Arial" panose="020B0604020202020204"/>
              <a:buChar char="•"/>
              <a:tabLst>
                <a:tab pos="365760" algn="l"/>
              </a:tabLst>
            </a:pPr>
            <a:r>
              <a:rPr sz="1400" dirty="0">
                <a:latin typeface="微软雅黑" panose="020B0503020204020204" pitchFamily="34" charset="-122"/>
                <a:cs typeface="微软雅黑" panose="020B0503020204020204" pitchFamily="34" charset="-122"/>
              </a:rPr>
              <a:t>所有抛出的异常是否都得到正确的处</a:t>
            </a:r>
            <a:r>
              <a:rPr sz="1400" spc="5" dirty="0">
                <a:latin typeface="微软雅黑" panose="020B0503020204020204" pitchFamily="34" charset="-122"/>
                <a:cs typeface="微软雅黑" panose="020B0503020204020204" pitchFamily="34" charset="-122"/>
              </a:rPr>
              <a:t>理</a:t>
            </a:r>
            <a:r>
              <a:rPr sz="1400" dirty="0">
                <a:latin typeface="微软雅黑" panose="020B0503020204020204" pitchFamily="34" charset="-122"/>
                <a:cs typeface="微软雅黑" panose="020B0503020204020204" pitchFamily="34" charset="-122"/>
              </a:rPr>
              <a:t>，特别是对子方法抛出的异 常，在整个调用栈中必须能够被捕捉并处理</a:t>
            </a:r>
          </a:p>
          <a:p>
            <a:pPr marL="365125" indent="-174625">
              <a:lnSpc>
                <a:spcPct val="100000"/>
              </a:lnSpc>
              <a:spcBef>
                <a:spcPts val="915"/>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当调用导致错误发生时，方法的调用者应该得到一个通知</a:t>
            </a:r>
          </a:p>
          <a:p>
            <a:pPr marL="367665" marR="5080" indent="-177800">
              <a:lnSpc>
                <a:spcPct val="155000"/>
              </a:lnSpc>
              <a:spcBef>
                <a:spcPts val="100"/>
              </a:spcBef>
              <a:buFont typeface="Arial" panose="020B0604020202020204"/>
              <a:buChar char="•"/>
              <a:tabLst>
                <a:tab pos="365760" algn="l"/>
              </a:tabLst>
            </a:pPr>
            <a:r>
              <a:rPr sz="1400" dirty="0">
                <a:latin typeface="微软雅黑" panose="020B0503020204020204" pitchFamily="34" charset="-122"/>
                <a:cs typeface="微软雅黑" panose="020B0503020204020204" pitchFamily="34" charset="-122"/>
              </a:rPr>
              <a:t>不要忘了</a:t>
            </a:r>
            <a:r>
              <a:rPr sz="1400" b="1" dirty="0">
                <a:latin typeface="微软雅黑" panose="020B0503020204020204" pitchFamily="34" charset="-122"/>
                <a:cs typeface="微软雅黑" panose="020B0503020204020204" pitchFamily="34" charset="-122"/>
              </a:rPr>
              <a:t>对错误处理部分的代码进行测</a:t>
            </a:r>
            <a:r>
              <a:rPr sz="1400" b="1" spc="5" dirty="0">
                <a:latin typeface="微软雅黑" panose="020B0503020204020204" pitchFamily="34" charset="-122"/>
                <a:cs typeface="微软雅黑" panose="020B0503020204020204" pitchFamily="34" charset="-122"/>
              </a:rPr>
              <a:t>试</a:t>
            </a:r>
            <a:r>
              <a:rPr sz="1400" dirty="0">
                <a:latin typeface="微软雅黑" panose="020B0503020204020204" pitchFamily="34" charset="-122"/>
                <a:cs typeface="微软雅黑" panose="020B0503020204020204" pitchFamily="34" charset="-122"/>
              </a:rPr>
              <a:t>，很多代码在正常情况下 执行良好，而一旦出错整个系统就崩溃了？</a:t>
            </a:r>
          </a:p>
          <a:p>
            <a:pPr>
              <a:lnSpc>
                <a:spcPct val="100000"/>
              </a:lnSpc>
              <a:spcBef>
                <a:spcPts val="20"/>
              </a:spcBef>
              <a:buFont typeface="Arial" panose="020B0604020202020204"/>
              <a:buChar char="•"/>
            </a:pPr>
            <a:endParaRPr sz="1400" dirty="0">
              <a:latin typeface="Times New Roman" panose="02020603050405020304"/>
              <a:cs typeface="Times New Roman" panose="02020603050405020304"/>
            </a:endParaRPr>
          </a:p>
          <a:p>
            <a:pPr marL="12700">
              <a:lnSpc>
                <a:spcPct val="100000"/>
              </a:lnSpc>
            </a:pPr>
            <a:r>
              <a:rPr sz="1600" dirty="0">
                <a:solidFill>
                  <a:srgbClr val="0033CC"/>
                </a:solidFill>
                <a:latin typeface="微软雅黑" panose="020B0503020204020204" pitchFamily="34" charset="-122"/>
                <a:cs typeface="微软雅黑" panose="020B0503020204020204" pitchFamily="34" charset="-122"/>
              </a:rPr>
              <a:t>方法（函数</a:t>
            </a:r>
            <a:r>
              <a:rPr sz="1600" dirty="0">
                <a:solidFill>
                  <a:srgbClr val="004DD6"/>
                </a:solidFill>
                <a:latin typeface="微软雅黑" panose="020B0503020204020204" pitchFamily="34" charset="-122"/>
                <a:cs typeface="微软雅黑" panose="020B0503020204020204" pitchFamily="34" charset="-122"/>
              </a:rPr>
              <a:t>）</a:t>
            </a:r>
            <a:endParaRPr sz="1600" dirty="0">
              <a:latin typeface="微软雅黑" panose="020B0503020204020204" pitchFamily="34" charset="-122"/>
              <a:cs typeface="微软雅黑" panose="020B0503020204020204" pitchFamily="34" charset="-122"/>
            </a:endParaRPr>
          </a:p>
          <a:p>
            <a:pPr marL="365125" indent="-174625">
              <a:lnSpc>
                <a:spcPct val="100000"/>
              </a:lnSpc>
              <a:spcBef>
                <a:spcPts val="147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方法的参数是否都做了校验</a:t>
            </a:r>
          </a:p>
          <a:p>
            <a:pPr marL="365125" indent="-174625">
              <a:lnSpc>
                <a:spcPct val="100000"/>
              </a:lnSpc>
              <a:spcBef>
                <a:spcPts val="92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数组类结构是否做了边界校验</a:t>
            </a:r>
          </a:p>
        </p:txBody>
      </p:sp>
      <p:sp>
        <p:nvSpPr>
          <p:cNvPr id="9" name="object 9"/>
          <p:cNvSpPr txBox="1"/>
          <p:nvPr/>
        </p:nvSpPr>
        <p:spPr>
          <a:xfrm>
            <a:off x="6198075" y="1327909"/>
            <a:ext cx="5551805" cy="4707890"/>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0033CC"/>
                </a:solidFill>
                <a:latin typeface="微软雅黑" panose="020B0503020204020204" pitchFamily="34" charset="-122"/>
                <a:cs typeface="微软雅黑" panose="020B0503020204020204" pitchFamily="34" charset="-122"/>
              </a:rPr>
              <a:t>方法（续</a:t>
            </a:r>
            <a:r>
              <a:rPr sz="1600" dirty="0">
                <a:solidFill>
                  <a:srgbClr val="004DD6"/>
                </a:solidFill>
                <a:latin typeface="微软雅黑" panose="020B0503020204020204" pitchFamily="34" charset="-122"/>
                <a:cs typeface="微软雅黑" panose="020B0503020204020204" pitchFamily="34" charset="-122"/>
              </a:rPr>
              <a:t>）</a:t>
            </a:r>
            <a:endParaRPr sz="1600" dirty="0">
              <a:latin typeface="微软雅黑" panose="020B0503020204020204" pitchFamily="34" charset="-122"/>
              <a:cs typeface="微软雅黑" panose="020B0503020204020204" pitchFamily="34" charset="-122"/>
            </a:endParaRPr>
          </a:p>
          <a:p>
            <a:pPr marL="365125" indent="-175260">
              <a:lnSpc>
                <a:spcPct val="100000"/>
              </a:lnSpc>
              <a:spcBef>
                <a:spcPts val="147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变量在使用前是否做了初始化</a:t>
            </a:r>
          </a:p>
          <a:p>
            <a:pPr marL="365125" indent="-175260">
              <a:lnSpc>
                <a:spcPct val="100000"/>
              </a:lnSpc>
              <a:spcBef>
                <a:spcPts val="920"/>
              </a:spcBef>
              <a:buFont typeface="Arial" panose="020B0604020202020204"/>
              <a:buChar char="•"/>
              <a:tabLst>
                <a:tab pos="365125" algn="l"/>
              </a:tabLst>
            </a:pPr>
            <a:r>
              <a:rPr sz="1400" dirty="0">
                <a:latin typeface="微软雅黑" panose="020B0503020204020204" pitchFamily="34" charset="-122"/>
                <a:cs typeface="微软雅黑" panose="020B0503020204020204" pitchFamily="34" charset="-122"/>
              </a:rPr>
              <a:t>返回堆对象的引用，不要返回栈对象的引用</a:t>
            </a:r>
          </a:p>
          <a:p>
            <a:pPr marL="368300" marR="5080" indent="-177800">
              <a:lnSpc>
                <a:spcPct val="155000"/>
              </a:lnSpc>
              <a:buFont typeface="Arial" panose="020B0604020202020204"/>
              <a:buChar char="•"/>
              <a:tabLst>
                <a:tab pos="365125" algn="l"/>
                <a:tab pos="1031875" algn="l"/>
                <a:tab pos="1449070" algn="l"/>
              </a:tabLst>
            </a:pPr>
            <a:r>
              <a:rPr sz="1400" dirty="0">
                <a:latin typeface="微软雅黑" panose="020B0503020204020204" pitchFamily="34" charset="-122"/>
                <a:cs typeface="微软雅黑" panose="020B0503020204020204" pitchFamily="34" charset="-122"/>
              </a:rPr>
              <a:t>方法的	</a:t>
            </a:r>
            <a:r>
              <a:rPr sz="1400" dirty="0">
                <a:latin typeface="Arial" panose="020B0604020202020204"/>
                <a:cs typeface="Arial" panose="020B0604020202020204"/>
              </a:rPr>
              <a:t>API	</a:t>
            </a:r>
            <a:r>
              <a:rPr sz="1400" dirty="0">
                <a:latin typeface="微软雅黑" panose="020B0503020204020204" pitchFamily="34" charset="-122"/>
                <a:cs typeface="微软雅黑" panose="020B0503020204020204" pitchFamily="34" charset="-122"/>
              </a:rPr>
              <a:t>是否被良好定义，即是否尽量面向接口编程，以便于 维护和重构</a:t>
            </a:r>
          </a:p>
          <a:p>
            <a:pPr>
              <a:lnSpc>
                <a:spcPct val="100000"/>
              </a:lnSpc>
              <a:spcBef>
                <a:spcPts val="15"/>
              </a:spcBef>
              <a:buFont typeface="Arial" panose="020B0604020202020204"/>
              <a:buChar char="•"/>
            </a:pPr>
            <a:endParaRPr sz="1400" dirty="0">
              <a:latin typeface="Times New Roman" panose="02020603050405020304"/>
              <a:cs typeface="Times New Roman" panose="02020603050405020304"/>
            </a:endParaRPr>
          </a:p>
          <a:p>
            <a:pPr marL="12700">
              <a:lnSpc>
                <a:spcPct val="100000"/>
              </a:lnSpc>
              <a:spcBef>
                <a:spcPts val="5"/>
              </a:spcBef>
            </a:pPr>
            <a:r>
              <a:rPr sz="1600" dirty="0">
                <a:solidFill>
                  <a:srgbClr val="0033CC"/>
                </a:solidFill>
                <a:latin typeface="微软雅黑" panose="020B0503020204020204" pitchFamily="34" charset="-122"/>
                <a:cs typeface="微软雅黑" panose="020B0503020204020204" pitchFamily="34" charset="-122"/>
              </a:rPr>
              <a:t>安全方面</a:t>
            </a:r>
            <a:endParaRPr sz="1600" dirty="0">
              <a:latin typeface="微软雅黑" panose="020B0503020204020204" pitchFamily="34" charset="-122"/>
              <a:cs typeface="微软雅黑" panose="020B0503020204020204" pitchFamily="34" charset="-122"/>
            </a:endParaRPr>
          </a:p>
          <a:p>
            <a:pPr marL="372745" indent="-183515">
              <a:lnSpc>
                <a:spcPct val="100000"/>
              </a:lnSpc>
              <a:spcBef>
                <a:spcPts val="1570"/>
              </a:spcBef>
              <a:buFont typeface="Arial" panose="020B0604020202020204"/>
              <a:buChar char="•"/>
              <a:tabLst>
                <a:tab pos="373380" algn="l"/>
              </a:tabLst>
            </a:pPr>
            <a:r>
              <a:rPr sz="1400" dirty="0">
                <a:latin typeface="微软雅黑" panose="020B0503020204020204" pitchFamily="34" charset="-122"/>
                <a:cs typeface="微软雅黑" panose="020B0503020204020204" pitchFamily="34" charset="-122"/>
              </a:rPr>
              <a:t>对命令行执行的代码，</a:t>
            </a:r>
            <a:r>
              <a:rPr sz="1400" b="1" dirty="0">
                <a:latin typeface="微软雅黑" panose="020B0503020204020204" pitchFamily="34" charset="-122"/>
                <a:cs typeface="微软雅黑" panose="020B0503020204020204" pitchFamily="34" charset="-122"/>
              </a:rPr>
              <a:t>需要详细检查命令行参数</a:t>
            </a:r>
          </a:p>
          <a:p>
            <a:pPr marL="372745" indent="-183515">
              <a:lnSpc>
                <a:spcPct val="100000"/>
              </a:lnSpc>
              <a:spcBef>
                <a:spcPts val="920"/>
              </a:spcBef>
              <a:buChar char="•"/>
              <a:tabLst>
                <a:tab pos="373380" algn="l"/>
              </a:tabLst>
            </a:pPr>
            <a:r>
              <a:rPr sz="1400" spc="-5" dirty="0">
                <a:latin typeface="Arial" panose="020B0604020202020204"/>
                <a:cs typeface="Arial" panose="020B0604020202020204"/>
              </a:rPr>
              <a:t>WEB </a:t>
            </a:r>
            <a:r>
              <a:rPr sz="1400" dirty="0">
                <a:latin typeface="微软雅黑" panose="020B0503020204020204" pitchFamily="34" charset="-122"/>
                <a:cs typeface="微软雅黑" panose="020B0503020204020204" pitchFamily="34" charset="-122"/>
              </a:rPr>
              <a:t>类程序检查是否对访问参数进行合法性验证</a:t>
            </a:r>
          </a:p>
          <a:p>
            <a:pPr marL="372745" indent="-183515">
              <a:lnSpc>
                <a:spcPct val="100000"/>
              </a:lnSpc>
              <a:spcBef>
                <a:spcPts val="920"/>
              </a:spcBef>
              <a:buFont typeface="Arial" panose="020B0604020202020204"/>
              <a:buChar char="•"/>
              <a:tabLst>
                <a:tab pos="373380" algn="l"/>
              </a:tabLst>
            </a:pPr>
            <a:r>
              <a:rPr sz="1400" dirty="0">
                <a:latin typeface="微软雅黑" panose="020B0503020204020204" pitchFamily="34" charset="-122"/>
                <a:cs typeface="微软雅黑" panose="020B0503020204020204" pitchFamily="34" charset="-122"/>
              </a:rPr>
              <a:t>重要信息的保存是否选用合适的加密算法</a:t>
            </a:r>
          </a:p>
          <a:p>
            <a:pPr marL="372745" indent="-183515">
              <a:lnSpc>
                <a:spcPct val="100000"/>
              </a:lnSpc>
              <a:spcBef>
                <a:spcPts val="920"/>
              </a:spcBef>
              <a:buFont typeface="Arial" panose="020B0604020202020204"/>
              <a:buChar char="•"/>
              <a:tabLst>
                <a:tab pos="373380" algn="l"/>
              </a:tabLst>
            </a:pPr>
            <a:r>
              <a:rPr sz="1400" dirty="0">
                <a:latin typeface="微软雅黑" panose="020B0503020204020204" pitchFamily="34" charset="-122"/>
                <a:cs typeface="微软雅黑" panose="020B0503020204020204" pitchFamily="34" charset="-122"/>
              </a:rPr>
              <a:t>通讯时考虑是否选用安全的通讯方式</a:t>
            </a:r>
          </a:p>
          <a:p>
            <a:pPr>
              <a:lnSpc>
                <a:spcPct val="100000"/>
              </a:lnSpc>
              <a:spcBef>
                <a:spcPts val="15"/>
              </a:spcBef>
              <a:buFont typeface="Arial" panose="020B0604020202020204"/>
              <a:buChar char="•"/>
            </a:pPr>
            <a:endParaRPr sz="1400" dirty="0">
              <a:latin typeface="Times New Roman" panose="02020603050405020304"/>
              <a:cs typeface="Times New Roman" panose="02020603050405020304"/>
            </a:endParaRPr>
          </a:p>
          <a:p>
            <a:pPr marL="12700">
              <a:lnSpc>
                <a:spcPct val="100000"/>
              </a:lnSpc>
              <a:spcBef>
                <a:spcPts val="5"/>
              </a:spcBef>
            </a:pPr>
            <a:r>
              <a:rPr sz="1600" dirty="0">
                <a:solidFill>
                  <a:srgbClr val="0033CC"/>
                </a:solidFill>
                <a:latin typeface="微软雅黑" panose="020B0503020204020204" pitchFamily="34" charset="-122"/>
                <a:cs typeface="微软雅黑" panose="020B0503020204020204" pitchFamily="34" charset="-122"/>
              </a:rPr>
              <a:t>其他</a:t>
            </a:r>
            <a:endParaRPr sz="1600" dirty="0">
              <a:latin typeface="微软雅黑" panose="020B0503020204020204" pitchFamily="34" charset="-122"/>
              <a:cs typeface="微软雅黑" panose="020B0503020204020204" pitchFamily="34" charset="-122"/>
            </a:endParaRPr>
          </a:p>
          <a:p>
            <a:pPr marL="372745" indent="-183515">
              <a:lnSpc>
                <a:spcPct val="100000"/>
              </a:lnSpc>
              <a:spcBef>
                <a:spcPts val="1570"/>
              </a:spcBef>
              <a:buFont typeface="Arial" panose="020B0604020202020204"/>
              <a:buChar char="•"/>
              <a:tabLst>
                <a:tab pos="373380" algn="l"/>
              </a:tabLst>
            </a:pPr>
            <a:r>
              <a:rPr sz="1400" dirty="0">
                <a:latin typeface="微软雅黑" panose="020B0503020204020204" pitchFamily="34" charset="-122"/>
                <a:cs typeface="微软雅黑" panose="020B0503020204020204" pitchFamily="34" charset="-122"/>
              </a:rPr>
              <a:t>日志是否正常输出和控制</a:t>
            </a:r>
          </a:p>
          <a:p>
            <a:pPr marL="372745" indent="-183515">
              <a:lnSpc>
                <a:spcPct val="100000"/>
              </a:lnSpc>
              <a:spcBef>
                <a:spcPts val="920"/>
              </a:spcBef>
              <a:buFont typeface="Arial" panose="020B0604020202020204"/>
              <a:buChar char="•"/>
              <a:tabLst>
                <a:tab pos="373380" algn="l"/>
              </a:tabLst>
            </a:pPr>
            <a:r>
              <a:rPr sz="1400" dirty="0">
                <a:latin typeface="微软雅黑" panose="020B0503020204020204" pitchFamily="34" charset="-122"/>
                <a:cs typeface="微软雅黑" panose="020B0503020204020204" pitchFamily="34" charset="-122"/>
              </a:rPr>
              <a:t>配置信息如何获得，是否有硬编码</a:t>
            </a:r>
          </a:p>
        </p:txBody>
      </p:sp>
      <p:sp>
        <p:nvSpPr>
          <p:cNvPr id="11" name="灯片编号占位符 10"/>
          <p:cNvSpPr>
            <a:spLocks noGrp="1"/>
          </p:cNvSpPr>
          <p:nvPr>
            <p:ph type="sldNum" sz="quarter" idx="7"/>
          </p:nvPr>
        </p:nvSpPr>
        <p:spPr/>
        <p:txBody>
          <a:bodyPr/>
          <a:lstStyle/>
          <a:p>
            <a:fld id="{B6F15528-21DE-4FAA-801E-634DDDAF4B2B}" type="slidenum">
              <a:rPr lang="en-US" altLang="zh-CN" smtClean="0"/>
              <a:t>56</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7041"/>
    </mc:Choice>
    <mc:Fallback xmlns="">
      <p:transition spd="slow" advTm="37041"/>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893471" y="2312150"/>
            <a:ext cx="3306445" cy="452120"/>
          </a:xfrm>
          <a:prstGeom prst="rect">
            <a:avLst/>
          </a:prstGeom>
        </p:spPr>
        <p:txBody>
          <a:bodyPr vert="horz" wrap="square" lIns="0" tIns="12700" rIns="0" bIns="0" rtlCol="0">
            <a:spAutoFit/>
          </a:bodyPr>
          <a:lstStyle/>
          <a:p>
            <a:pPr marL="12700">
              <a:lnSpc>
                <a:spcPct val="100000"/>
              </a:lnSpc>
              <a:spcBef>
                <a:spcPts val="100"/>
              </a:spcBef>
            </a:pPr>
            <a:r>
              <a:rPr sz="2800" u="heavy" spc="-10" dirty="0">
                <a:solidFill>
                  <a:srgbClr val="0563C1"/>
                </a:solidFill>
                <a:uFill>
                  <a:solidFill>
                    <a:srgbClr val="0079CD"/>
                  </a:solidFill>
                </a:uFill>
                <a:latin typeface="Arial" panose="020B0604020202020204"/>
                <a:cs typeface="Arial" panose="020B0604020202020204"/>
                <a:hlinkClick r:id="rId3"/>
              </a:rPr>
              <a:t>http://www.pylint.org/</a:t>
            </a:r>
            <a:endParaRPr sz="2800">
              <a:latin typeface="Arial" panose="020B0604020202020204"/>
              <a:cs typeface="Arial" panose="020B0604020202020204"/>
            </a:endParaRPr>
          </a:p>
        </p:txBody>
      </p:sp>
      <p:sp>
        <p:nvSpPr>
          <p:cNvPr id="4" name="object 4"/>
          <p:cNvSpPr txBox="1"/>
          <p:nvPr/>
        </p:nvSpPr>
        <p:spPr>
          <a:xfrm>
            <a:off x="1290637" y="3820628"/>
            <a:ext cx="9980930" cy="913392"/>
          </a:xfrm>
          <a:prstGeom prst="rect">
            <a:avLst/>
          </a:prstGeom>
        </p:spPr>
        <p:txBody>
          <a:bodyPr vert="horz" wrap="square" lIns="0" tIns="12700" rIns="0" bIns="0" rtlCol="0">
            <a:spAutoFit/>
          </a:bodyPr>
          <a:lstStyle/>
          <a:p>
            <a:pPr marL="12700" marR="5080">
              <a:lnSpc>
                <a:spcPct val="128000"/>
              </a:lnSpc>
              <a:spcBef>
                <a:spcPts val="100"/>
              </a:spcBef>
              <a:tabLst>
                <a:tab pos="937260" algn="l"/>
                <a:tab pos="2037080" algn="l"/>
                <a:tab pos="3166745" algn="l"/>
                <a:tab pos="4584065" algn="l"/>
                <a:tab pos="7009765" algn="l"/>
                <a:tab pos="7806055" algn="l"/>
                <a:tab pos="8138795" algn="l"/>
                <a:tab pos="8578850" algn="l"/>
              </a:tabLst>
            </a:pPr>
            <a:r>
              <a:rPr sz="2400" dirty="0">
                <a:solidFill>
                  <a:srgbClr val="3300CC"/>
                </a:solidFill>
                <a:latin typeface="Arial" panose="020B0604020202020204"/>
                <a:cs typeface="Arial" panose="020B0604020202020204"/>
              </a:rPr>
              <a:t>Pylint	</a:t>
            </a:r>
            <a:r>
              <a:rPr sz="2400" dirty="0">
                <a:latin typeface="微软雅黑" panose="020B0503020204020204" pitchFamily="34" charset="-122"/>
                <a:cs typeface="微软雅黑" panose="020B0503020204020204" pitchFamily="34" charset="-122"/>
              </a:rPr>
              <a:t>是一个	</a:t>
            </a:r>
            <a:r>
              <a:rPr sz="2400" dirty="0">
                <a:latin typeface="Arial" panose="020B0604020202020204"/>
                <a:cs typeface="Arial" panose="020B0604020202020204"/>
              </a:rPr>
              <a:t>Py</a:t>
            </a:r>
            <a:r>
              <a:rPr sz="2400" spc="-5" dirty="0">
                <a:latin typeface="Arial" panose="020B0604020202020204"/>
                <a:cs typeface="Arial" panose="020B0604020202020204"/>
              </a:rPr>
              <a:t>t</a:t>
            </a:r>
            <a:r>
              <a:rPr sz="2400" dirty="0">
                <a:latin typeface="Arial" panose="020B0604020202020204"/>
                <a:cs typeface="Arial" panose="020B0604020202020204"/>
              </a:rPr>
              <a:t>hon	</a:t>
            </a:r>
            <a:r>
              <a:rPr sz="2400" dirty="0">
                <a:latin typeface="微软雅黑" panose="020B0503020204020204" pitchFamily="34" charset="-122"/>
                <a:cs typeface="微软雅黑" panose="020B0503020204020204" pitchFamily="34" charset="-122"/>
              </a:rPr>
              <a:t>代码分析工具，它用于分析	</a:t>
            </a:r>
            <a:r>
              <a:rPr sz="2400" dirty="0">
                <a:latin typeface="Arial" panose="020B0604020202020204"/>
                <a:cs typeface="Arial" panose="020B0604020202020204"/>
              </a:rPr>
              <a:t>Py</a:t>
            </a:r>
            <a:r>
              <a:rPr sz="2400" spc="-5" dirty="0">
                <a:latin typeface="Arial" panose="020B0604020202020204"/>
                <a:cs typeface="Arial" panose="020B0604020202020204"/>
              </a:rPr>
              <a:t>t</a:t>
            </a:r>
            <a:r>
              <a:rPr sz="2400" dirty="0">
                <a:latin typeface="Arial" panose="020B0604020202020204"/>
                <a:cs typeface="Arial" panose="020B0604020202020204"/>
              </a:rPr>
              <a:t>hon	</a:t>
            </a:r>
            <a:r>
              <a:rPr sz="2400" dirty="0">
                <a:latin typeface="微软雅黑" panose="020B0503020204020204" pitchFamily="34" charset="-122"/>
                <a:cs typeface="微软雅黑" panose="020B0503020204020204" pitchFamily="34" charset="-122"/>
              </a:rPr>
              <a:t>代码的错误， </a:t>
            </a:r>
            <a:r>
              <a:rPr sz="2400" dirty="0" err="1">
                <a:latin typeface="微软雅黑" panose="020B0503020204020204" pitchFamily="34" charset="-122"/>
                <a:cs typeface="微软雅黑" panose="020B0503020204020204" pitchFamily="34" charset="-122"/>
              </a:rPr>
              <a:t>查找不符合代码风格标准和有潜在问题的代码</a:t>
            </a:r>
            <a:r>
              <a:rPr sz="2400" dirty="0">
                <a:latin typeface="微软雅黑" panose="020B0503020204020204" pitchFamily="34" charset="-122"/>
                <a:cs typeface="微软雅黑" panose="020B0503020204020204" pitchFamily="34" charset="-122"/>
              </a:rPr>
              <a:t>。</a:t>
            </a:r>
          </a:p>
        </p:txBody>
      </p:sp>
      <p:sp>
        <p:nvSpPr>
          <p:cNvPr id="5" name="object 5"/>
          <p:cNvSpPr/>
          <p:nvPr/>
        </p:nvSpPr>
        <p:spPr>
          <a:xfrm>
            <a:off x="1740229" y="2000540"/>
            <a:ext cx="3558016" cy="1140563"/>
          </a:xfrm>
          <a:prstGeom prst="rect">
            <a:avLst/>
          </a:prstGeom>
          <a:blipFill>
            <a:blip r:embed="rId4" cstate="print"/>
            <a:stretch>
              <a:fillRect/>
            </a:stretch>
          </a:blipFill>
        </p:spPr>
        <p:txBody>
          <a:bodyPr wrap="square" lIns="0" tIns="0" rIns="0" bIns="0" rtlCol="0"/>
          <a:lstStyle/>
          <a:p>
            <a:endParaRPr/>
          </a:p>
        </p:txBody>
      </p:sp>
      <p:sp>
        <p:nvSpPr>
          <p:cNvPr id="7" name="标题 6"/>
          <p:cNvSpPr>
            <a:spLocks noGrp="1"/>
          </p:cNvSpPr>
          <p:nvPr>
            <p:ph type="title"/>
          </p:nvPr>
        </p:nvSpPr>
        <p:spPr/>
        <p:txBody>
          <a:bodyPr/>
          <a:lstStyle/>
          <a:p>
            <a:r>
              <a:rPr lang="en-US" altLang="zh-CN" dirty="0">
                <a:latin typeface="Arial" panose="020B0604020202020204"/>
                <a:cs typeface="Arial" panose="020B0604020202020204"/>
              </a:rPr>
              <a:t>Pyt</a:t>
            </a:r>
            <a:r>
              <a:rPr lang="en-US" altLang="zh-CN" spc="-5" dirty="0">
                <a:latin typeface="Arial" panose="020B0604020202020204"/>
                <a:cs typeface="Arial" panose="020B0604020202020204"/>
              </a:rPr>
              <a:t>ho</a:t>
            </a:r>
            <a:r>
              <a:rPr lang="en-US" altLang="zh-CN" dirty="0">
                <a:latin typeface="Arial" panose="020B0604020202020204"/>
                <a:cs typeface="Arial" panose="020B0604020202020204"/>
              </a:rPr>
              <a:t>n</a:t>
            </a:r>
            <a:r>
              <a:rPr lang="zh-CN" altLang="en-US" dirty="0"/>
              <a:t>代码分析工具</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57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2525"/>
    </mc:Choice>
    <mc:Fallback xmlns="">
      <p:transition spd="slow" advTm="32525"/>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518488" y="2204769"/>
            <a:ext cx="2233930" cy="2917825"/>
          </a:xfrm>
          <a:custGeom>
            <a:avLst/>
            <a:gdLst/>
            <a:ahLst/>
            <a:cxnLst/>
            <a:rect l="l" t="t" r="r" b="b"/>
            <a:pathLst>
              <a:path w="2233929" h="2917825">
                <a:moveTo>
                  <a:pt x="1100397" y="0"/>
                </a:moveTo>
                <a:lnTo>
                  <a:pt x="1100397" y="542904"/>
                </a:lnTo>
                <a:lnTo>
                  <a:pt x="0" y="542904"/>
                </a:lnTo>
                <a:lnTo>
                  <a:pt x="0" y="2374919"/>
                </a:lnTo>
                <a:lnTo>
                  <a:pt x="1100397" y="2374919"/>
                </a:lnTo>
                <a:lnTo>
                  <a:pt x="1100397" y="2917823"/>
                </a:lnTo>
                <a:lnTo>
                  <a:pt x="2233631" y="1458912"/>
                </a:lnTo>
                <a:lnTo>
                  <a:pt x="1100397" y="0"/>
                </a:lnTo>
                <a:close/>
              </a:path>
            </a:pathLst>
          </a:custGeom>
          <a:solidFill>
            <a:srgbClr val="E0E0E0"/>
          </a:solidFill>
        </p:spPr>
        <p:txBody>
          <a:bodyPr wrap="square" lIns="0" tIns="0" rIns="0" bIns="0" rtlCol="0"/>
          <a:lstStyle/>
          <a:p>
            <a:endParaRPr/>
          </a:p>
        </p:txBody>
      </p:sp>
      <p:sp>
        <p:nvSpPr>
          <p:cNvPr id="4" name="object 4"/>
          <p:cNvSpPr/>
          <p:nvPr/>
        </p:nvSpPr>
        <p:spPr>
          <a:xfrm>
            <a:off x="1518488" y="2204769"/>
            <a:ext cx="2233930" cy="2917825"/>
          </a:xfrm>
          <a:custGeom>
            <a:avLst/>
            <a:gdLst/>
            <a:ahLst/>
            <a:cxnLst/>
            <a:rect l="l" t="t" r="r" b="b"/>
            <a:pathLst>
              <a:path w="2233929" h="2917825">
                <a:moveTo>
                  <a:pt x="0" y="542904"/>
                </a:moveTo>
                <a:lnTo>
                  <a:pt x="1100398" y="542904"/>
                </a:lnTo>
                <a:lnTo>
                  <a:pt x="1100398" y="0"/>
                </a:lnTo>
                <a:lnTo>
                  <a:pt x="2233631" y="1458911"/>
                </a:lnTo>
                <a:lnTo>
                  <a:pt x="1100398" y="2917823"/>
                </a:lnTo>
                <a:lnTo>
                  <a:pt x="1100398" y="2374918"/>
                </a:lnTo>
                <a:lnTo>
                  <a:pt x="0" y="2374918"/>
                </a:lnTo>
                <a:lnTo>
                  <a:pt x="0" y="542904"/>
                </a:lnTo>
                <a:close/>
              </a:path>
            </a:pathLst>
          </a:custGeom>
          <a:ln w="19049">
            <a:solidFill>
              <a:srgbClr val="ECEBEB"/>
            </a:solidFill>
            <a:prstDash val="dot"/>
          </a:ln>
        </p:spPr>
        <p:txBody>
          <a:bodyPr wrap="square" lIns="0" tIns="0" rIns="0" bIns="0" rtlCol="0"/>
          <a:lstStyle/>
          <a:p>
            <a:endParaRPr/>
          </a:p>
        </p:txBody>
      </p:sp>
      <p:sp>
        <p:nvSpPr>
          <p:cNvPr id="5" name="object 5"/>
          <p:cNvSpPr/>
          <p:nvPr/>
        </p:nvSpPr>
        <p:spPr>
          <a:xfrm>
            <a:off x="4079921" y="1863775"/>
            <a:ext cx="6426200" cy="864235"/>
          </a:xfrm>
          <a:custGeom>
            <a:avLst/>
            <a:gdLst/>
            <a:ahLst/>
            <a:cxnLst/>
            <a:rect l="l" t="t" r="r" b="b"/>
            <a:pathLst>
              <a:path w="6426200" h="864235">
                <a:moveTo>
                  <a:pt x="6331926" y="0"/>
                </a:moveTo>
                <a:lnTo>
                  <a:pt x="94098" y="0"/>
                </a:lnTo>
                <a:lnTo>
                  <a:pt x="57471" y="7394"/>
                </a:lnTo>
                <a:lnTo>
                  <a:pt x="27560" y="27560"/>
                </a:lnTo>
                <a:lnTo>
                  <a:pt x="7394" y="57471"/>
                </a:lnTo>
                <a:lnTo>
                  <a:pt x="0" y="94098"/>
                </a:lnTo>
                <a:lnTo>
                  <a:pt x="0" y="770061"/>
                </a:lnTo>
                <a:lnTo>
                  <a:pt x="7394" y="806689"/>
                </a:lnTo>
                <a:lnTo>
                  <a:pt x="27560" y="836600"/>
                </a:lnTo>
                <a:lnTo>
                  <a:pt x="57471" y="856766"/>
                </a:lnTo>
                <a:lnTo>
                  <a:pt x="94098" y="864161"/>
                </a:lnTo>
                <a:lnTo>
                  <a:pt x="6331926" y="864161"/>
                </a:lnTo>
                <a:lnTo>
                  <a:pt x="6368554" y="856766"/>
                </a:lnTo>
                <a:lnTo>
                  <a:pt x="6398464" y="836600"/>
                </a:lnTo>
                <a:lnTo>
                  <a:pt x="6418630" y="806689"/>
                </a:lnTo>
                <a:lnTo>
                  <a:pt x="6426024" y="770061"/>
                </a:lnTo>
                <a:lnTo>
                  <a:pt x="6426024" y="94098"/>
                </a:lnTo>
                <a:lnTo>
                  <a:pt x="6418630" y="57471"/>
                </a:lnTo>
                <a:lnTo>
                  <a:pt x="6398464" y="27560"/>
                </a:lnTo>
                <a:lnTo>
                  <a:pt x="6368554" y="7394"/>
                </a:lnTo>
                <a:lnTo>
                  <a:pt x="6331926" y="0"/>
                </a:lnTo>
                <a:close/>
              </a:path>
            </a:pathLst>
          </a:custGeom>
          <a:solidFill>
            <a:srgbClr val="C8DFF2"/>
          </a:solidFill>
        </p:spPr>
        <p:txBody>
          <a:bodyPr wrap="square" lIns="0" tIns="0" rIns="0" bIns="0" rtlCol="0"/>
          <a:lstStyle/>
          <a:p>
            <a:endParaRPr/>
          </a:p>
        </p:txBody>
      </p:sp>
      <p:sp>
        <p:nvSpPr>
          <p:cNvPr id="6" name="object 6"/>
          <p:cNvSpPr/>
          <p:nvPr/>
        </p:nvSpPr>
        <p:spPr>
          <a:xfrm>
            <a:off x="4079921" y="2841623"/>
            <a:ext cx="6426200" cy="864235"/>
          </a:xfrm>
          <a:custGeom>
            <a:avLst/>
            <a:gdLst/>
            <a:ahLst/>
            <a:cxnLst/>
            <a:rect l="l" t="t" r="r" b="b"/>
            <a:pathLst>
              <a:path w="6426200" h="864235">
                <a:moveTo>
                  <a:pt x="6331926" y="0"/>
                </a:moveTo>
                <a:lnTo>
                  <a:pt x="94098" y="0"/>
                </a:lnTo>
                <a:lnTo>
                  <a:pt x="57471" y="7394"/>
                </a:lnTo>
                <a:lnTo>
                  <a:pt x="27560" y="27560"/>
                </a:lnTo>
                <a:lnTo>
                  <a:pt x="7394" y="57471"/>
                </a:lnTo>
                <a:lnTo>
                  <a:pt x="0" y="94098"/>
                </a:lnTo>
                <a:lnTo>
                  <a:pt x="0" y="770063"/>
                </a:lnTo>
                <a:lnTo>
                  <a:pt x="7394" y="806690"/>
                </a:lnTo>
                <a:lnTo>
                  <a:pt x="27560" y="836600"/>
                </a:lnTo>
                <a:lnTo>
                  <a:pt x="57471" y="856766"/>
                </a:lnTo>
                <a:lnTo>
                  <a:pt x="94098" y="864161"/>
                </a:lnTo>
                <a:lnTo>
                  <a:pt x="6331926" y="864161"/>
                </a:lnTo>
                <a:lnTo>
                  <a:pt x="6368554" y="856766"/>
                </a:lnTo>
                <a:lnTo>
                  <a:pt x="6398464" y="836600"/>
                </a:lnTo>
                <a:lnTo>
                  <a:pt x="6418630" y="806690"/>
                </a:lnTo>
                <a:lnTo>
                  <a:pt x="6426024" y="770063"/>
                </a:lnTo>
                <a:lnTo>
                  <a:pt x="6426024" y="94098"/>
                </a:lnTo>
                <a:lnTo>
                  <a:pt x="6418630" y="57471"/>
                </a:lnTo>
                <a:lnTo>
                  <a:pt x="6398464" y="27560"/>
                </a:lnTo>
                <a:lnTo>
                  <a:pt x="6368554" y="7394"/>
                </a:lnTo>
                <a:lnTo>
                  <a:pt x="6331926" y="0"/>
                </a:lnTo>
                <a:close/>
              </a:path>
            </a:pathLst>
          </a:custGeom>
          <a:solidFill>
            <a:srgbClr val="AA7CA9">
              <a:alpha val="49798"/>
            </a:srgbClr>
          </a:solidFill>
        </p:spPr>
        <p:txBody>
          <a:bodyPr wrap="square" lIns="0" tIns="0" rIns="0" bIns="0" rtlCol="0"/>
          <a:lstStyle/>
          <a:p>
            <a:endParaRPr/>
          </a:p>
        </p:txBody>
      </p:sp>
      <p:sp>
        <p:nvSpPr>
          <p:cNvPr id="7" name="object 7"/>
          <p:cNvSpPr/>
          <p:nvPr/>
        </p:nvSpPr>
        <p:spPr>
          <a:xfrm>
            <a:off x="4029496" y="3819471"/>
            <a:ext cx="6429375" cy="864235"/>
          </a:xfrm>
          <a:custGeom>
            <a:avLst/>
            <a:gdLst/>
            <a:ahLst/>
            <a:cxnLst/>
            <a:rect l="l" t="t" r="r" b="b"/>
            <a:pathLst>
              <a:path w="6429375" h="864235">
                <a:moveTo>
                  <a:pt x="6334892" y="0"/>
                </a:moveTo>
                <a:lnTo>
                  <a:pt x="94099" y="0"/>
                </a:lnTo>
                <a:lnTo>
                  <a:pt x="57471" y="7394"/>
                </a:lnTo>
                <a:lnTo>
                  <a:pt x="27561" y="27561"/>
                </a:lnTo>
                <a:lnTo>
                  <a:pt x="7394" y="57471"/>
                </a:lnTo>
                <a:lnTo>
                  <a:pt x="0" y="94099"/>
                </a:lnTo>
                <a:lnTo>
                  <a:pt x="0" y="770063"/>
                </a:lnTo>
                <a:lnTo>
                  <a:pt x="7394" y="806690"/>
                </a:lnTo>
                <a:lnTo>
                  <a:pt x="27561" y="836600"/>
                </a:lnTo>
                <a:lnTo>
                  <a:pt x="57471" y="856766"/>
                </a:lnTo>
                <a:lnTo>
                  <a:pt x="94099" y="864161"/>
                </a:lnTo>
                <a:lnTo>
                  <a:pt x="6334892" y="864161"/>
                </a:lnTo>
                <a:lnTo>
                  <a:pt x="6371519" y="856766"/>
                </a:lnTo>
                <a:lnTo>
                  <a:pt x="6401430" y="836600"/>
                </a:lnTo>
                <a:lnTo>
                  <a:pt x="6421596" y="806690"/>
                </a:lnTo>
                <a:lnTo>
                  <a:pt x="6428991" y="770063"/>
                </a:lnTo>
                <a:lnTo>
                  <a:pt x="6428991" y="94099"/>
                </a:lnTo>
                <a:lnTo>
                  <a:pt x="6421596" y="57471"/>
                </a:lnTo>
                <a:lnTo>
                  <a:pt x="6401430" y="27561"/>
                </a:lnTo>
                <a:lnTo>
                  <a:pt x="6371519" y="7394"/>
                </a:lnTo>
                <a:lnTo>
                  <a:pt x="6334892" y="0"/>
                </a:lnTo>
                <a:close/>
              </a:path>
            </a:pathLst>
          </a:custGeom>
          <a:solidFill>
            <a:srgbClr val="CFE5C1"/>
          </a:solidFill>
        </p:spPr>
        <p:txBody>
          <a:bodyPr wrap="square" lIns="0" tIns="0" rIns="0" bIns="0" rtlCol="0"/>
          <a:lstStyle/>
          <a:p>
            <a:endParaRPr/>
          </a:p>
        </p:txBody>
      </p:sp>
      <p:sp>
        <p:nvSpPr>
          <p:cNvPr id="8" name="object 8"/>
          <p:cNvSpPr txBox="1"/>
          <p:nvPr/>
        </p:nvSpPr>
        <p:spPr>
          <a:xfrm>
            <a:off x="1783110" y="2115516"/>
            <a:ext cx="8507730" cy="2344231"/>
          </a:xfrm>
          <a:prstGeom prst="rect">
            <a:avLst/>
          </a:prstGeom>
        </p:spPr>
        <p:txBody>
          <a:bodyPr vert="horz" wrap="square" lIns="0" tIns="12700" rIns="0" bIns="0" rtlCol="0">
            <a:spAutoFit/>
          </a:bodyPr>
          <a:lstStyle/>
          <a:p>
            <a:pPr marL="2499360" algn="ctr">
              <a:lnSpc>
                <a:spcPct val="100000"/>
              </a:lnSpc>
              <a:spcBef>
                <a:spcPts val="100"/>
              </a:spcBef>
            </a:pPr>
            <a:r>
              <a:rPr sz="2200" dirty="0">
                <a:latin typeface="微软雅黑" panose="020B0503020204020204" pitchFamily="34" charset="-122"/>
                <a:cs typeface="微软雅黑" panose="020B0503020204020204" pitchFamily="34" charset="-122"/>
              </a:rPr>
              <a:t>检查代码风格是否符合</a:t>
            </a:r>
            <a:r>
              <a:rPr sz="2200" spc="-5" dirty="0">
                <a:latin typeface="Arial" panose="020B0604020202020204"/>
                <a:cs typeface="Arial" panose="020B0604020202020204"/>
              </a:rPr>
              <a:t>PEP8</a:t>
            </a:r>
            <a:r>
              <a:rPr sz="2200" dirty="0">
                <a:latin typeface="微软雅黑" panose="020B0503020204020204" pitchFamily="34" charset="-122"/>
                <a:cs typeface="微软雅黑" panose="020B0503020204020204" pitchFamily="34" charset="-122"/>
              </a:rPr>
              <a:t>规范</a:t>
            </a:r>
          </a:p>
          <a:p>
            <a:pPr>
              <a:lnSpc>
                <a:spcPct val="100000"/>
              </a:lnSpc>
            </a:pPr>
            <a:endParaRPr sz="2900" dirty="0">
              <a:latin typeface="Times New Roman" panose="02020603050405020304"/>
              <a:cs typeface="Times New Roman" panose="02020603050405020304"/>
            </a:endParaRPr>
          </a:p>
          <a:p>
            <a:pPr marL="2521585" algn="ctr">
              <a:lnSpc>
                <a:spcPct val="100000"/>
              </a:lnSpc>
              <a:spcBef>
                <a:spcPts val="1725"/>
              </a:spcBef>
            </a:pPr>
            <a:r>
              <a:rPr sz="2200" dirty="0">
                <a:latin typeface="微软雅黑" panose="020B0503020204020204" pitchFamily="34" charset="-122"/>
                <a:cs typeface="微软雅黑" panose="020B0503020204020204" pitchFamily="34" charset="-122"/>
              </a:rPr>
              <a:t>检查代码是否存在常见的错误和违反最佳实践</a:t>
            </a:r>
          </a:p>
          <a:p>
            <a:pPr marL="12700">
              <a:lnSpc>
                <a:spcPct val="100000"/>
              </a:lnSpc>
              <a:spcBef>
                <a:spcPts val="340"/>
              </a:spcBef>
            </a:pPr>
            <a:r>
              <a:rPr sz="2400" spc="-5" dirty="0">
                <a:solidFill>
                  <a:srgbClr val="3300CC"/>
                </a:solidFill>
                <a:latin typeface="微软雅黑" panose="020B0503020204020204" pitchFamily="34" charset="-122"/>
                <a:cs typeface="微软雅黑" panose="020B0503020204020204" pitchFamily="34" charset="-122"/>
              </a:rPr>
              <a:t>Pylint</a:t>
            </a:r>
            <a:r>
              <a:rPr sz="2400" dirty="0">
                <a:solidFill>
                  <a:srgbClr val="3300CC"/>
                </a:solidFill>
                <a:latin typeface="微软雅黑" panose="020B0503020204020204" pitchFamily="34" charset="-122"/>
                <a:cs typeface="微软雅黑" panose="020B0503020204020204" pitchFamily="34" charset="-122"/>
              </a:rPr>
              <a:t>功能</a:t>
            </a:r>
            <a:endParaRPr sz="2400" dirty="0">
              <a:latin typeface="微软雅黑" panose="020B0503020204020204" pitchFamily="34" charset="-122"/>
              <a:cs typeface="微软雅黑" panose="020B0503020204020204" pitchFamily="34" charset="-122"/>
            </a:endParaRPr>
          </a:p>
          <a:p>
            <a:pPr marL="2515235" algn="ctr">
              <a:lnSpc>
                <a:spcPct val="100000"/>
              </a:lnSpc>
              <a:spcBef>
                <a:spcPts val="1945"/>
              </a:spcBef>
            </a:pPr>
            <a:r>
              <a:rPr lang="zh-CN" altLang="en-US" sz="2200" dirty="0">
                <a:latin typeface="微软雅黑" panose="020B0503020204020204" pitchFamily="34" charset="-122"/>
                <a:cs typeface="微软雅黑" panose="020B0503020204020204" pitchFamily="34" charset="-122"/>
              </a:rPr>
              <a:t>检查重复的代码</a:t>
            </a:r>
          </a:p>
        </p:txBody>
      </p:sp>
      <p:sp>
        <p:nvSpPr>
          <p:cNvPr id="10" name="标题 9"/>
          <p:cNvSpPr>
            <a:spLocks noGrp="1"/>
          </p:cNvSpPr>
          <p:nvPr>
            <p:ph type="title"/>
          </p:nvPr>
        </p:nvSpPr>
        <p:spPr/>
        <p:txBody>
          <a:bodyPr/>
          <a:lstStyle/>
          <a:p>
            <a:r>
              <a:rPr lang="en-US" altLang="zh-CN" dirty="0">
                <a:latin typeface="Arial" panose="020B0604020202020204"/>
                <a:cs typeface="Arial" panose="020B0604020202020204"/>
              </a:rPr>
              <a:t>Pyt</a:t>
            </a:r>
            <a:r>
              <a:rPr lang="en-US" altLang="zh-CN" spc="-5" dirty="0">
                <a:latin typeface="Arial" panose="020B0604020202020204"/>
                <a:cs typeface="Arial" panose="020B0604020202020204"/>
              </a:rPr>
              <a:t>ho</a:t>
            </a:r>
            <a:r>
              <a:rPr lang="en-US" altLang="zh-CN" dirty="0">
                <a:latin typeface="Arial" panose="020B0604020202020204"/>
                <a:cs typeface="Arial" panose="020B0604020202020204"/>
              </a:rPr>
              <a:t>n</a:t>
            </a:r>
            <a:r>
              <a:rPr lang="zh-CN" altLang="en-US" dirty="0"/>
              <a:t>代码分析工具</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58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0010"/>
    </mc:Choice>
    <mc:Fallback xmlns="">
      <p:transition spd="slow" advTm="40010"/>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80622" y="1558981"/>
            <a:ext cx="7795895" cy="1080770"/>
          </a:xfrm>
          <a:prstGeom prst="rect">
            <a:avLst/>
          </a:prstGeom>
        </p:spPr>
        <p:txBody>
          <a:bodyPr vert="horz" wrap="square" lIns="0" tIns="12700" rIns="0" bIns="0" rtlCol="0">
            <a:spAutoFit/>
          </a:bodyPr>
          <a:lstStyle/>
          <a:p>
            <a:pPr marL="12700">
              <a:lnSpc>
                <a:spcPct val="100000"/>
              </a:lnSpc>
              <a:spcBef>
                <a:spcPts val="100"/>
              </a:spcBef>
              <a:tabLst>
                <a:tab pos="2120265" algn="l"/>
                <a:tab pos="4783455" algn="l"/>
              </a:tabLst>
            </a:pPr>
            <a:r>
              <a:rPr sz="3600" baseline="1000" dirty="0">
                <a:solidFill>
                  <a:srgbClr val="CC0000"/>
                </a:solidFill>
                <a:latin typeface="Arial" panose="020B0604020202020204"/>
                <a:cs typeface="Arial" panose="020B0604020202020204"/>
              </a:rPr>
              <a:t>Pylint</a:t>
            </a:r>
            <a:r>
              <a:rPr sz="3600" spc="60" baseline="1000" dirty="0">
                <a:solidFill>
                  <a:srgbClr val="CC0000"/>
                </a:solidFill>
                <a:latin typeface="Arial" panose="020B0604020202020204"/>
                <a:cs typeface="Arial" panose="020B0604020202020204"/>
              </a:rPr>
              <a:t> </a:t>
            </a:r>
            <a:r>
              <a:rPr sz="3600" baseline="1000" dirty="0">
                <a:solidFill>
                  <a:srgbClr val="D81E00"/>
                </a:solidFill>
                <a:latin typeface="微软雅黑" panose="020B0503020204020204" pitchFamily="34" charset="-122"/>
                <a:cs typeface="微软雅黑" panose="020B0503020204020204" pitchFamily="34" charset="-122"/>
              </a:rPr>
              <a:t>安装</a:t>
            </a:r>
            <a:r>
              <a:rPr sz="3600" baseline="1000" dirty="0">
                <a:solidFill>
                  <a:srgbClr val="CC0000"/>
                </a:solidFill>
                <a:latin typeface="微软雅黑" panose="020B0503020204020204" pitchFamily="34" charset="-122"/>
                <a:cs typeface="微软雅黑" panose="020B0503020204020204" pitchFamily="34" charset="-122"/>
              </a:rPr>
              <a:t>：	</a:t>
            </a:r>
            <a:r>
              <a:rPr sz="2400" dirty="0">
                <a:latin typeface="Calibri" panose="020F0502020204030204"/>
                <a:cs typeface="Calibri" panose="020F0502020204030204"/>
              </a:rPr>
              <a:t>pip install </a:t>
            </a:r>
            <a:r>
              <a:rPr sz="2400" spc="-370" dirty="0">
                <a:latin typeface="Calibri" panose="020F0502020204030204"/>
                <a:cs typeface="Calibri" panose="020F0502020204030204"/>
              </a:rPr>
              <a:t>-­‐U  </a:t>
            </a:r>
            <a:r>
              <a:rPr sz="2400" spc="-350" dirty="0">
                <a:latin typeface="Calibri" panose="020F0502020204030204"/>
                <a:cs typeface="Calibri" panose="020F0502020204030204"/>
              </a:rPr>
              <a:t> </a:t>
            </a:r>
            <a:r>
              <a:rPr sz="2400" spc="-5" dirty="0">
                <a:latin typeface="Calibri" panose="020F0502020204030204"/>
                <a:cs typeface="Calibri" panose="020F0502020204030204"/>
              </a:rPr>
              <a:t>pylint	</a:t>
            </a:r>
            <a:r>
              <a:rPr sz="2400" dirty="0">
                <a:solidFill>
                  <a:srgbClr val="3300CC"/>
                </a:solidFill>
                <a:latin typeface="Calibri" panose="020F0502020204030204"/>
                <a:cs typeface="Calibri" panose="020F0502020204030204"/>
              </a:rPr>
              <a:t>#</a:t>
            </a:r>
            <a:r>
              <a:rPr sz="2400" spc="-20" dirty="0">
                <a:solidFill>
                  <a:srgbClr val="3300CC"/>
                </a:solidFill>
                <a:latin typeface="Calibri" panose="020F0502020204030204"/>
                <a:cs typeface="Calibri" panose="020F0502020204030204"/>
              </a:rPr>
              <a:t> </a:t>
            </a:r>
            <a:r>
              <a:rPr sz="2400" dirty="0">
                <a:solidFill>
                  <a:srgbClr val="3300CC"/>
                </a:solidFill>
                <a:latin typeface="微软雅黑" panose="020B0503020204020204" pitchFamily="34" charset="-122"/>
                <a:cs typeface="微软雅黑" panose="020B0503020204020204" pitchFamily="34" charset="-122"/>
              </a:rPr>
              <a:t>安装最新版的</a:t>
            </a:r>
            <a:r>
              <a:rPr sz="2400" dirty="0">
                <a:solidFill>
                  <a:srgbClr val="3300CC"/>
                </a:solidFill>
                <a:latin typeface="Calibri" panose="020F0502020204030204"/>
                <a:cs typeface="Calibri" panose="020F0502020204030204"/>
              </a:rPr>
              <a:t>Pylint</a:t>
            </a:r>
            <a:endParaRPr sz="2400">
              <a:latin typeface="Calibri" panose="020F0502020204030204"/>
              <a:cs typeface="Calibri" panose="020F0502020204030204"/>
            </a:endParaRPr>
          </a:p>
          <a:p>
            <a:pPr marL="12700">
              <a:lnSpc>
                <a:spcPct val="100000"/>
              </a:lnSpc>
              <a:spcBef>
                <a:spcPts val="2545"/>
              </a:spcBef>
            </a:pPr>
            <a:r>
              <a:rPr sz="2400" dirty="0">
                <a:solidFill>
                  <a:srgbClr val="CC0000"/>
                </a:solidFill>
                <a:latin typeface="Arial" panose="020B0604020202020204"/>
                <a:cs typeface="Arial" panose="020B0604020202020204"/>
              </a:rPr>
              <a:t>Pylint</a:t>
            </a:r>
            <a:r>
              <a:rPr sz="2400" spc="35" dirty="0">
                <a:solidFill>
                  <a:srgbClr val="CC0000"/>
                </a:solidFill>
                <a:latin typeface="Arial" panose="020B0604020202020204"/>
                <a:cs typeface="Arial" panose="020B0604020202020204"/>
              </a:rPr>
              <a:t> </a:t>
            </a:r>
            <a:r>
              <a:rPr sz="2400" dirty="0">
                <a:solidFill>
                  <a:srgbClr val="D81E00"/>
                </a:solidFill>
                <a:latin typeface="微软雅黑" panose="020B0503020204020204" pitchFamily="34" charset="-122"/>
                <a:cs typeface="微软雅黑" panose="020B0503020204020204" pitchFamily="34" charset="-122"/>
              </a:rPr>
              <a:t>使用</a:t>
            </a:r>
            <a:r>
              <a:rPr sz="2400" dirty="0">
                <a:solidFill>
                  <a:srgbClr val="CC0000"/>
                </a:solidFill>
                <a:latin typeface="微软雅黑" panose="020B0503020204020204" pitchFamily="34" charset="-122"/>
                <a:cs typeface="微软雅黑" panose="020B0503020204020204" pitchFamily="34" charset="-122"/>
              </a:rPr>
              <a:t>：</a:t>
            </a:r>
            <a:endParaRPr sz="2400">
              <a:latin typeface="微软雅黑" panose="020B0503020204020204" pitchFamily="34" charset="-122"/>
              <a:cs typeface="微软雅黑" panose="020B0503020204020204" pitchFamily="34" charset="-122"/>
            </a:endParaRPr>
          </a:p>
        </p:txBody>
      </p:sp>
      <p:sp>
        <p:nvSpPr>
          <p:cNvPr id="4" name="object 4"/>
          <p:cNvSpPr/>
          <p:nvPr/>
        </p:nvSpPr>
        <p:spPr>
          <a:xfrm>
            <a:off x="3865482" y="4516102"/>
            <a:ext cx="130397" cy="132646"/>
          </a:xfrm>
          <a:prstGeom prst="rect">
            <a:avLst/>
          </a:prstGeom>
          <a:blipFill>
            <a:blip r:embed="rId3" cstate="print"/>
            <a:stretch>
              <a:fillRect/>
            </a:stretch>
          </a:blipFill>
        </p:spPr>
        <p:txBody>
          <a:bodyPr wrap="square" lIns="0" tIns="0" rIns="0" bIns="0" rtlCol="0"/>
          <a:lstStyle/>
          <a:p>
            <a:endParaRPr/>
          </a:p>
        </p:txBody>
      </p:sp>
      <p:graphicFrame>
        <p:nvGraphicFramePr>
          <p:cNvPr id="5" name="object 5"/>
          <p:cNvGraphicFramePr>
            <a:graphicFrameLocks noGrp="1"/>
          </p:cNvGraphicFramePr>
          <p:nvPr/>
        </p:nvGraphicFramePr>
        <p:xfrm>
          <a:off x="1286548" y="2764055"/>
          <a:ext cx="9534525" cy="2671542"/>
        </p:xfrm>
        <a:graphic>
          <a:graphicData uri="http://schemas.openxmlformats.org/drawingml/2006/table">
            <a:tbl>
              <a:tblPr firstRow="1" bandRow="1">
                <a:tableStyleId>{2D5ABB26-0587-4C30-8999-92F81FD0307C}</a:tableStyleId>
              </a:tblPr>
              <a:tblGrid>
                <a:gridCol w="1558290">
                  <a:extLst>
                    <a:ext uri="{9D8B030D-6E8A-4147-A177-3AD203B41FA5}">
                      <a16:colId xmlns:a16="http://schemas.microsoft.com/office/drawing/2014/main" val="20000"/>
                    </a:ext>
                  </a:extLst>
                </a:gridCol>
                <a:gridCol w="1151255">
                  <a:extLst>
                    <a:ext uri="{9D8B030D-6E8A-4147-A177-3AD203B41FA5}">
                      <a16:colId xmlns:a16="http://schemas.microsoft.com/office/drawing/2014/main" val="20001"/>
                    </a:ext>
                  </a:extLst>
                </a:gridCol>
                <a:gridCol w="5944235">
                  <a:extLst>
                    <a:ext uri="{9D8B030D-6E8A-4147-A177-3AD203B41FA5}">
                      <a16:colId xmlns:a16="http://schemas.microsoft.com/office/drawing/2014/main" val="20002"/>
                    </a:ext>
                  </a:extLst>
                </a:gridCol>
                <a:gridCol w="880745">
                  <a:extLst>
                    <a:ext uri="{9D8B030D-6E8A-4147-A177-3AD203B41FA5}">
                      <a16:colId xmlns:a16="http://schemas.microsoft.com/office/drawing/2014/main" val="20003"/>
                    </a:ext>
                  </a:extLst>
                </a:gridCol>
              </a:tblGrid>
              <a:tr h="605681">
                <a:tc gridSpan="4">
                  <a:txBody>
                    <a:bodyPr/>
                    <a:lstStyle/>
                    <a:p>
                      <a:pPr marL="205740">
                        <a:lnSpc>
                          <a:spcPct val="100000"/>
                        </a:lnSpc>
                        <a:spcBef>
                          <a:spcPts val="1010"/>
                        </a:spcBef>
                      </a:pPr>
                      <a:r>
                        <a:rPr sz="2400" spc="-5" dirty="0">
                          <a:latin typeface="Calibri" panose="020F0502020204030204"/>
                          <a:cs typeface="Calibri" panose="020F0502020204030204"/>
                        </a:rPr>
                        <a:t>pylint</a:t>
                      </a:r>
                      <a:r>
                        <a:rPr sz="2400" dirty="0">
                          <a:latin typeface="Calibri" panose="020F0502020204030204"/>
                          <a:cs typeface="Calibri" panose="020F0502020204030204"/>
                        </a:rPr>
                        <a:t> </a:t>
                      </a:r>
                      <a:r>
                        <a:rPr sz="2400" spc="-10" dirty="0">
                          <a:latin typeface="Calibri" panose="020F0502020204030204"/>
                          <a:cs typeface="Calibri" panose="020F0502020204030204"/>
                        </a:rPr>
                        <a:t>[options]</a:t>
                      </a:r>
                      <a:r>
                        <a:rPr sz="2400" dirty="0">
                          <a:latin typeface="Calibri" panose="020F0502020204030204"/>
                          <a:cs typeface="Calibri" panose="020F0502020204030204"/>
                        </a:rPr>
                        <a:t> </a:t>
                      </a:r>
                      <a:r>
                        <a:rPr sz="2400" spc="-5" dirty="0">
                          <a:latin typeface="Calibri" panose="020F0502020204030204"/>
                          <a:cs typeface="Calibri" panose="020F0502020204030204"/>
                        </a:rPr>
                        <a:t>module_or_package_or_ﬁle</a:t>
                      </a:r>
                      <a:r>
                        <a:rPr sz="2400" dirty="0">
                          <a:latin typeface="Calibri" panose="020F0502020204030204"/>
                          <a:cs typeface="Calibri" panose="020F0502020204030204"/>
                        </a:rPr>
                        <a:t> </a:t>
                      </a:r>
                      <a:r>
                        <a:rPr sz="2400" dirty="0">
                          <a:solidFill>
                            <a:srgbClr val="3300CC"/>
                          </a:solidFill>
                          <a:latin typeface="Calibri" panose="020F0502020204030204"/>
                          <a:cs typeface="Calibri" panose="020F0502020204030204"/>
                        </a:rPr>
                        <a:t>#</a:t>
                      </a:r>
                      <a:r>
                        <a:rPr sz="2400" spc="170" dirty="0">
                          <a:solidFill>
                            <a:srgbClr val="3300CC"/>
                          </a:solidFill>
                          <a:latin typeface="Calibri" panose="020F0502020204030204"/>
                          <a:cs typeface="Calibri" panose="020F0502020204030204"/>
                        </a:rPr>
                        <a:t> </a:t>
                      </a:r>
                      <a:r>
                        <a:rPr sz="2400" dirty="0">
                          <a:solidFill>
                            <a:srgbClr val="3300CC"/>
                          </a:solidFill>
                          <a:latin typeface="微软雅黑" panose="020B0503020204020204" pitchFamily="34" charset="-122"/>
                          <a:cs typeface="微软雅黑" panose="020B0503020204020204" pitchFamily="34" charset="-122"/>
                        </a:rPr>
                        <a:t>对模块</a:t>
                      </a:r>
                      <a:r>
                        <a:rPr sz="2400" dirty="0">
                          <a:solidFill>
                            <a:srgbClr val="3300CC"/>
                          </a:solidFill>
                          <a:latin typeface="Calibri" panose="020F0502020204030204"/>
                          <a:cs typeface="Calibri" panose="020F0502020204030204"/>
                        </a:rPr>
                        <a:t>/</a:t>
                      </a:r>
                      <a:r>
                        <a:rPr sz="2400" dirty="0">
                          <a:solidFill>
                            <a:srgbClr val="3300CC"/>
                          </a:solidFill>
                          <a:latin typeface="微软雅黑" panose="020B0503020204020204" pitchFamily="34" charset="-122"/>
                          <a:cs typeface="微软雅黑" panose="020B0503020204020204" pitchFamily="34" charset="-122"/>
                        </a:rPr>
                        <a:t>包</a:t>
                      </a:r>
                      <a:r>
                        <a:rPr sz="2400" dirty="0">
                          <a:solidFill>
                            <a:srgbClr val="3300CC"/>
                          </a:solidFill>
                          <a:latin typeface="Calibri" panose="020F0502020204030204"/>
                          <a:cs typeface="Calibri" panose="020F0502020204030204"/>
                        </a:rPr>
                        <a:t>/</a:t>
                      </a:r>
                      <a:r>
                        <a:rPr sz="2400" dirty="0">
                          <a:solidFill>
                            <a:srgbClr val="3300CC"/>
                          </a:solidFill>
                          <a:latin typeface="微软雅黑" panose="020B0503020204020204" pitchFamily="34" charset="-122"/>
                          <a:cs typeface="微软雅黑" panose="020B0503020204020204" pitchFamily="34" charset="-122"/>
                        </a:rPr>
                        <a:t>文件运行</a:t>
                      </a:r>
                      <a:r>
                        <a:rPr sz="2400" spc="-5" dirty="0">
                          <a:solidFill>
                            <a:srgbClr val="3300CC"/>
                          </a:solidFill>
                          <a:latin typeface="Calibri" panose="020F0502020204030204"/>
                          <a:cs typeface="Calibri" panose="020F0502020204030204"/>
                        </a:rPr>
                        <a:t>pylint</a:t>
                      </a:r>
                      <a:endParaRPr sz="2400">
                        <a:latin typeface="Calibri" panose="020F0502020204030204"/>
                        <a:cs typeface="Calibri" panose="020F0502020204030204"/>
                      </a:endParaRPr>
                    </a:p>
                  </a:txBody>
                  <a:tcPr marL="0" marR="0" marT="128270" marB="0">
                    <a:solidFill>
                      <a:srgbClr val="ECEBEB"/>
                    </a:solidFill>
                  </a:tcPr>
                </a:tc>
                <a:tc hMerge="1">
                  <a:txBody>
                    <a:bodyPr/>
                    <a:lstStyle/>
                    <a:p>
                      <a:endParaRPr lang="zh-CN"/>
                    </a:p>
                  </a:txBody>
                  <a:tcPr marL="0" marR="0" marT="0" marB="0"/>
                </a:tc>
                <a:tc hMerge="1">
                  <a:txBody>
                    <a:bodyPr/>
                    <a:lstStyle/>
                    <a:p>
                      <a:endParaRPr lang="zh-CN"/>
                    </a:p>
                  </a:txBody>
                  <a:tcPr marL="0" marR="0" marT="0" marB="0"/>
                </a:tc>
                <a:tc hMerge="1">
                  <a:txBody>
                    <a:bodyPr/>
                    <a:lstStyle/>
                    <a:p>
                      <a:endParaRPr lang="zh-CN"/>
                    </a:p>
                  </a:txBody>
                  <a:tcPr marL="0" marR="0" marT="0" marB="0"/>
                </a:tc>
                <a:extLst>
                  <a:ext uri="{0D108BD9-81ED-4DB2-BD59-A6C34878D82A}">
                    <a16:rowId xmlns:a16="http://schemas.microsoft.com/office/drawing/2014/main" val="10000"/>
                  </a:ext>
                </a:extLst>
              </a:tr>
              <a:tr h="359514">
                <a:tc rowSpan="2">
                  <a:txBody>
                    <a:bodyPr/>
                    <a:lstStyle/>
                    <a:p>
                      <a:pPr>
                        <a:lnSpc>
                          <a:spcPct val="100000"/>
                        </a:lnSpc>
                      </a:pPr>
                      <a:endParaRPr sz="2200">
                        <a:latin typeface="Times New Roman" panose="02020603050405020304"/>
                        <a:cs typeface="Times New Roman" panose="02020603050405020304"/>
                      </a:endParaRPr>
                    </a:p>
                  </a:txBody>
                  <a:tcPr marL="0" marR="0" marT="0" marB="0">
                    <a:lnR w="28575">
                      <a:solidFill>
                        <a:srgbClr val="D81E00"/>
                      </a:solidFill>
                      <a:prstDash val="solid"/>
                    </a:lnR>
                  </a:tcPr>
                </a:tc>
                <a:tc gridSpan="3">
                  <a:txBody>
                    <a:bodyPr/>
                    <a:lstStyle/>
                    <a:p>
                      <a:pPr>
                        <a:lnSpc>
                          <a:spcPct val="100000"/>
                        </a:lnSpc>
                      </a:pPr>
                      <a:endParaRPr sz="2200">
                        <a:latin typeface="Times New Roman" panose="02020603050405020304"/>
                        <a:cs typeface="Times New Roman" panose="02020603050405020304"/>
                      </a:endParaRPr>
                    </a:p>
                  </a:txBody>
                  <a:tcPr marL="0" marR="0" marT="0" marB="0">
                    <a:lnL w="28575">
                      <a:solidFill>
                        <a:srgbClr val="D81E00"/>
                      </a:solidFill>
                      <a:prstDash val="solid"/>
                    </a:lnL>
                  </a:tcPr>
                </a:tc>
                <a:tc hMerge="1">
                  <a:txBody>
                    <a:bodyPr/>
                    <a:lstStyle/>
                    <a:p>
                      <a:endParaRPr lang="zh-CN"/>
                    </a:p>
                  </a:txBody>
                  <a:tcPr marL="0" marR="0" marT="0" marB="0"/>
                </a:tc>
                <a:tc hMerge="1">
                  <a:txBody>
                    <a:bodyPr/>
                    <a:lstStyle/>
                    <a:p>
                      <a:endParaRPr lang="zh-CN"/>
                    </a:p>
                  </a:txBody>
                  <a:tcPr marL="0" marR="0" marT="0" marB="0"/>
                </a:tc>
                <a:extLst>
                  <a:ext uri="{0D108BD9-81ED-4DB2-BD59-A6C34878D82A}">
                    <a16:rowId xmlns:a16="http://schemas.microsoft.com/office/drawing/2014/main" val="10001"/>
                  </a:ext>
                </a:extLst>
              </a:tr>
              <a:tr h="853173">
                <a:tc vMerge="1">
                  <a:txBody>
                    <a:bodyPr/>
                    <a:lstStyle/>
                    <a:p>
                      <a:endParaRPr lang="zh-CN"/>
                    </a:p>
                  </a:txBody>
                  <a:tcPr marL="0" marR="0" marT="0" marB="0">
                    <a:lnR w="28575">
                      <a:solidFill>
                        <a:srgbClr val="D81E00"/>
                      </a:solidFill>
                      <a:prstDash val="solid"/>
                    </a:lnR>
                    <a:lnT w="38100">
                      <a:solidFill>
                        <a:srgbClr val="D81E00"/>
                      </a:solidFill>
                      <a:prstDash val="solid"/>
                    </a:lnT>
                  </a:tcPr>
                </a:tc>
                <a:tc>
                  <a:txBody>
                    <a:bodyPr/>
                    <a:lstStyle/>
                    <a:p>
                      <a:pPr>
                        <a:lnSpc>
                          <a:spcPct val="100000"/>
                        </a:lnSpc>
                      </a:pPr>
                      <a:endParaRPr sz="2200">
                        <a:latin typeface="Times New Roman" panose="02020603050405020304"/>
                        <a:cs typeface="Times New Roman" panose="02020603050405020304"/>
                      </a:endParaRPr>
                    </a:p>
                  </a:txBody>
                  <a:tcPr marL="0" marR="0" marT="0" marB="0">
                    <a:lnL w="28575">
                      <a:solidFill>
                        <a:srgbClr val="D81E00"/>
                      </a:solidFill>
                      <a:prstDash val="solid"/>
                    </a:lnL>
                    <a:lnR w="19050">
                      <a:solidFill>
                        <a:srgbClr val="919191"/>
                      </a:solidFill>
                      <a:prstDash val="solid"/>
                    </a:lnR>
                    <a:lnB w="28575">
                      <a:solidFill>
                        <a:srgbClr val="D81E00"/>
                      </a:solidFill>
                      <a:prstDash val="solid"/>
                    </a:lnB>
                  </a:tcPr>
                </a:tc>
                <a:tc rowSpan="2">
                  <a:txBody>
                    <a:bodyPr/>
                    <a:lstStyle/>
                    <a:p>
                      <a:pPr marL="269240">
                        <a:lnSpc>
                          <a:spcPct val="100000"/>
                        </a:lnSpc>
                        <a:spcBef>
                          <a:spcPts val="1395"/>
                        </a:spcBef>
                      </a:pPr>
                      <a:r>
                        <a:rPr sz="2000" dirty="0">
                          <a:latin typeface="Courier New" panose="02070309020205020404"/>
                          <a:cs typeface="Courier New" panose="02070309020205020404"/>
                        </a:rPr>
                        <a:t>--rcfile=&lt;file&gt;</a:t>
                      </a:r>
                      <a:r>
                        <a:rPr sz="2000" spc="-620" dirty="0">
                          <a:latin typeface="Courier New" panose="02070309020205020404"/>
                          <a:cs typeface="Courier New" panose="02070309020205020404"/>
                        </a:rPr>
                        <a:t> </a:t>
                      </a:r>
                      <a:r>
                        <a:rPr sz="2000" dirty="0">
                          <a:latin typeface="微软雅黑" panose="020B0503020204020204" pitchFamily="34" charset="-122"/>
                          <a:cs typeface="微软雅黑" panose="020B0503020204020204" pitchFamily="34" charset="-122"/>
                        </a:rPr>
                        <a:t>指定检查的配置文件</a:t>
                      </a:r>
                      <a:endParaRPr sz="2000">
                        <a:latin typeface="微软雅黑" panose="020B0503020204020204" pitchFamily="34" charset="-122"/>
                        <a:cs typeface="微软雅黑" panose="020B0503020204020204" pitchFamily="34" charset="-122"/>
                      </a:endParaRPr>
                    </a:p>
                    <a:p>
                      <a:pPr marL="269240">
                        <a:lnSpc>
                          <a:spcPct val="100000"/>
                        </a:lnSpc>
                        <a:spcBef>
                          <a:spcPts val="400"/>
                        </a:spcBef>
                      </a:pPr>
                      <a:r>
                        <a:rPr sz="2000" dirty="0">
                          <a:latin typeface="Courier New" panose="02070309020205020404"/>
                          <a:cs typeface="Courier New" panose="02070309020205020404"/>
                        </a:rPr>
                        <a:t>--ignore=&lt;file&gt;</a:t>
                      </a:r>
                      <a:r>
                        <a:rPr sz="2000" spc="-620" dirty="0">
                          <a:latin typeface="Courier New" panose="02070309020205020404"/>
                          <a:cs typeface="Courier New" panose="02070309020205020404"/>
                        </a:rPr>
                        <a:t> </a:t>
                      </a:r>
                      <a:r>
                        <a:rPr sz="2000" dirty="0">
                          <a:latin typeface="微软雅黑" panose="020B0503020204020204" pitchFamily="34" charset="-122"/>
                          <a:cs typeface="微软雅黑" panose="020B0503020204020204" pitchFamily="34" charset="-122"/>
                        </a:rPr>
                        <a:t>不进行检查的文件列表</a:t>
                      </a:r>
                      <a:endParaRPr sz="2000">
                        <a:latin typeface="微软雅黑" panose="020B0503020204020204" pitchFamily="34" charset="-122"/>
                        <a:cs typeface="微软雅黑" panose="020B0503020204020204" pitchFamily="34" charset="-122"/>
                      </a:endParaRPr>
                    </a:p>
                    <a:p>
                      <a:pPr marL="269240">
                        <a:lnSpc>
                          <a:spcPct val="100000"/>
                        </a:lnSpc>
                        <a:spcBef>
                          <a:spcPts val="500"/>
                        </a:spcBef>
                        <a:tabLst>
                          <a:tab pos="2555240" algn="l"/>
                        </a:tabLst>
                      </a:pPr>
                      <a:r>
                        <a:rPr sz="2000" dirty="0">
                          <a:latin typeface="Courier New" panose="02070309020205020404"/>
                          <a:cs typeface="Courier New" panose="02070309020205020404"/>
                        </a:rPr>
                        <a:t>--disable=&lt;msg	ids&gt;</a:t>
                      </a:r>
                      <a:r>
                        <a:rPr sz="2000" spc="-630" dirty="0">
                          <a:latin typeface="Courier New" panose="02070309020205020404"/>
                          <a:cs typeface="Courier New" panose="02070309020205020404"/>
                        </a:rPr>
                        <a:t> </a:t>
                      </a:r>
                      <a:r>
                        <a:rPr sz="2000" dirty="0">
                          <a:latin typeface="微软雅黑" panose="020B0503020204020204" pitchFamily="34" charset="-122"/>
                          <a:cs typeface="微软雅黑" panose="020B0503020204020204" pitchFamily="34" charset="-122"/>
                        </a:rPr>
                        <a:t>关闭某种类型的检查</a:t>
                      </a:r>
                      <a:endParaRPr sz="2000">
                        <a:latin typeface="微软雅黑" panose="020B0503020204020204" pitchFamily="34" charset="-122"/>
                        <a:cs typeface="微软雅黑" panose="020B0503020204020204" pitchFamily="34" charset="-122"/>
                      </a:endParaRPr>
                    </a:p>
                    <a:p>
                      <a:pPr marL="269240">
                        <a:lnSpc>
                          <a:spcPct val="100000"/>
                        </a:lnSpc>
                        <a:spcBef>
                          <a:spcPts val="500"/>
                        </a:spcBef>
                      </a:pPr>
                      <a:r>
                        <a:rPr sz="2000" spc="-5" dirty="0">
                          <a:latin typeface="Courier New" panose="02070309020205020404"/>
                          <a:cs typeface="Courier New" panose="02070309020205020404"/>
                        </a:rPr>
                        <a:t>-f</a:t>
                      </a:r>
                      <a:r>
                        <a:rPr sz="2000" spc="-15" dirty="0">
                          <a:latin typeface="Courier New" panose="02070309020205020404"/>
                          <a:cs typeface="Courier New" panose="02070309020205020404"/>
                        </a:rPr>
                        <a:t> </a:t>
                      </a:r>
                      <a:r>
                        <a:rPr sz="2000" dirty="0">
                          <a:latin typeface="Courier New" panose="02070309020205020404"/>
                          <a:cs typeface="Courier New" panose="02070309020205020404"/>
                        </a:rPr>
                        <a:t>&lt;format&gt;</a:t>
                      </a:r>
                      <a:r>
                        <a:rPr sz="2000" spc="-615" dirty="0">
                          <a:latin typeface="Courier New" panose="02070309020205020404"/>
                          <a:cs typeface="Courier New" panose="02070309020205020404"/>
                        </a:rPr>
                        <a:t> </a:t>
                      </a:r>
                      <a:r>
                        <a:rPr sz="2000" dirty="0">
                          <a:latin typeface="微软雅黑" panose="020B0503020204020204" pitchFamily="34" charset="-122"/>
                          <a:cs typeface="微软雅黑" panose="020B0503020204020204" pitchFamily="34" charset="-122"/>
                        </a:rPr>
                        <a:t>报告类型</a:t>
                      </a:r>
                      <a:r>
                        <a:rPr sz="2000" dirty="0">
                          <a:latin typeface="Courier New" panose="02070309020205020404"/>
                          <a:cs typeface="Courier New" panose="02070309020205020404"/>
                        </a:rPr>
                        <a:t>,</a:t>
                      </a:r>
                      <a:r>
                        <a:rPr sz="2000" spc="-610" dirty="0">
                          <a:latin typeface="Courier New" panose="02070309020205020404"/>
                          <a:cs typeface="Courier New" panose="02070309020205020404"/>
                        </a:rPr>
                        <a:t> </a:t>
                      </a:r>
                      <a:r>
                        <a:rPr sz="2000" dirty="0">
                          <a:latin typeface="微软雅黑" panose="020B0503020204020204" pitchFamily="34" charset="-122"/>
                          <a:cs typeface="微软雅黑" panose="020B0503020204020204" pitchFamily="34" charset="-122"/>
                        </a:rPr>
                        <a:t>如</a:t>
                      </a:r>
                      <a:r>
                        <a:rPr sz="2000" dirty="0">
                          <a:latin typeface="Courier New" panose="02070309020205020404"/>
                          <a:cs typeface="Courier New" panose="02070309020205020404"/>
                        </a:rPr>
                        <a:t>html</a:t>
                      </a:r>
                      <a:endParaRPr sz="2000">
                        <a:latin typeface="Courier New" panose="02070309020205020404"/>
                        <a:cs typeface="Courier New" panose="02070309020205020404"/>
                      </a:endParaRPr>
                    </a:p>
                  </a:txBody>
                  <a:tcPr marL="0" marR="0" marT="177165" marB="0">
                    <a:lnL w="19050">
                      <a:solidFill>
                        <a:srgbClr val="919191"/>
                      </a:solidFill>
                      <a:prstDash val="solid"/>
                    </a:lnL>
                    <a:lnR w="19050">
                      <a:solidFill>
                        <a:srgbClr val="919191"/>
                      </a:solidFill>
                      <a:prstDash val="solid"/>
                    </a:lnR>
                    <a:lnT w="19050">
                      <a:solidFill>
                        <a:srgbClr val="919191"/>
                      </a:solidFill>
                      <a:prstDash val="solid"/>
                    </a:lnT>
                    <a:lnB w="19050">
                      <a:solidFill>
                        <a:srgbClr val="919191"/>
                      </a:solidFill>
                      <a:prstDash val="solid"/>
                    </a:lnB>
                  </a:tcPr>
                </a:tc>
                <a:tc rowSpan="2">
                  <a:txBody>
                    <a:bodyPr/>
                    <a:lstStyle/>
                    <a:p>
                      <a:pPr>
                        <a:lnSpc>
                          <a:spcPct val="100000"/>
                        </a:lnSpc>
                      </a:pPr>
                      <a:endParaRPr sz="2200">
                        <a:latin typeface="Times New Roman" panose="02020603050405020304"/>
                        <a:cs typeface="Times New Roman" panose="02020603050405020304"/>
                      </a:endParaRPr>
                    </a:p>
                  </a:txBody>
                  <a:tcPr marL="0" marR="0" marT="0" marB="0">
                    <a:lnL w="19050">
                      <a:solidFill>
                        <a:srgbClr val="919191"/>
                      </a:solidFill>
                      <a:prstDash val="solid"/>
                    </a:lnL>
                  </a:tcPr>
                </a:tc>
                <a:extLst>
                  <a:ext uri="{0D108BD9-81ED-4DB2-BD59-A6C34878D82A}">
                    <a16:rowId xmlns:a16="http://schemas.microsoft.com/office/drawing/2014/main" val="10002"/>
                  </a:ext>
                </a:extLst>
              </a:tr>
              <a:tr h="853174">
                <a:tc gridSpan="2">
                  <a:txBody>
                    <a:bodyPr/>
                    <a:lstStyle/>
                    <a:p>
                      <a:pPr>
                        <a:lnSpc>
                          <a:spcPct val="100000"/>
                        </a:lnSpc>
                      </a:pPr>
                      <a:endParaRPr sz="2200">
                        <a:latin typeface="Times New Roman" panose="02020603050405020304"/>
                        <a:cs typeface="Times New Roman" panose="02020603050405020304"/>
                      </a:endParaRPr>
                    </a:p>
                  </a:txBody>
                  <a:tcPr marL="0" marR="0" marT="0" marB="0">
                    <a:lnR w="19050">
                      <a:solidFill>
                        <a:srgbClr val="919191"/>
                      </a:solidFill>
                      <a:prstDash val="solid"/>
                    </a:lnR>
                  </a:tcPr>
                </a:tc>
                <a:tc hMerge="1">
                  <a:txBody>
                    <a:bodyPr/>
                    <a:lstStyle/>
                    <a:p>
                      <a:endParaRPr lang="zh-CN"/>
                    </a:p>
                  </a:txBody>
                  <a:tcPr marL="0" marR="0" marT="0" marB="0"/>
                </a:tc>
                <a:tc vMerge="1">
                  <a:txBody>
                    <a:bodyPr/>
                    <a:lstStyle/>
                    <a:p>
                      <a:endParaRPr lang="zh-CN"/>
                    </a:p>
                  </a:txBody>
                  <a:tcPr marL="0" marR="0" marT="177165" marB="0">
                    <a:lnL w="19050">
                      <a:solidFill>
                        <a:srgbClr val="919191"/>
                      </a:solidFill>
                      <a:prstDash val="solid"/>
                    </a:lnL>
                    <a:lnR w="19050">
                      <a:solidFill>
                        <a:srgbClr val="919191"/>
                      </a:solidFill>
                      <a:prstDash val="solid"/>
                    </a:lnR>
                    <a:lnT w="19050">
                      <a:solidFill>
                        <a:srgbClr val="919191"/>
                      </a:solidFill>
                      <a:prstDash val="solid"/>
                    </a:lnT>
                    <a:lnB w="19050">
                      <a:solidFill>
                        <a:srgbClr val="919191"/>
                      </a:solidFill>
                      <a:prstDash val="solid"/>
                    </a:lnB>
                  </a:tcPr>
                </a:tc>
                <a:tc vMerge="1">
                  <a:txBody>
                    <a:bodyPr/>
                    <a:lstStyle/>
                    <a:p>
                      <a:endParaRPr lang="zh-CN"/>
                    </a:p>
                  </a:txBody>
                  <a:tcPr marL="0" marR="0" marT="0" marB="0">
                    <a:lnL w="19050">
                      <a:solidFill>
                        <a:srgbClr val="919191"/>
                      </a:solidFill>
                      <a:prstDash val="solid"/>
                    </a:lnL>
                  </a:tcPr>
                </a:tc>
                <a:extLst>
                  <a:ext uri="{0D108BD9-81ED-4DB2-BD59-A6C34878D82A}">
                    <a16:rowId xmlns:a16="http://schemas.microsoft.com/office/drawing/2014/main" val="10003"/>
                  </a:ext>
                </a:extLst>
              </a:tr>
            </a:tbl>
          </a:graphicData>
        </a:graphic>
      </p:graphicFrame>
      <p:sp>
        <p:nvSpPr>
          <p:cNvPr id="7" name="标题 6"/>
          <p:cNvSpPr>
            <a:spLocks noGrp="1"/>
          </p:cNvSpPr>
          <p:nvPr>
            <p:ph type="title"/>
          </p:nvPr>
        </p:nvSpPr>
        <p:spPr/>
        <p:txBody>
          <a:bodyPr/>
          <a:lstStyle/>
          <a:p>
            <a:r>
              <a:rPr lang="en-US" altLang="zh-CN" spc="-5" dirty="0" err="1">
                <a:latin typeface="Arial" panose="020B0604020202020204"/>
                <a:cs typeface="Arial" panose="020B0604020202020204"/>
              </a:rPr>
              <a:t>Pylint</a:t>
            </a:r>
            <a:r>
              <a:rPr lang="en-US" altLang="zh-CN" spc="-25" dirty="0">
                <a:latin typeface="Arial" panose="020B0604020202020204"/>
                <a:cs typeface="Arial" panose="020B0604020202020204"/>
              </a:rPr>
              <a:t> </a:t>
            </a:r>
            <a:r>
              <a:rPr lang="zh-CN" altLang="en-US" dirty="0"/>
              <a:t>安装与使用</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59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7454"/>
    </mc:Choice>
    <mc:Fallback xmlns="">
      <p:transition spd="slow" advTm="57454"/>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354663" y="1460199"/>
            <a:ext cx="7789545" cy="538480"/>
          </a:xfrm>
          <a:prstGeom prst="rect">
            <a:avLst/>
          </a:prstGeom>
          <a:solidFill>
            <a:srgbClr val="ECEBEB"/>
          </a:solidFill>
        </p:spPr>
        <p:txBody>
          <a:bodyPr vert="horz" wrap="square" lIns="0" tIns="100965" rIns="0" bIns="0" rtlCol="0">
            <a:spAutoFit/>
          </a:bodyPr>
          <a:lstStyle/>
          <a:p>
            <a:pPr marL="447040">
              <a:lnSpc>
                <a:spcPct val="100000"/>
              </a:lnSpc>
              <a:spcBef>
                <a:spcPts val="795"/>
              </a:spcBef>
            </a:pPr>
            <a:r>
              <a:rPr sz="2200" dirty="0">
                <a:latin typeface="Arial" panose="020B0604020202020204"/>
                <a:cs typeface="Arial" panose="020B0604020202020204"/>
              </a:rPr>
              <a:t>pylint</a:t>
            </a:r>
            <a:r>
              <a:rPr sz="2200" spc="-10" dirty="0">
                <a:latin typeface="Arial" panose="020B0604020202020204"/>
                <a:cs typeface="Arial" panose="020B0604020202020204"/>
              </a:rPr>
              <a:t> </a:t>
            </a:r>
            <a:r>
              <a:rPr sz="2200" spc="-5" dirty="0">
                <a:latin typeface="Arial" panose="020B0604020202020204"/>
                <a:cs typeface="Arial" panose="020B0604020202020204"/>
              </a:rPr>
              <a:t>--help-msg </a:t>
            </a:r>
            <a:r>
              <a:rPr sz="2200" dirty="0">
                <a:latin typeface="Arial" panose="020B0604020202020204"/>
                <a:cs typeface="Arial" panose="020B0604020202020204"/>
              </a:rPr>
              <a:t>&lt;msg-id&gt;</a:t>
            </a:r>
            <a:r>
              <a:rPr sz="2200" spc="-10" dirty="0">
                <a:latin typeface="Arial" panose="020B0604020202020204"/>
                <a:cs typeface="Arial" panose="020B0604020202020204"/>
              </a:rPr>
              <a:t> </a:t>
            </a:r>
            <a:r>
              <a:rPr sz="2200" dirty="0">
                <a:solidFill>
                  <a:srgbClr val="3300CC"/>
                </a:solidFill>
                <a:latin typeface="微软雅黑" panose="020B0503020204020204" pitchFamily="34" charset="-122"/>
                <a:cs typeface="微软雅黑" panose="020B0503020204020204" pitchFamily="34" charset="-122"/>
              </a:rPr>
              <a:t>查看某种类型问题的帮助</a:t>
            </a:r>
            <a:endParaRPr sz="2200">
              <a:latin typeface="微软雅黑" panose="020B0503020204020204" pitchFamily="34" charset="-122"/>
              <a:cs typeface="微软雅黑" panose="020B0503020204020204" pitchFamily="34" charset="-122"/>
            </a:endParaRPr>
          </a:p>
        </p:txBody>
      </p:sp>
      <p:sp>
        <p:nvSpPr>
          <p:cNvPr id="4" name="object 4"/>
          <p:cNvSpPr txBox="1"/>
          <p:nvPr/>
        </p:nvSpPr>
        <p:spPr>
          <a:xfrm>
            <a:off x="1354663" y="3983233"/>
            <a:ext cx="7789545" cy="540385"/>
          </a:xfrm>
          <a:prstGeom prst="rect">
            <a:avLst/>
          </a:prstGeom>
          <a:solidFill>
            <a:srgbClr val="ECEBEB"/>
          </a:solidFill>
        </p:spPr>
        <p:txBody>
          <a:bodyPr vert="horz" wrap="square" lIns="0" tIns="102235" rIns="0" bIns="0" rtlCol="0">
            <a:spAutoFit/>
          </a:bodyPr>
          <a:lstStyle/>
          <a:p>
            <a:pPr marL="447040">
              <a:lnSpc>
                <a:spcPct val="100000"/>
              </a:lnSpc>
              <a:spcBef>
                <a:spcPts val="805"/>
              </a:spcBef>
            </a:pPr>
            <a:r>
              <a:rPr sz="2200" dirty="0">
                <a:latin typeface="Arial" panose="020B0604020202020204"/>
                <a:cs typeface="Arial" panose="020B0604020202020204"/>
              </a:rPr>
              <a:t>pylint</a:t>
            </a:r>
            <a:r>
              <a:rPr sz="2200" spc="-10" dirty="0">
                <a:latin typeface="Arial" panose="020B0604020202020204"/>
                <a:cs typeface="Arial" panose="020B0604020202020204"/>
              </a:rPr>
              <a:t> </a:t>
            </a:r>
            <a:r>
              <a:rPr sz="2200" spc="-5" dirty="0">
                <a:latin typeface="Arial" panose="020B0604020202020204"/>
                <a:cs typeface="Arial" panose="020B0604020202020204"/>
              </a:rPr>
              <a:t>--generate-rcfile</a:t>
            </a:r>
            <a:r>
              <a:rPr sz="2200" dirty="0">
                <a:latin typeface="Arial" panose="020B0604020202020204"/>
                <a:cs typeface="Arial" panose="020B0604020202020204"/>
              </a:rPr>
              <a:t> </a:t>
            </a:r>
            <a:r>
              <a:rPr sz="2200" dirty="0">
                <a:solidFill>
                  <a:srgbClr val="3300CC"/>
                </a:solidFill>
                <a:latin typeface="微软雅黑" panose="020B0503020204020204" pitchFamily="34" charset="-122"/>
                <a:cs typeface="微软雅黑" panose="020B0503020204020204" pitchFamily="34" charset="-122"/>
              </a:rPr>
              <a:t>根据当前配置生成配置文件</a:t>
            </a:r>
            <a:endParaRPr sz="2200">
              <a:latin typeface="微软雅黑" panose="020B0503020204020204" pitchFamily="34" charset="-122"/>
              <a:cs typeface="微软雅黑" panose="020B0503020204020204" pitchFamily="34" charset="-122"/>
            </a:endParaRPr>
          </a:p>
        </p:txBody>
      </p:sp>
      <p:sp>
        <p:nvSpPr>
          <p:cNvPr id="5" name="object 5"/>
          <p:cNvSpPr txBox="1"/>
          <p:nvPr/>
        </p:nvSpPr>
        <p:spPr>
          <a:xfrm>
            <a:off x="1462121" y="2193623"/>
            <a:ext cx="5360670" cy="330200"/>
          </a:xfrm>
          <a:prstGeom prst="rect">
            <a:avLst/>
          </a:prstGeom>
        </p:spPr>
        <p:txBody>
          <a:bodyPr vert="horz" wrap="square" lIns="0" tIns="12700" rIns="0" bIns="0" rtlCol="0">
            <a:spAutoFit/>
          </a:bodyPr>
          <a:lstStyle/>
          <a:p>
            <a:pPr marL="12700">
              <a:lnSpc>
                <a:spcPct val="100000"/>
              </a:lnSpc>
              <a:spcBef>
                <a:spcPts val="100"/>
              </a:spcBef>
              <a:tabLst>
                <a:tab pos="1841500" algn="l"/>
                <a:tab pos="3517900" algn="l"/>
              </a:tabLst>
            </a:pPr>
            <a:r>
              <a:rPr sz="2000" dirty="0">
                <a:solidFill>
                  <a:srgbClr val="CC0000"/>
                </a:solidFill>
                <a:latin typeface="微软雅黑" panose="020B0503020204020204" pitchFamily="34" charset="-122"/>
                <a:cs typeface="微软雅黑" panose="020B0503020204020204" pitchFamily="34" charset="-122"/>
              </a:rPr>
              <a:t>例如</a:t>
            </a:r>
            <a:r>
              <a:rPr sz="2000" dirty="0">
                <a:solidFill>
                  <a:srgbClr val="D81E00"/>
                </a:solidFill>
                <a:latin typeface="微软雅黑" panose="020B0503020204020204" pitchFamily="34" charset="-122"/>
                <a:cs typeface="微软雅黑" panose="020B0503020204020204" pitchFamily="34" charset="-122"/>
              </a:rPr>
              <a:t>：</a:t>
            </a:r>
            <a:r>
              <a:rPr sz="2000" dirty="0">
                <a:latin typeface="Courier New" panose="02070309020205020404"/>
                <a:cs typeface="Courier New" panose="02070309020205020404"/>
              </a:rPr>
              <a:t>pylint	--help-msg	invalid-name</a:t>
            </a:r>
            <a:endParaRPr sz="2000">
              <a:latin typeface="Courier New" panose="02070309020205020404"/>
              <a:cs typeface="Courier New" panose="02070309020205020404"/>
            </a:endParaRPr>
          </a:p>
        </p:txBody>
      </p:sp>
      <p:sp>
        <p:nvSpPr>
          <p:cNvPr id="6" name="object 6"/>
          <p:cNvSpPr/>
          <p:nvPr/>
        </p:nvSpPr>
        <p:spPr>
          <a:xfrm>
            <a:off x="2218260" y="2717803"/>
            <a:ext cx="8255449" cy="939797"/>
          </a:xfrm>
          <a:prstGeom prst="rect">
            <a:avLst/>
          </a:prstGeom>
          <a:blipFill>
            <a:blip r:embed="rId3" cstate="print"/>
            <a:stretch>
              <a:fillRect/>
            </a:stretch>
          </a:blipFill>
        </p:spPr>
        <p:txBody>
          <a:bodyPr wrap="square" lIns="0" tIns="0" rIns="0" bIns="0" rtlCol="0"/>
          <a:lstStyle/>
          <a:p>
            <a:endParaRPr/>
          </a:p>
        </p:txBody>
      </p:sp>
      <p:sp>
        <p:nvSpPr>
          <p:cNvPr id="7" name="object 7"/>
          <p:cNvSpPr txBox="1"/>
          <p:nvPr/>
        </p:nvSpPr>
        <p:spPr>
          <a:xfrm>
            <a:off x="1746670" y="4673726"/>
            <a:ext cx="6519545" cy="1016000"/>
          </a:xfrm>
          <a:prstGeom prst="rect">
            <a:avLst/>
          </a:prstGeom>
        </p:spPr>
        <p:txBody>
          <a:bodyPr vert="horz" wrap="square" lIns="0" tIns="38100" rIns="0" bIns="0" rtlCol="0">
            <a:spAutoFit/>
          </a:bodyPr>
          <a:lstStyle/>
          <a:p>
            <a:pPr marL="368300" indent="-355600">
              <a:lnSpc>
                <a:spcPct val="100000"/>
              </a:lnSpc>
              <a:spcBef>
                <a:spcPts val="300"/>
              </a:spcBef>
              <a:buFont typeface="Arial" panose="020B0604020202020204"/>
              <a:buChar char="•"/>
              <a:tabLst>
                <a:tab pos="367665" algn="l"/>
                <a:tab pos="368300" algn="l"/>
              </a:tabLst>
            </a:pPr>
            <a:r>
              <a:rPr sz="2000" dirty="0">
                <a:latin typeface="微软雅黑" panose="020B0503020204020204" pitchFamily="34" charset="-122"/>
                <a:cs typeface="微软雅黑" panose="020B0503020204020204" pitchFamily="34" charset="-122"/>
              </a:rPr>
              <a:t>通常结合</a:t>
            </a:r>
            <a:r>
              <a:rPr sz="2000" spc="-5" dirty="0">
                <a:latin typeface="微软雅黑" panose="020B0503020204020204" pitchFamily="34" charset="-122"/>
                <a:cs typeface="微软雅黑" panose="020B0503020204020204" pitchFamily="34" charset="-122"/>
              </a:rPr>
              <a:t> </a:t>
            </a:r>
            <a:r>
              <a:rPr sz="2000" dirty="0">
                <a:latin typeface="Arial" panose="020B0604020202020204"/>
                <a:cs typeface="Arial" panose="020B0604020202020204"/>
              </a:rPr>
              <a:t>--disable</a:t>
            </a:r>
            <a:r>
              <a:rPr sz="2000" spc="35" dirty="0">
                <a:latin typeface="Arial" panose="020B0604020202020204"/>
                <a:cs typeface="Arial" panose="020B0604020202020204"/>
              </a:rPr>
              <a:t> </a:t>
            </a:r>
            <a:r>
              <a:rPr sz="2000" dirty="0">
                <a:latin typeface="微软雅黑" panose="020B0503020204020204" pitchFamily="34" charset="-122"/>
                <a:cs typeface="微软雅黑" panose="020B0503020204020204" pitchFamily="34" charset="-122"/>
              </a:rPr>
              <a:t>使用</a:t>
            </a:r>
            <a:endParaRPr sz="2000">
              <a:latin typeface="微软雅黑" panose="020B0503020204020204" pitchFamily="34" charset="-122"/>
              <a:cs typeface="微软雅黑" panose="020B0503020204020204" pitchFamily="34" charset="-122"/>
            </a:endParaRPr>
          </a:p>
          <a:p>
            <a:pPr marL="368300" indent="-355600">
              <a:lnSpc>
                <a:spcPct val="100000"/>
              </a:lnSpc>
              <a:spcBef>
                <a:spcPts val="200"/>
              </a:spcBef>
              <a:buChar char="•"/>
              <a:tabLst>
                <a:tab pos="367665" algn="l"/>
                <a:tab pos="368300" algn="l"/>
              </a:tabLst>
            </a:pPr>
            <a:r>
              <a:rPr sz="2000" dirty="0">
                <a:latin typeface="Arial" panose="020B0604020202020204"/>
                <a:cs typeface="Arial" panose="020B0604020202020204"/>
              </a:rPr>
              <a:t>Pylint</a:t>
            </a:r>
            <a:r>
              <a:rPr sz="2000" spc="-35" dirty="0">
                <a:latin typeface="Arial" panose="020B0604020202020204"/>
                <a:cs typeface="Arial" panose="020B0604020202020204"/>
              </a:rPr>
              <a:t> </a:t>
            </a:r>
            <a:r>
              <a:rPr sz="2000" dirty="0">
                <a:latin typeface="微软雅黑" panose="020B0503020204020204" pitchFamily="34" charset="-122"/>
                <a:cs typeface="微软雅黑" panose="020B0503020204020204" pitchFamily="34" charset="-122"/>
              </a:rPr>
              <a:t>默认首先读取当前目录下的</a:t>
            </a:r>
            <a:r>
              <a:rPr sz="2000" spc="-5" dirty="0">
                <a:latin typeface="Arial" panose="020B0604020202020204"/>
                <a:cs typeface="Arial" panose="020B0604020202020204"/>
              </a:rPr>
              <a:t>pylintrc</a:t>
            </a:r>
            <a:r>
              <a:rPr sz="2000" dirty="0">
                <a:latin typeface="微软雅黑" panose="020B0503020204020204" pitchFamily="34" charset="-122"/>
                <a:cs typeface="微软雅黑" panose="020B0503020204020204" pitchFamily="34" charset="-122"/>
              </a:rPr>
              <a:t>文件作为配置</a:t>
            </a:r>
            <a:endParaRPr sz="2000">
              <a:latin typeface="微软雅黑" panose="020B0503020204020204" pitchFamily="34" charset="-122"/>
              <a:cs typeface="微软雅黑" panose="020B0503020204020204" pitchFamily="34" charset="-122"/>
            </a:endParaRPr>
          </a:p>
          <a:p>
            <a:pPr marL="368300" indent="-355600">
              <a:lnSpc>
                <a:spcPct val="100000"/>
              </a:lnSpc>
              <a:spcBef>
                <a:spcPts val="200"/>
              </a:spcBef>
              <a:buFont typeface="Arial" panose="020B0604020202020204"/>
              <a:buChar char="•"/>
              <a:tabLst>
                <a:tab pos="367665" algn="l"/>
                <a:tab pos="368300" algn="l"/>
              </a:tabLst>
            </a:pPr>
            <a:r>
              <a:rPr sz="2000" dirty="0">
                <a:latin typeface="微软雅黑" panose="020B0503020204020204" pitchFamily="34" charset="-122"/>
                <a:cs typeface="微软雅黑" panose="020B0503020204020204" pitchFamily="34" charset="-122"/>
              </a:rPr>
              <a:t>生成</a:t>
            </a:r>
            <a:r>
              <a:rPr sz="2000" dirty="0">
                <a:latin typeface="Arial" panose="020B0604020202020204"/>
                <a:cs typeface="Arial" panose="020B0604020202020204"/>
              </a:rPr>
              <a:t>pylin</a:t>
            </a:r>
            <a:r>
              <a:rPr sz="2000" spc="-5" dirty="0">
                <a:latin typeface="Arial" panose="020B0604020202020204"/>
                <a:cs typeface="Arial" panose="020B0604020202020204"/>
              </a:rPr>
              <a:t>t</a:t>
            </a:r>
            <a:r>
              <a:rPr sz="2000" dirty="0">
                <a:latin typeface="Arial" panose="020B0604020202020204"/>
                <a:cs typeface="Arial" panose="020B0604020202020204"/>
              </a:rPr>
              <a:t>r</a:t>
            </a:r>
            <a:r>
              <a:rPr sz="2000" spc="-5" dirty="0">
                <a:latin typeface="Arial" panose="020B0604020202020204"/>
                <a:cs typeface="Arial" panose="020B0604020202020204"/>
              </a:rPr>
              <a:t>c</a:t>
            </a:r>
            <a:r>
              <a:rPr sz="2000" dirty="0">
                <a:latin typeface="微软雅黑" panose="020B0503020204020204" pitchFamily="34" charset="-122"/>
                <a:cs typeface="微软雅黑" panose="020B0503020204020204" pitchFamily="34" charset="-122"/>
              </a:rPr>
              <a:t>后可以将配置加入版本控制系统供团队使用</a:t>
            </a:r>
            <a:endParaRPr sz="2000">
              <a:latin typeface="微软雅黑" panose="020B0503020204020204" pitchFamily="34" charset="-122"/>
              <a:cs typeface="微软雅黑" panose="020B0503020204020204" pitchFamily="34" charset="-122"/>
            </a:endParaRPr>
          </a:p>
        </p:txBody>
      </p:sp>
      <p:sp>
        <p:nvSpPr>
          <p:cNvPr id="9" name="标题 8"/>
          <p:cNvSpPr>
            <a:spLocks noGrp="1"/>
          </p:cNvSpPr>
          <p:nvPr>
            <p:ph type="title"/>
          </p:nvPr>
        </p:nvSpPr>
        <p:spPr/>
        <p:txBody>
          <a:bodyPr/>
          <a:lstStyle/>
          <a:p>
            <a:r>
              <a:rPr lang="en-US" altLang="zh-CN" spc="-5" dirty="0" err="1">
                <a:latin typeface="Arial" panose="020B0604020202020204"/>
                <a:cs typeface="Arial" panose="020B0604020202020204"/>
              </a:rPr>
              <a:t>Pylint</a:t>
            </a:r>
            <a:r>
              <a:rPr lang="en-US" altLang="zh-CN" spc="-25" dirty="0">
                <a:latin typeface="Arial" panose="020B0604020202020204"/>
                <a:cs typeface="Arial" panose="020B0604020202020204"/>
              </a:rPr>
              <a:t> </a:t>
            </a:r>
            <a:r>
              <a:rPr lang="zh-CN" altLang="en-US" dirty="0"/>
              <a:t>安装与使用</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60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8414"/>
    </mc:Choice>
    <mc:Fallback xmlns="">
      <p:transition spd="slow" advTm="28414"/>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76263" y="3900786"/>
            <a:ext cx="1485265" cy="774700"/>
          </a:xfrm>
          <a:prstGeom prst="rect">
            <a:avLst/>
          </a:prstGeom>
        </p:spPr>
        <p:txBody>
          <a:bodyPr vert="horz" wrap="square" lIns="0" tIns="15240" rIns="0" bIns="0" rtlCol="0">
            <a:spAutoFit/>
          </a:bodyPr>
          <a:lstStyle/>
          <a:p>
            <a:pPr indent="619760" algn="r">
              <a:lnSpc>
                <a:spcPct val="90000"/>
              </a:lnSpc>
              <a:spcBef>
                <a:spcPts val="120"/>
              </a:spcBef>
            </a:pPr>
            <a:r>
              <a:rPr sz="1800" dirty="0">
                <a:latin typeface="Calibri" panose="020F0502020204030204"/>
                <a:cs typeface="Calibri" panose="020F0502020204030204"/>
              </a:rPr>
              <a:t>enc</a:t>
            </a:r>
            <a:r>
              <a:rPr sz="1800" spc="-5" dirty="0">
                <a:latin typeface="Calibri" panose="020F0502020204030204"/>
                <a:cs typeface="Calibri" panose="020F0502020204030204"/>
              </a:rPr>
              <a:t>o</a:t>
            </a:r>
            <a:r>
              <a:rPr sz="1800" dirty="0">
                <a:latin typeface="Calibri" panose="020F0502020204030204"/>
                <a:cs typeface="Calibri" panose="020F0502020204030204"/>
              </a:rPr>
              <a:t>ded  </a:t>
            </a:r>
            <a:r>
              <a:rPr sz="1800" b="1" dirty="0">
                <a:solidFill>
                  <a:srgbClr val="000080"/>
                </a:solidFill>
                <a:latin typeface="Calibri" panose="020F0502020204030204"/>
                <a:cs typeface="Calibri" panose="020F0502020204030204"/>
              </a:rPr>
              <a:t>if </a:t>
            </a:r>
            <a:r>
              <a:rPr sz="1800" spc="-5" dirty="0">
                <a:latin typeface="Calibri" panose="020F0502020204030204"/>
                <a:cs typeface="Calibri" panose="020F0502020204030204"/>
              </a:rPr>
              <a:t>choice</a:t>
            </a:r>
            <a:r>
              <a:rPr sz="1800" spc="-45" dirty="0">
                <a:latin typeface="Calibri" panose="020F0502020204030204"/>
                <a:cs typeface="Calibri" panose="020F0502020204030204"/>
              </a:rPr>
              <a:t> </a:t>
            </a:r>
            <a:r>
              <a:rPr sz="1800" spc="-5" dirty="0">
                <a:latin typeface="Calibri" panose="020F0502020204030204"/>
                <a:cs typeface="Calibri" panose="020F0502020204030204"/>
              </a:rPr>
              <a:t>==</a:t>
            </a:r>
            <a:r>
              <a:rPr sz="1800" spc="-20" dirty="0">
                <a:latin typeface="Calibri" panose="020F0502020204030204"/>
                <a:cs typeface="Calibri" panose="020F0502020204030204"/>
              </a:rPr>
              <a:t> </a:t>
            </a:r>
            <a:r>
              <a:rPr sz="1800" b="1" spc="-5" dirty="0">
                <a:solidFill>
                  <a:srgbClr val="008080"/>
                </a:solidFill>
                <a:latin typeface="Calibri" panose="020F0502020204030204"/>
                <a:cs typeface="Calibri" panose="020F0502020204030204"/>
              </a:rPr>
              <a:t>"de </a:t>
            </a:r>
            <a:r>
              <a:rPr sz="1800" b="1" dirty="0">
                <a:solidFill>
                  <a:srgbClr val="008080"/>
                </a:solidFill>
                <a:latin typeface="Calibri" panose="020F0502020204030204"/>
                <a:cs typeface="Calibri" panose="020F0502020204030204"/>
              </a:rPr>
              <a:t> </a:t>
            </a:r>
            <a:r>
              <a:rPr sz="1800" b="1" spc="-5" dirty="0">
                <a:solidFill>
                  <a:srgbClr val="000080"/>
                </a:solidFill>
                <a:latin typeface="Calibri" panose="020F0502020204030204"/>
                <a:cs typeface="Calibri" panose="020F0502020204030204"/>
              </a:rPr>
              <a:t>for </a:t>
            </a:r>
            <a:r>
              <a:rPr sz="1800" spc="-15" dirty="0">
                <a:latin typeface="Calibri" panose="020F0502020204030204"/>
                <a:cs typeface="Calibri" panose="020F0502020204030204"/>
              </a:rPr>
              <a:t>letter </a:t>
            </a:r>
            <a:r>
              <a:rPr sz="1800" b="1" dirty="0">
                <a:solidFill>
                  <a:srgbClr val="000080"/>
                </a:solidFill>
                <a:latin typeface="Calibri" panose="020F0502020204030204"/>
                <a:cs typeface="Calibri" panose="020F0502020204030204"/>
              </a:rPr>
              <a:t>in</a:t>
            </a:r>
            <a:r>
              <a:rPr sz="1800" b="1" spc="-60" dirty="0">
                <a:solidFill>
                  <a:srgbClr val="000080"/>
                </a:solidFill>
                <a:latin typeface="Calibri" panose="020F0502020204030204"/>
                <a:cs typeface="Calibri" panose="020F0502020204030204"/>
              </a:rPr>
              <a:t> </a:t>
            </a:r>
            <a:r>
              <a:rPr sz="1800" spc="-5" dirty="0">
                <a:latin typeface="Calibri" panose="020F0502020204030204"/>
                <a:cs typeface="Calibri" panose="020F0502020204030204"/>
              </a:rPr>
              <a:t>w</a:t>
            </a:r>
            <a:endParaRPr sz="1800">
              <a:latin typeface="Calibri" panose="020F0502020204030204"/>
              <a:cs typeface="Calibri" panose="020F0502020204030204"/>
            </a:endParaRPr>
          </a:p>
        </p:txBody>
      </p:sp>
      <p:graphicFrame>
        <p:nvGraphicFramePr>
          <p:cNvPr id="3" name="object 3"/>
          <p:cNvGraphicFramePr>
            <a:graphicFrameLocks noGrp="1"/>
          </p:cNvGraphicFramePr>
          <p:nvPr>
            <p:extLst>
              <p:ext uri="{D42A27DB-BD31-4B8C-83A1-F6EECF244321}">
                <p14:modId xmlns:p14="http://schemas.microsoft.com/office/powerpoint/2010/main" val="380360528"/>
              </p:ext>
            </p:extLst>
          </p:nvPr>
        </p:nvGraphicFramePr>
        <p:xfrm>
          <a:off x="1620481" y="378424"/>
          <a:ext cx="9022080" cy="6116752"/>
        </p:xfrm>
        <a:graphic>
          <a:graphicData uri="http://schemas.openxmlformats.org/drawingml/2006/table">
            <a:tbl>
              <a:tblPr firstRow="1" bandRow="1">
                <a:tableStyleId>{2D5ABB26-0587-4C30-8999-92F81FD0307C}</a:tableStyleId>
              </a:tblPr>
              <a:tblGrid>
                <a:gridCol w="2734945">
                  <a:extLst>
                    <a:ext uri="{9D8B030D-6E8A-4147-A177-3AD203B41FA5}">
                      <a16:colId xmlns:a16="http://schemas.microsoft.com/office/drawing/2014/main" val="20000"/>
                    </a:ext>
                  </a:extLst>
                </a:gridCol>
                <a:gridCol w="1765935">
                  <a:extLst>
                    <a:ext uri="{9D8B030D-6E8A-4147-A177-3AD203B41FA5}">
                      <a16:colId xmlns:a16="http://schemas.microsoft.com/office/drawing/2014/main" val="20001"/>
                    </a:ext>
                  </a:extLst>
                </a:gridCol>
                <a:gridCol w="4521200">
                  <a:extLst>
                    <a:ext uri="{9D8B030D-6E8A-4147-A177-3AD203B41FA5}">
                      <a16:colId xmlns:a16="http://schemas.microsoft.com/office/drawing/2014/main" val="20002"/>
                    </a:ext>
                  </a:extLst>
                </a:gridCol>
              </a:tblGrid>
              <a:tr h="3650815">
                <a:tc>
                  <a:txBody>
                    <a:bodyPr/>
                    <a:lstStyle/>
                    <a:p>
                      <a:pPr>
                        <a:lnSpc>
                          <a:spcPct val="100000"/>
                        </a:lnSpc>
                      </a:pPr>
                      <a:endParaRPr sz="2400" dirty="0">
                        <a:latin typeface="Times New Roman" panose="02020603050405020304"/>
                        <a:cs typeface="Times New Roman" panose="02020603050405020304"/>
                      </a:endParaRPr>
                    </a:p>
                    <a:p>
                      <a:pPr>
                        <a:lnSpc>
                          <a:spcPct val="100000"/>
                        </a:lnSpc>
                      </a:pPr>
                      <a:endParaRPr sz="2400" dirty="0">
                        <a:latin typeface="Times New Roman" panose="02020603050405020304"/>
                        <a:cs typeface="Times New Roman" panose="02020603050405020304"/>
                      </a:endParaRPr>
                    </a:p>
                    <a:p>
                      <a:pPr>
                        <a:lnSpc>
                          <a:spcPct val="100000"/>
                        </a:lnSpc>
                      </a:pPr>
                      <a:endParaRPr sz="2400" dirty="0">
                        <a:latin typeface="Times New Roman" panose="02020603050405020304"/>
                        <a:cs typeface="Times New Roman" panose="02020603050405020304"/>
                      </a:endParaRPr>
                    </a:p>
                    <a:p>
                      <a:pPr>
                        <a:lnSpc>
                          <a:spcPct val="100000"/>
                        </a:lnSpc>
                      </a:pPr>
                      <a:endParaRPr sz="2400" dirty="0">
                        <a:latin typeface="Times New Roman" panose="02020603050405020304"/>
                        <a:cs typeface="Times New Roman" panose="02020603050405020304"/>
                      </a:endParaRPr>
                    </a:p>
                    <a:p>
                      <a:pPr>
                        <a:lnSpc>
                          <a:spcPct val="100000"/>
                        </a:lnSpc>
                      </a:pPr>
                      <a:endParaRPr sz="2400" dirty="0">
                        <a:latin typeface="Times New Roman" panose="02020603050405020304"/>
                        <a:cs typeface="Times New Roman" panose="02020603050405020304"/>
                      </a:endParaRPr>
                    </a:p>
                    <a:p>
                      <a:pPr>
                        <a:lnSpc>
                          <a:spcPct val="100000"/>
                        </a:lnSpc>
                      </a:pPr>
                      <a:endParaRPr sz="2400" dirty="0">
                        <a:latin typeface="Times New Roman" panose="02020603050405020304"/>
                        <a:cs typeface="Times New Roman" panose="02020603050405020304"/>
                      </a:endParaRPr>
                    </a:p>
                    <a:p>
                      <a:pPr>
                        <a:lnSpc>
                          <a:spcPct val="100000"/>
                        </a:lnSpc>
                      </a:pPr>
                      <a:endParaRPr sz="2400" dirty="0">
                        <a:latin typeface="Times New Roman" panose="02020603050405020304"/>
                        <a:cs typeface="Times New Roman" panose="02020603050405020304"/>
                      </a:endParaRPr>
                    </a:p>
                    <a:p>
                      <a:pPr marL="32385" marR="690880">
                        <a:lnSpc>
                          <a:spcPct val="117000"/>
                        </a:lnSpc>
                        <a:spcBef>
                          <a:spcPts val="1760"/>
                        </a:spcBef>
                      </a:pPr>
                      <a:r>
                        <a:rPr sz="2200" spc="-5" dirty="0">
                          <a:solidFill>
                            <a:srgbClr val="3300CC"/>
                          </a:solidFill>
                          <a:latin typeface="Arial" panose="020B0604020202020204"/>
                          <a:cs typeface="Arial" panose="020B0604020202020204"/>
                        </a:rPr>
                        <a:t>Pylint</a:t>
                      </a:r>
                      <a:r>
                        <a:rPr sz="2200" dirty="0">
                          <a:solidFill>
                            <a:srgbClr val="3300CC"/>
                          </a:solidFill>
                          <a:latin typeface="微软雅黑" panose="020B0503020204020204" pitchFamily="34" charset="-122"/>
                          <a:cs typeface="微软雅黑" panose="020B0503020204020204" pitchFamily="34" charset="-122"/>
                        </a:rPr>
                        <a:t>使用示例 </a:t>
                      </a:r>
                      <a:r>
                        <a:rPr sz="2200" dirty="0">
                          <a:solidFill>
                            <a:srgbClr val="3300CC"/>
                          </a:solidFill>
                          <a:latin typeface="Arial" panose="020B0604020202020204"/>
                          <a:cs typeface="Arial" panose="020B0604020202020204"/>
                        </a:rPr>
                        <a:t>simplecaese</a:t>
                      </a:r>
                      <a:r>
                        <a:rPr sz="2200" spc="-125" dirty="0">
                          <a:solidFill>
                            <a:srgbClr val="3300CC"/>
                          </a:solidFill>
                          <a:latin typeface="Arial" panose="020B0604020202020204"/>
                          <a:cs typeface="Arial" panose="020B0604020202020204"/>
                        </a:rPr>
                        <a:t>r</a:t>
                      </a:r>
                      <a:r>
                        <a:rPr sz="2200" spc="-5" dirty="0">
                          <a:solidFill>
                            <a:srgbClr val="3300CC"/>
                          </a:solidFill>
                          <a:latin typeface="Arial" panose="020B0604020202020204"/>
                          <a:cs typeface="Arial" panose="020B0604020202020204"/>
                        </a:rPr>
                        <a:t>.</a:t>
                      </a:r>
                      <a:r>
                        <a:rPr sz="2200" dirty="0">
                          <a:solidFill>
                            <a:srgbClr val="3300CC"/>
                          </a:solidFill>
                          <a:latin typeface="Arial" panose="020B0604020202020204"/>
                          <a:cs typeface="Arial" panose="020B0604020202020204"/>
                        </a:rPr>
                        <a:t>py</a:t>
                      </a:r>
                      <a:endParaRPr sz="2200" dirty="0">
                        <a:latin typeface="Arial" panose="020B0604020202020204"/>
                        <a:cs typeface="Arial" panose="020B0604020202020204"/>
                      </a:endParaRPr>
                    </a:p>
                  </a:txBody>
                  <a:tcPr marL="0" marR="0" marT="0" marB="0">
                    <a:lnR w="9525">
                      <a:solidFill>
                        <a:srgbClr val="919191"/>
                      </a:solidFill>
                      <a:prstDash val="solid"/>
                    </a:lnR>
                  </a:tcPr>
                </a:tc>
                <a:tc gridSpan="2">
                  <a:txBody>
                    <a:bodyPr/>
                    <a:lstStyle/>
                    <a:p>
                      <a:pPr marL="215900">
                        <a:lnSpc>
                          <a:spcPts val="2030"/>
                        </a:lnSpc>
                        <a:spcBef>
                          <a:spcPts val="410"/>
                        </a:spcBef>
                      </a:pPr>
                      <a:r>
                        <a:rPr sz="1800" i="1" dirty="0">
                          <a:solidFill>
                            <a:srgbClr val="808080"/>
                          </a:solidFill>
                          <a:latin typeface="Calibri" panose="020F0502020204030204"/>
                          <a:cs typeface="Calibri" panose="020F0502020204030204"/>
                        </a:rPr>
                        <a:t>#</a:t>
                      </a:r>
                      <a:r>
                        <a:rPr sz="1800" i="1" spc="-10" dirty="0">
                          <a:solidFill>
                            <a:srgbClr val="808080"/>
                          </a:solidFill>
                          <a:latin typeface="Calibri" panose="020F0502020204030204"/>
                          <a:cs typeface="Calibri" panose="020F0502020204030204"/>
                        </a:rPr>
                        <a:t> </a:t>
                      </a:r>
                      <a:r>
                        <a:rPr sz="1800" i="1" spc="-70" dirty="0">
                          <a:solidFill>
                            <a:srgbClr val="808080"/>
                          </a:solidFill>
                          <a:latin typeface="Calibri" panose="020F0502020204030204"/>
                          <a:cs typeface="Calibri" panose="020F0502020204030204"/>
                        </a:rPr>
                        <a:t>coding=u+-­‐8</a:t>
                      </a:r>
                      <a:endParaRPr sz="1800" dirty="0">
                        <a:latin typeface="Calibri" panose="020F0502020204030204"/>
                        <a:cs typeface="Calibri" panose="020F0502020204030204"/>
                      </a:endParaRPr>
                    </a:p>
                    <a:p>
                      <a:pPr marL="215900">
                        <a:lnSpc>
                          <a:spcPts val="2030"/>
                        </a:lnSpc>
                      </a:pPr>
                      <a:r>
                        <a:rPr sz="1800" b="1" dirty="0">
                          <a:solidFill>
                            <a:srgbClr val="000080"/>
                          </a:solidFill>
                          <a:latin typeface="Calibri" panose="020F0502020204030204"/>
                          <a:cs typeface="Calibri" panose="020F0502020204030204"/>
                        </a:rPr>
                        <a:t>import</a:t>
                      </a:r>
                      <a:r>
                        <a:rPr sz="1800" b="1" spc="-10" dirty="0">
                          <a:solidFill>
                            <a:srgbClr val="000080"/>
                          </a:solidFill>
                          <a:latin typeface="Calibri" panose="020F0502020204030204"/>
                          <a:cs typeface="Calibri" panose="020F0502020204030204"/>
                        </a:rPr>
                        <a:t> </a:t>
                      </a:r>
                      <a:r>
                        <a:rPr sz="1800" spc="-5" dirty="0">
                          <a:latin typeface="Calibri" panose="020F0502020204030204"/>
                          <a:cs typeface="Calibri" panose="020F0502020204030204"/>
                        </a:rPr>
                        <a:t>string</a:t>
                      </a:r>
                      <a:endParaRPr sz="1800" dirty="0">
                        <a:latin typeface="Calibri" panose="020F0502020204030204"/>
                        <a:cs typeface="Calibri" panose="020F0502020204030204"/>
                      </a:endParaRPr>
                    </a:p>
                    <a:p>
                      <a:pPr marL="215900">
                        <a:lnSpc>
                          <a:spcPts val="2030"/>
                        </a:lnSpc>
                        <a:spcBef>
                          <a:spcPts val="1740"/>
                        </a:spcBef>
                      </a:pPr>
                      <a:r>
                        <a:rPr sz="1800" spc="50" dirty="0">
                          <a:latin typeface="Calibri" panose="020F0502020204030204"/>
                          <a:cs typeface="Calibri" panose="020F0502020204030204"/>
                        </a:rPr>
                        <a:t>shi&gt; </a:t>
                      </a:r>
                      <a:r>
                        <a:rPr sz="1800" dirty="0">
                          <a:latin typeface="Calibri" panose="020F0502020204030204"/>
                          <a:cs typeface="Calibri" panose="020F0502020204030204"/>
                        </a:rPr>
                        <a:t>=</a:t>
                      </a:r>
                      <a:r>
                        <a:rPr sz="1800" spc="-55" dirty="0">
                          <a:latin typeface="Calibri" panose="020F0502020204030204"/>
                          <a:cs typeface="Calibri" panose="020F0502020204030204"/>
                        </a:rPr>
                        <a:t> </a:t>
                      </a:r>
                      <a:r>
                        <a:rPr sz="1800" dirty="0">
                          <a:solidFill>
                            <a:srgbClr val="0000FF"/>
                          </a:solidFill>
                          <a:latin typeface="Calibri" panose="020F0502020204030204"/>
                          <a:cs typeface="Calibri" panose="020F0502020204030204"/>
                        </a:rPr>
                        <a:t>3</a:t>
                      </a:r>
                      <a:endParaRPr sz="1800" dirty="0">
                        <a:latin typeface="Calibri" panose="020F0502020204030204"/>
                        <a:cs typeface="Calibri" panose="020F0502020204030204"/>
                      </a:endParaRPr>
                    </a:p>
                    <a:p>
                      <a:pPr marL="215900" marR="857250">
                        <a:lnSpc>
                          <a:spcPts val="2000"/>
                        </a:lnSpc>
                        <a:spcBef>
                          <a:spcPts val="70"/>
                        </a:spcBef>
                      </a:pPr>
                      <a:r>
                        <a:rPr sz="1800" spc="-5" dirty="0">
                          <a:latin typeface="Calibri" panose="020F0502020204030204"/>
                          <a:cs typeface="Calibri" panose="020F0502020204030204"/>
                        </a:rPr>
                        <a:t>choice </a:t>
                      </a:r>
                      <a:r>
                        <a:rPr sz="1800" dirty="0">
                          <a:latin typeface="Calibri" panose="020F0502020204030204"/>
                          <a:cs typeface="Calibri" panose="020F0502020204030204"/>
                        </a:rPr>
                        <a:t>= </a:t>
                      </a:r>
                      <a:r>
                        <a:rPr sz="1800" spc="-5" dirty="0">
                          <a:solidFill>
                            <a:srgbClr val="000080"/>
                          </a:solidFill>
                          <a:latin typeface="Calibri" panose="020F0502020204030204"/>
                          <a:cs typeface="Calibri" panose="020F0502020204030204"/>
                        </a:rPr>
                        <a:t>input</a:t>
                      </a:r>
                      <a:r>
                        <a:rPr sz="1800" spc="-5" dirty="0">
                          <a:latin typeface="Calibri" panose="020F0502020204030204"/>
                          <a:cs typeface="Calibri" panose="020F0502020204030204"/>
                        </a:rPr>
                        <a:t>(</a:t>
                      </a:r>
                      <a:r>
                        <a:rPr sz="1800" b="1" spc="-5" dirty="0">
                          <a:solidFill>
                            <a:srgbClr val="008080"/>
                          </a:solidFill>
                          <a:latin typeface="Calibri" panose="020F0502020204030204"/>
                          <a:cs typeface="Calibri" panose="020F0502020204030204"/>
                        </a:rPr>
                        <a:t>"would you </a:t>
                      </a:r>
                      <a:r>
                        <a:rPr sz="1800" b="1" dirty="0">
                          <a:solidFill>
                            <a:srgbClr val="008080"/>
                          </a:solidFill>
                          <a:latin typeface="Calibri" panose="020F0502020204030204"/>
                          <a:cs typeface="Calibri" panose="020F0502020204030204"/>
                        </a:rPr>
                        <a:t>like to encode or </a:t>
                      </a:r>
                      <a:r>
                        <a:rPr sz="1800" b="1" spc="-5" dirty="0">
                          <a:solidFill>
                            <a:srgbClr val="008080"/>
                          </a:solidFill>
                          <a:latin typeface="Calibri" panose="020F0502020204030204"/>
                          <a:cs typeface="Calibri" panose="020F0502020204030204"/>
                        </a:rPr>
                        <a:t>decode?"</a:t>
                      </a:r>
                      <a:r>
                        <a:rPr sz="1800" spc="-5" dirty="0">
                          <a:latin typeface="Calibri" panose="020F0502020204030204"/>
                          <a:cs typeface="Calibri" panose="020F0502020204030204"/>
                        </a:rPr>
                        <a:t>)  word </a:t>
                      </a:r>
                      <a:r>
                        <a:rPr sz="1800" dirty="0">
                          <a:latin typeface="Calibri" panose="020F0502020204030204"/>
                          <a:cs typeface="Calibri" panose="020F0502020204030204"/>
                        </a:rPr>
                        <a:t>= </a:t>
                      </a:r>
                      <a:r>
                        <a:rPr sz="1800" spc="-5" dirty="0">
                          <a:latin typeface="Calibri" panose="020F0502020204030204"/>
                          <a:cs typeface="Calibri" panose="020F0502020204030204"/>
                        </a:rPr>
                        <a:t>(</a:t>
                      </a:r>
                      <a:r>
                        <a:rPr sz="1800" spc="-5" dirty="0">
                          <a:solidFill>
                            <a:srgbClr val="000080"/>
                          </a:solidFill>
                          <a:latin typeface="Calibri" panose="020F0502020204030204"/>
                          <a:cs typeface="Calibri" panose="020F0502020204030204"/>
                        </a:rPr>
                        <a:t>input</a:t>
                      </a:r>
                      <a:r>
                        <a:rPr sz="1800" spc="-5" dirty="0">
                          <a:latin typeface="Calibri" panose="020F0502020204030204"/>
                          <a:cs typeface="Calibri" panose="020F0502020204030204"/>
                        </a:rPr>
                        <a:t>(</a:t>
                      </a:r>
                      <a:r>
                        <a:rPr sz="1800" b="1" spc="-5" dirty="0">
                          <a:solidFill>
                            <a:srgbClr val="008080"/>
                          </a:solidFill>
                          <a:latin typeface="Calibri" panose="020F0502020204030204"/>
                          <a:cs typeface="Calibri" panose="020F0502020204030204"/>
                        </a:rPr>
                        <a:t>"Please enter</a:t>
                      </a:r>
                      <a:r>
                        <a:rPr sz="1800" b="1" dirty="0">
                          <a:solidFill>
                            <a:srgbClr val="008080"/>
                          </a:solidFill>
                          <a:latin typeface="Calibri" panose="020F0502020204030204"/>
                          <a:cs typeface="Calibri" panose="020F0502020204030204"/>
                        </a:rPr>
                        <a:t> </a:t>
                      </a:r>
                      <a:r>
                        <a:rPr sz="1800" b="1" spc="-5" dirty="0">
                          <a:solidFill>
                            <a:srgbClr val="008080"/>
                          </a:solidFill>
                          <a:latin typeface="Calibri" panose="020F0502020204030204"/>
                          <a:cs typeface="Calibri" panose="020F0502020204030204"/>
                        </a:rPr>
                        <a:t>text"</a:t>
                      </a:r>
                      <a:r>
                        <a:rPr sz="1800" spc="-5" dirty="0">
                          <a:latin typeface="Calibri" panose="020F0502020204030204"/>
                          <a:cs typeface="Calibri" panose="020F0502020204030204"/>
                        </a:rPr>
                        <a:t>))</a:t>
                      </a:r>
                      <a:endParaRPr sz="1800" dirty="0">
                        <a:latin typeface="Calibri" panose="020F0502020204030204"/>
                        <a:cs typeface="Calibri" panose="020F0502020204030204"/>
                      </a:endParaRPr>
                    </a:p>
                    <a:p>
                      <a:pPr marL="215900">
                        <a:lnSpc>
                          <a:spcPts val="1780"/>
                        </a:lnSpc>
                      </a:pPr>
                      <a:r>
                        <a:rPr sz="1800" spc="-10" dirty="0">
                          <a:latin typeface="Calibri" panose="020F0502020204030204"/>
                          <a:cs typeface="Calibri" panose="020F0502020204030204"/>
                        </a:rPr>
                        <a:t>letters </a:t>
                      </a:r>
                      <a:r>
                        <a:rPr sz="1800" dirty="0">
                          <a:latin typeface="Calibri" panose="020F0502020204030204"/>
                          <a:cs typeface="Calibri" panose="020F0502020204030204"/>
                        </a:rPr>
                        <a:t>= </a:t>
                      </a:r>
                      <a:r>
                        <a:rPr sz="1800" spc="-5" dirty="0">
                          <a:latin typeface="Calibri" panose="020F0502020204030204"/>
                          <a:cs typeface="Calibri" panose="020F0502020204030204"/>
                        </a:rPr>
                        <a:t>string.ascii_letters </a:t>
                      </a:r>
                      <a:r>
                        <a:rPr sz="1800" dirty="0">
                          <a:latin typeface="Calibri" panose="020F0502020204030204"/>
                          <a:cs typeface="Calibri" panose="020F0502020204030204"/>
                        </a:rPr>
                        <a:t>+ </a:t>
                      </a:r>
                      <a:r>
                        <a:rPr sz="1800" spc="-5" dirty="0">
                          <a:latin typeface="Calibri" panose="020F0502020204030204"/>
                          <a:cs typeface="Calibri" panose="020F0502020204030204"/>
                        </a:rPr>
                        <a:t>string.punctuation </a:t>
                      </a:r>
                      <a:r>
                        <a:rPr sz="1800" dirty="0">
                          <a:latin typeface="Calibri" panose="020F0502020204030204"/>
                          <a:cs typeface="Calibri" panose="020F0502020204030204"/>
                        </a:rPr>
                        <a:t>+</a:t>
                      </a:r>
                      <a:r>
                        <a:rPr sz="1800" spc="20" dirty="0">
                          <a:latin typeface="Calibri" panose="020F0502020204030204"/>
                          <a:cs typeface="Calibri" panose="020F0502020204030204"/>
                        </a:rPr>
                        <a:t> </a:t>
                      </a:r>
                      <a:r>
                        <a:rPr sz="1800" spc="-5" dirty="0">
                          <a:latin typeface="Calibri" panose="020F0502020204030204"/>
                          <a:cs typeface="Calibri" panose="020F0502020204030204"/>
                        </a:rPr>
                        <a:t>string.digits</a:t>
                      </a:r>
                      <a:endParaRPr sz="1800" dirty="0">
                        <a:latin typeface="Calibri" panose="020F0502020204030204"/>
                        <a:cs typeface="Calibri" panose="020F0502020204030204"/>
                      </a:endParaRPr>
                    </a:p>
                    <a:p>
                      <a:pPr marL="215900">
                        <a:lnSpc>
                          <a:spcPts val="1950"/>
                        </a:lnSpc>
                      </a:pPr>
                      <a:r>
                        <a:rPr sz="1800" spc="-5" dirty="0">
                          <a:latin typeface="Calibri" panose="020F0502020204030204"/>
                          <a:cs typeface="Calibri" panose="020F0502020204030204"/>
                        </a:rPr>
                        <a:t>encoded </a:t>
                      </a:r>
                      <a:r>
                        <a:rPr sz="1800" dirty="0">
                          <a:latin typeface="Calibri" panose="020F0502020204030204"/>
                          <a:cs typeface="Calibri" panose="020F0502020204030204"/>
                        </a:rPr>
                        <a:t>=</a:t>
                      </a:r>
                      <a:r>
                        <a:rPr sz="1800" spc="-5" dirty="0">
                          <a:latin typeface="Calibri" panose="020F0502020204030204"/>
                          <a:cs typeface="Calibri" panose="020F0502020204030204"/>
                        </a:rPr>
                        <a:t> </a:t>
                      </a:r>
                      <a:r>
                        <a:rPr sz="1800" b="1" spc="-5" dirty="0">
                          <a:solidFill>
                            <a:srgbClr val="008080"/>
                          </a:solidFill>
                          <a:latin typeface="Calibri" panose="020F0502020204030204"/>
                          <a:cs typeface="Calibri" panose="020F0502020204030204"/>
                        </a:rPr>
                        <a:t>''</a:t>
                      </a:r>
                      <a:endParaRPr sz="1800" dirty="0">
                        <a:latin typeface="Calibri" panose="020F0502020204030204"/>
                        <a:cs typeface="Calibri" panose="020F0502020204030204"/>
                      </a:endParaRPr>
                    </a:p>
                    <a:p>
                      <a:pPr marL="215900" marR="3931920" algn="ctr">
                        <a:lnSpc>
                          <a:spcPts val="1900"/>
                        </a:lnSpc>
                        <a:spcBef>
                          <a:spcPts val="150"/>
                        </a:spcBef>
                      </a:pPr>
                      <a:r>
                        <a:rPr sz="1800" b="1" dirty="0">
                          <a:solidFill>
                            <a:srgbClr val="000080"/>
                          </a:solidFill>
                          <a:latin typeface="Calibri" panose="020F0502020204030204"/>
                          <a:cs typeface="Calibri" panose="020F0502020204030204"/>
                        </a:rPr>
                        <a:t>if </a:t>
                      </a:r>
                      <a:r>
                        <a:rPr sz="1800" spc="-5" dirty="0">
                          <a:latin typeface="Calibri" panose="020F0502020204030204"/>
                          <a:cs typeface="Calibri" panose="020F0502020204030204"/>
                        </a:rPr>
                        <a:t>choice ==</a:t>
                      </a:r>
                      <a:r>
                        <a:rPr sz="1800" spc="-40" dirty="0">
                          <a:latin typeface="Calibri" panose="020F0502020204030204"/>
                          <a:cs typeface="Calibri" panose="020F0502020204030204"/>
                        </a:rPr>
                        <a:t> </a:t>
                      </a:r>
                      <a:r>
                        <a:rPr sz="1800" b="1" spc="-5" dirty="0">
                          <a:solidFill>
                            <a:srgbClr val="008080"/>
                          </a:solidFill>
                          <a:latin typeface="Calibri" panose="020F0502020204030204"/>
                          <a:cs typeface="Calibri" panose="020F0502020204030204"/>
                        </a:rPr>
                        <a:t>"encode"</a:t>
                      </a:r>
                      <a:r>
                        <a:rPr sz="1800" spc="-5" dirty="0">
                          <a:latin typeface="Calibri" panose="020F0502020204030204"/>
                          <a:cs typeface="Calibri" panose="020F0502020204030204"/>
                        </a:rPr>
                        <a:t>:  </a:t>
                      </a:r>
                      <a:r>
                        <a:rPr sz="1800" b="1" spc="-5" dirty="0">
                          <a:solidFill>
                            <a:srgbClr val="000080"/>
                          </a:solidFill>
                          <a:latin typeface="Calibri" panose="020F0502020204030204"/>
                          <a:cs typeface="Calibri" panose="020F0502020204030204"/>
                        </a:rPr>
                        <a:t>for </a:t>
                      </a:r>
                      <a:r>
                        <a:rPr sz="1800" spc="-15" dirty="0">
                          <a:latin typeface="Calibri" panose="020F0502020204030204"/>
                          <a:cs typeface="Calibri" panose="020F0502020204030204"/>
                        </a:rPr>
                        <a:t>letter </a:t>
                      </a:r>
                      <a:r>
                        <a:rPr sz="1800" b="1" dirty="0">
                          <a:solidFill>
                            <a:srgbClr val="000080"/>
                          </a:solidFill>
                          <a:latin typeface="Calibri" panose="020F0502020204030204"/>
                          <a:cs typeface="Calibri" panose="020F0502020204030204"/>
                        </a:rPr>
                        <a:t>in</a:t>
                      </a:r>
                      <a:r>
                        <a:rPr sz="1800" b="1" spc="-10" dirty="0">
                          <a:solidFill>
                            <a:srgbClr val="000080"/>
                          </a:solidFill>
                          <a:latin typeface="Calibri" panose="020F0502020204030204"/>
                          <a:cs typeface="Calibri" panose="020F0502020204030204"/>
                        </a:rPr>
                        <a:t> </a:t>
                      </a:r>
                      <a:r>
                        <a:rPr sz="1800" spc="-5" dirty="0">
                          <a:latin typeface="Calibri" panose="020F0502020204030204"/>
                          <a:cs typeface="Calibri" panose="020F0502020204030204"/>
                        </a:rPr>
                        <a:t>word:</a:t>
                      </a:r>
                      <a:endParaRPr sz="1800" dirty="0">
                        <a:latin typeface="Calibri" panose="020F0502020204030204"/>
                        <a:cs typeface="Calibri" panose="020F0502020204030204"/>
                      </a:endParaRPr>
                    </a:p>
                    <a:p>
                      <a:pPr marR="3720465" algn="ctr">
                        <a:lnSpc>
                          <a:spcPts val="1850"/>
                        </a:lnSpc>
                      </a:pPr>
                      <a:r>
                        <a:rPr sz="1800" b="1" dirty="0">
                          <a:solidFill>
                            <a:srgbClr val="000080"/>
                          </a:solidFill>
                          <a:latin typeface="Calibri" panose="020F0502020204030204"/>
                          <a:cs typeface="Calibri" panose="020F0502020204030204"/>
                        </a:rPr>
                        <a:t>if </a:t>
                      </a:r>
                      <a:r>
                        <a:rPr sz="1800" spc="-15" dirty="0">
                          <a:latin typeface="Calibri" panose="020F0502020204030204"/>
                          <a:cs typeface="Calibri" panose="020F0502020204030204"/>
                        </a:rPr>
                        <a:t>letter </a:t>
                      </a:r>
                      <a:r>
                        <a:rPr sz="1800" spc="-5" dirty="0">
                          <a:latin typeface="Calibri" panose="020F0502020204030204"/>
                          <a:cs typeface="Calibri" panose="020F0502020204030204"/>
                        </a:rPr>
                        <a:t>== </a:t>
                      </a:r>
                      <a:r>
                        <a:rPr sz="1800" b="1" dirty="0">
                          <a:solidFill>
                            <a:srgbClr val="008080"/>
                          </a:solidFill>
                          <a:latin typeface="Calibri" panose="020F0502020204030204"/>
                          <a:cs typeface="Calibri" panose="020F0502020204030204"/>
                        </a:rPr>
                        <a:t>'</a:t>
                      </a:r>
                      <a:r>
                        <a:rPr sz="1800" b="1" spc="-5" dirty="0">
                          <a:solidFill>
                            <a:srgbClr val="008080"/>
                          </a:solidFill>
                          <a:latin typeface="Calibri" panose="020F0502020204030204"/>
                          <a:cs typeface="Calibri" panose="020F0502020204030204"/>
                        </a:rPr>
                        <a:t> </a:t>
                      </a:r>
                      <a:r>
                        <a:rPr sz="1800" b="1" dirty="0">
                          <a:solidFill>
                            <a:srgbClr val="008080"/>
                          </a:solidFill>
                          <a:latin typeface="Calibri" panose="020F0502020204030204"/>
                          <a:cs typeface="Calibri" panose="020F0502020204030204"/>
                        </a:rPr>
                        <a:t>'</a:t>
                      </a:r>
                      <a:r>
                        <a:rPr sz="1800" dirty="0">
                          <a:latin typeface="Calibri" panose="020F0502020204030204"/>
                          <a:cs typeface="Calibri" panose="020F0502020204030204"/>
                        </a:rPr>
                        <a:t>:</a:t>
                      </a:r>
                    </a:p>
                    <a:p>
                      <a:pPr marL="629285" marR="3176270" indent="206375">
                        <a:lnSpc>
                          <a:spcPts val="2000"/>
                        </a:lnSpc>
                        <a:spcBef>
                          <a:spcPts val="70"/>
                        </a:spcBef>
                      </a:pPr>
                      <a:r>
                        <a:rPr sz="1800" spc="-5" dirty="0">
                          <a:latin typeface="Calibri" panose="020F0502020204030204"/>
                          <a:cs typeface="Calibri" panose="020F0502020204030204"/>
                        </a:rPr>
                        <a:t>encoded </a:t>
                      </a:r>
                      <a:r>
                        <a:rPr sz="1800" dirty="0">
                          <a:latin typeface="Calibri" panose="020F0502020204030204"/>
                          <a:cs typeface="Calibri" panose="020F0502020204030204"/>
                        </a:rPr>
                        <a:t>= </a:t>
                      </a:r>
                      <a:r>
                        <a:rPr sz="1800" spc="-5" dirty="0">
                          <a:latin typeface="Calibri" panose="020F0502020204030204"/>
                          <a:cs typeface="Calibri" panose="020F0502020204030204"/>
                        </a:rPr>
                        <a:t>encoded </a:t>
                      </a:r>
                      <a:r>
                        <a:rPr sz="1800" dirty="0">
                          <a:latin typeface="Calibri" panose="020F0502020204030204"/>
                          <a:cs typeface="Calibri" panose="020F0502020204030204"/>
                        </a:rPr>
                        <a:t>+ </a:t>
                      </a:r>
                      <a:r>
                        <a:rPr sz="1800" b="1" dirty="0">
                          <a:solidFill>
                            <a:srgbClr val="008080"/>
                          </a:solidFill>
                          <a:latin typeface="Calibri" panose="020F0502020204030204"/>
                          <a:cs typeface="Calibri" panose="020F0502020204030204"/>
                        </a:rPr>
                        <a:t>'</a:t>
                      </a:r>
                      <a:r>
                        <a:rPr sz="1800" b="1" spc="-45" dirty="0">
                          <a:solidFill>
                            <a:srgbClr val="008080"/>
                          </a:solidFill>
                          <a:latin typeface="Calibri" panose="020F0502020204030204"/>
                          <a:cs typeface="Calibri" panose="020F0502020204030204"/>
                        </a:rPr>
                        <a:t> </a:t>
                      </a:r>
                      <a:r>
                        <a:rPr sz="1800" b="1" dirty="0">
                          <a:solidFill>
                            <a:srgbClr val="008080"/>
                          </a:solidFill>
                          <a:latin typeface="Calibri" panose="020F0502020204030204"/>
                          <a:cs typeface="Calibri" panose="020F0502020204030204"/>
                        </a:rPr>
                        <a:t>'  </a:t>
                      </a:r>
                      <a:r>
                        <a:rPr sz="1800" b="1" spc="-5" dirty="0">
                          <a:solidFill>
                            <a:srgbClr val="000080"/>
                          </a:solidFill>
                          <a:latin typeface="Calibri" panose="020F0502020204030204"/>
                          <a:cs typeface="Calibri" panose="020F0502020204030204"/>
                        </a:rPr>
                        <a:t>else</a:t>
                      </a:r>
                      <a:r>
                        <a:rPr sz="1800" spc="-5" dirty="0">
                          <a:latin typeface="Calibri" panose="020F0502020204030204"/>
                          <a:cs typeface="Calibri" panose="020F0502020204030204"/>
                        </a:rPr>
                        <a:t>:</a:t>
                      </a:r>
                      <a:endParaRPr sz="1800" dirty="0">
                        <a:latin typeface="Calibri" panose="020F0502020204030204"/>
                        <a:cs typeface="Calibri" panose="020F0502020204030204"/>
                      </a:endParaRPr>
                    </a:p>
                    <a:p>
                      <a:pPr marL="835660">
                        <a:lnSpc>
                          <a:spcPts val="1780"/>
                        </a:lnSpc>
                      </a:pPr>
                      <a:r>
                        <a:rPr sz="1800" dirty="0">
                          <a:latin typeface="Calibri" panose="020F0502020204030204"/>
                          <a:cs typeface="Calibri" panose="020F0502020204030204"/>
                        </a:rPr>
                        <a:t>x = </a:t>
                      </a:r>
                      <a:r>
                        <a:rPr sz="1800" spc="-10" dirty="0">
                          <a:latin typeface="Calibri" panose="020F0502020204030204"/>
                          <a:cs typeface="Calibri" panose="020F0502020204030204"/>
                        </a:rPr>
                        <a:t>letters.index(letter) </a:t>
                      </a:r>
                      <a:r>
                        <a:rPr sz="1800" dirty="0">
                          <a:latin typeface="Calibri" panose="020F0502020204030204"/>
                          <a:cs typeface="Calibri" panose="020F0502020204030204"/>
                        </a:rPr>
                        <a:t>+</a:t>
                      </a:r>
                      <a:r>
                        <a:rPr sz="1800" spc="-5" dirty="0">
                          <a:latin typeface="Calibri" panose="020F0502020204030204"/>
                          <a:cs typeface="Calibri" panose="020F0502020204030204"/>
                        </a:rPr>
                        <a:t> </a:t>
                      </a:r>
                      <a:r>
                        <a:rPr sz="1800" spc="50" dirty="0">
                          <a:latin typeface="Calibri" panose="020F0502020204030204"/>
                          <a:cs typeface="Calibri" panose="020F0502020204030204"/>
                        </a:rPr>
                        <a:t>shi&gt;</a:t>
                      </a:r>
                      <a:endParaRPr sz="1800" dirty="0">
                        <a:latin typeface="Calibri" panose="020F0502020204030204"/>
                        <a:cs typeface="Calibri" panose="020F0502020204030204"/>
                      </a:endParaRPr>
                    </a:p>
                    <a:p>
                      <a:pPr marL="1692910">
                        <a:lnSpc>
                          <a:spcPts val="955"/>
                        </a:lnSpc>
                      </a:pPr>
                      <a:r>
                        <a:rPr sz="1800" dirty="0">
                          <a:latin typeface="Calibri" panose="020F0502020204030204"/>
                          <a:cs typeface="Calibri" panose="020F0502020204030204"/>
                        </a:rPr>
                        <a:t>= </a:t>
                      </a:r>
                      <a:r>
                        <a:rPr sz="1800" spc="-5" dirty="0">
                          <a:latin typeface="Calibri" panose="020F0502020204030204"/>
                          <a:cs typeface="Calibri" panose="020F0502020204030204"/>
                        </a:rPr>
                        <a:t>encoded </a:t>
                      </a:r>
                      <a:r>
                        <a:rPr sz="1800" dirty="0">
                          <a:latin typeface="Calibri" panose="020F0502020204030204"/>
                          <a:cs typeface="Calibri" panose="020F0502020204030204"/>
                        </a:rPr>
                        <a:t>+</a:t>
                      </a:r>
                      <a:r>
                        <a:rPr sz="1800" spc="-10" dirty="0">
                          <a:latin typeface="Calibri" panose="020F0502020204030204"/>
                          <a:cs typeface="Calibri" panose="020F0502020204030204"/>
                        </a:rPr>
                        <a:t> letters[x]</a:t>
                      </a:r>
                      <a:endParaRPr sz="1800" dirty="0">
                        <a:latin typeface="Calibri" panose="020F0502020204030204"/>
                        <a:cs typeface="Calibri" panose="020F0502020204030204"/>
                      </a:endParaRPr>
                    </a:p>
                  </a:txBody>
                  <a:tcPr marL="0" marR="0" marT="52069" marB="0">
                    <a:lnL w="9525">
                      <a:solidFill>
                        <a:srgbClr val="919191"/>
                      </a:solidFill>
                      <a:prstDash val="solid"/>
                    </a:lnL>
                    <a:lnR w="9525">
                      <a:solidFill>
                        <a:srgbClr val="919191"/>
                      </a:solidFill>
                      <a:prstDash val="solid"/>
                    </a:lnR>
                    <a:lnT w="9525">
                      <a:solidFill>
                        <a:srgbClr val="919191"/>
                      </a:solidFill>
                      <a:prstDash val="solid"/>
                    </a:lnT>
                  </a:tcPr>
                </a:tc>
                <a:tc hMerge="1">
                  <a:txBody>
                    <a:bodyPr/>
                    <a:lstStyle/>
                    <a:p>
                      <a:endParaRPr lang="zh-CN"/>
                    </a:p>
                  </a:txBody>
                  <a:tcPr marL="0" marR="0" marT="0" marB="0"/>
                </a:tc>
                <a:extLst>
                  <a:ext uri="{0D108BD9-81ED-4DB2-BD59-A6C34878D82A}">
                    <a16:rowId xmlns:a16="http://schemas.microsoft.com/office/drawing/2014/main" val="10000"/>
                  </a:ext>
                </a:extLst>
              </a:tr>
              <a:tr h="647999">
                <a:tc>
                  <a:txBody>
                    <a:bodyPr/>
                    <a:lstStyle/>
                    <a:p>
                      <a:pPr marL="828040">
                        <a:lnSpc>
                          <a:spcPct val="100000"/>
                        </a:lnSpc>
                        <a:spcBef>
                          <a:spcPts val="1110"/>
                        </a:spcBef>
                      </a:pPr>
                      <a:r>
                        <a:rPr sz="2400" spc="-5" dirty="0" err="1">
                          <a:latin typeface="Calibri" panose="020F0502020204030204"/>
                          <a:cs typeface="Calibri" panose="020F0502020204030204"/>
                        </a:rPr>
                        <a:t>pylint</a:t>
                      </a:r>
                      <a:r>
                        <a:rPr sz="2400" spc="-35" dirty="0">
                          <a:latin typeface="Calibri" panose="020F0502020204030204"/>
                          <a:cs typeface="Calibri" panose="020F0502020204030204"/>
                        </a:rPr>
                        <a:t> </a:t>
                      </a:r>
                      <a:r>
                        <a:rPr sz="2400" spc="-5" dirty="0" err="1">
                          <a:latin typeface="Calibri" panose="020F0502020204030204"/>
                          <a:cs typeface="Calibri" panose="020F0502020204030204"/>
                        </a:rPr>
                        <a:t>simplec</a:t>
                      </a:r>
                      <a:r>
                        <a:rPr lang="en-US" sz="2400" spc="-5" dirty="0" err="1">
                          <a:latin typeface="Calibri" panose="020F0502020204030204"/>
                          <a:cs typeface="Calibri" panose="020F0502020204030204"/>
                        </a:rPr>
                        <a:t>a</a:t>
                      </a:r>
                      <a:endParaRPr sz="2400" dirty="0">
                        <a:latin typeface="Calibri" panose="020F0502020204030204"/>
                        <a:cs typeface="Calibri" panose="020F0502020204030204"/>
                      </a:endParaRPr>
                    </a:p>
                  </a:txBody>
                  <a:tcPr marL="0" marR="0" marT="140970" marB="0">
                    <a:lnR w="9525">
                      <a:solidFill>
                        <a:srgbClr val="919191"/>
                      </a:solidFill>
                      <a:prstDash val="solid"/>
                    </a:lnR>
                    <a:solidFill>
                      <a:srgbClr val="E4EFF9"/>
                    </a:solidFill>
                  </a:tcPr>
                </a:tc>
                <a:tc>
                  <a:txBody>
                    <a:bodyPr/>
                    <a:lstStyle/>
                    <a:p>
                      <a:pPr>
                        <a:lnSpc>
                          <a:spcPct val="100000"/>
                        </a:lnSpc>
                        <a:spcBef>
                          <a:spcPts val="1110"/>
                        </a:spcBef>
                        <a:tabLst>
                          <a:tab pos="1664970" algn="l"/>
                        </a:tabLst>
                      </a:pPr>
                      <a:r>
                        <a:rPr sz="2400" spc="-5" dirty="0">
                          <a:latin typeface="Calibri" panose="020F0502020204030204"/>
                          <a:cs typeface="Calibri" panose="020F0502020204030204"/>
                        </a:rPr>
                        <a:t>e</a:t>
                      </a:r>
                      <a:r>
                        <a:rPr sz="2400" dirty="0">
                          <a:latin typeface="Calibri" panose="020F0502020204030204"/>
                          <a:cs typeface="Calibri" panose="020F0502020204030204"/>
                        </a:rPr>
                        <a:t>se</a:t>
                      </a:r>
                      <a:r>
                        <a:rPr sz="2400" spc="-5" dirty="0">
                          <a:latin typeface="Calibri" panose="020F0502020204030204"/>
                          <a:cs typeface="Calibri" panose="020F0502020204030204"/>
                        </a:rPr>
                        <a:t>r.</a:t>
                      </a:r>
                      <a:r>
                        <a:rPr sz="2400" dirty="0">
                          <a:latin typeface="Calibri" panose="020F0502020204030204"/>
                          <a:cs typeface="Calibri" panose="020F0502020204030204"/>
                        </a:rPr>
                        <a:t>py</a:t>
                      </a:r>
                      <a:r>
                        <a:rPr lang="zh-CN" altLang="en-US" sz="2400" dirty="0">
                          <a:latin typeface="Calibri" panose="020F0502020204030204"/>
                          <a:cs typeface="Calibri" panose="020F0502020204030204"/>
                        </a:rPr>
                        <a:t>	</a:t>
                      </a:r>
                      <a:r>
                        <a:rPr lang="en-US" sz="2700" b="1" baseline="29000" dirty="0">
                          <a:solidFill>
                            <a:srgbClr val="008080"/>
                          </a:solidFill>
                          <a:latin typeface="Calibri" panose="020F0502020204030204"/>
                          <a:cs typeface="Calibri" panose="020F0502020204030204"/>
                        </a:rPr>
                        <a:t>c</a:t>
                      </a:r>
                      <a:endParaRPr sz="2700" baseline="29000" dirty="0">
                        <a:latin typeface="Calibri" panose="020F0502020204030204"/>
                        <a:cs typeface="Calibri" panose="020F0502020204030204"/>
                      </a:endParaRPr>
                    </a:p>
                  </a:txBody>
                  <a:tcPr marL="0" marR="0" marT="140970" marB="0">
                    <a:lnL w="9525">
                      <a:solidFill>
                        <a:srgbClr val="919191"/>
                      </a:solidFill>
                      <a:prstDash val="solid"/>
                    </a:lnL>
                    <a:solidFill>
                      <a:srgbClr val="E4EFF9"/>
                    </a:solidFill>
                  </a:tcPr>
                </a:tc>
                <a:tc>
                  <a:txBody>
                    <a:bodyPr/>
                    <a:lstStyle/>
                    <a:p>
                      <a:pPr marR="3931920" indent="59690">
                        <a:lnSpc>
                          <a:spcPts val="2000"/>
                        </a:lnSpc>
                        <a:spcBef>
                          <a:spcPts val="965"/>
                        </a:spcBef>
                      </a:pPr>
                      <a:r>
                        <a:rPr sz="1800" b="1" spc="-5" dirty="0">
                          <a:solidFill>
                            <a:srgbClr val="008080"/>
                          </a:solidFill>
                          <a:latin typeface="Calibri" panose="020F0502020204030204"/>
                          <a:cs typeface="Calibri" panose="020F0502020204030204"/>
                        </a:rPr>
                        <a:t>od</a:t>
                      </a:r>
                      <a:r>
                        <a:rPr lang="en-US" sz="1800" b="1" dirty="0">
                          <a:solidFill>
                            <a:srgbClr val="008080"/>
                          </a:solidFill>
                          <a:latin typeface="Calibri" panose="020F0502020204030204"/>
                          <a:cs typeface="Calibri" panose="020F0502020204030204"/>
                        </a:rPr>
                        <a:t>e</a:t>
                      </a:r>
                      <a:r>
                        <a:rPr sz="1800" b="1" dirty="0">
                          <a:solidFill>
                            <a:srgbClr val="008080"/>
                          </a:solidFill>
                          <a:latin typeface="Calibri" panose="020F0502020204030204"/>
                          <a:cs typeface="Calibri" panose="020F0502020204030204"/>
                        </a:rPr>
                        <a:t>"</a:t>
                      </a:r>
                      <a:r>
                        <a:rPr sz="1800" dirty="0">
                          <a:latin typeface="Calibri" panose="020F0502020204030204"/>
                          <a:cs typeface="Calibri" panose="020F0502020204030204"/>
                        </a:rPr>
                        <a:t>:  ord:</a:t>
                      </a:r>
                    </a:p>
                  </a:txBody>
                  <a:tcPr marL="0" marR="0" marT="122555" marB="0">
                    <a:lnR w="9525">
                      <a:solidFill>
                        <a:srgbClr val="919191"/>
                      </a:solidFill>
                      <a:prstDash val="solid"/>
                    </a:lnR>
                  </a:tcPr>
                </a:tc>
                <a:extLst>
                  <a:ext uri="{0D108BD9-81ED-4DB2-BD59-A6C34878D82A}">
                    <a16:rowId xmlns:a16="http://schemas.microsoft.com/office/drawing/2014/main" val="10001"/>
                  </a:ext>
                </a:extLst>
              </a:tr>
              <a:tr h="1781309">
                <a:tc>
                  <a:txBody>
                    <a:bodyPr/>
                    <a:lstStyle/>
                    <a:p>
                      <a:pPr>
                        <a:lnSpc>
                          <a:spcPct val="100000"/>
                        </a:lnSpc>
                      </a:pPr>
                      <a:endParaRPr sz="1800" dirty="0">
                        <a:latin typeface="Times New Roman" panose="02020603050405020304"/>
                        <a:cs typeface="Times New Roman" panose="02020603050405020304"/>
                      </a:endParaRPr>
                    </a:p>
                  </a:txBody>
                  <a:tcPr marL="0" marR="0" marT="0" marB="0">
                    <a:lnR w="9525">
                      <a:solidFill>
                        <a:srgbClr val="919191"/>
                      </a:solidFill>
                      <a:prstDash val="solid"/>
                    </a:lnR>
                  </a:tcPr>
                </a:tc>
                <a:tc gridSpan="2">
                  <a:txBody>
                    <a:bodyPr/>
                    <a:lstStyle/>
                    <a:p>
                      <a:pPr marL="629285">
                        <a:lnSpc>
                          <a:spcPts val="1595"/>
                        </a:lnSpc>
                      </a:pPr>
                      <a:r>
                        <a:rPr sz="1800" b="1" dirty="0">
                          <a:solidFill>
                            <a:srgbClr val="000080"/>
                          </a:solidFill>
                          <a:latin typeface="Calibri" panose="020F0502020204030204"/>
                          <a:cs typeface="Calibri" panose="020F0502020204030204"/>
                        </a:rPr>
                        <a:t>if </a:t>
                      </a:r>
                      <a:r>
                        <a:rPr sz="1800" spc="-15" dirty="0">
                          <a:latin typeface="Calibri" panose="020F0502020204030204"/>
                          <a:cs typeface="Calibri" panose="020F0502020204030204"/>
                        </a:rPr>
                        <a:t>letter </a:t>
                      </a:r>
                      <a:r>
                        <a:rPr sz="1800" spc="-5" dirty="0">
                          <a:latin typeface="Calibri" panose="020F0502020204030204"/>
                          <a:cs typeface="Calibri" panose="020F0502020204030204"/>
                        </a:rPr>
                        <a:t>== </a:t>
                      </a:r>
                      <a:r>
                        <a:rPr sz="1800" b="1" dirty="0">
                          <a:solidFill>
                            <a:srgbClr val="008080"/>
                          </a:solidFill>
                          <a:latin typeface="Calibri" panose="020F0502020204030204"/>
                          <a:cs typeface="Calibri" panose="020F0502020204030204"/>
                        </a:rPr>
                        <a:t>'</a:t>
                      </a:r>
                      <a:r>
                        <a:rPr sz="1800" b="1" spc="10" dirty="0">
                          <a:solidFill>
                            <a:srgbClr val="008080"/>
                          </a:solidFill>
                          <a:latin typeface="Calibri" panose="020F0502020204030204"/>
                          <a:cs typeface="Calibri" panose="020F0502020204030204"/>
                        </a:rPr>
                        <a:t> </a:t>
                      </a:r>
                      <a:r>
                        <a:rPr sz="1800" b="1" dirty="0">
                          <a:solidFill>
                            <a:srgbClr val="008080"/>
                          </a:solidFill>
                          <a:latin typeface="Calibri" panose="020F0502020204030204"/>
                          <a:cs typeface="Calibri" panose="020F0502020204030204"/>
                        </a:rPr>
                        <a:t>'</a:t>
                      </a:r>
                      <a:r>
                        <a:rPr sz="1800" dirty="0">
                          <a:latin typeface="Calibri" panose="020F0502020204030204"/>
                          <a:cs typeface="Calibri" panose="020F0502020204030204"/>
                        </a:rPr>
                        <a:t>:</a:t>
                      </a:r>
                    </a:p>
                    <a:p>
                      <a:pPr marL="629285" marR="3176270" indent="206375">
                        <a:lnSpc>
                          <a:spcPts val="2000"/>
                        </a:lnSpc>
                        <a:spcBef>
                          <a:spcPts val="70"/>
                        </a:spcBef>
                      </a:pPr>
                      <a:r>
                        <a:rPr sz="1800" spc="-5" dirty="0">
                          <a:latin typeface="Calibri" panose="020F0502020204030204"/>
                          <a:cs typeface="Calibri" panose="020F0502020204030204"/>
                        </a:rPr>
                        <a:t>encoded </a:t>
                      </a:r>
                      <a:r>
                        <a:rPr sz="1800" dirty="0">
                          <a:latin typeface="Calibri" panose="020F0502020204030204"/>
                          <a:cs typeface="Calibri" panose="020F0502020204030204"/>
                        </a:rPr>
                        <a:t>= </a:t>
                      </a:r>
                      <a:r>
                        <a:rPr sz="1800" spc="-5" dirty="0">
                          <a:latin typeface="Calibri" panose="020F0502020204030204"/>
                          <a:cs typeface="Calibri" panose="020F0502020204030204"/>
                        </a:rPr>
                        <a:t>encoded </a:t>
                      </a:r>
                      <a:r>
                        <a:rPr sz="1800" dirty="0">
                          <a:latin typeface="Calibri" panose="020F0502020204030204"/>
                          <a:cs typeface="Calibri" panose="020F0502020204030204"/>
                        </a:rPr>
                        <a:t>+ </a:t>
                      </a:r>
                      <a:r>
                        <a:rPr sz="1800" b="1" dirty="0">
                          <a:solidFill>
                            <a:srgbClr val="008080"/>
                          </a:solidFill>
                          <a:latin typeface="Calibri" panose="020F0502020204030204"/>
                          <a:cs typeface="Calibri" panose="020F0502020204030204"/>
                        </a:rPr>
                        <a:t>'</a:t>
                      </a:r>
                      <a:r>
                        <a:rPr sz="1800" b="1" spc="-45" dirty="0">
                          <a:solidFill>
                            <a:srgbClr val="008080"/>
                          </a:solidFill>
                          <a:latin typeface="Calibri" panose="020F0502020204030204"/>
                          <a:cs typeface="Calibri" panose="020F0502020204030204"/>
                        </a:rPr>
                        <a:t> </a:t>
                      </a:r>
                      <a:r>
                        <a:rPr sz="1800" b="1" dirty="0">
                          <a:solidFill>
                            <a:srgbClr val="008080"/>
                          </a:solidFill>
                          <a:latin typeface="Calibri" panose="020F0502020204030204"/>
                          <a:cs typeface="Calibri" panose="020F0502020204030204"/>
                        </a:rPr>
                        <a:t>'  </a:t>
                      </a:r>
                      <a:r>
                        <a:rPr sz="1800" b="1" spc="-5" dirty="0">
                          <a:solidFill>
                            <a:srgbClr val="000080"/>
                          </a:solidFill>
                          <a:latin typeface="Calibri" panose="020F0502020204030204"/>
                          <a:cs typeface="Calibri" panose="020F0502020204030204"/>
                        </a:rPr>
                        <a:t>else</a:t>
                      </a:r>
                      <a:r>
                        <a:rPr sz="1800" spc="-5" dirty="0">
                          <a:latin typeface="Calibri" panose="020F0502020204030204"/>
                          <a:cs typeface="Calibri" panose="020F0502020204030204"/>
                        </a:rPr>
                        <a:t>:</a:t>
                      </a:r>
                      <a:endParaRPr sz="1800" dirty="0">
                        <a:latin typeface="Calibri" panose="020F0502020204030204"/>
                        <a:cs typeface="Calibri" panose="020F0502020204030204"/>
                      </a:endParaRPr>
                    </a:p>
                    <a:p>
                      <a:pPr marL="835660">
                        <a:lnSpc>
                          <a:spcPts val="1780"/>
                        </a:lnSpc>
                      </a:pPr>
                      <a:r>
                        <a:rPr sz="1800" dirty="0">
                          <a:latin typeface="Calibri" panose="020F0502020204030204"/>
                          <a:cs typeface="Calibri" panose="020F0502020204030204"/>
                        </a:rPr>
                        <a:t>x = </a:t>
                      </a:r>
                      <a:r>
                        <a:rPr sz="1800" spc="-10" dirty="0">
                          <a:latin typeface="Calibri" panose="020F0502020204030204"/>
                          <a:cs typeface="Calibri" panose="020F0502020204030204"/>
                        </a:rPr>
                        <a:t>letters.index(letter) </a:t>
                      </a:r>
                      <a:r>
                        <a:rPr sz="1800" spc="-370" dirty="0">
                          <a:latin typeface="Calibri" panose="020F0502020204030204"/>
                          <a:cs typeface="Calibri" panose="020F0502020204030204"/>
                        </a:rPr>
                        <a:t>-­‐</a:t>
                      </a:r>
                      <a:r>
                        <a:rPr sz="1800" spc="-340" dirty="0">
                          <a:latin typeface="Calibri" panose="020F0502020204030204"/>
                          <a:cs typeface="Calibri" panose="020F0502020204030204"/>
                        </a:rPr>
                        <a:t> </a:t>
                      </a:r>
                      <a:r>
                        <a:rPr sz="1800" spc="50" dirty="0">
                          <a:latin typeface="Calibri" panose="020F0502020204030204"/>
                          <a:cs typeface="Calibri" panose="020F0502020204030204"/>
                        </a:rPr>
                        <a:t>shi&gt;</a:t>
                      </a:r>
                      <a:endParaRPr sz="1800" dirty="0">
                        <a:latin typeface="Calibri" panose="020F0502020204030204"/>
                        <a:cs typeface="Calibri" panose="020F0502020204030204"/>
                      </a:endParaRPr>
                    </a:p>
                    <a:p>
                      <a:pPr marL="835660">
                        <a:lnSpc>
                          <a:spcPts val="2080"/>
                        </a:lnSpc>
                      </a:pPr>
                      <a:r>
                        <a:rPr sz="1800" spc="-5" dirty="0">
                          <a:latin typeface="Calibri" panose="020F0502020204030204"/>
                          <a:cs typeface="Calibri" panose="020F0502020204030204"/>
                        </a:rPr>
                        <a:t>encoded </a:t>
                      </a:r>
                      <a:r>
                        <a:rPr sz="1800" dirty="0">
                          <a:latin typeface="Calibri" panose="020F0502020204030204"/>
                          <a:cs typeface="Calibri" panose="020F0502020204030204"/>
                        </a:rPr>
                        <a:t>= </a:t>
                      </a:r>
                      <a:r>
                        <a:rPr sz="1800" spc="-5" dirty="0">
                          <a:latin typeface="Calibri" panose="020F0502020204030204"/>
                          <a:cs typeface="Calibri" panose="020F0502020204030204"/>
                        </a:rPr>
                        <a:t>encoded </a:t>
                      </a:r>
                      <a:r>
                        <a:rPr sz="1800" dirty="0">
                          <a:latin typeface="Calibri" panose="020F0502020204030204"/>
                          <a:cs typeface="Calibri" panose="020F0502020204030204"/>
                        </a:rPr>
                        <a:t>+</a:t>
                      </a:r>
                      <a:r>
                        <a:rPr sz="1800" spc="-5" dirty="0">
                          <a:latin typeface="Calibri" panose="020F0502020204030204"/>
                          <a:cs typeface="Calibri" panose="020F0502020204030204"/>
                        </a:rPr>
                        <a:t> </a:t>
                      </a:r>
                      <a:r>
                        <a:rPr sz="1800" spc="-10" dirty="0">
                          <a:latin typeface="Calibri" panose="020F0502020204030204"/>
                          <a:cs typeface="Calibri" panose="020F0502020204030204"/>
                        </a:rPr>
                        <a:t>letters[x]</a:t>
                      </a:r>
                      <a:endParaRPr sz="1800" dirty="0">
                        <a:latin typeface="Calibri" panose="020F0502020204030204"/>
                        <a:cs typeface="Calibri" panose="020F0502020204030204"/>
                      </a:endParaRPr>
                    </a:p>
                    <a:p>
                      <a:pPr marL="215900">
                        <a:lnSpc>
                          <a:spcPct val="100000"/>
                        </a:lnSpc>
                        <a:spcBef>
                          <a:spcPts val="1740"/>
                        </a:spcBef>
                      </a:pPr>
                      <a:r>
                        <a:rPr sz="1800" spc="-5" dirty="0">
                          <a:solidFill>
                            <a:srgbClr val="000080"/>
                          </a:solidFill>
                          <a:latin typeface="Calibri" panose="020F0502020204030204"/>
                          <a:cs typeface="Calibri" panose="020F0502020204030204"/>
                        </a:rPr>
                        <a:t>print</a:t>
                      </a:r>
                      <a:r>
                        <a:rPr sz="1800" spc="-5" dirty="0">
                          <a:latin typeface="Calibri" panose="020F0502020204030204"/>
                          <a:cs typeface="Calibri" panose="020F0502020204030204"/>
                        </a:rPr>
                        <a:t>(encoded)</a:t>
                      </a:r>
                      <a:endParaRPr sz="1800" dirty="0">
                        <a:latin typeface="Calibri" panose="020F0502020204030204"/>
                        <a:cs typeface="Calibri" panose="020F0502020204030204"/>
                      </a:endParaRPr>
                    </a:p>
                  </a:txBody>
                  <a:tcPr marL="0" marR="0" marT="0" marB="0">
                    <a:lnL w="9525">
                      <a:solidFill>
                        <a:srgbClr val="919191"/>
                      </a:solidFill>
                      <a:prstDash val="solid"/>
                    </a:lnL>
                    <a:lnR w="9525">
                      <a:solidFill>
                        <a:srgbClr val="919191"/>
                      </a:solidFill>
                      <a:prstDash val="solid"/>
                    </a:lnR>
                    <a:lnB w="9525">
                      <a:solidFill>
                        <a:srgbClr val="919191"/>
                      </a:solidFill>
                      <a:prstDash val="solid"/>
                    </a:lnB>
                  </a:tcPr>
                </a:tc>
                <a:tc hMerge="1">
                  <a:txBody>
                    <a:bodyPr/>
                    <a:lstStyle/>
                    <a:p>
                      <a:endParaRPr lang="zh-CN"/>
                    </a:p>
                  </a:txBody>
                  <a:tcPr marL="0" marR="0" marT="0" marB="0"/>
                </a:tc>
                <a:extLst>
                  <a:ext uri="{0D108BD9-81ED-4DB2-BD59-A6C34878D82A}">
                    <a16:rowId xmlns:a16="http://schemas.microsoft.com/office/drawing/2014/main" val="10002"/>
                  </a:ext>
                </a:extLst>
              </a:tr>
            </a:tbl>
          </a:graphicData>
        </a:graphic>
      </p:graphicFrame>
      <p:sp>
        <p:nvSpPr>
          <p:cNvPr id="5" name="灯片编号占位符 4"/>
          <p:cNvSpPr>
            <a:spLocks noGrp="1"/>
          </p:cNvSpPr>
          <p:nvPr>
            <p:ph type="sldNum" sz="quarter" idx="7"/>
          </p:nvPr>
        </p:nvSpPr>
        <p:spPr/>
        <p:txBody>
          <a:bodyPr/>
          <a:lstStyle/>
          <a:p>
            <a:fld id="{B6F15528-21DE-4FAA-801E-634DDDAF4B2B}" type="slidenum">
              <a:rPr lang="en-US" altLang="zh-CN" smtClean="0"/>
              <a:t>61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0174"/>
    </mc:Choice>
    <mc:Fallback xmlns="">
      <p:transition spd="slow" advTm="20174"/>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76300" y="48467"/>
            <a:ext cx="7191957" cy="6682307"/>
          </a:xfrm>
          <a:prstGeom prst="rect">
            <a:avLst/>
          </a:prstGeom>
          <a:blipFill>
            <a:blip r:embed="rId4" cstate="print"/>
            <a:stretch>
              <a:fillRect/>
            </a:stretch>
          </a:blipFill>
        </p:spPr>
        <p:txBody>
          <a:bodyPr wrap="square" lIns="0" tIns="0" rIns="0" bIns="0" rtlCol="0"/>
          <a:lstStyle/>
          <a:p>
            <a:endParaRPr/>
          </a:p>
        </p:txBody>
      </p:sp>
      <p:sp>
        <p:nvSpPr>
          <p:cNvPr id="3" name="object 3"/>
          <p:cNvSpPr txBox="1"/>
          <p:nvPr/>
        </p:nvSpPr>
        <p:spPr>
          <a:xfrm>
            <a:off x="237597" y="2378000"/>
            <a:ext cx="397510" cy="723900"/>
          </a:xfrm>
          <a:prstGeom prst="rect">
            <a:avLst/>
          </a:prstGeom>
        </p:spPr>
        <p:txBody>
          <a:bodyPr vert="vert" wrap="square" lIns="0" tIns="0" rIns="0" bIns="0" rtlCol="0">
            <a:spAutoFit/>
          </a:bodyPr>
          <a:lstStyle/>
          <a:p>
            <a:pPr marL="12700">
              <a:lnSpc>
                <a:spcPts val="2865"/>
              </a:lnSpc>
            </a:pPr>
            <a:r>
              <a:rPr sz="2400" dirty="0">
                <a:solidFill>
                  <a:srgbClr val="3300CC"/>
                </a:solidFill>
                <a:latin typeface="Calibri" panose="020F0502020204030204"/>
                <a:cs typeface="Calibri" panose="020F0502020204030204"/>
              </a:rPr>
              <a:t>Pylint</a:t>
            </a:r>
            <a:endParaRPr sz="2400">
              <a:latin typeface="Calibri" panose="020F0502020204030204"/>
              <a:cs typeface="Calibri" panose="020F0502020204030204"/>
            </a:endParaRPr>
          </a:p>
        </p:txBody>
      </p:sp>
      <p:sp>
        <p:nvSpPr>
          <p:cNvPr id="4" name="object 4"/>
          <p:cNvSpPr txBox="1"/>
          <p:nvPr/>
        </p:nvSpPr>
        <p:spPr>
          <a:xfrm>
            <a:off x="280083" y="3205137"/>
            <a:ext cx="330200" cy="1305560"/>
          </a:xfrm>
          <a:prstGeom prst="rect">
            <a:avLst/>
          </a:prstGeom>
        </p:spPr>
        <p:txBody>
          <a:bodyPr vert="horz" wrap="square" lIns="0" tIns="73660" rIns="0" bIns="0" rtlCol="0">
            <a:spAutoFit/>
          </a:bodyPr>
          <a:lstStyle/>
          <a:p>
            <a:pPr marL="12700" marR="5080" algn="just">
              <a:lnSpc>
                <a:spcPts val="2400"/>
              </a:lnSpc>
              <a:spcBef>
                <a:spcPts val="580"/>
              </a:spcBef>
            </a:pPr>
            <a:r>
              <a:rPr sz="2400" dirty="0">
                <a:solidFill>
                  <a:srgbClr val="442AD6"/>
                </a:solidFill>
                <a:latin typeface="微软雅黑" panose="020B0503020204020204" pitchFamily="34" charset="-122"/>
                <a:cs typeface="微软雅黑" panose="020B0503020204020204" pitchFamily="34" charset="-122"/>
              </a:rPr>
              <a:t>执 行 结 果</a:t>
            </a:r>
            <a:endParaRPr sz="2400">
              <a:latin typeface="微软雅黑" panose="020B0503020204020204" pitchFamily="34" charset="-122"/>
              <a:cs typeface="微软雅黑" panose="020B0503020204020204" pitchFamily="34" charset="-122"/>
            </a:endParaRPr>
          </a:p>
        </p:txBody>
      </p:sp>
      <p:sp>
        <p:nvSpPr>
          <p:cNvPr id="5" name="object 5"/>
          <p:cNvSpPr txBox="1"/>
          <p:nvPr/>
        </p:nvSpPr>
        <p:spPr>
          <a:xfrm>
            <a:off x="8816314" y="457324"/>
            <a:ext cx="2741930" cy="1391920"/>
          </a:xfrm>
          <a:prstGeom prst="rect">
            <a:avLst/>
          </a:prstGeom>
        </p:spPr>
        <p:txBody>
          <a:bodyPr vert="horz" wrap="square" lIns="0" tIns="12700" rIns="0" bIns="0" rtlCol="0">
            <a:spAutoFit/>
          </a:bodyPr>
          <a:lstStyle/>
          <a:p>
            <a:pPr marL="12700">
              <a:lnSpc>
                <a:spcPts val="2130"/>
              </a:lnSpc>
              <a:spcBef>
                <a:spcPts val="100"/>
              </a:spcBef>
            </a:pPr>
            <a:r>
              <a:rPr sz="1800" dirty="0">
                <a:latin typeface="微软雅黑" panose="020B0503020204020204" pitchFamily="34" charset="-122"/>
                <a:cs typeface="微软雅黑" panose="020B0503020204020204" pitchFamily="34" charset="-122"/>
              </a:rPr>
              <a:t>类型：</a:t>
            </a:r>
            <a:endParaRPr sz="1800">
              <a:latin typeface="微软雅黑" panose="020B0503020204020204" pitchFamily="34" charset="-122"/>
              <a:cs typeface="微软雅黑" panose="020B0503020204020204" pitchFamily="34" charset="-122"/>
            </a:endParaRPr>
          </a:p>
          <a:p>
            <a:pPr marL="361950" indent="-286385">
              <a:lnSpc>
                <a:spcPts val="2130"/>
              </a:lnSpc>
              <a:buChar char="•"/>
              <a:tabLst>
                <a:tab pos="361315" algn="l"/>
                <a:tab pos="361950" algn="l"/>
              </a:tabLst>
            </a:pPr>
            <a:r>
              <a:rPr sz="1800" spc="-5" dirty="0">
                <a:latin typeface="Arial" panose="020B0604020202020204"/>
                <a:cs typeface="Arial" panose="020B0604020202020204"/>
              </a:rPr>
              <a:t>C</a:t>
            </a:r>
            <a:r>
              <a:rPr sz="1800" spc="-5" dirty="0">
                <a:latin typeface="微软雅黑" panose="020B0503020204020204" pitchFamily="34" charset="-122"/>
                <a:cs typeface="微软雅黑" panose="020B0503020204020204" pitchFamily="34" charset="-122"/>
              </a:rPr>
              <a:t>（</a:t>
            </a:r>
            <a:r>
              <a:rPr sz="1800" spc="-5" dirty="0">
                <a:latin typeface="Arial" panose="020B0604020202020204"/>
                <a:cs typeface="Arial" panose="020B0604020202020204"/>
              </a:rPr>
              <a:t>Convention, </a:t>
            </a:r>
            <a:r>
              <a:rPr sz="1800" dirty="0">
                <a:latin typeface="微软雅黑" panose="020B0503020204020204" pitchFamily="34" charset="-122"/>
                <a:cs typeface="微软雅黑" panose="020B0503020204020204" pitchFamily="34" charset="-122"/>
              </a:rPr>
              <a:t>约定）</a:t>
            </a:r>
            <a:endParaRPr sz="1800">
              <a:latin typeface="微软雅黑" panose="020B0503020204020204" pitchFamily="34" charset="-122"/>
              <a:cs typeface="微软雅黑" panose="020B0503020204020204" pitchFamily="34" charset="-122"/>
            </a:endParaRPr>
          </a:p>
          <a:p>
            <a:pPr marL="361950" indent="-286385">
              <a:lnSpc>
                <a:spcPts val="2130"/>
              </a:lnSpc>
              <a:spcBef>
                <a:spcPts val="40"/>
              </a:spcBef>
              <a:buChar char="•"/>
              <a:tabLst>
                <a:tab pos="361315" algn="l"/>
                <a:tab pos="361950" algn="l"/>
              </a:tabLst>
            </a:pPr>
            <a:r>
              <a:rPr sz="1800" spc="-10" dirty="0">
                <a:latin typeface="Arial" panose="020B0604020202020204"/>
                <a:cs typeface="Arial" panose="020B0604020202020204"/>
              </a:rPr>
              <a:t>R</a:t>
            </a:r>
            <a:r>
              <a:rPr sz="1800" spc="-10" dirty="0">
                <a:latin typeface="微软雅黑" panose="020B0503020204020204" pitchFamily="34" charset="-122"/>
                <a:cs typeface="微软雅黑" panose="020B0503020204020204" pitchFamily="34" charset="-122"/>
              </a:rPr>
              <a:t>（</a:t>
            </a:r>
            <a:r>
              <a:rPr sz="1800" spc="-10" dirty="0">
                <a:latin typeface="Arial" panose="020B0604020202020204"/>
                <a:cs typeface="Arial" panose="020B0604020202020204"/>
              </a:rPr>
              <a:t>Refactor,</a:t>
            </a:r>
            <a:r>
              <a:rPr sz="1800" spc="-70" dirty="0">
                <a:latin typeface="Arial" panose="020B0604020202020204"/>
                <a:cs typeface="Arial" panose="020B0604020202020204"/>
              </a:rPr>
              <a:t> </a:t>
            </a:r>
            <a:r>
              <a:rPr sz="1800" dirty="0">
                <a:latin typeface="微软雅黑" panose="020B0503020204020204" pitchFamily="34" charset="-122"/>
                <a:cs typeface="微软雅黑" panose="020B0503020204020204" pitchFamily="34" charset="-122"/>
              </a:rPr>
              <a:t>重构）</a:t>
            </a:r>
            <a:endParaRPr sz="1800">
              <a:latin typeface="微软雅黑" panose="020B0503020204020204" pitchFamily="34" charset="-122"/>
              <a:cs typeface="微软雅黑" panose="020B0503020204020204" pitchFamily="34" charset="-122"/>
            </a:endParaRPr>
          </a:p>
          <a:p>
            <a:pPr marL="361950" indent="-286385">
              <a:lnSpc>
                <a:spcPts val="2130"/>
              </a:lnSpc>
              <a:buChar char="•"/>
              <a:tabLst>
                <a:tab pos="361315" algn="l"/>
                <a:tab pos="361950" algn="l"/>
              </a:tabLst>
            </a:pPr>
            <a:r>
              <a:rPr sz="1800" spc="-10" dirty="0">
                <a:latin typeface="Arial" panose="020B0604020202020204"/>
                <a:cs typeface="Arial" panose="020B0604020202020204"/>
              </a:rPr>
              <a:t>W</a:t>
            </a:r>
            <a:r>
              <a:rPr sz="1800" spc="-10" dirty="0">
                <a:latin typeface="微软雅黑" panose="020B0503020204020204" pitchFamily="34" charset="-122"/>
                <a:cs typeface="微软雅黑" panose="020B0503020204020204" pitchFamily="34" charset="-122"/>
              </a:rPr>
              <a:t>（</a:t>
            </a:r>
            <a:r>
              <a:rPr sz="1800" spc="-10" dirty="0">
                <a:latin typeface="Arial" panose="020B0604020202020204"/>
                <a:cs typeface="Arial" panose="020B0604020202020204"/>
              </a:rPr>
              <a:t>Warning,</a:t>
            </a:r>
            <a:r>
              <a:rPr sz="1800" spc="-40" dirty="0">
                <a:latin typeface="Arial" panose="020B0604020202020204"/>
                <a:cs typeface="Arial" panose="020B0604020202020204"/>
              </a:rPr>
              <a:t> </a:t>
            </a:r>
            <a:r>
              <a:rPr sz="1800" dirty="0">
                <a:latin typeface="微软雅黑" panose="020B0503020204020204" pitchFamily="34" charset="-122"/>
                <a:cs typeface="微软雅黑" panose="020B0503020204020204" pitchFamily="34" charset="-122"/>
              </a:rPr>
              <a:t>警告）</a:t>
            </a:r>
            <a:endParaRPr sz="1800">
              <a:latin typeface="微软雅黑" panose="020B0503020204020204" pitchFamily="34" charset="-122"/>
              <a:cs typeface="微软雅黑" panose="020B0503020204020204" pitchFamily="34" charset="-122"/>
            </a:endParaRPr>
          </a:p>
          <a:p>
            <a:pPr marL="361950" indent="-286385">
              <a:lnSpc>
                <a:spcPct val="100000"/>
              </a:lnSpc>
              <a:spcBef>
                <a:spcPts val="40"/>
              </a:spcBef>
              <a:buChar char="•"/>
              <a:tabLst>
                <a:tab pos="361315" algn="l"/>
                <a:tab pos="361950" algn="l"/>
              </a:tabLst>
            </a:pPr>
            <a:r>
              <a:rPr sz="1800" dirty="0">
                <a:latin typeface="Arial" panose="020B0604020202020204"/>
                <a:cs typeface="Arial" panose="020B0604020202020204"/>
              </a:rPr>
              <a:t>E</a:t>
            </a:r>
            <a:r>
              <a:rPr sz="1800" spc="-10" dirty="0">
                <a:latin typeface="Arial" panose="020B0604020202020204"/>
                <a:cs typeface="Arial" panose="020B0604020202020204"/>
              </a:rPr>
              <a:t> </a:t>
            </a:r>
            <a:r>
              <a:rPr sz="1800" spc="-15" dirty="0">
                <a:latin typeface="微软雅黑" panose="020B0503020204020204" pitchFamily="34" charset="-122"/>
                <a:cs typeface="微软雅黑" panose="020B0503020204020204" pitchFamily="34" charset="-122"/>
              </a:rPr>
              <a:t>（</a:t>
            </a:r>
            <a:r>
              <a:rPr sz="1800" spc="-15" dirty="0">
                <a:latin typeface="Arial" panose="020B0604020202020204"/>
                <a:cs typeface="Arial" panose="020B0604020202020204"/>
              </a:rPr>
              <a:t>Error,</a:t>
            </a:r>
            <a:r>
              <a:rPr sz="1800" spc="20" dirty="0">
                <a:latin typeface="Arial" panose="020B0604020202020204"/>
                <a:cs typeface="Arial" panose="020B0604020202020204"/>
              </a:rPr>
              <a:t> </a:t>
            </a:r>
            <a:r>
              <a:rPr sz="1800" dirty="0">
                <a:latin typeface="微软雅黑" panose="020B0503020204020204" pitchFamily="34" charset="-122"/>
                <a:cs typeface="微软雅黑" panose="020B0503020204020204" pitchFamily="34" charset="-122"/>
              </a:rPr>
              <a:t>错误）</a:t>
            </a:r>
            <a:endParaRPr sz="1800">
              <a:latin typeface="微软雅黑" panose="020B0503020204020204" pitchFamily="34" charset="-122"/>
              <a:cs typeface="微软雅黑" panose="020B0503020204020204" pitchFamily="34" charset="-122"/>
            </a:endParaRPr>
          </a:p>
        </p:txBody>
      </p:sp>
      <p:sp>
        <p:nvSpPr>
          <p:cNvPr id="6" name="object 6"/>
          <p:cNvSpPr/>
          <p:nvPr/>
        </p:nvSpPr>
        <p:spPr>
          <a:xfrm>
            <a:off x="863630" y="237067"/>
            <a:ext cx="7366000" cy="1764030"/>
          </a:xfrm>
          <a:custGeom>
            <a:avLst/>
            <a:gdLst/>
            <a:ahLst/>
            <a:cxnLst/>
            <a:rect l="l" t="t" r="r" b="b"/>
            <a:pathLst>
              <a:path w="7366000" h="1764030">
                <a:moveTo>
                  <a:pt x="0" y="0"/>
                </a:moveTo>
                <a:lnTo>
                  <a:pt x="7365966" y="0"/>
                </a:lnTo>
                <a:lnTo>
                  <a:pt x="7365966" y="1763999"/>
                </a:lnTo>
                <a:lnTo>
                  <a:pt x="0" y="1763999"/>
                </a:lnTo>
                <a:lnTo>
                  <a:pt x="0" y="0"/>
                </a:lnTo>
                <a:close/>
              </a:path>
            </a:pathLst>
          </a:custGeom>
          <a:ln w="19049">
            <a:solidFill>
              <a:srgbClr val="D81E00"/>
            </a:solidFill>
          </a:ln>
        </p:spPr>
        <p:txBody>
          <a:bodyPr wrap="square" lIns="0" tIns="0" rIns="0" bIns="0" rtlCol="0"/>
          <a:lstStyle/>
          <a:p>
            <a:endParaRPr/>
          </a:p>
        </p:txBody>
      </p:sp>
      <p:sp>
        <p:nvSpPr>
          <p:cNvPr id="7" name="object 7"/>
          <p:cNvSpPr txBox="1"/>
          <p:nvPr/>
        </p:nvSpPr>
        <p:spPr>
          <a:xfrm>
            <a:off x="890204" y="2041245"/>
            <a:ext cx="57404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CC0000"/>
                </a:solidFill>
                <a:latin typeface="微软雅黑" panose="020B0503020204020204" pitchFamily="34" charset="-122"/>
                <a:cs typeface="微软雅黑" panose="020B0503020204020204" pitchFamily="34" charset="-122"/>
              </a:rPr>
              <a:t>错误类型：出现位置（行，列）：说明信息（问题标识）</a:t>
            </a:r>
            <a:endParaRPr sz="1800">
              <a:latin typeface="微软雅黑" panose="020B0503020204020204" pitchFamily="34" charset="-122"/>
              <a:cs typeface="微软雅黑" panose="020B0503020204020204" pitchFamily="34" charset="-122"/>
            </a:endParaRPr>
          </a:p>
        </p:txBody>
      </p:sp>
      <p:sp>
        <p:nvSpPr>
          <p:cNvPr id="8" name="object 8"/>
          <p:cNvSpPr/>
          <p:nvPr/>
        </p:nvSpPr>
        <p:spPr>
          <a:xfrm>
            <a:off x="3127375" y="3539067"/>
            <a:ext cx="564515" cy="0"/>
          </a:xfrm>
          <a:custGeom>
            <a:avLst/>
            <a:gdLst/>
            <a:ahLst/>
            <a:cxnLst/>
            <a:rect l="l" t="t" r="r" b="b"/>
            <a:pathLst>
              <a:path w="564514">
                <a:moveTo>
                  <a:pt x="564090" y="0"/>
                </a:moveTo>
                <a:lnTo>
                  <a:pt x="0" y="0"/>
                </a:lnTo>
              </a:path>
            </a:pathLst>
          </a:custGeom>
          <a:ln w="28574">
            <a:solidFill>
              <a:srgbClr val="D81E00"/>
            </a:solidFill>
          </a:ln>
        </p:spPr>
        <p:txBody>
          <a:bodyPr wrap="square" lIns="0" tIns="0" rIns="0" bIns="0" rtlCol="0"/>
          <a:lstStyle/>
          <a:p>
            <a:endParaRPr/>
          </a:p>
        </p:txBody>
      </p:sp>
      <p:sp>
        <p:nvSpPr>
          <p:cNvPr id="9" name="object 9"/>
          <p:cNvSpPr/>
          <p:nvPr/>
        </p:nvSpPr>
        <p:spPr>
          <a:xfrm>
            <a:off x="3098800" y="3496205"/>
            <a:ext cx="85725" cy="85725"/>
          </a:xfrm>
          <a:custGeom>
            <a:avLst/>
            <a:gdLst/>
            <a:ahLst/>
            <a:cxnLst/>
            <a:rect l="l" t="t" r="r" b="b"/>
            <a:pathLst>
              <a:path w="85725" h="85725">
                <a:moveTo>
                  <a:pt x="85725" y="0"/>
                </a:moveTo>
                <a:lnTo>
                  <a:pt x="0" y="42862"/>
                </a:lnTo>
                <a:lnTo>
                  <a:pt x="85725" y="85725"/>
                </a:lnTo>
                <a:lnTo>
                  <a:pt x="85725" y="0"/>
                </a:lnTo>
                <a:close/>
              </a:path>
            </a:pathLst>
          </a:custGeom>
          <a:solidFill>
            <a:srgbClr val="D81E00"/>
          </a:solidFill>
        </p:spPr>
        <p:txBody>
          <a:bodyPr wrap="square" lIns="0" tIns="0" rIns="0" bIns="0" rtlCol="0"/>
          <a:lstStyle/>
          <a:p>
            <a:endParaRPr/>
          </a:p>
        </p:txBody>
      </p:sp>
      <p:sp>
        <p:nvSpPr>
          <p:cNvPr id="10" name="object 10"/>
          <p:cNvSpPr txBox="1"/>
          <p:nvPr/>
        </p:nvSpPr>
        <p:spPr>
          <a:xfrm>
            <a:off x="3785805" y="3378975"/>
            <a:ext cx="45974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CC0000"/>
                </a:solidFill>
                <a:latin typeface="微软雅黑" panose="020B0503020204020204" pitchFamily="34" charset="-122"/>
                <a:cs typeface="微软雅黑" panose="020B0503020204020204" pitchFamily="34" charset="-122"/>
              </a:rPr>
              <a:t>列出所查文件的模块</a:t>
            </a:r>
            <a:r>
              <a:rPr sz="1800" dirty="0">
                <a:solidFill>
                  <a:srgbClr val="D81E00"/>
                </a:solidFill>
                <a:latin typeface="微软雅黑" panose="020B0503020204020204" pitchFamily="34" charset="-122"/>
                <a:cs typeface="微软雅黑" panose="020B0503020204020204" pitchFamily="34" charset="-122"/>
              </a:rPr>
              <a:t>、</a:t>
            </a:r>
            <a:r>
              <a:rPr sz="1800" dirty="0">
                <a:solidFill>
                  <a:srgbClr val="CC0000"/>
                </a:solidFill>
                <a:latin typeface="微软雅黑" panose="020B0503020204020204" pitchFamily="34" charset="-122"/>
                <a:cs typeface="微软雅黑" panose="020B0503020204020204" pitchFamily="34" charset="-122"/>
              </a:rPr>
              <a:t>类</a:t>
            </a:r>
            <a:r>
              <a:rPr sz="1800" dirty="0">
                <a:solidFill>
                  <a:srgbClr val="D81E00"/>
                </a:solidFill>
                <a:latin typeface="微软雅黑" panose="020B0503020204020204" pitchFamily="34" charset="-122"/>
                <a:cs typeface="微软雅黑" panose="020B0503020204020204" pitchFamily="34" charset="-122"/>
              </a:rPr>
              <a:t>、</a:t>
            </a:r>
            <a:r>
              <a:rPr sz="1800" dirty="0">
                <a:solidFill>
                  <a:srgbClr val="CC0000"/>
                </a:solidFill>
                <a:latin typeface="微软雅黑" panose="020B0503020204020204" pitchFamily="34" charset="-122"/>
                <a:cs typeface="微软雅黑" panose="020B0503020204020204" pitchFamily="34" charset="-122"/>
              </a:rPr>
              <a:t>方法和函数的数量</a:t>
            </a:r>
            <a:endParaRPr sz="1800" dirty="0">
              <a:latin typeface="微软雅黑" panose="020B0503020204020204" pitchFamily="34" charset="-122"/>
              <a:cs typeface="微软雅黑" panose="020B0503020204020204" pitchFamily="34" charset="-122"/>
            </a:endParaRPr>
          </a:p>
        </p:txBody>
      </p:sp>
      <p:sp>
        <p:nvSpPr>
          <p:cNvPr id="11" name="灯片编号占位符 10"/>
          <p:cNvSpPr>
            <a:spLocks noGrp="1"/>
          </p:cNvSpPr>
          <p:nvPr>
            <p:ph type="sldNum" sz="quarter" idx="7"/>
          </p:nvPr>
        </p:nvSpPr>
        <p:spPr/>
        <p:txBody>
          <a:bodyPr/>
          <a:lstStyle/>
          <a:p>
            <a:fld id="{B6F15528-21DE-4FAA-801E-634DDDAF4B2B}" type="slidenum">
              <a:rPr lang="en-US" altLang="zh-CN" smtClean="0"/>
              <a:t>62</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5613"/>
    </mc:Choice>
    <mc:Fallback xmlns="">
      <p:transition spd="slow" advTm="7561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57197" y="113452"/>
            <a:ext cx="5226493" cy="5511668"/>
          </a:xfrm>
          <a:prstGeom prst="rect">
            <a:avLst/>
          </a:prstGeom>
          <a:blipFill>
            <a:blip r:embed="rId4" cstate="print"/>
            <a:stretch>
              <a:fillRect/>
            </a:stretch>
          </a:blipFill>
        </p:spPr>
        <p:txBody>
          <a:bodyPr wrap="square" lIns="0" tIns="0" rIns="0" bIns="0" rtlCol="0"/>
          <a:lstStyle/>
          <a:p>
            <a:endParaRPr/>
          </a:p>
        </p:txBody>
      </p:sp>
      <p:sp>
        <p:nvSpPr>
          <p:cNvPr id="3" name="object 3"/>
          <p:cNvSpPr/>
          <p:nvPr/>
        </p:nvSpPr>
        <p:spPr>
          <a:xfrm>
            <a:off x="6519319" y="167829"/>
            <a:ext cx="3983882" cy="5467060"/>
          </a:xfrm>
          <a:prstGeom prst="rect">
            <a:avLst/>
          </a:prstGeom>
          <a:blipFill>
            <a:blip r:embed="rId5" cstate="print"/>
            <a:stretch>
              <a:fillRect/>
            </a:stretch>
          </a:blipFill>
        </p:spPr>
        <p:txBody>
          <a:bodyPr wrap="square" lIns="0" tIns="0" rIns="0" bIns="0" rtlCol="0"/>
          <a:lstStyle/>
          <a:p>
            <a:endParaRPr/>
          </a:p>
        </p:txBody>
      </p:sp>
      <p:sp>
        <p:nvSpPr>
          <p:cNvPr id="4" name="object 4"/>
          <p:cNvSpPr/>
          <p:nvPr/>
        </p:nvSpPr>
        <p:spPr>
          <a:xfrm>
            <a:off x="476250" y="5930238"/>
            <a:ext cx="5649772" cy="659048"/>
          </a:xfrm>
          <a:prstGeom prst="rect">
            <a:avLst/>
          </a:prstGeom>
          <a:blipFill>
            <a:blip r:embed="rId6" cstate="print"/>
            <a:stretch>
              <a:fillRect/>
            </a:stretch>
          </a:blipFill>
        </p:spPr>
        <p:txBody>
          <a:bodyPr wrap="square" lIns="0" tIns="0" rIns="0" bIns="0" rtlCol="0"/>
          <a:lstStyle/>
          <a:p>
            <a:endParaRPr/>
          </a:p>
        </p:txBody>
      </p:sp>
      <p:sp>
        <p:nvSpPr>
          <p:cNvPr id="5" name="object 5"/>
          <p:cNvSpPr/>
          <p:nvPr/>
        </p:nvSpPr>
        <p:spPr>
          <a:xfrm>
            <a:off x="270932" y="5757332"/>
            <a:ext cx="11599545" cy="0"/>
          </a:xfrm>
          <a:custGeom>
            <a:avLst/>
            <a:gdLst/>
            <a:ahLst/>
            <a:cxnLst/>
            <a:rect l="l" t="t" r="r" b="b"/>
            <a:pathLst>
              <a:path w="11599545">
                <a:moveTo>
                  <a:pt x="0" y="0"/>
                </a:moveTo>
                <a:lnTo>
                  <a:pt x="11599329" y="0"/>
                </a:lnTo>
              </a:path>
            </a:pathLst>
          </a:custGeom>
          <a:ln w="19049">
            <a:solidFill>
              <a:srgbClr val="6C6C6C"/>
            </a:solidFill>
          </a:ln>
        </p:spPr>
        <p:txBody>
          <a:bodyPr wrap="square" lIns="0" tIns="0" rIns="0" bIns="0" rtlCol="0"/>
          <a:lstStyle/>
          <a:p>
            <a:endParaRPr/>
          </a:p>
        </p:txBody>
      </p:sp>
      <p:sp>
        <p:nvSpPr>
          <p:cNvPr id="6" name="object 6"/>
          <p:cNvSpPr/>
          <p:nvPr/>
        </p:nvSpPr>
        <p:spPr>
          <a:xfrm>
            <a:off x="6112933" y="118534"/>
            <a:ext cx="0" cy="5638800"/>
          </a:xfrm>
          <a:custGeom>
            <a:avLst/>
            <a:gdLst/>
            <a:ahLst/>
            <a:cxnLst/>
            <a:rect l="l" t="t" r="r" b="b"/>
            <a:pathLst>
              <a:path h="5638800">
                <a:moveTo>
                  <a:pt x="0" y="5638799"/>
                </a:moveTo>
                <a:lnTo>
                  <a:pt x="1" y="0"/>
                </a:lnTo>
              </a:path>
            </a:pathLst>
          </a:custGeom>
          <a:ln w="19049">
            <a:solidFill>
              <a:srgbClr val="6C6C6C"/>
            </a:solidFill>
          </a:ln>
        </p:spPr>
        <p:txBody>
          <a:bodyPr wrap="square" lIns="0" tIns="0" rIns="0" bIns="0" rtlCol="0"/>
          <a:lstStyle/>
          <a:p>
            <a:endParaRPr/>
          </a:p>
        </p:txBody>
      </p:sp>
      <p:sp>
        <p:nvSpPr>
          <p:cNvPr id="7" name="object 7"/>
          <p:cNvSpPr/>
          <p:nvPr/>
        </p:nvSpPr>
        <p:spPr>
          <a:xfrm>
            <a:off x="1585118" y="228731"/>
            <a:ext cx="653415" cy="206375"/>
          </a:xfrm>
          <a:custGeom>
            <a:avLst/>
            <a:gdLst/>
            <a:ahLst/>
            <a:cxnLst/>
            <a:rect l="l" t="t" r="r" b="b"/>
            <a:pathLst>
              <a:path w="653414" h="206375">
                <a:moveTo>
                  <a:pt x="653291" y="206128"/>
                </a:moveTo>
                <a:lnTo>
                  <a:pt x="0" y="0"/>
                </a:lnTo>
              </a:path>
            </a:pathLst>
          </a:custGeom>
          <a:ln w="28574">
            <a:solidFill>
              <a:srgbClr val="D81E00"/>
            </a:solidFill>
          </a:ln>
        </p:spPr>
        <p:txBody>
          <a:bodyPr wrap="square" lIns="0" tIns="0" rIns="0" bIns="0" rtlCol="0"/>
          <a:lstStyle/>
          <a:p>
            <a:endParaRPr/>
          </a:p>
        </p:txBody>
      </p:sp>
      <p:sp>
        <p:nvSpPr>
          <p:cNvPr id="8" name="object 8"/>
          <p:cNvSpPr/>
          <p:nvPr/>
        </p:nvSpPr>
        <p:spPr>
          <a:xfrm>
            <a:off x="1557867" y="205051"/>
            <a:ext cx="95250" cy="81915"/>
          </a:xfrm>
          <a:custGeom>
            <a:avLst/>
            <a:gdLst/>
            <a:ahLst/>
            <a:cxnLst/>
            <a:rect l="l" t="t" r="r" b="b"/>
            <a:pathLst>
              <a:path w="95250" h="81914">
                <a:moveTo>
                  <a:pt x="94649" y="0"/>
                </a:moveTo>
                <a:lnTo>
                  <a:pt x="0" y="15082"/>
                </a:lnTo>
                <a:lnTo>
                  <a:pt x="68854" y="81752"/>
                </a:lnTo>
                <a:lnTo>
                  <a:pt x="94649" y="0"/>
                </a:lnTo>
                <a:close/>
              </a:path>
            </a:pathLst>
          </a:custGeom>
          <a:solidFill>
            <a:srgbClr val="D81E00"/>
          </a:solidFill>
        </p:spPr>
        <p:txBody>
          <a:bodyPr wrap="square" lIns="0" tIns="0" rIns="0" bIns="0" rtlCol="0"/>
          <a:lstStyle/>
          <a:p>
            <a:endParaRPr/>
          </a:p>
        </p:txBody>
      </p:sp>
      <p:sp>
        <p:nvSpPr>
          <p:cNvPr id="9" name="object 9"/>
          <p:cNvSpPr txBox="1"/>
          <p:nvPr/>
        </p:nvSpPr>
        <p:spPr>
          <a:xfrm>
            <a:off x="2317149" y="144714"/>
            <a:ext cx="39116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CC0000"/>
                </a:solidFill>
                <a:latin typeface="微软雅黑" panose="020B0503020204020204" pitchFamily="34" charset="-122"/>
                <a:cs typeface="微软雅黑" panose="020B0503020204020204" pitchFamily="34" charset="-122"/>
              </a:rPr>
              <a:t>分析实际的代码</a:t>
            </a:r>
            <a:r>
              <a:rPr sz="1800" dirty="0">
                <a:solidFill>
                  <a:srgbClr val="D81E00"/>
                </a:solidFill>
                <a:latin typeface="微软雅黑" panose="020B0503020204020204" pitchFamily="34" charset="-122"/>
                <a:cs typeface="微软雅黑" panose="020B0503020204020204" pitchFamily="34" charset="-122"/>
              </a:rPr>
              <a:t>、</a:t>
            </a:r>
            <a:r>
              <a:rPr sz="1800" dirty="0">
                <a:solidFill>
                  <a:srgbClr val="CC0000"/>
                </a:solidFill>
                <a:latin typeface="微软雅黑" panose="020B0503020204020204" pitchFamily="34" charset="-122"/>
                <a:cs typeface="微软雅黑" panose="020B0503020204020204" pitchFamily="34" charset="-122"/>
              </a:rPr>
              <a:t>文档字符串</a:t>
            </a:r>
            <a:r>
              <a:rPr sz="1800" dirty="0">
                <a:solidFill>
                  <a:srgbClr val="D81E00"/>
                </a:solidFill>
                <a:latin typeface="微软雅黑" panose="020B0503020204020204" pitchFamily="34" charset="-122"/>
                <a:cs typeface="微软雅黑" panose="020B0503020204020204" pitchFamily="34" charset="-122"/>
              </a:rPr>
              <a:t>、</a:t>
            </a:r>
            <a:r>
              <a:rPr sz="1800" dirty="0">
                <a:solidFill>
                  <a:srgbClr val="CC0000"/>
                </a:solidFill>
                <a:latin typeface="微软雅黑" panose="020B0503020204020204" pitchFamily="34" charset="-122"/>
                <a:cs typeface="微软雅黑" panose="020B0503020204020204" pitchFamily="34" charset="-122"/>
              </a:rPr>
              <a:t>注释</a:t>
            </a:r>
            <a:r>
              <a:rPr sz="1800" dirty="0">
                <a:solidFill>
                  <a:srgbClr val="D81E00"/>
                </a:solidFill>
                <a:latin typeface="微软雅黑" panose="020B0503020204020204" pitchFamily="34" charset="-122"/>
                <a:cs typeface="微软雅黑" panose="020B0503020204020204" pitchFamily="34" charset="-122"/>
              </a:rPr>
              <a:t>、</a:t>
            </a:r>
            <a:endParaRPr sz="1800" dirty="0">
              <a:latin typeface="微软雅黑" panose="020B0503020204020204" pitchFamily="34" charset="-122"/>
              <a:cs typeface="微软雅黑" panose="020B0503020204020204" pitchFamily="34" charset="-122"/>
            </a:endParaRPr>
          </a:p>
        </p:txBody>
      </p:sp>
      <p:sp>
        <p:nvSpPr>
          <p:cNvPr id="10" name="object 10"/>
          <p:cNvSpPr txBox="1"/>
          <p:nvPr/>
        </p:nvSpPr>
        <p:spPr>
          <a:xfrm>
            <a:off x="2317149" y="411414"/>
            <a:ext cx="36830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CC0000"/>
                </a:solidFill>
                <a:latin typeface="微软雅黑" panose="020B0503020204020204" pitchFamily="34" charset="-122"/>
                <a:cs typeface="微软雅黑" panose="020B0503020204020204" pitchFamily="34" charset="-122"/>
              </a:rPr>
              <a:t>空行等分别有多少行以及所占百分比</a:t>
            </a:r>
            <a:endParaRPr sz="1800" dirty="0">
              <a:latin typeface="微软雅黑" panose="020B0503020204020204" pitchFamily="34" charset="-122"/>
              <a:cs typeface="微软雅黑" panose="020B0503020204020204" pitchFamily="34" charset="-122"/>
            </a:endParaRPr>
          </a:p>
        </p:txBody>
      </p:sp>
      <p:sp>
        <p:nvSpPr>
          <p:cNvPr id="11" name="object 11"/>
          <p:cNvSpPr/>
          <p:nvPr/>
        </p:nvSpPr>
        <p:spPr>
          <a:xfrm>
            <a:off x="1603375" y="3719930"/>
            <a:ext cx="635635" cy="0"/>
          </a:xfrm>
          <a:custGeom>
            <a:avLst/>
            <a:gdLst/>
            <a:ahLst/>
            <a:cxnLst/>
            <a:rect l="l" t="t" r="r" b="b"/>
            <a:pathLst>
              <a:path w="635635">
                <a:moveTo>
                  <a:pt x="635267" y="0"/>
                </a:moveTo>
                <a:lnTo>
                  <a:pt x="0" y="0"/>
                </a:lnTo>
              </a:path>
            </a:pathLst>
          </a:custGeom>
          <a:ln w="28574">
            <a:solidFill>
              <a:srgbClr val="D81E00"/>
            </a:solidFill>
          </a:ln>
        </p:spPr>
        <p:txBody>
          <a:bodyPr wrap="square" lIns="0" tIns="0" rIns="0" bIns="0" rtlCol="0"/>
          <a:lstStyle/>
          <a:p>
            <a:endParaRPr/>
          </a:p>
        </p:txBody>
      </p:sp>
      <p:sp>
        <p:nvSpPr>
          <p:cNvPr id="12" name="object 12"/>
          <p:cNvSpPr/>
          <p:nvPr/>
        </p:nvSpPr>
        <p:spPr>
          <a:xfrm>
            <a:off x="1574800" y="3677068"/>
            <a:ext cx="85725" cy="85725"/>
          </a:xfrm>
          <a:custGeom>
            <a:avLst/>
            <a:gdLst/>
            <a:ahLst/>
            <a:cxnLst/>
            <a:rect l="l" t="t" r="r" b="b"/>
            <a:pathLst>
              <a:path w="85725" h="85725">
                <a:moveTo>
                  <a:pt x="85725" y="0"/>
                </a:moveTo>
                <a:lnTo>
                  <a:pt x="0" y="42862"/>
                </a:lnTo>
                <a:lnTo>
                  <a:pt x="85725" y="85724"/>
                </a:lnTo>
                <a:lnTo>
                  <a:pt x="85725" y="0"/>
                </a:lnTo>
                <a:close/>
              </a:path>
            </a:pathLst>
          </a:custGeom>
          <a:solidFill>
            <a:srgbClr val="D81E00"/>
          </a:solidFill>
        </p:spPr>
        <p:txBody>
          <a:bodyPr wrap="square" lIns="0" tIns="0" rIns="0" bIns="0" rtlCol="0"/>
          <a:lstStyle/>
          <a:p>
            <a:endParaRPr/>
          </a:p>
        </p:txBody>
      </p:sp>
      <p:sp>
        <p:nvSpPr>
          <p:cNvPr id="13" name="object 13"/>
          <p:cNvSpPr txBox="1"/>
          <p:nvPr/>
        </p:nvSpPr>
        <p:spPr>
          <a:xfrm>
            <a:off x="2317382" y="3429784"/>
            <a:ext cx="36830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CC0000"/>
                </a:solidFill>
                <a:latin typeface="微软雅黑" panose="020B0503020204020204" pitchFamily="34" charset="-122"/>
                <a:cs typeface="微软雅黑" panose="020B0503020204020204" pitchFamily="34" charset="-122"/>
              </a:rPr>
              <a:t>显示是否有重复的行</a:t>
            </a:r>
            <a:r>
              <a:rPr sz="1800" dirty="0">
                <a:solidFill>
                  <a:srgbClr val="D81E00"/>
                </a:solidFill>
                <a:latin typeface="微软雅黑" panose="020B0503020204020204" pitchFamily="34" charset="-122"/>
                <a:cs typeface="微软雅黑" panose="020B0503020204020204" pitchFamily="34" charset="-122"/>
              </a:rPr>
              <a:t>，</a:t>
            </a:r>
            <a:r>
              <a:rPr sz="1800" dirty="0">
                <a:solidFill>
                  <a:srgbClr val="CC0000"/>
                </a:solidFill>
                <a:latin typeface="微软雅黑" panose="020B0503020204020204" pitchFamily="34" charset="-122"/>
                <a:cs typeface="微软雅黑" panose="020B0503020204020204" pitchFamily="34" charset="-122"/>
              </a:rPr>
              <a:t>由此可以判断</a:t>
            </a:r>
            <a:endParaRPr sz="1800" dirty="0">
              <a:latin typeface="微软雅黑" panose="020B0503020204020204" pitchFamily="34" charset="-122"/>
              <a:cs typeface="微软雅黑" panose="020B0503020204020204" pitchFamily="34" charset="-122"/>
            </a:endParaRPr>
          </a:p>
        </p:txBody>
      </p:sp>
      <p:sp>
        <p:nvSpPr>
          <p:cNvPr id="14" name="object 14"/>
          <p:cNvSpPr txBox="1"/>
          <p:nvPr/>
        </p:nvSpPr>
        <p:spPr>
          <a:xfrm>
            <a:off x="2317382" y="3696484"/>
            <a:ext cx="39116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CC0000"/>
                </a:solidFill>
                <a:latin typeface="微软雅黑" panose="020B0503020204020204" pitchFamily="34" charset="-122"/>
                <a:cs typeface="微软雅黑" panose="020B0503020204020204" pitchFamily="34" charset="-122"/>
              </a:rPr>
              <a:t>是否有可以抽离出来的部分进行重构</a:t>
            </a:r>
            <a:r>
              <a:rPr sz="1800" dirty="0">
                <a:solidFill>
                  <a:srgbClr val="D81E00"/>
                </a:solidFill>
                <a:latin typeface="微软雅黑" panose="020B0503020204020204" pitchFamily="34" charset="-122"/>
                <a:cs typeface="微软雅黑" panose="020B0503020204020204" pitchFamily="34" charset="-122"/>
              </a:rPr>
              <a:t>。</a:t>
            </a:r>
            <a:endParaRPr sz="1800" dirty="0">
              <a:latin typeface="微软雅黑" panose="020B0503020204020204" pitchFamily="34" charset="-122"/>
              <a:cs typeface="微软雅黑" panose="020B0503020204020204" pitchFamily="34" charset="-122"/>
            </a:endParaRPr>
          </a:p>
        </p:txBody>
      </p:sp>
      <p:sp>
        <p:nvSpPr>
          <p:cNvPr id="15" name="object 15"/>
          <p:cNvSpPr/>
          <p:nvPr/>
        </p:nvSpPr>
        <p:spPr>
          <a:xfrm>
            <a:off x="8137926" y="348413"/>
            <a:ext cx="518795" cy="188595"/>
          </a:xfrm>
          <a:custGeom>
            <a:avLst/>
            <a:gdLst/>
            <a:ahLst/>
            <a:cxnLst/>
            <a:rect l="l" t="t" r="r" b="b"/>
            <a:pathLst>
              <a:path w="518795" h="188595">
                <a:moveTo>
                  <a:pt x="518207" y="188045"/>
                </a:moveTo>
                <a:lnTo>
                  <a:pt x="0" y="0"/>
                </a:lnTo>
              </a:path>
            </a:pathLst>
          </a:custGeom>
          <a:ln w="28574">
            <a:solidFill>
              <a:srgbClr val="D81E00"/>
            </a:solidFill>
          </a:ln>
        </p:spPr>
        <p:txBody>
          <a:bodyPr wrap="square" lIns="0" tIns="0" rIns="0" bIns="0" rtlCol="0"/>
          <a:lstStyle/>
          <a:p>
            <a:endParaRPr/>
          </a:p>
        </p:txBody>
      </p:sp>
      <p:sp>
        <p:nvSpPr>
          <p:cNvPr id="16" name="object 16"/>
          <p:cNvSpPr/>
          <p:nvPr/>
        </p:nvSpPr>
        <p:spPr>
          <a:xfrm>
            <a:off x="8111066" y="327616"/>
            <a:ext cx="95250" cy="80645"/>
          </a:xfrm>
          <a:custGeom>
            <a:avLst/>
            <a:gdLst/>
            <a:ahLst/>
            <a:cxnLst/>
            <a:rect l="l" t="t" r="r" b="b"/>
            <a:pathLst>
              <a:path w="95250" h="80645">
                <a:moveTo>
                  <a:pt x="95204" y="0"/>
                </a:moveTo>
                <a:lnTo>
                  <a:pt x="0" y="11050"/>
                </a:lnTo>
                <a:lnTo>
                  <a:pt x="65962" y="80584"/>
                </a:lnTo>
                <a:lnTo>
                  <a:pt x="95204" y="0"/>
                </a:lnTo>
                <a:close/>
              </a:path>
            </a:pathLst>
          </a:custGeom>
          <a:solidFill>
            <a:srgbClr val="D81E00"/>
          </a:solidFill>
        </p:spPr>
        <p:txBody>
          <a:bodyPr wrap="square" lIns="0" tIns="0" rIns="0" bIns="0" rtlCol="0"/>
          <a:lstStyle/>
          <a:p>
            <a:endParaRPr/>
          </a:p>
        </p:txBody>
      </p:sp>
      <p:sp>
        <p:nvSpPr>
          <p:cNvPr id="17" name="object 17"/>
          <p:cNvSpPr txBox="1"/>
          <p:nvPr/>
        </p:nvSpPr>
        <p:spPr>
          <a:xfrm>
            <a:off x="8734874" y="246314"/>
            <a:ext cx="3454400" cy="566420"/>
          </a:xfrm>
          <a:prstGeom prst="rect">
            <a:avLst/>
          </a:prstGeom>
        </p:spPr>
        <p:txBody>
          <a:bodyPr vert="horz" wrap="square" lIns="0" tIns="27940" rIns="0" bIns="0" rtlCol="0">
            <a:spAutoFit/>
          </a:bodyPr>
          <a:lstStyle/>
          <a:p>
            <a:pPr marL="12700" marR="5080">
              <a:lnSpc>
                <a:spcPts val="2100"/>
              </a:lnSpc>
              <a:spcBef>
                <a:spcPts val="220"/>
              </a:spcBef>
            </a:pPr>
            <a:r>
              <a:rPr sz="1800" dirty="0">
                <a:solidFill>
                  <a:srgbClr val="CC0000"/>
                </a:solidFill>
                <a:latin typeface="微软雅黑" panose="020B0503020204020204" pitchFamily="34" charset="-122"/>
                <a:cs typeface="微软雅黑" panose="020B0503020204020204" pitchFamily="34" charset="-122"/>
              </a:rPr>
              <a:t>对前面源代码分析信息进行汇总</a:t>
            </a:r>
            <a:r>
              <a:rPr sz="1800" dirty="0">
                <a:solidFill>
                  <a:srgbClr val="D81E00"/>
                </a:solidFill>
                <a:latin typeface="微软雅黑" panose="020B0503020204020204" pitchFamily="34" charset="-122"/>
                <a:cs typeface="微软雅黑" panose="020B0503020204020204" pitchFamily="34" charset="-122"/>
              </a:rPr>
              <a:t>， </a:t>
            </a:r>
            <a:r>
              <a:rPr sz="1800" dirty="0">
                <a:solidFill>
                  <a:srgbClr val="CC0000"/>
                </a:solidFill>
                <a:latin typeface="微软雅黑" panose="020B0503020204020204" pitchFamily="34" charset="-122"/>
                <a:cs typeface="微软雅黑" panose="020B0503020204020204" pitchFamily="34" charset="-122"/>
              </a:rPr>
              <a:t>分别列出</a:t>
            </a:r>
            <a:r>
              <a:rPr sz="1800" dirty="0">
                <a:solidFill>
                  <a:srgbClr val="D81E00"/>
                </a:solidFill>
                <a:latin typeface="Arial" panose="020B0604020202020204"/>
                <a:cs typeface="Arial" panose="020B0604020202020204"/>
              </a:rPr>
              <a:t>R,</a:t>
            </a:r>
            <a:r>
              <a:rPr sz="1800" spc="-15" dirty="0">
                <a:solidFill>
                  <a:srgbClr val="D81E00"/>
                </a:solidFill>
                <a:latin typeface="Arial" panose="020B0604020202020204"/>
                <a:cs typeface="Arial" panose="020B0604020202020204"/>
              </a:rPr>
              <a:t> </a:t>
            </a:r>
            <a:r>
              <a:rPr sz="1800" spc="-50" dirty="0">
                <a:solidFill>
                  <a:srgbClr val="D81E00"/>
                </a:solidFill>
                <a:latin typeface="Arial" panose="020B0604020202020204"/>
                <a:cs typeface="Arial" panose="020B0604020202020204"/>
              </a:rPr>
              <a:t>W,</a:t>
            </a:r>
            <a:r>
              <a:rPr sz="1800" spc="-15" dirty="0">
                <a:solidFill>
                  <a:srgbClr val="D81E00"/>
                </a:solidFill>
                <a:latin typeface="Arial" panose="020B0604020202020204"/>
                <a:cs typeface="Arial" panose="020B0604020202020204"/>
              </a:rPr>
              <a:t> </a:t>
            </a:r>
            <a:r>
              <a:rPr sz="1800" dirty="0">
                <a:solidFill>
                  <a:srgbClr val="D81E00"/>
                </a:solidFill>
                <a:latin typeface="Arial" panose="020B0604020202020204"/>
                <a:cs typeface="Arial" panose="020B0604020202020204"/>
              </a:rPr>
              <a:t>E,</a:t>
            </a:r>
            <a:r>
              <a:rPr sz="1800" spc="-15" dirty="0">
                <a:solidFill>
                  <a:srgbClr val="D81E00"/>
                </a:solidFill>
                <a:latin typeface="Arial" panose="020B0604020202020204"/>
                <a:cs typeface="Arial" panose="020B0604020202020204"/>
              </a:rPr>
              <a:t> </a:t>
            </a:r>
            <a:r>
              <a:rPr sz="1800" dirty="0">
                <a:solidFill>
                  <a:srgbClr val="D81E00"/>
                </a:solidFill>
                <a:latin typeface="Arial" panose="020B0604020202020204"/>
                <a:cs typeface="Arial" panose="020B0604020202020204"/>
              </a:rPr>
              <a:t>C</a:t>
            </a:r>
            <a:r>
              <a:rPr sz="1800" dirty="0">
                <a:solidFill>
                  <a:srgbClr val="CC0000"/>
                </a:solidFill>
                <a:latin typeface="微软雅黑" panose="020B0503020204020204" pitchFamily="34" charset="-122"/>
                <a:cs typeface="微软雅黑" panose="020B0503020204020204" pitchFamily="34" charset="-122"/>
              </a:rPr>
              <a:t>各是多少</a:t>
            </a:r>
            <a:endParaRPr sz="1800">
              <a:latin typeface="微软雅黑" panose="020B0503020204020204" pitchFamily="34" charset="-122"/>
              <a:cs typeface="微软雅黑" panose="020B0503020204020204" pitchFamily="34" charset="-122"/>
            </a:endParaRPr>
          </a:p>
        </p:txBody>
      </p:sp>
      <p:sp>
        <p:nvSpPr>
          <p:cNvPr id="18" name="object 18"/>
          <p:cNvSpPr/>
          <p:nvPr/>
        </p:nvSpPr>
        <p:spPr>
          <a:xfrm>
            <a:off x="7377646" y="3733826"/>
            <a:ext cx="780415" cy="0"/>
          </a:xfrm>
          <a:custGeom>
            <a:avLst/>
            <a:gdLst/>
            <a:ahLst/>
            <a:cxnLst/>
            <a:rect l="l" t="t" r="r" b="b"/>
            <a:pathLst>
              <a:path w="780415">
                <a:moveTo>
                  <a:pt x="779848" y="0"/>
                </a:moveTo>
                <a:lnTo>
                  <a:pt x="0" y="0"/>
                </a:lnTo>
              </a:path>
            </a:pathLst>
          </a:custGeom>
          <a:ln w="28574">
            <a:solidFill>
              <a:srgbClr val="D81E00"/>
            </a:solidFill>
          </a:ln>
        </p:spPr>
        <p:txBody>
          <a:bodyPr wrap="square" lIns="0" tIns="0" rIns="0" bIns="0" rtlCol="0"/>
          <a:lstStyle/>
          <a:p>
            <a:endParaRPr/>
          </a:p>
        </p:txBody>
      </p:sp>
      <p:sp>
        <p:nvSpPr>
          <p:cNvPr id="19" name="object 19"/>
          <p:cNvSpPr/>
          <p:nvPr/>
        </p:nvSpPr>
        <p:spPr>
          <a:xfrm>
            <a:off x="7349072" y="3690965"/>
            <a:ext cx="85725" cy="85725"/>
          </a:xfrm>
          <a:custGeom>
            <a:avLst/>
            <a:gdLst/>
            <a:ahLst/>
            <a:cxnLst/>
            <a:rect l="l" t="t" r="r" b="b"/>
            <a:pathLst>
              <a:path w="85725" h="85725">
                <a:moveTo>
                  <a:pt x="85725" y="0"/>
                </a:moveTo>
                <a:lnTo>
                  <a:pt x="0" y="42862"/>
                </a:lnTo>
                <a:lnTo>
                  <a:pt x="85725" y="85724"/>
                </a:lnTo>
                <a:lnTo>
                  <a:pt x="85725" y="0"/>
                </a:lnTo>
                <a:close/>
              </a:path>
            </a:pathLst>
          </a:custGeom>
          <a:solidFill>
            <a:srgbClr val="D81E00"/>
          </a:solidFill>
        </p:spPr>
        <p:txBody>
          <a:bodyPr wrap="square" lIns="0" tIns="0" rIns="0" bIns="0" rtlCol="0"/>
          <a:lstStyle/>
          <a:p>
            <a:endParaRPr/>
          </a:p>
        </p:txBody>
      </p:sp>
      <p:sp>
        <p:nvSpPr>
          <p:cNvPr id="20" name="object 20"/>
          <p:cNvSpPr txBox="1"/>
          <p:nvPr/>
        </p:nvSpPr>
        <p:spPr>
          <a:xfrm>
            <a:off x="8236236" y="3582180"/>
            <a:ext cx="23114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CC0000"/>
                </a:solidFill>
                <a:latin typeface="微软雅黑" panose="020B0503020204020204" pitchFamily="34" charset="-122"/>
                <a:cs typeface="微软雅黑" panose="020B0503020204020204" pitchFamily="34" charset="-122"/>
              </a:rPr>
              <a:t>根据问题标识进行汇总</a:t>
            </a:r>
            <a:endParaRPr sz="1800" dirty="0">
              <a:latin typeface="微软雅黑" panose="020B0503020204020204" pitchFamily="34" charset="-122"/>
              <a:cs typeface="微软雅黑" panose="020B0503020204020204" pitchFamily="34" charset="-122"/>
            </a:endParaRPr>
          </a:p>
        </p:txBody>
      </p:sp>
      <p:sp>
        <p:nvSpPr>
          <p:cNvPr id="21" name="object 21"/>
          <p:cNvSpPr txBox="1"/>
          <p:nvPr/>
        </p:nvSpPr>
        <p:spPr>
          <a:xfrm>
            <a:off x="1907550" y="2938714"/>
            <a:ext cx="29972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CC0000"/>
                </a:solidFill>
                <a:latin typeface="微软雅黑" panose="020B0503020204020204" pitchFamily="34" charset="-122"/>
                <a:cs typeface="微软雅黑" panose="020B0503020204020204" pitchFamily="34" charset="-122"/>
              </a:rPr>
              <a:t>显示前一次结果</a:t>
            </a:r>
            <a:r>
              <a:rPr sz="1800" dirty="0">
                <a:solidFill>
                  <a:srgbClr val="D81E00"/>
                </a:solidFill>
                <a:latin typeface="微软雅黑" panose="020B0503020204020204" pitchFamily="34" charset="-122"/>
                <a:cs typeface="微软雅黑" panose="020B0503020204020204" pitchFamily="34" charset="-122"/>
              </a:rPr>
              <a:t>，</a:t>
            </a:r>
            <a:r>
              <a:rPr sz="1800" dirty="0">
                <a:solidFill>
                  <a:srgbClr val="CC0000"/>
                </a:solidFill>
                <a:latin typeface="微软雅黑" panose="020B0503020204020204" pitchFamily="34" charset="-122"/>
                <a:cs typeface="微软雅黑" panose="020B0503020204020204" pitchFamily="34" charset="-122"/>
              </a:rPr>
              <a:t>可以做对比</a:t>
            </a:r>
            <a:endParaRPr sz="1800" dirty="0">
              <a:latin typeface="微软雅黑" panose="020B0503020204020204" pitchFamily="34" charset="-122"/>
              <a:cs typeface="微软雅黑" panose="020B0503020204020204" pitchFamily="34" charset="-122"/>
            </a:endParaRPr>
          </a:p>
        </p:txBody>
      </p:sp>
      <p:sp>
        <p:nvSpPr>
          <p:cNvPr id="22" name="object 22"/>
          <p:cNvSpPr/>
          <p:nvPr/>
        </p:nvSpPr>
        <p:spPr>
          <a:xfrm>
            <a:off x="2929467" y="812801"/>
            <a:ext cx="948690" cy="2082800"/>
          </a:xfrm>
          <a:custGeom>
            <a:avLst/>
            <a:gdLst/>
            <a:ahLst/>
            <a:cxnLst/>
            <a:rect l="l" t="t" r="r" b="b"/>
            <a:pathLst>
              <a:path w="948689" h="2082800">
                <a:moveTo>
                  <a:pt x="0" y="0"/>
                </a:moveTo>
                <a:lnTo>
                  <a:pt x="948265" y="0"/>
                </a:lnTo>
                <a:lnTo>
                  <a:pt x="948265" y="2082798"/>
                </a:lnTo>
                <a:lnTo>
                  <a:pt x="0" y="2082798"/>
                </a:lnTo>
                <a:lnTo>
                  <a:pt x="0" y="0"/>
                </a:lnTo>
                <a:close/>
              </a:path>
            </a:pathLst>
          </a:custGeom>
          <a:ln w="28574">
            <a:solidFill>
              <a:srgbClr val="D81E00"/>
            </a:solidFill>
          </a:ln>
        </p:spPr>
        <p:txBody>
          <a:bodyPr wrap="square" lIns="0" tIns="0" rIns="0" bIns="0" rtlCol="0"/>
          <a:lstStyle/>
          <a:p>
            <a:endParaRPr/>
          </a:p>
        </p:txBody>
      </p:sp>
      <p:sp>
        <p:nvSpPr>
          <p:cNvPr id="23" name="object 23"/>
          <p:cNvSpPr/>
          <p:nvPr/>
        </p:nvSpPr>
        <p:spPr>
          <a:xfrm>
            <a:off x="6395509" y="6426223"/>
            <a:ext cx="567690" cy="0"/>
          </a:xfrm>
          <a:custGeom>
            <a:avLst/>
            <a:gdLst/>
            <a:ahLst/>
            <a:cxnLst/>
            <a:rect l="l" t="t" r="r" b="b"/>
            <a:pathLst>
              <a:path w="567690">
                <a:moveTo>
                  <a:pt x="567290" y="0"/>
                </a:moveTo>
                <a:lnTo>
                  <a:pt x="0" y="0"/>
                </a:lnTo>
              </a:path>
            </a:pathLst>
          </a:custGeom>
          <a:ln w="28574">
            <a:solidFill>
              <a:srgbClr val="D81E00"/>
            </a:solidFill>
          </a:ln>
        </p:spPr>
        <p:txBody>
          <a:bodyPr wrap="square" lIns="0" tIns="0" rIns="0" bIns="0" rtlCol="0"/>
          <a:lstStyle/>
          <a:p>
            <a:endParaRPr/>
          </a:p>
        </p:txBody>
      </p:sp>
      <p:sp>
        <p:nvSpPr>
          <p:cNvPr id="24" name="object 24"/>
          <p:cNvSpPr/>
          <p:nvPr/>
        </p:nvSpPr>
        <p:spPr>
          <a:xfrm>
            <a:off x="6366934" y="6383361"/>
            <a:ext cx="85725" cy="85725"/>
          </a:xfrm>
          <a:custGeom>
            <a:avLst/>
            <a:gdLst/>
            <a:ahLst/>
            <a:cxnLst/>
            <a:rect l="l" t="t" r="r" b="b"/>
            <a:pathLst>
              <a:path w="85725" h="85725">
                <a:moveTo>
                  <a:pt x="85725" y="0"/>
                </a:moveTo>
                <a:lnTo>
                  <a:pt x="0" y="42862"/>
                </a:lnTo>
                <a:lnTo>
                  <a:pt x="85725" y="85724"/>
                </a:lnTo>
                <a:lnTo>
                  <a:pt x="85725" y="0"/>
                </a:lnTo>
                <a:close/>
              </a:path>
            </a:pathLst>
          </a:custGeom>
          <a:solidFill>
            <a:srgbClr val="D81E00"/>
          </a:solidFill>
        </p:spPr>
        <p:txBody>
          <a:bodyPr wrap="square" lIns="0" tIns="0" rIns="0" bIns="0" rtlCol="0"/>
          <a:lstStyle/>
          <a:p>
            <a:endParaRPr/>
          </a:p>
        </p:txBody>
      </p:sp>
      <p:sp>
        <p:nvSpPr>
          <p:cNvPr id="25" name="object 25"/>
          <p:cNvSpPr txBox="1"/>
          <p:nvPr/>
        </p:nvSpPr>
        <p:spPr>
          <a:xfrm>
            <a:off x="7041540" y="6274576"/>
            <a:ext cx="370903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CC0000"/>
                </a:solidFill>
                <a:latin typeface="微软雅黑" panose="020B0503020204020204" pitchFamily="34" charset="-122"/>
                <a:cs typeface="微软雅黑" panose="020B0503020204020204" pitchFamily="34" charset="-122"/>
              </a:rPr>
              <a:t>对分析文件的一个评分，</a:t>
            </a:r>
            <a:r>
              <a:rPr sz="1800" dirty="0">
                <a:solidFill>
                  <a:srgbClr val="D81E00"/>
                </a:solidFill>
                <a:latin typeface="Arial" panose="020B0604020202020204"/>
                <a:cs typeface="Arial" panose="020B0604020202020204"/>
              </a:rPr>
              <a:t>1</a:t>
            </a:r>
            <a:r>
              <a:rPr sz="1800" spc="-5" dirty="0">
                <a:solidFill>
                  <a:srgbClr val="D81E00"/>
                </a:solidFill>
                <a:latin typeface="Arial" panose="020B0604020202020204"/>
                <a:cs typeface="Arial" panose="020B0604020202020204"/>
              </a:rPr>
              <a:t>0</a:t>
            </a:r>
            <a:r>
              <a:rPr sz="1800" dirty="0">
                <a:solidFill>
                  <a:srgbClr val="CC0000"/>
                </a:solidFill>
                <a:latin typeface="微软雅黑" panose="020B0503020204020204" pitchFamily="34" charset="-122"/>
                <a:cs typeface="微软雅黑" panose="020B0503020204020204" pitchFamily="34" charset="-122"/>
              </a:rPr>
              <a:t>分为满分</a:t>
            </a:r>
            <a:endParaRPr sz="1800">
              <a:latin typeface="微软雅黑" panose="020B0503020204020204" pitchFamily="34" charset="-122"/>
              <a:cs typeface="微软雅黑" panose="020B0503020204020204" pitchFamily="34" charset="-122"/>
            </a:endParaRPr>
          </a:p>
        </p:txBody>
      </p:sp>
      <p:sp>
        <p:nvSpPr>
          <p:cNvPr id="26" name="灯片编号占位符 25"/>
          <p:cNvSpPr>
            <a:spLocks noGrp="1"/>
          </p:cNvSpPr>
          <p:nvPr>
            <p:ph type="sldNum" sz="quarter" idx="7"/>
          </p:nvPr>
        </p:nvSpPr>
        <p:spPr/>
        <p:txBody>
          <a:bodyPr/>
          <a:lstStyle/>
          <a:p>
            <a:fld id="{B6F15528-21DE-4FAA-801E-634DDDAF4B2B}" type="slidenum">
              <a:rPr lang="en-US" altLang="zh-CN" smtClean="0"/>
              <a:t>63</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4133"/>
    </mc:Choice>
    <mc:Fallback xmlns="">
      <p:transition spd="slow" advTm="7413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P spid="10" grpId="0"/>
      <p:bldP spid="11" grpId="0" animBg="1"/>
      <p:bldP spid="13" grpId="0"/>
      <p:bldP spid="14" grpId="0"/>
      <p:bldP spid="15" grpId="0" animBg="1"/>
      <p:bldP spid="17" grpId="0"/>
      <p:bldP spid="18" grpId="0" animBg="1"/>
      <p:bldP spid="20" grpId="0"/>
      <p:bldP spid="21" grpId="0"/>
      <p:bldP spid="22" grpId="0" animBg="1"/>
      <p:bldP spid="23" grpId="0" animBg="1"/>
      <p:bldP spid="25"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65307"/>
            <a:ext cx="2514600" cy="452120"/>
          </a:xfrm>
          <a:prstGeom prst="rect">
            <a:avLst/>
          </a:prstGeom>
        </p:spPr>
        <p:txBody>
          <a:bodyPr vert="horz" wrap="square" lIns="0" tIns="12700" rIns="0" bIns="0" rtlCol="0">
            <a:spAutoFit/>
          </a:bodyPr>
          <a:lstStyle/>
          <a:p>
            <a:pPr marL="12700">
              <a:lnSpc>
                <a:spcPct val="100000"/>
              </a:lnSpc>
              <a:spcBef>
                <a:spcPts val="100"/>
              </a:spcBef>
            </a:pPr>
            <a:r>
              <a:rPr dirty="0"/>
              <a:t>案例：生命游戏</a:t>
            </a:r>
          </a:p>
        </p:txBody>
      </p:sp>
      <p:sp>
        <p:nvSpPr>
          <p:cNvPr id="3" name="object 3"/>
          <p:cNvSpPr/>
          <p:nvPr/>
        </p:nvSpPr>
        <p:spPr>
          <a:xfrm>
            <a:off x="1425580" y="1562106"/>
            <a:ext cx="7092541" cy="3602560"/>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6468534" y="2806696"/>
            <a:ext cx="3776132" cy="1408664"/>
          </a:xfrm>
          <a:prstGeom prst="rect">
            <a:avLst/>
          </a:prstGeom>
          <a:blipFill>
            <a:blip r:embed="rId4" cstate="print"/>
            <a:stretch>
              <a:fillRect/>
            </a:stretch>
          </a:blipFill>
        </p:spPr>
        <p:txBody>
          <a:bodyPr wrap="square" lIns="0" tIns="0" rIns="0" bIns="0" rtlCol="0"/>
          <a:lstStyle/>
          <a:p>
            <a:endParaRPr/>
          </a:p>
        </p:txBody>
      </p:sp>
      <p:sp>
        <p:nvSpPr>
          <p:cNvPr id="6" name="灯片编号占位符 5"/>
          <p:cNvSpPr>
            <a:spLocks noGrp="1"/>
          </p:cNvSpPr>
          <p:nvPr>
            <p:ph type="sldNum" sz="quarter" idx="7"/>
          </p:nvPr>
        </p:nvSpPr>
        <p:spPr/>
        <p:txBody>
          <a:bodyPr/>
          <a:lstStyle/>
          <a:p>
            <a:fld id="{B6F15528-21DE-4FAA-801E-634DDDAF4B2B}" type="slidenum">
              <a:rPr lang="en-US" altLang="zh-CN" smtClean="0"/>
              <a:t>64</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9813"/>
    </mc:Choice>
    <mc:Fallback xmlns="">
      <p:transition spd="slow" advTm="9813"/>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a:blip r:embed="rId3"/>
          <a:stretch>
            <a:fillRect/>
          </a:stretch>
        </p:blipFill>
        <p:spPr>
          <a:xfrm>
            <a:off x="461962" y="128587"/>
            <a:ext cx="11268075" cy="6600825"/>
          </a:xfrm>
          <a:prstGeom prst="rect">
            <a:avLst/>
          </a:prstGeom>
        </p:spPr>
      </p:pic>
      <p:sp>
        <p:nvSpPr>
          <p:cNvPr id="2" name="灯片编号占位符 1"/>
          <p:cNvSpPr>
            <a:spLocks noGrp="1"/>
          </p:cNvSpPr>
          <p:nvPr>
            <p:ph type="sldNum" sz="quarter" idx="7"/>
          </p:nvPr>
        </p:nvSpPr>
        <p:spPr/>
        <p:txBody>
          <a:bodyPr/>
          <a:lstStyle/>
          <a:p>
            <a:fld id="{B6F15528-21DE-4FAA-801E-634DDDAF4B2B}" type="slidenum">
              <a:rPr lang="en-US" altLang="zh-CN" smtClean="0"/>
              <a:t>65</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981"/>
    </mc:Choice>
    <mc:Fallback xmlns="">
      <p:transition spd="slow" advTm="30981"/>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63619" y="306006"/>
            <a:ext cx="7128932" cy="6156174"/>
          </a:xfrm>
          <a:prstGeom prst="rect">
            <a:avLst/>
          </a:prstGeom>
          <a:blipFill>
            <a:blip r:embed="rId3" cstate="print"/>
            <a:stretch>
              <a:fillRect/>
            </a:stretch>
          </a:blipFill>
        </p:spPr>
        <p:txBody>
          <a:bodyPr wrap="square" lIns="0" tIns="0" rIns="0" bIns="0" rtlCol="0"/>
          <a:lstStyle/>
          <a:p>
            <a:endParaRPr/>
          </a:p>
        </p:txBody>
      </p:sp>
      <p:graphicFrame>
        <p:nvGraphicFramePr>
          <p:cNvPr id="3" name="object 3"/>
          <p:cNvGraphicFramePr>
            <a:graphicFrameLocks noGrp="1"/>
          </p:cNvGraphicFramePr>
          <p:nvPr/>
        </p:nvGraphicFramePr>
        <p:xfrm>
          <a:off x="844569" y="296481"/>
          <a:ext cx="7138670" cy="6165843"/>
        </p:xfrm>
        <a:graphic>
          <a:graphicData uri="http://schemas.openxmlformats.org/drawingml/2006/table">
            <a:tbl>
              <a:tblPr firstRow="1" bandRow="1">
                <a:tableStyleId>{2D5ABB26-0587-4C30-8999-92F81FD0307C}</a:tableStyleId>
              </a:tblPr>
              <a:tblGrid>
                <a:gridCol w="7138670">
                  <a:extLst>
                    <a:ext uri="{9D8B030D-6E8A-4147-A177-3AD203B41FA5}">
                      <a16:colId xmlns:a16="http://schemas.microsoft.com/office/drawing/2014/main" val="20000"/>
                    </a:ext>
                  </a:extLst>
                </a:gridCol>
              </a:tblGrid>
              <a:tr h="506040">
                <a:tc>
                  <a:txBody>
                    <a:bodyPr/>
                    <a:lstStyle/>
                    <a:p>
                      <a:pPr>
                        <a:lnSpc>
                          <a:spcPct val="100000"/>
                        </a:lnSpc>
                      </a:pPr>
                      <a:endParaRPr sz="2000">
                        <a:latin typeface="Times New Roman" panose="02020603050405020304"/>
                        <a:cs typeface="Times New Roman" panose="02020603050405020304"/>
                      </a:endParaRPr>
                    </a:p>
                  </a:txBody>
                  <a:tcPr marL="0" marR="0" marT="0" marB="0">
                    <a:lnL w="9525">
                      <a:solidFill>
                        <a:srgbClr val="6C6C6C"/>
                      </a:solidFill>
                      <a:prstDash val="solid"/>
                    </a:lnL>
                    <a:lnR w="9525">
                      <a:solidFill>
                        <a:srgbClr val="6C6C6C"/>
                      </a:solidFill>
                      <a:prstDash val="solid"/>
                    </a:lnR>
                    <a:lnT w="9525">
                      <a:solidFill>
                        <a:srgbClr val="6C6C6C"/>
                      </a:solidFill>
                      <a:prstDash val="solid"/>
                    </a:lnT>
                    <a:lnB w="28575">
                      <a:solidFill>
                        <a:srgbClr val="D81E00"/>
                      </a:solidFill>
                      <a:prstDash val="solid"/>
                    </a:lnB>
                  </a:tcPr>
                </a:tc>
                <a:extLst>
                  <a:ext uri="{0D108BD9-81ED-4DB2-BD59-A6C34878D82A}">
                    <a16:rowId xmlns:a16="http://schemas.microsoft.com/office/drawing/2014/main" val="10000"/>
                  </a:ext>
                </a:extLst>
              </a:tr>
              <a:tr h="276449">
                <a:tc>
                  <a:txBody>
                    <a:bodyPr/>
                    <a:lstStyle/>
                    <a:p>
                      <a:pPr>
                        <a:lnSpc>
                          <a:spcPct val="100000"/>
                        </a:lnSpc>
                      </a:pPr>
                      <a:endParaRPr sz="1700">
                        <a:latin typeface="Times New Roman" panose="02020603050405020304"/>
                        <a:cs typeface="Times New Roman" panose="02020603050405020304"/>
                      </a:endParaRPr>
                    </a:p>
                  </a:txBody>
                  <a:tcPr marL="0" marR="0" marT="0" marB="0">
                    <a:lnL w="28575">
                      <a:solidFill>
                        <a:srgbClr val="D81E00"/>
                      </a:solidFill>
                      <a:prstDash val="solid"/>
                    </a:lnL>
                    <a:lnR w="28575">
                      <a:solidFill>
                        <a:srgbClr val="D81E00"/>
                      </a:solidFill>
                      <a:prstDash val="solid"/>
                    </a:lnR>
                    <a:lnT w="28575">
                      <a:solidFill>
                        <a:srgbClr val="D81E00"/>
                      </a:solidFill>
                      <a:prstDash val="solid"/>
                    </a:lnT>
                    <a:lnB w="28575">
                      <a:solidFill>
                        <a:srgbClr val="D81E00"/>
                      </a:solidFill>
                      <a:prstDash val="solid"/>
                    </a:lnB>
                  </a:tcPr>
                </a:tc>
                <a:extLst>
                  <a:ext uri="{0D108BD9-81ED-4DB2-BD59-A6C34878D82A}">
                    <a16:rowId xmlns:a16="http://schemas.microsoft.com/office/drawing/2014/main" val="10001"/>
                  </a:ext>
                </a:extLst>
              </a:tr>
              <a:tr h="248484">
                <a:tc>
                  <a:txBody>
                    <a:bodyPr/>
                    <a:lstStyle/>
                    <a:p>
                      <a:pPr>
                        <a:lnSpc>
                          <a:spcPct val="100000"/>
                        </a:lnSpc>
                      </a:pPr>
                      <a:endParaRPr sz="1500">
                        <a:latin typeface="Times New Roman" panose="02020603050405020304"/>
                        <a:cs typeface="Times New Roman" panose="02020603050405020304"/>
                      </a:endParaRPr>
                    </a:p>
                  </a:txBody>
                  <a:tcPr marL="0" marR="0" marT="0" marB="0">
                    <a:lnL w="9525">
                      <a:solidFill>
                        <a:srgbClr val="6C6C6C"/>
                      </a:solidFill>
                      <a:prstDash val="solid"/>
                    </a:lnL>
                    <a:lnR w="9525">
                      <a:solidFill>
                        <a:srgbClr val="6C6C6C"/>
                      </a:solidFill>
                      <a:prstDash val="solid"/>
                    </a:lnR>
                    <a:lnT w="28575">
                      <a:solidFill>
                        <a:srgbClr val="D81E00"/>
                      </a:solidFill>
                      <a:prstDash val="solid"/>
                    </a:lnT>
                    <a:lnB w="28575">
                      <a:solidFill>
                        <a:srgbClr val="D81E00"/>
                      </a:solidFill>
                      <a:prstDash val="solid"/>
                    </a:lnB>
                  </a:tcPr>
                </a:tc>
                <a:extLst>
                  <a:ext uri="{0D108BD9-81ED-4DB2-BD59-A6C34878D82A}">
                    <a16:rowId xmlns:a16="http://schemas.microsoft.com/office/drawing/2014/main" val="10002"/>
                  </a:ext>
                </a:extLst>
              </a:tr>
              <a:tr h="750582">
                <a:tc>
                  <a:txBody>
                    <a:bodyPr/>
                    <a:lstStyle/>
                    <a:p>
                      <a:pPr>
                        <a:lnSpc>
                          <a:spcPct val="100000"/>
                        </a:lnSpc>
                      </a:pPr>
                      <a:endParaRPr sz="2000">
                        <a:latin typeface="Times New Roman" panose="02020603050405020304"/>
                        <a:cs typeface="Times New Roman" panose="02020603050405020304"/>
                      </a:endParaRPr>
                    </a:p>
                  </a:txBody>
                  <a:tcPr marL="0" marR="0" marT="0" marB="0">
                    <a:lnL w="28575">
                      <a:solidFill>
                        <a:srgbClr val="D81E00"/>
                      </a:solidFill>
                      <a:prstDash val="solid"/>
                    </a:lnL>
                    <a:lnR w="28575">
                      <a:solidFill>
                        <a:srgbClr val="D81E00"/>
                      </a:solidFill>
                      <a:prstDash val="solid"/>
                    </a:lnR>
                    <a:lnT w="28575">
                      <a:solidFill>
                        <a:srgbClr val="D81E00"/>
                      </a:solidFill>
                      <a:prstDash val="solid"/>
                    </a:lnT>
                    <a:lnB w="28575">
                      <a:solidFill>
                        <a:srgbClr val="D81E00"/>
                      </a:solidFill>
                      <a:prstDash val="solid"/>
                    </a:lnB>
                  </a:tcPr>
                </a:tc>
                <a:extLst>
                  <a:ext uri="{0D108BD9-81ED-4DB2-BD59-A6C34878D82A}">
                    <a16:rowId xmlns:a16="http://schemas.microsoft.com/office/drawing/2014/main" val="10003"/>
                  </a:ext>
                </a:extLst>
              </a:tr>
              <a:tr h="485549">
                <a:tc>
                  <a:txBody>
                    <a:bodyPr/>
                    <a:lstStyle/>
                    <a:p>
                      <a:pPr>
                        <a:lnSpc>
                          <a:spcPct val="100000"/>
                        </a:lnSpc>
                      </a:pPr>
                      <a:endParaRPr sz="2000">
                        <a:latin typeface="Times New Roman" panose="02020603050405020304"/>
                        <a:cs typeface="Times New Roman" panose="02020603050405020304"/>
                      </a:endParaRPr>
                    </a:p>
                  </a:txBody>
                  <a:tcPr marL="0" marR="0" marT="0" marB="0">
                    <a:lnL w="9525">
                      <a:solidFill>
                        <a:srgbClr val="6C6C6C"/>
                      </a:solidFill>
                      <a:prstDash val="solid"/>
                    </a:lnL>
                    <a:lnR w="9525">
                      <a:solidFill>
                        <a:srgbClr val="6C6C6C"/>
                      </a:solidFill>
                      <a:prstDash val="solid"/>
                    </a:lnR>
                    <a:lnT w="28575">
                      <a:solidFill>
                        <a:srgbClr val="D81E00"/>
                      </a:solidFill>
                      <a:prstDash val="solid"/>
                    </a:lnT>
                    <a:lnB w="28575">
                      <a:solidFill>
                        <a:srgbClr val="D81E00"/>
                      </a:solidFill>
                      <a:prstDash val="solid"/>
                    </a:lnB>
                  </a:tcPr>
                </a:tc>
                <a:extLst>
                  <a:ext uri="{0D108BD9-81ED-4DB2-BD59-A6C34878D82A}">
                    <a16:rowId xmlns:a16="http://schemas.microsoft.com/office/drawing/2014/main" val="10004"/>
                  </a:ext>
                </a:extLst>
              </a:tr>
              <a:tr h="1004582">
                <a:tc>
                  <a:txBody>
                    <a:bodyPr/>
                    <a:lstStyle/>
                    <a:p>
                      <a:pPr>
                        <a:lnSpc>
                          <a:spcPct val="100000"/>
                        </a:lnSpc>
                      </a:pPr>
                      <a:endParaRPr sz="2000">
                        <a:latin typeface="Times New Roman" panose="02020603050405020304"/>
                        <a:cs typeface="Times New Roman" panose="02020603050405020304"/>
                      </a:endParaRPr>
                    </a:p>
                  </a:txBody>
                  <a:tcPr marL="0" marR="0" marT="0" marB="0">
                    <a:lnL w="28575">
                      <a:solidFill>
                        <a:srgbClr val="D81E00"/>
                      </a:solidFill>
                      <a:prstDash val="solid"/>
                    </a:lnL>
                    <a:lnR w="28575">
                      <a:solidFill>
                        <a:srgbClr val="D81E00"/>
                      </a:solidFill>
                      <a:prstDash val="solid"/>
                    </a:lnR>
                    <a:lnT w="28575">
                      <a:solidFill>
                        <a:srgbClr val="D81E00"/>
                      </a:solidFill>
                      <a:prstDash val="solid"/>
                    </a:lnT>
                    <a:lnB w="28575">
                      <a:solidFill>
                        <a:srgbClr val="D81E00"/>
                      </a:solidFill>
                      <a:prstDash val="solid"/>
                    </a:lnB>
                  </a:tcPr>
                </a:tc>
                <a:extLst>
                  <a:ext uri="{0D108BD9-81ED-4DB2-BD59-A6C34878D82A}">
                    <a16:rowId xmlns:a16="http://schemas.microsoft.com/office/drawing/2014/main" val="10005"/>
                  </a:ext>
                </a:extLst>
              </a:tr>
              <a:tr h="254000">
                <a:tc>
                  <a:txBody>
                    <a:bodyPr/>
                    <a:lstStyle/>
                    <a:p>
                      <a:pPr>
                        <a:lnSpc>
                          <a:spcPct val="100000"/>
                        </a:lnSpc>
                      </a:pPr>
                      <a:endParaRPr sz="1500">
                        <a:latin typeface="Times New Roman" panose="02020603050405020304"/>
                        <a:cs typeface="Times New Roman" panose="02020603050405020304"/>
                      </a:endParaRPr>
                    </a:p>
                  </a:txBody>
                  <a:tcPr marL="0" marR="0" marT="0" marB="0">
                    <a:lnL w="9525">
                      <a:solidFill>
                        <a:srgbClr val="6C6C6C"/>
                      </a:solidFill>
                      <a:prstDash val="solid"/>
                    </a:lnL>
                    <a:lnR w="9525">
                      <a:solidFill>
                        <a:srgbClr val="6C6C6C"/>
                      </a:solidFill>
                      <a:prstDash val="solid"/>
                    </a:lnR>
                    <a:lnT w="28575">
                      <a:solidFill>
                        <a:srgbClr val="D81E00"/>
                      </a:solidFill>
                      <a:prstDash val="solid"/>
                    </a:lnT>
                    <a:lnB w="28575">
                      <a:solidFill>
                        <a:srgbClr val="D81E00"/>
                      </a:solidFill>
                      <a:prstDash val="solid"/>
                    </a:lnB>
                  </a:tcPr>
                </a:tc>
                <a:extLst>
                  <a:ext uri="{0D108BD9-81ED-4DB2-BD59-A6C34878D82A}">
                    <a16:rowId xmlns:a16="http://schemas.microsoft.com/office/drawing/2014/main" val="10006"/>
                  </a:ext>
                </a:extLst>
              </a:tr>
              <a:tr h="1016000">
                <a:tc>
                  <a:txBody>
                    <a:bodyPr/>
                    <a:lstStyle/>
                    <a:p>
                      <a:pPr>
                        <a:lnSpc>
                          <a:spcPct val="100000"/>
                        </a:lnSpc>
                      </a:pPr>
                      <a:endParaRPr sz="2000">
                        <a:latin typeface="Times New Roman" panose="02020603050405020304"/>
                        <a:cs typeface="Times New Roman" panose="02020603050405020304"/>
                      </a:endParaRPr>
                    </a:p>
                  </a:txBody>
                  <a:tcPr marL="0" marR="0" marT="0" marB="0">
                    <a:lnL w="28575">
                      <a:solidFill>
                        <a:srgbClr val="D81E00"/>
                      </a:solidFill>
                      <a:prstDash val="solid"/>
                    </a:lnL>
                    <a:lnR w="28575">
                      <a:solidFill>
                        <a:srgbClr val="D81E00"/>
                      </a:solidFill>
                      <a:prstDash val="solid"/>
                    </a:lnR>
                    <a:lnT w="28575">
                      <a:solidFill>
                        <a:srgbClr val="D81E00"/>
                      </a:solidFill>
                      <a:prstDash val="solid"/>
                    </a:lnT>
                    <a:lnB w="28575">
                      <a:solidFill>
                        <a:srgbClr val="D81E00"/>
                      </a:solidFill>
                      <a:prstDash val="solid"/>
                    </a:lnB>
                  </a:tcPr>
                </a:tc>
                <a:extLst>
                  <a:ext uri="{0D108BD9-81ED-4DB2-BD59-A6C34878D82A}">
                    <a16:rowId xmlns:a16="http://schemas.microsoft.com/office/drawing/2014/main" val="10007"/>
                  </a:ext>
                </a:extLst>
              </a:tr>
              <a:tr h="705683">
                <a:tc>
                  <a:txBody>
                    <a:bodyPr/>
                    <a:lstStyle/>
                    <a:p>
                      <a:pPr>
                        <a:lnSpc>
                          <a:spcPct val="100000"/>
                        </a:lnSpc>
                      </a:pPr>
                      <a:endParaRPr sz="2000">
                        <a:latin typeface="Times New Roman" panose="02020603050405020304"/>
                        <a:cs typeface="Times New Roman" panose="02020603050405020304"/>
                      </a:endParaRPr>
                    </a:p>
                  </a:txBody>
                  <a:tcPr marL="0" marR="0" marT="0" marB="0">
                    <a:lnL w="9525">
                      <a:solidFill>
                        <a:srgbClr val="6C6C6C"/>
                      </a:solidFill>
                      <a:prstDash val="solid"/>
                    </a:lnL>
                    <a:lnR w="9525">
                      <a:solidFill>
                        <a:srgbClr val="6C6C6C"/>
                      </a:solidFill>
                      <a:prstDash val="solid"/>
                    </a:lnR>
                    <a:lnT w="28575">
                      <a:solidFill>
                        <a:srgbClr val="D81E00"/>
                      </a:solidFill>
                      <a:prstDash val="solid"/>
                    </a:lnT>
                    <a:lnB w="28575">
                      <a:solidFill>
                        <a:srgbClr val="D81E00"/>
                      </a:solidFill>
                      <a:prstDash val="solid"/>
                    </a:lnB>
                  </a:tcPr>
                </a:tc>
                <a:extLst>
                  <a:ext uri="{0D108BD9-81ED-4DB2-BD59-A6C34878D82A}">
                    <a16:rowId xmlns:a16="http://schemas.microsoft.com/office/drawing/2014/main" val="10008"/>
                  </a:ext>
                </a:extLst>
              </a:tr>
              <a:tr h="530449">
                <a:tc>
                  <a:txBody>
                    <a:bodyPr/>
                    <a:lstStyle/>
                    <a:p>
                      <a:pPr>
                        <a:lnSpc>
                          <a:spcPct val="100000"/>
                        </a:lnSpc>
                      </a:pPr>
                      <a:endParaRPr sz="2000">
                        <a:latin typeface="Times New Roman" panose="02020603050405020304"/>
                        <a:cs typeface="Times New Roman" panose="02020603050405020304"/>
                      </a:endParaRPr>
                    </a:p>
                  </a:txBody>
                  <a:tcPr marL="0" marR="0" marT="0" marB="0">
                    <a:lnL w="28575">
                      <a:solidFill>
                        <a:srgbClr val="D81E00"/>
                      </a:solidFill>
                      <a:prstDash val="solid"/>
                    </a:lnL>
                    <a:lnR w="28575">
                      <a:solidFill>
                        <a:srgbClr val="D81E00"/>
                      </a:solidFill>
                      <a:prstDash val="solid"/>
                    </a:lnR>
                    <a:lnT w="28575">
                      <a:solidFill>
                        <a:srgbClr val="D81E00"/>
                      </a:solidFill>
                      <a:prstDash val="solid"/>
                    </a:lnT>
                    <a:lnB w="28575">
                      <a:solidFill>
                        <a:srgbClr val="D81E00"/>
                      </a:solidFill>
                      <a:prstDash val="solid"/>
                    </a:lnB>
                  </a:tcPr>
                </a:tc>
                <a:extLst>
                  <a:ext uri="{0D108BD9-81ED-4DB2-BD59-A6C34878D82A}">
                    <a16:rowId xmlns:a16="http://schemas.microsoft.com/office/drawing/2014/main" val="10009"/>
                  </a:ext>
                </a:extLst>
              </a:tr>
              <a:tr h="388025">
                <a:tc>
                  <a:txBody>
                    <a:bodyPr/>
                    <a:lstStyle/>
                    <a:p>
                      <a:pPr>
                        <a:lnSpc>
                          <a:spcPct val="100000"/>
                        </a:lnSpc>
                      </a:pPr>
                      <a:endParaRPr sz="2000">
                        <a:latin typeface="Times New Roman" panose="02020603050405020304"/>
                        <a:cs typeface="Times New Roman" panose="02020603050405020304"/>
                      </a:endParaRPr>
                    </a:p>
                  </a:txBody>
                  <a:tcPr marL="0" marR="0" marT="0" marB="0">
                    <a:lnL w="9525">
                      <a:solidFill>
                        <a:srgbClr val="6C6C6C"/>
                      </a:solidFill>
                      <a:prstDash val="solid"/>
                    </a:lnL>
                    <a:lnR w="9525">
                      <a:solidFill>
                        <a:srgbClr val="6C6C6C"/>
                      </a:solidFill>
                      <a:prstDash val="solid"/>
                    </a:lnR>
                    <a:lnT w="28575">
                      <a:solidFill>
                        <a:srgbClr val="D81E00"/>
                      </a:solidFill>
                      <a:prstDash val="solid"/>
                    </a:lnT>
                    <a:lnB w="9525">
                      <a:solidFill>
                        <a:srgbClr val="6C6C6C"/>
                      </a:solidFill>
                      <a:prstDash val="solid"/>
                    </a:lnB>
                  </a:tcPr>
                </a:tc>
                <a:extLst>
                  <a:ext uri="{0D108BD9-81ED-4DB2-BD59-A6C34878D82A}">
                    <a16:rowId xmlns:a16="http://schemas.microsoft.com/office/drawing/2014/main" val="10010"/>
                  </a:ext>
                </a:extLst>
              </a:tr>
            </a:tbl>
          </a:graphicData>
        </a:graphic>
      </p:graphicFrame>
      <p:sp>
        <p:nvSpPr>
          <p:cNvPr id="4" name="object 4"/>
          <p:cNvSpPr/>
          <p:nvPr/>
        </p:nvSpPr>
        <p:spPr>
          <a:xfrm>
            <a:off x="8955034" y="2878668"/>
            <a:ext cx="2272030" cy="1102995"/>
          </a:xfrm>
          <a:custGeom>
            <a:avLst/>
            <a:gdLst/>
            <a:ahLst/>
            <a:cxnLst/>
            <a:rect l="l" t="t" r="r" b="b"/>
            <a:pathLst>
              <a:path w="2272029" h="1102995">
                <a:moveTo>
                  <a:pt x="0" y="0"/>
                </a:moveTo>
                <a:lnTo>
                  <a:pt x="2271763" y="0"/>
                </a:lnTo>
                <a:lnTo>
                  <a:pt x="2271763" y="1102865"/>
                </a:lnTo>
                <a:lnTo>
                  <a:pt x="0" y="1102865"/>
                </a:lnTo>
                <a:lnTo>
                  <a:pt x="0" y="0"/>
                </a:lnTo>
                <a:close/>
              </a:path>
            </a:pathLst>
          </a:custGeom>
          <a:solidFill>
            <a:srgbClr val="ECEBEB"/>
          </a:solidFill>
        </p:spPr>
        <p:txBody>
          <a:bodyPr wrap="square" lIns="0" tIns="0" rIns="0" bIns="0" rtlCol="0"/>
          <a:lstStyle/>
          <a:p>
            <a:endParaRPr/>
          </a:p>
        </p:txBody>
      </p:sp>
      <p:sp>
        <p:nvSpPr>
          <p:cNvPr id="5" name="object 5"/>
          <p:cNvSpPr txBox="1">
            <a:spLocks noGrp="1"/>
          </p:cNvSpPr>
          <p:nvPr>
            <p:ph type="title"/>
          </p:nvPr>
        </p:nvSpPr>
        <p:spPr>
          <a:xfrm>
            <a:off x="9033774" y="2911688"/>
            <a:ext cx="2128520" cy="1016000"/>
          </a:xfrm>
          <a:prstGeom prst="rect">
            <a:avLst/>
          </a:prstGeom>
        </p:spPr>
        <p:txBody>
          <a:bodyPr vert="horz" wrap="square" lIns="0" tIns="12700" rIns="0" bIns="0" rtlCol="0">
            <a:spAutoFit/>
          </a:bodyPr>
          <a:lstStyle/>
          <a:p>
            <a:pPr marL="12700" marR="5080" algn="just">
              <a:lnSpc>
                <a:spcPct val="108000"/>
              </a:lnSpc>
              <a:spcBef>
                <a:spcPts val="100"/>
              </a:spcBef>
            </a:pPr>
            <a:r>
              <a:rPr sz="2000" b="0" spc="-5" dirty="0">
                <a:solidFill>
                  <a:srgbClr val="FF0000"/>
                </a:solidFill>
                <a:latin typeface="Arial" panose="020B0604020202020204"/>
                <a:cs typeface="Arial" panose="020B0604020202020204"/>
              </a:rPr>
              <a:t>missing-docstring:  </a:t>
            </a:r>
            <a:r>
              <a:rPr sz="2000" b="0" spc="65" dirty="0">
                <a:latin typeface="微软雅黑" panose="020B0503020204020204" pitchFamily="34" charset="-122"/>
                <a:cs typeface="微软雅黑" panose="020B0503020204020204" pitchFamily="34" charset="-122"/>
              </a:rPr>
              <a:t>通常模块和方法都 </a:t>
            </a:r>
            <a:r>
              <a:rPr sz="2000" b="0" dirty="0">
                <a:latin typeface="微软雅黑" panose="020B0503020204020204" pitchFamily="34" charset="-122"/>
                <a:cs typeface="微软雅黑" panose="020B0503020204020204" pitchFamily="34" charset="-122"/>
              </a:rPr>
              <a:t>要添加</a:t>
            </a:r>
            <a:r>
              <a:rPr sz="2000" b="0" spc="-5" dirty="0">
                <a:latin typeface="Arial" panose="020B0604020202020204"/>
                <a:cs typeface="Arial" panose="020B0604020202020204"/>
              </a:rPr>
              <a:t>docstring</a:t>
            </a:r>
            <a:endParaRPr sz="2000">
              <a:latin typeface="Arial" panose="020B0604020202020204"/>
              <a:cs typeface="Arial" panose="020B0604020202020204"/>
            </a:endParaRPr>
          </a:p>
        </p:txBody>
      </p:sp>
      <p:sp>
        <p:nvSpPr>
          <p:cNvPr id="6" name="object 6"/>
          <p:cNvSpPr/>
          <p:nvPr/>
        </p:nvSpPr>
        <p:spPr>
          <a:xfrm>
            <a:off x="8019301" y="3080640"/>
            <a:ext cx="936625" cy="349885"/>
          </a:xfrm>
          <a:custGeom>
            <a:avLst/>
            <a:gdLst/>
            <a:ahLst/>
            <a:cxnLst/>
            <a:rect l="l" t="t" r="r" b="b"/>
            <a:pathLst>
              <a:path w="936625" h="349885">
                <a:moveTo>
                  <a:pt x="0" y="0"/>
                </a:moveTo>
                <a:lnTo>
                  <a:pt x="936049" y="349571"/>
                </a:lnTo>
              </a:path>
            </a:pathLst>
          </a:custGeom>
          <a:ln w="28574">
            <a:solidFill>
              <a:srgbClr val="D81E00"/>
            </a:solidFill>
          </a:ln>
        </p:spPr>
        <p:txBody>
          <a:bodyPr wrap="square" lIns="0" tIns="0" rIns="0" bIns="0" rtlCol="0"/>
          <a:lstStyle/>
          <a:p>
            <a:endParaRPr/>
          </a:p>
        </p:txBody>
      </p:sp>
      <p:sp>
        <p:nvSpPr>
          <p:cNvPr id="7" name="object 7"/>
          <p:cNvSpPr/>
          <p:nvPr/>
        </p:nvSpPr>
        <p:spPr>
          <a:xfrm>
            <a:off x="7992533" y="3060480"/>
            <a:ext cx="95885" cy="80645"/>
          </a:xfrm>
          <a:custGeom>
            <a:avLst/>
            <a:gdLst/>
            <a:ahLst/>
            <a:cxnLst/>
            <a:rect l="l" t="t" r="r" b="b"/>
            <a:pathLst>
              <a:path w="95884" h="80644">
                <a:moveTo>
                  <a:pt x="95302" y="0"/>
                </a:moveTo>
                <a:lnTo>
                  <a:pt x="0" y="10162"/>
                </a:lnTo>
                <a:lnTo>
                  <a:pt x="65311" y="80307"/>
                </a:lnTo>
                <a:lnTo>
                  <a:pt x="95302" y="0"/>
                </a:lnTo>
                <a:close/>
              </a:path>
            </a:pathLst>
          </a:custGeom>
          <a:solidFill>
            <a:srgbClr val="D81E00"/>
          </a:solidFill>
        </p:spPr>
        <p:txBody>
          <a:bodyPr wrap="square" lIns="0" tIns="0" rIns="0" bIns="0" rtlCol="0"/>
          <a:lstStyle/>
          <a:p>
            <a:endParaRPr/>
          </a:p>
        </p:txBody>
      </p:sp>
      <p:sp>
        <p:nvSpPr>
          <p:cNvPr id="8" name="object 8"/>
          <p:cNvSpPr/>
          <p:nvPr/>
        </p:nvSpPr>
        <p:spPr>
          <a:xfrm>
            <a:off x="8006475" y="1732452"/>
            <a:ext cx="949325" cy="1697989"/>
          </a:xfrm>
          <a:custGeom>
            <a:avLst/>
            <a:gdLst/>
            <a:ahLst/>
            <a:cxnLst/>
            <a:rect l="l" t="t" r="r" b="b"/>
            <a:pathLst>
              <a:path w="949325" h="1697989">
                <a:moveTo>
                  <a:pt x="0" y="0"/>
                </a:moveTo>
                <a:lnTo>
                  <a:pt x="948876" y="1697494"/>
                </a:lnTo>
              </a:path>
            </a:pathLst>
          </a:custGeom>
          <a:ln w="28574">
            <a:solidFill>
              <a:srgbClr val="D81E00"/>
            </a:solidFill>
          </a:ln>
        </p:spPr>
        <p:txBody>
          <a:bodyPr wrap="square" lIns="0" tIns="0" rIns="0" bIns="0" rtlCol="0"/>
          <a:lstStyle/>
          <a:p>
            <a:endParaRPr/>
          </a:p>
        </p:txBody>
      </p:sp>
      <p:sp>
        <p:nvSpPr>
          <p:cNvPr id="9" name="object 9"/>
          <p:cNvSpPr/>
          <p:nvPr/>
        </p:nvSpPr>
        <p:spPr>
          <a:xfrm>
            <a:off x="7992533" y="1707509"/>
            <a:ext cx="79375" cy="95885"/>
          </a:xfrm>
          <a:custGeom>
            <a:avLst/>
            <a:gdLst/>
            <a:ahLst/>
            <a:cxnLst/>
            <a:rect l="l" t="t" r="r" b="b"/>
            <a:pathLst>
              <a:path w="79375" h="95885">
                <a:moveTo>
                  <a:pt x="0" y="0"/>
                </a:moveTo>
                <a:lnTo>
                  <a:pt x="4413" y="95741"/>
                </a:lnTo>
                <a:lnTo>
                  <a:pt x="79241" y="53914"/>
                </a:lnTo>
                <a:lnTo>
                  <a:pt x="0" y="0"/>
                </a:lnTo>
                <a:close/>
              </a:path>
            </a:pathLst>
          </a:custGeom>
          <a:solidFill>
            <a:srgbClr val="D81E00"/>
          </a:solidFill>
        </p:spPr>
        <p:txBody>
          <a:bodyPr wrap="square" lIns="0" tIns="0" rIns="0" bIns="0" rtlCol="0"/>
          <a:lstStyle/>
          <a:p>
            <a:endParaRPr/>
          </a:p>
        </p:txBody>
      </p:sp>
      <p:sp>
        <p:nvSpPr>
          <p:cNvPr id="10" name="object 10"/>
          <p:cNvSpPr/>
          <p:nvPr/>
        </p:nvSpPr>
        <p:spPr>
          <a:xfrm>
            <a:off x="8002858" y="972154"/>
            <a:ext cx="952500" cy="2458085"/>
          </a:xfrm>
          <a:custGeom>
            <a:avLst/>
            <a:gdLst/>
            <a:ahLst/>
            <a:cxnLst/>
            <a:rect l="l" t="t" r="r" b="b"/>
            <a:pathLst>
              <a:path w="952500" h="2458085">
                <a:moveTo>
                  <a:pt x="0" y="0"/>
                </a:moveTo>
                <a:lnTo>
                  <a:pt x="952492" y="2457792"/>
                </a:lnTo>
              </a:path>
            </a:pathLst>
          </a:custGeom>
          <a:ln w="28574">
            <a:solidFill>
              <a:srgbClr val="D81E00"/>
            </a:solidFill>
          </a:ln>
        </p:spPr>
        <p:txBody>
          <a:bodyPr wrap="square" lIns="0" tIns="0" rIns="0" bIns="0" rtlCol="0"/>
          <a:lstStyle/>
          <a:p>
            <a:endParaRPr/>
          </a:p>
        </p:txBody>
      </p:sp>
      <p:sp>
        <p:nvSpPr>
          <p:cNvPr id="11" name="object 11"/>
          <p:cNvSpPr/>
          <p:nvPr/>
        </p:nvSpPr>
        <p:spPr>
          <a:xfrm>
            <a:off x="7983542" y="945509"/>
            <a:ext cx="80010" cy="95885"/>
          </a:xfrm>
          <a:custGeom>
            <a:avLst/>
            <a:gdLst/>
            <a:ahLst/>
            <a:cxnLst/>
            <a:rect l="l" t="t" r="r" b="b"/>
            <a:pathLst>
              <a:path w="80009" h="95884">
                <a:moveTo>
                  <a:pt x="8990" y="0"/>
                </a:moveTo>
                <a:lnTo>
                  <a:pt x="0" y="95420"/>
                </a:lnTo>
                <a:lnTo>
                  <a:pt x="79932" y="64443"/>
                </a:lnTo>
                <a:lnTo>
                  <a:pt x="8990" y="0"/>
                </a:lnTo>
                <a:close/>
              </a:path>
            </a:pathLst>
          </a:custGeom>
          <a:solidFill>
            <a:srgbClr val="D81E00"/>
          </a:solidFill>
        </p:spPr>
        <p:txBody>
          <a:bodyPr wrap="square" lIns="0" tIns="0" rIns="0" bIns="0" rtlCol="0"/>
          <a:lstStyle/>
          <a:p>
            <a:endParaRPr/>
          </a:p>
        </p:txBody>
      </p:sp>
      <p:sp>
        <p:nvSpPr>
          <p:cNvPr id="12" name="object 12"/>
          <p:cNvSpPr/>
          <p:nvPr/>
        </p:nvSpPr>
        <p:spPr>
          <a:xfrm>
            <a:off x="8013355" y="3430059"/>
            <a:ext cx="942340" cy="885825"/>
          </a:xfrm>
          <a:custGeom>
            <a:avLst/>
            <a:gdLst/>
            <a:ahLst/>
            <a:cxnLst/>
            <a:rect l="l" t="t" r="r" b="b"/>
            <a:pathLst>
              <a:path w="942340" h="885825">
                <a:moveTo>
                  <a:pt x="0" y="885305"/>
                </a:moveTo>
                <a:lnTo>
                  <a:pt x="941995" y="0"/>
                </a:lnTo>
              </a:path>
            </a:pathLst>
          </a:custGeom>
          <a:ln w="28574">
            <a:solidFill>
              <a:srgbClr val="D81E00"/>
            </a:solidFill>
          </a:ln>
        </p:spPr>
        <p:txBody>
          <a:bodyPr wrap="square" lIns="0" tIns="0" rIns="0" bIns="0" rtlCol="0"/>
          <a:lstStyle/>
          <a:p>
            <a:endParaRPr/>
          </a:p>
        </p:txBody>
      </p:sp>
      <p:sp>
        <p:nvSpPr>
          <p:cNvPr id="13" name="object 13"/>
          <p:cNvSpPr/>
          <p:nvPr/>
        </p:nvSpPr>
        <p:spPr>
          <a:xfrm>
            <a:off x="7992533" y="4244992"/>
            <a:ext cx="92075" cy="90170"/>
          </a:xfrm>
          <a:custGeom>
            <a:avLst/>
            <a:gdLst/>
            <a:ahLst/>
            <a:cxnLst/>
            <a:rect l="l" t="t" r="r" b="b"/>
            <a:pathLst>
              <a:path w="92075" h="90170">
                <a:moveTo>
                  <a:pt x="33112" y="0"/>
                </a:moveTo>
                <a:lnTo>
                  <a:pt x="0" y="89941"/>
                </a:lnTo>
                <a:lnTo>
                  <a:pt x="91821" y="62467"/>
                </a:lnTo>
                <a:lnTo>
                  <a:pt x="33112" y="0"/>
                </a:lnTo>
                <a:close/>
              </a:path>
            </a:pathLst>
          </a:custGeom>
          <a:solidFill>
            <a:srgbClr val="D81E00"/>
          </a:solidFill>
        </p:spPr>
        <p:txBody>
          <a:bodyPr wrap="square" lIns="0" tIns="0" rIns="0" bIns="0" rtlCol="0"/>
          <a:lstStyle/>
          <a:p>
            <a:endParaRPr/>
          </a:p>
        </p:txBody>
      </p:sp>
      <p:sp>
        <p:nvSpPr>
          <p:cNvPr id="14" name="object 14"/>
          <p:cNvSpPr/>
          <p:nvPr/>
        </p:nvSpPr>
        <p:spPr>
          <a:xfrm>
            <a:off x="8003235" y="3430210"/>
            <a:ext cx="952500" cy="2357755"/>
          </a:xfrm>
          <a:custGeom>
            <a:avLst/>
            <a:gdLst/>
            <a:ahLst/>
            <a:cxnLst/>
            <a:rect l="l" t="t" r="r" b="b"/>
            <a:pathLst>
              <a:path w="952500" h="2357754">
                <a:moveTo>
                  <a:pt x="0" y="2357136"/>
                </a:moveTo>
                <a:lnTo>
                  <a:pt x="952116" y="0"/>
                </a:lnTo>
              </a:path>
            </a:pathLst>
          </a:custGeom>
          <a:ln w="28574">
            <a:solidFill>
              <a:srgbClr val="D81E00"/>
            </a:solidFill>
          </a:ln>
        </p:spPr>
        <p:txBody>
          <a:bodyPr wrap="square" lIns="0" tIns="0" rIns="0" bIns="0" rtlCol="0"/>
          <a:lstStyle/>
          <a:p>
            <a:endParaRPr/>
          </a:p>
        </p:txBody>
      </p:sp>
      <p:sp>
        <p:nvSpPr>
          <p:cNvPr id="15" name="object 15"/>
          <p:cNvSpPr/>
          <p:nvPr/>
        </p:nvSpPr>
        <p:spPr>
          <a:xfrm>
            <a:off x="7984896" y="5718303"/>
            <a:ext cx="80010" cy="95885"/>
          </a:xfrm>
          <a:custGeom>
            <a:avLst/>
            <a:gdLst/>
            <a:ahLst/>
            <a:cxnLst/>
            <a:rect l="l" t="t" r="r" b="b"/>
            <a:pathLst>
              <a:path w="80009" h="95885">
                <a:moveTo>
                  <a:pt x="0" y="0"/>
                </a:moveTo>
                <a:lnTo>
                  <a:pt x="7636" y="95538"/>
                </a:lnTo>
                <a:lnTo>
                  <a:pt x="79485" y="32106"/>
                </a:lnTo>
                <a:lnTo>
                  <a:pt x="0" y="0"/>
                </a:lnTo>
                <a:close/>
              </a:path>
            </a:pathLst>
          </a:custGeom>
          <a:solidFill>
            <a:srgbClr val="D81E00"/>
          </a:solidFill>
        </p:spPr>
        <p:txBody>
          <a:bodyPr wrap="square" lIns="0" tIns="0" rIns="0" bIns="0" rtlCol="0"/>
          <a:lstStyle/>
          <a:p>
            <a:endParaRPr/>
          </a:p>
        </p:txBody>
      </p:sp>
      <p:sp>
        <p:nvSpPr>
          <p:cNvPr id="17" name="灯片编号占位符 16"/>
          <p:cNvSpPr>
            <a:spLocks noGrp="1"/>
          </p:cNvSpPr>
          <p:nvPr>
            <p:ph type="sldNum" sz="quarter" idx="7"/>
          </p:nvPr>
        </p:nvSpPr>
        <p:spPr/>
        <p:txBody>
          <a:bodyPr/>
          <a:lstStyle/>
          <a:p>
            <a:fld id="{B6F15528-21DE-4FAA-801E-634DDDAF4B2B}" type="slidenum">
              <a:rPr lang="en-US" altLang="zh-CN" smtClean="0"/>
              <a:t>66</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5231"/>
    </mc:Choice>
    <mc:Fallback xmlns="">
      <p:transition spd="slow" advTm="15231"/>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753979" y="209550"/>
            <a:ext cx="10972800" cy="6438900"/>
          </a:xfrm>
          <a:prstGeom prst="rect">
            <a:avLst/>
          </a:prstGeom>
        </p:spPr>
      </p:pic>
      <p:sp>
        <p:nvSpPr>
          <p:cNvPr id="2" name="灯片编号占位符 1"/>
          <p:cNvSpPr>
            <a:spLocks noGrp="1"/>
          </p:cNvSpPr>
          <p:nvPr>
            <p:ph type="sldNum" sz="quarter" idx="7"/>
          </p:nvPr>
        </p:nvSpPr>
        <p:spPr/>
        <p:txBody>
          <a:bodyPr/>
          <a:lstStyle/>
          <a:p>
            <a:fld id="{B6F15528-21DE-4FAA-801E-634DDDAF4B2B}" type="slidenum">
              <a:rPr lang="en-US" altLang="zh-CN" smtClean="0"/>
              <a:t>67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7721"/>
    </mc:Choice>
    <mc:Fallback xmlns="">
      <p:transition spd="slow" advTm="17721"/>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3"/>
          <a:stretch>
            <a:fillRect/>
          </a:stretch>
        </p:blipFill>
        <p:spPr>
          <a:xfrm>
            <a:off x="628650" y="204787"/>
            <a:ext cx="10934700" cy="6448425"/>
          </a:xfrm>
          <a:prstGeom prst="rect">
            <a:avLst/>
          </a:prstGeom>
        </p:spPr>
      </p:pic>
      <p:sp>
        <p:nvSpPr>
          <p:cNvPr id="2" name="灯片编号占位符 1"/>
          <p:cNvSpPr>
            <a:spLocks noGrp="1"/>
          </p:cNvSpPr>
          <p:nvPr>
            <p:ph type="sldNum" sz="quarter" idx="7"/>
          </p:nvPr>
        </p:nvSpPr>
        <p:spPr/>
        <p:txBody>
          <a:bodyPr/>
          <a:lstStyle/>
          <a:p>
            <a:fld id="{B6F15528-21DE-4FAA-801E-634DDDAF4B2B}" type="slidenum">
              <a:rPr lang="en-US" altLang="zh-CN" smtClean="0"/>
              <a:t>68</a:t>
            </a:fld>
            <a:endParaRPr lang="zh-CN" altLang="en-US"/>
          </a:p>
        </p:txBody>
      </p:sp>
      <p:sp>
        <p:nvSpPr>
          <p:cNvPr id="3" name="矩形 2">
            <a:extLst>
              <a:ext uri="{FF2B5EF4-FFF2-40B4-BE49-F238E27FC236}">
                <a16:creationId xmlns:a16="http://schemas.microsoft.com/office/drawing/2014/main" id="{B1F878E4-6EAD-41B5-8FB8-7701584632EB}"/>
              </a:ext>
            </a:extLst>
          </p:cNvPr>
          <p:cNvSpPr/>
          <p:nvPr/>
        </p:nvSpPr>
        <p:spPr>
          <a:xfrm>
            <a:off x="4987636" y="4620491"/>
            <a:ext cx="4371109" cy="2493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6305"/>
    </mc:Choice>
    <mc:Fallback xmlns="">
      <p:transition spd="slow" advTm="16305"/>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案例：生命游戏</a:t>
            </a:r>
          </a:p>
        </p:txBody>
      </p:sp>
      <p:sp>
        <p:nvSpPr>
          <p:cNvPr id="3" name="灯片编号占位符 2"/>
          <p:cNvSpPr>
            <a:spLocks noGrp="1"/>
          </p:cNvSpPr>
          <p:nvPr>
            <p:ph type="sldNum" sz="quarter" idx="12"/>
          </p:nvPr>
        </p:nvSpPr>
        <p:spPr/>
        <p:txBody>
          <a:bodyPr/>
          <a:lstStyle/>
          <a:p>
            <a:fld id="{74D2AB8B-5816-41F2-8B4B-CA5C3E4E6A65}" type="slidenum">
              <a:rPr lang="zh-CN" altLang="en-US" smtClean="0"/>
              <a:t>69</a:t>
            </a:fld>
            <a:endParaRPr lang="zh-CN" altLang="en-US"/>
          </a:p>
        </p:txBody>
      </p:sp>
      <p:sp>
        <p:nvSpPr>
          <p:cNvPr id="4" name="object 10"/>
          <p:cNvSpPr txBox="1"/>
          <p:nvPr/>
        </p:nvSpPr>
        <p:spPr>
          <a:xfrm>
            <a:off x="976903" y="2108707"/>
            <a:ext cx="4232910" cy="360680"/>
          </a:xfrm>
          <a:prstGeom prst="rect">
            <a:avLst/>
          </a:prstGeom>
        </p:spPr>
        <p:txBody>
          <a:bodyPr vert="horz" wrap="square" lIns="0" tIns="12700" rIns="0" bIns="0" rtlCol="0">
            <a:spAutoFit/>
          </a:bodyPr>
          <a:lstStyle/>
          <a:p>
            <a:pPr marL="12700">
              <a:lnSpc>
                <a:spcPct val="100000"/>
              </a:lnSpc>
              <a:spcBef>
                <a:spcPts val="100"/>
              </a:spcBef>
            </a:pPr>
            <a:r>
              <a:rPr sz="2200" spc="-5" dirty="0">
                <a:solidFill>
                  <a:srgbClr val="CC0000"/>
                </a:solidFill>
                <a:latin typeface="Arial" panose="020B0604020202020204"/>
                <a:cs typeface="Arial" panose="020B0604020202020204"/>
              </a:rPr>
              <a:t>line-too-long:</a:t>
            </a:r>
            <a:r>
              <a:rPr sz="2200" spc="-35" dirty="0">
                <a:solidFill>
                  <a:srgbClr val="CC0000"/>
                </a:solidFill>
                <a:latin typeface="Arial" panose="020B0604020202020204"/>
                <a:cs typeface="Arial" panose="020B0604020202020204"/>
              </a:rPr>
              <a:t> </a:t>
            </a:r>
            <a:r>
              <a:rPr sz="2200" dirty="0">
                <a:latin typeface="微软雅黑" panose="020B0503020204020204" pitchFamily="34" charset="-122"/>
                <a:cs typeface="微软雅黑" panose="020B0503020204020204" pitchFamily="34" charset="-122"/>
              </a:rPr>
              <a:t>通过换行来使行变短</a:t>
            </a:r>
            <a:endParaRPr sz="2200">
              <a:latin typeface="微软雅黑" panose="020B0503020204020204" pitchFamily="34" charset="-122"/>
              <a:cs typeface="微软雅黑" panose="020B0503020204020204" pitchFamily="34" charset="-122"/>
            </a:endParaRPr>
          </a:p>
        </p:txBody>
      </p:sp>
      <p:sp>
        <p:nvSpPr>
          <p:cNvPr id="5" name="object 11"/>
          <p:cNvSpPr/>
          <p:nvPr/>
        </p:nvSpPr>
        <p:spPr>
          <a:xfrm>
            <a:off x="1043457" y="2826778"/>
            <a:ext cx="9486897" cy="1523998"/>
          </a:xfrm>
          <a:prstGeom prst="rect">
            <a:avLst/>
          </a:prstGeom>
          <a:blipFill>
            <a:blip r:embed="rId3" cstate="print"/>
            <a:stretch>
              <a:fillRect/>
            </a:stretch>
          </a:blipFill>
        </p:spPr>
        <p:txBody>
          <a:bodyPr wrap="square" lIns="0" tIns="0" rIns="0" bIns="0" rtlCol="0"/>
          <a:lstStyle/>
          <a:p>
            <a:endParaRPr/>
          </a:p>
        </p:txBody>
      </p:sp>
      <p:sp>
        <p:nvSpPr>
          <p:cNvPr id="6" name="object 12"/>
          <p:cNvSpPr/>
          <p:nvPr/>
        </p:nvSpPr>
        <p:spPr>
          <a:xfrm>
            <a:off x="1038695" y="2822015"/>
            <a:ext cx="9496425" cy="1533525"/>
          </a:xfrm>
          <a:custGeom>
            <a:avLst/>
            <a:gdLst/>
            <a:ahLst/>
            <a:cxnLst/>
            <a:rect l="l" t="t" r="r" b="b"/>
            <a:pathLst>
              <a:path w="9496425" h="1533525">
                <a:moveTo>
                  <a:pt x="0" y="0"/>
                </a:moveTo>
                <a:lnTo>
                  <a:pt x="9496422" y="0"/>
                </a:lnTo>
                <a:lnTo>
                  <a:pt x="9496422" y="1533524"/>
                </a:lnTo>
                <a:lnTo>
                  <a:pt x="0" y="1533524"/>
                </a:lnTo>
                <a:lnTo>
                  <a:pt x="0" y="0"/>
                </a:lnTo>
                <a:close/>
              </a:path>
            </a:pathLst>
          </a:custGeom>
          <a:ln w="9524">
            <a:solidFill>
              <a:srgbClr val="919191"/>
            </a:solidFill>
          </a:ln>
        </p:spPr>
        <p:txBody>
          <a:bodyPr wrap="square" lIns="0" tIns="0" rIns="0" bIns="0" rtlCol="0"/>
          <a:lstStyle/>
          <a:p>
            <a:endParaRPr/>
          </a:p>
        </p:txBody>
      </p:sp>
      <p:sp>
        <p:nvSpPr>
          <p:cNvPr id="7" name="object 13"/>
          <p:cNvSpPr/>
          <p:nvPr/>
        </p:nvSpPr>
        <p:spPr>
          <a:xfrm>
            <a:off x="1045573" y="4627759"/>
            <a:ext cx="10058397" cy="897879"/>
          </a:xfrm>
          <a:prstGeom prst="rect">
            <a:avLst/>
          </a:prstGeom>
          <a:blipFill>
            <a:blip r:embed="rId4" cstate="print"/>
            <a:stretch>
              <a:fillRect/>
            </a:stretch>
          </a:blipFill>
        </p:spPr>
        <p:txBody>
          <a:bodyPr wrap="square" lIns="0" tIns="0" rIns="0" bIns="0" rtlCol="0"/>
          <a:lstStyle/>
          <a:p>
            <a:endParaRPr/>
          </a:p>
        </p:txBody>
      </p:sp>
      <p:sp>
        <p:nvSpPr>
          <p:cNvPr id="8" name="object 14"/>
          <p:cNvSpPr/>
          <p:nvPr/>
        </p:nvSpPr>
        <p:spPr>
          <a:xfrm>
            <a:off x="1040811" y="4622997"/>
            <a:ext cx="10067925" cy="907415"/>
          </a:xfrm>
          <a:custGeom>
            <a:avLst/>
            <a:gdLst/>
            <a:ahLst/>
            <a:cxnLst/>
            <a:rect l="l" t="t" r="r" b="b"/>
            <a:pathLst>
              <a:path w="10067925" h="907414">
                <a:moveTo>
                  <a:pt x="0" y="0"/>
                </a:moveTo>
                <a:lnTo>
                  <a:pt x="10067921" y="0"/>
                </a:lnTo>
                <a:lnTo>
                  <a:pt x="10067921" y="907255"/>
                </a:lnTo>
                <a:lnTo>
                  <a:pt x="0" y="907255"/>
                </a:lnTo>
                <a:lnTo>
                  <a:pt x="0" y="0"/>
                </a:lnTo>
                <a:close/>
              </a:path>
            </a:pathLst>
          </a:custGeom>
          <a:ln w="9524">
            <a:solidFill>
              <a:srgbClr val="919191"/>
            </a:solidFill>
          </a:ln>
        </p:spPr>
        <p:txBody>
          <a:bodyPr wrap="square" lIns="0" tIns="0" rIns="0" bIns="0" rtlCol="0"/>
          <a:lstStyle/>
          <a:p>
            <a:endParaRPr/>
          </a:p>
        </p:txBody>
      </p:sp>
    </p:spTree>
  </p:cSld>
  <p:clrMapOvr>
    <a:masterClrMapping/>
  </p:clrMapOvr>
  <mc:AlternateContent xmlns:mc="http://schemas.openxmlformats.org/markup-compatibility/2006" xmlns:p14="http://schemas.microsoft.com/office/powerpoint/2010/main">
    <mc:Choice Requires="p14">
      <p:transition spd="slow" p14:dur="2000" advTm="18370"/>
    </mc:Choice>
    <mc:Fallback xmlns="">
      <p:transition spd="slow" advTm="18370"/>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39945" y="1684770"/>
            <a:ext cx="8020050" cy="2282676"/>
          </a:xfrm>
          <a:prstGeom prst="rect">
            <a:avLst/>
          </a:prstGeom>
        </p:spPr>
        <p:txBody>
          <a:bodyPr vert="horz" wrap="square" lIns="0" tIns="12700" rIns="0" bIns="0" rtlCol="0">
            <a:spAutoFit/>
          </a:bodyPr>
          <a:lstStyle/>
          <a:p>
            <a:pPr marL="12700">
              <a:lnSpc>
                <a:spcPct val="100000"/>
              </a:lnSpc>
              <a:spcBef>
                <a:spcPts val="100"/>
              </a:spcBef>
            </a:pPr>
            <a:r>
              <a:rPr sz="2200" spc="-70" dirty="0">
                <a:solidFill>
                  <a:srgbClr val="CC0000"/>
                </a:solidFill>
                <a:latin typeface="Calibri" panose="020F0502020204030204"/>
                <a:cs typeface="Calibri" panose="020F0502020204030204"/>
              </a:rPr>
              <a:t>missing-­‐docstring:</a:t>
            </a:r>
            <a:r>
              <a:rPr sz="2200" spc="-65" dirty="0">
                <a:solidFill>
                  <a:srgbClr val="CC0000"/>
                </a:solidFill>
                <a:latin typeface="Calibri" panose="020F0502020204030204"/>
                <a:cs typeface="Calibri" panose="020F0502020204030204"/>
              </a:rPr>
              <a:t> </a:t>
            </a:r>
            <a:r>
              <a:rPr sz="2200" dirty="0" err="1">
                <a:latin typeface="微软雅黑" panose="020B0503020204020204" pitchFamily="34" charset="-122"/>
                <a:cs typeface="微软雅黑" panose="020B0503020204020204" pitchFamily="34" charset="-122"/>
              </a:rPr>
              <a:t>应该补充有意义的说明</a:t>
            </a:r>
            <a:endParaRPr sz="2200" dirty="0">
              <a:latin typeface="微软雅黑" panose="020B0503020204020204" pitchFamily="34" charset="-122"/>
              <a:cs typeface="微软雅黑" panose="020B0503020204020204" pitchFamily="34" charset="-122"/>
            </a:endParaRPr>
          </a:p>
          <a:p>
            <a:pPr marL="12700">
              <a:lnSpc>
                <a:spcPct val="100000"/>
              </a:lnSpc>
              <a:spcBef>
                <a:spcPts val="1960"/>
              </a:spcBef>
            </a:pPr>
            <a:r>
              <a:rPr sz="2200" spc="-95" dirty="0">
                <a:solidFill>
                  <a:srgbClr val="CC0000"/>
                </a:solidFill>
                <a:latin typeface="Calibri" panose="020F0502020204030204"/>
                <a:cs typeface="Calibri" panose="020F0502020204030204"/>
              </a:rPr>
              <a:t>invalid-­‐name:</a:t>
            </a:r>
            <a:endParaRPr sz="2200" dirty="0">
              <a:latin typeface="Calibri" panose="020F0502020204030204"/>
              <a:cs typeface="Calibri" panose="020F0502020204030204"/>
            </a:endParaRPr>
          </a:p>
          <a:p>
            <a:pPr marL="355600" indent="-342900">
              <a:lnSpc>
                <a:spcPct val="100000"/>
              </a:lnSpc>
              <a:spcBef>
                <a:spcPts val="760"/>
              </a:spcBef>
              <a:buFont typeface="Arial" panose="020B0604020202020204"/>
              <a:buChar char="•"/>
              <a:tabLst>
                <a:tab pos="354965" algn="l"/>
                <a:tab pos="355600" algn="l"/>
              </a:tabLst>
            </a:pPr>
            <a:r>
              <a:rPr sz="2200" dirty="0">
                <a:latin typeface="微软雅黑" panose="020B0503020204020204" pitchFamily="34" charset="-122"/>
                <a:cs typeface="微软雅黑" panose="020B0503020204020204" pitchFamily="34" charset="-122"/>
              </a:rPr>
              <a:t>默认的局部变量命名规则是</a:t>
            </a:r>
            <a:r>
              <a:rPr sz="2200" b="1" spc="-150" dirty="0">
                <a:latin typeface="Calibri" panose="020F0502020204030204"/>
                <a:cs typeface="Calibri" panose="020F0502020204030204"/>
              </a:rPr>
              <a:t>[a-­‐z_][a-­‐z0-­‐9_]{2,30}$</a:t>
            </a:r>
            <a:endParaRPr sz="2200" dirty="0">
              <a:latin typeface="Calibri" panose="020F0502020204030204"/>
              <a:cs typeface="Calibri" panose="020F0502020204030204"/>
            </a:endParaRPr>
          </a:p>
          <a:p>
            <a:pPr marL="355600" indent="-342900">
              <a:lnSpc>
                <a:spcPct val="100000"/>
              </a:lnSpc>
              <a:spcBef>
                <a:spcPts val="760"/>
              </a:spcBef>
              <a:buFont typeface="Arial" panose="020B0604020202020204"/>
              <a:buChar char="•"/>
              <a:tabLst>
                <a:tab pos="354965" algn="l"/>
                <a:tab pos="355600" algn="l"/>
              </a:tabLst>
            </a:pPr>
            <a:r>
              <a:rPr sz="2200" dirty="0">
                <a:latin typeface="微软雅黑" panose="020B0503020204020204" pitchFamily="34" charset="-122"/>
                <a:cs typeface="微软雅黑" panose="020B0503020204020204" pitchFamily="34" charset="-122"/>
              </a:rPr>
              <a:t>可以通过</a:t>
            </a:r>
            <a:r>
              <a:rPr sz="2200" b="1" spc="-100" dirty="0">
                <a:latin typeface="Calibri" panose="020F0502020204030204"/>
                <a:cs typeface="Calibri" panose="020F0502020204030204"/>
              </a:rPr>
              <a:t>variable-­‐rgx</a:t>
            </a:r>
            <a:r>
              <a:rPr sz="2200" b="1" spc="-10" dirty="0">
                <a:latin typeface="Calibri" panose="020F0502020204030204"/>
                <a:cs typeface="Calibri" panose="020F0502020204030204"/>
              </a:rPr>
              <a:t> </a:t>
            </a:r>
            <a:r>
              <a:rPr sz="2200" dirty="0">
                <a:latin typeface="微软雅黑" panose="020B0503020204020204" pitchFamily="34" charset="-122"/>
                <a:cs typeface="微软雅黑" panose="020B0503020204020204" pitchFamily="34" charset="-122"/>
              </a:rPr>
              <a:t>选项来重新设定</a:t>
            </a:r>
          </a:p>
          <a:p>
            <a:pPr marL="355600" indent="-342900">
              <a:lnSpc>
                <a:spcPct val="100000"/>
              </a:lnSpc>
              <a:spcBef>
                <a:spcPts val="860"/>
              </a:spcBef>
              <a:buFont typeface="Arial" panose="020B0604020202020204"/>
              <a:buChar char="•"/>
              <a:tabLst>
                <a:tab pos="354965" algn="l"/>
                <a:tab pos="355600" algn="l"/>
              </a:tabLst>
            </a:pPr>
            <a:r>
              <a:rPr sz="2200" dirty="0">
                <a:latin typeface="微软雅黑" panose="020B0503020204020204" pitchFamily="34" charset="-122"/>
                <a:cs typeface="微软雅黑" panose="020B0503020204020204" pitchFamily="34" charset="-122"/>
              </a:rPr>
              <a:t>这里修改为</a:t>
            </a:r>
            <a:r>
              <a:rPr sz="2200" b="1" spc="-150" dirty="0">
                <a:latin typeface="Calibri" panose="020F0502020204030204"/>
                <a:cs typeface="Calibri" panose="020F0502020204030204"/>
              </a:rPr>
              <a:t>[a-­‐z_][a-­‐z0-­‐9_]{0,30}$</a:t>
            </a:r>
            <a:endParaRPr sz="2200" dirty="0">
              <a:latin typeface="Calibri" panose="020F0502020204030204"/>
              <a:cs typeface="Calibri" panose="020F0502020204030204"/>
            </a:endParaRPr>
          </a:p>
        </p:txBody>
      </p:sp>
      <p:sp>
        <p:nvSpPr>
          <p:cNvPr id="4" name="object 4"/>
          <p:cNvSpPr/>
          <p:nvPr/>
        </p:nvSpPr>
        <p:spPr>
          <a:xfrm>
            <a:off x="1549400" y="4235451"/>
            <a:ext cx="6962426" cy="1162048"/>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1544637" y="4230688"/>
            <a:ext cx="7146925" cy="1171575"/>
          </a:xfrm>
          <a:custGeom>
            <a:avLst/>
            <a:gdLst/>
            <a:ahLst/>
            <a:cxnLst/>
            <a:rect l="l" t="t" r="r" b="b"/>
            <a:pathLst>
              <a:path w="7146925" h="1171575">
                <a:moveTo>
                  <a:pt x="0" y="0"/>
                </a:moveTo>
                <a:lnTo>
                  <a:pt x="7146922" y="0"/>
                </a:lnTo>
                <a:lnTo>
                  <a:pt x="7146922" y="1171574"/>
                </a:lnTo>
                <a:lnTo>
                  <a:pt x="0" y="1171574"/>
                </a:lnTo>
                <a:lnTo>
                  <a:pt x="0" y="0"/>
                </a:lnTo>
                <a:close/>
              </a:path>
            </a:pathLst>
          </a:custGeom>
          <a:ln w="9524">
            <a:solidFill>
              <a:srgbClr val="919191"/>
            </a:solidFill>
          </a:ln>
        </p:spPr>
        <p:txBody>
          <a:bodyPr wrap="square" lIns="0" tIns="0" rIns="0" bIns="0" rtlCol="0"/>
          <a:lstStyle/>
          <a:p>
            <a:endParaRPr/>
          </a:p>
        </p:txBody>
      </p:sp>
      <p:sp>
        <p:nvSpPr>
          <p:cNvPr id="7" name="标题 6"/>
          <p:cNvSpPr>
            <a:spLocks noGrp="1"/>
          </p:cNvSpPr>
          <p:nvPr>
            <p:ph type="title"/>
          </p:nvPr>
        </p:nvSpPr>
        <p:spPr/>
        <p:txBody>
          <a:bodyPr/>
          <a:lstStyle/>
          <a:p>
            <a:r>
              <a:rPr lang="zh-CN" altLang="en-US" dirty="0"/>
              <a:t>案例：生命游戏</a:t>
            </a:r>
          </a:p>
        </p:txBody>
      </p:sp>
      <p:sp>
        <p:nvSpPr>
          <p:cNvPr id="6" name="灯片编号占位符 5"/>
          <p:cNvSpPr>
            <a:spLocks noGrp="1"/>
          </p:cNvSpPr>
          <p:nvPr>
            <p:ph type="sldNum" sz="quarter" idx="12"/>
          </p:nvPr>
        </p:nvSpPr>
        <p:spPr/>
        <p:txBody>
          <a:bodyPr/>
          <a:lstStyle/>
          <a:p>
            <a:fld id="{74D2AB8B-5816-41F2-8B4B-CA5C3E4E6A65}" type="slidenum">
              <a:rPr lang="zh-CN" altLang="en-US" smtClean="0"/>
              <a:t>70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8941"/>
    </mc:Choice>
    <mc:Fallback xmlns="">
      <p:transition spd="slow" advTm="18941"/>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39945" y="1464641"/>
            <a:ext cx="3860800" cy="360680"/>
          </a:xfrm>
          <a:prstGeom prst="rect">
            <a:avLst/>
          </a:prstGeom>
        </p:spPr>
        <p:txBody>
          <a:bodyPr vert="horz" wrap="square" lIns="0" tIns="12700" rIns="0" bIns="0" rtlCol="0">
            <a:spAutoFit/>
          </a:bodyPr>
          <a:lstStyle/>
          <a:p>
            <a:pPr marL="12700">
              <a:lnSpc>
                <a:spcPct val="100000"/>
              </a:lnSpc>
              <a:spcBef>
                <a:spcPts val="100"/>
              </a:spcBef>
            </a:pPr>
            <a:r>
              <a:rPr sz="2200" spc="-100" dirty="0">
                <a:solidFill>
                  <a:srgbClr val="CC0000"/>
                </a:solidFill>
                <a:latin typeface="Calibri" panose="020F0502020204030204"/>
                <a:cs typeface="Calibri" panose="020F0502020204030204"/>
              </a:rPr>
              <a:t>bad-­‐builtin:</a:t>
            </a:r>
            <a:r>
              <a:rPr sz="2200" spc="-55" dirty="0">
                <a:solidFill>
                  <a:srgbClr val="CC0000"/>
                </a:solidFill>
                <a:latin typeface="Calibri" panose="020F0502020204030204"/>
                <a:cs typeface="Calibri" panose="020F0502020204030204"/>
              </a:rPr>
              <a:t> </a:t>
            </a:r>
            <a:r>
              <a:rPr sz="2200" dirty="0">
                <a:latin typeface="微软雅黑" panose="020B0503020204020204" pitchFamily="34" charset="-122"/>
                <a:cs typeface="微软雅黑" panose="020B0503020204020204" pitchFamily="34" charset="-122"/>
              </a:rPr>
              <a:t>修改</a:t>
            </a:r>
            <a:r>
              <a:rPr sz="2200" spc="-5" dirty="0">
                <a:latin typeface="Calibri" panose="020F0502020204030204"/>
                <a:cs typeface="Calibri" panose="020F0502020204030204"/>
              </a:rPr>
              <a:t>map</a:t>
            </a:r>
            <a:r>
              <a:rPr sz="2200" dirty="0">
                <a:latin typeface="微软雅黑" panose="020B0503020204020204" pitchFamily="34" charset="-122"/>
                <a:cs typeface="微软雅黑" panose="020B0503020204020204" pitchFamily="34" charset="-122"/>
              </a:rPr>
              <a:t>为列表推导</a:t>
            </a:r>
            <a:endParaRPr sz="2200">
              <a:latin typeface="微软雅黑" panose="020B0503020204020204" pitchFamily="34" charset="-122"/>
              <a:cs typeface="微软雅黑" panose="020B0503020204020204" pitchFamily="34" charset="-122"/>
            </a:endParaRPr>
          </a:p>
        </p:txBody>
      </p:sp>
      <p:sp>
        <p:nvSpPr>
          <p:cNvPr id="4" name="object 4"/>
          <p:cNvSpPr/>
          <p:nvPr/>
        </p:nvSpPr>
        <p:spPr>
          <a:xfrm>
            <a:off x="1147232" y="1951573"/>
            <a:ext cx="9859432" cy="2289229"/>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1142470" y="1946811"/>
            <a:ext cx="9869170" cy="2298700"/>
          </a:xfrm>
          <a:custGeom>
            <a:avLst/>
            <a:gdLst/>
            <a:ahLst/>
            <a:cxnLst/>
            <a:rect l="l" t="t" r="r" b="b"/>
            <a:pathLst>
              <a:path w="9869170" h="2298700">
                <a:moveTo>
                  <a:pt x="0" y="0"/>
                </a:moveTo>
                <a:lnTo>
                  <a:pt x="9869087" y="0"/>
                </a:lnTo>
                <a:lnTo>
                  <a:pt x="9869087" y="2298699"/>
                </a:lnTo>
                <a:lnTo>
                  <a:pt x="0" y="2298699"/>
                </a:lnTo>
                <a:lnTo>
                  <a:pt x="0" y="0"/>
                </a:lnTo>
                <a:close/>
              </a:path>
            </a:pathLst>
          </a:custGeom>
          <a:ln w="9524">
            <a:solidFill>
              <a:srgbClr val="919191"/>
            </a:solidFill>
          </a:ln>
        </p:spPr>
        <p:txBody>
          <a:bodyPr wrap="square" lIns="0" tIns="0" rIns="0" bIns="0" rtlCol="0"/>
          <a:lstStyle/>
          <a:p>
            <a:endParaRPr/>
          </a:p>
        </p:txBody>
      </p:sp>
      <p:sp>
        <p:nvSpPr>
          <p:cNvPr id="6" name="object 6"/>
          <p:cNvSpPr txBox="1"/>
          <p:nvPr/>
        </p:nvSpPr>
        <p:spPr>
          <a:xfrm>
            <a:off x="1140740" y="4416122"/>
            <a:ext cx="5119370" cy="889000"/>
          </a:xfrm>
          <a:prstGeom prst="rect">
            <a:avLst/>
          </a:prstGeom>
        </p:spPr>
        <p:txBody>
          <a:bodyPr vert="horz" wrap="square" lIns="0" tIns="12700" rIns="0" bIns="0" rtlCol="0">
            <a:spAutoFit/>
          </a:bodyPr>
          <a:lstStyle/>
          <a:p>
            <a:pPr marL="12700" marR="5080">
              <a:lnSpc>
                <a:spcPct val="129000"/>
              </a:lnSpc>
              <a:spcBef>
                <a:spcPts val="100"/>
              </a:spcBef>
            </a:pPr>
            <a:r>
              <a:rPr sz="2200" spc="-100" dirty="0">
                <a:solidFill>
                  <a:srgbClr val="CC0000"/>
                </a:solidFill>
                <a:latin typeface="Calibri" panose="020F0502020204030204"/>
                <a:cs typeface="Calibri" panose="020F0502020204030204"/>
              </a:rPr>
              <a:t>bare-­‐except:</a:t>
            </a:r>
            <a:r>
              <a:rPr sz="2200" spc="-25" dirty="0">
                <a:solidFill>
                  <a:srgbClr val="CC0000"/>
                </a:solidFill>
                <a:latin typeface="Calibri" panose="020F0502020204030204"/>
                <a:cs typeface="Calibri" panose="020F0502020204030204"/>
              </a:rPr>
              <a:t> </a:t>
            </a:r>
            <a:r>
              <a:rPr sz="2200" dirty="0">
                <a:latin typeface="微软雅黑" panose="020B0503020204020204" pitchFamily="34" charset="-122"/>
                <a:cs typeface="微软雅黑" panose="020B0503020204020204" pitchFamily="34" charset="-122"/>
              </a:rPr>
              <a:t>这里我们对特定文件</a:t>
            </a:r>
            <a:r>
              <a:rPr sz="2200" spc="-5" dirty="0">
                <a:latin typeface="Calibri" panose="020F0502020204030204"/>
                <a:cs typeface="Calibri" panose="020F0502020204030204"/>
              </a:rPr>
              <a:t>(main.py)  </a:t>
            </a:r>
            <a:r>
              <a:rPr sz="2200" dirty="0">
                <a:latin typeface="微软雅黑" panose="020B0503020204020204" pitchFamily="34" charset="-122"/>
                <a:cs typeface="微软雅黑" panose="020B0503020204020204" pitchFamily="34" charset="-122"/>
              </a:rPr>
              <a:t>关闭该检查，并在文件开头加注释</a:t>
            </a:r>
            <a:endParaRPr sz="2200">
              <a:latin typeface="微软雅黑" panose="020B0503020204020204" pitchFamily="34" charset="-122"/>
              <a:cs typeface="微软雅黑" panose="020B0503020204020204" pitchFamily="34" charset="-122"/>
            </a:endParaRPr>
          </a:p>
        </p:txBody>
      </p:sp>
      <p:sp>
        <p:nvSpPr>
          <p:cNvPr id="7" name="object 7"/>
          <p:cNvSpPr/>
          <p:nvPr/>
        </p:nvSpPr>
        <p:spPr>
          <a:xfrm>
            <a:off x="6899626" y="4360336"/>
            <a:ext cx="4123974" cy="1481667"/>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6894862" y="4355574"/>
            <a:ext cx="4133850" cy="1491615"/>
          </a:xfrm>
          <a:custGeom>
            <a:avLst/>
            <a:gdLst/>
            <a:ahLst/>
            <a:cxnLst/>
            <a:rect l="l" t="t" r="r" b="b"/>
            <a:pathLst>
              <a:path w="4133850" h="1491614">
                <a:moveTo>
                  <a:pt x="0" y="0"/>
                </a:moveTo>
                <a:lnTo>
                  <a:pt x="4133451" y="0"/>
                </a:lnTo>
                <a:lnTo>
                  <a:pt x="4133451" y="1491059"/>
                </a:lnTo>
                <a:lnTo>
                  <a:pt x="0" y="1491059"/>
                </a:lnTo>
                <a:lnTo>
                  <a:pt x="0" y="0"/>
                </a:lnTo>
                <a:close/>
              </a:path>
            </a:pathLst>
          </a:custGeom>
          <a:ln w="9524">
            <a:solidFill>
              <a:srgbClr val="919191"/>
            </a:solidFill>
          </a:ln>
        </p:spPr>
        <p:txBody>
          <a:bodyPr wrap="square" lIns="0" tIns="0" rIns="0" bIns="0" rtlCol="0"/>
          <a:lstStyle/>
          <a:p>
            <a:endParaRPr/>
          </a:p>
        </p:txBody>
      </p:sp>
      <p:sp>
        <p:nvSpPr>
          <p:cNvPr id="10" name="标题 9"/>
          <p:cNvSpPr>
            <a:spLocks noGrp="1"/>
          </p:cNvSpPr>
          <p:nvPr>
            <p:ph type="title"/>
          </p:nvPr>
        </p:nvSpPr>
        <p:spPr/>
        <p:txBody>
          <a:bodyPr/>
          <a:lstStyle/>
          <a:p>
            <a:r>
              <a:rPr lang="zh-CN" altLang="en-US" dirty="0"/>
              <a:t>案例：生命游戏</a:t>
            </a:r>
          </a:p>
        </p:txBody>
      </p:sp>
      <p:sp>
        <p:nvSpPr>
          <p:cNvPr id="9" name="灯片编号占位符 8"/>
          <p:cNvSpPr>
            <a:spLocks noGrp="1"/>
          </p:cNvSpPr>
          <p:nvPr>
            <p:ph type="sldNum" sz="quarter" idx="12"/>
          </p:nvPr>
        </p:nvSpPr>
        <p:spPr/>
        <p:txBody>
          <a:bodyPr/>
          <a:lstStyle/>
          <a:p>
            <a:fld id="{74D2AB8B-5816-41F2-8B4B-CA5C3E4E6A65}" type="slidenum">
              <a:rPr lang="zh-CN" altLang="en-US" smtClean="0"/>
              <a:t>71</a:t>
            </a:fld>
            <a:endParaRPr lang="zh-CN" altLang="en-US"/>
          </a:p>
        </p:txBody>
      </p:sp>
      <p:sp>
        <p:nvSpPr>
          <p:cNvPr id="2" name="矩形 1">
            <a:extLst>
              <a:ext uri="{FF2B5EF4-FFF2-40B4-BE49-F238E27FC236}">
                <a16:creationId xmlns:a16="http://schemas.microsoft.com/office/drawing/2014/main" id="{D027D108-47A9-44DF-A739-32C7773D51DE}"/>
              </a:ext>
            </a:extLst>
          </p:cNvPr>
          <p:cNvSpPr/>
          <p:nvPr/>
        </p:nvSpPr>
        <p:spPr>
          <a:xfrm>
            <a:off x="4890655" y="3726873"/>
            <a:ext cx="3719945" cy="28401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7458"/>
    </mc:Choice>
    <mc:Fallback xmlns="">
      <p:transition spd="slow" advTm="27458"/>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65307"/>
            <a:ext cx="2514600" cy="452120"/>
          </a:xfrm>
          <a:prstGeom prst="rect">
            <a:avLst/>
          </a:prstGeom>
        </p:spPr>
        <p:txBody>
          <a:bodyPr vert="horz" wrap="square" lIns="0" tIns="12700" rIns="0" bIns="0" rtlCol="0">
            <a:spAutoFit/>
          </a:bodyPr>
          <a:lstStyle/>
          <a:p>
            <a:pPr marL="12700">
              <a:lnSpc>
                <a:spcPct val="100000"/>
              </a:lnSpc>
              <a:spcBef>
                <a:spcPts val="100"/>
              </a:spcBef>
            </a:pPr>
            <a:r>
              <a:rPr dirty="0"/>
              <a:t>案例：生命游戏</a:t>
            </a:r>
          </a:p>
        </p:txBody>
      </p:sp>
      <p:sp>
        <p:nvSpPr>
          <p:cNvPr id="3" name="object 3"/>
          <p:cNvSpPr/>
          <p:nvPr/>
        </p:nvSpPr>
        <p:spPr>
          <a:xfrm>
            <a:off x="1249166" y="1678803"/>
            <a:ext cx="3558016" cy="1140563"/>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1339850" y="3200397"/>
            <a:ext cx="8496298" cy="1066799"/>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1335087" y="3195634"/>
            <a:ext cx="8505825" cy="1076325"/>
          </a:xfrm>
          <a:custGeom>
            <a:avLst/>
            <a:gdLst/>
            <a:ahLst/>
            <a:cxnLst/>
            <a:rect l="l" t="t" r="r" b="b"/>
            <a:pathLst>
              <a:path w="8505825" h="1076325">
                <a:moveTo>
                  <a:pt x="0" y="0"/>
                </a:moveTo>
                <a:lnTo>
                  <a:pt x="8505822" y="0"/>
                </a:lnTo>
                <a:lnTo>
                  <a:pt x="8505822" y="1076324"/>
                </a:lnTo>
                <a:lnTo>
                  <a:pt x="0" y="1076324"/>
                </a:lnTo>
                <a:lnTo>
                  <a:pt x="0" y="0"/>
                </a:lnTo>
                <a:close/>
              </a:path>
            </a:pathLst>
          </a:custGeom>
          <a:ln w="9524">
            <a:solidFill>
              <a:srgbClr val="919191"/>
            </a:solidFill>
          </a:ln>
        </p:spPr>
        <p:txBody>
          <a:bodyPr wrap="square" lIns="0" tIns="0" rIns="0" bIns="0" rtlCol="0"/>
          <a:lstStyle/>
          <a:p>
            <a:endParaRPr/>
          </a:p>
        </p:txBody>
      </p:sp>
      <p:sp>
        <p:nvSpPr>
          <p:cNvPr id="6" name="object 6"/>
          <p:cNvSpPr/>
          <p:nvPr/>
        </p:nvSpPr>
        <p:spPr>
          <a:xfrm>
            <a:off x="1354667" y="4559297"/>
            <a:ext cx="5192667" cy="740832"/>
          </a:xfrm>
          <a:prstGeom prst="rect">
            <a:avLst/>
          </a:prstGeom>
          <a:blipFill>
            <a:blip r:embed="rId5" cstate="print"/>
            <a:stretch>
              <a:fillRect/>
            </a:stretch>
          </a:blipFill>
        </p:spPr>
        <p:txBody>
          <a:bodyPr wrap="square" lIns="0" tIns="0" rIns="0" bIns="0" rtlCol="0"/>
          <a:lstStyle/>
          <a:p>
            <a:endParaRPr/>
          </a:p>
        </p:txBody>
      </p:sp>
      <p:sp>
        <p:nvSpPr>
          <p:cNvPr id="7" name="object 7"/>
          <p:cNvSpPr/>
          <p:nvPr/>
        </p:nvSpPr>
        <p:spPr>
          <a:xfrm>
            <a:off x="1349904" y="4554534"/>
            <a:ext cx="5305425" cy="750570"/>
          </a:xfrm>
          <a:custGeom>
            <a:avLst/>
            <a:gdLst/>
            <a:ahLst/>
            <a:cxnLst/>
            <a:rect l="l" t="t" r="r" b="b"/>
            <a:pathLst>
              <a:path w="5305425" h="750570">
                <a:moveTo>
                  <a:pt x="0" y="0"/>
                </a:moveTo>
                <a:lnTo>
                  <a:pt x="5305026" y="0"/>
                </a:lnTo>
                <a:lnTo>
                  <a:pt x="5305026" y="750490"/>
                </a:lnTo>
                <a:lnTo>
                  <a:pt x="0" y="750490"/>
                </a:lnTo>
                <a:lnTo>
                  <a:pt x="0" y="0"/>
                </a:lnTo>
                <a:close/>
              </a:path>
            </a:pathLst>
          </a:custGeom>
          <a:ln w="9524">
            <a:solidFill>
              <a:srgbClr val="919191"/>
            </a:solidFill>
          </a:ln>
        </p:spPr>
        <p:txBody>
          <a:bodyPr wrap="square" lIns="0" tIns="0" rIns="0" bIns="0" rtlCol="0"/>
          <a:lstStyle/>
          <a:p>
            <a:endParaRPr/>
          </a:p>
        </p:txBody>
      </p:sp>
      <p:sp>
        <p:nvSpPr>
          <p:cNvPr id="9" name="灯片编号占位符 8"/>
          <p:cNvSpPr>
            <a:spLocks noGrp="1"/>
          </p:cNvSpPr>
          <p:nvPr>
            <p:ph type="sldNum" sz="quarter" idx="7"/>
          </p:nvPr>
        </p:nvSpPr>
        <p:spPr/>
        <p:txBody>
          <a:bodyPr/>
          <a:lstStyle/>
          <a:p>
            <a:fld id="{B6F15528-21DE-4FAA-801E-634DDDAF4B2B}" type="slidenum">
              <a:rPr lang="en-US" altLang="zh-CN" smtClean="0"/>
              <a:t>72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7708"/>
    </mc:Choice>
    <mc:Fallback xmlns="">
      <p:transition spd="slow" advTm="7708"/>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66355" y="2194863"/>
            <a:ext cx="1530769" cy="2699583"/>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3013520" y="1587308"/>
            <a:ext cx="8112125" cy="4445000"/>
          </a:xfrm>
          <a:prstGeom prst="rect">
            <a:avLst/>
          </a:prstGeom>
        </p:spPr>
        <p:txBody>
          <a:bodyPr vert="horz" wrap="square" lIns="0" tIns="12700" rIns="0" bIns="0" rtlCol="0">
            <a:spAutoFit/>
          </a:bodyPr>
          <a:lstStyle/>
          <a:p>
            <a:pPr marL="355600" marR="13335" indent="-342900" algn="just">
              <a:lnSpc>
                <a:spcPct val="125000"/>
              </a:lnSpc>
              <a:spcBef>
                <a:spcPts val="100"/>
              </a:spcBef>
              <a:buChar char="•"/>
              <a:tabLst>
                <a:tab pos="356235" algn="l"/>
              </a:tabLst>
            </a:pPr>
            <a:r>
              <a:rPr sz="2200" dirty="0">
                <a:solidFill>
                  <a:srgbClr val="0033CC"/>
                </a:solidFill>
                <a:latin typeface="Arial" panose="020B0604020202020204"/>
                <a:cs typeface="Arial" panose="020B0604020202020204"/>
              </a:rPr>
              <a:t>Checkstyle</a:t>
            </a:r>
            <a:r>
              <a:rPr sz="2200" dirty="0">
                <a:solidFill>
                  <a:srgbClr val="0033CC"/>
                </a:solidFill>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通过对代码编码格式、命名约定、</a:t>
            </a:r>
            <a:r>
              <a:rPr sz="2200" dirty="0">
                <a:latin typeface="Arial" panose="020B0604020202020204"/>
                <a:cs typeface="Arial" panose="020B0604020202020204"/>
              </a:rPr>
              <a:t>Javadoc</a:t>
            </a:r>
            <a:r>
              <a:rPr sz="2200" dirty="0">
                <a:latin typeface="微软雅黑" panose="020B0503020204020204" pitchFamily="34" charset="-122"/>
                <a:cs typeface="微软雅黑" panose="020B0503020204020204" pitchFamily="34" charset="-122"/>
              </a:rPr>
              <a:t>、类设 计等方面进行代码规范和风格的检查。</a:t>
            </a:r>
          </a:p>
          <a:p>
            <a:pPr marL="355600" marR="8890" indent="-342900" algn="just">
              <a:lnSpc>
                <a:spcPct val="125000"/>
              </a:lnSpc>
              <a:spcBef>
                <a:spcPts val="600"/>
              </a:spcBef>
              <a:buChar char="•"/>
              <a:tabLst>
                <a:tab pos="358140" algn="l"/>
              </a:tabLst>
            </a:pPr>
            <a:r>
              <a:rPr sz="2200" spc="35" dirty="0">
                <a:solidFill>
                  <a:srgbClr val="0033CC"/>
                </a:solidFill>
                <a:latin typeface="Arial" panose="020B0604020202020204"/>
                <a:cs typeface="Arial" panose="020B0604020202020204"/>
              </a:rPr>
              <a:t>FindBugs</a:t>
            </a:r>
            <a:r>
              <a:rPr sz="2200" spc="35" dirty="0">
                <a:solidFill>
                  <a:srgbClr val="0033CC"/>
                </a:solidFill>
                <a:latin typeface="微软雅黑" panose="020B0503020204020204" pitchFamily="34" charset="-122"/>
                <a:cs typeface="微软雅黑" panose="020B0503020204020204" pitchFamily="34" charset="-122"/>
              </a:rPr>
              <a:t>：</a:t>
            </a:r>
            <a:r>
              <a:rPr sz="2200" spc="35" dirty="0">
                <a:latin typeface="微软雅黑" panose="020B0503020204020204" pitchFamily="34" charset="-122"/>
                <a:cs typeface="微软雅黑" panose="020B0503020204020204" pitchFamily="34" charset="-122"/>
              </a:rPr>
              <a:t>通过检查类文件</a:t>
            </a:r>
            <a:r>
              <a:rPr sz="2200" spc="40" dirty="0">
                <a:latin typeface="微软雅黑" panose="020B0503020204020204" pitchFamily="34" charset="-122"/>
                <a:cs typeface="微软雅黑" panose="020B0503020204020204" pitchFamily="34" charset="-122"/>
              </a:rPr>
              <a:t>或</a:t>
            </a:r>
            <a:r>
              <a:rPr sz="2200" spc="35" dirty="0">
                <a:latin typeface="Arial" panose="020B0604020202020204"/>
                <a:cs typeface="Arial" panose="020B0604020202020204"/>
              </a:rPr>
              <a:t>JAR</a:t>
            </a:r>
            <a:r>
              <a:rPr sz="2200" spc="35" dirty="0">
                <a:latin typeface="微软雅黑" panose="020B0503020204020204" pitchFamily="34" charset="-122"/>
                <a:cs typeface="微软雅黑" panose="020B0503020204020204" pitchFamily="34" charset="-122"/>
              </a:rPr>
              <a:t>文件，将字节码与一组缺陷 </a:t>
            </a:r>
            <a:r>
              <a:rPr sz="2200" dirty="0">
                <a:latin typeface="微软雅黑" panose="020B0503020204020204" pitchFamily="34" charset="-122"/>
                <a:cs typeface="微软雅黑" panose="020B0503020204020204" pitchFamily="34" charset="-122"/>
              </a:rPr>
              <a:t>模式进行对比从而发现代码缺陷，完成静态代码分析。</a:t>
            </a:r>
          </a:p>
          <a:p>
            <a:pPr marL="355600" marR="5080" indent="-342900" algn="just">
              <a:lnSpc>
                <a:spcPct val="125000"/>
              </a:lnSpc>
              <a:spcBef>
                <a:spcPts val="600"/>
              </a:spcBef>
              <a:buChar char="•"/>
              <a:tabLst>
                <a:tab pos="357505" algn="l"/>
              </a:tabLst>
            </a:pPr>
            <a:r>
              <a:rPr sz="2200" spc="25" dirty="0">
                <a:solidFill>
                  <a:srgbClr val="0033CC"/>
                </a:solidFill>
                <a:latin typeface="Arial" panose="020B0604020202020204"/>
                <a:cs typeface="Arial" panose="020B0604020202020204"/>
              </a:rPr>
              <a:t>PMD</a:t>
            </a:r>
            <a:r>
              <a:rPr sz="2200" spc="25" dirty="0">
                <a:solidFill>
                  <a:srgbClr val="0033CC"/>
                </a:solidFill>
                <a:latin typeface="微软雅黑" panose="020B0503020204020204" pitchFamily="34" charset="-122"/>
                <a:cs typeface="微软雅黑" panose="020B0503020204020204" pitchFamily="34" charset="-122"/>
              </a:rPr>
              <a:t>：</a:t>
            </a:r>
            <a:r>
              <a:rPr sz="2200" spc="25" dirty="0">
                <a:latin typeface="微软雅黑" panose="020B0503020204020204" pitchFamily="34" charset="-122"/>
                <a:cs typeface="微软雅黑" panose="020B0503020204020204" pitchFamily="34" charset="-122"/>
              </a:rPr>
              <a:t>通过其内置的编码规则对</a:t>
            </a:r>
            <a:r>
              <a:rPr sz="2200" spc="25" dirty="0">
                <a:latin typeface="Arial" panose="020B0604020202020204"/>
                <a:cs typeface="Arial" panose="020B0604020202020204"/>
              </a:rPr>
              <a:t>Java</a:t>
            </a:r>
            <a:r>
              <a:rPr sz="2200" spc="25" dirty="0">
                <a:latin typeface="微软雅黑" panose="020B0503020204020204" pitchFamily="34" charset="-122"/>
                <a:cs typeface="微软雅黑" panose="020B0503020204020204" pitchFamily="34" charset="-122"/>
              </a:rPr>
              <a:t>代码进行静态检查，主要 </a:t>
            </a:r>
            <a:r>
              <a:rPr sz="2200" spc="70" dirty="0">
                <a:latin typeface="微软雅黑" panose="020B0503020204020204" pitchFamily="34" charset="-122"/>
                <a:cs typeface="微软雅黑" panose="020B0503020204020204" pitchFamily="34" charset="-122"/>
              </a:rPr>
              <a:t>包括对潜在的</a:t>
            </a:r>
            <a:r>
              <a:rPr sz="2200" spc="70" dirty="0">
                <a:latin typeface="Arial" panose="020B0604020202020204"/>
                <a:cs typeface="Arial" panose="020B0604020202020204"/>
              </a:rPr>
              <a:t>Bug</a:t>
            </a:r>
            <a:r>
              <a:rPr sz="2200" spc="70" dirty="0">
                <a:latin typeface="微软雅黑" panose="020B0503020204020204" pitchFamily="34" charset="-122"/>
                <a:cs typeface="微软雅黑" panose="020B0503020204020204" pitchFamily="34" charset="-122"/>
              </a:rPr>
              <a:t>、未使用的代码、重复的代码、循环体创建 </a:t>
            </a:r>
            <a:r>
              <a:rPr sz="2200" dirty="0">
                <a:latin typeface="微软雅黑" panose="020B0503020204020204" pitchFamily="34" charset="-122"/>
                <a:cs typeface="微软雅黑" panose="020B0503020204020204" pitchFamily="34" charset="-122"/>
              </a:rPr>
              <a:t>新对象等问题的检验。</a:t>
            </a:r>
          </a:p>
          <a:p>
            <a:pPr marL="355600" marR="6985" indent="-342900" algn="just">
              <a:lnSpc>
                <a:spcPct val="125000"/>
              </a:lnSpc>
              <a:spcBef>
                <a:spcPts val="600"/>
              </a:spcBef>
              <a:buChar char="•"/>
              <a:tabLst>
                <a:tab pos="359410" algn="l"/>
              </a:tabLst>
            </a:pPr>
            <a:r>
              <a:rPr sz="2200" spc="50" dirty="0">
                <a:solidFill>
                  <a:srgbClr val="0033CC"/>
                </a:solidFill>
                <a:latin typeface="Arial" panose="020B0604020202020204"/>
                <a:cs typeface="Arial" panose="020B0604020202020204"/>
              </a:rPr>
              <a:t>Jtest</a:t>
            </a:r>
            <a:r>
              <a:rPr sz="2200" spc="50" dirty="0">
                <a:solidFill>
                  <a:srgbClr val="0033CC"/>
                </a:solidFill>
                <a:latin typeface="微软雅黑" panose="020B0503020204020204" pitchFamily="34" charset="-122"/>
                <a:cs typeface="微软雅黑" panose="020B0503020204020204" pitchFamily="34" charset="-122"/>
              </a:rPr>
              <a:t>：</a:t>
            </a:r>
            <a:r>
              <a:rPr sz="2200" spc="50" dirty="0">
                <a:latin typeface="微软雅黑" panose="020B0503020204020204" pitchFamily="34" charset="-122"/>
                <a:cs typeface="微软雅黑" panose="020B0503020204020204" pitchFamily="34" charset="-122"/>
              </a:rPr>
              <a:t>能够按照其内置的超过</a:t>
            </a:r>
            <a:r>
              <a:rPr sz="2200" spc="50" dirty="0">
                <a:latin typeface="Arial" panose="020B0604020202020204"/>
                <a:cs typeface="Arial" panose="020B0604020202020204"/>
              </a:rPr>
              <a:t>800</a:t>
            </a:r>
            <a:r>
              <a:rPr sz="2200" spc="50" dirty="0">
                <a:latin typeface="微软雅黑" panose="020B0503020204020204" pitchFamily="34" charset="-122"/>
                <a:cs typeface="微软雅黑" panose="020B0503020204020204" pitchFamily="34" charset="-122"/>
              </a:rPr>
              <a:t>条的</a:t>
            </a:r>
            <a:r>
              <a:rPr sz="2200" spc="50" dirty="0">
                <a:latin typeface="Arial" panose="020B0604020202020204"/>
                <a:cs typeface="Arial" panose="020B0604020202020204"/>
              </a:rPr>
              <a:t>Java</a:t>
            </a:r>
            <a:r>
              <a:rPr sz="2200" spc="50" dirty="0">
                <a:latin typeface="微软雅黑" panose="020B0503020204020204" pitchFamily="34" charset="-122"/>
                <a:cs typeface="微软雅黑" panose="020B0503020204020204" pitchFamily="34" charset="-122"/>
              </a:rPr>
              <a:t>编码规范自动检查 </a:t>
            </a:r>
            <a:r>
              <a:rPr sz="2200" spc="55" dirty="0">
                <a:latin typeface="微软雅黑" panose="020B0503020204020204" pitchFamily="34" charset="-122"/>
                <a:cs typeface="微软雅黑" panose="020B0503020204020204" pitchFamily="34" charset="-122"/>
              </a:rPr>
              <a:t>并纠正这些隐蔽且难以修复的编码错误，同时还支持用户自定 </a:t>
            </a:r>
            <a:r>
              <a:rPr sz="2200" dirty="0">
                <a:latin typeface="微软雅黑" panose="020B0503020204020204" pitchFamily="34" charset="-122"/>
                <a:cs typeface="微软雅黑" panose="020B0503020204020204" pitchFamily="34" charset="-122"/>
              </a:rPr>
              <a:t>义编码规则，帮助用户预防一些特殊用法的错误。</a:t>
            </a:r>
          </a:p>
        </p:txBody>
      </p:sp>
      <p:sp>
        <p:nvSpPr>
          <p:cNvPr id="6" name="标题 5"/>
          <p:cNvSpPr>
            <a:spLocks noGrp="1"/>
          </p:cNvSpPr>
          <p:nvPr>
            <p:ph type="title"/>
          </p:nvPr>
        </p:nvSpPr>
        <p:spPr/>
        <p:txBody>
          <a:bodyPr/>
          <a:lstStyle/>
          <a:p>
            <a:r>
              <a:rPr lang="zh-CN" altLang="en-US" dirty="0"/>
              <a:t>代码静态分析工具</a:t>
            </a:r>
          </a:p>
        </p:txBody>
      </p:sp>
      <p:sp>
        <p:nvSpPr>
          <p:cNvPr id="5" name="灯片编号占位符 4"/>
          <p:cNvSpPr>
            <a:spLocks noGrp="1"/>
          </p:cNvSpPr>
          <p:nvPr>
            <p:ph type="sldNum" sz="quarter" idx="12"/>
          </p:nvPr>
        </p:nvSpPr>
        <p:spPr/>
        <p:txBody>
          <a:bodyPr/>
          <a:lstStyle/>
          <a:p>
            <a:fld id="{74D2AB8B-5816-41F2-8B4B-CA5C3E4E6A65}" type="slidenum">
              <a:rPr lang="zh-CN" altLang="en-US" smtClean="0"/>
              <a:t>73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5262"/>
    </mc:Choice>
    <mc:Fallback xmlns="">
      <p:transition spd="slow" advTm="15262"/>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65483" y="1807958"/>
            <a:ext cx="1625599" cy="1625600"/>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3503755" y="1448596"/>
            <a:ext cx="7759700" cy="4343400"/>
          </a:xfrm>
          <a:prstGeom prst="rect">
            <a:avLst/>
          </a:prstGeom>
        </p:spPr>
        <p:txBody>
          <a:bodyPr vert="horz" wrap="square" lIns="0" tIns="12700" rIns="0" bIns="0" rtlCol="0">
            <a:spAutoFit/>
          </a:bodyPr>
          <a:lstStyle/>
          <a:p>
            <a:pPr marL="355600" marR="258445" indent="-342900" algn="just">
              <a:lnSpc>
                <a:spcPct val="117000"/>
              </a:lnSpc>
              <a:spcBef>
                <a:spcPts val="100"/>
              </a:spcBef>
              <a:buFont typeface="Arial" panose="020B0604020202020204"/>
              <a:buChar char="•"/>
              <a:tabLst>
                <a:tab pos="355600" algn="l"/>
              </a:tabLst>
            </a:pPr>
            <a:r>
              <a:rPr sz="2000" dirty="0">
                <a:latin typeface="微软雅黑" panose="020B0503020204020204" pitchFamily="34" charset="-122"/>
                <a:cs typeface="微软雅黑" panose="020B0503020204020204" pitchFamily="34" charset="-122"/>
              </a:rPr>
              <a:t>微软</a:t>
            </a:r>
            <a:r>
              <a:rPr sz="2000" spc="-10" dirty="0">
                <a:latin typeface="Arial" panose="020B0604020202020204"/>
                <a:cs typeface="Arial" panose="020B0604020202020204"/>
              </a:rPr>
              <a:t>Visual</a:t>
            </a:r>
            <a:r>
              <a:rPr sz="2000" spc="505" dirty="0">
                <a:latin typeface="Arial" panose="020B0604020202020204"/>
                <a:cs typeface="Arial" panose="020B0604020202020204"/>
              </a:rPr>
              <a:t> </a:t>
            </a:r>
            <a:r>
              <a:rPr sz="2000" spc="-5" dirty="0">
                <a:latin typeface="Arial" panose="020B0604020202020204"/>
                <a:cs typeface="Arial" panose="020B0604020202020204"/>
              </a:rPr>
              <a:t>Studio</a:t>
            </a:r>
            <a:r>
              <a:rPr sz="2000" dirty="0">
                <a:latin typeface="微软雅黑" panose="020B0503020204020204" pitchFamily="34" charset="-122"/>
                <a:cs typeface="微软雅黑" panose="020B0503020204020204" pitchFamily="34" charset="-122"/>
              </a:rPr>
              <a:t>中的代码分析工具可以检查代码中是否存在一 些常见缺陷和违反良好编程习惯的情况。</a:t>
            </a:r>
          </a:p>
          <a:p>
            <a:pPr marL="355600" marR="254635" indent="-342900" algn="just">
              <a:lnSpc>
                <a:spcPct val="121000"/>
              </a:lnSpc>
              <a:spcBef>
                <a:spcPts val="600"/>
              </a:spcBef>
              <a:buChar char="•"/>
              <a:tabLst>
                <a:tab pos="358140" algn="l"/>
              </a:tabLst>
            </a:pPr>
            <a:r>
              <a:rPr sz="2000" spc="30" dirty="0">
                <a:latin typeface="Arial" panose="020B0604020202020204"/>
                <a:cs typeface="Arial" panose="020B0604020202020204"/>
              </a:rPr>
              <a:t>Lint</a:t>
            </a:r>
            <a:r>
              <a:rPr sz="2000" spc="30" dirty="0">
                <a:latin typeface="微软雅黑" panose="020B0503020204020204" pitchFamily="34" charset="-122"/>
                <a:cs typeface="微软雅黑" panose="020B0503020204020204" pitchFamily="34" charset="-122"/>
              </a:rPr>
              <a:t>是一种静态程序分析工具，目前已形成了一系列工具。它侧 </a:t>
            </a:r>
            <a:r>
              <a:rPr sz="2000" spc="5" dirty="0">
                <a:latin typeface="微软雅黑" panose="020B0503020204020204" pitchFamily="34" charset="-122"/>
                <a:cs typeface="微软雅黑" panose="020B0503020204020204" pitchFamily="34" charset="-122"/>
              </a:rPr>
              <a:t>重于代码的逻辑分析，发现代码中一些潜在的错误，如数组访问 </a:t>
            </a:r>
            <a:r>
              <a:rPr sz="2000" dirty="0">
                <a:latin typeface="微软雅黑" panose="020B0503020204020204" pitchFamily="34" charset="-122"/>
                <a:cs typeface="微软雅黑" panose="020B0503020204020204" pitchFamily="34" charset="-122"/>
              </a:rPr>
              <a:t>越界、内存泄漏、使用未初始化变量等。</a:t>
            </a:r>
          </a:p>
          <a:p>
            <a:pPr marL="355600" marR="259080" indent="-342900" algn="just">
              <a:lnSpc>
                <a:spcPct val="117000"/>
              </a:lnSpc>
              <a:spcBef>
                <a:spcPts val="700"/>
              </a:spcBef>
              <a:buChar char="•"/>
              <a:tabLst>
                <a:tab pos="357505" algn="l"/>
              </a:tabLst>
            </a:pPr>
            <a:r>
              <a:rPr sz="2000" spc="15" dirty="0">
                <a:solidFill>
                  <a:srgbClr val="0033CC"/>
                </a:solidFill>
                <a:latin typeface="Arial" panose="020B0604020202020204"/>
                <a:cs typeface="Arial" panose="020B0604020202020204"/>
              </a:rPr>
              <a:t>JSHint</a:t>
            </a:r>
            <a:r>
              <a:rPr sz="2000" spc="15" dirty="0">
                <a:solidFill>
                  <a:srgbClr val="0033CC"/>
                </a:solidFill>
                <a:latin typeface="微软雅黑" panose="020B0503020204020204" pitchFamily="34" charset="-122"/>
                <a:cs typeface="微软雅黑" panose="020B0503020204020204" pitchFamily="34" charset="-122"/>
              </a:rPr>
              <a:t>（</a:t>
            </a:r>
            <a:r>
              <a:rPr sz="2000" spc="15" dirty="0">
                <a:solidFill>
                  <a:srgbClr val="0033CC"/>
                </a:solidFill>
                <a:latin typeface="Arial" panose="020B0604020202020204"/>
                <a:cs typeface="Arial" panose="020B0604020202020204"/>
                <a:hlinkClick r:id="rId4"/>
              </a:rPr>
              <a:t>www.jshint.com</a:t>
            </a:r>
            <a:r>
              <a:rPr sz="2000" spc="15" dirty="0">
                <a:solidFill>
                  <a:srgbClr val="0033CC"/>
                </a:solidFill>
                <a:latin typeface="微软雅黑" panose="020B0503020204020204" pitchFamily="34" charset="-122"/>
                <a:cs typeface="微软雅黑" panose="020B0503020204020204" pitchFamily="34" charset="-122"/>
              </a:rPr>
              <a:t>）</a:t>
            </a:r>
            <a:r>
              <a:rPr sz="2000" spc="25" dirty="0">
                <a:latin typeface="微软雅黑" panose="020B0503020204020204" pitchFamily="34" charset="-122"/>
                <a:cs typeface="微软雅黑" panose="020B0503020204020204" pitchFamily="34" charset="-122"/>
              </a:rPr>
              <a:t>是一款</a:t>
            </a:r>
            <a:r>
              <a:rPr sz="2000" spc="25" dirty="0">
                <a:latin typeface="Arial" panose="020B0604020202020204"/>
                <a:cs typeface="Arial" panose="020B0604020202020204"/>
              </a:rPr>
              <a:t>JavaScript</a:t>
            </a:r>
            <a:r>
              <a:rPr sz="2000" spc="25" dirty="0">
                <a:latin typeface="微软雅黑" panose="020B0503020204020204" pitchFamily="34" charset="-122"/>
                <a:cs typeface="微软雅黑" panose="020B0503020204020204" pitchFamily="34" charset="-122"/>
              </a:rPr>
              <a:t>代码验证工具，</a:t>
            </a:r>
            <a:r>
              <a:rPr sz="2000" dirty="0">
                <a:latin typeface="微软雅黑" panose="020B0503020204020204" pitchFamily="34" charset="-122"/>
                <a:cs typeface="微软雅黑" panose="020B0503020204020204" pitchFamily="34" charset="-122"/>
              </a:rPr>
              <a:t>用 于检测代码中的错误和潜在问题。</a:t>
            </a:r>
          </a:p>
          <a:p>
            <a:pPr marL="355600" marR="252730" indent="-342900">
              <a:lnSpc>
                <a:spcPct val="121000"/>
              </a:lnSpc>
              <a:spcBef>
                <a:spcPts val="600"/>
              </a:spcBef>
              <a:buChar char="•"/>
              <a:tabLst>
                <a:tab pos="358140" algn="l"/>
                <a:tab pos="358775" algn="l"/>
              </a:tabLst>
            </a:pPr>
            <a:r>
              <a:rPr sz="2000" spc="45" dirty="0">
                <a:solidFill>
                  <a:srgbClr val="0033CC"/>
                </a:solidFill>
                <a:latin typeface="Arial" panose="020B0604020202020204"/>
                <a:cs typeface="Arial" panose="020B0604020202020204"/>
              </a:rPr>
              <a:t>CSSLint</a:t>
            </a:r>
            <a:r>
              <a:rPr sz="2000" spc="45" dirty="0">
                <a:solidFill>
                  <a:srgbClr val="0033CC"/>
                </a:solidFill>
                <a:latin typeface="微软雅黑" panose="020B0503020204020204" pitchFamily="34" charset="-122"/>
                <a:cs typeface="微软雅黑" panose="020B0503020204020204" pitchFamily="34" charset="-122"/>
              </a:rPr>
              <a:t>（</a:t>
            </a:r>
            <a:r>
              <a:rPr sz="2000" spc="45" dirty="0">
                <a:solidFill>
                  <a:srgbClr val="0033CC"/>
                </a:solidFill>
                <a:latin typeface="Arial" panose="020B0604020202020204"/>
                <a:cs typeface="Arial" panose="020B0604020202020204"/>
              </a:rPr>
              <a:t>csslint.net</a:t>
            </a:r>
            <a:r>
              <a:rPr sz="2000" spc="45" dirty="0">
                <a:solidFill>
                  <a:srgbClr val="0033CC"/>
                </a:solidFill>
                <a:latin typeface="微软雅黑" panose="020B0503020204020204" pitchFamily="34" charset="-122"/>
                <a:cs typeface="微软雅黑" panose="020B0503020204020204" pitchFamily="34" charset="-122"/>
              </a:rPr>
              <a:t>）</a:t>
            </a:r>
            <a:r>
              <a:rPr sz="2000" spc="45" dirty="0">
                <a:latin typeface="微软雅黑" panose="020B0503020204020204" pitchFamily="34" charset="-122"/>
                <a:cs typeface="微软雅黑" panose="020B0503020204020204" pitchFamily="34" charset="-122"/>
              </a:rPr>
              <a:t>是一款</a:t>
            </a:r>
            <a:r>
              <a:rPr sz="2000" spc="45" dirty="0">
                <a:latin typeface="Arial" panose="020B0604020202020204"/>
                <a:cs typeface="Arial" panose="020B0604020202020204"/>
              </a:rPr>
              <a:t>CSS</a:t>
            </a:r>
            <a:r>
              <a:rPr sz="2000" spc="45" dirty="0">
                <a:latin typeface="微软雅黑" panose="020B0503020204020204" pitchFamily="34" charset="-122"/>
                <a:cs typeface="微软雅黑" panose="020B0503020204020204" pitchFamily="34" charset="-122"/>
              </a:rPr>
              <a:t>代码检查工具，可以进行基 </a:t>
            </a:r>
            <a:r>
              <a:rPr sz="2000" dirty="0">
                <a:latin typeface="微软雅黑" panose="020B0503020204020204" pitchFamily="34" charset="-122"/>
                <a:cs typeface="微软雅黑" panose="020B0503020204020204" pitchFamily="34" charset="-122"/>
              </a:rPr>
              <a:t>本语法检查以及使用一套预设的规则来检查代码中的问题。</a:t>
            </a:r>
          </a:p>
          <a:p>
            <a:pPr marL="355600" marR="5080" indent="-342900">
              <a:lnSpc>
                <a:spcPct val="121000"/>
              </a:lnSpc>
              <a:spcBef>
                <a:spcPts val="600"/>
              </a:spcBef>
              <a:buChar char="•"/>
              <a:tabLst>
                <a:tab pos="357505" algn="l"/>
                <a:tab pos="358775" algn="l"/>
              </a:tabLst>
            </a:pPr>
            <a:r>
              <a:rPr sz="2000" spc="40" dirty="0">
                <a:solidFill>
                  <a:srgbClr val="0033CC"/>
                </a:solidFill>
                <a:latin typeface="Arial" panose="020B0604020202020204"/>
                <a:cs typeface="Arial" panose="020B0604020202020204"/>
              </a:rPr>
              <a:t>HTMLHint</a:t>
            </a:r>
            <a:r>
              <a:rPr sz="2000" spc="40" dirty="0">
                <a:solidFill>
                  <a:srgbClr val="0033CC"/>
                </a:solidFill>
                <a:latin typeface="微软雅黑" panose="020B0503020204020204" pitchFamily="34" charset="-122"/>
                <a:cs typeface="微软雅黑" panose="020B0503020204020204" pitchFamily="34" charset="-122"/>
              </a:rPr>
              <a:t>（</a:t>
            </a:r>
            <a:r>
              <a:rPr sz="2000" spc="40" dirty="0">
                <a:solidFill>
                  <a:srgbClr val="0033CC"/>
                </a:solidFill>
                <a:latin typeface="Arial" panose="020B0604020202020204"/>
                <a:cs typeface="Arial" panose="020B0604020202020204"/>
              </a:rPr>
              <a:t>htmlhint.com</a:t>
            </a:r>
            <a:r>
              <a:rPr sz="2000" spc="40" dirty="0">
                <a:solidFill>
                  <a:srgbClr val="0033CC"/>
                </a:solidFill>
                <a:latin typeface="微软雅黑" panose="020B0503020204020204" pitchFamily="34" charset="-122"/>
                <a:cs typeface="微软雅黑" panose="020B0503020204020204" pitchFamily="34" charset="-122"/>
              </a:rPr>
              <a:t>）</a:t>
            </a:r>
            <a:r>
              <a:rPr sz="2000" spc="40" dirty="0">
                <a:latin typeface="微软雅黑" panose="020B0503020204020204" pitchFamily="34" charset="-122"/>
                <a:cs typeface="微软雅黑" panose="020B0503020204020204" pitchFamily="34" charset="-122"/>
              </a:rPr>
              <a:t>是一款基于</a:t>
            </a:r>
            <a:r>
              <a:rPr sz="2000" spc="40" dirty="0">
                <a:latin typeface="Arial" panose="020B0604020202020204"/>
                <a:cs typeface="Arial" panose="020B0604020202020204"/>
              </a:rPr>
              <a:t>JS</a:t>
            </a:r>
            <a:r>
              <a:rPr sz="2000" spc="40" dirty="0">
                <a:latin typeface="微软雅黑" panose="020B0503020204020204" pitchFamily="34" charset="-122"/>
                <a:cs typeface="微软雅黑" panose="020B0503020204020204" pitchFamily="34" charset="-122"/>
              </a:rPr>
              <a:t>开发的静态扫描组</a:t>
            </a:r>
            <a:r>
              <a:rPr sz="2000" spc="-5" dirty="0">
                <a:latin typeface="微软雅黑" panose="020B0503020204020204" pitchFamily="34" charset="-122"/>
                <a:cs typeface="微软雅黑" panose="020B0503020204020204" pitchFamily="34" charset="-122"/>
              </a:rPr>
              <a:t>件</a:t>
            </a:r>
            <a:r>
              <a:rPr sz="2000" dirty="0">
                <a:latin typeface="微软雅黑" panose="020B0503020204020204" pitchFamily="34" charset="-122"/>
                <a:cs typeface="微软雅黑" panose="020B0503020204020204" pitchFamily="34" charset="-122"/>
              </a:rPr>
              <a:t>， 支持所有浏览器和</a:t>
            </a:r>
            <a:r>
              <a:rPr sz="2000" spc="-5" dirty="0">
                <a:latin typeface="Arial" panose="020B0604020202020204"/>
                <a:cs typeface="Arial" panose="020B0604020202020204"/>
              </a:rPr>
              <a:t>Nodejs</a:t>
            </a:r>
            <a:r>
              <a:rPr sz="2000" dirty="0">
                <a:latin typeface="微软雅黑" panose="020B0503020204020204" pitchFamily="34" charset="-122"/>
                <a:cs typeface="微软雅黑" panose="020B0503020204020204" pitchFamily="34" charset="-122"/>
              </a:rPr>
              <a:t>平台，可集成到</a:t>
            </a:r>
            <a:r>
              <a:rPr sz="2000" spc="-5" dirty="0">
                <a:latin typeface="Arial" panose="020B0604020202020204"/>
                <a:cs typeface="Arial" panose="020B0604020202020204"/>
              </a:rPr>
              <a:t>IDE</a:t>
            </a:r>
            <a:r>
              <a:rPr sz="2000" dirty="0">
                <a:latin typeface="微软雅黑" panose="020B0503020204020204" pitchFamily="34" charset="-122"/>
                <a:cs typeface="微软雅黑" panose="020B0503020204020204" pitchFamily="34" charset="-122"/>
              </a:rPr>
              <a:t>环境或编译系统中。</a:t>
            </a:r>
          </a:p>
        </p:txBody>
      </p:sp>
      <p:sp>
        <p:nvSpPr>
          <p:cNvPr id="5" name="object 5"/>
          <p:cNvSpPr/>
          <p:nvPr/>
        </p:nvSpPr>
        <p:spPr>
          <a:xfrm>
            <a:off x="1135258" y="4259982"/>
            <a:ext cx="1803718" cy="1185766"/>
          </a:xfrm>
          <a:prstGeom prst="rect">
            <a:avLst/>
          </a:prstGeom>
          <a:blipFill>
            <a:blip r:embed="rId5" cstate="print"/>
            <a:stretch>
              <a:fillRect/>
            </a:stretch>
          </a:blipFill>
        </p:spPr>
        <p:txBody>
          <a:bodyPr wrap="square" lIns="0" tIns="0" rIns="0" bIns="0" rtlCol="0"/>
          <a:lstStyle/>
          <a:p>
            <a:endParaRPr/>
          </a:p>
        </p:txBody>
      </p:sp>
      <p:sp>
        <p:nvSpPr>
          <p:cNvPr id="7" name="标题 6"/>
          <p:cNvSpPr>
            <a:spLocks noGrp="1"/>
          </p:cNvSpPr>
          <p:nvPr>
            <p:ph type="title"/>
          </p:nvPr>
        </p:nvSpPr>
        <p:spPr/>
        <p:txBody>
          <a:bodyPr/>
          <a:lstStyle/>
          <a:p>
            <a:r>
              <a:rPr lang="zh-CN" altLang="en-US" dirty="0"/>
              <a:t>代码静态分析工具</a:t>
            </a:r>
          </a:p>
        </p:txBody>
      </p:sp>
      <p:sp>
        <p:nvSpPr>
          <p:cNvPr id="6" name="灯片编号占位符 5"/>
          <p:cNvSpPr>
            <a:spLocks noGrp="1"/>
          </p:cNvSpPr>
          <p:nvPr>
            <p:ph type="sldNum" sz="quarter" idx="12"/>
          </p:nvPr>
        </p:nvSpPr>
        <p:spPr/>
        <p:txBody>
          <a:bodyPr/>
          <a:lstStyle/>
          <a:p>
            <a:fld id="{74D2AB8B-5816-41F2-8B4B-CA5C3E4E6A65}" type="slidenum">
              <a:rPr lang="zh-CN" altLang="en-US" smtClean="0"/>
              <a:t>74</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60874"/>
    </mc:Choice>
    <mc:Fallback xmlns="">
      <p:transition spd="slow" advTm="60874"/>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下面的（ ）说法是错误的。</a:t>
            </a:r>
          </a:p>
        </p:txBody>
      </p:sp>
      <p:sp>
        <p:nvSpPr>
          <p:cNvPr id="5" name="文本框 4"/>
          <p:cNvSpPr txBox="1"/>
          <p:nvPr>
            <p:custDataLst>
              <p:tags r:id="rId3"/>
            </p:custDataLst>
          </p:nvPr>
        </p:nvSpPr>
        <p:spPr>
          <a:xfrm>
            <a:off x="2392680" y="2334371"/>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代码审查用于检查源代码是否达到模块设计的要求</a:t>
            </a:r>
          </a:p>
        </p:txBody>
      </p:sp>
      <p:sp>
        <p:nvSpPr>
          <p:cNvPr id="6" name="文本框 5"/>
          <p:cNvSpPr txBox="1"/>
          <p:nvPr>
            <p:custDataLst>
              <p:tags r:id="rId4"/>
            </p:custDataLst>
          </p:nvPr>
        </p:nvSpPr>
        <p:spPr>
          <a:xfrm>
            <a:off x="2392680" y="3191621"/>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代码在审查之前必须要成功地编译通过</a:t>
            </a:r>
          </a:p>
        </p:txBody>
      </p:sp>
      <p:sp>
        <p:nvSpPr>
          <p:cNvPr id="7" name="文本框 6"/>
          <p:cNvSpPr txBox="1"/>
          <p:nvPr>
            <p:custDataLst>
              <p:tags r:id="rId5"/>
            </p:custDataLst>
          </p:nvPr>
        </p:nvSpPr>
        <p:spPr>
          <a:xfrm>
            <a:off x="2392680" y="4048871"/>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代码审查比运行程序进行测试的效率低</a:t>
            </a:r>
          </a:p>
        </p:txBody>
      </p:sp>
      <p:sp>
        <p:nvSpPr>
          <p:cNvPr id="8" name="文本框 7"/>
          <p:cNvSpPr txBox="1"/>
          <p:nvPr>
            <p:custDataLst>
              <p:tags r:id="rId6"/>
            </p:custDataLst>
          </p:nvPr>
        </p:nvSpPr>
        <p:spPr>
          <a:xfrm>
            <a:off x="2392680" y="4906121"/>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代码审查可以发现不符合团队代码规范的地方</a:t>
            </a:r>
          </a:p>
        </p:txBody>
      </p:sp>
      <p:sp>
        <p:nvSpPr>
          <p:cNvPr id="13" name="矩形: 圆角 12"/>
          <p:cNvSpPr/>
          <p:nvPr>
            <p:custDataLst>
              <p:tags r:id="rId7"/>
            </p:custDataLst>
          </p:nvPr>
        </p:nvSpPr>
        <p:spPr>
          <a:xfrm>
            <a:off x="6096000" y="1435211"/>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19" name="文本框 18">
            <a:extLst>
              <a:ext uri="{FF2B5EF4-FFF2-40B4-BE49-F238E27FC236}">
                <a16:creationId xmlns:a16="http://schemas.microsoft.com/office/drawing/2014/main" id="{A2C0E936-5375-7146-B5C4-144794844BB2}"/>
              </a:ext>
            </a:extLst>
          </p:cNvPr>
          <p:cNvSpPr txBox="1"/>
          <p:nvPr/>
        </p:nvSpPr>
        <p:spPr>
          <a:xfrm>
            <a:off x="1813651" y="2416565"/>
            <a:ext cx="405880" cy="3108543"/>
          </a:xfrm>
          <a:prstGeom prst="rect">
            <a:avLst/>
          </a:prstGeom>
          <a:noFill/>
        </p:spPr>
        <p:txBody>
          <a:bodyPr wrap="none" rtlCol="0">
            <a:spAutoFit/>
          </a:bodyPr>
          <a:lstStyle/>
          <a:p>
            <a:r>
              <a:rPr kumimoji="1" lang="en-US" altLang="zh-CN" sz="2800" dirty="0"/>
              <a:t>A</a:t>
            </a:r>
          </a:p>
          <a:p>
            <a:endParaRPr kumimoji="1" lang="en-US" altLang="zh-CN" sz="2800" dirty="0"/>
          </a:p>
          <a:p>
            <a:r>
              <a:rPr kumimoji="1" lang="en-US" altLang="zh-CN" sz="2800" dirty="0"/>
              <a:t>B</a:t>
            </a:r>
          </a:p>
          <a:p>
            <a:endParaRPr kumimoji="1" lang="en-US" altLang="zh-CN" sz="2800" dirty="0"/>
          </a:p>
          <a:p>
            <a:r>
              <a:rPr kumimoji="1" lang="en-US" altLang="zh-CN" sz="2800" dirty="0"/>
              <a:t>C</a:t>
            </a:r>
          </a:p>
          <a:p>
            <a:endParaRPr kumimoji="1" lang="en-US" altLang="zh-CN" sz="2800" dirty="0"/>
          </a:p>
          <a:p>
            <a:r>
              <a:rPr kumimoji="1" lang="en-US" altLang="zh-CN" sz="2800" dirty="0"/>
              <a:t>D</a:t>
            </a:r>
            <a:endParaRPr kumimoji="1" lang="zh-CN" altLang="en-US" sz="2800" dirty="0"/>
          </a:p>
        </p:txBody>
      </p:sp>
    </p:spTree>
    <p:custDataLst>
      <p:tags r:id="rId1"/>
    </p:custData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lstStyle/>
          <a:p>
            <a:pPr algn="ctr"/>
            <a:r>
              <a:rPr lang="zh-CN" altLang="en-US" dirty="0"/>
              <a:t>代码性能分析</a:t>
            </a:r>
          </a:p>
        </p:txBody>
      </p:sp>
      <p:sp>
        <p:nvSpPr>
          <p:cNvPr id="3" name="文本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74D2AB8B-5816-41F2-8B4B-CA5C3E4E6A65}" type="slidenum">
              <a:rPr lang="zh-CN" altLang="en-US" smtClean="0"/>
              <a:t>76</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0296"/>
    </mc:Choice>
    <mc:Fallback xmlns="">
      <p:transition spd="slow" advTm="10296"/>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
            <a:ext cx="12190614" cy="6857998"/>
          </a:xfrm>
          <a:prstGeom prst="rect">
            <a:avLst/>
          </a:prstGeom>
          <a:blipFill>
            <a:blip r:embed="rId3" cstate="print"/>
            <a:stretch>
              <a:fillRect/>
            </a:stretch>
          </a:blipFill>
        </p:spPr>
        <p:txBody>
          <a:bodyPr wrap="square" lIns="0" tIns="0" rIns="0" bIns="0" rtlCol="0"/>
          <a:lstStyle/>
          <a:p>
            <a:endParaRPr/>
          </a:p>
        </p:txBody>
      </p:sp>
      <p:sp>
        <p:nvSpPr>
          <p:cNvPr id="3" name="object 3"/>
          <p:cNvSpPr txBox="1"/>
          <p:nvPr/>
        </p:nvSpPr>
        <p:spPr>
          <a:xfrm>
            <a:off x="906131" y="3711392"/>
            <a:ext cx="4978400" cy="482600"/>
          </a:xfrm>
          <a:prstGeom prst="rect">
            <a:avLst/>
          </a:prstGeom>
        </p:spPr>
        <p:txBody>
          <a:bodyPr vert="horz" wrap="square" lIns="0" tIns="12700" rIns="0" bIns="0" rtlCol="0">
            <a:spAutoFit/>
          </a:bodyPr>
          <a:lstStyle/>
          <a:p>
            <a:pPr marL="12700">
              <a:lnSpc>
                <a:spcPct val="100000"/>
              </a:lnSpc>
              <a:spcBef>
                <a:spcPts val="100"/>
              </a:spcBef>
            </a:pPr>
            <a:r>
              <a:rPr sz="3000" dirty="0">
                <a:latin typeface="微软雅黑" panose="020B0503020204020204" pitchFamily="34" charset="-122"/>
                <a:cs typeface="微软雅黑" panose="020B0503020204020204" pitchFamily="34" charset="-122"/>
              </a:rPr>
              <a:t>效率是程序员之间永恒的话题</a:t>
            </a:r>
            <a:endParaRPr sz="3000">
              <a:latin typeface="微软雅黑" panose="020B0503020204020204" pitchFamily="34" charset="-122"/>
              <a:cs typeface="微软雅黑" panose="020B0503020204020204" pitchFamily="34" charset="-122"/>
            </a:endParaRPr>
          </a:p>
        </p:txBody>
      </p:sp>
      <p:sp>
        <p:nvSpPr>
          <p:cNvPr id="4" name="object 4"/>
          <p:cNvSpPr txBox="1"/>
          <p:nvPr/>
        </p:nvSpPr>
        <p:spPr>
          <a:xfrm>
            <a:off x="906131" y="4026907"/>
            <a:ext cx="9127490" cy="1499870"/>
          </a:xfrm>
          <a:prstGeom prst="rect">
            <a:avLst/>
          </a:prstGeom>
        </p:spPr>
        <p:txBody>
          <a:bodyPr vert="horz" wrap="square" lIns="0" tIns="268605" rIns="0" bIns="0" rtlCol="0">
            <a:spAutoFit/>
          </a:bodyPr>
          <a:lstStyle/>
          <a:p>
            <a:pPr marL="12700">
              <a:lnSpc>
                <a:spcPct val="100000"/>
              </a:lnSpc>
              <a:spcBef>
                <a:spcPts val="2115"/>
              </a:spcBef>
            </a:pPr>
            <a:r>
              <a:rPr sz="3000" dirty="0">
                <a:latin typeface="微软雅黑" panose="020B0503020204020204" pitchFamily="34" charset="-122"/>
                <a:cs typeface="微软雅黑" panose="020B0503020204020204" pitchFamily="34" charset="-122"/>
              </a:rPr>
              <a:t>如何才能编写出运行更快、效率更高的程序</a:t>
            </a:r>
            <a:endParaRPr sz="3000">
              <a:latin typeface="微软雅黑" panose="020B0503020204020204" pitchFamily="34" charset="-122"/>
              <a:cs typeface="微软雅黑" panose="020B0503020204020204" pitchFamily="34" charset="-122"/>
            </a:endParaRPr>
          </a:p>
          <a:p>
            <a:pPr marL="1798955">
              <a:lnSpc>
                <a:spcPct val="100000"/>
              </a:lnSpc>
              <a:spcBef>
                <a:spcPts val="2150"/>
              </a:spcBef>
            </a:pPr>
            <a:r>
              <a:rPr sz="3200" dirty="0">
                <a:solidFill>
                  <a:srgbClr val="0033CC"/>
                </a:solidFill>
                <a:latin typeface="微软雅黑" panose="020B0503020204020204" pitchFamily="34" charset="-122"/>
                <a:cs typeface="微软雅黑" panose="020B0503020204020204" pitchFamily="34" charset="-122"/>
              </a:rPr>
              <a:t>这是每一个优秀程序员不懈追求的目标</a:t>
            </a:r>
            <a:r>
              <a:rPr sz="3200" dirty="0">
                <a:solidFill>
                  <a:srgbClr val="004DD6"/>
                </a:solidFill>
                <a:latin typeface="微软雅黑" panose="020B0503020204020204" pitchFamily="34" charset="-122"/>
                <a:cs typeface="微软雅黑" panose="020B0503020204020204" pitchFamily="34" charset="-122"/>
              </a:rPr>
              <a:t>！</a:t>
            </a:r>
            <a:endParaRPr sz="3200">
              <a:latin typeface="微软雅黑" panose="020B0503020204020204" pitchFamily="34" charset="-122"/>
              <a:cs typeface="微软雅黑" panose="020B0503020204020204" pitchFamily="34" charset="-122"/>
            </a:endParaRPr>
          </a:p>
        </p:txBody>
      </p:sp>
      <p:sp>
        <p:nvSpPr>
          <p:cNvPr id="6" name="灯片编号占位符 5"/>
          <p:cNvSpPr>
            <a:spLocks noGrp="1"/>
          </p:cNvSpPr>
          <p:nvPr>
            <p:ph type="sldNum" sz="quarter" idx="7"/>
          </p:nvPr>
        </p:nvSpPr>
        <p:spPr/>
        <p:txBody>
          <a:bodyPr/>
          <a:lstStyle/>
          <a:p>
            <a:fld id="{B6F15528-21DE-4FAA-801E-634DDDAF4B2B}" type="slidenum">
              <a:rPr lang="en-US" altLang="zh-CN" smtClean="0"/>
              <a:t>77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171"/>
    </mc:Choice>
    <mc:Fallback xmlns="">
      <p:transition spd="slow" advTm="30171"/>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879343" y="3436748"/>
            <a:ext cx="6221730" cy="1851660"/>
          </a:xfrm>
          <a:prstGeom prst="rect">
            <a:avLst/>
          </a:prstGeom>
        </p:spPr>
        <p:txBody>
          <a:bodyPr vert="horz" wrap="square" lIns="0" tIns="12700" rIns="0" bIns="0" rtlCol="0">
            <a:spAutoFit/>
          </a:bodyPr>
          <a:lstStyle/>
          <a:p>
            <a:pPr marL="374650" indent="-361950">
              <a:lnSpc>
                <a:spcPct val="100000"/>
              </a:lnSpc>
              <a:spcBef>
                <a:spcPts val="100"/>
              </a:spcBef>
              <a:buFont typeface="Arial" panose="020B0604020202020204"/>
              <a:buChar char="•"/>
              <a:tabLst>
                <a:tab pos="374015" algn="l"/>
                <a:tab pos="374650" algn="l"/>
              </a:tabLst>
            </a:pPr>
            <a:r>
              <a:rPr sz="2400" dirty="0">
                <a:latin typeface="微软雅黑" panose="020B0503020204020204" pitchFamily="34" charset="-122"/>
                <a:cs typeface="微软雅黑" panose="020B0503020204020204" pitchFamily="34" charset="-122"/>
              </a:rPr>
              <a:t>代码性能优化是一门复杂的学问。</a:t>
            </a:r>
            <a:endParaRPr sz="2400">
              <a:latin typeface="微软雅黑" panose="020B0503020204020204" pitchFamily="34" charset="-122"/>
              <a:cs typeface="微软雅黑" panose="020B0503020204020204" pitchFamily="34" charset="-122"/>
            </a:endParaRPr>
          </a:p>
          <a:p>
            <a:pPr marL="381000" marR="5080" indent="-368300">
              <a:lnSpc>
                <a:spcPct val="120000"/>
              </a:lnSpc>
              <a:spcBef>
                <a:spcPts val="1150"/>
              </a:spcBef>
              <a:buFont typeface="Arial" panose="020B0604020202020204"/>
              <a:buChar char="•"/>
              <a:tabLst>
                <a:tab pos="374015" algn="l"/>
                <a:tab pos="374650" algn="l"/>
              </a:tabLst>
            </a:pPr>
            <a:r>
              <a:rPr sz="2400" dirty="0">
                <a:latin typeface="微软雅黑" panose="020B0503020204020204" pitchFamily="34" charset="-122"/>
                <a:cs typeface="微软雅黑" panose="020B0503020204020204" pitchFamily="34" charset="-122"/>
              </a:rPr>
              <a:t>根据</a:t>
            </a:r>
            <a:r>
              <a:rPr sz="2400" spc="25" dirty="0">
                <a:latin typeface="微软雅黑" panose="020B0503020204020204" pitchFamily="34" charset="-122"/>
                <a:cs typeface="微软雅黑" panose="020B0503020204020204" pitchFamily="34" charset="-122"/>
              </a:rPr>
              <a:t> </a:t>
            </a:r>
            <a:r>
              <a:rPr sz="2400" spc="-5" dirty="0">
                <a:latin typeface="Arial" panose="020B0604020202020204"/>
                <a:cs typeface="Arial" panose="020B0604020202020204"/>
              </a:rPr>
              <a:t>80/20</a:t>
            </a:r>
            <a:r>
              <a:rPr sz="2400" spc="30" dirty="0">
                <a:latin typeface="Arial" panose="020B0604020202020204"/>
                <a:cs typeface="Arial" panose="020B0604020202020204"/>
              </a:rPr>
              <a:t> </a:t>
            </a:r>
            <a:r>
              <a:rPr sz="2400" dirty="0">
                <a:latin typeface="微软雅黑" panose="020B0503020204020204" pitchFamily="34" charset="-122"/>
                <a:cs typeface="微软雅黑" panose="020B0503020204020204" pitchFamily="34" charset="-122"/>
              </a:rPr>
              <a:t>原则，实现程序的重构、优化、 </a:t>
            </a:r>
            <a:r>
              <a:rPr sz="2400" spc="170" dirty="0">
                <a:latin typeface="微软雅黑" panose="020B0503020204020204" pitchFamily="34" charset="-122"/>
                <a:cs typeface="微软雅黑" panose="020B0503020204020204" pitchFamily="34" charset="-122"/>
              </a:rPr>
              <a:t>扩展以及文档相关的事情通常需要消耗 </a:t>
            </a:r>
            <a:r>
              <a:rPr sz="2400" spc="-5" dirty="0">
                <a:latin typeface="Arial" panose="020B0604020202020204"/>
                <a:cs typeface="Arial" panose="020B0604020202020204"/>
              </a:rPr>
              <a:t>80% </a:t>
            </a:r>
            <a:r>
              <a:rPr sz="2400" dirty="0">
                <a:latin typeface="微软雅黑" panose="020B0503020204020204" pitchFamily="34" charset="-122"/>
                <a:cs typeface="微软雅黑" panose="020B0503020204020204" pitchFamily="34" charset="-122"/>
              </a:rPr>
              <a:t>的工作量。</a:t>
            </a:r>
            <a:endParaRPr sz="2400">
              <a:latin typeface="微软雅黑" panose="020B0503020204020204" pitchFamily="34" charset="-122"/>
              <a:cs typeface="微软雅黑" panose="020B0503020204020204" pitchFamily="34" charset="-122"/>
            </a:endParaRPr>
          </a:p>
        </p:txBody>
      </p:sp>
      <p:sp>
        <p:nvSpPr>
          <p:cNvPr id="4" name="object 4"/>
          <p:cNvSpPr/>
          <p:nvPr/>
        </p:nvSpPr>
        <p:spPr>
          <a:xfrm>
            <a:off x="2233376" y="3523438"/>
            <a:ext cx="1430020" cy="1430020"/>
          </a:xfrm>
          <a:custGeom>
            <a:avLst/>
            <a:gdLst/>
            <a:ahLst/>
            <a:cxnLst/>
            <a:rect l="l" t="t" r="r" b="b"/>
            <a:pathLst>
              <a:path w="1430020" h="1430020">
                <a:moveTo>
                  <a:pt x="714886" y="0"/>
                </a:moveTo>
                <a:lnTo>
                  <a:pt x="665941" y="1649"/>
                </a:lnTo>
                <a:lnTo>
                  <a:pt x="617881" y="6526"/>
                </a:lnTo>
                <a:lnTo>
                  <a:pt x="570812" y="14524"/>
                </a:lnTo>
                <a:lnTo>
                  <a:pt x="524841" y="25536"/>
                </a:lnTo>
                <a:lnTo>
                  <a:pt x="480075" y="39457"/>
                </a:lnTo>
                <a:lnTo>
                  <a:pt x="436620" y="56179"/>
                </a:lnTo>
                <a:lnTo>
                  <a:pt x="394583" y="75597"/>
                </a:lnTo>
                <a:lnTo>
                  <a:pt x="354070" y="97603"/>
                </a:lnTo>
                <a:lnTo>
                  <a:pt x="315187" y="122091"/>
                </a:lnTo>
                <a:lnTo>
                  <a:pt x="278041" y="148956"/>
                </a:lnTo>
                <a:lnTo>
                  <a:pt x="242738" y="178089"/>
                </a:lnTo>
                <a:lnTo>
                  <a:pt x="209385" y="209386"/>
                </a:lnTo>
                <a:lnTo>
                  <a:pt x="178089" y="242738"/>
                </a:lnTo>
                <a:lnTo>
                  <a:pt x="148955" y="278041"/>
                </a:lnTo>
                <a:lnTo>
                  <a:pt x="122091" y="315187"/>
                </a:lnTo>
                <a:lnTo>
                  <a:pt x="97603" y="354070"/>
                </a:lnTo>
                <a:lnTo>
                  <a:pt x="75596" y="394584"/>
                </a:lnTo>
                <a:lnTo>
                  <a:pt x="56179" y="436621"/>
                </a:lnTo>
                <a:lnTo>
                  <a:pt x="39457" y="480076"/>
                </a:lnTo>
                <a:lnTo>
                  <a:pt x="25536" y="524842"/>
                </a:lnTo>
                <a:lnTo>
                  <a:pt x="14523" y="570813"/>
                </a:lnTo>
                <a:lnTo>
                  <a:pt x="6526" y="617882"/>
                </a:lnTo>
                <a:lnTo>
                  <a:pt x="1649" y="665942"/>
                </a:lnTo>
                <a:lnTo>
                  <a:pt x="0" y="714888"/>
                </a:lnTo>
                <a:lnTo>
                  <a:pt x="1649" y="763833"/>
                </a:lnTo>
                <a:lnTo>
                  <a:pt x="6526" y="811894"/>
                </a:lnTo>
                <a:lnTo>
                  <a:pt x="14523" y="858962"/>
                </a:lnTo>
                <a:lnTo>
                  <a:pt x="25536" y="904933"/>
                </a:lnTo>
                <a:lnTo>
                  <a:pt x="39457" y="949699"/>
                </a:lnTo>
                <a:lnTo>
                  <a:pt x="56179" y="993154"/>
                </a:lnTo>
                <a:lnTo>
                  <a:pt x="75596" y="1035192"/>
                </a:lnTo>
                <a:lnTo>
                  <a:pt x="97603" y="1075705"/>
                </a:lnTo>
                <a:lnTo>
                  <a:pt x="122091" y="1114588"/>
                </a:lnTo>
                <a:lnTo>
                  <a:pt x="148955" y="1151734"/>
                </a:lnTo>
                <a:lnTo>
                  <a:pt x="178089" y="1187037"/>
                </a:lnTo>
                <a:lnTo>
                  <a:pt x="209385" y="1220390"/>
                </a:lnTo>
                <a:lnTo>
                  <a:pt x="242738" y="1251686"/>
                </a:lnTo>
                <a:lnTo>
                  <a:pt x="278041" y="1280820"/>
                </a:lnTo>
                <a:lnTo>
                  <a:pt x="315187" y="1307684"/>
                </a:lnTo>
                <a:lnTo>
                  <a:pt x="354070" y="1332172"/>
                </a:lnTo>
                <a:lnTo>
                  <a:pt x="394583" y="1354179"/>
                </a:lnTo>
                <a:lnTo>
                  <a:pt x="436620" y="1373596"/>
                </a:lnTo>
                <a:lnTo>
                  <a:pt x="480075" y="1390318"/>
                </a:lnTo>
                <a:lnTo>
                  <a:pt x="524841" y="1404239"/>
                </a:lnTo>
                <a:lnTo>
                  <a:pt x="570812" y="1415252"/>
                </a:lnTo>
                <a:lnTo>
                  <a:pt x="617881" y="1423250"/>
                </a:lnTo>
                <a:lnTo>
                  <a:pt x="665941" y="1428126"/>
                </a:lnTo>
                <a:lnTo>
                  <a:pt x="714886" y="1429776"/>
                </a:lnTo>
                <a:lnTo>
                  <a:pt x="763832" y="1428126"/>
                </a:lnTo>
                <a:lnTo>
                  <a:pt x="811892" y="1423250"/>
                </a:lnTo>
                <a:lnTo>
                  <a:pt x="858961" y="1415252"/>
                </a:lnTo>
                <a:lnTo>
                  <a:pt x="904932" y="1404239"/>
                </a:lnTo>
                <a:lnTo>
                  <a:pt x="949698" y="1390318"/>
                </a:lnTo>
                <a:lnTo>
                  <a:pt x="993153" y="1373596"/>
                </a:lnTo>
                <a:lnTo>
                  <a:pt x="1035190" y="1354179"/>
                </a:lnTo>
                <a:lnTo>
                  <a:pt x="1075704" y="1332172"/>
                </a:lnTo>
                <a:lnTo>
                  <a:pt x="1114586" y="1307684"/>
                </a:lnTo>
                <a:lnTo>
                  <a:pt x="1151732" y="1280820"/>
                </a:lnTo>
                <a:lnTo>
                  <a:pt x="1187035" y="1251686"/>
                </a:lnTo>
                <a:lnTo>
                  <a:pt x="1220388" y="1220390"/>
                </a:lnTo>
                <a:lnTo>
                  <a:pt x="1251684" y="1187037"/>
                </a:lnTo>
                <a:lnTo>
                  <a:pt x="1280818" y="1151734"/>
                </a:lnTo>
                <a:lnTo>
                  <a:pt x="1307682" y="1114588"/>
                </a:lnTo>
                <a:lnTo>
                  <a:pt x="1332170" y="1075705"/>
                </a:lnTo>
                <a:lnTo>
                  <a:pt x="1354176" y="1035192"/>
                </a:lnTo>
                <a:lnTo>
                  <a:pt x="1373594" y="993154"/>
                </a:lnTo>
                <a:lnTo>
                  <a:pt x="1390316" y="949699"/>
                </a:lnTo>
                <a:lnTo>
                  <a:pt x="1404237" y="904933"/>
                </a:lnTo>
                <a:lnTo>
                  <a:pt x="1415249" y="858962"/>
                </a:lnTo>
                <a:lnTo>
                  <a:pt x="1423247" y="811894"/>
                </a:lnTo>
                <a:lnTo>
                  <a:pt x="1428124" y="763833"/>
                </a:lnTo>
                <a:lnTo>
                  <a:pt x="1429773" y="714888"/>
                </a:lnTo>
                <a:lnTo>
                  <a:pt x="1428124" y="665942"/>
                </a:lnTo>
                <a:lnTo>
                  <a:pt x="1423247" y="617882"/>
                </a:lnTo>
                <a:lnTo>
                  <a:pt x="1415249" y="570813"/>
                </a:lnTo>
                <a:lnTo>
                  <a:pt x="1404237" y="524842"/>
                </a:lnTo>
                <a:lnTo>
                  <a:pt x="1390316" y="480076"/>
                </a:lnTo>
                <a:lnTo>
                  <a:pt x="1373594" y="436621"/>
                </a:lnTo>
                <a:lnTo>
                  <a:pt x="1354176" y="394584"/>
                </a:lnTo>
                <a:lnTo>
                  <a:pt x="1332170" y="354070"/>
                </a:lnTo>
                <a:lnTo>
                  <a:pt x="1307682" y="315187"/>
                </a:lnTo>
                <a:lnTo>
                  <a:pt x="1280818" y="278041"/>
                </a:lnTo>
                <a:lnTo>
                  <a:pt x="1251684" y="242738"/>
                </a:lnTo>
                <a:lnTo>
                  <a:pt x="1220388" y="209386"/>
                </a:lnTo>
                <a:lnTo>
                  <a:pt x="1187035" y="178089"/>
                </a:lnTo>
                <a:lnTo>
                  <a:pt x="1151732" y="148956"/>
                </a:lnTo>
                <a:lnTo>
                  <a:pt x="1114586" y="122091"/>
                </a:lnTo>
                <a:lnTo>
                  <a:pt x="1075704" y="97603"/>
                </a:lnTo>
                <a:lnTo>
                  <a:pt x="1035190" y="75597"/>
                </a:lnTo>
                <a:lnTo>
                  <a:pt x="993153" y="56179"/>
                </a:lnTo>
                <a:lnTo>
                  <a:pt x="949698" y="39457"/>
                </a:lnTo>
                <a:lnTo>
                  <a:pt x="904932" y="25536"/>
                </a:lnTo>
                <a:lnTo>
                  <a:pt x="858961" y="14524"/>
                </a:lnTo>
                <a:lnTo>
                  <a:pt x="811892" y="6526"/>
                </a:lnTo>
                <a:lnTo>
                  <a:pt x="763832" y="1649"/>
                </a:lnTo>
                <a:lnTo>
                  <a:pt x="714886" y="0"/>
                </a:lnTo>
                <a:close/>
              </a:path>
            </a:pathLst>
          </a:custGeom>
          <a:solidFill>
            <a:srgbClr val="000000">
              <a:alpha val="10198"/>
            </a:srgbClr>
          </a:solidFill>
        </p:spPr>
        <p:txBody>
          <a:bodyPr wrap="square" lIns="0" tIns="0" rIns="0" bIns="0" rtlCol="0"/>
          <a:lstStyle/>
          <a:p>
            <a:endParaRPr/>
          </a:p>
        </p:txBody>
      </p:sp>
      <p:sp>
        <p:nvSpPr>
          <p:cNvPr id="5" name="object 5"/>
          <p:cNvSpPr/>
          <p:nvPr/>
        </p:nvSpPr>
        <p:spPr>
          <a:xfrm>
            <a:off x="2233376" y="3523438"/>
            <a:ext cx="1430020" cy="1430020"/>
          </a:xfrm>
          <a:custGeom>
            <a:avLst/>
            <a:gdLst/>
            <a:ahLst/>
            <a:cxnLst/>
            <a:rect l="l" t="t" r="r" b="b"/>
            <a:pathLst>
              <a:path w="1430020" h="1430020">
                <a:moveTo>
                  <a:pt x="0" y="714887"/>
                </a:moveTo>
                <a:lnTo>
                  <a:pt x="1649" y="665942"/>
                </a:lnTo>
                <a:lnTo>
                  <a:pt x="6526" y="617881"/>
                </a:lnTo>
                <a:lnTo>
                  <a:pt x="14523" y="570812"/>
                </a:lnTo>
                <a:lnTo>
                  <a:pt x="25536" y="524842"/>
                </a:lnTo>
                <a:lnTo>
                  <a:pt x="39457" y="480076"/>
                </a:lnTo>
                <a:lnTo>
                  <a:pt x="56179" y="436621"/>
                </a:lnTo>
                <a:lnTo>
                  <a:pt x="75596" y="394583"/>
                </a:lnTo>
                <a:lnTo>
                  <a:pt x="97602" y="354070"/>
                </a:lnTo>
                <a:lnTo>
                  <a:pt x="122091" y="315187"/>
                </a:lnTo>
                <a:lnTo>
                  <a:pt x="148955" y="278041"/>
                </a:lnTo>
                <a:lnTo>
                  <a:pt x="178089" y="242738"/>
                </a:lnTo>
                <a:lnTo>
                  <a:pt x="209385" y="209385"/>
                </a:lnTo>
                <a:lnTo>
                  <a:pt x="242738" y="178089"/>
                </a:lnTo>
                <a:lnTo>
                  <a:pt x="278040" y="148955"/>
                </a:lnTo>
                <a:lnTo>
                  <a:pt x="315186" y="122091"/>
                </a:lnTo>
                <a:lnTo>
                  <a:pt x="354069" y="97603"/>
                </a:lnTo>
                <a:lnTo>
                  <a:pt x="394583" y="75596"/>
                </a:lnTo>
                <a:lnTo>
                  <a:pt x="436620" y="56179"/>
                </a:lnTo>
                <a:lnTo>
                  <a:pt x="480075" y="39457"/>
                </a:lnTo>
                <a:lnTo>
                  <a:pt x="524841" y="25536"/>
                </a:lnTo>
                <a:lnTo>
                  <a:pt x="570812" y="14523"/>
                </a:lnTo>
                <a:lnTo>
                  <a:pt x="617880" y="6526"/>
                </a:lnTo>
                <a:lnTo>
                  <a:pt x="665941" y="1649"/>
                </a:lnTo>
                <a:lnTo>
                  <a:pt x="714886" y="0"/>
                </a:lnTo>
                <a:lnTo>
                  <a:pt x="763832" y="1649"/>
                </a:lnTo>
                <a:lnTo>
                  <a:pt x="811892" y="6526"/>
                </a:lnTo>
                <a:lnTo>
                  <a:pt x="858961" y="14523"/>
                </a:lnTo>
                <a:lnTo>
                  <a:pt x="904931" y="25536"/>
                </a:lnTo>
                <a:lnTo>
                  <a:pt x="949697" y="39457"/>
                </a:lnTo>
                <a:lnTo>
                  <a:pt x="993152" y="56179"/>
                </a:lnTo>
                <a:lnTo>
                  <a:pt x="1035190" y="75596"/>
                </a:lnTo>
                <a:lnTo>
                  <a:pt x="1075703" y="97603"/>
                </a:lnTo>
                <a:lnTo>
                  <a:pt x="1114586" y="122091"/>
                </a:lnTo>
                <a:lnTo>
                  <a:pt x="1151732" y="148955"/>
                </a:lnTo>
                <a:lnTo>
                  <a:pt x="1187035" y="178089"/>
                </a:lnTo>
                <a:lnTo>
                  <a:pt x="1220388" y="209385"/>
                </a:lnTo>
                <a:lnTo>
                  <a:pt x="1251684" y="242738"/>
                </a:lnTo>
                <a:lnTo>
                  <a:pt x="1280817" y="278041"/>
                </a:lnTo>
                <a:lnTo>
                  <a:pt x="1307682" y="315187"/>
                </a:lnTo>
                <a:lnTo>
                  <a:pt x="1332170" y="354070"/>
                </a:lnTo>
                <a:lnTo>
                  <a:pt x="1354176" y="394583"/>
                </a:lnTo>
                <a:lnTo>
                  <a:pt x="1373594" y="436621"/>
                </a:lnTo>
                <a:lnTo>
                  <a:pt x="1390316" y="480076"/>
                </a:lnTo>
                <a:lnTo>
                  <a:pt x="1404237" y="524842"/>
                </a:lnTo>
                <a:lnTo>
                  <a:pt x="1415249" y="570812"/>
                </a:lnTo>
                <a:lnTo>
                  <a:pt x="1423247" y="617881"/>
                </a:lnTo>
                <a:lnTo>
                  <a:pt x="1428124" y="665942"/>
                </a:lnTo>
                <a:lnTo>
                  <a:pt x="1429773" y="714887"/>
                </a:lnTo>
                <a:lnTo>
                  <a:pt x="1428124" y="763833"/>
                </a:lnTo>
                <a:lnTo>
                  <a:pt x="1423247" y="811893"/>
                </a:lnTo>
                <a:lnTo>
                  <a:pt x="1415249" y="858962"/>
                </a:lnTo>
                <a:lnTo>
                  <a:pt x="1404237" y="904933"/>
                </a:lnTo>
                <a:lnTo>
                  <a:pt x="1390316" y="949699"/>
                </a:lnTo>
                <a:lnTo>
                  <a:pt x="1373594" y="993154"/>
                </a:lnTo>
                <a:lnTo>
                  <a:pt x="1354176" y="1035191"/>
                </a:lnTo>
                <a:lnTo>
                  <a:pt x="1332170" y="1075705"/>
                </a:lnTo>
                <a:lnTo>
                  <a:pt x="1307682" y="1114588"/>
                </a:lnTo>
                <a:lnTo>
                  <a:pt x="1280817" y="1151734"/>
                </a:lnTo>
                <a:lnTo>
                  <a:pt x="1251684" y="1187037"/>
                </a:lnTo>
                <a:lnTo>
                  <a:pt x="1220388" y="1220389"/>
                </a:lnTo>
                <a:lnTo>
                  <a:pt x="1187035" y="1251686"/>
                </a:lnTo>
                <a:lnTo>
                  <a:pt x="1151732" y="1280819"/>
                </a:lnTo>
                <a:lnTo>
                  <a:pt x="1114586" y="1307683"/>
                </a:lnTo>
                <a:lnTo>
                  <a:pt x="1075703" y="1332172"/>
                </a:lnTo>
                <a:lnTo>
                  <a:pt x="1035190" y="1354178"/>
                </a:lnTo>
                <a:lnTo>
                  <a:pt x="993152" y="1373596"/>
                </a:lnTo>
                <a:lnTo>
                  <a:pt x="949697" y="1390318"/>
                </a:lnTo>
                <a:lnTo>
                  <a:pt x="904931" y="1404239"/>
                </a:lnTo>
                <a:lnTo>
                  <a:pt x="858961" y="1415251"/>
                </a:lnTo>
                <a:lnTo>
                  <a:pt x="811892" y="1423249"/>
                </a:lnTo>
                <a:lnTo>
                  <a:pt x="763832" y="1428126"/>
                </a:lnTo>
                <a:lnTo>
                  <a:pt x="714886" y="1429775"/>
                </a:lnTo>
                <a:lnTo>
                  <a:pt x="665941" y="1428126"/>
                </a:lnTo>
                <a:lnTo>
                  <a:pt x="617880" y="1423249"/>
                </a:lnTo>
                <a:lnTo>
                  <a:pt x="570812" y="1415251"/>
                </a:lnTo>
                <a:lnTo>
                  <a:pt x="524841" y="1404239"/>
                </a:lnTo>
                <a:lnTo>
                  <a:pt x="480075" y="1390318"/>
                </a:lnTo>
                <a:lnTo>
                  <a:pt x="436620" y="1373596"/>
                </a:lnTo>
                <a:lnTo>
                  <a:pt x="394583" y="1354178"/>
                </a:lnTo>
                <a:lnTo>
                  <a:pt x="354069" y="1332172"/>
                </a:lnTo>
                <a:lnTo>
                  <a:pt x="315186" y="1307683"/>
                </a:lnTo>
                <a:lnTo>
                  <a:pt x="278040" y="1280819"/>
                </a:lnTo>
                <a:lnTo>
                  <a:pt x="242738" y="1251686"/>
                </a:lnTo>
                <a:lnTo>
                  <a:pt x="209385" y="1220389"/>
                </a:lnTo>
                <a:lnTo>
                  <a:pt x="178089" y="1187037"/>
                </a:lnTo>
                <a:lnTo>
                  <a:pt x="148955" y="1151734"/>
                </a:lnTo>
                <a:lnTo>
                  <a:pt x="122091" y="1114588"/>
                </a:lnTo>
                <a:lnTo>
                  <a:pt x="97602" y="1075705"/>
                </a:lnTo>
                <a:lnTo>
                  <a:pt x="75596" y="1035191"/>
                </a:lnTo>
                <a:lnTo>
                  <a:pt x="56179" y="993154"/>
                </a:lnTo>
                <a:lnTo>
                  <a:pt x="39457" y="949699"/>
                </a:lnTo>
                <a:lnTo>
                  <a:pt x="25536" y="904933"/>
                </a:lnTo>
                <a:lnTo>
                  <a:pt x="14523" y="858962"/>
                </a:lnTo>
                <a:lnTo>
                  <a:pt x="6526" y="811893"/>
                </a:lnTo>
                <a:lnTo>
                  <a:pt x="1649" y="763833"/>
                </a:lnTo>
                <a:lnTo>
                  <a:pt x="0" y="714887"/>
                </a:lnTo>
                <a:close/>
              </a:path>
            </a:pathLst>
          </a:custGeom>
          <a:ln w="19049">
            <a:solidFill>
              <a:srgbClr val="AEAEAE"/>
            </a:solidFill>
            <a:prstDash val="dot"/>
          </a:ln>
        </p:spPr>
        <p:txBody>
          <a:bodyPr wrap="square" lIns="0" tIns="0" rIns="0" bIns="0" rtlCol="0"/>
          <a:lstStyle/>
          <a:p>
            <a:endParaRPr/>
          </a:p>
        </p:txBody>
      </p:sp>
      <p:sp>
        <p:nvSpPr>
          <p:cNvPr id="6" name="object 6"/>
          <p:cNvSpPr/>
          <p:nvPr/>
        </p:nvSpPr>
        <p:spPr>
          <a:xfrm>
            <a:off x="1700763" y="2795575"/>
            <a:ext cx="2498706" cy="2913922"/>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3762453" y="3685960"/>
            <a:ext cx="237490" cy="248285"/>
          </a:xfrm>
          <a:custGeom>
            <a:avLst/>
            <a:gdLst/>
            <a:ahLst/>
            <a:cxnLst/>
            <a:rect l="l" t="t" r="r" b="b"/>
            <a:pathLst>
              <a:path w="237489" h="248285">
                <a:moveTo>
                  <a:pt x="14339" y="65239"/>
                </a:moveTo>
                <a:lnTo>
                  <a:pt x="0" y="72039"/>
                </a:lnTo>
                <a:lnTo>
                  <a:pt x="83558" y="248235"/>
                </a:lnTo>
                <a:lnTo>
                  <a:pt x="97896" y="241434"/>
                </a:lnTo>
                <a:lnTo>
                  <a:pt x="59890" y="161292"/>
                </a:lnTo>
                <a:lnTo>
                  <a:pt x="94269" y="144989"/>
                </a:lnTo>
                <a:lnTo>
                  <a:pt x="52158" y="144989"/>
                </a:lnTo>
                <a:lnTo>
                  <a:pt x="14339" y="65239"/>
                </a:lnTo>
                <a:close/>
              </a:path>
              <a:path w="237489" h="248285">
                <a:moveTo>
                  <a:pt x="168004" y="118682"/>
                </a:moveTo>
                <a:lnTo>
                  <a:pt x="164767" y="143486"/>
                </a:lnTo>
                <a:lnTo>
                  <a:pt x="161179" y="166872"/>
                </a:lnTo>
                <a:lnTo>
                  <a:pt x="157242" y="188839"/>
                </a:lnTo>
                <a:lnTo>
                  <a:pt x="152956" y="209388"/>
                </a:lnTo>
                <a:lnTo>
                  <a:pt x="171385" y="214043"/>
                </a:lnTo>
                <a:lnTo>
                  <a:pt x="174848" y="193400"/>
                </a:lnTo>
                <a:lnTo>
                  <a:pt x="178022" y="171280"/>
                </a:lnTo>
                <a:lnTo>
                  <a:pt x="180907" y="147684"/>
                </a:lnTo>
                <a:lnTo>
                  <a:pt x="183503" y="122612"/>
                </a:lnTo>
                <a:lnTo>
                  <a:pt x="168004" y="118682"/>
                </a:lnTo>
                <a:close/>
              </a:path>
              <a:path w="237489" h="248285">
                <a:moveTo>
                  <a:pt x="127936" y="137353"/>
                </a:moveTo>
                <a:lnTo>
                  <a:pt x="110373" y="137353"/>
                </a:lnTo>
                <a:lnTo>
                  <a:pt x="138971" y="197655"/>
                </a:lnTo>
                <a:lnTo>
                  <a:pt x="153309" y="190855"/>
                </a:lnTo>
                <a:lnTo>
                  <a:pt x="127936" y="137353"/>
                </a:lnTo>
                <a:close/>
              </a:path>
              <a:path w="237489" h="248285">
                <a:moveTo>
                  <a:pt x="165720" y="22711"/>
                </a:moveTo>
                <a:lnTo>
                  <a:pt x="148156" y="22711"/>
                </a:lnTo>
                <a:lnTo>
                  <a:pt x="215599" y="164924"/>
                </a:lnTo>
                <a:lnTo>
                  <a:pt x="193010" y="175637"/>
                </a:lnTo>
                <a:lnTo>
                  <a:pt x="200555" y="191547"/>
                </a:lnTo>
                <a:lnTo>
                  <a:pt x="237483" y="174034"/>
                </a:lnTo>
                <a:lnTo>
                  <a:pt x="199153" y="93207"/>
                </a:lnTo>
                <a:lnTo>
                  <a:pt x="209794" y="93207"/>
                </a:lnTo>
                <a:lnTo>
                  <a:pt x="213992" y="87050"/>
                </a:lnTo>
                <a:lnTo>
                  <a:pt x="216296" y="83426"/>
                </a:lnTo>
                <a:lnTo>
                  <a:pt x="194514" y="83426"/>
                </a:lnTo>
                <a:lnTo>
                  <a:pt x="165720" y="22711"/>
                </a:lnTo>
                <a:close/>
              </a:path>
              <a:path w="237489" h="248285">
                <a:moveTo>
                  <a:pt x="88568" y="54338"/>
                </a:moveTo>
                <a:lnTo>
                  <a:pt x="74228" y="61139"/>
                </a:lnTo>
                <a:lnTo>
                  <a:pt x="102641" y="121048"/>
                </a:lnTo>
                <a:lnTo>
                  <a:pt x="52158" y="144989"/>
                </a:lnTo>
                <a:lnTo>
                  <a:pt x="94269" y="144989"/>
                </a:lnTo>
                <a:lnTo>
                  <a:pt x="110373" y="137353"/>
                </a:lnTo>
                <a:lnTo>
                  <a:pt x="127936" y="137353"/>
                </a:lnTo>
                <a:lnTo>
                  <a:pt x="88568" y="54338"/>
                </a:lnTo>
                <a:close/>
              </a:path>
              <a:path w="237489" h="248285">
                <a:moveTo>
                  <a:pt x="209794" y="93207"/>
                </a:moveTo>
                <a:lnTo>
                  <a:pt x="199153" y="93207"/>
                </a:lnTo>
                <a:lnTo>
                  <a:pt x="205913" y="98539"/>
                </a:lnTo>
                <a:lnTo>
                  <a:pt x="209794" y="93207"/>
                </a:lnTo>
                <a:close/>
              </a:path>
              <a:path w="237489" h="248285">
                <a:moveTo>
                  <a:pt x="80921" y="24761"/>
                </a:moveTo>
                <a:lnTo>
                  <a:pt x="79609" y="29927"/>
                </a:lnTo>
                <a:lnTo>
                  <a:pt x="77270" y="35736"/>
                </a:lnTo>
                <a:lnTo>
                  <a:pt x="73903" y="42188"/>
                </a:lnTo>
                <a:lnTo>
                  <a:pt x="91717" y="54221"/>
                </a:lnTo>
                <a:lnTo>
                  <a:pt x="111137" y="66171"/>
                </a:lnTo>
                <a:lnTo>
                  <a:pt x="132162" y="78037"/>
                </a:lnTo>
                <a:lnTo>
                  <a:pt x="154793" y="89819"/>
                </a:lnTo>
                <a:lnTo>
                  <a:pt x="160260" y="73092"/>
                </a:lnTo>
                <a:lnTo>
                  <a:pt x="139429" y="62626"/>
                </a:lnTo>
                <a:lnTo>
                  <a:pt x="119262" y="51082"/>
                </a:lnTo>
                <a:lnTo>
                  <a:pt x="99760" y="38461"/>
                </a:lnTo>
                <a:lnTo>
                  <a:pt x="80921" y="24761"/>
                </a:lnTo>
                <a:close/>
              </a:path>
              <a:path w="237489" h="248285">
                <a:moveTo>
                  <a:pt x="208057" y="63357"/>
                </a:moveTo>
                <a:lnTo>
                  <a:pt x="203191" y="71123"/>
                </a:lnTo>
                <a:lnTo>
                  <a:pt x="198677" y="77814"/>
                </a:lnTo>
                <a:lnTo>
                  <a:pt x="194514" y="83426"/>
                </a:lnTo>
                <a:lnTo>
                  <a:pt x="216296" y="83426"/>
                </a:lnTo>
                <a:lnTo>
                  <a:pt x="217916" y="80878"/>
                </a:lnTo>
                <a:lnTo>
                  <a:pt x="221763" y="74421"/>
                </a:lnTo>
                <a:lnTo>
                  <a:pt x="208057" y="63357"/>
                </a:lnTo>
                <a:close/>
              </a:path>
              <a:path w="237489" h="248285">
                <a:moveTo>
                  <a:pt x="154950" y="0"/>
                </a:moveTo>
                <a:lnTo>
                  <a:pt x="118022" y="17513"/>
                </a:lnTo>
                <a:lnTo>
                  <a:pt x="125567" y="33423"/>
                </a:lnTo>
                <a:lnTo>
                  <a:pt x="148156" y="22711"/>
                </a:lnTo>
                <a:lnTo>
                  <a:pt x="165720" y="22711"/>
                </a:lnTo>
                <a:lnTo>
                  <a:pt x="154950" y="0"/>
                </a:lnTo>
                <a:close/>
              </a:path>
            </a:pathLst>
          </a:custGeom>
          <a:solidFill>
            <a:srgbClr val="FFFFFF"/>
          </a:solidFill>
        </p:spPr>
        <p:txBody>
          <a:bodyPr wrap="square" lIns="0" tIns="0" rIns="0" bIns="0" rtlCol="0"/>
          <a:lstStyle/>
          <a:p>
            <a:endParaRPr/>
          </a:p>
        </p:txBody>
      </p:sp>
      <p:sp>
        <p:nvSpPr>
          <p:cNvPr id="8" name="object 8"/>
          <p:cNvSpPr/>
          <p:nvPr/>
        </p:nvSpPr>
        <p:spPr>
          <a:xfrm>
            <a:off x="3838945" y="3911358"/>
            <a:ext cx="231775" cy="216535"/>
          </a:xfrm>
          <a:custGeom>
            <a:avLst/>
            <a:gdLst/>
            <a:ahLst/>
            <a:cxnLst/>
            <a:rect l="l" t="t" r="r" b="b"/>
            <a:pathLst>
              <a:path w="231775" h="216535">
                <a:moveTo>
                  <a:pt x="44150" y="153302"/>
                </a:moveTo>
                <a:lnTo>
                  <a:pt x="37480" y="156532"/>
                </a:lnTo>
                <a:lnTo>
                  <a:pt x="32136" y="158885"/>
                </a:lnTo>
                <a:lnTo>
                  <a:pt x="28117" y="160361"/>
                </a:lnTo>
                <a:lnTo>
                  <a:pt x="30005" y="169683"/>
                </a:lnTo>
                <a:lnTo>
                  <a:pt x="46214" y="212770"/>
                </a:lnTo>
                <a:lnTo>
                  <a:pt x="55609" y="216514"/>
                </a:lnTo>
                <a:lnTo>
                  <a:pt x="67439" y="215822"/>
                </a:lnTo>
                <a:lnTo>
                  <a:pt x="134665" y="200835"/>
                </a:lnTo>
                <a:lnTo>
                  <a:pt x="58732" y="200835"/>
                </a:lnTo>
                <a:lnTo>
                  <a:pt x="52534" y="196768"/>
                </a:lnTo>
                <a:lnTo>
                  <a:pt x="50220" y="186386"/>
                </a:lnTo>
                <a:lnTo>
                  <a:pt x="48459" y="178060"/>
                </a:lnTo>
                <a:lnTo>
                  <a:pt x="46854" y="169683"/>
                </a:lnTo>
                <a:lnTo>
                  <a:pt x="45485" y="161817"/>
                </a:lnTo>
                <a:lnTo>
                  <a:pt x="44150" y="153302"/>
                </a:lnTo>
                <a:close/>
              </a:path>
              <a:path w="231775" h="216535">
                <a:moveTo>
                  <a:pt x="204736" y="59369"/>
                </a:moveTo>
                <a:lnTo>
                  <a:pt x="189246" y="62823"/>
                </a:lnTo>
                <a:lnTo>
                  <a:pt x="212378" y="166582"/>
                </a:lnTo>
                <a:lnTo>
                  <a:pt x="58732" y="200835"/>
                </a:lnTo>
                <a:lnTo>
                  <a:pt x="134665" y="200835"/>
                </a:lnTo>
                <a:lnTo>
                  <a:pt x="231463" y="179255"/>
                </a:lnTo>
                <a:lnTo>
                  <a:pt x="204736" y="59369"/>
                </a:lnTo>
                <a:close/>
              </a:path>
              <a:path w="231775" h="216535">
                <a:moveTo>
                  <a:pt x="74815" y="89037"/>
                </a:moveTo>
                <a:lnTo>
                  <a:pt x="59669" y="89037"/>
                </a:lnTo>
                <a:lnTo>
                  <a:pt x="75895" y="161817"/>
                </a:lnTo>
                <a:lnTo>
                  <a:pt x="157900" y="143535"/>
                </a:lnTo>
                <a:lnTo>
                  <a:pt x="86964" y="143535"/>
                </a:lnTo>
                <a:lnTo>
                  <a:pt x="74815" y="89037"/>
                </a:lnTo>
                <a:close/>
              </a:path>
              <a:path w="231775" h="216535">
                <a:moveTo>
                  <a:pt x="118950" y="79198"/>
                </a:moveTo>
                <a:lnTo>
                  <a:pt x="103804" y="79198"/>
                </a:lnTo>
                <a:lnTo>
                  <a:pt x="116671" y="136913"/>
                </a:lnTo>
                <a:lnTo>
                  <a:pt x="86964" y="143535"/>
                </a:lnTo>
                <a:lnTo>
                  <a:pt x="157900" y="143535"/>
                </a:lnTo>
                <a:lnTo>
                  <a:pt x="178169" y="139016"/>
                </a:lnTo>
                <a:lnTo>
                  <a:pt x="176983" y="133696"/>
                </a:lnTo>
                <a:lnTo>
                  <a:pt x="131099" y="133696"/>
                </a:lnTo>
                <a:lnTo>
                  <a:pt x="118950" y="79198"/>
                </a:lnTo>
                <a:close/>
              </a:path>
              <a:path w="231775" h="216535">
                <a:moveTo>
                  <a:pt x="162660" y="69453"/>
                </a:moveTo>
                <a:lnTo>
                  <a:pt x="147515" y="69453"/>
                </a:lnTo>
                <a:lnTo>
                  <a:pt x="160381" y="127168"/>
                </a:lnTo>
                <a:lnTo>
                  <a:pt x="131099" y="133696"/>
                </a:lnTo>
                <a:lnTo>
                  <a:pt x="176983" y="133696"/>
                </a:lnTo>
                <a:lnTo>
                  <a:pt x="162660" y="69453"/>
                </a:lnTo>
                <a:close/>
              </a:path>
              <a:path w="231775" h="216535">
                <a:moveTo>
                  <a:pt x="158584" y="51172"/>
                </a:moveTo>
                <a:lnTo>
                  <a:pt x="43367" y="76857"/>
                </a:lnTo>
                <a:lnTo>
                  <a:pt x="46725" y="91922"/>
                </a:lnTo>
                <a:lnTo>
                  <a:pt x="59669" y="89037"/>
                </a:lnTo>
                <a:lnTo>
                  <a:pt x="74815" y="89037"/>
                </a:lnTo>
                <a:lnTo>
                  <a:pt x="74098" y="85820"/>
                </a:lnTo>
                <a:lnTo>
                  <a:pt x="103804" y="79198"/>
                </a:lnTo>
                <a:lnTo>
                  <a:pt x="118950" y="79198"/>
                </a:lnTo>
                <a:lnTo>
                  <a:pt x="118233" y="75981"/>
                </a:lnTo>
                <a:lnTo>
                  <a:pt x="147515" y="69453"/>
                </a:lnTo>
                <a:lnTo>
                  <a:pt x="162660" y="69453"/>
                </a:lnTo>
                <a:lnTo>
                  <a:pt x="158584" y="51172"/>
                </a:lnTo>
                <a:close/>
              </a:path>
              <a:path w="231775" h="216535">
                <a:moveTo>
                  <a:pt x="162323" y="0"/>
                </a:moveTo>
                <a:lnTo>
                  <a:pt x="0" y="36188"/>
                </a:lnTo>
                <a:lnTo>
                  <a:pt x="3595" y="52313"/>
                </a:lnTo>
                <a:lnTo>
                  <a:pt x="165917" y="16126"/>
                </a:lnTo>
                <a:lnTo>
                  <a:pt x="162323" y="0"/>
                </a:lnTo>
                <a:close/>
              </a:path>
              <a:path w="231775" h="216535">
                <a:moveTo>
                  <a:pt x="195331" y="4001"/>
                </a:moveTo>
                <a:lnTo>
                  <a:pt x="189292" y="13050"/>
                </a:lnTo>
                <a:lnTo>
                  <a:pt x="183242" y="21801"/>
                </a:lnTo>
                <a:lnTo>
                  <a:pt x="177181" y="30255"/>
                </a:lnTo>
                <a:lnTo>
                  <a:pt x="171109" y="38412"/>
                </a:lnTo>
                <a:lnTo>
                  <a:pt x="185891" y="49093"/>
                </a:lnTo>
                <a:lnTo>
                  <a:pt x="191491" y="40649"/>
                </a:lnTo>
                <a:lnTo>
                  <a:pt x="197132" y="31898"/>
                </a:lnTo>
                <a:lnTo>
                  <a:pt x="202814" y="22840"/>
                </a:lnTo>
                <a:lnTo>
                  <a:pt x="208537" y="13474"/>
                </a:lnTo>
                <a:lnTo>
                  <a:pt x="195331" y="4001"/>
                </a:lnTo>
                <a:close/>
              </a:path>
            </a:pathLst>
          </a:custGeom>
          <a:solidFill>
            <a:srgbClr val="FFFFFF"/>
          </a:solidFill>
        </p:spPr>
        <p:txBody>
          <a:bodyPr wrap="square" lIns="0" tIns="0" rIns="0" bIns="0" rtlCol="0"/>
          <a:lstStyle/>
          <a:p>
            <a:endParaRPr/>
          </a:p>
        </p:txBody>
      </p:sp>
      <p:sp>
        <p:nvSpPr>
          <p:cNvPr id="9" name="object 9"/>
          <p:cNvSpPr/>
          <p:nvPr/>
        </p:nvSpPr>
        <p:spPr>
          <a:xfrm>
            <a:off x="3879245" y="4133218"/>
            <a:ext cx="211454" cy="212090"/>
          </a:xfrm>
          <a:custGeom>
            <a:avLst/>
            <a:gdLst/>
            <a:ahLst/>
            <a:cxnLst/>
            <a:rect l="l" t="t" r="r" b="b"/>
            <a:pathLst>
              <a:path w="211454" h="212089">
                <a:moveTo>
                  <a:pt x="14293" y="12183"/>
                </a:moveTo>
                <a:lnTo>
                  <a:pt x="9389" y="16005"/>
                </a:lnTo>
                <a:lnTo>
                  <a:pt x="4624" y="19260"/>
                </a:lnTo>
                <a:lnTo>
                  <a:pt x="0" y="21949"/>
                </a:lnTo>
                <a:lnTo>
                  <a:pt x="5453" y="47722"/>
                </a:lnTo>
                <a:lnTo>
                  <a:pt x="11240" y="71521"/>
                </a:lnTo>
                <a:lnTo>
                  <a:pt x="17360" y="93347"/>
                </a:lnTo>
                <a:lnTo>
                  <a:pt x="23813" y="113200"/>
                </a:lnTo>
                <a:lnTo>
                  <a:pt x="17257" y="132579"/>
                </a:lnTo>
                <a:lnTo>
                  <a:pt x="11539" y="153800"/>
                </a:lnTo>
                <a:lnTo>
                  <a:pt x="6660" y="176865"/>
                </a:lnTo>
                <a:lnTo>
                  <a:pt x="2620" y="201773"/>
                </a:lnTo>
                <a:lnTo>
                  <a:pt x="7917" y="204603"/>
                </a:lnTo>
                <a:lnTo>
                  <a:pt x="13787" y="207930"/>
                </a:lnTo>
                <a:lnTo>
                  <a:pt x="20229" y="211752"/>
                </a:lnTo>
                <a:lnTo>
                  <a:pt x="22191" y="190329"/>
                </a:lnTo>
                <a:lnTo>
                  <a:pt x="24823" y="170286"/>
                </a:lnTo>
                <a:lnTo>
                  <a:pt x="28125" y="151620"/>
                </a:lnTo>
                <a:lnTo>
                  <a:pt x="32096" y="134334"/>
                </a:lnTo>
                <a:lnTo>
                  <a:pt x="47492" y="134334"/>
                </a:lnTo>
                <a:lnTo>
                  <a:pt x="44282" y="127754"/>
                </a:lnTo>
                <a:lnTo>
                  <a:pt x="38355" y="113634"/>
                </a:lnTo>
                <a:lnTo>
                  <a:pt x="43801" y="99758"/>
                </a:lnTo>
                <a:lnTo>
                  <a:pt x="46505" y="94200"/>
                </a:lnTo>
                <a:lnTo>
                  <a:pt x="31775" y="94200"/>
                </a:lnTo>
                <a:lnTo>
                  <a:pt x="27445" y="78027"/>
                </a:lnTo>
                <a:lnTo>
                  <a:pt x="23088" y="58966"/>
                </a:lnTo>
                <a:lnTo>
                  <a:pt x="18704" y="37018"/>
                </a:lnTo>
                <a:lnTo>
                  <a:pt x="14293" y="12183"/>
                </a:lnTo>
                <a:close/>
              </a:path>
              <a:path w="211454" h="212089">
                <a:moveTo>
                  <a:pt x="190272" y="37099"/>
                </a:moveTo>
                <a:lnTo>
                  <a:pt x="165440" y="37099"/>
                </a:lnTo>
                <a:lnTo>
                  <a:pt x="170229" y="41205"/>
                </a:lnTo>
                <a:lnTo>
                  <a:pt x="175229" y="45168"/>
                </a:lnTo>
                <a:lnTo>
                  <a:pt x="180440" y="48990"/>
                </a:lnTo>
                <a:lnTo>
                  <a:pt x="180450" y="207829"/>
                </a:lnTo>
                <a:lnTo>
                  <a:pt x="194146" y="207829"/>
                </a:lnTo>
                <a:lnTo>
                  <a:pt x="194137" y="58205"/>
                </a:lnTo>
                <a:lnTo>
                  <a:pt x="211312" y="58205"/>
                </a:lnTo>
                <a:lnTo>
                  <a:pt x="211311" y="50161"/>
                </a:lnTo>
                <a:lnTo>
                  <a:pt x="193603" y="39566"/>
                </a:lnTo>
                <a:lnTo>
                  <a:pt x="190272" y="37099"/>
                </a:lnTo>
                <a:close/>
              </a:path>
              <a:path w="211454" h="212089">
                <a:moveTo>
                  <a:pt x="47492" y="134334"/>
                </a:moveTo>
                <a:lnTo>
                  <a:pt x="32096" y="134334"/>
                </a:lnTo>
                <a:lnTo>
                  <a:pt x="39536" y="149640"/>
                </a:lnTo>
                <a:lnTo>
                  <a:pt x="47466" y="163515"/>
                </a:lnTo>
                <a:lnTo>
                  <a:pt x="55885" y="175957"/>
                </a:lnTo>
                <a:lnTo>
                  <a:pt x="64794" y="186966"/>
                </a:lnTo>
                <a:lnTo>
                  <a:pt x="76534" y="186965"/>
                </a:lnTo>
                <a:lnTo>
                  <a:pt x="76532" y="162553"/>
                </a:lnTo>
                <a:lnTo>
                  <a:pt x="64140" y="162553"/>
                </a:lnTo>
                <a:lnTo>
                  <a:pt x="57174" y="152213"/>
                </a:lnTo>
                <a:lnTo>
                  <a:pt x="50555" y="140614"/>
                </a:lnTo>
                <a:lnTo>
                  <a:pt x="47492" y="134334"/>
                </a:lnTo>
                <a:close/>
              </a:path>
              <a:path w="211454" h="212089">
                <a:moveTo>
                  <a:pt x="150383" y="0"/>
                </a:moveTo>
                <a:lnTo>
                  <a:pt x="145632" y="4105"/>
                </a:lnTo>
                <a:lnTo>
                  <a:pt x="141230" y="7362"/>
                </a:lnTo>
                <a:lnTo>
                  <a:pt x="137176" y="9767"/>
                </a:lnTo>
                <a:lnTo>
                  <a:pt x="142530" y="15567"/>
                </a:lnTo>
                <a:lnTo>
                  <a:pt x="148069" y="21234"/>
                </a:lnTo>
                <a:lnTo>
                  <a:pt x="153794" y="26770"/>
                </a:lnTo>
                <a:lnTo>
                  <a:pt x="159705" y="32174"/>
                </a:lnTo>
                <a:lnTo>
                  <a:pt x="85220" y="32179"/>
                </a:lnTo>
                <a:lnTo>
                  <a:pt x="85220" y="46962"/>
                </a:lnTo>
                <a:lnTo>
                  <a:pt x="92829" y="46962"/>
                </a:lnTo>
                <a:lnTo>
                  <a:pt x="92838" y="171747"/>
                </a:lnTo>
                <a:lnTo>
                  <a:pt x="87402" y="171747"/>
                </a:lnTo>
                <a:lnTo>
                  <a:pt x="87403" y="186529"/>
                </a:lnTo>
                <a:lnTo>
                  <a:pt x="165449" y="186524"/>
                </a:lnTo>
                <a:lnTo>
                  <a:pt x="165448" y="171745"/>
                </a:lnTo>
                <a:lnTo>
                  <a:pt x="106098" y="171745"/>
                </a:lnTo>
                <a:lnTo>
                  <a:pt x="106090" y="46960"/>
                </a:lnTo>
                <a:lnTo>
                  <a:pt x="135657" y="46958"/>
                </a:lnTo>
                <a:lnTo>
                  <a:pt x="165440" y="46958"/>
                </a:lnTo>
                <a:lnTo>
                  <a:pt x="165440" y="37099"/>
                </a:lnTo>
                <a:lnTo>
                  <a:pt x="190272" y="37099"/>
                </a:lnTo>
                <a:lnTo>
                  <a:pt x="177545" y="27674"/>
                </a:lnTo>
                <a:lnTo>
                  <a:pt x="163138" y="14485"/>
                </a:lnTo>
                <a:lnTo>
                  <a:pt x="150383" y="0"/>
                </a:lnTo>
                <a:close/>
              </a:path>
              <a:path w="211454" h="212089">
                <a:moveTo>
                  <a:pt x="135657" y="46959"/>
                </a:moveTo>
                <a:lnTo>
                  <a:pt x="123047" y="46959"/>
                </a:lnTo>
                <a:lnTo>
                  <a:pt x="123055" y="171744"/>
                </a:lnTo>
                <a:lnTo>
                  <a:pt x="106098" y="171745"/>
                </a:lnTo>
                <a:lnTo>
                  <a:pt x="165448" y="171745"/>
                </a:lnTo>
                <a:lnTo>
                  <a:pt x="135663" y="171744"/>
                </a:lnTo>
                <a:lnTo>
                  <a:pt x="135657" y="46959"/>
                </a:lnTo>
                <a:close/>
              </a:path>
              <a:path w="211454" h="212089">
                <a:moveTo>
                  <a:pt x="165440" y="46958"/>
                </a:moveTo>
                <a:lnTo>
                  <a:pt x="152179" y="46958"/>
                </a:lnTo>
                <a:lnTo>
                  <a:pt x="152186" y="171743"/>
                </a:lnTo>
                <a:lnTo>
                  <a:pt x="135663" y="171744"/>
                </a:lnTo>
                <a:lnTo>
                  <a:pt x="165448" y="171744"/>
                </a:lnTo>
                <a:lnTo>
                  <a:pt x="165440" y="46958"/>
                </a:lnTo>
                <a:close/>
              </a:path>
              <a:path w="211454" h="212089">
                <a:moveTo>
                  <a:pt x="87830" y="66009"/>
                </a:moveTo>
                <a:lnTo>
                  <a:pt x="64135" y="66009"/>
                </a:lnTo>
                <a:lnTo>
                  <a:pt x="64140" y="162553"/>
                </a:lnTo>
                <a:lnTo>
                  <a:pt x="76532" y="162553"/>
                </a:lnTo>
                <a:lnTo>
                  <a:pt x="76526" y="72343"/>
                </a:lnTo>
                <a:lnTo>
                  <a:pt x="87831" y="72343"/>
                </a:lnTo>
                <a:lnTo>
                  <a:pt x="87830" y="66009"/>
                </a:lnTo>
                <a:close/>
              </a:path>
              <a:path w="211454" h="212089">
                <a:moveTo>
                  <a:pt x="39510" y="7"/>
                </a:moveTo>
                <a:lnTo>
                  <a:pt x="35829" y="3827"/>
                </a:lnTo>
                <a:lnTo>
                  <a:pt x="31845" y="7362"/>
                </a:lnTo>
                <a:lnTo>
                  <a:pt x="27825" y="10408"/>
                </a:lnTo>
                <a:lnTo>
                  <a:pt x="34301" y="22019"/>
                </a:lnTo>
                <a:lnTo>
                  <a:pt x="41537" y="33192"/>
                </a:lnTo>
                <a:lnTo>
                  <a:pt x="49535" y="43927"/>
                </a:lnTo>
                <a:lnTo>
                  <a:pt x="58294" y="54226"/>
                </a:lnTo>
                <a:lnTo>
                  <a:pt x="51000" y="62777"/>
                </a:lnTo>
                <a:lnTo>
                  <a:pt x="44117" y="72343"/>
                </a:lnTo>
                <a:lnTo>
                  <a:pt x="37746" y="82756"/>
                </a:lnTo>
                <a:lnTo>
                  <a:pt x="31775" y="94200"/>
                </a:lnTo>
                <a:lnTo>
                  <a:pt x="46505" y="94200"/>
                </a:lnTo>
                <a:lnTo>
                  <a:pt x="49913" y="87195"/>
                </a:lnTo>
                <a:lnTo>
                  <a:pt x="56691" y="75946"/>
                </a:lnTo>
                <a:lnTo>
                  <a:pt x="64135" y="66009"/>
                </a:lnTo>
                <a:lnTo>
                  <a:pt x="87830" y="66009"/>
                </a:lnTo>
                <a:lnTo>
                  <a:pt x="87821" y="62769"/>
                </a:lnTo>
                <a:lnTo>
                  <a:pt x="73874" y="49948"/>
                </a:lnTo>
                <a:lnTo>
                  <a:pt x="61169" y="35210"/>
                </a:lnTo>
                <a:lnTo>
                  <a:pt x="49714" y="18563"/>
                </a:lnTo>
                <a:lnTo>
                  <a:pt x="39510" y="7"/>
                </a:lnTo>
                <a:close/>
              </a:path>
              <a:path w="211454" h="212089">
                <a:moveTo>
                  <a:pt x="87831" y="72343"/>
                </a:moveTo>
                <a:lnTo>
                  <a:pt x="76526" y="72343"/>
                </a:lnTo>
                <a:lnTo>
                  <a:pt x="80154" y="75619"/>
                </a:lnTo>
                <a:lnTo>
                  <a:pt x="83922" y="78826"/>
                </a:lnTo>
                <a:lnTo>
                  <a:pt x="87831" y="81963"/>
                </a:lnTo>
                <a:lnTo>
                  <a:pt x="87831" y="72343"/>
                </a:lnTo>
                <a:close/>
              </a:path>
              <a:path w="211454" h="212089">
                <a:moveTo>
                  <a:pt x="211312" y="58205"/>
                </a:moveTo>
                <a:lnTo>
                  <a:pt x="194137" y="58205"/>
                </a:lnTo>
                <a:lnTo>
                  <a:pt x="199649" y="61808"/>
                </a:lnTo>
                <a:lnTo>
                  <a:pt x="205374" y="65304"/>
                </a:lnTo>
                <a:lnTo>
                  <a:pt x="211312" y="68694"/>
                </a:lnTo>
                <a:lnTo>
                  <a:pt x="211312" y="58205"/>
                </a:lnTo>
                <a:close/>
              </a:path>
            </a:pathLst>
          </a:custGeom>
          <a:solidFill>
            <a:srgbClr val="FFFFFF"/>
          </a:solidFill>
        </p:spPr>
        <p:txBody>
          <a:bodyPr wrap="square" lIns="0" tIns="0" rIns="0" bIns="0" rtlCol="0"/>
          <a:lstStyle/>
          <a:p>
            <a:endParaRPr/>
          </a:p>
        </p:txBody>
      </p:sp>
      <p:sp>
        <p:nvSpPr>
          <p:cNvPr id="10" name="object 10"/>
          <p:cNvSpPr/>
          <p:nvPr/>
        </p:nvSpPr>
        <p:spPr>
          <a:xfrm>
            <a:off x="3850547" y="4339221"/>
            <a:ext cx="221615" cy="236220"/>
          </a:xfrm>
          <a:custGeom>
            <a:avLst/>
            <a:gdLst/>
            <a:ahLst/>
            <a:cxnLst/>
            <a:rect l="l" t="t" r="r" b="b"/>
            <a:pathLst>
              <a:path w="221614" h="236220">
                <a:moveTo>
                  <a:pt x="121309" y="161692"/>
                </a:moveTo>
                <a:lnTo>
                  <a:pt x="98582" y="192892"/>
                </a:lnTo>
                <a:lnTo>
                  <a:pt x="97380" y="204167"/>
                </a:lnTo>
                <a:lnTo>
                  <a:pt x="99234" y="213479"/>
                </a:lnTo>
                <a:lnTo>
                  <a:pt x="135939" y="235884"/>
                </a:lnTo>
                <a:lnTo>
                  <a:pt x="138022" y="232390"/>
                </a:lnTo>
                <a:lnTo>
                  <a:pt x="141361" y="227491"/>
                </a:lnTo>
                <a:lnTo>
                  <a:pt x="145954" y="221188"/>
                </a:lnTo>
                <a:lnTo>
                  <a:pt x="138579" y="218824"/>
                </a:lnTo>
                <a:lnTo>
                  <a:pt x="131933" y="216487"/>
                </a:lnTo>
                <a:lnTo>
                  <a:pt x="126016" y="214175"/>
                </a:lnTo>
                <a:lnTo>
                  <a:pt x="114362" y="208997"/>
                </a:lnTo>
                <a:lnTo>
                  <a:pt x="112053" y="203404"/>
                </a:lnTo>
                <a:lnTo>
                  <a:pt x="117181" y="180385"/>
                </a:lnTo>
                <a:lnTo>
                  <a:pt x="122431" y="177638"/>
                </a:lnTo>
                <a:lnTo>
                  <a:pt x="181717" y="177638"/>
                </a:lnTo>
                <a:lnTo>
                  <a:pt x="183349" y="170314"/>
                </a:lnTo>
                <a:lnTo>
                  <a:pt x="167535" y="170314"/>
                </a:lnTo>
                <a:lnTo>
                  <a:pt x="133355" y="162699"/>
                </a:lnTo>
                <a:lnTo>
                  <a:pt x="121309" y="161692"/>
                </a:lnTo>
                <a:close/>
              </a:path>
              <a:path w="221614" h="236220">
                <a:moveTo>
                  <a:pt x="21275" y="57034"/>
                </a:moveTo>
                <a:lnTo>
                  <a:pt x="15200" y="84297"/>
                </a:lnTo>
                <a:lnTo>
                  <a:pt x="14356" y="94907"/>
                </a:lnTo>
                <a:lnTo>
                  <a:pt x="17063" y="103223"/>
                </a:lnTo>
                <a:lnTo>
                  <a:pt x="23321" y="109245"/>
                </a:lnTo>
                <a:lnTo>
                  <a:pt x="33130" y="112972"/>
                </a:lnTo>
                <a:lnTo>
                  <a:pt x="84228" y="124358"/>
                </a:lnTo>
                <a:lnTo>
                  <a:pt x="65034" y="210508"/>
                </a:lnTo>
                <a:lnTo>
                  <a:pt x="80100" y="213865"/>
                </a:lnTo>
                <a:lnTo>
                  <a:pt x="99294" y="127715"/>
                </a:lnTo>
                <a:lnTo>
                  <a:pt x="126690" y="127715"/>
                </a:lnTo>
                <a:lnTo>
                  <a:pt x="129225" y="116343"/>
                </a:lnTo>
                <a:lnTo>
                  <a:pt x="103124" y="110528"/>
                </a:lnTo>
                <a:lnTo>
                  <a:pt x="103872" y="107170"/>
                </a:lnTo>
                <a:lnTo>
                  <a:pt x="88059" y="107170"/>
                </a:lnTo>
                <a:lnTo>
                  <a:pt x="33489" y="95012"/>
                </a:lnTo>
                <a:lnTo>
                  <a:pt x="30128" y="90272"/>
                </a:lnTo>
                <a:lnTo>
                  <a:pt x="31822" y="82669"/>
                </a:lnTo>
                <a:lnTo>
                  <a:pt x="33257" y="76593"/>
                </a:lnTo>
                <a:lnTo>
                  <a:pt x="34940" y="70196"/>
                </a:lnTo>
                <a:lnTo>
                  <a:pt x="36697" y="64079"/>
                </a:lnTo>
                <a:lnTo>
                  <a:pt x="38703" y="57642"/>
                </a:lnTo>
                <a:lnTo>
                  <a:pt x="21275" y="57034"/>
                </a:lnTo>
                <a:close/>
              </a:path>
              <a:path w="221614" h="236220">
                <a:moveTo>
                  <a:pt x="53938" y="140773"/>
                </a:moveTo>
                <a:lnTo>
                  <a:pt x="41252" y="152967"/>
                </a:lnTo>
                <a:lnTo>
                  <a:pt x="28034" y="164988"/>
                </a:lnTo>
                <a:lnTo>
                  <a:pt x="14283" y="176836"/>
                </a:lnTo>
                <a:lnTo>
                  <a:pt x="0" y="188512"/>
                </a:lnTo>
                <a:lnTo>
                  <a:pt x="12595" y="203280"/>
                </a:lnTo>
                <a:lnTo>
                  <a:pt x="24347" y="192772"/>
                </a:lnTo>
                <a:lnTo>
                  <a:pt x="36913" y="181056"/>
                </a:lnTo>
                <a:lnTo>
                  <a:pt x="50291" y="168131"/>
                </a:lnTo>
                <a:lnTo>
                  <a:pt x="64484" y="153997"/>
                </a:lnTo>
                <a:lnTo>
                  <a:pt x="53938" y="140773"/>
                </a:lnTo>
                <a:close/>
              </a:path>
              <a:path w="221614" h="236220">
                <a:moveTo>
                  <a:pt x="181717" y="177638"/>
                </a:moveTo>
                <a:lnTo>
                  <a:pt x="122431" y="177638"/>
                </a:lnTo>
                <a:lnTo>
                  <a:pt x="178913" y="190223"/>
                </a:lnTo>
                <a:lnTo>
                  <a:pt x="181717" y="177638"/>
                </a:lnTo>
                <a:close/>
              </a:path>
              <a:path w="221614" h="236220">
                <a:moveTo>
                  <a:pt x="146248" y="23694"/>
                </a:moveTo>
                <a:lnTo>
                  <a:pt x="141338" y="26080"/>
                </a:lnTo>
                <a:lnTo>
                  <a:pt x="135595" y="28281"/>
                </a:lnTo>
                <a:lnTo>
                  <a:pt x="129019" y="30295"/>
                </a:lnTo>
                <a:lnTo>
                  <a:pt x="135304" y="60203"/>
                </a:lnTo>
                <a:lnTo>
                  <a:pt x="145952" y="83934"/>
                </a:lnTo>
                <a:lnTo>
                  <a:pt x="160963" y="101487"/>
                </a:lnTo>
                <a:lnTo>
                  <a:pt x="180336" y="112863"/>
                </a:lnTo>
                <a:lnTo>
                  <a:pt x="167535" y="170314"/>
                </a:lnTo>
                <a:lnTo>
                  <a:pt x="183349" y="170314"/>
                </a:lnTo>
                <a:lnTo>
                  <a:pt x="195177" y="117228"/>
                </a:lnTo>
                <a:lnTo>
                  <a:pt x="219009" y="117228"/>
                </a:lnTo>
                <a:lnTo>
                  <a:pt x="221432" y="106352"/>
                </a:lnTo>
                <a:lnTo>
                  <a:pt x="212968" y="104467"/>
                </a:lnTo>
                <a:lnTo>
                  <a:pt x="205446" y="102575"/>
                </a:lnTo>
                <a:lnTo>
                  <a:pt x="198864" y="100677"/>
                </a:lnTo>
                <a:lnTo>
                  <a:pt x="199978" y="95676"/>
                </a:lnTo>
                <a:lnTo>
                  <a:pt x="184165" y="95676"/>
                </a:lnTo>
                <a:lnTo>
                  <a:pt x="169393" y="85564"/>
                </a:lnTo>
                <a:lnTo>
                  <a:pt x="158150" y="70196"/>
                </a:lnTo>
                <a:lnTo>
                  <a:pt x="150435" y="49573"/>
                </a:lnTo>
                <a:lnTo>
                  <a:pt x="146248" y="23694"/>
                </a:lnTo>
                <a:close/>
              </a:path>
              <a:path w="221614" h="236220">
                <a:moveTo>
                  <a:pt x="126690" y="127715"/>
                </a:moveTo>
                <a:lnTo>
                  <a:pt x="99294" y="127715"/>
                </a:lnTo>
                <a:lnTo>
                  <a:pt x="125394" y="133530"/>
                </a:lnTo>
                <a:lnTo>
                  <a:pt x="126690" y="127715"/>
                </a:lnTo>
                <a:close/>
              </a:path>
              <a:path w="221614" h="236220">
                <a:moveTo>
                  <a:pt x="219009" y="117228"/>
                </a:moveTo>
                <a:lnTo>
                  <a:pt x="195177" y="117228"/>
                </a:lnTo>
                <a:lnTo>
                  <a:pt x="201773" y="119059"/>
                </a:lnTo>
                <a:lnTo>
                  <a:pt x="209302" y="120919"/>
                </a:lnTo>
                <a:lnTo>
                  <a:pt x="217766" y="122803"/>
                </a:lnTo>
                <a:lnTo>
                  <a:pt x="219009" y="117228"/>
                </a:lnTo>
                <a:close/>
              </a:path>
              <a:path w="221614" h="236220">
                <a:moveTo>
                  <a:pt x="108530" y="15290"/>
                </a:moveTo>
                <a:lnTo>
                  <a:pt x="88059" y="107170"/>
                </a:lnTo>
                <a:lnTo>
                  <a:pt x="103872" y="107170"/>
                </a:lnTo>
                <a:lnTo>
                  <a:pt x="123596" y="18647"/>
                </a:lnTo>
                <a:lnTo>
                  <a:pt x="108530" y="15290"/>
                </a:lnTo>
                <a:close/>
              </a:path>
              <a:path w="221614" h="236220">
                <a:moveTo>
                  <a:pt x="195477" y="44908"/>
                </a:moveTo>
                <a:lnTo>
                  <a:pt x="184165" y="95676"/>
                </a:lnTo>
                <a:lnTo>
                  <a:pt x="199978" y="95676"/>
                </a:lnTo>
                <a:lnTo>
                  <a:pt x="210541" y="48266"/>
                </a:lnTo>
                <a:lnTo>
                  <a:pt x="195477" y="44908"/>
                </a:lnTo>
                <a:close/>
              </a:path>
              <a:path w="221614" h="236220">
                <a:moveTo>
                  <a:pt x="53892" y="0"/>
                </a:moveTo>
                <a:lnTo>
                  <a:pt x="48723" y="3051"/>
                </a:lnTo>
                <a:lnTo>
                  <a:pt x="43423" y="5712"/>
                </a:lnTo>
                <a:lnTo>
                  <a:pt x="37994" y="7983"/>
                </a:lnTo>
                <a:lnTo>
                  <a:pt x="45998" y="25051"/>
                </a:lnTo>
                <a:lnTo>
                  <a:pt x="54445" y="41838"/>
                </a:lnTo>
                <a:lnTo>
                  <a:pt x="63335" y="58342"/>
                </a:lnTo>
                <a:lnTo>
                  <a:pt x="72668" y="74564"/>
                </a:lnTo>
                <a:lnTo>
                  <a:pt x="86939" y="64213"/>
                </a:lnTo>
                <a:lnTo>
                  <a:pt x="77521" y="48596"/>
                </a:lnTo>
                <a:lnTo>
                  <a:pt x="68874" y="32688"/>
                </a:lnTo>
                <a:lnTo>
                  <a:pt x="60997" y="16489"/>
                </a:lnTo>
                <a:lnTo>
                  <a:pt x="53892" y="0"/>
                </a:lnTo>
                <a:close/>
              </a:path>
            </a:pathLst>
          </a:custGeom>
          <a:solidFill>
            <a:srgbClr val="FFFFFF"/>
          </a:solidFill>
        </p:spPr>
        <p:txBody>
          <a:bodyPr wrap="square" lIns="0" tIns="0" rIns="0" bIns="0" rtlCol="0"/>
          <a:lstStyle/>
          <a:p>
            <a:endParaRPr/>
          </a:p>
        </p:txBody>
      </p:sp>
      <p:sp>
        <p:nvSpPr>
          <p:cNvPr id="11" name="object 11"/>
          <p:cNvSpPr/>
          <p:nvPr/>
        </p:nvSpPr>
        <p:spPr>
          <a:xfrm>
            <a:off x="3756130" y="4559037"/>
            <a:ext cx="258445" cy="227329"/>
          </a:xfrm>
          <a:custGeom>
            <a:avLst/>
            <a:gdLst/>
            <a:ahLst/>
            <a:cxnLst/>
            <a:rect l="l" t="t" r="r" b="b"/>
            <a:pathLst>
              <a:path w="258445" h="227329">
                <a:moveTo>
                  <a:pt x="144399" y="148418"/>
                </a:moveTo>
                <a:lnTo>
                  <a:pt x="104818" y="148418"/>
                </a:lnTo>
                <a:lnTo>
                  <a:pt x="151373" y="170489"/>
                </a:lnTo>
                <a:lnTo>
                  <a:pt x="127533" y="220778"/>
                </a:lnTo>
                <a:lnTo>
                  <a:pt x="140891" y="227111"/>
                </a:lnTo>
                <a:lnTo>
                  <a:pt x="164731" y="176823"/>
                </a:lnTo>
                <a:lnTo>
                  <a:pt x="204315" y="176823"/>
                </a:lnTo>
                <a:lnTo>
                  <a:pt x="171994" y="161500"/>
                </a:lnTo>
                <a:lnTo>
                  <a:pt x="174996" y="155168"/>
                </a:lnTo>
                <a:lnTo>
                  <a:pt x="158638" y="155168"/>
                </a:lnTo>
                <a:lnTo>
                  <a:pt x="144399" y="148418"/>
                </a:lnTo>
                <a:close/>
              </a:path>
              <a:path w="258445" h="227329">
                <a:moveTo>
                  <a:pt x="204315" y="176823"/>
                </a:moveTo>
                <a:lnTo>
                  <a:pt x="164731" y="176823"/>
                </a:lnTo>
                <a:lnTo>
                  <a:pt x="206965" y="196846"/>
                </a:lnTo>
                <a:lnTo>
                  <a:pt x="214229" y="181523"/>
                </a:lnTo>
                <a:lnTo>
                  <a:pt x="204315" y="176823"/>
                </a:lnTo>
                <a:close/>
              </a:path>
              <a:path w="258445" h="227329">
                <a:moveTo>
                  <a:pt x="79577" y="117687"/>
                </a:moveTo>
                <a:lnTo>
                  <a:pt x="39992" y="117687"/>
                </a:lnTo>
                <a:lnTo>
                  <a:pt x="91459" y="142086"/>
                </a:lnTo>
                <a:lnTo>
                  <a:pt x="69481" y="188446"/>
                </a:lnTo>
                <a:lnTo>
                  <a:pt x="82839" y="194778"/>
                </a:lnTo>
                <a:lnTo>
                  <a:pt x="104818" y="148418"/>
                </a:lnTo>
                <a:lnTo>
                  <a:pt x="144399" y="148418"/>
                </a:lnTo>
                <a:lnTo>
                  <a:pt x="112081" y="133097"/>
                </a:lnTo>
                <a:lnTo>
                  <a:pt x="115083" y="126763"/>
                </a:lnTo>
                <a:lnTo>
                  <a:pt x="98723" y="126763"/>
                </a:lnTo>
                <a:lnTo>
                  <a:pt x="79577" y="117687"/>
                </a:lnTo>
                <a:close/>
              </a:path>
              <a:path w="258445" h="227329">
                <a:moveTo>
                  <a:pt x="63234" y="34152"/>
                </a:moveTo>
                <a:lnTo>
                  <a:pt x="0" y="167535"/>
                </a:lnTo>
                <a:lnTo>
                  <a:pt x="13357" y="173868"/>
                </a:lnTo>
                <a:lnTo>
                  <a:pt x="39992" y="117687"/>
                </a:lnTo>
                <a:lnTo>
                  <a:pt x="79577" y="117687"/>
                </a:lnTo>
                <a:lnTo>
                  <a:pt x="47256" y="102364"/>
                </a:lnTo>
                <a:lnTo>
                  <a:pt x="76592" y="40486"/>
                </a:lnTo>
                <a:lnTo>
                  <a:pt x="63234" y="34152"/>
                </a:lnTo>
                <a:close/>
              </a:path>
              <a:path w="258445" h="227329">
                <a:moveTo>
                  <a:pt x="210048" y="135567"/>
                </a:moveTo>
                <a:lnTo>
                  <a:pt x="184289" y="135567"/>
                </a:lnTo>
                <a:lnTo>
                  <a:pt x="189762" y="140773"/>
                </a:lnTo>
                <a:lnTo>
                  <a:pt x="195352" y="145858"/>
                </a:lnTo>
                <a:lnTo>
                  <a:pt x="201058" y="150822"/>
                </a:lnTo>
                <a:lnTo>
                  <a:pt x="206881" y="155665"/>
                </a:lnTo>
                <a:lnTo>
                  <a:pt x="218172" y="142251"/>
                </a:lnTo>
                <a:lnTo>
                  <a:pt x="210048" y="135567"/>
                </a:lnTo>
                <a:close/>
              </a:path>
              <a:path w="258445" h="227329">
                <a:moveTo>
                  <a:pt x="159711" y="81815"/>
                </a:moveTo>
                <a:lnTo>
                  <a:pt x="156843" y="84232"/>
                </a:lnTo>
                <a:lnTo>
                  <a:pt x="151835" y="87156"/>
                </a:lnTo>
                <a:lnTo>
                  <a:pt x="144763" y="90548"/>
                </a:lnTo>
                <a:lnTo>
                  <a:pt x="151655" y="99389"/>
                </a:lnTo>
                <a:lnTo>
                  <a:pt x="158708" y="107953"/>
                </a:lnTo>
                <a:lnTo>
                  <a:pt x="165920" y="116241"/>
                </a:lnTo>
                <a:lnTo>
                  <a:pt x="173294" y="124252"/>
                </a:lnTo>
                <a:lnTo>
                  <a:pt x="158638" y="155168"/>
                </a:lnTo>
                <a:lnTo>
                  <a:pt x="174996" y="155168"/>
                </a:lnTo>
                <a:lnTo>
                  <a:pt x="184289" y="135567"/>
                </a:lnTo>
                <a:lnTo>
                  <a:pt x="210048" y="135567"/>
                </a:lnTo>
                <a:lnTo>
                  <a:pt x="202250" y="129152"/>
                </a:lnTo>
                <a:lnTo>
                  <a:pt x="187200" y="114713"/>
                </a:lnTo>
                <a:lnTo>
                  <a:pt x="173020" y="98934"/>
                </a:lnTo>
                <a:lnTo>
                  <a:pt x="159711" y="81815"/>
                </a:lnTo>
                <a:close/>
              </a:path>
              <a:path w="258445" h="227329">
                <a:moveTo>
                  <a:pt x="122099" y="77457"/>
                </a:moveTo>
                <a:lnTo>
                  <a:pt x="98723" y="126763"/>
                </a:lnTo>
                <a:lnTo>
                  <a:pt x="115083" y="126763"/>
                </a:lnTo>
                <a:lnTo>
                  <a:pt x="135456" y="83790"/>
                </a:lnTo>
                <a:lnTo>
                  <a:pt x="122099" y="77457"/>
                </a:lnTo>
                <a:close/>
              </a:path>
              <a:path w="258445" h="227329">
                <a:moveTo>
                  <a:pt x="252679" y="87156"/>
                </a:moveTo>
                <a:lnTo>
                  <a:pt x="214113" y="87156"/>
                </a:lnTo>
                <a:lnTo>
                  <a:pt x="250932" y="104612"/>
                </a:lnTo>
                <a:lnTo>
                  <a:pt x="258010" y="89683"/>
                </a:lnTo>
                <a:lnTo>
                  <a:pt x="252679" y="87156"/>
                </a:lnTo>
                <a:close/>
              </a:path>
              <a:path w="258445" h="227329">
                <a:moveTo>
                  <a:pt x="68839" y="0"/>
                </a:moveTo>
                <a:lnTo>
                  <a:pt x="61761" y="14930"/>
                </a:lnTo>
                <a:lnTo>
                  <a:pt x="207150" y="83856"/>
                </a:lnTo>
                <a:lnTo>
                  <a:pt x="199905" y="84466"/>
                </a:lnTo>
                <a:lnTo>
                  <a:pt x="192252" y="84882"/>
                </a:lnTo>
                <a:lnTo>
                  <a:pt x="184190" y="85105"/>
                </a:lnTo>
                <a:lnTo>
                  <a:pt x="175719" y="85134"/>
                </a:lnTo>
                <a:lnTo>
                  <a:pt x="177772" y="100723"/>
                </a:lnTo>
                <a:lnTo>
                  <a:pt x="186425" y="100291"/>
                </a:lnTo>
                <a:lnTo>
                  <a:pt x="195486" y="99615"/>
                </a:lnTo>
                <a:lnTo>
                  <a:pt x="204955" y="98695"/>
                </a:lnTo>
                <a:lnTo>
                  <a:pt x="214833" y="97530"/>
                </a:lnTo>
                <a:lnTo>
                  <a:pt x="214113" y="87156"/>
                </a:lnTo>
                <a:lnTo>
                  <a:pt x="252679" y="87156"/>
                </a:lnTo>
                <a:lnTo>
                  <a:pt x="68839" y="0"/>
                </a:lnTo>
                <a:close/>
              </a:path>
              <a:path w="258445" h="227329">
                <a:moveTo>
                  <a:pt x="179307" y="17967"/>
                </a:moveTo>
                <a:lnTo>
                  <a:pt x="175586" y="22842"/>
                </a:lnTo>
                <a:lnTo>
                  <a:pt x="172260" y="26718"/>
                </a:lnTo>
                <a:lnTo>
                  <a:pt x="169329" y="29596"/>
                </a:lnTo>
                <a:lnTo>
                  <a:pt x="180884" y="38641"/>
                </a:lnTo>
                <a:lnTo>
                  <a:pt x="192238" y="47177"/>
                </a:lnTo>
                <a:lnTo>
                  <a:pt x="203389" y="55204"/>
                </a:lnTo>
                <a:lnTo>
                  <a:pt x="214339" y="62724"/>
                </a:lnTo>
                <a:lnTo>
                  <a:pt x="223081" y="51711"/>
                </a:lnTo>
                <a:lnTo>
                  <a:pt x="210748" y="42937"/>
                </a:lnTo>
                <a:lnTo>
                  <a:pt x="199341" y="34388"/>
                </a:lnTo>
                <a:lnTo>
                  <a:pt x="188860" y="26065"/>
                </a:lnTo>
                <a:lnTo>
                  <a:pt x="179307" y="17967"/>
                </a:lnTo>
                <a:close/>
              </a:path>
            </a:pathLst>
          </a:custGeom>
          <a:solidFill>
            <a:srgbClr val="FFFFFF"/>
          </a:solidFill>
        </p:spPr>
        <p:txBody>
          <a:bodyPr wrap="square" lIns="0" tIns="0" rIns="0" bIns="0" rtlCol="0"/>
          <a:lstStyle/>
          <a:p>
            <a:endParaRPr/>
          </a:p>
        </p:txBody>
      </p:sp>
      <p:sp>
        <p:nvSpPr>
          <p:cNvPr id="12" name="object 12"/>
          <p:cNvSpPr txBox="1"/>
          <p:nvPr/>
        </p:nvSpPr>
        <p:spPr>
          <a:xfrm>
            <a:off x="2646238" y="3877758"/>
            <a:ext cx="635000" cy="746760"/>
          </a:xfrm>
          <a:prstGeom prst="rect">
            <a:avLst/>
          </a:prstGeom>
        </p:spPr>
        <p:txBody>
          <a:bodyPr vert="horz" wrap="square" lIns="0" tIns="33019" rIns="0" bIns="0" rtlCol="0">
            <a:spAutoFit/>
          </a:bodyPr>
          <a:lstStyle/>
          <a:p>
            <a:pPr marL="12700" marR="5080">
              <a:lnSpc>
                <a:spcPts val="2800"/>
              </a:lnSpc>
              <a:spcBef>
                <a:spcPts val="260"/>
              </a:spcBef>
            </a:pPr>
            <a:r>
              <a:rPr sz="2400" dirty="0">
                <a:latin typeface="微软雅黑" panose="020B0503020204020204" pitchFamily="34" charset="-122"/>
                <a:cs typeface="微软雅黑" panose="020B0503020204020204" pitchFamily="34" charset="-122"/>
              </a:rPr>
              <a:t>程序 性能</a:t>
            </a:r>
            <a:endParaRPr sz="2400">
              <a:latin typeface="微软雅黑" panose="020B0503020204020204" pitchFamily="34" charset="-122"/>
              <a:cs typeface="微软雅黑" panose="020B0503020204020204" pitchFamily="34" charset="-122"/>
            </a:endParaRPr>
          </a:p>
        </p:txBody>
      </p:sp>
      <p:sp>
        <p:nvSpPr>
          <p:cNvPr id="13" name="object 13"/>
          <p:cNvSpPr/>
          <p:nvPr/>
        </p:nvSpPr>
        <p:spPr>
          <a:xfrm>
            <a:off x="1906918" y="4589057"/>
            <a:ext cx="251460" cy="227329"/>
          </a:xfrm>
          <a:custGeom>
            <a:avLst/>
            <a:gdLst/>
            <a:ahLst/>
            <a:cxnLst/>
            <a:rect l="l" t="t" r="r" b="b"/>
            <a:pathLst>
              <a:path w="251460" h="227329">
                <a:moveTo>
                  <a:pt x="219014" y="88342"/>
                </a:moveTo>
                <a:lnTo>
                  <a:pt x="59129" y="159081"/>
                </a:lnTo>
                <a:lnTo>
                  <a:pt x="89129" y="226887"/>
                </a:lnTo>
                <a:lnTo>
                  <a:pt x="139141" y="204759"/>
                </a:lnTo>
                <a:lnTo>
                  <a:pt x="96850" y="204759"/>
                </a:lnTo>
                <a:lnTo>
                  <a:pt x="80697" y="168249"/>
                </a:lnTo>
                <a:lnTo>
                  <a:pt x="130247" y="146327"/>
                </a:lnTo>
                <a:lnTo>
                  <a:pt x="147278" y="146327"/>
                </a:lnTo>
                <a:lnTo>
                  <a:pt x="144490" y="140025"/>
                </a:lnTo>
                <a:lnTo>
                  <a:pt x="195042" y="117658"/>
                </a:lnTo>
                <a:lnTo>
                  <a:pt x="212553" y="117658"/>
                </a:lnTo>
                <a:lnTo>
                  <a:pt x="209687" y="111179"/>
                </a:lnTo>
                <a:lnTo>
                  <a:pt x="225936" y="103990"/>
                </a:lnTo>
                <a:lnTo>
                  <a:pt x="219014" y="88342"/>
                </a:lnTo>
                <a:close/>
              </a:path>
              <a:path w="251460" h="227329">
                <a:moveTo>
                  <a:pt x="147278" y="146327"/>
                </a:moveTo>
                <a:lnTo>
                  <a:pt x="130247" y="146327"/>
                </a:lnTo>
                <a:lnTo>
                  <a:pt x="146400" y="182837"/>
                </a:lnTo>
                <a:lnTo>
                  <a:pt x="96850" y="204759"/>
                </a:lnTo>
                <a:lnTo>
                  <a:pt x="139141" y="204759"/>
                </a:lnTo>
                <a:lnTo>
                  <a:pt x="202933" y="176535"/>
                </a:lnTo>
                <a:lnTo>
                  <a:pt x="160643" y="176535"/>
                </a:lnTo>
                <a:lnTo>
                  <a:pt x="147278" y="146327"/>
                </a:lnTo>
                <a:close/>
              </a:path>
              <a:path w="251460" h="227329">
                <a:moveTo>
                  <a:pt x="212553" y="117658"/>
                </a:moveTo>
                <a:lnTo>
                  <a:pt x="195042" y="117658"/>
                </a:lnTo>
                <a:lnTo>
                  <a:pt x="211197" y="154169"/>
                </a:lnTo>
                <a:lnTo>
                  <a:pt x="160643" y="176535"/>
                </a:lnTo>
                <a:lnTo>
                  <a:pt x="202933" y="176535"/>
                </a:lnTo>
                <a:lnTo>
                  <a:pt x="251420" y="155082"/>
                </a:lnTo>
                <a:lnTo>
                  <a:pt x="248149" y="147689"/>
                </a:lnTo>
                <a:lnTo>
                  <a:pt x="225841" y="147689"/>
                </a:lnTo>
                <a:lnTo>
                  <a:pt x="212553" y="117658"/>
                </a:lnTo>
                <a:close/>
              </a:path>
              <a:path w="251460" h="227329">
                <a:moveTo>
                  <a:pt x="244497" y="139436"/>
                </a:moveTo>
                <a:lnTo>
                  <a:pt x="225841" y="147689"/>
                </a:lnTo>
                <a:lnTo>
                  <a:pt x="248149" y="147689"/>
                </a:lnTo>
                <a:lnTo>
                  <a:pt x="244497" y="139436"/>
                </a:lnTo>
                <a:close/>
              </a:path>
              <a:path w="251460" h="227329">
                <a:moveTo>
                  <a:pt x="67764" y="72334"/>
                </a:moveTo>
                <a:lnTo>
                  <a:pt x="50255" y="72334"/>
                </a:lnTo>
                <a:lnTo>
                  <a:pt x="80963" y="141745"/>
                </a:lnTo>
                <a:lnTo>
                  <a:pt x="95608" y="135265"/>
                </a:lnTo>
                <a:lnTo>
                  <a:pt x="67764" y="72334"/>
                </a:lnTo>
                <a:close/>
              </a:path>
              <a:path w="251460" h="227329">
                <a:moveTo>
                  <a:pt x="139843" y="61242"/>
                </a:moveTo>
                <a:lnTo>
                  <a:pt x="132646" y="69895"/>
                </a:lnTo>
                <a:lnTo>
                  <a:pt x="124439" y="80157"/>
                </a:lnTo>
                <a:lnTo>
                  <a:pt x="115220" y="92028"/>
                </a:lnTo>
                <a:lnTo>
                  <a:pt x="104990" y="105508"/>
                </a:lnTo>
                <a:lnTo>
                  <a:pt x="118056" y="115979"/>
                </a:lnTo>
                <a:lnTo>
                  <a:pt x="128352" y="103306"/>
                </a:lnTo>
                <a:lnTo>
                  <a:pt x="137871" y="91981"/>
                </a:lnTo>
                <a:lnTo>
                  <a:pt x="146614" y="82003"/>
                </a:lnTo>
                <a:lnTo>
                  <a:pt x="154580" y="73373"/>
                </a:lnTo>
                <a:lnTo>
                  <a:pt x="147817" y="67972"/>
                </a:lnTo>
                <a:lnTo>
                  <a:pt x="142905" y="63928"/>
                </a:lnTo>
                <a:lnTo>
                  <a:pt x="139843" y="61242"/>
                </a:lnTo>
                <a:close/>
              </a:path>
              <a:path w="251460" h="227329">
                <a:moveTo>
                  <a:pt x="45638" y="22324"/>
                </a:moveTo>
                <a:lnTo>
                  <a:pt x="30994" y="28803"/>
                </a:lnTo>
                <a:lnTo>
                  <a:pt x="43331" y="56688"/>
                </a:lnTo>
                <a:lnTo>
                  <a:pt x="0" y="75858"/>
                </a:lnTo>
                <a:lnTo>
                  <a:pt x="6924" y="91506"/>
                </a:lnTo>
                <a:lnTo>
                  <a:pt x="50255" y="72334"/>
                </a:lnTo>
                <a:lnTo>
                  <a:pt x="67764" y="72334"/>
                </a:lnTo>
                <a:lnTo>
                  <a:pt x="64898" y="65856"/>
                </a:lnTo>
                <a:lnTo>
                  <a:pt x="100264" y="50208"/>
                </a:lnTo>
                <a:lnTo>
                  <a:pt x="57975" y="50208"/>
                </a:lnTo>
                <a:lnTo>
                  <a:pt x="45638" y="22324"/>
                </a:lnTo>
                <a:close/>
              </a:path>
              <a:path w="251460" h="227329">
                <a:moveTo>
                  <a:pt x="201656" y="18781"/>
                </a:moveTo>
                <a:lnTo>
                  <a:pt x="173605" y="18781"/>
                </a:lnTo>
                <a:lnTo>
                  <a:pt x="179086" y="19424"/>
                </a:lnTo>
                <a:lnTo>
                  <a:pt x="183586" y="22546"/>
                </a:lnTo>
                <a:lnTo>
                  <a:pt x="199682" y="60914"/>
                </a:lnTo>
                <a:lnTo>
                  <a:pt x="205389" y="56675"/>
                </a:lnTo>
                <a:lnTo>
                  <a:pt x="210478" y="53176"/>
                </a:lnTo>
                <a:lnTo>
                  <a:pt x="214948" y="50419"/>
                </a:lnTo>
                <a:lnTo>
                  <a:pt x="210660" y="40015"/>
                </a:lnTo>
                <a:lnTo>
                  <a:pt x="206880" y="30963"/>
                </a:lnTo>
                <a:lnTo>
                  <a:pt x="203199" y="22324"/>
                </a:lnTo>
                <a:lnTo>
                  <a:pt x="201656" y="18781"/>
                </a:lnTo>
                <a:close/>
              </a:path>
              <a:path w="251460" h="227329">
                <a:moveTo>
                  <a:pt x="175682" y="0"/>
                </a:moveTo>
                <a:lnTo>
                  <a:pt x="163492" y="3523"/>
                </a:lnTo>
                <a:lnTo>
                  <a:pt x="57975" y="50208"/>
                </a:lnTo>
                <a:lnTo>
                  <a:pt x="100264" y="50208"/>
                </a:lnTo>
                <a:lnTo>
                  <a:pt x="167143" y="20618"/>
                </a:lnTo>
                <a:lnTo>
                  <a:pt x="173605" y="18781"/>
                </a:lnTo>
                <a:lnTo>
                  <a:pt x="201656" y="18781"/>
                </a:lnTo>
                <a:lnTo>
                  <a:pt x="200845" y="16918"/>
                </a:lnTo>
                <a:lnTo>
                  <a:pt x="194359" y="6697"/>
                </a:lnTo>
                <a:lnTo>
                  <a:pt x="185972" y="1058"/>
                </a:lnTo>
                <a:lnTo>
                  <a:pt x="175682" y="0"/>
                </a:lnTo>
                <a:close/>
              </a:path>
            </a:pathLst>
          </a:custGeom>
          <a:solidFill>
            <a:srgbClr val="FFFFFF"/>
          </a:solidFill>
        </p:spPr>
        <p:txBody>
          <a:bodyPr wrap="square" lIns="0" tIns="0" rIns="0" bIns="0" rtlCol="0"/>
          <a:lstStyle/>
          <a:p>
            <a:endParaRPr/>
          </a:p>
        </p:txBody>
      </p:sp>
      <p:sp>
        <p:nvSpPr>
          <p:cNvPr id="14" name="object 14"/>
          <p:cNvSpPr/>
          <p:nvPr/>
        </p:nvSpPr>
        <p:spPr>
          <a:xfrm>
            <a:off x="1856158" y="4368463"/>
            <a:ext cx="232410" cy="217804"/>
          </a:xfrm>
          <a:custGeom>
            <a:avLst/>
            <a:gdLst/>
            <a:ahLst/>
            <a:cxnLst/>
            <a:rect l="l" t="t" r="r" b="b"/>
            <a:pathLst>
              <a:path w="232410" h="217804">
                <a:moveTo>
                  <a:pt x="156764" y="54953"/>
                </a:moveTo>
                <a:lnTo>
                  <a:pt x="53306" y="76772"/>
                </a:lnTo>
                <a:lnTo>
                  <a:pt x="72048" y="165634"/>
                </a:lnTo>
                <a:lnTo>
                  <a:pt x="158902" y="147316"/>
                </a:lnTo>
                <a:lnTo>
                  <a:pt x="83430" y="147316"/>
                </a:lnTo>
                <a:lnTo>
                  <a:pt x="71117" y="88934"/>
                </a:lnTo>
                <a:lnTo>
                  <a:pt x="100737" y="82686"/>
                </a:lnTo>
                <a:lnTo>
                  <a:pt x="115982" y="82686"/>
                </a:lnTo>
                <a:lnTo>
                  <a:pt x="115333" y="79608"/>
                </a:lnTo>
                <a:lnTo>
                  <a:pt x="145383" y="73270"/>
                </a:lnTo>
                <a:lnTo>
                  <a:pt x="160628" y="73270"/>
                </a:lnTo>
                <a:lnTo>
                  <a:pt x="156764" y="54953"/>
                </a:lnTo>
                <a:close/>
              </a:path>
              <a:path w="232410" h="217804">
                <a:moveTo>
                  <a:pt x="177867" y="0"/>
                </a:moveTo>
                <a:lnTo>
                  <a:pt x="165922" y="560"/>
                </a:lnTo>
                <a:lnTo>
                  <a:pt x="0" y="35555"/>
                </a:lnTo>
                <a:lnTo>
                  <a:pt x="25577" y="156827"/>
                </a:lnTo>
                <a:lnTo>
                  <a:pt x="41245" y="153522"/>
                </a:lnTo>
                <a:lnTo>
                  <a:pt x="19109" y="48562"/>
                </a:lnTo>
                <a:lnTo>
                  <a:pt x="174533" y="15782"/>
                </a:lnTo>
                <a:lnTo>
                  <a:pt x="195462" y="15782"/>
                </a:lnTo>
                <a:lnTo>
                  <a:pt x="194229" y="12217"/>
                </a:lnTo>
                <a:lnTo>
                  <a:pt x="187302" y="3885"/>
                </a:lnTo>
                <a:lnTo>
                  <a:pt x="177867" y="0"/>
                </a:lnTo>
                <a:close/>
              </a:path>
              <a:path w="232410" h="217804">
                <a:moveTo>
                  <a:pt x="115982" y="82686"/>
                </a:moveTo>
                <a:lnTo>
                  <a:pt x="100737" y="82686"/>
                </a:lnTo>
                <a:lnTo>
                  <a:pt x="113051" y="141069"/>
                </a:lnTo>
                <a:lnTo>
                  <a:pt x="83430" y="147316"/>
                </a:lnTo>
                <a:lnTo>
                  <a:pt x="158902" y="147316"/>
                </a:lnTo>
                <a:lnTo>
                  <a:pt x="188600" y="141052"/>
                </a:lnTo>
                <a:lnTo>
                  <a:pt x="187954" y="137990"/>
                </a:lnTo>
                <a:lnTo>
                  <a:pt x="127646" y="137990"/>
                </a:lnTo>
                <a:lnTo>
                  <a:pt x="115982" y="82686"/>
                </a:lnTo>
                <a:close/>
              </a:path>
              <a:path w="232410" h="217804">
                <a:moveTo>
                  <a:pt x="160628" y="73270"/>
                </a:moveTo>
                <a:lnTo>
                  <a:pt x="145383" y="73270"/>
                </a:lnTo>
                <a:lnTo>
                  <a:pt x="157697" y="131653"/>
                </a:lnTo>
                <a:lnTo>
                  <a:pt x="127646" y="137990"/>
                </a:lnTo>
                <a:lnTo>
                  <a:pt x="187954" y="137990"/>
                </a:lnTo>
                <a:lnTo>
                  <a:pt x="185968" y="128574"/>
                </a:lnTo>
                <a:lnTo>
                  <a:pt x="172293" y="128574"/>
                </a:lnTo>
                <a:lnTo>
                  <a:pt x="160628" y="73270"/>
                </a:lnTo>
                <a:close/>
              </a:path>
              <a:path w="232410" h="217804">
                <a:moveTo>
                  <a:pt x="185385" y="125814"/>
                </a:moveTo>
                <a:lnTo>
                  <a:pt x="172293" y="128574"/>
                </a:lnTo>
                <a:lnTo>
                  <a:pt x="185968" y="128574"/>
                </a:lnTo>
                <a:lnTo>
                  <a:pt x="185385" y="125814"/>
                </a:lnTo>
                <a:close/>
              </a:path>
              <a:path w="232410" h="217804">
                <a:moveTo>
                  <a:pt x="195462" y="15782"/>
                </a:moveTo>
                <a:lnTo>
                  <a:pt x="174533" y="15782"/>
                </a:lnTo>
                <a:lnTo>
                  <a:pt x="180740" y="19958"/>
                </a:lnTo>
                <a:lnTo>
                  <a:pt x="182954" y="30459"/>
                </a:lnTo>
                <a:lnTo>
                  <a:pt x="184671" y="39075"/>
                </a:lnTo>
                <a:lnTo>
                  <a:pt x="186051" y="46699"/>
                </a:lnTo>
                <a:lnTo>
                  <a:pt x="187430" y="55183"/>
                </a:lnTo>
                <a:lnTo>
                  <a:pt x="188696" y="63911"/>
                </a:lnTo>
                <a:lnTo>
                  <a:pt x="195463" y="60730"/>
                </a:lnTo>
                <a:lnTo>
                  <a:pt x="200882" y="58418"/>
                </a:lnTo>
                <a:lnTo>
                  <a:pt x="204955" y="56976"/>
                </a:lnTo>
                <a:lnTo>
                  <a:pt x="203157" y="47547"/>
                </a:lnTo>
                <a:lnTo>
                  <a:pt x="201384" y="38458"/>
                </a:lnTo>
                <a:lnTo>
                  <a:pt x="200004" y="31557"/>
                </a:lnTo>
                <a:lnTo>
                  <a:pt x="198648" y="24996"/>
                </a:lnTo>
                <a:lnTo>
                  <a:pt x="195462" y="15782"/>
                </a:lnTo>
                <a:close/>
              </a:path>
              <a:path w="232410" h="217804">
                <a:moveTo>
                  <a:pt x="228445" y="166278"/>
                </a:moveTo>
                <a:lnTo>
                  <a:pt x="64244" y="200909"/>
                </a:lnTo>
                <a:lnTo>
                  <a:pt x="67684" y="217222"/>
                </a:lnTo>
                <a:lnTo>
                  <a:pt x="231885" y="182590"/>
                </a:lnTo>
                <a:lnTo>
                  <a:pt x="228445" y="166278"/>
                </a:lnTo>
                <a:close/>
              </a:path>
              <a:path w="232410" h="217804">
                <a:moveTo>
                  <a:pt x="44474" y="167415"/>
                </a:moveTo>
                <a:lnTo>
                  <a:pt x="38725" y="175869"/>
                </a:lnTo>
                <a:lnTo>
                  <a:pt x="32931" y="184633"/>
                </a:lnTo>
                <a:lnTo>
                  <a:pt x="27093" y="193707"/>
                </a:lnTo>
                <a:lnTo>
                  <a:pt x="21210" y="203092"/>
                </a:lnTo>
                <a:lnTo>
                  <a:pt x="34425" y="212802"/>
                </a:lnTo>
                <a:lnTo>
                  <a:pt x="40623" y="203742"/>
                </a:lnTo>
                <a:lnTo>
                  <a:pt x="46829" y="194982"/>
                </a:lnTo>
                <a:lnTo>
                  <a:pt x="53042" y="186522"/>
                </a:lnTo>
                <a:lnTo>
                  <a:pt x="59264" y="178364"/>
                </a:lnTo>
                <a:lnTo>
                  <a:pt x="44474" y="167415"/>
                </a:lnTo>
                <a:close/>
              </a:path>
            </a:pathLst>
          </a:custGeom>
          <a:solidFill>
            <a:srgbClr val="FFFFFF"/>
          </a:solidFill>
        </p:spPr>
        <p:txBody>
          <a:bodyPr wrap="square" lIns="0" tIns="0" rIns="0" bIns="0" rtlCol="0"/>
          <a:lstStyle/>
          <a:p>
            <a:endParaRPr/>
          </a:p>
        </p:txBody>
      </p:sp>
      <p:sp>
        <p:nvSpPr>
          <p:cNvPr id="15" name="object 15"/>
          <p:cNvSpPr/>
          <p:nvPr/>
        </p:nvSpPr>
        <p:spPr>
          <a:xfrm>
            <a:off x="1836195" y="4150056"/>
            <a:ext cx="213995" cy="214629"/>
          </a:xfrm>
          <a:custGeom>
            <a:avLst/>
            <a:gdLst/>
            <a:ahLst/>
            <a:cxnLst/>
            <a:rect l="l" t="t" r="r" b="b"/>
            <a:pathLst>
              <a:path w="213994" h="214629">
                <a:moveTo>
                  <a:pt x="0" y="145012"/>
                </a:moveTo>
                <a:lnTo>
                  <a:pt x="64" y="163713"/>
                </a:lnTo>
                <a:lnTo>
                  <a:pt x="17970" y="174342"/>
                </a:lnTo>
                <a:lnTo>
                  <a:pt x="34214" y="186286"/>
                </a:lnTo>
                <a:lnTo>
                  <a:pt x="48796" y="199544"/>
                </a:lnTo>
                <a:lnTo>
                  <a:pt x="61718" y="214116"/>
                </a:lnTo>
                <a:lnTo>
                  <a:pt x="66498" y="209957"/>
                </a:lnTo>
                <a:lnTo>
                  <a:pt x="70928" y="206658"/>
                </a:lnTo>
                <a:lnTo>
                  <a:pt x="75010" y="204217"/>
                </a:lnTo>
                <a:lnTo>
                  <a:pt x="69588" y="198382"/>
                </a:lnTo>
                <a:lnTo>
                  <a:pt x="63979" y="192682"/>
                </a:lnTo>
                <a:lnTo>
                  <a:pt x="58182" y="187116"/>
                </a:lnTo>
                <a:lnTo>
                  <a:pt x="52199" y="181683"/>
                </a:lnTo>
                <a:lnTo>
                  <a:pt x="127359" y="181422"/>
                </a:lnTo>
                <a:lnTo>
                  <a:pt x="127343" y="176734"/>
                </a:lnTo>
                <a:lnTo>
                  <a:pt x="46396" y="176734"/>
                </a:lnTo>
                <a:lnTo>
                  <a:pt x="41549" y="172608"/>
                </a:lnTo>
                <a:lnTo>
                  <a:pt x="36490" y="168625"/>
                </a:lnTo>
                <a:lnTo>
                  <a:pt x="31219" y="164787"/>
                </a:lnTo>
                <a:lnTo>
                  <a:pt x="31186" y="155536"/>
                </a:lnTo>
                <a:lnTo>
                  <a:pt x="17367" y="155536"/>
                </a:lnTo>
                <a:lnTo>
                  <a:pt x="11791" y="151919"/>
                </a:lnTo>
                <a:lnTo>
                  <a:pt x="6003" y="148412"/>
                </a:lnTo>
                <a:lnTo>
                  <a:pt x="0" y="145012"/>
                </a:lnTo>
                <a:close/>
              </a:path>
              <a:path w="213994" h="214629">
                <a:moveTo>
                  <a:pt x="124552" y="131197"/>
                </a:moveTo>
                <a:lnTo>
                  <a:pt x="124620" y="150555"/>
                </a:lnTo>
                <a:lnTo>
                  <a:pt x="138746" y="163453"/>
                </a:lnTo>
                <a:lnTo>
                  <a:pt x="151617" y="178280"/>
                </a:lnTo>
                <a:lnTo>
                  <a:pt x="163233" y="195039"/>
                </a:lnTo>
                <a:lnTo>
                  <a:pt x="173593" y="213728"/>
                </a:lnTo>
                <a:lnTo>
                  <a:pt x="177295" y="209859"/>
                </a:lnTo>
                <a:lnTo>
                  <a:pt x="181213" y="206348"/>
                </a:lnTo>
                <a:lnTo>
                  <a:pt x="185347" y="203191"/>
                </a:lnTo>
                <a:lnTo>
                  <a:pt x="178742" y="191449"/>
                </a:lnTo>
                <a:lnTo>
                  <a:pt x="171433" y="180249"/>
                </a:lnTo>
                <a:lnTo>
                  <a:pt x="163326" y="169444"/>
                </a:lnTo>
                <a:lnTo>
                  <a:pt x="154452" y="159082"/>
                </a:lnTo>
                <a:lnTo>
                  <a:pt x="161777" y="150437"/>
                </a:lnTo>
                <a:lnTo>
                  <a:pt x="164082" y="147213"/>
                </a:lnTo>
                <a:lnTo>
                  <a:pt x="148518" y="147213"/>
                </a:lnTo>
                <a:lnTo>
                  <a:pt x="148496" y="140864"/>
                </a:lnTo>
                <a:lnTo>
                  <a:pt x="135992" y="140864"/>
                </a:lnTo>
                <a:lnTo>
                  <a:pt x="132321" y="137571"/>
                </a:lnTo>
                <a:lnTo>
                  <a:pt x="128507" y="134348"/>
                </a:lnTo>
                <a:lnTo>
                  <a:pt x="124552" y="131197"/>
                </a:lnTo>
                <a:close/>
              </a:path>
              <a:path w="213994" h="214629">
                <a:moveTo>
                  <a:pt x="195355" y="118654"/>
                </a:moveTo>
                <a:lnTo>
                  <a:pt x="181074" y="118654"/>
                </a:lnTo>
                <a:lnTo>
                  <a:pt x="185498" y="134959"/>
                </a:lnTo>
                <a:lnTo>
                  <a:pt x="189961" y="154178"/>
                </a:lnTo>
                <a:lnTo>
                  <a:pt x="194537" y="176734"/>
                </a:lnTo>
                <a:lnTo>
                  <a:pt x="198997" y="201354"/>
                </a:lnTo>
                <a:lnTo>
                  <a:pt x="203932" y="197479"/>
                </a:lnTo>
                <a:lnTo>
                  <a:pt x="208729" y="194179"/>
                </a:lnTo>
                <a:lnTo>
                  <a:pt x="213385" y="191449"/>
                </a:lnTo>
                <a:lnTo>
                  <a:pt x="207793" y="165462"/>
                </a:lnTo>
                <a:lnTo>
                  <a:pt x="201872" y="141468"/>
                </a:lnTo>
                <a:lnTo>
                  <a:pt x="195621" y="119466"/>
                </a:lnTo>
                <a:lnTo>
                  <a:pt x="195355" y="118654"/>
                </a:lnTo>
                <a:close/>
              </a:path>
              <a:path w="213994" h="214629">
                <a:moveTo>
                  <a:pt x="124623" y="25681"/>
                </a:moveTo>
                <a:lnTo>
                  <a:pt x="45872" y="25956"/>
                </a:lnTo>
                <a:lnTo>
                  <a:pt x="46396" y="176734"/>
                </a:lnTo>
                <a:lnTo>
                  <a:pt x="127343" y="176734"/>
                </a:lnTo>
                <a:lnTo>
                  <a:pt x="127308" y="166740"/>
                </a:lnTo>
                <a:lnTo>
                  <a:pt x="59743" y="166740"/>
                </a:lnTo>
                <a:lnTo>
                  <a:pt x="59305" y="40826"/>
                </a:lnTo>
                <a:lnTo>
                  <a:pt x="88699" y="40768"/>
                </a:lnTo>
                <a:lnTo>
                  <a:pt x="119192" y="40664"/>
                </a:lnTo>
                <a:lnTo>
                  <a:pt x="124675" y="40599"/>
                </a:lnTo>
                <a:lnTo>
                  <a:pt x="124623" y="25681"/>
                </a:lnTo>
                <a:close/>
              </a:path>
              <a:path w="213994" h="214629">
                <a:moveTo>
                  <a:pt x="88699" y="40768"/>
                </a:moveTo>
                <a:lnTo>
                  <a:pt x="75976" y="40768"/>
                </a:lnTo>
                <a:lnTo>
                  <a:pt x="76414" y="166682"/>
                </a:lnTo>
                <a:lnTo>
                  <a:pt x="59743" y="166740"/>
                </a:lnTo>
                <a:lnTo>
                  <a:pt x="127308" y="166740"/>
                </a:lnTo>
                <a:lnTo>
                  <a:pt x="89138" y="166639"/>
                </a:lnTo>
                <a:lnTo>
                  <a:pt x="88699" y="40768"/>
                </a:lnTo>
                <a:close/>
              </a:path>
              <a:path w="213994" h="214629">
                <a:moveTo>
                  <a:pt x="119192" y="40664"/>
                </a:moveTo>
                <a:lnTo>
                  <a:pt x="105810" y="40664"/>
                </a:lnTo>
                <a:lnTo>
                  <a:pt x="106248" y="166579"/>
                </a:lnTo>
                <a:lnTo>
                  <a:pt x="89138" y="166639"/>
                </a:lnTo>
                <a:lnTo>
                  <a:pt x="127307" y="166639"/>
                </a:lnTo>
                <a:lnTo>
                  <a:pt x="119630" y="166532"/>
                </a:lnTo>
                <a:lnTo>
                  <a:pt x="119192" y="40664"/>
                </a:lnTo>
                <a:close/>
              </a:path>
              <a:path w="213994" h="214629">
                <a:moveTo>
                  <a:pt x="127307" y="166505"/>
                </a:moveTo>
                <a:lnTo>
                  <a:pt x="119630" y="166532"/>
                </a:lnTo>
                <a:lnTo>
                  <a:pt x="127307" y="166532"/>
                </a:lnTo>
                <a:close/>
              </a:path>
              <a:path w="213994" h="214629">
                <a:moveTo>
                  <a:pt x="30661" y="4511"/>
                </a:moveTo>
                <a:lnTo>
                  <a:pt x="16841" y="4559"/>
                </a:lnTo>
                <a:lnTo>
                  <a:pt x="17367" y="155536"/>
                </a:lnTo>
                <a:lnTo>
                  <a:pt x="31186" y="155536"/>
                </a:lnTo>
                <a:lnTo>
                  <a:pt x="30661" y="4511"/>
                </a:lnTo>
                <a:close/>
              </a:path>
              <a:path w="213994" h="214629">
                <a:moveTo>
                  <a:pt x="165593" y="49795"/>
                </a:moveTo>
                <a:lnTo>
                  <a:pt x="148179" y="49795"/>
                </a:lnTo>
                <a:lnTo>
                  <a:pt x="155244" y="60204"/>
                </a:lnTo>
                <a:lnTo>
                  <a:pt x="161963" y="71886"/>
                </a:lnTo>
                <a:lnTo>
                  <a:pt x="168337" y="84841"/>
                </a:lnTo>
                <a:lnTo>
                  <a:pt x="174367" y="99068"/>
                </a:lnTo>
                <a:lnTo>
                  <a:pt x="168919" y="113088"/>
                </a:lnTo>
                <a:lnTo>
                  <a:pt x="162796" y="125785"/>
                </a:lnTo>
                <a:lnTo>
                  <a:pt x="155995" y="137160"/>
                </a:lnTo>
                <a:lnTo>
                  <a:pt x="148518" y="147213"/>
                </a:lnTo>
                <a:lnTo>
                  <a:pt x="164082" y="147213"/>
                </a:lnTo>
                <a:lnTo>
                  <a:pt x="168656" y="140817"/>
                </a:lnTo>
                <a:lnTo>
                  <a:pt x="175088" y="130223"/>
                </a:lnTo>
                <a:lnTo>
                  <a:pt x="181074" y="118654"/>
                </a:lnTo>
                <a:lnTo>
                  <a:pt x="195355" y="118654"/>
                </a:lnTo>
                <a:lnTo>
                  <a:pt x="189042" y="99456"/>
                </a:lnTo>
                <a:lnTo>
                  <a:pt x="195590" y="79879"/>
                </a:lnTo>
                <a:lnTo>
                  <a:pt x="196048" y="78159"/>
                </a:lnTo>
                <a:lnTo>
                  <a:pt x="180610" y="78159"/>
                </a:lnTo>
                <a:lnTo>
                  <a:pt x="173050" y="62740"/>
                </a:lnTo>
                <a:lnTo>
                  <a:pt x="165593" y="49795"/>
                </a:lnTo>
                <a:close/>
              </a:path>
              <a:path w="213994" h="214629">
                <a:moveTo>
                  <a:pt x="147435" y="25163"/>
                </a:moveTo>
                <a:lnTo>
                  <a:pt x="135590" y="25205"/>
                </a:lnTo>
                <a:lnTo>
                  <a:pt x="135992" y="140864"/>
                </a:lnTo>
                <a:lnTo>
                  <a:pt x="148496" y="140864"/>
                </a:lnTo>
                <a:lnTo>
                  <a:pt x="148179" y="49795"/>
                </a:lnTo>
                <a:lnTo>
                  <a:pt x="165593" y="49795"/>
                </a:lnTo>
                <a:lnTo>
                  <a:pt x="165001" y="48767"/>
                </a:lnTo>
                <a:lnTo>
                  <a:pt x="156462" y="36242"/>
                </a:lnTo>
                <a:lnTo>
                  <a:pt x="147435" y="25163"/>
                </a:lnTo>
                <a:close/>
              </a:path>
              <a:path w="213994" h="214629">
                <a:moveTo>
                  <a:pt x="192318" y="0"/>
                </a:moveTo>
                <a:lnTo>
                  <a:pt x="190412" y="21622"/>
                </a:lnTo>
                <a:lnTo>
                  <a:pt x="187825" y="41856"/>
                </a:lnTo>
                <a:lnTo>
                  <a:pt x="184558" y="60702"/>
                </a:lnTo>
                <a:lnTo>
                  <a:pt x="180610" y="78159"/>
                </a:lnTo>
                <a:lnTo>
                  <a:pt x="196048" y="78159"/>
                </a:lnTo>
                <a:lnTo>
                  <a:pt x="201287" y="58446"/>
                </a:lnTo>
                <a:lnTo>
                  <a:pt x="206130" y="35155"/>
                </a:lnTo>
                <a:lnTo>
                  <a:pt x="210121" y="10007"/>
                </a:lnTo>
                <a:lnTo>
                  <a:pt x="204767" y="7170"/>
                </a:lnTo>
                <a:lnTo>
                  <a:pt x="198832" y="3834"/>
                </a:lnTo>
                <a:lnTo>
                  <a:pt x="192318" y="0"/>
                </a:lnTo>
                <a:close/>
              </a:path>
            </a:pathLst>
          </a:custGeom>
          <a:solidFill>
            <a:srgbClr val="FFFFFF"/>
          </a:solidFill>
        </p:spPr>
        <p:txBody>
          <a:bodyPr wrap="square" lIns="0" tIns="0" rIns="0" bIns="0" rtlCol="0"/>
          <a:lstStyle/>
          <a:p>
            <a:endParaRPr/>
          </a:p>
        </p:txBody>
      </p:sp>
      <p:sp>
        <p:nvSpPr>
          <p:cNvPr id="16" name="object 16"/>
          <p:cNvSpPr/>
          <p:nvPr/>
        </p:nvSpPr>
        <p:spPr>
          <a:xfrm>
            <a:off x="1852494" y="3920202"/>
            <a:ext cx="222250" cy="236854"/>
          </a:xfrm>
          <a:custGeom>
            <a:avLst/>
            <a:gdLst/>
            <a:ahLst/>
            <a:cxnLst/>
            <a:rect l="l" t="t" r="r" b="b"/>
            <a:pathLst>
              <a:path w="222250" h="236854">
                <a:moveTo>
                  <a:pt x="150675" y="161578"/>
                </a:moveTo>
                <a:lnTo>
                  <a:pt x="136470" y="172285"/>
                </a:lnTo>
                <a:lnTo>
                  <a:pt x="146261" y="187866"/>
                </a:lnTo>
                <a:lnTo>
                  <a:pt x="155281" y="203755"/>
                </a:lnTo>
                <a:lnTo>
                  <a:pt x="163528" y="219951"/>
                </a:lnTo>
                <a:lnTo>
                  <a:pt x="171002" y="236456"/>
                </a:lnTo>
                <a:lnTo>
                  <a:pt x="176161" y="233281"/>
                </a:lnTo>
                <a:lnTo>
                  <a:pt x="181458" y="230497"/>
                </a:lnTo>
                <a:lnTo>
                  <a:pt x="186894" y="228105"/>
                </a:lnTo>
                <a:lnTo>
                  <a:pt x="178502" y="211034"/>
                </a:lnTo>
                <a:lnTo>
                  <a:pt x="169668" y="194255"/>
                </a:lnTo>
                <a:lnTo>
                  <a:pt x="160392" y="177770"/>
                </a:lnTo>
                <a:lnTo>
                  <a:pt x="150675" y="161578"/>
                </a:lnTo>
                <a:close/>
              </a:path>
              <a:path w="222250" h="236854">
                <a:moveTo>
                  <a:pt x="96385" y="103066"/>
                </a:moveTo>
                <a:lnTo>
                  <a:pt x="92840" y="120478"/>
                </a:lnTo>
                <a:lnTo>
                  <a:pt x="119280" y="125860"/>
                </a:lnTo>
                <a:lnTo>
                  <a:pt x="100335" y="218936"/>
                </a:lnTo>
                <a:lnTo>
                  <a:pt x="115596" y="222044"/>
                </a:lnTo>
                <a:lnTo>
                  <a:pt x="134542" y="128967"/>
                </a:lnTo>
                <a:lnTo>
                  <a:pt x="203369" y="128967"/>
                </a:lnTo>
                <a:lnTo>
                  <a:pt x="199816" y="125671"/>
                </a:lnTo>
                <a:lnTo>
                  <a:pt x="189851" y="122092"/>
                </a:lnTo>
                <a:lnTo>
                  <a:pt x="138087" y="111555"/>
                </a:lnTo>
                <a:lnTo>
                  <a:pt x="138719" y="108449"/>
                </a:lnTo>
                <a:lnTo>
                  <a:pt x="122825" y="108449"/>
                </a:lnTo>
                <a:lnTo>
                  <a:pt x="96385" y="103066"/>
                </a:lnTo>
                <a:close/>
              </a:path>
              <a:path w="222250" h="236854">
                <a:moveTo>
                  <a:pt x="66682" y="142349"/>
                </a:moveTo>
                <a:lnTo>
                  <a:pt x="37796" y="142349"/>
                </a:lnTo>
                <a:lnTo>
                  <a:pt x="52886" y="152276"/>
                </a:lnTo>
                <a:lnTo>
                  <a:pt x="64515" y="167572"/>
                </a:lnTo>
                <a:lnTo>
                  <a:pt x="72682" y="188235"/>
                </a:lnTo>
                <a:lnTo>
                  <a:pt x="77387" y="214266"/>
                </a:lnTo>
                <a:lnTo>
                  <a:pt x="82295" y="211767"/>
                </a:lnTo>
                <a:lnTo>
                  <a:pt x="88050" y="209440"/>
                </a:lnTo>
                <a:lnTo>
                  <a:pt x="94646" y="207285"/>
                </a:lnTo>
                <a:lnTo>
                  <a:pt x="87749" y="177229"/>
                </a:lnTo>
                <a:lnTo>
                  <a:pt x="76566" y="153485"/>
                </a:lnTo>
                <a:lnTo>
                  <a:pt x="66682" y="142349"/>
                </a:lnTo>
                <a:close/>
              </a:path>
              <a:path w="222250" h="236854">
                <a:moveTo>
                  <a:pt x="3392" y="115604"/>
                </a:moveTo>
                <a:lnTo>
                  <a:pt x="0" y="132270"/>
                </a:lnTo>
                <a:lnTo>
                  <a:pt x="8573" y="134015"/>
                </a:lnTo>
                <a:lnTo>
                  <a:pt x="16197" y="135784"/>
                </a:lnTo>
                <a:lnTo>
                  <a:pt x="22872" y="137577"/>
                </a:lnTo>
                <a:lnTo>
                  <a:pt x="12064" y="190671"/>
                </a:lnTo>
                <a:lnTo>
                  <a:pt x="27327" y="193777"/>
                </a:lnTo>
                <a:lnTo>
                  <a:pt x="37796" y="142349"/>
                </a:lnTo>
                <a:lnTo>
                  <a:pt x="66682" y="142349"/>
                </a:lnTo>
                <a:lnTo>
                  <a:pt x="61096" y="136055"/>
                </a:lnTo>
                <a:lnTo>
                  <a:pt x="41339" y="124938"/>
                </a:lnTo>
                <a:lnTo>
                  <a:pt x="42180" y="120810"/>
                </a:lnTo>
                <a:lnTo>
                  <a:pt x="26286" y="120810"/>
                </a:lnTo>
                <a:lnTo>
                  <a:pt x="19597" y="119085"/>
                </a:lnTo>
                <a:lnTo>
                  <a:pt x="11965" y="117349"/>
                </a:lnTo>
                <a:lnTo>
                  <a:pt x="3392" y="115604"/>
                </a:lnTo>
                <a:close/>
              </a:path>
              <a:path w="222250" h="236854">
                <a:moveTo>
                  <a:pt x="203369" y="128967"/>
                </a:moveTo>
                <a:lnTo>
                  <a:pt x="134542" y="128967"/>
                </a:lnTo>
                <a:lnTo>
                  <a:pt x="189823" y="140220"/>
                </a:lnTo>
                <a:lnTo>
                  <a:pt x="193301" y="144940"/>
                </a:lnTo>
                <a:lnTo>
                  <a:pt x="185256" y="178019"/>
                </a:lnTo>
                <a:lnTo>
                  <a:pt x="202850" y="178309"/>
                </a:lnTo>
                <a:lnTo>
                  <a:pt x="208473" y="150690"/>
                </a:lnTo>
                <a:lnTo>
                  <a:pt x="209127" y="139970"/>
                </a:lnTo>
                <a:lnTo>
                  <a:pt x="206241" y="131631"/>
                </a:lnTo>
                <a:lnTo>
                  <a:pt x="203369" y="128967"/>
                </a:lnTo>
                <a:close/>
              </a:path>
              <a:path w="222250" h="236854">
                <a:moveTo>
                  <a:pt x="41338" y="46865"/>
                </a:moveTo>
                <a:lnTo>
                  <a:pt x="26286" y="120810"/>
                </a:lnTo>
                <a:lnTo>
                  <a:pt x="42180" y="120810"/>
                </a:lnTo>
                <a:lnTo>
                  <a:pt x="53187" y="66738"/>
                </a:lnTo>
                <a:lnTo>
                  <a:pt x="113916" y="66738"/>
                </a:lnTo>
                <a:lnTo>
                  <a:pt x="116152" y="64391"/>
                </a:lnTo>
                <a:lnTo>
                  <a:pt x="118292" y="58512"/>
                </a:lnTo>
                <a:lnTo>
                  <a:pt x="98554" y="58512"/>
                </a:lnTo>
                <a:lnTo>
                  <a:pt x="41338" y="46865"/>
                </a:lnTo>
                <a:close/>
              </a:path>
              <a:path w="222250" h="236854">
                <a:moveTo>
                  <a:pt x="140590" y="21177"/>
                </a:moveTo>
                <a:lnTo>
                  <a:pt x="122825" y="108449"/>
                </a:lnTo>
                <a:lnTo>
                  <a:pt x="138719" y="108449"/>
                </a:lnTo>
                <a:lnTo>
                  <a:pt x="155851" y="24283"/>
                </a:lnTo>
                <a:lnTo>
                  <a:pt x="140590" y="21177"/>
                </a:lnTo>
                <a:close/>
              </a:path>
              <a:path w="222250" h="236854">
                <a:moveTo>
                  <a:pt x="208890" y="30603"/>
                </a:moveTo>
                <a:lnTo>
                  <a:pt x="197230" y="41422"/>
                </a:lnTo>
                <a:lnTo>
                  <a:pt x="184770" y="53475"/>
                </a:lnTo>
                <a:lnTo>
                  <a:pt x="171513" y="66763"/>
                </a:lnTo>
                <a:lnTo>
                  <a:pt x="157457" y="81286"/>
                </a:lnTo>
                <a:lnTo>
                  <a:pt x="168342" y="94433"/>
                </a:lnTo>
                <a:lnTo>
                  <a:pt x="180914" y="81895"/>
                </a:lnTo>
                <a:lnTo>
                  <a:pt x="194026" y="69521"/>
                </a:lnTo>
                <a:lnTo>
                  <a:pt x="207679" y="57312"/>
                </a:lnTo>
                <a:lnTo>
                  <a:pt x="221874" y="45267"/>
                </a:lnTo>
                <a:lnTo>
                  <a:pt x="208890" y="30603"/>
                </a:lnTo>
                <a:close/>
              </a:path>
              <a:path w="222250" h="236854">
                <a:moveTo>
                  <a:pt x="113916" y="66738"/>
                </a:moveTo>
                <a:lnTo>
                  <a:pt x="53187" y="66738"/>
                </a:lnTo>
                <a:lnTo>
                  <a:pt x="87811" y="73786"/>
                </a:lnTo>
                <a:lnTo>
                  <a:pt x="99983" y="74579"/>
                </a:lnTo>
                <a:lnTo>
                  <a:pt x="109430" y="71447"/>
                </a:lnTo>
                <a:lnTo>
                  <a:pt x="113916" y="66738"/>
                </a:lnTo>
                <a:close/>
              </a:path>
              <a:path w="222250" h="236854">
                <a:moveTo>
                  <a:pt x="83845" y="0"/>
                </a:moveTo>
                <a:lnTo>
                  <a:pt x="81809" y="3563"/>
                </a:lnTo>
                <a:lnTo>
                  <a:pt x="78532" y="8568"/>
                </a:lnTo>
                <a:lnTo>
                  <a:pt x="74014" y="15012"/>
                </a:lnTo>
                <a:lnTo>
                  <a:pt x="81498" y="17260"/>
                </a:lnTo>
                <a:lnTo>
                  <a:pt x="88247" y="19494"/>
                </a:lnTo>
                <a:lnTo>
                  <a:pt x="94260" y="21717"/>
                </a:lnTo>
                <a:lnTo>
                  <a:pt x="106114" y="26724"/>
                </a:lnTo>
                <a:lnTo>
                  <a:pt x="108546" y="32324"/>
                </a:lnTo>
                <a:lnTo>
                  <a:pt x="103800" y="55642"/>
                </a:lnTo>
                <a:lnTo>
                  <a:pt x="98554" y="58512"/>
                </a:lnTo>
                <a:lnTo>
                  <a:pt x="118292" y="58512"/>
                </a:lnTo>
                <a:lnTo>
                  <a:pt x="120149" y="53411"/>
                </a:lnTo>
                <a:lnTo>
                  <a:pt x="122334" y="42680"/>
                </a:lnTo>
                <a:lnTo>
                  <a:pt x="123337" y="31283"/>
                </a:lnTo>
                <a:lnTo>
                  <a:pt x="121292" y="21922"/>
                </a:lnTo>
                <a:lnTo>
                  <a:pt x="90587" y="2385"/>
                </a:lnTo>
                <a:lnTo>
                  <a:pt x="83845" y="0"/>
                </a:lnTo>
                <a:close/>
              </a:path>
            </a:pathLst>
          </a:custGeom>
          <a:solidFill>
            <a:srgbClr val="FFFFFF"/>
          </a:solidFill>
        </p:spPr>
        <p:txBody>
          <a:bodyPr wrap="square" lIns="0" tIns="0" rIns="0" bIns="0" rtlCol="0"/>
          <a:lstStyle/>
          <a:p>
            <a:endParaRPr/>
          </a:p>
        </p:txBody>
      </p:sp>
      <p:sp>
        <p:nvSpPr>
          <p:cNvPr id="17" name="object 17"/>
          <p:cNvSpPr/>
          <p:nvPr/>
        </p:nvSpPr>
        <p:spPr>
          <a:xfrm>
            <a:off x="1905312" y="3707037"/>
            <a:ext cx="257810" cy="226695"/>
          </a:xfrm>
          <a:custGeom>
            <a:avLst/>
            <a:gdLst/>
            <a:ahLst/>
            <a:cxnLst/>
            <a:rect l="l" t="t" r="r" b="b"/>
            <a:pathLst>
              <a:path w="257810" h="226695">
                <a:moveTo>
                  <a:pt x="6634" y="127245"/>
                </a:moveTo>
                <a:lnTo>
                  <a:pt x="0" y="142539"/>
                </a:lnTo>
                <a:lnTo>
                  <a:pt x="193798" y="226612"/>
                </a:lnTo>
                <a:lnTo>
                  <a:pt x="200432" y="211317"/>
                </a:lnTo>
                <a:lnTo>
                  <a:pt x="51487" y="146702"/>
                </a:lnTo>
                <a:lnTo>
                  <a:pt x="58773" y="145843"/>
                </a:lnTo>
                <a:lnTo>
                  <a:pt x="66478" y="145166"/>
                </a:lnTo>
                <a:lnTo>
                  <a:pt x="74601" y="144669"/>
                </a:lnTo>
                <a:lnTo>
                  <a:pt x="83141" y="144354"/>
                </a:lnTo>
                <a:lnTo>
                  <a:pt x="83018" y="143609"/>
                </a:lnTo>
                <a:lnTo>
                  <a:pt x="44354" y="143609"/>
                </a:lnTo>
                <a:lnTo>
                  <a:pt x="6634" y="127245"/>
                </a:lnTo>
                <a:close/>
              </a:path>
              <a:path w="257810" h="226695">
                <a:moveTo>
                  <a:pt x="44949" y="168257"/>
                </a:moveTo>
                <a:lnTo>
                  <a:pt x="36503" y="179658"/>
                </a:lnTo>
                <a:lnTo>
                  <a:pt x="49237" y="188090"/>
                </a:lnTo>
                <a:lnTo>
                  <a:pt x="61029" y="196327"/>
                </a:lnTo>
                <a:lnTo>
                  <a:pt x="71878" y="204368"/>
                </a:lnTo>
                <a:lnTo>
                  <a:pt x="81785" y="212214"/>
                </a:lnTo>
                <a:lnTo>
                  <a:pt x="85374" y="207172"/>
                </a:lnTo>
                <a:lnTo>
                  <a:pt x="88599" y="203151"/>
                </a:lnTo>
                <a:lnTo>
                  <a:pt x="91457" y="200149"/>
                </a:lnTo>
                <a:lnTo>
                  <a:pt x="79499" y="191417"/>
                </a:lnTo>
                <a:lnTo>
                  <a:pt x="67761" y="183191"/>
                </a:lnTo>
                <a:lnTo>
                  <a:pt x="56245" y="175471"/>
                </a:lnTo>
                <a:lnTo>
                  <a:pt x="44949" y="168257"/>
                </a:lnTo>
                <a:close/>
              </a:path>
              <a:path w="257810" h="226695">
                <a:moveTo>
                  <a:pt x="202382" y="99778"/>
                </a:moveTo>
                <a:lnTo>
                  <a:pt x="159390" y="99778"/>
                </a:lnTo>
                <a:lnTo>
                  <a:pt x="212115" y="122652"/>
                </a:lnTo>
                <a:lnTo>
                  <a:pt x="184616" y="186044"/>
                </a:lnTo>
                <a:lnTo>
                  <a:pt x="198300" y="191980"/>
                </a:lnTo>
                <a:lnTo>
                  <a:pt x="235185" y="106955"/>
                </a:lnTo>
                <a:lnTo>
                  <a:pt x="218925" y="106955"/>
                </a:lnTo>
                <a:lnTo>
                  <a:pt x="202382" y="99778"/>
                </a:lnTo>
                <a:close/>
              </a:path>
              <a:path w="257810" h="226695">
                <a:moveTo>
                  <a:pt x="141003" y="73152"/>
                </a:moveTo>
                <a:lnTo>
                  <a:pt x="98010" y="73152"/>
                </a:lnTo>
                <a:lnTo>
                  <a:pt x="145705" y="93842"/>
                </a:lnTo>
                <a:lnTo>
                  <a:pt x="123791" y="144354"/>
                </a:lnTo>
                <a:lnTo>
                  <a:pt x="137477" y="150291"/>
                </a:lnTo>
                <a:lnTo>
                  <a:pt x="159390" y="99778"/>
                </a:lnTo>
                <a:lnTo>
                  <a:pt x="202382" y="99778"/>
                </a:lnTo>
                <a:lnTo>
                  <a:pt x="166199" y="84081"/>
                </a:lnTo>
                <a:lnTo>
                  <a:pt x="168774" y="78145"/>
                </a:lnTo>
                <a:lnTo>
                  <a:pt x="152514" y="78145"/>
                </a:lnTo>
                <a:lnTo>
                  <a:pt x="141003" y="73152"/>
                </a:lnTo>
                <a:close/>
              </a:path>
              <a:path w="257810" h="226695">
                <a:moveTo>
                  <a:pt x="49340" y="74275"/>
                </a:moveTo>
                <a:lnTo>
                  <a:pt x="38406" y="88183"/>
                </a:lnTo>
                <a:lnTo>
                  <a:pt x="54903" y="100857"/>
                </a:lnTo>
                <a:lnTo>
                  <a:pt x="70568" y="114911"/>
                </a:lnTo>
                <a:lnTo>
                  <a:pt x="85458" y="130417"/>
                </a:lnTo>
                <a:lnTo>
                  <a:pt x="99399" y="147162"/>
                </a:lnTo>
                <a:lnTo>
                  <a:pt x="102209" y="144628"/>
                </a:lnTo>
                <a:lnTo>
                  <a:pt x="107135" y="141524"/>
                </a:lnTo>
                <a:lnTo>
                  <a:pt x="114179" y="137853"/>
                </a:lnTo>
                <a:lnTo>
                  <a:pt x="106930" y="129168"/>
                </a:lnTo>
                <a:lnTo>
                  <a:pt x="99529" y="120769"/>
                </a:lnTo>
                <a:lnTo>
                  <a:pt x="91976" y="112654"/>
                </a:lnTo>
                <a:lnTo>
                  <a:pt x="84270" y="104823"/>
                </a:lnTo>
                <a:lnTo>
                  <a:pt x="89060" y="93783"/>
                </a:lnTo>
                <a:lnTo>
                  <a:pt x="72800" y="93783"/>
                </a:lnTo>
                <a:lnTo>
                  <a:pt x="67105" y="88717"/>
                </a:lnTo>
                <a:lnTo>
                  <a:pt x="61297" y="83777"/>
                </a:lnTo>
                <a:lnTo>
                  <a:pt x="55376" y="78963"/>
                </a:lnTo>
                <a:lnTo>
                  <a:pt x="49340" y="74275"/>
                </a:lnTo>
                <a:close/>
              </a:path>
              <a:path w="257810" h="226695">
                <a:moveTo>
                  <a:pt x="80547" y="128703"/>
                </a:moveTo>
                <a:lnTo>
                  <a:pt x="71835" y="129430"/>
                </a:lnTo>
                <a:lnTo>
                  <a:pt x="62719" y="130417"/>
                </a:lnTo>
                <a:lnTo>
                  <a:pt x="53201" y="131664"/>
                </a:lnTo>
                <a:lnTo>
                  <a:pt x="43279" y="133170"/>
                </a:lnTo>
                <a:lnTo>
                  <a:pt x="44354" y="143609"/>
                </a:lnTo>
                <a:lnTo>
                  <a:pt x="83018" y="143609"/>
                </a:lnTo>
                <a:lnTo>
                  <a:pt x="80547" y="128703"/>
                </a:lnTo>
                <a:close/>
              </a:path>
              <a:path w="257810" h="226695">
                <a:moveTo>
                  <a:pt x="243894" y="49399"/>
                </a:moveTo>
                <a:lnTo>
                  <a:pt x="218925" y="106955"/>
                </a:lnTo>
                <a:lnTo>
                  <a:pt x="235185" y="106955"/>
                </a:lnTo>
                <a:lnTo>
                  <a:pt x="257578" y="55336"/>
                </a:lnTo>
                <a:lnTo>
                  <a:pt x="243894" y="49399"/>
                </a:lnTo>
                <a:close/>
              </a:path>
              <a:path w="257810" h="226695">
                <a:moveTo>
                  <a:pt x="47867" y="32748"/>
                </a:moveTo>
                <a:lnTo>
                  <a:pt x="41057" y="48445"/>
                </a:lnTo>
                <a:lnTo>
                  <a:pt x="84325" y="67214"/>
                </a:lnTo>
                <a:lnTo>
                  <a:pt x="72800" y="93783"/>
                </a:lnTo>
                <a:lnTo>
                  <a:pt x="89060" y="93783"/>
                </a:lnTo>
                <a:lnTo>
                  <a:pt x="98010" y="73152"/>
                </a:lnTo>
                <a:lnTo>
                  <a:pt x="141003" y="73152"/>
                </a:lnTo>
                <a:lnTo>
                  <a:pt x="104819" y="57454"/>
                </a:lnTo>
                <a:lnTo>
                  <a:pt x="107395" y="51517"/>
                </a:lnTo>
                <a:lnTo>
                  <a:pt x="91135" y="51517"/>
                </a:lnTo>
                <a:lnTo>
                  <a:pt x="47867" y="32748"/>
                </a:lnTo>
                <a:close/>
              </a:path>
              <a:path w="257810" h="226695">
                <a:moveTo>
                  <a:pt x="173118" y="30651"/>
                </a:moveTo>
                <a:lnTo>
                  <a:pt x="152514" y="78145"/>
                </a:lnTo>
                <a:lnTo>
                  <a:pt x="168774" y="78145"/>
                </a:lnTo>
                <a:lnTo>
                  <a:pt x="186803" y="36588"/>
                </a:lnTo>
                <a:lnTo>
                  <a:pt x="173118" y="30651"/>
                </a:lnTo>
                <a:close/>
              </a:path>
              <a:path w="257810" h="226695">
                <a:moveTo>
                  <a:pt x="113484" y="0"/>
                </a:moveTo>
                <a:lnTo>
                  <a:pt x="91135" y="51517"/>
                </a:lnTo>
                <a:lnTo>
                  <a:pt x="107395" y="51517"/>
                </a:lnTo>
                <a:lnTo>
                  <a:pt x="127168" y="5935"/>
                </a:lnTo>
                <a:lnTo>
                  <a:pt x="113484" y="0"/>
                </a:lnTo>
                <a:close/>
              </a:path>
            </a:pathLst>
          </a:custGeom>
          <a:solidFill>
            <a:srgbClr val="FFFFFF"/>
          </a:solidFill>
        </p:spPr>
        <p:txBody>
          <a:bodyPr wrap="square" lIns="0" tIns="0" rIns="0" bIns="0" rtlCol="0"/>
          <a:lstStyle/>
          <a:p>
            <a:endParaRPr/>
          </a:p>
        </p:txBody>
      </p:sp>
      <p:sp>
        <p:nvSpPr>
          <p:cNvPr id="18" name="object 18"/>
          <p:cNvSpPr txBox="1"/>
          <p:nvPr/>
        </p:nvSpPr>
        <p:spPr>
          <a:xfrm>
            <a:off x="1031346" y="1546583"/>
            <a:ext cx="10212705" cy="1092200"/>
          </a:xfrm>
          <a:prstGeom prst="rect">
            <a:avLst/>
          </a:prstGeom>
          <a:solidFill>
            <a:srgbClr val="ECEBEB"/>
          </a:solidFill>
        </p:spPr>
        <p:txBody>
          <a:bodyPr vert="horz" wrap="square" lIns="0" tIns="102870" rIns="0" bIns="0" rtlCol="0">
            <a:spAutoFit/>
          </a:bodyPr>
          <a:lstStyle/>
          <a:p>
            <a:pPr marL="215900" marR="201930">
              <a:lnSpc>
                <a:spcPct val="118000"/>
              </a:lnSpc>
              <a:spcBef>
                <a:spcPts val="810"/>
              </a:spcBef>
            </a:pPr>
            <a:r>
              <a:rPr sz="2400" spc="5" dirty="0">
                <a:solidFill>
                  <a:srgbClr val="0033CC"/>
                </a:solidFill>
                <a:latin typeface="微软雅黑" panose="020B0503020204020204" pitchFamily="34" charset="-122"/>
                <a:cs typeface="微软雅黑" panose="020B0503020204020204" pitchFamily="34" charset="-122"/>
              </a:rPr>
              <a:t>优化</a:t>
            </a:r>
            <a:r>
              <a:rPr sz="2400" spc="5" dirty="0">
                <a:latin typeface="微软雅黑" panose="020B0503020204020204" pitchFamily="34" charset="-122"/>
                <a:cs typeface="微软雅黑" panose="020B0503020204020204" pitchFamily="34" charset="-122"/>
              </a:rPr>
              <a:t>是对代码进行等价变换，使得变换后的代码运行结果与变换前的代码 </a:t>
            </a:r>
            <a:r>
              <a:rPr sz="2400" dirty="0">
                <a:latin typeface="微软雅黑" panose="020B0503020204020204" pitchFamily="34" charset="-122"/>
                <a:cs typeface="微软雅黑" panose="020B0503020204020204" pitchFamily="34" charset="-122"/>
              </a:rPr>
              <a:t>运行结果相同，但执行速度加快或存储开销减少。</a:t>
            </a:r>
            <a:endParaRPr sz="2400">
              <a:latin typeface="微软雅黑" panose="020B0503020204020204" pitchFamily="34" charset="-122"/>
              <a:cs typeface="微软雅黑" panose="020B0503020204020204" pitchFamily="34" charset="-122"/>
            </a:endParaRPr>
          </a:p>
        </p:txBody>
      </p:sp>
      <p:sp>
        <p:nvSpPr>
          <p:cNvPr id="20" name="标题 19"/>
          <p:cNvSpPr>
            <a:spLocks noGrp="1"/>
          </p:cNvSpPr>
          <p:nvPr>
            <p:ph type="title"/>
          </p:nvPr>
        </p:nvSpPr>
        <p:spPr/>
        <p:txBody>
          <a:bodyPr/>
          <a:lstStyle/>
          <a:p>
            <a:r>
              <a:rPr lang="zh-CN" altLang="en-US" dirty="0"/>
              <a:t>代码性能优化</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78</a:t>
            </a:fld>
            <a:endParaRPr lang="zh-CN" altLang="en-US"/>
          </a:p>
        </p:txBody>
      </p:sp>
      <p:sp>
        <p:nvSpPr>
          <p:cNvPr id="19" name="矩形 18">
            <a:extLst>
              <a:ext uri="{FF2B5EF4-FFF2-40B4-BE49-F238E27FC236}">
                <a16:creationId xmlns:a16="http://schemas.microsoft.com/office/drawing/2014/main" id="{30A52801-EDF1-48AB-9D29-2EC09D665AF9}"/>
              </a:ext>
            </a:extLst>
          </p:cNvPr>
          <p:cNvSpPr/>
          <p:nvPr/>
        </p:nvSpPr>
        <p:spPr>
          <a:xfrm>
            <a:off x="5224567" y="5447887"/>
            <a:ext cx="1980029" cy="523220"/>
          </a:xfrm>
          <a:prstGeom prst="rect">
            <a:avLst/>
          </a:prstGeom>
        </p:spPr>
        <p:txBody>
          <a:bodyPr wrap="none">
            <a:spAutoFit/>
          </a:bodyPr>
          <a:lstStyle/>
          <a:p>
            <a:r>
              <a:rPr lang="zh-CN" altLang="en-US" sz="2800" b="1" dirty="0">
                <a:solidFill>
                  <a:srgbClr val="FF0000"/>
                </a:solidFill>
                <a:latin typeface="微软雅黑" panose="020B0503020204020204" pitchFamily="34" charset="-122"/>
                <a:ea typeface="微软雅黑" panose="020B0503020204020204" pitchFamily="34" charset="-122"/>
              </a:rPr>
              <a:t>时间和空间</a:t>
            </a:r>
          </a:p>
        </p:txBody>
      </p:sp>
    </p:spTree>
  </p:cSld>
  <p:clrMapOvr>
    <a:masterClrMapping/>
  </p:clrMapOvr>
  <mc:AlternateContent xmlns:mc="http://schemas.openxmlformats.org/markup-compatibility/2006" xmlns:p14="http://schemas.microsoft.com/office/powerpoint/2010/main">
    <mc:Choice Requires="p14">
      <p:transition spd="slow" p14:dur="2000" advTm="39216"/>
    </mc:Choice>
    <mc:Fallback xmlns="">
      <p:transition spd="slow" advTm="39216"/>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269740" y="1602026"/>
            <a:ext cx="7092950" cy="3949700"/>
          </a:xfrm>
          <a:prstGeom prst="rect">
            <a:avLst/>
          </a:prstGeom>
        </p:spPr>
        <p:txBody>
          <a:bodyPr vert="horz" wrap="square" lIns="0" tIns="12700" rIns="0" bIns="0" rtlCol="0">
            <a:spAutoFit/>
          </a:bodyPr>
          <a:lstStyle/>
          <a:p>
            <a:pPr marL="381000" marR="114935" indent="-368300">
              <a:lnSpc>
                <a:spcPct val="128000"/>
              </a:lnSpc>
              <a:spcBef>
                <a:spcPts val="100"/>
              </a:spcBef>
              <a:buFont typeface="Arial" panose="020B0604020202020204"/>
              <a:buChar char="•"/>
              <a:tabLst>
                <a:tab pos="379095" algn="l"/>
                <a:tab pos="379730" algn="l"/>
              </a:tabLst>
            </a:pPr>
            <a:r>
              <a:rPr sz="2400" spc="70" dirty="0">
                <a:latin typeface="微软雅黑" panose="020B0503020204020204" pitchFamily="34" charset="-122"/>
                <a:cs typeface="微软雅黑" panose="020B0503020204020204" pitchFamily="34" charset="-122"/>
              </a:rPr>
              <a:t>在满足正确性、可靠性、健壮性、可读性等质量 </a:t>
            </a:r>
            <a:r>
              <a:rPr sz="2400" dirty="0">
                <a:latin typeface="微软雅黑" panose="020B0503020204020204" pitchFamily="34" charset="-122"/>
                <a:cs typeface="微软雅黑" panose="020B0503020204020204" pitchFamily="34" charset="-122"/>
              </a:rPr>
              <a:t>因素的前提下，设法提高程序的效率</a:t>
            </a:r>
            <a:endParaRPr sz="2400">
              <a:latin typeface="微软雅黑" panose="020B0503020204020204" pitchFamily="34" charset="-122"/>
              <a:cs typeface="微软雅黑" panose="020B0503020204020204" pitchFamily="34" charset="-122"/>
            </a:endParaRPr>
          </a:p>
          <a:p>
            <a:pPr marL="374650" indent="-361950">
              <a:lnSpc>
                <a:spcPct val="100000"/>
              </a:lnSpc>
              <a:spcBef>
                <a:spcPts val="2020"/>
              </a:spcBef>
              <a:buFont typeface="Arial" panose="020B0604020202020204"/>
              <a:buChar char="•"/>
              <a:tabLst>
                <a:tab pos="374015" algn="l"/>
                <a:tab pos="374650" algn="l"/>
              </a:tabLst>
            </a:pPr>
            <a:r>
              <a:rPr sz="2400" dirty="0">
                <a:latin typeface="微软雅黑" panose="020B0503020204020204" pitchFamily="34" charset="-122"/>
                <a:cs typeface="微软雅黑" panose="020B0503020204020204" pitchFamily="34" charset="-122"/>
              </a:rPr>
              <a:t>以提高程序的全局效率为主，提高局部效率为辅</a:t>
            </a:r>
            <a:endParaRPr sz="2400">
              <a:latin typeface="微软雅黑" panose="020B0503020204020204" pitchFamily="34" charset="-122"/>
              <a:cs typeface="微软雅黑" panose="020B0503020204020204" pitchFamily="34" charset="-122"/>
            </a:endParaRPr>
          </a:p>
          <a:p>
            <a:pPr marL="374650" indent="-361950">
              <a:lnSpc>
                <a:spcPct val="100000"/>
              </a:lnSpc>
              <a:spcBef>
                <a:spcPts val="2120"/>
              </a:spcBef>
              <a:buFont typeface="Arial" panose="020B0604020202020204"/>
              <a:buChar char="•"/>
              <a:tabLst>
                <a:tab pos="374015" algn="l"/>
                <a:tab pos="374650" algn="l"/>
              </a:tabLst>
            </a:pPr>
            <a:r>
              <a:rPr sz="2400" dirty="0">
                <a:latin typeface="微软雅黑" panose="020B0503020204020204" pitchFamily="34" charset="-122"/>
                <a:cs typeface="微软雅黑" panose="020B0503020204020204" pitchFamily="34" charset="-122"/>
              </a:rPr>
              <a:t>在优化程序效率时，应先找出限制效率的“瓶颈”</a:t>
            </a:r>
            <a:endParaRPr sz="2400">
              <a:latin typeface="微软雅黑" panose="020B0503020204020204" pitchFamily="34" charset="-122"/>
              <a:cs typeface="微软雅黑" panose="020B0503020204020204" pitchFamily="34" charset="-122"/>
            </a:endParaRPr>
          </a:p>
          <a:p>
            <a:pPr marL="374650" indent="-361950">
              <a:lnSpc>
                <a:spcPct val="100000"/>
              </a:lnSpc>
              <a:spcBef>
                <a:spcPts val="2020"/>
              </a:spcBef>
              <a:buFont typeface="Arial" panose="020B0604020202020204"/>
              <a:buChar char="•"/>
              <a:tabLst>
                <a:tab pos="374015" algn="l"/>
                <a:tab pos="374650" algn="l"/>
              </a:tabLst>
            </a:pPr>
            <a:r>
              <a:rPr sz="2400" dirty="0">
                <a:latin typeface="微软雅黑" panose="020B0503020204020204" pitchFamily="34" charset="-122"/>
                <a:cs typeface="微软雅黑" panose="020B0503020204020204" pitchFamily="34" charset="-122"/>
              </a:rPr>
              <a:t>先优化数据结构和算法，再优化执行代码</a:t>
            </a:r>
            <a:endParaRPr sz="2400">
              <a:latin typeface="微软雅黑" panose="020B0503020204020204" pitchFamily="34" charset="-122"/>
              <a:cs typeface="微软雅黑" panose="020B0503020204020204" pitchFamily="34" charset="-122"/>
            </a:endParaRPr>
          </a:p>
          <a:p>
            <a:pPr marL="381000" marR="114935" indent="-368300">
              <a:lnSpc>
                <a:spcPct val="128000"/>
              </a:lnSpc>
              <a:spcBef>
                <a:spcPts val="1295"/>
              </a:spcBef>
              <a:buFont typeface="Arial" panose="020B0604020202020204"/>
              <a:buChar char="•"/>
              <a:tabLst>
                <a:tab pos="379095" algn="l"/>
                <a:tab pos="379730" algn="l"/>
              </a:tabLst>
            </a:pPr>
            <a:r>
              <a:rPr sz="2400" spc="70" dirty="0">
                <a:latin typeface="微软雅黑" panose="020B0503020204020204" pitchFamily="34" charset="-122"/>
                <a:cs typeface="微软雅黑" panose="020B0503020204020204" pitchFamily="34" charset="-122"/>
              </a:rPr>
              <a:t>时间效率和空间效率可能是对立的，应当分析哪 </a:t>
            </a:r>
            <a:r>
              <a:rPr sz="2400" dirty="0">
                <a:latin typeface="微软雅黑" panose="020B0503020204020204" pitchFamily="34" charset="-122"/>
                <a:cs typeface="微软雅黑" panose="020B0503020204020204" pitchFamily="34" charset="-122"/>
              </a:rPr>
              <a:t>一个因素更重要，再做出适当的折衷</a:t>
            </a:r>
            <a:endParaRPr sz="2400">
              <a:latin typeface="微软雅黑" panose="020B0503020204020204" pitchFamily="34" charset="-122"/>
              <a:cs typeface="微软雅黑" panose="020B0503020204020204" pitchFamily="34" charset="-122"/>
            </a:endParaRPr>
          </a:p>
        </p:txBody>
      </p:sp>
      <p:sp>
        <p:nvSpPr>
          <p:cNvPr id="4" name="object 4"/>
          <p:cNvSpPr/>
          <p:nvPr/>
        </p:nvSpPr>
        <p:spPr>
          <a:xfrm>
            <a:off x="1180407" y="2024148"/>
            <a:ext cx="2610196" cy="3433156"/>
          </a:xfrm>
          <a:prstGeom prst="rect">
            <a:avLst/>
          </a:prstGeom>
          <a:blipFill>
            <a:blip r:embed="rId3" cstate="print"/>
            <a:stretch>
              <a:fillRect/>
            </a:stretch>
          </a:blipFill>
        </p:spPr>
        <p:txBody>
          <a:bodyPr wrap="square" lIns="0" tIns="0" rIns="0" bIns="0" rtlCol="0"/>
          <a:lstStyle/>
          <a:p>
            <a:endParaRPr/>
          </a:p>
        </p:txBody>
      </p:sp>
      <p:sp>
        <p:nvSpPr>
          <p:cNvPr id="6" name="标题 5"/>
          <p:cNvSpPr>
            <a:spLocks noGrp="1"/>
          </p:cNvSpPr>
          <p:nvPr>
            <p:ph type="title"/>
          </p:nvPr>
        </p:nvSpPr>
        <p:spPr/>
        <p:txBody>
          <a:bodyPr/>
          <a:lstStyle/>
          <a:p>
            <a:r>
              <a:rPr lang="zh-CN" altLang="en-US" dirty="0"/>
              <a:t>代码性能优化</a:t>
            </a:r>
          </a:p>
        </p:txBody>
      </p:sp>
      <p:sp>
        <p:nvSpPr>
          <p:cNvPr id="5" name="灯片编号占位符 4"/>
          <p:cNvSpPr>
            <a:spLocks noGrp="1"/>
          </p:cNvSpPr>
          <p:nvPr>
            <p:ph type="sldNum" sz="quarter" idx="12"/>
          </p:nvPr>
        </p:nvSpPr>
        <p:spPr/>
        <p:txBody>
          <a:bodyPr/>
          <a:lstStyle/>
          <a:p>
            <a:fld id="{74D2AB8B-5816-41F2-8B4B-CA5C3E4E6A65}" type="slidenum">
              <a:rPr lang="zh-CN" altLang="en-US" smtClean="0"/>
              <a:t>79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9222"/>
    </mc:Choice>
    <mc:Fallback xmlns="">
      <p:transition spd="slow" advTm="59222"/>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74752" y="1592798"/>
            <a:ext cx="9836150" cy="1041400"/>
          </a:xfrm>
          <a:prstGeom prst="rect">
            <a:avLst/>
          </a:prstGeom>
        </p:spPr>
        <p:txBody>
          <a:bodyPr vert="horz" wrap="square" lIns="0" tIns="154940" rIns="0" bIns="0" rtlCol="0">
            <a:spAutoFit/>
          </a:bodyPr>
          <a:lstStyle/>
          <a:p>
            <a:pPr marL="374650" indent="-361950">
              <a:lnSpc>
                <a:spcPct val="100000"/>
              </a:lnSpc>
              <a:spcBef>
                <a:spcPts val="1220"/>
              </a:spcBef>
              <a:buFont typeface="Arial" panose="020B0604020202020204"/>
              <a:buChar char="•"/>
              <a:tabLst>
                <a:tab pos="374015" algn="l"/>
                <a:tab pos="374650" algn="l"/>
              </a:tabLst>
            </a:pPr>
            <a:r>
              <a:rPr sz="2400" dirty="0">
                <a:latin typeface="微软雅黑" panose="020B0503020204020204" pitchFamily="34" charset="-122"/>
                <a:cs typeface="微软雅黑" panose="020B0503020204020204" pitchFamily="34" charset="-122"/>
              </a:rPr>
              <a:t>从一开始就要考虑程序性能，不要期待在开发结束后再做一些快速调整</a:t>
            </a:r>
            <a:endParaRPr sz="2400">
              <a:latin typeface="微软雅黑" panose="020B0503020204020204" pitchFamily="34" charset="-122"/>
              <a:cs typeface="微软雅黑" panose="020B0503020204020204" pitchFamily="34" charset="-122"/>
            </a:endParaRPr>
          </a:p>
          <a:p>
            <a:pPr marL="374650" indent="-361950">
              <a:lnSpc>
                <a:spcPct val="100000"/>
              </a:lnSpc>
              <a:spcBef>
                <a:spcPts val="1120"/>
              </a:spcBef>
              <a:buFont typeface="Arial" panose="020B0604020202020204"/>
              <a:buChar char="•"/>
              <a:tabLst>
                <a:tab pos="374015" algn="l"/>
                <a:tab pos="374650" algn="l"/>
              </a:tabLst>
            </a:pPr>
            <a:r>
              <a:rPr sz="2400" dirty="0">
                <a:latin typeface="微软雅黑" panose="020B0503020204020204" pitchFamily="34" charset="-122"/>
                <a:cs typeface="微软雅黑" panose="020B0503020204020204" pitchFamily="34" charset="-122"/>
              </a:rPr>
              <a:t>正确的代码要比速度快的代码重要，任何优化都不能破坏代码的正确性</a:t>
            </a:r>
            <a:endParaRPr sz="2400">
              <a:latin typeface="微软雅黑" panose="020B0503020204020204" pitchFamily="34" charset="-122"/>
              <a:cs typeface="微软雅黑" panose="020B0503020204020204" pitchFamily="34" charset="-122"/>
            </a:endParaRPr>
          </a:p>
        </p:txBody>
      </p:sp>
      <p:sp>
        <p:nvSpPr>
          <p:cNvPr id="4" name="object 4"/>
          <p:cNvSpPr txBox="1"/>
          <p:nvPr/>
        </p:nvSpPr>
        <p:spPr>
          <a:xfrm>
            <a:off x="1659463" y="3112585"/>
            <a:ext cx="1441450" cy="815340"/>
          </a:xfrm>
          <a:prstGeom prst="rect">
            <a:avLst/>
          </a:prstGeom>
          <a:solidFill>
            <a:srgbClr val="E4EFF9"/>
          </a:solidFill>
          <a:ln w="19049">
            <a:solidFill>
              <a:srgbClr val="000000"/>
            </a:solidFill>
          </a:ln>
        </p:spPr>
        <p:txBody>
          <a:bodyPr vert="horz" wrap="square" lIns="0" tIns="103505" rIns="0" bIns="0" rtlCol="0">
            <a:spAutoFit/>
          </a:bodyPr>
          <a:lstStyle/>
          <a:p>
            <a:pPr marL="214630" marR="201930">
              <a:lnSpc>
                <a:spcPct val="100000"/>
              </a:lnSpc>
              <a:spcBef>
                <a:spcPts val="815"/>
              </a:spcBef>
            </a:pPr>
            <a:r>
              <a:rPr sz="2000" dirty="0">
                <a:latin typeface="微软雅黑" panose="020B0503020204020204" pitchFamily="34" charset="-122"/>
                <a:cs typeface="微软雅黑" panose="020B0503020204020204" pitchFamily="34" charset="-122"/>
              </a:rPr>
              <a:t>证明需要 进行优化</a:t>
            </a:r>
            <a:endParaRPr sz="2000">
              <a:latin typeface="微软雅黑" panose="020B0503020204020204" pitchFamily="34" charset="-122"/>
              <a:cs typeface="微软雅黑" panose="020B0503020204020204" pitchFamily="34" charset="-122"/>
            </a:endParaRPr>
          </a:p>
        </p:txBody>
      </p:sp>
      <p:sp>
        <p:nvSpPr>
          <p:cNvPr id="5" name="object 5"/>
          <p:cNvSpPr txBox="1"/>
          <p:nvPr/>
        </p:nvSpPr>
        <p:spPr>
          <a:xfrm>
            <a:off x="3628601" y="3112585"/>
            <a:ext cx="1441450" cy="814069"/>
          </a:xfrm>
          <a:prstGeom prst="rect">
            <a:avLst/>
          </a:prstGeom>
          <a:solidFill>
            <a:srgbClr val="E4EFF9"/>
          </a:solidFill>
          <a:ln w="19049">
            <a:solidFill>
              <a:srgbClr val="000000"/>
            </a:solidFill>
          </a:ln>
        </p:spPr>
        <p:txBody>
          <a:bodyPr vert="horz" wrap="square" lIns="0" tIns="102235" rIns="0" bIns="0" rtlCol="0">
            <a:spAutoFit/>
          </a:bodyPr>
          <a:lstStyle/>
          <a:p>
            <a:pPr marL="215265" marR="201930">
              <a:lnSpc>
                <a:spcPct val="100000"/>
              </a:lnSpc>
              <a:spcBef>
                <a:spcPts val="805"/>
              </a:spcBef>
            </a:pPr>
            <a:r>
              <a:rPr sz="2000" dirty="0">
                <a:latin typeface="微软雅黑" panose="020B0503020204020204" pitchFamily="34" charset="-122"/>
                <a:cs typeface="微软雅黑" panose="020B0503020204020204" pitchFamily="34" charset="-122"/>
              </a:rPr>
              <a:t>找出优化 关键部分</a:t>
            </a:r>
            <a:endParaRPr sz="2000">
              <a:latin typeface="微软雅黑" panose="020B0503020204020204" pitchFamily="34" charset="-122"/>
              <a:cs typeface="微软雅黑" panose="020B0503020204020204" pitchFamily="34" charset="-122"/>
            </a:endParaRPr>
          </a:p>
        </p:txBody>
      </p:sp>
      <p:sp>
        <p:nvSpPr>
          <p:cNvPr id="6" name="object 6"/>
          <p:cNvSpPr txBox="1"/>
          <p:nvPr/>
        </p:nvSpPr>
        <p:spPr>
          <a:xfrm>
            <a:off x="5576545" y="3112585"/>
            <a:ext cx="1441450" cy="812165"/>
          </a:xfrm>
          <a:prstGeom prst="rect">
            <a:avLst/>
          </a:prstGeom>
          <a:solidFill>
            <a:srgbClr val="E4EFF9"/>
          </a:solidFill>
          <a:ln w="19049">
            <a:solidFill>
              <a:srgbClr val="000000"/>
            </a:solidFill>
          </a:ln>
        </p:spPr>
        <p:txBody>
          <a:bodyPr vert="horz" wrap="square" lIns="0" tIns="252730" rIns="0" bIns="0" rtlCol="0">
            <a:spAutoFit/>
          </a:bodyPr>
          <a:lstStyle/>
          <a:p>
            <a:pPr marL="215265">
              <a:lnSpc>
                <a:spcPct val="100000"/>
              </a:lnSpc>
              <a:spcBef>
                <a:spcPts val="1990"/>
              </a:spcBef>
            </a:pPr>
            <a:r>
              <a:rPr sz="2000" dirty="0">
                <a:latin typeface="微软雅黑" panose="020B0503020204020204" pitchFamily="34" charset="-122"/>
                <a:cs typeface="微软雅黑" panose="020B0503020204020204" pitchFamily="34" charset="-122"/>
              </a:rPr>
              <a:t>测试代码</a:t>
            </a:r>
            <a:endParaRPr sz="2000">
              <a:latin typeface="微软雅黑" panose="020B0503020204020204" pitchFamily="34" charset="-122"/>
              <a:cs typeface="微软雅黑" panose="020B0503020204020204" pitchFamily="34" charset="-122"/>
            </a:endParaRPr>
          </a:p>
        </p:txBody>
      </p:sp>
      <p:sp>
        <p:nvSpPr>
          <p:cNvPr id="7" name="object 7"/>
          <p:cNvSpPr txBox="1"/>
          <p:nvPr/>
        </p:nvSpPr>
        <p:spPr>
          <a:xfrm>
            <a:off x="7545684" y="3112585"/>
            <a:ext cx="1441450" cy="810260"/>
          </a:xfrm>
          <a:prstGeom prst="rect">
            <a:avLst/>
          </a:prstGeom>
          <a:solidFill>
            <a:srgbClr val="E4EFF9"/>
          </a:solidFill>
          <a:ln w="19049">
            <a:solidFill>
              <a:srgbClr val="000000"/>
            </a:solidFill>
          </a:ln>
        </p:spPr>
        <p:txBody>
          <a:bodyPr vert="horz" wrap="square" lIns="0" tIns="250825" rIns="0" bIns="0" rtlCol="0">
            <a:spAutoFit/>
          </a:bodyPr>
          <a:lstStyle/>
          <a:p>
            <a:pPr marL="215265">
              <a:lnSpc>
                <a:spcPct val="100000"/>
              </a:lnSpc>
              <a:spcBef>
                <a:spcPts val="1975"/>
              </a:spcBef>
            </a:pPr>
            <a:r>
              <a:rPr sz="2000" dirty="0">
                <a:latin typeface="微软雅黑" panose="020B0503020204020204" pitchFamily="34" charset="-122"/>
                <a:cs typeface="微软雅黑" panose="020B0503020204020204" pitchFamily="34" charset="-122"/>
              </a:rPr>
              <a:t>优化代码</a:t>
            </a:r>
            <a:endParaRPr sz="2000">
              <a:latin typeface="微软雅黑" panose="020B0503020204020204" pitchFamily="34" charset="-122"/>
              <a:cs typeface="微软雅黑" panose="020B0503020204020204" pitchFamily="34" charset="-122"/>
            </a:endParaRPr>
          </a:p>
        </p:txBody>
      </p:sp>
      <p:sp>
        <p:nvSpPr>
          <p:cNvPr id="8" name="object 8"/>
          <p:cNvSpPr txBox="1"/>
          <p:nvPr/>
        </p:nvSpPr>
        <p:spPr>
          <a:xfrm>
            <a:off x="9514822" y="3112585"/>
            <a:ext cx="1441450" cy="810260"/>
          </a:xfrm>
          <a:prstGeom prst="rect">
            <a:avLst/>
          </a:prstGeom>
          <a:solidFill>
            <a:srgbClr val="E4EFF9"/>
          </a:solidFill>
          <a:ln w="19049">
            <a:solidFill>
              <a:srgbClr val="000000"/>
            </a:solidFill>
          </a:ln>
        </p:spPr>
        <p:txBody>
          <a:bodyPr vert="horz" wrap="square" lIns="0" tIns="96520" rIns="0" bIns="0" rtlCol="0">
            <a:spAutoFit/>
          </a:bodyPr>
          <a:lstStyle/>
          <a:p>
            <a:pPr marL="215265" marR="201930">
              <a:lnSpc>
                <a:spcPct val="100000"/>
              </a:lnSpc>
              <a:spcBef>
                <a:spcPts val="760"/>
              </a:spcBef>
            </a:pPr>
            <a:r>
              <a:rPr sz="2000" dirty="0">
                <a:latin typeface="微软雅黑" panose="020B0503020204020204" pitchFamily="34" charset="-122"/>
                <a:cs typeface="微软雅黑" panose="020B0503020204020204" pitchFamily="34" charset="-122"/>
              </a:rPr>
              <a:t>评测优化 后的代码</a:t>
            </a:r>
            <a:endParaRPr sz="2000">
              <a:latin typeface="微软雅黑" panose="020B0503020204020204" pitchFamily="34" charset="-122"/>
              <a:cs typeface="微软雅黑" panose="020B0503020204020204" pitchFamily="34" charset="-122"/>
            </a:endParaRPr>
          </a:p>
        </p:txBody>
      </p:sp>
      <p:sp>
        <p:nvSpPr>
          <p:cNvPr id="9" name="object 9"/>
          <p:cNvSpPr/>
          <p:nvPr/>
        </p:nvSpPr>
        <p:spPr>
          <a:xfrm>
            <a:off x="3100499" y="3519868"/>
            <a:ext cx="502920" cy="1905"/>
          </a:xfrm>
          <a:custGeom>
            <a:avLst/>
            <a:gdLst/>
            <a:ahLst/>
            <a:cxnLst/>
            <a:rect l="l" t="t" r="r" b="b"/>
            <a:pathLst>
              <a:path w="502920" h="1904">
                <a:moveTo>
                  <a:pt x="0" y="1511"/>
                </a:moveTo>
                <a:lnTo>
                  <a:pt x="502639" y="0"/>
                </a:lnTo>
              </a:path>
            </a:pathLst>
          </a:custGeom>
          <a:ln w="19049">
            <a:solidFill>
              <a:srgbClr val="000000"/>
            </a:solidFill>
          </a:ln>
        </p:spPr>
        <p:txBody>
          <a:bodyPr wrap="square" lIns="0" tIns="0" rIns="0" bIns="0" rtlCol="0"/>
          <a:lstStyle/>
          <a:p>
            <a:endParaRPr/>
          </a:p>
        </p:txBody>
      </p:sp>
      <p:sp>
        <p:nvSpPr>
          <p:cNvPr id="10" name="object 10"/>
          <p:cNvSpPr/>
          <p:nvPr/>
        </p:nvSpPr>
        <p:spPr>
          <a:xfrm>
            <a:off x="3512299" y="3461142"/>
            <a:ext cx="116043" cy="117906"/>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5069636" y="3517994"/>
            <a:ext cx="482600" cy="1905"/>
          </a:xfrm>
          <a:custGeom>
            <a:avLst/>
            <a:gdLst/>
            <a:ahLst/>
            <a:cxnLst/>
            <a:rect l="l" t="t" r="r" b="b"/>
            <a:pathLst>
              <a:path w="482600" h="1904">
                <a:moveTo>
                  <a:pt x="0" y="1508"/>
                </a:moveTo>
                <a:lnTo>
                  <a:pt x="482001" y="0"/>
                </a:lnTo>
              </a:path>
            </a:pathLst>
          </a:custGeom>
          <a:ln w="19049">
            <a:solidFill>
              <a:srgbClr val="000000"/>
            </a:solidFill>
          </a:ln>
        </p:spPr>
        <p:txBody>
          <a:bodyPr wrap="square" lIns="0" tIns="0" rIns="0" bIns="0" rtlCol="0"/>
          <a:lstStyle/>
          <a:p>
            <a:endParaRPr/>
          </a:p>
        </p:txBody>
      </p:sp>
      <p:sp>
        <p:nvSpPr>
          <p:cNvPr id="12" name="object 12"/>
          <p:cNvSpPr/>
          <p:nvPr/>
        </p:nvSpPr>
        <p:spPr>
          <a:xfrm>
            <a:off x="5460794" y="3459277"/>
            <a:ext cx="116048" cy="117908"/>
          </a:xfrm>
          <a:prstGeom prst="rect">
            <a:avLst/>
          </a:prstGeom>
          <a:blipFill>
            <a:blip r:embed="rId4" cstate="print"/>
            <a:stretch>
              <a:fillRect/>
            </a:stretch>
          </a:blipFill>
        </p:spPr>
        <p:txBody>
          <a:bodyPr wrap="square" lIns="0" tIns="0" rIns="0" bIns="0" rtlCol="0"/>
          <a:lstStyle/>
          <a:p>
            <a:endParaRPr/>
          </a:p>
        </p:txBody>
      </p:sp>
      <p:sp>
        <p:nvSpPr>
          <p:cNvPr id="13" name="object 13"/>
          <p:cNvSpPr/>
          <p:nvPr/>
        </p:nvSpPr>
        <p:spPr>
          <a:xfrm>
            <a:off x="7017583" y="3516116"/>
            <a:ext cx="502920" cy="1905"/>
          </a:xfrm>
          <a:custGeom>
            <a:avLst/>
            <a:gdLst/>
            <a:ahLst/>
            <a:cxnLst/>
            <a:rect l="l" t="t" r="r" b="b"/>
            <a:pathLst>
              <a:path w="502920" h="1904">
                <a:moveTo>
                  <a:pt x="0" y="1511"/>
                </a:moveTo>
                <a:lnTo>
                  <a:pt x="502638" y="0"/>
                </a:lnTo>
              </a:path>
            </a:pathLst>
          </a:custGeom>
          <a:ln w="19049">
            <a:solidFill>
              <a:srgbClr val="000000"/>
            </a:solidFill>
          </a:ln>
        </p:spPr>
        <p:txBody>
          <a:bodyPr wrap="square" lIns="0" tIns="0" rIns="0" bIns="0" rtlCol="0"/>
          <a:lstStyle/>
          <a:p>
            <a:endParaRPr/>
          </a:p>
        </p:txBody>
      </p:sp>
      <p:sp>
        <p:nvSpPr>
          <p:cNvPr id="14" name="object 14"/>
          <p:cNvSpPr/>
          <p:nvPr/>
        </p:nvSpPr>
        <p:spPr>
          <a:xfrm>
            <a:off x="7429382" y="3457390"/>
            <a:ext cx="116043" cy="117908"/>
          </a:xfrm>
          <a:prstGeom prst="rect">
            <a:avLst/>
          </a:prstGeom>
          <a:blipFill>
            <a:blip r:embed="rId5" cstate="print"/>
            <a:stretch>
              <a:fillRect/>
            </a:stretch>
          </a:blipFill>
        </p:spPr>
        <p:txBody>
          <a:bodyPr wrap="square" lIns="0" tIns="0" rIns="0" bIns="0" rtlCol="0"/>
          <a:lstStyle/>
          <a:p>
            <a:endParaRPr/>
          </a:p>
        </p:txBody>
      </p:sp>
      <p:sp>
        <p:nvSpPr>
          <p:cNvPr id="15" name="object 15"/>
          <p:cNvSpPr/>
          <p:nvPr/>
        </p:nvSpPr>
        <p:spPr>
          <a:xfrm>
            <a:off x="8986720" y="3514243"/>
            <a:ext cx="502920" cy="1905"/>
          </a:xfrm>
          <a:custGeom>
            <a:avLst/>
            <a:gdLst/>
            <a:ahLst/>
            <a:cxnLst/>
            <a:rect l="l" t="t" r="r" b="b"/>
            <a:pathLst>
              <a:path w="502920" h="1904">
                <a:moveTo>
                  <a:pt x="0" y="1511"/>
                </a:moveTo>
                <a:lnTo>
                  <a:pt x="502639" y="0"/>
                </a:lnTo>
              </a:path>
            </a:pathLst>
          </a:custGeom>
          <a:ln w="19049">
            <a:solidFill>
              <a:srgbClr val="000000"/>
            </a:solidFill>
          </a:ln>
        </p:spPr>
        <p:txBody>
          <a:bodyPr wrap="square" lIns="0" tIns="0" rIns="0" bIns="0" rtlCol="0"/>
          <a:lstStyle/>
          <a:p>
            <a:endParaRPr/>
          </a:p>
        </p:txBody>
      </p:sp>
      <p:sp>
        <p:nvSpPr>
          <p:cNvPr id="16" name="object 16"/>
          <p:cNvSpPr/>
          <p:nvPr/>
        </p:nvSpPr>
        <p:spPr>
          <a:xfrm>
            <a:off x="9398520" y="3455517"/>
            <a:ext cx="116043" cy="117908"/>
          </a:xfrm>
          <a:prstGeom prst="rect">
            <a:avLst/>
          </a:prstGeom>
          <a:blipFill>
            <a:blip r:embed="rId6" cstate="print"/>
            <a:stretch>
              <a:fillRect/>
            </a:stretch>
          </a:blipFill>
        </p:spPr>
        <p:txBody>
          <a:bodyPr wrap="square" lIns="0" tIns="0" rIns="0" bIns="0" rtlCol="0"/>
          <a:lstStyle/>
          <a:p>
            <a:endParaRPr/>
          </a:p>
        </p:txBody>
      </p:sp>
      <p:sp>
        <p:nvSpPr>
          <p:cNvPr id="17" name="object 17"/>
          <p:cNvSpPr txBox="1"/>
          <p:nvPr/>
        </p:nvSpPr>
        <p:spPr>
          <a:xfrm>
            <a:off x="1175526" y="4335360"/>
            <a:ext cx="8921750" cy="1041400"/>
          </a:xfrm>
          <a:prstGeom prst="rect">
            <a:avLst/>
          </a:prstGeom>
        </p:spPr>
        <p:txBody>
          <a:bodyPr vert="horz" wrap="square" lIns="0" tIns="154940" rIns="0" bIns="0" rtlCol="0">
            <a:spAutoFit/>
          </a:bodyPr>
          <a:lstStyle/>
          <a:p>
            <a:pPr marL="374650" indent="-361950">
              <a:lnSpc>
                <a:spcPct val="100000"/>
              </a:lnSpc>
              <a:spcBef>
                <a:spcPts val="1220"/>
              </a:spcBef>
              <a:buFont typeface="Arial" panose="020B0604020202020204"/>
              <a:buChar char="•"/>
              <a:tabLst>
                <a:tab pos="374015" algn="l"/>
                <a:tab pos="374650" algn="l"/>
              </a:tabLst>
            </a:pPr>
            <a:r>
              <a:rPr sz="2400" dirty="0">
                <a:latin typeface="微软雅黑" panose="020B0503020204020204" pitchFamily="34" charset="-122"/>
                <a:cs typeface="微软雅黑" panose="020B0503020204020204" pitchFamily="34" charset="-122"/>
              </a:rPr>
              <a:t>认真选择测试数据，使其能够代表实际的使用状况</a:t>
            </a:r>
            <a:endParaRPr sz="2400">
              <a:latin typeface="微软雅黑" panose="020B0503020204020204" pitchFamily="34" charset="-122"/>
              <a:cs typeface="微软雅黑" panose="020B0503020204020204" pitchFamily="34" charset="-122"/>
            </a:endParaRPr>
          </a:p>
          <a:p>
            <a:pPr marL="374650" indent="-361950">
              <a:lnSpc>
                <a:spcPct val="100000"/>
              </a:lnSpc>
              <a:spcBef>
                <a:spcPts val="1120"/>
              </a:spcBef>
              <a:buFont typeface="Arial" panose="020B0604020202020204"/>
              <a:buChar char="•"/>
              <a:tabLst>
                <a:tab pos="374015" algn="l"/>
                <a:tab pos="374650" algn="l"/>
              </a:tabLst>
            </a:pPr>
            <a:r>
              <a:rPr sz="2400" dirty="0">
                <a:latin typeface="微软雅黑" panose="020B0503020204020204" pitchFamily="34" charset="-122"/>
                <a:cs typeface="微软雅黑" panose="020B0503020204020204" pitchFamily="34" charset="-122"/>
              </a:rPr>
              <a:t>永远不要在没有执行前后性能评估的情况下尝试对代码进行优化</a:t>
            </a:r>
            <a:endParaRPr sz="2400">
              <a:latin typeface="微软雅黑" panose="020B0503020204020204" pitchFamily="34" charset="-122"/>
              <a:cs typeface="微软雅黑" panose="020B0503020204020204" pitchFamily="34" charset="-122"/>
            </a:endParaRPr>
          </a:p>
        </p:txBody>
      </p:sp>
      <p:sp>
        <p:nvSpPr>
          <p:cNvPr id="19" name="标题 18"/>
          <p:cNvSpPr>
            <a:spLocks noGrp="1"/>
          </p:cNvSpPr>
          <p:nvPr>
            <p:ph type="title"/>
          </p:nvPr>
        </p:nvSpPr>
        <p:spPr/>
        <p:txBody>
          <a:bodyPr/>
          <a:lstStyle/>
          <a:p>
            <a:r>
              <a:rPr lang="zh-CN" altLang="en-US" dirty="0"/>
              <a:t>代码性能优化</a:t>
            </a:r>
          </a:p>
        </p:txBody>
      </p:sp>
      <p:sp>
        <p:nvSpPr>
          <p:cNvPr id="18" name="灯片编号占位符 17"/>
          <p:cNvSpPr>
            <a:spLocks noGrp="1"/>
          </p:cNvSpPr>
          <p:nvPr>
            <p:ph type="sldNum" sz="quarter" idx="12"/>
          </p:nvPr>
        </p:nvSpPr>
        <p:spPr/>
        <p:txBody>
          <a:bodyPr/>
          <a:lstStyle/>
          <a:p>
            <a:fld id="{74D2AB8B-5816-41F2-8B4B-CA5C3E4E6A65}" type="slidenum">
              <a:rPr lang="zh-CN" altLang="en-US" smtClean="0"/>
              <a:t>80</a:t>
            </a:fld>
            <a:endParaRPr lang="zh-CN" altLang="en-US"/>
          </a:p>
        </p:txBody>
      </p:sp>
      <p:sp>
        <p:nvSpPr>
          <p:cNvPr id="2" name="文本框 1">
            <a:extLst>
              <a:ext uri="{FF2B5EF4-FFF2-40B4-BE49-F238E27FC236}">
                <a16:creationId xmlns:a16="http://schemas.microsoft.com/office/drawing/2014/main" id="{4DE34F10-E7F2-4D57-9112-6803990F9355}"/>
              </a:ext>
            </a:extLst>
          </p:cNvPr>
          <p:cNvSpPr txBox="1"/>
          <p:nvPr/>
        </p:nvSpPr>
        <p:spPr>
          <a:xfrm>
            <a:off x="5069636" y="4097168"/>
            <a:ext cx="2723823" cy="369332"/>
          </a:xfrm>
          <a:prstGeom prst="rect">
            <a:avLst/>
          </a:prstGeom>
          <a:noFill/>
        </p:spPr>
        <p:txBody>
          <a:bodyPr wrap="none" rtlCol="0">
            <a:spAutoFit/>
          </a:bodyPr>
          <a:lstStyle/>
          <a:p>
            <a:r>
              <a:rPr lang="zh-CN" altLang="en-US" dirty="0">
                <a:solidFill>
                  <a:srgbClr val="FF0000"/>
                </a:solidFill>
              </a:rPr>
              <a:t>找出影响代码性能的瓶颈</a:t>
            </a:r>
          </a:p>
        </p:txBody>
      </p:sp>
    </p:spTree>
  </p:cSld>
  <p:clrMapOvr>
    <a:masterClrMapping/>
  </p:clrMapOvr>
  <mc:AlternateContent xmlns:mc="http://schemas.openxmlformats.org/markup-compatibility/2006" xmlns:p14="http://schemas.microsoft.com/office/powerpoint/2010/main">
    <mc:Choice Requires="p14">
      <p:transition spd="slow" p14:dur="2000" advTm="64464"/>
    </mc:Choice>
    <mc:Fallback xmlns="">
      <p:transition spd="slow" advTm="64464"/>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90215" y="1643336"/>
            <a:ext cx="9864090" cy="1333500"/>
          </a:xfrm>
          <a:prstGeom prst="rect">
            <a:avLst/>
          </a:prstGeom>
        </p:spPr>
        <p:txBody>
          <a:bodyPr vert="horz" wrap="square" lIns="0" tIns="6350" rIns="0" bIns="0" rtlCol="0">
            <a:spAutoFit/>
          </a:bodyPr>
          <a:lstStyle/>
          <a:p>
            <a:pPr marL="12700" marR="5080" algn="just">
              <a:lnSpc>
                <a:spcPct val="120000"/>
              </a:lnSpc>
              <a:spcBef>
                <a:spcPts val="50"/>
              </a:spcBef>
            </a:pPr>
            <a:r>
              <a:rPr sz="2400" spc="20" dirty="0">
                <a:latin typeface="微软雅黑" panose="020B0503020204020204" pitchFamily="34" charset="-122"/>
                <a:cs typeface="微软雅黑" panose="020B0503020204020204" pitchFamily="34" charset="-122"/>
              </a:rPr>
              <a:t>编写程序：读入一个文本文件，统计在该文本文件中每个英文单词出现的 </a:t>
            </a:r>
            <a:r>
              <a:rPr sz="2400" spc="40" dirty="0">
                <a:latin typeface="微软雅黑" panose="020B0503020204020204" pitchFamily="34" charset="-122"/>
                <a:cs typeface="微软雅黑" panose="020B0503020204020204" pitchFamily="34" charset="-122"/>
              </a:rPr>
              <a:t>频率，并输出单词频率最高的</a:t>
            </a:r>
            <a:r>
              <a:rPr sz="2400" spc="40" dirty="0">
                <a:latin typeface="Arial" panose="020B0604020202020204"/>
                <a:cs typeface="Arial" panose="020B0604020202020204"/>
              </a:rPr>
              <a:t>100</a:t>
            </a:r>
            <a:r>
              <a:rPr sz="2400" spc="40" dirty="0">
                <a:latin typeface="微软雅黑" panose="020B0503020204020204" pitchFamily="34" charset="-122"/>
                <a:cs typeface="微软雅黑" panose="020B0503020204020204" pitchFamily="34" charset="-122"/>
              </a:rPr>
              <a:t>个单词。其中，单词的定义是连续的若 </a:t>
            </a:r>
            <a:r>
              <a:rPr sz="2400" dirty="0">
                <a:latin typeface="微软雅黑" panose="020B0503020204020204" pitchFamily="34" charset="-122"/>
                <a:cs typeface="微软雅黑" panose="020B0503020204020204" pitchFamily="34" charset="-122"/>
              </a:rPr>
              <a:t>干个小写英文字母。</a:t>
            </a:r>
            <a:endParaRPr sz="2400">
              <a:latin typeface="微软雅黑" panose="020B0503020204020204" pitchFamily="34" charset="-122"/>
              <a:cs typeface="微软雅黑" panose="020B0503020204020204" pitchFamily="34" charset="-122"/>
            </a:endParaRPr>
          </a:p>
        </p:txBody>
      </p:sp>
      <p:sp>
        <p:nvSpPr>
          <p:cNvPr id="4" name="object 4"/>
          <p:cNvSpPr txBox="1"/>
          <p:nvPr/>
        </p:nvSpPr>
        <p:spPr>
          <a:xfrm>
            <a:off x="4024205" y="4015788"/>
            <a:ext cx="6121400" cy="513080"/>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CC0000"/>
                </a:solidFill>
                <a:latin typeface="华文行楷" panose="02010800040101010101" charset="-122"/>
                <a:cs typeface="华文行楷" panose="02010800040101010101" charset="-122"/>
              </a:rPr>
              <a:t>如何有效地提高代码的执行效率</a:t>
            </a:r>
            <a:r>
              <a:rPr sz="3200" dirty="0">
                <a:solidFill>
                  <a:srgbClr val="D81E00"/>
                </a:solidFill>
                <a:latin typeface="华文行楷" panose="02010800040101010101" charset="-122"/>
                <a:cs typeface="华文行楷" panose="02010800040101010101" charset="-122"/>
              </a:rPr>
              <a:t>？</a:t>
            </a:r>
            <a:endParaRPr sz="3200">
              <a:latin typeface="华文行楷" panose="02010800040101010101" charset="-122"/>
              <a:cs typeface="华文行楷" panose="02010800040101010101" charset="-122"/>
            </a:endParaRPr>
          </a:p>
        </p:txBody>
      </p:sp>
      <p:sp>
        <p:nvSpPr>
          <p:cNvPr id="5" name="object 5"/>
          <p:cNvSpPr/>
          <p:nvPr/>
        </p:nvSpPr>
        <p:spPr>
          <a:xfrm>
            <a:off x="1959111" y="3416873"/>
            <a:ext cx="1236870" cy="1851579"/>
          </a:xfrm>
          <a:prstGeom prst="rect">
            <a:avLst/>
          </a:prstGeom>
          <a:blipFill>
            <a:blip r:embed="rId3" cstate="print"/>
            <a:stretch>
              <a:fillRect/>
            </a:stretch>
          </a:blipFill>
        </p:spPr>
        <p:txBody>
          <a:bodyPr wrap="square" lIns="0" tIns="0" rIns="0" bIns="0" rtlCol="0"/>
          <a:lstStyle/>
          <a:p>
            <a:endParaRPr/>
          </a:p>
        </p:txBody>
      </p:sp>
      <p:sp>
        <p:nvSpPr>
          <p:cNvPr id="7" name="标题 6"/>
          <p:cNvSpPr>
            <a:spLocks noGrp="1"/>
          </p:cNvSpPr>
          <p:nvPr>
            <p:ph type="title"/>
          </p:nvPr>
        </p:nvSpPr>
        <p:spPr/>
        <p:txBody>
          <a:bodyPr/>
          <a:lstStyle/>
          <a:p>
            <a:r>
              <a:rPr lang="zh-CN" altLang="en-US" dirty="0"/>
              <a:t>案例分析</a:t>
            </a:r>
          </a:p>
        </p:txBody>
      </p:sp>
      <p:sp>
        <p:nvSpPr>
          <p:cNvPr id="6" name="灯片编号占位符 5"/>
          <p:cNvSpPr>
            <a:spLocks noGrp="1"/>
          </p:cNvSpPr>
          <p:nvPr>
            <p:ph type="sldNum" sz="quarter" idx="12"/>
          </p:nvPr>
        </p:nvSpPr>
        <p:spPr/>
        <p:txBody>
          <a:bodyPr/>
          <a:lstStyle/>
          <a:p>
            <a:fld id="{74D2AB8B-5816-41F2-8B4B-CA5C3E4E6A65}" type="slidenum">
              <a:rPr lang="zh-CN" altLang="en-US" smtClean="0"/>
              <a:t>81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9917"/>
    </mc:Choice>
    <mc:Fallback xmlns="">
      <p:transition spd="slow" advTm="29917"/>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90215" y="1643336"/>
            <a:ext cx="9864090" cy="1333500"/>
          </a:xfrm>
          <a:prstGeom prst="rect">
            <a:avLst/>
          </a:prstGeom>
        </p:spPr>
        <p:txBody>
          <a:bodyPr vert="horz" wrap="square" lIns="0" tIns="6350" rIns="0" bIns="0" rtlCol="0">
            <a:spAutoFit/>
          </a:bodyPr>
          <a:lstStyle/>
          <a:p>
            <a:pPr marL="12700" marR="5080" algn="just">
              <a:lnSpc>
                <a:spcPct val="120000"/>
              </a:lnSpc>
              <a:spcBef>
                <a:spcPts val="50"/>
              </a:spcBef>
            </a:pPr>
            <a:r>
              <a:rPr sz="2400" spc="20" dirty="0">
                <a:latin typeface="微软雅黑" panose="020B0503020204020204" pitchFamily="34" charset="-122"/>
                <a:cs typeface="微软雅黑" panose="020B0503020204020204" pitchFamily="34" charset="-122"/>
              </a:rPr>
              <a:t>编写程序：读入一个文本文件，统计在该文本文件中每个英文单词出现的 </a:t>
            </a:r>
            <a:r>
              <a:rPr sz="2400" spc="40" dirty="0">
                <a:latin typeface="微软雅黑" panose="020B0503020204020204" pitchFamily="34" charset="-122"/>
                <a:cs typeface="微软雅黑" panose="020B0503020204020204" pitchFamily="34" charset="-122"/>
              </a:rPr>
              <a:t>频率，并输出单词频率最高的</a:t>
            </a:r>
            <a:r>
              <a:rPr sz="2400" spc="40" dirty="0">
                <a:latin typeface="Arial" panose="020B0604020202020204"/>
                <a:cs typeface="Arial" panose="020B0604020202020204"/>
              </a:rPr>
              <a:t>100</a:t>
            </a:r>
            <a:r>
              <a:rPr sz="2400" spc="40" dirty="0">
                <a:latin typeface="微软雅黑" panose="020B0503020204020204" pitchFamily="34" charset="-122"/>
                <a:cs typeface="微软雅黑" panose="020B0503020204020204" pitchFamily="34" charset="-122"/>
              </a:rPr>
              <a:t>个单词。其中，单词的定义是连续的若 </a:t>
            </a:r>
            <a:r>
              <a:rPr sz="2400" dirty="0">
                <a:latin typeface="微软雅黑" panose="020B0503020204020204" pitchFamily="34" charset="-122"/>
                <a:cs typeface="微软雅黑" panose="020B0503020204020204" pitchFamily="34" charset="-122"/>
              </a:rPr>
              <a:t>干个小写英文字母。</a:t>
            </a:r>
            <a:endParaRPr sz="2400">
              <a:latin typeface="微软雅黑" panose="020B0503020204020204" pitchFamily="34" charset="-122"/>
              <a:cs typeface="微软雅黑" panose="020B0503020204020204" pitchFamily="34" charset="-122"/>
            </a:endParaRPr>
          </a:p>
        </p:txBody>
      </p:sp>
      <p:sp>
        <p:nvSpPr>
          <p:cNvPr id="4" name="object 4"/>
          <p:cNvSpPr txBox="1"/>
          <p:nvPr/>
        </p:nvSpPr>
        <p:spPr>
          <a:xfrm>
            <a:off x="2182971" y="3989397"/>
            <a:ext cx="2135505" cy="803275"/>
          </a:xfrm>
          <a:prstGeom prst="rect">
            <a:avLst/>
          </a:prstGeom>
          <a:solidFill>
            <a:srgbClr val="797BA9"/>
          </a:solidFill>
        </p:spPr>
        <p:txBody>
          <a:bodyPr vert="horz" wrap="square" lIns="0" tIns="218440" rIns="0" bIns="0" rtlCol="0">
            <a:spAutoFit/>
          </a:bodyPr>
          <a:lstStyle/>
          <a:p>
            <a:pPr marL="457835">
              <a:lnSpc>
                <a:spcPct val="100000"/>
              </a:lnSpc>
              <a:spcBef>
                <a:spcPts val="1720"/>
              </a:spcBef>
            </a:pPr>
            <a:r>
              <a:rPr sz="2400" dirty="0">
                <a:solidFill>
                  <a:srgbClr val="FFFFFF"/>
                </a:solidFill>
                <a:latin typeface="微软雅黑" panose="020B0503020204020204" pitchFamily="34" charset="-122"/>
                <a:cs typeface="微软雅黑" panose="020B0503020204020204" pitchFamily="34" charset="-122"/>
              </a:rPr>
              <a:t>单词示例</a:t>
            </a:r>
            <a:endParaRPr sz="2400">
              <a:latin typeface="微软雅黑" panose="020B0503020204020204" pitchFamily="34" charset="-122"/>
              <a:cs typeface="微软雅黑" panose="020B0503020204020204" pitchFamily="34" charset="-122"/>
            </a:endParaRPr>
          </a:p>
        </p:txBody>
      </p:sp>
      <p:sp>
        <p:nvSpPr>
          <p:cNvPr id="5" name="object 5"/>
          <p:cNvSpPr txBox="1"/>
          <p:nvPr/>
        </p:nvSpPr>
        <p:spPr>
          <a:xfrm>
            <a:off x="5021305" y="3506787"/>
            <a:ext cx="3694429" cy="1562100"/>
          </a:xfrm>
          <a:prstGeom prst="rect">
            <a:avLst/>
          </a:prstGeom>
        </p:spPr>
        <p:txBody>
          <a:bodyPr vert="horz" wrap="square" lIns="0" tIns="154940" rIns="0" bIns="0" rtlCol="0">
            <a:spAutoFit/>
          </a:bodyPr>
          <a:lstStyle/>
          <a:p>
            <a:pPr marL="355600" indent="-342900">
              <a:lnSpc>
                <a:spcPct val="100000"/>
              </a:lnSpc>
              <a:spcBef>
                <a:spcPts val="1220"/>
              </a:spcBef>
              <a:buChar char="•"/>
              <a:tabLst>
                <a:tab pos="354965" algn="l"/>
                <a:tab pos="355600" algn="l"/>
              </a:tabLst>
            </a:pPr>
            <a:r>
              <a:rPr sz="2400" dirty="0">
                <a:latin typeface="Arial" panose="020B0604020202020204"/>
                <a:cs typeface="Arial" panose="020B0604020202020204"/>
              </a:rPr>
              <a:t>1</a:t>
            </a:r>
            <a:r>
              <a:rPr sz="2400" dirty="0">
                <a:latin typeface="微软雅黑" panose="020B0503020204020204" pitchFamily="34" charset="-122"/>
                <a:cs typeface="微软雅黑" panose="020B0503020204020204" pitchFamily="34" charset="-122"/>
              </a:rPr>
              <a:t>个单词：</a:t>
            </a:r>
            <a:r>
              <a:rPr sz="2400" spc="-10" dirty="0">
                <a:latin typeface="微软雅黑" panose="020B0503020204020204" pitchFamily="34" charset="-122"/>
                <a:cs typeface="微软雅黑" panose="020B0503020204020204" pitchFamily="34" charset="-122"/>
              </a:rPr>
              <a:t> </a:t>
            </a:r>
            <a:r>
              <a:rPr sz="2400" dirty="0">
                <a:latin typeface="Arial" panose="020B0604020202020204"/>
                <a:cs typeface="Arial" panose="020B0604020202020204"/>
              </a:rPr>
              <a:t>as</a:t>
            </a:r>
            <a:endParaRPr sz="2400">
              <a:latin typeface="Arial" panose="020B0604020202020204"/>
              <a:cs typeface="Arial" panose="020B0604020202020204"/>
            </a:endParaRPr>
          </a:p>
          <a:p>
            <a:pPr marL="355600" indent="-342900">
              <a:lnSpc>
                <a:spcPct val="100000"/>
              </a:lnSpc>
              <a:spcBef>
                <a:spcPts val="1120"/>
              </a:spcBef>
              <a:buChar char="•"/>
              <a:tabLst>
                <a:tab pos="354965" algn="l"/>
                <a:tab pos="355600" algn="l"/>
              </a:tabLst>
            </a:pPr>
            <a:r>
              <a:rPr sz="2400" dirty="0">
                <a:latin typeface="Arial" panose="020B0604020202020204"/>
                <a:cs typeface="Arial" panose="020B0604020202020204"/>
              </a:rPr>
              <a:t>2</a:t>
            </a:r>
            <a:r>
              <a:rPr sz="2400" dirty="0">
                <a:latin typeface="微软雅黑" panose="020B0503020204020204" pitchFamily="34" charset="-122"/>
                <a:cs typeface="微软雅黑" panose="020B0503020204020204" pitchFamily="34" charset="-122"/>
              </a:rPr>
              <a:t>个单词：</a:t>
            </a:r>
            <a:r>
              <a:rPr sz="2400" spc="-10" dirty="0">
                <a:latin typeface="微软雅黑" panose="020B0503020204020204" pitchFamily="34" charset="-122"/>
                <a:cs typeface="微软雅黑" panose="020B0503020204020204" pitchFamily="34" charset="-122"/>
              </a:rPr>
              <a:t> </a:t>
            </a:r>
            <a:r>
              <a:rPr sz="2400" spc="-5" dirty="0">
                <a:latin typeface="Arial" panose="020B0604020202020204"/>
                <a:cs typeface="Arial" panose="020B0604020202020204"/>
              </a:rPr>
              <a:t>as,asd</a:t>
            </a:r>
            <a:endParaRPr sz="2400">
              <a:latin typeface="Arial" panose="020B0604020202020204"/>
              <a:cs typeface="Arial" panose="020B0604020202020204"/>
            </a:endParaRPr>
          </a:p>
          <a:p>
            <a:pPr marL="355600" indent="-342900">
              <a:lnSpc>
                <a:spcPct val="100000"/>
              </a:lnSpc>
              <a:spcBef>
                <a:spcPts val="1220"/>
              </a:spcBef>
              <a:buChar char="•"/>
              <a:tabLst>
                <a:tab pos="354965" algn="l"/>
                <a:tab pos="355600" algn="l"/>
              </a:tabLst>
            </a:pPr>
            <a:r>
              <a:rPr sz="2400" dirty="0">
                <a:latin typeface="Arial" panose="020B0604020202020204"/>
                <a:cs typeface="Arial" panose="020B0604020202020204"/>
              </a:rPr>
              <a:t>4</a:t>
            </a:r>
            <a:r>
              <a:rPr sz="2400" dirty="0">
                <a:latin typeface="微软雅黑" panose="020B0503020204020204" pitchFamily="34" charset="-122"/>
                <a:cs typeface="微软雅黑" panose="020B0503020204020204" pitchFamily="34" charset="-122"/>
              </a:rPr>
              <a:t>个单词：</a:t>
            </a:r>
            <a:r>
              <a:rPr sz="2400" spc="-40" dirty="0">
                <a:latin typeface="微软雅黑" panose="020B0503020204020204" pitchFamily="34" charset="-122"/>
                <a:cs typeface="微软雅黑" panose="020B0503020204020204" pitchFamily="34" charset="-122"/>
              </a:rPr>
              <a:t> </a:t>
            </a:r>
            <a:r>
              <a:rPr sz="2400" spc="-5" dirty="0">
                <a:latin typeface="Arial" panose="020B0604020202020204"/>
                <a:cs typeface="Arial" panose="020B0604020202020204"/>
              </a:rPr>
              <a:t>sa,fdf.fdf</a:t>
            </a:r>
            <a:r>
              <a:rPr sz="2400" spc="-35" dirty="0">
                <a:latin typeface="Arial" panose="020B0604020202020204"/>
                <a:cs typeface="Arial" panose="020B0604020202020204"/>
              </a:rPr>
              <a:t> </a:t>
            </a:r>
            <a:r>
              <a:rPr sz="2400" dirty="0">
                <a:latin typeface="Arial" panose="020B0604020202020204"/>
                <a:cs typeface="Arial" panose="020B0604020202020204"/>
              </a:rPr>
              <a:t>fdfdf</a:t>
            </a:r>
            <a:endParaRPr sz="2400">
              <a:latin typeface="Arial" panose="020B0604020202020204"/>
              <a:cs typeface="Arial" panose="020B0604020202020204"/>
            </a:endParaRPr>
          </a:p>
        </p:txBody>
      </p:sp>
      <p:sp>
        <p:nvSpPr>
          <p:cNvPr id="6" name="object 6"/>
          <p:cNvSpPr/>
          <p:nvPr/>
        </p:nvSpPr>
        <p:spPr>
          <a:xfrm>
            <a:off x="5266265" y="5178122"/>
            <a:ext cx="3742690" cy="0"/>
          </a:xfrm>
          <a:custGeom>
            <a:avLst/>
            <a:gdLst/>
            <a:ahLst/>
            <a:cxnLst/>
            <a:rect l="l" t="t" r="r" b="b"/>
            <a:pathLst>
              <a:path w="3742690">
                <a:moveTo>
                  <a:pt x="0" y="0"/>
                </a:moveTo>
                <a:lnTo>
                  <a:pt x="3742265" y="0"/>
                </a:lnTo>
              </a:path>
            </a:pathLst>
          </a:custGeom>
          <a:ln w="28574">
            <a:solidFill>
              <a:srgbClr val="D81E00"/>
            </a:solidFill>
          </a:ln>
        </p:spPr>
        <p:txBody>
          <a:bodyPr wrap="square" lIns="0" tIns="0" rIns="0" bIns="0" rtlCol="0"/>
          <a:lstStyle/>
          <a:p>
            <a:endParaRPr/>
          </a:p>
        </p:txBody>
      </p:sp>
      <p:sp>
        <p:nvSpPr>
          <p:cNvPr id="8" name="标题 7"/>
          <p:cNvSpPr>
            <a:spLocks noGrp="1"/>
          </p:cNvSpPr>
          <p:nvPr>
            <p:ph type="title"/>
          </p:nvPr>
        </p:nvSpPr>
        <p:spPr/>
        <p:txBody>
          <a:bodyPr/>
          <a:lstStyle/>
          <a:p>
            <a:r>
              <a:rPr lang="zh-CN" altLang="en-US" dirty="0"/>
              <a:t>案例分析</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82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5058"/>
    </mc:Choice>
    <mc:Fallback xmlns="">
      <p:transition spd="slow" advTm="15058"/>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2236" y="100650"/>
            <a:ext cx="6438478" cy="6620944"/>
          </a:xfrm>
          <a:prstGeom prst="rect">
            <a:avLst/>
          </a:prstGeom>
          <a:blipFill>
            <a:blip r:embed="rId3" cstate="print"/>
            <a:stretch>
              <a:fillRect/>
            </a:stretch>
          </a:blipFill>
        </p:spPr>
        <p:txBody>
          <a:bodyPr wrap="square" lIns="0" tIns="0" rIns="0" bIns="0" rtlCol="0"/>
          <a:lstStyle/>
          <a:p>
            <a:endParaRPr/>
          </a:p>
        </p:txBody>
      </p:sp>
      <p:sp>
        <p:nvSpPr>
          <p:cNvPr id="3" name="object 3"/>
          <p:cNvSpPr txBox="1"/>
          <p:nvPr/>
        </p:nvSpPr>
        <p:spPr>
          <a:xfrm>
            <a:off x="569342" y="100650"/>
            <a:ext cx="10972800" cy="646430"/>
          </a:xfrm>
          <a:prstGeom prst="rect">
            <a:avLst/>
          </a:prstGeom>
          <a:ln w="9524">
            <a:solidFill>
              <a:srgbClr val="FF2600"/>
            </a:solidFill>
          </a:ln>
        </p:spPr>
        <p:txBody>
          <a:bodyPr vert="horz" wrap="square" lIns="0" tIns="5715" rIns="0" bIns="0" rtlCol="0">
            <a:spAutoFit/>
          </a:bodyPr>
          <a:lstStyle/>
          <a:p>
            <a:pPr>
              <a:lnSpc>
                <a:spcPct val="100000"/>
              </a:lnSpc>
              <a:spcBef>
                <a:spcPts val="45"/>
              </a:spcBef>
            </a:pPr>
            <a:endParaRPr sz="2100">
              <a:latin typeface="Times New Roman" panose="02020603050405020304"/>
              <a:cs typeface="Times New Roman" panose="02020603050405020304"/>
            </a:endParaRPr>
          </a:p>
          <a:p>
            <a:pPr marL="4942205">
              <a:lnSpc>
                <a:spcPct val="100000"/>
              </a:lnSpc>
            </a:pPr>
            <a:r>
              <a:rPr sz="1800" dirty="0">
                <a:latin typeface="微软雅黑" panose="020B0503020204020204" pitchFamily="34" charset="-122"/>
                <a:cs typeface="微软雅黑" panose="020B0503020204020204" pitchFamily="34" charset="-122"/>
              </a:rPr>
              <a:t>文件头注释，说明了该文件的编码格式，作者，联系方式等</a:t>
            </a:r>
            <a:endParaRPr sz="1800">
              <a:latin typeface="微软雅黑" panose="020B0503020204020204" pitchFamily="34" charset="-122"/>
              <a:cs typeface="微软雅黑" panose="020B0503020204020204" pitchFamily="34" charset="-122"/>
            </a:endParaRPr>
          </a:p>
        </p:txBody>
      </p:sp>
      <p:sp>
        <p:nvSpPr>
          <p:cNvPr id="4" name="object 4"/>
          <p:cNvSpPr txBox="1"/>
          <p:nvPr/>
        </p:nvSpPr>
        <p:spPr>
          <a:xfrm>
            <a:off x="652732" y="6291877"/>
            <a:ext cx="10972800" cy="369570"/>
          </a:xfrm>
          <a:prstGeom prst="rect">
            <a:avLst/>
          </a:prstGeom>
          <a:ln w="9524">
            <a:solidFill>
              <a:srgbClr val="FF2600"/>
            </a:solidFill>
          </a:ln>
        </p:spPr>
        <p:txBody>
          <a:bodyPr vert="horz" wrap="square" lIns="0" tIns="45720" rIns="0" bIns="0" rtlCol="0">
            <a:spAutoFit/>
          </a:bodyPr>
          <a:lstStyle/>
          <a:p>
            <a:pPr marL="6210935">
              <a:lnSpc>
                <a:spcPct val="100000"/>
              </a:lnSpc>
              <a:spcBef>
                <a:spcPts val="360"/>
              </a:spcBef>
            </a:pPr>
            <a:r>
              <a:rPr sz="1800" dirty="0">
                <a:latin typeface="微软雅黑" panose="020B0503020204020204" pitchFamily="34" charset="-122"/>
                <a:cs typeface="微软雅黑" panose="020B0503020204020204" pitchFamily="34" charset="-122"/>
              </a:rPr>
              <a:t>主函数，程序的入口，相当于</a:t>
            </a:r>
            <a:r>
              <a:rPr sz="1800" spc="-5" dirty="0">
                <a:latin typeface="Calibri" panose="020F0502020204030204"/>
                <a:cs typeface="Calibri" panose="020F0502020204030204"/>
              </a:rPr>
              <a:t>c++</a:t>
            </a:r>
            <a:r>
              <a:rPr sz="1800" dirty="0">
                <a:latin typeface="微软雅黑" panose="020B0503020204020204" pitchFamily="34" charset="-122"/>
                <a:cs typeface="微软雅黑" panose="020B0503020204020204" pitchFamily="34" charset="-122"/>
              </a:rPr>
              <a:t>中的</a:t>
            </a:r>
            <a:r>
              <a:rPr sz="1800" spc="-5" dirty="0">
                <a:latin typeface="Calibri" panose="020F0502020204030204"/>
                <a:cs typeface="Calibri" panose="020F0502020204030204"/>
              </a:rPr>
              <a:t>main</a:t>
            </a:r>
            <a:r>
              <a:rPr sz="1800" dirty="0">
                <a:latin typeface="微软雅黑" panose="020B0503020204020204" pitchFamily="34" charset="-122"/>
                <a:cs typeface="微软雅黑" panose="020B0503020204020204" pitchFamily="34" charset="-122"/>
              </a:rPr>
              <a:t>函数</a:t>
            </a:r>
            <a:endParaRPr sz="1800">
              <a:latin typeface="微软雅黑" panose="020B0503020204020204" pitchFamily="34" charset="-122"/>
              <a:cs typeface="微软雅黑" panose="020B0503020204020204" pitchFamily="34" charset="-122"/>
            </a:endParaRPr>
          </a:p>
        </p:txBody>
      </p:sp>
      <p:sp>
        <p:nvSpPr>
          <p:cNvPr id="5" name="object 5"/>
          <p:cNvSpPr txBox="1"/>
          <p:nvPr/>
        </p:nvSpPr>
        <p:spPr>
          <a:xfrm>
            <a:off x="569342" y="822392"/>
            <a:ext cx="10972800" cy="369570"/>
          </a:xfrm>
          <a:prstGeom prst="rect">
            <a:avLst/>
          </a:prstGeom>
          <a:ln w="9524">
            <a:solidFill>
              <a:srgbClr val="FF2600"/>
            </a:solidFill>
          </a:ln>
        </p:spPr>
        <p:txBody>
          <a:bodyPr vert="horz" wrap="square" lIns="0" tIns="45719" rIns="0" bIns="0" rtlCol="0">
            <a:spAutoFit/>
          </a:bodyPr>
          <a:lstStyle/>
          <a:p>
            <a:pPr marL="7228205">
              <a:lnSpc>
                <a:spcPct val="100000"/>
              </a:lnSpc>
              <a:spcBef>
                <a:spcPts val="360"/>
              </a:spcBef>
            </a:pPr>
            <a:r>
              <a:rPr sz="1800" dirty="0">
                <a:latin typeface="微软雅黑" panose="020B0503020204020204" pitchFamily="34" charset="-122"/>
                <a:cs typeface="微软雅黑" panose="020B0503020204020204" pitchFamily="34" charset="-122"/>
              </a:rPr>
              <a:t>包引用，导入文件需要的各种包文件</a:t>
            </a:r>
            <a:endParaRPr sz="1800">
              <a:latin typeface="微软雅黑" panose="020B0503020204020204" pitchFamily="34" charset="-122"/>
              <a:cs typeface="微软雅黑" panose="020B0503020204020204" pitchFamily="34" charset="-122"/>
            </a:endParaRPr>
          </a:p>
        </p:txBody>
      </p:sp>
      <p:sp>
        <p:nvSpPr>
          <p:cNvPr id="6" name="object 6"/>
          <p:cNvSpPr/>
          <p:nvPr/>
        </p:nvSpPr>
        <p:spPr>
          <a:xfrm>
            <a:off x="569342" y="1267136"/>
            <a:ext cx="10972800" cy="4801870"/>
          </a:xfrm>
          <a:custGeom>
            <a:avLst/>
            <a:gdLst/>
            <a:ahLst/>
            <a:cxnLst/>
            <a:rect l="l" t="t" r="r" b="b"/>
            <a:pathLst>
              <a:path w="10972800" h="4801870">
                <a:moveTo>
                  <a:pt x="0" y="0"/>
                </a:moveTo>
                <a:lnTo>
                  <a:pt x="10972797" y="0"/>
                </a:lnTo>
                <a:lnTo>
                  <a:pt x="10972797" y="4801312"/>
                </a:lnTo>
                <a:lnTo>
                  <a:pt x="0" y="4801312"/>
                </a:lnTo>
                <a:lnTo>
                  <a:pt x="0" y="0"/>
                </a:lnTo>
                <a:close/>
              </a:path>
            </a:pathLst>
          </a:custGeom>
          <a:ln w="9524">
            <a:solidFill>
              <a:srgbClr val="FF2600"/>
            </a:solidFill>
          </a:ln>
        </p:spPr>
        <p:txBody>
          <a:bodyPr wrap="square" lIns="0" tIns="0" rIns="0" bIns="0" rtlCol="0"/>
          <a:lstStyle/>
          <a:p>
            <a:endParaRPr/>
          </a:p>
        </p:txBody>
      </p:sp>
      <p:sp>
        <p:nvSpPr>
          <p:cNvPr id="7" name="object 7"/>
          <p:cNvSpPr txBox="1"/>
          <p:nvPr/>
        </p:nvSpPr>
        <p:spPr>
          <a:xfrm>
            <a:off x="7328282" y="3217856"/>
            <a:ext cx="41402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分词函数，用于实现我们实际的程序功能</a:t>
            </a:r>
            <a:endParaRPr sz="1800">
              <a:latin typeface="微软雅黑" panose="020B0503020204020204" pitchFamily="34" charset="-122"/>
              <a:cs typeface="微软雅黑" panose="020B0503020204020204" pitchFamily="34" charset="-122"/>
            </a:endParaRPr>
          </a:p>
        </p:txBody>
      </p:sp>
      <p:sp>
        <p:nvSpPr>
          <p:cNvPr id="8" name="灯片编号占位符 7"/>
          <p:cNvSpPr>
            <a:spLocks noGrp="1"/>
          </p:cNvSpPr>
          <p:nvPr>
            <p:ph type="sldNum" sz="quarter" idx="7"/>
          </p:nvPr>
        </p:nvSpPr>
        <p:spPr/>
        <p:txBody>
          <a:bodyPr/>
          <a:lstStyle/>
          <a:p>
            <a:fld id="{B6F15528-21DE-4FAA-801E-634DDDAF4B2B}" type="slidenum">
              <a:rPr lang="en-US" altLang="zh-CN" smtClean="0"/>
              <a:t>83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7593"/>
    </mc:Choice>
    <mc:Fallback xmlns="">
      <p:transition spd="slow" advTm="37593"/>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60935" y="272181"/>
            <a:ext cx="8401048" cy="5934074"/>
          </a:xfrm>
          <a:prstGeom prst="rect">
            <a:avLst/>
          </a:prstGeom>
          <a:blipFill>
            <a:blip r:embed="rId3" cstate="print"/>
            <a:stretch>
              <a:fillRect/>
            </a:stretch>
          </a:blipFill>
        </p:spPr>
        <p:txBody>
          <a:bodyPr wrap="square" lIns="0" tIns="0" rIns="0" bIns="0" rtlCol="0"/>
          <a:lstStyle/>
          <a:p>
            <a:endParaRPr/>
          </a:p>
        </p:txBody>
      </p:sp>
      <p:sp>
        <p:nvSpPr>
          <p:cNvPr id="3" name="object 3"/>
          <p:cNvSpPr/>
          <p:nvPr/>
        </p:nvSpPr>
        <p:spPr>
          <a:xfrm>
            <a:off x="1699403" y="1725283"/>
            <a:ext cx="2941955" cy="8890"/>
          </a:xfrm>
          <a:custGeom>
            <a:avLst/>
            <a:gdLst/>
            <a:ahLst/>
            <a:cxnLst/>
            <a:rect l="l" t="t" r="r" b="b"/>
            <a:pathLst>
              <a:path w="2941954" h="8889">
                <a:moveTo>
                  <a:pt x="0" y="8625"/>
                </a:moveTo>
                <a:lnTo>
                  <a:pt x="2941606" y="0"/>
                </a:lnTo>
              </a:path>
            </a:pathLst>
          </a:custGeom>
          <a:ln w="19049">
            <a:solidFill>
              <a:srgbClr val="FF2600"/>
            </a:solidFill>
          </a:ln>
        </p:spPr>
        <p:txBody>
          <a:bodyPr wrap="square" lIns="0" tIns="0" rIns="0" bIns="0" rtlCol="0"/>
          <a:lstStyle/>
          <a:p>
            <a:endParaRPr/>
          </a:p>
        </p:txBody>
      </p:sp>
      <p:sp>
        <p:nvSpPr>
          <p:cNvPr id="4" name="object 4"/>
          <p:cNvSpPr txBox="1"/>
          <p:nvPr/>
        </p:nvSpPr>
        <p:spPr>
          <a:xfrm>
            <a:off x="5004422" y="1466608"/>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0000"/>
                </a:solidFill>
                <a:latin typeface="微软雅黑" panose="020B0503020204020204" pitchFamily="34" charset="-122"/>
                <a:cs typeface="微软雅黑" panose="020B0503020204020204" pitchFamily="34" charset="-122"/>
              </a:rPr>
              <a:t>文件读入</a:t>
            </a:r>
            <a:endParaRPr sz="1800">
              <a:latin typeface="微软雅黑" panose="020B0503020204020204" pitchFamily="34" charset="-122"/>
              <a:cs typeface="微软雅黑" panose="020B0503020204020204" pitchFamily="34" charset="-122"/>
            </a:endParaRPr>
          </a:p>
        </p:txBody>
      </p:sp>
      <p:sp>
        <p:nvSpPr>
          <p:cNvPr id="5" name="object 5"/>
          <p:cNvSpPr/>
          <p:nvPr/>
        </p:nvSpPr>
        <p:spPr>
          <a:xfrm>
            <a:off x="2084716" y="2964327"/>
            <a:ext cx="3514090" cy="8890"/>
          </a:xfrm>
          <a:custGeom>
            <a:avLst/>
            <a:gdLst/>
            <a:ahLst/>
            <a:cxnLst/>
            <a:rect l="l" t="t" r="r" b="b"/>
            <a:pathLst>
              <a:path w="3514090" h="8889">
                <a:moveTo>
                  <a:pt x="0" y="8625"/>
                </a:moveTo>
                <a:lnTo>
                  <a:pt x="3513825" y="0"/>
                </a:lnTo>
              </a:path>
            </a:pathLst>
          </a:custGeom>
          <a:ln w="19049">
            <a:solidFill>
              <a:srgbClr val="FF2600"/>
            </a:solidFill>
          </a:ln>
        </p:spPr>
        <p:txBody>
          <a:bodyPr wrap="square" lIns="0" tIns="0" rIns="0" bIns="0" rtlCol="0"/>
          <a:lstStyle/>
          <a:p>
            <a:endParaRPr/>
          </a:p>
        </p:txBody>
      </p:sp>
      <p:sp>
        <p:nvSpPr>
          <p:cNvPr id="6" name="object 6"/>
          <p:cNvSpPr txBox="1"/>
          <p:nvPr/>
        </p:nvSpPr>
        <p:spPr>
          <a:xfrm>
            <a:off x="6026920" y="2676260"/>
            <a:ext cx="27686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0000"/>
                </a:solidFill>
                <a:latin typeface="微软雅黑" panose="020B0503020204020204" pitchFamily="34" charset="-122"/>
                <a:cs typeface="微软雅黑" panose="020B0503020204020204" pitchFamily="34" charset="-122"/>
              </a:rPr>
              <a:t>分割单词</a:t>
            </a:r>
            <a:r>
              <a:rPr sz="1800" dirty="0">
                <a:solidFill>
                  <a:srgbClr val="FF2600"/>
                </a:solidFill>
                <a:latin typeface="微软雅黑" panose="020B0503020204020204" pitchFamily="34" charset="-122"/>
                <a:cs typeface="微软雅黑" panose="020B0503020204020204" pitchFamily="34" charset="-122"/>
              </a:rPr>
              <a:t>，</a:t>
            </a:r>
            <a:r>
              <a:rPr sz="1800" dirty="0">
                <a:solidFill>
                  <a:srgbClr val="FF0000"/>
                </a:solidFill>
                <a:latin typeface="微软雅黑" panose="020B0503020204020204" pitchFamily="34" charset="-122"/>
                <a:cs typeface="微软雅黑" panose="020B0503020204020204" pitchFamily="34" charset="-122"/>
              </a:rPr>
              <a:t>使用正则表达式</a:t>
            </a:r>
            <a:endParaRPr sz="1800">
              <a:latin typeface="微软雅黑" panose="020B0503020204020204" pitchFamily="34" charset="-122"/>
              <a:cs typeface="微软雅黑" panose="020B0503020204020204" pitchFamily="34" charset="-122"/>
            </a:endParaRPr>
          </a:p>
        </p:txBody>
      </p:sp>
      <p:sp>
        <p:nvSpPr>
          <p:cNvPr id="7" name="object 7"/>
          <p:cNvSpPr/>
          <p:nvPr/>
        </p:nvSpPr>
        <p:spPr>
          <a:xfrm>
            <a:off x="1624641" y="4203370"/>
            <a:ext cx="2438400" cy="8890"/>
          </a:xfrm>
          <a:custGeom>
            <a:avLst/>
            <a:gdLst/>
            <a:ahLst/>
            <a:cxnLst/>
            <a:rect l="l" t="t" r="r" b="b"/>
            <a:pathLst>
              <a:path w="2438400" h="8889">
                <a:moveTo>
                  <a:pt x="0" y="8626"/>
                </a:moveTo>
                <a:lnTo>
                  <a:pt x="2438400" y="0"/>
                </a:lnTo>
              </a:path>
            </a:pathLst>
          </a:custGeom>
          <a:ln w="19049">
            <a:solidFill>
              <a:srgbClr val="FF2600"/>
            </a:solidFill>
          </a:ln>
        </p:spPr>
        <p:txBody>
          <a:bodyPr wrap="square" lIns="0" tIns="0" rIns="0" bIns="0" rtlCol="0"/>
          <a:lstStyle/>
          <a:p>
            <a:endParaRPr/>
          </a:p>
        </p:txBody>
      </p:sp>
      <p:sp>
        <p:nvSpPr>
          <p:cNvPr id="8" name="object 8"/>
          <p:cNvSpPr txBox="1"/>
          <p:nvPr/>
        </p:nvSpPr>
        <p:spPr>
          <a:xfrm>
            <a:off x="4583434" y="3953323"/>
            <a:ext cx="41402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0000"/>
                </a:solidFill>
                <a:latin typeface="微软雅黑" panose="020B0503020204020204" pitchFamily="34" charset="-122"/>
                <a:cs typeface="微软雅黑" panose="020B0503020204020204" pitchFamily="34" charset="-122"/>
              </a:rPr>
              <a:t>词频统计</a:t>
            </a:r>
            <a:r>
              <a:rPr sz="1800" dirty="0">
                <a:solidFill>
                  <a:srgbClr val="FF2600"/>
                </a:solidFill>
                <a:latin typeface="微软雅黑" panose="020B0503020204020204" pitchFamily="34" charset="-122"/>
                <a:cs typeface="微软雅黑" panose="020B0503020204020204" pitchFamily="34" charset="-122"/>
              </a:rPr>
              <a:t>，</a:t>
            </a:r>
            <a:r>
              <a:rPr sz="1800" dirty="0">
                <a:solidFill>
                  <a:srgbClr val="FF0000"/>
                </a:solidFill>
                <a:latin typeface="微软雅黑" panose="020B0503020204020204" pitchFamily="34" charset="-122"/>
                <a:cs typeface="微软雅黑" panose="020B0503020204020204" pitchFamily="34" charset="-122"/>
              </a:rPr>
              <a:t>利用词典类型进行判重的操作</a:t>
            </a:r>
            <a:endParaRPr sz="1800">
              <a:latin typeface="微软雅黑" panose="020B0503020204020204" pitchFamily="34" charset="-122"/>
              <a:cs typeface="微软雅黑" panose="020B0503020204020204" pitchFamily="34" charset="-122"/>
            </a:endParaRPr>
          </a:p>
        </p:txBody>
      </p:sp>
      <p:sp>
        <p:nvSpPr>
          <p:cNvPr id="9" name="object 9"/>
          <p:cNvSpPr/>
          <p:nvPr/>
        </p:nvSpPr>
        <p:spPr>
          <a:xfrm>
            <a:off x="2222740" y="5734110"/>
            <a:ext cx="6317615" cy="0"/>
          </a:xfrm>
          <a:custGeom>
            <a:avLst/>
            <a:gdLst/>
            <a:ahLst/>
            <a:cxnLst/>
            <a:rect l="l" t="t" r="r" b="b"/>
            <a:pathLst>
              <a:path w="6317615">
                <a:moveTo>
                  <a:pt x="0" y="0"/>
                </a:moveTo>
                <a:lnTo>
                  <a:pt x="6317408" y="0"/>
                </a:lnTo>
              </a:path>
            </a:pathLst>
          </a:custGeom>
          <a:ln w="19049">
            <a:solidFill>
              <a:srgbClr val="FF2600"/>
            </a:solidFill>
          </a:ln>
        </p:spPr>
        <p:txBody>
          <a:bodyPr wrap="square" lIns="0" tIns="0" rIns="0" bIns="0" rtlCol="0"/>
          <a:lstStyle/>
          <a:p>
            <a:endParaRPr/>
          </a:p>
        </p:txBody>
      </p:sp>
      <p:sp>
        <p:nvSpPr>
          <p:cNvPr id="10" name="object 10"/>
          <p:cNvSpPr txBox="1"/>
          <p:nvPr/>
        </p:nvSpPr>
        <p:spPr>
          <a:xfrm>
            <a:off x="8670649" y="5553839"/>
            <a:ext cx="2515235" cy="566420"/>
          </a:xfrm>
          <a:prstGeom prst="rect">
            <a:avLst/>
          </a:prstGeom>
        </p:spPr>
        <p:txBody>
          <a:bodyPr vert="horz" wrap="square" lIns="0" tIns="27940" rIns="0" bIns="0" rtlCol="0">
            <a:spAutoFit/>
          </a:bodyPr>
          <a:lstStyle/>
          <a:p>
            <a:pPr marL="12700" marR="5080">
              <a:lnSpc>
                <a:spcPts val="2100"/>
              </a:lnSpc>
              <a:spcBef>
                <a:spcPts val="220"/>
              </a:spcBef>
            </a:pPr>
            <a:r>
              <a:rPr sz="1800" dirty="0">
                <a:solidFill>
                  <a:srgbClr val="FF0000"/>
                </a:solidFill>
                <a:latin typeface="微软雅黑" panose="020B0503020204020204" pitchFamily="34" charset="-122"/>
                <a:cs typeface="微软雅黑" panose="020B0503020204020204" pitchFamily="34" charset="-122"/>
              </a:rPr>
              <a:t>排序</a:t>
            </a:r>
            <a:r>
              <a:rPr sz="1800" dirty="0">
                <a:solidFill>
                  <a:srgbClr val="FF2600"/>
                </a:solidFill>
                <a:latin typeface="微软雅黑" panose="020B0503020204020204" pitchFamily="34" charset="-122"/>
                <a:cs typeface="微软雅黑" panose="020B0503020204020204" pitchFamily="34" charset="-122"/>
              </a:rPr>
              <a:t>，</a:t>
            </a:r>
            <a:r>
              <a:rPr sz="1800" dirty="0">
                <a:solidFill>
                  <a:srgbClr val="FF0000"/>
                </a:solidFill>
                <a:latin typeface="微软雅黑" panose="020B0503020204020204" pitchFamily="34" charset="-122"/>
                <a:cs typeface="微软雅黑" panose="020B0503020204020204" pitchFamily="34" charset="-122"/>
              </a:rPr>
              <a:t>这里用</a:t>
            </a:r>
            <a:r>
              <a:rPr sz="1800" dirty="0">
                <a:solidFill>
                  <a:srgbClr val="FF2600"/>
                </a:solidFill>
                <a:latin typeface="Calibri" panose="020F0502020204030204"/>
                <a:cs typeface="Calibri" panose="020F0502020204030204"/>
              </a:rPr>
              <a:t>p</a:t>
            </a:r>
            <a:r>
              <a:rPr sz="1800" spc="-5" dirty="0">
                <a:solidFill>
                  <a:srgbClr val="FF2600"/>
                </a:solidFill>
                <a:latin typeface="Calibri" panose="020F0502020204030204"/>
                <a:cs typeface="Calibri" panose="020F0502020204030204"/>
              </a:rPr>
              <a:t>y</a:t>
            </a:r>
            <a:r>
              <a:rPr sz="1800" dirty="0">
                <a:solidFill>
                  <a:srgbClr val="FF2600"/>
                </a:solidFill>
                <a:latin typeface="Calibri" panose="020F0502020204030204"/>
                <a:cs typeface="Calibri" panose="020F0502020204030204"/>
              </a:rPr>
              <a:t>th</a:t>
            </a:r>
            <a:r>
              <a:rPr sz="1800" spc="-5" dirty="0">
                <a:solidFill>
                  <a:srgbClr val="FF2600"/>
                </a:solidFill>
                <a:latin typeface="Calibri" panose="020F0502020204030204"/>
                <a:cs typeface="Calibri" panose="020F0502020204030204"/>
              </a:rPr>
              <a:t>on</a:t>
            </a:r>
            <a:r>
              <a:rPr sz="1800" dirty="0">
                <a:solidFill>
                  <a:srgbClr val="FF0000"/>
                </a:solidFill>
                <a:latin typeface="微软雅黑" panose="020B0503020204020204" pitchFamily="34" charset="-122"/>
                <a:cs typeface="微软雅黑" panose="020B0503020204020204" pitchFamily="34" charset="-122"/>
              </a:rPr>
              <a:t>内置 的排序算法来实现</a:t>
            </a:r>
            <a:endParaRPr sz="1800">
              <a:latin typeface="微软雅黑" panose="020B0503020204020204" pitchFamily="34" charset="-122"/>
              <a:cs typeface="微软雅黑" panose="020B0503020204020204" pitchFamily="34" charset="-122"/>
            </a:endParaRPr>
          </a:p>
        </p:txBody>
      </p:sp>
      <p:sp>
        <p:nvSpPr>
          <p:cNvPr id="12" name="灯片编号占位符 11"/>
          <p:cNvSpPr>
            <a:spLocks noGrp="1"/>
          </p:cNvSpPr>
          <p:nvPr>
            <p:ph type="sldNum" sz="quarter" idx="7"/>
          </p:nvPr>
        </p:nvSpPr>
        <p:spPr/>
        <p:txBody>
          <a:bodyPr/>
          <a:lstStyle/>
          <a:p>
            <a:fld id="{B6F15528-21DE-4FAA-801E-634DDDAF4B2B}" type="slidenum">
              <a:rPr lang="en-US" altLang="zh-CN" smtClean="0"/>
              <a:t>84</a:t>
            </a:fld>
            <a:endParaRPr lang="zh-CN" altLang="en-US"/>
          </a:p>
        </p:txBody>
      </p:sp>
      <p:sp>
        <p:nvSpPr>
          <p:cNvPr id="11" name="矩形 10">
            <a:extLst>
              <a:ext uri="{FF2B5EF4-FFF2-40B4-BE49-F238E27FC236}">
                <a16:creationId xmlns:a16="http://schemas.microsoft.com/office/drawing/2014/main" id="{EBE5FA34-0F40-4F11-A433-87B0BB8B4A21}"/>
              </a:ext>
            </a:extLst>
          </p:cNvPr>
          <p:cNvSpPr/>
          <p:nvPr/>
        </p:nvSpPr>
        <p:spPr>
          <a:xfrm>
            <a:off x="6198620" y="368409"/>
            <a:ext cx="5493812" cy="369332"/>
          </a:xfrm>
          <a:prstGeom prst="rect">
            <a:avLst/>
          </a:prstGeom>
        </p:spPr>
        <p:txBody>
          <a:bodyPr wrap="none">
            <a:spAutoFit/>
          </a:bodyPr>
          <a:lstStyle/>
          <a:p>
            <a:r>
              <a:rPr lang="zh-CN" altLang="en-US" dirty="0">
                <a:solidFill>
                  <a:srgbClr val="FF0000"/>
                </a:solidFill>
                <a:highlight>
                  <a:srgbClr val="FFFF00"/>
                </a:highlight>
              </a:rPr>
              <a:t>同学们认为影响整个程序性能的主要是哪一部分呢？</a:t>
            </a:r>
          </a:p>
        </p:txBody>
      </p:sp>
    </p:spTree>
  </p:cSld>
  <p:clrMapOvr>
    <a:masterClrMapping/>
  </p:clrMapOvr>
  <mc:AlternateContent xmlns:mc="http://schemas.openxmlformats.org/markup-compatibility/2006" xmlns:p14="http://schemas.microsoft.com/office/powerpoint/2010/main">
    <mc:Choice Requires="p14">
      <p:transition spd="slow" p14:dur="2000" advTm="51972"/>
    </mc:Choice>
    <mc:Fallback xmlns="">
      <p:transition spd="slow" advTm="5197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87123" y="1562120"/>
            <a:ext cx="10006330" cy="889000"/>
          </a:xfrm>
          <a:prstGeom prst="rect">
            <a:avLst/>
          </a:prstGeom>
        </p:spPr>
        <p:txBody>
          <a:bodyPr vert="horz" wrap="square" lIns="0" tIns="12065" rIns="0" bIns="0" rtlCol="0">
            <a:spAutoFit/>
          </a:bodyPr>
          <a:lstStyle/>
          <a:p>
            <a:pPr marL="12700" marR="5080">
              <a:lnSpc>
                <a:spcPct val="118000"/>
              </a:lnSpc>
              <a:spcBef>
                <a:spcPts val="95"/>
              </a:spcBef>
            </a:pPr>
            <a:r>
              <a:rPr sz="2400" spc="45" dirty="0">
                <a:solidFill>
                  <a:srgbClr val="0033CC"/>
                </a:solidFill>
                <a:latin typeface="Arial" panose="020B0604020202020204"/>
                <a:cs typeface="Arial" panose="020B0604020202020204"/>
              </a:rPr>
              <a:t>Profile</a:t>
            </a:r>
            <a:r>
              <a:rPr sz="2400" spc="45" dirty="0">
                <a:latin typeface="微软雅黑" panose="020B0503020204020204" pitchFamily="34" charset="-122"/>
                <a:cs typeface="微软雅黑" panose="020B0503020204020204" pitchFamily="34" charset="-122"/>
              </a:rPr>
              <a:t>是</a:t>
            </a:r>
            <a:r>
              <a:rPr sz="2400" spc="45" dirty="0">
                <a:latin typeface="Arial" panose="020B0604020202020204"/>
                <a:cs typeface="Arial" panose="020B0604020202020204"/>
              </a:rPr>
              <a:t>Python</a:t>
            </a:r>
            <a:r>
              <a:rPr sz="2400" spc="45" dirty="0">
                <a:latin typeface="微软雅黑" panose="020B0503020204020204" pitchFamily="34" charset="-122"/>
                <a:cs typeface="微软雅黑" panose="020B0503020204020204" pitchFamily="34" charset="-122"/>
              </a:rPr>
              <a:t>语言内置的性能分析工具，它能够有效地描述程序运行的 </a:t>
            </a:r>
            <a:r>
              <a:rPr sz="2400" dirty="0">
                <a:latin typeface="微软雅黑" panose="020B0503020204020204" pitchFamily="34" charset="-122"/>
                <a:cs typeface="微软雅黑" panose="020B0503020204020204" pitchFamily="34" charset="-122"/>
              </a:rPr>
              <a:t>性能状况，提供各种统计数据帮助程序员找出程序中的性能瓶颈。</a:t>
            </a:r>
            <a:endParaRPr sz="2400">
              <a:latin typeface="微软雅黑" panose="020B0503020204020204" pitchFamily="34" charset="-122"/>
              <a:cs typeface="微软雅黑" panose="020B0503020204020204" pitchFamily="34" charset="-122"/>
            </a:endParaRPr>
          </a:p>
        </p:txBody>
      </p:sp>
      <p:sp>
        <p:nvSpPr>
          <p:cNvPr id="4" name="object 4"/>
          <p:cNvSpPr/>
          <p:nvPr/>
        </p:nvSpPr>
        <p:spPr>
          <a:xfrm>
            <a:off x="1592143" y="2782061"/>
            <a:ext cx="4158805" cy="3029521"/>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6459842" y="3400231"/>
            <a:ext cx="4333240" cy="1320800"/>
          </a:xfrm>
          <a:prstGeom prst="rect">
            <a:avLst/>
          </a:prstGeom>
        </p:spPr>
        <p:txBody>
          <a:bodyPr vert="horz" wrap="square" lIns="0" tIns="12700" rIns="0" bIns="0" rtlCol="0">
            <a:spAutoFit/>
          </a:bodyPr>
          <a:lstStyle/>
          <a:p>
            <a:pPr marL="12700" marR="5080" indent="395605">
              <a:lnSpc>
                <a:spcPct val="129000"/>
              </a:lnSpc>
              <a:spcBef>
                <a:spcPts val="100"/>
              </a:spcBef>
            </a:pPr>
            <a:r>
              <a:rPr sz="2200" dirty="0">
                <a:latin typeface="微软雅黑" panose="020B0503020204020204" pitchFamily="34" charset="-122"/>
                <a:cs typeface="微软雅黑" panose="020B0503020204020204" pitchFamily="34" charset="-122"/>
              </a:rPr>
              <a:t>左图是一个求阶乘的小程序，  </a:t>
            </a:r>
            <a:r>
              <a:rPr sz="2200" spc="-5" dirty="0">
                <a:latin typeface="Arial" panose="020B0604020202020204"/>
                <a:cs typeface="Arial" panose="020B0604020202020204"/>
              </a:rPr>
              <a:t>Profile</a:t>
            </a:r>
            <a:r>
              <a:rPr sz="2200" dirty="0">
                <a:latin typeface="微软雅黑" panose="020B0503020204020204" pitchFamily="34" charset="-122"/>
                <a:cs typeface="微软雅黑" panose="020B0503020204020204" pitchFamily="34" charset="-122"/>
              </a:rPr>
              <a:t>工具仅需要一行代码就可以 对所测试函数进行代码性能测试。</a:t>
            </a:r>
            <a:endParaRPr sz="2200">
              <a:latin typeface="微软雅黑" panose="020B0503020204020204" pitchFamily="34" charset="-122"/>
              <a:cs typeface="微软雅黑" panose="020B0503020204020204" pitchFamily="34" charset="-122"/>
            </a:endParaRPr>
          </a:p>
        </p:txBody>
      </p:sp>
      <p:sp>
        <p:nvSpPr>
          <p:cNvPr id="6" name="object 6"/>
          <p:cNvSpPr/>
          <p:nvPr/>
        </p:nvSpPr>
        <p:spPr>
          <a:xfrm>
            <a:off x="1233234" y="5153277"/>
            <a:ext cx="4859655" cy="791845"/>
          </a:xfrm>
          <a:custGeom>
            <a:avLst/>
            <a:gdLst/>
            <a:ahLst/>
            <a:cxnLst/>
            <a:rect l="l" t="t" r="r" b="b"/>
            <a:pathLst>
              <a:path w="4859655" h="791845">
                <a:moveTo>
                  <a:pt x="0" y="0"/>
                </a:moveTo>
                <a:lnTo>
                  <a:pt x="4859312" y="0"/>
                </a:lnTo>
                <a:lnTo>
                  <a:pt x="4859312" y="791396"/>
                </a:lnTo>
                <a:lnTo>
                  <a:pt x="0" y="791396"/>
                </a:lnTo>
                <a:lnTo>
                  <a:pt x="0" y="0"/>
                </a:lnTo>
                <a:close/>
              </a:path>
            </a:pathLst>
          </a:custGeom>
          <a:ln w="28574">
            <a:solidFill>
              <a:srgbClr val="D81E00"/>
            </a:solidFill>
          </a:ln>
        </p:spPr>
        <p:txBody>
          <a:bodyPr wrap="square" lIns="0" tIns="0" rIns="0" bIns="0" rtlCol="0"/>
          <a:lstStyle/>
          <a:p>
            <a:endParaRPr/>
          </a:p>
        </p:txBody>
      </p:sp>
      <p:sp>
        <p:nvSpPr>
          <p:cNvPr id="7" name="object 7"/>
          <p:cNvSpPr/>
          <p:nvPr/>
        </p:nvSpPr>
        <p:spPr>
          <a:xfrm>
            <a:off x="3106026" y="3580989"/>
            <a:ext cx="1238250" cy="1555115"/>
          </a:xfrm>
          <a:custGeom>
            <a:avLst/>
            <a:gdLst/>
            <a:ahLst/>
            <a:cxnLst/>
            <a:rect l="l" t="t" r="r" b="b"/>
            <a:pathLst>
              <a:path w="1238250" h="1555114">
                <a:moveTo>
                  <a:pt x="1237914" y="1554826"/>
                </a:moveTo>
                <a:lnTo>
                  <a:pt x="0" y="0"/>
                </a:lnTo>
              </a:path>
            </a:pathLst>
          </a:custGeom>
          <a:ln w="28574">
            <a:solidFill>
              <a:srgbClr val="D81E00"/>
            </a:solidFill>
          </a:ln>
        </p:spPr>
        <p:txBody>
          <a:bodyPr wrap="square" lIns="0" tIns="0" rIns="0" bIns="0" rtlCol="0"/>
          <a:lstStyle/>
          <a:p>
            <a:endParaRPr/>
          </a:p>
        </p:txBody>
      </p:sp>
      <p:sp>
        <p:nvSpPr>
          <p:cNvPr id="8" name="object 8"/>
          <p:cNvSpPr/>
          <p:nvPr/>
        </p:nvSpPr>
        <p:spPr>
          <a:xfrm>
            <a:off x="3088228" y="3558633"/>
            <a:ext cx="86995" cy="93980"/>
          </a:xfrm>
          <a:custGeom>
            <a:avLst/>
            <a:gdLst/>
            <a:ahLst/>
            <a:cxnLst/>
            <a:rect l="l" t="t" r="r" b="b"/>
            <a:pathLst>
              <a:path w="86994" h="93979">
                <a:moveTo>
                  <a:pt x="0" y="0"/>
                </a:moveTo>
                <a:lnTo>
                  <a:pt x="19862" y="93761"/>
                </a:lnTo>
                <a:lnTo>
                  <a:pt x="86927" y="40366"/>
                </a:lnTo>
                <a:lnTo>
                  <a:pt x="0" y="0"/>
                </a:lnTo>
                <a:close/>
              </a:path>
            </a:pathLst>
          </a:custGeom>
          <a:solidFill>
            <a:srgbClr val="D81E00"/>
          </a:solidFill>
        </p:spPr>
        <p:txBody>
          <a:bodyPr wrap="square" lIns="0" tIns="0" rIns="0" bIns="0" rtlCol="0"/>
          <a:lstStyle/>
          <a:p>
            <a:endParaRPr/>
          </a:p>
        </p:txBody>
      </p:sp>
      <p:sp>
        <p:nvSpPr>
          <p:cNvPr id="9" name="object 9"/>
          <p:cNvSpPr/>
          <p:nvPr/>
        </p:nvSpPr>
        <p:spPr>
          <a:xfrm>
            <a:off x="1485017" y="3044717"/>
            <a:ext cx="2155825" cy="0"/>
          </a:xfrm>
          <a:custGeom>
            <a:avLst/>
            <a:gdLst/>
            <a:ahLst/>
            <a:cxnLst/>
            <a:rect l="l" t="t" r="r" b="b"/>
            <a:pathLst>
              <a:path w="2155825">
                <a:moveTo>
                  <a:pt x="0" y="0"/>
                </a:moveTo>
                <a:lnTo>
                  <a:pt x="2155648" y="1"/>
                </a:lnTo>
              </a:path>
            </a:pathLst>
          </a:custGeom>
          <a:ln w="28574">
            <a:solidFill>
              <a:srgbClr val="D81E00"/>
            </a:solidFill>
          </a:ln>
        </p:spPr>
        <p:txBody>
          <a:bodyPr wrap="square" lIns="0" tIns="0" rIns="0" bIns="0" rtlCol="0"/>
          <a:lstStyle/>
          <a:p>
            <a:endParaRPr/>
          </a:p>
        </p:txBody>
      </p:sp>
      <p:sp>
        <p:nvSpPr>
          <p:cNvPr id="11" name="标题 10"/>
          <p:cNvSpPr>
            <a:spLocks noGrp="1"/>
          </p:cNvSpPr>
          <p:nvPr>
            <p:ph type="title"/>
          </p:nvPr>
        </p:nvSpPr>
        <p:spPr/>
        <p:txBody>
          <a:bodyPr/>
          <a:lstStyle/>
          <a:p>
            <a:r>
              <a:rPr lang="zh-CN" altLang="en-US" dirty="0"/>
              <a:t>性能测试工具</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85</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0450"/>
    </mc:Choice>
    <mc:Fallback xmlns="">
      <p:transition spd="slow" advTm="50450"/>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4D2AB8B-5816-41F2-8B4B-CA5C3E4E6A65}" type="slidenum">
              <a:rPr lang="zh-CN" altLang="en-US" smtClean="0"/>
              <a:t>86</a:t>
            </a:fld>
            <a:endParaRPr lang="zh-CN" altLang="en-US"/>
          </a:p>
        </p:txBody>
      </p:sp>
      <p:pic>
        <p:nvPicPr>
          <p:cNvPr id="3" name="图片 2"/>
          <p:cNvPicPr>
            <a:picLocks noChangeAspect="1"/>
          </p:cNvPicPr>
          <p:nvPr/>
        </p:nvPicPr>
        <p:blipFill>
          <a:blip r:embed="rId3"/>
          <a:stretch>
            <a:fillRect/>
          </a:stretch>
        </p:blipFill>
        <p:spPr>
          <a:xfrm>
            <a:off x="0" y="277852"/>
            <a:ext cx="12086472" cy="669667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66825"/>
    </mc:Choice>
    <mc:Fallback xmlns="">
      <p:transition spd="slow" advTm="66825"/>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10751" y="333745"/>
            <a:ext cx="6447579" cy="1775419"/>
          </a:xfrm>
          <a:prstGeom prst="rect">
            <a:avLst/>
          </a:prstGeom>
          <a:blipFill>
            <a:blip r:embed="rId3" cstate="print"/>
            <a:stretch>
              <a:fillRect/>
            </a:stretch>
          </a:blipFill>
        </p:spPr>
        <p:txBody>
          <a:bodyPr wrap="square" lIns="0" tIns="0" rIns="0" bIns="0" rtlCol="0"/>
          <a:lstStyle/>
          <a:p>
            <a:endParaRPr/>
          </a:p>
        </p:txBody>
      </p:sp>
      <p:sp>
        <p:nvSpPr>
          <p:cNvPr id="3" name="object 3"/>
          <p:cNvSpPr/>
          <p:nvPr/>
        </p:nvSpPr>
        <p:spPr>
          <a:xfrm>
            <a:off x="635790" y="2468252"/>
            <a:ext cx="4813714" cy="1840427"/>
          </a:xfrm>
          <a:prstGeom prst="rect">
            <a:avLst/>
          </a:prstGeom>
          <a:blipFill>
            <a:blip r:embed="rId4" cstate="print"/>
            <a:stretch>
              <a:fillRect/>
            </a:stretch>
          </a:blipFill>
        </p:spPr>
        <p:txBody>
          <a:bodyPr wrap="square" lIns="0" tIns="0" rIns="0" bIns="0" rtlCol="0"/>
          <a:lstStyle/>
          <a:p>
            <a:endParaRPr/>
          </a:p>
        </p:txBody>
      </p:sp>
      <p:sp>
        <p:nvSpPr>
          <p:cNvPr id="4" name="object 4"/>
          <p:cNvSpPr/>
          <p:nvPr/>
        </p:nvSpPr>
        <p:spPr>
          <a:xfrm>
            <a:off x="1080619" y="4922720"/>
            <a:ext cx="4477669" cy="428935"/>
          </a:xfrm>
          <a:prstGeom prst="rect">
            <a:avLst/>
          </a:prstGeom>
          <a:blipFill>
            <a:blip r:embed="rId5" cstate="print"/>
            <a:stretch>
              <a:fillRect/>
            </a:stretch>
          </a:blipFill>
        </p:spPr>
        <p:txBody>
          <a:bodyPr wrap="square" lIns="0" tIns="0" rIns="0" bIns="0" rtlCol="0"/>
          <a:lstStyle/>
          <a:p>
            <a:endParaRPr/>
          </a:p>
        </p:txBody>
      </p:sp>
      <p:sp>
        <p:nvSpPr>
          <p:cNvPr id="5" name="object 5"/>
          <p:cNvSpPr/>
          <p:nvPr/>
        </p:nvSpPr>
        <p:spPr>
          <a:xfrm>
            <a:off x="1030653" y="5994642"/>
            <a:ext cx="5955754" cy="443355"/>
          </a:xfrm>
          <a:prstGeom prst="rect">
            <a:avLst/>
          </a:prstGeom>
          <a:blipFill>
            <a:blip r:embed="rId6" cstate="print"/>
            <a:stretch>
              <a:fillRect/>
            </a:stretch>
          </a:blipFill>
        </p:spPr>
        <p:txBody>
          <a:bodyPr wrap="square" lIns="0" tIns="0" rIns="0" bIns="0" rtlCol="0"/>
          <a:lstStyle/>
          <a:p>
            <a:endParaRPr/>
          </a:p>
        </p:txBody>
      </p:sp>
      <p:sp>
        <p:nvSpPr>
          <p:cNvPr id="6" name="object 6"/>
          <p:cNvSpPr txBox="1"/>
          <p:nvPr/>
        </p:nvSpPr>
        <p:spPr>
          <a:xfrm>
            <a:off x="2898010" y="2057029"/>
            <a:ext cx="4826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panose="020B0604020202020204"/>
                <a:cs typeface="Arial" panose="020B0604020202020204"/>
              </a:rPr>
              <a:t>……</a:t>
            </a:r>
            <a:endParaRPr sz="1800">
              <a:latin typeface="Arial" panose="020B0604020202020204"/>
              <a:cs typeface="Arial" panose="020B0604020202020204"/>
            </a:endParaRPr>
          </a:p>
        </p:txBody>
      </p:sp>
      <p:sp>
        <p:nvSpPr>
          <p:cNvPr id="7" name="object 7"/>
          <p:cNvSpPr txBox="1">
            <a:spLocks noGrp="1"/>
          </p:cNvSpPr>
          <p:nvPr>
            <p:ph type="title"/>
          </p:nvPr>
        </p:nvSpPr>
        <p:spPr>
          <a:xfrm>
            <a:off x="7790330" y="523963"/>
            <a:ext cx="2302903" cy="320601"/>
          </a:xfrm>
          <a:prstGeom prst="rect">
            <a:avLst/>
          </a:prstGeom>
        </p:spPr>
        <p:txBody>
          <a:bodyPr vert="horz" wrap="square" lIns="0" tIns="12700" rIns="0" bIns="0" rtlCol="0">
            <a:spAutoFit/>
          </a:bodyPr>
          <a:lstStyle/>
          <a:p>
            <a:pPr marL="12700">
              <a:lnSpc>
                <a:spcPct val="100000"/>
              </a:lnSpc>
              <a:spcBef>
                <a:spcPts val="100"/>
              </a:spcBef>
            </a:pPr>
            <a:r>
              <a:rPr sz="2000" dirty="0"/>
              <a:t>程序总耗时</a:t>
            </a:r>
            <a:r>
              <a:rPr sz="2000" spc="-85" dirty="0"/>
              <a:t> </a:t>
            </a:r>
            <a:r>
              <a:rPr sz="2000" dirty="0">
                <a:latin typeface="Arial" panose="020B0604020202020204"/>
                <a:cs typeface="Arial" panose="020B0604020202020204"/>
              </a:rPr>
              <a:t>4.562s</a:t>
            </a:r>
          </a:p>
        </p:txBody>
      </p:sp>
      <p:sp>
        <p:nvSpPr>
          <p:cNvPr id="8" name="object 8"/>
          <p:cNvSpPr/>
          <p:nvPr/>
        </p:nvSpPr>
        <p:spPr>
          <a:xfrm>
            <a:off x="5816451" y="287118"/>
            <a:ext cx="1344295" cy="257810"/>
          </a:xfrm>
          <a:custGeom>
            <a:avLst/>
            <a:gdLst/>
            <a:ahLst/>
            <a:cxnLst/>
            <a:rect l="l" t="t" r="r" b="b"/>
            <a:pathLst>
              <a:path w="1344295" h="257809">
                <a:moveTo>
                  <a:pt x="0" y="0"/>
                </a:moveTo>
                <a:lnTo>
                  <a:pt x="1343672" y="0"/>
                </a:lnTo>
                <a:lnTo>
                  <a:pt x="1343672" y="257661"/>
                </a:lnTo>
                <a:lnTo>
                  <a:pt x="0" y="257661"/>
                </a:lnTo>
                <a:lnTo>
                  <a:pt x="0" y="0"/>
                </a:lnTo>
                <a:close/>
              </a:path>
            </a:pathLst>
          </a:custGeom>
          <a:ln w="19049">
            <a:solidFill>
              <a:srgbClr val="D81E00"/>
            </a:solidFill>
          </a:ln>
        </p:spPr>
        <p:txBody>
          <a:bodyPr wrap="square" lIns="0" tIns="0" rIns="0" bIns="0" rtlCol="0"/>
          <a:lstStyle/>
          <a:p>
            <a:endParaRPr/>
          </a:p>
        </p:txBody>
      </p:sp>
      <p:sp>
        <p:nvSpPr>
          <p:cNvPr id="9" name="object 9"/>
          <p:cNvSpPr/>
          <p:nvPr/>
        </p:nvSpPr>
        <p:spPr>
          <a:xfrm>
            <a:off x="7174557" y="406975"/>
            <a:ext cx="532765" cy="257810"/>
          </a:xfrm>
          <a:custGeom>
            <a:avLst/>
            <a:gdLst/>
            <a:ahLst/>
            <a:cxnLst/>
            <a:rect l="l" t="t" r="r" b="b"/>
            <a:pathLst>
              <a:path w="532765" h="257809">
                <a:moveTo>
                  <a:pt x="0" y="0"/>
                </a:moveTo>
                <a:lnTo>
                  <a:pt x="532752" y="257243"/>
                </a:lnTo>
              </a:path>
            </a:pathLst>
          </a:custGeom>
          <a:ln w="19049">
            <a:solidFill>
              <a:srgbClr val="D81E00"/>
            </a:solidFill>
          </a:ln>
        </p:spPr>
        <p:txBody>
          <a:bodyPr wrap="square" lIns="0" tIns="0" rIns="0" bIns="0" rtlCol="0"/>
          <a:lstStyle/>
          <a:p>
            <a:endParaRPr/>
          </a:p>
        </p:txBody>
      </p:sp>
      <p:sp>
        <p:nvSpPr>
          <p:cNvPr id="10" name="object 10"/>
          <p:cNvSpPr/>
          <p:nvPr/>
        </p:nvSpPr>
        <p:spPr>
          <a:xfrm>
            <a:off x="7644996" y="607819"/>
            <a:ext cx="85725" cy="69215"/>
          </a:xfrm>
          <a:custGeom>
            <a:avLst/>
            <a:gdLst/>
            <a:ahLst/>
            <a:cxnLst/>
            <a:rect l="l" t="t" r="r" b="b"/>
            <a:pathLst>
              <a:path w="85725" h="69215">
                <a:moveTo>
                  <a:pt x="33133" y="0"/>
                </a:moveTo>
                <a:lnTo>
                  <a:pt x="0" y="68619"/>
                </a:lnTo>
                <a:lnTo>
                  <a:pt x="85186" y="67443"/>
                </a:lnTo>
                <a:lnTo>
                  <a:pt x="33133" y="0"/>
                </a:lnTo>
                <a:close/>
              </a:path>
            </a:pathLst>
          </a:custGeom>
          <a:solidFill>
            <a:srgbClr val="D81E00"/>
          </a:solidFill>
        </p:spPr>
        <p:txBody>
          <a:bodyPr wrap="square" lIns="0" tIns="0" rIns="0" bIns="0" rtlCol="0"/>
          <a:lstStyle/>
          <a:p>
            <a:endParaRPr/>
          </a:p>
        </p:txBody>
      </p:sp>
      <p:sp>
        <p:nvSpPr>
          <p:cNvPr id="11" name="object 11"/>
          <p:cNvSpPr txBox="1"/>
          <p:nvPr/>
        </p:nvSpPr>
        <p:spPr>
          <a:xfrm>
            <a:off x="7293353" y="2494277"/>
            <a:ext cx="403161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Arial" panose="020B0604020202020204"/>
                <a:cs typeface="Arial" panose="020B0604020202020204"/>
              </a:rPr>
              <a:t>Keys()</a:t>
            </a:r>
            <a:r>
              <a:rPr sz="1800" dirty="0">
                <a:latin typeface="微软雅黑" panose="020B0503020204020204" pitchFamily="34" charset="-122"/>
                <a:cs typeface="微软雅黑" panose="020B0503020204020204" pitchFamily="34" charset="-122"/>
              </a:rPr>
              <a:t>函数执行</a:t>
            </a:r>
            <a:r>
              <a:rPr sz="1800" spc="-5" dirty="0">
                <a:latin typeface="Arial" panose="020B0604020202020204"/>
                <a:cs typeface="Arial" panose="020B0604020202020204"/>
              </a:rPr>
              <a:t>500000</a:t>
            </a:r>
            <a:r>
              <a:rPr sz="1800" dirty="0">
                <a:latin typeface="微软雅黑" panose="020B0503020204020204" pitchFamily="34" charset="-122"/>
                <a:cs typeface="微软雅黑" panose="020B0503020204020204" pitchFamily="34" charset="-122"/>
              </a:rPr>
              <a:t>次，耗时</a:t>
            </a:r>
            <a:r>
              <a:rPr sz="1800" spc="-45" dirty="0">
                <a:latin typeface="微软雅黑" panose="020B0503020204020204" pitchFamily="34" charset="-122"/>
                <a:cs typeface="微软雅黑" panose="020B0503020204020204" pitchFamily="34" charset="-122"/>
              </a:rPr>
              <a:t> </a:t>
            </a:r>
            <a:r>
              <a:rPr sz="1800" dirty="0">
                <a:latin typeface="Arial" panose="020B0604020202020204"/>
                <a:cs typeface="Arial" panose="020B0604020202020204"/>
              </a:rPr>
              <a:t>1.141s</a:t>
            </a:r>
            <a:endParaRPr sz="1800">
              <a:latin typeface="Arial" panose="020B0604020202020204"/>
              <a:cs typeface="Arial" panose="020B0604020202020204"/>
            </a:endParaRPr>
          </a:p>
        </p:txBody>
      </p:sp>
      <p:sp>
        <p:nvSpPr>
          <p:cNvPr id="12" name="object 12"/>
          <p:cNvSpPr/>
          <p:nvPr/>
        </p:nvSpPr>
        <p:spPr>
          <a:xfrm>
            <a:off x="465309" y="2561026"/>
            <a:ext cx="5237480" cy="220345"/>
          </a:xfrm>
          <a:custGeom>
            <a:avLst/>
            <a:gdLst/>
            <a:ahLst/>
            <a:cxnLst/>
            <a:rect l="l" t="t" r="r" b="b"/>
            <a:pathLst>
              <a:path w="5237480" h="220344">
                <a:moveTo>
                  <a:pt x="0" y="0"/>
                </a:moveTo>
                <a:lnTo>
                  <a:pt x="5236988" y="0"/>
                </a:lnTo>
                <a:lnTo>
                  <a:pt x="5236988" y="220270"/>
                </a:lnTo>
                <a:lnTo>
                  <a:pt x="0" y="220270"/>
                </a:lnTo>
                <a:lnTo>
                  <a:pt x="0" y="0"/>
                </a:lnTo>
                <a:close/>
              </a:path>
            </a:pathLst>
          </a:custGeom>
          <a:ln w="19049">
            <a:solidFill>
              <a:srgbClr val="D81E00"/>
            </a:solidFill>
          </a:ln>
        </p:spPr>
        <p:txBody>
          <a:bodyPr wrap="square" lIns="0" tIns="0" rIns="0" bIns="0" rtlCol="0"/>
          <a:lstStyle/>
          <a:p>
            <a:endParaRPr/>
          </a:p>
        </p:txBody>
      </p:sp>
      <p:sp>
        <p:nvSpPr>
          <p:cNvPr id="13" name="object 13"/>
          <p:cNvSpPr/>
          <p:nvPr/>
        </p:nvSpPr>
        <p:spPr>
          <a:xfrm>
            <a:off x="5719140" y="2650826"/>
            <a:ext cx="1484630" cy="6350"/>
          </a:xfrm>
          <a:custGeom>
            <a:avLst/>
            <a:gdLst/>
            <a:ahLst/>
            <a:cxnLst/>
            <a:rect l="l" t="t" r="r" b="b"/>
            <a:pathLst>
              <a:path w="1484629" h="6350">
                <a:moveTo>
                  <a:pt x="0" y="6243"/>
                </a:moveTo>
                <a:lnTo>
                  <a:pt x="1484312" y="0"/>
                </a:lnTo>
              </a:path>
            </a:pathLst>
          </a:custGeom>
          <a:ln w="19049">
            <a:solidFill>
              <a:srgbClr val="D81E00"/>
            </a:solidFill>
          </a:ln>
        </p:spPr>
        <p:txBody>
          <a:bodyPr wrap="square" lIns="0" tIns="0" rIns="0" bIns="0" rtlCol="0"/>
          <a:lstStyle/>
          <a:p>
            <a:endParaRPr/>
          </a:p>
        </p:txBody>
      </p:sp>
      <p:sp>
        <p:nvSpPr>
          <p:cNvPr id="14" name="object 14"/>
          <p:cNvSpPr/>
          <p:nvPr/>
        </p:nvSpPr>
        <p:spPr>
          <a:xfrm>
            <a:off x="7152493" y="2612941"/>
            <a:ext cx="76835" cy="76200"/>
          </a:xfrm>
          <a:custGeom>
            <a:avLst/>
            <a:gdLst/>
            <a:ahLst/>
            <a:cxnLst/>
            <a:rect l="l" t="t" r="r" b="b"/>
            <a:pathLst>
              <a:path w="76834" h="76200">
                <a:moveTo>
                  <a:pt x="0" y="0"/>
                </a:moveTo>
                <a:lnTo>
                  <a:pt x="320" y="76198"/>
                </a:lnTo>
                <a:lnTo>
                  <a:pt x="76360" y="37778"/>
                </a:lnTo>
                <a:lnTo>
                  <a:pt x="0" y="0"/>
                </a:lnTo>
                <a:close/>
              </a:path>
            </a:pathLst>
          </a:custGeom>
          <a:solidFill>
            <a:srgbClr val="D81E00"/>
          </a:solidFill>
        </p:spPr>
        <p:txBody>
          <a:bodyPr wrap="square" lIns="0" tIns="0" rIns="0" bIns="0" rtlCol="0"/>
          <a:lstStyle/>
          <a:p>
            <a:endParaRPr/>
          </a:p>
        </p:txBody>
      </p:sp>
      <p:sp>
        <p:nvSpPr>
          <p:cNvPr id="15" name="object 15"/>
          <p:cNvSpPr txBox="1"/>
          <p:nvPr/>
        </p:nvSpPr>
        <p:spPr>
          <a:xfrm>
            <a:off x="2898010" y="4389592"/>
            <a:ext cx="4826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panose="020B0604020202020204"/>
                <a:cs typeface="Arial" panose="020B0604020202020204"/>
              </a:rPr>
              <a:t>……</a:t>
            </a:r>
            <a:endParaRPr sz="1800">
              <a:latin typeface="Arial" panose="020B0604020202020204"/>
              <a:cs typeface="Arial" panose="020B0604020202020204"/>
            </a:endParaRPr>
          </a:p>
        </p:txBody>
      </p:sp>
      <p:sp>
        <p:nvSpPr>
          <p:cNvPr id="16" name="object 16"/>
          <p:cNvSpPr/>
          <p:nvPr/>
        </p:nvSpPr>
        <p:spPr>
          <a:xfrm>
            <a:off x="452609" y="3856426"/>
            <a:ext cx="5237480" cy="220345"/>
          </a:xfrm>
          <a:custGeom>
            <a:avLst/>
            <a:gdLst/>
            <a:ahLst/>
            <a:cxnLst/>
            <a:rect l="l" t="t" r="r" b="b"/>
            <a:pathLst>
              <a:path w="5237480" h="220345">
                <a:moveTo>
                  <a:pt x="0" y="0"/>
                </a:moveTo>
                <a:lnTo>
                  <a:pt x="5236988" y="0"/>
                </a:lnTo>
                <a:lnTo>
                  <a:pt x="5236988" y="220270"/>
                </a:lnTo>
                <a:lnTo>
                  <a:pt x="0" y="220270"/>
                </a:lnTo>
                <a:lnTo>
                  <a:pt x="0" y="0"/>
                </a:lnTo>
                <a:close/>
              </a:path>
            </a:pathLst>
          </a:custGeom>
          <a:ln w="19049">
            <a:solidFill>
              <a:srgbClr val="D81E00"/>
            </a:solidFill>
          </a:ln>
        </p:spPr>
        <p:txBody>
          <a:bodyPr wrap="square" lIns="0" tIns="0" rIns="0" bIns="0" rtlCol="0"/>
          <a:lstStyle/>
          <a:p>
            <a:endParaRPr/>
          </a:p>
        </p:txBody>
      </p:sp>
      <p:sp>
        <p:nvSpPr>
          <p:cNvPr id="17" name="object 17"/>
          <p:cNvSpPr/>
          <p:nvPr/>
        </p:nvSpPr>
        <p:spPr>
          <a:xfrm>
            <a:off x="5706440" y="3946226"/>
            <a:ext cx="1484630" cy="6350"/>
          </a:xfrm>
          <a:custGeom>
            <a:avLst/>
            <a:gdLst/>
            <a:ahLst/>
            <a:cxnLst/>
            <a:rect l="l" t="t" r="r" b="b"/>
            <a:pathLst>
              <a:path w="1484629" h="6350">
                <a:moveTo>
                  <a:pt x="0" y="6243"/>
                </a:moveTo>
                <a:lnTo>
                  <a:pt x="1484312" y="0"/>
                </a:lnTo>
              </a:path>
            </a:pathLst>
          </a:custGeom>
          <a:ln w="19049">
            <a:solidFill>
              <a:srgbClr val="D81E00"/>
            </a:solidFill>
          </a:ln>
        </p:spPr>
        <p:txBody>
          <a:bodyPr wrap="square" lIns="0" tIns="0" rIns="0" bIns="0" rtlCol="0"/>
          <a:lstStyle/>
          <a:p>
            <a:endParaRPr/>
          </a:p>
        </p:txBody>
      </p:sp>
      <p:sp>
        <p:nvSpPr>
          <p:cNvPr id="18" name="object 18"/>
          <p:cNvSpPr/>
          <p:nvPr/>
        </p:nvSpPr>
        <p:spPr>
          <a:xfrm>
            <a:off x="7139793" y="3908341"/>
            <a:ext cx="76835" cy="76200"/>
          </a:xfrm>
          <a:custGeom>
            <a:avLst/>
            <a:gdLst/>
            <a:ahLst/>
            <a:cxnLst/>
            <a:rect l="l" t="t" r="r" b="b"/>
            <a:pathLst>
              <a:path w="76834" h="76200">
                <a:moveTo>
                  <a:pt x="0" y="0"/>
                </a:moveTo>
                <a:lnTo>
                  <a:pt x="320" y="76198"/>
                </a:lnTo>
                <a:lnTo>
                  <a:pt x="76360" y="37778"/>
                </a:lnTo>
                <a:lnTo>
                  <a:pt x="0" y="0"/>
                </a:lnTo>
                <a:close/>
              </a:path>
            </a:pathLst>
          </a:custGeom>
          <a:solidFill>
            <a:srgbClr val="D81E00"/>
          </a:solidFill>
        </p:spPr>
        <p:txBody>
          <a:bodyPr wrap="square" lIns="0" tIns="0" rIns="0" bIns="0" rtlCol="0"/>
          <a:lstStyle/>
          <a:p>
            <a:endParaRPr/>
          </a:p>
        </p:txBody>
      </p:sp>
      <p:sp>
        <p:nvSpPr>
          <p:cNvPr id="19" name="object 19"/>
          <p:cNvSpPr txBox="1"/>
          <p:nvPr/>
        </p:nvSpPr>
        <p:spPr>
          <a:xfrm>
            <a:off x="7344153" y="3665162"/>
            <a:ext cx="1706880" cy="723265"/>
          </a:xfrm>
          <a:prstGeom prst="rect">
            <a:avLst/>
          </a:prstGeom>
        </p:spPr>
        <p:txBody>
          <a:bodyPr vert="horz" wrap="square" lIns="0" tIns="12700" rIns="0" bIns="0" rtlCol="0">
            <a:spAutoFit/>
          </a:bodyPr>
          <a:lstStyle/>
          <a:p>
            <a:pPr marL="25400" marR="5080" indent="-12700">
              <a:lnSpc>
                <a:spcPct val="127000"/>
              </a:lnSpc>
              <a:spcBef>
                <a:spcPts val="100"/>
              </a:spcBef>
            </a:pPr>
            <a:r>
              <a:rPr sz="1800" dirty="0">
                <a:latin typeface="微软雅黑" panose="020B0503020204020204" pitchFamily="34" charset="-122"/>
                <a:cs typeface="微软雅黑" panose="020B0503020204020204" pitchFamily="34" charset="-122"/>
              </a:rPr>
              <a:t>输出几乎不耗时 输入耗时</a:t>
            </a:r>
            <a:r>
              <a:rPr sz="1800" spc="-100" dirty="0">
                <a:latin typeface="微软雅黑" panose="020B0503020204020204" pitchFamily="34" charset="-122"/>
                <a:cs typeface="微软雅黑" panose="020B0503020204020204" pitchFamily="34" charset="-122"/>
              </a:rPr>
              <a:t> </a:t>
            </a:r>
            <a:r>
              <a:rPr sz="1800" dirty="0">
                <a:latin typeface="Arial" panose="020B0604020202020204"/>
                <a:cs typeface="Arial" panose="020B0604020202020204"/>
              </a:rPr>
              <a:t>0.094s</a:t>
            </a:r>
            <a:endParaRPr sz="1800">
              <a:latin typeface="Arial" panose="020B0604020202020204"/>
              <a:cs typeface="Arial" panose="020B0604020202020204"/>
            </a:endParaRPr>
          </a:p>
        </p:txBody>
      </p:sp>
      <p:sp>
        <p:nvSpPr>
          <p:cNvPr id="20" name="object 20"/>
          <p:cNvSpPr/>
          <p:nvPr/>
        </p:nvSpPr>
        <p:spPr>
          <a:xfrm>
            <a:off x="452609" y="4123126"/>
            <a:ext cx="5237480" cy="220345"/>
          </a:xfrm>
          <a:custGeom>
            <a:avLst/>
            <a:gdLst/>
            <a:ahLst/>
            <a:cxnLst/>
            <a:rect l="l" t="t" r="r" b="b"/>
            <a:pathLst>
              <a:path w="5237480" h="220345">
                <a:moveTo>
                  <a:pt x="0" y="0"/>
                </a:moveTo>
                <a:lnTo>
                  <a:pt x="5236988" y="0"/>
                </a:lnTo>
                <a:lnTo>
                  <a:pt x="5236988" y="220271"/>
                </a:lnTo>
                <a:lnTo>
                  <a:pt x="0" y="220271"/>
                </a:lnTo>
                <a:lnTo>
                  <a:pt x="0" y="0"/>
                </a:lnTo>
                <a:close/>
              </a:path>
            </a:pathLst>
          </a:custGeom>
          <a:ln w="19049">
            <a:solidFill>
              <a:srgbClr val="D81E00"/>
            </a:solidFill>
          </a:ln>
        </p:spPr>
        <p:txBody>
          <a:bodyPr wrap="square" lIns="0" tIns="0" rIns="0" bIns="0" rtlCol="0"/>
          <a:lstStyle/>
          <a:p>
            <a:endParaRPr/>
          </a:p>
        </p:txBody>
      </p:sp>
      <p:sp>
        <p:nvSpPr>
          <p:cNvPr id="21" name="object 21"/>
          <p:cNvSpPr/>
          <p:nvPr/>
        </p:nvSpPr>
        <p:spPr>
          <a:xfrm>
            <a:off x="5706440" y="4212926"/>
            <a:ext cx="1484630" cy="6350"/>
          </a:xfrm>
          <a:custGeom>
            <a:avLst/>
            <a:gdLst/>
            <a:ahLst/>
            <a:cxnLst/>
            <a:rect l="l" t="t" r="r" b="b"/>
            <a:pathLst>
              <a:path w="1484629" h="6350">
                <a:moveTo>
                  <a:pt x="0" y="6243"/>
                </a:moveTo>
                <a:lnTo>
                  <a:pt x="1484312" y="0"/>
                </a:lnTo>
              </a:path>
            </a:pathLst>
          </a:custGeom>
          <a:ln w="19049">
            <a:solidFill>
              <a:srgbClr val="D81E00"/>
            </a:solidFill>
          </a:ln>
        </p:spPr>
        <p:txBody>
          <a:bodyPr wrap="square" lIns="0" tIns="0" rIns="0" bIns="0" rtlCol="0"/>
          <a:lstStyle/>
          <a:p>
            <a:endParaRPr/>
          </a:p>
        </p:txBody>
      </p:sp>
      <p:sp>
        <p:nvSpPr>
          <p:cNvPr id="22" name="object 22"/>
          <p:cNvSpPr/>
          <p:nvPr/>
        </p:nvSpPr>
        <p:spPr>
          <a:xfrm>
            <a:off x="7139793" y="4175041"/>
            <a:ext cx="76835" cy="76200"/>
          </a:xfrm>
          <a:custGeom>
            <a:avLst/>
            <a:gdLst/>
            <a:ahLst/>
            <a:cxnLst/>
            <a:rect l="l" t="t" r="r" b="b"/>
            <a:pathLst>
              <a:path w="76834" h="76200">
                <a:moveTo>
                  <a:pt x="0" y="0"/>
                </a:moveTo>
                <a:lnTo>
                  <a:pt x="320" y="76198"/>
                </a:lnTo>
                <a:lnTo>
                  <a:pt x="76360" y="37778"/>
                </a:lnTo>
                <a:lnTo>
                  <a:pt x="0" y="0"/>
                </a:lnTo>
                <a:close/>
              </a:path>
            </a:pathLst>
          </a:custGeom>
          <a:solidFill>
            <a:srgbClr val="D81E00"/>
          </a:solidFill>
        </p:spPr>
        <p:txBody>
          <a:bodyPr wrap="square" lIns="0" tIns="0" rIns="0" bIns="0" rtlCol="0"/>
          <a:lstStyle/>
          <a:p>
            <a:endParaRPr/>
          </a:p>
        </p:txBody>
      </p:sp>
      <p:sp>
        <p:nvSpPr>
          <p:cNvPr id="23" name="object 23"/>
          <p:cNvSpPr txBox="1"/>
          <p:nvPr/>
        </p:nvSpPr>
        <p:spPr>
          <a:xfrm>
            <a:off x="7344153" y="4824769"/>
            <a:ext cx="23120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排序函数，耗时</a:t>
            </a:r>
            <a:r>
              <a:rPr sz="1800" dirty="0">
                <a:latin typeface="Arial" panose="020B0604020202020204"/>
                <a:cs typeface="Arial" panose="020B0604020202020204"/>
              </a:rPr>
              <a:t>1.203s</a:t>
            </a:r>
          </a:p>
        </p:txBody>
      </p:sp>
      <p:sp>
        <p:nvSpPr>
          <p:cNvPr id="24" name="object 24"/>
          <p:cNvSpPr/>
          <p:nvPr/>
        </p:nvSpPr>
        <p:spPr>
          <a:xfrm>
            <a:off x="452609" y="4876656"/>
            <a:ext cx="5237480" cy="220345"/>
          </a:xfrm>
          <a:custGeom>
            <a:avLst/>
            <a:gdLst/>
            <a:ahLst/>
            <a:cxnLst/>
            <a:rect l="l" t="t" r="r" b="b"/>
            <a:pathLst>
              <a:path w="5237480" h="220345">
                <a:moveTo>
                  <a:pt x="0" y="0"/>
                </a:moveTo>
                <a:lnTo>
                  <a:pt x="5236988" y="0"/>
                </a:lnTo>
                <a:lnTo>
                  <a:pt x="5236988" y="220271"/>
                </a:lnTo>
                <a:lnTo>
                  <a:pt x="0" y="220271"/>
                </a:lnTo>
                <a:lnTo>
                  <a:pt x="0" y="0"/>
                </a:lnTo>
                <a:close/>
              </a:path>
            </a:pathLst>
          </a:custGeom>
          <a:ln w="19049">
            <a:solidFill>
              <a:srgbClr val="D81E00"/>
            </a:solidFill>
          </a:ln>
        </p:spPr>
        <p:txBody>
          <a:bodyPr wrap="square" lIns="0" tIns="0" rIns="0" bIns="0" rtlCol="0"/>
          <a:lstStyle/>
          <a:p>
            <a:endParaRPr/>
          </a:p>
        </p:txBody>
      </p:sp>
      <p:sp>
        <p:nvSpPr>
          <p:cNvPr id="25" name="object 25"/>
          <p:cNvSpPr/>
          <p:nvPr/>
        </p:nvSpPr>
        <p:spPr>
          <a:xfrm>
            <a:off x="5706440" y="4966456"/>
            <a:ext cx="1484630" cy="6350"/>
          </a:xfrm>
          <a:custGeom>
            <a:avLst/>
            <a:gdLst/>
            <a:ahLst/>
            <a:cxnLst/>
            <a:rect l="l" t="t" r="r" b="b"/>
            <a:pathLst>
              <a:path w="1484629" h="6350">
                <a:moveTo>
                  <a:pt x="0" y="6243"/>
                </a:moveTo>
                <a:lnTo>
                  <a:pt x="1484312" y="0"/>
                </a:lnTo>
              </a:path>
            </a:pathLst>
          </a:custGeom>
          <a:ln w="19049">
            <a:solidFill>
              <a:srgbClr val="D81E00"/>
            </a:solidFill>
          </a:ln>
        </p:spPr>
        <p:txBody>
          <a:bodyPr wrap="square" lIns="0" tIns="0" rIns="0" bIns="0" rtlCol="0"/>
          <a:lstStyle/>
          <a:p>
            <a:endParaRPr/>
          </a:p>
        </p:txBody>
      </p:sp>
      <p:sp>
        <p:nvSpPr>
          <p:cNvPr id="26" name="object 26"/>
          <p:cNvSpPr/>
          <p:nvPr/>
        </p:nvSpPr>
        <p:spPr>
          <a:xfrm>
            <a:off x="7139793" y="4928570"/>
            <a:ext cx="76835" cy="76200"/>
          </a:xfrm>
          <a:custGeom>
            <a:avLst/>
            <a:gdLst/>
            <a:ahLst/>
            <a:cxnLst/>
            <a:rect l="l" t="t" r="r" b="b"/>
            <a:pathLst>
              <a:path w="76834" h="76200">
                <a:moveTo>
                  <a:pt x="0" y="0"/>
                </a:moveTo>
                <a:lnTo>
                  <a:pt x="320" y="76199"/>
                </a:lnTo>
                <a:lnTo>
                  <a:pt x="76360" y="37779"/>
                </a:lnTo>
                <a:lnTo>
                  <a:pt x="0" y="0"/>
                </a:lnTo>
                <a:close/>
              </a:path>
            </a:pathLst>
          </a:custGeom>
          <a:solidFill>
            <a:srgbClr val="D81E00"/>
          </a:solidFill>
        </p:spPr>
        <p:txBody>
          <a:bodyPr wrap="square" lIns="0" tIns="0" rIns="0" bIns="0" rtlCol="0"/>
          <a:lstStyle/>
          <a:p>
            <a:endParaRPr/>
          </a:p>
        </p:txBody>
      </p:sp>
      <p:sp>
        <p:nvSpPr>
          <p:cNvPr id="27" name="object 27"/>
          <p:cNvSpPr txBox="1"/>
          <p:nvPr/>
        </p:nvSpPr>
        <p:spPr>
          <a:xfrm>
            <a:off x="7320781" y="5595625"/>
            <a:ext cx="237998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分词函数，耗时</a:t>
            </a:r>
            <a:r>
              <a:rPr sz="1800" spc="-85" dirty="0">
                <a:latin typeface="微软雅黑" panose="020B0503020204020204" pitchFamily="34" charset="-122"/>
                <a:cs typeface="微软雅黑" panose="020B0503020204020204" pitchFamily="34" charset="-122"/>
              </a:rPr>
              <a:t> </a:t>
            </a:r>
            <a:r>
              <a:rPr sz="1800" dirty="0">
                <a:latin typeface="Arial" panose="020B0604020202020204"/>
                <a:cs typeface="Arial" panose="020B0604020202020204"/>
              </a:rPr>
              <a:t>0.312s</a:t>
            </a:r>
            <a:endParaRPr sz="1800">
              <a:latin typeface="Arial" panose="020B0604020202020204"/>
              <a:cs typeface="Arial" panose="020B0604020202020204"/>
            </a:endParaRPr>
          </a:p>
        </p:txBody>
      </p:sp>
      <p:sp>
        <p:nvSpPr>
          <p:cNvPr id="28" name="object 28"/>
          <p:cNvSpPr/>
          <p:nvPr/>
        </p:nvSpPr>
        <p:spPr>
          <a:xfrm>
            <a:off x="452609" y="5181456"/>
            <a:ext cx="5237480" cy="220345"/>
          </a:xfrm>
          <a:custGeom>
            <a:avLst/>
            <a:gdLst/>
            <a:ahLst/>
            <a:cxnLst/>
            <a:rect l="l" t="t" r="r" b="b"/>
            <a:pathLst>
              <a:path w="5237480" h="220345">
                <a:moveTo>
                  <a:pt x="0" y="0"/>
                </a:moveTo>
                <a:lnTo>
                  <a:pt x="5236988" y="0"/>
                </a:lnTo>
                <a:lnTo>
                  <a:pt x="5236988" y="220270"/>
                </a:lnTo>
                <a:lnTo>
                  <a:pt x="0" y="220270"/>
                </a:lnTo>
                <a:lnTo>
                  <a:pt x="0" y="0"/>
                </a:lnTo>
                <a:close/>
              </a:path>
            </a:pathLst>
          </a:custGeom>
          <a:ln w="19049">
            <a:solidFill>
              <a:srgbClr val="D81E00"/>
            </a:solidFill>
          </a:ln>
        </p:spPr>
        <p:txBody>
          <a:bodyPr wrap="square" lIns="0" tIns="0" rIns="0" bIns="0" rtlCol="0"/>
          <a:lstStyle/>
          <a:p>
            <a:endParaRPr/>
          </a:p>
        </p:txBody>
      </p:sp>
      <p:sp>
        <p:nvSpPr>
          <p:cNvPr id="29" name="object 29"/>
          <p:cNvSpPr/>
          <p:nvPr/>
        </p:nvSpPr>
        <p:spPr>
          <a:xfrm>
            <a:off x="5706440" y="5277500"/>
            <a:ext cx="1524000" cy="456565"/>
          </a:xfrm>
          <a:custGeom>
            <a:avLst/>
            <a:gdLst/>
            <a:ahLst/>
            <a:cxnLst/>
            <a:rect l="l" t="t" r="r" b="b"/>
            <a:pathLst>
              <a:path w="1524000" h="456564">
                <a:moveTo>
                  <a:pt x="0" y="0"/>
                </a:moveTo>
                <a:lnTo>
                  <a:pt x="1523479" y="456262"/>
                </a:lnTo>
              </a:path>
            </a:pathLst>
          </a:custGeom>
          <a:ln w="19049">
            <a:solidFill>
              <a:srgbClr val="D81E00"/>
            </a:solidFill>
          </a:ln>
        </p:spPr>
        <p:txBody>
          <a:bodyPr wrap="square" lIns="0" tIns="0" rIns="0" bIns="0" rtlCol="0"/>
          <a:lstStyle/>
          <a:p>
            <a:endParaRPr/>
          </a:p>
        </p:txBody>
      </p:sp>
      <p:sp>
        <p:nvSpPr>
          <p:cNvPr id="30" name="object 30"/>
          <p:cNvSpPr/>
          <p:nvPr/>
        </p:nvSpPr>
        <p:spPr>
          <a:xfrm>
            <a:off x="7170325" y="5682690"/>
            <a:ext cx="84455" cy="73025"/>
          </a:xfrm>
          <a:custGeom>
            <a:avLst/>
            <a:gdLst/>
            <a:ahLst/>
            <a:cxnLst/>
            <a:rect l="l" t="t" r="r" b="b"/>
            <a:pathLst>
              <a:path w="84454" h="73025">
                <a:moveTo>
                  <a:pt x="21861" y="0"/>
                </a:moveTo>
                <a:lnTo>
                  <a:pt x="0" y="72996"/>
                </a:lnTo>
                <a:lnTo>
                  <a:pt x="83926" y="58359"/>
                </a:lnTo>
                <a:lnTo>
                  <a:pt x="21861" y="0"/>
                </a:lnTo>
                <a:close/>
              </a:path>
            </a:pathLst>
          </a:custGeom>
          <a:solidFill>
            <a:srgbClr val="D81E00"/>
          </a:solidFill>
        </p:spPr>
        <p:txBody>
          <a:bodyPr wrap="square" lIns="0" tIns="0" rIns="0" bIns="0" rtlCol="0"/>
          <a:lstStyle/>
          <a:p>
            <a:endParaRPr/>
          </a:p>
        </p:txBody>
      </p:sp>
      <p:sp>
        <p:nvSpPr>
          <p:cNvPr id="31" name="object 31"/>
          <p:cNvSpPr txBox="1"/>
          <p:nvPr/>
        </p:nvSpPr>
        <p:spPr>
          <a:xfrm>
            <a:off x="2898010" y="5439461"/>
            <a:ext cx="4826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panose="020B0604020202020204"/>
                <a:cs typeface="Arial" panose="020B0604020202020204"/>
              </a:rPr>
              <a:t>……</a:t>
            </a:r>
            <a:endParaRPr sz="1800">
              <a:latin typeface="Arial" panose="020B0604020202020204"/>
              <a:cs typeface="Arial" panose="020B0604020202020204"/>
            </a:endParaRPr>
          </a:p>
        </p:txBody>
      </p:sp>
      <p:sp>
        <p:nvSpPr>
          <p:cNvPr id="32" name="灯片编号占位符 31"/>
          <p:cNvSpPr>
            <a:spLocks noGrp="1"/>
          </p:cNvSpPr>
          <p:nvPr>
            <p:ph type="sldNum" sz="quarter" idx="12"/>
          </p:nvPr>
        </p:nvSpPr>
        <p:spPr/>
        <p:txBody>
          <a:bodyPr/>
          <a:lstStyle/>
          <a:p>
            <a:fld id="{74D2AB8B-5816-41F2-8B4B-CA5C3E4E6A65}" type="slidenum">
              <a:rPr lang="zh-CN" altLang="en-US" smtClean="0"/>
              <a:t>87</a:t>
            </a:fld>
            <a:endParaRPr lang="zh-CN" altLang="en-US"/>
          </a:p>
        </p:txBody>
      </p:sp>
      <p:sp>
        <p:nvSpPr>
          <p:cNvPr id="33" name="矩形 32">
            <a:extLst>
              <a:ext uri="{FF2B5EF4-FFF2-40B4-BE49-F238E27FC236}">
                <a16:creationId xmlns:a16="http://schemas.microsoft.com/office/drawing/2014/main" id="{25136A2A-39B1-476B-9431-E0C7E96C6873}"/>
              </a:ext>
            </a:extLst>
          </p:cNvPr>
          <p:cNvSpPr/>
          <p:nvPr/>
        </p:nvSpPr>
        <p:spPr>
          <a:xfrm>
            <a:off x="5831156" y="3105330"/>
            <a:ext cx="5493812" cy="369332"/>
          </a:xfrm>
          <a:prstGeom prst="rect">
            <a:avLst/>
          </a:prstGeom>
        </p:spPr>
        <p:txBody>
          <a:bodyPr wrap="none">
            <a:spAutoFit/>
          </a:bodyPr>
          <a:lstStyle/>
          <a:p>
            <a:r>
              <a:rPr lang="zh-CN" altLang="en-US" dirty="0">
                <a:solidFill>
                  <a:srgbClr val="FF0000"/>
                </a:solidFill>
                <a:highlight>
                  <a:srgbClr val="FFFF00"/>
                </a:highlight>
              </a:rPr>
              <a:t>优先完成有能力做，而且效果又比较明显的性能优化</a:t>
            </a:r>
          </a:p>
        </p:txBody>
      </p:sp>
    </p:spTree>
  </p:cSld>
  <p:clrMapOvr>
    <a:masterClrMapping/>
  </p:clrMapOvr>
  <mc:AlternateContent xmlns:mc="http://schemas.openxmlformats.org/markup-compatibility/2006" xmlns:p14="http://schemas.microsoft.com/office/powerpoint/2010/main">
    <mc:Choice Requires="p14">
      <p:transition spd="slow" p14:dur="2000" advTm="96284"/>
    </mc:Choice>
    <mc:Fallback xmlns="">
      <p:transition spd="slow" advTm="9628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11672" y="1668827"/>
            <a:ext cx="5302885"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33CC"/>
                </a:solidFill>
                <a:latin typeface="微软雅黑" panose="020B0503020204020204" pitchFamily="34" charset="-122"/>
                <a:cs typeface="微软雅黑" panose="020B0503020204020204" pitchFamily="34" charset="-122"/>
              </a:rPr>
              <a:t>为什么</a:t>
            </a:r>
            <a:r>
              <a:rPr sz="2400" spc="-50" dirty="0">
                <a:solidFill>
                  <a:srgbClr val="0033CC"/>
                </a:solidFill>
                <a:latin typeface="微软雅黑" panose="020B0503020204020204" pitchFamily="34" charset="-122"/>
                <a:cs typeface="微软雅黑" panose="020B0503020204020204" pitchFamily="34" charset="-122"/>
              </a:rPr>
              <a:t> </a:t>
            </a:r>
            <a:r>
              <a:rPr sz="2400" dirty="0">
                <a:solidFill>
                  <a:srgbClr val="0033CC"/>
                </a:solidFill>
                <a:latin typeface="Arial" panose="020B0604020202020204"/>
                <a:cs typeface="Arial" panose="020B0604020202020204"/>
              </a:rPr>
              <a:t>keys()</a:t>
            </a:r>
            <a:r>
              <a:rPr sz="2400" spc="-5" dirty="0">
                <a:solidFill>
                  <a:srgbClr val="0033CC"/>
                </a:solidFill>
                <a:latin typeface="Arial" panose="020B0604020202020204"/>
                <a:cs typeface="Arial" panose="020B0604020202020204"/>
              </a:rPr>
              <a:t> </a:t>
            </a:r>
            <a:r>
              <a:rPr sz="2400" dirty="0">
                <a:solidFill>
                  <a:srgbClr val="0033CC"/>
                </a:solidFill>
                <a:latin typeface="微软雅黑" panose="020B0503020204020204" pitchFamily="34" charset="-122"/>
                <a:cs typeface="微软雅黑" panose="020B0503020204020204" pitchFamily="34" charset="-122"/>
              </a:rPr>
              <a:t>函数的调用复杂度过高</a:t>
            </a:r>
            <a:r>
              <a:rPr sz="2400" dirty="0">
                <a:solidFill>
                  <a:srgbClr val="004DD6"/>
                </a:solidFill>
                <a:latin typeface="微软雅黑" panose="020B0503020204020204" pitchFamily="34" charset="-122"/>
                <a:cs typeface="微软雅黑" panose="020B0503020204020204" pitchFamily="34" charset="-122"/>
              </a:rPr>
              <a:t>？</a:t>
            </a:r>
            <a:endParaRPr sz="2400">
              <a:latin typeface="微软雅黑" panose="020B0503020204020204" pitchFamily="34" charset="-122"/>
              <a:cs typeface="微软雅黑" panose="020B0503020204020204" pitchFamily="34" charset="-122"/>
            </a:endParaRPr>
          </a:p>
        </p:txBody>
      </p:sp>
      <p:sp>
        <p:nvSpPr>
          <p:cNvPr id="4" name="object 4"/>
          <p:cNvSpPr txBox="1"/>
          <p:nvPr/>
        </p:nvSpPr>
        <p:spPr>
          <a:xfrm>
            <a:off x="1095086" y="2498247"/>
            <a:ext cx="9832975" cy="588010"/>
          </a:xfrm>
          <a:prstGeom prst="rect">
            <a:avLst/>
          </a:prstGeom>
          <a:solidFill>
            <a:srgbClr val="ECEBEB"/>
          </a:solidFill>
        </p:spPr>
        <p:txBody>
          <a:bodyPr vert="horz" wrap="square" lIns="0" tIns="107950" rIns="0" bIns="0" rtlCol="0">
            <a:spAutoFit/>
          </a:bodyPr>
          <a:lstStyle/>
          <a:p>
            <a:pPr marL="588645">
              <a:lnSpc>
                <a:spcPct val="100000"/>
              </a:lnSpc>
              <a:spcBef>
                <a:spcPts val="850"/>
              </a:spcBef>
              <a:tabLst>
                <a:tab pos="1680210" algn="l"/>
                <a:tab pos="7049770" algn="l"/>
              </a:tabLst>
            </a:pPr>
            <a:r>
              <a:rPr sz="2400" spc="-10" dirty="0">
                <a:latin typeface="微软雅黑" panose="020B0503020204020204" pitchFamily="34" charset="-122"/>
                <a:cs typeface="微软雅黑" panose="020B0503020204020204" pitchFamily="34" charset="-122"/>
              </a:rPr>
              <a:t>keys():	</a:t>
            </a:r>
            <a:r>
              <a:rPr sz="2400" spc="-5" dirty="0">
                <a:latin typeface="Calibri" panose="020F0502020204030204"/>
                <a:cs typeface="Calibri" panose="020F0502020204030204"/>
              </a:rPr>
              <a:t>Return </a:t>
            </a:r>
            <a:r>
              <a:rPr sz="2400" dirty="0">
                <a:latin typeface="Calibri" panose="020F0502020204030204"/>
                <a:cs typeface="Calibri" panose="020F0502020204030204"/>
              </a:rPr>
              <a:t>a new view </a:t>
            </a:r>
            <a:r>
              <a:rPr sz="2400" spc="-5" dirty="0">
                <a:latin typeface="Calibri" panose="020F0502020204030204"/>
                <a:cs typeface="Calibri" panose="020F0502020204030204"/>
              </a:rPr>
              <a:t>of </a:t>
            </a:r>
            <a:r>
              <a:rPr sz="2400" dirty="0">
                <a:latin typeface="Calibri" panose="020F0502020204030204"/>
                <a:cs typeface="Calibri" panose="020F0502020204030204"/>
              </a:rPr>
              <a:t>the</a:t>
            </a:r>
            <a:r>
              <a:rPr sz="2400" spc="50" dirty="0">
                <a:latin typeface="Calibri" panose="020F0502020204030204"/>
                <a:cs typeface="Calibri" panose="020F0502020204030204"/>
              </a:rPr>
              <a:t> </a:t>
            </a:r>
            <a:r>
              <a:rPr sz="2400" spc="-5" dirty="0">
                <a:latin typeface="Calibri" panose="020F0502020204030204"/>
                <a:cs typeface="Calibri" panose="020F0502020204030204"/>
              </a:rPr>
              <a:t>dictionary’s</a:t>
            </a:r>
            <a:r>
              <a:rPr sz="2400" spc="5" dirty="0">
                <a:latin typeface="Calibri" panose="020F0502020204030204"/>
                <a:cs typeface="Calibri" panose="020F0502020204030204"/>
              </a:rPr>
              <a:t> </a:t>
            </a:r>
            <a:r>
              <a:rPr sz="2400" spc="-5" dirty="0">
                <a:latin typeface="Calibri" panose="020F0502020204030204"/>
                <a:cs typeface="Calibri" panose="020F0502020204030204"/>
              </a:rPr>
              <a:t>keys	(docs.python.org)</a:t>
            </a:r>
            <a:endParaRPr sz="2400">
              <a:latin typeface="Calibri" panose="020F0502020204030204"/>
              <a:cs typeface="Calibri" panose="020F0502020204030204"/>
            </a:endParaRPr>
          </a:p>
        </p:txBody>
      </p:sp>
      <p:sp>
        <p:nvSpPr>
          <p:cNvPr id="5" name="object 5"/>
          <p:cNvSpPr txBox="1"/>
          <p:nvPr/>
        </p:nvSpPr>
        <p:spPr>
          <a:xfrm>
            <a:off x="1160504" y="3507630"/>
            <a:ext cx="9750425" cy="1663700"/>
          </a:xfrm>
          <a:prstGeom prst="rect">
            <a:avLst/>
          </a:prstGeom>
        </p:spPr>
        <p:txBody>
          <a:bodyPr vert="horz" wrap="square" lIns="0" tIns="12700" rIns="0" bIns="0" rtlCol="0">
            <a:spAutoFit/>
          </a:bodyPr>
          <a:lstStyle/>
          <a:p>
            <a:pPr marL="354965" marR="5080" indent="-342900">
              <a:lnSpc>
                <a:spcPct val="128000"/>
              </a:lnSpc>
              <a:spcBef>
                <a:spcPts val="100"/>
              </a:spcBef>
              <a:buFont typeface="Arial" panose="020B0604020202020204"/>
              <a:buChar char="•"/>
              <a:tabLst>
                <a:tab pos="360045" algn="l"/>
                <a:tab pos="360680" algn="l"/>
              </a:tabLst>
            </a:pPr>
            <a:r>
              <a:rPr sz="2400" spc="75" dirty="0">
                <a:solidFill>
                  <a:srgbClr val="CC0000"/>
                </a:solidFill>
                <a:latin typeface="微软雅黑" panose="020B0503020204020204" pitchFamily="34" charset="-122"/>
                <a:cs typeface="微软雅黑" panose="020B0503020204020204" pitchFamily="34" charset="-122"/>
              </a:rPr>
              <a:t>原因</a:t>
            </a:r>
            <a:r>
              <a:rPr sz="2400" spc="75" dirty="0">
                <a:solidFill>
                  <a:srgbClr val="D81E00"/>
                </a:solidFill>
                <a:latin typeface="微软雅黑" panose="020B0503020204020204" pitchFamily="34" charset="-122"/>
                <a:cs typeface="微软雅黑" panose="020B0503020204020204" pitchFamily="34" charset="-122"/>
              </a:rPr>
              <a:t>：</a:t>
            </a:r>
            <a:r>
              <a:rPr sz="2400" spc="75" dirty="0">
                <a:latin typeface="微软雅黑" panose="020B0503020204020204" pitchFamily="34" charset="-122"/>
                <a:cs typeface="微软雅黑" panose="020B0503020204020204" pitchFamily="34" charset="-122"/>
              </a:rPr>
              <a:t>每调用一次</a:t>
            </a:r>
            <a:r>
              <a:rPr sz="2400" spc="75" dirty="0">
                <a:latin typeface="Arial" panose="020B0604020202020204"/>
                <a:cs typeface="Arial" panose="020B0604020202020204"/>
              </a:rPr>
              <a:t>keys()</a:t>
            </a:r>
            <a:r>
              <a:rPr sz="2400" spc="75" dirty="0">
                <a:latin typeface="微软雅黑" panose="020B0503020204020204" pitchFamily="34" charset="-122"/>
                <a:cs typeface="微软雅黑" panose="020B0503020204020204" pitchFamily="34" charset="-122"/>
              </a:rPr>
              <a:t>函数，系统就会生成一个新的</a:t>
            </a:r>
            <a:r>
              <a:rPr sz="2400" b="1" spc="75" dirty="0">
                <a:latin typeface="微软雅黑" panose="020B0503020204020204" pitchFamily="34" charset="-122"/>
                <a:cs typeface="微软雅黑" panose="020B0503020204020204" pitchFamily="34" charset="-122"/>
              </a:rPr>
              <a:t>字典迭代器</a:t>
            </a:r>
            <a:r>
              <a:rPr sz="2400" dirty="0">
                <a:latin typeface="微软雅黑" panose="020B0503020204020204" pitchFamily="34" charset="-122"/>
                <a:cs typeface="微软雅黑" panose="020B0503020204020204" pitchFamily="34" charset="-122"/>
              </a:rPr>
              <a:t>， 如果这个生成过程重复</a:t>
            </a:r>
            <a:r>
              <a:rPr sz="2400" spc="-5" dirty="0">
                <a:latin typeface="Arial" panose="020B0604020202020204"/>
                <a:cs typeface="Arial" panose="020B0604020202020204"/>
              </a:rPr>
              <a:t>50</a:t>
            </a:r>
            <a:r>
              <a:rPr sz="2400" dirty="0">
                <a:latin typeface="微软雅黑" panose="020B0503020204020204" pitchFamily="34" charset="-122"/>
                <a:cs typeface="微软雅黑" panose="020B0503020204020204" pitchFamily="34" charset="-122"/>
              </a:rPr>
              <a:t>万次</a:t>
            </a:r>
            <a:r>
              <a:rPr sz="2400" spc="-5" dirty="0">
                <a:latin typeface="微软雅黑" panose="020B0503020204020204" pitchFamily="34" charset="-122"/>
                <a:cs typeface="微软雅黑" panose="020B0503020204020204" pitchFamily="34" charset="-122"/>
              </a:rPr>
              <a:t>，</a:t>
            </a:r>
            <a:r>
              <a:rPr sz="2400" spc="-5" dirty="0">
                <a:latin typeface="Arial" panose="020B0604020202020204"/>
                <a:cs typeface="Arial" panose="020B0604020202020204"/>
              </a:rPr>
              <a:t>…...</a:t>
            </a:r>
            <a:endParaRPr sz="2400" dirty="0">
              <a:latin typeface="Arial" panose="020B0604020202020204"/>
              <a:cs typeface="Arial" panose="020B0604020202020204"/>
            </a:endParaRPr>
          </a:p>
          <a:p>
            <a:pPr marL="355600" indent="-342900">
              <a:lnSpc>
                <a:spcPct val="100000"/>
              </a:lnSpc>
              <a:spcBef>
                <a:spcPts val="2620"/>
              </a:spcBef>
              <a:buFont typeface="Arial" panose="020B0604020202020204"/>
              <a:buChar char="•"/>
              <a:tabLst>
                <a:tab pos="354965" algn="l"/>
                <a:tab pos="355600" algn="l"/>
              </a:tabLst>
            </a:pPr>
            <a:r>
              <a:rPr sz="2400" dirty="0">
                <a:solidFill>
                  <a:srgbClr val="CC0000"/>
                </a:solidFill>
                <a:latin typeface="微软雅黑" panose="020B0503020204020204" pitchFamily="34" charset="-122"/>
                <a:cs typeface="微软雅黑" panose="020B0503020204020204" pitchFamily="34" charset="-122"/>
              </a:rPr>
              <a:t>优化</a:t>
            </a:r>
            <a:r>
              <a:rPr sz="2400" dirty="0">
                <a:solidFill>
                  <a:srgbClr val="D81E00"/>
                </a:solidFill>
                <a:latin typeface="微软雅黑" panose="020B0503020204020204" pitchFamily="34" charset="-122"/>
                <a:cs typeface="微软雅黑" panose="020B0503020204020204" pitchFamily="34" charset="-122"/>
              </a:rPr>
              <a:t>：</a:t>
            </a:r>
            <a:r>
              <a:rPr sz="2400" dirty="0">
                <a:latin typeface="微软雅黑" panose="020B0503020204020204" pitchFamily="34" charset="-122"/>
                <a:cs typeface="微软雅黑" panose="020B0503020204020204" pitchFamily="34" charset="-122"/>
              </a:rPr>
              <a:t>使用</a:t>
            </a:r>
            <a:r>
              <a:rPr sz="2400" spc="-10" dirty="0">
                <a:latin typeface="微软雅黑" panose="020B0503020204020204" pitchFamily="34" charset="-122"/>
                <a:cs typeface="微软雅黑" panose="020B0503020204020204" pitchFamily="34" charset="-122"/>
              </a:rPr>
              <a:t> </a:t>
            </a:r>
            <a:r>
              <a:rPr sz="2400" dirty="0">
                <a:latin typeface="Arial" panose="020B0604020202020204"/>
                <a:cs typeface="Arial" panose="020B0604020202020204"/>
              </a:rPr>
              <a:t>in</a:t>
            </a:r>
            <a:r>
              <a:rPr sz="2400" spc="30" dirty="0">
                <a:latin typeface="Arial" panose="020B0604020202020204"/>
                <a:cs typeface="Arial" panose="020B0604020202020204"/>
              </a:rPr>
              <a:t> </a:t>
            </a:r>
            <a:r>
              <a:rPr sz="2400" dirty="0">
                <a:latin typeface="微软雅黑" panose="020B0503020204020204" pitchFamily="34" charset="-122"/>
                <a:cs typeface="微软雅黑" panose="020B0503020204020204" pitchFamily="34" charset="-122"/>
              </a:rPr>
              <a:t>操作符直接代替</a:t>
            </a:r>
            <a:r>
              <a:rPr sz="2400" spc="-5" dirty="0">
                <a:latin typeface="Arial" panose="020B0604020202020204"/>
                <a:cs typeface="Arial" panose="020B0604020202020204"/>
              </a:rPr>
              <a:t>keys()</a:t>
            </a:r>
            <a:r>
              <a:rPr sz="2400" spc="-5" dirty="0">
                <a:latin typeface="微软雅黑" panose="020B0503020204020204" pitchFamily="34" charset="-122"/>
                <a:cs typeface="微软雅黑" panose="020B0503020204020204" pitchFamily="34" charset="-122"/>
              </a:rPr>
              <a:t>，</a:t>
            </a:r>
            <a:r>
              <a:rPr sz="2400" dirty="0">
                <a:latin typeface="微软雅黑" panose="020B0503020204020204" pitchFamily="34" charset="-122"/>
                <a:cs typeface="微软雅黑" panose="020B0503020204020204" pitchFamily="34" charset="-122"/>
              </a:rPr>
              <a:t>不再每次生成新的迭代器。</a:t>
            </a:r>
          </a:p>
        </p:txBody>
      </p:sp>
      <p:sp>
        <p:nvSpPr>
          <p:cNvPr id="7" name="标题 6"/>
          <p:cNvSpPr>
            <a:spLocks noGrp="1"/>
          </p:cNvSpPr>
          <p:nvPr>
            <p:ph type="title"/>
          </p:nvPr>
        </p:nvSpPr>
        <p:spPr/>
        <p:txBody>
          <a:bodyPr/>
          <a:lstStyle/>
          <a:p>
            <a:r>
              <a:rPr lang="zh-CN" altLang="en-US" dirty="0"/>
              <a:t>案例：原因分析</a:t>
            </a:r>
          </a:p>
        </p:txBody>
      </p:sp>
      <p:sp>
        <p:nvSpPr>
          <p:cNvPr id="6" name="灯片编号占位符 5"/>
          <p:cNvSpPr>
            <a:spLocks noGrp="1"/>
          </p:cNvSpPr>
          <p:nvPr>
            <p:ph type="sldNum" sz="quarter" idx="12"/>
          </p:nvPr>
        </p:nvSpPr>
        <p:spPr/>
        <p:txBody>
          <a:bodyPr/>
          <a:lstStyle/>
          <a:p>
            <a:fld id="{74D2AB8B-5816-41F2-8B4B-CA5C3E4E6A65}" type="slidenum">
              <a:rPr lang="zh-CN" altLang="en-US" smtClean="0"/>
              <a:t>88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9251"/>
    </mc:Choice>
    <mc:Fallback xmlns="">
      <p:transition spd="slow" advTm="39251"/>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52540" y="209931"/>
            <a:ext cx="9056612" cy="6427935"/>
          </a:xfrm>
          <a:prstGeom prst="rect">
            <a:avLst/>
          </a:prstGeom>
          <a:blipFill>
            <a:blip r:embed="rId3" cstate="print"/>
            <a:stretch>
              <a:fillRect/>
            </a:stretch>
          </a:blipFill>
        </p:spPr>
        <p:txBody>
          <a:bodyPr wrap="square" lIns="0" tIns="0" rIns="0" bIns="0" rtlCol="0"/>
          <a:lstStyle/>
          <a:p>
            <a:endParaRPr/>
          </a:p>
        </p:txBody>
      </p:sp>
      <p:sp>
        <p:nvSpPr>
          <p:cNvPr id="3" name="object 3"/>
          <p:cNvSpPr/>
          <p:nvPr/>
        </p:nvSpPr>
        <p:spPr>
          <a:xfrm>
            <a:off x="1776307" y="4191085"/>
            <a:ext cx="3118485" cy="533400"/>
          </a:xfrm>
          <a:custGeom>
            <a:avLst/>
            <a:gdLst/>
            <a:ahLst/>
            <a:cxnLst/>
            <a:rect l="l" t="t" r="r" b="b"/>
            <a:pathLst>
              <a:path w="3118485" h="533400">
                <a:moveTo>
                  <a:pt x="0" y="0"/>
                </a:moveTo>
                <a:lnTo>
                  <a:pt x="3118103" y="0"/>
                </a:lnTo>
                <a:lnTo>
                  <a:pt x="3118103" y="533314"/>
                </a:lnTo>
                <a:lnTo>
                  <a:pt x="0" y="533314"/>
                </a:lnTo>
                <a:lnTo>
                  <a:pt x="0" y="0"/>
                </a:lnTo>
                <a:close/>
              </a:path>
            </a:pathLst>
          </a:custGeom>
          <a:ln w="28574">
            <a:solidFill>
              <a:srgbClr val="D81E00"/>
            </a:solidFill>
          </a:ln>
        </p:spPr>
        <p:txBody>
          <a:bodyPr wrap="square" lIns="0" tIns="0" rIns="0" bIns="0" rtlCol="0"/>
          <a:lstStyle/>
          <a:p>
            <a:endParaRPr/>
          </a:p>
        </p:txBody>
      </p:sp>
      <p:sp>
        <p:nvSpPr>
          <p:cNvPr id="4" name="object 4"/>
          <p:cNvSpPr/>
          <p:nvPr/>
        </p:nvSpPr>
        <p:spPr>
          <a:xfrm>
            <a:off x="5281843" y="4738623"/>
            <a:ext cx="6216015" cy="495300"/>
          </a:xfrm>
          <a:custGeom>
            <a:avLst/>
            <a:gdLst/>
            <a:ahLst/>
            <a:cxnLst/>
            <a:rect l="l" t="t" r="r" b="b"/>
            <a:pathLst>
              <a:path w="6216015" h="495300">
                <a:moveTo>
                  <a:pt x="0" y="0"/>
                </a:moveTo>
                <a:lnTo>
                  <a:pt x="6215886" y="0"/>
                </a:lnTo>
                <a:lnTo>
                  <a:pt x="6215886" y="495108"/>
                </a:lnTo>
                <a:lnTo>
                  <a:pt x="0" y="495108"/>
                </a:lnTo>
                <a:lnTo>
                  <a:pt x="0" y="0"/>
                </a:lnTo>
                <a:close/>
              </a:path>
            </a:pathLst>
          </a:custGeom>
          <a:solidFill>
            <a:srgbClr val="ECEBEB"/>
          </a:solidFill>
        </p:spPr>
        <p:txBody>
          <a:bodyPr wrap="square" lIns="0" tIns="0" rIns="0" bIns="0" rtlCol="0"/>
          <a:lstStyle/>
          <a:p>
            <a:endParaRPr/>
          </a:p>
        </p:txBody>
      </p:sp>
      <p:sp>
        <p:nvSpPr>
          <p:cNvPr id="5" name="object 5"/>
          <p:cNvSpPr txBox="1"/>
          <p:nvPr/>
        </p:nvSpPr>
        <p:spPr>
          <a:xfrm>
            <a:off x="6172889" y="4836318"/>
            <a:ext cx="443738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测试发现：程序的总执行时间降低到</a:t>
            </a:r>
            <a:r>
              <a:rPr sz="1800" spc="-85" dirty="0">
                <a:latin typeface="微软雅黑" panose="020B0503020204020204" pitchFamily="34" charset="-122"/>
                <a:cs typeface="微软雅黑" panose="020B0503020204020204" pitchFamily="34" charset="-122"/>
              </a:rPr>
              <a:t> </a:t>
            </a:r>
            <a:r>
              <a:rPr sz="1800" dirty="0">
                <a:latin typeface="Arial" panose="020B0604020202020204"/>
                <a:cs typeface="Arial" panose="020B0604020202020204"/>
              </a:rPr>
              <a:t>2.250s</a:t>
            </a:r>
            <a:endParaRPr sz="1800">
              <a:latin typeface="Arial" panose="020B0604020202020204"/>
              <a:cs typeface="Arial" panose="020B0604020202020204"/>
            </a:endParaRPr>
          </a:p>
        </p:txBody>
      </p:sp>
      <p:sp>
        <p:nvSpPr>
          <p:cNvPr id="6" name="object 6"/>
          <p:cNvSpPr/>
          <p:nvPr/>
        </p:nvSpPr>
        <p:spPr>
          <a:xfrm>
            <a:off x="5079993" y="4255347"/>
            <a:ext cx="6570134" cy="385213"/>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5176483" y="4636449"/>
            <a:ext cx="6473825" cy="0"/>
          </a:xfrm>
          <a:custGeom>
            <a:avLst/>
            <a:gdLst/>
            <a:ahLst/>
            <a:cxnLst/>
            <a:rect l="l" t="t" r="r" b="b"/>
            <a:pathLst>
              <a:path w="6473825">
                <a:moveTo>
                  <a:pt x="0" y="0"/>
                </a:moveTo>
                <a:lnTo>
                  <a:pt x="6473648" y="0"/>
                </a:lnTo>
              </a:path>
            </a:pathLst>
          </a:custGeom>
          <a:ln w="28574">
            <a:solidFill>
              <a:srgbClr val="D81E00"/>
            </a:solidFill>
          </a:ln>
        </p:spPr>
        <p:txBody>
          <a:bodyPr wrap="square" lIns="0" tIns="0" rIns="0" bIns="0" rtlCol="0"/>
          <a:lstStyle/>
          <a:p>
            <a:endParaRPr/>
          </a:p>
        </p:txBody>
      </p:sp>
      <p:sp>
        <p:nvSpPr>
          <p:cNvPr id="8" name="灯片编号占位符 7"/>
          <p:cNvSpPr>
            <a:spLocks noGrp="1"/>
          </p:cNvSpPr>
          <p:nvPr>
            <p:ph type="sldNum" sz="quarter" idx="7"/>
          </p:nvPr>
        </p:nvSpPr>
        <p:spPr/>
        <p:txBody>
          <a:bodyPr/>
          <a:lstStyle/>
          <a:p>
            <a:fld id="{B6F15528-21DE-4FAA-801E-634DDDAF4B2B}" type="slidenum">
              <a:rPr lang="en-US" altLang="zh-CN" smtClean="0"/>
              <a:t>89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9288"/>
    </mc:Choice>
    <mc:Fallback xmlns="">
      <p:transition spd="slow" advTm="19288"/>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36162" y="3677132"/>
            <a:ext cx="9836150" cy="1562100"/>
          </a:xfrm>
          <a:prstGeom prst="rect">
            <a:avLst/>
          </a:prstGeom>
        </p:spPr>
        <p:txBody>
          <a:bodyPr vert="horz" wrap="square" lIns="0" tIns="154940" rIns="0" bIns="0" rtlCol="0">
            <a:spAutoFit/>
          </a:bodyPr>
          <a:lstStyle/>
          <a:p>
            <a:pPr marL="374650" indent="-361950">
              <a:lnSpc>
                <a:spcPct val="100000"/>
              </a:lnSpc>
              <a:spcBef>
                <a:spcPts val="1220"/>
              </a:spcBef>
              <a:buFont typeface="Arial" panose="020B0604020202020204"/>
              <a:buChar char="•"/>
              <a:tabLst>
                <a:tab pos="374015" algn="l"/>
                <a:tab pos="374650" algn="l"/>
              </a:tabLst>
            </a:pPr>
            <a:r>
              <a:rPr sz="2400" dirty="0">
                <a:latin typeface="微软雅黑" panose="020B0503020204020204" pitchFamily="34" charset="-122"/>
                <a:cs typeface="微软雅黑" panose="020B0503020204020204" pitchFamily="34" charset="-122"/>
              </a:rPr>
              <a:t>性能优化的关键是如何发现问题，寻找解决问题的方法。</a:t>
            </a:r>
            <a:endParaRPr sz="2400">
              <a:latin typeface="微软雅黑" panose="020B0503020204020204" pitchFamily="34" charset="-122"/>
              <a:cs typeface="微软雅黑" panose="020B0503020204020204" pitchFamily="34" charset="-122"/>
            </a:endParaRPr>
          </a:p>
          <a:p>
            <a:pPr marL="374650" indent="-361950">
              <a:lnSpc>
                <a:spcPct val="100000"/>
              </a:lnSpc>
              <a:spcBef>
                <a:spcPts val="1120"/>
              </a:spcBef>
              <a:buFont typeface="Arial" panose="020B0604020202020204"/>
              <a:buChar char="•"/>
              <a:tabLst>
                <a:tab pos="374015" algn="l"/>
                <a:tab pos="374650" algn="l"/>
              </a:tabLst>
            </a:pPr>
            <a:r>
              <a:rPr sz="2400" dirty="0">
                <a:latin typeface="微软雅黑" panose="020B0503020204020204" pitchFamily="34" charset="-122"/>
                <a:cs typeface="微软雅黑" panose="020B0503020204020204" pitchFamily="34" charset="-122"/>
              </a:rPr>
              <a:t>有效的测试是不可缺少的，通过测试找出真正的瓶颈，并分析优化结果</a:t>
            </a:r>
            <a:endParaRPr sz="2400">
              <a:latin typeface="微软雅黑" panose="020B0503020204020204" pitchFamily="34" charset="-122"/>
              <a:cs typeface="微软雅黑" panose="020B0503020204020204" pitchFamily="34" charset="-122"/>
            </a:endParaRPr>
          </a:p>
          <a:p>
            <a:pPr marL="374650" indent="-361950">
              <a:lnSpc>
                <a:spcPct val="100000"/>
              </a:lnSpc>
              <a:spcBef>
                <a:spcPts val="1220"/>
              </a:spcBef>
              <a:buFont typeface="Arial" panose="020B0604020202020204"/>
              <a:buChar char="•"/>
              <a:tabLst>
                <a:tab pos="374015" algn="l"/>
                <a:tab pos="374650" algn="l"/>
              </a:tabLst>
            </a:pPr>
            <a:r>
              <a:rPr sz="2400" dirty="0">
                <a:latin typeface="微软雅黑" panose="020B0503020204020204" pitchFamily="34" charset="-122"/>
                <a:cs typeface="微软雅黑" panose="020B0503020204020204" pitchFamily="34" charset="-122"/>
              </a:rPr>
              <a:t>要避免不必要的优化，避免不成熟的优化，不成熟的优化是错误的来源</a:t>
            </a:r>
            <a:endParaRPr sz="2400">
              <a:latin typeface="微软雅黑" panose="020B0503020204020204" pitchFamily="34" charset="-122"/>
              <a:cs typeface="微软雅黑" panose="020B0503020204020204" pitchFamily="34" charset="-122"/>
            </a:endParaRPr>
          </a:p>
        </p:txBody>
      </p:sp>
      <p:sp>
        <p:nvSpPr>
          <p:cNvPr id="4" name="object 4"/>
          <p:cNvSpPr txBox="1"/>
          <p:nvPr/>
        </p:nvSpPr>
        <p:spPr>
          <a:xfrm>
            <a:off x="3858009" y="2244633"/>
            <a:ext cx="1191895" cy="452120"/>
          </a:xfrm>
          <a:prstGeom prst="rect">
            <a:avLst/>
          </a:prstGeom>
        </p:spPr>
        <p:txBody>
          <a:bodyPr vert="horz" wrap="square" lIns="0" tIns="12700" rIns="0" bIns="0" rtlCol="0">
            <a:spAutoFit/>
          </a:bodyPr>
          <a:lstStyle/>
          <a:p>
            <a:pPr marL="12700">
              <a:lnSpc>
                <a:spcPct val="100000"/>
              </a:lnSpc>
              <a:spcBef>
                <a:spcPts val="100"/>
              </a:spcBef>
            </a:pPr>
            <a:r>
              <a:rPr sz="2800" spc="-5" dirty="0">
                <a:solidFill>
                  <a:srgbClr val="FF0000"/>
                </a:solidFill>
                <a:latin typeface="Arial" panose="020B0604020202020204"/>
                <a:cs typeface="Arial" panose="020B0604020202020204"/>
              </a:rPr>
              <a:t>4.562</a:t>
            </a:r>
            <a:r>
              <a:rPr sz="2800" spc="-85" dirty="0">
                <a:solidFill>
                  <a:srgbClr val="FF0000"/>
                </a:solidFill>
                <a:latin typeface="Arial" panose="020B0604020202020204"/>
                <a:cs typeface="Arial" panose="020B0604020202020204"/>
              </a:rPr>
              <a:t> </a:t>
            </a:r>
            <a:r>
              <a:rPr sz="2800" dirty="0">
                <a:solidFill>
                  <a:srgbClr val="FF0000"/>
                </a:solidFill>
                <a:latin typeface="Arial" panose="020B0604020202020204"/>
                <a:cs typeface="Arial" panose="020B0604020202020204"/>
              </a:rPr>
              <a:t>s</a:t>
            </a:r>
            <a:endParaRPr sz="2800">
              <a:latin typeface="Arial" panose="020B0604020202020204"/>
              <a:cs typeface="Arial" panose="020B0604020202020204"/>
            </a:endParaRPr>
          </a:p>
        </p:txBody>
      </p:sp>
      <p:sp>
        <p:nvSpPr>
          <p:cNvPr id="5" name="object 5"/>
          <p:cNvSpPr txBox="1"/>
          <p:nvPr/>
        </p:nvSpPr>
        <p:spPr>
          <a:xfrm>
            <a:off x="1861242" y="2109798"/>
            <a:ext cx="1711960" cy="803275"/>
          </a:xfrm>
          <a:prstGeom prst="rect">
            <a:avLst/>
          </a:prstGeom>
          <a:solidFill>
            <a:srgbClr val="7A4779"/>
          </a:solidFill>
        </p:spPr>
        <p:txBody>
          <a:bodyPr vert="horz" wrap="square" lIns="0" tIns="218440" rIns="0" bIns="0" rtlCol="0">
            <a:spAutoFit/>
          </a:bodyPr>
          <a:lstStyle/>
          <a:p>
            <a:pPr marL="401320">
              <a:lnSpc>
                <a:spcPct val="100000"/>
              </a:lnSpc>
              <a:spcBef>
                <a:spcPts val="1720"/>
              </a:spcBef>
            </a:pPr>
            <a:r>
              <a:rPr sz="2400" dirty="0">
                <a:solidFill>
                  <a:srgbClr val="FFFFFF"/>
                </a:solidFill>
                <a:latin typeface="微软雅黑" panose="020B0503020204020204" pitchFamily="34" charset="-122"/>
                <a:cs typeface="微软雅黑" panose="020B0503020204020204" pitchFamily="34" charset="-122"/>
              </a:rPr>
              <a:t>优化前</a:t>
            </a:r>
            <a:endParaRPr sz="2400">
              <a:latin typeface="微软雅黑" panose="020B0503020204020204" pitchFamily="34" charset="-122"/>
              <a:cs typeface="微软雅黑" panose="020B0503020204020204" pitchFamily="34" charset="-122"/>
            </a:endParaRPr>
          </a:p>
        </p:txBody>
      </p:sp>
      <p:sp>
        <p:nvSpPr>
          <p:cNvPr id="6" name="object 6"/>
          <p:cNvSpPr txBox="1"/>
          <p:nvPr/>
        </p:nvSpPr>
        <p:spPr>
          <a:xfrm>
            <a:off x="8668439" y="2109798"/>
            <a:ext cx="1711960" cy="803275"/>
          </a:xfrm>
          <a:prstGeom prst="rect">
            <a:avLst/>
          </a:prstGeom>
          <a:solidFill>
            <a:srgbClr val="797BA9"/>
          </a:solidFill>
        </p:spPr>
        <p:txBody>
          <a:bodyPr vert="horz" wrap="square" lIns="0" tIns="218440" rIns="0" bIns="0" rtlCol="0">
            <a:spAutoFit/>
          </a:bodyPr>
          <a:lstStyle/>
          <a:p>
            <a:pPr marL="401320">
              <a:lnSpc>
                <a:spcPct val="100000"/>
              </a:lnSpc>
              <a:spcBef>
                <a:spcPts val="1720"/>
              </a:spcBef>
            </a:pPr>
            <a:r>
              <a:rPr sz="2400" dirty="0">
                <a:solidFill>
                  <a:srgbClr val="FFFFFF"/>
                </a:solidFill>
                <a:latin typeface="微软雅黑" panose="020B0503020204020204" pitchFamily="34" charset="-122"/>
                <a:cs typeface="微软雅黑" panose="020B0503020204020204" pitchFamily="34" charset="-122"/>
              </a:rPr>
              <a:t>优化后</a:t>
            </a:r>
            <a:endParaRPr sz="2400">
              <a:latin typeface="微软雅黑" panose="020B0503020204020204" pitchFamily="34" charset="-122"/>
              <a:cs typeface="微软雅黑" panose="020B0503020204020204" pitchFamily="34" charset="-122"/>
            </a:endParaRPr>
          </a:p>
        </p:txBody>
      </p:sp>
      <p:sp>
        <p:nvSpPr>
          <p:cNvPr id="7" name="object 7"/>
          <p:cNvSpPr txBox="1"/>
          <p:nvPr/>
        </p:nvSpPr>
        <p:spPr>
          <a:xfrm>
            <a:off x="7158913" y="2261566"/>
            <a:ext cx="1191895" cy="452120"/>
          </a:xfrm>
          <a:prstGeom prst="rect">
            <a:avLst/>
          </a:prstGeom>
        </p:spPr>
        <p:txBody>
          <a:bodyPr vert="horz" wrap="square" lIns="0" tIns="12700" rIns="0" bIns="0" rtlCol="0">
            <a:spAutoFit/>
          </a:bodyPr>
          <a:lstStyle/>
          <a:p>
            <a:pPr marL="12700">
              <a:lnSpc>
                <a:spcPct val="100000"/>
              </a:lnSpc>
              <a:spcBef>
                <a:spcPts val="100"/>
              </a:spcBef>
            </a:pPr>
            <a:r>
              <a:rPr sz="2800" spc="-5" dirty="0">
                <a:solidFill>
                  <a:srgbClr val="0033CC"/>
                </a:solidFill>
                <a:latin typeface="Arial" panose="020B0604020202020204"/>
                <a:cs typeface="Arial" panose="020B0604020202020204"/>
              </a:rPr>
              <a:t>2.250</a:t>
            </a:r>
            <a:r>
              <a:rPr sz="2800" spc="-85" dirty="0">
                <a:solidFill>
                  <a:srgbClr val="0033CC"/>
                </a:solidFill>
                <a:latin typeface="Arial" panose="020B0604020202020204"/>
                <a:cs typeface="Arial" panose="020B0604020202020204"/>
              </a:rPr>
              <a:t> </a:t>
            </a:r>
            <a:r>
              <a:rPr sz="2800" dirty="0">
                <a:solidFill>
                  <a:srgbClr val="0033CC"/>
                </a:solidFill>
                <a:latin typeface="Arial" panose="020B0604020202020204"/>
                <a:cs typeface="Arial" panose="020B0604020202020204"/>
              </a:rPr>
              <a:t>s</a:t>
            </a:r>
            <a:endParaRPr sz="2800">
              <a:latin typeface="Arial" panose="020B0604020202020204"/>
              <a:cs typeface="Arial" panose="020B0604020202020204"/>
            </a:endParaRPr>
          </a:p>
        </p:txBody>
      </p:sp>
      <p:sp>
        <p:nvSpPr>
          <p:cNvPr id="8" name="object 8"/>
          <p:cNvSpPr/>
          <p:nvPr/>
        </p:nvSpPr>
        <p:spPr>
          <a:xfrm>
            <a:off x="5644699" y="2159162"/>
            <a:ext cx="1106833" cy="685639"/>
          </a:xfrm>
          <a:prstGeom prst="rect">
            <a:avLst/>
          </a:prstGeom>
          <a:blipFill>
            <a:blip r:embed="rId3" cstate="print"/>
            <a:stretch>
              <a:fillRect/>
            </a:stretch>
          </a:blipFill>
        </p:spPr>
        <p:txBody>
          <a:bodyPr wrap="square" lIns="0" tIns="0" rIns="0" bIns="0" rtlCol="0"/>
          <a:lstStyle/>
          <a:p>
            <a:endParaRPr/>
          </a:p>
        </p:txBody>
      </p:sp>
      <p:sp>
        <p:nvSpPr>
          <p:cNvPr id="10" name="标题 9"/>
          <p:cNvSpPr>
            <a:spLocks noGrp="1"/>
          </p:cNvSpPr>
          <p:nvPr>
            <p:ph type="title"/>
          </p:nvPr>
        </p:nvSpPr>
        <p:spPr/>
        <p:txBody>
          <a:bodyPr/>
          <a:lstStyle/>
          <a:p>
            <a:r>
              <a:rPr lang="zh-CN" altLang="en-US" dirty="0"/>
              <a:t>案例：优化结果</a:t>
            </a:r>
          </a:p>
        </p:txBody>
      </p:sp>
      <p:sp>
        <p:nvSpPr>
          <p:cNvPr id="9" name="灯片编号占位符 8"/>
          <p:cNvSpPr>
            <a:spLocks noGrp="1"/>
          </p:cNvSpPr>
          <p:nvPr>
            <p:ph type="sldNum" sz="quarter" idx="12"/>
          </p:nvPr>
        </p:nvSpPr>
        <p:spPr/>
        <p:txBody>
          <a:bodyPr/>
          <a:lstStyle/>
          <a:p>
            <a:fld id="{74D2AB8B-5816-41F2-8B4B-CA5C3E4E6A65}" type="slidenum">
              <a:rPr lang="zh-CN" altLang="en-US" smtClean="0"/>
              <a:t>90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8024"/>
    </mc:Choice>
    <mc:Fallback xmlns="">
      <p:transition spd="slow" advTm="48024"/>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45204" y="1787447"/>
            <a:ext cx="9836150" cy="34772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33CC"/>
                </a:solidFill>
                <a:latin typeface="微软雅黑" panose="020B0503020204020204" pitchFamily="34" charset="-122"/>
                <a:cs typeface="微软雅黑" panose="020B0503020204020204" pitchFamily="34" charset="-122"/>
              </a:rPr>
              <a:t>改进算法</a:t>
            </a:r>
            <a:r>
              <a:rPr sz="2400" dirty="0">
                <a:solidFill>
                  <a:srgbClr val="004DD6"/>
                </a:solidFill>
                <a:latin typeface="微软雅黑" panose="020B0503020204020204" pitchFamily="34" charset="-122"/>
                <a:cs typeface="微软雅黑" panose="020B0503020204020204" pitchFamily="34" charset="-122"/>
              </a:rPr>
              <a:t>，</a:t>
            </a:r>
            <a:r>
              <a:rPr sz="2400" dirty="0">
                <a:solidFill>
                  <a:srgbClr val="0033CC"/>
                </a:solidFill>
                <a:latin typeface="微软雅黑" panose="020B0503020204020204" pitchFamily="34" charset="-122"/>
                <a:cs typeface="微软雅黑" panose="020B0503020204020204" pitchFamily="34" charset="-122"/>
              </a:rPr>
              <a:t>选择合适的数据结构</a:t>
            </a:r>
            <a:endParaRPr sz="2400" dirty="0">
              <a:latin typeface="微软雅黑" panose="020B0503020204020204" pitchFamily="34" charset="-122"/>
              <a:cs typeface="微软雅黑" panose="020B0503020204020204" pitchFamily="34" charset="-122"/>
            </a:endParaRPr>
          </a:p>
          <a:p>
            <a:pPr marL="374650" indent="-361950">
              <a:lnSpc>
                <a:spcPct val="100000"/>
              </a:lnSpc>
              <a:spcBef>
                <a:spcPts val="1720"/>
              </a:spcBef>
              <a:buFont typeface="Arial" panose="020B0604020202020204"/>
              <a:buChar char="•"/>
              <a:tabLst>
                <a:tab pos="374015" algn="l"/>
                <a:tab pos="374650" algn="l"/>
              </a:tabLst>
            </a:pPr>
            <a:r>
              <a:rPr sz="2400" dirty="0">
                <a:latin typeface="微软雅黑" panose="020B0503020204020204" pitchFamily="34" charset="-122"/>
                <a:cs typeface="微软雅黑" panose="020B0503020204020204" pitchFamily="34" charset="-122"/>
              </a:rPr>
              <a:t>良好的算法对性能起到关键作用，因此性能改进的首要点是对算法改进</a:t>
            </a:r>
          </a:p>
          <a:p>
            <a:pPr marL="374650" indent="-361950">
              <a:lnSpc>
                <a:spcPct val="100000"/>
              </a:lnSpc>
              <a:spcBef>
                <a:spcPts val="1720"/>
              </a:spcBef>
              <a:buFont typeface="Arial" panose="020B0604020202020204"/>
              <a:buChar char="•"/>
              <a:tabLst>
                <a:tab pos="374015" algn="l"/>
                <a:tab pos="374650" algn="l"/>
              </a:tabLst>
            </a:pPr>
            <a:r>
              <a:rPr sz="2400" dirty="0">
                <a:latin typeface="微软雅黑" panose="020B0503020204020204" pitchFamily="34" charset="-122"/>
                <a:cs typeface="微软雅黑" panose="020B0503020204020204" pitchFamily="34" charset="-122"/>
              </a:rPr>
              <a:t>算法时间复杂性的排序依次是</a:t>
            </a:r>
          </a:p>
          <a:p>
            <a:pPr marL="589280">
              <a:lnSpc>
                <a:spcPct val="100000"/>
              </a:lnSpc>
              <a:spcBef>
                <a:spcPts val="2160"/>
              </a:spcBef>
            </a:pPr>
            <a:r>
              <a:rPr sz="2000" spc="-5" dirty="0">
                <a:latin typeface="Arial" panose="020B0604020202020204"/>
                <a:cs typeface="Arial" panose="020B0604020202020204"/>
              </a:rPr>
              <a:t>O(1) </a:t>
            </a:r>
            <a:r>
              <a:rPr sz="2000" spc="-1070" dirty="0">
                <a:latin typeface="Wingdings" panose="05000000000000000000"/>
                <a:cs typeface="Wingdings" panose="05000000000000000000"/>
              </a:rPr>
              <a:t></a:t>
            </a:r>
            <a:r>
              <a:rPr sz="2000" spc="55" dirty="0">
                <a:latin typeface="Times New Roman" panose="02020603050405020304"/>
                <a:cs typeface="Times New Roman" panose="02020603050405020304"/>
              </a:rPr>
              <a:t> </a:t>
            </a:r>
            <a:r>
              <a:rPr sz="2000" spc="-5" dirty="0">
                <a:latin typeface="Arial" panose="020B0604020202020204"/>
                <a:cs typeface="Arial" panose="020B0604020202020204"/>
              </a:rPr>
              <a:t>O(lg </a:t>
            </a:r>
            <a:r>
              <a:rPr sz="2000" dirty="0">
                <a:latin typeface="Arial" panose="020B0604020202020204"/>
                <a:cs typeface="Arial" panose="020B0604020202020204"/>
              </a:rPr>
              <a:t>n) </a:t>
            </a:r>
            <a:r>
              <a:rPr sz="2000" spc="-1070" dirty="0">
                <a:latin typeface="Wingdings" panose="05000000000000000000"/>
                <a:cs typeface="Wingdings" panose="05000000000000000000"/>
              </a:rPr>
              <a:t></a:t>
            </a:r>
            <a:r>
              <a:rPr sz="2000" spc="60" dirty="0">
                <a:latin typeface="Times New Roman" panose="02020603050405020304"/>
                <a:cs typeface="Times New Roman" panose="02020603050405020304"/>
              </a:rPr>
              <a:t> </a:t>
            </a:r>
            <a:r>
              <a:rPr sz="2000" spc="-5" dirty="0">
                <a:latin typeface="Arial" panose="020B0604020202020204"/>
                <a:cs typeface="Arial" panose="020B0604020202020204"/>
              </a:rPr>
              <a:t>O(n </a:t>
            </a:r>
            <a:r>
              <a:rPr sz="2000" dirty="0">
                <a:latin typeface="Arial" panose="020B0604020202020204"/>
                <a:cs typeface="Arial" panose="020B0604020202020204"/>
              </a:rPr>
              <a:t>lg n) </a:t>
            </a:r>
            <a:r>
              <a:rPr sz="2000" spc="-1070" dirty="0">
                <a:latin typeface="Wingdings" panose="05000000000000000000"/>
                <a:cs typeface="Wingdings" panose="05000000000000000000"/>
              </a:rPr>
              <a:t></a:t>
            </a:r>
            <a:r>
              <a:rPr sz="2000" spc="55" dirty="0">
                <a:latin typeface="Times New Roman" panose="02020603050405020304"/>
                <a:cs typeface="Times New Roman" panose="02020603050405020304"/>
              </a:rPr>
              <a:t> </a:t>
            </a:r>
            <a:r>
              <a:rPr sz="2000" spc="-5" dirty="0">
                <a:latin typeface="Arial" panose="020B0604020202020204"/>
                <a:cs typeface="Arial" panose="020B0604020202020204"/>
              </a:rPr>
              <a:t>O(n^2) </a:t>
            </a:r>
            <a:r>
              <a:rPr sz="2000" spc="-1070" dirty="0">
                <a:latin typeface="Wingdings" panose="05000000000000000000"/>
                <a:cs typeface="Wingdings" panose="05000000000000000000"/>
              </a:rPr>
              <a:t></a:t>
            </a:r>
            <a:r>
              <a:rPr sz="2000" spc="60" dirty="0">
                <a:latin typeface="Times New Roman" panose="02020603050405020304"/>
                <a:cs typeface="Times New Roman" panose="02020603050405020304"/>
              </a:rPr>
              <a:t> </a:t>
            </a:r>
            <a:r>
              <a:rPr sz="2000" spc="-5" dirty="0">
                <a:latin typeface="Arial" panose="020B0604020202020204"/>
                <a:cs typeface="Arial" panose="020B0604020202020204"/>
              </a:rPr>
              <a:t>O(n^3) </a:t>
            </a:r>
            <a:r>
              <a:rPr sz="2000" spc="-1070" dirty="0">
                <a:latin typeface="Wingdings" panose="05000000000000000000"/>
                <a:cs typeface="Wingdings" panose="05000000000000000000"/>
              </a:rPr>
              <a:t></a:t>
            </a:r>
            <a:r>
              <a:rPr sz="2000" spc="60" dirty="0">
                <a:latin typeface="Times New Roman" panose="02020603050405020304"/>
                <a:cs typeface="Times New Roman" panose="02020603050405020304"/>
              </a:rPr>
              <a:t> </a:t>
            </a:r>
            <a:r>
              <a:rPr sz="2000" spc="-5" dirty="0">
                <a:latin typeface="Arial" panose="020B0604020202020204"/>
                <a:cs typeface="Arial" panose="020B0604020202020204"/>
              </a:rPr>
              <a:t>O(n^k) </a:t>
            </a:r>
            <a:r>
              <a:rPr sz="2000" spc="-1070" dirty="0">
                <a:latin typeface="Wingdings" panose="05000000000000000000"/>
                <a:cs typeface="Wingdings" panose="05000000000000000000"/>
              </a:rPr>
              <a:t></a:t>
            </a:r>
            <a:r>
              <a:rPr sz="2000" spc="55" dirty="0">
                <a:latin typeface="Times New Roman" panose="02020603050405020304"/>
                <a:cs typeface="Times New Roman" panose="02020603050405020304"/>
              </a:rPr>
              <a:t> </a:t>
            </a:r>
            <a:r>
              <a:rPr sz="2000" spc="-5" dirty="0">
                <a:latin typeface="Arial" panose="020B0604020202020204"/>
                <a:cs typeface="Arial" panose="020B0604020202020204"/>
              </a:rPr>
              <a:t>O(k^n)</a:t>
            </a:r>
            <a:r>
              <a:rPr sz="2000" spc="35" dirty="0">
                <a:latin typeface="Arial" panose="020B0604020202020204"/>
                <a:cs typeface="Arial" panose="020B0604020202020204"/>
              </a:rPr>
              <a:t> </a:t>
            </a:r>
            <a:r>
              <a:rPr sz="2000" spc="-1070" dirty="0">
                <a:latin typeface="Wingdings" panose="05000000000000000000"/>
                <a:cs typeface="Wingdings" panose="05000000000000000000"/>
              </a:rPr>
              <a:t></a:t>
            </a:r>
            <a:r>
              <a:rPr sz="2000" spc="60" dirty="0">
                <a:latin typeface="Times New Roman" panose="02020603050405020304"/>
                <a:cs typeface="Times New Roman" panose="02020603050405020304"/>
              </a:rPr>
              <a:t> </a:t>
            </a:r>
            <a:r>
              <a:rPr sz="2000" spc="-5" dirty="0">
                <a:latin typeface="Arial" panose="020B0604020202020204"/>
                <a:cs typeface="Arial" panose="020B0604020202020204"/>
              </a:rPr>
              <a:t>O(n!)</a:t>
            </a:r>
            <a:endParaRPr sz="2000" dirty="0">
              <a:latin typeface="Arial" panose="020B0604020202020204"/>
              <a:cs typeface="Arial" panose="020B0604020202020204"/>
            </a:endParaRPr>
          </a:p>
          <a:p>
            <a:pPr>
              <a:lnSpc>
                <a:spcPct val="100000"/>
              </a:lnSpc>
              <a:spcBef>
                <a:spcPts val="10"/>
              </a:spcBef>
            </a:pPr>
            <a:endParaRPr sz="2650" dirty="0">
              <a:latin typeface="Times New Roman" panose="02020603050405020304"/>
              <a:cs typeface="Times New Roman" panose="02020603050405020304"/>
            </a:endParaRPr>
          </a:p>
          <a:p>
            <a:pPr marL="374650" indent="-361950">
              <a:lnSpc>
                <a:spcPct val="100000"/>
              </a:lnSpc>
              <a:buFont typeface="Arial" panose="020B0604020202020204"/>
              <a:buChar char="•"/>
              <a:tabLst>
                <a:tab pos="374015" algn="l"/>
                <a:tab pos="374650" algn="l"/>
              </a:tabLst>
            </a:pPr>
            <a:r>
              <a:rPr sz="2400" b="1" dirty="0">
                <a:latin typeface="微软雅黑" panose="020B0503020204020204" pitchFamily="34" charset="-122"/>
                <a:cs typeface="微软雅黑" panose="020B0503020204020204" pitchFamily="34" charset="-122"/>
              </a:rPr>
              <a:t>对成员的查找访问</a:t>
            </a:r>
            <a:r>
              <a:rPr sz="2400" dirty="0">
                <a:latin typeface="微软雅黑" panose="020B0503020204020204" pitchFamily="34" charset="-122"/>
                <a:cs typeface="微软雅黑" panose="020B0503020204020204" pitchFamily="34" charset="-122"/>
              </a:rPr>
              <a:t>等操作，字典</a:t>
            </a:r>
            <a:r>
              <a:rPr sz="2400" spc="-5" dirty="0">
                <a:latin typeface="微软雅黑" panose="020B0503020204020204" pitchFamily="34" charset="-122"/>
                <a:cs typeface="微软雅黑" panose="020B0503020204020204" pitchFamily="34" charset="-122"/>
              </a:rPr>
              <a:t>（</a:t>
            </a:r>
            <a:r>
              <a:rPr sz="2400" spc="-5" dirty="0">
                <a:latin typeface="Arial" panose="020B0604020202020204"/>
                <a:cs typeface="Arial" panose="020B0604020202020204"/>
              </a:rPr>
              <a:t>dictionary</a:t>
            </a:r>
            <a:r>
              <a:rPr sz="2400" spc="-5" dirty="0">
                <a:latin typeface="微软雅黑" panose="020B0503020204020204" pitchFamily="34" charset="-122"/>
                <a:cs typeface="微软雅黑" panose="020B0503020204020204" pitchFamily="34" charset="-122"/>
              </a:rPr>
              <a:t>）</a:t>
            </a:r>
            <a:r>
              <a:rPr sz="2400" dirty="0">
                <a:latin typeface="微软雅黑" panose="020B0503020204020204" pitchFamily="34" charset="-122"/>
                <a:cs typeface="微软雅黑" panose="020B0503020204020204" pitchFamily="34" charset="-122"/>
              </a:rPr>
              <a:t>要比列表</a:t>
            </a:r>
            <a:r>
              <a:rPr sz="2400" spc="-5" dirty="0">
                <a:latin typeface="微软雅黑" panose="020B0503020204020204" pitchFamily="34" charset="-122"/>
                <a:cs typeface="微软雅黑" panose="020B0503020204020204" pitchFamily="34" charset="-122"/>
              </a:rPr>
              <a:t>（</a:t>
            </a:r>
            <a:r>
              <a:rPr sz="2400" spc="-5" dirty="0">
                <a:latin typeface="Arial" panose="020B0604020202020204"/>
                <a:cs typeface="Arial" panose="020B0604020202020204"/>
              </a:rPr>
              <a:t>list</a:t>
            </a:r>
            <a:r>
              <a:rPr sz="2400" spc="-5" dirty="0">
                <a:latin typeface="微软雅黑" panose="020B0503020204020204" pitchFamily="34" charset="-122"/>
                <a:cs typeface="微软雅黑" panose="020B0503020204020204" pitchFamily="34" charset="-122"/>
              </a:rPr>
              <a:t>）</a:t>
            </a:r>
            <a:r>
              <a:rPr sz="2400" dirty="0">
                <a:latin typeface="微软雅黑" panose="020B0503020204020204" pitchFamily="34" charset="-122"/>
                <a:cs typeface="微软雅黑" panose="020B0503020204020204" pitchFamily="34" charset="-122"/>
              </a:rPr>
              <a:t>更快</a:t>
            </a:r>
          </a:p>
          <a:p>
            <a:pPr marL="374650" indent="-361950">
              <a:lnSpc>
                <a:spcPct val="100000"/>
              </a:lnSpc>
              <a:spcBef>
                <a:spcPts val="1720"/>
              </a:spcBef>
              <a:buFont typeface="Arial" panose="020B0604020202020204"/>
              <a:buChar char="•"/>
              <a:tabLst>
                <a:tab pos="374015" algn="l"/>
                <a:tab pos="374650" algn="l"/>
              </a:tabLst>
            </a:pPr>
            <a:r>
              <a:rPr sz="2400" dirty="0">
                <a:latin typeface="微软雅黑" panose="020B0503020204020204" pitchFamily="34" charset="-122"/>
                <a:cs typeface="微软雅黑" panose="020B0503020204020204" pitchFamily="34" charset="-122"/>
              </a:rPr>
              <a:t>集合</a:t>
            </a:r>
            <a:r>
              <a:rPr sz="2400" spc="-5" dirty="0">
                <a:latin typeface="微软雅黑" panose="020B0503020204020204" pitchFamily="34" charset="-122"/>
                <a:cs typeface="微软雅黑" panose="020B0503020204020204" pitchFamily="34" charset="-122"/>
              </a:rPr>
              <a:t>（</a:t>
            </a:r>
            <a:r>
              <a:rPr sz="2400" spc="-5" dirty="0">
                <a:latin typeface="Arial" panose="020B0604020202020204"/>
                <a:cs typeface="Arial" panose="020B0604020202020204"/>
              </a:rPr>
              <a:t>set</a:t>
            </a:r>
            <a:r>
              <a:rPr sz="2400" spc="-5" dirty="0">
                <a:latin typeface="微软雅黑" panose="020B0503020204020204" pitchFamily="34" charset="-122"/>
                <a:cs typeface="微软雅黑" panose="020B0503020204020204" pitchFamily="34" charset="-122"/>
              </a:rPr>
              <a:t>）</a:t>
            </a:r>
            <a:r>
              <a:rPr sz="2400" dirty="0">
                <a:latin typeface="微软雅黑" panose="020B0503020204020204" pitchFamily="34" charset="-122"/>
                <a:cs typeface="微软雅黑" panose="020B0503020204020204" pitchFamily="34" charset="-122"/>
              </a:rPr>
              <a:t>的并、交、差的操作比列表</a:t>
            </a:r>
            <a:r>
              <a:rPr sz="2400" spc="-5" dirty="0">
                <a:latin typeface="微软雅黑" panose="020B0503020204020204" pitchFamily="34" charset="-122"/>
                <a:cs typeface="微软雅黑" panose="020B0503020204020204" pitchFamily="34" charset="-122"/>
              </a:rPr>
              <a:t>（</a:t>
            </a:r>
            <a:r>
              <a:rPr sz="2400" spc="-5" dirty="0">
                <a:latin typeface="Arial" panose="020B0604020202020204"/>
                <a:cs typeface="Arial" panose="020B0604020202020204"/>
              </a:rPr>
              <a:t>list</a:t>
            </a:r>
            <a:r>
              <a:rPr sz="2400" spc="-5" dirty="0">
                <a:latin typeface="微软雅黑" panose="020B0503020204020204" pitchFamily="34" charset="-122"/>
                <a:cs typeface="微软雅黑" panose="020B0503020204020204" pitchFamily="34" charset="-122"/>
              </a:rPr>
              <a:t>）</a:t>
            </a:r>
            <a:r>
              <a:rPr sz="2400" dirty="0">
                <a:latin typeface="微软雅黑" panose="020B0503020204020204" pitchFamily="34" charset="-122"/>
                <a:cs typeface="微软雅黑" panose="020B0503020204020204" pitchFamily="34" charset="-122"/>
              </a:rPr>
              <a:t>的迭代要快</a:t>
            </a:r>
          </a:p>
        </p:txBody>
      </p:sp>
      <p:sp>
        <p:nvSpPr>
          <p:cNvPr id="5" name="标题 4"/>
          <p:cNvSpPr>
            <a:spLocks noGrp="1"/>
          </p:cNvSpPr>
          <p:nvPr>
            <p:ph type="title"/>
          </p:nvPr>
        </p:nvSpPr>
        <p:spPr/>
        <p:txBody>
          <a:bodyPr/>
          <a:lstStyle/>
          <a:p>
            <a:r>
              <a:rPr lang="en-US" altLang="zh-CN" dirty="0"/>
              <a:t>Python </a:t>
            </a:r>
            <a:r>
              <a:rPr lang="zh-CN" altLang="en-US" dirty="0"/>
              <a:t>代码性能优化</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91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83848"/>
    </mc:Choice>
    <mc:Fallback xmlns="">
      <p:transition spd="slow" advTm="83848"/>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28271" y="1669760"/>
            <a:ext cx="10152380" cy="3644900"/>
          </a:xfrm>
          <a:prstGeom prst="rect">
            <a:avLst/>
          </a:prstGeom>
        </p:spPr>
        <p:txBody>
          <a:bodyPr vert="horz" wrap="square" lIns="0" tIns="12700" rIns="0" bIns="0" rtlCol="0">
            <a:spAutoFit/>
          </a:bodyPr>
          <a:lstStyle/>
          <a:p>
            <a:pPr marL="12700" marR="5080">
              <a:lnSpc>
                <a:spcPct val="128000"/>
              </a:lnSpc>
              <a:spcBef>
                <a:spcPts val="100"/>
              </a:spcBef>
            </a:pPr>
            <a:r>
              <a:rPr sz="2400" spc="15" dirty="0">
                <a:solidFill>
                  <a:srgbClr val="0033CC"/>
                </a:solidFill>
                <a:latin typeface="微软雅黑" panose="020B0503020204020204" pitchFamily="34" charset="-122"/>
                <a:cs typeface="微软雅黑" panose="020B0503020204020204" pitchFamily="34" charset="-122"/>
              </a:rPr>
              <a:t>循环优化的基本原则</a:t>
            </a:r>
            <a:r>
              <a:rPr sz="2400" spc="15" dirty="0">
                <a:solidFill>
                  <a:srgbClr val="004DD6"/>
                </a:solidFill>
                <a:latin typeface="微软雅黑" panose="020B0503020204020204" pitchFamily="34" charset="-122"/>
                <a:cs typeface="微软雅黑" panose="020B0503020204020204" pitchFamily="34" charset="-122"/>
              </a:rPr>
              <a:t>：</a:t>
            </a:r>
            <a:r>
              <a:rPr sz="2400" spc="15" dirty="0">
                <a:latin typeface="微软雅黑" panose="020B0503020204020204" pitchFamily="34" charset="-122"/>
                <a:cs typeface="微软雅黑" panose="020B0503020204020204" pitchFamily="34" charset="-122"/>
              </a:rPr>
              <a:t>尽量</a:t>
            </a:r>
            <a:r>
              <a:rPr sz="2400" b="1" spc="15" dirty="0">
                <a:latin typeface="微软雅黑" panose="020B0503020204020204" pitchFamily="34" charset="-122"/>
                <a:cs typeface="微软雅黑" panose="020B0503020204020204" pitchFamily="34" charset="-122"/>
              </a:rPr>
              <a:t>减少循环过程中的计算量</a:t>
            </a:r>
            <a:r>
              <a:rPr sz="2400" spc="15" dirty="0">
                <a:latin typeface="微软雅黑" panose="020B0503020204020204" pitchFamily="34" charset="-122"/>
                <a:cs typeface="微软雅黑" panose="020B0503020204020204" pitchFamily="34" charset="-122"/>
              </a:rPr>
              <a:t>，在多重循环的时</a:t>
            </a:r>
            <a:r>
              <a:rPr sz="2400" dirty="0">
                <a:latin typeface="微软雅黑" panose="020B0503020204020204" pitchFamily="34" charset="-122"/>
                <a:cs typeface="微软雅黑" panose="020B0503020204020204" pitchFamily="34" charset="-122"/>
              </a:rPr>
              <a:t>候， 尽量将内层的计算提到上一层。</a:t>
            </a:r>
          </a:p>
          <a:p>
            <a:pPr marL="12700" marR="306705" algn="just">
              <a:lnSpc>
                <a:spcPct val="130000"/>
              </a:lnSpc>
              <a:spcBef>
                <a:spcPts val="1150"/>
              </a:spcBef>
            </a:pPr>
            <a:r>
              <a:rPr sz="2400" spc="20" dirty="0">
                <a:solidFill>
                  <a:srgbClr val="0033CC"/>
                </a:solidFill>
                <a:latin typeface="微软雅黑" panose="020B0503020204020204" pitchFamily="34" charset="-122"/>
                <a:cs typeface="微软雅黑" panose="020B0503020204020204" pitchFamily="34" charset="-122"/>
              </a:rPr>
              <a:t>字符串的优</a:t>
            </a:r>
            <a:r>
              <a:rPr sz="2400" spc="25" dirty="0">
                <a:solidFill>
                  <a:srgbClr val="0033CC"/>
                </a:solidFill>
                <a:latin typeface="微软雅黑" panose="020B0503020204020204" pitchFamily="34" charset="-122"/>
                <a:cs typeface="微软雅黑" panose="020B0503020204020204" pitchFamily="34" charset="-122"/>
              </a:rPr>
              <a:t>化</a:t>
            </a:r>
            <a:r>
              <a:rPr sz="2400" dirty="0">
                <a:latin typeface="微软雅黑" panose="020B0503020204020204" pitchFamily="34" charset="-122"/>
                <a:cs typeface="微软雅黑" panose="020B0503020204020204" pitchFamily="34" charset="-122"/>
              </a:rPr>
              <a:t>：</a:t>
            </a:r>
            <a:r>
              <a:rPr sz="2400" spc="365" dirty="0">
                <a:latin typeface="微软雅黑" panose="020B0503020204020204" pitchFamily="34" charset="-122"/>
                <a:cs typeface="微软雅黑" panose="020B0503020204020204" pitchFamily="34" charset="-122"/>
              </a:rPr>
              <a:t> </a:t>
            </a:r>
            <a:r>
              <a:rPr sz="2400" spc="20" dirty="0">
                <a:latin typeface="Arial" panose="020B0604020202020204"/>
                <a:cs typeface="Arial" panose="020B0604020202020204"/>
              </a:rPr>
              <a:t>Python</a:t>
            </a:r>
            <a:r>
              <a:rPr sz="2400" spc="20" dirty="0">
                <a:latin typeface="微软雅黑" panose="020B0503020204020204" pitchFamily="34" charset="-122"/>
                <a:cs typeface="微软雅黑" panose="020B0503020204020204" pitchFamily="34" charset="-122"/>
              </a:rPr>
              <a:t>的字符串对象是不可改变</a:t>
            </a:r>
            <a:r>
              <a:rPr sz="2400" spc="25" dirty="0">
                <a:latin typeface="微软雅黑" panose="020B0503020204020204" pitchFamily="34" charset="-122"/>
                <a:cs typeface="微软雅黑" panose="020B0503020204020204" pitchFamily="34" charset="-122"/>
              </a:rPr>
              <a:t>的</a:t>
            </a:r>
            <a:r>
              <a:rPr sz="2400" spc="20" dirty="0">
                <a:latin typeface="微软雅黑" panose="020B0503020204020204" pitchFamily="34" charset="-122"/>
                <a:cs typeface="微软雅黑" panose="020B0503020204020204" pitchFamily="34" charset="-122"/>
              </a:rPr>
              <a:t>。字符串连接的使用 </a:t>
            </a:r>
            <a:r>
              <a:rPr sz="2400" dirty="0">
                <a:latin typeface="微软雅黑" panose="020B0503020204020204" pitchFamily="34" charset="-122"/>
                <a:cs typeface="微软雅黑" panose="020B0503020204020204" pitchFamily="34" charset="-122"/>
              </a:rPr>
              <a:t>尽量使用</a:t>
            </a:r>
            <a:r>
              <a:rPr sz="2400" spc="400" dirty="0">
                <a:latin typeface="微软雅黑" panose="020B0503020204020204" pitchFamily="34" charset="-122"/>
                <a:cs typeface="微软雅黑" panose="020B0503020204020204" pitchFamily="34" charset="-122"/>
              </a:rPr>
              <a:t> </a:t>
            </a:r>
            <a:r>
              <a:rPr sz="2400" dirty="0">
                <a:latin typeface="Arial" panose="020B0604020202020204"/>
                <a:cs typeface="Arial" panose="020B0604020202020204"/>
              </a:rPr>
              <a:t>join()</a:t>
            </a:r>
            <a:r>
              <a:rPr sz="2400" spc="405" dirty="0">
                <a:latin typeface="Arial" panose="020B0604020202020204"/>
                <a:cs typeface="Arial" panose="020B0604020202020204"/>
              </a:rPr>
              <a:t> </a:t>
            </a:r>
            <a:r>
              <a:rPr sz="2400" dirty="0">
                <a:latin typeface="微软雅黑" panose="020B0503020204020204" pitchFamily="34" charset="-122"/>
                <a:cs typeface="微软雅黑" panose="020B0503020204020204" pitchFamily="34" charset="-122"/>
              </a:rPr>
              <a:t>而不是</a:t>
            </a:r>
            <a:r>
              <a:rPr sz="2400" spc="400" dirty="0">
                <a:latin typeface="微软雅黑" panose="020B0503020204020204" pitchFamily="34" charset="-122"/>
                <a:cs typeface="微软雅黑" panose="020B0503020204020204" pitchFamily="34" charset="-122"/>
              </a:rPr>
              <a:t> </a:t>
            </a:r>
            <a:r>
              <a:rPr sz="2400" dirty="0">
                <a:latin typeface="Arial" panose="020B0604020202020204"/>
                <a:cs typeface="Arial" panose="020B0604020202020204"/>
              </a:rPr>
              <a:t>+</a:t>
            </a:r>
            <a:r>
              <a:rPr sz="2400" dirty="0">
                <a:latin typeface="微软雅黑" panose="020B0503020204020204" pitchFamily="34" charset="-122"/>
                <a:cs typeface="微软雅黑" panose="020B0503020204020204" pitchFamily="34" charset="-122"/>
              </a:rPr>
              <a:t>。当对字符串可以使用正则表达式或者内置函数 处理时，选择内置函数。</a:t>
            </a:r>
          </a:p>
          <a:p>
            <a:pPr marL="12700">
              <a:lnSpc>
                <a:spcPct val="100000"/>
              </a:lnSpc>
              <a:spcBef>
                <a:spcPts val="2120"/>
              </a:spcBef>
            </a:pPr>
            <a:r>
              <a:rPr sz="2400" spc="15" dirty="0">
                <a:solidFill>
                  <a:srgbClr val="0033CC"/>
                </a:solidFill>
                <a:latin typeface="微软雅黑" panose="020B0503020204020204" pitchFamily="34" charset="-122"/>
                <a:cs typeface="微软雅黑" panose="020B0503020204020204" pitchFamily="34" charset="-122"/>
              </a:rPr>
              <a:t>使用列表解析和生成器表达式</a:t>
            </a:r>
            <a:r>
              <a:rPr sz="2400" spc="15" dirty="0">
                <a:solidFill>
                  <a:srgbClr val="004DD6"/>
                </a:solidFill>
                <a:latin typeface="微软雅黑" panose="020B0503020204020204" pitchFamily="34" charset="-122"/>
                <a:cs typeface="微软雅黑" panose="020B0503020204020204" pitchFamily="34" charset="-122"/>
              </a:rPr>
              <a:t>：</a:t>
            </a:r>
            <a:r>
              <a:rPr sz="2400" spc="15" dirty="0">
                <a:latin typeface="微软雅黑" panose="020B0503020204020204" pitchFamily="34" charset="-122"/>
                <a:cs typeface="微软雅黑" panose="020B0503020204020204" pitchFamily="34" charset="-122"/>
              </a:rPr>
              <a:t>列表解析要比在循环中重新构建一个新的</a:t>
            </a:r>
            <a:endParaRPr sz="2400" dirty="0">
              <a:latin typeface="微软雅黑" panose="020B0503020204020204" pitchFamily="34" charset="-122"/>
              <a:cs typeface="微软雅黑" panose="020B0503020204020204" pitchFamily="34" charset="-122"/>
            </a:endParaRPr>
          </a:p>
          <a:p>
            <a:pPr marL="12700">
              <a:lnSpc>
                <a:spcPct val="100000"/>
              </a:lnSpc>
              <a:spcBef>
                <a:spcPts val="820"/>
              </a:spcBef>
            </a:pPr>
            <a:r>
              <a:rPr sz="2400" dirty="0">
                <a:latin typeface="Arial" panose="020B0604020202020204"/>
                <a:cs typeface="Arial" panose="020B0604020202020204"/>
              </a:rPr>
              <a:t>list</a:t>
            </a:r>
            <a:r>
              <a:rPr sz="2400" spc="-10" dirty="0">
                <a:latin typeface="Arial" panose="020B0604020202020204"/>
                <a:cs typeface="Arial" panose="020B0604020202020204"/>
              </a:rPr>
              <a:t> </a:t>
            </a:r>
            <a:r>
              <a:rPr sz="2400" dirty="0">
                <a:latin typeface="微软雅黑" panose="020B0503020204020204" pitchFamily="34" charset="-122"/>
                <a:cs typeface="微软雅黑" panose="020B0503020204020204" pitchFamily="34" charset="-122"/>
              </a:rPr>
              <a:t>更为高效，因此可以利用这一特性来提高运行的效率。</a:t>
            </a:r>
          </a:p>
        </p:txBody>
      </p:sp>
      <p:sp>
        <p:nvSpPr>
          <p:cNvPr id="5" name="标题 4"/>
          <p:cNvSpPr>
            <a:spLocks noGrp="1"/>
          </p:cNvSpPr>
          <p:nvPr>
            <p:ph type="title"/>
          </p:nvPr>
        </p:nvSpPr>
        <p:spPr/>
        <p:txBody>
          <a:bodyPr/>
          <a:lstStyle/>
          <a:p>
            <a:r>
              <a:rPr lang="en-US" altLang="zh-CN" dirty="0"/>
              <a:t>Python </a:t>
            </a:r>
            <a:r>
              <a:rPr lang="zh-CN" altLang="en-US" dirty="0"/>
              <a:t>代码性能优化</a:t>
            </a:r>
          </a:p>
        </p:txBody>
      </p:sp>
      <p:sp>
        <p:nvSpPr>
          <p:cNvPr id="2" name="灯片编号占位符 1"/>
          <p:cNvSpPr>
            <a:spLocks noGrp="1"/>
          </p:cNvSpPr>
          <p:nvPr>
            <p:ph type="sldNum" sz="quarter" idx="12"/>
          </p:nvPr>
        </p:nvSpPr>
        <p:spPr/>
        <p:txBody>
          <a:bodyPr/>
          <a:lstStyle/>
          <a:p>
            <a:fld id="{74D2AB8B-5816-41F2-8B4B-CA5C3E4E6A65}" type="slidenum">
              <a:rPr lang="zh-CN" altLang="en-US" smtClean="0"/>
              <a:t>92</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5447"/>
    </mc:Choice>
    <mc:Fallback xmlns="">
      <p:transition spd="slow" advTm="55447"/>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关于代码性能优化，下面（ ）是错误的。</a:t>
            </a:r>
          </a:p>
        </p:txBody>
      </p:sp>
      <p:sp>
        <p:nvSpPr>
          <p:cNvPr id="5" name="文本框 4"/>
          <p:cNvSpPr txBox="1"/>
          <p:nvPr>
            <p:custDataLst>
              <p:tags r:id="rId3"/>
            </p:custDataLst>
          </p:nvPr>
        </p:nvSpPr>
        <p:spPr>
          <a:xfrm>
            <a:off x="2438400" y="226827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任何优化都不能破坏代码的正确性</a:t>
            </a:r>
          </a:p>
        </p:txBody>
      </p:sp>
      <p:sp>
        <p:nvSpPr>
          <p:cNvPr id="6" name="文本框 5"/>
          <p:cNvSpPr txBox="1"/>
          <p:nvPr>
            <p:custDataLst>
              <p:tags r:id="rId4"/>
            </p:custDataLst>
          </p:nvPr>
        </p:nvSpPr>
        <p:spPr>
          <a:xfrm>
            <a:off x="2438400" y="312552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应以提高程序的全局效率为主，局部效率为辅</a:t>
            </a:r>
          </a:p>
        </p:txBody>
      </p:sp>
      <p:sp>
        <p:nvSpPr>
          <p:cNvPr id="7" name="文本框 6"/>
          <p:cNvSpPr txBox="1"/>
          <p:nvPr>
            <p:custDataLst>
              <p:tags r:id="rId5"/>
            </p:custDataLst>
          </p:nvPr>
        </p:nvSpPr>
        <p:spPr>
          <a:xfrm>
            <a:off x="2438400" y="398277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应先通过测试找出限制效率的真正瓶颈</a:t>
            </a:r>
          </a:p>
        </p:txBody>
      </p:sp>
      <p:sp>
        <p:nvSpPr>
          <p:cNvPr id="8" name="文本框 7"/>
          <p:cNvSpPr txBox="1"/>
          <p:nvPr>
            <p:custDataLst>
              <p:tags r:id="rId6"/>
            </p:custDataLst>
          </p:nvPr>
        </p:nvSpPr>
        <p:spPr>
          <a:xfrm>
            <a:off x="2438400" y="484002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要优先改进耗时最多的部分</a:t>
            </a:r>
          </a:p>
        </p:txBody>
      </p:sp>
      <p:sp>
        <p:nvSpPr>
          <p:cNvPr id="13" name="矩形: 圆角 12"/>
          <p:cNvSpPr/>
          <p:nvPr>
            <p:custDataLst>
              <p:tags r:id="rId7"/>
            </p:custDataLst>
          </p:nvPr>
        </p:nvSpPr>
        <p:spPr>
          <a:xfrm>
            <a:off x="7967950" y="1460207"/>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sp>
        <p:nvSpPr>
          <p:cNvPr id="20" name="矩形 19"/>
          <p:cNvSpPr/>
          <p:nvPr>
            <p:custDataLst>
              <p:tags r:id="rId8"/>
            </p:custDataLst>
          </p:nvPr>
        </p:nvSpPr>
        <p:spPr>
          <a:xfrm>
            <a:off x="12573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25" name="文本框 24"/>
          <p:cNvSpPr txBox="1"/>
          <p:nvPr>
            <p:custDataLst>
              <p:tags r:id="rId9"/>
            </p:custDataLst>
          </p:nvPr>
        </p:nvSpPr>
        <p:spPr>
          <a:xfrm>
            <a:off x="12661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可为此题添加文本、图片、公式等解析，且需将内容全部放在本区域内。正常使用需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a:t>
            </a:r>
          </a:p>
        </p:txBody>
      </p:sp>
      <p:sp>
        <p:nvSpPr>
          <p:cNvPr id="26" name="文本框 25"/>
          <p:cNvSpPr txBox="1"/>
          <p:nvPr>
            <p:custDataLst>
              <p:tags r:id="rId10"/>
            </p:custDataLst>
          </p:nvPr>
        </p:nvSpPr>
        <p:spPr>
          <a:xfrm>
            <a:off x="12827000" y="1270000"/>
            <a:ext cx="3332480" cy="1323439"/>
          </a:xfrm>
          <a:prstGeom prst="rect">
            <a:avLst/>
          </a:prstGeom>
          <a:noFill/>
        </p:spPr>
        <p:txBody>
          <a:bodyPr vert="horz" rtlCol="0" anchor="t" anchorCtr="0">
            <a:spAutoFit/>
          </a:bodyPr>
          <a:lstStyle/>
          <a:p>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优先改进能够最大幅度提高效率的部分；优先改进最符合改进成本低，提高幅度大的高“性价比”部分</a:t>
            </a:r>
          </a:p>
        </p:txBody>
      </p:sp>
      <p:grpSp>
        <p:nvGrpSpPr>
          <p:cNvPr id="24" name="组合 23"/>
          <p:cNvGrpSpPr/>
          <p:nvPr>
            <p:custDataLst>
              <p:tags r:id="rId11"/>
            </p:custDataLst>
          </p:nvPr>
        </p:nvGrpSpPr>
        <p:grpSpPr>
          <a:xfrm>
            <a:off x="12585700" y="0"/>
            <a:ext cx="3815080" cy="647700"/>
            <a:chOff x="12585700" y="0"/>
            <a:chExt cx="3815080" cy="647700"/>
          </a:xfrm>
        </p:grpSpPr>
        <p:sp>
          <p:nvSpPr>
            <p:cNvPr id="21" name="RemarkBack"/>
            <p:cNvSpPr/>
            <p:nvPr>
              <p:custDataLst>
                <p:tags r:id="rId29"/>
              </p:custDataLst>
            </p:nvPr>
          </p:nvSpPr>
          <p:spPr>
            <a:xfrm>
              <a:off x="12585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RemarkBlock"/>
            <p:cNvSpPr/>
            <p:nvPr>
              <p:custDataLst>
                <p:tags r:id="rId30"/>
              </p:custDataLst>
            </p:nvPr>
          </p:nvSpPr>
          <p:spPr>
            <a:xfrm>
              <a:off x="12585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RemarkTitleText"/>
            <p:cNvSpPr txBox="1"/>
            <p:nvPr>
              <p:custDataLst>
                <p:tags r:id="rId31"/>
              </p:custDataLst>
            </p:nvPr>
          </p:nvSpPr>
          <p:spPr>
            <a:xfrm>
              <a:off x="12827000" y="0"/>
              <a:ext cx="1905000" cy="635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p>
          </p:txBody>
        </p:sp>
      </p:grpSp>
      <p:grpSp>
        <p:nvGrpSpPr>
          <p:cNvPr id="28" name="组合 27"/>
          <p:cNvGrpSpPr/>
          <p:nvPr>
            <p:custDataLst>
              <p:tags r:id="rId12"/>
            </p:custDataLst>
          </p:nvPr>
        </p:nvGrpSpPr>
        <p:grpSpPr>
          <a:xfrm>
            <a:off x="12585700" y="0"/>
            <a:ext cx="3815080" cy="647700"/>
            <a:chOff x="19820" y="0"/>
            <a:chExt cx="6008" cy="1020"/>
          </a:xfrm>
        </p:grpSpPr>
        <p:sp>
          <p:nvSpPr>
            <p:cNvPr id="2" name="RemarkBack"/>
            <p:cNvSpPr/>
            <p:nvPr>
              <p:custDataLst>
                <p:tags r:id="rId26"/>
              </p:custDataLst>
            </p:nvPr>
          </p:nvSpPr>
          <p:spPr>
            <a:xfrm>
              <a:off x="19820" y="20"/>
              <a:ext cx="6008" cy="1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RemarkBlock"/>
            <p:cNvSpPr/>
            <p:nvPr>
              <p:custDataLst>
                <p:tags r:id="rId27"/>
              </p:custDataLst>
            </p:nvPr>
          </p:nvSpPr>
          <p:spPr>
            <a:xfrm>
              <a:off x="19820" y="20"/>
              <a:ext cx="300" cy="1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RemarkTitleText"/>
            <p:cNvSpPr txBox="1"/>
            <p:nvPr>
              <p:custDataLst>
                <p:tags r:id="rId28"/>
              </p:custDataLst>
            </p:nvPr>
          </p:nvSpPr>
          <p:spPr>
            <a:xfrm>
              <a:off x="20200" y="0"/>
              <a:ext cx="3000" cy="1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p>
          </p:txBody>
        </p:sp>
      </p:grpSp>
      <p:grpSp>
        <p:nvGrpSpPr>
          <p:cNvPr id="32" name="组合 31"/>
          <p:cNvGrpSpPr/>
          <p:nvPr>
            <p:custDataLst>
              <p:tags r:id="rId13"/>
            </p:custDataLst>
          </p:nvPr>
        </p:nvGrpSpPr>
        <p:grpSpPr>
          <a:xfrm>
            <a:off x="12585700" y="0"/>
            <a:ext cx="3813810" cy="647700"/>
            <a:chOff x="19820" y="0"/>
            <a:chExt cx="6006" cy="1020"/>
          </a:xfrm>
        </p:grpSpPr>
        <p:sp>
          <p:nvSpPr>
            <p:cNvPr id="29" name="RemarkBack"/>
            <p:cNvSpPr/>
            <p:nvPr>
              <p:custDataLst>
                <p:tags r:id="rId23"/>
              </p:custDataLst>
            </p:nvPr>
          </p:nvSpPr>
          <p:spPr>
            <a:xfrm>
              <a:off x="19820" y="20"/>
              <a:ext cx="6007"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RemarkBlock"/>
            <p:cNvSpPr/>
            <p:nvPr>
              <p:custDataLst>
                <p:tags r:id="rId24"/>
              </p:custDataLst>
            </p:nvPr>
          </p:nvSpPr>
          <p:spPr>
            <a:xfrm>
              <a:off x="19820" y="2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RemarkTitleText"/>
            <p:cNvSpPr txBox="1"/>
            <p:nvPr>
              <p:custDataLst>
                <p:tags r:id="rId25"/>
              </p:custDataLst>
            </p:nvPr>
          </p:nvSpPr>
          <p:spPr>
            <a:xfrm>
              <a:off x="20200" y="0"/>
              <a:ext cx="3000" cy="1000"/>
            </a:xfrm>
            <a:prstGeom prst="rect">
              <a:avLst/>
            </a:prstGeom>
            <a:noFill/>
          </p:spPr>
          <p:txBody>
            <a:bodyPr wrap="none" rtlCol="0" anchor="ctr" anchorCtr="0">
              <a:noAutofit/>
            </a:bodyPr>
            <a:lstStyle/>
            <a:p>
              <a:pPr lvl="0" algn="l">
                <a:buNone/>
              </a:pPr>
              <a:r>
                <a:rPr lang="zh-CN" altLang="en-US">
                  <a:solidFill>
                    <a:srgbClr val="000000"/>
                  </a:solidFill>
                  <a:latin typeface="微软雅黑" panose="020B0503020204020204" pitchFamily="34" charset="-122"/>
                  <a:ea typeface="微软雅黑" panose="020B0503020204020204" pitchFamily="34" charset="-122"/>
                </a:rPr>
                <a:t>答案解析</a:t>
              </a:r>
            </a:p>
          </p:txBody>
        </p:sp>
      </p:grpSp>
      <p:sp>
        <p:nvSpPr>
          <p:cNvPr id="33" name="RemarkBack">
            <a:extLst>
              <a:ext uri="{FF2B5EF4-FFF2-40B4-BE49-F238E27FC236}">
                <a16:creationId xmlns:a16="http://schemas.microsoft.com/office/drawing/2014/main" id="{95BAA274-05C4-402E-AFF9-DCA8EA16C85D}"/>
              </a:ext>
            </a:extLst>
          </p:cNvPr>
          <p:cNvSpPr/>
          <p:nvPr>
            <p:custDataLst>
              <p:tags r:id="rId14"/>
            </p:custDataLst>
          </p:nvPr>
        </p:nvSpPr>
        <p:spPr>
          <a:xfrm>
            <a:off x="12585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RemarkBlock">
            <a:extLst>
              <a:ext uri="{FF2B5EF4-FFF2-40B4-BE49-F238E27FC236}">
                <a16:creationId xmlns:a16="http://schemas.microsoft.com/office/drawing/2014/main" id="{A474A764-48A0-406D-9F32-904D07FF943F}"/>
              </a:ext>
            </a:extLst>
          </p:cNvPr>
          <p:cNvSpPr/>
          <p:nvPr>
            <p:custDataLst>
              <p:tags r:id="rId15"/>
            </p:custDataLst>
          </p:nvPr>
        </p:nvSpPr>
        <p:spPr>
          <a:xfrm>
            <a:off x="12585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RemarkTitleText">
            <a:extLst>
              <a:ext uri="{FF2B5EF4-FFF2-40B4-BE49-F238E27FC236}">
                <a16:creationId xmlns:a16="http://schemas.microsoft.com/office/drawing/2014/main" id="{21A92423-15F5-4472-8E7C-BBFC9A9FAA3A}"/>
              </a:ext>
            </a:extLst>
          </p:cNvPr>
          <p:cNvSpPr txBox="1"/>
          <p:nvPr>
            <p:custDataLst>
              <p:tags r:id="rId16"/>
            </p:custDataLst>
          </p:nvPr>
        </p:nvSpPr>
        <p:spPr>
          <a:xfrm>
            <a:off x="12827000" y="0"/>
            <a:ext cx="1905000" cy="635000"/>
          </a:xfrm>
          <a:prstGeom prst="rect">
            <a:avLst/>
          </a:prstGeom>
          <a:noFill/>
        </p:spPr>
        <p:txBody>
          <a:bodyPr vert="horz" wrap="none" rtlCol="0" anchor="ctr" anchorCtr="0">
            <a:noAutofit/>
          </a:bodyPr>
          <a:lstStyle/>
          <a:p>
            <a:r>
              <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nvGrpSpPr>
          <p:cNvPr id="18" name="组合 17"/>
          <p:cNvGrpSpPr/>
          <p:nvPr>
            <p:custDataLst>
              <p:tags r:id="rId17"/>
            </p:custDataLst>
          </p:nvPr>
        </p:nvGrpSpPr>
        <p:grpSpPr>
          <a:xfrm>
            <a:off x="0" y="0"/>
            <a:ext cx="12192000" cy="635000"/>
            <a:chOff x="0" y="0"/>
            <a:chExt cx="12192000" cy="635000"/>
          </a:xfrm>
        </p:grpSpPr>
        <p:sp>
          <p:nvSpPr>
            <p:cNvPr id="14" name="TitleBackground"/>
            <p:cNvSpPr/>
            <p:nvPr>
              <p:custDataLst>
                <p:tags r:id="rId19"/>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20"/>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21"/>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22"/>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18"/>
            </p:custDataLst>
          </p:nvPr>
        </p:nvPicPr>
        <p:blipFill>
          <a:blip r:embed="rId3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36" name="文本框 35">
            <a:extLst>
              <a:ext uri="{FF2B5EF4-FFF2-40B4-BE49-F238E27FC236}">
                <a16:creationId xmlns:a16="http://schemas.microsoft.com/office/drawing/2014/main" id="{E50F319C-57C0-1A49-8AE8-DC271F8F7B34}"/>
              </a:ext>
            </a:extLst>
          </p:cNvPr>
          <p:cNvSpPr txBox="1"/>
          <p:nvPr/>
        </p:nvSpPr>
        <p:spPr>
          <a:xfrm>
            <a:off x="1694383" y="2297297"/>
            <a:ext cx="405880" cy="3108543"/>
          </a:xfrm>
          <a:prstGeom prst="rect">
            <a:avLst/>
          </a:prstGeom>
          <a:noFill/>
        </p:spPr>
        <p:txBody>
          <a:bodyPr wrap="none" rtlCol="0">
            <a:spAutoFit/>
          </a:bodyPr>
          <a:lstStyle/>
          <a:p>
            <a:r>
              <a:rPr kumimoji="1" lang="en-US" altLang="zh-CN" sz="2800" dirty="0"/>
              <a:t>A</a:t>
            </a:r>
          </a:p>
          <a:p>
            <a:endParaRPr kumimoji="1" lang="en-US" altLang="zh-CN" sz="2800" dirty="0"/>
          </a:p>
          <a:p>
            <a:r>
              <a:rPr kumimoji="1" lang="en-US" altLang="zh-CN" sz="2800" dirty="0"/>
              <a:t>B</a:t>
            </a:r>
          </a:p>
          <a:p>
            <a:endParaRPr kumimoji="1" lang="en-US" altLang="zh-CN" sz="2800" dirty="0"/>
          </a:p>
          <a:p>
            <a:r>
              <a:rPr kumimoji="1" lang="en-US" altLang="zh-CN" sz="2800" dirty="0"/>
              <a:t>C</a:t>
            </a:r>
          </a:p>
          <a:p>
            <a:endParaRPr kumimoji="1" lang="en-US" altLang="zh-CN" sz="2800" dirty="0"/>
          </a:p>
          <a:p>
            <a:r>
              <a:rPr kumimoji="1" lang="en-US" altLang="zh-CN" sz="2800" dirty="0"/>
              <a:t>D</a:t>
            </a:r>
            <a:endParaRPr kumimoji="1" lang="zh-CN" altLang="en-US" sz="2800" dirty="0"/>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4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3.xml><?xml version="1.0" encoding="utf-8"?>
<p:tagLst xmlns:a="http://schemas.openxmlformats.org/drawingml/2006/main" xmlns:r="http://schemas.openxmlformats.org/officeDocument/2006/relationships" xmlns:p="http://schemas.openxmlformats.org/presentationml/2006/main">
  <p:tag name="TIMING" val="|73.9"/>
</p:tagLst>
</file>

<file path=ppt/tags/tag54.xml><?xml version="1.0" encoding="utf-8"?>
<p:tagLst xmlns:a="http://schemas.openxmlformats.org/drawingml/2006/main" xmlns:r="http://schemas.openxmlformats.org/officeDocument/2006/relationships" xmlns:p="http://schemas.openxmlformats.org/presentationml/2006/main">
  <p:tag name="TIMING" val="|2.6|24.4|6.1|8.8|10.4|7.8"/>
</p:tagLst>
</file>

<file path=ppt/tags/tag5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5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 name="PROBLEMHASREMARK" val="True"/>
  <p:tag name="PROBLEMREMARK" val="优先改进能够最大幅度提高效率的部分；优先改进最符合改进成本低，提高幅度大的高“性价比”部分"/>
</p:tagLst>
</file>

<file path=ppt/tags/tag6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75.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76.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77.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7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7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9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9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9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9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9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9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9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9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2807</TotalTime>
  <Words>12620</Words>
  <Application>Microsoft Macintosh PowerPoint</Application>
  <PresentationFormat>宽屏</PresentationFormat>
  <Paragraphs>1076</Paragraphs>
  <Slides>93</Slides>
  <Notes>85</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93</vt:i4>
      </vt:variant>
    </vt:vector>
  </HeadingPairs>
  <TitlesOfParts>
    <vt:vector size="106" baseType="lpstr">
      <vt:lpstr>等线</vt:lpstr>
      <vt:lpstr>华文细黑</vt:lpstr>
      <vt:lpstr>华文行楷</vt:lpstr>
      <vt:lpstr>Microsoft Yahei</vt:lpstr>
      <vt:lpstr>Microsoft Yahei</vt:lpstr>
      <vt:lpstr>Arial</vt:lpstr>
      <vt:lpstr>Calibri</vt:lpstr>
      <vt:lpstr>Calibri Light</vt:lpstr>
      <vt:lpstr>Consolas</vt:lpstr>
      <vt:lpstr>Courier New</vt:lpstr>
      <vt:lpstr>Times New Roman</vt:lpstr>
      <vt:lpstr>Wingdings</vt:lpstr>
      <vt:lpstr>Office 主题</vt:lpstr>
      <vt:lpstr>软件开发 Software Development</vt:lpstr>
      <vt:lpstr>软件编程工作</vt:lpstr>
      <vt:lpstr>软件编程工作</vt:lpstr>
      <vt:lpstr>PowerPoint 演示文稿</vt:lpstr>
      <vt:lpstr>软件编程规范</vt:lpstr>
      <vt:lpstr>软件编程规范</vt:lpstr>
      <vt:lpstr>Python编程规范：程序模板</vt:lpstr>
      <vt:lpstr>Python编程规范：注释</vt:lpstr>
      <vt:lpstr>PowerPoint 演示文稿</vt:lpstr>
      <vt:lpstr>Python编程规范：注释</vt:lpstr>
      <vt:lpstr>PowerPoint 演示文稿</vt:lpstr>
      <vt:lpstr>Python编程规范：注释</vt:lpstr>
      <vt:lpstr>Python编程规范：命名</vt:lpstr>
      <vt:lpstr>Python编程规范：命名</vt:lpstr>
      <vt:lpstr>Python编程规范：命名</vt:lpstr>
      <vt:lpstr>Python编程规范：命名</vt:lpstr>
      <vt:lpstr>Python编程规范：语句</vt:lpstr>
      <vt:lpstr>Python编程规范：语句</vt:lpstr>
      <vt:lpstr>Python编程规范：语句</vt:lpstr>
      <vt:lpstr>Python编程规范：更多完整内容</vt:lpstr>
      <vt:lpstr>PowerPoint 演示文稿</vt:lpstr>
      <vt:lpstr>PowerPoint 演示文稿</vt:lpstr>
      <vt:lpstr>PowerPoint 演示文稿</vt:lpstr>
      <vt:lpstr>PowerPoint 演示文稿</vt:lpstr>
      <vt:lpstr>PowerPoint 演示文稿</vt:lpstr>
      <vt:lpstr>软件开发的工程思维</vt:lpstr>
      <vt:lpstr>软件开发的工程思维</vt:lpstr>
      <vt:lpstr>软件开发的工程思维</vt:lpstr>
      <vt:lpstr>模块化设计</vt:lpstr>
      <vt:lpstr>模块化设计</vt:lpstr>
      <vt:lpstr>模块化程序设计</vt:lpstr>
      <vt:lpstr>模块化程序设计</vt:lpstr>
      <vt:lpstr>模块化程序设计</vt:lpstr>
      <vt:lpstr>模块化程序设计</vt:lpstr>
      <vt:lpstr>Python的模块化设计</vt:lpstr>
      <vt:lpstr>案例：生命游戏</vt:lpstr>
      <vt:lpstr>案例：生命游戏</vt:lpstr>
      <vt:lpstr>PowerPoint 演示文稿</vt:lpstr>
      <vt:lpstr>案例：生命游戏的模块划分</vt:lpstr>
      <vt:lpstr>案例：生命游戏的模块划分</vt:lpstr>
      <vt:lpstr>案例：生命游戏的模块划分</vt:lpstr>
      <vt:lpstr>面向抽象编程</vt:lpstr>
      <vt:lpstr>PowerPoint 演示文稿</vt:lpstr>
      <vt:lpstr>PowerPoint 演示文稿</vt:lpstr>
      <vt:lpstr>PowerPoint 演示文稿</vt:lpstr>
      <vt:lpstr>案例：生命游戏的实现</vt:lpstr>
      <vt:lpstr>思考</vt:lpstr>
      <vt:lpstr>错误与异常处理</vt:lpstr>
      <vt:lpstr>Python程序异常处理</vt:lpstr>
      <vt:lpstr>案例：生命游戏</vt:lpstr>
      <vt:lpstr>案例：生命游戏</vt:lpstr>
      <vt:lpstr>代码静态检查</vt:lpstr>
      <vt:lpstr>代码评审技术</vt:lpstr>
      <vt:lpstr>缺陷检查表</vt:lpstr>
      <vt:lpstr>缺陷检查表</vt:lpstr>
      <vt:lpstr>缺陷检查表</vt:lpstr>
      <vt:lpstr>Python代码分析工具</vt:lpstr>
      <vt:lpstr>Python代码分析工具</vt:lpstr>
      <vt:lpstr>Pylint 安装与使用</vt:lpstr>
      <vt:lpstr>Pylint 安装与使用</vt:lpstr>
      <vt:lpstr>PowerPoint 演示文稿</vt:lpstr>
      <vt:lpstr>PowerPoint 演示文稿</vt:lpstr>
      <vt:lpstr>PowerPoint 演示文稿</vt:lpstr>
      <vt:lpstr>案例：生命游戏</vt:lpstr>
      <vt:lpstr>PowerPoint 演示文稿</vt:lpstr>
      <vt:lpstr>missing-docstring:  通常模块和方法都 要添加docstring</vt:lpstr>
      <vt:lpstr>PowerPoint 演示文稿</vt:lpstr>
      <vt:lpstr>PowerPoint 演示文稿</vt:lpstr>
      <vt:lpstr>案例：生命游戏</vt:lpstr>
      <vt:lpstr>案例：生命游戏</vt:lpstr>
      <vt:lpstr>案例：生命游戏</vt:lpstr>
      <vt:lpstr>案例：生命游戏</vt:lpstr>
      <vt:lpstr>代码静态分析工具</vt:lpstr>
      <vt:lpstr>代码静态分析工具</vt:lpstr>
      <vt:lpstr>PowerPoint 演示文稿</vt:lpstr>
      <vt:lpstr>代码性能分析</vt:lpstr>
      <vt:lpstr>PowerPoint 演示文稿</vt:lpstr>
      <vt:lpstr>代码性能优化</vt:lpstr>
      <vt:lpstr>代码性能优化</vt:lpstr>
      <vt:lpstr>代码性能优化</vt:lpstr>
      <vt:lpstr>案例分析</vt:lpstr>
      <vt:lpstr>案例分析</vt:lpstr>
      <vt:lpstr>PowerPoint 演示文稿</vt:lpstr>
      <vt:lpstr>PowerPoint 演示文稿</vt:lpstr>
      <vt:lpstr>性能测试工具</vt:lpstr>
      <vt:lpstr>PowerPoint 演示文稿</vt:lpstr>
      <vt:lpstr>程序总耗时 4.562s</vt:lpstr>
      <vt:lpstr>案例：原因分析</vt:lpstr>
      <vt:lpstr>PowerPoint 演示文稿</vt:lpstr>
      <vt:lpstr>案例：优化结果</vt:lpstr>
      <vt:lpstr>Python 代码性能优化</vt:lpstr>
      <vt:lpstr>Python 代码性能优化</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软件工程</dc:title>
  <dc:creator>CAI Xiangrui</dc:creator>
  <cp:lastModifiedBy>Microsoft Office User</cp:lastModifiedBy>
  <cp:revision>2130</cp:revision>
  <dcterms:created xsi:type="dcterms:W3CDTF">2020-02-05T07:10:00Z</dcterms:created>
  <dcterms:modified xsi:type="dcterms:W3CDTF">2025-04-14T08:54:38Z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2052-11.1.0.9914</vt:lpwstr>
  </property>
</Properties>
</file>